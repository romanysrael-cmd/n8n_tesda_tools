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17.xml" ContentType="application/vnd.openxmlformats-officedocument.presentationml.notesSlide+xml"/>
  <Default Extension="xml" ContentType="application/xml"/>
  <Override PartName="/ppt/slides/slide5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notesSlides/notesSlide179.xml" ContentType="application/vnd.openxmlformats-officedocument.presentationml.notesSlide+xml"/>
  <Override PartName="/ppt/slides/slide158.xml" ContentType="application/vnd.openxmlformats-officedocument.presentationml.slide+xml"/>
  <Override PartName="/ppt/notesSlides/notesSlide220.xml" ContentType="application/vnd.openxmlformats-officedocument.presentationml.notes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57.xml" ContentType="application/vnd.openxmlformats-officedocument.presentationml.notesSlide+xml"/>
  <Override PartName="/ppt/slides/slide88.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theme/theme2.xml" ContentType="application/vnd.openxmlformats-officedocument.them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Default Extension="emf" ContentType="image/x-emf"/>
  <Override PartName="/ppt/slides/slide22.xml" ContentType="application/vnd.openxmlformats-officedocument.presentationml.slide+xml"/>
  <Override PartName="/ppt/slides/slide199.xml" ContentType="application/vnd.openxmlformats-officedocument.presentationml.slide+xml"/>
  <Override PartName="/ppt/notesSlides/notesSlide35.xml" ContentType="application/vnd.openxmlformats-officedocument.presentationml.notesSlide+xml"/>
  <Override PartName="/ppt/notesSlides/notesSlide82.xml" ContentType="application/vnd.openxmlformats-officedocument.presentationml.notesSlide+xml"/>
  <Override PartName="/ppt/notesSlides/notesSlide214.xml" ContentType="application/vnd.openxmlformats-officedocument.presentationml.notes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notesSlides/notesSlide198.xml" ContentType="application/vnd.openxmlformats-officedocument.presentationml.notesSlide+xml"/>
  <Override PartName="/ppt/slides/slide177.xml" ContentType="application/vnd.openxmlformats-officedocument.presentationml.slide+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notesSlides/notesSlide190.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notesSlides/notesSlide21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notesSlides/notesSlide208.xml" ContentType="application/vnd.openxmlformats-officedocument.presentationml.notesSlide+xml"/>
  <Override PartName="/ppt/slides/slide41.xml" ContentType="application/vnd.openxmlformats-officedocument.presentationml.slide+xml"/>
  <Override PartName="/ppt/slides/slide223.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notesSlides/notesSlide22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notesSlides/notesSlide195.xml" ContentType="application/vnd.openxmlformats-officedocument.presentationml.notesSlide+xml"/>
  <Override PartName="/ppt/notesSlides/notesSlide200.xml" ContentType="application/vnd.openxmlformats-officedocument.presentationml.notesSlide+xml"/>
  <Override PartName="/ppt/notesSlides/notesSlide21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notesSlides/notesSlide216.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205.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Override PartName="/ppt/slides/slide220.xml" ContentType="application/vnd.openxmlformats-officedocument.presentationml.slide+xml"/>
  <Override PartName="/ppt/notesSlides/notesSlide40.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notesSlides/notesSlide192.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notesSlides/notesSlide22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97.xml" ContentType="application/vnd.openxmlformats-officedocument.presentationml.notesSlide+xml"/>
  <Override PartName="/ppt/notesSlides/notesSlide21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notesSlides/notesSlide20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notesSlides/notesSlide21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notesSlides/notesSlide207.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notesSlides/notesSlide221.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gif" ContentType="image/gif"/>
  <Override PartName="/ppt/notesSlides/notesSlide158.xml" ContentType="application/vnd.openxmlformats-officedocument.presentationml.notesSlide+xml"/>
  <Override PartName="/ppt/notesSlides/notesSlide210.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notesSlides/notesSlide194.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notesSlides/notesSlide199.xml" ContentType="application/vnd.openxmlformats-officedocument.presentationml.notesSlide+xml"/>
  <Override PartName="/ppt/notesSlides/notesSlide215.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notesSlides/notesSlide204.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notesSlides/notesSlide191.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notesSlides/notesSlide209.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notesSlides/notesSlide223.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notesSlides/notesSlide212.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notesSlides/notesSlide196.xml" ContentType="application/vnd.openxmlformats-officedocument.presentationml.notesSlide+xml"/>
  <Override PartName="/ppt/notesSlides/notesSlide20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slides/slide207.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20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notesSlides/notesSlide146.xml" ContentType="application/vnd.openxmlformats-officedocument.presentationml.notesSlide+xml"/>
  <Override PartName="/ppt/notesSlides/notesSlide193.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20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87.xml" ContentType="application/vnd.openxmlformats-officedocument.presentationml.notes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6"/>
  </p:notesMasterIdLst>
  <p:handoutMasterIdLst>
    <p:handoutMasterId r:id="rId227"/>
  </p:handoutMasterIdLst>
  <p:sldIdLst>
    <p:sldId id="256" r:id="rId2"/>
    <p:sldId id="273" r:id="rId3"/>
    <p:sldId id="274" r:id="rId4"/>
    <p:sldId id="275" r:id="rId5"/>
    <p:sldId id="257" r:id="rId6"/>
    <p:sldId id="632" r:id="rId7"/>
    <p:sldId id="633" r:id="rId8"/>
    <p:sldId id="634" r:id="rId9"/>
    <p:sldId id="635" r:id="rId10"/>
    <p:sldId id="636" r:id="rId11"/>
    <p:sldId id="637" r:id="rId12"/>
    <p:sldId id="290" r:id="rId13"/>
    <p:sldId id="291" r:id="rId14"/>
    <p:sldId id="292" r:id="rId15"/>
    <p:sldId id="293" r:id="rId16"/>
    <p:sldId id="294" r:id="rId17"/>
    <p:sldId id="259" r:id="rId18"/>
    <p:sldId id="305" r:id="rId19"/>
    <p:sldId id="306" r:id="rId20"/>
    <p:sldId id="307" r:id="rId21"/>
    <p:sldId id="309" r:id="rId22"/>
    <p:sldId id="310" r:id="rId23"/>
    <p:sldId id="311" r:id="rId24"/>
    <p:sldId id="312" r:id="rId25"/>
    <p:sldId id="313" r:id="rId26"/>
    <p:sldId id="314" r:id="rId27"/>
    <p:sldId id="315" r:id="rId28"/>
    <p:sldId id="260" r:id="rId29"/>
    <p:sldId id="319" r:id="rId30"/>
    <p:sldId id="320" r:id="rId31"/>
    <p:sldId id="328" r:id="rId32"/>
    <p:sldId id="329" r:id="rId33"/>
    <p:sldId id="335" r:id="rId34"/>
    <p:sldId id="261" r:id="rId35"/>
    <p:sldId id="336" r:id="rId36"/>
    <p:sldId id="337" r:id="rId37"/>
    <p:sldId id="338" r:id="rId38"/>
    <p:sldId id="339" r:id="rId39"/>
    <p:sldId id="340" r:id="rId40"/>
    <p:sldId id="262" r:id="rId41"/>
    <p:sldId id="351" r:id="rId42"/>
    <p:sldId id="352" r:id="rId43"/>
    <p:sldId id="353" r:id="rId44"/>
    <p:sldId id="354" r:id="rId45"/>
    <p:sldId id="370" r:id="rId46"/>
    <p:sldId id="371" r:id="rId47"/>
    <p:sldId id="377" r:id="rId48"/>
    <p:sldId id="263" r:id="rId49"/>
    <p:sldId id="381" r:id="rId50"/>
    <p:sldId id="382" r:id="rId51"/>
    <p:sldId id="383" r:id="rId52"/>
    <p:sldId id="384" r:id="rId53"/>
    <p:sldId id="385" r:id="rId54"/>
    <p:sldId id="386" r:id="rId55"/>
    <p:sldId id="387" r:id="rId56"/>
    <p:sldId id="388" r:id="rId57"/>
    <p:sldId id="389" r:id="rId58"/>
    <p:sldId id="390" r:id="rId59"/>
    <p:sldId id="391" r:id="rId60"/>
    <p:sldId id="392" r:id="rId61"/>
    <p:sldId id="378" r:id="rId62"/>
    <p:sldId id="395" r:id="rId63"/>
    <p:sldId id="396" r:id="rId64"/>
    <p:sldId id="397" r:id="rId65"/>
    <p:sldId id="398" r:id="rId66"/>
    <p:sldId id="399" r:id="rId67"/>
    <p:sldId id="400" r:id="rId68"/>
    <p:sldId id="401" r:id="rId69"/>
    <p:sldId id="402" r:id="rId70"/>
    <p:sldId id="403" r:id="rId71"/>
    <p:sldId id="404" r:id="rId72"/>
    <p:sldId id="405" r:id="rId73"/>
    <p:sldId id="406" r:id="rId74"/>
    <p:sldId id="407" r:id="rId75"/>
    <p:sldId id="408" r:id="rId76"/>
    <p:sldId id="379" r:id="rId77"/>
    <p:sldId id="410" r:id="rId78"/>
    <p:sldId id="411" r:id="rId79"/>
    <p:sldId id="412" r:id="rId80"/>
    <p:sldId id="413" r:id="rId81"/>
    <p:sldId id="414" r:id="rId82"/>
    <p:sldId id="380" r:id="rId83"/>
    <p:sldId id="427" r:id="rId84"/>
    <p:sldId id="428" r:id="rId85"/>
    <p:sldId id="445" r:id="rId86"/>
    <p:sldId id="451" r:id="rId87"/>
    <p:sldId id="452" r:id="rId88"/>
    <p:sldId id="265" r:id="rId89"/>
    <p:sldId id="458" r:id="rId90"/>
    <p:sldId id="459" r:id="rId91"/>
    <p:sldId id="460" r:id="rId92"/>
    <p:sldId id="461" r:id="rId93"/>
    <p:sldId id="462" r:id="rId94"/>
    <p:sldId id="463" r:id="rId95"/>
    <p:sldId id="464" r:id="rId96"/>
    <p:sldId id="467" r:id="rId97"/>
    <p:sldId id="468" r:id="rId98"/>
    <p:sldId id="469" r:id="rId99"/>
    <p:sldId id="470" r:id="rId100"/>
    <p:sldId id="471" r:id="rId101"/>
    <p:sldId id="453" r:id="rId102"/>
    <p:sldId id="472" r:id="rId103"/>
    <p:sldId id="473" r:id="rId104"/>
    <p:sldId id="474" r:id="rId105"/>
    <p:sldId id="475" r:id="rId106"/>
    <p:sldId id="476" r:id="rId107"/>
    <p:sldId id="477" r:id="rId108"/>
    <p:sldId id="478" r:id="rId109"/>
    <p:sldId id="479" r:id="rId110"/>
    <p:sldId id="454" r:id="rId111"/>
    <p:sldId id="487" r:id="rId112"/>
    <p:sldId id="638" r:id="rId113"/>
    <p:sldId id="639" r:id="rId114"/>
    <p:sldId id="640" r:id="rId115"/>
    <p:sldId id="641" r:id="rId116"/>
    <p:sldId id="642" r:id="rId117"/>
    <p:sldId id="643" r:id="rId118"/>
    <p:sldId id="644" r:id="rId119"/>
    <p:sldId id="645" r:id="rId120"/>
    <p:sldId id="646" r:id="rId121"/>
    <p:sldId id="647" r:id="rId122"/>
    <p:sldId id="648" r:id="rId123"/>
    <p:sldId id="649" r:id="rId124"/>
    <p:sldId id="650" r:id="rId125"/>
    <p:sldId id="651" r:id="rId126"/>
    <p:sldId id="652" r:id="rId127"/>
    <p:sldId id="653" r:id="rId128"/>
    <p:sldId id="654" r:id="rId129"/>
    <p:sldId id="655" r:id="rId130"/>
    <p:sldId id="656" r:id="rId131"/>
    <p:sldId id="657" r:id="rId132"/>
    <p:sldId id="658" r:id="rId133"/>
    <p:sldId id="659" r:id="rId134"/>
    <p:sldId id="660" r:id="rId135"/>
    <p:sldId id="661" r:id="rId136"/>
    <p:sldId id="662" r:id="rId137"/>
    <p:sldId id="665" r:id="rId138"/>
    <p:sldId id="664" r:id="rId139"/>
    <p:sldId id="666" r:id="rId140"/>
    <p:sldId id="667" r:id="rId141"/>
    <p:sldId id="668" r:id="rId142"/>
    <p:sldId id="669" r:id="rId143"/>
    <p:sldId id="670" r:id="rId144"/>
    <p:sldId id="671" r:id="rId145"/>
    <p:sldId id="672" r:id="rId146"/>
    <p:sldId id="673" r:id="rId147"/>
    <p:sldId id="674" r:id="rId148"/>
    <p:sldId id="675" r:id="rId149"/>
    <p:sldId id="676" r:id="rId150"/>
    <p:sldId id="677" r:id="rId151"/>
    <p:sldId id="678" r:id="rId152"/>
    <p:sldId id="679" r:id="rId153"/>
    <p:sldId id="680" r:id="rId154"/>
    <p:sldId id="681" r:id="rId155"/>
    <p:sldId id="682" r:id="rId156"/>
    <p:sldId id="683" r:id="rId157"/>
    <p:sldId id="684" r:id="rId158"/>
    <p:sldId id="685" r:id="rId159"/>
    <p:sldId id="686" r:id="rId160"/>
    <p:sldId id="687" r:id="rId161"/>
    <p:sldId id="688" r:id="rId162"/>
    <p:sldId id="689" r:id="rId163"/>
    <p:sldId id="455" r:id="rId164"/>
    <p:sldId id="503" r:id="rId165"/>
    <p:sldId id="504" r:id="rId166"/>
    <p:sldId id="505" r:id="rId167"/>
    <p:sldId id="506" r:id="rId168"/>
    <p:sldId id="690" r:id="rId169"/>
    <p:sldId id="691" r:id="rId170"/>
    <p:sldId id="507" r:id="rId171"/>
    <p:sldId id="456" r:id="rId172"/>
    <p:sldId id="518" r:id="rId173"/>
    <p:sldId id="519" r:id="rId174"/>
    <p:sldId id="520" r:id="rId175"/>
    <p:sldId id="457" r:id="rId176"/>
    <p:sldId id="535" r:id="rId177"/>
    <p:sldId id="536" r:id="rId178"/>
    <p:sldId id="537" r:id="rId179"/>
    <p:sldId id="692" r:id="rId180"/>
    <p:sldId id="693" r:id="rId181"/>
    <p:sldId id="694" r:id="rId182"/>
    <p:sldId id="695" r:id="rId183"/>
    <p:sldId id="696" r:id="rId184"/>
    <p:sldId id="553" r:id="rId185"/>
    <p:sldId id="554" r:id="rId186"/>
    <p:sldId id="555" r:id="rId187"/>
    <p:sldId id="556" r:id="rId188"/>
    <p:sldId id="559" r:id="rId189"/>
    <p:sldId id="560" r:id="rId190"/>
    <p:sldId id="266" r:id="rId191"/>
    <p:sldId id="564" r:id="rId192"/>
    <p:sldId id="565" r:id="rId193"/>
    <p:sldId id="566" r:id="rId194"/>
    <p:sldId id="567" r:id="rId195"/>
    <p:sldId id="568" r:id="rId196"/>
    <p:sldId id="569" r:id="rId197"/>
    <p:sldId id="570" r:id="rId198"/>
    <p:sldId id="571" r:id="rId199"/>
    <p:sldId id="572" r:id="rId200"/>
    <p:sldId id="561" r:id="rId201"/>
    <p:sldId id="575" r:id="rId202"/>
    <p:sldId id="576" r:id="rId203"/>
    <p:sldId id="577" r:id="rId204"/>
    <p:sldId id="578" r:id="rId205"/>
    <p:sldId id="579" r:id="rId206"/>
    <p:sldId id="580" r:id="rId207"/>
    <p:sldId id="562" r:id="rId208"/>
    <p:sldId id="592" r:id="rId209"/>
    <p:sldId id="593" r:id="rId210"/>
    <p:sldId id="563" r:id="rId211"/>
    <p:sldId id="605" r:id="rId212"/>
    <p:sldId id="606" r:id="rId213"/>
    <p:sldId id="607" r:id="rId214"/>
    <p:sldId id="697" r:id="rId215"/>
    <p:sldId id="700" r:id="rId216"/>
    <p:sldId id="701" r:id="rId217"/>
    <p:sldId id="703" r:id="rId218"/>
    <p:sldId id="704" r:id="rId219"/>
    <p:sldId id="608" r:id="rId220"/>
    <p:sldId id="705" r:id="rId221"/>
    <p:sldId id="625" r:id="rId222"/>
    <p:sldId id="626" r:id="rId223"/>
    <p:sldId id="627" r:id="rId224"/>
    <p:sldId id="706" r:id="rId22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56" autoAdjust="0"/>
    <p:restoredTop sz="68068" autoAdjust="0"/>
  </p:normalViewPr>
  <p:slideViewPr>
    <p:cSldViewPr>
      <p:cViewPr>
        <p:scale>
          <a:sx n="70" d="100"/>
          <a:sy n="70" d="100"/>
        </p:scale>
        <p:origin x="-1434"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handoutMaster" Target="handoutMasters/handoutMaster1.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viewProps" Target="viewProps.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7/14/2013</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7/14/2013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students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five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planning for food service production by asking questions such as:</a:t>
            </a:r>
          </a:p>
          <a:p>
            <a:pPr>
              <a:buFont typeface="Arial" pitchFamily="34" charset="0"/>
              <a:buChar char="•"/>
            </a:pPr>
            <a:r>
              <a:rPr lang="en-US" dirty="0" smtClean="0"/>
              <a:t> Why is it important to plan for food service production?</a:t>
            </a:r>
          </a:p>
          <a:p>
            <a:pPr>
              <a:buFont typeface="Arial" pitchFamily="34" charset="0"/>
              <a:buChar char="•"/>
            </a:pPr>
            <a:r>
              <a:rPr lang="en-US" dirty="0" smtClean="0"/>
              <a:t> What factors impact the planning process?</a:t>
            </a:r>
          </a:p>
          <a:p>
            <a:pPr>
              <a:buFont typeface="Arial" pitchFamily="34" charset="0"/>
              <a:buChar char="•"/>
            </a:pPr>
            <a:r>
              <a:rPr lang="en-US" dirty="0" smtClean="0"/>
              <a:t> Where and when would this panning take place?</a:t>
            </a:r>
          </a:p>
          <a:p>
            <a:pPr>
              <a:buFont typeface="Arial" pitchFamily="34" charset="0"/>
              <a:buChar char="•"/>
            </a:pPr>
            <a:r>
              <a:rPr lang="en-US" dirty="0" smtClean="0"/>
              <a:t> Who might be involved?</a:t>
            </a:r>
          </a:p>
          <a:p>
            <a:pPr>
              <a:buFont typeface="Arial" pitchFamily="34" charset="0"/>
              <a:buChar char="•"/>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‘the menu’ stating: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A key requirement in organising food service operations is to plan the menu to be prepared and served</a:t>
            </a:r>
          </a:p>
          <a:p>
            <a:pPr>
              <a:buFont typeface="Arial" pitchFamily="34" charset="0"/>
              <a:buChar char="•"/>
            </a:pPr>
            <a:r>
              <a:rPr lang="en-AU" sz="1200" kern="1200" dirty="0" smtClean="0">
                <a:solidFill>
                  <a:schemeClr val="tx1"/>
                </a:solidFill>
                <a:ea typeface="+mn-ea"/>
                <a:cs typeface="+mn-cs"/>
              </a:rPr>
              <a:t> A menu is a list of the dishes which will be offered for a particular service session</a:t>
            </a:r>
          </a:p>
          <a:p>
            <a:pPr>
              <a:buFont typeface="Arial" pitchFamily="34" charset="0"/>
              <a:buChar char="•"/>
            </a:pPr>
            <a:r>
              <a:rPr lang="en-AU" sz="1200" kern="1200" dirty="0" smtClean="0">
                <a:solidFill>
                  <a:schemeClr val="tx1"/>
                </a:solidFill>
                <a:ea typeface="+mn-ea"/>
                <a:cs typeface="+mn-cs"/>
              </a:rPr>
              <a:t> It is the basis of all planning and control mechanisms for all food sessions </a:t>
            </a:r>
          </a:p>
          <a:p>
            <a:pPr>
              <a:buFont typeface="Arial" pitchFamily="34" charset="0"/>
              <a:buChar char="•"/>
            </a:pPr>
            <a:r>
              <a:rPr lang="en-AU" sz="1200" kern="1200" dirty="0" smtClean="0">
                <a:solidFill>
                  <a:schemeClr val="tx1"/>
                </a:solidFill>
                <a:ea typeface="+mn-ea"/>
                <a:cs typeface="+mn-cs"/>
              </a:rPr>
              <a:t> Everything that happens in the kitchen and in terms of food production and food service flows from and is based on the dishes listed on the menu.</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reasons to plan menus:</a:t>
            </a:r>
          </a:p>
          <a:p>
            <a:pPr>
              <a:buFont typeface="Arial" pitchFamily="34" charset="0"/>
              <a:buChar char="•"/>
            </a:pPr>
            <a:r>
              <a:rPr lang="en-AU" sz="1200" kern="1200" dirty="0" smtClean="0">
                <a:solidFill>
                  <a:schemeClr val="tx1"/>
                </a:solidFill>
                <a:ea typeface="+mn-ea"/>
                <a:cs typeface="+mn-cs"/>
              </a:rPr>
              <a:t> Meet customer expectations – and satisfy any identified needs of the customer (especially for functions and special events) which may relate to:</a:t>
            </a:r>
          </a:p>
          <a:p>
            <a:pPr lvl="1">
              <a:buFont typeface="Arial" pitchFamily="34" charset="0"/>
              <a:buChar char="•"/>
            </a:pPr>
            <a:r>
              <a:rPr lang="en-AU" sz="1200" kern="1200" dirty="0" smtClean="0">
                <a:solidFill>
                  <a:schemeClr val="tx1"/>
                </a:solidFill>
                <a:ea typeface="+mn-ea"/>
                <a:cs typeface="+mn-cs"/>
              </a:rPr>
              <a:t> Religious needs</a:t>
            </a:r>
          </a:p>
          <a:p>
            <a:pPr lvl="1">
              <a:buFont typeface="Arial" pitchFamily="34" charset="0"/>
              <a:buChar char="•"/>
            </a:pPr>
            <a:r>
              <a:rPr lang="en-AU" sz="1200" kern="1200" dirty="0" smtClean="0">
                <a:solidFill>
                  <a:schemeClr val="tx1"/>
                </a:solidFill>
                <a:ea typeface="+mn-ea"/>
                <a:cs typeface="+mn-cs"/>
              </a:rPr>
              <a:t> Dietary and health-related needs</a:t>
            </a:r>
          </a:p>
          <a:p>
            <a:pPr lvl="1">
              <a:buFont typeface="Arial" pitchFamily="34" charset="0"/>
              <a:buChar char="•"/>
            </a:pPr>
            <a:r>
              <a:rPr lang="en-AU" sz="1200" kern="1200" dirty="0" smtClean="0">
                <a:solidFill>
                  <a:schemeClr val="tx1"/>
                </a:solidFill>
                <a:ea typeface="+mn-ea"/>
                <a:cs typeface="+mn-cs"/>
              </a:rPr>
              <a:t> Cultural requirements</a:t>
            </a:r>
          </a:p>
          <a:p>
            <a:pPr lvl="1">
              <a:buFont typeface="Arial" pitchFamily="34" charset="0"/>
              <a:buChar char="•"/>
            </a:pPr>
            <a:r>
              <a:rPr lang="en-AU" sz="1200" kern="1200" dirty="0" smtClean="0">
                <a:solidFill>
                  <a:schemeClr val="tx1"/>
                </a:solidFill>
                <a:ea typeface="+mn-ea"/>
                <a:cs typeface="+mn-cs"/>
              </a:rPr>
              <a:t> Age-specific preferences – especially for children and the elderly</a:t>
            </a:r>
          </a:p>
          <a:p>
            <a:pPr lvl="1">
              <a:buFont typeface="Arial" pitchFamily="34" charset="0"/>
              <a:buChar char="•"/>
            </a:pPr>
            <a:r>
              <a:rPr lang="en-AU" sz="1200" kern="1200" dirty="0" smtClean="0">
                <a:solidFill>
                  <a:schemeClr val="tx1"/>
                </a:solidFill>
                <a:ea typeface="+mn-ea"/>
                <a:cs typeface="+mn-cs"/>
              </a:rPr>
              <a:t> Identified gender-related preferences</a:t>
            </a:r>
          </a:p>
          <a:p>
            <a:pPr>
              <a:buFont typeface="Arial" pitchFamily="34" charset="0"/>
              <a:buChar char="•"/>
            </a:pPr>
            <a:r>
              <a:rPr lang="en-AU" sz="1200" kern="1200" dirty="0" smtClean="0">
                <a:solidFill>
                  <a:schemeClr val="tx1"/>
                </a:solidFill>
                <a:ea typeface="+mn-ea"/>
                <a:cs typeface="+mn-cs"/>
              </a:rPr>
              <a:t> Provide a basis for placing orders with suppliers – for the food/ingredients required</a:t>
            </a:r>
          </a:p>
          <a:p>
            <a:pPr>
              <a:buFont typeface="Arial" pitchFamily="34" charset="0"/>
              <a:buChar char="•"/>
            </a:pPr>
            <a:r>
              <a:rPr lang="en-AU" sz="1200" kern="1200" dirty="0" smtClean="0">
                <a:solidFill>
                  <a:schemeClr val="tx1"/>
                </a:solidFill>
                <a:ea typeface="+mn-ea"/>
                <a:cs typeface="+mn-cs"/>
              </a:rPr>
              <a:t> Check the required ingredients are available – or are ‘in season’</a:t>
            </a:r>
          </a:p>
          <a:p>
            <a:pPr>
              <a:buFont typeface="Arial" pitchFamily="34" charset="0"/>
              <a:buChar char="•"/>
            </a:pPr>
            <a:r>
              <a:rPr lang="en-AU" sz="1200" kern="1200" dirty="0" smtClean="0">
                <a:solidFill>
                  <a:schemeClr val="tx1"/>
                </a:solidFill>
                <a:ea typeface="+mn-ea"/>
                <a:cs typeface="+mn-cs"/>
              </a:rPr>
              <a:t> Verify the venue has sufficient and necessary equipment (physical resources) to produce the menu items – different dishes/cooking methods require different cooking equipment. There is a need to avoid cooking all dishes using the same cooking style and piece of equipment.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giving</a:t>
            </a:r>
            <a:r>
              <a:rPr lang="en-US" baseline="0" dirty="0" smtClean="0"/>
              <a:t> </a:t>
            </a:r>
            <a:r>
              <a:rPr lang="en-US" dirty="0" smtClean="0"/>
              <a:t>reasons to plan menus:</a:t>
            </a:r>
          </a:p>
          <a:p>
            <a:pPr>
              <a:buFont typeface="Arial" pitchFamily="34" charset="0"/>
              <a:buChar char="•"/>
            </a:pPr>
            <a:r>
              <a:rPr lang="en-AU" sz="1200" kern="1200" dirty="0" smtClean="0">
                <a:solidFill>
                  <a:schemeClr val="tx1"/>
                </a:solidFill>
                <a:ea typeface="+mn-ea"/>
                <a:cs typeface="+mn-cs"/>
              </a:rPr>
              <a:t> Confirm the dishes can be effectively and efficiently served to customers – after the food has been prepared/cooked</a:t>
            </a:r>
          </a:p>
          <a:p>
            <a:pPr>
              <a:buFont typeface="Arial" pitchFamily="34" charset="0"/>
              <a:buChar char="•"/>
            </a:pPr>
            <a:r>
              <a:rPr lang="en-AU" sz="1200" kern="1200" dirty="0" smtClean="0">
                <a:solidFill>
                  <a:schemeClr val="tx1"/>
                </a:solidFill>
                <a:ea typeface="+mn-ea"/>
                <a:cs typeface="+mn-cs"/>
              </a:rPr>
              <a:t> Ensure staff (human resources) can produce the required menu items – which may relate to their experience, the need to practice dishes, the necessity to provide training and/or the need to employ sufficient numbers of workers</a:t>
            </a:r>
          </a:p>
          <a:p>
            <a:pPr>
              <a:buFont typeface="Arial" pitchFamily="34" charset="0"/>
              <a:buChar char="•"/>
            </a:pPr>
            <a:r>
              <a:rPr lang="en-AU" sz="1200" kern="1200" dirty="0" smtClean="0">
                <a:solidFill>
                  <a:schemeClr val="tx1"/>
                </a:solidFill>
                <a:ea typeface="+mn-ea"/>
                <a:cs typeface="+mn-cs"/>
              </a:rPr>
              <a:t> Generate standard recipes for all identified dishes – see next section</a:t>
            </a:r>
          </a:p>
          <a:p>
            <a:pPr>
              <a:buFont typeface="Arial" pitchFamily="34" charset="0"/>
              <a:buChar char="•"/>
            </a:pPr>
            <a:r>
              <a:rPr lang="en-AU" sz="1200" kern="1200" dirty="0" smtClean="0">
                <a:solidFill>
                  <a:schemeClr val="tx1"/>
                </a:solidFill>
                <a:ea typeface="+mn-ea"/>
                <a:cs typeface="+mn-cs"/>
              </a:rPr>
              <a:t> Make sure the food cost for the menu is acceptable – in accordance with venue requirements and (where applicable – such as for functions) customer constraints</a:t>
            </a:r>
          </a:p>
          <a:p>
            <a:pPr>
              <a:buFont typeface="Arial" pitchFamily="34" charset="0"/>
              <a:buChar char="•"/>
            </a:pPr>
            <a:r>
              <a:rPr lang="en-AU" sz="1200" kern="1200" dirty="0" smtClean="0">
                <a:solidFill>
                  <a:schemeClr val="tx1"/>
                </a:solidFill>
                <a:ea typeface="+mn-ea"/>
                <a:cs typeface="+mn-cs"/>
              </a:rPr>
              <a:t> Include local ingredients – to support the local area and promote local products</a:t>
            </a:r>
          </a:p>
          <a:p>
            <a:pPr>
              <a:buFont typeface="Arial" pitchFamily="34" charset="0"/>
              <a:buChar char="•"/>
            </a:pPr>
            <a:r>
              <a:rPr lang="en-AU" sz="1200" kern="1200" dirty="0" smtClean="0">
                <a:solidFill>
                  <a:schemeClr val="tx1"/>
                </a:solidFill>
                <a:ea typeface="+mn-ea"/>
                <a:cs typeface="+mn-cs"/>
              </a:rPr>
              <a:t> Balance the menu – there is commonly a need to balance a menu in terms of achieving an appropriate blend of:</a:t>
            </a:r>
          </a:p>
          <a:p>
            <a:pPr lvl="1">
              <a:buFont typeface="Arial" pitchFamily="34" charset="0"/>
              <a:buChar char="•"/>
            </a:pPr>
            <a:r>
              <a:rPr lang="en-AU" sz="1200" kern="1200" dirty="0" smtClean="0">
                <a:solidFill>
                  <a:schemeClr val="tx1"/>
                </a:solidFill>
                <a:ea typeface="+mn-ea"/>
                <a:cs typeface="+mn-cs"/>
              </a:rPr>
              <a:t> Primary ingredients</a:t>
            </a:r>
          </a:p>
          <a:p>
            <a:pPr lvl="1">
              <a:buFont typeface="Arial" pitchFamily="34" charset="0"/>
              <a:buChar char="•"/>
            </a:pPr>
            <a:r>
              <a:rPr lang="en-AU" sz="1200" kern="1200" dirty="0" smtClean="0">
                <a:solidFill>
                  <a:schemeClr val="tx1"/>
                </a:solidFill>
                <a:ea typeface="+mn-ea"/>
                <a:cs typeface="+mn-cs"/>
              </a:rPr>
              <a:t> Cooking styles</a:t>
            </a:r>
          </a:p>
          <a:p>
            <a:pPr lvl="1">
              <a:buFont typeface="Arial" pitchFamily="34" charset="0"/>
              <a:buChar char="•"/>
            </a:pPr>
            <a:r>
              <a:rPr lang="en-AU" sz="1200" kern="1200" dirty="0" smtClean="0">
                <a:solidFill>
                  <a:schemeClr val="tx1"/>
                </a:solidFill>
                <a:ea typeface="+mn-ea"/>
                <a:cs typeface="+mn-cs"/>
              </a:rPr>
              <a:t> Textures</a:t>
            </a:r>
          </a:p>
          <a:p>
            <a:pPr lvl="1">
              <a:buFont typeface="Arial" pitchFamily="34" charset="0"/>
              <a:buChar char="•"/>
            </a:pPr>
            <a:r>
              <a:rPr lang="en-AU" sz="1200" kern="1200" dirty="0" smtClean="0">
                <a:solidFill>
                  <a:schemeClr val="tx1"/>
                </a:solidFill>
                <a:ea typeface="+mn-ea"/>
                <a:cs typeface="+mn-cs"/>
              </a:rPr>
              <a:t> Tastes</a:t>
            </a:r>
          </a:p>
          <a:p>
            <a:pPr lvl="1">
              <a:buFont typeface="Arial" pitchFamily="34" charset="0"/>
              <a:buChar char="•"/>
            </a:pPr>
            <a:r>
              <a:rPr lang="en-AU" sz="1200" kern="1200" dirty="0" smtClean="0">
                <a:solidFill>
                  <a:schemeClr val="tx1"/>
                </a:solidFill>
                <a:ea typeface="+mn-ea"/>
                <a:cs typeface="+mn-cs"/>
              </a:rPr>
              <a:t> Colours</a:t>
            </a:r>
          </a:p>
          <a:p>
            <a:pPr lvl="1">
              <a:buFont typeface="Arial" pitchFamily="34" charset="0"/>
              <a:buChar char="•"/>
            </a:pPr>
            <a:r>
              <a:rPr lang="en-AU" sz="1200" kern="1200" dirty="0" smtClean="0">
                <a:solidFill>
                  <a:schemeClr val="tx1"/>
                </a:solidFill>
                <a:ea typeface="+mn-ea"/>
                <a:cs typeface="+mn-cs"/>
              </a:rPr>
              <a:t> Nutrition</a:t>
            </a:r>
          </a:p>
          <a:p>
            <a:pPr lvl="1">
              <a:buFont typeface="Arial" pitchFamily="34" charset="0"/>
              <a:buChar char="•"/>
            </a:pPr>
            <a:r>
              <a:rPr lang="en-AU" sz="1200" kern="1200" dirty="0" smtClean="0">
                <a:solidFill>
                  <a:schemeClr val="tx1"/>
                </a:solidFill>
                <a:ea typeface="+mn-ea"/>
                <a:cs typeface="+mn-cs"/>
              </a:rPr>
              <a:t> Salads and vegetables </a:t>
            </a:r>
          </a:p>
          <a:p>
            <a:pPr lvl="1">
              <a:buFont typeface="Arial" pitchFamily="34" charset="0"/>
              <a:buChar char="•"/>
            </a:pPr>
            <a:r>
              <a:rPr lang="en-AU" sz="1200" kern="1200" dirty="0" smtClean="0">
                <a:solidFill>
                  <a:schemeClr val="tx1"/>
                </a:solidFill>
                <a:ea typeface="+mn-ea"/>
                <a:cs typeface="+mn-cs"/>
              </a:rPr>
              <a:t> Sauces</a:t>
            </a:r>
          </a:p>
          <a:p>
            <a:pPr lvl="1">
              <a:buFont typeface="Arial" pitchFamily="34" charset="0"/>
              <a:buChar char="•"/>
            </a:pPr>
            <a:r>
              <a:rPr lang="en-AU" sz="1200" kern="1200" dirty="0" smtClean="0">
                <a:solidFill>
                  <a:schemeClr val="tx1"/>
                </a:solidFill>
                <a:ea typeface="+mn-ea"/>
                <a:cs typeface="+mn-cs"/>
              </a:rPr>
              <a:t> Choices available between courses.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there can be a need to produce menus for:</a:t>
            </a:r>
          </a:p>
          <a:p>
            <a:pPr>
              <a:buFont typeface="Arial" pitchFamily="34" charset="0"/>
              <a:buChar char="•"/>
            </a:pPr>
            <a:r>
              <a:rPr lang="en-AU" sz="1200" kern="1200" dirty="0" smtClean="0">
                <a:solidFill>
                  <a:schemeClr val="tx1"/>
                </a:solidFill>
                <a:ea typeface="+mn-ea"/>
                <a:cs typeface="+mn-cs"/>
              </a:rPr>
              <a:t> Normal day-to-day operation of food outlets in the venue. These operations may cover a range of traditional and/or modern dining/food options such as:</a:t>
            </a:r>
          </a:p>
          <a:p>
            <a:pPr lvl="1">
              <a:buFont typeface="Arial" pitchFamily="34" charset="0"/>
              <a:buChar char="•"/>
            </a:pPr>
            <a:r>
              <a:rPr lang="en-AU" sz="1200" kern="1200" dirty="0" smtClean="0">
                <a:solidFill>
                  <a:schemeClr val="tx1"/>
                </a:solidFill>
                <a:ea typeface="+mn-ea"/>
                <a:cs typeface="+mn-cs"/>
              </a:rPr>
              <a:t> Dining rooms – standard, themed, fine dining</a:t>
            </a:r>
          </a:p>
          <a:p>
            <a:pPr lvl="1">
              <a:buFont typeface="Arial" pitchFamily="34" charset="0"/>
              <a:buChar char="•"/>
            </a:pPr>
            <a:r>
              <a:rPr lang="en-AU" sz="1200" kern="1200" dirty="0" smtClean="0">
                <a:solidFill>
                  <a:schemeClr val="tx1"/>
                </a:solidFill>
                <a:ea typeface="+mn-ea"/>
                <a:cs typeface="+mn-cs"/>
              </a:rPr>
              <a:t> Bistro</a:t>
            </a:r>
          </a:p>
          <a:p>
            <a:pPr lvl="1">
              <a:buFont typeface="Arial" pitchFamily="34" charset="0"/>
              <a:buChar char="•"/>
            </a:pPr>
            <a:r>
              <a:rPr lang="en-AU" sz="1200" kern="1200" dirty="0" smtClean="0">
                <a:solidFill>
                  <a:schemeClr val="tx1"/>
                </a:solidFill>
                <a:ea typeface="+mn-ea"/>
                <a:cs typeface="+mn-cs"/>
              </a:rPr>
              <a:t> Café</a:t>
            </a:r>
          </a:p>
          <a:p>
            <a:pPr lvl="1">
              <a:buFont typeface="Arial" pitchFamily="34" charset="0"/>
              <a:buChar char="•"/>
            </a:pPr>
            <a:r>
              <a:rPr lang="en-AU" sz="1200" kern="1200" dirty="0" smtClean="0">
                <a:solidFill>
                  <a:schemeClr val="tx1"/>
                </a:solidFill>
                <a:ea typeface="+mn-ea"/>
                <a:cs typeface="+mn-cs"/>
              </a:rPr>
              <a:t> Take away</a:t>
            </a:r>
          </a:p>
          <a:p>
            <a:pPr lvl="1">
              <a:buFont typeface="Arial" pitchFamily="34" charset="0"/>
              <a:buChar char="•"/>
            </a:pPr>
            <a:r>
              <a:rPr lang="en-AU" sz="1200" kern="1200" dirty="0" smtClean="0">
                <a:solidFill>
                  <a:schemeClr val="tx1"/>
                </a:solidFill>
                <a:ea typeface="+mn-ea"/>
                <a:cs typeface="+mn-cs"/>
              </a:rPr>
              <a:t> Rooms service</a:t>
            </a:r>
          </a:p>
          <a:p>
            <a:pPr lvl="1">
              <a:buFont typeface="Arial" pitchFamily="34" charset="0"/>
              <a:buChar char="•"/>
            </a:pPr>
            <a:r>
              <a:rPr lang="en-AU" sz="1200" kern="1200" dirty="0" smtClean="0">
                <a:solidFill>
                  <a:schemeClr val="tx1"/>
                </a:solidFill>
                <a:ea typeface="+mn-ea"/>
                <a:cs typeface="+mn-cs"/>
              </a:rPr>
              <a:t> Breakfast, lunch, dinner</a:t>
            </a:r>
          </a:p>
          <a:p>
            <a:pPr lvl="1">
              <a:buFont typeface="Arial" pitchFamily="34" charset="0"/>
              <a:buChar char="•"/>
            </a:pPr>
            <a:r>
              <a:rPr lang="en-AU" sz="1200" kern="1200" dirty="0" smtClean="0">
                <a:solidFill>
                  <a:schemeClr val="tx1"/>
                </a:solidFill>
                <a:ea typeface="+mn-ea"/>
                <a:cs typeface="+mn-cs"/>
              </a:rPr>
              <a:t> Morning tea, afternoon tea and supper</a:t>
            </a:r>
          </a:p>
          <a:p>
            <a:pPr>
              <a:buFont typeface="Arial" pitchFamily="34" charset="0"/>
              <a:buChar char="•"/>
            </a:pPr>
            <a:r>
              <a:rPr lang="en-AU" sz="1200" kern="1200" dirty="0" smtClean="0">
                <a:solidFill>
                  <a:schemeClr val="tx1"/>
                </a:solidFill>
                <a:ea typeface="+mn-ea"/>
                <a:cs typeface="+mn-cs"/>
              </a:rPr>
              <a:t> Specific occasions – these may include:</a:t>
            </a:r>
          </a:p>
          <a:p>
            <a:pPr lvl="1">
              <a:buFont typeface="Arial" pitchFamily="34" charset="0"/>
              <a:buChar char="•"/>
            </a:pPr>
            <a:r>
              <a:rPr lang="en-AU" sz="1200" kern="1200" dirty="0" smtClean="0">
                <a:solidFill>
                  <a:schemeClr val="tx1"/>
                </a:solidFill>
                <a:ea typeface="+mn-ea"/>
                <a:cs typeface="+mn-cs"/>
              </a:rPr>
              <a:t> Functions – for small or large groups (such as birthdays, wedding receptions, private parties, cocktail parties) </a:t>
            </a:r>
          </a:p>
          <a:p>
            <a:pPr lvl="1">
              <a:buFont typeface="Arial" pitchFamily="34" charset="0"/>
              <a:buChar char="•"/>
            </a:pPr>
            <a:r>
              <a:rPr lang="en-AU" sz="1200" kern="1200" dirty="0" smtClean="0">
                <a:solidFill>
                  <a:schemeClr val="tx1"/>
                </a:solidFill>
                <a:ea typeface="+mn-ea"/>
                <a:cs typeface="+mn-cs"/>
              </a:rPr>
              <a:t> Events – including catering required to support MICE</a:t>
            </a:r>
          </a:p>
          <a:p>
            <a:pPr lvl="1">
              <a:buFont typeface="Arial" pitchFamily="34" charset="0"/>
              <a:buChar char="•"/>
            </a:pPr>
            <a:r>
              <a:rPr lang="en-AU" sz="1200" kern="1200" dirty="0" smtClean="0">
                <a:solidFill>
                  <a:schemeClr val="tx1"/>
                </a:solidFill>
                <a:ea typeface="+mn-ea"/>
                <a:cs typeface="+mn-cs"/>
              </a:rPr>
              <a:t> Religious festivals and events</a:t>
            </a:r>
          </a:p>
          <a:p>
            <a:pPr lvl="1">
              <a:buFont typeface="Arial" pitchFamily="34" charset="0"/>
              <a:buChar char="•"/>
            </a:pPr>
            <a:r>
              <a:rPr lang="en-AU" sz="1200" kern="1200" dirty="0" smtClean="0">
                <a:solidFill>
                  <a:schemeClr val="tx1"/>
                </a:solidFill>
                <a:ea typeface="+mn-ea"/>
                <a:cs typeface="+mn-cs"/>
              </a:rPr>
              <a:t> Cultural festivals and events</a:t>
            </a:r>
          </a:p>
          <a:p>
            <a:pPr lvl="1">
              <a:buFont typeface="Arial" pitchFamily="34" charset="0"/>
              <a:buChar char="•"/>
            </a:pPr>
            <a:r>
              <a:rPr lang="en-AU" sz="1200" kern="1200" dirty="0" smtClean="0">
                <a:solidFill>
                  <a:schemeClr val="tx1"/>
                </a:solidFill>
                <a:ea typeface="+mn-ea"/>
                <a:cs typeface="+mn-cs"/>
              </a:rPr>
              <a:t> Ceremonial occasions.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Trainer identifies people to involve </a:t>
            </a:r>
            <a:r>
              <a:rPr lang="en-AU" sz="1200" kern="1200" dirty="0" smtClean="0">
                <a:solidFill>
                  <a:schemeClr val="tx1"/>
                </a:solidFill>
                <a:ea typeface="+mn-ea"/>
                <a:cs typeface="+mn-cs"/>
              </a:rPr>
              <a:t>from time-to-time when planning menus:</a:t>
            </a:r>
          </a:p>
          <a:p>
            <a:pPr>
              <a:buFont typeface="Arial" pitchFamily="34" charset="0"/>
              <a:buChar char="•"/>
            </a:pPr>
            <a:r>
              <a:rPr lang="en-AU" sz="1200" kern="1200" dirty="0" smtClean="0">
                <a:solidFill>
                  <a:schemeClr val="tx1"/>
                </a:solidFill>
                <a:ea typeface="+mn-ea"/>
                <a:cs typeface="+mn-cs"/>
              </a:rPr>
              <a:t> Management – to ensure you meet the requirements of the business in terms of:</a:t>
            </a:r>
          </a:p>
          <a:p>
            <a:pPr lvl="1">
              <a:buFont typeface="Arial" pitchFamily="34" charset="0"/>
              <a:buChar char="•"/>
            </a:pPr>
            <a:r>
              <a:rPr lang="en-AU" sz="1200" kern="1200" dirty="0" smtClean="0">
                <a:solidFill>
                  <a:schemeClr val="tx1"/>
                </a:solidFill>
                <a:ea typeface="+mn-ea"/>
                <a:cs typeface="+mn-cs"/>
              </a:rPr>
              <a:t> The direction they want the business to take and the image of the property</a:t>
            </a:r>
          </a:p>
          <a:p>
            <a:pPr lvl="1">
              <a:buFont typeface="Arial" pitchFamily="34" charset="0"/>
              <a:buChar char="•"/>
            </a:pPr>
            <a:r>
              <a:rPr lang="en-AU" sz="1200" kern="1200" dirty="0" smtClean="0">
                <a:solidFill>
                  <a:schemeClr val="tx1"/>
                </a:solidFill>
                <a:ea typeface="+mn-ea"/>
                <a:cs typeface="+mn-cs"/>
              </a:rPr>
              <a:t> Pricing and profit</a:t>
            </a:r>
          </a:p>
          <a:p>
            <a:pPr>
              <a:buFont typeface="Arial" pitchFamily="34" charset="0"/>
              <a:buChar char="•"/>
            </a:pPr>
            <a:r>
              <a:rPr lang="en-AU" sz="1200" kern="1200" dirty="0" smtClean="0">
                <a:solidFill>
                  <a:schemeClr val="tx1"/>
                </a:solidFill>
                <a:ea typeface="+mn-ea"/>
                <a:cs typeface="+mn-cs"/>
              </a:rPr>
              <a:t> Clients – these are the people who are booking/paying for functions, events and special occasions in order to:</a:t>
            </a:r>
          </a:p>
          <a:p>
            <a:pPr lvl="1">
              <a:buFont typeface="Arial" pitchFamily="34" charset="0"/>
              <a:buChar char="•"/>
            </a:pPr>
            <a:r>
              <a:rPr lang="en-AU" sz="1200" kern="1200" dirty="0" smtClean="0">
                <a:solidFill>
                  <a:schemeClr val="tx1"/>
                </a:solidFill>
                <a:ea typeface="+mn-ea"/>
                <a:cs typeface="+mn-cs"/>
              </a:rPr>
              <a:t> Determine their needs</a:t>
            </a:r>
          </a:p>
          <a:p>
            <a:pPr lvl="1">
              <a:buFont typeface="Arial" pitchFamily="34" charset="0"/>
              <a:buChar char="•"/>
            </a:pPr>
            <a:r>
              <a:rPr lang="en-AU" sz="1200" kern="1200" dirty="0" smtClean="0">
                <a:solidFill>
                  <a:schemeClr val="tx1"/>
                </a:solidFill>
                <a:ea typeface="+mn-ea"/>
                <a:cs typeface="+mn-cs"/>
              </a:rPr>
              <a:t> Identify guest numbers</a:t>
            </a:r>
          </a:p>
          <a:p>
            <a:pPr lvl="1">
              <a:buFont typeface="Arial" pitchFamily="34" charset="0"/>
              <a:buChar char="•"/>
            </a:pPr>
            <a:r>
              <a:rPr lang="en-AU" sz="1200" kern="1200" dirty="0" smtClean="0">
                <a:solidFill>
                  <a:schemeClr val="tx1"/>
                </a:solidFill>
                <a:ea typeface="+mn-ea"/>
                <a:cs typeface="+mn-cs"/>
              </a:rPr>
              <a:t> Establish dates and service times</a:t>
            </a:r>
          </a:p>
          <a:p>
            <a:pPr>
              <a:buFont typeface="Arial" pitchFamily="34" charset="0"/>
              <a:buChar char="•"/>
            </a:pPr>
            <a:r>
              <a:rPr lang="en-AU" sz="1200" kern="1200" dirty="0" smtClean="0">
                <a:solidFill>
                  <a:schemeClr val="tx1"/>
                </a:solidFill>
                <a:ea typeface="+mn-ea"/>
                <a:cs typeface="+mn-cs"/>
              </a:rPr>
              <a:t> The Marketing department of the venue – with reference to:</a:t>
            </a:r>
          </a:p>
          <a:p>
            <a:pPr lvl="1">
              <a:buFont typeface="Arial" pitchFamily="34" charset="0"/>
              <a:buChar char="•"/>
            </a:pPr>
            <a:r>
              <a:rPr lang="en-AU" sz="1200" kern="1200" dirty="0" smtClean="0">
                <a:solidFill>
                  <a:schemeClr val="tx1"/>
                </a:solidFill>
                <a:ea typeface="+mn-ea"/>
                <a:cs typeface="+mn-cs"/>
              </a:rPr>
              <a:t> Identifying advertising and promotion that has been done (or is to be undertaken) regarding food available</a:t>
            </a:r>
          </a:p>
          <a:p>
            <a:pPr lvl="1">
              <a:buFont typeface="Arial" pitchFamily="34" charset="0"/>
              <a:buChar char="•"/>
            </a:pPr>
            <a:r>
              <a:rPr lang="en-AU" sz="1200" kern="1200" dirty="0" smtClean="0">
                <a:solidFill>
                  <a:schemeClr val="tx1"/>
                </a:solidFill>
                <a:ea typeface="+mn-ea"/>
                <a:cs typeface="+mn-cs"/>
              </a:rPr>
              <a:t> Feedback obtained from customers regarding satisfaction with dishes, complaints and compliments as well as requests and suggestions for menu items</a:t>
            </a:r>
          </a:p>
          <a:p>
            <a:pPr>
              <a:buFont typeface="Arial" pitchFamily="34" charset="0"/>
              <a:buChar char="•"/>
            </a:pPr>
            <a:r>
              <a:rPr lang="en-AU" sz="1200" kern="1200" dirty="0" smtClean="0">
                <a:solidFill>
                  <a:schemeClr val="tx1"/>
                </a:solidFill>
                <a:ea typeface="+mn-ea"/>
                <a:cs typeface="+mn-cs"/>
              </a:rPr>
              <a:t> Other kitchen staff – who should be involved to:</a:t>
            </a:r>
          </a:p>
          <a:p>
            <a:pPr lvl="1">
              <a:buFont typeface="Arial" pitchFamily="34" charset="0"/>
              <a:buChar char="•"/>
            </a:pPr>
            <a:r>
              <a:rPr lang="en-AU" sz="1200" kern="1200" dirty="0" smtClean="0">
                <a:solidFill>
                  <a:schemeClr val="tx1"/>
                </a:solidFill>
                <a:ea typeface="+mn-ea"/>
                <a:cs typeface="+mn-cs"/>
              </a:rPr>
              <a:t> Allow you to benefit from their experience</a:t>
            </a:r>
          </a:p>
          <a:p>
            <a:pPr lvl="1">
              <a:buFont typeface="Arial" pitchFamily="34" charset="0"/>
              <a:buChar char="•"/>
            </a:pPr>
            <a:r>
              <a:rPr lang="en-AU" sz="1200" kern="1200" dirty="0" smtClean="0">
                <a:solidFill>
                  <a:schemeClr val="tx1"/>
                </a:solidFill>
                <a:ea typeface="+mn-ea"/>
                <a:cs typeface="+mn-cs"/>
              </a:rPr>
              <a:t> Inform you of relevant issues regarding suggestions and options for dishes</a:t>
            </a:r>
          </a:p>
          <a:p>
            <a:pPr lvl="1">
              <a:buFont typeface="Arial" pitchFamily="34" charset="0"/>
              <a:buChar char="•"/>
            </a:pPr>
            <a:r>
              <a:rPr lang="en-AU" sz="1200" kern="1200" dirty="0" smtClean="0">
                <a:solidFill>
                  <a:schemeClr val="tx1"/>
                </a:solidFill>
                <a:ea typeface="+mn-ea"/>
                <a:cs typeface="+mn-cs"/>
              </a:rPr>
              <a:t> Assist with supporting activities – such as ordering food/supplies, creating standard recipes, basic food preparation</a:t>
            </a:r>
          </a:p>
          <a:p>
            <a:pPr>
              <a:buFont typeface="Arial" pitchFamily="34" charset="0"/>
              <a:buChar char="•"/>
            </a:pPr>
            <a:r>
              <a:rPr lang="en-AU" sz="1200" kern="1200" dirty="0" smtClean="0">
                <a:solidFill>
                  <a:schemeClr val="tx1"/>
                </a:solidFill>
                <a:ea typeface="+mn-ea"/>
                <a:cs typeface="+mn-cs"/>
              </a:rPr>
              <a:t> Food service supervisor – this person is in-charge of waiting staff and they may be involved to ensure waiting staff are able to properly serve the food which Is going to be prepared</a:t>
            </a:r>
          </a:p>
          <a:p>
            <a:pPr>
              <a:buFont typeface="Arial" pitchFamily="34" charset="0"/>
              <a:buChar char="•"/>
            </a:pPr>
            <a:r>
              <a:rPr lang="en-AU" sz="1200" kern="1200" dirty="0" smtClean="0">
                <a:solidFill>
                  <a:schemeClr val="tx1"/>
                </a:solidFill>
                <a:ea typeface="+mn-ea"/>
                <a:cs typeface="+mn-cs"/>
              </a:rPr>
              <a:t> Nominated specialist consultants – these may include:</a:t>
            </a:r>
          </a:p>
          <a:p>
            <a:pPr lvl="1">
              <a:buFont typeface="Arial" pitchFamily="34" charset="0"/>
              <a:buChar char="•"/>
            </a:pPr>
            <a:r>
              <a:rPr lang="en-AU" sz="1200" kern="1200" dirty="0" smtClean="0">
                <a:solidFill>
                  <a:schemeClr val="tx1"/>
                </a:solidFill>
                <a:ea typeface="+mn-ea"/>
                <a:cs typeface="+mn-cs"/>
              </a:rPr>
              <a:t> Dieticians </a:t>
            </a:r>
          </a:p>
          <a:p>
            <a:pPr lvl="1">
              <a:buFont typeface="Arial" pitchFamily="34" charset="0"/>
              <a:buChar char="•"/>
            </a:pPr>
            <a:r>
              <a:rPr lang="en-AU" sz="1200" kern="1200" dirty="0" smtClean="0">
                <a:solidFill>
                  <a:schemeClr val="tx1"/>
                </a:solidFill>
                <a:ea typeface="+mn-ea"/>
                <a:cs typeface="+mn-cs"/>
              </a:rPr>
              <a:t> Health and medical practitioners</a:t>
            </a:r>
          </a:p>
          <a:p>
            <a:pPr lvl="1">
              <a:buFont typeface="Arial" pitchFamily="34" charset="0"/>
              <a:buChar char="•"/>
            </a:pPr>
            <a:r>
              <a:rPr lang="en-AU" sz="1200" kern="1200" dirty="0" smtClean="0">
                <a:solidFill>
                  <a:schemeClr val="tx1"/>
                </a:solidFill>
                <a:ea typeface="+mn-ea"/>
                <a:cs typeface="+mn-cs"/>
              </a:rPr>
              <a:t> Religious personnel. </a:t>
            </a:r>
          </a:p>
          <a:p>
            <a:pPr>
              <a:buFont typeface="Arial" pitchFamily="34" charset="0"/>
              <a:buNone/>
            </a:pPr>
            <a:endParaRPr lang="en-US" dirty="0" smtClean="0"/>
          </a:p>
          <a:p>
            <a:pPr>
              <a:buFont typeface="Arial" pitchFamily="34" charset="0"/>
              <a:buNone/>
            </a:pPr>
            <a:r>
              <a:rPr lang="en-US" b="1" dirty="0" smtClean="0"/>
              <a:t>Class Activity – Internet Research </a:t>
            </a:r>
          </a:p>
          <a:p>
            <a:pPr>
              <a:buFont typeface="Arial" pitchFamily="34" charset="0"/>
              <a:buNone/>
            </a:pPr>
            <a:r>
              <a:rPr lang="en-US" b="0" dirty="0" smtClean="0"/>
              <a:t>Trainer facilitates research  and discussion on the content of relevant websites, such as:</a:t>
            </a:r>
          </a:p>
          <a:p>
            <a:r>
              <a:rPr lang="en-AU" sz="1200" u="sng" kern="1200" dirty="0" smtClean="0">
                <a:solidFill>
                  <a:schemeClr val="tx1"/>
                </a:solidFill>
                <a:ea typeface="+mn-ea"/>
                <a:cs typeface="+mn-cs"/>
              </a:rPr>
              <a:t>http://www.slideshare.net/bhavinsp/menu-planning-costing-engineering</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http://www.slideshare.net/jigisjig/week-6-the-menu-and-menu-planning-3-2552</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http://jan.ucc.nau.edu/~wlr2/ha442/class/control/menu/</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http://www.sulaco.co.za/hotel-food/menu-planning-beginners-guide.aspx</a:t>
            </a:r>
            <a:endParaRPr lang="en-AU" sz="1200" kern="1200" dirty="0" smtClean="0">
              <a:solidFill>
                <a:schemeClr val="tx1"/>
              </a:solidFill>
              <a:ea typeface="+mn-ea"/>
              <a:cs typeface="+mn-cs"/>
            </a:endParaRP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and describes a range of different menu options:</a:t>
            </a:r>
          </a:p>
          <a:p>
            <a:r>
              <a:rPr lang="en-AU" sz="1200" b="1" kern="1200" dirty="0" smtClean="0">
                <a:solidFill>
                  <a:schemeClr val="tx1"/>
                </a:solidFill>
                <a:ea typeface="+mn-ea"/>
                <a:cs typeface="+mn-cs"/>
              </a:rPr>
              <a:t>A la carte 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 la carte is the term used for a menu that has individually priced dishes.  </a:t>
            </a:r>
          </a:p>
          <a:p>
            <a:pPr>
              <a:buFont typeface="Arial" pitchFamily="34" charset="0"/>
              <a:buChar char="•"/>
            </a:pPr>
            <a:r>
              <a:rPr lang="en-AU" sz="1200" kern="1200" dirty="0" smtClean="0">
                <a:solidFill>
                  <a:schemeClr val="tx1"/>
                </a:solidFill>
                <a:ea typeface="+mn-ea"/>
                <a:cs typeface="+mn-cs"/>
              </a:rPr>
              <a:t> Dishes on an à la carte menu are divided into ‘courses’ such as entrées, salads, mains and desserts. </a:t>
            </a:r>
          </a:p>
          <a:p>
            <a:pPr>
              <a:buFont typeface="Arial" pitchFamily="34" charset="0"/>
              <a:buChar char="•"/>
            </a:pPr>
            <a:r>
              <a:rPr lang="en-AU" sz="1200" kern="1200" dirty="0" smtClean="0">
                <a:solidFill>
                  <a:schemeClr val="tx1"/>
                </a:solidFill>
                <a:ea typeface="+mn-ea"/>
                <a:cs typeface="+mn-cs"/>
              </a:rPr>
              <a:t> A la carte is a French term and means ‘from the card/menu’. </a:t>
            </a:r>
          </a:p>
          <a:p>
            <a:r>
              <a:rPr lang="en-AU" sz="1200" b="1" kern="1200" dirty="0" smtClean="0">
                <a:solidFill>
                  <a:schemeClr val="tx1"/>
                </a:solidFill>
                <a:ea typeface="+mn-ea"/>
                <a:cs typeface="+mn-cs"/>
              </a:rPr>
              <a:t>Table d’hôte 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 table d’hôte menu is a menu that has a set price for a number of courses.</a:t>
            </a:r>
          </a:p>
          <a:p>
            <a:pPr>
              <a:buFont typeface="Arial" pitchFamily="34" charset="0"/>
              <a:buChar char="•"/>
            </a:pPr>
            <a:r>
              <a:rPr lang="en-AU" sz="1200" kern="1200" dirty="0" smtClean="0">
                <a:solidFill>
                  <a:schemeClr val="tx1"/>
                </a:solidFill>
                <a:ea typeface="+mn-ea"/>
                <a:cs typeface="+mn-cs"/>
              </a:rPr>
              <a:t> ‘Table d’hôte’ is a French term and means ‘table of the host’.</a:t>
            </a:r>
          </a:p>
          <a:p>
            <a:pPr>
              <a:buFont typeface="Arial" pitchFamily="34" charset="0"/>
              <a:buChar char="•"/>
            </a:pPr>
            <a:r>
              <a:rPr lang="en-AU" sz="1200" kern="1200" dirty="0" smtClean="0">
                <a:solidFill>
                  <a:schemeClr val="tx1"/>
                </a:solidFill>
                <a:ea typeface="+mn-ea"/>
                <a:cs typeface="+mn-cs"/>
              </a:rPr>
              <a:t> It is often referred to as a ‘set menu’.</a:t>
            </a:r>
          </a:p>
          <a:p>
            <a:pPr>
              <a:buFont typeface="Arial" pitchFamily="34" charset="0"/>
              <a:buChar char="•"/>
            </a:pPr>
            <a:r>
              <a:rPr lang="en-AU" sz="1200" kern="1200" dirty="0" smtClean="0">
                <a:solidFill>
                  <a:schemeClr val="tx1"/>
                </a:solidFill>
                <a:ea typeface="+mn-ea"/>
                <a:cs typeface="+mn-cs"/>
              </a:rPr>
              <a:t> Most menus for functions and events are table d’hôte/set menus.</a:t>
            </a:r>
          </a:p>
          <a:p>
            <a:pPr>
              <a:buFont typeface="Arial" pitchFamily="34" charset="0"/>
              <a:buChar char="•"/>
            </a:pPr>
            <a:r>
              <a:rPr lang="en-AU" sz="1200" kern="1200" dirty="0" smtClean="0">
                <a:solidFill>
                  <a:schemeClr val="tx1"/>
                </a:solidFill>
                <a:ea typeface="+mn-ea"/>
                <a:cs typeface="+mn-cs"/>
              </a:rPr>
              <a:t> All courses are included in the one set price and must be paid for by the guests even if they do not eat every course.</a:t>
            </a:r>
          </a:p>
          <a:p>
            <a:pPr>
              <a:buFont typeface="Arial" pitchFamily="34" charset="0"/>
              <a:buChar char="•"/>
            </a:pPr>
            <a:r>
              <a:rPr lang="en-AU" sz="1200" kern="1200" dirty="0" smtClean="0">
                <a:solidFill>
                  <a:schemeClr val="tx1"/>
                </a:solidFill>
                <a:ea typeface="+mn-ea"/>
                <a:cs typeface="+mn-cs"/>
              </a:rPr>
              <a:t> A typical set menu may have two to four choices of an entrée, two to four choices of a main and two choices of a dessert.</a:t>
            </a:r>
          </a:p>
          <a:p>
            <a:r>
              <a:rPr lang="en-AU" sz="1200" b="1" kern="1200" dirty="0" smtClean="0">
                <a:solidFill>
                  <a:schemeClr val="tx1"/>
                </a:solidFill>
                <a:ea typeface="+mn-ea"/>
                <a:cs typeface="+mn-cs"/>
              </a:rPr>
              <a:t>Cyclical 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 cyclical menu is one where the menu repeats on a cyclical basis, say every week or two weeks.</a:t>
            </a:r>
          </a:p>
          <a:p>
            <a:pPr>
              <a:buFont typeface="Arial" pitchFamily="34" charset="0"/>
              <a:buChar char="•"/>
            </a:pPr>
            <a:r>
              <a:rPr lang="en-AU" sz="1200" kern="1200" dirty="0" smtClean="0">
                <a:solidFill>
                  <a:schemeClr val="tx1"/>
                </a:solidFill>
                <a:ea typeface="+mn-ea"/>
                <a:cs typeface="+mn-cs"/>
              </a:rPr>
              <a:t> They are frequently used in hospitals.</a:t>
            </a:r>
          </a:p>
          <a:p>
            <a:pPr>
              <a:buFont typeface="Arial" pitchFamily="34" charset="0"/>
              <a:buChar char="•"/>
            </a:pPr>
            <a:r>
              <a:rPr lang="en-AU" sz="1200" kern="1200" dirty="0" smtClean="0">
                <a:solidFill>
                  <a:schemeClr val="tx1"/>
                </a:solidFill>
                <a:ea typeface="+mn-ea"/>
                <a:cs typeface="+mn-cs"/>
              </a:rPr>
              <a:t> They are set menus where (for example) the menu is different for every day of the week but at the end of the cycle, the same menu is repeated.</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menus as identified on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continues identifying and describes a range of different menu options:</a:t>
            </a:r>
          </a:p>
          <a:p>
            <a:r>
              <a:rPr lang="en-AU" sz="1200" b="1" kern="1200" dirty="0" smtClean="0">
                <a:solidFill>
                  <a:schemeClr val="tx1"/>
                </a:solidFill>
                <a:ea typeface="+mn-ea"/>
                <a:cs typeface="+mn-cs"/>
              </a:rPr>
              <a:t>Special needs 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Some venues develop menus for certain dietary, religious or cultural needs</a:t>
            </a:r>
          </a:p>
          <a:p>
            <a:pPr>
              <a:buFont typeface="Arial" pitchFamily="34" charset="0"/>
              <a:buChar char="•"/>
            </a:pPr>
            <a:r>
              <a:rPr lang="en-AU" sz="1200" kern="1200" dirty="0" smtClean="0">
                <a:solidFill>
                  <a:schemeClr val="tx1"/>
                </a:solidFill>
                <a:ea typeface="+mn-ea"/>
                <a:cs typeface="+mn-cs"/>
              </a:rPr>
              <a:t> Special cultural groups may include any ethnic, cultural or religious groups with special dietary requirements or sanctions, such as: </a:t>
            </a:r>
          </a:p>
          <a:p>
            <a:pPr lvl="1">
              <a:buFont typeface="Arial" pitchFamily="34" charset="0"/>
              <a:buChar char="•"/>
            </a:pPr>
            <a:r>
              <a:rPr lang="en-AU" sz="1200" kern="1200" dirty="0" smtClean="0">
                <a:solidFill>
                  <a:schemeClr val="tx1"/>
                </a:solidFill>
                <a:ea typeface="+mn-ea"/>
                <a:cs typeface="+mn-cs"/>
              </a:rPr>
              <a:t> Kosher; Halal; Vegetarian; Hindu</a:t>
            </a:r>
          </a:p>
          <a:p>
            <a:pPr>
              <a:buFont typeface="Arial" pitchFamily="34" charset="0"/>
              <a:buChar char="•"/>
            </a:pPr>
            <a:r>
              <a:rPr lang="en-AU" sz="1200" kern="1200" dirty="0" smtClean="0">
                <a:solidFill>
                  <a:schemeClr val="tx1"/>
                </a:solidFill>
                <a:ea typeface="+mn-ea"/>
                <a:cs typeface="+mn-cs"/>
              </a:rPr>
              <a:t> Other special dietary requirements can relate to health issues, allergies and/or lifestyle preferences and may include: </a:t>
            </a:r>
          </a:p>
          <a:p>
            <a:pPr lvl="1">
              <a:buFont typeface="Arial" pitchFamily="34" charset="0"/>
              <a:buChar char="•"/>
            </a:pPr>
            <a:r>
              <a:rPr lang="en-AU" sz="1200" kern="1200" dirty="0" smtClean="0">
                <a:solidFill>
                  <a:schemeClr val="tx1"/>
                </a:solidFill>
                <a:ea typeface="+mn-ea"/>
                <a:cs typeface="+mn-cs"/>
              </a:rPr>
              <a:t> Vegetarian; Vegan; Modified sodium or potassium; Low-fat or low-cholesterol; Lacto-ovo; High-fibre; Gluten-free; High or low-energy; Diabetic; Modified texture; High or low-protein ; Food exclusions for allergies and food intolerance; Food exclusions related to specific medications </a:t>
            </a:r>
          </a:p>
          <a:p>
            <a:pPr>
              <a:buFont typeface="Arial" pitchFamily="34" charset="0"/>
              <a:buChar char="•"/>
            </a:pPr>
            <a:r>
              <a:rPr lang="en-AU" sz="1200" kern="1200" dirty="0" smtClean="0">
                <a:solidFill>
                  <a:schemeClr val="tx1"/>
                </a:solidFill>
                <a:ea typeface="+mn-ea"/>
                <a:cs typeface="+mn-cs"/>
              </a:rPr>
              <a:t> Contemporary eating regimes and trends, such as: </a:t>
            </a:r>
          </a:p>
          <a:p>
            <a:pPr lvl="1">
              <a:buFont typeface="Arial" pitchFamily="34" charset="0"/>
              <a:buChar char="•"/>
            </a:pPr>
            <a:r>
              <a:rPr lang="en-AU" sz="1200" kern="1200" dirty="0" smtClean="0">
                <a:solidFill>
                  <a:schemeClr val="tx1"/>
                </a:solidFill>
                <a:ea typeface="+mn-ea"/>
                <a:cs typeface="+mn-cs"/>
              </a:rPr>
              <a:t> Macrobiotic; Liver cleansing and elimination; High or low carbohydrate. </a:t>
            </a:r>
          </a:p>
          <a:p>
            <a:r>
              <a:rPr lang="en-AU" sz="1200" b="1" kern="1200" dirty="0" smtClean="0">
                <a:solidFill>
                  <a:schemeClr val="tx1"/>
                </a:solidFill>
                <a:ea typeface="+mn-ea"/>
                <a:cs typeface="+mn-cs"/>
              </a:rPr>
              <a:t>Children’s 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The ‘Children’s menu’ is designed specifically for children</a:t>
            </a:r>
          </a:p>
          <a:p>
            <a:pPr>
              <a:buFont typeface="Arial" pitchFamily="34" charset="0"/>
              <a:buChar char="•"/>
            </a:pPr>
            <a:r>
              <a:rPr lang="en-AU" sz="1200" kern="1200" dirty="0" smtClean="0">
                <a:solidFill>
                  <a:schemeClr val="tx1"/>
                </a:solidFill>
                <a:ea typeface="+mn-ea"/>
                <a:cs typeface="+mn-cs"/>
              </a:rPr>
              <a:t> It features:</a:t>
            </a:r>
          </a:p>
          <a:p>
            <a:pPr lvl="1">
              <a:buFont typeface="Arial" pitchFamily="34" charset="0"/>
              <a:buChar char="•"/>
            </a:pPr>
            <a:r>
              <a:rPr lang="en-AU" sz="1200" kern="1200" dirty="0" smtClean="0">
                <a:solidFill>
                  <a:schemeClr val="tx1"/>
                </a:solidFill>
                <a:ea typeface="+mn-ea"/>
                <a:cs typeface="+mn-cs"/>
              </a:rPr>
              <a:t> Dishes known to be popular with children</a:t>
            </a:r>
          </a:p>
          <a:p>
            <a:pPr lvl="1">
              <a:buFont typeface="Arial" pitchFamily="34" charset="0"/>
              <a:buChar char="•"/>
            </a:pPr>
            <a:r>
              <a:rPr lang="en-AU" sz="1200" kern="1200" dirty="0" smtClean="0">
                <a:solidFill>
                  <a:schemeClr val="tx1"/>
                </a:solidFill>
                <a:ea typeface="+mn-ea"/>
                <a:cs typeface="+mn-cs"/>
              </a:rPr>
              <a:t> Language appropriate to children</a:t>
            </a:r>
          </a:p>
          <a:p>
            <a:pPr lvl="1">
              <a:buFont typeface="Arial" pitchFamily="34" charset="0"/>
              <a:buChar char="•"/>
            </a:pPr>
            <a:r>
              <a:rPr lang="en-AU" sz="1200" kern="1200" dirty="0" smtClean="0">
                <a:solidFill>
                  <a:schemeClr val="tx1"/>
                </a:solidFill>
                <a:ea typeface="+mn-ea"/>
                <a:cs typeface="+mn-cs"/>
              </a:rPr>
              <a:t> Smaller serve sizes.</a:t>
            </a:r>
          </a:p>
          <a:p>
            <a:r>
              <a:rPr lang="en-AU" sz="1200" b="1" kern="1200" dirty="0" smtClean="0">
                <a:solidFill>
                  <a:schemeClr val="tx1"/>
                </a:solidFill>
                <a:ea typeface="+mn-ea"/>
                <a:cs typeface="+mn-cs"/>
              </a:rPr>
              <a:t>Buffet</a:t>
            </a:r>
            <a:r>
              <a:rPr lang="en-AU" sz="1200" b="1" kern="1200" baseline="0" dirty="0" smtClean="0">
                <a:solidFill>
                  <a:schemeClr val="tx1"/>
                </a:solidFill>
                <a:ea typeface="+mn-ea"/>
                <a:cs typeface="+mn-cs"/>
              </a:rPr>
              <a:t> </a:t>
            </a:r>
            <a:r>
              <a:rPr lang="en-AU" sz="1200" b="1" kern="1200" dirty="0" smtClean="0">
                <a:solidFill>
                  <a:schemeClr val="tx1"/>
                </a:solidFill>
                <a:ea typeface="+mn-ea"/>
                <a:cs typeface="+mn-cs"/>
              </a:rPr>
              <a:t>menus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This is very popular food service option and often used at functions</a:t>
            </a:r>
          </a:p>
          <a:p>
            <a:pPr>
              <a:buFont typeface="Arial" pitchFamily="34" charset="0"/>
              <a:buChar char="•"/>
            </a:pPr>
            <a:r>
              <a:rPr lang="en-AU" sz="1200" kern="1200" dirty="0" smtClean="0">
                <a:solidFill>
                  <a:schemeClr val="tx1"/>
                </a:solidFill>
                <a:ea typeface="+mn-ea"/>
                <a:cs typeface="+mn-cs"/>
              </a:rPr>
              <a:t> Items are prepared in advance and displayed on ’common’ tables (tables available to everyone) for perusal and selection by customers</a:t>
            </a:r>
          </a:p>
          <a:p>
            <a:pPr>
              <a:buFont typeface="Arial" pitchFamily="34" charset="0"/>
              <a:buChar char="•"/>
            </a:pPr>
            <a:r>
              <a:rPr lang="en-AU" sz="1200" kern="1200" dirty="0" smtClean="0">
                <a:solidFill>
                  <a:schemeClr val="tx1"/>
                </a:solidFill>
                <a:ea typeface="+mn-ea"/>
                <a:cs typeface="+mn-cs"/>
              </a:rPr>
              <a:t> Menu usually offers all items at the one set price with children often receiving a reduced rate</a:t>
            </a:r>
          </a:p>
          <a:p>
            <a:pPr>
              <a:buFont typeface="Arial" pitchFamily="34" charset="0"/>
              <a:buChar char="•"/>
            </a:pPr>
            <a:r>
              <a:rPr lang="en-AU" sz="1200" kern="1200" dirty="0" smtClean="0">
                <a:solidFill>
                  <a:schemeClr val="tx1"/>
                </a:solidFill>
                <a:ea typeface="+mn-ea"/>
                <a:cs typeface="+mn-cs"/>
              </a:rPr>
              <a:t> Guests are generally allowed to eat as much as they want</a:t>
            </a:r>
          </a:p>
          <a:p>
            <a:pPr>
              <a:buFont typeface="Arial" pitchFamily="34" charset="0"/>
              <a:buChar char="•"/>
            </a:pPr>
            <a:r>
              <a:rPr lang="en-AU" sz="1200" kern="1200" dirty="0" smtClean="0">
                <a:solidFill>
                  <a:schemeClr val="tx1"/>
                </a:solidFill>
                <a:ea typeface="+mn-ea"/>
                <a:cs typeface="+mn-cs"/>
              </a:rPr>
              <a:t> Menu items can include soups, hot and cold entrees, cold and hot meats, salads, vegetables, seafood, desserts, with tea and coffee</a:t>
            </a:r>
          </a:p>
          <a:p>
            <a:pPr>
              <a:buFont typeface="Arial" pitchFamily="34" charset="0"/>
              <a:buChar char="•"/>
            </a:pPr>
            <a:r>
              <a:rPr lang="en-AU" sz="1200" kern="1200" dirty="0" smtClean="0">
                <a:solidFill>
                  <a:schemeClr val="tx1"/>
                </a:solidFill>
                <a:ea typeface="+mn-ea"/>
                <a:cs typeface="+mn-cs"/>
              </a:rPr>
              <a:t> Buffets are usually self-service with waiting staff replenishing food, and clearing plates, from the buffet and guest tables.</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menus as identified on slide.</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Prepare a menu for a given occasion/event in accordance with identified customer needs and other requirements/operational parameters.</a:t>
            </a:r>
          </a:p>
          <a:p>
            <a:pPr>
              <a:buFont typeface="Arial" pitchFamily="34" charset="0"/>
              <a:buNone/>
            </a:pPr>
            <a:endParaRPr lang="en-US"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role of ‘the recipe’ in food service operations: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When the menu for a service session has been determined the next step is to identify and calculate the type and quantities of ingredients needed to produce the dishes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A recipe is a formula which lists all the ingredients required and the method necessary to prepare a dish</a:t>
            </a:r>
          </a:p>
          <a:p>
            <a:pPr>
              <a:buFont typeface="Arial" pitchFamily="34" charset="0"/>
              <a:buChar char="•"/>
            </a:pPr>
            <a:r>
              <a:rPr lang="en-AU" sz="1200" kern="1200" dirty="0" smtClean="0">
                <a:solidFill>
                  <a:schemeClr val="tx1"/>
                </a:solidFill>
                <a:ea typeface="+mn-ea"/>
                <a:cs typeface="+mn-cs"/>
              </a:rPr>
              <a:t> A recipe should include the following information/details:</a:t>
            </a:r>
          </a:p>
          <a:p>
            <a:pPr lvl="1">
              <a:buFont typeface="Arial" pitchFamily="34" charset="0"/>
              <a:buChar char="•"/>
            </a:pPr>
            <a:r>
              <a:rPr lang="en-AU" sz="1200" kern="1200" dirty="0" smtClean="0">
                <a:solidFill>
                  <a:schemeClr val="tx1"/>
                </a:solidFill>
                <a:ea typeface="+mn-ea"/>
                <a:cs typeface="+mn-cs"/>
              </a:rPr>
              <a:t> Name of the dish</a:t>
            </a:r>
          </a:p>
          <a:p>
            <a:pPr lvl="1">
              <a:buFont typeface="Arial" pitchFamily="34" charset="0"/>
              <a:buChar char="•"/>
            </a:pPr>
            <a:r>
              <a:rPr lang="en-AU" sz="1200" kern="1200" dirty="0" smtClean="0">
                <a:solidFill>
                  <a:schemeClr val="tx1"/>
                </a:solidFill>
                <a:ea typeface="+mn-ea"/>
                <a:cs typeface="+mn-cs"/>
              </a:rPr>
              <a:t> Instructions for preliminary preparations</a:t>
            </a:r>
          </a:p>
          <a:p>
            <a:pPr lvl="1">
              <a:buFont typeface="Arial" pitchFamily="34" charset="0"/>
              <a:buChar char="•"/>
            </a:pPr>
            <a:r>
              <a:rPr lang="en-AU" sz="1200" kern="1200" dirty="0" smtClean="0">
                <a:solidFill>
                  <a:schemeClr val="tx1"/>
                </a:solidFill>
                <a:ea typeface="+mn-ea"/>
                <a:cs typeface="+mn-cs"/>
              </a:rPr>
              <a:t> Equipment required</a:t>
            </a:r>
          </a:p>
          <a:p>
            <a:pPr lvl="1">
              <a:buFont typeface="Arial" pitchFamily="34" charset="0"/>
              <a:buChar char="•"/>
            </a:pPr>
            <a:r>
              <a:rPr lang="en-AU" sz="1200" kern="1200" dirty="0" smtClean="0">
                <a:solidFill>
                  <a:schemeClr val="tx1"/>
                </a:solidFill>
                <a:ea typeface="+mn-ea"/>
                <a:cs typeface="+mn-cs"/>
              </a:rPr>
              <a:t> Quantity and name of ingredients</a:t>
            </a:r>
          </a:p>
          <a:p>
            <a:pPr lvl="1">
              <a:buFont typeface="Arial" pitchFamily="34" charset="0"/>
              <a:buChar char="•"/>
            </a:pPr>
            <a:r>
              <a:rPr lang="en-AU" sz="1200" kern="1200" dirty="0" smtClean="0">
                <a:solidFill>
                  <a:schemeClr val="tx1"/>
                </a:solidFill>
                <a:ea typeface="+mn-ea"/>
                <a:cs typeface="+mn-cs"/>
              </a:rPr>
              <a:t> Method of preparation</a:t>
            </a:r>
          </a:p>
          <a:p>
            <a:pPr lvl="1">
              <a:buFont typeface="Arial" pitchFamily="34" charset="0"/>
              <a:buChar char="•"/>
            </a:pPr>
            <a:r>
              <a:rPr lang="en-AU" sz="1200" kern="1200" dirty="0" smtClean="0">
                <a:solidFill>
                  <a:schemeClr val="tx1"/>
                </a:solidFill>
                <a:ea typeface="+mn-ea"/>
                <a:cs typeface="+mn-cs"/>
              </a:rPr>
              <a:t> Cooking temperature</a:t>
            </a:r>
          </a:p>
          <a:p>
            <a:pPr lvl="1">
              <a:buFont typeface="Arial" pitchFamily="34" charset="0"/>
              <a:buChar char="•"/>
            </a:pPr>
            <a:r>
              <a:rPr lang="en-AU" sz="1200" kern="1200" dirty="0" smtClean="0">
                <a:solidFill>
                  <a:schemeClr val="tx1"/>
                </a:solidFill>
                <a:ea typeface="+mn-ea"/>
                <a:cs typeface="+mn-cs"/>
              </a:rPr>
              <a:t> Cooking time</a:t>
            </a:r>
          </a:p>
          <a:p>
            <a:pPr lvl="1">
              <a:buFont typeface="Arial" pitchFamily="34" charset="0"/>
              <a:buChar char="•"/>
            </a:pPr>
            <a:r>
              <a:rPr lang="en-AU" sz="1200" kern="1200" dirty="0" smtClean="0">
                <a:solidFill>
                  <a:schemeClr val="tx1"/>
                </a:solidFill>
                <a:ea typeface="+mn-ea"/>
                <a:cs typeface="+mn-cs"/>
              </a:rPr>
              <a:t> Number of portions the recipe will produce.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t>
            </a:r>
            <a:r>
              <a:rPr lang="en-AU" sz="1200" kern="1200" dirty="0" smtClean="0">
                <a:solidFill>
                  <a:schemeClr val="tx1"/>
                </a:solidFill>
                <a:ea typeface="+mn-ea"/>
                <a:cs typeface="+mn-cs"/>
              </a:rPr>
              <a:t>Standard recipes’ form the basis of the food control system and prescribe the ingredients and recipe for a menu item highlighting the main reasons for using standard recipes are to:</a:t>
            </a:r>
          </a:p>
          <a:p>
            <a:pPr>
              <a:buFont typeface="Arial" pitchFamily="34" charset="0"/>
              <a:buChar char="•"/>
            </a:pPr>
            <a:r>
              <a:rPr lang="en-AU" sz="1200" kern="1200" dirty="0" smtClean="0">
                <a:solidFill>
                  <a:schemeClr val="tx1"/>
                </a:solidFill>
                <a:ea typeface="+mn-ea"/>
                <a:cs typeface="+mn-cs"/>
              </a:rPr>
              <a:t> Maintain a consistent quality of each dish – so quality and presentation is uniform regardless of who cooks the dish and regardless of when it is produced</a:t>
            </a:r>
          </a:p>
          <a:p>
            <a:pPr>
              <a:buFont typeface="Arial" pitchFamily="34" charset="0"/>
              <a:buChar char="•"/>
            </a:pPr>
            <a:r>
              <a:rPr lang="en-AU" sz="1200" kern="1200" dirty="0" smtClean="0">
                <a:solidFill>
                  <a:schemeClr val="tx1"/>
                </a:solidFill>
                <a:ea typeface="+mn-ea"/>
                <a:cs typeface="+mn-cs"/>
              </a:rPr>
              <a:t> Establish the food cost for each menu item – so an appropriate selling price can be calculated to obtain the profit required by the venue/management</a:t>
            </a:r>
          </a:p>
          <a:p>
            <a:pPr>
              <a:buFont typeface="Arial" pitchFamily="34" charset="0"/>
              <a:buChar char="•"/>
            </a:pPr>
            <a:r>
              <a:rPr lang="en-AU" sz="1200" kern="1200" dirty="0" smtClean="0">
                <a:solidFill>
                  <a:schemeClr val="tx1"/>
                </a:solidFill>
                <a:ea typeface="+mn-ea"/>
                <a:cs typeface="+mn-cs"/>
              </a:rPr>
              <a:t> Control the portion size – to make sure all customers receive the same size serve and ensure the recipe will serve the number of people it has been prepared for</a:t>
            </a:r>
          </a:p>
          <a:p>
            <a:pPr>
              <a:buFont typeface="Arial" pitchFamily="34" charset="0"/>
              <a:buChar char="•"/>
            </a:pPr>
            <a:r>
              <a:rPr lang="en-AU" sz="1200" kern="1200" dirty="0" smtClean="0">
                <a:solidFill>
                  <a:schemeClr val="tx1"/>
                </a:solidFill>
                <a:ea typeface="+mn-ea"/>
                <a:cs typeface="+mn-cs"/>
              </a:rPr>
              <a:t> Establish the food cost percentage for each menu item – so the financial performance of the kitchen can be determined</a:t>
            </a:r>
          </a:p>
          <a:p>
            <a:pPr>
              <a:buFont typeface="Arial" pitchFamily="34" charset="0"/>
              <a:buChar char="•"/>
            </a:pPr>
            <a:r>
              <a:rPr lang="en-AU" sz="1200" kern="1200" dirty="0" smtClean="0">
                <a:solidFill>
                  <a:schemeClr val="tx1"/>
                </a:solidFill>
                <a:ea typeface="+mn-ea"/>
                <a:cs typeface="+mn-cs"/>
              </a:rPr>
              <a:t> Write accurate food orders – to enable effective purchasing of ingredients</a:t>
            </a:r>
          </a:p>
          <a:p>
            <a:pPr>
              <a:buFont typeface="Arial" pitchFamily="34" charset="0"/>
              <a:buChar char="•"/>
            </a:pPr>
            <a:r>
              <a:rPr lang="en-AU" sz="1200" kern="1200" dirty="0" smtClean="0">
                <a:solidFill>
                  <a:schemeClr val="tx1"/>
                </a:solidFill>
                <a:ea typeface="+mn-ea"/>
                <a:cs typeface="+mn-cs"/>
              </a:rPr>
              <a:t> Assist in the training of new staff – by providing the basis for demonstrations and practice.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examples of standard recipes. </a:t>
            </a:r>
          </a:p>
          <a:p>
            <a:pPr>
              <a:buFont typeface="Arial" pitchFamily="34" charset="0"/>
              <a:buNone/>
            </a:pPr>
            <a:endParaRPr lang="en-US" b="0" dirty="0" smtClean="0"/>
          </a:p>
          <a:p>
            <a:pPr>
              <a:buFont typeface="Arial" pitchFamily="34" charset="0"/>
              <a:buNone/>
            </a:pPr>
            <a:r>
              <a:rPr lang="en-US" b="1" dirty="0" smtClean="0"/>
              <a:t>Class Activity – Exercise</a:t>
            </a:r>
          </a:p>
          <a:p>
            <a:pPr>
              <a:buFont typeface="Arial" pitchFamily="34" charset="0"/>
              <a:buNone/>
            </a:pPr>
            <a:r>
              <a:rPr lang="en-US" b="0" dirty="0" smtClean="0"/>
              <a:t>Development of a Standard Recipe card/sheet for a nominated menu item for a given volume/yield.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there is a need to accurately determine </a:t>
            </a:r>
            <a:r>
              <a:rPr lang="en-AU" sz="1200" kern="1200" dirty="0" smtClean="0">
                <a:solidFill>
                  <a:schemeClr val="tx1"/>
                </a:solidFill>
                <a:ea typeface="+mn-ea"/>
                <a:cs typeface="+mn-cs"/>
              </a:rPr>
              <a:t>quantities required for food items highlighting this involves consideration of the factors listed below to determine level of expected demand as appropriate to the specific food production and service session:</a:t>
            </a:r>
          </a:p>
          <a:p>
            <a:pPr>
              <a:buFont typeface="Arial" pitchFamily="34" charset="0"/>
              <a:buChar char="•"/>
            </a:pPr>
            <a:r>
              <a:rPr lang="en-AU" sz="1200" kern="1200" dirty="0" smtClean="0">
                <a:solidFill>
                  <a:schemeClr val="tx1"/>
                </a:solidFill>
                <a:ea typeface="+mn-ea"/>
                <a:cs typeface="+mn-cs"/>
              </a:rPr>
              <a:t> Review previous trade figures for same/similar events/service sessions – to identify historical data on amounts/volumes</a:t>
            </a:r>
          </a:p>
          <a:p>
            <a:pPr>
              <a:buFont typeface="Arial" pitchFamily="34" charset="0"/>
              <a:buChar char="•"/>
            </a:pPr>
            <a:r>
              <a:rPr lang="en-AU" sz="1200" kern="1200" dirty="0" smtClean="0">
                <a:solidFill>
                  <a:schemeClr val="tx1"/>
                </a:solidFill>
                <a:ea typeface="+mn-ea"/>
                <a:cs typeface="+mn-cs"/>
              </a:rPr>
              <a:t> Talk to the client – to learn how many people they want you to cater for/the number of people they expect to attend a function (or are willing to pay for)</a:t>
            </a:r>
          </a:p>
          <a:p>
            <a:pPr>
              <a:buFont typeface="Arial" pitchFamily="34" charset="0"/>
              <a:buChar char="•"/>
            </a:pPr>
            <a:r>
              <a:rPr lang="en-AU" sz="1200" kern="1200" dirty="0" smtClean="0">
                <a:solidFill>
                  <a:schemeClr val="tx1"/>
                </a:solidFill>
                <a:ea typeface="+mn-ea"/>
                <a:cs typeface="+mn-cs"/>
              </a:rPr>
              <a:t> Read any relevant contracted requirements – where you are catering for an event/function there will be a ‘function file’ detailing not only the agreed menu but also the numbers of guests</a:t>
            </a:r>
          </a:p>
          <a:p>
            <a:pPr>
              <a:buFont typeface="Arial" pitchFamily="34" charset="0"/>
              <a:buChar char="•"/>
            </a:pPr>
            <a:r>
              <a:rPr lang="en-AU" sz="1200" kern="1200" dirty="0" smtClean="0">
                <a:solidFill>
                  <a:schemeClr val="tx1"/>
                </a:solidFill>
                <a:ea typeface="+mn-ea"/>
                <a:cs typeface="+mn-cs"/>
              </a:rPr>
              <a:t> Check the bookings – these are the advanced reservations which have been made and can indicate:</a:t>
            </a:r>
          </a:p>
          <a:p>
            <a:pPr lvl="1">
              <a:buFont typeface="Arial" pitchFamily="34" charset="0"/>
              <a:buChar char="•"/>
            </a:pPr>
            <a:r>
              <a:rPr lang="en-AU" sz="1200" kern="1200" dirty="0" smtClean="0">
                <a:solidFill>
                  <a:schemeClr val="tx1"/>
                </a:solidFill>
                <a:ea typeface="+mn-ea"/>
                <a:cs typeface="+mn-cs"/>
              </a:rPr>
              <a:t> How busy you are likely to be/numbers booked</a:t>
            </a:r>
          </a:p>
          <a:p>
            <a:pPr lvl="1">
              <a:buFont typeface="Arial" pitchFamily="34" charset="0"/>
              <a:buChar char="•"/>
            </a:pPr>
            <a:r>
              <a:rPr lang="en-AU" sz="1200" kern="1200" dirty="0" smtClean="0">
                <a:solidFill>
                  <a:schemeClr val="tx1"/>
                </a:solidFill>
                <a:ea typeface="+mn-ea"/>
                <a:cs typeface="+mn-cs"/>
              </a:rPr>
              <a:t> Special requests.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listing activities involved </a:t>
            </a:r>
            <a:r>
              <a:rPr lang="en-AU" sz="1200" kern="1200" dirty="0" smtClean="0">
                <a:solidFill>
                  <a:schemeClr val="tx1"/>
                </a:solidFill>
                <a:ea typeface="+mn-ea"/>
                <a:cs typeface="+mn-cs"/>
              </a:rPr>
              <a:t>to determine level of expected demand as appropriate to the specific food production and service session:</a:t>
            </a:r>
            <a:endParaRPr lang="en-US" dirty="0" smtClean="0"/>
          </a:p>
          <a:p>
            <a:pPr>
              <a:buFont typeface="Arial" pitchFamily="34" charset="0"/>
              <a:buChar char="•"/>
            </a:pPr>
            <a:r>
              <a:rPr lang="en-AU" sz="1200" kern="1200" dirty="0" smtClean="0">
                <a:solidFill>
                  <a:schemeClr val="tx1"/>
                </a:solidFill>
                <a:ea typeface="+mn-ea"/>
                <a:cs typeface="+mn-cs"/>
              </a:rPr>
              <a:t> Know specific session information and venue requirements/preferences – for example:</a:t>
            </a:r>
          </a:p>
          <a:p>
            <a:pPr lvl="1">
              <a:buFont typeface="Arial" pitchFamily="34" charset="0"/>
              <a:buChar char="•"/>
            </a:pPr>
            <a:r>
              <a:rPr lang="en-AU" sz="1200" kern="1200" dirty="0" smtClean="0">
                <a:solidFill>
                  <a:schemeClr val="tx1"/>
                </a:solidFill>
                <a:ea typeface="+mn-ea"/>
                <a:cs typeface="+mn-cs"/>
              </a:rPr>
              <a:t> Hours the outlet is open – longer trading hours mean the potential for more food to be produced</a:t>
            </a:r>
          </a:p>
          <a:p>
            <a:pPr lvl="1">
              <a:buFont typeface="Arial" pitchFamily="34" charset="0"/>
              <a:buChar char="•"/>
            </a:pPr>
            <a:r>
              <a:rPr lang="en-AU" sz="1200" kern="1200" dirty="0" smtClean="0">
                <a:solidFill>
                  <a:schemeClr val="tx1"/>
                </a:solidFill>
                <a:ea typeface="+mn-ea"/>
                <a:cs typeface="+mn-cs"/>
              </a:rPr>
              <a:t> Maximum seating capacity of the room/outlet – this (when combined with a knowledge of bookings which have been made and/or previous trading data) indicates a context for the volumes required</a:t>
            </a:r>
          </a:p>
          <a:p>
            <a:pPr lvl="1">
              <a:buFont typeface="Arial" pitchFamily="34" charset="0"/>
              <a:buChar char="•"/>
            </a:pPr>
            <a:r>
              <a:rPr lang="en-AU" sz="1200" kern="1200" dirty="0" smtClean="0">
                <a:solidFill>
                  <a:schemeClr val="tx1"/>
                </a:solidFill>
                <a:ea typeface="+mn-ea"/>
                <a:cs typeface="+mn-cs"/>
              </a:rPr>
              <a:t> Style of service – à la carte, table d’hôte or buffet: more food is generally required for set menus and smorgasbords</a:t>
            </a:r>
          </a:p>
          <a:p>
            <a:pPr>
              <a:buFont typeface="Arial" pitchFamily="34" charset="0"/>
              <a:buChar char="•"/>
            </a:pPr>
            <a:r>
              <a:rPr lang="en-AU" sz="1200" kern="1200" dirty="0" smtClean="0">
                <a:solidFill>
                  <a:schemeClr val="tx1"/>
                </a:solidFill>
                <a:ea typeface="+mn-ea"/>
                <a:cs typeface="+mn-cs"/>
              </a:rPr>
              <a:t> Understand operational protocols for the food outlet – these relate to a variety of issues such as:</a:t>
            </a:r>
          </a:p>
          <a:p>
            <a:pPr lvl="1">
              <a:buFont typeface="Arial" pitchFamily="34" charset="0"/>
              <a:buChar char="•"/>
            </a:pPr>
            <a:r>
              <a:rPr lang="en-AU" sz="1200" kern="1200" dirty="0" smtClean="0">
                <a:solidFill>
                  <a:schemeClr val="tx1"/>
                </a:solidFill>
                <a:ea typeface="+mn-ea"/>
                <a:cs typeface="+mn-cs"/>
              </a:rPr>
              <a:t> Number of sittings – number of times each seat is sold per session</a:t>
            </a:r>
          </a:p>
          <a:p>
            <a:pPr lvl="1">
              <a:buFont typeface="Arial" pitchFamily="34" charset="0"/>
              <a:buChar char="•"/>
            </a:pPr>
            <a:r>
              <a:rPr lang="en-AU" sz="1200" kern="1200" dirty="0" smtClean="0">
                <a:solidFill>
                  <a:schemeClr val="tx1"/>
                </a:solidFill>
                <a:ea typeface="+mn-ea"/>
                <a:cs typeface="+mn-cs"/>
              </a:rPr>
              <a:t> House policies as applicable – for example:</a:t>
            </a:r>
          </a:p>
          <a:p>
            <a:pPr lvl="2">
              <a:buFont typeface="Arial" pitchFamily="34" charset="0"/>
              <a:buChar char="•"/>
            </a:pPr>
            <a:r>
              <a:rPr lang="en-AU" sz="1200" kern="1200" dirty="0" smtClean="0">
                <a:solidFill>
                  <a:schemeClr val="tx1"/>
                </a:solidFill>
                <a:ea typeface="+mn-ea"/>
                <a:cs typeface="+mn-cs"/>
              </a:rPr>
              <a:t> Can food be prepared in bulk, in advance and held under refrigeration or in frozen storage for later re-heating?</a:t>
            </a:r>
          </a:p>
          <a:p>
            <a:pPr lvl="2">
              <a:buFont typeface="Arial" pitchFamily="34" charset="0"/>
              <a:buChar char="•"/>
            </a:pPr>
            <a:r>
              <a:rPr lang="en-AU" sz="1200" kern="1200" dirty="0" smtClean="0">
                <a:solidFill>
                  <a:schemeClr val="tx1"/>
                </a:solidFill>
                <a:ea typeface="+mn-ea"/>
                <a:cs typeface="+mn-cs"/>
              </a:rPr>
              <a:t> Is left-over food allowed to be stored for later re-use, or must it be thrown out?</a:t>
            </a:r>
          </a:p>
          <a:p>
            <a:pPr lvl="1">
              <a:buFont typeface="Arial" pitchFamily="34" charset="0"/>
              <a:buChar char="•"/>
            </a:pPr>
            <a:r>
              <a:rPr lang="en-AU" sz="1200" kern="1200" dirty="0" smtClean="0">
                <a:solidFill>
                  <a:schemeClr val="tx1"/>
                </a:solidFill>
                <a:ea typeface="+mn-ea"/>
                <a:cs typeface="+mn-cs"/>
              </a:rPr>
              <a:t> Are there other options for using/selling food produced for this session but which is not used in this session? For example, can left-over/unused menu items be transferred to another outlet in the venue and offered for sale there?</a:t>
            </a:r>
          </a:p>
          <a:p>
            <a:pPr lvl="1">
              <a:buFont typeface="Arial" pitchFamily="34" charset="0"/>
              <a:buChar char="•"/>
            </a:pPr>
            <a:r>
              <a:rPr lang="en-AU" sz="1200" kern="1200" dirty="0" smtClean="0">
                <a:solidFill>
                  <a:schemeClr val="tx1"/>
                </a:solidFill>
                <a:ea typeface="+mn-ea"/>
                <a:cs typeface="+mn-cs"/>
              </a:rPr>
              <a:t> Production capacity of the kitchen – there will always be limits on the volumes of food which can be produced due to constraints within each individual kitchen such as:</a:t>
            </a:r>
          </a:p>
          <a:p>
            <a:pPr lvl="2">
              <a:buFont typeface="Arial" pitchFamily="34" charset="0"/>
              <a:buChar char="•"/>
            </a:pPr>
            <a:r>
              <a:rPr lang="en-AU" sz="1200" kern="1200" dirty="0" smtClean="0">
                <a:solidFill>
                  <a:schemeClr val="tx1"/>
                </a:solidFill>
                <a:ea typeface="+mn-ea"/>
                <a:cs typeface="+mn-cs"/>
              </a:rPr>
              <a:t> Layout of the kitchen and equipment</a:t>
            </a:r>
          </a:p>
          <a:p>
            <a:pPr lvl="2">
              <a:buFont typeface="Arial" pitchFamily="34" charset="0"/>
              <a:buChar char="•"/>
            </a:pPr>
            <a:r>
              <a:rPr lang="en-AU" sz="1200" kern="1200" dirty="0" smtClean="0">
                <a:solidFill>
                  <a:schemeClr val="tx1"/>
                </a:solidFill>
                <a:ea typeface="+mn-ea"/>
                <a:cs typeface="+mn-cs"/>
              </a:rPr>
              <a:t> Amount and type of equipment available</a:t>
            </a:r>
          </a:p>
          <a:p>
            <a:pPr lvl="2">
              <a:buFont typeface="Arial" pitchFamily="34" charset="0"/>
              <a:buChar char="•"/>
            </a:pPr>
            <a:r>
              <a:rPr lang="en-AU" sz="1200" kern="1200" dirty="0" smtClean="0">
                <a:solidFill>
                  <a:schemeClr val="tx1"/>
                </a:solidFill>
                <a:ea typeface="+mn-ea"/>
                <a:cs typeface="+mn-cs"/>
              </a:rPr>
              <a:t> Skill levels/competency of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Internet Research </a:t>
            </a:r>
          </a:p>
          <a:p>
            <a:pPr>
              <a:buFont typeface="Arial" pitchFamily="34" charset="0"/>
              <a:buNone/>
            </a:pPr>
            <a:r>
              <a:rPr lang="en-US" b="0" dirty="0" smtClean="0"/>
              <a:t>Trainer facilitates research  and discussion on the content of relevant websites, such as:</a:t>
            </a:r>
          </a:p>
          <a:p>
            <a:r>
              <a:rPr lang="en-AU" sz="1200" u="sng" kern="1200" dirty="0" smtClean="0">
                <a:solidFill>
                  <a:schemeClr val="tx1"/>
                </a:solidFill>
                <a:ea typeface="+mn-ea"/>
                <a:cs typeface="+mn-cs"/>
              </a:rPr>
              <a:t>http://thefoodsite.getphpbb.com/viewtopic.php?t=7&amp;f=18</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http://www.google.com.au/search?q=standard+recipe+format+example&amp;rlz=1I7GGLL_en&amp;tbm=isch&amp;tbo=u&amp;source=univ&amp;sa=X&amp;ei=2QegUfj5Js2diAew54DABQ&amp;ved=0CDkQsAQ&amp;biw=1024&amp;bih=630</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http://www.doe.sd.gov/cans/documents/CACFP_numbermemo_70_StndrdizdRecipes.pdf</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http://www.summerhockey.com/academe/recipecostingdirections.pdf</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http://extension.oregonstate.edu/catalog/4h/4-h93112.pdf</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requirement to ‘adjust the recipe’ in many food production situations:</a:t>
            </a:r>
          </a:p>
          <a:p>
            <a:pPr>
              <a:buFont typeface="Arial" pitchFamily="34" charset="0"/>
              <a:buChar char="•"/>
            </a:pPr>
            <a:r>
              <a:rPr lang="en-AU" sz="1200" kern="1200" dirty="0" smtClean="0">
                <a:solidFill>
                  <a:schemeClr val="tx1"/>
                </a:solidFill>
                <a:ea typeface="+mn-ea"/>
                <a:cs typeface="+mn-cs"/>
              </a:rPr>
              <a:t> Adjusting a recipe means altering the quantities of ingredients to allow you to produce more or less of a dish but retain the required flavour, appearance and profit</a:t>
            </a:r>
          </a:p>
          <a:p>
            <a:pPr>
              <a:buFont typeface="Arial" pitchFamily="34" charset="0"/>
              <a:buChar char="•"/>
            </a:pPr>
            <a:r>
              <a:rPr lang="en-AU" sz="1200" kern="1200" dirty="0" smtClean="0">
                <a:solidFill>
                  <a:schemeClr val="tx1"/>
                </a:solidFill>
                <a:ea typeface="+mn-ea"/>
                <a:cs typeface="+mn-cs"/>
              </a:rPr>
              <a:t> You may have a standard recipe for 50 portions of Chicken Marengo but only need to produce 20 serves</a:t>
            </a:r>
          </a:p>
          <a:p>
            <a:pPr>
              <a:buFont typeface="Arial" pitchFamily="34" charset="0"/>
              <a:buChar char="•"/>
            </a:pPr>
            <a:r>
              <a:rPr lang="en-AU" sz="1200" kern="1200" dirty="0" smtClean="0">
                <a:solidFill>
                  <a:schemeClr val="tx1"/>
                </a:solidFill>
                <a:ea typeface="+mn-ea"/>
                <a:cs typeface="+mn-cs"/>
              </a:rPr>
              <a:t> Similarly your recipe may be for 50 serves but you may require 150 serves</a:t>
            </a:r>
          </a:p>
          <a:p>
            <a:pPr>
              <a:buFont typeface="Arial" pitchFamily="34" charset="0"/>
              <a:buChar char="•"/>
            </a:pPr>
            <a:r>
              <a:rPr lang="en-AU" sz="1200" kern="1200" dirty="0" smtClean="0">
                <a:solidFill>
                  <a:schemeClr val="tx1"/>
                </a:solidFill>
                <a:ea typeface="+mn-ea"/>
                <a:cs typeface="+mn-cs"/>
              </a:rPr>
              <a:t> Special care needs to be taken when adjusting a recipe because mistakes can easily occur when calculating the new/revised quantities: there is no point getting nearly all of the calculations right, and messing up just one or two.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a:t>
            </a:r>
            <a:r>
              <a:rPr lang="en-US" b="1" baseline="0" dirty="0" smtClean="0"/>
              <a:t> Demonstration and Practical</a:t>
            </a:r>
          </a:p>
          <a:p>
            <a:pPr>
              <a:buFont typeface="Arial" pitchFamily="34" charset="0"/>
              <a:buNone/>
            </a:pPr>
            <a:r>
              <a:rPr lang="en-US" b="0" baseline="0" dirty="0" smtClean="0"/>
              <a:t>Trainer demonstrates how to adjust a recipe and provides opportunity for students to do the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a:t>
            </a:r>
            <a:r>
              <a:rPr lang="en-AU" sz="1200" kern="1200" dirty="0" smtClean="0">
                <a:solidFill>
                  <a:schemeClr val="tx1"/>
                </a:solidFill>
                <a:ea typeface="+mn-ea"/>
                <a:cs typeface="+mn-cs"/>
              </a:rPr>
              <a:t>all venues need to order stock from suppliers to enable kitchens to produce the food on menus they have established stating suppliers can be classified as:</a:t>
            </a:r>
          </a:p>
          <a:p>
            <a:r>
              <a:rPr lang="en-AU" sz="1200" b="1" kern="1200" dirty="0" smtClean="0">
                <a:solidFill>
                  <a:schemeClr val="tx1"/>
                </a:solidFill>
                <a:ea typeface="+mn-ea"/>
                <a:cs typeface="+mn-cs"/>
              </a:rPr>
              <a:t>Wholesalers </a:t>
            </a:r>
          </a:p>
          <a:p>
            <a:pPr>
              <a:buFont typeface="Arial" pitchFamily="34" charset="0"/>
              <a:buChar char="•"/>
            </a:pPr>
            <a:r>
              <a:rPr lang="en-AU" sz="1200" b="0" kern="1200" dirty="0" smtClean="0">
                <a:solidFill>
                  <a:schemeClr val="tx1"/>
                </a:solidFill>
                <a:ea typeface="+mn-ea"/>
                <a:cs typeface="+mn-cs"/>
              </a:rPr>
              <a:t> Venues will normally deal with suppliers who are ‘wholesalers’. Wholesalers are suppliers who sell to businesses/venues, and to retailers and they will/may:</a:t>
            </a:r>
            <a:endParaRPr lang="en-AU" sz="1200" b="1"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Usually understand the demands, problems of the industry</a:t>
            </a:r>
          </a:p>
          <a:p>
            <a:pPr lvl="1">
              <a:buFont typeface="Arial" pitchFamily="34" charset="0"/>
              <a:buChar char="•"/>
            </a:pPr>
            <a:r>
              <a:rPr lang="en-AU" sz="1200" kern="1200" dirty="0" smtClean="0">
                <a:solidFill>
                  <a:schemeClr val="tx1"/>
                </a:solidFill>
                <a:ea typeface="+mn-ea"/>
                <a:cs typeface="+mn-cs"/>
              </a:rPr>
              <a:t> Sell at prices which are lower than those offered by retailers</a:t>
            </a:r>
          </a:p>
          <a:p>
            <a:pPr lvl="1">
              <a:buFont typeface="Arial" pitchFamily="34" charset="0"/>
              <a:buChar char="•"/>
            </a:pPr>
            <a:r>
              <a:rPr lang="en-AU" sz="1200" kern="1200" dirty="0" smtClean="0">
                <a:solidFill>
                  <a:schemeClr val="tx1"/>
                </a:solidFill>
                <a:ea typeface="+mn-ea"/>
                <a:cs typeface="+mn-cs"/>
              </a:rPr>
              <a:t> Deliver the items ordered direct to the venue/kitchen</a:t>
            </a:r>
          </a:p>
          <a:p>
            <a:pPr lvl="1">
              <a:buFont typeface="Arial" pitchFamily="34" charset="0"/>
              <a:buChar char="•"/>
            </a:pPr>
            <a:r>
              <a:rPr lang="en-AU" sz="1200" kern="1200" dirty="0" smtClean="0">
                <a:solidFill>
                  <a:schemeClr val="tx1"/>
                </a:solidFill>
                <a:ea typeface="+mn-ea"/>
                <a:cs typeface="+mn-cs"/>
              </a:rPr>
              <a:t> Allow the venue to buy on credit – meaning payment does not need to be made at the time of purchase</a:t>
            </a:r>
          </a:p>
          <a:p>
            <a:pPr lvl="1">
              <a:buFont typeface="Arial" pitchFamily="34" charset="0"/>
              <a:buChar char="•"/>
            </a:pPr>
            <a:r>
              <a:rPr lang="en-AU" sz="1200" kern="1200" dirty="0" smtClean="0">
                <a:solidFill>
                  <a:schemeClr val="tx1"/>
                </a:solidFill>
                <a:ea typeface="+mn-ea"/>
                <a:cs typeface="+mn-cs"/>
              </a:rPr>
              <a:t> Operate under various conditions called their ‘Terms of Trade’ – addressing topics such as:</a:t>
            </a:r>
          </a:p>
          <a:p>
            <a:pPr lvl="2">
              <a:buFont typeface="Arial" pitchFamily="34" charset="0"/>
              <a:buChar char="•"/>
            </a:pPr>
            <a:r>
              <a:rPr lang="en-AU" sz="1200" kern="1200" dirty="0" smtClean="0">
                <a:solidFill>
                  <a:schemeClr val="tx1"/>
                </a:solidFill>
                <a:ea typeface="+mn-ea"/>
                <a:cs typeface="+mn-cs"/>
              </a:rPr>
              <a:t> Fees and charges – for delivery, insurance, re-packing</a:t>
            </a:r>
          </a:p>
          <a:p>
            <a:pPr lvl="2">
              <a:buFont typeface="Arial" pitchFamily="34" charset="0"/>
              <a:buChar char="•"/>
            </a:pPr>
            <a:r>
              <a:rPr lang="en-AU" sz="1200" kern="1200" dirty="0" smtClean="0">
                <a:solidFill>
                  <a:schemeClr val="tx1"/>
                </a:solidFill>
                <a:ea typeface="+mn-ea"/>
                <a:cs typeface="+mn-cs"/>
              </a:rPr>
              <a:t> Payment of accounts</a:t>
            </a:r>
          </a:p>
          <a:p>
            <a:pPr lvl="2">
              <a:buFont typeface="Arial" pitchFamily="34" charset="0"/>
              <a:buChar char="•"/>
            </a:pPr>
            <a:r>
              <a:rPr lang="en-AU" sz="1200" kern="1200" dirty="0" smtClean="0">
                <a:solidFill>
                  <a:schemeClr val="tx1"/>
                </a:solidFill>
                <a:ea typeface="+mn-ea"/>
                <a:cs typeface="+mn-cs"/>
              </a:rPr>
              <a:t> Handling of issues such as short-deliveries, out-of-stock products, damaged goods, complaints</a:t>
            </a:r>
          </a:p>
          <a:p>
            <a:pPr lvl="1">
              <a:buFont typeface="Arial" pitchFamily="34" charset="0"/>
              <a:buChar char="•"/>
            </a:pPr>
            <a:r>
              <a:rPr lang="en-AU" sz="1200" kern="1200" dirty="0" smtClean="0">
                <a:solidFill>
                  <a:schemeClr val="tx1"/>
                </a:solidFill>
                <a:ea typeface="+mn-ea"/>
                <a:cs typeface="+mn-cs"/>
              </a:rPr>
              <a:t> Require minimum quantities to be ordered before they will deliver or make a sale.</a:t>
            </a:r>
          </a:p>
          <a:p>
            <a:pPr>
              <a:buFont typeface="Arial" pitchFamily="34" charset="0"/>
              <a:buNone/>
            </a:pPr>
            <a:r>
              <a:rPr lang="en-AU" sz="1200" b="1" kern="1200" dirty="0" smtClean="0">
                <a:solidFill>
                  <a:schemeClr val="tx1"/>
                </a:solidFill>
                <a:ea typeface="+mn-ea"/>
                <a:cs typeface="+mn-cs"/>
              </a:rPr>
              <a:t>Retailers</a:t>
            </a:r>
          </a:p>
          <a:p>
            <a:pPr>
              <a:buFont typeface="Arial" pitchFamily="34" charset="0"/>
              <a:buChar char="•"/>
            </a:pPr>
            <a:r>
              <a:rPr lang="en-AU" sz="1200" b="0" kern="1200" dirty="0" smtClean="0">
                <a:solidFill>
                  <a:schemeClr val="tx1"/>
                </a:solidFill>
                <a:ea typeface="+mn-ea"/>
                <a:cs typeface="+mn-cs"/>
              </a:rPr>
              <a:t> Retailers sell direct to the public. Their prices are usually more expensive than wholesalers and they do not (generally) offer the same services to venues that wholesalers do.</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While venues will always prefer to deal with wholesalers the reality of kitchen life is there can often be a need to buy some food items from retailers (shops and supermarkets), for example in an emergency.</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Wholesalers and retailers</a:t>
            </a:r>
          </a:p>
          <a:p>
            <a:r>
              <a:rPr lang="en-AU" sz="1200" b="0" kern="1200" dirty="0" smtClean="0">
                <a:solidFill>
                  <a:schemeClr val="tx1"/>
                </a:solidFill>
                <a:ea typeface="+mn-ea"/>
                <a:cs typeface="+mn-cs"/>
              </a:rPr>
              <a:t>Some suppliers operate as both wholesalers </a:t>
            </a:r>
            <a:r>
              <a:rPr lang="en-AU" sz="1200" b="0" i="1" kern="1200" dirty="0" smtClean="0">
                <a:solidFill>
                  <a:schemeClr val="tx1"/>
                </a:solidFill>
                <a:ea typeface="+mn-ea"/>
                <a:cs typeface="+mn-cs"/>
              </a:rPr>
              <a:t>and</a:t>
            </a:r>
            <a:r>
              <a:rPr lang="en-AU" sz="1200" b="0" kern="1200" dirty="0" smtClean="0">
                <a:solidFill>
                  <a:schemeClr val="tx1"/>
                </a:solidFill>
                <a:ea typeface="+mn-ea"/>
                <a:cs typeface="+mn-cs"/>
              </a:rPr>
              <a:t> retailers.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This means they sell to venues (at wholesale prices and under appropriate Terms of Trade) and they also offer a retail service to members of the pubic.</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Preferred suppliers</a:t>
            </a:r>
          </a:p>
          <a:p>
            <a:r>
              <a:rPr lang="en-AU" sz="1200" b="0" kern="1200" dirty="0" smtClean="0">
                <a:solidFill>
                  <a:schemeClr val="tx1"/>
                </a:solidFill>
                <a:ea typeface="+mn-ea"/>
                <a:cs typeface="+mn-cs"/>
              </a:rPr>
              <a:t>These suppliers tend to be businesses with whom your venue has an established relationship based on factors such as:</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Good/competitive prices</a:t>
            </a:r>
          </a:p>
          <a:p>
            <a:pPr>
              <a:buFont typeface="Arial" pitchFamily="34" charset="0"/>
              <a:buChar char="•"/>
            </a:pPr>
            <a:r>
              <a:rPr lang="en-AU" sz="1200" kern="1200" dirty="0" smtClean="0">
                <a:solidFill>
                  <a:schemeClr val="tx1"/>
                </a:solidFill>
                <a:ea typeface="+mn-ea"/>
                <a:cs typeface="+mn-cs"/>
              </a:rPr>
              <a:t> Service levels – for example: </a:t>
            </a:r>
          </a:p>
          <a:p>
            <a:pPr lvl="1">
              <a:buFont typeface="Arial" pitchFamily="34" charset="0"/>
              <a:buChar char="•"/>
            </a:pPr>
            <a:r>
              <a:rPr lang="en-AU" sz="1200" kern="1200" dirty="0" smtClean="0">
                <a:solidFill>
                  <a:schemeClr val="tx1"/>
                </a:solidFill>
                <a:ea typeface="+mn-ea"/>
                <a:cs typeface="+mn-cs"/>
              </a:rPr>
              <a:t> Providing deliveries when required</a:t>
            </a:r>
          </a:p>
          <a:p>
            <a:pPr lvl="1">
              <a:buFont typeface="Arial" pitchFamily="34" charset="0"/>
              <a:buChar char="•"/>
            </a:pPr>
            <a:r>
              <a:rPr lang="en-AU" sz="1200" kern="1200" dirty="0" smtClean="0">
                <a:solidFill>
                  <a:schemeClr val="tx1"/>
                </a:solidFill>
                <a:ea typeface="+mn-ea"/>
                <a:cs typeface="+mn-cs"/>
              </a:rPr>
              <a:t> Handling discrepancies</a:t>
            </a:r>
          </a:p>
          <a:p>
            <a:pPr lvl="1">
              <a:buFont typeface="Arial" pitchFamily="34" charset="0"/>
              <a:buChar char="•"/>
            </a:pPr>
            <a:r>
              <a:rPr lang="en-AU" sz="1200" kern="1200" dirty="0" smtClean="0">
                <a:solidFill>
                  <a:schemeClr val="tx1"/>
                </a:solidFill>
                <a:ea typeface="+mn-ea"/>
                <a:cs typeface="+mn-cs"/>
              </a:rPr>
              <a:t> Resolving issues</a:t>
            </a:r>
          </a:p>
          <a:p>
            <a:pPr>
              <a:buFont typeface="Arial" pitchFamily="34" charset="0"/>
              <a:buChar char="•"/>
            </a:pPr>
            <a:r>
              <a:rPr lang="en-AU" sz="1200" kern="1200" dirty="0" smtClean="0">
                <a:solidFill>
                  <a:schemeClr val="tx1"/>
                </a:solidFill>
                <a:ea typeface="+mn-ea"/>
                <a:cs typeface="+mn-cs"/>
              </a:rPr>
              <a:t> Range of products available</a:t>
            </a:r>
          </a:p>
          <a:p>
            <a:pPr>
              <a:buFont typeface="Arial" pitchFamily="34" charset="0"/>
              <a:buChar char="•"/>
            </a:pPr>
            <a:r>
              <a:rPr lang="en-AU" sz="1200" kern="1200" dirty="0" smtClean="0">
                <a:solidFill>
                  <a:schemeClr val="tx1"/>
                </a:solidFill>
                <a:ea typeface="+mn-ea"/>
                <a:cs typeface="+mn-cs"/>
              </a:rPr>
              <a:t> Quality of items</a:t>
            </a:r>
          </a:p>
          <a:p>
            <a:pPr>
              <a:buFont typeface="Arial" pitchFamily="34" charset="0"/>
              <a:buChar char="•"/>
            </a:pPr>
            <a:r>
              <a:rPr lang="en-AU" sz="1200" kern="1200" dirty="0" smtClean="0">
                <a:solidFill>
                  <a:schemeClr val="tx1"/>
                </a:solidFill>
                <a:ea typeface="+mn-ea"/>
                <a:cs typeface="+mn-cs"/>
              </a:rPr>
              <a:t> Beneficial Terms of Trade</a:t>
            </a:r>
          </a:p>
          <a:p>
            <a:pPr>
              <a:buFont typeface="Arial" pitchFamily="34" charset="0"/>
              <a:buChar char="•"/>
            </a:pPr>
            <a:r>
              <a:rPr lang="en-AU" sz="1200" kern="1200" dirty="0" smtClean="0">
                <a:solidFill>
                  <a:schemeClr val="tx1"/>
                </a:solidFill>
                <a:ea typeface="+mn-ea"/>
                <a:cs typeface="+mn-cs"/>
              </a:rPr>
              <a:t> Continuity of supply</a:t>
            </a:r>
          </a:p>
          <a:p>
            <a:pPr>
              <a:buFont typeface="Arial" pitchFamily="34" charset="0"/>
              <a:buChar char="•"/>
            </a:pPr>
            <a:r>
              <a:rPr lang="en-AU" sz="1200" kern="1200" dirty="0" smtClean="0">
                <a:solidFill>
                  <a:schemeClr val="tx1"/>
                </a:solidFill>
                <a:ea typeface="+mn-ea"/>
                <a:cs typeface="+mn-cs"/>
              </a:rPr>
              <a:t> Their physical location/proximity to your venue.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a:t>
            </a:r>
            <a:r>
              <a:rPr lang="en-US" b="1" baseline="0" dirty="0" smtClean="0"/>
              <a:t> Handout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distributes and discusses sample Terms of Trade.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b="0" kern="1200" dirty="0" smtClean="0">
                <a:solidFill>
                  <a:schemeClr val="tx1"/>
                </a:solidFill>
                <a:ea typeface="+mn-ea"/>
                <a:cs typeface="+mn-cs"/>
              </a:rPr>
              <a:t>kitchens will usually deal with suppliers in the following categories:</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General produce – this is a supplier who provides a wide range of proprietary (‘brand name’) foods such as:</a:t>
            </a:r>
          </a:p>
          <a:p>
            <a:pPr lvl="1">
              <a:buFont typeface="Arial" pitchFamily="34" charset="0"/>
              <a:buChar char="•"/>
            </a:pPr>
            <a:r>
              <a:rPr lang="en-AU" sz="1200" kern="1200" dirty="0" smtClean="0">
                <a:solidFill>
                  <a:schemeClr val="tx1"/>
                </a:solidFill>
                <a:ea typeface="+mn-ea"/>
                <a:cs typeface="+mn-cs"/>
              </a:rPr>
              <a:t> Dried goods/foods</a:t>
            </a:r>
          </a:p>
          <a:p>
            <a:pPr lvl="1">
              <a:buFont typeface="Arial" pitchFamily="34" charset="0"/>
              <a:buChar char="•"/>
            </a:pPr>
            <a:r>
              <a:rPr lang="en-AU" sz="1200" kern="1200" dirty="0" smtClean="0">
                <a:solidFill>
                  <a:schemeClr val="tx1"/>
                </a:solidFill>
                <a:ea typeface="+mn-ea"/>
                <a:cs typeface="+mn-cs"/>
              </a:rPr>
              <a:t> Refrigerated foods</a:t>
            </a:r>
          </a:p>
          <a:p>
            <a:pPr lvl="1">
              <a:buFont typeface="Arial" pitchFamily="34" charset="0"/>
              <a:buChar char="•"/>
            </a:pPr>
            <a:r>
              <a:rPr lang="en-AU" sz="1200" kern="1200" dirty="0" smtClean="0">
                <a:solidFill>
                  <a:schemeClr val="tx1"/>
                </a:solidFill>
                <a:ea typeface="+mn-ea"/>
                <a:cs typeface="+mn-cs"/>
              </a:rPr>
              <a:t> Frozen foods</a:t>
            </a:r>
          </a:p>
          <a:p>
            <a:pPr lvl="1">
              <a:buFont typeface="Arial" pitchFamily="34" charset="0"/>
              <a:buChar char="•"/>
            </a:pPr>
            <a:r>
              <a:rPr lang="en-AU" sz="1200" kern="1200" dirty="0" smtClean="0">
                <a:solidFill>
                  <a:schemeClr val="tx1"/>
                </a:solidFill>
                <a:ea typeface="+mn-ea"/>
                <a:cs typeface="+mn-cs"/>
              </a:rPr>
              <a:t> Bottled and canned/tinned food</a:t>
            </a:r>
          </a:p>
          <a:p>
            <a:pPr lvl="1">
              <a:buFont typeface="Arial" pitchFamily="34" charset="0"/>
              <a:buChar char="•"/>
            </a:pPr>
            <a:r>
              <a:rPr lang="en-AU" sz="1200" kern="1200" dirty="0" smtClean="0">
                <a:solidFill>
                  <a:schemeClr val="tx1"/>
                </a:solidFill>
                <a:ea typeface="+mn-ea"/>
                <a:cs typeface="+mn-cs"/>
              </a:rPr>
              <a:t> Ancillary items used in the kitchen – such as small equipment, utensils, crockery and cutlery, cleaning equipment and detergents/chemicals</a:t>
            </a:r>
          </a:p>
          <a:p>
            <a:pPr>
              <a:buFont typeface="Arial" pitchFamily="34" charset="0"/>
              <a:buChar char="•"/>
            </a:pPr>
            <a:r>
              <a:rPr lang="en-AU" sz="1200" kern="1200" dirty="0" smtClean="0">
                <a:solidFill>
                  <a:schemeClr val="tx1"/>
                </a:solidFill>
                <a:ea typeface="+mn-ea"/>
                <a:cs typeface="+mn-cs"/>
              </a:rPr>
              <a:t> Butchers and poultry suppliers – who supply raw and processed meat.</a:t>
            </a:r>
          </a:p>
          <a:p>
            <a:pPr>
              <a:buFont typeface="Arial" pitchFamily="34" charset="0"/>
              <a:buChar char="•"/>
            </a:pPr>
            <a:r>
              <a:rPr lang="en-AU" sz="1200" kern="1200" dirty="0" smtClean="0">
                <a:solidFill>
                  <a:schemeClr val="tx1"/>
                </a:solidFill>
                <a:ea typeface="+mn-ea"/>
                <a:cs typeface="+mn-cs"/>
              </a:rPr>
              <a:t> You may have one butcher/supplier who provides all your meat and poultry needs, or you may use a specialist butcher/provider for different types of meat (beef, lamb, pork, chicken, turkey).</a:t>
            </a:r>
          </a:p>
          <a:p>
            <a:pPr>
              <a:buFont typeface="Arial" pitchFamily="34" charset="0"/>
              <a:buChar char="•"/>
            </a:pPr>
            <a:r>
              <a:rPr lang="en-AU" sz="1200" kern="1200" dirty="0" smtClean="0">
                <a:solidFill>
                  <a:schemeClr val="tx1"/>
                </a:solidFill>
                <a:ea typeface="+mn-ea"/>
                <a:cs typeface="+mn-cs"/>
              </a:rPr>
              <a:t> Baker – for bread, rolls and pastries</a:t>
            </a:r>
          </a:p>
          <a:p>
            <a:pPr>
              <a:buFont typeface="Arial" pitchFamily="34" charset="0"/>
              <a:buChar char="•"/>
            </a:pPr>
            <a:r>
              <a:rPr lang="en-AU" sz="1200" kern="1200" dirty="0" smtClean="0">
                <a:solidFill>
                  <a:schemeClr val="tx1"/>
                </a:solidFill>
                <a:ea typeface="+mn-ea"/>
                <a:cs typeface="+mn-cs"/>
              </a:rPr>
              <a:t> Dairy – to provide milk, cream and prepared pastries</a:t>
            </a:r>
          </a:p>
          <a:p>
            <a:pPr>
              <a:buFont typeface="Arial" pitchFamily="34" charset="0"/>
              <a:buChar char="•"/>
            </a:pPr>
            <a:r>
              <a:rPr lang="en-AU" sz="1200" kern="1200" dirty="0" smtClean="0">
                <a:solidFill>
                  <a:schemeClr val="tx1"/>
                </a:solidFill>
                <a:ea typeface="+mn-ea"/>
                <a:cs typeface="+mn-cs"/>
              </a:rPr>
              <a:t> Seafood supplier – providing fish and shellfish</a:t>
            </a:r>
          </a:p>
          <a:p>
            <a:pPr>
              <a:buFont typeface="Arial" pitchFamily="34" charset="0"/>
              <a:buChar char="•"/>
            </a:pPr>
            <a:r>
              <a:rPr lang="en-AU" sz="1200" kern="1200" dirty="0" smtClean="0">
                <a:solidFill>
                  <a:schemeClr val="tx1"/>
                </a:solidFill>
                <a:ea typeface="+mn-ea"/>
                <a:cs typeface="+mn-cs"/>
              </a:rPr>
              <a:t> Greengrocer – providing fresh fruit and vegetables</a:t>
            </a:r>
          </a:p>
          <a:p>
            <a:pPr>
              <a:buFont typeface="Arial" pitchFamily="34" charset="0"/>
              <a:buChar char="•"/>
            </a:pPr>
            <a:r>
              <a:rPr lang="en-AU" sz="1200" kern="1200" dirty="0" smtClean="0">
                <a:solidFill>
                  <a:schemeClr val="tx1"/>
                </a:solidFill>
                <a:ea typeface="+mn-ea"/>
                <a:cs typeface="+mn-cs"/>
              </a:rPr>
              <a:t> Specialist local suppliers – local businesses who grow, produce and/or supply a variety of niche/boutique products and ingredients.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a:t>
            </a:r>
            <a:r>
              <a:rPr lang="en-US" b="1" baseline="0" dirty="0" smtClean="0"/>
              <a:t> Excursion/s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arranges excursions to several local suppliers to: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Meet with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View products available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Obtain price lists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Learn ordering options/protocols.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in </a:t>
            </a:r>
            <a:r>
              <a:rPr lang="en-AU" sz="1200" b="0" kern="1200" dirty="0" smtClean="0">
                <a:solidFill>
                  <a:schemeClr val="tx1"/>
                </a:solidFill>
                <a:ea typeface="+mn-ea"/>
                <a:cs typeface="+mn-cs"/>
              </a:rPr>
              <a:t>relation to ordering food for a kitchen it is important to note:</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Different venues can use different options – not everyone orders the same way</a:t>
            </a:r>
          </a:p>
          <a:p>
            <a:pPr>
              <a:buFont typeface="Arial" pitchFamily="34" charset="0"/>
              <a:buChar char="•"/>
            </a:pPr>
            <a:r>
              <a:rPr lang="en-AU" sz="1200" kern="1200" dirty="0" smtClean="0">
                <a:solidFill>
                  <a:schemeClr val="tx1"/>
                </a:solidFill>
                <a:ea typeface="+mn-ea"/>
                <a:cs typeface="+mn-cs"/>
              </a:rPr>
              <a:t> Not all suppliers offer all the purchasing options listed on following slide – some only offer the basic options</a:t>
            </a:r>
          </a:p>
          <a:p>
            <a:pPr>
              <a:buFont typeface="Arial" pitchFamily="34" charset="0"/>
              <a:buChar char="•"/>
            </a:pPr>
            <a:r>
              <a:rPr lang="en-AU" sz="1200" kern="1200" dirty="0" smtClean="0">
                <a:solidFill>
                  <a:schemeClr val="tx1"/>
                </a:solidFill>
                <a:ea typeface="+mn-ea"/>
                <a:cs typeface="+mn-cs"/>
              </a:rPr>
              <a:t> You should adhere to the standard purchasing options used by the kitchen/venue where yo work</a:t>
            </a:r>
          </a:p>
          <a:p>
            <a:pPr>
              <a:buFont typeface="Arial" pitchFamily="34" charset="0"/>
              <a:buChar char="•"/>
            </a:pPr>
            <a:r>
              <a:rPr lang="en-AU" sz="1200" kern="1200" dirty="0" smtClean="0">
                <a:solidFill>
                  <a:schemeClr val="tx1"/>
                </a:solidFill>
                <a:ea typeface="+mn-ea"/>
                <a:cs typeface="+mn-cs"/>
              </a:rPr>
              <a:t> Always follow house policies and protocols – which may require:</a:t>
            </a:r>
          </a:p>
          <a:p>
            <a:pPr lvl="1">
              <a:buFont typeface="Arial" pitchFamily="34" charset="0"/>
              <a:buChar char="•"/>
            </a:pPr>
            <a:r>
              <a:rPr lang="en-AU" sz="1200" kern="1200" dirty="0" smtClean="0">
                <a:solidFill>
                  <a:schemeClr val="tx1"/>
                </a:solidFill>
                <a:ea typeface="+mn-ea"/>
                <a:cs typeface="+mn-cs"/>
              </a:rPr>
              <a:t> Designated options to be used for nominated suppliers</a:t>
            </a:r>
          </a:p>
          <a:p>
            <a:pPr lvl="1">
              <a:buFont typeface="Arial" pitchFamily="34" charset="0"/>
              <a:buChar char="•"/>
            </a:pPr>
            <a:r>
              <a:rPr lang="en-AU" sz="1200" kern="1200" dirty="0" smtClean="0">
                <a:solidFill>
                  <a:schemeClr val="tx1"/>
                </a:solidFill>
                <a:ea typeface="+mn-ea"/>
                <a:cs typeface="+mn-cs"/>
              </a:rPr>
              <a:t> Specified documentation to be completed</a:t>
            </a:r>
          </a:p>
          <a:p>
            <a:pPr lvl="1">
              <a:buFont typeface="Arial" pitchFamily="34" charset="0"/>
              <a:buChar char="•"/>
            </a:pPr>
            <a:r>
              <a:rPr lang="en-AU" sz="1200" kern="1200" dirty="0" smtClean="0">
                <a:solidFill>
                  <a:schemeClr val="tx1"/>
                </a:solidFill>
                <a:ea typeface="+mn-ea"/>
                <a:cs typeface="+mn-cs"/>
              </a:rPr>
              <a:t> Certain authorisations to be obtained (signatures) prior to lodging an order</a:t>
            </a:r>
          </a:p>
          <a:p>
            <a:pPr lvl="1">
              <a:buFont typeface="Arial" pitchFamily="34" charset="0"/>
              <a:buChar char="•"/>
            </a:pPr>
            <a:r>
              <a:rPr lang="en-AU" sz="1200" kern="1200" dirty="0" smtClean="0">
                <a:solidFill>
                  <a:schemeClr val="tx1"/>
                </a:solidFill>
                <a:ea typeface="+mn-ea"/>
                <a:cs typeface="+mn-cs"/>
              </a:rPr>
              <a:t> Adherence to maximum purchase quantities</a:t>
            </a:r>
          </a:p>
          <a:p>
            <a:pPr lvl="1">
              <a:buFont typeface="Arial" pitchFamily="34" charset="0"/>
              <a:buChar char="•"/>
            </a:pPr>
            <a:r>
              <a:rPr lang="en-AU" sz="1200" kern="1200" dirty="0" smtClean="0">
                <a:solidFill>
                  <a:schemeClr val="tx1"/>
                </a:solidFill>
                <a:ea typeface="+mn-ea"/>
                <a:cs typeface="+mn-cs"/>
              </a:rPr>
              <a:t> Quotations to be obtained for purchases over a given value.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local Head/Executive Chef to attend and:</a:t>
            </a:r>
          </a:p>
          <a:p>
            <a:pPr>
              <a:buFont typeface="Arial" pitchFamily="34" charset="0"/>
              <a:buChar char="•"/>
            </a:pPr>
            <a:r>
              <a:rPr lang="en-US" b="0" dirty="0" smtClean="0"/>
              <a:t> Identify the suppliers used and why they are used</a:t>
            </a:r>
          </a:p>
          <a:p>
            <a:pPr>
              <a:buFont typeface="Arial" pitchFamily="34" charset="0"/>
              <a:buChar char="•"/>
            </a:pPr>
            <a:r>
              <a:rPr lang="en-US" b="0" dirty="0" smtClean="0"/>
              <a:t> Explain how they order food</a:t>
            </a:r>
          </a:p>
          <a:p>
            <a:pPr>
              <a:buFont typeface="Arial" pitchFamily="34" charset="0"/>
              <a:buChar char="•"/>
            </a:pPr>
            <a:r>
              <a:rPr lang="en-US" b="0" dirty="0" smtClean="0"/>
              <a:t> Provide examples of delivery instructions required, frequency with which orders are placed</a:t>
            </a:r>
          </a:p>
          <a:p>
            <a:pPr>
              <a:buFont typeface="Arial" pitchFamily="34" charset="0"/>
              <a:buChar char="•"/>
            </a:pPr>
            <a:r>
              <a:rPr lang="en-US" b="0" dirty="0" smtClean="0"/>
              <a:t> Describe terms of trade</a:t>
            </a:r>
          </a:p>
          <a:p>
            <a:pPr>
              <a:buFont typeface="Arial" pitchFamily="34" charset="0"/>
              <a:buChar char="•"/>
            </a:pPr>
            <a:r>
              <a:rPr lang="en-US" b="0" dirty="0" smtClean="0"/>
              <a:t> Advise how orders</a:t>
            </a:r>
            <a:r>
              <a:rPr lang="en-US" b="0" baseline="0" dirty="0" smtClean="0"/>
              <a:t> are determined.</a:t>
            </a: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there </a:t>
            </a:r>
            <a:r>
              <a:rPr lang="en-AU" sz="1200" kern="1200" dirty="0" smtClean="0">
                <a:solidFill>
                  <a:schemeClr val="tx1"/>
                </a:solidFill>
                <a:ea typeface="+mn-ea"/>
                <a:cs typeface="+mn-cs"/>
              </a:rPr>
              <a:t>are a variety ways in which food may be ordered from suppliers:</a:t>
            </a:r>
          </a:p>
          <a:p>
            <a:r>
              <a:rPr lang="en-AU" sz="1200" b="1" kern="1200" dirty="0" smtClean="0">
                <a:solidFill>
                  <a:schemeClr val="tx1"/>
                </a:solidFill>
                <a:ea typeface="+mn-ea"/>
                <a:cs typeface="+mn-cs"/>
              </a:rPr>
              <a:t>Electronic ordering systems </a:t>
            </a:r>
          </a:p>
          <a:p>
            <a:pPr>
              <a:buFont typeface="Arial" pitchFamily="34" charset="0"/>
              <a:buChar char="•"/>
            </a:pPr>
            <a:r>
              <a:rPr lang="en-AU" sz="1200" b="0" kern="1200" dirty="0" smtClean="0">
                <a:solidFill>
                  <a:schemeClr val="tx1"/>
                </a:solidFill>
                <a:ea typeface="+mn-ea"/>
                <a:cs typeface="+mn-cs"/>
              </a:rPr>
              <a:t> This is a high-tech option where your computerised internal stock system ‘talks to’ the computer at the supplier’s business and automatically generates orders when pre-determined (minimum) stock levels have been reached</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This is not a commonly available option. </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Telephone orders </a:t>
            </a:r>
          </a:p>
          <a:p>
            <a:pPr>
              <a:buFont typeface="Arial" pitchFamily="34" charset="0"/>
              <a:buChar char="•"/>
            </a:pPr>
            <a:r>
              <a:rPr lang="en-AU" sz="1200" b="0" kern="1200" dirty="0" smtClean="0">
                <a:solidFill>
                  <a:schemeClr val="tx1"/>
                </a:solidFill>
                <a:ea typeface="+mn-ea"/>
                <a:cs typeface="+mn-cs"/>
              </a:rPr>
              <a:t> This is probably the most common purchasing option given the short lead time which often applies to most food which needs to be ordered. That is, an order often needs to be placed after lunch for delivery same day (before the evening meal) or for delivery first thing next day</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The authorised person simply phones the supplier and places an order, identifying themselves either by name/address and/or by a prescribed password/code</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These phone orders may be followed-up by some form of documentation (Purchase Order), or may be stand alone orders with no accompanying paperwork.</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Purchase Orders </a:t>
            </a:r>
          </a:p>
          <a:p>
            <a:pPr>
              <a:buFont typeface="Arial" pitchFamily="34" charset="0"/>
              <a:buChar char="•"/>
            </a:pPr>
            <a:r>
              <a:rPr lang="en-AU" sz="1200" b="0" kern="1200" dirty="0" smtClean="0">
                <a:solidFill>
                  <a:schemeClr val="tx1"/>
                </a:solidFill>
                <a:ea typeface="+mn-ea"/>
                <a:cs typeface="+mn-cs"/>
              </a:rPr>
              <a:t> This is not a very common alternative but is certainly a sound way to go</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The Purchase Order properly signed by the appropriate person provides the basis for delivering the goods listed on the document and charging for them. Some venues will insist no order is placed (or paid for) unless accompanied by an authorised Purchase Order</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Even in these businesses it is common for phone orders to be placed – and the order delivered – before the correct documentation is raised to ensure foods are delivered on time/when needed</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The supplier may have their own pre-printed order forms (which may be part of a Catalogue/Price List) given to you to assist in this process</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Alternatively, the venue may have their own printed Purchase Orders which require an authorised signature (of the Head Chef, owner or manager) before they are deemed to be valid.</a:t>
            </a:r>
            <a:endParaRPr lang="en-AU" sz="1200" b="1"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 Activity – Handout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distributes</a:t>
            </a:r>
            <a:r>
              <a:rPr lang="en-US" sz="1200" b="0" kern="1200" baseline="0" dirty="0" smtClean="0">
                <a:solidFill>
                  <a:schemeClr val="tx1"/>
                </a:solidFill>
                <a:ea typeface="+mn-ea"/>
                <a:cs typeface="+mn-cs"/>
              </a:rPr>
              <a:t> sample Purchase Order and discusses use of same to order food.</a:t>
            </a:r>
            <a:endParaRPr lang="en-US"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lists product </a:t>
            </a:r>
            <a:r>
              <a:rPr lang="en-AU" sz="1200" b="0" kern="1200" dirty="0" smtClean="0">
                <a:solidFill>
                  <a:schemeClr val="tx1"/>
                </a:solidFill>
                <a:ea typeface="+mn-ea"/>
                <a:cs typeface="+mn-cs"/>
              </a:rPr>
              <a:t>information to be given to the supplier when ordering food stressing the exact information needed will vary depending on whether the item is raw, fresh or processed.</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In all cases </a:t>
            </a:r>
            <a:r>
              <a:rPr lang="en-AU" sz="1200" b="1" kern="1200" dirty="0" smtClean="0">
                <a:solidFill>
                  <a:schemeClr val="tx1"/>
                </a:solidFill>
                <a:ea typeface="+mn-ea"/>
                <a:cs typeface="+mn-cs"/>
              </a:rPr>
              <a:t>a combination</a:t>
            </a:r>
            <a:r>
              <a:rPr lang="en-AU" sz="1200" b="0" kern="1200" dirty="0" smtClean="0">
                <a:solidFill>
                  <a:schemeClr val="tx1"/>
                </a:solidFill>
                <a:ea typeface="+mn-ea"/>
                <a:cs typeface="+mn-cs"/>
              </a:rPr>
              <a:t> of the descriptors/details presented below will need to be used, for example:</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Description of the item – as follows: </a:t>
            </a:r>
          </a:p>
          <a:p>
            <a:pPr lvl="1">
              <a:buFont typeface="Arial" pitchFamily="34" charset="0"/>
              <a:buChar char="•"/>
            </a:pPr>
            <a:r>
              <a:rPr lang="en-AU" sz="1200" kern="1200" dirty="0" smtClean="0">
                <a:solidFill>
                  <a:schemeClr val="tx1"/>
                </a:solidFill>
                <a:ea typeface="+mn-ea"/>
                <a:cs typeface="+mn-cs"/>
              </a:rPr>
              <a:t> Meat and poultry – by animal type, age and cut</a:t>
            </a:r>
          </a:p>
          <a:p>
            <a:pPr lvl="1">
              <a:buFont typeface="Arial" pitchFamily="34" charset="0"/>
              <a:buChar char="•"/>
            </a:pPr>
            <a:r>
              <a:rPr lang="en-AU" sz="1200" kern="1200" dirty="0" smtClean="0">
                <a:solidFill>
                  <a:schemeClr val="tx1"/>
                </a:solidFill>
                <a:ea typeface="+mn-ea"/>
                <a:cs typeface="+mn-cs"/>
              </a:rPr>
              <a:t> Fruit and vegetables – by type, variety and grade/quality</a:t>
            </a:r>
          </a:p>
          <a:p>
            <a:pPr lvl="1">
              <a:buFont typeface="Arial" pitchFamily="34" charset="0"/>
              <a:buChar char="•"/>
            </a:pPr>
            <a:r>
              <a:rPr lang="en-AU" sz="1200" kern="1200" dirty="0" smtClean="0">
                <a:solidFill>
                  <a:schemeClr val="tx1"/>
                </a:solidFill>
                <a:ea typeface="+mn-ea"/>
                <a:cs typeface="+mn-cs"/>
              </a:rPr>
              <a:t> Packaged, processed and pre-prepared food – by type, variety, brand name and unique product descriptors/identifiers</a:t>
            </a:r>
          </a:p>
          <a:p>
            <a:pPr>
              <a:buFont typeface="Arial" pitchFamily="34" charset="0"/>
              <a:buChar char="•"/>
            </a:pPr>
            <a:r>
              <a:rPr lang="en-AU" sz="1200" kern="1200" dirty="0" smtClean="0">
                <a:solidFill>
                  <a:schemeClr val="tx1"/>
                </a:solidFill>
                <a:ea typeface="+mn-ea"/>
                <a:cs typeface="+mn-cs"/>
              </a:rPr>
              <a:t> Amount and size of each item required – the way to describe this will vary depending on the item/ingredient with options being:</a:t>
            </a:r>
          </a:p>
          <a:p>
            <a:pPr lvl="1">
              <a:buFont typeface="Arial" pitchFamily="34" charset="0"/>
              <a:buChar char="•"/>
            </a:pPr>
            <a:r>
              <a:rPr lang="en-AU" sz="1200" kern="1200" dirty="0" smtClean="0">
                <a:solidFill>
                  <a:schemeClr val="tx1"/>
                </a:solidFill>
                <a:ea typeface="+mn-ea"/>
                <a:cs typeface="+mn-cs"/>
              </a:rPr>
              <a:t> By quantity, number  or units – ‘six 750 ml bottles’; ‘2 cartons’; 6 x 1 kg bags’</a:t>
            </a:r>
          </a:p>
          <a:p>
            <a:pPr lvl="1">
              <a:buFont typeface="Arial" pitchFamily="34" charset="0"/>
              <a:buChar char="•"/>
            </a:pPr>
            <a:r>
              <a:rPr lang="en-AU" sz="1200" kern="1200" dirty="0" smtClean="0">
                <a:solidFill>
                  <a:schemeClr val="tx1"/>
                </a:solidFill>
                <a:ea typeface="+mn-ea"/>
                <a:cs typeface="+mn-cs"/>
              </a:rPr>
              <a:t> By weight – ‘10 kg A grade beef mince’; ‘500 gms South Sea rock salt’</a:t>
            </a:r>
          </a:p>
          <a:p>
            <a:pPr lvl="1">
              <a:buFont typeface="Arial" pitchFamily="34" charset="0"/>
              <a:buChar char="•"/>
            </a:pPr>
            <a:r>
              <a:rPr lang="en-AU" sz="1200" kern="1200" dirty="0" smtClean="0">
                <a:solidFill>
                  <a:schemeClr val="tx1"/>
                </a:solidFill>
                <a:ea typeface="+mn-ea"/>
                <a:cs typeface="+mn-cs"/>
              </a:rPr>
              <a:t> By volume – ’2 x 10 litres full cream milk’; ’500 mls Dairy Fresh sour cream’.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business information to be provided when ordering food from suppliers:</a:t>
            </a:r>
          </a:p>
          <a:p>
            <a:pPr>
              <a:buFont typeface="Arial" pitchFamily="34" charset="0"/>
              <a:buChar char="•"/>
            </a:pPr>
            <a:r>
              <a:rPr lang="en-AU" sz="1200" kern="1200" dirty="0" smtClean="0">
                <a:solidFill>
                  <a:schemeClr val="tx1"/>
                </a:solidFill>
                <a:ea typeface="+mn-ea"/>
                <a:cs typeface="+mn-cs"/>
              </a:rPr>
              <a:t> The name of your venue</a:t>
            </a:r>
          </a:p>
          <a:p>
            <a:pPr>
              <a:buFont typeface="Arial" pitchFamily="34" charset="0"/>
              <a:buChar char="•"/>
            </a:pPr>
            <a:r>
              <a:rPr lang="en-AU" sz="1200" kern="1200" dirty="0" smtClean="0">
                <a:solidFill>
                  <a:schemeClr val="tx1"/>
                </a:solidFill>
                <a:ea typeface="+mn-ea"/>
                <a:cs typeface="+mn-cs"/>
              </a:rPr>
              <a:t> The trading name of the business</a:t>
            </a:r>
          </a:p>
          <a:p>
            <a:pPr>
              <a:buFont typeface="Arial" pitchFamily="34" charset="0"/>
              <a:buChar char="•"/>
            </a:pPr>
            <a:r>
              <a:rPr lang="en-AU" sz="1200" kern="1200" dirty="0" smtClean="0">
                <a:solidFill>
                  <a:schemeClr val="tx1"/>
                </a:solidFill>
                <a:ea typeface="+mn-ea"/>
                <a:cs typeface="+mn-cs"/>
              </a:rPr>
              <a:t> Your name</a:t>
            </a:r>
          </a:p>
          <a:p>
            <a:pPr>
              <a:buFont typeface="Arial" pitchFamily="34" charset="0"/>
              <a:buChar char="•"/>
            </a:pPr>
            <a:r>
              <a:rPr lang="en-AU" sz="1200" kern="1200" dirty="0" smtClean="0">
                <a:solidFill>
                  <a:schemeClr val="tx1"/>
                </a:solidFill>
                <a:ea typeface="+mn-ea"/>
                <a:cs typeface="+mn-cs"/>
              </a:rPr>
              <a:t> Details of any password or code which identifies you and confirms the order being placed is a legitimate one</a:t>
            </a:r>
          </a:p>
          <a:p>
            <a:pPr>
              <a:buFont typeface="Arial" pitchFamily="34" charset="0"/>
              <a:buChar char="•"/>
            </a:pPr>
            <a:r>
              <a:rPr lang="en-AU" sz="1200" kern="1200" dirty="0" smtClean="0">
                <a:solidFill>
                  <a:schemeClr val="tx1"/>
                </a:solidFill>
                <a:ea typeface="+mn-ea"/>
                <a:cs typeface="+mn-cs"/>
              </a:rPr>
              <a:t> When the delivery is required – by day/date and time of day</a:t>
            </a:r>
          </a:p>
          <a:p>
            <a:pPr>
              <a:buFont typeface="Arial" pitchFamily="34" charset="0"/>
              <a:buChar char="•"/>
            </a:pPr>
            <a:r>
              <a:rPr lang="en-AU" sz="1200" kern="1200" dirty="0" smtClean="0">
                <a:solidFill>
                  <a:schemeClr val="tx1"/>
                </a:solidFill>
                <a:ea typeface="+mn-ea"/>
                <a:cs typeface="+mn-cs"/>
              </a:rPr>
              <a:t> Address for delivery – including specific location within the venue (for example, ‘Main store’, ‘Main kitchen’, ‘International bistro’).</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a:t>
            </a:r>
            <a:r>
              <a:rPr lang="en-US" b="1" baseline="0" dirty="0" smtClean="0"/>
              <a:t> – Exercise</a:t>
            </a:r>
          </a:p>
          <a:p>
            <a:pPr>
              <a:buFont typeface="Arial" pitchFamily="34" charset="0"/>
              <a:buNone/>
            </a:pPr>
            <a:r>
              <a:rPr lang="en-US" b="0" baseline="0" dirty="0" smtClean="0"/>
              <a:t>Write an Purchase Order for a given recipe or combination of recipes.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discusses food purchase specifications stating:</a:t>
            </a:r>
          </a:p>
          <a:p>
            <a:pPr>
              <a:buFont typeface="Arial" pitchFamily="34" charset="0"/>
              <a:buChar char="•"/>
            </a:pPr>
            <a:r>
              <a:rPr lang="en-AU" sz="1200" kern="1200" dirty="0" smtClean="0">
                <a:solidFill>
                  <a:schemeClr val="tx1"/>
                </a:solidFill>
                <a:ea typeface="+mn-ea"/>
                <a:cs typeface="+mn-cs"/>
              </a:rPr>
              <a:t> Food purchase specifications (also simply known as ‘food specifications’) are used by venues to inform suppliers regarding the quality and standards required of the food they must deliver</a:t>
            </a:r>
          </a:p>
          <a:p>
            <a:pPr>
              <a:buFont typeface="Arial" pitchFamily="34" charset="0"/>
              <a:buChar char="•"/>
            </a:pPr>
            <a:r>
              <a:rPr lang="en-AU" sz="1200" kern="1200" dirty="0" smtClean="0">
                <a:solidFill>
                  <a:schemeClr val="tx1"/>
                </a:solidFill>
                <a:ea typeface="+mn-ea"/>
                <a:cs typeface="+mn-cs"/>
              </a:rPr>
              <a:t> Some venues use food purchase specifications but most do not</a:t>
            </a:r>
          </a:p>
          <a:p>
            <a:pPr>
              <a:buFont typeface="Arial" pitchFamily="34" charset="0"/>
              <a:buChar char="•"/>
            </a:pPr>
            <a:r>
              <a:rPr lang="en-AU" sz="1200" kern="1200" dirty="0" smtClean="0">
                <a:solidFill>
                  <a:schemeClr val="tx1"/>
                </a:solidFill>
                <a:ea typeface="+mn-ea"/>
                <a:cs typeface="+mn-cs"/>
              </a:rPr>
              <a:t> Their use is commonly listed to:</a:t>
            </a:r>
          </a:p>
          <a:p>
            <a:pPr lvl="1">
              <a:buFont typeface="Arial" pitchFamily="34" charset="0"/>
              <a:buChar char="•"/>
            </a:pPr>
            <a:r>
              <a:rPr lang="en-AU" sz="1200" kern="1200" dirty="0" smtClean="0">
                <a:solidFill>
                  <a:schemeClr val="tx1"/>
                </a:solidFill>
                <a:ea typeface="+mn-ea"/>
                <a:cs typeface="+mn-cs"/>
              </a:rPr>
              <a:t> Hospitals and aged care facilities</a:t>
            </a:r>
          </a:p>
          <a:p>
            <a:pPr lvl="1">
              <a:buFont typeface="Arial" pitchFamily="34" charset="0"/>
              <a:buChar char="•"/>
            </a:pPr>
            <a:r>
              <a:rPr lang="en-AU" sz="1200" kern="1200" dirty="0" smtClean="0">
                <a:solidFill>
                  <a:schemeClr val="tx1"/>
                </a:solidFill>
                <a:ea typeface="+mn-ea"/>
                <a:cs typeface="+mn-cs"/>
              </a:rPr>
              <a:t> Fast food franchises</a:t>
            </a:r>
          </a:p>
          <a:p>
            <a:pPr lvl="1">
              <a:buFont typeface="Arial" pitchFamily="34" charset="0"/>
              <a:buChar char="•"/>
            </a:pPr>
            <a:r>
              <a:rPr lang="en-AU" sz="1200" kern="1200" dirty="0" smtClean="0">
                <a:solidFill>
                  <a:schemeClr val="tx1"/>
                </a:solidFill>
                <a:ea typeface="+mn-ea"/>
                <a:cs typeface="+mn-cs"/>
              </a:rPr>
              <a:t> Big operations that purchase large volumes of particular items</a:t>
            </a:r>
          </a:p>
          <a:p>
            <a:pPr>
              <a:buFont typeface="Arial" pitchFamily="34" charset="0"/>
              <a:buChar char="•"/>
            </a:pPr>
            <a:r>
              <a:rPr lang="en-AU" sz="1200" kern="1200" dirty="0" smtClean="0">
                <a:solidFill>
                  <a:schemeClr val="tx1"/>
                </a:solidFill>
                <a:ea typeface="+mn-ea"/>
                <a:cs typeface="+mn-cs"/>
              </a:rPr>
              <a:t> In addition, many </a:t>
            </a:r>
            <a:r>
              <a:rPr lang="en-AU" sz="1200" i="1" kern="1200" dirty="0" smtClean="0">
                <a:solidFill>
                  <a:schemeClr val="tx1"/>
                </a:solidFill>
                <a:ea typeface="+mn-ea"/>
                <a:cs typeface="+mn-cs"/>
              </a:rPr>
              <a:t>suppliers</a:t>
            </a:r>
            <a:r>
              <a:rPr lang="en-AU" sz="1200" kern="1200" dirty="0" smtClean="0">
                <a:solidFill>
                  <a:schemeClr val="tx1"/>
                </a:solidFill>
                <a:ea typeface="+mn-ea"/>
                <a:cs typeface="+mn-cs"/>
              </a:rPr>
              <a:t> do not operate on the basis of purchase specifications – they supply products in their catalogue/price list, and that is all they supply. Take it or leave it.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reasons businesses use food purchase specifications:</a:t>
            </a:r>
          </a:p>
          <a:p>
            <a:pPr>
              <a:buFont typeface="Arial" pitchFamily="34" charset="0"/>
              <a:buChar char="•"/>
            </a:pPr>
            <a:r>
              <a:rPr lang="en-AU" sz="1200" kern="1200" dirty="0" smtClean="0">
                <a:solidFill>
                  <a:schemeClr val="tx1"/>
                </a:solidFill>
                <a:ea typeface="+mn-ea"/>
                <a:cs typeface="+mn-cs"/>
              </a:rPr>
              <a:t> Maintain the standard and quality of the food they produce – the standard/quality of menu items relates directly to the standard/quality of the base ingredients</a:t>
            </a:r>
          </a:p>
          <a:p>
            <a:pPr>
              <a:buFont typeface="Arial" pitchFamily="34" charset="0"/>
              <a:buChar char="•"/>
            </a:pPr>
            <a:r>
              <a:rPr lang="en-AU" sz="1200" kern="1200" dirty="0" smtClean="0">
                <a:solidFill>
                  <a:schemeClr val="tx1"/>
                </a:solidFill>
                <a:ea typeface="+mn-ea"/>
                <a:cs typeface="+mn-cs"/>
              </a:rPr>
              <a:t> Control/define the quality of certain ingredients bought from suppliers – to help ensure their suitability for their anticipated use: allowing you to define lesser/lower quality (and hence cheaper) ingredients where their final use enables their use without adversely impacting on quality.</a:t>
            </a:r>
          </a:p>
          <a:p>
            <a:pPr lvl="1">
              <a:buFont typeface="Arial" pitchFamily="34" charset="0"/>
              <a:buChar char="•"/>
            </a:pPr>
            <a:r>
              <a:rPr lang="en-AU" sz="1200" kern="1200" dirty="0" smtClean="0">
                <a:solidFill>
                  <a:schemeClr val="tx1"/>
                </a:solidFill>
                <a:ea typeface="+mn-ea"/>
                <a:cs typeface="+mn-cs"/>
              </a:rPr>
              <a:t> For example, many </a:t>
            </a:r>
            <a:r>
              <a:rPr lang="en-AU" sz="1200" i="1" kern="1200" dirty="0" smtClean="0">
                <a:solidFill>
                  <a:schemeClr val="tx1"/>
                </a:solidFill>
                <a:ea typeface="+mn-ea"/>
                <a:cs typeface="+mn-cs"/>
              </a:rPr>
              <a:t>wet dishes</a:t>
            </a:r>
            <a:r>
              <a:rPr lang="en-AU" sz="1200" kern="1200" dirty="0" smtClean="0">
                <a:solidFill>
                  <a:schemeClr val="tx1"/>
                </a:solidFill>
                <a:ea typeface="+mn-ea"/>
                <a:cs typeface="+mn-cs"/>
              </a:rPr>
              <a:t> can be quite adequately produced using less than optimum quality vegetables, where this is not the case with (say) vegetables to be used in salads or sandwich fillings.</a:t>
            </a:r>
          </a:p>
          <a:p>
            <a:pPr>
              <a:buFont typeface="Arial" pitchFamily="34" charset="0"/>
              <a:buChar char="•"/>
            </a:pPr>
            <a:r>
              <a:rPr lang="en-AU" sz="1200" kern="1200" dirty="0" smtClean="0">
                <a:solidFill>
                  <a:schemeClr val="tx1"/>
                </a:solidFill>
                <a:ea typeface="+mn-ea"/>
                <a:cs typeface="+mn-cs"/>
              </a:rPr>
              <a:t> Eliminate doubt about what is required – using food specifications gives certainty about what is needed and removes uncertainty</a:t>
            </a:r>
          </a:p>
          <a:p>
            <a:pPr>
              <a:buFont typeface="Arial" pitchFamily="34" charset="0"/>
              <a:buChar char="•"/>
            </a:pPr>
            <a:r>
              <a:rPr lang="en-AU" sz="1200" kern="1200" dirty="0" smtClean="0">
                <a:solidFill>
                  <a:schemeClr val="tx1"/>
                </a:solidFill>
                <a:ea typeface="+mn-ea"/>
                <a:cs typeface="+mn-cs"/>
              </a:rPr>
              <a:t> Save labour – where the specification sets out (for example) the trim requirements of meat, and the need for cuts of meat to be sliced into certain thicknesses/weights this saves kitchen staff having to spend time undertaking these basic food preparation activities</a:t>
            </a:r>
          </a:p>
          <a:p>
            <a:pPr>
              <a:buFont typeface="Arial" pitchFamily="34" charset="0"/>
              <a:buChar char="•"/>
            </a:pPr>
            <a:r>
              <a:rPr lang="en-AU" sz="1200" kern="1200" dirty="0" smtClean="0">
                <a:solidFill>
                  <a:schemeClr val="tx1"/>
                </a:solidFill>
                <a:ea typeface="+mn-ea"/>
                <a:cs typeface="+mn-cs"/>
              </a:rPr>
              <a:t> Form a standard basis on which to undertake competitive tendering – by ensuring all tenderers mare quoting for the same product</a:t>
            </a:r>
          </a:p>
          <a:p>
            <a:pPr>
              <a:buFont typeface="Arial" pitchFamily="34" charset="0"/>
              <a:buChar char="•"/>
            </a:pPr>
            <a:r>
              <a:rPr lang="en-AU" sz="1200" kern="1200" dirty="0" smtClean="0">
                <a:solidFill>
                  <a:schemeClr val="tx1"/>
                </a:solidFill>
                <a:ea typeface="+mn-ea"/>
                <a:cs typeface="+mn-cs"/>
              </a:rPr>
              <a:t> Provide an objective and standard framework for inspecting food – on delivery to the venue</a:t>
            </a:r>
          </a:p>
          <a:p>
            <a:pPr>
              <a:buFont typeface="Arial" pitchFamily="34" charset="0"/>
              <a:buChar char="•"/>
            </a:pPr>
            <a:r>
              <a:rPr lang="en-AU" sz="1200" kern="1200" dirty="0" smtClean="0">
                <a:solidFill>
                  <a:schemeClr val="tx1"/>
                </a:solidFill>
                <a:ea typeface="+mn-ea"/>
                <a:cs typeface="+mn-cs"/>
              </a:rPr>
              <a:t> Give certainty regarding financial matters – in relation to cost prices.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describes content of food purchase specifications:</a:t>
            </a:r>
          </a:p>
          <a:p>
            <a:pPr>
              <a:buFont typeface="Arial" pitchFamily="34" charset="0"/>
              <a:buChar char="•"/>
            </a:pPr>
            <a:r>
              <a:rPr lang="en-AU" sz="1200" kern="1200" dirty="0" smtClean="0">
                <a:solidFill>
                  <a:schemeClr val="tx1"/>
                </a:solidFill>
                <a:ea typeface="+mn-ea"/>
                <a:cs typeface="+mn-cs"/>
              </a:rPr>
              <a:t> Product name</a:t>
            </a:r>
          </a:p>
          <a:p>
            <a:pPr>
              <a:buFont typeface="Arial" pitchFamily="34" charset="0"/>
              <a:buChar char="•"/>
            </a:pPr>
            <a:r>
              <a:rPr lang="en-AU" sz="1200" kern="1200" dirty="0" smtClean="0">
                <a:solidFill>
                  <a:schemeClr val="tx1"/>
                </a:solidFill>
                <a:ea typeface="+mn-ea"/>
                <a:cs typeface="+mn-cs"/>
              </a:rPr>
              <a:t> Product category – convenience, frozen, fresh, refrigerated</a:t>
            </a:r>
          </a:p>
          <a:p>
            <a:pPr>
              <a:buFont typeface="Arial" pitchFamily="34" charset="0"/>
              <a:buChar char="•"/>
            </a:pPr>
            <a:r>
              <a:rPr lang="en-AU" sz="1200" kern="1200" dirty="0" smtClean="0">
                <a:solidFill>
                  <a:schemeClr val="tx1"/>
                </a:solidFill>
                <a:ea typeface="+mn-ea"/>
                <a:cs typeface="+mn-cs"/>
              </a:rPr>
              <a:t> Quality specifications such as:</a:t>
            </a:r>
          </a:p>
          <a:p>
            <a:pPr lvl="1">
              <a:buFont typeface="Arial" pitchFamily="34" charset="0"/>
              <a:buChar char="•"/>
            </a:pPr>
            <a:r>
              <a:rPr lang="en-AU" sz="1200" kern="1200" dirty="0" smtClean="0">
                <a:solidFill>
                  <a:schemeClr val="tx1"/>
                </a:solidFill>
                <a:ea typeface="+mn-ea"/>
                <a:cs typeface="+mn-cs"/>
              </a:rPr>
              <a:t> Colour</a:t>
            </a:r>
          </a:p>
          <a:p>
            <a:pPr lvl="1">
              <a:buFont typeface="Arial" pitchFamily="34" charset="0"/>
              <a:buChar char="•"/>
            </a:pPr>
            <a:r>
              <a:rPr lang="en-AU" sz="1200" kern="1200" dirty="0" smtClean="0">
                <a:solidFill>
                  <a:schemeClr val="tx1"/>
                </a:solidFill>
                <a:ea typeface="+mn-ea"/>
                <a:cs typeface="+mn-cs"/>
              </a:rPr>
              <a:t> Count</a:t>
            </a:r>
          </a:p>
          <a:p>
            <a:pPr lvl="1">
              <a:buFont typeface="Arial" pitchFamily="34" charset="0"/>
              <a:buChar char="•"/>
            </a:pPr>
            <a:r>
              <a:rPr lang="en-AU" sz="1200" kern="1200" dirty="0" smtClean="0">
                <a:solidFill>
                  <a:schemeClr val="tx1"/>
                </a:solidFill>
                <a:ea typeface="+mn-ea"/>
                <a:cs typeface="+mn-cs"/>
              </a:rPr>
              <a:t> Texture</a:t>
            </a:r>
          </a:p>
          <a:p>
            <a:pPr lvl="1">
              <a:buFont typeface="Arial" pitchFamily="34" charset="0"/>
              <a:buChar char="•"/>
            </a:pPr>
            <a:r>
              <a:rPr lang="en-AU" sz="1200" kern="1200" dirty="0" smtClean="0">
                <a:solidFill>
                  <a:schemeClr val="tx1"/>
                </a:solidFill>
                <a:ea typeface="+mn-ea"/>
                <a:cs typeface="+mn-cs"/>
              </a:rPr>
              <a:t> Unit size</a:t>
            </a:r>
          </a:p>
          <a:p>
            <a:pPr lvl="1">
              <a:buFont typeface="Arial" pitchFamily="34" charset="0"/>
              <a:buChar char="•"/>
            </a:pPr>
            <a:r>
              <a:rPr lang="en-AU" sz="1200" kern="1200" dirty="0" smtClean="0">
                <a:solidFill>
                  <a:schemeClr val="tx1"/>
                </a:solidFill>
                <a:ea typeface="+mn-ea"/>
                <a:cs typeface="+mn-cs"/>
              </a:rPr>
              <a:t> Shape</a:t>
            </a:r>
          </a:p>
          <a:p>
            <a:pPr lvl="1">
              <a:buFont typeface="Arial" pitchFamily="34" charset="0"/>
              <a:buChar char="•"/>
            </a:pPr>
            <a:r>
              <a:rPr lang="en-AU" sz="1200" kern="1200" dirty="0" smtClean="0">
                <a:solidFill>
                  <a:schemeClr val="tx1"/>
                </a:solidFill>
                <a:ea typeface="+mn-ea"/>
                <a:cs typeface="+mn-cs"/>
              </a:rPr>
              <a:t> Thickness</a:t>
            </a:r>
          </a:p>
          <a:p>
            <a:pPr lvl="1">
              <a:buFont typeface="Arial" pitchFamily="34" charset="0"/>
              <a:buChar char="•"/>
            </a:pPr>
            <a:r>
              <a:rPr lang="en-AU" sz="1200" kern="1200" dirty="0" smtClean="0">
                <a:solidFill>
                  <a:schemeClr val="tx1"/>
                </a:solidFill>
                <a:ea typeface="+mn-ea"/>
                <a:cs typeface="+mn-cs"/>
              </a:rPr>
              <a:t> Trim </a:t>
            </a:r>
          </a:p>
          <a:p>
            <a:pPr lvl="1">
              <a:buFont typeface="Arial" pitchFamily="34" charset="0"/>
              <a:buChar char="•"/>
            </a:pPr>
            <a:r>
              <a:rPr lang="en-AU" sz="1200" kern="1200" dirty="0" smtClean="0">
                <a:solidFill>
                  <a:schemeClr val="tx1"/>
                </a:solidFill>
                <a:ea typeface="+mn-ea"/>
                <a:cs typeface="+mn-cs"/>
              </a:rPr>
              <a:t> Tolerances</a:t>
            </a:r>
          </a:p>
          <a:p>
            <a:pPr lvl="1">
              <a:buFont typeface="Arial" pitchFamily="34" charset="0"/>
              <a:buChar char="•"/>
            </a:pPr>
            <a:r>
              <a:rPr lang="en-AU" sz="1200" kern="1200" dirty="0" smtClean="0">
                <a:solidFill>
                  <a:schemeClr val="tx1"/>
                </a:solidFill>
                <a:ea typeface="+mn-ea"/>
                <a:cs typeface="+mn-cs"/>
              </a:rPr>
              <a:t> Grade</a:t>
            </a:r>
          </a:p>
          <a:p>
            <a:pPr lvl="1">
              <a:buFont typeface="Arial" pitchFamily="34" charset="0"/>
              <a:buChar char="•"/>
            </a:pPr>
            <a:r>
              <a:rPr lang="en-AU" sz="1200" kern="1200" dirty="0" smtClean="0">
                <a:solidFill>
                  <a:schemeClr val="tx1"/>
                </a:solidFill>
                <a:ea typeface="+mn-ea"/>
                <a:cs typeface="+mn-cs"/>
              </a:rPr>
              <a:t> Weight and yield data.</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food purchase specifications.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describing content of food purchase specifications:</a:t>
            </a:r>
          </a:p>
          <a:p>
            <a:pPr>
              <a:buFont typeface="Arial" pitchFamily="34" charset="0"/>
              <a:buChar char="•"/>
            </a:pPr>
            <a:r>
              <a:rPr lang="en-AU" sz="1200" kern="1200" dirty="0" smtClean="0">
                <a:solidFill>
                  <a:schemeClr val="tx1"/>
                </a:solidFill>
                <a:ea typeface="+mn-ea"/>
                <a:cs typeface="+mn-cs"/>
              </a:rPr>
              <a:t> Packing format – such as number of tins per carton; dimensions of cartons</a:t>
            </a:r>
          </a:p>
          <a:p>
            <a:pPr>
              <a:buFont typeface="Arial" pitchFamily="34" charset="0"/>
              <a:buChar char="•"/>
            </a:pPr>
            <a:r>
              <a:rPr lang="en-AU" sz="1200" kern="1200" dirty="0" smtClean="0">
                <a:solidFill>
                  <a:schemeClr val="tx1"/>
                </a:solidFill>
                <a:ea typeface="+mn-ea"/>
                <a:cs typeface="+mn-cs"/>
              </a:rPr>
              <a:t> Nutritional content/requirements</a:t>
            </a:r>
          </a:p>
          <a:p>
            <a:pPr>
              <a:buFont typeface="Arial" pitchFamily="34" charset="0"/>
              <a:buChar char="•"/>
            </a:pPr>
            <a:r>
              <a:rPr lang="en-AU" sz="1200" kern="1200" dirty="0" smtClean="0">
                <a:solidFill>
                  <a:schemeClr val="tx1"/>
                </a:solidFill>
                <a:ea typeface="+mn-ea"/>
                <a:cs typeface="+mn-cs"/>
              </a:rPr>
              <a:t> Required labelling data</a:t>
            </a:r>
          </a:p>
          <a:p>
            <a:pPr>
              <a:buFont typeface="Arial" pitchFamily="34" charset="0"/>
              <a:buChar char="•"/>
            </a:pPr>
            <a:r>
              <a:rPr lang="en-AU" sz="1200" kern="1200" dirty="0" smtClean="0">
                <a:solidFill>
                  <a:schemeClr val="tx1"/>
                </a:solidFill>
                <a:ea typeface="+mn-ea"/>
                <a:cs typeface="+mn-cs"/>
              </a:rPr>
              <a:t> Brand name – where applicable</a:t>
            </a:r>
          </a:p>
          <a:p>
            <a:pPr>
              <a:buFont typeface="Arial" pitchFamily="34" charset="0"/>
              <a:buChar char="•"/>
            </a:pPr>
            <a:r>
              <a:rPr lang="en-AU" sz="1200" kern="1200" dirty="0" smtClean="0">
                <a:solidFill>
                  <a:schemeClr val="tx1"/>
                </a:solidFill>
                <a:ea typeface="+mn-ea"/>
                <a:cs typeface="+mn-cs"/>
              </a:rPr>
              <a:t> Photograph or graphic/diagram of what is required</a:t>
            </a:r>
          </a:p>
          <a:p>
            <a:pPr>
              <a:buFont typeface="Arial" pitchFamily="34" charset="0"/>
              <a:buChar char="•"/>
            </a:pPr>
            <a:r>
              <a:rPr lang="en-AU" sz="1200" kern="1200" dirty="0" smtClean="0">
                <a:solidFill>
                  <a:schemeClr val="tx1"/>
                </a:solidFill>
                <a:ea typeface="+mn-ea"/>
                <a:cs typeface="+mn-cs"/>
              </a:rPr>
              <a:t> Variety – where applicable.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describing content of food purchase specifications:</a:t>
            </a:r>
          </a:p>
          <a:p>
            <a:pPr>
              <a:buFont typeface="Arial" pitchFamily="34" charset="0"/>
              <a:buChar char="•"/>
            </a:pPr>
            <a:r>
              <a:rPr lang="en-AU" sz="1200" kern="1200" dirty="0" smtClean="0">
                <a:solidFill>
                  <a:schemeClr val="tx1"/>
                </a:solidFill>
                <a:ea typeface="+mn-ea"/>
                <a:cs typeface="+mn-cs"/>
              </a:rPr>
              <a:t> Storage requirements</a:t>
            </a:r>
          </a:p>
          <a:p>
            <a:pPr>
              <a:buFont typeface="Arial" pitchFamily="34" charset="0"/>
              <a:buChar char="•"/>
            </a:pPr>
            <a:r>
              <a:rPr lang="en-AU" sz="1200" kern="1200" dirty="0" smtClean="0">
                <a:solidFill>
                  <a:schemeClr val="tx1"/>
                </a:solidFill>
                <a:ea typeface="+mn-ea"/>
                <a:cs typeface="+mn-cs"/>
              </a:rPr>
              <a:t> What the product/item is to be used for</a:t>
            </a:r>
          </a:p>
          <a:p>
            <a:pPr>
              <a:buFont typeface="Arial" pitchFamily="34" charset="0"/>
              <a:buChar char="•"/>
            </a:pPr>
            <a:r>
              <a:rPr lang="en-AU" sz="1200" kern="1200" dirty="0" smtClean="0">
                <a:solidFill>
                  <a:schemeClr val="tx1"/>
                </a:solidFill>
                <a:ea typeface="+mn-ea"/>
                <a:cs typeface="+mn-cs"/>
              </a:rPr>
              <a:t> Special instructions or requirements – this can relate to the delivery of the product, product sampling, product testing, and/or storage</a:t>
            </a:r>
          </a:p>
          <a:p>
            <a:pPr>
              <a:buFont typeface="Arial" pitchFamily="34" charset="0"/>
              <a:buChar char="•"/>
            </a:pPr>
            <a:r>
              <a:rPr lang="en-AU" sz="1200" kern="1200" dirty="0" smtClean="0">
                <a:solidFill>
                  <a:schemeClr val="tx1"/>
                </a:solidFill>
                <a:ea typeface="+mn-ea"/>
                <a:cs typeface="+mn-cs"/>
              </a:rPr>
              <a:t> Substitute product</a:t>
            </a:r>
          </a:p>
          <a:p>
            <a:pPr>
              <a:buFont typeface="Arial" pitchFamily="34" charset="0"/>
              <a:buChar char="•"/>
            </a:pPr>
            <a:r>
              <a:rPr lang="en-AU" sz="1200" kern="1200" dirty="0" smtClean="0">
                <a:solidFill>
                  <a:schemeClr val="tx1"/>
                </a:solidFill>
                <a:ea typeface="+mn-ea"/>
                <a:cs typeface="+mn-cs"/>
              </a:rPr>
              <a:t> Maximum cost price – per unit/item or other specified measure</a:t>
            </a:r>
          </a:p>
          <a:p>
            <a:pPr>
              <a:buFont typeface="Arial" pitchFamily="34" charset="0"/>
              <a:buChar char="•"/>
            </a:pPr>
            <a:r>
              <a:rPr lang="en-AU" sz="1200" kern="1200" dirty="0" smtClean="0">
                <a:solidFill>
                  <a:schemeClr val="tx1"/>
                </a:solidFill>
                <a:ea typeface="+mn-ea"/>
                <a:cs typeface="+mn-cs"/>
              </a:rPr>
              <a:t> Temperature at which item is to be delivered.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rPr>
              <a:t>http://www.google.com.au/search?q=photos+food+purchase+specifications&amp;rlz=1I7GGLL_en&amp;tbm=isch&amp;tbo=u&amp;source=univ&amp;sa=X&amp;ei=7JShUanCK7CSiQf82YHYCw&amp;ved=0CD0QsAQ&amp;biw=1024&amp;bih=630&amp;sei=9ZShUdTzCqvyiAep5oC4Aw</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http://www.hotelschool.cornell.edu/research/chr/pubs/reports/abstract-15779.html</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https://www.aibonline.org/researchandtechnical/services/foodlabeling/ExampleProductSpecificationSheet.pdf</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http://learning.covcollege.ac.uk/content/NLN/Catering,_Food,_Leisure_Services,_Tourism/Hotel,_Catering_(General)/act_NA11_purchasing/150a_purchase_spec.htm</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http://www.nfsmi.org/documentlibraryfiles/PDF/20080208045545.pdf</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Write a food</a:t>
            </a:r>
            <a:r>
              <a:rPr lang="en-US" b="0" baseline="0" dirty="0" smtClean="0"/>
              <a:t> purchase specification for a nominated food item.</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production sheets/work schedules:</a:t>
            </a:r>
          </a:p>
          <a:p>
            <a:pPr>
              <a:buFont typeface="Arial" pitchFamily="34" charset="0"/>
              <a:buChar char="•"/>
            </a:pPr>
            <a:r>
              <a:rPr lang="en-AU" sz="1200" kern="1200" dirty="0" smtClean="0">
                <a:solidFill>
                  <a:schemeClr val="tx1"/>
                </a:solidFill>
                <a:ea typeface="+mn-ea"/>
                <a:cs typeface="+mn-cs"/>
              </a:rPr>
              <a:t> Not all venues/kitchens use production sheets/work schedules and where they are used there is a significant variation in the format and the information they contain</a:t>
            </a:r>
          </a:p>
          <a:p>
            <a:pPr>
              <a:buFont typeface="Arial" pitchFamily="34" charset="0"/>
              <a:buChar char="•"/>
            </a:pPr>
            <a:r>
              <a:rPr lang="en-AU" sz="1200" kern="1200" dirty="0" smtClean="0">
                <a:solidFill>
                  <a:schemeClr val="tx1"/>
                </a:solidFill>
                <a:ea typeface="+mn-ea"/>
                <a:cs typeface="+mn-cs"/>
              </a:rPr>
              <a:t> If/where they are used they should be prepared daily for each food production/service session</a:t>
            </a:r>
          </a:p>
          <a:p>
            <a:pPr>
              <a:buFont typeface="Arial" pitchFamily="34" charset="0"/>
              <a:buChar char="•"/>
            </a:pPr>
            <a:r>
              <a:rPr lang="en-AU" sz="1200" kern="1200" dirty="0" smtClean="0">
                <a:solidFill>
                  <a:schemeClr val="tx1"/>
                </a:solidFill>
                <a:ea typeface="+mn-ea"/>
                <a:cs typeface="+mn-cs"/>
              </a:rPr>
              <a:t> In brief, a production sheet/work schedule sets food production targets for the session.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Exercise</a:t>
            </a:r>
          </a:p>
          <a:p>
            <a:pPr>
              <a:buFont typeface="Arial" pitchFamily="34" charset="0"/>
              <a:buNone/>
            </a:pPr>
            <a:r>
              <a:rPr lang="en-US" dirty="0" smtClean="0"/>
              <a:t>Prepare a production sheet/work schedule for a given menu,</a:t>
            </a:r>
            <a:r>
              <a:rPr lang="en-US" baseline="0" dirty="0" smtClean="0"/>
              <a:t> and nominated other parameters (expected demand, timing, kitchen equipment, roster).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a:t>
            </a:r>
            <a:r>
              <a:rPr lang="en-AU" sz="1200" kern="1200" dirty="0" smtClean="0">
                <a:solidFill>
                  <a:schemeClr val="tx1"/>
                </a:solidFill>
                <a:ea typeface="+mn-ea"/>
                <a:cs typeface="+mn-cs"/>
              </a:rPr>
              <a:t> production sheet/work schedule identifies for each session/day:</a:t>
            </a:r>
          </a:p>
          <a:p>
            <a:pPr>
              <a:buFont typeface="Arial" pitchFamily="34" charset="0"/>
              <a:buChar char="•"/>
            </a:pPr>
            <a:r>
              <a:rPr lang="en-AU" sz="1200" kern="1200" dirty="0" smtClean="0">
                <a:solidFill>
                  <a:schemeClr val="tx1"/>
                </a:solidFill>
                <a:ea typeface="+mn-ea"/>
                <a:cs typeface="+mn-cs"/>
              </a:rPr>
              <a:t> Menu items (by name) which have to be prepared – identification may address (depending on the format of the sheet/ schedule):</a:t>
            </a:r>
          </a:p>
          <a:p>
            <a:pPr lvl="1">
              <a:buFont typeface="Arial" pitchFamily="34" charset="0"/>
              <a:buChar char="•"/>
            </a:pPr>
            <a:r>
              <a:rPr lang="en-AU" sz="1200" kern="1200" dirty="0" smtClean="0">
                <a:solidFill>
                  <a:schemeClr val="tx1"/>
                </a:solidFill>
                <a:ea typeface="+mn-ea"/>
                <a:cs typeface="+mn-cs"/>
              </a:rPr>
              <a:t> Mise en place requirements</a:t>
            </a:r>
          </a:p>
          <a:p>
            <a:pPr lvl="1">
              <a:buFont typeface="Arial" pitchFamily="34" charset="0"/>
              <a:buChar char="•"/>
            </a:pPr>
            <a:r>
              <a:rPr lang="en-AU" sz="1200" kern="1200" dirty="0" smtClean="0">
                <a:solidFill>
                  <a:schemeClr val="tx1"/>
                </a:solidFill>
                <a:ea typeface="+mn-ea"/>
                <a:cs typeface="+mn-cs"/>
              </a:rPr>
              <a:t> Finished products</a:t>
            </a:r>
          </a:p>
          <a:p>
            <a:pPr lvl="2">
              <a:buFont typeface="Arial" pitchFamily="34" charset="0"/>
              <a:buChar char="•"/>
            </a:pPr>
            <a:r>
              <a:rPr lang="en-AU" sz="1200" kern="1200" dirty="0" smtClean="0">
                <a:solidFill>
                  <a:schemeClr val="tx1"/>
                </a:solidFill>
                <a:ea typeface="+mn-ea"/>
                <a:cs typeface="+mn-cs"/>
              </a:rPr>
              <a:t> Every menu item listed should have a corresponding standard recipe. </a:t>
            </a:r>
          </a:p>
          <a:p>
            <a:pPr lvl="2">
              <a:buFont typeface="Arial" pitchFamily="34" charset="0"/>
              <a:buChar char="•"/>
            </a:pPr>
            <a:r>
              <a:rPr lang="en-AU" sz="1200" kern="1200" dirty="0" smtClean="0">
                <a:solidFill>
                  <a:schemeClr val="tx1"/>
                </a:solidFill>
                <a:ea typeface="+mn-ea"/>
                <a:cs typeface="+mn-cs"/>
              </a:rPr>
              <a:t> Some operators will attach a copy of these standard recipes to the production sheet/work schedule when distributing them to staff</a:t>
            </a:r>
          </a:p>
          <a:p>
            <a:pPr>
              <a:buFont typeface="Arial" pitchFamily="34" charset="0"/>
              <a:buChar char="•"/>
            </a:pPr>
            <a:r>
              <a:rPr lang="en-AU" sz="1200" kern="1200" dirty="0" smtClean="0">
                <a:solidFill>
                  <a:schemeClr val="tx1"/>
                </a:solidFill>
                <a:ea typeface="+mn-ea"/>
                <a:cs typeface="+mn-cs"/>
              </a:rPr>
              <a:t> Quantity to be produced</a:t>
            </a:r>
          </a:p>
          <a:p>
            <a:pPr>
              <a:buFont typeface="Arial" pitchFamily="34" charset="0"/>
              <a:buChar char="•"/>
            </a:pPr>
            <a:r>
              <a:rPr lang="en-AU" sz="1200" kern="1200" dirty="0" smtClean="0">
                <a:solidFill>
                  <a:schemeClr val="tx1"/>
                </a:solidFill>
                <a:ea typeface="+mn-ea"/>
                <a:cs typeface="+mn-cs"/>
              </a:rPr>
              <a:t> The kitchen section responsible for the work to be done</a:t>
            </a:r>
          </a:p>
          <a:p>
            <a:pPr>
              <a:buFont typeface="Arial" pitchFamily="34" charset="0"/>
              <a:buChar char="•"/>
            </a:pPr>
            <a:r>
              <a:rPr lang="en-AU" sz="1200" kern="1200" dirty="0" smtClean="0">
                <a:solidFill>
                  <a:schemeClr val="tx1"/>
                </a:solidFill>
                <a:ea typeface="+mn-ea"/>
                <a:cs typeface="+mn-cs"/>
              </a:rPr>
              <a:t> Start time for preparation/production</a:t>
            </a:r>
          </a:p>
          <a:p>
            <a:pPr>
              <a:buFont typeface="Arial" pitchFamily="34" charset="0"/>
              <a:buChar char="•"/>
            </a:pPr>
            <a:r>
              <a:rPr lang="en-AU" sz="1200" kern="1200" dirty="0" smtClean="0">
                <a:solidFill>
                  <a:schemeClr val="tx1"/>
                </a:solidFill>
                <a:ea typeface="+mn-ea"/>
                <a:cs typeface="+mn-cs"/>
              </a:rPr>
              <a:t> Time each menu item is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sample </a:t>
            </a:r>
            <a:r>
              <a:rPr lang="en-AU" sz="1200" kern="1200" dirty="0" smtClean="0">
                <a:solidFill>
                  <a:schemeClr val="tx1"/>
                </a:solidFill>
                <a:ea typeface="+mn-ea"/>
                <a:cs typeface="+mn-cs"/>
              </a:rPr>
              <a:t>production sheets/work schedules.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production sheets/work schedules are used to:</a:t>
            </a:r>
          </a:p>
          <a:p>
            <a:pPr>
              <a:buFont typeface="Arial" pitchFamily="34" charset="0"/>
              <a:buChar char="•"/>
            </a:pPr>
            <a:r>
              <a:rPr lang="en-AU" sz="1200" kern="1200" dirty="0" smtClean="0">
                <a:solidFill>
                  <a:schemeClr val="tx1"/>
                </a:solidFill>
                <a:ea typeface="+mn-ea"/>
                <a:cs typeface="+mn-cs"/>
              </a:rPr>
              <a:t> Force management/chefs to plan the production of food – so attention is paid to ensuring all identified requirements are met</a:t>
            </a:r>
          </a:p>
          <a:p>
            <a:pPr>
              <a:buFont typeface="Arial" pitchFamily="34" charset="0"/>
              <a:buChar char="•"/>
            </a:pPr>
            <a:r>
              <a:rPr lang="en-AU" sz="1200" kern="1200" dirty="0" smtClean="0">
                <a:solidFill>
                  <a:schemeClr val="tx1"/>
                </a:solidFill>
                <a:ea typeface="+mn-ea"/>
                <a:cs typeface="+mn-cs"/>
              </a:rPr>
              <a:t> Provide a basis for ordering food required – ensuring food orders only reflect identified need thereby avoiding over-ordering of unnecessary ingredients</a:t>
            </a:r>
          </a:p>
          <a:p>
            <a:pPr>
              <a:buFont typeface="Arial" pitchFamily="34" charset="0"/>
              <a:buChar char="•"/>
            </a:pPr>
            <a:r>
              <a:rPr lang="en-AU" sz="1200" kern="1200" dirty="0" smtClean="0">
                <a:solidFill>
                  <a:schemeClr val="tx1"/>
                </a:solidFill>
                <a:ea typeface="+mn-ea"/>
                <a:cs typeface="+mn-cs"/>
              </a:rPr>
              <a:t> Assist the communication between management/chefs and other kitchen staff – by providing certainty about what is required through the use of paper-based directions</a:t>
            </a:r>
          </a:p>
          <a:p>
            <a:pPr lvl="1">
              <a:buFont typeface="Arial" pitchFamily="34" charset="0"/>
              <a:buChar char="•"/>
            </a:pPr>
            <a:r>
              <a:rPr lang="en-AU" sz="1200" kern="1200" dirty="0" smtClean="0">
                <a:solidFill>
                  <a:schemeClr val="tx1"/>
                </a:solidFill>
                <a:ea typeface="+mn-ea"/>
                <a:cs typeface="+mn-cs"/>
              </a:rPr>
              <a:t> The production sheet/work schedule is distributed and discussed at the staff briefing at the start of each shift/session</a:t>
            </a:r>
          </a:p>
          <a:p>
            <a:pPr>
              <a:buFont typeface="Arial" pitchFamily="34" charset="0"/>
              <a:buChar char="•"/>
            </a:pPr>
            <a:r>
              <a:rPr lang="en-AU" sz="1200" kern="1200" dirty="0" smtClean="0">
                <a:solidFill>
                  <a:schemeClr val="tx1"/>
                </a:solidFill>
                <a:ea typeface="+mn-ea"/>
                <a:cs typeface="+mn-cs"/>
              </a:rPr>
              <a:t> Form a vital element of developing work flow sheets for each food production sessions/shifts</a:t>
            </a:r>
          </a:p>
          <a:p>
            <a:pPr>
              <a:buFont typeface="Arial" pitchFamily="34" charset="0"/>
              <a:buChar char="•"/>
            </a:pPr>
            <a:r>
              <a:rPr lang="en-AU" sz="1200" kern="1200" dirty="0" smtClean="0">
                <a:solidFill>
                  <a:schemeClr val="tx1"/>
                </a:solidFill>
                <a:ea typeface="+mn-ea"/>
                <a:cs typeface="+mn-cs"/>
              </a:rPr>
              <a:t> Guide and control the production of food:</a:t>
            </a:r>
          </a:p>
          <a:p>
            <a:pPr lvl="1">
              <a:buFont typeface="Arial" pitchFamily="34" charset="0"/>
              <a:buChar char="•"/>
            </a:pPr>
            <a:r>
              <a:rPr lang="en-AU" sz="1200" kern="1200" dirty="0" smtClean="0">
                <a:solidFill>
                  <a:schemeClr val="tx1"/>
                </a:solidFill>
                <a:ea typeface="+mn-ea"/>
                <a:cs typeface="+mn-cs"/>
              </a:rPr>
              <a:t> For immediate service/consumption</a:t>
            </a:r>
          </a:p>
          <a:p>
            <a:pPr lvl="1">
              <a:buFont typeface="Arial" pitchFamily="34" charset="0"/>
              <a:buChar char="•"/>
            </a:pPr>
            <a:r>
              <a:rPr lang="en-AU" sz="1200" kern="1200" dirty="0" smtClean="0">
                <a:solidFill>
                  <a:schemeClr val="tx1"/>
                </a:solidFill>
                <a:ea typeface="+mn-ea"/>
                <a:cs typeface="+mn-cs"/>
              </a:rPr>
              <a:t> Which is to be refrigerated or frozen for later use/re-thermalisation.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rPr>
              <a:t>http://books.google.com.au/books?id=ohMwXgsCcaQC&amp;pg=PT172&amp;lpg=PT172&amp;dq=define:+production+sheet%2Bkitchen&amp;source=bl&amp;ots=IbN5U2tE3-&amp;sig=0ydAkAv0cP9MCSA_rJoa7Evi0qs&amp;hl=en&amp;sa=X&amp;ei=aKWiUdnhBejOiAfbu4CoCA&amp;ved=0CDMQ6AEwAQ</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preparing &amp; producing food items for food service by asking questions such as:</a:t>
            </a:r>
          </a:p>
          <a:p>
            <a:pPr>
              <a:buFont typeface="Arial" pitchFamily="34" charset="0"/>
              <a:buChar char="•"/>
            </a:pPr>
            <a:r>
              <a:rPr lang="en-US" dirty="0" smtClean="0"/>
              <a:t> What is meant in a kitchen by the term ‘work flow’</a:t>
            </a:r>
            <a:r>
              <a:rPr lang="en-US" baseline="0" dirty="0" smtClean="0"/>
              <a:t>?</a:t>
            </a:r>
          </a:p>
          <a:p>
            <a:pPr>
              <a:buFont typeface="Arial" pitchFamily="34" charset="0"/>
              <a:buChar char="•"/>
            </a:pPr>
            <a:r>
              <a:rPr lang="en-US" baseline="0" dirty="0" smtClean="0"/>
              <a:t> Why is it important to identify and plan work flow?</a:t>
            </a:r>
          </a:p>
          <a:p>
            <a:pPr>
              <a:buFont typeface="Arial" pitchFamily="34" charset="0"/>
              <a:buChar char="•"/>
            </a:pPr>
            <a:r>
              <a:rPr lang="en-US" baseline="0" dirty="0" smtClean="0"/>
              <a:t> What factors impact on identifying and planning work flow?</a:t>
            </a:r>
          </a:p>
          <a:p>
            <a:pPr>
              <a:buFont typeface="Arial" pitchFamily="34" charset="0"/>
              <a:buChar char="•"/>
            </a:pPr>
            <a:r>
              <a:rPr lang="en-US" dirty="0" smtClean="0"/>
              <a:t> What is meant in a kitchen by the term ‘production team’?</a:t>
            </a:r>
          </a:p>
          <a:p>
            <a:pPr>
              <a:buFont typeface="Arial" pitchFamily="34" charset="0"/>
              <a:buChar char="•"/>
            </a:pPr>
            <a:r>
              <a:rPr lang="en-US" dirty="0" smtClean="0"/>
              <a:t> Why would you need to communicate with the ‘production team’ when preparing to produce food items?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highlights </a:t>
            </a:r>
            <a:r>
              <a:rPr lang="en-AU" sz="1200" kern="1200" dirty="0" smtClean="0">
                <a:solidFill>
                  <a:schemeClr val="tx1"/>
                </a:solidFill>
                <a:ea typeface="+mn-ea"/>
                <a:cs typeface="+mn-cs"/>
              </a:rPr>
              <a:t>actual preparation and production of food items for a service session should be based on planning explaining</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 work flow sheet/work plan is an action plan for the session and is:</a:t>
            </a:r>
          </a:p>
          <a:p>
            <a:pPr>
              <a:buFont typeface="Arial" pitchFamily="34" charset="0"/>
              <a:buChar char="•"/>
            </a:pPr>
            <a:r>
              <a:rPr lang="en-AU" sz="1200" kern="1200" dirty="0" smtClean="0">
                <a:solidFill>
                  <a:schemeClr val="tx1"/>
                </a:solidFill>
                <a:ea typeface="+mn-ea"/>
                <a:cs typeface="+mn-cs"/>
              </a:rPr>
              <a:t> A sequential list of all the tasks which need to be done for a specific food production/service session</a:t>
            </a:r>
          </a:p>
          <a:p>
            <a:pPr>
              <a:buFont typeface="Arial" pitchFamily="34" charset="0"/>
              <a:buChar char="•"/>
            </a:pPr>
            <a:r>
              <a:rPr lang="en-AU" sz="1200" kern="1200" dirty="0" smtClean="0">
                <a:solidFill>
                  <a:schemeClr val="tx1"/>
                </a:solidFill>
                <a:ea typeface="+mn-ea"/>
                <a:cs typeface="+mn-cs"/>
              </a:rPr>
              <a:t> A series of timelines identifying when activities should start and the time they need to be completed in order to achieve the required outcomes for the session</a:t>
            </a:r>
          </a:p>
          <a:p>
            <a:pPr>
              <a:buFont typeface="Arial" pitchFamily="34" charset="0"/>
              <a:buChar char="•"/>
            </a:pPr>
            <a:r>
              <a:rPr lang="en-AU" sz="1200" kern="1200" dirty="0" smtClean="0">
                <a:solidFill>
                  <a:schemeClr val="tx1"/>
                </a:solidFill>
                <a:ea typeface="+mn-ea"/>
                <a:cs typeface="+mn-cs"/>
              </a:rPr>
              <a:t> An allocation of tasks/work to individual staff and/or sections</a:t>
            </a:r>
          </a:p>
          <a:p>
            <a:pPr>
              <a:buFont typeface="Arial" pitchFamily="34" charset="0"/>
              <a:buChar char="•"/>
            </a:pPr>
            <a:r>
              <a:rPr lang="en-AU" sz="1200" kern="1200" dirty="0" smtClean="0">
                <a:solidFill>
                  <a:schemeClr val="tx1"/>
                </a:solidFill>
                <a:ea typeface="+mn-ea"/>
                <a:cs typeface="+mn-cs"/>
              </a:rPr>
              <a:t> Work flow sheets are often referred to as ‘work plans’</a:t>
            </a:r>
          </a:p>
          <a:p>
            <a:pPr>
              <a:buFont typeface="Arial" pitchFamily="34" charset="0"/>
              <a:buChar char="•"/>
            </a:pPr>
            <a:r>
              <a:rPr lang="en-AU" sz="1200" kern="1200" dirty="0" smtClean="0">
                <a:solidFill>
                  <a:schemeClr val="tx1"/>
                </a:solidFill>
                <a:ea typeface="+mn-ea"/>
                <a:cs typeface="+mn-cs"/>
              </a:rPr>
              <a:t> Not all kitchens prepare or use work flow sheets/work plans</a:t>
            </a:r>
          </a:p>
          <a:p>
            <a:pPr lvl="1">
              <a:buFont typeface="Arial" pitchFamily="34" charset="0"/>
              <a:buChar char="•"/>
            </a:pPr>
            <a:r>
              <a:rPr lang="en-AU" sz="1200" kern="1200" dirty="0" smtClean="0">
                <a:solidFill>
                  <a:schemeClr val="tx1"/>
                </a:solidFill>
                <a:ea typeface="+mn-ea"/>
                <a:cs typeface="+mn-cs"/>
              </a:rPr>
              <a:t> Some kitchens operate effectively on the basis of verbal advice/instructions given to staff by the Head Chef at a staff briefing prior to the commencement of work.</a:t>
            </a:r>
          </a:p>
          <a:p>
            <a:pPr>
              <a:buFont typeface="Arial" pitchFamily="34" charset="0"/>
              <a:buNone/>
            </a:pPr>
            <a:endParaRPr lang="en-US" dirty="0" smtClean="0"/>
          </a:p>
          <a:p>
            <a:pPr>
              <a:buFont typeface="Arial" pitchFamily="34" charset="0"/>
              <a:buNone/>
            </a:pPr>
            <a:r>
              <a:rPr lang="en-US" b="1" dirty="0" smtClean="0"/>
              <a:t>Class Activity – Handout </a:t>
            </a:r>
          </a:p>
          <a:p>
            <a:pPr>
              <a:buFont typeface="Arial" pitchFamily="34" charset="0"/>
              <a:buNone/>
            </a:pPr>
            <a:r>
              <a:rPr lang="en-US" b="0" dirty="0" smtClean="0"/>
              <a:t>Trainer distributes and discusses examples</a:t>
            </a:r>
            <a:r>
              <a:rPr lang="en-US" b="0" baseline="0" dirty="0" smtClean="0"/>
              <a:t> of </a:t>
            </a:r>
            <a:r>
              <a:rPr lang="en-AU" sz="1200" kern="1200" dirty="0" smtClean="0">
                <a:solidFill>
                  <a:schemeClr val="tx1"/>
                </a:solidFill>
                <a:ea typeface="+mn-ea"/>
                <a:cs typeface="+mn-cs"/>
              </a:rPr>
              <a:t>work flow sheets/work plans.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states kitchens </a:t>
            </a:r>
            <a:r>
              <a:rPr lang="en-AU" sz="1200" kern="1200" dirty="0" smtClean="0">
                <a:solidFill>
                  <a:schemeClr val="tx1"/>
                </a:solidFill>
                <a:ea typeface="+mn-ea"/>
                <a:cs typeface="+mn-cs"/>
              </a:rPr>
              <a:t>develop work flow sheets/work plans to:</a:t>
            </a:r>
          </a:p>
          <a:p>
            <a:pPr>
              <a:buFont typeface="Arial" pitchFamily="34" charset="0"/>
              <a:buChar char="•"/>
            </a:pPr>
            <a:r>
              <a:rPr lang="en-AU" sz="1200" kern="1200" dirty="0" smtClean="0">
                <a:solidFill>
                  <a:schemeClr val="tx1"/>
                </a:solidFill>
                <a:ea typeface="+mn-ea"/>
                <a:cs typeface="+mn-cs"/>
              </a:rPr>
              <a:t> Help ensure all necessary food preparation and production work for a service session can be completed as required to enable timely food service</a:t>
            </a:r>
          </a:p>
          <a:p>
            <a:pPr>
              <a:buFont typeface="Arial" pitchFamily="34" charset="0"/>
              <a:buChar char="•"/>
            </a:pPr>
            <a:r>
              <a:rPr lang="en-AU" sz="1200" kern="1200" dirty="0" smtClean="0">
                <a:solidFill>
                  <a:schemeClr val="tx1"/>
                </a:solidFill>
                <a:ea typeface="+mn-ea"/>
                <a:cs typeface="+mn-cs"/>
              </a:rPr>
              <a:t> Integrate the wide variety of kitchen activities into a cohesive whole</a:t>
            </a:r>
          </a:p>
          <a:p>
            <a:pPr>
              <a:buFont typeface="Arial" pitchFamily="34" charset="0"/>
              <a:buChar char="•"/>
            </a:pPr>
            <a:r>
              <a:rPr lang="en-AU" sz="1200" kern="1200" dirty="0" smtClean="0">
                <a:solidFill>
                  <a:schemeClr val="tx1"/>
                </a:solidFill>
                <a:ea typeface="+mn-ea"/>
                <a:cs typeface="+mn-cs"/>
              </a:rPr>
              <a:t> Allocate work to nominated kitchen sections and/or employees</a:t>
            </a:r>
          </a:p>
          <a:p>
            <a:pPr>
              <a:buFont typeface="Arial" pitchFamily="34" charset="0"/>
              <a:buChar char="•"/>
            </a:pPr>
            <a:r>
              <a:rPr lang="en-AU" sz="1200" kern="1200" dirty="0" smtClean="0">
                <a:solidFill>
                  <a:schemeClr val="tx1"/>
                </a:solidFill>
                <a:ea typeface="+mn-ea"/>
                <a:cs typeface="+mn-cs"/>
              </a:rPr>
              <a:t> Optimise efficiency and productivity.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continues stating kitchens </a:t>
            </a:r>
            <a:r>
              <a:rPr lang="en-AU" sz="1200" kern="1200" dirty="0" smtClean="0">
                <a:solidFill>
                  <a:schemeClr val="tx1"/>
                </a:solidFill>
                <a:ea typeface="+mn-ea"/>
                <a:cs typeface="+mn-cs"/>
              </a:rPr>
              <a:t>develop work flow sheets/work plans to:</a:t>
            </a:r>
          </a:p>
          <a:p>
            <a:pPr>
              <a:buFont typeface="Arial" pitchFamily="34" charset="0"/>
              <a:buChar char="•"/>
            </a:pPr>
            <a:r>
              <a:rPr lang="en-AU" sz="1200" kern="1200" dirty="0" smtClean="0">
                <a:solidFill>
                  <a:schemeClr val="tx1"/>
                </a:solidFill>
                <a:ea typeface="+mn-ea"/>
                <a:cs typeface="+mn-cs"/>
              </a:rPr>
              <a:t> Schedule and prioritise work necessary to achieve the required outcomes for the session</a:t>
            </a:r>
          </a:p>
          <a:p>
            <a:pPr>
              <a:buFont typeface="Arial" pitchFamily="34" charset="0"/>
              <a:buChar char="•"/>
            </a:pPr>
            <a:r>
              <a:rPr lang="en-AU" sz="1200" kern="1200" dirty="0" smtClean="0">
                <a:solidFill>
                  <a:schemeClr val="tx1"/>
                </a:solidFill>
                <a:ea typeface="+mn-ea"/>
                <a:cs typeface="+mn-cs"/>
              </a:rPr>
              <a:t> Verify the required work can be completed in the time available</a:t>
            </a:r>
          </a:p>
          <a:p>
            <a:pPr>
              <a:buFont typeface="Arial" pitchFamily="34" charset="0"/>
              <a:buChar char="•"/>
            </a:pPr>
            <a:r>
              <a:rPr lang="en-AU" sz="1200" kern="1200" dirty="0" smtClean="0">
                <a:solidFill>
                  <a:schemeClr val="tx1"/>
                </a:solidFill>
                <a:ea typeface="+mn-ea"/>
                <a:cs typeface="+mn-cs"/>
              </a:rPr>
              <a:t> Identify potential problems with timing and sequencing of food preparation and production activities and requirements.</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advises </a:t>
            </a:r>
            <a:r>
              <a:rPr lang="en-AU" sz="1200" kern="1200" dirty="0" smtClean="0">
                <a:solidFill>
                  <a:schemeClr val="tx1"/>
                </a:solidFill>
                <a:ea typeface="+mn-ea"/>
                <a:cs typeface="+mn-cs"/>
              </a:rPr>
              <a:t>where work flow sheets/work plans are prepared the following factors should be considered:</a:t>
            </a:r>
          </a:p>
          <a:p>
            <a:pPr>
              <a:buFont typeface="Arial" pitchFamily="34" charset="0"/>
              <a:buChar char="•"/>
            </a:pPr>
            <a:r>
              <a:rPr lang="en-AU" sz="1200" kern="1200" dirty="0" smtClean="0">
                <a:solidFill>
                  <a:schemeClr val="tx1"/>
                </a:solidFill>
                <a:ea typeface="+mn-ea"/>
                <a:cs typeface="+mn-cs"/>
              </a:rPr>
              <a:t> Watch more experienced staff prepare work flow sheets before you prepare your first examples – ask them why they planned the way they did and what they took to account</a:t>
            </a:r>
          </a:p>
          <a:p>
            <a:pPr lvl="1">
              <a:buFont typeface="Arial" pitchFamily="34" charset="0"/>
              <a:buChar char="•"/>
            </a:pPr>
            <a:r>
              <a:rPr lang="en-AU" sz="1200" kern="1200" dirty="0" smtClean="0">
                <a:solidFill>
                  <a:schemeClr val="tx1"/>
                </a:solidFill>
                <a:ea typeface="+mn-ea"/>
                <a:cs typeface="+mn-cs"/>
              </a:rPr>
              <a:t> Learn from their experience, and ask them to review your initial attempts</a:t>
            </a:r>
          </a:p>
          <a:p>
            <a:pPr>
              <a:buFont typeface="Arial" pitchFamily="34" charset="0"/>
              <a:buChar char="•"/>
            </a:pPr>
            <a:r>
              <a:rPr lang="en-AU" sz="1200" kern="1200" dirty="0" smtClean="0">
                <a:solidFill>
                  <a:schemeClr val="tx1"/>
                </a:solidFill>
                <a:ea typeface="+mn-ea"/>
                <a:cs typeface="+mn-cs"/>
              </a:rPr>
              <a:t> You should prepare the sheets by ‘working backwards’ – that is, you begin with the service times for dishes/meals and calculate the time needed to prepare/produce menu items working backwards to determine when tasks need to commence in order to complete work ‘on time’</a:t>
            </a:r>
          </a:p>
          <a:p>
            <a:pPr>
              <a:buFont typeface="Arial" pitchFamily="34" charset="0"/>
              <a:buChar char="•"/>
            </a:pPr>
            <a:r>
              <a:rPr lang="en-AU" sz="1200" kern="1200" dirty="0" smtClean="0">
                <a:solidFill>
                  <a:schemeClr val="tx1"/>
                </a:solidFill>
                <a:ea typeface="+mn-ea"/>
                <a:cs typeface="+mn-cs"/>
              </a:rPr>
              <a:t> All components of all dishes listed on the menu for the session must be covered by the plan/work flow sheet – this includes preparation of freshly made/cooked food as well as re-constitution/re-heating of previously cooked food (see ‘production sheets/work schedules’</a:t>
            </a:r>
            <a:r>
              <a:rPr lang="en-AU" sz="1200" kern="1200" baseline="0" dirty="0" smtClean="0">
                <a:solidFill>
                  <a:schemeClr val="tx1"/>
                </a:solidFill>
                <a:ea typeface="+mn-ea"/>
                <a:cs typeface="+mn-cs"/>
              </a:rPr>
              <a:t> on later slides</a:t>
            </a:r>
            <a:r>
              <a:rPr lang="en-AU" sz="1200" kern="1200" dirty="0" smtClean="0">
                <a:solidFill>
                  <a:schemeClr val="tx1"/>
                </a:solidFill>
                <a:ea typeface="+mn-ea"/>
                <a:cs typeface="+mn-cs"/>
              </a:rPr>
              <a:t>)</a:t>
            </a:r>
          </a:p>
          <a:p>
            <a:pPr>
              <a:buFont typeface="Arial" pitchFamily="34" charset="0"/>
              <a:buChar char="•"/>
            </a:pPr>
            <a:r>
              <a:rPr lang="en-AU" sz="1200" kern="1200" dirty="0" smtClean="0">
                <a:solidFill>
                  <a:schemeClr val="tx1"/>
                </a:solidFill>
                <a:ea typeface="+mn-ea"/>
                <a:cs typeface="+mn-cs"/>
              </a:rPr>
              <a:t> Realise you will rarely create a viable work flow sheet on your first attempt – effective work flow sheets are usually the result of many drafts and revisions/fine tuning.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continues advising </a:t>
            </a:r>
            <a:r>
              <a:rPr lang="en-AU" sz="1200" kern="1200" dirty="0" smtClean="0">
                <a:solidFill>
                  <a:schemeClr val="tx1"/>
                </a:solidFill>
                <a:ea typeface="+mn-ea"/>
                <a:cs typeface="+mn-cs"/>
              </a:rPr>
              <a:t>where work flow sheets/work plans are prepared the following factors should be considered:</a:t>
            </a:r>
          </a:p>
          <a:p>
            <a:pPr>
              <a:buFont typeface="Arial" pitchFamily="34" charset="0"/>
              <a:buChar char="•"/>
            </a:pPr>
            <a:r>
              <a:rPr lang="en-AU" sz="1200" kern="1200" dirty="0" smtClean="0">
                <a:solidFill>
                  <a:schemeClr val="tx1"/>
                </a:solidFill>
                <a:ea typeface="+mn-ea"/>
                <a:cs typeface="+mn-cs"/>
              </a:rPr>
              <a:t> The venue may have a standard template for developing work flow sheets – or they may be created ‘free-hand’</a:t>
            </a:r>
          </a:p>
          <a:p>
            <a:pPr>
              <a:buFont typeface="Arial" pitchFamily="34" charset="0"/>
              <a:buChar char="•"/>
            </a:pPr>
            <a:r>
              <a:rPr lang="en-AU" sz="1200" kern="1200" dirty="0" smtClean="0">
                <a:solidFill>
                  <a:schemeClr val="tx1"/>
                </a:solidFill>
                <a:ea typeface="+mn-ea"/>
                <a:cs typeface="+mn-cs"/>
              </a:rPr>
              <a:t> The roster for the service session must form the basis of the work flow sheet – development of the work flow sheet may indicate the need for more labour but this can only occur with management approval/if there will be no adverse impact on labour cost percentages </a:t>
            </a:r>
          </a:p>
          <a:p>
            <a:pPr>
              <a:buFont typeface="Arial" pitchFamily="34" charset="0"/>
              <a:buChar char="•"/>
            </a:pPr>
            <a:r>
              <a:rPr lang="en-AU" sz="1200" kern="1200" dirty="0" smtClean="0">
                <a:solidFill>
                  <a:schemeClr val="tx1"/>
                </a:solidFill>
                <a:ea typeface="+mn-ea"/>
                <a:cs typeface="+mn-cs"/>
              </a:rPr>
              <a:t> Identified roles and responsibilities of staff and sections together with known experience and expertise must be the basis of allocating work</a:t>
            </a:r>
          </a:p>
          <a:p>
            <a:pPr>
              <a:buFont typeface="Arial" pitchFamily="34" charset="0"/>
              <a:buChar char="•"/>
            </a:pPr>
            <a:r>
              <a:rPr lang="en-AU" sz="1200" kern="1200" dirty="0" smtClean="0">
                <a:solidFill>
                  <a:schemeClr val="tx1"/>
                </a:solidFill>
                <a:ea typeface="+mn-ea"/>
                <a:cs typeface="+mn-cs"/>
              </a:rPr>
              <a:t> They should be distributed to/shared with staff – prior to work commencing, at the staff briefing</a:t>
            </a:r>
          </a:p>
          <a:p>
            <a:pPr>
              <a:buFont typeface="Arial" pitchFamily="34" charset="0"/>
              <a:buChar char="•"/>
            </a:pPr>
            <a:r>
              <a:rPr lang="en-AU" sz="1200" kern="1200" dirty="0" smtClean="0">
                <a:solidFill>
                  <a:schemeClr val="tx1"/>
                </a:solidFill>
                <a:ea typeface="+mn-ea"/>
                <a:cs typeface="+mn-cs"/>
              </a:rPr>
              <a:t> Use your experience with previous work flow sheets you have developed (‘lessons learned’) to assist with the preparation of subsequent sheets.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continues advising </a:t>
            </a:r>
            <a:r>
              <a:rPr lang="en-AU" sz="1200" kern="1200" dirty="0" smtClean="0">
                <a:solidFill>
                  <a:schemeClr val="tx1"/>
                </a:solidFill>
                <a:ea typeface="+mn-ea"/>
                <a:cs typeface="+mn-cs"/>
              </a:rPr>
              <a:t>where work flow sheets/work plans are prepared the following factors should be considered:</a:t>
            </a:r>
          </a:p>
          <a:p>
            <a:pPr>
              <a:buFont typeface="Arial" pitchFamily="34" charset="0"/>
              <a:buChar char="•"/>
            </a:pPr>
            <a:r>
              <a:rPr lang="en-AU" sz="1200" kern="1200" dirty="0" smtClean="0">
                <a:solidFill>
                  <a:schemeClr val="tx1"/>
                </a:solidFill>
                <a:ea typeface="+mn-ea"/>
                <a:cs typeface="+mn-cs"/>
              </a:rPr>
              <a:t> Develop every work flow sheet so as to:</a:t>
            </a:r>
          </a:p>
          <a:p>
            <a:pPr lvl="1">
              <a:buFont typeface="Arial" pitchFamily="34" charset="0"/>
              <a:buChar char="•"/>
            </a:pPr>
            <a:r>
              <a:rPr lang="en-AU" sz="1200" kern="1200" dirty="0" smtClean="0">
                <a:solidFill>
                  <a:schemeClr val="tx1"/>
                </a:solidFill>
                <a:ea typeface="+mn-ea"/>
                <a:cs typeface="+mn-cs"/>
              </a:rPr>
              <a:t> Meet the needs of the individual/up-coming session – you have to take into account factors that apply to each session: it is inadvisable to try to create </a:t>
            </a:r>
            <a:r>
              <a:rPr lang="en-AU" sz="1200" i="1" kern="1200" dirty="0" smtClean="0">
                <a:solidFill>
                  <a:schemeClr val="tx1"/>
                </a:solidFill>
                <a:ea typeface="+mn-ea"/>
                <a:cs typeface="+mn-cs"/>
              </a:rPr>
              <a:t>generic</a:t>
            </a:r>
            <a:r>
              <a:rPr lang="en-AU" sz="1200" kern="1200" dirty="0" smtClean="0">
                <a:solidFill>
                  <a:schemeClr val="tx1"/>
                </a:solidFill>
                <a:ea typeface="+mn-ea"/>
                <a:cs typeface="+mn-cs"/>
              </a:rPr>
              <a:t> work flow sheet </a:t>
            </a:r>
          </a:p>
          <a:p>
            <a:pPr lvl="1">
              <a:buFont typeface="Arial" pitchFamily="34" charset="0"/>
              <a:buChar char="•"/>
            </a:pPr>
            <a:r>
              <a:rPr lang="en-AU" sz="1200" kern="1200" dirty="0" smtClean="0">
                <a:solidFill>
                  <a:schemeClr val="tx1"/>
                </a:solidFill>
                <a:ea typeface="+mn-ea"/>
                <a:cs typeface="+mn-cs"/>
              </a:rPr>
              <a:t> Avoid production bottle-necks – that is: </a:t>
            </a:r>
          </a:p>
          <a:p>
            <a:pPr lvl="2">
              <a:buFont typeface="Arial" pitchFamily="34" charset="0"/>
              <a:buChar char="•"/>
            </a:pPr>
            <a:r>
              <a:rPr lang="en-AU" sz="1200" kern="1200" dirty="0" smtClean="0">
                <a:solidFill>
                  <a:schemeClr val="tx1"/>
                </a:solidFill>
                <a:ea typeface="+mn-ea"/>
                <a:cs typeface="+mn-cs"/>
              </a:rPr>
              <a:t> Do not over-load individual staff or sections</a:t>
            </a:r>
          </a:p>
          <a:p>
            <a:pPr lvl="2">
              <a:buFont typeface="Arial" pitchFamily="34" charset="0"/>
              <a:buChar char="•"/>
            </a:pPr>
            <a:r>
              <a:rPr lang="en-AU" sz="1200" kern="1200" dirty="0" smtClean="0">
                <a:solidFill>
                  <a:schemeClr val="tx1"/>
                </a:solidFill>
                <a:ea typeface="+mn-ea"/>
                <a:cs typeface="+mn-cs"/>
              </a:rPr>
              <a:t> Avoid placing too much demand at the one time on the one item of equipment </a:t>
            </a:r>
          </a:p>
          <a:p>
            <a:pPr lvl="1">
              <a:buFont typeface="Arial" pitchFamily="34" charset="0"/>
              <a:buChar char="•"/>
            </a:pPr>
            <a:r>
              <a:rPr lang="en-AU" sz="1200" kern="1200" dirty="0" smtClean="0">
                <a:solidFill>
                  <a:schemeClr val="tx1"/>
                </a:solidFill>
                <a:ea typeface="+mn-ea"/>
                <a:cs typeface="+mn-cs"/>
              </a:rPr>
              <a:t> Identify the resources to be used/available for each task – in terms of (for example):</a:t>
            </a:r>
          </a:p>
          <a:p>
            <a:pPr lvl="2">
              <a:buFont typeface="Arial" pitchFamily="34" charset="0"/>
              <a:buChar char="•"/>
            </a:pPr>
            <a:r>
              <a:rPr lang="en-AU" sz="1200" kern="1200" dirty="0" smtClean="0">
                <a:solidFill>
                  <a:schemeClr val="tx1"/>
                </a:solidFill>
                <a:ea typeface="+mn-ea"/>
                <a:cs typeface="+mn-cs"/>
              </a:rPr>
              <a:t> Staff</a:t>
            </a:r>
          </a:p>
          <a:p>
            <a:pPr lvl="2">
              <a:buFont typeface="Arial" pitchFamily="34" charset="0"/>
              <a:buChar char="•"/>
            </a:pPr>
            <a:r>
              <a:rPr lang="en-AU" sz="1200" kern="1200" dirty="0" smtClean="0">
                <a:solidFill>
                  <a:schemeClr val="tx1"/>
                </a:solidFill>
                <a:ea typeface="+mn-ea"/>
                <a:cs typeface="+mn-cs"/>
              </a:rPr>
              <a:t> Equipment</a:t>
            </a:r>
          </a:p>
          <a:p>
            <a:pPr lvl="2">
              <a:buFont typeface="Arial" pitchFamily="34" charset="0"/>
              <a:buChar char="•"/>
            </a:pPr>
            <a:r>
              <a:rPr lang="en-AU" sz="1200" kern="1200" dirty="0" smtClean="0">
                <a:solidFill>
                  <a:schemeClr val="tx1"/>
                </a:solidFill>
                <a:ea typeface="+mn-ea"/>
                <a:cs typeface="+mn-cs"/>
              </a:rPr>
              <a:t> Recipes</a:t>
            </a:r>
          </a:p>
          <a:p>
            <a:pPr lvl="1">
              <a:buFont typeface="Arial" pitchFamily="34" charset="0"/>
              <a:buChar char="•"/>
            </a:pPr>
            <a:r>
              <a:rPr lang="en-AU" sz="1200" kern="1200" dirty="0" smtClean="0">
                <a:solidFill>
                  <a:schemeClr val="tx1"/>
                </a:solidFill>
                <a:ea typeface="+mn-ea"/>
                <a:cs typeface="+mn-cs"/>
              </a:rPr>
              <a:t> Include/specify constraints or required parameters which apply to the activity – such as (for example):</a:t>
            </a:r>
          </a:p>
          <a:p>
            <a:pPr lvl="2">
              <a:buFont typeface="Arial" pitchFamily="34" charset="0"/>
              <a:buChar char="•"/>
            </a:pPr>
            <a:r>
              <a:rPr lang="en-AU" sz="1200" kern="1200" dirty="0" smtClean="0">
                <a:solidFill>
                  <a:schemeClr val="tx1"/>
                </a:solidFill>
                <a:ea typeface="+mn-ea"/>
                <a:cs typeface="+mn-cs"/>
              </a:rPr>
              <a:t> Time</a:t>
            </a:r>
          </a:p>
          <a:p>
            <a:pPr lvl="2">
              <a:buFont typeface="Arial" pitchFamily="34" charset="0"/>
              <a:buChar char="•"/>
            </a:pPr>
            <a:r>
              <a:rPr lang="en-AU" sz="1200" kern="1200" dirty="0" smtClean="0">
                <a:solidFill>
                  <a:schemeClr val="tx1"/>
                </a:solidFill>
                <a:ea typeface="+mn-ea"/>
                <a:cs typeface="+mn-cs"/>
              </a:rPr>
              <a:t> Special requests/requirements – to cater for nominated dietary, cultural, religious or other lifestyle food preferences</a:t>
            </a:r>
          </a:p>
          <a:p>
            <a:pPr>
              <a:buFont typeface="Arial" pitchFamily="34" charset="0"/>
              <a:buChar char="•"/>
            </a:pPr>
            <a:r>
              <a:rPr lang="en-AU" sz="1200" kern="1200" dirty="0" smtClean="0">
                <a:solidFill>
                  <a:schemeClr val="tx1"/>
                </a:solidFill>
                <a:ea typeface="+mn-ea"/>
                <a:cs typeface="+mn-cs"/>
              </a:rPr>
              <a:t> File all work flow sheets – so they are available for future reference.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states </a:t>
            </a:r>
            <a:r>
              <a:rPr lang="en-AU" sz="1200" kern="1200" dirty="0" smtClean="0">
                <a:solidFill>
                  <a:schemeClr val="tx1"/>
                </a:solidFill>
                <a:ea typeface="+mn-ea"/>
                <a:cs typeface="+mn-cs"/>
              </a:rPr>
              <a:t>effective communication is a vital pre-requisite in any successful kitchen highlighting</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the ‘Production team’ is:</a:t>
            </a:r>
          </a:p>
          <a:p>
            <a:pPr>
              <a:buFont typeface="Arial" pitchFamily="34" charset="0"/>
              <a:buChar char="•"/>
            </a:pPr>
            <a:r>
              <a:rPr lang="en-AU" sz="1200" kern="1200" dirty="0" smtClean="0">
                <a:solidFill>
                  <a:schemeClr val="tx1"/>
                </a:solidFill>
                <a:ea typeface="+mn-ea"/>
                <a:cs typeface="+mn-cs"/>
              </a:rPr>
              <a:t> Anyone involved in preparing, producing and plating food </a:t>
            </a:r>
          </a:p>
          <a:p>
            <a:pPr>
              <a:buFont typeface="Arial" pitchFamily="34" charset="0"/>
              <a:buNone/>
            </a:pPr>
            <a:r>
              <a:rPr lang="en-AU" sz="1200" kern="1200" dirty="0" smtClean="0">
                <a:solidFill>
                  <a:schemeClr val="tx1"/>
                </a:solidFill>
                <a:ea typeface="+mn-ea"/>
                <a:cs typeface="+mn-cs"/>
              </a:rPr>
              <a:t>as well as those who support those activities such as staff engaged in:</a:t>
            </a:r>
          </a:p>
          <a:p>
            <a:pPr lvl="1">
              <a:buFont typeface="Arial" pitchFamily="34" charset="0"/>
              <a:buChar char="•"/>
            </a:pPr>
            <a:r>
              <a:rPr lang="en-AU" sz="1200" kern="1200" dirty="0" smtClean="0">
                <a:solidFill>
                  <a:schemeClr val="tx1"/>
                </a:solidFill>
                <a:ea typeface="+mn-ea"/>
                <a:cs typeface="+mn-cs"/>
              </a:rPr>
              <a:t> Purchasing, receiving, storing and issuing food – such as storemen and those who order and receive food and fill internal requisitions</a:t>
            </a:r>
          </a:p>
          <a:p>
            <a:pPr lvl="1">
              <a:buFont typeface="Arial" pitchFamily="34" charset="0"/>
              <a:buChar char="•"/>
            </a:pPr>
            <a:r>
              <a:rPr lang="en-AU" sz="1200" kern="1200" dirty="0" smtClean="0">
                <a:solidFill>
                  <a:schemeClr val="tx1"/>
                </a:solidFill>
                <a:ea typeface="+mn-ea"/>
                <a:cs typeface="+mn-cs"/>
              </a:rPr>
              <a:t> Cleaning – food areas and equipment</a:t>
            </a:r>
          </a:p>
          <a:p>
            <a:pPr lvl="1">
              <a:buFont typeface="Arial" pitchFamily="34" charset="0"/>
              <a:buChar char="•"/>
            </a:pPr>
            <a:r>
              <a:rPr lang="en-AU" sz="1200" kern="1200" dirty="0" smtClean="0">
                <a:solidFill>
                  <a:schemeClr val="tx1"/>
                </a:solidFill>
                <a:ea typeface="+mn-ea"/>
                <a:cs typeface="+mn-cs"/>
              </a:rPr>
              <a:t> Washing – crockery, cutlery, pots and pans.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says in</a:t>
            </a:r>
            <a:r>
              <a:rPr lang="en-AU" sz="1200" kern="1200" dirty="0" smtClean="0">
                <a:solidFill>
                  <a:schemeClr val="tx1"/>
                </a:solidFill>
                <a:ea typeface="+mn-ea"/>
                <a:cs typeface="+mn-cs"/>
              </a:rPr>
              <a:t> a kitchen there is a need for scheduled communication and on-going communication.</a:t>
            </a:r>
          </a:p>
          <a:p>
            <a:r>
              <a:rPr lang="en-AU" sz="1200" b="1" kern="1200" dirty="0" smtClean="0">
                <a:solidFill>
                  <a:schemeClr val="tx1"/>
                </a:solidFill>
                <a:ea typeface="+mn-ea"/>
                <a:cs typeface="+mn-cs"/>
              </a:rPr>
              <a:t>Scheduled communication </a:t>
            </a:r>
          </a:p>
          <a:p>
            <a:pPr>
              <a:buFont typeface="Arial" pitchFamily="34" charset="0"/>
              <a:buChar char="•"/>
            </a:pPr>
            <a:r>
              <a:rPr lang="en-AU" sz="1200" kern="1200" dirty="0" smtClean="0">
                <a:solidFill>
                  <a:schemeClr val="tx1"/>
                </a:solidFill>
                <a:ea typeface="+mn-ea"/>
                <a:cs typeface="+mn-cs"/>
              </a:rPr>
              <a:t> Is regular communication such as:</a:t>
            </a:r>
          </a:p>
          <a:p>
            <a:pPr lvl="1">
              <a:buFont typeface="Arial" pitchFamily="34" charset="0"/>
              <a:buChar char="•"/>
            </a:pPr>
            <a:r>
              <a:rPr lang="en-AU" sz="1200" kern="1200" dirty="0" smtClean="0">
                <a:solidFill>
                  <a:schemeClr val="tx1"/>
                </a:solidFill>
                <a:ea typeface="+mn-ea"/>
                <a:cs typeface="+mn-cs"/>
              </a:rPr>
              <a:t> Briefings with staff – before work/shifts commence</a:t>
            </a:r>
          </a:p>
          <a:p>
            <a:pPr lvl="1">
              <a:buFont typeface="Arial" pitchFamily="34" charset="0"/>
              <a:buChar char="•"/>
            </a:pPr>
            <a:r>
              <a:rPr lang="en-AU" sz="1200" kern="1200" dirty="0" smtClean="0">
                <a:solidFill>
                  <a:schemeClr val="tx1"/>
                </a:solidFill>
                <a:ea typeface="+mn-ea"/>
                <a:cs typeface="+mn-cs"/>
              </a:rPr>
              <a:t> De-briefings with staff – after the service/production session</a:t>
            </a:r>
          </a:p>
          <a:p>
            <a:pPr lvl="1">
              <a:buFont typeface="Arial" pitchFamily="34" charset="0"/>
              <a:buChar char="•"/>
            </a:pPr>
            <a:r>
              <a:rPr lang="en-AU" sz="1200" kern="1200" dirty="0" smtClean="0">
                <a:solidFill>
                  <a:schemeClr val="tx1"/>
                </a:solidFill>
                <a:ea typeface="+mn-ea"/>
                <a:cs typeface="+mn-cs"/>
              </a:rPr>
              <a:t> Staff meetings – weekly/monthly ‘all of staff’ sessions.</a:t>
            </a:r>
          </a:p>
          <a:p>
            <a:r>
              <a:rPr lang="en-AU" sz="1200" b="1" kern="1200" dirty="0" smtClean="0">
                <a:solidFill>
                  <a:schemeClr val="tx1"/>
                </a:solidFill>
                <a:ea typeface="+mn-ea"/>
                <a:cs typeface="+mn-cs"/>
              </a:rPr>
              <a:t>On-going communication </a:t>
            </a:r>
          </a:p>
          <a:p>
            <a:pPr>
              <a:buFont typeface="Arial" pitchFamily="34" charset="0"/>
              <a:buChar char="•"/>
            </a:pPr>
            <a:r>
              <a:rPr lang="en-AU" sz="1200" kern="1200" dirty="0" smtClean="0">
                <a:solidFill>
                  <a:schemeClr val="tx1"/>
                </a:solidFill>
                <a:ea typeface="+mn-ea"/>
                <a:cs typeface="+mn-cs"/>
              </a:rPr>
              <a:t> Occurs during the shift/session and may involve:</a:t>
            </a:r>
          </a:p>
          <a:p>
            <a:pPr>
              <a:buFont typeface="Arial" pitchFamily="34" charset="0"/>
              <a:buChar char="•"/>
            </a:pPr>
            <a:r>
              <a:rPr lang="en-AU" sz="1200" kern="1200" dirty="0" smtClean="0">
                <a:solidFill>
                  <a:schemeClr val="tx1"/>
                </a:solidFill>
                <a:ea typeface="+mn-ea"/>
                <a:cs typeface="+mn-cs"/>
              </a:rPr>
              <a:t> Up-dates regarding changes to plans/requirements previously notified – due to (for example) unexpected demand, equipment breakdown or changes to arrangements requested by customers</a:t>
            </a:r>
          </a:p>
          <a:p>
            <a:pPr>
              <a:buFont typeface="Arial" pitchFamily="34" charset="0"/>
              <a:buChar char="•"/>
            </a:pPr>
            <a:r>
              <a:rPr lang="en-AU" sz="1200" kern="1200" dirty="0" smtClean="0">
                <a:solidFill>
                  <a:schemeClr val="tx1"/>
                </a:solidFill>
                <a:ea typeface="+mn-ea"/>
                <a:cs typeface="+mn-cs"/>
              </a:rPr>
              <a:t> On-the-job coaching – to provide practical training</a:t>
            </a:r>
          </a:p>
          <a:p>
            <a:pPr>
              <a:buFont typeface="Arial" pitchFamily="34" charset="0"/>
              <a:buChar char="•"/>
            </a:pPr>
            <a:r>
              <a:rPr lang="en-AU" sz="1200" kern="1200" dirty="0" smtClean="0">
                <a:solidFill>
                  <a:schemeClr val="tx1"/>
                </a:solidFill>
                <a:ea typeface="+mn-ea"/>
                <a:cs typeface="+mn-cs"/>
              </a:rPr>
              <a:t> General supervisory/management activities – such as responding to questions, monitoring work, providing advice, guidance and direction  </a:t>
            </a:r>
          </a:p>
          <a:p>
            <a:pPr>
              <a:buFont typeface="Arial" pitchFamily="34" charset="0"/>
              <a:buChar char="•"/>
            </a:pPr>
            <a:r>
              <a:rPr lang="en-AU" sz="1200" kern="1200" dirty="0" smtClean="0">
                <a:solidFill>
                  <a:schemeClr val="tx1"/>
                </a:solidFill>
                <a:ea typeface="+mn-ea"/>
                <a:cs typeface="+mn-cs"/>
              </a:rPr>
              <a:t> Feedback – about progress, work which has been competed and customer satisfaction levels (‘complaints and compliments’)</a:t>
            </a:r>
          </a:p>
          <a:p>
            <a:pPr>
              <a:buFont typeface="Arial" pitchFamily="34" charset="0"/>
              <a:buChar char="•"/>
            </a:pPr>
            <a:r>
              <a:rPr lang="en-AU" sz="1200" kern="1200" dirty="0" smtClean="0">
                <a:solidFill>
                  <a:schemeClr val="tx1"/>
                </a:solidFill>
                <a:ea typeface="+mn-ea"/>
                <a:cs typeface="+mn-cs"/>
              </a:rPr>
              <a:t> Recognition for work which has been done – thanking and acknowledging staff for the job they have done.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Guest Speaker (such as Head Chef from local kitchen) to attend and:</a:t>
            </a:r>
          </a:p>
          <a:p>
            <a:pPr>
              <a:buFont typeface="Arial" pitchFamily="34" charset="0"/>
              <a:buChar char="•"/>
            </a:pPr>
            <a:r>
              <a:rPr lang="en-US" b="0" dirty="0" smtClean="0"/>
              <a:t> Explain composition of their ‘production team’</a:t>
            </a:r>
          </a:p>
          <a:p>
            <a:pPr>
              <a:buFont typeface="Arial" pitchFamily="34" charset="0"/>
              <a:buChar char="•"/>
            </a:pPr>
            <a:r>
              <a:rPr lang="en-US" b="0" dirty="0" smtClean="0"/>
              <a:t> Discuss development</a:t>
            </a:r>
            <a:r>
              <a:rPr lang="en-US" b="0" baseline="0" dirty="0" smtClean="0"/>
              <a:t> of work plans</a:t>
            </a:r>
          </a:p>
          <a:p>
            <a:pPr>
              <a:buFont typeface="Arial" pitchFamily="34" charset="0"/>
              <a:buChar char="•"/>
            </a:pPr>
            <a:r>
              <a:rPr lang="en-US" b="0" baseline="0" dirty="0" smtClean="0"/>
              <a:t> Describe importance of work plans</a:t>
            </a:r>
          </a:p>
          <a:p>
            <a:pPr>
              <a:buFont typeface="Arial" pitchFamily="34" charset="0"/>
              <a:buChar char="•"/>
            </a:pPr>
            <a:r>
              <a:rPr lang="en-US" b="0" baseline="0" dirty="0" smtClean="0"/>
              <a:t> Talk about kitchen communication – when and how it occurs; why it is necessary</a:t>
            </a:r>
          </a:p>
          <a:p>
            <a:pPr>
              <a:buFont typeface="Arial" pitchFamily="34" charset="0"/>
              <a:buChar char="•"/>
            </a:pPr>
            <a:r>
              <a:rPr lang="en-US" b="0" baseline="0" dirty="0" smtClean="0"/>
              <a:t> Provide examples of work plans and written communications.</a:t>
            </a: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explains in </a:t>
            </a:r>
            <a:r>
              <a:rPr lang="en-AU" sz="1200" kern="1200" dirty="0" smtClean="0">
                <a:solidFill>
                  <a:schemeClr val="tx1"/>
                </a:solidFill>
                <a:ea typeface="+mn-ea"/>
                <a:cs typeface="+mn-cs"/>
              </a:rPr>
              <a:t>the kitchen two types of communication are commonly used – written communication, and verbal communication.</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Written communication </a:t>
            </a:r>
          </a:p>
          <a:p>
            <a:pPr>
              <a:buFont typeface="Arial" pitchFamily="34" charset="0"/>
              <a:buNone/>
            </a:pPr>
            <a:r>
              <a:rPr lang="en-AU" sz="1200" kern="1200" dirty="0" smtClean="0">
                <a:solidFill>
                  <a:schemeClr val="tx1"/>
                </a:solidFill>
                <a:ea typeface="+mn-ea"/>
                <a:cs typeface="+mn-cs"/>
              </a:rPr>
              <a:t>Written communication includes paper-based and electronic information:</a:t>
            </a:r>
          </a:p>
          <a:p>
            <a:pPr>
              <a:buFont typeface="Arial" pitchFamily="34" charset="0"/>
              <a:buChar char="•"/>
            </a:pPr>
            <a:r>
              <a:rPr lang="en-AU" sz="1200" kern="1200" dirty="0" smtClean="0">
                <a:solidFill>
                  <a:schemeClr val="tx1"/>
                </a:solidFill>
                <a:ea typeface="+mn-ea"/>
                <a:cs typeface="+mn-cs"/>
              </a:rPr>
              <a:t> SOPs/work instructions – setting out procedures and protocols </a:t>
            </a:r>
          </a:p>
          <a:p>
            <a:pPr>
              <a:buFont typeface="Arial" pitchFamily="34" charset="0"/>
              <a:buChar char="•"/>
            </a:pPr>
            <a:r>
              <a:rPr lang="en-AU" sz="1200" kern="1200" dirty="0" smtClean="0">
                <a:solidFill>
                  <a:schemeClr val="tx1"/>
                </a:solidFill>
                <a:ea typeface="+mn-ea"/>
                <a:cs typeface="+mn-cs"/>
              </a:rPr>
              <a:t> Checklists</a:t>
            </a:r>
          </a:p>
          <a:p>
            <a:pPr>
              <a:buFont typeface="Arial" pitchFamily="34" charset="0"/>
              <a:buChar char="•"/>
            </a:pPr>
            <a:r>
              <a:rPr lang="en-AU" sz="1200" kern="1200" dirty="0" smtClean="0">
                <a:solidFill>
                  <a:schemeClr val="tx1"/>
                </a:solidFill>
                <a:ea typeface="+mn-ea"/>
                <a:cs typeface="+mn-cs"/>
              </a:rPr>
              <a:t> Production sheets/work schedules</a:t>
            </a:r>
          </a:p>
          <a:p>
            <a:pPr>
              <a:buFont typeface="Arial" pitchFamily="34" charset="0"/>
              <a:buChar char="•"/>
            </a:pPr>
            <a:r>
              <a:rPr lang="en-AU" sz="1200" kern="1200" dirty="0" smtClean="0">
                <a:solidFill>
                  <a:schemeClr val="tx1"/>
                </a:solidFill>
                <a:ea typeface="+mn-ea"/>
                <a:cs typeface="+mn-cs"/>
              </a:rPr>
              <a:t> Rosters and time sheets</a:t>
            </a:r>
          </a:p>
          <a:p>
            <a:pPr>
              <a:buFont typeface="Arial" pitchFamily="34" charset="0"/>
              <a:buChar char="•"/>
            </a:pPr>
            <a:r>
              <a:rPr lang="en-AU" sz="1200" kern="1200" dirty="0" smtClean="0">
                <a:solidFill>
                  <a:schemeClr val="tx1"/>
                </a:solidFill>
                <a:ea typeface="+mn-ea"/>
                <a:cs typeface="+mn-cs"/>
              </a:rPr>
              <a:t> Work flow sheets</a:t>
            </a:r>
          </a:p>
          <a:p>
            <a:pPr>
              <a:buFont typeface="Arial" pitchFamily="34" charset="0"/>
              <a:buChar char="•"/>
            </a:pPr>
            <a:r>
              <a:rPr lang="en-AU" sz="1200" kern="1200" dirty="0" smtClean="0">
                <a:solidFill>
                  <a:schemeClr val="tx1"/>
                </a:solidFill>
                <a:ea typeface="+mn-ea"/>
                <a:cs typeface="+mn-cs"/>
              </a:rPr>
              <a:t> Standard recipes</a:t>
            </a:r>
          </a:p>
          <a:p>
            <a:pPr>
              <a:buFont typeface="Arial" pitchFamily="34" charset="0"/>
              <a:buChar char="•"/>
            </a:pPr>
            <a:r>
              <a:rPr lang="en-AU" sz="1200" kern="1200" dirty="0" smtClean="0">
                <a:solidFill>
                  <a:schemeClr val="tx1"/>
                </a:solidFill>
                <a:ea typeface="+mn-ea"/>
                <a:cs typeface="+mn-cs"/>
              </a:rPr>
              <a:t> Food purchasing specifications.</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Verbal communication </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ea typeface="+mn-ea"/>
                <a:cs typeface="+mn-cs"/>
              </a:rPr>
              <a:t>Verbal communication 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Spoken language (directions, advice, orders, questions and other) supplemented by body language/non-verbal communication</a:t>
            </a:r>
          </a:p>
          <a:p>
            <a:pPr lvl="1">
              <a:buFont typeface="Arial" pitchFamily="34" charset="0"/>
              <a:buChar char="•"/>
            </a:pPr>
            <a:r>
              <a:rPr lang="en-AU" sz="1200" kern="1200" dirty="0" smtClean="0">
                <a:solidFill>
                  <a:schemeClr val="tx1"/>
                </a:solidFill>
                <a:ea typeface="+mn-ea"/>
                <a:cs typeface="+mn-cs"/>
              </a:rPr>
              <a:t> The fact the kitchen can often be a noisy and hectic environment has given rise to the use of a range of hand signals to support and/or replace verbal communication in some instances.</a:t>
            </a:r>
            <a:endParaRPr lang="en-US" dirty="0" smtClean="0"/>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a range of written</a:t>
            </a:r>
            <a:r>
              <a:rPr lang="en-US" b="0" baseline="0" dirty="0" smtClean="0"/>
              <a:t> communications used in the kitchen.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states in </a:t>
            </a:r>
            <a:r>
              <a:rPr lang="en-AU" sz="1200" kern="1200" dirty="0" smtClean="0">
                <a:solidFill>
                  <a:schemeClr val="tx1"/>
                </a:solidFill>
                <a:ea typeface="+mn-ea"/>
                <a:cs typeface="+mn-cs"/>
              </a:rPr>
              <a:t>relation to communication it is vital to realise the following important points:</a:t>
            </a:r>
          </a:p>
          <a:p>
            <a:pPr>
              <a:buFont typeface="Arial" pitchFamily="34" charset="0"/>
              <a:buChar char="•"/>
            </a:pPr>
            <a:r>
              <a:rPr lang="en-AU" sz="1200" kern="1200" dirty="0" smtClean="0">
                <a:solidFill>
                  <a:schemeClr val="tx1"/>
                </a:solidFill>
                <a:ea typeface="+mn-ea"/>
                <a:cs typeface="+mn-cs"/>
              </a:rPr>
              <a:t> Communication is a two-way process – ‘feedback’ is the critical element that completes the communication process by turning a monologue into a dialogue:</a:t>
            </a:r>
          </a:p>
          <a:p>
            <a:pPr lvl="1">
              <a:buFont typeface="Arial" pitchFamily="34" charset="0"/>
              <a:buChar char="•"/>
            </a:pPr>
            <a:r>
              <a:rPr lang="en-AU" sz="1200" kern="1200" dirty="0" smtClean="0">
                <a:solidFill>
                  <a:schemeClr val="tx1"/>
                </a:solidFill>
                <a:ea typeface="+mn-ea"/>
                <a:cs typeface="+mn-cs"/>
              </a:rPr>
              <a:t> Just because you have spoken to a staff member does not mean they have heard you – or will respond as you want or expect them to</a:t>
            </a:r>
          </a:p>
          <a:p>
            <a:pPr lvl="1">
              <a:buFont typeface="Arial" pitchFamily="34" charset="0"/>
              <a:buChar char="•"/>
            </a:pPr>
            <a:r>
              <a:rPr lang="en-AU" sz="1200" kern="1200" dirty="0" smtClean="0">
                <a:solidFill>
                  <a:schemeClr val="tx1"/>
                </a:solidFill>
                <a:ea typeface="+mn-ea"/>
                <a:cs typeface="+mn-cs"/>
              </a:rPr>
              <a:t> Just because you have given staff written information does not mean they have read it or understood it – or will implement what is required</a:t>
            </a:r>
          </a:p>
          <a:p>
            <a:pPr>
              <a:buFont typeface="Arial" pitchFamily="34" charset="0"/>
              <a:buChar char="•"/>
            </a:pPr>
            <a:r>
              <a:rPr lang="en-AU" sz="1200" kern="1200" dirty="0" smtClean="0">
                <a:solidFill>
                  <a:schemeClr val="tx1"/>
                </a:solidFill>
                <a:ea typeface="+mn-ea"/>
                <a:cs typeface="+mn-cs"/>
              </a:rPr>
              <a:t> There is a need to create a working environment where there is free, open, honest and timely communication – this is the single biggest challenge facing all kitchens</a:t>
            </a:r>
          </a:p>
          <a:p>
            <a:pPr>
              <a:buFont typeface="Arial" pitchFamily="34" charset="0"/>
              <a:buChar char="•"/>
            </a:pPr>
            <a:r>
              <a:rPr lang="en-AU" sz="1200" kern="1200" dirty="0" smtClean="0">
                <a:solidFill>
                  <a:schemeClr val="tx1"/>
                </a:solidFill>
                <a:ea typeface="+mn-ea"/>
                <a:cs typeface="+mn-cs"/>
              </a:rPr>
              <a:t> Many staff need to be encouraged to communicate because they are unfamiliar and/or uncomfortable with a work situation where their opinion is valued or actively sought</a:t>
            </a:r>
          </a:p>
          <a:p>
            <a:pPr>
              <a:buFont typeface="Arial" pitchFamily="34" charset="0"/>
              <a:buChar char="•"/>
            </a:pPr>
            <a:r>
              <a:rPr lang="en-AU" sz="1200" kern="1200" dirty="0" smtClean="0">
                <a:solidFill>
                  <a:schemeClr val="tx1"/>
                </a:solidFill>
                <a:ea typeface="+mn-ea"/>
                <a:cs typeface="+mn-cs"/>
              </a:rPr>
              <a:t> Many kitchens employ workers from different language backgrounds and with varying levels of language skills – not all staff will necessarily speak your language or the same language</a:t>
            </a:r>
          </a:p>
          <a:p>
            <a:pPr>
              <a:buFont typeface="Arial" pitchFamily="34" charset="0"/>
              <a:buChar char="•"/>
            </a:pPr>
            <a:r>
              <a:rPr lang="en-AU" sz="1200" kern="1200" dirty="0" smtClean="0">
                <a:solidFill>
                  <a:schemeClr val="tx1"/>
                </a:solidFill>
                <a:ea typeface="+mn-ea"/>
                <a:cs typeface="+mn-cs"/>
              </a:rPr>
              <a:t> Written communication may need to be provided in more than one language</a:t>
            </a:r>
          </a:p>
          <a:p>
            <a:pPr>
              <a:buFont typeface="Arial" pitchFamily="34" charset="0"/>
              <a:buChar char="•"/>
            </a:pPr>
            <a:r>
              <a:rPr lang="en-AU" sz="1200" kern="1200" dirty="0" smtClean="0">
                <a:solidFill>
                  <a:schemeClr val="tx1"/>
                </a:solidFill>
                <a:ea typeface="+mn-ea"/>
                <a:cs typeface="+mn-cs"/>
              </a:rPr>
              <a:t> Verbal communication may need to be given in different languages for it to have optimal effectiveness</a:t>
            </a:r>
          </a:p>
          <a:p>
            <a:pPr>
              <a:buFont typeface="Arial" pitchFamily="34" charset="0"/>
              <a:buChar char="•"/>
            </a:pPr>
            <a:r>
              <a:rPr lang="en-AU" sz="1200" kern="1200" dirty="0" smtClean="0">
                <a:solidFill>
                  <a:schemeClr val="tx1"/>
                </a:solidFill>
                <a:ea typeface="+mn-ea"/>
                <a:cs typeface="+mn-cs"/>
              </a:rPr>
              <a:t> There are often barriers to communication (other than language) in the kitchen and these must be accommodated – examples include noise, distraction of work, need to concentrate on tasks, workers blocking views.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r>
              <a:rPr lang="en-AU" sz="1200" u="sng" kern="1200" dirty="0" smtClean="0">
                <a:solidFill>
                  <a:schemeClr val="tx1"/>
                </a:solidFill>
                <a:ea typeface="+mn-ea"/>
                <a:cs typeface="+mn-cs"/>
              </a:rPr>
              <a:t>http://smallbusiness.chron.com/examples-communicate-kitchen-38303.html</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http://thestudentmenu.com/how-communication-works-in-a-restaurant-kitchen/</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http://www.chef2chef.net/culinary-student-blogs/communication-breakdown.html</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notes in</a:t>
            </a:r>
            <a:r>
              <a:rPr lang="en-AU" sz="1200" kern="1200" dirty="0" smtClean="0">
                <a:solidFill>
                  <a:schemeClr val="tx1"/>
                </a:solidFill>
                <a:ea typeface="+mn-ea"/>
                <a:cs typeface="+mn-cs"/>
              </a:rPr>
              <a:t> a kitchen environment communication will often relate to:</a:t>
            </a:r>
          </a:p>
          <a:p>
            <a:pPr>
              <a:buFont typeface="Arial" pitchFamily="34" charset="0"/>
              <a:buChar char="•"/>
            </a:pPr>
            <a:r>
              <a:rPr lang="en-AU" sz="1200" kern="1200" dirty="0" smtClean="0">
                <a:solidFill>
                  <a:schemeClr val="tx1"/>
                </a:solidFill>
                <a:ea typeface="+mn-ea"/>
                <a:cs typeface="+mn-cs"/>
              </a:rPr>
              <a:t> Allocated tasks – for individual staff and sections with (for example) emphasis on:</a:t>
            </a:r>
          </a:p>
          <a:p>
            <a:pPr lvl="1">
              <a:buFont typeface="Arial" pitchFamily="34" charset="0"/>
              <a:buChar char="•"/>
            </a:pPr>
            <a:r>
              <a:rPr lang="en-AU" sz="1200" kern="1200" dirty="0" smtClean="0">
                <a:solidFill>
                  <a:schemeClr val="tx1"/>
                </a:solidFill>
                <a:ea typeface="+mn-ea"/>
                <a:cs typeface="+mn-cs"/>
              </a:rPr>
              <a:t> Sequencing</a:t>
            </a:r>
          </a:p>
          <a:p>
            <a:pPr lvl="1">
              <a:buFont typeface="Arial" pitchFamily="34" charset="0"/>
              <a:buChar char="•"/>
            </a:pPr>
            <a:r>
              <a:rPr lang="en-AU" sz="1200" kern="1200" dirty="0" smtClean="0">
                <a:solidFill>
                  <a:schemeClr val="tx1"/>
                </a:solidFill>
                <a:ea typeface="+mn-ea"/>
                <a:cs typeface="+mn-cs"/>
              </a:rPr>
              <a:t> Priorities</a:t>
            </a:r>
          </a:p>
          <a:p>
            <a:pPr lvl="1">
              <a:buFont typeface="Arial" pitchFamily="34" charset="0"/>
              <a:buChar char="•"/>
            </a:pPr>
            <a:r>
              <a:rPr lang="en-AU" sz="1200" kern="1200" dirty="0" smtClean="0">
                <a:solidFill>
                  <a:schemeClr val="tx1"/>
                </a:solidFill>
                <a:ea typeface="+mn-ea"/>
                <a:cs typeface="+mn-cs"/>
              </a:rPr>
              <a:t> Resources available</a:t>
            </a:r>
          </a:p>
          <a:p>
            <a:pPr lvl="1">
              <a:buFont typeface="Arial" pitchFamily="34" charset="0"/>
              <a:buChar char="•"/>
            </a:pPr>
            <a:r>
              <a:rPr lang="en-AU" sz="1200" kern="1200" dirty="0" smtClean="0">
                <a:solidFill>
                  <a:schemeClr val="tx1"/>
                </a:solidFill>
                <a:ea typeface="+mn-ea"/>
                <a:cs typeface="+mn-cs"/>
              </a:rPr>
              <a:t> Standards and quality</a:t>
            </a:r>
          </a:p>
          <a:p>
            <a:pPr>
              <a:buFont typeface="Arial" pitchFamily="34" charset="0"/>
              <a:buChar char="•"/>
            </a:pPr>
            <a:r>
              <a:rPr lang="en-AU" sz="1200" kern="1200" dirty="0" smtClean="0">
                <a:solidFill>
                  <a:schemeClr val="tx1"/>
                </a:solidFill>
                <a:ea typeface="+mn-ea"/>
                <a:cs typeface="+mn-cs"/>
              </a:rPr>
              <a:t> Timing requirements – which can refer to:</a:t>
            </a:r>
          </a:p>
          <a:p>
            <a:pPr lvl="1">
              <a:buFont typeface="Arial" pitchFamily="34" charset="0"/>
              <a:buChar char="•"/>
            </a:pPr>
            <a:r>
              <a:rPr lang="en-AU" sz="1200" kern="1200" dirty="0" smtClean="0">
                <a:solidFill>
                  <a:schemeClr val="tx1"/>
                </a:solidFill>
                <a:ea typeface="+mn-ea"/>
                <a:cs typeface="+mn-cs"/>
              </a:rPr>
              <a:t> Service times</a:t>
            </a:r>
          </a:p>
          <a:p>
            <a:pPr lvl="1">
              <a:buFont typeface="Arial" pitchFamily="34" charset="0"/>
              <a:buChar char="•"/>
            </a:pPr>
            <a:r>
              <a:rPr lang="en-AU" sz="1200" kern="1200" dirty="0" smtClean="0">
                <a:solidFill>
                  <a:schemeClr val="tx1"/>
                </a:solidFill>
                <a:ea typeface="+mn-ea"/>
                <a:cs typeface="+mn-cs"/>
              </a:rPr>
              <a:t> Up-dates regarding delays and/or changes to planned service times/schedules</a:t>
            </a:r>
          </a:p>
          <a:p>
            <a:pPr lvl="1">
              <a:buFont typeface="Arial" pitchFamily="34" charset="0"/>
              <a:buChar char="•"/>
            </a:pPr>
            <a:r>
              <a:rPr lang="en-AU" sz="1200" kern="1200" dirty="0" smtClean="0">
                <a:solidFill>
                  <a:schemeClr val="tx1"/>
                </a:solidFill>
                <a:ea typeface="+mn-ea"/>
                <a:cs typeface="+mn-cs"/>
              </a:rPr>
              <a:t> Delays with expected delivery of goods-in</a:t>
            </a:r>
          </a:p>
          <a:p>
            <a:pPr>
              <a:buFont typeface="Arial" pitchFamily="34" charset="0"/>
              <a:buChar char="•"/>
            </a:pPr>
            <a:r>
              <a:rPr lang="en-AU" sz="1200" kern="1200" dirty="0" smtClean="0">
                <a:solidFill>
                  <a:schemeClr val="tx1"/>
                </a:solidFill>
                <a:ea typeface="+mn-ea"/>
                <a:cs typeface="+mn-cs"/>
              </a:rPr>
              <a:t> Food orders – received from wait staff/servers including:</a:t>
            </a:r>
          </a:p>
          <a:p>
            <a:pPr lvl="1">
              <a:buFont typeface="Arial" pitchFamily="34" charset="0"/>
              <a:buChar char="•"/>
            </a:pPr>
            <a:r>
              <a:rPr lang="en-AU" sz="1200" kern="1200" dirty="0" smtClean="0">
                <a:solidFill>
                  <a:schemeClr val="tx1"/>
                </a:solidFill>
                <a:ea typeface="+mn-ea"/>
                <a:cs typeface="+mn-cs"/>
              </a:rPr>
              <a:t> Dish numbers</a:t>
            </a:r>
          </a:p>
          <a:p>
            <a:pPr lvl="1">
              <a:buFont typeface="Arial" pitchFamily="34" charset="0"/>
              <a:buChar char="•"/>
            </a:pPr>
            <a:r>
              <a:rPr lang="en-AU" sz="1200" kern="1200" dirty="0" smtClean="0">
                <a:solidFill>
                  <a:schemeClr val="tx1"/>
                </a:solidFill>
                <a:ea typeface="+mn-ea"/>
                <a:cs typeface="+mn-cs"/>
              </a:rPr>
              <a:t> Timing of service</a:t>
            </a:r>
          </a:p>
          <a:p>
            <a:pPr lvl="1">
              <a:buFont typeface="Arial" pitchFamily="34" charset="0"/>
              <a:buChar char="•"/>
            </a:pPr>
            <a:r>
              <a:rPr lang="en-AU" sz="1200" kern="1200" dirty="0" smtClean="0">
                <a:solidFill>
                  <a:schemeClr val="tx1"/>
                </a:solidFill>
                <a:ea typeface="+mn-ea"/>
                <a:cs typeface="+mn-cs"/>
              </a:rPr>
              <a:t> Special requests from individual customers</a:t>
            </a:r>
          </a:p>
          <a:p>
            <a:pPr>
              <a:buFont typeface="Arial" pitchFamily="34" charset="0"/>
              <a:buChar char="•"/>
            </a:pPr>
            <a:r>
              <a:rPr lang="en-AU" sz="1200" kern="1200" dirty="0" smtClean="0">
                <a:solidFill>
                  <a:schemeClr val="tx1"/>
                </a:solidFill>
                <a:ea typeface="+mn-ea"/>
                <a:cs typeface="+mn-cs"/>
              </a:rPr>
              <a:t> Service protocols – in relation to:</a:t>
            </a:r>
          </a:p>
          <a:p>
            <a:pPr lvl="1">
              <a:buFont typeface="Arial" pitchFamily="34" charset="0"/>
              <a:buChar char="•"/>
            </a:pPr>
            <a:r>
              <a:rPr lang="en-AU" sz="1200" kern="1200" dirty="0" smtClean="0">
                <a:solidFill>
                  <a:schemeClr val="tx1"/>
                </a:solidFill>
                <a:ea typeface="+mn-ea"/>
                <a:cs typeface="+mn-cs"/>
              </a:rPr>
              <a:t> Service styles</a:t>
            </a:r>
          </a:p>
          <a:p>
            <a:pPr lvl="1">
              <a:buFont typeface="Arial" pitchFamily="34" charset="0"/>
              <a:buChar char="•"/>
            </a:pPr>
            <a:r>
              <a:rPr lang="en-AU" sz="1200" kern="1200" dirty="0" smtClean="0">
                <a:solidFill>
                  <a:schemeClr val="tx1"/>
                </a:solidFill>
                <a:ea typeface="+mn-ea"/>
                <a:cs typeface="+mn-cs"/>
              </a:rPr>
              <a:t> Plating requirements</a:t>
            </a:r>
          </a:p>
          <a:p>
            <a:pPr lvl="1">
              <a:buFont typeface="Arial" pitchFamily="34" charset="0"/>
              <a:buChar char="•"/>
            </a:pPr>
            <a:r>
              <a:rPr lang="en-AU" sz="1200" kern="1200" dirty="0" smtClean="0">
                <a:solidFill>
                  <a:schemeClr val="tx1"/>
                </a:solidFill>
                <a:ea typeface="+mn-ea"/>
                <a:cs typeface="+mn-cs"/>
              </a:rPr>
              <a:t> Timing </a:t>
            </a:r>
          </a:p>
          <a:p>
            <a:pPr>
              <a:buFont typeface="Arial" pitchFamily="34" charset="0"/>
              <a:buChar char="•"/>
            </a:pPr>
            <a:r>
              <a:rPr lang="en-AU" sz="1200" kern="1200" dirty="0" smtClean="0">
                <a:solidFill>
                  <a:schemeClr val="tx1"/>
                </a:solidFill>
                <a:ea typeface="+mn-ea"/>
                <a:cs typeface="+mn-cs"/>
              </a:rPr>
              <a:t> Responses to complaints – and other situations requiring service recovery.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excursion to local venue to:</a:t>
            </a:r>
          </a:p>
          <a:p>
            <a:pPr>
              <a:buFont typeface="Arial" pitchFamily="34" charset="0"/>
              <a:buChar char="•"/>
            </a:pPr>
            <a:r>
              <a:rPr lang="en-US" b="0" dirty="0" smtClean="0"/>
              <a:t> View kitchen and dining facilities</a:t>
            </a:r>
          </a:p>
          <a:p>
            <a:pPr>
              <a:buFont typeface="Arial" pitchFamily="34" charset="0"/>
              <a:buChar char="•"/>
            </a:pPr>
            <a:r>
              <a:rPr lang="en-US" b="0" dirty="0" smtClean="0"/>
              <a:t> Observe work practices during</a:t>
            </a:r>
            <a:r>
              <a:rPr lang="en-US" b="0" baseline="0" dirty="0" smtClean="0"/>
              <a:t> food preparation, production and service</a:t>
            </a:r>
          </a:p>
          <a:p>
            <a:pPr>
              <a:buFont typeface="Arial" pitchFamily="34" charset="0"/>
              <a:buChar char="•"/>
            </a:pPr>
            <a:r>
              <a:rPr lang="en-US" b="0" dirty="0" smtClean="0"/>
              <a:t> Talk to supervisors,</a:t>
            </a:r>
            <a:r>
              <a:rPr lang="en-US" b="0" baseline="0" dirty="0" smtClean="0"/>
              <a:t> management and staff</a:t>
            </a:r>
          </a:p>
          <a:p>
            <a:pPr>
              <a:buFont typeface="Arial" pitchFamily="34" charset="0"/>
              <a:buChar char="•"/>
            </a:pPr>
            <a:r>
              <a:rPr lang="en-US" b="0" baseline="0" dirty="0" smtClean="0"/>
              <a:t> Obtain sample documentation</a:t>
            </a:r>
          </a:p>
          <a:p>
            <a:pPr>
              <a:buFont typeface="Arial" pitchFamily="34" charset="0"/>
              <a:buChar char="•"/>
            </a:pPr>
            <a:r>
              <a:rPr lang="en-US" b="0" baseline="0" dirty="0" smtClean="0"/>
              <a:t> Analyse menus</a:t>
            </a:r>
          </a:p>
          <a:p>
            <a:pPr>
              <a:buFont typeface="Arial" pitchFamily="34" charset="0"/>
              <a:buChar char="•"/>
            </a:pPr>
            <a:r>
              <a:rPr lang="en-US" b="0" baseline="0" dirty="0" smtClean="0"/>
              <a:t> Observe communication between chefs and production team.</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setting up kitchen for food service by asking questions such as:</a:t>
            </a:r>
          </a:p>
          <a:p>
            <a:pPr>
              <a:buFont typeface="Arial" pitchFamily="34" charset="0"/>
              <a:buChar char="•"/>
            </a:pPr>
            <a:r>
              <a:rPr lang="en-US" dirty="0" smtClean="0"/>
              <a:t> Why is it necessary to set up the kitchen for food service?</a:t>
            </a:r>
          </a:p>
          <a:p>
            <a:pPr>
              <a:buFont typeface="Arial" pitchFamily="34" charset="0"/>
              <a:buChar char="•"/>
            </a:pPr>
            <a:r>
              <a:rPr lang="en-US" dirty="0" smtClean="0"/>
              <a:t> What set up options are you aware of?</a:t>
            </a:r>
          </a:p>
          <a:p>
            <a:pPr>
              <a:buFont typeface="Arial" pitchFamily="34" charset="0"/>
              <a:buChar char="•"/>
            </a:pPr>
            <a:r>
              <a:rPr lang="en-US" dirty="0" smtClean="0"/>
              <a:t> What is meant by the term ‘service style’? Provide examples</a:t>
            </a:r>
          </a:p>
          <a:p>
            <a:pPr>
              <a:buFont typeface="Arial" pitchFamily="34" charset="0"/>
              <a:buChar char="•"/>
            </a:pPr>
            <a:r>
              <a:rPr lang="en-US" dirty="0" smtClean="0"/>
              <a:t> In a kitchen</a:t>
            </a:r>
            <a:r>
              <a:rPr lang="en-US" baseline="0" dirty="0" smtClean="0"/>
              <a:t> what </a:t>
            </a:r>
            <a:r>
              <a:rPr lang="en-US" dirty="0" smtClean="0"/>
              <a:t>is meant by the term ‘service style’?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an important part of setting up the kitchen for service is the placement of personnel ready for service</a:t>
            </a:r>
            <a:r>
              <a:rPr lang="en-AU" sz="1200" kern="1200" baseline="0" dirty="0" smtClean="0">
                <a:solidFill>
                  <a:schemeClr val="tx1"/>
                </a:solidFill>
                <a:ea typeface="+mn-ea"/>
                <a:cs typeface="+mn-cs"/>
              </a:rPr>
              <a:t> explaining </a:t>
            </a:r>
            <a:r>
              <a:rPr lang="en-AU" sz="1200" kern="1200" dirty="0" smtClean="0">
                <a:solidFill>
                  <a:schemeClr val="tx1"/>
                </a:solidFill>
                <a:ea typeface="+mn-ea"/>
                <a:cs typeface="+mn-cs"/>
              </a:rPr>
              <a:t>plating is the act of putting food onto service platforms (mainly plates and bowls ready for: </a:t>
            </a:r>
          </a:p>
          <a:p>
            <a:pPr>
              <a:buFont typeface="Arial" pitchFamily="34" charset="0"/>
              <a:buChar char="•"/>
            </a:pPr>
            <a:r>
              <a:rPr lang="en-AU" sz="1200" kern="1200" dirty="0" smtClean="0">
                <a:solidFill>
                  <a:schemeClr val="tx1"/>
                </a:solidFill>
                <a:ea typeface="+mn-ea"/>
                <a:cs typeface="+mn-cs"/>
              </a:rPr>
              <a:t> Collection by service staff</a:t>
            </a:r>
          </a:p>
          <a:p>
            <a:pPr>
              <a:buFont typeface="Arial" pitchFamily="34" charset="0"/>
              <a:buChar char="•"/>
            </a:pPr>
            <a:r>
              <a:rPr lang="en-AU" sz="1200" kern="1200" dirty="0" smtClean="0">
                <a:solidFill>
                  <a:schemeClr val="tx1"/>
                </a:solidFill>
                <a:ea typeface="+mn-ea"/>
                <a:cs typeface="+mn-cs"/>
              </a:rPr>
              <a:t> Service to customers.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a:t>
            </a:r>
            <a:r>
              <a:rPr lang="en-US" baseline="0" dirty="0" smtClean="0"/>
              <a:t> </a:t>
            </a:r>
            <a:r>
              <a:rPr lang="en-AU" sz="1200" kern="1200" dirty="0" smtClean="0">
                <a:solidFill>
                  <a:schemeClr val="tx1"/>
                </a:solidFill>
                <a:ea typeface="+mn-ea"/>
                <a:cs typeface="+mn-cs"/>
              </a:rPr>
              <a:t>the ‘pass’ as a location in the kitchen: </a:t>
            </a:r>
          </a:p>
          <a:p>
            <a:pPr>
              <a:buFont typeface="Arial" pitchFamily="34" charset="0"/>
              <a:buChar char="•"/>
            </a:pPr>
            <a:r>
              <a:rPr lang="en-AU" sz="1200" kern="1200" dirty="0" smtClean="0">
                <a:solidFill>
                  <a:schemeClr val="tx1"/>
                </a:solidFill>
                <a:ea typeface="+mn-ea"/>
                <a:cs typeface="+mn-cs"/>
              </a:rPr>
              <a:t> Where wait staff give their food orders to the kitchen</a:t>
            </a:r>
          </a:p>
          <a:p>
            <a:pPr>
              <a:buFont typeface="Arial" pitchFamily="34" charset="0"/>
              <a:buChar char="•"/>
            </a:pPr>
            <a:r>
              <a:rPr lang="en-AU" sz="1200" kern="1200" dirty="0" smtClean="0">
                <a:solidFill>
                  <a:schemeClr val="tx1"/>
                </a:solidFill>
                <a:ea typeface="+mn-ea"/>
                <a:cs typeface="+mn-cs"/>
              </a:rPr>
              <a:t> Where plated meals which have been checked are given to wait staff for service to customers.</a:t>
            </a: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in</a:t>
            </a:r>
            <a:r>
              <a:rPr lang="en-AU" sz="1200" kern="1200" dirty="0" smtClean="0">
                <a:solidFill>
                  <a:schemeClr val="tx1"/>
                </a:solidFill>
                <a:ea typeface="+mn-ea"/>
                <a:cs typeface="+mn-cs"/>
              </a:rPr>
              <a:t> relation to the ‘pass’:</a:t>
            </a:r>
          </a:p>
          <a:p>
            <a:pPr>
              <a:buFont typeface="Arial" pitchFamily="34" charset="0"/>
              <a:buChar char="•"/>
            </a:pPr>
            <a:r>
              <a:rPr lang="en-AU" sz="1200" kern="1200" dirty="0" smtClean="0">
                <a:solidFill>
                  <a:schemeClr val="tx1"/>
                </a:solidFill>
                <a:ea typeface="+mn-ea"/>
                <a:cs typeface="+mn-cs"/>
              </a:rPr>
              <a:t> It physically separates the kitchen area from the dining area</a:t>
            </a:r>
          </a:p>
          <a:p>
            <a:pPr>
              <a:buFont typeface="Arial" pitchFamily="34" charset="0"/>
              <a:buChar char="•"/>
            </a:pPr>
            <a:r>
              <a:rPr lang="en-AU" sz="1200" kern="1200" dirty="0" smtClean="0">
                <a:solidFill>
                  <a:schemeClr val="tx1"/>
                </a:solidFill>
                <a:ea typeface="+mn-ea"/>
                <a:cs typeface="+mn-cs"/>
              </a:rPr>
              <a:t> It is under the control of a designated Chef – who has absolute control over:</a:t>
            </a:r>
          </a:p>
          <a:p>
            <a:pPr>
              <a:buFont typeface="Arial" pitchFamily="34" charset="0"/>
              <a:buChar char="•"/>
            </a:pPr>
            <a:r>
              <a:rPr lang="en-AU" sz="1200" kern="1200" dirty="0" smtClean="0">
                <a:solidFill>
                  <a:schemeClr val="tx1"/>
                </a:solidFill>
                <a:ea typeface="+mn-ea"/>
                <a:cs typeface="+mn-cs"/>
              </a:rPr>
              <a:t> Taking orders from wait staff</a:t>
            </a:r>
          </a:p>
          <a:p>
            <a:pPr>
              <a:buFont typeface="Arial" pitchFamily="34" charset="0"/>
              <a:buChar char="•"/>
            </a:pPr>
            <a:r>
              <a:rPr lang="en-AU" sz="1200" kern="1200" dirty="0" smtClean="0">
                <a:solidFill>
                  <a:schemeClr val="tx1"/>
                </a:solidFill>
                <a:ea typeface="+mn-ea"/>
                <a:cs typeface="+mn-cs"/>
              </a:rPr>
              <a:t> Coordinating production and plating of meals to meet orders which have placed</a:t>
            </a:r>
          </a:p>
          <a:p>
            <a:pPr>
              <a:buFont typeface="Arial" pitchFamily="34" charset="0"/>
              <a:buChar char="•"/>
            </a:pPr>
            <a:r>
              <a:rPr lang="en-AU" sz="1200" kern="1200" dirty="0" smtClean="0">
                <a:solidFill>
                  <a:schemeClr val="tx1"/>
                </a:solidFill>
                <a:ea typeface="+mn-ea"/>
                <a:cs typeface="+mn-cs"/>
              </a:rPr>
              <a:t> Final checks on dishes to approve and release them for service.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ea typeface="+mn-ea"/>
                <a:cs typeface="+mn-cs"/>
              </a:rPr>
              <a:t>allocation of staff ready for service must address the following points:</a:t>
            </a:r>
          </a:p>
          <a:p>
            <a:pPr>
              <a:buFont typeface="Arial" pitchFamily="34" charset="0"/>
              <a:buChar char="•"/>
            </a:pPr>
            <a:r>
              <a:rPr lang="en-AU" sz="1200" kern="1200" dirty="0" smtClean="0">
                <a:solidFill>
                  <a:schemeClr val="tx1"/>
                </a:solidFill>
                <a:ea typeface="+mn-ea"/>
                <a:cs typeface="+mn-cs"/>
              </a:rPr>
              <a:t> Staff must have been trained in how to correctly plate dishes in accordance with house requirements – it is important the overall appearance of menu items (and the image and reputation of the venue) is not damaged by poor/sloppy presentation</a:t>
            </a:r>
          </a:p>
          <a:p>
            <a:pPr>
              <a:buFont typeface="Arial" pitchFamily="34" charset="0"/>
              <a:buChar char="•"/>
            </a:pPr>
            <a:r>
              <a:rPr lang="en-AU" sz="1200" kern="1200" dirty="0" smtClean="0">
                <a:solidFill>
                  <a:schemeClr val="tx1"/>
                </a:solidFill>
                <a:ea typeface="+mn-ea"/>
                <a:cs typeface="+mn-cs"/>
              </a:rPr>
              <a:t> Staff must be given specific duties – they must be advised (for example and as appropriate to the menu and service style):</a:t>
            </a:r>
          </a:p>
          <a:p>
            <a:pPr lvl="1">
              <a:buFont typeface="Arial" pitchFamily="34" charset="0"/>
              <a:buChar char="•"/>
            </a:pPr>
            <a:r>
              <a:rPr lang="en-AU" sz="1200" kern="1200" dirty="0" smtClean="0">
                <a:solidFill>
                  <a:schemeClr val="tx1"/>
                </a:solidFill>
                <a:ea typeface="+mn-ea"/>
                <a:cs typeface="+mn-cs"/>
              </a:rPr>
              <a:t> Of the menu items they have responsibility for – that is, specified dishes being produced for the service</a:t>
            </a:r>
          </a:p>
          <a:p>
            <a:pPr lvl="1">
              <a:buFont typeface="Arial" pitchFamily="34" charset="0"/>
              <a:buChar char="•"/>
            </a:pPr>
            <a:r>
              <a:rPr lang="en-AU" sz="1200" kern="1200" dirty="0" smtClean="0">
                <a:solidFill>
                  <a:schemeClr val="tx1"/>
                </a:solidFill>
                <a:ea typeface="+mn-ea"/>
                <a:cs typeface="+mn-cs"/>
              </a:rPr>
              <a:t> About the individual food items they have responsibility for – that is, some staff will/may have responsibility for putting meat on the plate, some will/may have responsibility for plating vegetables and others will/may have responsibility for adding the sauce and garnish</a:t>
            </a:r>
          </a:p>
          <a:p>
            <a:pPr>
              <a:buFont typeface="Arial" pitchFamily="34" charset="0"/>
              <a:buChar char="•"/>
            </a:pPr>
            <a:r>
              <a:rPr lang="en-AU" sz="1200" kern="1200" dirty="0" smtClean="0">
                <a:solidFill>
                  <a:schemeClr val="tx1"/>
                </a:solidFill>
                <a:ea typeface="+mn-ea"/>
                <a:cs typeface="+mn-cs"/>
              </a:rPr>
              <a:t> Staff must be physically located in positions which will best facilitate the optimum service of food for each session – this can vary between sessions and with changes in menus and service styles.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allocation of staff for plating duties:</a:t>
            </a:r>
          </a:p>
          <a:p>
            <a:pPr>
              <a:buFont typeface="Arial" pitchFamily="34" charset="0"/>
              <a:buChar char="•"/>
            </a:pPr>
            <a:r>
              <a:rPr lang="en-AU" sz="1200" kern="1200" dirty="0" smtClean="0">
                <a:solidFill>
                  <a:schemeClr val="tx1"/>
                </a:solidFill>
                <a:ea typeface="+mn-ea"/>
                <a:cs typeface="+mn-cs"/>
              </a:rPr>
              <a:t> Staff who are allocated plating duties should be relived of other duties for the duration of the plating work – to allow them to focus on the job, and to avoid the potential for cross contamination (transferring germs/food poisoning bacteria from other tasks to plates and/or food)</a:t>
            </a:r>
          </a:p>
          <a:p>
            <a:pPr>
              <a:buFont typeface="Arial" pitchFamily="34" charset="0"/>
              <a:buChar char="•"/>
            </a:pPr>
            <a:r>
              <a:rPr lang="en-AU" sz="1200" kern="1200" dirty="0" smtClean="0">
                <a:solidFill>
                  <a:schemeClr val="tx1"/>
                </a:solidFill>
                <a:ea typeface="+mn-ea"/>
                <a:cs typeface="+mn-cs"/>
              </a:rPr>
              <a:t> Sufficient staff must be allocated – to enable prompt plating of dishes once they are ready for service</a:t>
            </a:r>
          </a:p>
          <a:p>
            <a:pPr>
              <a:buFont typeface="Arial" pitchFamily="34" charset="0"/>
              <a:buChar char="•"/>
            </a:pPr>
            <a:r>
              <a:rPr lang="en-AU" sz="1200" kern="1200" dirty="0" smtClean="0">
                <a:solidFill>
                  <a:schemeClr val="tx1"/>
                </a:solidFill>
                <a:ea typeface="+mn-ea"/>
                <a:cs typeface="+mn-cs"/>
              </a:rPr>
              <a:t> Staff must be allocated to support the staff who are plating the meals – attention must be paid to ensuring staff are available to:</a:t>
            </a:r>
          </a:p>
          <a:p>
            <a:pPr lvl="1">
              <a:buFont typeface="Arial" pitchFamily="34" charset="0"/>
              <a:buChar char="•"/>
            </a:pPr>
            <a:r>
              <a:rPr lang="en-AU" sz="1200" kern="1200" dirty="0" smtClean="0">
                <a:solidFill>
                  <a:schemeClr val="tx1"/>
                </a:solidFill>
                <a:ea typeface="+mn-ea"/>
                <a:cs typeface="+mn-cs"/>
              </a:rPr>
              <a:t> Fetch and carry – food and other requirements to the plating area</a:t>
            </a:r>
          </a:p>
          <a:p>
            <a:pPr lvl="1">
              <a:buFont typeface="Arial" pitchFamily="34" charset="0"/>
              <a:buChar char="•"/>
            </a:pPr>
            <a:r>
              <a:rPr lang="en-AU" sz="1200" kern="1200" dirty="0" smtClean="0">
                <a:solidFill>
                  <a:schemeClr val="tx1"/>
                </a:solidFill>
                <a:ea typeface="+mn-ea"/>
                <a:cs typeface="+mn-cs"/>
              </a:rPr>
              <a:t> Clean dirty/used plates returning from the dining area – to ensure an on-going supply of clean plates for service</a:t>
            </a:r>
          </a:p>
          <a:p>
            <a:pPr lvl="1">
              <a:buFont typeface="Arial" pitchFamily="34" charset="0"/>
              <a:buChar char="•"/>
            </a:pPr>
            <a:r>
              <a:rPr lang="en-AU" sz="1200" kern="1200" dirty="0" smtClean="0">
                <a:solidFill>
                  <a:schemeClr val="tx1"/>
                </a:solidFill>
                <a:ea typeface="+mn-ea"/>
                <a:cs typeface="+mn-cs"/>
              </a:rPr>
              <a:t> Prepare additional items as required during service – such as those which have run out during service (garnishes, sauces, butters, vegetables, salads) and/or to meet special customer requests.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students</a:t>
            </a:r>
            <a:r>
              <a:rPr lang="en-US" baseline="0" dirty="0" smtClean="0"/>
              <a:t> </a:t>
            </a:r>
            <a:r>
              <a:rPr lang="en-AU" sz="1200" b="0" kern="1200" dirty="0" smtClean="0">
                <a:solidFill>
                  <a:schemeClr val="tx1"/>
                </a:solidFill>
                <a:ea typeface="+mn-ea"/>
                <a:cs typeface="+mn-cs"/>
              </a:rPr>
              <a:t>it is important to produce a consistent appearance of menu items when plating for the following reasons:</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So dishes of the same type look the same – so customers do not think their meal is different to that of others</a:t>
            </a:r>
          </a:p>
          <a:p>
            <a:pPr>
              <a:buFont typeface="Arial" pitchFamily="34" charset="0"/>
              <a:buChar char="•"/>
            </a:pPr>
            <a:r>
              <a:rPr lang="en-AU" sz="1200" kern="1200" dirty="0" smtClean="0">
                <a:solidFill>
                  <a:schemeClr val="tx1"/>
                </a:solidFill>
                <a:ea typeface="+mn-ea"/>
                <a:cs typeface="+mn-cs"/>
              </a:rPr>
              <a:t> To meet advertised descriptions of the dish – which may be described on menus or by photographs</a:t>
            </a:r>
          </a:p>
          <a:p>
            <a:pPr>
              <a:buFont typeface="Arial" pitchFamily="34" charset="0"/>
              <a:buChar char="•"/>
            </a:pPr>
            <a:r>
              <a:rPr lang="en-AU" sz="1200" kern="1200" dirty="0" smtClean="0">
                <a:solidFill>
                  <a:schemeClr val="tx1"/>
                </a:solidFill>
                <a:ea typeface="+mn-ea"/>
                <a:cs typeface="+mn-cs"/>
              </a:rPr>
              <a:t> To ensure customers receive what they pay for</a:t>
            </a:r>
          </a:p>
          <a:p>
            <a:pPr>
              <a:buFont typeface="Arial" pitchFamily="34" charset="0"/>
              <a:buChar char="•"/>
            </a:pPr>
            <a:r>
              <a:rPr lang="en-AU" sz="1200" kern="1200" dirty="0" smtClean="0">
                <a:solidFill>
                  <a:schemeClr val="tx1"/>
                </a:solidFill>
                <a:ea typeface="+mn-ea"/>
                <a:cs typeface="+mn-cs"/>
              </a:rPr>
              <a:t> To underpin the value-for-money represented by the dish</a:t>
            </a:r>
          </a:p>
          <a:p>
            <a:pPr>
              <a:buFont typeface="Arial" pitchFamily="34" charset="0"/>
              <a:buChar char="•"/>
            </a:pPr>
            <a:r>
              <a:rPr lang="en-AU" sz="1200" kern="1200" dirty="0" smtClean="0">
                <a:solidFill>
                  <a:schemeClr val="tx1"/>
                </a:solidFill>
                <a:ea typeface="+mn-ea"/>
                <a:cs typeface="+mn-cs"/>
              </a:rPr>
              <a:t> To support portion control guidelines</a:t>
            </a:r>
          </a:p>
          <a:p>
            <a:pPr>
              <a:buFont typeface="Arial" pitchFamily="34" charset="0"/>
              <a:buChar char="•"/>
            </a:pPr>
            <a:r>
              <a:rPr lang="en-AU" sz="1200" kern="1200" dirty="0" smtClean="0">
                <a:solidFill>
                  <a:schemeClr val="tx1"/>
                </a:solidFill>
                <a:ea typeface="+mn-ea"/>
                <a:cs typeface="+mn-cs"/>
              </a:rPr>
              <a:t> To create and meet guest expectations.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when plating food, care and attention must be paid to ensure the meals are plated: </a:t>
            </a:r>
          </a:p>
          <a:p>
            <a:pPr>
              <a:buFont typeface="Arial" pitchFamily="34" charset="0"/>
              <a:buChar char="•"/>
            </a:pPr>
            <a:r>
              <a:rPr lang="en-AU" sz="1200" kern="1200" dirty="0" smtClean="0">
                <a:solidFill>
                  <a:schemeClr val="tx1"/>
                </a:solidFill>
                <a:ea typeface="+mn-ea"/>
                <a:cs typeface="+mn-cs"/>
              </a:rPr>
              <a:t> Reproducing consistent quality product – in terms of amount and</a:t>
            </a:r>
            <a:r>
              <a:rPr lang="en-AU" sz="1200" kern="1200" baseline="0" dirty="0" smtClean="0">
                <a:solidFill>
                  <a:schemeClr val="tx1"/>
                </a:solidFill>
                <a:ea typeface="+mn-ea"/>
                <a:cs typeface="+mn-cs"/>
              </a:rPr>
              <a:t> type of food put on each plate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Neatly and attractively – to be visually appealing in terms of eye appeal (people</a:t>
            </a:r>
            <a:r>
              <a:rPr lang="en-AU" sz="1200" kern="1200" baseline="0" dirty="0" smtClean="0">
                <a:solidFill>
                  <a:schemeClr val="tx1"/>
                </a:solidFill>
                <a:ea typeface="+mn-ea"/>
                <a:cs typeface="+mn-cs"/>
              </a:rPr>
              <a:t> eat with their eyes)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In compliance with any advertising/marketing undertaken for the venue and/or specific meals/menu items</a:t>
            </a:r>
          </a:p>
          <a:p>
            <a:pPr>
              <a:buFont typeface="Arial" pitchFamily="34" charset="0"/>
              <a:buChar char="•"/>
            </a:pPr>
            <a:r>
              <a:rPr lang="en-AU" sz="1200" kern="1200" dirty="0" smtClean="0">
                <a:solidFill>
                  <a:schemeClr val="tx1"/>
                </a:solidFill>
                <a:ea typeface="+mn-ea"/>
                <a:cs typeface="+mn-cs"/>
              </a:rPr>
              <a:t> Without spills or drips – to optimise aesthetics of the plate.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gives furth</a:t>
            </a:r>
            <a:r>
              <a:rPr lang="en-US" baseline="0" dirty="0" smtClean="0"/>
              <a:t>er </a:t>
            </a:r>
            <a:r>
              <a:rPr lang="en-AU" sz="1200" kern="1200" dirty="0" smtClean="0">
                <a:solidFill>
                  <a:schemeClr val="tx1"/>
                </a:solidFill>
                <a:ea typeface="+mn-ea"/>
                <a:cs typeface="+mn-cs"/>
              </a:rPr>
              <a:t>plating considerations: </a:t>
            </a:r>
          </a:p>
          <a:p>
            <a:pPr>
              <a:buFont typeface="Arial" pitchFamily="34" charset="0"/>
              <a:buChar char="•"/>
            </a:pPr>
            <a:r>
              <a:rPr lang="en-AU" sz="1200" kern="1200" dirty="0" smtClean="0">
                <a:solidFill>
                  <a:schemeClr val="tx1"/>
                </a:solidFill>
                <a:ea typeface="+mn-ea"/>
                <a:cs typeface="+mn-cs"/>
              </a:rPr>
              <a:t> All dishes of the same type must look identical – in terms of serve size, number of items, layout of the dish components, where the garnish is placed, where and how the sauce has been served </a:t>
            </a:r>
          </a:p>
          <a:p>
            <a:pPr>
              <a:buFont typeface="Arial" pitchFamily="34" charset="0"/>
              <a:buChar char="•"/>
            </a:pPr>
            <a:r>
              <a:rPr lang="en-AU" sz="1200" kern="1200" dirty="0" smtClean="0">
                <a:solidFill>
                  <a:schemeClr val="tx1"/>
                </a:solidFill>
                <a:ea typeface="+mn-ea"/>
                <a:cs typeface="+mn-cs"/>
              </a:rPr>
              <a:t> Photographs of model dishes or menu cards, must be observed </a:t>
            </a:r>
          </a:p>
          <a:p>
            <a:pPr>
              <a:buFont typeface="Arial" pitchFamily="34" charset="0"/>
              <a:buChar char="•"/>
            </a:pPr>
            <a:r>
              <a:rPr lang="en-AU" sz="1200" kern="1200" dirty="0" smtClean="0">
                <a:solidFill>
                  <a:schemeClr val="tx1"/>
                </a:solidFill>
                <a:ea typeface="+mn-ea"/>
                <a:cs typeface="+mn-cs"/>
              </a:rPr>
              <a:t> The correct sized plate/dish must be used to complement the meal </a:t>
            </a:r>
          </a:p>
          <a:p>
            <a:pPr>
              <a:buFont typeface="Arial" pitchFamily="34" charset="0"/>
              <a:buChar char="•"/>
            </a:pPr>
            <a:r>
              <a:rPr lang="en-AU" sz="1200" kern="1200" dirty="0" smtClean="0">
                <a:solidFill>
                  <a:schemeClr val="tx1"/>
                </a:solidFill>
                <a:ea typeface="+mn-ea"/>
                <a:cs typeface="+mn-cs"/>
              </a:rPr>
              <a:t> The same service plate/dish must be used for all the same menu items </a:t>
            </a:r>
          </a:p>
          <a:p>
            <a:pPr>
              <a:buFont typeface="Arial" pitchFamily="34" charset="0"/>
              <a:buChar char="•"/>
            </a:pPr>
            <a:r>
              <a:rPr lang="en-AU" sz="1200" kern="1200" dirty="0" smtClean="0">
                <a:solidFill>
                  <a:schemeClr val="tx1"/>
                </a:solidFill>
                <a:ea typeface="+mn-ea"/>
                <a:cs typeface="+mn-cs"/>
              </a:rPr>
              <a:t> Balance must be achieved: </a:t>
            </a:r>
          </a:p>
          <a:p>
            <a:pPr lvl="1">
              <a:buFont typeface="Arial" pitchFamily="34" charset="0"/>
              <a:buChar char="•"/>
            </a:pPr>
            <a:r>
              <a:rPr lang="en-AU" sz="1200" kern="1200" dirty="0" smtClean="0">
                <a:solidFill>
                  <a:schemeClr val="tx1"/>
                </a:solidFill>
                <a:ea typeface="+mn-ea"/>
                <a:cs typeface="+mn-cs"/>
              </a:rPr>
              <a:t> This is the overall impression created by the look of the meal – there may, indeed, be some focal visual point to the dish. Some dishes have their appearance on the plate planned with as much care and thought as went into creating the recipe for the item </a:t>
            </a:r>
          </a:p>
          <a:p>
            <a:pPr lvl="1">
              <a:buFont typeface="Arial" pitchFamily="34" charset="0"/>
              <a:buChar char="•"/>
            </a:pPr>
            <a:r>
              <a:rPr lang="en-AU" sz="1200" kern="1200" dirty="0" smtClean="0">
                <a:solidFill>
                  <a:schemeClr val="tx1"/>
                </a:solidFill>
                <a:ea typeface="+mn-ea"/>
                <a:cs typeface="+mn-cs"/>
              </a:rPr>
              <a:t> It takes into account the precise placement of different shaped and sized items on the plate to create a balanced appearance rather than an unequal or uneven impression </a:t>
            </a:r>
          </a:p>
          <a:p>
            <a:pPr lvl="1">
              <a:buFont typeface="Arial" pitchFamily="34" charset="0"/>
              <a:buChar char="•"/>
            </a:pPr>
            <a:r>
              <a:rPr lang="en-AU" sz="1200" kern="1200" dirty="0" smtClean="0">
                <a:solidFill>
                  <a:schemeClr val="tx1"/>
                </a:solidFill>
                <a:ea typeface="+mn-ea"/>
                <a:cs typeface="+mn-cs"/>
              </a:rPr>
              <a:t> It also means balancing food textures rather than having a dominance of one texture to the absence of any other </a:t>
            </a:r>
          </a:p>
          <a:p>
            <a:pPr lvl="1">
              <a:buFont typeface="Arial" pitchFamily="34" charset="0"/>
              <a:buChar char="•"/>
            </a:pPr>
            <a:r>
              <a:rPr lang="en-AU" sz="1200" kern="1200" dirty="0" smtClean="0">
                <a:solidFill>
                  <a:schemeClr val="tx1"/>
                </a:solidFill>
                <a:ea typeface="+mn-ea"/>
                <a:cs typeface="+mn-cs"/>
              </a:rPr>
              <a:t> It means not over-doing a certain element of the presentation – often the garnish is overdone so you must be alert to guard against this</a:t>
            </a:r>
          </a:p>
          <a:p>
            <a:pPr>
              <a:buFont typeface="Arial" pitchFamily="34" charset="0"/>
              <a:buChar char="•"/>
            </a:pPr>
            <a:r>
              <a:rPr lang="en-AU" sz="1200" kern="1200" dirty="0" smtClean="0">
                <a:solidFill>
                  <a:schemeClr val="tx1"/>
                </a:solidFill>
                <a:ea typeface="+mn-ea"/>
                <a:cs typeface="+mn-cs"/>
              </a:rPr>
              <a:t> A final visual inspection of the meal must be made before it is released from the kitchen.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the final touches to a dish before it leaves the kitchen must be to remove: </a:t>
            </a:r>
          </a:p>
          <a:p>
            <a:pPr>
              <a:buFont typeface="Arial" pitchFamily="34" charset="0"/>
              <a:buChar char="•"/>
            </a:pPr>
            <a:r>
              <a:rPr lang="en-AU" sz="1200" kern="1200" dirty="0" smtClean="0">
                <a:solidFill>
                  <a:schemeClr val="tx1"/>
                </a:solidFill>
                <a:ea typeface="+mn-ea"/>
                <a:cs typeface="+mn-cs"/>
              </a:rPr>
              <a:t> Any sign of drips or spills, spots, or run marks </a:t>
            </a:r>
          </a:p>
          <a:p>
            <a:pPr>
              <a:buFont typeface="Arial" pitchFamily="34" charset="0"/>
              <a:buChar char="•"/>
            </a:pPr>
            <a:r>
              <a:rPr lang="en-AU" sz="1200" kern="1200" dirty="0" smtClean="0">
                <a:solidFill>
                  <a:schemeClr val="tx1"/>
                </a:solidFill>
                <a:ea typeface="+mn-ea"/>
                <a:cs typeface="+mn-cs"/>
              </a:rPr>
              <a:t> Any smudges caused by removing drips or spills </a:t>
            </a:r>
          </a:p>
          <a:p>
            <a:pPr>
              <a:buFont typeface="Arial" pitchFamily="34" charset="0"/>
              <a:buChar char="•"/>
            </a:pPr>
            <a:r>
              <a:rPr lang="en-AU" sz="1200" kern="1200" dirty="0" smtClean="0">
                <a:solidFill>
                  <a:schemeClr val="tx1"/>
                </a:solidFill>
                <a:ea typeface="+mn-ea"/>
                <a:cs typeface="+mn-cs"/>
              </a:rPr>
              <a:t> Any finger marks that may be the plate </a:t>
            </a:r>
          </a:p>
          <a:p>
            <a:r>
              <a:rPr lang="en-AU" sz="1200" kern="1200" dirty="0" smtClean="0">
                <a:solidFill>
                  <a:schemeClr val="tx1"/>
                </a:solidFill>
                <a:ea typeface="+mn-ea"/>
                <a:cs typeface="+mn-cs"/>
              </a:rPr>
              <a:t>This consideration may also extend to inspecting the precision with which sauces may have been added and rejecting or re-doing any plates not meeting the required presentation standard.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presentation </a:t>
            </a:r>
            <a:r>
              <a:rPr lang="en-AU" sz="1200" kern="1200" dirty="0" smtClean="0">
                <a:solidFill>
                  <a:schemeClr val="tx1"/>
                </a:solidFill>
                <a:ea typeface="+mn-ea"/>
                <a:cs typeface="+mn-cs"/>
              </a:rPr>
              <a:t>standards for dishes may include: </a:t>
            </a:r>
          </a:p>
          <a:p>
            <a:pPr>
              <a:buFont typeface="Arial" pitchFamily="34" charset="0"/>
              <a:buChar char="•"/>
            </a:pPr>
            <a:r>
              <a:rPr lang="en-AU" sz="1200" kern="1200" dirty="0" smtClean="0">
                <a:solidFill>
                  <a:schemeClr val="tx1"/>
                </a:solidFill>
                <a:ea typeface="+mn-ea"/>
                <a:cs typeface="+mn-cs"/>
              </a:rPr>
              <a:t> Where foods are placed upon the plate </a:t>
            </a:r>
          </a:p>
          <a:p>
            <a:pPr>
              <a:buFont typeface="Arial" pitchFamily="34" charset="0"/>
              <a:buChar char="•"/>
            </a:pPr>
            <a:r>
              <a:rPr lang="en-AU" sz="1200" kern="1200" dirty="0" smtClean="0">
                <a:solidFill>
                  <a:schemeClr val="tx1"/>
                </a:solidFill>
                <a:ea typeface="+mn-ea"/>
                <a:cs typeface="+mn-cs"/>
              </a:rPr>
              <a:t> Where garnishes are added or placed</a:t>
            </a:r>
          </a:p>
          <a:p>
            <a:pPr>
              <a:buFont typeface="Arial" pitchFamily="34" charset="0"/>
              <a:buChar char="•"/>
            </a:pPr>
            <a:r>
              <a:rPr lang="en-AU" sz="1200" kern="1200" dirty="0" smtClean="0">
                <a:solidFill>
                  <a:schemeClr val="tx1"/>
                </a:solidFill>
                <a:ea typeface="+mn-ea"/>
                <a:cs typeface="+mn-cs"/>
              </a:rPr>
              <a:t> Making sure dishes are plated within designated timeframes </a:t>
            </a:r>
          </a:p>
          <a:p>
            <a:pPr>
              <a:buFont typeface="Arial" pitchFamily="34" charset="0"/>
              <a:buChar char="•"/>
            </a:pPr>
            <a:r>
              <a:rPr lang="en-AU" sz="1200" kern="1200" dirty="0" smtClean="0">
                <a:solidFill>
                  <a:schemeClr val="tx1"/>
                </a:solidFill>
                <a:ea typeface="+mn-ea"/>
                <a:cs typeface="+mn-cs"/>
              </a:rPr>
              <a:t> Ensuring the correct temperature of plates and other service ware </a:t>
            </a:r>
          </a:p>
          <a:p>
            <a:pPr>
              <a:buFont typeface="Arial" pitchFamily="34" charset="0"/>
              <a:buChar char="•"/>
            </a:pPr>
            <a:r>
              <a:rPr lang="en-AU" sz="1200" kern="1200" dirty="0" smtClean="0">
                <a:solidFill>
                  <a:schemeClr val="tx1"/>
                </a:solidFill>
                <a:ea typeface="+mn-ea"/>
                <a:cs typeface="+mn-cs"/>
              </a:rPr>
              <a:t> Ensuring special customer requests are being met.</a:t>
            </a:r>
          </a:p>
          <a:p>
            <a:pPr>
              <a:buFont typeface="Arial" pitchFamily="34" charset="0"/>
              <a:buNone/>
            </a:pPr>
            <a:endParaRPr lang="en-US" dirty="0" smtClean="0"/>
          </a:p>
          <a:p>
            <a:pPr>
              <a:buFont typeface="Arial" pitchFamily="34" charset="0"/>
              <a:buNone/>
            </a:pPr>
            <a:r>
              <a:rPr lang="en-US" b="1" dirty="0" smtClean="0"/>
              <a:t>Class Activity – Exercise</a:t>
            </a:r>
          </a:p>
          <a:p>
            <a:pPr>
              <a:buFont typeface="Arial" pitchFamily="34" charset="0"/>
              <a:buNone/>
            </a:pPr>
            <a:r>
              <a:rPr lang="en-US" b="0" dirty="0" smtClean="0"/>
              <a:t>Prepare plating directions/presentation standards and photographs for the plating/service of two menu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of additional plating considerations:</a:t>
            </a:r>
          </a:p>
          <a:p>
            <a:r>
              <a:rPr lang="en-AU" sz="1200" b="1" kern="1200" dirty="0" smtClean="0">
                <a:solidFill>
                  <a:schemeClr val="tx1"/>
                </a:solidFill>
                <a:ea typeface="+mn-ea"/>
                <a:cs typeface="+mn-cs"/>
              </a:rPr>
              <a:t>Eye appeal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All of the previously described points relate to the final eye appeal of the dish. </a:t>
            </a:r>
          </a:p>
          <a:p>
            <a:r>
              <a:rPr lang="en-AU" sz="1200" kern="1200" dirty="0" smtClean="0">
                <a:solidFill>
                  <a:schemeClr val="tx1"/>
                </a:solidFill>
                <a:ea typeface="+mn-ea"/>
                <a:cs typeface="+mn-cs"/>
              </a:rPr>
              <a:t>The design and layout of a dish can be a very memorable part of the meal. </a:t>
            </a:r>
          </a:p>
          <a:p>
            <a:r>
              <a:rPr lang="en-AU" sz="1200" kern="1200" dirty="0" smtClean="0">
                <a:solidFill>
                  <a:schemeClr val="tx1"/>
                </a:solidFill>
                <a:ea typeface="+mn-ea"/>
                <a:cs typeface="+mn-cs"/>
              </a:rPr>
              <a:t>Eye appeal, however, needs to be kept in context. </a:t>
            </a:r>
          </a:p>
          <a:p>
            <a:r>
              <a:rPr lang="en-AU" sz="1200" kern="1200" dirty="0" smtClean="0">
                <a:solidFill>
                  <a:schemeClr val="tx1"/>
                </a:solidFill>
                <a:ea typeface="+mn-ea"/>
                <a:cs typeface="+mn-cs"/>
              </a:rPr>
              <a:t>In some food establishments the need for good, wholesome food </a:t>
            </a:r>
            <a:r>
              <a:rPr lang="en-AU" sz="1200" b="1" i="1" kern="1200" dirty="0" smtClean="0">
                <a:solidFill>
                  <a:schemeClr val="tx1"/>
                </a:solidFill>
                <a:ea typeface="+mn-ea"/>
                <a:cs typeface="+mn-cs"/>
              </a:rPr>
              <a:t>served quickly</a:t>
            </a:r>
            <a:r>
              <a:rPr lang="en-AU" sz="1200" kern="1200" dirty="0" smtClean="0">
                <a:solidFill>
                  <a:schemeClr val="tx1"/>
                </a:solidFill>
                <a:ea typeface="+mn-ea"/>
                <a:cs typeface="+mn-cs"/>
              </a:rPr>
              <a:t> and </a:t>
            </a:r>
            <a:r>
              <a:rPr lang="en-AU" sz="1200" b="1" i="1" kern="1200" dirty="0" smtClean="0">
                <a:solidFill>
                  <a:schemeClr val="tx1"/>
                </a:solidFill>
                <a:ea typeface="+mn-ea"/>
                <a:cs typeface="+mn-cs"/>
              </a:rPr>
              <a:t>priced competitively</a:t>
            </a:r>
            <a:r>
              <a:rPr lang="en-AU" sz="1200" kern="1200" dirty="0" smtClean="0">
                <a:solidFill>
                  <a:schemeClr val="tx1"/>
                </a:solidFill>
                <a:ea typeface="+mn-ea"/>
                <a:cs typeface="+mn-cs"/>
              </a:rPr>
              <a:t> will outstrip the demand for excellence in visual appearance. In these situations there </a:t>
            </a:r>
            <a:r>
              <a:rPr lang="en-AU" sz="1200" b="1" i="1" kern="1200" dirty="0" smtClean="0">
                <a:solidFill>
                  <a:schemeClr val="tx1"/>
                </a:solidFill>
                <a:ea typeface="+mn-ea"/>
                <a:cs typeface="+mn-cs"/>
              </a:rPr>
              <a:t>may</a:t>
            </a:r>
            <a:r>
              <a:rPr lang="en-AU" sz="1200" kern="1200" dirty="0" smtClean="0">
                <a:solidFill>
                  <a:schemeClr val="tx1"/>
                </a:solidFill>
                <a:ea typeface="+mn-ea"/>
                <a:cs typeface="+mn-cs"/>
              </a:rPr>
              <a:t> be the need for compromises on the basis of cost, speed of service and the identified preferences of customers. </a:t>
            </a:r>
          </a:p>
          <a:p>
            <a:r>
              <a:rPr lang="en-AU" sz="1200" b="1" kern="1200" dirty="0" smtClean="0">
                <a:solidFill>
                  <a:schemeClr val="tx1"/>
                </a:solidFill>
                <a:ea typeface="+mn-ea"/>
                <a:cs typeface="+mn-cs"/>
              </a:rPr>
              <a:t>Colour and contrast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Consideration of colours must be factored into the presentation of any dish or menu item. Food colours must always be balanced and harmonised. </a:t>
            </a:r>
          </a:p>
          <a:p>
            <a:r>
              <a:rPr lang="en-AU" sz="1200" kern="1200" dirty="0" smtClean="0">
                <a:solidFill>
                  <a:schemeClr val="tx1"/>
                </a:solidFill>
                <a:ea typeface="+mn-ea"/>
                <a:cs typeface="+mn-cs"/>
              </a:rPr>
              <a:t>It is important the plate is arranged so similar colours do not come together as this can make the meal look dull and unattractive.</a:t>
            </a:r>
          </a:p>
          <a:p>
            <a:r>
              <a:rPr lang="en-AU" sz="1200" kern="1200" dirty="0" smtClean="0">
                <a:solidFill>
                  <a:schemeClr val="tx1"/>
                </a:solidFill>
                <a:ea typeface="+mn-ea"/>
                <a:cs typeface="+mn-cs"/>
              </a:rPr>
              <a:t>Using a coloured diagram or photograph of the menu item will help you to guide the positioning of different coloured foods. </a:t>
            </a:r>
          </a:p>
          <a:p>
            <a:r>
              <a:rPr lang="en-AU" sz="1200" kern="1200" dirty="0" smtClean="0">
                <a:solidFill>
                  <a:schemeClr val="tx1"/>
                </a:solidFill>
                <a:ea typeface="+mn-ea"/>
                <a:cs typeface="+mn-cs"/>
              </a:rPr>
              <a:t>A colourful garnish can lift the presentation of a meal but care must be taken not to over garnish or allow the garnish to overwhelm the main components of the dish. </a:t>
            </a:r>
          </a:p>
          <a:p>
            <a:r>
              <a:rPr lang="en-AU" sz="1200" b="1" kern="1200" dirty="0" smtClean="0">
                <a:solidFill>
                  <a:schemeClr val="tx1"/>
                </a:solidFill>
                <a:ea typeface="+mn-ea"/>
                <a:cs typeface="+mn-cs"/>
              </a:rPr>
              <a:t>Height and depth</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Giving food height increases the overall presentation and can give the impression the portion is a little larger than it actually is. </a:t>
            </a:r>
          </a:p>
          <a:p>
            <a:r>
              <a:rPr lang="en-AU" sz="1200" kern="1200" dirty="0" smtClean="0">
                <a:solidFill>
                  <a:schemeClr val="tx1"/>
                </a:solidFill>
                <a:ea typeface="+mn-ea"/>
                <a:cs typeface="+mn-cs"/>
              </a:rPr>
              <a:t>Height can be achieved by stacking food, placement on top of other food items of using a tall garnish, such as a tuille biscuit.</a:t>
            </a:r>
          </a:p>
          <a:p>
            <a:r>
              <a:rPr lang="en-AU" sz="1200" kern="1200" dirty="0" smtClean="0">
                <a:solidFill>
                  <a:schemeClr val="tx1"/>
                </a:solidFill>
                <a:ea typeface="+mn-ea"/>
                <a:cs typeface="+mn-cs"/>
              </a:rPr>
              <a:t>Care must be taken as the food item may ‘topple’ over as it is being carried to the table. In some instances, whilst height may make some foods look more appealing, it may have an adverse effect insofar as it may be difficult to eat. An example of this may be an overly filled sandwich or burger.</a:t>
            </a:r>
          </a:p>
          <a:p>
            <a:r>
              <a:rPr lang="en-AU" sz="1200" kern="1200" dirty="0" smtClean="0">
                <a:solidFill>
                  <a:schemeClr val="tx1"/>
                </a:solidFill>
                <a:ea typeface="+mn-ea"/>
                <a:cs typeface="+mn-cs"/>
              </a:rPr>
              <a:t>Depth can be given to a dish simply by using clever placement of components of a menu item.</a:t>
            </a:r>
          </a:p>
          <a:p>
            <a:r>
              <a:rPr lang="en-AU" sz="1200" kern="1200" dirty="0" smtClean="0">
                <a:solidFill>
                  <a:schemeClr val="tx1"/>
                </a:solidFill>
                <a:ea typeface="+mn-ea"/>
                <a:cs typeface="+mn-cs"/>
              </a:rPr>
              <a:t>Placing the taller component to the rear of the plate and having other components ‘tapering’ down toward the front can give the impression of depth, adding an interesting characteristic to the dish.</a:t>
            </a:r>
          </a:p>
          <a:p>
            <a:r>
              <a:rPr lang="en-AU" sz="1200" kern="1200" dirty="0" smtClean="0">
                <a:solidFill>
                  <a:schemeClr val="tx1"/>
                </a:solidFill>
                <a:ea typeface="+mn-ea"/>
                <a:cs typeface="+mn-cs"/>
              </a:rPr>
              <a:t>The same principle is usually applied to buffet service where certain items are placed at different heights and levels on the buffet table. Sometimes, ‘props’ such as tall vases are used to give depth to the presentation of buffet items.</a:t>
            </a:r>
          </a:p>
          <a:p>
            <a:pPr>
              <a:buFont typeface="Arial" pitchFamily="34" charset="0"/>
              <a:buNone/>
            </a:pPr>
            <a:endParaRPr lang="en-US" dirty="0" smtClean="0"/>
          </a:p>
          <a:p>
            <a:pPr>
              <a:buFont typeface="Arial" pitchFamily="34" charset="0"/>
              <a:buNone/>
            </a:pPr>
            <a:r>
              <a:rPr lang="en-US" b="1" dirty="0" smtClean="0"/>
              <a:t>Class Activity – Exercise</a:t>
            </a:r>
          </a:p>
          <a:p>
            <a:pPr>
              <a:buFont typeface="Arial" pitchFamily="34" charset="0"/>
              <a:buNone/>
            </a:pPr>
            <a:r>
              <a:rPr lang="en-US" b="0" dirty="0" smtClean="0"/>
              <a:t>Trainer presents a range of plated dishes and asks students to constructively critique them.</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ea typeface="+mn-ea"/>
                <a:cs typeface="+mn-cs"/>
              </a:rPr>
              <a:t>the correct plating of food combines with many other factors in creating a customer’s perception of the venue where they are dining and is an extremely influential element</a:t>
            </a:r>
            <a:r>
              <a:rPr lang="en-AU" sz="1200" kern="1200" baseline="0" dirty="0" smtClean="0">
                <a:solidFill>
                  <a:schemeClr val="tx1"/>
                </a:solidFill>
                <a:ea typeface="+mn-ea"/>
                <a:cs typeface="+mn-cs"/>
              </a:rPr>
              <a:t> highlighting </a:t>
            </a:r>
            <a:r>
              <a:rPr lang="en-AU" sz="1200" kern="1200" dirty="0" smtClean="0">
                <a:solidFill>
                  <a:schemeClr val="tx1"/>
                </a:solidFill>
                <a:ea typeface="+mn-ea"/>
                <a:cs typeface="+mn-cs"/>
              </a:rPr>
              <a:t>customers will infer many things about the venue from the way their food looks when it is served so the way the food looks on the plate sends a range of messages to customers about the venue such as:</a:t>
            </a:r>
          </a:p>
          <a:p>
            <a:pPr>
              <a:buFont typeface="Arial" pitchFamily="34" charset="0"/>
              <a:buChar char="•"/>
            </a:pPr>
            <a:r>
              <a:rPr lang="en-AU" sz="1200" kern="1200" dirty="0" smtClean="0">
                <a:solidFill>
                  <a:schemeClr val="tx1"/>
                </a:solidFill>
                <a:ea typeface="+mn-ea"/>
                <a:cs typeface="+mn-cs"/>
              </a:rPr>
              <a:t> Its professionalism</a:t>
            </a:r>
          </a:p>
          <a:p>
            <a:pPr>
              <a:buFont typeface="Arial" pitchFamily="34" charset="0"/>
              <a:buChar char="•"/>
            </a:pPr>
            <a:r>
              <a:rPr lang="en-AU" sz="1200" kern="1200" dirty="0" smtClean="0">
                <a:solidFill>
                  <a:schemeClr val="tx1"/>
                </a:solidFill>
                <a:ea typeface="+mn-ea"/>
                <a:cs typeface="+mn-cs"/>
              </a:rPr>
              <a:t> The care and attention it pays to food and products</a:t>
            </a:r>
          </a:p>
          <a:p>
            <a:pPr>
              <a:buFont typeface="Arial" pitchFamily="34" charset="0"/>
              <a:buChar char="•"/>
            </a:pPr>
            <a:r>
              <a:rPr lang="en-AU" sz="1200" kern="1200" dirty="0" smtClean="0">
                <a:solidFill>
                  <a:schemeClr val="tx1"/>
                </a:solidFill>
                <a:ea typeface="+mn-ea"/>
                <a:cs typeface="+mn-cs"/>
              </a:rPr>
              <a:t> Food safety</a:t>
            </a:r>
          </a:p>
          <a:p>
            <a:pPr>
              <a:buFont typeface="Arial" pitchFamily="34" charset="0"/>
              <a:buChar char="•"/>
            </a:pPr>
            <a:r>
              <a:rPr lang="en-AU" sz="1200" kern="1200" dirty="0" smtClean="0">
                <a:solidFill>
                  <a:schemeClr val="tx1"/>
                </a:solidFill>
                <a:ea typeface="+mn-ea"/>
                <a:cs typeface="+mn-cs"/>
              </a:rPr>
              <a:t> Product quality.</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customer </a:t>
            </a:r>
            <a:r>
              <a:rPr lang="en-AU" sz="1200" kern="1200" dirty="0" smtClean="0">
                <a:solidFill>
                  <a:schemeClr val="tx1"/>
                </a:solidFill>
                <a:ea typeface="+mn-ea"/>
                <a:cs typeface="+mn-cs"/>
              </a:rPr>
              <a:t>perception is also generated by other factors such as:</a:t>
            </a:r>
          </a:p>
          <a:p>
            <a:pPr>
              <a:buFont typeface="Arial" pitchFamily="34" charset="0"/>
              <a:buChar char="•"/>
            </a:pPr>
            <a:r>
              <a:rPr lang="en-AU" sz="1200" kern="1200" dirty="0" smtClean="0">
                <a:solidFill>
                  <a:schemeClr val="tx1"/>
                </a:solidFill>
                <a:ea typeface="+mn-ea"/>
                <a:cs typeface="+mn-cs"/>
              </a:rPr>
              <a:t> Prices charged and value-for-money</a:t>
            </a:r>
          </a:p>
          <a:p>
            <a:pPr>
              <a:buFont typeface="Arial" pitchFamily="34" charset="0"/>
              <a:buChar char="•"/>
            </a:pPr>
            <a:r>
              <a:rPr lang="en-AU" sz="1200" kern="1200" dirty="0" smtClean="0">
                <a:solidFill>
                  <a:schemeClr val="tx1"/>
                </a:solidFill>
                <a:ea typeface="+mn-ea"/>
                <a:cs typeface="+mn-cs"/>
              </a:rPr>
              <a:t> Décor and ambience</a:t>
            </a:r>
          </a:p>
          <a:p>
            <a:pPr>
              <a:buFont typeface="Arial" pitchFamily="34" charset="0"/>
              <a:buChar char="•"/>
            </a:pPr>
            <a:r>
              <a:rPr lang="en-AU" sz="1200" kern="1200" dirty="0" smtClean="0">
                <a:solidFill>
                  <a:schemeClr val="tx1"/>
                </a:solidFill>
                <a:ea typeface="+mn-ea"/>
                <a:cs typeface="+mn-cs"/>
              </a:rPr>
              <a:t> Service levels and standards</a:t>
            </a:r>
          </a:p>
          <a:p>
            <a:pPr>
              <a:buFont typeface="Arial" pitchFamily="34" charset="0"/>
              <a:buChar char="•"/>
            </a:pPr>
            <a:r>
              <a:rPr lang="en-AU" sz="1200" kern="1200" dirty="0" smtClean="0">
                <a:solidFill>
                  <a:schemeClr val="tx1"/>
                </a:solidFill>
                <a:ea typeface="+mn-ea"/>
                <a:cs typeface="+mn-cs"/>
              </a:rPr>
              <a:t> Location and facilities</a:t>
            </a:r>
          </a:p>
          <a:p>
            <a:pPr>
              <a:buFont typeface="Arial" pitchFamily="34" charset="0"/>
              <a:buChar char="•"/>
            </a:pPr>
            <a:r>
              <a:rPr lang="en-AU" sz="1200" kern="1200" dirty="0" smtClean="0">
                <a:solidFill>
                  <a:schemeClr val="tx1"/>
                </a:solidFill>
                <a:ea typeface="+mn-ea"/>
                <a:cs typeface="+mn-cs"/>
              </a:rPr>
              <a:t> Range of choice and options available.</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r>
              <a:rPr lang="en-AU" sz="1200" u="sng" kern="1200" dirty="0" smtClean="0">
                <a:solidFill>
                  <a:schemeClr val="tx1"/>
                </a:solidFill>
                <a:ea typeface="+mn-ea"/>
                <a:cs typeface="+mn-cs"/>
              </a:rPr>
              <a:t>http://www.peppers.com.au/food/food-preparation-plating-up-tips-video/</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http://www.youtube.com/watch?v=Gy8-SKIm4Fs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http://www.youtube.com/watch?v=Cbn2aedc8wE</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http://videos.howstuffworks.com/discovery/13870-inner-chef-plating-your-food-video.htm</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background</a:t>
            </a:r>
            <a:r>
              <a:rPr lang="en-US" baseline="0" dirty="0" smtClean="0"/>
              <a:t> to allocation of equipment for food service:</a:t>
            </a:r>
          </a:p>
          <a:p>
            <a:pPr>
              <a:buFont typeface="Arial" pitchFamily="34" charset="0"/>
              <a:buChar char="•"/>
            </a:pPr>
            <a:r>
              <a:rPr lang="en-AU" sz="1200" kern="1200" dirty="0" smtClean="0">
                <a:solidFill>
                  <a:schemeClr val="tx1"/>
                </a:solidFill>
                <a:ea typeface="+mn-ea"/>
                <a:cs typeface="+mn-cs"/>
              </a:rPr>
              <a:t> Service equipment and service platforms are items used in the plating (and decorating and display) of food items</a:t>
            </a:r>
          </a:p>
          <a:p>
            <a:pPr>
              <a:buFont typeface="Arial" pitchFamily="34" charset="0"/>
              <a:buChar char="•"/>
            </a:pPr>
            <a:r>
              <a:rPr lang="en-AU" sz="1200" kern="1200" dirty="0" smtClean="0">
                <a:solidFill>
                  <a:schemeClr val="tx1"/>
                </a:solidFill>
                <a:ea typeface="+mn-ea"/>
                <a:cs typeface="+mn-cs"/>
              </a:rPr>
              <a:t> It is important to have all service equipment available and ready before service starts</a:t>
            </a:r>
          </a:p>
          <a:p>
            <a:pPr>
              <a:buFont typeface="Arial" pitchFamily="34" charset="0"/>
              <a:buChar char="•"/>
            </a:pPr>
            <a:r>
              <a:rPr lang="en-AU" sz="1200" kern="1200" dirty="0" smtClean="0">
                <a:solidFill>
                  <a:schemeClr val="tx1"/>
                </a:solidFill>
                <a:ea typeface="+mn-ea"/>
                <a:cs typeface="+mn-cs"/>
              </a:rPr>
              <a:t> This includes equipment for lifting, pouring, portioning and general handling of all food items to be served</a:t>
            </a:r>
          </a:p>
          <a:p>
            <a:pPr>
              <a:buFont typeface="Arial" pitchFamily="34" charset="0"/>
              <a:buChar char="•"/>
            </a:pPr>
            <a:r>
              <a:rPr lang="en-AU" sz="1200" kern="1200" dirty="0" smtClean="0">
                <a:solidFill>
                  <a:schemeClr val="tx1"/>
                </a:solidFill>
                <a:ea typeface="+mn-ea"/>
                <a:cs typeface="+mn-cs"/>
              </a:rPr>
              <a:t> For food safety reasons, food handler’s gloves must be worn if hands are to be used to effectively position food items on a service platform.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service equipment must be:</a:t>
            </a:r>
          </a:p>
          <a:p>
            <a:pPr>
              <a:buFont typeface="Arial" pitchFamily="34" charset="0"/>
              <a:buChar char="•"/>
            </a:pPr>
            <a:r>
              <a:rPr lang="en-AU" sz="1200" kern="1200" dirty="0" smtClean="0">
                <a:solidFill>
                  <a:schemeClr val="tx1"/>
                </a:solidFill>
                <a:ea typeface="+mn-ea"/>
                <a:cs typeface="+mn-cs"/>
              </a:rPr>
              <a:t> In good condition</a:t>
            </a:r>
          </a:p>
          <a:p>
            <a:pPr>
              <a:buFont typeface="Arial" pitchFamily="34" charset="0"/>
              <a:buChar char="•"/>
            </a:pPr>
            <a:r>
              <a:rPr lang="en-AU" sz="1200" kern="1200" dirty="0" smtClean="0">
                <a:solidFill>
                  <a:schemeClr val="tx1"/>
                </a:solidFill>
                <a:ea typeface="+mn-ea"/>
                <a:cs typeface="+mn-cs"/>
              </a:rPr>
              <a:t> Clean and sanitised</a:t>
            </a:r>
          </a:p>
          <a:p>
            <a:pPr>
              <a:buFont typeface="Arial" pitchFamily="34" charset="0"/>
              <a:buChar char="•"/>
            </a:pPr>
            <a:r>
              <a:rPr lang="en-AU" sz="1200" kern="1200" dirty="0" smtClean="0">
                <a:solidFill>
                  <a:schemeClr val="tx1"/>
                </a:solidFill>
                <a:ea typeface="+mn-ea"/>
                <a:cs typeface="+mn-cs"/>
              </a:rPr>
              <a:t> Free of chips or cracks</a:t>
            </a:r>
          </a:p>
          <a:p>
            <a:pPr>
              <a:buFont typeface="Arial" pitchFamily="34" charset="0"/>
              <a:buChar char="•"/>
            </a:pPr>
            <a:r>
              <a:rPr lang="en-AU" sz="1200" kern="1200" dirty="0" smtClean="0">
                <a:solidFill>
                  <a:schemeClr val="tx1"/>
                </a:solidFill>
                <a:ea typeface="+mn-ea"/>
                <a:cs typeface="+mn-cs"/>
              </a:rPr>
              <a:t> Sufficient in number – a standard protocol (to help prevent colour and flavour transfer) is the one service item/utensil is only used to serve the one item/type of food</a:t>
            </a:r>
          </a:p>
          <a:p>
            <a:pPr>
              <a:buFont typeface="Arial" pitchFamily="34" charset="0"/>
              <a:buChar char="•"/>
            </a:pPr>
            <a:r>
              <a:rPr lang="en-AU" sz="1200" kern="1200" dirty="0" smtClean="0">
                <a:solidFill>
                  <a:schemeClr val="tx1"/>
                </a:solidFill>
                <a:ea typeface="+mn-ea"/>
                <a:cs typeface="+mn-cs"/>
              </a:rPr>
              <a:t> Food grade standard – meaning they will not contaminate or discolour the food items being plated or presented.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a:t>
            </a:r>
            <a:r>
              <a:rPr lang="en-US" baseline="0" dirty="0" smtClean="0"/>
              <a:t> </a:t>
            </a:r>
            <a:r>
              <a:rPr lang="en-AU" baseline="0" dirty="0" smtClean="0"/>
              <a:t>tables</a:t>
            </a:r>
            <a:r>
              <a:rPr lang="en-AU" sz="1200" kern="1200" dirty="0" smtClean="0">
                <a:solidFill>
                  <a:schemeClr val="tx1"/>
                </a:solidFill>
                <a:ea typeface="+mn-ea"/>
                <a:cs typeface="+mn-cs"/>
              </a:rPr>
              <a:t> and bench space needs to be allocated for the plating/service process</a:t>
            </a:r>
            <a:r>
              <a:rPr lang="en-AU" sz="1200" kern="1200" baseline="0" dirty="0" smtClean="0">
                <a:solidFill>
                  <a:schemeClr val="tx1"/>
                </a:solidFill>
                <a:ea typeface="+mn-ea"/>
                <a:cs typeface="+mn-cs"/>
              </a:rPr>
              <a:t> stating </a:t>
            </a:r>
            <a:r>
              <a:rPr lang="en-AU" sz="1200" kern="1200" dirty="0" smtClean="0">
                <a:solidFill>
                  <a:schemeClr val="tx1"/>
                </a:solidFill>
                <a:ea typeface="+mn-ea"/>
                <a:cs typeface="+mn-cs"/>
              </a:rPr>
              <a:t>requirements for this space include:</a:t>
            </a:r>
          </a:p>
          <a:p>
            <a:pPr>
              <a:buFont typeface="Arial" pitchFamily="34" charset="0"/>
              <a:buChar char="•"/>
            </a:pPr>
            <a:r>
              <a:rPr lang="en-AU" sz="1200" kern="1200" dirty="0" smtClean="0">
                <a:solidFill>
                  <a:schemeClr val="tx1"/>
                </a:solidFill>
                <a:ea typeface="+mn-ea"/>
                <a:cs typeface="+mn-cs"/>
              </a:rPr>
              <a:t> The area must be cleaned and sanitised immediately before use – to help prevent food poisoning/cross contamination</a:t>
            </a:r>
          </a:p>
          <a:p>
            <a:pPr>
              <a:buFont typeface="Arial" pitchFamily="34" charset="0"/>
              <a:buChar char="•"/>
            </a:pPr>
            <a:r>
              <a:rPr lang="en-AU" sz="1200" kern="1200" dirty="0" smtClean="0">
                <a:solidFill>
                  <a:schemeClr val="tx1"/>
                </a:solidFill>
                <a:ea typeface="+mn-ea"/>
                <a:cs typeface="+mn-cs"/>
              </a:rPr>
              <a:t> Once in use as a plating area it should be dedicated solely to service of food – and not used for anything else</a:t>
            </a:r>
          </a:p>
          <a:p>
            <a:pPr>
              <a:buFont typeface="Arial" pitchFamily="34" charset="0"/>
              <a:buChar char="•"/>
            </a:pPr>
            <a:r>
              <a:rPr lang="en-AU" sz="1200" kern="1200" dirty="0" smtClean="0">
                <a:solidFill>
                  <a:schemeClr val="tx1"/>
                </a:solidFill>
                <a:ea typeface="+mn-ea"/>
                <a:cs typeface="+mn-cs"/>
              </a:rPr>
              <a:t> No coughing or sneezing over the surface – or foods or plates on the tables/benches</a:t>
            </a:r>
          </a:p>
          <a:p>
            <a:pPr>
              <a:buFont typeface="Arial" pitchFamily="34" charset="0"/>
              <a:buChar char="•"/>
            </a:pPr>
            <a:r>
              <a:rPr lang="en-AU" sz="1200" kern="1200" dirty="0" smtClean="0">
                <a:solidFill>
                  <a:schemeClr val="tx1"/>
                </a:solidFill>
                <a:ea typeface="+mn-ea"/>
                <a:cs typeface="+mn-cs"/>
              </a:rPr>
              <a:t> No eating of food over these surfaces – to guard against crumbs/food dropping in to other food/food for service to customers</a:t>
            </a:r>
          </a:p>
          <a:p>
            <a:pPr>
              <a:buFont typeface="Arial" pitchFamily="34" charset="0"/>
              <a:buChar char="•"/>
            </a:pPr>
            <a:r>
              <a:rPr lang="en-AU" sz="1200" kern="1200" dirty="0" smtClean="0">
                <a:solidFill>
                  <a:schemeClr val="tx1"/>
                </a:solidFill>
                <a:ea typeface="+mn-ea"/>
                <a:cs typeface="+mn-cs"/>
              </a:rPr>
              <a:t> Spills on these areas/surfaces should be cleaned immediately – for food hygiene/safety reasons and to prevent the spread of marks on plates.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examples</a:t>
            </a:r>
            <a:r>
              <a:rPr lang="en-US" baseline="0" dirty="0" smtClean="0"/>
              <a:t> of service items/utensils:</a:t>
            </a:r>
          </a:p>
          <a:p>
            <a:pPr>
              <a:buFont typeface="Arial" pitchFamily="34" charset="0"/>
              <a:buChar char="•"/>
            </a:pPr>
            <a:r>
              <a:rPr lang="en-US" baseline="0" dirty="0" smtClean="0"/>
              <a:t> Tongs</a:t>
            </a:r>
          </a:p>
          <a:p>
            <a:pPr>
              <a:buFont typeface="Arial" pitchFamily="34" charset="0"/>
              <a:buChar char="•"/>
            </a:pPr>
            <a:r>
              <a:rPr lang="en-US" baseline="0" dirty="0" smtClean="0"/>
              <a:t> Palette knife</a:t>
            </a:r>
          </a:p>
          <a:p>
            <a:pPr>
              <a:buFont typeface="Arial" pitchFamily="34" charset="0"/>
              <a:buChar char="•"/>
            </a:pPr>
            <a:r>
              <a:rPr lang="en-US" baseline="0" dirty="0" smtClean="0"/>
              <a:t> Kitchen spatula</a:t>
            </a:r>
          </a:p>
          <a:p>
            <a:pPr>
              <a:buFont typeface="Arial" pitchFamily="34" charset="0"/>
              <a:buChar char="•"/>
            </a:pPr>
            <a:r>
              <a:rPr lang="en-US" baseline="0" dirty="0" smtClean="0"/>
              <a:t> Ladle</a:t>
            </a:r>
          </a:p>
          <a:p>
            <a:pPr>
              <a:buFont typeface="Arial" pitchFamily="34" charset="0"/>
              <a:buChar char="•"/>
            </a:pPr>
            <a:r>
              <a:rPr lang="en-US" baseline="0" dirty="0" smtClean="0"/>
              <a:t> Egg slide/lifter</a:t>
            </a:r>
          </a:p>
          <a:p>
            <a:pPr>
              <a:buFont typeface="Arial" pitchFamily="34" charset="0"/>
              <a:buChar char="•"/>
            </a:pPr>
            <a:r>
              <a:rPr lang="en-US" baseline="0" dirty="0" smtClean="0"/>
              <a:t> Squeeze bottles.</a:t>
            </a:r>
          </a:p>
          <a:p>
            <a:pPr>
              <a:buFont typeface="Arial" pitchFamily="34" charset="0"/>
              <a:buNone/>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service items/utensils as identified on the slide and explains/demonstrates use of same.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examples</a:t>
            </a:r>
            <a:r>
              <a:rPr lang="en-US" baseline="0" dirty="0" smtClean="0"/>
              <a:t> of service items/utensils:</a:t>
            </a:r>
          </a:p>
          <a:p>
            <a:pPr>
              <a:buFont typeface="Arial" pitchFamily="34" charset="0"/>
              <a:buChar char="•"/>
            </a:pPr>
            <a:r>
              <a:rPr lang="en-US" baseline="0" dirty="0" smtClean="0"/>
              <a:t> Cutting/chopping board</a:t>
            </a:r>
          </a:p>
          <a:p>
            <a:pPr>
              <a:buFont typeface="Arial" pitchFamily="34" charset="0"/>
              <a:buChar char="•"/>
            </a:pPr>
            <a:r>
              <a:rPr lang="en-US" baseline="0" dirty="0" smtClean="0"/>
              <a:t> Carving knife and fork</a:t>
            </a:r>
          </a:p>
          <a:p>
            <a:pPr>
              <a:buFont typeface="Arial" pitchFamily="34" charset="0"/>
              <a:buChar char="•"/>
            </a:pPr>
            <a:r>
              <a:rPr lang="en-US" baseline="0" dirty="0" smtClean="0"/>
              <a:t> Service trolleys and trays</a:t>
            </a:r>
          </a:p>
          <a:p>
            <a:pPr>
              <a:buFont typeface="Arial" pitchFamily="34" charset="0"/>
              <a:buChar char="•"/>
            </a:pPr>
            <a:r>
              <a:rPr lang="en-US" baseline="0" dirty="0" smtClean="0"/>
              <a:t> Cake lifters</a:t>
            </a:r>
          </a:p>
          <a:p>
            <a:pPr>
              <a:buFont typeface="Arial" pitchFamily="34" charset="0"/>
              <a:buChar char="•"/>
            </a:pPr>
            <a:r>
              <a:rPr lang="en-US" baseline="0" dirty="0" smtClean="0"/>
              <a:t> Spoodles</a:t>
            </a:r>
          </a:p>
          <a:p>
            <a:pPr>
              <a:buFont typeface="Arial" pitchFamily="34" charset="0"/>
              <a:buChar char="•"/>
            </a:pPr>
            <a:r>
              <a:rPr lang="en-US" baseline="0" dirty="0" smtClean="0"/>
              <a:t> Heat cloths.</a:t>
            </a:r>
          </a:p>
          <a:p>
            <a:pPr>
              <a:buFont typeface="Arial" pitchFamily="34" charset="0"/>
              <a:buNone/>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service items/utensils as identified on the slide and explains/demonstrates use of same.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examples</a:t>
            </a:r>
            <a:r>
              <a:rPr lang="en-US" baseline="0" dirty="0" smtClean="0"/>
              <a:t> of service/portion control utensils: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Service spoons – of different sizes (numbers)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Soup ladles – of different sizes (numbers)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Cake portion guides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Ice cream scoops.</a:t>
            </a:r>
          </a:p>
          <a:p>
            <a:pPr>
              <a:buFont typeface="Arial" pitchFamily="34" charset="0"/>
              <a:buNone/>
            </a:pPr>
            <a:endParaRPr lang="en-US"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service /portion control utensils as identified on the slide and explains/demonstrates use of same. </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examples</a:t>
            </a:r>
            <a:r>
              <a:rPr lang="en-US" baseline="0" dirty="0" smtClean="0"/>
              <a:t> of service/portion control utensils:</a:t>
            </a:r>
          </a:p>
          <a:p>
            <a:pPr>
              <a:buFont typeface="Arial" pitchFamily="34" charset="0"/>
              <a:buChar char="•"/>
            </a:pPr>
            <a:r>
              <a:rPr lang="en-US" baseline="0" dirty="0" smtClean="0"/>
              <a:t> Plastic tubs</a:t>
            </a:r>
          </a:p>
          <a:p>
            <a:pPr>
              <a:buFont typeface="Arial" pitchFamily="34" charset="0"/>
              <a:buChar char="•"/>
            </a:pPr>
            <a:r>
              <a:rPr lang="en-US" baseline="0" dirty="0" smtClean="0"/>
              <a:t> Measuring spoons</a:t>
            </a:r>
          </a:p>
          <a:p>
            <a:pPr>
              <a:buFont typeface="Arial" pitchFamily="34" charset="0"/>
              <a:buChar char="•"/>
            </a:pPr>
            <a:r>
              <a:rPr lang="en-US" baseline="0" dirty="0" smtClean="0"/>
              <a:t> Measuring cups</a:t>
            </a:r>
          </a:p>
          <a:p>
            <a:pPr>
              <a:buFont typeface="Arial" pitchFamily="34" charset="0"/>
              <a:buChar char="•"/>
            </a:pPr>
            <a:r>
              <a:rPr lang="en-US" baseline="0" dirty="0" smtClean="0"/>
              <a:t> Measuring jugs</a:t>
            </a:r>
          </a:p>
          <a:p>
            <a:pPr>
              <a:buFont typeface="Arial" pitchFamily="34" charset="0"/>
              <a:buChar char="•"/>
            </a:pPr>
            <a:r>
              <a:rPr lang="en-US" baseline="0" dirty="0" smtClean="0"/>
              <a:t> Scoops.</a:t>
            </a:r>
          </a:p>
          <a:p>
            <a:pPr>
              <a:buFont typeface="Arial" pitchFamily="34" charset="0"/>
              <a:buNone/>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service /portion control utensils as identified on the slide and explains/demonstrates use of same. </a:t>
            </a:r>
            <a:endParaRPr lang="en-US" b="0" dirty="0" smtClean="0"/>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talks</a:t>
            </a:r>
            <a:r>
              <a:rPr lang="en-US" baseline="0" dirty="0" smtClean="0"/>
              <a:t> about service </a:t>
            </a:r>
            <a:r>
              <a:rPr lang="en-AU" sz="1200" kern="1200" dirty="0" smtClean="0">
                <a:solidFill>
                  <a:schemeClr val="tx1"/>
                </a:solidFill>
                <a:ea typeface="+mn-ea"/>
                <a:cs typeface="+mn-cs"/>
              </a:rPr>
              <a:t>platforms advising they are items used as a base for food presentation and comprise plates and bowls, explaining:</a:t>
            </a:r>
          </a:p>
          <a:p>
            <a:pPr>
              <a:buFont typeface="Arial" pitchFamily="34" charset="0"/>
              <a:buChar char="•"/>
            </a:pPr>
            <a:r>
              <a:rPr lang="en-AU" sz="1200" kern="1200" dirty="0" smtClean="0">
                <a:solidFill>
                  <a:schemeClr val="tx1"/>
                </a:solidFill>
                <a:ea typeface="+mn-ea"/>
                <a:cs typeface="+mn-cs"/>
              </a:rPr>
              <a:t> Traditionally, these types of service ware are round or oval in shape. Modern trends now see more innovative items in a variety of shapes being used. This makes the overall presentation of food more visually interesting</a:t>
            </a:r>
          </a:p>
          <a:p>
            <a:pPr>
              <a:buFont typeface="Arial" pitchFamily="34" charset="0"/>
              <a:buChar char="•"/>
            </a:pPr>
            <a:r>
              <a:rPr lang="en-AU" sz="1200" kern="1200" dirty="0" smtClean="0">
                <a:solidFill>
                  <a:schemeClr val="tx1"/>
                </a:solidFill>
                <a:ea typeface="+mn-ea"/>
                <a:cs typeface="+mn-cs"/>
              </a:rPr>
              <a:t> Many plates used in modern dining include rectangle, triangle, staggered and off centre shapes and styles</a:t>
            </a:r>
          </a:p>
          <a:p>
            <a:pPr>
              <a:buFont typeface="Arial" pitchFamily="34" charset="0"/>
              <a:buChar char="•"/>
            </a:pPr>
            <a:r>
              <a:rPr lang="en-AU" sz="1200" kern="1200" dirty="0" smtClean="0">
                <a:solidFill>
                  <a:schemeClr val="tx1"/>
                </a:solidFill>
                <a:ea typeface="+mn-ea"/>
                <a:cs typeface="+mn-cs"/>
              </a:rPr>
              <a:t> Commonly, service ware is ceramic; however some innovative chefs use items such as slate and highly polished wood to add a different dimension to food presentation</a:t>
            </a:r>
          </a:p>
          <a:p>
            <a:pPr>
              <a:buFont typeface="Arial" pitchFamily="34" charset="0"/>
              <a:buChar char="•"/>
            </a:pPr>
            <a:r>
              <a:rPr lang="en-AU" sz="1200" kern="1200" dirty="0" smtClean="0">
                <a:solidFill>
                  <a:schemeClr val="tx1"/>
                </a:solidFill>
                <a:ea typeface="+mn-ea"/>
                <a:cs typeface="+mn-cs"/>
              </a:rPr>
              <a:t> The traditional colour for plates and bowls is white. This neutral colour forms a clean base to allow the natural colours of the food presented to stand out</a:t>
            </a:r>
          </a:p>
          <a:p>
            <a:pPr>
              <a:buFont typeface="Arial" pitchFamily="34" charset="0"/>
              <a:buChar char="•"/>
            </a:pPr>
            <a:r>
              <a:rPr lang="en-AU" sz="1200" kern="1200" dirty="0" smtClean="0">
                <a:solidFill>
                  <a:schemeClr val="tx1"/>
                </a:solidFill>
                <a:ea typeface="+mn-ea"/>
                <a:cs typeface="+mn-cs"/>
              </a:rPr>
              <a:t> Depending on the food being presented, other base colours such as black or red are sometimes used</a:t>
            </a:r>
          </a:p>
          <a:p>
            <a:pPr>
              <a:buFont typeface="Arial" pitchFamily="34" charset="0"/>
              <a:buChar char="•"/>
            </a:pPr>
            <a:r>
              <a:rPr lang="en-AU" sz="1200" kern="1200" dirty="0" smtClean="0">
                <a:solidFill>
                  <a:schemeClr val="tx1"/>
                </a:solidFill>
                <a:ea typeface="+mn-ea"/>
                <a:cs typeface="+mn-cs"/>
              </a:rPr>
              <a:t> Colours or designs that are ‘busy’ or have intricate design patterns are not recommended as they will usually detract from the food being presented.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examples</a:t>
            </a:r>
            <a:r>
              <a:rPr lang="en-US" baseline="0" dirty="0" smtClean="0"/>
              <a:t> of plates and bowls: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Main course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Entrée plate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Side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Oval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Deep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Rectangular plate.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plates and bowls as identified on the slide and explains/demonstrates use of same indicating what each bowl/plates may be used for. </a:t>
            </a: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examples</a:t>
            </a:r>
            <a:r>
              <a:rPr lang="en-US" baseline="0" dirty="0" smtClean="0"/>
              <a:t> of plates and bowls: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Rounded square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Square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Triangular plate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Soup/pasta bowl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Gratin dish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Ramekin/soufflé dish.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plates and bowls as identified on the slide and explains/demonstrates use of same indicating what each bowl/plates may be used for. </a:t>
            </a: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innovative service platforms stating:</a:t>
            </a:r>
          </a:p>
          <a:p>
            <a:pPr>
              <a:buFont typeface="Arial" pitchFamily="34" charset="0"/>
              <a:buChar char="•"/>
            </a:pPr>
            <a:r>
              <a:rPr lang="en-AU" sz="1200" kern="1200" dirty="0" smtClean="0">
                <a:solidFill>
                  <a:schemeClr val="tx1"/>
                </a:solidFill>
                <a:ea typeface="+mn-ea"/>
                <a:cs typeface="+mn-cs"/>
              </a:rPr>
              <a:t> These are used by chefs who are seeking something different in the way that their food is presented. Some are altogether new and inventive; others are sometimes a new ‘twist’ on the culture or tradition of different cuisines.</a:t>
            </a:r>
          </a:p>
          <a:p>
            <a:pPr>
              <a:buFont typeface="Arial" pitchFamily="34" charset="0"/>
              <a:buChar char="•"/>
            </a:pPr>
            <a:r>
              <a:rPr lang="en-AU" sz="1200" kern="1200" dirty="0" smtClean="0">
                <a:solidFill>
                  <a:schemeClr val="tx1"/>
                </a:solidFill>
                <a:ea typeface="+mn-ea"/>
                <a:cs typeface="+mn-cs"/>
              </a:rPr>
              <a:t> If looking for a new or innovative way to present food, you must consider:</a:t>
            </a:r>
          </a:p>
          <a:p>
            <a:pPr lvl="1">
              <a:buFont typeface="Arial" pitchFamily="34" charset="0"/>
              <a:buChar char="•"/>
            </a:pPr>
            <a:r>
              <a:rPr lang="en-AU" sz="1200" kern="1200" dirty="0" smtClean="0">
                <a:solidFill>
                  <a:schemeClr val="tx1"/>
                </a:solidFill>
                <a:ea typeface="+mn-ea"/>
                <a:cs typeface="+mn-cs"/>
              </a:rPr>
              <a:t> If the item is practical – may be too thick, too heavy</a:t>
            </a:r>
          </a:p>
          <a:p>
            <a:pPr lvl="1">
              <a:buFont typeface="Arial" pitchFamily="34" charset="0"/>
              <a:buChar char="•"/>
            </a:pPr>
            <a:r>
              <a:rPr lang="en-AU" sz="1200" kern="1200" dirty="0" smtClean="0">
                <a:solidFill>
                  <a:schemeClr val="tx1"/>
                </a:solidFill>
                <a:ea typeface="+mn-ea"/>
                <a:cs typeface="+mn-cs"/>
              </a:rPr>
              <a:t> If the item is hygienic and food safe</a:t>
            </a:r>
          </a:p>
          <a:p>
            <a:pPr lvl="1">
              <a:buFont typeface="Arial" pitchFamily="34" charset="0"/>
              <a:buChar char="•"/>
            </a:pPr>
            <a:r>
              <a:rPr lang="en-AU" sz="1200" kern="1200" dirty="0" smtClean="0">
                <a:solidFill>
                  <a:schemeClr val="tx1"/>
                </a:solidFill>
                <a:ea typeface="+mn-ea"/>
                <a:cs typeface="+mn-cs"/>
              </a:rPr>
              <a:t> If the item is non-porous – can hold water/moisture</a:t>
            </a:r>
          </a:p>
          <a:p>
            <a:pPr>
              <a:buFont typeface="Arial" pitchFamily="34" charset="0"/>
              <a:buNone/>
            </a:pPr>
            <a:r>
              <a:rPr lang="en-US" dirty="0" smtClean="0"/>
              <a:t>Examples include:</a:t>
            </a:r>
          </a:p>
          <a:p>
            <a:pPr>
              <a:buFont typeface="Arial" pitchFamily="34" charset="0"/>
              <a:buChar char="•"/>
            </a:pPr>
            <a:r>
              <a:rPr lang="en-US" dirty="0" smtClean="0"/>
              <a:t> Slate tile</a:t>
            </a:r>
          </a:p>
          <a:p>
            <a:pPr>
              <a:buFont typeface="Arial" pitchFamily="34" charset="0"/>
              <a:buChar char="•"/>
            </a:pPr>
            <a:r>
              <a:rPr lang="en-US" dirty="0" smtClean="0"/>
              <a:t> Banana leaf</a:t>
            </a:r>
          </a:p>
          <a:p>
            <a:pPr>
              <a:buFont typeface="Arial" pitchFamily="34" charset="0"/>
              <a:buChar char="•"/>
            </a:pPr>
            <a:r>
              <a:rPr lang="en-US" dirty="0" smtClean="0"/>
              <a:t> Sizzle plate.</a:t>
            </a:r>
          </a:p>
          <a:p>
            <a:pPr>
              <a:buFont typeface="Arial" pitchFamily="34" charset="0"/>
              <a:buNone/>
            </a:pPr>
            <a:endParaRPr lang="en-US"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innovative service platforms as identified on the slide and explains/demonstrates use of same indicating what each bowl/plates may be used for. </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display service platforms stating:</a:t>
            </a:r>
          </a:p>
          <a:p>
            <a:pPr>
              <a:buFont typeface="Arial" pitchFamily="34" charset="0"/>
              <a:buChar char="•"/>
            </a:pPr>
            <a:r>
              <a:rPr lang="en-AU" sz="1200" kern="1200" dirty="0" smtClean="0">
                <a:solidFill>
                  <a:schemeClr val="tx1"/>
                </a:solidFill>
                <a:ea typeface="+mn-ea"/>
                <a:cs typeface="+mn-cs"/>
              </a:rPr>
              <a:t> These are items used for the presentation of food on a larger scale, such as for buffets</a:t>
            </a:r>
          </a:p>
          <a:p>
            <a:pPr>
              <a:buFont typeface="Arial" pitchFamily="34" charset="0"/>
              <a:buChar char="•"/>
            </a:pPr>
            <a:r>
              <a:rPr lang="en-AU" sz="1200" kern="1200" dirty="0" smtClean="0">
                <a:solidFill>
                  <a:schemeClr val="tx1"/>
                </a:solidFill>
                <a:ea typeface="+mn-ea"/>
                <a:cs typeface="+mn-cs"/>
              </a:rPr>
              <a:t> Many of these items are used to add height and depth to a buffet layout</a:t>
            </a:r>
          </a:p>
          <a:p>
            <a:pPr>
              <a:buFont typeface="Arial" pitchFamily="34" charset="0"/>
              <a:buChar char="•"/>
            </a:pPr>
            <a:r>
              <a:rPr lang="en-AU" sz="1200" kern="1200" dirty="0" smtClean="0">
                <a:solidFill>
                  <a:schemeClr val="tx1"/>
                </a:solidFill>
                <a:ea typeface="+mn-ea"/>
                <a:cs typeface="+mn-cs"/>
              </a:rPr>
              <a:t> Polished silver or stainless steel adds elegance to the overall presentation of a buffet.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examples</a:t>
            </a:r>
            <a:r>
              <a:rPr lang="en-US" baseline="0" dirty="0" smtClean="0"/>
              <a:t> of display service platforms: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Oval platters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Round salvers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Rectangular platters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Cake stands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3-tier stands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Decorative tier stands.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display service platforms as identified on the slide and explains/demonstrates use of same indicating what each may be used for. </a:t>
            </a: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props stating:</a:t>
            </a:r>
          </a:p>
          <a:p>
            <a:pPr>
              <a:buFont typeface="Arial" pitchFamily="34" charset="0"/>
              <a:buChar char="•"/>
            </a:pPr>
            <a:r>
              <a:rPr lang="en-AU" sz="1200" kern="1200" dirty="0" smtClean="0">
                <a:solidFill>
                  <a:schemeClr val="tx1"/>
                </a:solidFill>
                <a:ea typeface="+mn-ea"/>
                <a:cs typeface="+mn-cs"/>
              </a:rPr>
              <a:t> These are items which complement food displays and can enhance a particular theme</a:t>
            </a:r>
          </a:p>
          <a:p>
            <a:pPr>
              <a:buFont typeface="Arial" pitchFamily="34" charset="0"/>
              <a:buChar char="•"/>
            </a:pPr>
            <a:r>
              <a:rPr lang="en-AU" sz="1200" kern="1200" dirty="0" smtClean="0">
                <a:solidFill>
                  <a:schemeClr val="tx1"/>
                </a:solidFill>
                <a:ea typeface="+mn-ea"/>
                <a:cs typeface="+mn-cs"/>
              </a:rPr>
              <a:t> They may also add a different dimension to the layout of a buffet, creating an interesting visual display.</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examples</a:t>
            </a:r>
            <a:r>
              <a:rPr lang="en-US" baseline="0" dirty="0" smtClean="0"/>
              <a:t> of props/food props: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Woven basket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Wine bottles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Wooden boat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Table runners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 Artificial plants.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aseline="0" dirty="0" smtClean="0"/>
          </a:p>
          <a:p>
            <a:pPr>
              <a:buFont typeface="Arial" pitchFamily="34" charset="0"/>
              <a:buNone/>
            </a:pPr>
            <a:r>
              <a:rPr lang="en-US" b="1" baseline="0" dirty="0" smtClean="0"/>
              <a:t>Class Activity – Showcasing and Explanation/Demonstration</a:t>
            </a:r>
          </a:p>
          <a:p>
            <a:pPr>
              <a:buFont typeface="Arial" pitchFamily="34" charset="0"/>
              <a:buNone/>
            </a:pPr>
            <a:r>
              <a:rPr lang="en-US" b="0" baseline="0" dirty="0" smtClean="0"/>
              <a:t>Trainer shows examples of </a:t>
            </a:r>
            <a:r>
              <a:rPr lang="en-US" baseline="0" dirty="0" smtClean="0"/>
              <a:t>propos/food props as identified on the slide and explains/demonstrates use of same indicating when/where/why they may be used. </a:t>
            </a: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food service styles stating </a:t>
            </a:r>
            <a:r>
              <a:rPr lang="en-AU" sz="1200" kern="1200" dirty="0" smtClean="0">
                <a:solidFill>
                  <a:schemeClr val="tx1"/>
                </a:solidFill>
                <a:ea typeface="+mn-ea"/>
                <a:cs typeface="+mn-cs"/>
              </a:rPr>
              <a:t>they will directly relate to how the customer expects to dine identifying the following factors will impact on or determine selection of service style:</a:t>
            </a:r>
          </a:p>
          <a:p>
            <a:pPr>
              <a:buFont typeface="Arial" pitchFamily="34" charset="0"/>
              <a:buChar char="•"/>
            </a:pPr>
            <a:r>
              <a:rPr lang="en-AU" sz="1200" kern="1200" dirty="0" smtClean="0">
                <a:solidFill>
                  <a:schemeClr val="tx1"/>
                </a:solidFill>
                <a:ea typeface="+mn-ea"/>
                <a:cs typeface="+mn-cs"/>
              </a:rPr>
              <a:t> Time of day/service period (breakfast, lunch, dinner, supper)</a:t>
            </a:r>
          </a:p>
          <a:p>
            <a:pPr>
              <a:buFont typeface="Arial" pitchFamily="34" charset="0"/>
              <a:buChar char="•"/>
            </a:pPr>
            <a:r>
              <a:rPr lang="en-AU" sz="1200" kern="1200" dirty="0" smtClean="0">
                <a:solidFill>
                  <a:schemeClr val="tx1"/>
                </a:solidFill>
                <a:ea typeface="+mn-ea"/>
                <a:cs typeface="+mn-cs"/>
              </a:rPr>
              <a:t> Occasion – for example,</a:t>
            </a:r>
            <a:r>
              <a:rPr lang="en-AU" sz="1200" kern="1200" baseline="0" dirty="0" smtClean="0">
                <a:solidFill>
                  <a:schemeClr val="tx1"/>
                </a:solidFill>
                <a:ea typeface="+mn-ea"/>
                <a:cs typeface="+mn-cs"/>
              </a:rPr>
              <a:t> </a:t>
            </a:r>
            <a:r>
              <a:rPr lang="en-US" sz="1200" dirty="0" smtClean="0">
                <a:latin typeface="Helvetica" pitchFamily="34" charset="0"/>
              </a:rPr>
              <a:t>wedding, general dining, part of an event/conference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Number of courses.</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a:t>
            </a:r>
            <a:r>
              <a:rPr lang="en-US" baseline="0" dirty="0" smtClean="0"/>
              <a:t> factors impacting styles of food service for a service session:</a:t>
            </a:r>
          </a:p>
          <a:p>
            <a:pPr>
              <a:buFont typeface="Arial" pitchFamily="34" charset="0"/>
              <a:buChar char="•"/>
            </a:pPr>
            <a:r>
              <a:rPr lang="en-AU" sz="1200" kern="1200" dirty="0" smtClean="0">
                <a:solidFill>
                  <a:schemeClr val="tx1"/>
                </a:solidFill>
                <a:ea typeface="+mn-ea"/>
                <a:cs typeface="+mn-cs"/>
              </a:rPr>
              <a:t> Time constraints – such as when service needs to start and finish </a:t>
            </a:r>
          </a:p>
          <a:p>
            <a:pPr>
              <a:buFont typeface="Arial" pitchFamily="34" charset="0"/>
              <a:buChar char="•"/>
            </a:pPr>
            <a:r>
              <a:rPr lang="en-AU" sz="1200" kern="1200" dirty="0" smtClean="0">
                <a:solidFill>
                  <a:schemeClr val="tx1"/>
                </a:solidFill>
                <a:ea typeface="+mn-ea"/>
                <a:cs typeface="+mn-cs"/>
              </a:rPr>
              <a:t> Other activities –</a:t>
            </a:r>
            <a:r>
              <a:rPr lang="en-AU" sz="1200" kern="1200" baseline="0" dirty="0" smtClean="0">
                <a:solidFill>
                  <a:schemeClr val="tx1"/>
                </a:solidFill>
                <a:ea typeface="+mn-ea"/>
                <a:cs typeface="+mn-cs"/>
              </a:rPr>
              <a:t> such </a:t>
            </a:r>
            <a:r>
              <a:rPr lang="en-AU" sz="1200" kern="1200" dirty="0" smtClean="0">
                <a:solidFill>
                  <a:schemeClr val="tx1"/>
                </a:solidFill>
                <a:ea typeface="+mn-ea"/>
                <a:cs typeface="+mn-cs"/>
              </a:rPr>
              <a:t>as speeches required to be part of the meal</a:t>
            </a:r>
          </a:p>
          <a:p>
            <a:pPr>
              <a:buFont typeface="Arial" pitchFamily="34" charset="0"/>
              <a:buChar char="•"/>
            </a:pPr>
            <a:r>
              <a:rPr lang="en-AU" sz="1200" kern="1200" dirty="0" smtClean="0">
                <a:solidFill>
                  <a:schemeClr val="tx1"/>
                </a:solidFill>
                <a:ea typeface="+mn-ea"/>
                <a:cs typeface="+mn-cs"/>
              </a:rPr>
              <a:t> Customer, client or host preferences</a:t>
            </a:r>
          </a:p>
          <a:p>
            <a:pPr>
              <a:buFont typeface="Arial" pitchFamily="34" charset="0"/>
              <a:buChar char="•"/>
            </a:pPr>
            <a:r>
              <a:rPr lang="en-AU" sz="1200" kern="1200" dirty="0" smtClean="0">
                <a:solidFill>
                  <a:schemeClr val="tx1"/>
                </a:solidFill>
                <a:ea typeface="+mn-ea"/>
                <a:cs typeface="+mn-cs"/>
              </a:rPr>
              <a:t> Number of guests dining together</a:t>
            </a:r>
          </a:p>
          <a:p>
            <a:pPr>
              <a:buFont typeface="Arial" pitchFamily="34" charset="0"/>
              <a:buChar char="•"/>
            </a:pPr>
            <a:r>
              <a:rPr lang="en-AU" sz="1200" kern="1200" dirty="0" smtClean="0">
                <a:solidFill>
                  <a:schemeClr val="tx1"/>
                </a:solidFill>
                <a:ea typeface="+mn-ea"/>
                <a:cs typeface="+mn-cs"/>
              </a:rPr>
              <a:t> Desired cuisine style</a:t>
            </a:r>
          </a:p>
          <a:p>
            <a:pPr>
              <a:buFont typeface="Arial" pitchFamily="34" charset="0"/>
              <a:buChar char="•"/>
            </a:pPr>
            <a:r>
              <a:rPr lang="en-AU" sz="1200" kern="1200" dirty="0" smtClean="0">
                <a:solidFill>
                  <a:schemeClr val="tx1"/>
                </a:solidFill>
                <a:ea typeface="+mn-ea"/>
                <a:cs typeface="+mn-cs"/>
              </a:rPr>
              <a:t> Menu style.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and differentiates between</a:t>
            </a:r>
            <a:r>
              <a:rPr lang="en-US" baseline="0" dirty="0" smtClean="0"/>
              <a:t> </a:t>
            </a:r>
            <a:r>
              <a:rPr lang="en-US" dirty="0" smtClean="0"/>
              <a:t>popular service styles:</a:t>
            </a:r>
          </a:p>
          <a:p>
            <a:r>
              <a:rPr lang="en-AU" sz="1200" b="1" kern="1200" dirty="0" smtClean="0">
                <a:solidFill>
                  <a:schemeClr val="tx1"/>
                </a:solidFill>
                <a:ea typeface="+mn-ea"/>
                <a:cs typeface="+mn-cs"/>
              </a:rPr>
              <a:t>A la carte/plated service</a:t>
            </a:r>
          </a:p>
          <a:p>
            <a:pPr>
              <a:buFont typeface="Arial" pitchFamily="34" charset="0"/>
              <a:buChar char="•"/>
            </a:pPr>
            <a:r>
              <a:rPr lang="en-AU" sz="1200" kern="1200" dirty="0" smtClean="0">
                <a:solidFill>
                  <a:schemeClr val="tx1"/>
                </a:solidFill>
                <a:ea typeface="+mn-ea"/>
                <a:cs typeface="+mn-cs"/>
              </a:rPr>
              <a:t> A la carte service involves customers ordering dishes from an extensive menu. This style of service allows/requires food to be cooked to order, usually for small groups of customers arriving and dining at different times</a:t>
            </a:r>
          </a:p>
          <a:p>
            <a:pPr>
              <a:buFont typeface="Arial" pitchFamily="34" charset="0"/>
              <a:buChar char="•"/>
            </a:pPr>
            <a:r>
              <a:rPr lang="en-AU" sz="1200" kern="1200" dirty="0" smtClean="0">
                <a:solidFill>
                  <a:schemeClr val="tx1"/>
                </a:solidFill>
                <a:ea typeface="+mn-ea"/>
                <a:cs typeface="+mn-cs"/>
              </a:rPr>
              <a:t> Courses on an à la carte menu include; appetiser, entrée, main course and dessert</a:t>
            </a:r>
          </a:p>
          <a:p>
            <a:pPr>
              <a:buFont typeface="Arial" pitchFamily="34" charset="0"/>
              <a:buChar char="•"/>
            </a:pPr>
            <a:r>
              <a:rPr lang="en-AU" sz="1200" kern="1200" dirty="0" smtClean="0">
                <a:solidFill>
                  <a:schemeClr val="tx1"/>
                </a:solidFill>
                <a:ea typeface="+mn-ea"/>
                <a:cs typeface="+mn-cs"/>
              </a:rPr>
              <a:t> Each kitchen section will prepare and cook different elements of the menu and will have different set up requirements in relation to food, equipment and service ware</a:t>
            </a:r>
          </a:p>
          <a:p>
            <a:pPr>
              <a:buFont typeface="Arial" pitchFamily="34" charset="0"/>
              <a:buChar char="•"/>
            </a:pPr>
            <a:r>
              <a:rPr lang="en-AU" sz="1200" kern="1200" dirty="0" smtClean="0">
                <a:solidFill>
                  <a:schemeClr val="tx1"/>
                </a:solidFill>
                <a:ea typeface="+mn-ea"/>
                <a:cs typeface="+mn-cs"/>
              </a:rPr>
              <a:t> A la carte food presentation is usually the most detailed in presentation and menu items may have many elements</a:t>
            </a:r>
          </a:p>
          <a:p>
            <a:pPr>
              <a:buFont typeface="Arial" pitchFamily="34" charset="0"/>
              <a:buChar char="•"/>
            </a:pPr>
            <a:r>
              <a:rPr lang="en-AU" sz="1200" kern="1200" dirty="0" smtClean="0">
                <a:solidFill>
                  <a:schemeClr val="tx1"/>
                </a:solidFill>
                <a:ea typeface="+mn-ea"/>
                <a:cs typeface="+mn-cs"/>
              </a:rPr>
              <a:t> Menu components are generally of high quality and many, such as vegetables, starches and garnishes are par cooked to assist with faster cooking and service</a:t>
            </a:r>
          </a:p>
          <a:p>
            <a:pPr>
              <a:buFont typeface="Arial" pitchFamily="34" charset="0"/>
              <a:buChar char="•"/>
            </a:pPr>
            <a:r>
              <a:rPr lang="en-AU" sz="1200" kern="1200" dirty="0" smtClean="0">
                <a:solidFill>
                  <a:schemeClr val="tx1"/>
                </a:solidFill>
                <a:ea typeface="+mn-ea"/>
                <a:cs typeface="+mn-cs"/>
              </a:rPr>
              <a:t> Completed/plated meals and their components are sent to the ‘pass’ where the senior Chef will quality check and may add final touches such as sauces and garnishes to the dishes before sending them out to the diners</a:t>
            </a:r>
          </a:p>
          <a:p>
            <a:pPr>
              <a:buFont typeface="Arial" pitchFamily="34" charset="0"/>
              <a:buChar char="•"/>
            </a:pPr>
            <a:r>
              <a:rPr lang="en-AU" sz="1200" kern="1200" dirty="0" smtClean="0">
                <a:solidFill>
                  <a:schemeClr val="tx1"/>
                </a:solidFill>
                <a:ea typeface="+mn-ea"/>
                <a:cs typeface="+mn-cs"/>
              </a:rPr>
              <a:t> The same style of service applies to the service of table d’hôte menus</a:t>
            </a:r>
          </a:p>
          <a:p>
            <a:pPr>
              <a:buFont typeface="Arial" pitchFamily="34" charset="0"/>
              <a:buChar char="•"/>
            </a:pPr>
            <a:r>
              <a:rPr lang="en-AU" sz="1200" kern="1200" dirty="0" smtClean="0">
                <a:solidFill>
                  <a:schemeClr val="tx1"/>
                </a:solidFill>
                <a:ea typeface="+mn-ea"/>
                <a:cs typeface="+mn-cs"/>
              </a:rPr>
              <a:t> Plated service of meals is also referred to as à l’anglaise.</a:t>
            </a:r>
          </a:p>
          <a:p>
            <a:r>
              <a:rPr lang="en-AU" sz="1200" b="1" kern="1200" dirty="0" smtClean="0">
                <a:solidFill>
                  <a:schemeClr val="tx1"/>
                </a:solidFill>
                <a:ea typeface="+mn-ea"/>
                <a:cs typeface="+mn-cs"/>
              </a:rPr>
              <a:t>Function service</a:t>
            </a:r>
          </a:p>
          <a:p>
            <a:pPr>
              <a:buFont typeface="Arial" pitchFamily="34" charset="0"/>
              <a:buChar char="•"/>
            </a:pPr>
            <a:r>
              <a:rPr lang="en-AU" sz="1200" kern="1200" dirty="0" smtClean="0">
                <a:solidFill>
                  <a:schemeClr val="tx1"/>
                </a:solidFill>
                <a:ea typeface="+mn-ea"/>
                <a:cs typeface="+mn-cs"/>
              </a:rPr>
              <a:t> In function service, customers have a limited menu choice. This style of service is usually delivered for large functions, such as weddings and birthday parties, where the guests are usually seated and the group is served the same course at the same time</a:t>
            </a:r>
          </a:p>
          <a:p>
            <a:pPr>
              <a:buFont typeface="Arial" pitchFamily="34" charset="0"/>
              <a:buChar char="•"/>
            </a:pPr>
            <a:r>
              <a:rPr lang="en-AU" sz="1200" kern="1200" dirty="0" smtClean="0">
                <a:solidFill>
                  <a:schemeClr val="tx1"/>
                </a:solidFill>
                <a:ea typeface="+mn-ea"/>
                <a:cs typeface="+mn-cs"/>
              </a:rPr>
              <a:t> There are normally only three or four courses served on a banquet menu – appetiser, entrée, main course and dessert</a:t>
            </a:r>
          </a:p>
          <a:p>
            <a:pPr>
              <a:buFont typeface="Arial" pitchFamily="34" charset="0"/>
              <a:buChar char="•"/>
            </a:pPr>
            <a:r>
              <a:rPr lang="en-AU" sz="1200" kern="1200" dirty="0" smtClean="0">
                <a:solidFill>
                  <a:schemeClr val="tx1"/>
                </a:solidFill>
                <a:ea typeface="+mn-ea"/>
                <a:cs typeface="+mn-cs"/>
              </a:rPr>
              <a:t> There are usually only two or three menu choices for each course</a:t>
            </a:r>
          </a:p>
          <a:p>
            <a:pPr>
              <a:buFont typeface="Arial" pitchFamily="34" charset="0"/>
              <a:buChar char="•"/>
            </a:pPr>
            <a:r>
              <a:rPr lang="en-AU" sz="1200" kern="1200" dirty="0" smtClean="0">
                <a:solidFill>
                  <a:schemeClr val="tx1"/>
                </a:solidFill>
                <a:ea typeface="+mn-ea"/>
                <a:cs typeface="+mn-cs"/>
              </a:rPr>
              <a:t> Service set up for banqueting usually involves menu components being precooked (hot meals) trayed up, re-thermalised and stored in heated units sometimes referred to as ‘hot boxes’</a:t>
            </a:r>
          </a:p>
          <a:p>
            <a:pPr>
              <a:buFont typeface="Arial" pitchFamily="34" charset="0"/>
              <a:buChar char="•"/>
            </a:pPr>
            <a:r>
              <a:rPr lang="en-AU" sz="1200" kern="1200" dirty="0" smtClean="0">
                <a:solidFill>
                  <a:schemeClr val="tx1"/>
                </a:solidFill>
                <a:ea typeface="+mn-ea"/>
                <a:cs typeface="+mn-cs"/>
              </a:rPr>
              <a:t> Service staff form a ‘line’ and each person is responsible for placing one or two food components on the plate as it is passed along a plating table. This repetitive style of plating usually ensures consistency of plating and presentation</a:t>
            </a:r>
          </a:p>
          <a:p>
            <a:pPr>
              <a:buFont typeface="Arial" pitchFamily="34" charset="0"/>
              <a:buChar char="•"/>
            </a:pPr>
            <a:r>
              <a:rPr lang="en-AU" sz="1200" kern="1200" dirty="0" smtClean="0">
                <a:solidFill>
                  <a:schemeClr val="tx1"/>
                </a:solidFill>
                <a:ea typeface="+mn-ea"/>
                <a:cs typeface="+mn-cs"/>
              </a:rPr>
              <a:t> A senior Chef will usually service the end of the line for final inspection, quality control and cleaning drips or spills</a:t>
            </a:r>
          </a:p>
          <a:p>
            <a:pPr>
              <a:buFont typeface="Arial" pitchFamily="34" charset="0"/>
              <a:buChar char="•"/>
            </a:pPr>
            <a:r>
              <a:rPr lang="en-AU" sz="1200" kern="1200" dirty="0" smtClean="0">
                <a:solidFill>
                  <a:schemeClr val="tx1"/>
                </a:solidFill>
                <a:ea typeface="+mn-ea"/>
                <a:cs typeface="+mn-cs"/>
              </a:rPr>
              <a:t> Meals not meeting the required uniform standard of presentation are rejected.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and differentiating between</a:t>
            </a:r>
            <a:r>
              <a:rPr lang="en-US" baseline="0" dirty="0" smtClean="0"/>
              <a:t> </a:t>
            </a:r>
            <a:r>
              <a:rPr lang="en-US" dirty="0" smtClean="0"/>
              <a:t>popular service styles:</a:t>
            </a:r>
          </a:p>
          <a:p>
            <a:r>
              <a:rPr lang="en-AU" sz="1200" b="1" kern="1200" dirty="0" smtClean="0">
                <a:solidFill>
                  <a:schemeClr val="tx1"/>
                </a:solidFill>
                <a:ea typeface="+mn-ea"/>
                <a:cs typeface="+mn-cs"/>
              </a:rPr>
              <a:t>Buffet service</a:t>
            </a:r>
          </a:p>
          <a:p>
            <a:pPr>
              <a:buFont typeface="Arial" pitchFamily="34" charset="0"/>
              <a:buChar char="•"/>
            </a:pPr>
            <a:r>
              <a:rPr lang="en-AU" sz="1200" kern="1200" dirty="0" smtClean="0">
                <a:solidFill>
                  <a:schemeClr val="tx1"/>
                </a:solidFill>
                <a:ea typeface="+mn-ea"/>
                <a:cs typeface="+mn-cs"/>
              </a:rPr>
              <a:t> Buffet service entails the layout and display of hot and cold food items. Generally customers serve themselves from a wide variety of displayed menu items</a:t>
            </a:r>
          </a:p>
          <a:p>
            <a:pPr>
              <a:buFont typeface="Arial" pitchFamily="34" charset="0"/>
              <a:buChar char="•"/>
            </a:pPr>
            <a:r>
              <a:rPr lang="en-AU" sz="1200" kern="1200" dirty="0" smtClean="0">
                <a:solidFill>
                  <a:schemeClr val="tx1"/>
                </a:solidFill>
                <a:ea typeface="+mn-ea"/>
                <a:cs typeface="+mn-cs"/>
              </a:rPr>
              <a:t> In some instances, foods may be portioned and plated by service staff, such as at a carving station for roast meats or service of wet dishes and other items from Bain Maries. This assists with portion control and observation of food hygiene procedures</a:t>
            </a:r>
          </a:p>
          <a:p>
            <a:pPr>
              <a:buFont typeface="Arial" pitchFamily="34" charset="0"/>
              <a:buChar char="•"/>
            </a:pPr>
            <a:r>
              <a:rPr lang="en-AU" sz="1200" kern="1200" dirty="0" smtClean="0">
                <a:solidFill>
                  <a:schemeClr val="tx1"/>
                </a:solidFill>
                <a:ea typeface="+mn-ea"/>
                <a:cs typeface="+mn-cs"/>
              </a:rPr>
              <a:t> Sections of the buffet may include; appetisers, entrees, soups, wet and dry main courses, carved roast meats, sauces, vegetables, rice and pasta dishes, salads and desserts</a:t>
            </a:r>
          </a:p>
          <a:p>
            <a:pPr>
              <a:buFont typeface="Arial" pitchFamily="34" charset="0"/>
              <a:buChar char="•"/>
            </a:pPr>
            <a:r>
              <a:rPr lang="en-AU" sz="1200" kern="1200" dirty="0" smtClean="0">
                <a:solidFill>
                  <a:schemeClr val="tx1"/>
                </a:solidFill>
                <a:ea typeface="+mn-ea"/>
                <a:cs typeface="+mn-cs"/>
              </a:rPr>
              <a:t> Aside from decorating and garnishing individual food items, a buffet layout may also be decorated with other items to enhance the overall presentation and create a ‘spectacle’ for the customers</a:t>
            </a:r>
          </a:p>
          <a:p>
            <a:pPr>
              <a:buFont typeface="Arial" pitchFamily="34" charset="0"/>
              <a:buChar char="•"/>
            </a:pPr>
            <a:r>
              <a:rPr lang="en-AU" sz="1200" kern="1200" dirty="0" smtClean="0">
                <a:solidFill>
                  <a:schemeClr val="tx1"/>
                </a:solidFill>
                <a:ea typeface="+mn-ea"/>
                <a:cs typeface="+mn-cs"/>
              </a:rPr>
              <a:t> Buffet centrepieces can include Flower arrangements, Decorated centrepieces, Ice carving, Margarine models, Chocolate and marzipan models, Themed furnishings and props, Themed ingredients or items, Carved fruits and vegetables, Fruit and vegetable baskets, Props such as vases and artificial plants</a:t>
            </a:r>
          </a:p>
          <a:p>
            <a:pPr>
              <a:buFont typeface="Arial" pitchFamily="34" charset="0"/>
              <a:buChar char="•"/>
            </a:pPr>
            <a:r>
              <a:rPr lang="en-AU" sz="1200" kern="1200" dirty="0" smtClean="0">
                <a:solidFill>
                  <a:schemeClr val="tx1"/>
                </a:solidFill>
                <a:ea typeface="+mn-ea"/>
                <a:cs typeface="+mn-cs"/>
              </a:rPr>
              <a:t> A buffet may be prepared for any service period at the request of the customer or client. This can include breakfast, lunch, dinner and supper</a:t>
            </a:r>
          </a:p>
          <a:p>
            <a:pPr>
              <a:buFont typeface="Arial" pitchFamily="34" charset="0"/>
              <a:buChar char="•"/>
            </a:pPr>
            <a:r>
              <a:rPr lang="en-AU" sz="1200" kern="1200" dirty="0" smtClean="0">
                <a:solidFill>
                  <a:schemeClr val="tx1"/>
                </a:solidFill>
                <a:ea typeface="+mn-ea"/>
                <a:cs typeface="+mn-cs"/>
              </a:rPr>
              <a:t> Large hotels usually serve a buffet breakfast as this frees the kitchen for preparation of menu items for an à la carte lunch and dinner service</a:t>
            </a:r>
          </a:p>
          <a:p>
            <a:pPr>
              <a:buFont typeface="Arial" pitchFamily="34" charset="0"/>
              <a:buChar char="•"/>
            </a:pPr>
            <a:r>
              <a:rPr lang="en-AU" sz="1200" kern="1200" dirty="0" smtClean="0">
                <a:solidFill>
                  <a:schemeClr val="tx1"/>
                </a:solidFill>
                <a:ea typeface="+mn-ea"/>
                <a:cs typeface="+mn-cs"/>
              </a:rPr>
              <a:t> Food for buffets is usually placed neatly into trays or onto plates and platters then garnished</a:t>
            </a:r>
          </a:p>
          <a:p>
            <a:pPr>
              <a:buFont typeface="Arial" pitchFamily="34" charset="0"/>
              <a:buChar char="•"/>
            </a:pPr>
            <a:r>
              <a:rPr lang="en-AU" sz="1200" kern="1200" dirty="0" smtClean="0">
                <a:solidFill>
                  <a:schemeClr val="tx1"/>
                </a:solidFill>
                <a:ea typeface="+mn-ea"/>
                <a:cs typeface="+mn-cs"/>
              </a:rPr>
              <a:t> Hot items may be kept in a Bain Marie or chafing dishes and cold items in a salad well, open display chiller or on ice</a:t>
            </a:r>
          </a:p>
          <a:p>
            <a:pPr>
              <a:buFont typeface="Arial" pitchFamily="34" charset="0"/>
              <a:buChar char="•"/>
            </a:pPr>
            <a:r>
              <a:rPr lang="en-AU" sz="1200" kern="1200" dirty="0" smtClean="0">
                <a:solidFill>
                  <a:schemeClr val="tx1"/>
                </a:solidFill>
                <a:ea typeface="+mn-ea"/>
                <a:cs typeface="+mn-cs"/>
              </a:rPr>
              <a:t> During buffet service, staff should ensure that emptied or unattractive food containers are removed and these are replaced with fresh items</a:t>
            </a:r>
          </a:p>
          <a:p>
            <a:pPr>
              <a:buFont typeface="Arial" pitchFamily="34" charset="0"/>
              <a:buChar char="•"/>
            </a:pPr>
            <a:r>
              <a:rPr lang="en-AU" sz="1200" kern="1200" dirty="0" smtClean="0">
                <a:solidFill>
                  <a:schemeClr val="tx1"/>
                </a:solidFill>
                <a:ea typeface="+mn-ea"/>
                <a:cs typeface="+mn-cs"/>
              </a:rPr>
              <a:t> It is also important to continually replace unclean service utensils such as tongs, spoons and ladles with clean ones.</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Stand-up service</a:t>
            </a:r>
          </a:p>
          <a:p>
            <a:pPr>
              <a:buFont typeface="Arial" pitchFamily="34" charset="0"/>
              <a:buChar char="•"/>
            </a:pPr>
            <a:r>
              <a:rPr lang="en-AU" sz="1200" b="0" kern="1200" dirty="0" smtClean="0">
                <a:solidFill>
                  <a:schemeClr val="tx1"/>
                </a:solidFill>
                <a:ea typeface="+mn-ea"/>
                <a:cs typeface="+mn-cs"/>
              </a:rPr>
              <a:t> Some functions/events require catering to be provided in stand-up form. This is an option where guests stand-up to eat and drink as opposed to being seated at tables</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For stand-up menus:</a:t>
            </a:r>
            <a:endParaRPr lang="en-AU" sz="1200" b="1"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The menu items will feature finger food – small/bite-size food which can be eaten using the fingers instead of traditionally cutlery</a:t>
            </a:r>
          </a:p>
          <a:p>
            <a:pPr lvl="1">
              <a:buFont typeface="Arial" pitchFamily="34" charset="0"/>
              <a:buChar char="•"/>
            </a:pPr>
            <a:r>
              <a:rPr lang="en-AU" sz="1200" kern="1200" dirty="0" smtClean="0">
                <a:solidFill>
                  <a:schemeClr val="tx1"/>
                </a:solidFill>
                <a:ea typeface="+mn-ea"/>
                <a:cs typeface="+mn-cs"/>
              </a:rPr>
              <a:t> Forks and toothpicks are provided – for some foods to assist wit their consumption</a:t>
            </a:r>
          </a:p>
          <a:p>
            <a:pPr lvl="1">
              <a:buFont typeface="Arial" pitchFamily="34" charset="0"/>
              <a:buChar char="•"/>
            </a:pPr>
            <a:r>
              <a:rPr lang="en-AU" sz="1200" kern="1200" dirty="0" smtClean="0">
                <a:solidFill>
                  <a:schemeClr val="tx1"/>
                </a:solidFill>
                <a:ea typeface="+mn-ea"/>
                <a:cs typeface="+mn-cs"/>
              </a:rPr>
              <a:t> Food may be placed on central/common tables – where guests help//serve themselves</a:t>
            </a:r>
          </a:p>
          <a:p>
            <a:pPr lvl="1">
              <a:buFont typeface="Arial" pitchFamily="34" charset="0"/>
              <a:buChar char="•"/>
            </a:pPr>
            <a:r>
              <a:rPr lang="en-AU" sz="1200" kern="1200" dirty="0" smtClean="0">
                <a:solidFill>
                  <a:schemeClr val="tx1"/>
                </a:solidFill>
                <a:ea typeface="+mn-ea"/>
                <a:cs typeface="+mn-cs"/>
              </a:rPr>
              <a:t> Food is served/presented using platters, bowls and trays – with side plates and serviettes required for guests</a:t>
            </a:r>
          </a:p>
          <a:p>
            <a:pPr lvl="1">
              <a:buFont typeface="Arial" pitchFamily="34" charset="0"/>
              <a:buChar char="•"/>
            </a:pPr>
            <a:r>
              <a:rPr lang="en-AU" sz="1200" kern="1200" dirty="0" smtClean="0">
                <a:solidFill>
                  <a:schemeClr val="tx1"/>
                </a:solidFill>
                <a:ea typeface="+mn-ea"/>
                <a:cs typeface="+mn-cs"/>
              </a:rPr>
              <a:t> Wait staff may circulate among guests offering food – clearing used plates and replenishing foods as required.</a:t>
            </a:r>
          </a:p>
          <a:p>
            <a:pPr lvl="1">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identifying and differentiating between</a:t>
            </a:r>
            <a:r>
              <a:rPr lang="en-US" baseline="0" dirty="0" smtClean="0"/>
              <a:t> </a:t>
            </a:r>
            <a:r>
              <a:rPr lang="en-US" dirty="0" smtClean="0"/>
              <a:t>popular service styles:</a:t>
            </a:r>
          </a:p>
          <a:p>
            <a:r>
              <a:rPr lang="en-AU" sz="1200" b="1" kern="1200" dirty="0" smtClean="0">
                <a:solidFill>
                  <a:schemeClr val="tx1"/>
                </a:solidFill>
                <a:ea typeface="+mn-ea"/>
                <a:cs typeface="+mn-cs"/>
              </a:rPr>
              <a:t>Family service</a:t>
            </a:r>
          </a:p>
          <a:p>
            <a:pPr>
              <a:buFont typeface="Arial" pitchFamily="34" charset="0"/>
              <a:buChar char="•"/>
            </a:pPr>
            <a:r>
              <a:rPr lang="en-AU" sz="1200" b="0" kern="1200" dirty="0" smtClean="0">
                <a:solidFill>
                  <a:schemeClr val="tx1"/>
                </a:solidFill>
                <a:ea typeface="+mn-ea"/>
                <a:cs typeface="+mn-cs"/>
              </a:rPr>
              <a:t> This style of service is where dishes are placed in the middle of the guests’ table and the guests help/serve themselves.</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Service requires:</a:t>
            </a:r>
            <a:endParaRPr lang="en-AU" sz="1200" b="1"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Suitable shape, style and size/s of serving dishes – for placement of menu items onto the table</a:t>
            </a:r>
          </a:p>
          <a:p>
            <a:pPr lvl="1">
              <a:buFont typeface="Arial" pitchFamily="34" charset="0"/>
              <a:buChar char="•"/>
            </a:pPr>
            <a:r>
              <a:rPr lang="en-AU" sz="1200" kern="1200" dirty="0" smtClean="0">
                <a:solidFill>
                  <a:schemeClr val="tx1"/>
                </a:solidFill>
                <a:ea typeface="+mn-ea"/>
                <a:cs typeface="+mn-cs"/>
              </a:rPr>
              <a:t> Serving spoons, ladles or tongs – suitable for the menu items served</a:t>
            </a:r>
          </a:p>
          <a:p>
            <a:pPr lvl="1">
              <a:buFont typeface="Arial" pitchFamily="34" charset="0"/>
              <a:buChar char="•"/>
            </a:pPr>
            <a:r>
              <a:rPr lang="en-AU" sz="1200" kern="1200" dirty="0" smtClean="0">
                <a:solidFill>
                  <a:schemeClr val="tx1"/>
                </a:solidFill>
                <a:ea typeface="+mn-ea"/>
                <a:cs typeface="+mn-cs"/>
              </a:rPr>
              <a:t> Placement of guests crockery and cutlery onto the table before the food is served to the table – so guests may begin serving themselves as soon as the food is delivered to the table</a:t>
            </a:r>
          </a:p>
          <a:p>
            <a:pPr lvl="1">
              <a:buFont typeface="Arial" pitchFamily="34" charset="0"/>
              <a:buChar char="•"/>
            </a:pPr>
            <a:r>
              <a:rPr lang="en-AU" sz="1200" kern="1200" dirty="0" smtClean="0">
                <a:solidFill>
                  <a:schemeClr val="tx1"/>
                </a:solidFill>
                <a:ea typeface="+mn-ea"/>
                <a:cs typeface="+mn-cs"/>
              </a:rPr>
              <a:t> Attention to portioning of food – to ensure there is sufficient food served to cater for the number of guests at the table.</a:t>
            </a:r>
          </a:p>
          <a:p>
            <a:r>
              <a:rPr lang="en-AU" sz="1200" b="1" kern="1200" dirty="0" smtClean="0">
                <a:solidFill>
                  <a:schemeClr val="tx1"/>
                </a:solidFill>
                <a:ea typeface="+mn-ea"/>
                <a:cs typeface="+mn-cs"/>
              </a:rPr>
              <a:t>Gueridon service</a:t>
            </a:r>
          </a:p>
          <a:p>
            <a:pPr>
              <a:buFont typeface="Arial" pitchFamily="34" charset="0"/>
              <a:buChar char="•"/>
            </a:pPr>
            <a:r>
              <a:rPr lang="en-AU" sz="1200" b="0" kern="1200" dirty="0" smtClean="0">
                <a:solidFill>
                  <a:schemeClr val="tx1"/>
                </a:solidFill>
                <a:ea typeface="+mn-ea"/>
                <a:cs typeface="+mn-cs"/>
              </a:rPr>
              <a:t> This is a fine dining option where food is tableside service/cookery. Gueridon service can include the cooking of dishes at the table, the creation of salads in front of guests, the completion of dishes at the table which were started (pre-prepared) in the kitchen and the ‘flambéing’ of dishes at the table</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Gueridon service requires:</a:t>
            </a:r>
            <a:endParaRPr lang="en-AU" sz="1200" b="1"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Specialist equipment to deliver the tableside service – such as gueridon trolleys, burners, pans and service equipment </a:t>
            </a:r>
          </a:p>
          <a:p>
            <a:pPr lvl="1">
              <a:buFont typeface="Arial" pitchFamily="34" charset="0"/>
              <a:buChar char="•"/>
            </a:pPr>
            <a:r>
              <a:rPr lang="en-AU" sz="1200" kern="1200" dirty="0" smtClean="0">
                <a:solidFill>
                  <a:schemeClr val="tx1"/>
                </a:solidFill>
                <a:ea typeface="+mn-ea"/>
                <a:cs typeface="+mn-cs"/>
              </a:rPr>
              <a:t> High level skills for service staff – cooking, showmanship, personal presentation, product knowledge, selling and conversational skills, interpersonal skills, food presentation and silver service skills</a:t>
            </a:r>
          </a:p>
          <a:p>
            <a:pPr lvl="1">
              <a:buFont typeface="Arial" pitchFamily="34" charset="0"/>
              <a:buChar char="•"/>
            </a:pPr>
            <a:r>
              <a:rPr lang="en-AU" sz="1200" kern="1200" dirty="0" smtClean="0">
                <a:solidFill>
                  <a:schemeClr val="tx1"/>
                </a:solidFill>
                <a:ea typeface="+mn-ea"/>
                <a:cs typeface="+mn-cs"/>
              </a:rPr>
              <a:t> Increased time for the high levels of preparation of foods and equipment to support the tableside preparation and cooking work – such as:</a:t>
            </a:r>
          </a:p>
          <a:p>
            <a:pPr lvl="1">
              <a:buFont typeface="Arial" pitchFamily="34" charset="0"/>
              <a:buChar char="•"/>
            </a:pPr>
            <a:r>
              <a:rPr lang="en-AU" sz="1200" kern="1200" dirty="0" smtClean="0">
                <a:solidFill>
                  <a:schemeClr val="tx1"/>
                </a:solidFill>
                <a:ea typeface="+mn-ea"/>
                <a:cs typeface="+mn-cs"/>
              </a:rPr>
              <a:t> Trimming, peeling cutting ingredients</a:t>
            </a:r>
          </a:p>
          <a:p>
            <a:pPr lvl="1">
              <a:buFont typeface="Arial" pitchFamily="34" charset="0"/>
              <a:buChar char="•"/>
            </a:pPr>
            <a:r>
              <a:rPr lang="en-AU" sz="1200" kern="1200" dirty="0" smtClean="0">
                <a:solidFill>
                  <a:schemeClr val="tx1"/>
                </a:solidFill>
                <a:ea typeface="+mn-ea"/>
                <a:cs typeface="+mn-cs"/>
              </a:rPr>
              <a:t> Portioning ingredients</a:t>
            </a:r>
          </a:p>
          <a:p>
            <a:pPr lvl="1">
              <a:buFont typeface="Arial" pitchFamily="34" charset="0"/>
              <a:buChar char="•"/>
            </a:pPr>
            <a:r>
              <a:rPr lang="en-AU" sz="1200" kern="1200" dirty="0" smtClean="0">
                <a:solidFill>
                  <a:schemeClr val="tx1"/>
                </a:solidFill>
                <a:ea typeface="+mn-ea"/>
                <a:cs typeface="+mn-cs"/>
              </a:rPr>
              <a:t> Pre-cooking items </a:t>
            </a:r>
          </a:p>
          <a:p>
            <a:pPr lvl="1">
              <a:buFont typeface="Arial" pitchFamily="34" charset="0"/>
              <a:buChar char="•"/>
            </a:pPr>
            <a:r>
              <a:rPr lang="en-AU" sz="1200" kern="1200" dirty="0" smtClean="0">
                <a:solidFill>
                  <a:schemeClr val="tx1"/>
                </a:solidFill>
                <a:ea typeface="+mn-ea"/>
                <a:cs typeface="+mn-cs"/>
              </a:rPr>
              <a:t> Preparing food/ingredients trays and loading trolleys ready for use by waiters.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identifying and differentiating between</a:t>
            </a:r>
            <a:r>
              <a:rPr lang="en-US" baseline="0" dirty="0" smtClean="0"/>
              <a:t> </a:t>
            </a:r>
            <a:r>
              <a:rPr lang="en-US" dirty="0" smtClean="0"/>
              <a:t>popular service styles:</a:t>
            </a:r>
          </a:p>
          <a:p>
            <a:r>
              <a:rPr lang="en-AU" sz="1200" b="1" kern="1200" dirty="0" smtClean="0">
                <a:solidFill>
                  <a:schemeClr val="tx1"/>
                </a:solidFill>
                <a:ea typeface="+mn-ea"/>
                <a:cs typeface="+mn-cs"/>
              </a:rPr>
              <a:t>Silver service</a:t>
            </a:r>
          </a:p>
          <a:p>
            <a:pPr>
              <a:buFont typeface="Arial" pitchFamily="34" charset="0"/>
              <a:buChar char="•"/>
            </a:pPr>
            <a:r>
              <a:rPr lang="en-AU" sz="1200" b="0" kern="1200" dirty="0" smtClean="0">
                <a:solidFill>
                  <a:schemeClr val="tx1"/>
                </a:solidFill>
                <a:ea typeface="+mn-ea"/>
                <a:cs typeface="+mn-cs"/>
              </a:rPr>
              <a:t> Silver service involves the use of silver service gear (usually a spoon and fork) to serve food from salvers/platters to guest plates at the table</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Silver service is a fine dining option and an integral element of </a:t>
            </a:r>
            <a:r>
              <a:rPr lang="en-AU" sz="1200" b="0" kern="1200" dirty="0" err="1" smtClean="0">
                <a:solidFill>
                  <a:schemeClr val="tx1"/>
                </a:solidFill>
                <a:ea typeface="+mn-ea"/>
                <a:cs typeface="+mn-cs"/>
              </a:rPr>
              <a:t>gueridon</a:t>
            </a:r>
            <a:r>
              <a:rPr lang="en-AU" sz="1200" b="0" kern="1200" dirty="0" smtClean="0">
                <a:solidFill>
                  <a:schemeClr val="tx1"/>
                </a:solidFill>
                <a:ea typeface="+mn-ea"/>
                <a:cs typeface="+mn-cs"/>
              </a:rPr>
              <a:t> service</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In relation to silver service:</a:t>
            </a:r>
            <a:endParaRPr lang="en-AU" sz="1200" b="1"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Food is loaded onto service platters in the kitchen – attention must be paid to ensuring there is sufficient food to serve the necessary numbers of guests</a:t>
            </a:r>
          </a:p>
          <a:p>
            <a:pPr lvl="1">
              <a:buFont typeface="Arial" pitchFamily="34" charset="0"/>
              <a:buChar char="•"/>
            </a:pPr>
            <a:r>
              <a:rPr lang="en-AU" sz="1200" kern="1200" dirty="0" smtClean="0">
                <a:solidFill>
                  <a:schemeClr val="tx1"/>
                </a:solidFill>
                <a:ea typeface="+mn-ea"/>
                <a:cs typeface="+mn-cs"/>
              </a:rPr>
              <a:t> Wait staff take the platters to table – and offer/serve from the platters to guest plates as required/directed by guests</a:t>
            </a:r>
          </a:p>
          <a:p>
            <a:pPr lvl="1">
              <a:buFont typeface="Arial" pitchFamily="34" charset="0"/>
              <a:buChar char="•"/>
            </a:pPr>
            <a:r>
              <a:rPr lang="en-AU" sz="1200" kern="1200" dirty="0" smtClean="0">
                <a:solidFill>
                  <a:schemeClr val="tx1"/>
                </a:solidFill>
                <a:ea typeface="+mn-ea"/>
                <a:cs typeface="+mn-cs"/>
              </a:rPr>
              <a:t> Some specialist equipment is required – service platters/salvers</a:t>
            </a:r>
          </a:p>
          <a:p>
            <a:pPr lvl="1">
              <a:buFont typeface="Arial" pitchFamily="34" charset="0"/>
              <a:buChar char="•"/>
            </a:pPr>
            <a:r>
              <a:rPr lang="en-AU" sz="1200" kern="1200" dirty="0" smtClean="0">
                <a:solidFill>
                  <a:schemeClr val="tx1"/>
                </a:solidFill>
                <a:ea typeface="+mn-ea"/>
                <a:cs typeface="+mn-cs"/>
              </a:rPr>
              <a:t> Skilled staff are required – silver service is a specialised skill</a:t>
            </a:r>
          </a:p>
          <a:p>
            <a:pPr lvl="1">
              <a:buFont typeface="Arial" pitchFamily="34" charset="0"/>
              <a:buChar char="•"/>
            </a:pPr>
            <a:r>
              <a:rPr lang="en-AU" sz="1200" kern="1200" dirty="0" smtClean="0">
                <a:solidFill>
                  <a:schemeClr val="tx1"/>
                </a:solidFill>
                <a:ea typeface="+mn-ea"/>
                <a:cs typeface="+mn-cs"/>
              </a:rPr>
              <a:t> Service times are slow – compared to plated service.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r>
              <a:rPr lang="en-AU" sz="1200" u="sng" kern="1200" dirty="0" smtClean="0">
                <a:solidFill>
                  <a:schemeClr val="tx1"/>
                </a:solidFill>
                <a:ea typeface="+mn-ea"/>
                <a:cs typeface="+mn-cs"/>
              </a:rPr>
              <a:t>http://hotelmule.com/wiki/Service-types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www.csupomona.edu/~mfjones/hrt202/lectures/styleOfService.ppt</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http://hospitality-pallav.blogspot.com.au/2010/02/various-service-and-style-of-food-and.html</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http://www.youtube.com/watch?v=vNWcKUkfJpo</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http://www.youtube.com/watch?v=wSU8rWhJcOs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http://www.youtube.com/watch?v=8jVoMYMoVfs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http://www.youtube.com/watch?v=0n96vqLWm_U</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http://www.youtube.com/watch?v=ZzVhwnH0Vfg</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dirty="0" smtClean="0"/>
              <a:t>setting </a:t>
            </a:r>
            <a:r>
              <a:rPr lang="en-AU" sz="1200" kern="1200" dirty="0" smtClean="0">
                <a:solidFill>
                  <a:schemeClr val="tx1"/>
                </a:solidFill>
                <a:ea typeface="+mn-ea"/>
                <a:cs typeface="+mn-cs"/>
              </a:rPr>
              <a:t>up the kitchen for food service also requires determination of service flow to suit the selected service stye explaining ‘Service flow’ refers to:</a:t>
            </a:r>
          </a:p>
          <a:p>
            <a:pPr>
              <a:buFont typeface="Arial" pitchFamily="34" charset="0"/>
              <a:buChar char="•"/>
            </a:pPr>
            <a:r>
              <a:rPr lang="en-AU" sz="1200" kern="1200" dirty="0" smtClean="0">
                <a:solidFill>
                  <a:schemeClr val="tx1"/>
                </a:solidFill>
                <a:ea typeface="+mn-ea"/>
                <a:cs typeface="+mn-cs"/>
              </a:rPr>
              <a:t> The activities required to enable or support the process of plating and/or otherwise serving food</a:t>
            </a:r>
          </a:p>
          <a:p>
            <a:pPr>
              <a:buFont typeface="Arial" pitchFamily="34" charset="0"/>
              <a:buChar char="•"/>
            </a:pPr>
            <a:r>
              <a:rPr lang="en-AU" sz="1200" kern="1200" dirty="0" smtClean="0">
                <a:solidFill>
                  <a:schemeClr val="tx1"/>
                </a:solidFill>
                <a:ea typeface="+mn-ea"/>
                <a:cs typeface="+mn-cs"/>
              </a:rPr>
              <a:t> Planning and sequencing those activities so they can be conducted in the most effective and efficient manner.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when determining service flow the following factors must be taken into account:</a:t>
            </a:r>
          </a:p>
          <a:p>
            <a:pPr>
              <a:buFont typeface="Arial" pitchFamily="34" charset="0"/>
              <a:buChar char="•"/>
            </a:pPr>
            <a:r>
              <a:rPr lang="en-AU" sz="1200" kern="1200" dirty="0" smtClean="0">
                <a:solidFill>
                  <a:schemeClr val="tx1"/>
                </a:solidFill>
                <a:ea typeface="+mn-ea"/>
                <a:cs typeface="+mn-cs"/>
              </a:rPr>
              <a:t> The service style required for the menu and individual service session:</a:t>
            </a:r>
          </a:p>
          <a:p>
            <a:pPr lvl="1">
              <a:buFont typeface="Arial" pitchFamily="34" charset="0"/>
              <a:buChar char="•"/>
            </a:pPr>
            <a:r>
              <a:rPr lang="en-AU" sz="1200" kern="1200" dirty="0" smtClean="0">
                <a:solidFill>
                  <a:schemeClr val="tx1"/>
                </a:solidFill>
                <a:ea typeface="+mn-ea"/>
                <a:cs typeface="+mn-cs"/>
              </a:rPr>
              <a:t> Every service style/option has unique food preparation and service requirements so there is a need to match the work flow to the type of service being provided – for example:</a:t>
            </a:r>
          </a:p>
          <a:p>
            <a:pPr lvl="2">
              <a:buFont typeface="Arial" pitchFamily="34" charset="0"/>
              <a:buChar char="•"/>
            </a:pPr>
            <a:r>
              <a:rPr lang="en-AU" sz="1200" kern="1200" dirty="0" smtClean="0">
                <a:solidFill>
                  <a:schemeClr val="tx1"/>
                </a:solidFill>
                <a:ea typeface="+mn-ea"/>
                <a:cs typeface="+mn-cs"/>
              </a:rPr>
              <a:t> Gueridon service will necessitate the preparation of trays of ingredients and service trolleys well in advance of the starting time for service</a:t>
            </a:r>
          </a:p>
          <a:p>
            <a:pPr lvl="2">
              <a:buFont typeface="Arial" pitchFamily="34" charset="0"/>
              <a:buChar char="•"/>
            </a:pPr>
            <a:r>
              <a:rPr lang="en-AU" sz="1200" kern="1200" dirty="0" smtClean="0">
                <a:solidFill>
                  <a:schemeClr val="tx1"/>
                </a:solidFill>
                <a:ea typeface="+mn-ea"/>
                <a:cs typeface="+mn-cs"/>
              </a:rPr>
              <a:t> Family and silver service requires not only preparation of the menu items which will be served but also preparation of the servicewear (platters, bowls, dishes, service gear, underliners) to enable those particular service options</a:t>
            </a:r>
          </a:p>
          <a:p>
            <a:pPr lvl="2">
              <a:buFont typeface="Arial" pitchFamily="34" charset="0"/>
              <a:buChar char="•"/>
            </a:pPr>
            <a:r>
              <a:rPr lang="en-AU" sz="1200" kern="1200" dirty="0" smtClean="0">
                <a:solidFill>
                  <a:schemeClr val="tx1"/>
                </a:solidFill>
                <a:ea typeface="+mn-ea"/>
                <a:cs typeface="+mn-cs"/>
              </a:rPr>
              <a:t> Traditional plated service requires decisions to be made about:</a:t>
            </a:r>
          </a:p>
          <a:p>
            <a:pPr lvl="3">
              <a:buFont typeface="Arial" pitchFamily="34" charset="0"/>
              <a:buChar char="•"/>
            </a:pPr>
            <a:r>
              <a:rPr lang="en-AU" sz="1200" kern="1200" dirty="0" smtClean="0">
                <a:solidFill>
                  <a:schemeClr val="tx1"/>
                </a:solidFill>
                <a:ea typeface="+mn-ea"/>
                <a:cs typeface="+mn-cs"/>
              </a:rPr>
              <a:t> Whether a ‘production line’ system should be used – where an empty plate has items added to it as it is passed (or moves by conveyor belt) along the line to final completion where it is checked and released for service. </a:t>
            </a:r>
          </a:p>
          <a:p>
            <a:pPr lvl="3">
              <a:buFont typeface="Arial" pitchFamily="34" charset="0"/>
              <a:buChar char="•"/>
            </a:pPr>
            <a:r>
              <a:rPr lang="en-AU" sz="1200" kern="1200" dirty="0" smtClean="0">
                <a:solidFill>
                  <a:schemeClr val="tx1"/>
                </a:solidFill>
                <a:ea typeface="+mn-ea"/>
                <a:cs typeface="+mn-cs"/>
              </a:rPr>
              <a:t> Determination of where each food item that has to be served is to be located along the service line – to provide optimum service efficiency</a:t>
            </a:r>
          </a:p>
          <a:p>
            <a:pPr lvl="3">
              <a:buFont typeface="Arial" pitchFamily="34" charset="0"/>
              <a:buChar char="•"/>
            </a:pPr>
            <a:r>
              <a:rPr lang="en-AU" sz="1200" kern="1200" dirty="0" smtClean="0">
                <a:solidFill>
                  <a:schemeClr val="tx1"/>
                </a:solidFill>
                <a:ea typeface="+mn-ea"/>
                <a:cs typeface="+mn-cs"/>
              </a:rPr>
              <a:t> Whether an ‘individual’ plating approach to plating should be used – where meals are plated (all meat, vegetables, sauce and garnish) at the point they are produced/cooked and then taken ‘ready for service’ to the pass where they are given to wait staff</a:t>
            </a:r>
          </a:p>
          <a:p>
            <a:pPr lvl="3">
              <a:buFont typeface="Arial" pitchFamily="34" charset="0"/>
              <a:buChar char="•"/>
            </a:pPr>
            <a:r>
              <a:rPr lang="en-AU" sz="1200" kern="1200" dirty="0" smtClean="0">
                <a:solidFill>
                  <a:schemeClr val="tx1"/>
                </a:solidFill>
                <a:ea typeface="+mn-ea"/>
                <a:cs typeface="+mn-cs"/>
              </a:rPr>
              <a:t> A combination of the two above options should apply – this is the most common/frequently used option. Some meals are plated/served using a production line approach and some are individually plated at point of preparation.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explaining </a:t>
            </a:r>
            <a:r>
              <a:rPr lang="en-AU" sz="1200" kern="1200" dirty="0" smtClean="0">
                <a:solidFill>
                  <a:schemeClr val="tx1"/>
                </a:solidFill>
                <a:ea typeface="+mn-ea"/>
                <a:cs typeface="+mn-cs"/>
              </a:rPr>
              <a:t>when determining service flow the following factors must be taken into account:</a:t>
            </a:r>
          </a:p>
          <a:p>
            <a:pPr>
              <a:buFont typeface="Arial" pitchFamily="34" charset="0"/>
              <a:buChar char="•"/>
            </a:pPr>
            <a:r>
              <a:rPr lang="en-AU" sz="1200" kern="1200" dirty="0" smtClean="0">
                <a:solidFill>
                  <a:schemeClr val="tx1"/>
                </a:solidFill>
                <a:ea typeface="+mn-ea"/>
                <a:cs typeface="+mn-cs"/>
              </a:rPr>
              <a:t> Need to allocate sufficient space for plating and service activities – so the process is not cramped and the risk of interference with service practices is avoided</a:t>
            </a:r>
          </a:p>
          <a:p>
            <a:pPr>
              <a:buFont typeface="Arial" pitchFamily="34" charset="0"/>
              <a:buChar char="•"/>
            </a:pPr>
            <a:r>
              <a:rPr lang="en-AU" sz="1200" kern="1200" dirty="0" smtClean="0">
                <a:solidFill>
                  <a:schemeClr val="tx1"/>
                </a:solidFill>
                <a:ea typeface="+mn-ea"/>
                <a:cs typeface="+mn-cs"/>
              </a:rPr>
              <a:t> Need to allocate sufficient physical resources and equipment – such as bain maries, holding equipment, service utensils and service cloths to enable plating and service activities</a:t>
            </a:r>
          </a:p>
          <a:p>
            <a:pPr>
              <a:buFont typeface="Arial" pitchFamily="34" charset="0"/>
              <a:buChar char="•"/>
            </a:pPr>
            <a:r>
              <a:rPr lang="en-AU" sz="1200" kern="1200" dirty="0" smtClean="0">
                <a:solidFill>
                  <a:schemeClr val="tx1"/>
                </a:solidFill>
                <a:ea typeface="+mn-ea"/>
                <a:cs typeface="+mn-cs"/>
              </a:rPr>
              <a:t> Need to allocate sufficient staff to undertake required plating and service activities – so that target/identified volumes can be achieved and quality plating procedures can be implemented as required</a:t>
            </a:r>
          </a:p>
          <a:p>
            <a:pPr>
              <a:buFont typeface="Arial" pitchFamily="34" charset="0"/>
              <a:buChar char="•"/>
            </a:pPr>
            <a:r>
              <a:rPr lang="en-AU" sz="1200" kern="1200" dirty="0" smtClean="0">
                <a:solidFill>
                  <a:schemeClr val="tx1"/>
                </a:solidFill>
                <a:ea typeface="+mn-ea"/>
                <a:cs typeface="+mn-cs"/>
              </a:rPr>
              <a:t> Need to allocate specific plating and service duties to individual staff – so all workers are completely aware of their personal roles and responsibilities and there is no confusion about:</a:t>
            </a:r>
          </a:p>
          <a:p>
            <a:pPr lvl="1">
              <a:buFont typeface="Arial" pitchFamily="34" charset="0"/>
              <a:buChar char="•"/>
            </a:pPr>
            <a:r>
              <a:rPr lang="en-AU" sz="1200" kern="1200" dirty="0" smtClean="0">
                <a:solidFill>
                  <a:schemeClr val="tx1"/>
                </a:solidFill>
                <a:ea typeface="+mn-ea"/>
                <a:cs typeface="+mn-cs"/>
              </a:rPr>
              <a:t> What needs to be done</a:t>
            </a:r>
          </a:p>
          <a:p>
            <a:pPr lvl="1">
              <a:buFont typeface="Arial" pitchFamily="34" charset="0"/>
              <a:buChar char="•"/>
            </a:pPr>
            <a:r>
              <a:rPr lang="en-AU" sz="1200" kern="1200" dirty="0" smtClean="0">
                <a:solidFill>
                  <a:schemeClr val="tx1"/>
                </a:solidFill>
                <a:ea typeface="+mn-ea"/>
                <a:cs typeface="+mn-cs"/>
              </a:rPr>
              <a:t> Who is doing what</a:t>
            </a:r>
          </a:p>
          <a:p>
            <a:pPr>
              <a:buFont typeface="Arial" pitchFamily="34" charset="0"/>
              <a:buChar char="•"/>
            </a:pPr>
            <a:r>
              <a:rPr lang="en-AU" sz="1200" kern="1200" dirty="0" smtClean="0">
                <a:solidFill>
                  <a:schemeClr val="tx1"/>
                </a:solidFill>
                <a:ea typeface="+mn-ea"/>
                <a:cs typeface="+mn-cs"/>
              </a:rPr>
              <a:t> Need to factor in any known/required service times – for example, the running sheet for a sit-down meal for a function of 1,000 people may require the a certain course to be served between 8:00PM – 8:20PM</a:t>
            </a:r>
          </a:p>
          <a:p>
            <a:pPr>
              <a:buFont typeface="Arial" pitchFamily="34" charset="0"/>
              <a:buChar char="•"/>
            </a:pPr>
            <a:r>
              <a:rPr lang="en-AU" sz="1200" kern="1200" dirty="0" smtClean="0">
                <a:solidFill>
                  <a:schemeClr val="tx1"/>
                </a:solidFill>
                <a:ea typeface="+mn-ea"/>
                <a:cs typeface="+mn-cs"/>
              </a:rPr>
              <a:t> Your knowledge of your kitchen, general facilities, and standard service protocols may indicate to you a need to establish multiple service point/production lines/conveyor belts in order to meet this known service requirement.</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Class Activity – Excursions</a:t>
            </a:r>
          </a:p>
          <a:p>
            <a:r>
              <a:rPr lang="en-AU" sz="1200" b="0" kern="1200" dirty="0" smtClean="0">
                <a:solidFill>
                  <a:schemeClr val="tx1"/>
                </a:solidFill>
                <a:ea typeface="+mn-ea"/>
                <a:cs typeface="+mn-cs"/>
              </a:rPr>
              <a:t>Trainer arranges visits to several local</a:t>
            </a:r>
            <a:r>
              <a:rPr lang="en-AU" sz="1200" b="0" kern="1200" baseline="0" dirty="0" smtClean="0">
                <a:solidFill>
                  <a:schemeClr val="tx1"/>
                </a:solidFill>
                <a:ea typeface="+mn-ea"/>
                <a:cs typeface="+mn-cs"/>
              </a:rPr>
              <a:t> food service venues so students can:</a:t>
            </a:r>
          </a:p>
          <a:p>
            <a:pPr>
              <a:buFont typeface="Arial" pitchFamily="34" charset="0"/>
              <a:buChar char="•"/>
            </a:pPr>
            <a:r>
              <a:rPr lang="en-AU" sz="1200" b="0" kern="1200" baseline="0" dirty="0" smtClean="0">
                <a:solidFill>
                  <a:schemeClr val="tx1"/>
                </a:solidFill>
                <a:ea typeface="+mn-ea"/>
                <a:cs typeface="+mn-cs"/>
              </a:rPr>
              <a:t> View preparations for service sessions</a:t>
            </a:r>
          </a:p>
          <a:p>
            <a:pPr>
              <a:buFont typeface="Arial" pitchFamily="34" charset="0"/>
              <a:buChar char="•"/>
            </a:pPr>
            <a:r>
              <a:rPr lang="en-AU" sz="1200" b="0" kern="1200" baseline="0" dirty="0" smtClean="0">
                <a:solidFill>
                  <a:schemeClr val="tx1"/>
                </a:solidFill>
                <a:ea typeface="+mn-ea"/>
                <a:cs typeface="+mn-cs"/>
              </a:rPr>
              <a:t> Observe service and plating activities for different service styles</a:t>
            </a:r>
          </a:p>
          <a:p>
            <a:pPr>
              <a:buFont typeface="Arial" pitchFamily="34" charset="0"/>
              <a:buChar char="•"/>
            </a:pPr>
            <a:r>
              <a:rPr lang="en-AU" sz="1200" b="0" kern="1200" baseline="0" dirty="0" smtClean="0">
                <a:solidFill>
                  <a:schemeClr val="tx1"/>
                </a:solidFill>
                <a:ea typeface="+mn-ea"/>
                <a:cs typeface="+mn-cs"/>
              </a:rPr>
              <a:t> Talk to management and operational staff</a:t>
            </a:r>
          </a:p>
          <a:p>
            <a:pPr>
              <a:buFont typeface="Arial" pitchFamily="34" charset="0"/>
              <a:buChar char="•"/>
            </a:pPr>
            <a:r>
              <a:rPr lang="en-AU" sz="1200" b="0" kern="1200" baseline="0" dirty="0" smtClean="0">
                <a:solidFill>
                  <a:schemeClr val="tx1"/>
                </a:solidFill>
                <a:ea typeface="+mn-ea"/>
                <a:cs typeface="+mn-cs"/>
              </a:rPr>
              <a:t> Discuss factors impacting determination of service styles and allocation of staff for service/plating</a:t>
            </a:r>
          </a:p>
          <a:p>
            <a:pPr>
              <a:buFont typeface="Arial" pitchFamily="34" charset="0"/>
              <a:buChar char="•"/>
            </a:pPr>
            <a:r>
              <a:rPr lang="en-AU" sz="1200" b="0" kern="1200" baseline="0" dirty="0" smtClean="0">
                <a:solidFill>
                  <a:schemeClr val="tx1"/>
                </a:solidFill>
                <a:ea typeface="+mn-ea"/>
                <a:cs typeface="+mn-cs"/>
              </a:rPr>
              <a:t> Inspect plating/food service equipment/utensils</a:t>
            </a:r>
          </a:p>
          <a:p>
            <a:pPr>
              <a:buFont typeface="Arial" pitchFamily="34" charset="0"/>
              <a:buChar char="•"/>
            </a:pPr>
            <a:r>
              <a:rPr lang="en-AU" sz="1200" b="0" kern="1200" baseline="0" dirty="0" smtClean="0">
                <a:solidFill>
                  <a:schemeClr val="tx1"/>
                </a:solidFill>
                <a:ea typeface="+mn-ea"/>
                <a:cs typeface="+mn-cs"/>
              </a:rPr>
              <a:t> Note service flows.</a:t>
            </a:r>
          </a:p>
          <a:p>
            <a:pPr>
              <a:buFont typeface="Arial" pitchFamily="34" charset="0"/>
              <a:buChar char="•"/>
            </a:pPr>
            <a:endParaRPr lang="en-AU" sz="1200" b="0" kern="1200" baseline="0" dirty="0" smtClean="0">
              <a:solidFill>
                <a:schemeClr val="tx1"/>
              </a:solidFill>
              <a:ea typeface="+mn-ea"/>
              <a:cs typeface="+mn-cs"/>
            </a:endParaRP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holding and storing food for food service by asking questions such as:</a:t>
            </a:r>
          </a:p>
          <a:p>
            <a:pPr>
              <a:buFont typeface="Arial" pitchFamily="34" charset="0"/>
              <a:buChar char="•"/>
            </a:pPr>
            <a:r>
              <a:rPr lang="en-US" dirty="0" smtClean="0"/>
              <a:t> What examples of food preparation methods can you name</a:t>
            </a:r>
            <a:r>
              <a:rPr lang="en-US" baseline="0" dirty="0" smtClean="0"/>
              <a:t> and describe</a:t>
            </a:r>
            <a:r>
              <a:rPr lang="en-US" dirty="0" smtClean="0"/>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What examples of cooking methods can you name</a:t>
            </a:r>
            <a:r>
              <a:rPr lang="en-US" baseline="0" dirty="0" smtClean="0"/>
              <a:t> and describe</a:t>
            </a:r>
            <a:r>
              <a:rPr lang="en-US" dirty="0" smtClean="0"/>
              <a:t>?</a:t>
            </a:r>
          </a:p>
          <a:p>
            <a:pPr>
              <a:buFont typeface="Arial" pitchFamily="34" charset="0"/>
              <a:buChar char="•"/>
            </a:pPr>
            <a:r>
              <a:rPr lang="en-US" dirty="0" smtClean="0"/>
              <a:t> What equipment might be used to prepare and/or cook food items?</a:t>
            </a:r>
          </a:p>
          <a:p>
            <a:pPr>
              <a:buFont typeface="Arial" pitchFamily="34" charset="0"/>
              <a:buChar char="•"/>
            </a:pPr>
            <a:r>
              <a:rPr lang="en-US" dirty="0" smtClean="0"/>
              <a:t> What basic safe food handling principles and practices need to be implemented</a:t>
            </a:r>
            <a:r>
              <a:rPr lang="en-US" baseline="0" dirty="0" smtClean="0"/>
              <a:t> in the kitchen</a:t>
            </a:r>
            <a:r>
              <a:rPr lang="en-US" dirty="0" smtClean="0"/>
              <a:t>?</a:t>
            </a:r>
          </a:p>
          <a:p>
            <a:pPr>
              <a:buFont typeface="Arial" pitchFamily="34" charset="0"/>
              <a:buChar char="•"/>
            </a:pPr>
            <a:r>
              <a:rPr lang="en-US" dirty="0" smtClean="0"/>
              <a:t> What are acceptable</a:t>
            </a:r>
            <a:r>
              <a:rPr lang="en-US" baseline="0" dirty="0" smtClean="0"/>
              <a:t> reheating practices for food</a:t>
            </a:r>
            <a:r>
              <a:rPr lang="en-US" dirty="0" smtClean="0"/>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most</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foods require some form of preparation and most menu items require some form of cooking introducing the term ‘mise en place’:</a:t>
            </a:r>
          </a:p>
          <a:p>
            <a:pPr>
              <a:buFont typeface="Arial" pitchFamily="34" charset="0"/>
              <a:buChar char="•"/>
            </a:pPr>
            <a:r>
              <a:rPr lang="en-AU" sz="1200" kern="1200" dirty="0" smtClean="0">
                <a:solidFill>
                  <a:schemeClr val="tx1"/>
                </a:solidFill>
                <a:ea typeface="+mn-ea"/>
                <a:cs typeface="+mn-cs"/>
              </a:rPr>
              <a:t> As a French term meaning ‘to put in place’</a:t>
            </a:r>
          </a:p>
          <a:p>
            <a:pPr>
              <a:buFont typeface="Arial" pitchFamily="34" charset="0"/>
              <a:buChar char="•"/>
            </a:pPr>
            <a:r>
              <a:rPr lang="en-AU" sz="1200" kern="1200" dirty="0" smtClean="0">
                <a:solidFill>
                  <a:schemeClr val="tx1"/>
                </a:solidFill>
                <a:ea typeface="+mn-ea"/>
                <a:cs typeface="+mn-cs"/>
              </a:rPr>
              <a:t> Applies to both ingredients and equipment needed for a dish</a:t>
            </a:r>
          </a:p>
          <a:p>
            <a:pPr>
              <a:buFont typeface="Arial" pitchFamily="34" charset="0"/>
              <a:buChar char="•"/>
            </a:pPr>
            <a:r>
              <a:rPr lang="en-AU" sz="1200" kern="1200" dirty="0" smtClean="0">
                <a:solidFill>
                  <a:schemeClr val="tx1"/>
                </a:solidFill>
                <a:ea typeface="+mn-ea"/>
                <a:cs typeface="+mn-cs"/>
              </a:rPr>
              <a:t> Activities involved in mise en place can include</a:t>
            </a:r>
          </a:p>
          <a:p>
            <a:pPr lvl="1">
              <a:buFont typeface="Arial" pitchFamily="34" charset="0"/>
              <a:buChar char="•"/>
            </a:pPr>
            <a:r>
              <a:rPr lang="en-AU" sz="1200" kern="1200" dirty="0" smtClean="0">
                <a:solidFill>
                  <a:schemeClr val="tx1"/>
                </a:solidFill>
                <a:ea typeface="+mn-ea"/>
                <a:cs typeface="+mn-cs"/>
              </a:rPr>
              <a:t> Making sure you have gathered all the ingredients and have weighed all quantities accurately</a:t>
            </a:r>
          </a:p>
          <a:p>
            <a:pPr lvl="1">
              <a:buFont typeface="Arial" pitchFamily="34" charset="0"/>
              <a:buChar char="•"/>
            </a:pPr>
            <a:r>
              <a:rPr lang="en-AU" sz="1200" kern="1200" dirty="0" smtClean="0">
                <a:solidFill>
                  <a:schemeClr val="tx1"/>
                </a:solidFill>
                <a:ea typeface="+mn-ea"/>
                <a:cs typeface="+mn-cs"/>
              </a:rPr>
              <a:t> Checking you have pots and pans clean and ready to use, and they are of the necessary size and number</a:t>
            </a:r>
          </a:p>
          <a:p>
            <a:pPr lvl="1">
              <a:buFont typeface="Arial" pitchFamily="34" charset="0"/>
              <a:buChar char="•"/>
            </a:pPr>
            <a:r>
              <a:rPr lang="en-AU" sz="1200" kern="1200" dirty="0" smtClean="0">
                <a:solidFill>
                  <a:schemeClr val="tx1"/>
                </a:solidFill>
                <a:ea typeface="+mn-ea"/>
                <a:cs typeface="+mn-cs"/>
              </a:rPr>
              <a:t> Checking fruit and vegetables to be used are suitable for use and have been washed and prepared as necessary</a:t>
            </a:r>
          </a:p>
          <a:p>
            <a:pPr lvl="1">
              <a:buFont typeface="Arial" pitchFamily="34" charset="0"/>
              <a:buChar char="•"/>
            </a:pPr>
            <a:r>
              <a:rPr lang="en-AU" sz="1200" kern="1200" dirty="0" smtClean="0">
                <a:solidFill>
                  <a:schemeClr val="tx1"/>
                </a:solidFill>
                <a:ea typeface="+mn-ea"/>
                <a:cs typeface="+mn-cs"/>
              </a:rPr>
              <a:t> Checking you have all the utensils you will need for the recipe – knives, spoons, whisks and other as required</a:t>
            </a:r>
          </a:p>
          <a:p>
            <a:pPr>
              <a:buFont typeface="Arial" pitchFamily="34" charset="0"/>
              <a:buChar char="•"/>
            </a:pPr>
            <a:r>
              <a:rPr lang="en-AU" sz="1200" kern="1200" dirty="0" smtClean="0">
                <a:solidFill>
                  <a:schemeClr val="tx1"/>
                </a:solidFill>
                <a:ea typeface="+mn-ea"/>
                <a:cs typeface="+mn-cs"/>
              </a:rPr>
              <a:t> Mise en place is something to be done for </a:t>
            </a:r>
            <a:r>
              <a:rPr lang="en-AU" sz="1200" i="1" kern="1200" dirty="0" smtClean="0">
                <a:solidFill>
                  <a:schemeClr val="tx1"/>
                </a:solidFill>
                <a:ea typeface="+mn-ea"/>
                <a:cs typeface="+mn-cs"/>
              </a:rPr>
              <a:t>every </a:t>
            </a:r>
            <a:r>
              <a:rPr lang="en-AU" sz="1200" kern="1200" dirty="0" smtClean="0">
                <a:solidFill>
                  <a:schemeClr val="tx1"/>
                </a:solidFill>
                <a:ea typeface="+mn-ea"/>
                <a:cs typeface="+mn-cs"/>
              </a:rPr>
              <a:t>recipe, </a:t>
            </a:r>
            <a:r>
              <a:rPr lang="en-AU" sz="1200" i="1" kern="1200" dirty="0" smtClean="0">
                <a:solidFill>
                  <a:schemeClr val="tx1"/>
                </a:solidFill>
                <a:ea typeface="+mn-ea"/>
                <a:cs typeface="+mn-cs"/>
              </a:rPr>
              <a:t>every </a:t>
            </a:r>
            <a:r>
              <a:rPr lang="en-AU" sz="1200" kern="1200" dirty="0" smtClean="0">
                <a:solidFill>
                  <a:schemeClr val="tx1"/>
                </a:solidFill>
                <a:ea typeface="+mn-ea"/>
                <a:cs typeface="+mn-cs"/>
              </a:rPr>
              <a:t>time you cook an item.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reasons to undertake mise en place:</a:t>
            </a:r>
          </a:p>
          <a:p>
            <a:pPr>
              <a:buFont typeface="Arial" pitchFamily="34" charset="0"/>
              <a:buChar char="•"/>
            </a:pPr>
            <a:r>
              <a:rPr lang="en-AU" sz="1200" kern="1200" dirty="0" smtClean="0">
                <a:solidFill>
                  <a:schemeClr val="tx1"/>
                </a:solidFill>
                <a:ea typeface="+mn-ea"/>
                <a:cs typeface="+mn-cs"/>
              </a:rPr>
              <a:t> The purpose of mise en place is to get everything ready before you start cooking or food preparation so you do not have to interrupt the process while you look for something or get something ready</a:t>
            </a:r>
          </a:p>
          <a:p>
            <a:pPr>
              <a:buFont typeface="Arial" pitchFamily="34" charset="0"/>
              <a:buChar char="•"/>
            </a:pPr>
            <a:r>
              <a:rPr lang="en-AU" sz="1200" kern="1200" dirty="0" smtClean="0">
                <a:solidFill>
                  <a:schemeClr val="tx1"/>
                </a:solidFill>
                <a:ea typeface="+mn-ea"/>
                <a:cs typeface="+mn-cs"/>
              </a:rPr>
              <a:t> If you have to interrupt the cooking/preparation process you run the risk of:</a:t>
            </a:r>
          </a:p>
          <a:p>
            <a:pPr lvl="1">
              <a:buFont typeface="Arial" pitchFamily="34" charset="0"/>
              <a:buChar char="•"/>
            </a:pPr>
            <a:r>
              <a:rPr lang="en-AU" sz="1200" kern="1200" dirty="0" smtClean="0">
                <a:solidFill>
                  <a:schemeClr val="tx1"/>
                </a:solidFill>
                <a:ea typeface="+mn-ea"/>
                <a:cs typeface="+mn-cs"/>
              </a:rPr>
              <a:t> Producing a poor quality end product because the required cooking/preparation procedure has not been followed</a:t>
            </a:r>
          </a:p>
          <a:p>
            <a:pPr lvl="1">
              <a:buFont typeface="Arial" pitchFamily="34" charset="0"/>
              <a:buChar char="•"/>
            </a:pPr>
            <a:r>
              <a:rPr lang="en-AU" sz="1200" kern="1200" dirty="0" smtClean="0">
                <a:solidFill>
                  <a:schemeClr val="tx1"/>
                </a:solidFill>
                <a:ea typeface="+mn-ea"/>
                <a:cs typeface="+mn-cs"/>
              </a:rPr>
              <a:t> Wasting food because the poor quality product has to be discarded</a:t>
            </a:r>
          </a:p>
          <a:p>
            <a:pPr lvl="1">
              <a:buFont typeface="Arial" pitchFamily="34" charset="0"/>
              <a:buChar char="•"/>
            </a:pPr>
            <a:r>
              <a:rPr lang="en-AU" sz="1200" kern="1200" dirty="0" smtClean="0">
                <a:solidFill>
                  <a:schemeClr val="tx1"/>
                </a:solidFill>
                <a:ea typeface="+mn-ea"/>
                <a:cs typeface="+mn-cs"/>
              </a:rPr>
              <a:t> Lowering customer satisfaction levels if they are served poor quality food</a:t>
            </a:r>
          </a:p>
          <a:p>
            <a:pPr lvl="1">
              <a:buFont typeface="Arial" pitchFamily="34" charset="0"/>
              <a:buChar char="•"/>
            </a:pPr>
            <a:r>
              <a:rPr lang="en-AU" sz="1200" kern="1200" dirty="0" smtClean="0">
                <a:solidFill>
                  <a:schemeClr val="tx1"/>
                </a:solidFill>
                <a:ea typeface="+mn-ea"/>
                <a:cs typeface="+mn-cs"/>
              </a:rPr>
              <a:t> Reducing the potential for repeat business if customers are not happy with the food they have been served</a:t>
            </a:r>
          </a:p>
          <a:p>
            <a:pPr lvl="1">
              <a:buFont typeface="Arial" pitchFamily="34" charset="0"/>
              <a:buChar char="•"/>
            </a:pPr>
            <a:r>
              <a:rPr lang="en-AU" sz="1200" kern="1200" dirty="0" smtClean="0">
                <a:solidFill>
                  <a:schemeClr val="tx1"/>
                </a:solidFill>
                <a:ea typeface="+mn-ea"/>
                <a:cs typeface="+mn-cs"/>
              </a:rPr>
              <a:t> Slowing down the service of food to customers and/or the production time of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washing and cleaning of fruits and vegetables:</a:t>
            </a:r>
          </a:p>
          <a:p>
            <a:pPr>
              <a:buFont typeface="Arial" pitchFamily="34" charset="0"/>
              <a:buChar char="•"/>
            </a:pPr>
            <a:r>
              <a:rPr lang="en-AU" sz="1200" kern="1200" dirty="0" smtClean="0">
                <a:solidFill>
                  <a:schemeClr val="tx1"/>
                </a:solidFill>
                <a:ea typeface="+mn-ea"/>
                <a:cs typeface="+mn-cs"/>
              </a:rPr>
              <a:t> Most vegetables are grown either under the ground or just above the surface, so special attention to washing and cleaning is important to make sure all the dirt, sand, insects, insecticides and other chemicals are removed</a:t>
            </a:r>
          </a:p>
          <a:p>
            <a:pPr>
              <a:buFont typeface="Arial" pitchFamily="34" charset="0"/>
              <a:buChar char="•"/>
            </a:pPr>
            <a:r>
              <a:rPr lang="en-AU" sz="1200" kern="1200" dirty="0" smtClean="0">
                <a:solidFill>
                  <a:schemeClr val="tx1"/>
                </a:solidFill>
                <a:ea typeface="+mn-ea"/>
                <a:cs typeface="+mn-cs"/>
              </a:rPr>
              <a:t> There may be a requirement to use sanitiser on fruits and vegetables</a:t>
            </a:r>
          </a:p>
          <a:p>
            <a:pPr>
              <a:buFont typeface="Arial" pitchFamily="34" charset="0"/>
              <a:buChar char="•"/>
            </a:pPr>
            <a:r>
              <a:rPr lang="en-AU" sz="1200" kern="1200" dirty="0" smtClean="0">
                <a:solidFill>
                  <a:schemeClr val="tx1"/>
                </a:solidFill>
                <a:ea typeface="+mn-ea"/>
                <a:cs typeface="+mn-cs"/>
              </a:rPr>
              <a:t> The following procedures are generally applicable to the washing and cleaning of vegetables:</a:t>
            </a:r>
          </a:p>
          <a:p>
            <a:pPr lvl="1">
              <a:buFont typeface="Arial" pitchFamily="34" charset="0"/>
              <a:buChar char="•"/>
            </a:pPr>
            <a:r>
              <a:rPr lang="en-AU" sz="1200" kern="1200" dirty="0" smtClean="0">
                <a:solidFill>
                  <a:schemeClr val="tx1"/>
                </a:solidFill>
                <a:ea typeface="+mn-ea"/>
                <a:cs typeface="+mn-cs"/>
              </a:rPr>
              <a:t> Wash all vegetables thoroughly in cold water</a:t>
            </a:r>
          </a:p>
          <a:p>
            <a:pPr lvl="1">
              <a:buFont typeface="Arial" pitchFamily="34" charset="0"/>
              <a:buChar char="•"/>
            </a:pPr>
            <a:r>
              <a:rPr lang="en-AU" sz="1200" kern="1200" dirty="0" smtClean="0">
                <a:solidFill>
                  <a:schemeClr val="tx1"/>
                </a:solidFill>
                <a:ea typeface="+mn-ea"/>
                <a:cs typeface="+mn-cs"/>
              </a:rPr>
              <a:t> Green leafy vegetables (for example, spinach, lettuce, silver beet and kale) must be washed several times to make sure any insects and dirt clinging to the leaves are removed</a:t>
            </a:r>
          </a:p>
          <a:p>
            <a:pPr lvl="1">
              <a:buFont typeface="Arial" pitchFamily="34" charset="0"/>
              <a:buChar char="•"/>
            </a:pPr>
            <a:r>
              <a:rPr lang="en-AU" sz="1200" kern="1200" dirty="0" smtClean="0">
                <a:solidFill>
                  <a:schemeClr val="tx1"/>
                </a:solidFill>
                <a:ea typeface="+mn-ea"/>
                <a:cs typeface="+mn-cs"/>
              </a:rPr>
              <a:t> Root vegetables which  are not peeled, such as potatoes used for baking, must be scrubbed well with a stiff brush under running cold water</a:t>
            </a:r>
          </a:p>
          <a:p>
            <a:pPr lvl="1">
              <a:buFont typeface="Arial" pitchFamily="34" charset="0"/>
              <a:buChar char="•"/>
            </a:pPr>
            <a:r>
              <a:rPr lang="en-AU" sz="1200" kern="1200" dirty="0" smtClean="0">
                <a:solidFill>
                  <a:schemeClr val="tx1"/>
                </a:solidFill>
                <a:ea typeface="+mn-ea"/>
                <a:cs typeface="+mn-cs"/>
              </a:rPr>
              <a:t> Vegetables like cauliflower and broccoli may be soaked in salty water for 30 minutes to kill any insects present</a:t>
            </a:r>
          </a:p>
          <a:p>
            <a:pPr lvl="1">
              <a:buFont typeface="Arial" pitchFamily="34" charset="0"/>
              <a:buChar char="•"/>
            </a:pPr>
            <a:r>
              <a:rPr lang="en-AU" sz="1200" kern="1200" dirty="0" smtClean="0">
                <a:solidFill>
                  <a:schemeClr val="tx1"/>
                </a:solidFill>
                <a:ea typeface="+mn-ea"/>
                <a:cs typeface="+mn-cs"/>
              </a:rPr>
              <a:t> Leeks need special washing to remove dirt which remains between the layers – after cutting leeks lengthwise, hold them under cold running water, separating the layers to remove the dirt</a:t>
            </a:r>
          </a:p>
          <a:p>
            <a:pPr lvl="1">
              <a:buFont typeface="Arial" pitchFamily="34" charset="0"/>
              <a:buChar char="•"/>
            </a:pPr>
            <a:r>
              <a:rPr lang="en-AU" sz="1200" kern="1200" dirty="0" smtClean="0">
                <a:solidFill>
                  <a:schemeClr val="tx1"/>
                </a:solidFill>
                <a:ea typeface="+mn-ea"/>
                <a:cs typeface="+mn-cs"/>
              </a:rPr>
              <a:t> Celery needs to be washed well – pay particular attention to the insides of the stalks which often need vigorous washing to remove clinging dirt</a:t>
            </a:r>
          </a:p>
          <a:p>
            <a:pPr lvl="1">
              <a:buFont typeface="Arial" pitchFamily="34" charset="0"/>
              <a:buChar char="•"/>
            </a:pPr>
            <a:r>
              <a:rPr lang="en-AU" sz="1200" kern="1200" dirty="0" smtClean="0">
                <a:solidFill>
                  <a:schemeClr val="tx1"/>
                </a:solidFill>
                <a:ea typeface="+mn-ea"/>
                <a:cs typeface="+mn-cs"/>
              </a:rPr>
              <a:t> After washing make sure all vegetables are drained well.</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wash a range of fruits and vegetables and provides opportunity for students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peelings and trimmings stating:</a:t>
            </a:r>
          </a:p>
          <a:p>
            <a:pPr>
              <a:buFont typeface="Arial" pitchFamily="34" charset="0"/>
              <a:buChar char="•"/>
            </a:pPr>
            <a:r>
              <a:rPr lang="en-AU" sz="1200" kern="1200" dirty="0" smtClean="0">
                <a:solidFill>
                  <a:schemeClr val="tx1"/>
                </a:solidFill>
                <a:ea typeface="+mn-ea"/>
                <a:cs typeface="+mn-cs"/>
              </a:rPr>
              <a:t> After the vegetables have been washed and cleaned thoroughly, many need to be peeled and trimmed</a:t>
            </a:r>
          </a:p>
          <a:p>
            <a:pPr>
              <a:buFont typeface="Arial" pitchFamily="34" charset="0"/>
              <a:buChar char="•"/>
            </a:pPr>
            <a:r>
              <a:rPr lang="en-AU" sz="1200" kern="1200" dirty="0" smtClean="0">
                <a:solidFill>
                  <a:schemeClr val="tx1"/>
                </a:solidFill>
                <a:ea typeface="+mn-ea"/>
                <a:cs typeface="+mn-cs"/>
              </a:rPr>
              <a:t> A peeler, a chef’s knife or a paring knife may be used to remove skin, root ends and blemishes.</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use peeler, chef’s knife and paring knife to peel/trim fruits and vegetables and provides opportunity for students to practice same.</a:t>
            </a:r>
            <a:endParaRPr lang="en-US" b="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peelings stating:</a:t>
            </a:r>
          </a:p>
          <a:p>
            <a:pPr>
              <a:buFont typeface="Arial" pitchFamily="34" charset="0"/>
              <a:buChar char="•"/>
            </a:pPr>
            <a:r>
              <a:rPr lang="en-AU" sz="1200" kern="1200" dirty="0" smtClean="0">
                <a:solidFill>
                  <a:schemeClr val="tx1"/>
                </a:solidFill>
                <a:ea typeface="+mn-ea"/>
                <a:cs typeface="+mn-cs"/>
              </a:rPr>
              <a:t> These are the outside skins, tops and tails from fruit and vegetables </a:t>
            </a:r>
          </a:p>
          <a:p>
            <a:pPr>
              <a:buFont typeface="Arial" pitchFamily="34" charset="0"/>
              <a:buChar char="•"/>
            </a:pPr>
            <a:r>
              <a:rPr lang="en-AU" sz="1200" kern="1200" dirty="0" smtClean="0">
                <a:solidFill>
                  <a:schemeClr val="tx1"/>
                </a:solidFill>
                <a:ea typeface="+mn-ea"/>
                <a:cs typeface="+mn-cs"/>
              </a:rPr>
              <a:t> They usually have no culinary use and can be discarded</a:t>
            </a:r>
          </a:p>
          <a:p>
            <a:pPr>
              <a:buFont typeface="Arial" pitchFamily="34" charset="0"/>
              <a:buChar char="•"/>
            </a:pPr>
            <a:r>
              <a:rPr lang="en-AU" sz="1200" kern="1200" dirty="0" smtClean="0">
                <a:solidFill>
                  <a:schemeClr val="tx1"/>
                </a:solidFill>
                <a:ea typeface="+mn-ea"/>
                <a:cs typeface="+mn-cs"/>
              </a:rPr>
              <a:t> Vegetables should be peeled or scraped thinly to remove only the skin, as most nutrients are just below the skin/surface </a:t>
            </a:r>
          </a:p>
          <a:p>
            <a:pPr>
              <a:buFont typeface="Arial" pitchFamily="34" charset="0"/>
              <a:buChar char="•"/>
            </a:pPr>
            <a:r>
              <a:rPr lang="en-AU" sz="1200" kern="1200" dirty="0" smtClean="0">
                <a:solidFill>
                  <a:schemeClr val="tx1"/>
                </a:solidFill>
                <a:ea typeface="+mn-ea"/>
                <a:cs typeface="+mn-cs"/>
              </a:rPr>
              <a:t> Thin peeling also, naturally, minimises wastage.</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peel a tomato and provides opportunity for students to practice same.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trimmings stating:</a:t>
            </a:r>
          </a:p>
          <a:p>
            <a:pPr>
              <a:buFont typeface="Arial" pitchFamily="34" charset="0"/>
              <a:buChar char="•"/>
            </a:pPr>
            <a:r>
              <a:rPr lang="en-AU" sz="1200" kern="1200" dirty="0" smtClean="0">
                <a:solidFill>
                  <a:schemeClr val="tx1"/>
                </a:solidFill>
                <a:ea typeface="+mn-ea"/>
                <a:cs typeface="+mn-cs"/>
              </a:rPr>
              <a:t> Trimmings are the </a:t>
            </a:r>
            <a:r>
              <a:rPr lang="en-AU" sz="1200" i="1" kern="1200" dirty="0" smtClean="0">
                <a:solidFill>
                  <a:schemeClr val="tx1"/>
                </a:solidFill>
                <a:ea typeface="+mn-ea"/>
                <a:cs typeface="+mn-cs"/>
              </a:rPr>
              <a:t>edible </a:t>
            </a:r>
            <a:r>
              <a:rPr lang="en-AU" sz="1200" kern="1200" dirty="0" smtClean="0">
                <a:solidFill>
                  <a:schemeClr val="tx1"/>
                </a:solidFill>
                <a:ea typeface="+mn-ea"/>
                <a:cs typeface="+mn-cs"/>
              </a:rPr>
              <a:t>good quality off-cuts from fruit and vegetable preparation. They should be saved for use in stocks, sauces, mirepoix and puree</a:t>
            </a:r>
          </a:p>
          <a:p>
            <a:pPr>
              <a:buFont typeface="Arial" pitchFamily="34" charset="0"/>
              <a:buChar char="•"/>
            </a:pPr>
            <a:r>
              <a:rPr lang="en-AU" sz="1200" kern="1200" dirty="0" smtClean="0">
                <a:solidFill>
                  <a:schemeClr val="tx1"/>
                </a:solidFill>
                <a:ea typeface="+mn-ea"/>
                <a:cs typeface="+mn-cs"/>
              </a:rPr>
              <a:t> The flesh of some vegetables turns brown when exposed to air </a:t>
            </a:r>
          </a:p>
          <a:p>
            <a:pPr>
              <a:buFont typeface="Arial" pitchFamily="34" charset="0"/>
              <a:buChar char="•"/>
            </a:pPr>
            <a:r>
              <a:rPr lang="en-AU" sz="1200" kern="1200" dirty="0" smtClean="0">
                <a:solidFill>
                  <a:schemeClr val="tx1"/>
                </a:solidFill>
                <a:ea typeface="+mn-ea"/>
                <a:cs typeface="+mn-cs"/>
              </a:rPr>
              <a:t> To prevent this happening the following procedures are recommended:</a:t>
            </a:r>
          </a:p>
          <a:p>
            <a:pPr lvl="1">
              <a:buFont typeface="Arial" pitchFamily="34" charset="0"/>
              <a:buChar char="•"/>
            </a:pPr>
            <a:r>
              <a:rPr lang="en-AU" sz="1200" kern="1200" dirty="0" smtClean="0">
                <a:solidFill>
                  <a:schemeClr val="tx1"/>
                </a:solidFill>
                <a:ea typeface="+mn-ea"/>
                <a:cs typeface="+mn-cs"/>
              </a:rPr>
              <a:t> Cover peeled potatoes in cold water until they are ready for use</a:t>
            </a:r>
          </a:p>
          <a:p>
            <a:pPr lvl="1">
              <a:buFont typeface="Arial" pitchFamily="34" charset="0"/>
              <a:buChar char="•"/>
            </a:pPr>
            <a:r>
              <a:rPr lang="en-AU" sz="1200" kern="1200" dirty="0" smtClean="0">
                <a:solidFill>
                  <a:schemeClr val="tx1"/>
                </a:solidFill>
                <a:ea typeface="+mn-ea"/>
                <a:cs typeface="+mn-cs"/>
              </a:rPr>
              <a:t> Jerusalem artichokes and eggplants can be placed in a mixture of cold water and acid, usually lemon juice or vinegar.  For small quantities, the acid may be sprinkled directly onto the vegetables</a:t>
            </a:r>
          </a:p>
          <a:p>
            <a:pPr>
              <a:buFont typeface="Arial" pitchFamily="34" charset="0"/>
              <a:buChar char="•"/>
            </a:pPr>
            <a:r>
              <a:rPr lang="en-AU" sz="1200" kern="1200" dirty="0" smtClean="0">
                <a:solidFill>
                  <a:schemeClr val="tx1"/>
                </a:solidFill>
                <a:ea typeface="+mn-ea"/>
                <a:cs typeface="+mn-cs"/>
              </a:rPr>
              <a:t> The peels of some vegetables – such as zucchini and squash – are edible and therefore the vegetables do not need peeling: just wash them thoroughly.</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about cutting</a:t>
            </a:r>
          </a:p>
          <a:p>
            <a:pPr>
              <a:buFont typeface="Arial" pitchFamily="34" charset="0"/>
              <a:buChar char="•"/>
            </a:pPr>
            <a:r>
              <a:rPr lang="en-AU" sz="1200" kern="1200" dirty="0" smtClean="0">
                <a:solidFill>
                  <a:schemeClr val="tx1"/>
                </a:solidFill>
                <a:ea typeface="+mn-ea"/>
                <a:cs typeface="+mn-cs"/>
              </a:rPr>
              <a:t> A wide variety of fruit and vegetables is available for use in the kitchen and knowing how to prepare them correctly is essential</a:t>
            </a:r>
          </a:p>
          <a:p>
            <a:pPr>
              <a:buFont typeface="Arial" pitchFamily="34" charset="0"/>
              <a:buChar char="•"/>
            </a:pPr>
            <a:r>
              <a:rPr lang="en-AU" sz="1200" kern="1200" dirty="0" smtClean="0">
                <a:solidFill>
                  <a:schemeClr val="tx1"/>
                </a:solidFill>
                <a:ea typeface="+mn-ea"/>
                <a:cs typeface="+mn-cs"/>
              </a:rPr>
              <a:t> Although one of the main goals in learning to cut is speed, you are advised to start slowly and pay attention to </a:t>
            </a:r>
            <a:r>
              <a:rPr lang="en-AU" sz="1200" i="1" kern="1200" dirty="0" smtClean="0">
                <a:solidFill>
                  <a:schemeClr val="tx1"/>
                </a:solidFill>
                <a:ea typeface="+mn-ea"/>
                <a:cs typeface="+mn-cs"/>
              </a:rPr>
              <a:t>uniformity </a:t>
            </a:r>
            <a:r>
              <a:rPr lang="en-AU" sz="1200" kern="1200" dirty="0" smtClean="0">
                <a:solidFill>
                  <a:schemeClr val="tx1"/>
                </a:solidFill>
                <a:ea typeface="+mn-ea"/>
                <a:cs typeface="+mn-cs"/>
              </a:rPr>
              <a:t>and </a:t>
            </a:r>
            <a:r>
              <a:rPr lang="en-AU" sz="1200" i="1" kern="1200" dirty="0" smtClean="0">
                <a:solidFill>
                  <a:schemeClr val="tx1"/>
                </a:solidFill>
                <a:ea typeface="+mn-ea"/>
                <a:cs typeface="+mn-cs"/>
              </a:rPr>
              <a:t>accuracy </a:t>
            </a:r>
            <a:r>
              <a:rPr lang="en-AU" sz="1200" kern="1200" dirty="0" smtClean="0">
                <a:solidFill>
                  <a:schemeClr val="tx1"/>
                </a:solidFill>
                <a:ea typeface="+mn-ea"/>
                <a:cs typeface="+mn-cs"/>
              </a:rPr>
              <a:t>in cutting. The speed can – and will – come after these two aspects are mastered</a:t>
            </a:r>
          </a:p>
          <a:p>
            <a:pPr>
              <a:buFont typeface="Arial" pitchFamily="34" charset="0"/>
              <a:buChar char="•"/>
            </a:pPr>
            <a:r>
              <a:rPr lang="en-AU" sz="1200" kern="1200" dirty="0" smtClean="0">
                <a:solidFill>
                  <a:schemeClr val="tx1"/>
                </a:solidFill>
                <a:ea typeface="+mn-ea"/>
                <a:cs typeface="+mn-cs"/>
              </a:rPr>
              <a:t> Safety is always important</a:t>
            </a:r>
          </a:p>
          <a:p>
            <a:pPr>
              <a:buFont typeface="Arial" pitchFamily="34" charset="0"/>
              <a:buChar char="•"/>
            </a:pPr>
            <a:r>
              <a:rPr lang="en-AU" sz="1200" kern="1200" dirty="0" smtClean="0">
                <a:solidFill>
                  <a:schemeClr val="tx1"/>
                </a:solidFill>
                <a:ea typeface="+mn-ea"/>
                <a:cs typeface="+mn-cs"/>
              </a:rPr>
              <a:t> Mincing means cutting into very small pieces</a:t>
            </a:r>
          </a:p>
          <a:p>
            <a:pPr>
              <a:buFont typeface="Arial" pitchFamily="34" charset="0"/>
              <a:buChar char="•"/>
            </a:pPr>
            <a:r>
              <a:rPr lang="en-AU" sz="1200" kern="1200" dirty="0" smtClean="0">
                <a:solidFill>
                  <a:schemeClr val="tx1"/>
                </a:solidFill>
                <a:ea typeface="+mn-ea"/>
                <a:cs typeface="+mn-cs"/>
              </a:rPr>
              <a:t> Dicing means cutting into slightly larger pieces</a:t>
            </a:r>
          </a:p>
          <a:p>
            <a:pPr>
              <a:buFont typeface="Arial" pitchFamily="34" charset="0"/>
              <a:buChar char="•"/>
            </a:pPr>
            <a:r>
              <a:rPr lang="en-AU" sz="1200" kern="1200" dirty="0" smtClean="0">
                <a:solidFill>
                  <a:schemeClr val="tx1"/>
                </a:solidFill>
                <a:ea typeface="+mn-ea"/>
                <a:cs typeface="+mn-cs"/>
              </a:rPr>
              <a:t> The end use for the item will dictate whether it is minced or diced.</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dice an onion and provides opportunity for students to practice same.</a:t>
            </a: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more terms related to general cutting of ingredients (commonly,</a:t>
            </a:r>
            <a:r>
              <a:rPr lang="en-US" baseline="0" dirty="0" smtClean="0"/>
              <a:t> vegetables):</a:t>
            </a:r>
          </a:p>
          <a:p>
            <a:pPr>
              <a:buFont typeface="Arial" pitchFamily="34" charset="0"/>
              <a:buChar char="•"/>
            </a:pPr>
            <a:r>
              <a:rPr lang="en-US" baseline="0" dirty="0" smtClean="0"/>
              <a:t> Slice </a:t>
            </a:r>
            <a:r>
              <a:rPr lang="en-AU" baseline="0" dirty="0" smtClean="0"/>
              <a:t>– c</a:t>
            </a:r>
            <a:r>
              <a:rPr lang="en-AU" sz="1200" kern="1200" dirty="0" smtClean="0">
                <a:solidFill>
                  <a:schemeClr val="tx1"/>
                </a:solidFill>
                <a:ea typeface="+mn-ea"/>
                <a:cs typeface="+mn-cs"/>
              </a:rPr>
              <a:t>utting a thin, broad, flat piece of food, usually by using a sawing action (as for bread slices and onion rings)</a:t>
            </a:r>
            <a:endParaRPr lang="en-US" baseline="0" dirty="0" smtClean="0"/>
          </a:p>
          <a:p>
            <a:pPr>
              <a:buFont typeface="Arial" pitchFamily="34" charset="0"/>
              <a:buChar char="•"/>
            </a:pPr>
            <a:r>
              <a:rPr lang="en-US" baseline="0" dirty="0" smtClean="0"/>
              <a:t> Chop </a:t>
            </a:r>
            <a:r>
              <a:rPr lang="en-AU" baseline="0" dirty="0" smtClean="0"/>
              <a:t>– </a:t>
            </a:r>
            <a:r>
              <a:rPr lang="en-US" baseline="0" dirty="0" smtClean="0"/>
              <a:t> </a:t>
            </a:r>
            <a:r>
              <a:rPr lang="en-AU" sz="1200" kern="1200" dirty="0" smtClean="0">
                <a:solidFill>
                  <a:schemeClr val="tx1"/>
                </a:solidFill>
                <a:ea typeface="+mn-ea"/>
                <a:cs typeface="+mn-cs"/>
              </a:rPr>
              <a:t>cutting food into uneven bits by using short, sharp blows (food may be chopped fine, medium or coarse)</a:t>
            </a:r>
            <a:r>
              <a:rPr lang="en-US" baseline="0" dirty="0" smtClean="0"/>
              <a:t> </a:t>
            </a:r>
            <a:r>
              <a:rPr lang="en-AU" sz="1200" kern="1200" dirty="0" smtClean="0">
                <a:solidFill>
                  <a:schemeClr val="tx1"/>
                </a:solidFill>
                <a:ea typeface="+mn-ea"/>
                <a:cs typeface="+mn-cs"/>
              </a:rPr>
              <a:t>(as for chopped parsley for salads and duxelles) </a:t>
            </a:r>
            <a:endParaRPr lang="en-US" baseline="0" dirty="0" smtClean="0"/>
          </a:p>
          <a:p>
            <a:pPr>
              <a:buFont typeface="Arial" pitchFamily="34" charset="0"/>
              <a:buChar char="•"/>
            </a:pPr>
            <a:r>
              <a:rPr lang="en-US" baseline="0" dirty="0" smtClean="0"/>
              <a:t> Shred </a:t>
            </a:r>
            <a:r>
              <a:rPr lang="en-AU" baseline="0" dirty="0" smtClean="0"/>
              <a:t>– </a:t>
            </a:r>
            <a:r>
              <a:rPr lang="en-AU" sz="1200" kern="1200" dirty="0" smtClean="0">
                <a:solidFill>
                  <a:schemeClr val="tx1"/>
                </a:solidFill>
                <a:ea typeface="+mn-ea"/>
                <a:cs typeface="+mn-cs"/>
              </a:rPr>
              <a:t>cutting into very fine, irregular strips</a:t>
            </a:r>
            <a:r>
              <a:rPr lang="en-US" baseline="0" dirty="0" smtClean="0"/>
              <a:t>  </a:t>
            </a:r>
            <a:r>
              <a:rPr lang="en-AU" sz="1200" kern="1200" dirty="0" smtClean="0">
                <a:solidFill>
                  <a:schemeClr val="tx1"/>
                </a:solidFill>
                <a:ea typeface="+mn-ea"/>
                <a:cs typeface="+mn-cs"/>
              </a:rPr>
              <a:t>(as for lettuce [for use in salads] and cabbage [for use in cole slaw])</a:t>
            </a:r>
            <a:endParaRPr lang="en-US" baseline="0" dirty="0" smtClean="0"/>
          </a:p>
          <a:p>
            <a:pPr>
              <a:buFont typeface="Arial" pitchFamily="34" charset="0"/>
              <a:buChar char="•"/>
            </a:pPr>
            <a:r>
              <a:rPr lang="en-US" baseline="0" dirty="0" smtClean="0"/>
              <a:t> Crush </a:t>
            </a:r>
            <a:r>
              <a:rPr lang="en-AU" baseline="0" dirty="0" smtClean="0"/>
              <a:t>– </a:t>
            </a:r>
            <a:r>
              <a:rPr lang="en-AU" sz="1200" kern="1200" dirty="0" smtClean="0">
                <a:solidFill>
                  <a:schemeClr val="tx1"/>
                </a:solidFill>
                <a:ea typeface="+mn-ea"/>
                <a:cs typeface="+mn-cs"/>
              </a:rPr>
              <a:t>cutting into fine, medium or coarse particles, often by using the side of the knife</a:t>
            </a:r>
            <a:r>
              <a:rPr lang="en-US" baseline="0" dirty="0" smtClean="0"/>
              <a:t> </a:t>
            </a:r>
            <a:r>
              <a:rPr lang="en-AU" sz="1200" kern="1200" dirty="0" smtClean="0">
                <a:solidFill>
                  <a:schemeClr val="tx1"/>
                </a:solidFill>
                <a:ea typeface="+mn-ea"/>
                <a:cs typeface="+mn-cs"/>
              </a:rPr>
              <a:t>(as for crushed garlic).</a:t>
            </a:r>
            <a:endParaRPr lang="en-US" baseline="0" dirty="0" smtClean="0"/>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cutting terms as identified on the slide to produce finished products as listed and provides opportunity for students to practice same.</a:t>
            </a:r>
          </a:p>
          <a:p>
            <a:pPr>
              <a:buFont typeface="Arial" pitchFamily="34" charset="0"/>
              <a:buNone/>
            </a:pPr>
            <a:endParaRPr lang="en-US" b="0"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rPr>
              <a:t>http://www.youtube.com/watch?v=aO-9VmnXHB8</a:t>
            </a:r>
            <a:r>
              <a:rPr lang="en-AU" sz="1200" u="none" kern="1200" dirty="0" smtClean="0">
                <a:solidFill>
                  <a:schemeClr val="tx1"/>
                </a:solidFill>
                <a:ea typeface="+mn-ea"/>
                <a:cs typeface="+mn-cs"/>
              </a:rPr>
              <a:t> (‘How to chiffonnade a lettuce’: 28 secs)</a:t>
            </a:r>
            <a:endParaRPr lang="en-US" b="0" u="none"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defines a variety of vegetable cuts:</a:t>
            </a:r>
          </a:p>
          <a:p>
            <a:r>
              <a:rPr lang="en-AU" sz="1200" b="1" kern="1200" dirty="0" smtClean="0">
                <a:solidFill>
                  <a:schemeClr val="tx1"/>
                </a:solidFill>
                <a:ea typeface="+mn-ea"/>
                <a:cs typeface="+mn-cs"/>
              </a:rPr>
              <a:t>Julienne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strips of vegetables (such as carrots but can also be, for example, ham) that measure 2 mm x 2 mm x 40 mm long.</a:t>
            </a:r>
          </a:p>
          <a:p>
            <a:r>
              <a:rPr lang="en-AU" sz="1200" b="1" kern="1200" dirty="0" smtClean="0">
                <a:solidFill>
                  <a:schemeClr val="tx1"/>
                </a:solidFill>
                <a:ea typeface="+mn-ea"/>
                <a:cs typeface="+mn-cs"/>
              </a:rPr>
              <a:t>Macedoine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vegetables cut into cubes  </a:t>
            </a:r>
          </a:p>
          <a:p>
            <a:r>
              <a:rPr lang="en-AU" sz="1200" kern="1200" dirty="0" smtClean="0">
                <a:solidFill>
                  <a:schemeClr val="tx1"/>
                </a:solidFill>
                <a:ea typeface="+mn-ea"/>
                <a:cs typeface="+mn-cs"/>
              </a:rPr>
              <a:t>They are bigger than Brunoise being 8 mm x 8 mm x 8 mm.</a:t>
            </a:r>
          </a:p>
          <a:p>
            <a:r>
              <a:rPr lang="en-AU" sz="1200" b="1" kern="1200" dirty="0" smtClean="0">
                <a:solidFill>
                  <a:schemeClr val="tx1"/>
                </a:solidFill>
                <a:ea typeface="+mn-ea"/>
                <a:cs typeface="+mn-cs"/>
              </a:rPr>
              <a:t>Bâtonnet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is a baton cut of 6 mm x 6 mm x 45 mm</a:t>
            </a:r>
          </a:p>
          <a:p>
            <a:r>
              <a:rPr lang="en-AU" sz="1200" kern="1200" dirty="0" smtClean="0">
                <a:solidFill>
                  <a:schemeClr val="tx1"/>
                </a:solidFill>
                <a:ea typeface="+mn-ea"/>
                <a:cs typeface="+mn-cs"/>
              </a:rPr>
              <a:t>Potatoes and carrots are often cut this way.</a:t>
            </a:r>
          </a:p>
          <a:p>
            <a:r>
              <a:rPr lang="en-AU" sz="1200" b="1" kern="1200" dirty="0" smtClean="0">
                <a:solidFill>
                  <a:schemeClr val="tx1"/>
                </a:solidFill>
                <a:ea typeface="+mn-ea"/>
                <a:cs typeface="+mn-cs"/>
              </a:rPr>
              <a:t>Jardiniere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small batons of vegetables, similar to Julienne but bigger being 4 mm x 4 mm x 20 mm.</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vegetable cuts as identified on the slide and provides opportunity for students to practice same.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defining a variety of vegetable cuts:</a:t>
            </a:r>
          </a:p>
          <a:p>
            <a:r>
              <a:rPr lang="en-AU" sz="1200" b="1" kern="1200" dirty="0" smtClean="0">
                <a:solidFill>
                  <a:schemeClr val="tx1"/>
                </a:solidFill>
                <a:ea typeface="+mn-ea"/>
                <a:cs typeface="+mn-cs"/>
              </a:rPr>
              <a:t>Paysanne/fermière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thinly sliced triangular, round or square shapes.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The round shapes must be 15 mm in diameter, and the squares and triangles must have 5 to 10 mm thickness.</a:t>
            </a:r>
          </a:p>
          <a:p>
            <a:r>
              <a:rPr lang="en-AU" sz="1200" b="1" kern="1200" dirty="0" smtClean="0">
                <a:solidFill>
                  <a:schemeClr val="tx1"/>
                </a:solidFill>
                <a:ea typeface="+mn-ea"/>
                <a:cs typeface="+mn-cs"/>
              </a:rPr>
              <a:t>Lozenge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 thin diamond-shape cut about 6 mm thick.</a:t>
            </a:r>
          </a:p>
          <a:p>
            <a:r>
              <a:rPr lang="en-AU" sz="1200" b="1" kern="1200" dirty="0" smtClean="0">
                <a:solidFill>
                  <a:schemeClr val="tx1"/>
                </a:solidFill>
                <a:ea typeface="+mn-ea"/>
                <a:cs typeface="+mn-cs"/>
              </a:rPr>
              <a:t>Brunoise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small cubes measuring 2 mm x 2 mm x 2 mm.</a:t>
            </a:r>
          </a:p>
          <a:p>
            <a:r>
              <a:rPr lang="en-AU" sz="1200" b="1" kern="1200" dirty="0" smtClean="0">
                <a:solidFill>
                  <a:schemeClr val="tx1"/>
                </a:solidFill>
                <a:ea typeface="+mn-ea"/>
                <a:cs typeface="+mn-cs"/>
              </a:rPr>
              <a:t>Rondelle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are round cuts (like a coin) of, for example, a carrot.</a:t>
            </a:r>
          </a:p>
          <a:p>
            <a:r>
              <a:rPr lang="en-AU" sz="1200" kern="1200" dirty="0" smtClean="0">
                <a:solidFill>
                  <a:schemeClr val="tx1"/>
                </a:solidFill>
                <a:ea typeface="+mn-ea"/>
                <a:cs typeface="+mn-cs"/>
              </a:rPr>
              <a:t>The rounds can be of different thicknesses for different uses – thinner cuts for salads, thicker cuts for use as a vegetable to accompany a meal.</a:t>
            </a:r>
          </a:p>
          <a:p>
            <a:r>
              <a:rPr lang="en-AU" sz="1200" b="1" kern="1200" dirty="0" smtClean="0">
                <a:solidFill>
                  <a:schemeClr val="tx1"/>
                </a:solidFill>
                <a:ea typeface="+mn-ea"/>
                <a:cs typeface="+mn-cs"/>
              </a:rPr>
              <a:t>Oblique/roll cut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 cut where the sides of the carrot are not parallel to each other.</a:t>
            </a:r>
          </a:p>
          <a:p>
            <a:r>
              <a:rPr lang="en-AU" sz="1200" kern="1200" dirty="0" smtClean="0">
                <a:solidFill>
                  <a:schemeClr val="tx1"/>
                </a:solidFill>
                <a:ea typeface="+mn-ea"/>
                <a:cs typeface="+mn-cs"/>
              </a:rPr>
              <a:t>This cut requires you to roll the carrot between cuts to obtain this unique shape and unusual shape.</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vegetable cuts as identified on the slide and provides opportunity for students to practice same.</a:t>
            </a:r>
          </a:p>
          <a:p>
            <a:pPr>
              <a:buFont typeface="Arial" pitchFamily="34" charset="0"/>
              <a:buNone/>
            </a:pPr>
            <a:endParaRPr lang="en-US" b="0"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rPr>
              <a:t>http://www.youtube.com/watch?v=ur85o7hgvyQ (‘How to cut a lozenge from a carrot’: 3 mins 20 secs). </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http://www.youtube.com/watch?v=cV0c7qiNjuI (‘Basic knife skills 1 of 2’: 8 mins)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http://www.youtube.com/watch?v=WSTBJ82nUts (‘Basic knife skills 2 of 2’: 7 mins 34 secs)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http://www.youtube.com/watch?v=wvy_sUJKJ1U (‘Classic Carrot Cuts - Rondelle, Demilune, Paysanne’: I min 49 secs)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http://www.youtube.com/watch?v=FpSEs_hEBG4 (‘Chef Kyle - Carrot/rondelle cut’: 2 mins 45 secs)</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http://www.youtube.com/watch?v=dtBssdM2nTU (‘How to Brunoise’: 28 secs) </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http://www.youtube.com/watch?v=ML5flgorZYc (‘How to Dice, Julienne, Brunoise and Batonnet’: 2 mins 57 secs).</a:t>
            </a: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http://www.youtube.com/watch?v=jShrXQInpek (‘How to oblique cut on vegetable’)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turned vegetables:</a:t>
            </a:r>
          </a:p>
          <a:p>
            <a:pPr>
              <a:buFont typeface="Arial" pitchFamily="34" charset="0"/>
              <a:buChar char="•"/>
            </a:pPr>
            <a:r>
              <a:rPr lang="en-AU" sz="1200" kern="1200" dirty="0" smtClean="0">
                <a:solidFill>
                  <a:schemeClr val="tx1"/>
                </a:solidFill>
                <a:ea typeface="+mn-ea"/>
                <a:cs typeface="+mn-cs"/>
              </a:rPr>
              <a:t> Turning is the process where root vegetables (commonly potatoes and carrots are turned) of different sizes are shaped (or ‘turned’) into the same size and shape</a:t>
            </a:r>
          </a:p>
          <a:p>
            <a:pPr>
              <a:buFont typeface="Arial" pitchFamily="34" charset="0"/>
              <a:buChar char="•"/>
            </a:pPr>
            <a:r>
              <a:rPr lang="en-AU" sz="1200" kern="1200" dirty="0" smtClean="0">
                <a:solidFill>
                  <a:schemeClr val="tx1"/>
                </a:solidFill>
                <a:ea typeface="+mn-ea"/>
                <a:cs typeface="+mn-cs"/>
              </a:rPr>
              <a:t> This results in even cooking and enhanced presentation/eye appeal </a:t>
            </a:r>
          </a:p>
          <a:p>
            <a:pPr>
              <a:buFont typeface="Arial" pitchFamily="34" charset="0"/>
              <a:buChar char="•"/>
            </a:pPr>
            <a:r>
              <a:rPr lang="en-AU" sz="1200" kern="1200" dirty="0" smtClean="0">
                <a:solidFill>
                  <a:schemeClr val="tx1"/>
                </a:solidFill>
                <a:ea typeface="+mn-ea"/>
                <a:cs typeface="+mn-cs"/>
              </a:rPr>
              <a:t> The best knife to use for turning vegetables is a turning knife but a standard paring knife is also suitable</a:t>
            </a:r>
          </a:p>
          <a:p>
            <a:pPr>
              <a:buFont typeface="Arial" pitchFamily="34" charset="0"/>
              <a:buChar char="•"/>
            </a:pPr>
            <a:r>
              <a:rPr lang="en-AU" sz="1200" kern="1200" dirty="0" smtClean="0">
                <a:solidFill>
                  <a:schemeClr val="tx1"/>
                </a:solidFill>
                <a:ea typeface="+mn-ea"/>
                <a:cs typeface="+mn-cs"/>
              </a:rPr>
              <a:t> The vegetable to be turned is first cut to the required size and then held in one hand: the knife is used in the other</a:t>
            </a:r>
          </a:p>
          <a:p>
            <a:pPr>
              <a:buFont typeface="Arial" pitchFamily="34" charset="0"/>
              <a:buChar char="•"/>
            </a:pPr>
            <a:r>
              <a:rPr lang="en-AU" sz="1200" kern="1200" dirty="0" smtClean="0">
                <a:solidFill>
                  <a:schemeClr val="tx1"/>
                </a:solidFill>
                <a:ea typeface="+mn-ea"/>
                <a:cs typeface="+mn-cs"/>
              </a:rPr>
              <a:t> There is a knack to turning vegetables into regular-shaped barrels – one way to learn the even wrist action required for turning is to practice on a hard boiled egg (shell on): hold the egg lengthways between finger and thumb and scrape the blade lightly down the shell until you feel comfortable with the even flow of the knife</a:t>
            </a:r>
          </a:p>
          <a:p>
            <a:pPr>
              <a:buFont typeface="Arial" pitchFamily="34" charset="0"/>
              <a:buChar char="•"/>
            </a:pPr>
            <a:r>
              <a:rPr lang="en-AU" sz="1200" kern="1200" dirty="0" smtClean="0">
                <a:solidFill>
                  <a:schemeClr val="tx1"/>
                </a:solidFill>
                <a:ea typeface="+mn-ea"/>
                <a:cs typeface="+mn-cs"/>
              </a:rPr>
              <a:t> An exception is turned mushrooms. A series of grooves are scored in a mushroom cap, at an angle of approximately 25°, removing the skin at the same time.</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turn a potato, a carrot and mushrooms and provides opportunity for students to practice same.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preparing citrus fruit identifying there are three common cuts:</a:t>
            </a:r>
          </a:p>
          <a:p>
            <a:r>
              <a:rPr lang="en-AU" sz="1200" b="1" i="0" kern="1200" dirty="0" smtClean="0">
                <a:solidFill>
                  <a:schemeClr val="tx1"/>
                </a:solidFill>
                <a:ea typeface="+mn-ea"/>
                <a:cs typeface="+mn-cs"/>
              </a:rPr>
              <a:t>Peeled slices</a:t>
            </a:r>
            <a:endParaRPr lang="en-AU" sz="1200" i="0" kern="1200" dirty="0" smtClean="0">
              <a:solidFill>
                <a:schemeClr val="tx1"/>
              </a:solidFill>
              <a:ea typeface="+mn-ea"/>
              <a:cs typeface="+mn-cs"/>
            </a:endParaRPr>
          </a:p>
          <a:p>
            <a:r>
              <a:rPr lang="en-AU" sz="1200" kern="1200" dirty="0" smtClean="0">
                <a:solidFill>
                  <a:schemeClr val="tx1"/>
                </a:solidFill>
                <a:ea typeface="+mn-ea"/>
                <a:cs typeface="+mn-cs"/>
              </a:rPr>
              <a:t>Remove both ends of the fruit to just expose the flesh</a:t>
            </a:r>
          </a:p>
          <a:p>
            <a:r>
              <a:rPr lang="en-AU" sz="1200" kern="1200" dirty="0" smtClean="0">
                <a:solidFill>
                  <a:schemeClr val="tx1"/>
                </a:solidFill>
                <a:ea typeface="+mn-ea"/>
                <a:cs typeface="+mn-cs"/>
              </a:rPr>
              <a:t>Stand the fruit on a cutting board and with a sharp knife and using a slightly curved action, slice off the skin and the pith without cutting too much into the flesh. After the first slice, follow the line of the exposed flesh</a:t>
            </a:r>
          </a:p>
          <a:p>
            <a:r>
              <a:rPr lang="en-AU" sz="1200" kern="1200" dirty="0" smtClean="0">
                <a:solidFill>
                  <a:schemeClr val="tx1"/>
                </a:solidFill>
                <a:ea typeface="+mn-ea"/>
                <a:cs typeface="+mn-cs"/>
              </a:rPr>
              <a:t>Turn the fruit on its side and cut slices 3 mm thick and remove any pips.</a:t>
            </a:r>
          </a:p>
          <a:p>
            <a:r>
              <a:rPr lang="en-AU" sz="1200" b="1" i="0" kern="1200" dirty="0" smtClean="0">
                <a:solidFill>
                  <a:schemeClr val="tx1"/>
                </a:solidFill>
                <a:ea typeface="+mn-ea"/>
                <a:cs typeface="+mn-cs"/>
              </a:rPr>
              <a:t>Wedges</a:t>
            </a:r>
            <a:endParaRPr lang="en-AU" sz="1200" i="0" kern="1200" dirty="0" smtClean="0">
              <a:solidFill>
                <a:schemeClr val="tx1"/>
              </a:solidFill>
              <a:ea typeface="+mn-ea"/>
              <a:cs typeface="+mn-cs"/>
            </a:endParaRPr>
          </a:p>
          <a:p>
            <a:r>
              <a:rPr lang="en-AU" sz="1200" kern="1200" dirty="0" smtClean="0">
                <a:solidFill>
                  <a:schemeClr val="tx1"/>
                </a:solidFill>
                <a:ea typeface="+mn-ea"/>
                <a:cs typeface="+mn-cs"/>
              </a:rPr>
              <a:t>Remove both ends of the fruit without cutting into the flesh</a:t>
            </a:r>
          </a:p>
          <a:p>
            <a:r>
              <a:rPr lang="en-AU" sz="1200" kern="1200" dirty="0" smtClean="0">
                <a:solidFill>
                  <a:schemeClr val="tx1"/>
                </a:solidFill>
                <a:ea typeface="+mn-ea"/>
                <a:cs typeface="+mn-cs"/>
              </a:rPr>
              <a:t>Stand the fruit on a cutting board and cut in half. Then cut each half into four to six wedges, depending on the size of the fruit</a:t>
            </a:r>
          </a:p>
          <a:p>
            <a:r>
              <a:rPr lang="en-AU" sz="1200" kern="1200" dirty="0" smtClean="0">
                <a:solidFill>
                  <a:schemeClr val="tx1"/>
                </a:solidFill>
                <a:ea typeface="+mn-ea"/>
                <a:cs typeface="+mn-cs"/>
              </a:rPr>
              <a:t>Remove any pips and cut off the strip of pith from the centre of each wedge.</a:t>
            </a:r>
          </a:p>
          <a:p>
            <a:r>
              <a:rPr lang="en-AU" sz="1200" b="1" i="0" kern="1200" dirty="0" smtClean="0">
                <a:solidFill>
                  <a:schemeClr val="tx1"/>
                </a:solidFill>
                <a:ea typeface="+mn-ea"/>
                <a:cs typeface="+mn-cs"/>
              </a:rPr>
              <a:t>Segments</a:t>
            </a:r>
            <a:endParaRPr lang="en-AU" sz="1200" i="0" kern="1200" dirty="0" smtClean="0">
              <a:solidFill>
                <a:schemeClr val="tx1"/>
              </a:solidFill>
              <a:ea typeface="+mn-ea"/>
              <a:cs typeface="+mn-cs"/>
            </a:endParaRPr>
          </a:p>
          <a:p>
            <a:r>
              <a:rPr lang="en-AU" sz="1200" kern="1200" dirty="0" smtClean="0">
                <a:solidFill>
                  <a:schemeClr val="tx1"/>
                </a:solidFill>
                <a:ea typeface="+mn-ea"/>
                <a:cs typeface="+mn-cs"/>
              </a:rPr>
              <a:t>Cut off the ends of the fruit squarely so as to just expose the flesh</a:t>
            </a:r>
          </a:p>
          <a:p>
            <a:r>
              <a:rPr lang="en-AU" sz="1200" kern="1200" dirty="0" smtClean="0">
                <a:solidFill>
                  <a:schemeClr val="tx1"/>
                </a:solidFill>
                <a:ea typeface="+mn-ea"/>
                <a:cs typeface="+mn-cs"/>
              </a:rPr>
              <a:t>Stand the fruit on a cutting board and with a sharp knife and using a slightly curved action, slice downwards following the shape of the fruit to remove all the peel and pith and as little of the flesh as possible</a:t>
            </a:r>
          </a:p>
          <a:p>
            <a:r>
              <a:rPr lang="en-AU" sz="1200" kern="1200" dirty="0" smtClean="0">
                <a:solidFill>
                  <a:schemeClr val="tx1"/>
                </a:solidFill>
                <a:ea typeface="+mn-ea"/>
                <a:cs typeface="+mn-cs"/>
              </a:rPr>
              <a:t>Hold the fruit in one hand and, working over a basin, remove each segment by cutting along each side of it close to the membrane</a:t>
            </a:r>
          </a:p>
          <a:p>
            <a:r>
              <a:rPr lang="en-AU" sz="1200" kern="1200" dirty="0" smtClean="0">
                <a:solidFill>
                  <a:schemeClr val="tx1"/>
                </a:solidFill>
                <a:ea typeface="+mn-ea"/>
                <a:cs typeface="+mn-cs"/>
              </a:rPr>
              <a:t>Squeeze the juice from the core into the bowl.</a:t>
            </a:r>
          </a:p>
          <a:p>
            <a:pPr>
              <a:buFont typeface="Arial" pitchFamily="34" charset="0"/>
              <a:buNone/>
            </a:pPr>
            <a:endParaRPr lang="en-US" sz="1200" kern="1200" dirty="0" smtClean="0">
              <a:solidFill>
                <a:schemeClr val="tx1"/>
              </a:solidFill>
              <a:ea typeface="+mn-ea"/>
              <a:cs typeface="+mn-cs"/>
            </a:endParaRPr>
          </a:p>
          <a:p>
            <a:pPr>
              <a:buFont typeface="Arial" pitchFamily="34" charset="0"/>
              <a:buNone/>
            </a:pPr>
            <a:r>
              <a:rPr lang="en-US" b="1" dirty="0" smtClean="0"/>
              <a:t>Class Activity –</a:t>
            </a:r>
            <a:r>
              <a:rPr lang="en-US" b="1" baseline="0" dirty="0" smtClean="0"/>
              <a:t> Demonstration and Practice</a:t>
            </a:r>
          </a:p>
          <a:p>
            <a:pPr>
              <a:buFont typeface="Arial" pitchFamily="34" charset="0"/>
              <a:buNone/>
            </a:pPr>
            <a:r>
              <a:rPr lang="en-US" b="0" baseline="0" dirty="0" smtClean="0"/>
              <a:t>Trainer demonstrates how to cut citrus fruit into the three cuts identified on the slide and provides opportunity for students to practice same.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‘cooking methods’ stating:</a:t>
            </a:r>
          </a:p>
          <a:p>
            <a:pPr>
              <a:buFont typeface="Arial" pitchFamily="34" charset="0"/>
              <a:buChar char="•"/>
            </a:pPr>
            <a:r>
              <a:rPr lang="en-AU" sz="1200" kern="1200" dirty="0" smtClean="0">
                <a:solidFill>
                  <a:schemeClr val="tx1"/>
                </a:solidFill>
                <a:ea typeface="+mn-ea"/>
                <a:cs typeface="+mn-cs"/>
              </a:rPr>
              <a:t> Cooking may be seen as the application of heat to food. There are many ways heat can be applied, and a wide range of equipment with which to apply it</a:t>
            </a:r>
          </a:p>
          <a:p>
            <a:pPr>
              <a:buFont typeface="Arial" pitchFamily="34" charset="0"/>
              <a:buChar char="•"/>
            </a:pPr>
            <a:r>
              <a:rPr lang="en-AU" sz="1200" kern="1200" dirty="0" smtClean="0">
                <a:solidFill>
                  <a:schemeClr val="tx1"/>
                </a:solidFill>
                <a:ea typeface="+mn-ea"/>
                <a:cs typeface="+mn-cs"/>
              </a:rPr>
              <a:t> The recipe being used will dictate the cooking method to be used</a:t>
            </a:r>
          </a:p>
          <a:p>
            <a:pPr>
              <a:buFont typeface="Arial" pitchFamily="34" charset="0"/>
              <a:buChar char="•"/>
            </a:pPr>
            <a:r>
              <a:rPr lang="en-AU" sz="1200" kern="1200" dirty="0" smtClean="0">
                <a:solidFill>
                  <a:schemeClr val="tx1"/>
                </a:solidFill>
                <a:ea typeface="+mn-ea"/>
                <a:cs typeface="+mn-cs"/>
              </a:rPr>
              <a:t> The cooking style is often indicated on the menu, too.</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defines a range of cooking styles:</a:t>
            </a:r>
          </a:p>
          <a:p>
            <a:r>
              <a:rPr lang="en-AU" sz="1200" b="1" kern="1200" dirty="0" smtClean="0">
                <a:solidFill>
                  <a:schemeClr val="tx1"/>
                </a:solidFill>
                <a:ea typeface="+mn-ea"/>
                <a:cs typeface="+mn-cs"/>
              </a:rPr>
              <a:t>Boiling</a:t>
            </a:r>
          </a:p>
          <a:p>
            <a:r>
              <a:rPr lang="en-AU" sz="1200" kern="1200" dirty="0" smtClean="0">
                <a:solidFill>
                  <a:schemeClr val="tx1"/>
                </a:solidFill>
                <a:ea typeface="+mn-ea"/>
                <a:cs typeface="+mn-cs"/>
              </a:rPr>
              <a:t>Boiling is the principle of cookery in which food is completely immersed in liquid and cooked at boiling point (100</a:t>
            </a:r>
            <a:r>
              <a:rPr lang="en-AU" sz="1200" kern="1200" dirty="0" smtClean="0">
                <a:solidFill>
                  <a:schemeClr val="tx1"/>
                </a:solidFill>
                <a:ea typeface="+mn-ea"/>
                <a:cs typeface="+mn-cs"/>
                <a:sym typeface="Symbol"/>
              </a:rPr>
              <a:t></a:t>
            </a:r>
            <a:r>
              <a:rPr lang="en-AU" sz="1200" kern="1200" dirty="0" smtClean="0">
                <a:solidFill>
                  <a:schemeClr val="tx1"/>
                </a:solidFill>
                <a:ea typeface="+mn-ea"/>
                <a:cs typeface="+mn-cs"/>
              </a:rPr>
              <a:t>C).</a:t>
            </a:r>
          </a:p>
          <a:p>
            <a:r>
              <a:rPr lang="en-AU" sz="1200" b="1" kern="1200" dirty="0" smtClean="0">
                <a:solidFill>
                  <a:schemeClr val="tx1"/>
                </a:solidFill>
                <a:ea typeface="+mn-ea"/>
                <a:cs typeface="+mn-cs"/>
              </a:rPr>
              <a:t>Poaching</a:t>
            </a:r>
          </a:p>
          <a:p>
            <a:r>
              <a:rPr lang="en-AU" sz="1200" kern="1200" dirty="0" smtClean="0">
                <a:solidFill>
                  <a:schemeClr val="tx1"/>
                </a:solidFill>
                <a:ea typeface="+mn-ea"/>
                <a:cs typeface="+mn-cs"/>
              </a:rPr>
              <a:t>Poaching is the principle of cookery where food is completely submerged in liquid just below boiling point: there should be no visible movement of the liquid.</a:t>
            </a:r>
          </a:p>
          <a:p>
            <a:r>
              <a:rPr lang="en-AU" sz="1200" b="1" kern="1200" dirty="0" smtClean="0">
                <a:solidFill>
                  <a:schemeClr val="tx1"/>
                </a:solidFill>
                <a:ea typeface="+mn-ea"/>
                <a:cs typeface="+mn-cs"/>
              </a:rPr>
              <a:t>Braising</a:t>
            </a:r>
          </a:p>
          <a:p>
            <a:r>
              <a:rPr lang="en-AU" sz="1200" kern="1200" dirty="0" smtClean="0">
                <a:solidFill>
                  <a:schemeClr val="tx1"/>
                </a:solidFill>
                <a:ea typeface="+mn-ea"/>
                <a:cs typeface="+mn-cs"/>
              </a:rPr>
              <a:t>Braising is the principle of cookery where food is half covered with an appropriate liquid and cooked slowly in a tightly lidded container.  </a:t>
            </a:r>
          </a:p>
          <a:p>
            <a:r>
              <a:rPr lang="en-AU" sz="1200" kern="1200" dirty="0" smtClean="0">
                <a:solidFill>
                  <a:schemeClr val="tx1"/>
                </a:solidFill>
                <a:ea typeface="+mn-ea"/>
                <a:cs typeface="+mn-cs"/>
              </a:rPr>
              <a:t>The food is usually left in large pieces which are carved before serving: the cooking liquid for meat is often used in a sauce however the liquid in which vegetables are braised is not used for sauce as it is too strongly flavoured.</a:t>
            </a:r>
          </a:p>
          <a:p>
            <a:r>
              <a:rPr lang="en-AU" sz="1200" kern="1200" dirty="0" smtClean="0">
                <a:solidFill>
                  <a:schemeClr val="tx1"/>
                </a:solidFill>
                <a:ea typeface="+mn-ea"/>
                <a:cs typeface="+mn-cs"/>
              </a:rPr>
              <a:t>Braising can be done in an oven or on the top of the stove.</a:t>
            </a:r>
          </a:p>
          <a:p>
            <a:r>
              <a:rPr lang="en-AU" sz="1200" b="1" kern="1200" dirty="0" smtClean="0">
                <a:solidFill>
                  <a:schemeClr val="tx1"/>
                </a:solidFill>
                <a:ea typeface="+mn-ea"/>
                <a:cs typeface="+mn-cs"/>
              </a:rPr>
              <a:t>Stewing</a:t>
            </a:r>
          </a:p>
          <a:p>
            <a:r>
              <a:rPr lang="en-AU" sz="1200" kern="1200" dirty="0" smtClean="0">
                <a:solidFill>
                  <a:schemeClr val="tx1"/>
                </a:solidFill>
                <a:ea typeface="+mn-ea"/>
                <a:cs typeface="+mn-cs"/>
              </a:rPr>
              <a:t>Stewing is the principle of cookery where the food is completely covered with liquid while it is cooking. The long cooking process gives a concentrated flavour and the sauce which are served together as a complete dish.</a:t>
            </a:r>
          </a:p>
          <a:p>
            <a:r>
              <a:rPr lang="en-AU" sz="1200" b="1" kern="1200" dirty="0" smtClean="0">
                <a:solidFill>
                  <a:schemeClr val="tx1"/>
                </a:solidFill>
                <a:ea typeface="+mn-ea"/>
                <a:cs typeface="+mn-cs"/>
              </a:rPr>
              <a:t>Steaming</a:t>
            </a:r>
          </a:p>
          <a:p>
            <a:r>
              <a:rPr lang="en-AU" sz="1200" kern="1200" dirty="0" smtClean="0">
                <a:solidFill>
                  <a:schemeClr val="tx1"/>
                </a:solidFill>
                <a:ea typeface="+mn-ea"/>
                <a:cs typeface="+mn-cs"/>
              </a:rPr>
              <a:t>Steaming is the principle of cookery where food is cooked by steam, either at atmospheric or high pressure.  </a:t>
            </a:r>
          </a:p>
          <a:p>
            <a:r>
              <a:rPr lang="en-AU" sz="1200" kern="1200" dirty="0" smtClean="0">
                <a:solidFill>
                  <a:schemeClr val="tx1"/>
                </a:solidFill>
                <a:ea typeface="+mn-ea"/>
                <a:cs typeface="+mn-cs"/>
              </a:rPr>
              <a:t>A smaller amount of liquid is used than in boiling. The food to be steamed is suspended above the liquid which creates the steam. The steam should be contained within the cooking vessel. Steaming is a very nutritional method of cookery as no fats or oils are used and natural tastes are preserved.</a:t>
            </a:r>
          </a:p>
          <a:p>
            <a:pPr>
              <a:buFont typeface="Arial" pitchFamily="34" charset="0"/>
              <a:buNone/>
            </a:pPr>
            <a:endParaRPr lang="en-US" dirty="0" smtClean="0"/>
          </a:p>
          <a:p>
            <a:pPr>
              <a:buFont typeface="Arial" pitchFamily="34" charset="0"/>
              <a:buNone/>
            </a:pPr>
            <a:r>
              <a:rPr lang="en-US" b="1" dirty="0" smtClean="0"/>
              <a:t>Class Activity – Question and Answer</a:t>
            </a:r>
          </a:p>
          <a:p>
            <a:pPr>
              <a:buFont typeface="Arial" pitchFamily="34" charset="0"/>
              <a:buNone/>
            </a:pPr>
            <a:r>
              <a:rPr lang="en-US" b="0" dirty="0" smtClean="0"/>
              <a:t>Trainer asks students to identify dishes cooked by the cooking styles identified on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defining a range of cooking styles:</a:t>
            </a:r>
          </a:p>
          <a:p>
            <a:r>
              <a:rPr lang="en-AU" sz="1200" b="1" kern="1200" dirty="0" smtClean="0">
                <a:solidFill>
                  <a:schemeClr val="tx1"/>
                </a:solidFill>
                <a:ea typeface="+mn-ea"/>
                <a:cs typeface="+mn-cs"/>
              </a:rPr>
              <a:t>Deep frying</a:t>
            </a:r>
          </a:p>
          <a:p>
            <a:r>
              <a:rPr lang="en-AU" sz="1200" kern="1200" dirty="0" smtClean="0">
                <a:solidFill>
                  <a:schemeClr val="tx1"/>
                </a:solidFill>
                <a:ea typeface="+mn-ea"/>
                <a:cs typeface="+mn-cs"/>
              </a:rPr>
              <a:t>Deep frying is the principle of cookery where food is cooked by total immersion in hot fat or oil. It is best suited to foods which can be cooked quickly.  </a:t>
            </a:r>
          </a:p>
          <a:p>
            <a:r>
              <a:rPr lang="en-AU" sz="1200" kern="1200" dirty="0" smtClean="0">
                <a:solidFill>
                  <a:schemeClr val="tx1"/>
                </a:solidFill>
                <a:ea typeface="+mn-ea"/>
                <a:cs typeface="+mn-cs"/>
              </a:rPr>
              <a:t>Most foods need to be coated before deep frying to seal in the juices.</a:t>
            </a:r>
          </a:p>
          <a:p>
            <a:r>
              <a:rPr lang="en-AU" sz="1200" b="1" kern="1200" dirty="0" smtClean="0">
                <a:solidFill>
                  <a:schemeClr val="tx1"/>
                </a:solidFill>
                <a:ea typeface="+mn-ea"/>
                <a:cs typeface="+mn-cs"/>
              </a:rPr>
              <a:t>Baking</a:t>
            </a:r>
          </a:p>
          <a:p>
            <a:r>
              <a:rPr lang="en-AU" sz="1200" kern="1200" dirty="0" smtClean="0">
                <a:solidFill>
                  <a:schemeClr val="tx1"/>
                </a:solidFill>
                <a:ea typeface="+mn-ea"/>
                <a:cs typeface="+mn-cs"/>
              </a:rPr>
              <a:t>Baking is the principle of cookery in which food is subjected to the action of dry heat in an oven. This dry heat is modified by steam produced by the water content of the food being baked.  </a:t>
            </a:r>
          </a:p>
          <a:p>
            <a:r>
              <a:rPr lang="en-AU" sz="1200" b="1" kern="1200" dirty="0" smtClean="0">
                <a:solidFill>
                  <a:schemeClr val="tx1"/>
                </a:solidFill>
                <a:ea typeface="+mn-ea"/>
                <a:cs typeface="+mn-cs"/>
              </a:rPr>
              <a:t>Roasting</a:t>
            </a:r>
          </a:p>
          <a:p>
            <a:r>
              <a:rPr lang="en-AU" sz="1200" kern="1200" dirty="0" smtClean="0">
                <a:solidFill>
                  <a:schemeClr val="tx1"/>
                </a:solidFill>
                <a:ea typeface="+mn-ea"/>
                <a:cs typeface="+mn-cs"/>
              </a:rPr>
              <a:t>Roasting, and spit roasting, is the principle of cookery in which food is cooked in an oven or while rotating on a spit.</a:t>
            </a:r>
          </a:p>
          <a:p>
            <a:r>
              <a:rPr lang="en-AU" sz="1200" b="1" kern="1200" dirty="0" smtClean="0">
                <a:solidFill>
                  <a:schemeClr val="tx1"/>
                </a:solidFill>
                <a:ea typeface="+mn-ea"/>
                <a:cs typeface="+mn-cs"/>
              </a:rPr>
              <a:t>Grilling</a:t>
            </a:r>
          </a:p>
          <a:p>
            <a:r>
              <a:rPr lang="en-AU" sz="1200" kern="1200" dirty="0" smtClean="0">
                <a:solidFill>
                  <a:schemeClr val="tx1"/>
                </a:solidFill>
                <a:ea typeface="+mn-ea"/>
                <a:cs typeface="+mn-cs"/>
              </a:rPr>
              <a:t>Grilling is the principle of cookery where food is cooked by radiated heat directed from above or below: in some cases the heat can come from both directions at once.  </a:t>
            </a:r>
          </a:p>
          <a:p>
            <a:r>
              <a:rPr lang="en-AU" sz="1200" kern="1200" dirty="0" smtClean="0">
                <a:solidFill>
                  <a:schemeClr val="tx1"/>
                </a:solidFill>
                <a:ea typeface="+mn-ea"/>
                <a:cs typeface="+mn-cs"/>
              </a:rPr>
              <a:t>The source of heat can be charcoal, coke, gas or electricity.</a:t>
            </a:r>
          </a:p>
          <a:p>
            <a:r>
              <a:rPr lang="en-AU" sz="1200" b="1" kern="1200" dirty="0" smtClean="0">
                <a:solidFill>
                  <a:schemeClr val="tx1"/>
                </a:solidFill>
                <a:ea typeface="+mn-ea"/>
                <a:cs typeface="+mn-cs"/>
              </a:rPr>
              <a:t>Shallow frying</a:t>
            </a:r>
          </a:p>
          <a:p>
            <a:r>
              <a:rPr lang="en-AU" sz="1200" kern="1200" dirty="0" smtClean="0">
                <a:solidFill>
                  <a:schemeClr val="tx1"/>
                </a:solidFill>
                <a:ea typeface="+mn-ea"/>
                <a:cs typeface="+mn-cs"/>
              </a:rPr>
              <a:t>Shallow frying is the principle of cookery where food is cooked in a small amount of fat in a pan or wok.  </a:t>
            </a:r>
          </a:p>
          <a:p>
            <a:r>
              <a:rPr lang="en-AU" sz="1200" kern="1200" dirty="0" smtClean="0">
                <a:solidFill>
                  <a:schemeClr val="tx1"/>
                </a:solidFill>
                <a:ea typeface="+mn-ea"/>
                <a:cs typeface="+mn-cs"/>
              </a:rPr>
              <a:t>This principle also includes pan frying, sautéing and stir frying.</a:t>
            </a:r>
          </a:p>
          <a:p>
            <a:r>
              <a:rPr lang="en-AU" sz="1200" b="1" kern="1200" dirty="0" smtClean="0">
                <a:solidFill>
                  <a:schemeClr val="tx1"/>
                </a:solidFill>
                <a:ea typeface="+mn-ea"/>
                <a:cs typeface="+mn-cs"/>
              </a:rPr>
              <a:t>En papillote</a:t>
            </a:r>
          </a:p>
          <a:p>
            <a:r>
              <a:rPr lang="en-AU" sz="1200" kern="1200" dirty="0" smtClean="0">
                <a:solidFill>
                  <a:schemeClr val="tx1"/>
                </a:solidFill>
                <a:ea typeface="+mn-ea"/>
                <a:cs typeface="+mn-cs"/>
              </a:rPr>
              <a:t>Cooking (by ‘steaming’) food in a wrapper of some sort.</a:t>
            </a:r>
          </a:p>
          <a:p>
            <a:r>
              <a:rPr lang="en-AU" sz="1200" kern="1200" dirty="0" smtClean="0">
                <a:solidFill>
                  <a:schemeClr val="tx1"/>
                </a:solidFill>
                <a:ea typeface="+mn-ea"/>
                <a:cs typeface="+mn-cs"/>
              </a:rPr>
              <a:t>The ‘wrapper’ may be a paper bag, aluminium foil, banana or grape leaves or bark.</a:t>
            </a:r>
          </a:p>
          <a:p>
            <a:pPr>
              <a:buFont typeface="Arial" pitchFamily="34" charset="0"/>
              <a:buNone/>
            </a:pPr>
            <a:endParaRPr lang="en-US" dirty="0" smtClean="0"/>
          </a:p>
          <a:p>
            <a:pPr>
              <a:buFont typeface="Arial" pitchFamily="34" charset="0"/>
              <a:buNone/>
            </a:pPr>
            <a:r>
              <a:rPr lang="en-US" b="1" dirty="0" smtClean="0"/>
              <a:t>Class Activity – Question and Answer</a:t>
            </a:r>
          </a:p>
          <a:p>
            <a:pPr>
              <a:buFont typeface="Arial" pitchFamily="34" charset="0"/>
              <a:buNone/>
            </a:pPr>
            <a:r>
              <a:rPr lang="en-US" b="0" dirty="0" smtClean="0"/>
              <a:t>Trainer asks students to identify dishes cooked by the cooking styles identified on the slide.</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facilitates research and discussion of websites such as:</a:t>
            </a:r>
          </a:p>
          <a:p>
            <a:pPr>
              <a:buFont typeface="Arial" pitchFamily="34" charset="0"/>
              <a:buNone/>
            </a:pPr>
            <a:r>
              <a:rPr lang="en-AU" sz="1200" u="sng" kern="1200" dirty="0" smtClean="0">
                <a:solidFill>
                  <a:schemeClr val="tx1"/>
                </a:solidFill>
                <a:ea typeface="+mn-ea"/>
                <a:cs typeface="+mn-cs"/>
              </a:rPr>
              <a:t>http://www.cookinglight.com/cooking-101/techniques/tasty-packages-en-papillote-steaming-00400000001016/</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‘equipment’ stating:</a:t>
            </a:r>
          </a:p>
          <a:p>
            <a:pPr>
              <a:buFont typeface="Arial" pitchFamily="34" charset="0"/>
              <a:buChar char="•"/>
            </a:pPr>
            <a:r>
              <a:rPr lang="en-AU" sz="1200" kern="1200" dirty="0" smtClean="0">
                <a:solidFill>
                  <a:schemeClr val="tx1"/>
                </a:solidFill>
                <a:ea typeface="+mn-ea"/>
                <a:cs typeface="+mn-cs"/>
              </a:rPr>
              <a:t> There is a need to use range of equipment when producing menu items</a:t>
            </a:r>
          </a:p>
          <a:p>
            <a:pPr>
              <a:buFont typeface="Arial" pitchFamily="34" charset="0"/>
              <a:buChar char="•"/>
            </a:pPr>
            <a:r>
              <a:rPr lang="en-AU" sz="1200" kern="1200" dirty="0" smtClean="0">
                <a:solidFill>
                  <a:schemeClr val="tx1"/>
                </a:solidFill>
                <a:ea typeface="+mn-ea"/>
                <a:cs typeface="+mn-cs"/>
              </a:rPr>
              <a:t> The selection of the right equipment for the job, and the knowledge of how to use it, allows your work in the kitchen to proceed smoothly, comfortably and efficiently</a:t>
            </a:r>
          </a:p>
          <a:p>
            <a:pPr>
              <a:buFont typeface="Arial" pitchFamily="34" charset="0"/>
              <a:buChar char="•"/>
            </a:pPr>
            <a:r>
              <a:rPr lang="en-AU" sz="1200" kern="1200" dirty="0" smtClean="0">
                <a:solidFill>
                  <a:schemeClr val="tx1"/>
                </a:solidFill>
                <a:ea typeface="+mn-ea"/>
                <a:cs typeface="+mn-cs"/>
              </a:rPr>
              <a:t> Because there is such a large range of equipment available it is useful to group them into three categories: utensils, mechanical equipment and large (fixed) equipment.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‘utensils’ offering:</a:t>
            </a:r>
          </a:p>
          <a:p>
            <a:pPr>
              <a:buFont typeface="Arial" pitchFamily="34" charset="0"/>
              <a:buChar char="•"/>
            </a:pPr>
            <a:r>
              <a:rPr lang="en-AU" sz="1200" kern="1200" dirty="0" smtClean="0">
                <a:solidFill>
                  <a:schemeClr val="tx1"/>
                </a:solidFill>
                <a:ea typeface="+mn-ea"/>
                <a:cs typeface="+mn-cs"/>
              </a:rPr>
              <a:t> Utensils are small hand-operated pieces of equipment such as:</a:t>
            </a:r>
          </a:p>
          <a:p>
            <a:pPr lvl="1">
              <a:buFont typeface="Arial" pitchFamily="34" charset="0"/>
              <a:buChar char="•"/>
            </a:pPr>
            <a:r>
              <a:rPr lang="en-AU" sz="1200" kern="1200" dirty="0" smtClean="0">
                <a:solidFill>
                  <a:schemeClr val="tx1"/>
                </a:solidFill>
                <a:ea typeface="+mn-ea"/>
                <a:cs typeface="+mn-cs"/>
              </a:rPr>
              <a:t> Mouli – used to strain pips, skins and other material from purees and other mixtures</a:t>
            </a:r>
          </a:p>
          <a:p>
            <a:pPr lvl="1">
              <a:buFont typeface="Arial" pitchFamily="34" charset="0"/>
              <a:buChar char="•"/>
            </a:pPr>
            <a:r>
              <a:rPr lang="en-AU" sz="1200" kern="1200" dirty="0" smtClean="0">
                <a:solidFill>
                  <a:schemeClr val="tx1"/>
                </a:solidFill>
                <a:ea typeface="+mn-ea"/>
                <a:cs typeface="+mn-cs"/>
              </a:rPr>
              <a:t> Chinois – a conical sieve</a:t>
            </a:r>
          </a:p>
          <a:p>
            <a:pPr lvl="1">
              <a:buFont typeface="Arial" pitchFamily="34" charset="0"/>
              <a:buChar char="•"/>
            </a:pPr>
            <a:r>
              <a:rPr lang="en-AU" sz="1200" kern="1200" dirty="0" smtClean="0">
                <a:solidFill>
                  <a:schemeClr val="tx1"/>
                </a:solidFill>
                <a:ea typeface="+mn-ea"/>
                <a:cs typeface="+mn-cs"/>
              </a:rPr>
              <a:t> Whisk – used to whisk/aerate a variety of ingredients in many recipes</a:t>
            </a:r>
          </a:p>
          <a:p>
            <a:pPr lvl="1">
              <a:buFont typeface="Arial" pitchFamily="34" charset="0"/>
              <a:buChar char="•"/>
            </a:pPr>
            <a:r>
              <a:rPr lang="en-AU" sz="1200" kern="1200" dirty="0" smtClean="0">
                <a:solidFill>
                  <a:schemeClr val="tx1"/>
                </a:solidFill>
                <a:ea typeface="+mn-ea"/>
                <a:cs typeface="+mn-cs"/>
              </a:rPr>
              <a:t> Ricer – a piece of equipment (similar to an over-sized garlic press) used to make (for example) mashed potatoes.</a:t>
            </a:r>
          </a:p>
          <a:p>
            <a:pPr>
              <a:buFont typeface="Arial" pitchFamily="34" charset="0"/>
              <a:buNone/>
            </a:pPr>
            <a:endParaRPr lang="en-US" dirty="0" smtClean="0"/>
          </a:p>
          <a:p>
            <a:pPr>
              <a:buFont typeface="Arial" pitchFamily="34" charset="0"/>
              <a:buNone/>
            </a:pPr>
            <a:r>
              <a:rPr lang="en-US" b="1" dirty="0" smtClean="0"/>
              <a:t>Class Activity – Showcasing and Demonstration</a:t>
            </a:r>
          </a:p>
          <a:p>
            <a:pPr>
              <a:buFont typeface="Arial" pitchFamily="34" charset="0"/>
              <a:buNone/>
            </a:pPr>
            <a:r>
              <a:rPr lang="en-US" b="0" dirty="0" smtClean="0"/>
              <a:t>Trainer presents and demonstrates the use of, and uses for, items identified on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‘mechanical equipment’ offering:</a:t>
            </a:r>
          </a:p>
          <a:p>
            <a:pPr>
              <a:buFont typeface="Arial" pitchFamily="34" charset="0"/>
              <a:buChar char="•"/>
            </a:pPr>
            <a:r>
              <a:rPr lang="en-AU" sz="1200" kern="1200" dirty="0" smtClean="0">
                <a:solidFill>
                  <a:schemeClr val="tx1"/>
                </a:solidFill>
                <a:ea typeface="+mn-ea"/>
                <a:cs typeface="+mn-cs"/>
              </a:rPr>
              <a:t> Mechanical equipment can be large or small and is electrically operated and includes:</a:t>
            </a:r>
          </a:p>
          <a:p>
            <a:pPr lvl="1">
              <a:buFont typeface="Arial" pitchFamily="34" charset="0"/>
              <a:buChar char="•"/>
            </a:pPr>
            <a:r>
              <a:rPr lang="en-AU" sz="1200" kern="1200" dirty="0" smtClean="0">
                <a:solidFill>
                  <a:schemeClr val="tx1"/>
                </a:solidFill>
                <a:ea typeface="+mn-ea"/>
                <a:cs typeface="+mn-cs"/>
              </a:rPr>
              <a:t> Mixers – used for blending ingredients, liquidising foods and making sauces</a:t>
            </a:r>
          </a:p>
          <a:p>
            <a:pPr lvl="1">
              <a:buFont typeface="Arial" pitchFamily="34" charset="0"/>
              <a:buChar char="•"/>
            </a:pPr>
            <a:r>
              <a:rPr lang="en-AU" sz="1200" kern="1200" dirty="0" smtClean="0">
                <a:solidFill>
                  <a:schemeClr val="tx1"/>
                </a:solidFill>
                <a:ea typeface="+mn-ea"/>
                <a:cs typeface="+mn-cs"/>
              </a:rPr>
              <a:t> Slicers – necessary for slicing a variety of meats and other products</a:t>
            </a:r>
          </a:p>
          <a:p>
            <a:pPr lvl="1">
              <a:buFont typeface="Arial" pitchFamily="34" charset="0"/>
              <a:buChar char="•"/>
            </a:pPr>
            <a:r>
              <a:rPr lang="en-AU" sz="1200" kern="1200" dirty="0" smtClean="0">
                <a:solidFill>
                  <a:schemeClr val="tx1"/>
                </a:solidFill>
                <a:ea typeface="+mn-ea"/>
                <a:cs typeface="+mn-cs"/>
              </a:rPr>
              <a:t> Food processors – used for cutting and mixing food.</a:t>
            </a:r>
          </a:p>
          <a:p>
            <a:pPr>
              <a:buFont typeface="Arial" pitchFamily="34" charset="0"/>
              <a:buNone/>
            </a:pPr>
            <a:endParaRPr lang="en-US" dirty="0" smtClean="0"/>
          </a:p>
          <a:p>
            <a:pPr>
              <a:buFont typeface="Arial" pitchFamily="34" charset="0"/>
              <a:buNone/>
            </a:pPr>
            <a:r>
              <a:rPr lang="en-US" b="1" dirty="0" smtClean="0"/>
              <a:t>Class Activity – Showcasing and Demonstration</a:t>
            </a:r>
          </a:p>
          <a:p>
            <a:pPr>
              <a:buFont typeface="Arial" pitchFamily="34" charset="0"/>
              <a:buNone/>
            </a:pPr>
            <a:r>
              <a:rPr lang="en-US" b="0" dirty="0" smtClean="0"/>
              <a:t>Trainer presents and demonstrates the use of, and uses for, items identified on slide.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‘large/fixed equipment’ offering: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These are large pieces of equipment built-in to place in the kitchen.  They can be electrically or gas operated and include items such as:</a:t>
            </a:r>
          </a:p>
          <a:p>
            <a:pPr lvl="1">
              <a:buFont typeface="Arial" pitchFamily="34" charset="0"/>
              <a:buChar char="•"/>
            </a:pPr>
            <a:r>
              <a:rPr lang="en-AU" sz="1200" kern="1200" dirty="0" smtClean="0">
                <a:solidFill>
                  <a:schemeClr val="tx1"/>
                </a:solidFill>
                <a:ea typeface="+mn-ea"/>
                <a:cs typeface="+mn-cs"/>
              </a:rPr>
              <a:t> Stoves – for baking, roasting plus use of burners on top of the stove for heating, re-heating and other stove-top cooking such as (for example) sautéing or boiling </a:t>
            </a:r>
          </a:p>
          <a:p>
            <a:pPr lvl="1">
              <a:buFont typeface="Arial" pitchFamily="34" charset="0"/>
              <a:buChar char="•"/>
            </a:pPr>
            <a:r>
              <a:rPr lang="en-AU" sz="1200" kern="1200" dirty="0" smtClean="0">
                <a:solidFill>
                  <a:schemeClr val="tx1"/>
                </a:solidFill>
                <a:ea typeface="+mn-ea"/>
                <a:cs typeface="+mn-cs"/>
              </a:rPr>
              <a:t> Salamanders – used to heat and brown foods as well as to prepare dishes like crème brûlée where the top of the dish has to be caramelised</a:t>
            </a:r>
          </a:p>
          <a:p>
            <a:pPr lvl="1">
              <a:buFont typeface="Arial" pitchFamily="34" charset="0"/>
              <a:buChar char="•"/>
            </a:pPr>
            <a:r>
              <a:rPr lang="en-AU" sz="1200" kern="1200" dirty="0" smtClean="0">
                <a:solidFill>
                  <a:schemeClr val="tx1"/>
                </a:solidFill>
                <a:ea typeface="+mn-ea"/>
                <a:cs typeface="+mn-cs"/>
              </a:rPr>
              <a:t> Steamers – required for steaming foods such as fish, seafood, chicken and vegetables</a:t>
            </a:r>
          </a:p>
          <a:p>
            <a:pPr lvl="1">
              <a:buFont typeface="Arial" pitchFamily="34" charset="0"/>
              <a:buChar char="•"/>
            </a:pPr>
            <a:r>
              <a:rPr lang="en-AU" sz="1200" kern="1200" dirty="0" smtClean="0">
                <a:solidFill>
                  <a:schemeClr val="tx1"/>
                </a:solidFill>
                <a:ea typeface="+mn-ea"/>
                <a:cs typeface="+mn-cs"/>
              </a:rPr>
              <a:t> Bain maries – usually used to keep hot foods hot while on display/waiting for service.</a:t>
            </a:r>
          </a:p>
          <a:p>
            <a:pPr>
              <a:buFont typeface="Arial" pitchFamily="34" charset="0"/>
              <a:buNone/>
            </a:pPr>
            <a:endParaRPr lang="en-US" dirty="0" smtClean="0"/>
          </a:p>
          <a:p>
            <a:pPr>
              <a:buFont typeface="Arial" pitchFamily="34" charset="0"/>
              <a:buNone/>
            </a:pPr>
            <a:r>
              <a:rPr lang="en-US" b="1" dirty="0" smtClean="0"/>
              <a:t>Class Activity – Showcasing and Demonstration</a:t>
            </a:r>
          </a:p>
          <a:p>
            <a:pPr>
              <a:buFont typeface="Arial" pitchFamily="34" charset="0"/>
              <a:buNone/>
            </a:pPr>
            <a:r>
              <a:rPr lang="en-US" b="0" dirty="0" smtClean="0"/>
              <a:t>Trainer presents and demonstrates the use of, and uses for, items identified on slide.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‘large/fixed equipment’ offering:</a:t>
            </a:r>
          </a:p>
          <a:p>
            <a:pPr>
              <a:buFont typeface="Arial" pitchFamily="34" charset="0"/>
              <a:buChar char="•"/>
            </a:pPr>
            <a:r>
              <a:rPr lang="en-AU" sz="1200" kern="1200" dirty="0" smtClean="0">
                <a:solidFill>
                  <a:schemeClr val="tx1"/>
                </a:solidFill>
                <a:ea typeface="+mn-ea"/>
                <a:cs typeface="+mn-cs"/>
              </a:rPr>
              <a:t> Bowl cutter – used to chop/slice meat and to cut vegetables</a:t>
            </a:r>
          </a:p>
          <a:p>
            <a:pPr>
              <a:buFont typeface="Arial" pitchFamily="34" charset="0"/>
              <a:buChar char="•"/>
            </a:pPr>
            <a:r>
              <a:rPr lang="en-AU" sz="1200" kern="1200" dirty="0" smtClean="0">
                <a:solidFill>
                  <a:schemeClr val="tx1"/>
                </a:solidFill>
                <a:ea typeface="+mn-ea"/>
                <a:cs typeface="+mn-cs"/>
              </a:rPr>
              <a:t> Mincer or grinder – used for mincing/grinding all types of meats and poultry</a:t>
            </a:r>
          </a:p>
          <a:p>
            <a:pPr>
              <a:buFont typeface="Arial" pitchFamily="34" charset="0"/>
              <a:buChar char="•"/>
            </a:pPr>
            <a:r>
              <a:rPr lang="en-AU" sz="1200" kern="1200" dirty="0" smtClean="0">
                <a:solidFill>
                  <a:schemeClr val="tx1"/>
                </a:solidFill>
                <a:ea typeface="+mn-ea"/>
                <a:cs typeface="+mn-cs"/>
              </a:rPr>
              <a:t> Deep fryers – required for the cooking of a wide variety of dishes including battered fish and seafood, chips/French fries, fritters, onion rings, tempura vegetables </a:t>
            </a:r>
          </a:p>
          <a:p>
            <a:pPr>
              <a:buFont typeface="Arial" pitchFamily="34" charset="0"/>
              <a:buChar char="•"/>
            </a:pPr>
            <a:r>
              <a:rPr lang="en-AU" sz="1200" kern="1200" dirty="0" smtClean="0">
                <a:solidFill>
                  <a:schemeClr val="tx1"/>
                </a:solidFill>
                <a:ea typeface="+mn-ea"/>
                <a:cs typeface="+mn-cs"/>
              </a:rPr>
              <a:t> Rotisserie – used for roasting (usually chickens)</a:t>
            </a:r>
          </a:p>
          <a:p>
            <a:pPr>
              <a:buFont typeface="Arial" pitchFamily="34" charset="0"/>
              <a:buChar char="•"/>
            </a:pPr>
            <a:r>
              <a:rPr lang="en-AU" sz="1200" kern="1200" dirty="0" smtClean="0">
                <a:solidFill>
                  <a:schemeClr val="tx1"/>
                </a:solidFill>
                <a:ea typeface="+mn-ea"/>
                <a:cs typeface="+mn-cs"/>
              </a:rPr>
              <a:t> Bratt pans – a deep, rectangular, large capacity (50 – 120 litres) cooking pot used to prepare stocks, sauces, soups and wet dishes: has a tilting mechanism so foods can be tipped out into storage, display or service containers.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US" b="1" dirty="0" smtClean="0"/>
              <a:t>Class Activity – Showcasing and Demonstration</a:t>
            </a:r>
          </a:p>
          <a:p>
            <a:pPr>
              <a:buFont typeface="Arial" pitchFamily="34" charset="0"/>
              <a:buNone/>
            </a:pPr>
            <a:r>
              <a:rPr lang="en-US" b="0" dirty="0" smtClean="0"/>
              <a:t>Trainer presents and demonstrates the use of, and uses for, items identified on slide.</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indicates factors to consider when selecting equipment to use for food preparation/production:</a:t>
            </a:r>
          </a:p>
          <a:p>
            <a:pPr>
              <a:buFont typeface="Arial" pitchFamily="34" charset="0"/>
              <a:buChar char="•"/>
            </a:pPr>
            <a:r>
              <a:rPr lang="en-AU" sz="1200" kern="1200" dirty="0" smtClean="0">
                <a:solidFill>
                  <a:schemeClr val="tx1"/>
                </a:solidFill>
                <a:ea typeface="+mn-ea"/>
                <a:cs typeface="+mn-cs"/>
              </a:rPr>
              <a:t> Select a bowl to hold all the ingredients without them spilling over onto the floor or the preparation bench</a:t>
            </a:r>
          </a:p>
          <a:p>
            <a:pPr>
              <a:buFont typeface="Arial" pitchFamily="34" charset="0"/>
              <a:buChar char="•"/>
            </a:pPr>
            <a:r>
              <a:rPr lang="en-AU" sz="1200" kern="1200" dirty="0" smtClean="0">
                <a:solidFill>
                  <a:schemeClr val="tx1"/>
                </a:solidFill>
                <a:ea typeface="+mn-ea"/>
                <a:cs typeface="+mn-cs"/>
              </a:rPr>
              <a:t> Get a chopping board big enough for all the meat to sit on without it falling over onto the preparation bench</a:t>
            </a:r>
          </a:p>
          <a:p>
            <a:pPr>
              <a:buFont typeface="Arial" pitchFamily="34" charset="0"/>
              <a:buChar char="•"/>
            </a:pPr>
            <a:r>
              <a:rPr lang="en-AU" sz="1200" kern="1200" dirty="0" smtClean="0">
                <a:solidFill>
                  <a:schemeClr val="tx1"/>
                </a:solidFill>
                <a:ea typeface="+mn-ea"/>
                <a:cs typeface="+mn-cs"/>
              </a:rPr>
              <a:t> Insert oven trays in such a way to allow the entire batch to be cooked off in the one go</a:t>
            </a:r>
          </a:p>
          <a:p>
            <a:pPr>
              <a:buFont typeface="Arial" pitchFamily="34" charset="0"/>
              <a:buChar char="•"/>
            </a:pPr>
            <a:r>
              <a:rPr lang="en-AU" sz="1200" kern="1200" dirty="0" smtClean="0">
                <a:solidFill>
                  <a:schemeClr val="tx1"/>
                </a:solidFill>
                <a:ea typeface="+mn-ea"/>
                <a:cs typeface="+mn-cs"/>
              </a:rPr>
              <a:t> Use small enough bowls, trays and dishes to enable quick refrigerating and freezing of foods to be stored.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reasons </a:t>
            </a:r>
            <a:r>
              <a:rPr lang="en-AU" sz="1200" kern="1200" dirty="0" smtClean="0">
                <a:solidFill>
                  <a:schemeClr val="tx1"/>
                </a:solidFill>
                <a:ea typeface="+mn-ea"/>
                <a:cs typeface="+mn-cs"/>
              </a:rPr>
              <a:t>it is important to choose and use the correct equipment:</a:t>
            </a:r>
          </a:p>
          <a:p>
            <a:pPr>
              <a:buFont typeface="Arial" pitchFamily="34" charset="0"/>
              <a:buChar char="•"/>
            </a:pPr>
            <a:r>
              <a:rPr lang="en-AU" sz="1200" kern="1200" dirty="0" smtClean="0">
                <a:solidFill>
                  <a:schemeClr val="tx1"/>
                </a:solidFill>
                <a:ea typeface="+mn-ea"/>
                <a:cs typeface="+mn-cs"/>
              </a:rPr>
              <a:t> Reduce preparation time</a:t>
            </a:r>
          </a:p>
          <a:p>
            <a:pPr>
              <a:buFont typeface="Arial" pitchFamily="34" charset="0"/>
              <a:buChar char="•"/>
            </a:pPr>
            <a:r>
              <a:rPr lang="en-AU" sz="1200" kern="1200" dirty="0" smtClean="0">
                <a:solidFill>
                  <a:schemeClr val="tx1"/>
                </a:solidFill>
                <a:ea typeface="+mn-ea"/>
                <a:cs typeface="+mn-cs"/>
              </a:rPr>
              <a:t> Save energy costs</a:t>
            </a:r>
          </a:p>
          <a:p>
            <a:pPr>
              <a:buFont typeface="Arial" pitchFamily="34" charset="0"/>
              <a:buChar char="•"/>
            </a:pPr>
            <a:r>
              <a:rPr lang="en-AU" sz="1200" kern="1200" dirty="0" smtClean="0">
                <a:solidFill>
                  <a:schemeClr val="tx1"/>
                </a:solidFill>
                <a:ea typeface="+mn-ea"/>
                <a:cs typeface="+mn-cs"/>
              </a:rPr>
              <a:t> Increased safety </a:t>
            </a:r>
          </a:p>
          <a:p>
            <a:pPr>
              <a:buFont typeface="Arial" pitchFamily="34" charset="0"/>
              <a:buChar char="•"/>
            </a:pPr>
            <a:r>
              <a:rPr lang="en-AU" sz="1200" kern="1200" dirty="0" smtClean="0">
                <a:solidFill>
                  <a:schemeClr val="tx1"/>
                </a:solidFill>
                <a:ea typeface="+mn-ea"/>
                <a:cs typeface="+mn-cs"/>
              </a:rPr>
              <a:t> Increases output</a:t>
            </a:r>
          </a:p>
          <a:p>
            <a:pPr>
              <a:buFont typeface="Arial" pitchFamily="34" charset="0"/>
              <a:buChar char="•"/>
            </a:pPr>
            <a:r>
              <a:rPr lang="en-AU" sz="1200" kern="1200" dirty="0" smtClean="0">
                <a:solidFill>
                  <a:schemeClr val="tx1"/>
                </a:solidFill>
                <a:ea typeface="+mn-ea"/>
                <a:cs typeface="+mn-cs"/>
              </a:rPr>
              <a:t> Generate labour savings</a:t>
            </a:r>
          </a:p>
          <a:p>
            <a:pPr>
              <a:buFont typeface="Arial" pitchFamily="34" charset="0"/>
              <a:buChar char="•"/>
            </a:pPr>
            <a:r>
              <a:rPr lang="en-AU" sz="1200" kern="1200" dirty="0" smtClean="0">
                <a:solidFill>
                  <a:schemeClr val="tx1"/>
                </a:solidFill>
                <a:ea typeface="+mn-ea"/>
                <a:cs typeface="+mn-cs"/>
              </a:rPr>
              <a:t> Achieve better results/final products.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all food produced must be prepared in accordance with safe food handling practices highlighting in relation to food safety and the application of safe food handling protocols the following are critical:</a:t>
            </a:r>
          </a:p>
          <a:p>
            <a:pPr>
              <a:buFont typeface="Arial" pitchFamily="34" charset="0"/>
              <a:buChar char="•"/>
            </a:pPr>
            <a:r>
              <a:rPr lang="en-AU" sz="1200" kern="1200" dirty="0" smtClean="0">
                <a:solidFill>
                  <a:schemeClr val="tx1"/>
                </a:solidFill>
                <a:ea typeface="+mn-ea"/>
                <a:cs typeface="+mn-cs"/>
              </a:rPr>
              <a:t> Observe the requirements of all national safe food handling legislation – as applicable to your host/home country</a:t>
            </a:r>
          </a:p>
          <a:p>
            <a:pPr>
              <a:buFont typeface="Arial" pitchFamily="34" charset="0"/>
              <a:buChar char="•"/>
            </a:pPr>
            <a:r>
              <a:rPr lang="en-AU" sz="1200" kern="1200" dirty="0" smtClean="0">
                <a:solidFill>
                  <a:schemeClr val="tx1"/>
                </a:solidFill>
                <a:ea typeface="+mn-ea"/>
                <a:cs typeface="+mn-cs"/>
              </a:rPr>
              <a:t> Implement the requirements of any Food Safety Plan/Program which may apply to/have been developed for the venue where you work</a:t>
            </a:r>
          </a:p>
          <a:p>
            <a:pPr>
              <a:buFont typeface="Arial" pitchFamily="34" charset="0"/>
              <a:buChar char="•"/>
            </a:pPr>
            <a:r>
              <a:rPr lang="en-AU" sz="1200" kern="1200" dirty="0" smtClean="0">
                <a:solidFill>
                  <a:schemeClr val="tx1"/>
                </a:solidFill>
                <a:ea typeface="+mn-ea"/>
                <a:cs typeface="+mn-cs"/>
              </a:rPr>
              <a:t> Apply all relevant enterprise policies and procedures relating to food safety – as determined by the individual employer</a:t>
            </a:r>
          </a:p>
          <a:p>
            <a:pPr>
              <a:buFont typeface="Arial" pitchFamily="34" charset="0"/>
              <a:buChar char="•"/>
            </a:pPr>
            <a:r>
              <a:rPr lang="en-AU" sz="1200" kern="1200" dirty="0" smtClean="0">
                <a:solidFill>
                  <a:schemeClr val="tx1"/>
                </a:solidFill>
                <a:ea typeface="+mn-ea"/>
                <a:cs typeface="+mn-cs"/>
              </a:rPr>
              <a:t> Ensure all kitchen staff/food handlers have successfully completed relevant/accredited food safety training before handling food.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sample Food Safety Plan/Programme.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(potentially)</a:t>
            </a:r>
            <a:r>
              <a:rPr lang="en-AU" sz="1200" kern="1200" dirty="0" smtClean="0">
                <a:solidFill>
                  <a:schemeClr val="tx1"/>
                </a:solidFill>
                <a:ea typeface="+mn-ea"/>
                <a:cs typeface="+mn-cs"/>
              </a:rPr>
              <a:t> food safety hazards exist in every food premises at every stage of food handling and there will be protocols which need to be adhered to each in each of the following stages:</a:t>
            </a:r>
          </a:p>
          <a:p>
            <a:pPr>
              <a:buFont typeface="Arial" pitchFamily="34" charset="0"/>
              <a:buChar char="•"/>
            </a:pPr>
            <a:r>
              <a:rPr lang="en-AU" sz="1200" kern="1200" dirty="0" smtClean="0">
                <a:solidFill>
                  <a:schemeClr val="tx1"/>
                </a:solidFill>
                <a:ea typeface="+mn-ea"/>
                <a:cs typeface="+mn-cs"/>
              </a:rPr>
              <a:t> Purchasing food for use in the premises</a:t>
            </a:r>
          </a:p>
          <a:p>
            <a:pPr>
              <a:buFont typeface="Arial" pitchFamily="34" charset="0"/>
              <a:buChar char="•"/>
            </a:pPr>
            <a:r>
              <a:rPr lang="en-AU" sz="1200" kern="1200" dirty="0" smtClean="0">
                <a:solidFill>
                  <a:schemeClr val="tx1"/>
                </a:solidFill>
                <a:ea typeface="+mn-ea"/>
                <a:cs typeface="+mn-cs"/>
              </a:rPr>
              <a:t> Receiving goods from suppliers into the premises</a:t>
            </a:r>
          </a:p>
          <a:p>
            <a:pPr>
              <a:buFont typeface="Arial" pitchFamily="34" charset="0"/>
              <a:buChar char="•"/>
            </a:pPr>
            <a:r>
              <a:rPr lang="en-AU" sz="1200" kern="1200" dirty="0" smtClean="0">
                <a:solidFill>
                  <a:schemeClr val="tx1"/>
                </a:solidFill>
                <a:ea typeface="+mn-ea"/>
                <a:cs typeface="+mn-cs"/>
              </a:rPr>
              <a:t> Food storage prior to preparation and/or service </a:t>
            </a:r>
          </a:p>
          <a:p>
            <a:pPr>
              <a:buFont typeface="Arial" pitchFamily="34" charset="0"/>
              <a:buChar char="•"/>
            </a:pPr>
            <a:r>
              <a:rPr lang="en-AU" sz="1200" kern="1200" dirty="0" smtClean="0">
                <a:solidFill>
                  <a:schemeClr val="tx1"/>
                </a:solidFill>
                <a:ea typeface="+mn-ea"/>
                <a:cs typeface="+mn-cs"/>
              </a:rPr>
              <a:t> De-frosting/thawing frozen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discuss scope of food safety:</a:t>
            </a:r>
          </a:p>
          <a:p>
            <a:pPr lvl="0">
              <a:buFont typeface="Arial" pitchFamily="34" charset="0"/>
              <a:buChar char="•"/>
            </a:pPr>
            <a:r>
              <a:rPr lang="en-AU" sz="1200" kern="1200" dirty="0" smtClean="0">
                <a:solidFill>
                  <a:schemeClr val="tx1"/>
                </a:solidFill>
                <a:ea typeface="+mn-ea"/>
                <a:cs typeface="+mn-cs"/>
              </a:rPr>
              <a:t> Preparing of raw materials for sale</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service and the cooking food (including the cooling hot food for storage after it has been cooked)</a:t>
            </a:r>
          </a:p>
          <a:p>
            <a:pPr lvl="0">
              <a:buFont typeface="Arial" pitchFamily="34" charset="0"/>
              <a:buChar char="•"/>
            </a:pPr>
            <a:r>
              <a:rPr lang="en-AU" sz="1200" kern="1200" dirty="0" smtClean="0">
                <a:solidFill>
                  <a:schemeClr val="tx1"/>
                </a:solidFill>
                <a:ea typeface="+mn-ea"/>
                <a:cs typeface="+mn-cs"/>
              </a:rPr>
              <a:t> Cold holding and hot holding and display of prepared food for sale</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service</a:t>
            </a:r>
          </a:p>
          <a:p>
            <a:pPr lvl="0">
              <a:buFont typeface="Arial" pitchFamily="34" charset="0"/>
              <a:buChar char="•"/>
            </a:pPr>
            <a:r>
              <a:rPr lang="en-AU" sz="1200" kern="1200" dirty="0" smtClean="0">
                <a:solidFill>
                  <a:schemeClr val="tx1"/>
                </a:solidFill>
                <a:ea typeface="+mn-ea"/>
                <a:cs typeface="+mn-cs"/>
              </a:rPr>
              <a:t> Re-heating of prepared food</a:t>
            </a:r>
          </a:p>
          <a:p>
            <a:pPr lvl="0">
              <a:buFont typeface="Arial" pitchFamily="34" charset="0"/>
              <a:buChar char="•"/>
            </a:pPr>
            <a:r>
              <a:rPr lang="en-AU" sz="1200" kern="1200" dirty="0" smtClean="0">
                <a:solidFill>
                  <a:schemeClr val="tx1"/>
                </a:solidFill>
                <a:ea typeface="+mn-ea"/>
                <a:cs typeface="+mn-cs"/>
              </a:rPr>
              <a:t> Serving food to customers for consumption on the premises or as take away food</a:t>
            </a:r>
          </a:p>
          <a:p>
            <a:pPr lvl="0">
              <a:buFont typeface="Arial" pitchFamily="34" charset="0"/>
              <a:buChar char="•"/>
            </a:pPr>
            <a:r>
              <a:rPr lang="en-AU" sz="1200" kern="1200" dirty="0" smtClean="0">
                <a:solidFill>
                  <a:schemeClr val="tx1"/>
                </a:solidFill>
                <a:ea typeface="+mn-ea"/>
                <a:cs typeface="+mn-cs"/>
              </a:rPr>
              <a:t> Self-service of food by customers to themselves.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venues/kitchens may also have policies and procedures relating to food safety-related topics such as:</a:t>
            </a:r>
          </a:p>
          <a:p>
            <a:pPr lvl="0">
              <a:buFont typeface="Arial" pitchFamily="34" charset="0"/>
              <a:buChar char="•"/>
            </a:pPr>
            <a:r>
              <a:rPr lang="en-AU" sz="1200" kern="1200" dirty="0" smtClean="0">
                <a:solidFill>
                  <a:schemeClr val="tx1"/>
                </a:solidFill>
                <a:ea typeface="+mn-ea"/>
                <a:cs typeface="+mn-cs"/>
              </a:rPr>
              <a:t> Cleaning and sanitising of food utensils, equipment, areas and food contact and preparation surfaces</a:t>
            </a:r>
          </a:p>
          <a:p>
            <a:pPr lvl="0">
              <a:buFont typeface="Arial" pitchFamily="34" charset="0"/>
              <a:buChar char="•"/>
            </a:pPr>
            <a:r>
              <a:rPr lang="en-AU" sz="1200" kern="1200" dirty="0" smtClean="0">
                <a:solidFill>
                  <a:schemeClr val="tx1"/>
                </a:solidFill>
                <a:ea typeface="+mn-ea"/>
                <a:cs typeface="+mn-cs"/>
              </a:rPr>
              <a:t> Specific food handling techniques required by the workplace to optimise food safety – as applicable to the equipment they use, the food they prepare and other factors applying in the premises</a:t>
            </a:r>
          </a:p>
          <a:p>
            <a:pPr lvl="0">
              <a:buFont typeface="Arial" pitchFamily="34" charset="0"/>
              <a:buChar char="•"/>
            </a:pPr>
            <a:r>
              <a:rPr lang="en-AU" sz="1200" kern="1200" dirty="0" smtClean="0">
                <a:solidFill>
                  <a:schemeClr val="tx1"/>
                </a:solidFill>
                <a:ea typeface="+mn-ea"/>
                <a:cs typeface="+mn-cs"/>
              </a:rPr>
              <a:t> Personal hygiene – and requirements applying to ensure staff do not contaminate food by their actions.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food safety topics</a:t>
            </a:r>
            <a:r>
              <a:rPr lang="en-US" baseline="0" dirty="0" smtClean="0"/>
              <a:t> about which workplaces may have policies and procedures:</a:t>
            </a:r>
          </a:p>
          <a:p>
            <a:pPr lvl="0">
              <a:buFont typeface="Arial" pitchFamily="34" charset="0"/>
              <a:buChar char="•"/>
            </a:pPr>
            <a:r>
              <a:rPr lang="en-AU" sz="1200" kern="1200" dirty="0" smtClean="0">
                <a:solidFill>
                  <a:schemeClr val="tx1"/>
                </a:solidFill>
                <a:ea typeface="+mn-ea"/>
                <a:cs typeface="+mn-cs"/>
              </a:rPr>
              <a:t> Equipment maintenance – and the need to keep food equipment, utensils (including food thermometers) and areas properly maintained to ensure they operate as required (for example, it is important for refrigerators, freezers and hot and cold holding units to reach the temperatures they are supposed to reach)</a:t>
            </a:r>
          </a:p>
          <a:p>
            <a:pPr lvl="0">
              <a:buFont typeface="Arial" pitchFamily="34" charset="0"/>
              <a:buChar char="•"/>
            </a:pPr>
            <a:r>
              <a:rPr lang="en-AU" sz="1200" kern="1200" dirty="0" smtClean="0">
                <a:solidFill>
                  <a:schemeClr val="tx1"/>
                </a:solidFill>
                <a:ea typeface="+mn-ea"/>
                <a:cs typeface="+mn-cs"/>
              </a:rPr>
              <a:t> Use of food thermometers – to check food and equipment temperatures </a:t>
            </a:r>
          </a:p>
          <a:p>
            <a:pPr lvl="0">
              <a:buFont typeface="Arial" pitchFamily="34" charset="0"/>
              <a:buChar char="•"/>
            </a:pPr>
            <a:r>
              <a:rPr lang="en-AU" sz="1200" kern="1200" dirty="0" smtClean="0">
                <a:solidFill>
                  <a:schemeClr val="tx1"/>
                </a:solidFill>
                <a:ea typeface="+mn-ea"/>
                <a:cs typeface="+mn-cs"/>
              </a:rPr>
              <a:t> Pest control – to control vermin</a:t>
            </a:r>
          </a:p>
          <a:p>
            <a:pPr lvl="0">
              <a:buFont typeface="Arial" pitchFamily="34" charset="0"/>
              <a:buChar char="•"/>
            </a:pPr>
            <a:r>
              <a:rPr lang="en-AU" sz="1200" kern="1200" dirty="0" smtClean="0">
                <a:solidFill>
                  <a:schemeClr val="tx1"/>
                </a:solidFill>
                <a:ea typeface="+mn-ea"/>
                <a:cs typeface="+mn-cs"/>
              </a:rPr>
              <a:t> Waste disposal – to enable the proper removal of waste from kitchens and from the garbage storage area</a:t>
            </a:r>
          </a:p>
          <a:p>
            <a:pPr lvl="0">
              <a:buFont typeface="Arial" pitchFamily="34" charset="0"/>
              <a:buChar char="•"/>
            </a:pPr>
            <a:r>
              <a:rPr lang="en-AU" sz="1200" kern="1200" dirty="0" smtClean="0">
                <a:solidFill>
                  <a:schemeClr val="tx1"/>
                </a:solidFill>
                <a:ea typeface="+mn-ea"/>
                <a:cs typeface="+mn-cs"/>
              </a:rPr>
              <a:t> Food recalls – to allow unsafe food to be recalled and safely disposed of.</a:t>
            </a:r>
          </a:p>
          <a:p>
            <a:pPr>
              <a:buFont typeface="Arial" pitchFamily="34" charset="0"/>
              <a:buNone/>
            </a:pPr>
            <a:endParaRPr lang="en-US" baseline="0" dirty="0" smtClean="0"/>
          </a:p>
          <a:p>
            <a:pPr>
              <a:buFont typeface="Arial" pitchFamily="34" charset="0"/>
              <a:buNone/>
            </a:pPr>
            <a:r>
              <a:rPr lang="en-US" b="1" dirty="0" smtClean="0"/>
              <a:t>Class Activity – Demonstration and Practical</a:t>
            </a:r>
          </a:p>
          <a:p>
            <a:pPr>
              <a:buFont typeface="Arial" pitchFamily="34" charset="0"/>
              <a:buNone/>
            </a:pPr>
            <a:r>
              <a:rPr lang="en-US" b="0" dirty="0" smtClean="0"/>
              <a:t>Trainer demonstrates use of food thermometer to take the temperature of refrigerated</a:t>
            </a:r>
            <a:r>
              <a:rPr lang="en-US" b="0" baseline="0" dirty="0" smtClean="0"/>
              <a:t> and frozen foods and provides opportunity for students to do the same.</a:t>
            </a: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concept of ‘potentially hazardous foods’ stating:</a:t>
            </a:r>
          </a:p>
          <a:p>
            <a:pPr>
              <a:buFont typeface="Arial" pitchFamily="34" charset="0"/>
              <a:buChar char="•"/>
            </a:pPr>
            <a:r>
              <a:rPr lang="en-AU" sz="1200" kern="1200" dirty="0" smtClean="0">
                <a:solidFill>
                  <a:schemeClr val="tx1"/>
                </a:solidFill>
                <a:ea typeface="+mn-ea"/>
                <a:cs typeface="+mn-cs"/>
              </a:rPr>
              <a:t> Potentially hazardous food is food that must be stored under special temperature conditions – to prevent the growth of food poisoning bacteria, or to prevent the formation of toxins in the food</a:t>
            </a:r>
          </a:p>
          <a:p>
            <a:pPr>
              <a:buFont typeface="Arial" pitchFamily="34" charset="0"/>
              <a:buChar char="•"/>
            </a:pPr>
            <a:r>
              <a:rPr lang="en-AU" sz="1200" kern="1200" dirty="0" smtClean="0">
                <a:solidFill>
                  <a:schemeClr val="tx1"/>
                </a:solidFill>
                <a:ea typeface="+mn-ea"/>
                <a:cs typeface="+mn-cs"/>
              </a:rPr>
              <a:t> Potentially hazardous food focuses on high protein, high moisture, low acid foods – examples to follow on next slides  </a:t>
            </a:r>
          </a:p>
          <a:p>
            <a:pPr>
              <a:buFont typeface="Arial" pitchFamily="34" charset="0"/>
              <a:buChar char="•"/>
            </a:pPr>
            <a:r>
              <a:rPr lang="en-AU" sz="1200" kern="1200" dirty="0" smtClean="0">
                <a:solidFill>
                  <a:schemeClr val="tx1"/>
                </a:solidFill>
                <a:ea typeface="+mn-ea"/>
                <a:cs typeface="+mn-cs"/>
              </a:rPr>
              <a:t> Special attention must be paid to ‘potentially hazardous foods’ to make sure they are stored correctly at the right temperature. (that is, out of the Temperature Danger Zone [5°C - 60°C])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examples of ‘potentially hazardous food’:</a:t>
            </a:r>
          </a:p>
          <a:p>
            <a:pPr lvl="0">
              <a:buFont typeface="Arial" pitchFamily="34" charset="0"/>
              <a:buChar char="•"/>
            </a:pPr>
            <a:r>
              <a:rPr lang="en-AU" sz="1200" kern="1200" dirty="0" smtClean="0">
                <a:solidFill>
                  <a:schemeClr val="tx1"/>
                </a:solidFill>
                <a:ea typeface="+mn-ea"/>
                <a:cs typeface="+mn-cs"/>
              </a:rPr>
              <a:t> Milk and milk products, soft cheeses – butter, yoghurt, custards, cream cakes, cheese, baked custard tarts and dips</a:t>
            </a:r>
          </a:p>
          <a:p>
            <a:pPr lvl="0">
              <a:buFont typeface="Arial" pitchFamily="34" charset="0"/>
              <a:buChar char="•"/>
            </a:pPr>
            <a:r>
              <a:rPr lang="en-AU" sz="1200" kern="1200" dirty="0" smtClean="0">
                <a:solidFill>
                  <a:schemeClr val="tx1"/>
                </a:solidFill>
                <a:ea typeface="+mn-ea"/>
                <a:cs typeface="+mn-cs"/>
              </a:rPr>
              <a:t> Egg products – quiche, fresh pasta, duck and game bird eggs, all eggs, mayonnaise (whole egg) </a:t>
            </a:r>
          </a:p>
          <a:p>
            <a:pPr lvl="0">
              <a:buFont typeface="Arial" pitchFamily="34" charset="0"/>
              <a:buChar char="•"/>
            </a:pPr>
            <a:r>
              <a:rPr lang="en-AU" sz="1200" kern="1200" dirty="0" smtClean="0">
                <a:solidFill>
                  <a:schemeClr val="tx1"/>
                </a:solidFill>
                <a:ea typeface="+mn-ea"/>
                <a:cs typeface="+mn-cs"/>
              </a:rPr>
              <a:t> Meat and poultry – all cuts and types. Includes beef, ham, veal, pork, chicken, turkey – includes legs, mince, steaks, chops, cutlets, breast, wings.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examples of high risk foods:</a:t>
            </a:r>
          </a:p>
          <a:p>
            <a:pPr lvl="0">
              <a:buFont typeface="Arial" pitchFamily="34" charset="0"/>
              <a:buChar char="•"/>
            </a:pPr>
            <a:r>
              <a:rPr lang="en-AU" sz="1200" kern="1200" dirty="0" smtClean="0">
                <a:solidFill>
                  <a:schemeClr val="tx1"/>
                </a:solidFill>
                <a:ea typeface="+mn-ea"/>
                <a:cs typeface="+mn-cs"/>
              </a:rPr>
              <a:t> Smallgoods products – ham, pressed chicken, but note most salami is </a:t>
            </a:r>
            <a:r>
              <a:rPr lang="en-AU" sz="1200" b="1" kern="1200" dirty="0" smtClean="0">
                <a:solidFill>
                  <a:schemeClr val="tx1"/>
                </a:solidFill>
                <a:ea typeface="+mn-ea"/>
                <a:cs typeface="+mn-cs"/>
              </a:rPr>
              <a:t>not</a:t>
            </a:r>
            <a:r>
              <a:rPr lang="en-AU" sz="1200" kern="1200" dirty="0" smtClean="0">
                <a:solidFill>
                  <a:schemeClr val="tx1"/>
                </a:solidFill>
                <a:ea typeface="+mn-ea"/>
                <a:cs typeface="+mn-cs"/>
              </a:rPr>
              <a:t> a high risk food due to its high salt and low moisture content</a:t>
            </a:r>
          </a:p>
          <a:p>
            <a:pPr lvl="0">
              <a:buFont typeface="Arial" pitchFamily="34" charset="0"/>
              <a:buChar char="•"/>
            </a:pPr>
            <a:r>
              <a:rPr lang="en-AU" sz="1200" kern="1200" dirty="0" smtClean="0">
                <a:solidFill>
                  <a:schemeClr val="tx1"/>
                </a:solidFill>
                <a:ea typeface="+mn-ea"/>
                <a:cs typeface="+mn-cs"/>
              </a:rPr>
              <a:t> Processed meat products including chicken – paté, meat pies, sausages, sausage rolls, coagulated blood (in, for example, black pudding), rissoles, meat balls</a:t>
            </a:r>
          </a:p>
          <a:p>
            <a:pPr lvl="0">
              <a:buFont typeface="Arial" pitchFamily="34" charset="0"/>
              <a:buChar char="•"/>
            </a:pPr>
            <a:r>
              <a:rPr lang="en-AU" sz="1200" kern="1200" dirty="0" smtClean="0">
                <a:solidFill>
                  <a:schemeClr val="tx1"/>
                </a:solidFill>
                <a:ea typeface="+mn-ea"/>
                <a:cs typeface="+mn-cs"/>
              </a:rPr>
              <a:t> Fish, shellfish, fish products, fish soups and fish stocks – caviar, fish balls, patties, salads, sauces and stews </a:t>
            </a:r>
          </a:p>
          <a:p>
            <a:pPr lvl="0">
              <a:buFont typeface="Arial" pitchFamily="34" charset="0"/>
              <a:buChar char="•"/>
            </a:pPr>
            <a:r>
              <a:rPr lang="en-AU" sz="1200" kern="1200" dirty="0" smtClean="0">
                <a:solidFill>
                  <a:schemeClr val="tx1"/>
                </a:solidFill>
                <a:ea typeface="+mn-ea"/>
                <a:cs typeface="+mn-cs"/>
              </a:rPr>
              <a:t> Other prepared food dishes containing high risk food products – pizza, prepared meals, pre-made sandwiches and rolls, salads and cooked rice and cooked pasta.</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importance of the Temperature Danger Zone to food safety stating:</a:t>
            </a:r>
          </a:p>
          <a:p>
            <a:pPr>
              <a:buFont typeface="Arial" pitchFamily="34" charset="0"/>
              <a:buChar char="•"/>
            </a:pPr>
            <a:r>
              <a:rPr lang="en-AU" sz="1200" kern="1200" dirty="0" smtClean="0">
                <a:solidFill>
                  <a:schemeClr val="tx1"/>
                </a:solidFill>
                <a:ea typeface="+mn-ea"/>
                <a:cs typeface="+mn-cs"/>
              </a:rPr>
              <a:t> The Temperature Danger Zone is the temperature range in which bacteria multiply most rapidly</a:t>
            </a:r>
          </a:p>
          <a:p>
            <a:pPr>
              <a:buFont typeface="Arial" pitchFamily="34" charset="0"/>
              <a:buChar char="•"/>
            </a:pPr>
            <a:r>
              <a:rPr lang="en-AU" sz="1200" kern="1200" dirty="0" smtClean="0">
                <a:solidFill>
                  <a:schemeClr val="tx1"/>
                </a:solidFill>
                <a:ea typeface="+mn-ea"/>
                <a:cs typeface="+mn-cs"/>
              </a:rPr>
              <a:t> The range is 5°C to 60°C</a:t>
            </a:r>
          </a:p>
          <a:p>
            <a:pPr>
              <a:buFont typeface="Arial" pitchFamily="34" charset="0"/>
              <a:buChar char="•"/>
            </a:pPr>
            <a:r>
              <a:rPr lang="en-AU" sz="1200" kern="1200" dirty="0" smtClean="0">
                <a:solidFill>
                  <a:schemeClr val="tx1"/>
                </a:solidFill>
                <a:ea typeface="+mn-ea"/>
                <a:cs typeface="+mn-cs"/>
              </a:rPr>
              <a:t> Every effort must be made to keep potentially hazardous food out of this temperature range.</a:t>
            </a:r>
          </a:p>
          <a:p>
            <a:pPr>
              <a:buFont typeface="Arial" pitchFamily="34" charset="0"/>
              <a:buChar char="•"/>
            </a:pPr>
            <a:r>
              <a:rPr lang="en-AU" sz="1200" kern="1200" dirty="0" smtClean="0">
                <a:solidFill>
                  <a:schemeClr val="tx1"/>
                </a:solidFill>
                <a:ea typeface="+mn-ea"/>
                <a:cs typeface="+mn-cs"/>
              </a:rPr>
              <a:t> Where food must to be in this range (such as when it is being prepared), the amount of time the food spends in this zone must be minimised</a:t>
            </a:r>
          </a:p>
          <a:p>
            <a:pPr>
              <a:buFont typeface="Arial" pitchFamily="34" charset="0"/>
              <a:buChar char="•"/>
            </a:pPr>
            <a:r>
              <a:rPr lang="en-AU" sz="1200" kern="1200" dirty="0" smtClean="0">
                <a:solidFill>
                  <a:schemeClr val="tx1"/>
                </a:solidFill>
                <a:ea typeface="+mn-ea"/>
                <a:cs typeface="+mn-cs"/>
              </a:rPr>
              <a:t> It is important to note all time food spends in the Temperature Danger Zone is cumulative. For example, if a piece of meat is left out on the bench for one hour, refrigerated and then brought back out into the kitchen, the time it then spends in the Temperature Danger Zone is added to the previous time – the clock (and the bacteria count) does not get reset to zero when the food was put in the fridge again.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 the 2/4 Rule stating </a:t>
            </a:r>
            <a:r>
              <a:rPr lang="en-AU" sz="1200" kern="1200" dirty="0" smtClean="0">
                <a:solidFill>
                  <a:schemeClr val="tx1"/>
                </a:solidFill>
                <a:ea typeface="+mn-ea"/>
                <a:cs typeface="+mn-cs"/>
              </a:rPr>
              <a:t>awareness of the 2/4 rule is critical in applying safe food handling procedures, explaining the 2/4 rule states:</a:t>
            </a:r>
          </a:p>
          <a:p>
            <a:pPr lvl="0">
              <a:buFont typeface="Arial" pitchFamily="34" charset="0"/>
              <a:buChar char="•"/>
            </a:pPr>
            <a:r>
              <a:rPr lang="en-AU" sz="1200" kern="1200" dirty="0" smtClean="0">
                <a:solidFill>
                  <a:schemeClr val="tx1"/>
                </a:solidFill>
                <a:ea typeface="+mn-ea"/>
                <a:cs typeface="+mn-cs"/>
              </a:rPr>
              <a:t> Potentially hazardous foods that have been in the Temperature Danger Zone for 4 hours (or more) must be discarded/thrown out </a:t>
            </a:r>
          </a:p>
          <a:p>
            <a:pPr lvl="0">
              <a:buFont typeface="Arial" pitchFamily="34" charset="0"/>
              <a:buChar char="•"/>
            </a:pPr>
            <a:r>
              <a:rPr lang="en-AU" sz="1200" kern="1200" dirty="0" smtClean="0">
                <a:solidFill>
                  <a:schemeClr val="tx1"/>
                </a:solidFill>
                <a:ea typeface="+mn-ea"/>
                <a:cs typeface="+mn-cs"/>
              </a:rPr>
              <a:t> Potentially hazardous foods that have been in the Temperature Danger Zone for 2 hours can be refrigerated and then returned to the Temperature Danger Zone for another 2 hours, maximum</a:t>
            </a:r>
          </a:p>
          <a:p>
            <a:pPr lvl="0">
              <a:buFont typeface="Arial" pitchFamily="34" charset="0"/>
              <a:buChar char="•"/>
            </a:pPr>
            <a:r>
              <a:rPr lang="en-AU" sz="1200" kern="1200" dirty="0" smtClean="0">
                <a:solidFill>
                  <a:schemeClr val="tx1"/>
                </a:solidFill>
                <a:ea typeface="+mn-ea"/>
                <a:cs typeface="+mn-cs"/>
              </a:rPr>
              <a:t> When high risk food has been in the Temperature Danger Zone for 2 hours it must be cooked or eaten within the next 2 hours or thrown out</a:t>
            </a:r>
          </a:p>
          <a:p>
            <a:pPr>
              <a:buFont typeface="Arial" pitchFamily="34" charset="0"/>
              <a:buChar char="•"/>
            </a:pPr>
            <a:r>
              <a:rPr lang="en-AU" sz="1200" kern="1200" dirty="0" smtClean="0">
                <a:solidFill>
                  <a:schemeClr val="tx1"/>
                </a:solidFill>
                <a:ea typeface="+mn-ea"/>
                <a:cs typeface="+mn-cs"/>
              </a:rPr>
              <a:t> There are no exceptions to this rule.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all </a:t>
            </a:r>
            <a:r>
              <a:rPr lang="en-AU" sz="1200" kern="1200" dirty="0" smtClean="0">
                <a:solidFill>
                  <a:schemeClr val="tx1"/>
                </a:solidFill>
                <a:ea typeface="+mn-ea"/>
                <a:cs typeface="+mn-cs"/>
              </a:rPr>
              <a:t>food premises should have at least one independent, calibrated food thermometer available to check the temperature of food (on delivery, during processing, while on display), and food equipment (such as fridges, coolrooms, freezers, bain-maries, food warmers). Trainer advises ‘calibration’ refers to testing the thermometer to prove it is giving accurate readings.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Trainer advises a probe thermometer is best (not an infra-red</a:t>
            </a:r>
            <a:r>
              <a:rPr lang="en-AU" sz="1200" kern="1200" baseline="0" dirty="0" smtClean="0">
                <a:solidFill>
                  <a:schemeClr val="tx1"/>
                </a:solidFill>
                <a:ea typeface="+mn-ea"/>
                <a:cs typeface="+mn-cs"/>
              </a:rPr>
              <a:t> one as they provide only surface temperature readings, as opposed to internal readings), stating the </a:t>
            </a:r>
            <a:r>
              <a:rPr lang="en-AU" sz="1200" kern="1200" dirty="0" smtClean="0">
                <a:solidFill>
                  <a:schemeClr val="tx1"/>
                </a:solidFill>
                <a:ea typeface="+mn-ea"/>
                <a:cs typeface="+mn-cs"/>
              </a:rPr>
              <a:t>thermometer must be:</a:t>
            </a:r>
          </a:p>
          <a:p>
            <a:pPr lvl="0">
              <a:buFont typeface="Arial" pitchFamily="34" charset="0"/>
              <a:buChar char="•"/>
            </a:pPr>
            <a:r>
              <a:rPr lang="en-AU" sz="1200" kern="1200" dirty="0" smtClean="0">
                <a:solidFill>
                  <a:schemeClr val="tx1"/>
                </a:solidFill>
                <a:ea typeface="+mn-ea"/>
                <a:cs typeface="+mn-cs"/>
              </a:rPr>
              <a:t> Readily available for food handling staff to use as required – it should not be locked away in an office where it cannot be easily accessed</a:t>
            </a:r>
          </a:p>
          <a:p>
            <a:pPr lvl="0">
              <a:buFont typeface="Arial" pitchFamily="34" charset="0"/>
              <a:buChar char="•"/>
            </a:pPr>
            <a:r>
              <a:rPr lang="en-AU" sz="1200" kern="1200" dirty="0" smtClean="0">
                <a:solidFill>
                  <a:schemeClr val="tx1"/>
                </a:solidFill>
                <a:ea typeface="+mn-ea"/>
                <a:cs typeface="+mn-cs"/>
              </a:rPr>
              <a:t> Checked/calibrated very six months (minimum) to ensure it is giving an accurate reading. Instructions on how to do a hot and cold calibration to check the accuracy of the thermometer are sometimes included in the instructions accompanying the thermometer</a:t>
            </a:r>
          </a:p>
          <a:p>
            <a:pPr lvl="0">
              <a:buFont typeface="Arial" pitchFamily="34" charset="0"/>
              <a:buChar char="•"/>
            </a:pPr>
            <a:r>
              <a:rPr lang="en-AU" sz="1200" kern="1200" dirty="0" smtClean="0">
                <a:solidFill>
                  <a:schemeClr val="tx1"/>
                </a:solidFill>
                <a:ea typeface="+mn-ea"/>
                <a:cs typeface="+mn-cs"/>
              </a:rPr>
              <a:t> Thermometers must be accurate to plus or minus 1°C or they must be repaired or replaced.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requirements regarding probe food thermometers advising they must be:</a:t>
            </a:r>
          </a:p>
          <a:p>
            <a:pPr lvl="0">
              <a:buFont typeface="Arial" pitchFamily="34" charset="0"/>
              <a:buChar char="•"/>
            </a:pPr>
            <a:r>
              <a:rPr lang="en-AU" sz="1200" kern="1200" dirty="0" smtClean="0">
                <a:solidFill>
                  <a:schemeClr val="tx1"/>
                </a:solidFill>
                <a:ea typeface="+mn-ea"/>
                <a:cs typeface="+mn-cs"/>
              </a:rPr>
              <a:t> Cleaned and sanitised between uses when it is being used to check the temperature of food – the use of a sanitising wipe to clean and sanitise the probe is common</a:t>
            </a:r>
          </a:p>
          <a:p>
            <a:pPr lvl="0">
              <a:buFont typeface="Arial" pitchFamily="34" charset="0"/>
              <a:buChar char="•"/>
            </a:pPr>
            <a:r>
              <a:rPr lang="en-AU" sz="1200" kern="1200" dirty="0" smtClean="0">
                <a:solidFill>
                  <a:schemeClr val="tx1"/>
                </a:solidFill>
                <a:ea typeface="+mn-ea"/>
                <a:cs typeface="+mn-cs"/>
              </a:rPr>
              <a:t> Allowed to reach room temperature when being alternated between use on hot and cold food or </a:t>
            </a:r>
            <a:r>
              <a:rPr lang="en-AU" sz="1200" i="1" kern="1200" dirty="0" smtClean="0">
                <a:solidFill>
                  <a:schemeClr val="tx1"/>
                </a:solidFill>
                <a:ea typeface="+mn-ea"/>
                <a:cs typeface="+mn-cs"/>
              </a:rPr>
              <a:t>vice versa</a:t>
            </a:r>
            <a:r>
              <a:rPr lang="en-AU" sz="1200" kern="1200" dirty="0" smtClean="0">
                <a:solidFill>
                  <a:schemeClr val="tx1"/>
                </a:solidFill>
                <a:ea typeface="+mn-ea"/>
                <a:cs typeface="+mn-cs"/>
              </a:rPr>
              <a:t> – to allow the thermometer to reach ambient temperature before being used</a:t>
            </a:r>
          </a:p>
          <a:p>
            <a:pPr lvl="0">
              <a:buFont typeface="Arial" pitchFamily="34" charset="0"/>
              <a:buChar char="•"/>
            </a:pPr>
            <a:r>
              <a:rPr lang="en-AU" sz="1200" kern="1200" dirty="0" smtClean="0">
                <a:solidFill>
                  <a:schemeClr val="tx1"/>
                </a:solidFill>
                <a:ea typeface="+mn-ea"/>
                <a:cs typeface="+mn-cs"/>
              </a:rPr>
              <a:t> Treated with care – do not knock, drop or damage it: if it is knocked, dropped or damaged, it should be immediately checked for accuracy.</a:t>
            </a:r>
          </a:p>
          <a:p>
            <a:pPr>
              <a:buFont typeface="Arial" pitchFamily="34" charset="0"/>
              <a:buNone/>
            </a:pPr>
            <a:endParaRPr lang="en-US" dirty="0" smtClean="0"/>
          </a:p>
          <a:p>
            <a:pPr>
              <a:buFont typeface="Arial" pitchFamily="34" charset="0"/>
              <a:buNone/>
            </a:pPr>
            <a:r>
              <a:rPr lang="en-US" b="1" dirty="0" smtClean="0"/>
              <a:t>Class Activity – Demonstration and Practical</a:t>
            </a:r>
          </a:p>
          <a:p>
            <a:pPr>
              <a:buFont typeface="Arial" pitchFamily="34" charset="0"/>
              <a:buNone/>
            </a:pPr>
            <a:r>
              <a:rPr lang="en-US" b="0" dirty="0" smtClean="0"/>
              <a:t>Trainer demonstrates how to do a hot and cold calibration of a food thermometer and provides students with an opportunity to do the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stresses </a:t>
            </a:r>
            <a:r>
              <a:rPr lang="en-AU" sz="1200" kern="1200" dirty="0" smtClean="0">
                <a:solidFill>
                  <a:schemeClr val="tx1"/>
                </a:solidFill>
                <a:ea typeface="+mn-ea"/>
                <a:cs typeface="+mn-cs"/>
              </a:rPr>
              <a:t>it is vital all workplace hygiene procedures are complied with at all times, without exception, presenting ‘personal hygiene’ as one important aspect with the following requirements:</a:t>
            </a:r>
          </a:p>
          <a:p>
            <a:pPr lvl="0">
              <a:buFont typeface="Arial" pitchFamily="34" charset="0"/>
              <a:buChar char="•"/>
            </a:pPr>
            <a:r>
              <a:rPr lang="en-AU" sz="1200" kern="1200" dirty="0" smtClean="0">
                <a:solidFill>
                  <a:schemeClr val="tx1"/>
                </a:solidFill>
                <a:ea typeface="+mn-ea"/>
                <a:cs typeface="+mn-cs"/>
              </a:rPr>
              <a:t> Avoid touching food with the bare hands – use tongs, a spatula, fork, serving spoon or gloves when touching food especially food that will not be further cooked or processed </a:t>
            </a:r>
          </a:p>
          <a:p>
            <a:pPr lvl="0">
              <a:buFont typeface="Arial" pitchFamily="34" charset="0"/>
              <a:buChar char="•"/>
            </a:pPr>
            <a:r>
              <a:rPr lang="en-AU" sz="1200" kern="1200" dirty="0" smtClean="0">
                <a:solidFill>
                  <a:schemeClr val="tx1"/>
                </a:solidFill>
                <a:ea typeface="+mn-ea"/>
                <a:cs typeface="+mn-cs"/>
              </a:rPr>
              <a:t> Avoid touching food surfaces with the bare hands – this means avoiding touching preparation benches, preparation equipment and the food contact surfaces of serving items such as plates, bowls and cups with the bare hands</a:t>
            </a:r>
          </a:p>
          <a:p>
            <a:pPr lvl="0">
              <a:buFont typeface="Arial" pitchFamily="34" charset="0"/>
              <a:buChar char="•"/>
            </a:pPr>
            <a:r>
              <a:rPr lang="en-AU" sz="1200" kern="1200" dirty="0" smtClean="0">
                <a:solidFill>
                  <a:schemeClr val="tx1"/>
                </a:solidFill>
                <a:ea typeface="+mn-ea"/>
                <a:cs typeface="+mn-cs"/>
              </a:rPr>
              <a:t> No jewellery to be worn on hands and wrists – food can lodge in the jewellery, deteriorate and then fall back into food. There is also a chance stones or gems may fall out from rings and jewellery into the food providing a physical contaminant.  If a ring must be worn, cover it using a coloured band-aid and disposable glove.</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personal hygiene requirements for food handlers reminding them they must realise their health and actions have a major impact on food safety:</a:t>
            </a:r>
          </a:p>
          <a:p>
            <a:pPr lvl="0">
              <a:buFont typeface="Arial" pitchFamily="34" charset="0"/>
              <a:buChar char="•"/>
            </a:pPr>
            <a:r>
              <a:rPr lang="en-AU" sz="1200" kern="1200" dirty="0" smtClean="0">
                <a:solidFill>
                  <a:schemeClr val="tx1"/>
                </a:solidFill>
                <a:ea typeface="+mn-ea"/>
                <a:cs typeface="+mn-cs"/>
              </a:rPr>
              <a:t> Facial hair must be kept neat and controlled – hair should either be covered or sprayed to keep it controlled in such a way that hairs do not fall into food. Long hair must be tied back, and beards should also be covered. In kitchens and food areas, hair nets or hats should be worn </a:t>
            </a:r>
          </a:p>
          <a:p>
            <a:pPr lvl="0">
              <a:buFont typeface="Arial" pitchFamily="34" charset="0"/>
              <a:buChar char="•"/>
            </a:pPr>
            <a:r>
              <a:rPr lang="en-AU" sz="1200" kern="1200" dirty="0" smtClean="0">
                <a:solidFill>
                  <a:schemeClr val="tx1"/>
                </a:solidFill>
                <a:ea typeface="+mn-ea"/>
                <a:cs typeface="+mn-cs"/>
              </a:rPr>
              <a:t> Fingernails must be short, clean and free of polish (including clear nail polish) –cracked fingernails and chipped nail polish can harbour bacteria and may also flake off into food. Fingernail decorations and artificial nails are also prohibited</a:t>
            </a:r>
          </a:p>
          <a:p>
            <a:pPr lvl="0">
              <a:buFont typeface="Arial" pitchFamily="34" charset="0"/>
              <a:buChar char="•"/>
            </a:pPr>
            <a:r>
              <a:rPr lang="en-AU" sz="1200" kern="1200" dirty="0" smtClean="0">
                <a:solidFill>
                  <a:schemeClr val="tx1"/>
                </a:solidFill>
                <a:ea typeface="+mn-ea"/>
                <a:cs typeface="+mn-cs"/>
              </a:rPr>
              <a:t> Clothing must be clean – a minimum requirement is for clean clothes for each shift with further changes as spillages and 'working dirt' dictate</a:t>
            </a:r>
          </a:p>
          <a:p>
            <a:pPr lvl="0">
              <a:buFont typeface="Arial" pitchFamily="34" charset="0"/>
              <a:buChar char="•"/>
            </a:pPr>
            <a:r>
              <a:rPr lang="en-AU" sz="1200" kern="1200" dirty="0" smtClean="0">
                <a:solidFill>
                  <a:schemeClr val="tx1"/>
                </a:solidFill>
                <a:ea typeface="+mn-ea"/>
                <a:cs typeface="+mn-cs"/>
              </a:rPr>
              <a:t> Do not wear ‘food handling’ clothes to and from work – they can come into contact with dirt</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bacteria which may then be transferred to the work area and or food.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personal hygiene requirements for food handlers urging them to take personal hygiene seriously:</a:t>
            </a:r>
          </a:p>
          <a:p>
            <a:pPr lvl="0">
              <a:buFont typeface="Arial" pitchFamily="34" charset="0"/>
              <a:buChar char="•"/>
            </a:pPr>
            <a:r>
              <a:rPr lang="en-AU" sz="1200" kern="1200" dirty="0" smtClean="0">
                <a:solidFill>
                  <a:schemeClr val="tx1"/>
                </a:solidFill>
                <a:ea typeface="+mn-ea"/>
                <a:cs typeface="+mn-cs"/>
              </a:rPr>
              <a:t> Cuts and sores must always be covered – a coloured, water-proof dressing must be applied and a finger stall also used where necessary. A disposable glove can also be worn where the cut or sore is on the hands</a:t>
            </a:r>
          </a:p>
          <a:p>
            <a:pPr lvl="0">
              <a:buFont typeface="Arial" pitchFamily="34" charset="0"/>
              <a:buChar char="•"/>
            </a:pPr>
            <a:r>
              <a:rPr lang="en-AU" sz="1200" kern="1200" dirty="0" smtClean="0">
                <a:solidFill>
                  <a:schemeClr val="tx1"/>
                </a:solidFill>
                <a:ea typeface="+mn-ea"/>
                <a:cs typeface="+mn-cs"/>
              </a:rPr>
              <a:t> Food handlers in the acute state of a common cold must not handle uncovered food – but they may, for example, work where food is in sealed containers, such as in a bottle shop or a retail shop where all food sold is in tins or sealed packets</a:t>
            </a:r>
          </a:p>
          <a:p>
            <a:pPr lvl="0">
              <a:buFont typeface="Arial" pitchFamily="34" charset="0"/>
              <a:buChar char="•"/>
            </a:pPr>
            <a:r>
              <a:rPr lang="en-AU" sz="1200" kern="1200" dirty="0" smtClean="0">
                <a:solidFill>
                  <a:schemeClr val="tx1"/>
                </a:solidFill>
                <a:ea typeface="+mn-ea"/>
                <a:cs typeface="+mn-cs"/>
              </a:rPr>
              <a:t> Food handlers with any communicable disease must not deal with food until they receive a certificate from a doctor stating as a food handler they are cleared to work with food – see later notes for more detail.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the use of protective, disposable gloves in food handling is an excellent safe food handling practice but gloves do not fix all food hygiene problems, advising when wearing disposable gloves:</a:t>
            </a:r>
          </a:p>
          <a:p>
            <a:pPr lvl="0">
              <a:buFont typeface="Arial" pitchFamily="34" charset="0"/>
              <a:buChar char="•"/>
            </a:pPr>
            <a:r>
              <a:rPr lang="en-AU" sz="1200" kern="1200" dirty="0" smtClean="0">
                <a:solidFill>
                  <a:schemeClr val="tx1"/>
                </a:solidFill>
                <a:ea typeface="+mn-ea"/>
                <a:cs typeface="+mn-cs"/>
              </a:rPr>
              <a:t> Change gloves immediately they are ripped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torn – do not continue working while wearing torn gloves</a:t>
            </a:r>
          </a:p>
          <a:p>
            <a:pPr lvl="0">
              <a:buFont typeface="Arial" pitchFamily="34" charset="0"/>
              <a:buChar char="•"/>
            </a:pPr>
            <a:r>
              <a:rPr lang="en-AU" sz="1200" kern="1200" dirty="0" smtClean="0">
                <a:solidFill>
                  <a:schemeClr val="tx1"/>
                </a:solidFill>
                <a:ea typeface="+mn-ea"/>
                <a:cs typeface="+mn-cs"/>
              </a:rPr>
              <a:t> Change gloves between handling raw and cooked, ready-to-eat foods – to avoid cross contamination (such as the transfer of bacteria from raw food to cooked, ready-to-eat foods)</a:t>
            </a:r>
          </a:p>
          <a:p>
            <a:pPr lvl="0">
              <a:buFont typeface="Arial" pitchFamily="34" charset="0"/>
              <a:buChar char="•"/>
            </a:pPr>
            <a:r>
              <a:rPr lang="en-AU" sz="1200" kern="1200" dirty="0" smtClean="0">
                <a:solidFill>
                  <a:schemeClr val="tx1"/>
                </a:solidFill>
                <a:ea typeface="+mn-ea"/>
                <a:cs typeface="+mn-cs"/>
              </a:rPr>
              <a:t> Change gloves every hour regardless – the same pair of gloves cannot be worn for longer than this, or worn for an entire </a:t>
            </a:r>
            <a:r>
              <a:rPr lang="en-AU" sz="1200" kern="1200" dirty="0" smtClean="0">
                <a:solidFill>
                  <a:schemeClr val="tx1"/>
                </a:solidFill>
                <a:ea typeface="+mn-ea"/>
                <a:cs typeface="+mn-cs"/>
              </a:rPr>
              <a:t>shift.</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requirements relating to the use of disposable gloves:</a:t>
            </a:r>
          </a:p>
          <a:p>
            <a:pPr lvl="0">
              <a:buFont typeface="Arial" pitchFamily="34" charset="0"/>
              <a:buChar char="•"/>
            </a:pPr>
            <a:r>
              <a:rPr lang="en-AU" sz="1200" kern="1200" dirty="0" smtClean="0">
                <a:solidFill>
                  <a:schemeClr val="tx1"/>
                </a:solidFill>
                <a:ea typeface="+mn-ea"/>
                <a:cs typeface="+mn-cs"/>
              </a:rPr>
              <a:t> If handling money do not use the same gloved hand to handle food – take one glove off, handle the money with that hand (without the glove on), and then put on a new clean glove before returning to food handling duties</a:t>
            </a:r>
          </a:p>
          <a:p>
            <a:pPr lvl="0">
              <a:buFont typeface="Arial" pitchFamily="34" charset="0"/>
              <a:buChar char="•"/>
            </a:pPr>
            <a:r>
              <a:rPr lang="en-AU" sz="1200" kern="1200" dirty="0" smtClean="0">
                <a:solidFill>
                  <a:schemeClr val="tx1"/>
                </a:solidFill>
                <a:ea typeface="+mn-ea"/>
                <a:cs typeface="+mn-cs"/>
              </a:rPr>
              <a:t> If changing gloves during service, ensure they are not taken off over food or food surfaces – if the gloves contain powder, this may fall out onto food or food preparation surfaces and provide a source of contamination</a:t>
            </a:r>
          </a:p>
          <a:p>
            <a:pPr lvl="0">
              <a:buFont typeface="Arial" pitchFamily="34" charset="0"/>
              <a:buChar char="•"/>
            </a:pPr>
            <a:r>
              <a:rPr lang="en-AU" sz="1200" kern="1200" dirty="0" smtClean="0">
                <a:solidFill>
                  <a:schemeClr val="tx1"/>
                </a:solidFill>
                <a:ea typeface="+mn-ea"/>
                <a:cs typeface="+mn-cs"/>
              </a:rPr>
              <a:t> Do not try to put on gloves that have already been used – disposable gloves must be disposed of out as soon as they are taken off</a:t>
            </a:r>
          </a:p>
          <a:p>
            <a:pPr lvl="0">
              <a:buFont typeface="Arial" pitchFamily="34" charset="0"/>
              <a:buChar char="•"/>
            </a:pPr>
            <a:r>
              <a:rPr lang="en-AU" sz="1200" kern="1200" dirty="0" smtClean="0">
                <a:solidFill>
                  <a:schemeClr val="tx1"/>
                </a:solidFill>
                <a:ea typeface="+mn-ea"/>
                <a:cs typeface="+mn-cs"/>
              </a:rPr>
              <a:t> Do not turn gloves inside out and try to wear them again – see above</a:t>
            </a:r>
          </a:p>
          <a:p>
            <a:pPr lvl="0">
              <a:buFont typeface="Arial" pitchFamily="34" charset="0"/>
              <a:buChar char="•"/>
            </a:pPr>
            <a:r>
              <a:rPr lang="en-AU" sz="1200" kern="1200" dirty="0" smtClean="0">
                <a:solidFill>
                  <a:schemeClr val="tx1"/>
                </a:solidFill>
                <a:ea typeface="+mn-ea"/>
                <a:cs typeface="+mn-cs"/>
              </a:rPr>
              <a:t> Change gloves whenever they become contaminated from whatever source – raw food, blood, sneezing, chemicals, scratching the face, handling rubbish: whenever there is a need to wash hands, change gloves.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to trainees clothing worn by food handlers has the potential to pose a food risk, so they must:</a:t>
            </a:r>
          </a:p>
          <a:p>
            <a:pPr lvl="0">
              <a:buFont typeface="Arial" pitchFamily="34" charset="0"/>
              <a:buChar char="•"/>
            </a:pPr>
            <a:r>
              <a:rPr lang="en-AU" sz="1200" kern="1200" dirty="0" smtClean="0">
                <a:solidFill>
                  <a:schemeClr val="tx1"/>
                </a:solidFill>
                <a:ea typeface="+mn-ea"/>
                <a:cs typeface="+mn-cs"/>
              </a:rPr>
              <a:t> Ensure anything from their body or anything they wear does not contaminate food or food surfaces highlighting practical measures in this regard include:</a:t>
            </a:r>
          </a:p>
          <a:p>
            <a:pPr lvl="1">
              <a:buFont typeface="Arial" pitchFamily="34" charset="0"/>
              <a:buChar char="•"/>
            </a:pPr>
            <a:r>
              <a:rPr lang="en-AU" sz="1200" kern="1200" dirty="0" smtClean="0">
                <a:solidFill>
                  <a:schemeClr val="tx1"/>
                </a:solidFill>
                <a:ea typeface="+mn-ea"/>
                <a:cs typeface="+mn-cs"/>
              </a:rPr>
              <a:t> Avoid loose-fitting clothes – sleeves can hang</a:t>
            </a:r>
            <a:r>
              <a:rPr lang="en-AU" sz="1200" kern="1200" baseline="0" dirty="0" smtClean="0">
                <a:solidFill>
                  <a:schemeClr val="tx1"/>
                </a:solidFill>
                <a:ea typeface="+mn-ea"/>
                <a:cs typeface="+mn-cs"/>
              </a:rPr>
              <a:t> down into food</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Do not cough or sneeze over food – or food surfaces, equipment, utensils</a:t>
            </a:r>
          </a:p>
          <a:p>
            <a:pPr lvl="1">
              <a:buFont typeface="Arial" pitchFamily="34" charset="0"/>
              <a:buChar char="•"/>
            </a:pPr>
            <a:r>
              <a:rPr lang="en-AU" sz="1200" kern="1200" dirty="0" smtClean="0">
                <a:solidFill>
                  <a:schemeClr val="tx1"/>
                </a:solidFill>
                <a:ea typeface="+mn-ea"/>
                <a:cs typeface="+mn-cs"/>
              </a:rPr>
              <a:t> Avoid items of facial jewellery that hang down – they are likely to fall into food</a:t>
            </a:r>
          </a:p>
          <a:p>
            <a:pPr lvl="1">
              <a:buFont typeface="Arial" pitchFamily="34" charset="0"/>
              <a:buChar char="•"/>
            </a:pPr>
            <a:r>
              <a:rPr lang="en-AU" sz="1200" kern="1200" dirty="0" smtClean="0">
                <a:solidFill>
                  <a:schemeClr val="tx1"/>
                </a:solidFill>
                <a:ea typeface="+mn-ea"/>
                <a:cs typeface="+mn-cs"/>
              </a:rPr>
              <a:t> Avoid wearing rings when working with food – especially avoid (or appropriately cover) rings with stones in them</a:t>
            </a:r>
          </a:p>
          <a:p>
            <a:pPr lvl="1">
              <a:buFont typeface="Arial" pitchFamily="34" charset="0"/>
              <a:buChar char="•"/>
            </a:pPr>
            <a:r>
              <a:rPr lang="en-AU" sz="1200" kern="1200" dirty="0" smtClean="0">
                <a:solidFill>
                  <a:schemeClr val="tx1"/>
                </a:solidFill>
                <a:ea typeface="+mn-ea"/>
                <a:cs typeface="+mn-cs"/>
              </a:rPr>
              <a:t> Do not wear food handling clothes to and from work</a:t>
            </a:r>
          </a:p>
          <a:p>
            <a:pPr lvl="1">
              <a:buFont typeface="Arial" pitchFamily="34" charset="0"/>
              <a:buChar char="•"/>
            </a:pPr>
            <a:r>
              <a:rPr lang="en-AU" sz="1200" kern="1200" dirty="0" smtClean="0">
                <a:solidFill>
                  <a:schemeClr val="tx1"/>
                </a:solidFill>
                <a:ea typeface="+mn-ea"/>
                <a:cs typeface="+mn-cs"/>
              </a:rPr>
              <a:t> Remove protective clothing (aprons) when using the toilet – to guard against cross contamination.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smtClean="0"/>
              <a:t>Trainer advises </a:t>
            </a:r>
            <a:r>
              <a:rPr lang="en-AU" dirty="0" smtClean="0"/>
              <a:t>of </a:t>
            </a:r>
            <a:r>
              <a:rPr lang="en-AU" sz="1200" kern="1200" dirty="0" smtClean="0">
                <a:solidFill>
                  <a:schemeClr val="tx1"/>
                </a:solidFill>
                <a:ea typeface="+mn-ea"/>
                <a:cs typeface="+mn-cs"/>
              </a:rPr>
              <a:t>appropriate measures to minimise contact with ready-to-eat food explaining practical measures in this regard include:</a:t>
            </a:r>
          </a:p>
          <a:p>
            <a:pPr lvl="0">
              <a:buFont typeface="Arial" pitchFamily="34" charset="0"/>
              <a:buChar char="•"/>
            </a:pPr>
            <a:r>
              <a:rPr lang="en-AU" sz="1200" kern="1200" dirty="0" smtClean="0">
                <a:solidFill>
                  <a:schemeClr val="tx1"/>
                </a:solidFill>
                <a:ea typeface="+mn-ea"/>
                <a:cs typeface="+mn-cs"/>
              </a:rPr>
              <a:t> Not handling cooked, and or ready-to-eat food with the bare hands – use tongs</a:t>
            </a:r>
          </a:p>
          <a:p>
            <a:pPr lvl="0">
              <a:buFont typeface="Arial" pitchFamily="34" charset="0"/>
              <a:buChar char="•"/>
            </a:pPr>
            <a:r>
              <a:rPr lang="en-AU" sz="1200" kern="1200" dirty="0" smtClean="0">
                <a:solidFill>
                  <a:schemeClr val="tx1"/>
                </a:solidFill>
                <a:ea typeface="+mn-ea"/>
                <a:cs typeface="+mn-cs"/>
              </a:rPr>
              <a:t> Handling glasses and cups by their base – and not by the rim</a:t>
            </a:r>
          </a:p>
          <a:p>
            <a:pPr lvl="0">
              <a:buFont typeface="Arial" pitchFamily="34" charset="0"/>
              <a:buChar char="•"/>
            </a:pPr>
            <a:r>
              <a:rPr lang="en-AU" sz="1200" kern="1200" dirty="0" smtClean="0">
                <a:solidFill>
                  <a:schemeClr val="tx1"/>
                </a:solidFill>
                <a:ea typeface="+mn-ea"/>
                <a:cs typeface="+mn-cs"/>
              </a:rPr>
              <a:t> Handling cutlery by the handles – not by the part customers put in their mouth</a:t>
            </a:r>
          </a:p>
          <a:p>
            <a:pPr lvl="0">
              <a:buFont typeface="Arial" pitchFamily="34" charset="0"/>
              <a:buChar char="•"/>
            </a:pPr>
            <a:r>
              <a:rPr lang="en-AU" sz="1200" kern="1200" dirty="0" smtClean="0">
                <a:solidFill>
                  <a:schemeClr val="tx1"/>
                </a:solidFill>
                <a:ea typeface="+mn-ea"/>
                <a:cs typeface="+mn-cs"/>
              </a:rPr>
              <a:t> Avoiding unnecessary skin contact with food contact </a:t>
            </a:r>
            <a:r>
              <a:rPr lang="en-AU" sz="1200" kern="1200" dirty="0" smtClean="0">
                <a:solidFill>
                  <a:schemeClr val="tx1"/>
                </a:solidFill>
                <a:ea typeface="+mn-ea"/>
                <a:cs typeface="+mn-cs"/>
              </a:rPr>
              <a:t>surfaces.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practices to minimise personal contact with food:</a:t>
            </a:r>
          </a:p>
          <a:p>
            <a:pPr lvl="0">
              <a:buFont typeface="Arial" pitchFamily="34" charset="0"/>
              <a:buChar char="•"/>
            </a:pPr>
            <a:r>
              <a:rPr lang="en-AU" sz="1200" kern="1200" dirty="0" smtClean="0">
                <a:solidFill>
                  <a:schemeClr val="tx1"/>
                </a:solidFill>
                <a:ea typeface="+mn-ea"/>
                <a:cs typeface="+mn-cs"/>
              </a:rPr>
              <a:t> Keep hair tied back – wearing hats or beard nets helps ensure hair does not fall into food</a:t>
            </a:r>
          </a:p>
          <a:p>
            <a:pPr lvl="0">
              <a:buFont typeface="Arial" pitchFamily="34" charset="0"/>
              <a:buChar char="•"/>
            </a:pPr>
            <a:r>
              <a:rPr lang="en-AU" sz="1200" kern="1200" dirty="0" smtClean="0">
                <a:solidFill>
                  <a:schemeClr val="tx1"/>
                </a:solidFill>
                <a:ea typeface="+mn-ea"/>
                <a:cs typeface="+mn-cs"/>
              </a:rPr>
              <a:t> Avoid touching hair while working with food – as this can transfer bacteria</a:t>
            </a:r>
          </a:p>
          <a:p>
            <a:pPr lvl="0">
              <a:buFont typeface="Arial" pitchFamily="34" charset="0"/>
              <a:buChar char="•"/>
            </a:pPr>
            <a:r>
              <a:rPr lang="en-AU" sz="1200" kern="1200" dirty="0" smtClean="0">
                <a:solidFill>
                  <a:schemeClr val="tx1"/>
                </a:solidFill>
                <a:ea typeface="+mn-ea"/>
                <a:cs typeface="+mn-cs"/>
              </a:rPr>
              <a:t> Keep fingernails short – to avoid physical contamination from the nail (and to make them easier to clean)</a:t>
            </a:r>
          </a:p>
          <a:p>
            <a:pPr lvl="0">
              <a:buFont typeface="Arial" pitchFamily="34" charset="0"/>
              <a:buChar char="•"/>
            </a:pPr>
            <a:r>
              <a:rPr lang="en-AU" sz="1200" kern="1200" dirty="0" smtClean="0">
                <a:solidFill>
                  <a:schemeClr val="tx1"/>
                </a:solidFill>
                <a:ea typeface="+mn-ea"/>
                <a:cs typeface="+mn-cs"/>
              </a:rPr>
              <a:t> Wear disposable gloves when handling food – and changing them regularly as required </a:t>
            </a:r>
          </a:p>
          <a:p>
            <a:pPr lvl="0">
              <a:buFont typeface="Arial" pitchFamily="34" charset="0"/>
              <a:buChar char="•"/>
            </a:pPr>
            <a:r>
              <a:rPr lang="en-AU" sz="1200" kern="1200" dirty="0" smtClean="0">
                <a:solidFill>
                  <a:schemeClr val="tx1"/>
                </a:solidFill>
                <a:ea typeface="+mn-ea"/>
                <a:cs typeface="+mn-cs"/>
              </a:rPr>
              <a:t> Avoid nail polish, fingernail decorations and artificial fingernails.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ea typeface="+mn-ea"/>
                <a:cs typeface="+mn-cs"/>
              </a:rPr>
              <a:t>Trainer indicates food handling staff must wear clean clothing when handling food stating practical measures in this regard include:</a:t>
            </a:r>
          </a:p>
          <a:p>
            <a:pPr lvl="0">
              <a:buFont typeface="Arial" pitchFamily="34" charset="0"/>
              <a:buChar char="•"/>
            </a:pPr>
            <a:r>
              <a:rPr lang="en-AU" sz="1200" kern="1200" dirty="0" smtClean="0">
                <a:solidFill>
                  <a:schemeClr val="tx1"/>
                </a:solidFill>
                <a:ea typeface="+mn-ea"/>
                <a:cs typeface="+mn-cs"/>
              </a:rPr>
              <a:t> Wear clean clothes – to work daily</a:t>
            </a:r>
          </a:p>
          <a:p>
            <a:pPr lvl="0">
              <a:buFont typeface="Arial" pitchFamily="34" charset="0"/>
              <a:buChar char="•"/>
            </a:pPr>
            <a:r>
              <a:rPr lang="en-AU" sz="1200" kern="1200" dirty="0" smtClean="0">
                <a:solidFill>
                  <a:schemeClr val="tx1"/>
                </a:solidFill>
                <a:ea typeface="+mn-ea"/>
                <a:cs typeface="+mn-cs"/>
              </a:rPr>
              <a:t> Have a change of clothes available at work – to change into if one set of clothes becomes dirty or contaminated</a:t>
            </a:r>
          </a:p>
          <a:p>
            <a:pPr lvl="0">
              <a:buFont typeface="Arial" pitchFamily="34" charset="0"/>
              <a:buChar char="•"/>
            </a:pPr>
            <a:r>
              <a:rPr lang="en-AU" sz="1200" kern="1200" dirty="0" smtClean="0">
                <a:solidFill>
                  <a:schemeClr val="tx1"/>
                </a:solidFill>
                <a:ea typeface="+mn-ea"/>
                <a:cs typeface="+mn-cs"/>
              </a:rPr>
              <a:t> Wear protective clothing – such as aprons.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ea typeface="+mn-ea"/>
                <a:cs typeface="+mn-cs"/>
              </a:rPr>
              <a:t>Trainer states staff must use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waterproof bandages and dressing on exposed parts of the body where there are cuts or sores when handling food stressing practical measures in this regard include:</a:t>
            </a:r>
          </a:p>
          <a:p>
            <a:pPr lvl="0">
              <a:buFont typeface="Arial" pitchFamily="34" charset="0"/>
              <a:buChar char="•"/>
            </a:pPr>
            <a:r>
              <a:rPr lang="en-AU" sz="1200" kern="1200" dirty="0" smtClean="0">
                <a:solidFill>
                  <a:schemeClr val="tx1"/>
                </a:solidFill>
                <a:ea typeface="+mn-ea"/>
                <a:cs typeface="+mn-cs"/>
              </a:rPr>
              <a:t> Wear only </a:t>
            </a:r>
            <a:r>
              <a:rPr lang="en-AU" sz="1200" i="1" kern="1200" dirty="0" smtClean="0">
                <a:solidFill>
                  <a:schemeClr val="tx1"/>
                </a:solidFill>
                <a:ea typeface="+mn-ea"/>
                <a:cs typeface="+mn-cs"/>
              </a:rPr>
              <a:t>coloured</a:t>
            </a:r>
            <a:r>
              <a:rPr lang="en-AU" sz="1200" kern="1200" dirty="0" smtClean="0">
                <a:solidFill>
                  <a:schemeClr val="tx1"/>
                </a:solidFill>
                <a:ea typeface="+mn-ea"/>
                <a:cs typeface="+mn-cs"/>
              </a:rPr>
              <a:t> band-aids when handling food – they are easier to identify if they fall into food</a:t>
            </a:r>
          </a:p>
          <a:p>
            <a:pPr lvl="0">
              <a:buFont typeface="Arial" pitchFamily="34" charset="0"/>
              <a:buChar char="•"/>
            </a:pPr>
            <a:r>
              <a:rPr lang="en-AU" sz="1200" kern="1200" dirty="0" smtClean="0">
                <a:solidFill>
                  <a:schemeClr val="tx1"/>
                </a:solidFill>
                <a:ea typeface="+mn-ea"/>
                <a:cs typeface="+mn-cs"/>
              </a:rPr>
              <a:t> Wear a finger stall over a bandage or dressing on a finger – to give extra protection and security</a:t>
            </a:r>
          </a:p>
          <a:p>
            <a:pPr lvl="0">
              <a:buFont typeface="Arial" pitchFamily="34" charset="0"/>
              <a:buChar char="•"/>
            </a:pPr>
            <a:r>
              <a:rPr lang="en-AU" sz="1200" kern="1200" dirty="0" smtClean="0">
                <a:solidFill>
                  <a:schemeClr val="tx1"/>
                </a:solidFill>
                <a:ea typeface="+mn-ea"/>
                <a:cs typeface="+mn-cs"/>
              </a:rPr>
              <a:t> Wear a disposable glove over a bandaid, dressing or bandage that is on the hand.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a:t>
            </a:r>
            <a:r>
              <a:rPr lang="en-AU" sz="1200" kern="1200" dirty="0" smtClean="0">
                <a:solidFill>
                  <a:schemeClr val="tx1"/>
                </a:solidFill>
                <a:ea typeface="+mn-ea"/>
                <a:cs typeface="+mn-cs"/>
              </a:rPr>
              <a:t>safe food handling requirements in relation to accepting food (‘food receipt’) deliveries from suppliers into the premises are:</a:t>
            </a:r>
          </a:p>
          <a:p>
            <a:pPr lvl="0">
              <a:buFont typeface="Arial" pitchFamily="34" charset="0"/>
              <a:buChar char="•"/>
            </a:pPr>
            <a:r>
              <a:rPr lang="en-AU" sz="1200" kern="1200" dirty="0" smtClean="0">
                <a:solidFill>
                  <a:schemeClr val="tx1"/>
                </a:solidFill>
                <a:ea typeface="+mn-ea"/>
                <a:cs typeface="+mn-cs"/>
              </a:rPr>
              <a:t> Inspect the deliveries – conduct a visual inspection of deliveries to make sure:</a:t>
            </a:r>
          </a:p>
          <a:p>
            <a:pPr lvl="1">
              <a:buFont typeface="Arial" pitchFamily="34" charset="0"/>
              <a:buChar char="•"/>
            </a:pPr>
            <a:r>
              <a:rPr lang="en-AU" sz="1200" kern="1200" dirty="0" smtClean="0">
                <a:solidFill>
                  <a:schemeClr val="tx1"/>
                </a:solidFill>
                <a:ea typeface="+mn-ea"/>
                <a:cs typeface="+mn-cs"/>
              </a:rPr>
              <a:t> The food is free from visible contamination – for example, frozen food must be hard frozen; packaging and wrapping must not be torn; the integrity of tins and packets has not been compromised and they are not leaking; the food was not delivered amongst chemicals; the food does not smell ‘off’; cans are not ‘blown’</a:t>
            </a:r>
          </a:p>
          <a:p>
            <a:pPr lvl="1">
              <a:buFont typeface="Arial" pitchFamily="34" charset="0"/>
              <a:buChar char="•"/>
            </a:pPr>
            <a:r>
              <a:rPr lang="en-AU" sz="1200" kern="1200" dirty="0" smtClean="0">
                <a:solidFill>
                  <a:schemeClr val="tx1"/>
                </a:solidFill>
                <a:ea typeface="+mn-ea"/>
                <a:cs typeface="+mn-cs"/>
              </a:rPr>
              <a:t> The delivery does not bring in pests or rodents – spiders, cockroaches, mice</a:t>
            </a:r>
          </a:p>
          <a:p>
            <a:pPr lvl="1">
              <a:buFont typeface="Arial" pitchFamily="34" charset="0"/>
              <a:buChar char="•"/>
            </a:pPr>
            <a:r>
              <a:rPr lang="en-AU" sz="1200" kern="1200" dirty="0" smtClean="0">
                <a:solidFill>
                  <a:schemeClr val="tx1"/>
                </a:solidFill>
                <a:ea typeface="+mn-ea"/>
                <a:cs typeface="+mn-cs"/>
              </a:rPr>
              <a:t> The use-by dates of the food are acceptable – reject any food delivered beyond its use-by date or where it is believed the premises will not be able to use the food delivered before it reaches its use-by date.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tell trainees about checks to be made when receiving food from suppliers in to the premises:</a:t>
            </a:r>
          </a:p>
          <a:p>
            <a:pPr lvl="0">
              <a:buFont typeface="Arial" pitchFamily="34" charset="0"/>
              <a:buChar char="•"/>
            </a:pPr>
            <a:r>
              <a:rPr lang="en-AU" sz="1200" kern="1200" dirty="0" smtClean="0">
                <a:solidFill>
                  <a:schemeClr val="tx1"/>
                </a:solidFill>
                <a:ea typeface="+mn-ea"/>
                <a:cs typeface="+mn-cs"/>
              </a:rPr>
              <a:t> Inspect the food delivery vehicle – check it is clean and is a dedicated food delivery vehicle. Food should not be delivered to food premises in private vehicles – dedicated food transport vehicles should be used</a:t>
            </a:r>
          </a:p>
          <a:p>
            <a:pPr lvl="0">
              <a:buFont typeface="Arial" pitchFamily="34" charset="0"/>
              <a:buChar char="•"/>
            </a:pPr>
            <a:r>
              <a:rPr lang="en-AU" sz="1200" kern="1200" dirty="0" smtClean="0">
                <a:solidFill>
                  <a:schemeClr val="tx1"/>
                </a:solidFill>
                <a:ea typeface="+mn-ea"/>
                <a:cs typeface="+mn-cs"/>
              </a:rPr>
              <a:t> Check the practices of the delivery driver – check things such as:</a:t>
            </a:r>
          </a:p>
          <a:p>
            <a:pPr lvl="1">
              <a:buFont typeface="Arial" pitchFamily="34" charset="0"/>
              <a:buChar char="•"/>
            </a:pPr>
            <a:r>
              <a:rPr lang="en-AU" sz="1200" kern="1200" dirty="0" smtClean="0">
                <a:solidFill>
                  <a:schemeClr val="tx1"/>
                </a:solidFill>
                <a:ea typeface="+mn-ea"/>
                <a:cs typeface="+mn-cs"/>
              </a:rPr>
              <a:t> Whether or not food is protected during the delivery process – is the delivery vehicle left unlocked during deliveries? Is food placed on the footpath? Are there chemicals mixed in amongst the food items?</a:t>
            </a:r>
          </a:p>
          <a:p>
            <a:pPr lvl="1">
              <a:buFont typeface="Arial" pitchFamily="34" charset="0"/>
              <a:buChar char="•"/>
            </a:pPr>
            <a:r>
              <a:rPr lang="en-AU" sz="1200" kern="1200" dirty="0" smtClean="0">
                <a:solidFill>
                  <a:schemeClr val="tx1"/>
                </a:solidFill>
                <a:ea typeface="+mn-ea"/>
                <a:cs typeface="+mn-cs"/>
              </a:rPr>
              <a:t> Personal hygiene of the delivery driver</a:t>
            </a:r>
          </a:p>
          <a:p>
            <a:pPr lvl="0">
              <a:buFont typeface="Arial" pitchFamily="34" charset="0"/>
              <a:buChar char="•"/>
            </a:pPr>
            <a:r>
              <a:rPr lang="en-AU" sz="1200" kern="1200" dirty="0" smtClean="0">
                <a:solidFill>
                  <a:schemeClr val="tx1"/>
                </a:solidFill>
                <a:ea typeface="+mn-ea"/>
                <a:cs typeface="+mn-cs"/>
              </a:rPr>
              <a:t> Check the temperature of the food is in accordance with the following using a properly calibrated thermometer: </a:t>
            </a:r>
          </a:p>
          <a:p>
            <a:pPr lvl="1">
              <a:buFont typeface="Arial" pitchFamily="34" charset="0"/>
              <a:buChar char="•"/>
            </a:pPr>
            <a:r>
              <a:rPr lang="en-AU" sz="1200" kern="1200" dirty="0" smtClean="0">
                <a:solidFill>
                  <a:schemeClr val="tx1"/>
                </a:solidFill>
                <a:ea typeface="+mn-ea"/>
                <a:cs typeface="+mn-cs"/>
              </a:rPr>
              <a:t> Frozen food should be hard frozen with no evidence of defrosting: - 15°C is the recommended temperature </a:t>
            </a:r>
          </a:p>
          <a:p>
            <a:pPr lvl="1">
              <a:buFont typeface="Arial" pitchFamily="34" charset="0"/>
              <a:buChar char="•"/>
            </a:pPr>
            <a:r>
              <a:rPr lang="en-AU" sz="1200" kern="1200" dirty="0" smtClean="0">
                <a:solidFill>
                  <a:schemeClr val="tx1"/>
                </a:solidFill>
                <a:ea typeface="+mn-ea"/>
                <a:cs typeface="+mn-cs"/>
              </a:rPr>
              <a:t> Hot food that is ‘potentially hazardous’ must be at 60°C or above</a:t>
            </a:r>
          </a:p>
          <a:p>
            <a:pPr lvl="1">
              <a:buFont typeface="Arial" pitchFamily="34" charset="0"/>
              <a:buChar char="•"/>
            </a:pPr>
            <a:r>
              <a:rPr lang="en-AU" sz="1200" kern="1200" dirty="0" smtClean="0">
                <a:solidFill>
                  <a:schemeClr val="tx1"/>
                </a:solidFill>
                <a:ea typeface="+mn-ea"/>
                <a:cs typeface="+mn-cs"/>
              </a:rPr>
              <a:t> Potentially hazardous refrigerated food must be at 5°C or below</a:t>
            </a:r>
          </a:p>
          <a:p>
            <a:pPr lvl="1">
              <a:buFont typeface="Arial" pitchFamily="34" charset="0"/>
              <a:buNone/>
            </a:pPr>
            <a:r>
              <a:rPr lang="en-AU" sz="1200" kern="1200" dirty="0" smtClean="0">
                <a:solidFill>
                  <a:schemeClr val="tx1"/>
                </a:solidFill>
                <a:ea typeface="+mn-ea"/>
                <a:cs typeface="+mn-cs"/>
              </a:rPr>
              <a:t>Note: potentially hazardous food may be accepted where the delivery driver can prove the combination of time </a:t>
            </a:r>
            <a:r>
              <a:rPr lang="en-AU" sz="1200" i="1" kern="1200" dirty="0" smtClean="0">
                <a:solidFill>
                  <a:schemeClr val="tx1"/>
                </a:solidFill>
                <a:ea typeface="+mn-ea"/>
                <a:cs typeface="+mn-cs"/>
              </a:rPr>
              <a:t>and</a:t>
            </a:r>
            <a:r>
              <a:rPr lang="en-AU" sz="1200" kern="1200" dirty="0" smtClean="0">
                <a:solidFill>
                  <a:schemeClr val="tx1"/>
                </a:solidFill>
                <a:ea typeface="+mn-ea"/>
                <a:cs typeface="+mn-cs"/>
              </a:rPr>
              <a:t> temperature have not adversely impacted on food safety. In general terms, if the food has been in the Temperature Danger Zone for 2 hours or longer the food should be rejected. When accepting a delivery of potentially hazardous food </a:t>
            </a:r>
            <a:r>
              <a:rPr lang="en-AU" sz="1200" b="1" kern="1200" dirty="0" smtClean="0">
                <a:solidFill>
                  <a:schemeClr val="tx1"/>
                </a:solidFill>
                <a:ea typeface="+mn-ea"/>
                <a:cs typeface="+mn-cs"/>
              </a:rPr>
              <a:t>in </a:t>
            </a:r>
            <a:r>
              <a:rPr lang="en-AU" sz="1200" kern="1200" dirty="0" smtClean="0">
                <a:solidFill>
                  <a:schemeClr val="tx1"/>
                </a:solidFill>
                <a:ea typeface="+mn-ea"/>
                <a:cs typeface="+mn-cs"/>
              </a:rPr>
              <a:t>the Temperature Danger Zone, it should be used immediately and not be subject to the standard stock rotation principle of First In, First Out.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tell trainees about checks to be made when receiving food from suppliers in to the premises:</a:t>
            </a:r>
          </a:p>
          <a:p>
            <a:pPr lvl="0">
              <a:buFont typeface="Arial" pitchFamily="34" charset="0"/>
              <a:buChar char="•"/>
            </a:pPr>
            <a:r>
              <a:rPr lang="en-AU" sz="1200" kern="1200" dirty="0" smtClean="0">
                <a:solidFill>
                  <a:schemeClr val="tx1"/>
                </a:solidFill>
                <a:ea typeface="+mn-ea"/>
                <a:cs typeface="+mn-cs"/>
              </a:rPr>
              <a:t> Check all packaged food is properly labelled with the name of the supplier, manufacturer or vendor – all food delivered into a food premises must be able to be identified to assist with food recalls and to help identify the source of problems or contamination where an outbreak of food poisoning occurs</a:t>
            </a:r>
          </a:p>
          <a:p>
            <a:pPr lvl="0">
              <a:buFont typeface="Arial" pitchFamily="34" charset="0"/>
              <a:buChar char="•"/>
            </a:pPr>
            <a:r>
              <a:rPr lang="en-AU" sz="1200" kern="1200" dirty="0" smtClean="0">
                <a:solidFill>
                  <a:schemeClr val="tx1"/>
                </a:solidFill>
                <a:ea typeface="+mn-ea"/>
                <a:cs typeface="+mn-cs"/>
              </a:rPr>
              <a:t> Store all deliveries as soon as possible after they have been delivered and checked – never leave refrigerated or frozen food lying around in the receival area as their temperature will quickly rise.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explains ‘food handling’ is any activity that involves the handling of food (including preparing, cooking, thawing, serving, displaying food), highlighting it is important these notes are read in conjunction with other food safety information provided throughout the course. </a:t>
            </a:r>
          </a:p>
          <a:p>
            <a:pPr lvl="0">
              <a:buFont typeface="Arial" pitchFamily="34" charset="0"/>
              <a:buChar char="•"/>
            </a:pPr>
            <a:r>
              <a:rPr lang="en-AU" sz="1200" kern="1200" dirty="0" smtClean="0">
                <a:solidFill>
                  <a:schemeClr val="tx1"/>
                </a:solidFill>
                <a:ea typeface="+mn-ea"/>
                <a:cs typeface="+mn-cs"/>
              </a:rPr>
              <a:t> Ensuring only safe and suitable food is processed – food unfit for consumption must not be processed. This includes foods that:</a:t>
            </a:r>
          </a:p>
          <a:p>
            <a:pPr lvl="1">
              <a:buFont typeface="Arial" pitchFamily="34" charset="0"/>
              <a:buChar char="•"/>
            </a:pPr>
            <a:r>
              <a:rPr lang="en-AU" sz="1200" kern="1200" dirty="0" smtClean="0">
                <a:solidFill>
                  <a:schemeClr val="tx1"/>
                </a:solidFill>
                <a:ea typeface="+mn-ea"/>
                <a:cs typeface="+mn-cs"/>
              </a:rPr>
              <a:t> Looks or smells ‘off’ </a:t>
            </a:r>
          </a:p>
          <a:p>
            <a:pPr lvl="1">
              <a:buFont typeface="Arial" pitchFamily="34" charset="0"/>
              <a:buChar char="•"/>
            </a:pPr>
            <a:r>
              <a:rPr lang="en-AU" sz="1200" kern="1200" dirty="0" smtClean="0">
                <a:solidFill>
                  <a:schemeClr val="tx1"/>
                </a:solidFill>
                <a:ea typeface="+mn-ea"/>
                <a:cs typeface="+mn-cs"/>
              </a:rPr>
              <a:t> Shows other signs of contamination</a:t>
            </a:r>
          </a:p>
          <a:p>
            <a:pPr lvl="1">
              <a:buFont typeface="Arial" pitchFamily="34" charset="0"/>
              <a:buChar char="•"/>
            </a:pPr>
            <a:r>
              <a:rPr lang="en-AU" sz="1200" kern="1200" dirty="0" smtClean="0">
                <a:solidFill>
                  <a:schemeClr val="tx1"/>
                </a:solidFill>
                <a:ea typeface="+mn-ea"/>
                <a:cs typeface="+mn-cs"/>
              </a:rPr>
              <a:t> Exceeds its use-by date, or food taken from a source where the integrity of the packaging has been compromised</a:t>
            </a:r>
          </a:p>
          <a:p>
            <a:pPr lvl="0">
              <a:buFont typeface="Arial" pitchFamily="34" charset="0"/>
              <a:buChar char="•"/>
            </a:pPr>
            <a:r>
              <a:rPr lang="en-AU" sz="1200" kern="1200" dirty="0" smtClean="0">
                <a:solidFill>
                  <a:schemeClr val="tx1"/>
                </a:solidFill>
                <a:ea typeface="+mn-ea"/>
                <a:cs typeface="+mn-cs"/>
              </a:rPr>
              <a:t> Protecting food being prepared from contamination – this includes preventing contamination from:</a:t>
            </a:r>
          </a:p>
          <a:p>
            <a:pPr lvl="1">
              <a:buFont typeface="Arial" pitchFamily="34" charset="0"/>
              <a:buChar char="•"/>
            </a:pPr>
            <a:r>
              <a:rPr lang="en-AU" sz="1200" kern="1200" dirty="0" smtClean="0">
                <a:solidFill>
                  <a:schemeClr val="tx1"/>
                </a:solidFill>
                <a:ea typeface="+mn-ea"/>
                <a:cs typeface="+mn-cs"/>
              </a:rPr>
              <a:t> Physical sources – such as hairs, broken glass, dead flies, dirt, dust, airborne contamination </a:t>
            </a:r>
          </a:p>
          <a:p>
            <a:pPr lvl="1">
              <a:buFont typeface="Arial" pitchFamily="34" charset="0"/>
              <a:buChar char="•"/>
            </a:pPr>
            <a:r>
              <a:rPr lang="en-AU" sz="1200" kern="1200" dirty="0" smtClean="0">
                <a:solidFill>
                  <a:schemeClr val="tx1"/>
                </a:solidFill>
                <a:ea typeface="+mn-ea"/>
                <a:cs typeface="+mn-cs"/>
              </a:rPr>
              <a:t> Chemicals – such as fly spray or the introduction of cleaning chemicals into the food</a:t>
            </a:r>
          </a:p>
          <a:p>
            <a:pPr lvl="1">
              <a:buFont typeface="Arial" pitchFamily="34" charset="0"/>
              <a:buChar char="•"/>
            </a:pPr>
            <a:r>
              <a:rPr lang="en-AU" sz="1200" kern="1200" dirty="0" smtClean="0">
                <a:solidFill>
                  <a:schemeClr val="tx1"/>
                </a:solidFill>
                <a:ea typeface="+mn-ea"/>
                <a:cs typeface="+mn-cs"/>
              </a:rPr>
              <a:t> Microbiological contamination – which may be caused by leaving potentially hazardous food in the Temperature Danger Zone for too long while it is being processed, or failing to cook food at the correct </a:t>
            </a:r>
            <a:r>
              <a:rPr lang="en-AU" sz="1200" kern="1200" dirty="0" smtClean="0">
                <a:solidFill>
                  <a:schemeClr val="tx1"/>
                </a:solidFill>
                <a:ea typeface="+mn-ea"/>
                <a:cs typeface="+mn-cs"/>
              </a:rPr>
              <a:t>temperature</a:t>
            </a:r>
            <a:endParaRPr lang="en-AU" sz="1200" kern="1200" dirty="0" smtClean="0">
              <a:solidFill>
                <a:schemeClr val="tx1"/>
              </a:solidFill>
              <a:ea typeface="+mn-ea"/>
              <a:cs typeface="+mn-cs"/>
            </a:endParaRPr>
          </a:p>
          <a:p>
            <a:pPr lvl="1">
              <a:buFont typeface="Arial" pitchFamily="34" charset="0"/>
              <a:buNone/>
            </a:pPr>
            <a:r>
              <a:rPr lang="en-AU" sz="1200" kern="1200" dirty="0" smtClean="0">
                <a:solidFill>
                  <a:schemeClr val="tx1"/>
                </a:solidFill>
                <a:ea typeface="+mn-ea"/>
                <a:cs typeface="+mn-cs"/>
              </a:rPr>
              <a:t> High risk food should reach an internal temperature of 75°C which should be verified with a thermometer</a:t>
            </a:r>
          </a:p>
          <a:p>
            <a:pPr lvl="0">
              <a:buFont typeface="Arial" pitchFamily="34" charset="0"/>
              <a:buChar char="•"/>
            </a:pPr>
            <a:r>
              <a:rPr lang="en-AU" sz="1200" kern="1200" dirty="0" smtClean="0">
                <a:solidFill>
                  <a:schemeClr val="tx1"/>
                </a:solidFill>
                <a:ea typeface="+mn-ea"/>
                <a:cs typeface="+mn-cs"/>
              </a:rPr>
              <a:t> Ensuring all fruit and vegetables are washed in a sanitising solution before being prepared</a:t>
            </a:r>
          </a:p>
          <a:p>
            <a:pPr lvl="0">
              <a:buFont typeface="Arial" pitchFamily="34" charset="0"/>
              <a:buChar char="•"/>
            </a:pPr>
            <a:r>
              <a:rPr lang="en-AU" sz="1200" kern="1200" dirty="0" smtClean="0">
                <a:solidFill>
                  <a:schemeClr val="tx1"/>
                </a:solidFill>
                <a:ea typeface="+mn-ea"/>
                <a:cs typeface="+mn-cs"/>
              </a:rPr>
              <a:t> Excluding unhealthy people from food handling and processing </a:t>
            </a:r>
            <a:r>
              <a:rPr lang="en-AU" sz="1200" kern="1200" dirty="0" smtClean="0">
                <a:solidFill>
                  <a:schemeClr val="tx1"/>
                </a:solidFill>
                <a:ea typeface="+mn-ea"/>
                <a:cs typeface="+mn-cs"/>
              </a:rPr>
              <a:t>activities.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examples of safe food handling practices:</a:t>
            </a:r>
          </a:p>
          <a:p>
            <a:pPr lvl="0">
              <a:buFont typeface="Arial" pitchFamily="34" charset="0"/>
              <a:buChar char="•"/>
            </a:pPr>
            <a:r>
              <a:rPr lang="en-AU" sz="1200" kern="1200" dirty="0" smtClean="0">
                <a:solidFill>
                  <a:schemeClr val="tx1"/>
                </a:solidFill>
                <a:ea typeface="+mn-ea"/>
                <a:cs typeface="+mn-cs"/>
              </a:rPr>
              <a:t> Using clean equipment and utensils that have been sanitised and are in proper working order – any piece of food equipment not working properly either raises OHS risks for staff or presents the possibility the food processing job it was intended to do (such as to cook food to a certain temperature, or store or display food at a certain temperature) may not be achieved thereby introducing the potential for food poisoning</a:t>
            </a:r>
          </a:p>
          <a:p>
            <a:pPr lvl="0">
              <a:buFont typeface="Arial" pitchFamily="34" charset="0"/>
              <a:buChar char="•"/>
            </a:pPr>
            <a:r>
              <a:rPr lang="en-AU" sz="1200" kern="1200" dirty="0" smtClean="0">
                <a:solidFill>
                  <a:schemeClr val="tx1"/>
                </a:solidFill>
                <a:ea typeface="+mn-ea"/>
                <a:cs typeface="+mn-cs"/>
              </a:rPr>
              <a:t> Ensuring chemicals are kept separated from food and food utensils and equipment during processing – it is a requirement that all chemicals are stored separately from food</a:t>
            </a:r>
          </a:p>
          <a:p>
            <a:pPr lvl="0">
              <a:buFont typeface="Arial" pitchFamily="34" charset="0"/>
              <a:buChar char="•"/>
            </a:pPr>
            <a:r>
              <a:rPr lang="en-AU" sz="1200" kern="1200" dirty="0" smtClean="0">
                <a:solidFill>
                  <a:schemeClr val="tx1"/>
                </a:solidFill>
                <a:ea typeface="+mn-ea"/>
                <a:cs typeface="+mn-cs"/>
              </a:rPr>
              <a:t> Keeping individual batches of processed food separate – batches of prepared food should never be mixed together (e.g. in a bain marie) as this can give rise to situations where food may remain able to be served even though it has passed its safe food date/time. Mixing batches of food also causes problems if an internal food recall is needed</a:t>
            </a:r>
          </a:p>
          <a:p>
            <a:pPr lvl="0">
              <a:buFont typeface="Arial" pitchFamily="34" charset="0"/>
              <a:buChar char="•"/>
            </a:pPr>
            <a:r>
              <a:rPr lang="en-AU" sz="1200" kern="1200" dirty="0" smtClean="0">
                <a:solidFill>
                  <a:schemeClr val="tx1"/>
                </a:solidFill>
                <a:ea typeface="+mn-ea"/>
                <a:cs typeface="+mn-cs"/>
              </a:rPr>
              <a:t> Avoiding touching food with the bare hands where that food will not be subsequently cooked – it is best practice to wear disposable gloves or to use utensils to handle all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examples of safe food handling practices:</a:t>
            </a:r>
          </a:p>
          <a:p>
            <a:pPr lvl="0">
              <a:buFont typeface="Arial" pitchFamily="34" charset="0"/>
              <a:buChar char="•"/>
            </a:pPr>
            <a:r>
              <a:rPr lang="en-AU" sz="1200" kern="1200" dirty="0" smtClean="0">
                <a:solidFill>
                  <a:schemeClr val="tx1"/>
                </a:solidFill>
                <a:ea typeface="+mn-ea"/>
                <a:cs typeface="+mn-cs"/>
              </a:rPr>
              <a:t> Using colour-coded chopping boards to reduce the likelihood of cross contamination. For examples the following colours for boards could be used as follows:</a:t>
            </a:r>
          </a:p>
          <a:p>
            <a:pPr lvl="1">
              <a:buFont typeface="Arial" pitchFamily="34" charset="0"/>
              <a:buChar char="•"/>
            </a:pPr>
            <a:r>
              <a:rPr lang="en-AU" sz="1200" kern="1200" dirty="0" smtClean="0">
                <a:solidFill>
                  <a:schemeClr val="tx1"/>
                </a:solidFill>
                <a:ea typeface="+mn-ea"/>
                <a:cs typeface="+mn-cs"/>
              </a:rPr>
              <a:t> White – for dairy products only</a:t>
            </a:r>
          </a:p>
          <a:p>
            <a:pPr lvl="1">
              <a:buFont typeface="Arial" pitchFamily="34" charset="0"/>
              <a:buChar char="•"/>
            </a:pPr>
            <a:r>
              <a:rPr lang="en-AU" sz="1200" kern="1200" dirty="0" smtClean="0">
                <a:solidFill>
                  <a:schemeClr val="tx1"/>
                </a:solidFill>
                <a:ea typeface="+mn-ea"/>
                <a:cs typeface="+mn-cs"/>
              </a:rPr>
              <a:t> Red – for raw meat only</a:t>
            </a:r>
          </a:p>
          <a:p>
            <a:pPr lvl="1">
              <a:buFont typeface="Arial" pitchFamily="34" charset="0"/>
              <a:buChar char="•"/>
            </a:pPr>
            <a:r>
              <a:rPr lang="en-AU" sz="1200" kern="1200" dirty="0" smtClean="0">
                <a:solidFill>
                  <a:schemeClr val="tx1"/>
                </a:solidFill>
                <a:ea typeface="+mn-ea"/>
                <a:cs typeface="+mn-cs"/>
              </a:rPr>
              <a:t> Blue – for seafood only</a:t>
            </a:r>
          </a:p>
          <a:p>
            <a:pPr lvl="1">
              <a:buFont typeface="Arial" pitchFamily="34" charset="0"/>
              <a:buChar char="•"/>
            </a:pPr>
            <a:r>
              <a:rPr lang="en-AU" sz="1200" kern="1200" dirty="0" smtClean="0">
                <a:solidFill>
                  <a:schemeClr val="tx1"/>
                </a:solidFill>
                <a:ea typeface="+mn-ea"/>
                <a:cs typeface="+mn-cs"/>
              </a:rPr>
              <a:t> Yellow – for poultry only</a:t>
            </a:r>
          </a:p>
          <a:p>
            <a:pPr lvl="1">
              <a:buFont typeface="Arial" pitchFamily="34" charset="0"/>
              <a:buChar char="•"/>
            </a:pPr>
            <a:r>
              <a:rPr lang="en-AU" sz="1200" kern="1200" dirty="0" smtClean="0">
                <a:solidFill>
                  <a:schemeClr val="tx1"/>
                </a:solidFill>
                <a:ea typeface="+mn-ea"/>
                <a:cs typeface="+mn-cs"/>
              </a:rPr>
              <a:t> Brown – for cooked meat only</a:t>
            </a:r>
          </a:p>
          <a:p>
            <a:pPr lvl="1">
              <a:buFont typeface="Arial" pitchFamily="34" charset="0"/>
              <a:buChar char="•"/>
            </a:pPr>
            <a:r>
              <a:rPr lang="en-AU" sz="1200" kern="1200" dirty="0" smtClean="0">
                <a:solidFill>
                  <a:schemeClr val="tx1"/>
                </a:solidFill>
                <a:ea typeface="+mn-ea"/>
                <a:cs typeface="+mn-cs"/>
              </a:rPr>
              <a:t> Green – for fruit and vegetables only</a:t>
            </a:r>
          </a:p>
          <a:p>
            <a:pPr>
              <a:buFont typeface="Arial" pitchFamily="34" charset="0"/>
              <a:buChar char="•"/>
            </a:pPr>
            <a:r>
              <a:rPr lang="en-AU" sz="1200" kern="1200" dirty="0" smtClean="0">
                <a:solidFill>
                  <a:schemeClr val="tx1"/>
                </a:solidFill>
                <a:ea typeface="+mn-ea"/>
                <a:cs typeface="+mn-cs"/>
              </a:rPr>
              <a:t> After use all boards should be scraped with a flat metal scraper and washed. Note: Polyboards can be put through the dishwasher and </a:t>
            </a:r>
            <a:r>
              <a:rPr lang="en-AU" sz="1200" kern="1200" dirty="0" smtClean="0">
                <a:solidFill>
                  <a:schemeClr val="tx1"/>
                </a:solidFill>
                <a:ea typeface="+mn-ea"/>
                <a:cs typeface="+mn-cs"/>
              </a:rPr>
              <a:t>sanitised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Wooden boards are not the preferred option but if they are used, they should be washed with hot soapy water, rinsed and </a:t>
            </a:r>
            <a:r>
              <a:rPr lang="en-AU" sz="1200" kern="1200" dirty="0" smtClean="0">
                <a:solidFill>
                  <a:schemeClr val="tx1"/>
                </a:solidFill>
                <a:ea typeface="+mn-ea"/>
                <a:cs typeface="+mn-cs"/>
              </a:rPr>
              <a:t>sanitised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All chopping boards must be replaced regularly to guard against the problems associated with cross contamination. </a:t>
            </a: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shows trainees colour-coded</a:t>
            </a:r>
            <a:r>
              <a:rPr lang="en-US" b="0" baseline="0" dirty="0" smtClean="0"/>
              <a:t> chopping boards explaining how and why they are used to prevent cross contamination, and:</a:t>
            </a:r>
          </a:p>
          <a:p>
            <a:pPr>
              <a:buFont typeface="Arial" pitchFamily="34" charset="0"/>
              <a:buChar char="•"/>
            </a:pPr>
            <a:r>
              <a:rPr lang="en-US" b="0" baseline="0" dirty="0" smtClean="0"/>
              <a:t> Demonstrates how to clean and sanitise a chopping board.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examples of safe food handling practices:</a:t>
            </a:r>
          </a:p>
          <a:p>
            <a:pPr lvl="0">
              <a:buFont typeface="Arial" pitchFamily="34" charset="0"/>
              <a:buChar char="•"/>
            </a:pPr>
            <a:r>
              <a:rPr lang="en-AU" sz="1200" kern="1200" dirty="0" smtClean="0">
                <a:solidFill>
                  <a:schemeClr val="tx1"/>
                </a:solidFill>
                <a:ea typeface="+mn-ea"/>
                <a:cs typeface="+mn-cs"/>
              </a:rPr>
              <a:t> Discarding any food dropped on the floor – never use any food after it has been dropped on the floor</a:t>
            </a:r>
          </a:p>
          <a:p>
            <a:pPr lvl="0">
              <a:buFont typeface="Arial" pitchFamily="34" charset="0"/>
              <a:buChar char="•"/>
            </a:pPr>
            <a:r>
              <a:rPr lang="en-AU" sz="1200" kern="1200" dirty="0" smtClean="0">
                <a:solidFill>
                  <a:schemeClr val="tx1"/>
                </a:solidFill>
                <a:ea typeface="+mn-ea"/>
                <a:cs typeface="+mn-cs"/>
              </a:rPr>
              <a:t> Washing and sanitising any food handling tool, implement or utensil that has been dropped on the floor before re-using it</a:t>
            </a:r>
          </a:p>
          <a:p>
            <a:pPr lvl="0">
              <a:buFont typeface="Arial" pitchFamily="34" charset="0"/>
              <a:buChar char="•"/>
            </a:pPr>
            <a:r>
              <a:rPr lang="en-AU" sz="1200" kern="1200" dirty="0" smtClean="0">
                <a:solidFill>
                  <a:schemeClr val="tx1"/>
                </a:solidFill>
                <a:ea typeface="+mn-ea"/>
                <a:cs typeface="+mn-cs"/>
              </a:rPr>
              <a:t> Avoiding coughing or sneezing over food or food preparation utensils, equipment or surfaces</a:t>
            </a:r>
          </a:p>
          <a:p>
            <a:pPr lvl="0">
              <a:buFont typeface="Arial" pitchFamily="34" charset="0"/>
              <a:buChar char="•"/>
            </a:pPr>
            <a:r>
              <a:rPr lang="en-AU" sz="1200" kern="1200" dirty="0" smtClean="0">
                <a:solidFill>
                  <a:schemeClr val="tx1"/>
                </a:solidFill>
                <a:ea typeface="+mn-ea"/>
                <a:cs typeface="+mn-cs"/>
              </a:rPr>
              <a:t> Using a tasting spoon to taste dishes – never use any utensil to taste food and then replace it in the dish/pot, or use it for stirring.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examples of safe food handling practices with reference to de-frosting (‘thawing’) stating </a:t>
            </a:r>
            <a:r>
              <a:rPr lang="en-AU" dirty="0" smtClean="0"/>
              <a:t>frozen</a:t>
            </a:r>
            <a:r>
              <a:rPr lang="en-AU" sz="1200" kern="1200" dirty="0" smtClean="0">
                <a:solidFill>
                  <a:schemeClr val="tx1"/>
                </a:solidFill>
                <a:ea typeface="+mn-ea"/>
                <a:cs typeface="+mn-cs"/>
              </a:rPr>
              <a:t> food must be thawed before use indicating there are only three acceptable ways to thaw food:</a:t>
            </a:r>
          </a:p>
          <a:p>
            <a:pPr lvl="0">
              <a:buFont typeface="Arial" pitchFamily="34" charset="0"/>
              <a:buChar char="•"/>
            </a:pPr>
            <a:r>
              <a:rPr lang="en-AU" sz="1200" kern="1200" dirty="0" smtClean="0">
                <a:solidFill>
                  <a:schemeClr val="tx1"/>
                </a:solidFill>
                <a:ea typeface="+mn-ea"/>
                <a:cs typeface="+mn-cs"/>
              </a:rPr>
              <a:t> In a refrigerator</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coolroom – large pieces of meat may take two to three days to defrost so planning ahead is vital: this is the preferred method of thawing as the food is always out of Temperature Danger Zone</a:t>
            </a:r>
          </a:p>
          <a:p>
            <a:pPr lvl="0">
              <a:buFont typeface="Arial" pitchFamily="34" charset="0"/>
              <a:buChar char="•"/>
            </a:pPr>
            <a:r>
              <a:rPr lang="en-AU" sz="1200" kern="1200" dirty="0" smtClean="0">
                <a:solidFill>
                  <a:schemeClr val="tx1"/>
                </a:solidFill>
                <a:ea typeface="+mn-ea"/>
                <a:cs typeface="+mn-cs"/>
              </a:rPr>
              <a:t> If pressed for time, use a microwave to defrost, moving pieces of food during the procedure – food should be immediately cooked once taken from the microwave after defrosting</a:t>
            </a:r>
          </a:p>
          <a:p>
            <a:pPr lvl="0">
              <a:buFont typeface="Arial" pitchFamily="34" charset="0"/>
              <a:buChar char="•"/>
            </a:pPr>
            <a:r>
              <a:rPr lang="en-AU" sz="1200" kern="1200" dirty="0" smtClean="0">
                <a:solidFill>
                  <a:schemeClr val="tx1"/>
                </a:solidFill>
                <a:ea typeface="+mn-ea"/>
                <a:cs typeface="+mn-cs"/>
              </a:rPr>
              <a:t> Run the item under cold water (less than 20°C) – only suitable for small portions or small items. </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Trainer further notes:</a:t>
            </a:r>
          </a:p>
          <a:p>
            <a:pPr>
              <a:buFont typeface="Arial" pitchFamily="34" charset="0"/>
              <a:buChar char="•"/>
            </a:pPr>
            <a:r>
              <a:rPr lang="en-AU" sz="1200" kern="1200" dirty="0" smtClean="0">
                <a:solidFill>
                  <a:schemeClr val="tx1"/>
                </a:solidFill>
                <a:ea typeface="+mn-ea"/>
                <a:cs typeface="+mn-cs"/>
              </a:rPr>
              <a:t> All meats should be cooked immediately after thawing </a:t>
            </a:r>
          </a:p>
          <a:p>
            <a:pPr>
              <a:buFont typeface="Arial" pitchFamily="34" charset="0"/>
              <a:buChar char="•"/>
            </a:pPr>
            <a:r>
              <a:rPr lang="en-AU" sz="1200" kern="1200" dirty="0" smtClean="0">
                <a:solidFill>
                  <a:schemeClr val="tx1"/>
                </a:solidFill>
                <a:ea typeface="+mn-ea"/>
                <a:cs typeface="+mn-cs"/>
              </a:rPr>
              <a:t> It is </a:t>
            </a:r>
            <a:r>
              <a:rPr lang="en-AU" sz="1200" b="1" kern="1200" dirty="0" smtClean="0">
                <a:solidFill>
                  <a:schemeClr val="tx1"/>
                </a:solidFill>
                <a:ea typeface="+mn-ea"/>
                <a:cs typeface="+mn-cs"/>
              </a:rPr>
              <a:t>not acceptable</a:t>
            </a:r>
            <a:r>
              <a:rPr lang="en-AU" sz="1200" kern="1200" dirty="0" smtClean="0">
                <a:solidFill>
                  <a:schemeClr val="tx1"/>
                </a:solidFill>
                <a:ea typeface="+mn-ea"/>
                <a:cs typeface="+mn-cs"/>
              </a:rPr>
              <a:t> to thaw items out by placing them in a bowl or sink of water</a:t>
            </a:r>
          </a:p>
          <a:p>
            <a:pPr>
              <a:buFont typeface="Arial" pitchFamily="34" charset="0"/>
              <a:buChar char="•"/>
            </a:pPr>
            <a:r>
              <a:rPr lang="en-AU" sz="1200" kern="1200" dirty="0" smtClean="0">
                <a:solidFill>
                  <a:schemeClr val="tx1"/>
                </a:solidFill>
                <a:ea typeface="+mn-ea"/>
                <a:cs typeface="+mn-cs"/>
              </a:rPr>
              <a:t> De-frosted foods must not be frozen again</a:t>
            </a:r>
            <a:r>
              <a:rPr lang="en-AU"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‘storing of food’ explaining this refers to the storage of food in the premises after it has been delivered, and before it is processed or cooked.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the three food storage options: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Dry goods store – the </a:t>
            </a:r>
            <a:r>
              <a:rPr lang="en-AU" sz="1200" kern="1200" dirty="0" smtClean="0">
                <a:solidFill>
                  <a:schemeClr val="tx1"/>
                </a:solidFill>
                <a:ea typeface="+mn-ea"/>
                <a:cs typeface="+mn-cs"/>
              </a:rPr>
              <a:t>dry goods store is a non-refrigerated store where canned and dried food is kept. It may be room-size, a variety of cupboards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or a pantry. Shelves are commonly used to store dry food goods</a:t>
            </a:r>
            <a:endParaRPr lang="en-US" dirty="0" smtClean="0"/>
          </a:p>
          <a:p>
            <a:pPr>
              <a:buFont typeface="Arial" pitchFamily="34" charset="0"/>
              <a:buChar char="•"/>
            </a:pPr>
            <a:r>
              <a:rPr lang="en-US" dirty="0" smtClean="0"/>
              <a:t> Refrigerated storage – </a:t>
            </a:r>
            <a:r>
              <a:rPr lang="en-AU" sz="1200" kern="1200" dirty="0" smtClean="0">
                <a:solidFill>
                  <a:schemeClr val="tx1"/>
                </a:solidFill>
                <a:ea typeface="+mn-ea"/>
                <a:cs typeface="+mn-cs"/>
              </a:rPr>
              <a:t>is used for fruit and vegetables, dairy products, meat and all other potentially hazardous foods. Refrigerated storage may occur using coolrooms, under-counter refrigeration units or domestic refrigerators</a:t>
            </a:r>
          </a:p>
          <a:p>
            <a:pPr>
              <a:buFont typeface="Arial" pitchFamily="34" charset="0"/>
              <a:buChar char="•"/>
            </a:pPr>
            <a:r>
              <a:rPr lang="en-US" dirty="0" smtClean="0"/>
              <a:t> Frozen storage – freezers </a:t>
            </a:r>
            <a:r>
              <a:rPr lang="en-AU" sz="1200" kern="1200" dirty="0" smtClean="0">
                <a:solidFill>
                  <a:schemeClr val="tx1"/>
                </a:solidFill>
                <a:ea typeface="+mn-ea"/>
                <a:cs typeface="+mn-cs"/>
              </a:rPr>
              <a:t>are used to store frozen produce. Freezers may be chest type, up-right, or walk-in, but they must be maintained such that the food remains hard frozen (recommended temperature is -15°C). Every time the freezer is used, it should be standard practice to visually check the temperature gauge and notify management where there is a problem – do not overload freezers as it takes too long for the middle of products to freeze.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arranges for trainees to visit a food premises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Talk to management and staff about their safe food handling practices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View the food storage, preparation and service areas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Observe staff practices relating to food handling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Look at workplace food safety records maintained by the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basic storage requirements:</a:t>
            </a:r>
          </a:p>
          <a:p>
            <a:pPr lvl="0">
              <a:buFont typeface="Arial" pitchFamily="34" charset="0"/>
              <a:buChar char="•"/>
            </a:pPr>
            <a:r>
              <a:rPr lang="en-AU" sz="1200" kern="1200" dirty="0" smtClean="0">
                <a:solidFill>
                  <a:schemeClr val="tx1"/>
                </a:solidFill>
                <a:ea typeface="+mn-ea"/>
                <a:cs typeface="+mn-cs"/>
              </a:rPr>
              <a:t> Use food grade materials to store food susceptible to contamination – such as stainless steel</a:t>
            </a:r>
          </a:p>
          <a:p>
            <a:pPr lvl="0">
              <a:buFont typeface="Arial" pitchFamily="34" charset="0"/>
              <a:buChar char="•"/>
            </a:pPr>
            <a:r>
              <a:rPr lang="en-AU" sz="1200" kern="1200" dirty="0" smtClean="0">
                <a:solidFill>
                  <a:schemeClr val="tx1"/>
                </a:solidFill>
                <a:ea typeface="+mn-ea"/>
                <a:cs typeface="+mn-cs"/>
              </a:rPr>
              <a:t> Cover food in storage – to protect it from contamination</a:t>
            </a:r>
          </a:p>
          <a:p>
            <a:pPr lvl="0">
              <a:buFont typeface="Arial" pitchFamily="34" charset="0"/>
              <a:buChar char="•"/>
            </a:pPr>
            <a:r>
              <a:rPr lang="en-AU" sz="1200" kern="1200" dirty="0" smtClean="0">
                <a:solidFill>
                  <a:schemeClr val="tx1"/>
                </a:solidFill>
                <a:ea typeface="+mn-ea"/>
                <a:cs typeface="+mn-cs"/>
              </a:rPr>
              <a:t> Rotate stock to ensure it is used in the correct sequence – the method used for most food is called ‘First In, First Out’ (see later slide): any food exceeding its use-by date must be thrown out</a:t>
            </a:r>
          </a:p>
          <a:p>
            <a:pPr lvl="0">
              <a:buFont typeface="Arial" pitchFamily="34" charset="0"/>
              <a:buChar char="•"/>
            </a:pPr>
            <a:r>
              <a:rPr lang="en-AU" sz="1200" kern="1200" dirty="0" smtClean="0">
                <a:solidFill>
                  <a:schemeClr val="tx1"/>
                </a:solidFill>
                <a:ea typeface="+mn-ea"/>
                <a:cs typeface="+mn-cs"/>
              </a:rPr>
              <a:t> Keep all storage areas and equipment clean</a:t>
            </a:r>
          </a:p>
          <a:p>
            <a:pPr lvl="0">
              <a:buFont typeface="Arial" pitchFamily="34" charset="0"/>
              <a:buChar char="•"/>
            </a:pPr>
            <a:r>
              <a:rPr lang="en-AU" sz="1200" kern="1200" dirty="0" smtClean="0">
                <a:solidFill>
                  <a:schemeClr val="tx1"/>
                </a:solidFill>
                <a:ea typeface="+mn-ea"/>
                <a:cs typeface="+mn-cs"/>
              </a:rPr>
              <a:t> Never store food (including packaged food) directly on the floor – use shelves</a:t>
            </a:r>
          </a:p>
          <a:p>
            <a:pPr lvl="0">
              <a:buFont typeface="Arial" pitchFamily="34" charset="0"/>
              <a:buChar char="•"/>
            </a:pPr>
            <a:r>
              <a:rPr lang="en-AU" sz="1200" kern="1200" dirty="0" smtClean="0">
                <a:solidFill>
                  <a:schemeClr val="tx1"/>
                </a:solidFill>
                <a:ea typeface="+mn-ea"/>
                <a:cs typeface="+mn-cs"/>
              </a:rPr>
              <a:t> Ensure pests and rodents are excluded from food storage areas – conduct a regular (at least weekly inspection to check this, and take appropriate action when evidence of pests or rodents is discovered).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regarding storage requirements for dry goods store:</a:t>
            </a:r>
          </a:p>
          <a:p>
            <a:pPr lvl="0">
              <a:buFont typeface="Arial" pitchFamily="34" charset="0"/>
              <a:buChar char="•"/>
            </a:pPr>
            <a:r>
              <a:rPr lang="en-AU" sz="1200" kern="1200" dirty="0" smtClean="0">
                <a:solidFill>
                  <a:schemeClr val="tx1"/>
                </a:solidFill>
                <a:ea typeface="+mn-ea"/>
                <a:cs typeface="+mn-cs"/>
              </a:rPr>
              <a:t> The area is fly- and vermin-proof – to minimise contamination by pests</a:t>
            </a:r>
          </a:p>
          <a:p>
            <a:pPr lvl="0">
              <a:buFont typeface="Arial" pitchFamily="34" charset="0"/>
              <a:buChar char="•"/>
            </a:pPr>
            <a:r>
              <a:rPr lang="en-AU" sz="1200" kern="1200" dirty="0" smtClean="0">
                <a:solidFill>
                  <a:schemeClr val="tx1"/>
                </a:solidFill>
                <a:ea typeface="+mn-ea"/>
                <a:cs typeface="+mn-cs"/>
              </a:rPr>
              <a:t> It is well ventilated and lit – to deter pests and to allow staff to see what they are doing and identify and remedy spillages and vermin</a:t>
            </a:r>
          </a:p>
          <a:p>
            <a:pPr lvl="0">
              <a:buFont typeface="Arial" pitchFamily="34" charset="0"/>
              <a:buChar char="•"/>
            </a:pPr>
            <a:r>
              <a:rPr lang="en-AU" sz="1200" kern="1200" dirty="0" smtClean="0">
                <a:solidFill>
                  <a:schemeClr val="tx1"/>
                </a:solidFill>
                <a:ea typeface="+mn-ea"/>
                <a:cs typeface="+mn-cs"/>
              </a:rPr>
              <a:t> It is never overstocked – excess stock costs money, clutters things up, and increases the chance of out-of-date stock </a:t>
            </a:r>
          </a:p>
          <a:p>
            <a:pPr lvl="0">
              <a:buFont typeface="Arial" pitchFamily="34" charset="0"/>
              <a:buChar char="•"/>
            </a:pPr>
            <a:r>
              <a:rPr lang="en-AU" sz="1200" kern="1200" dirty="0" smtClean="0">
                <a:solidFill>
                  <a:schemeClr val="tx1"/>
                </a:solidFill>
                <a:ea typeface="+mn-ea"/>
                <a:cs typeface="+mn-cs"/>
              </a:rPr>
              <a:t> It is fitted with doors making a proper fit when fully closed – to help exclude pests.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regarding dry goods storage:</a:t>
            </a:r>
          </a:p>
          <a:p>
            <a:pPr lvl="0">
              <a:buFont typeface="Arial" pitchFamily="34" charset="0"/>
              <a:buChar char="•"/>
            </a:pPr>
            <a:r>
              <a:rPr lang="en-AU" sz="1200" kern="1200" dirty="0" smtClean="0">
                <a:solidFill>
                  <a:schemeClr val="tx1"/>
                </a:solidFill>
                <a:ea typeface="+mn-ea"/>
                <a:cs typeface="+mn-cs"/>
              </a:rPr>
              <a:t> The lowest shelf is sufficiently far enough above floor level to enable air circulation around goods, and allow mops and brooms to get under the shelves when cleaning is required</a:t>
            </a:r>
          </a:p>
          <a:p>
            <a:pPr lvl="0">
              <a:buFont typeface="Arial" pitchFamily="34" charset="0"/>
              <a:buChar char="•"/>
            </a:pPr>
            <a:r>
              <a:rPr lang="en-AU" sz="1200" kern="1200" dirty="0" smtClean="0">
                <a:solidFill>
                  <a:schemeClr val="tx1"/>
                </a:solidFill>
                <a:ea typeface="+mn-ea"/>
                <a:cs typeface="+mn-cs"/>
              </a:rPr>
              <a:t> Bulk food containers are made from food grade materials and have tight-fitting lids – plastic garbage bins are not permitted to be used for food storage as they are liable to splitting, do not have a smooth internal surface to facilitate cleaning and do not protect sufficiently against mice and rats</a:t>
            </a:r>
          </a:p>
          <a:p>
            <a:pPr lvl="0">
              <a:buFont typeface="Arial" pitchFamily="34" charset="0"/>
              <a:buChar char="•"/>
            </a:pPr>
            <a:r>
              <a:rPr lang="en-AU" sz="1200" kern="1200" dirty="0" smtClean="0">
                <a:solidFill>
                  <a:schemeClr val="tx1"/>
                </a:solidFill>
                <a:ea typeface="+mn-ea"/>
                <a:cs typeface="+mn-cs"/>
              </a:rPr>
              <a:t> Food storage containers are cleaned and sanitised before being re-used or re-filled – to guard against batch-mixing</a:t>
            </a:r>
          </a:p>
          <a:p>
            <a:pPr lvl="0">
              <a:buFont typeface="Arial" pitchFamily="34" charset="0"/>
              <a:buChar char="•"/>
            </a:pPr>
            <a:r>
              <a:rPr lang="en-AU" sz="1200" kern="1200" dirty="0" smtClean="0">
                <a:solidFill>
                  <a:schemeClr val="tx1"/>
                </a:solidFill>
                <a:ea typeface="+mn-ea"/>
                <a:cs typeface="+mn-cs"/>
              </a:rPr>
              <a:t> Any canned, tinned or bottled food must be transferred to an appropriate container and refrigerated once the container has been opened – it is not acceptable (for example) to open a can, use half the contents and then return the open can to dry storage. The food must be transferred to a plastic or stainless steel (or other appropriate) container and then placed in the refrigerator.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direction to trainees regarding use of refrigerated food storage units stating they must ensure:</a:t>
            </a:r>
          </a:p>
          <a:p>
            <a:pPr lvl="0">
              <a:buFont typeface="Arial" pitchFamily="34" charset="0"/>
              <a:buChar char="•"/>
            </a:pPr>
            <a:r>
              <a:rPr lang="en-AU" sz="1200" kern="1200" dirty="0" smtClean="0">
                <a:solidFill>
                  <a:schemeClr val="tx1"/>
                </a:solidFill>
                <a:ea typeface="+mn-ea"/>
                <a:cs typeface="+mn-cs"/>
              </a:rPr>
              <a:t> The temperature is kept at 5°C or below and is checked with an independent calibrated thermometer – checks must be done at least once per day.  The maximum time high risk foods should be stored at 5°C or below is 7 days. Foods should be eaten within this time or discarded. Where the temperature is 3°C or less, this time could extend beyond 7 days</a:t>
            </a:r>
          </a:p>
          <a:p>
            <a:pPr lvl="0">
              <a:buFont typeface="Arial" pitchFamily="34" charset="0"/>
              <a:buChar char="•"/>
            </a:pPr>
            <a:r>
              <a:rPr lang="en-AU" sz="1200" kern="1200" dirty="0" smtClean="0">
                <a:solidFill>
                  <a:schemeClr val="tx1"/>
                </a:solidFill>
                <a:ea typeface="+mn-ea"/>
                <a:cs typeface="+mn-cs"/>
              </a:rPr>
              <a:t> The coolroom</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refrigerator door is closed between uses and an effort made to minimise opening times by planning openings – an open door raises the temperature and makes the unit more expensive to operate</a:t>
            </a:r>
          </a:p>
          <a:p>
            <a:pPr lvl="0">
              <a:buFont typeface="Arial" pitchFamily="34" charset="0"/>
              <a:buChar char="•"/>
            </a:pPr>
            <a:r>
              <a:rPr lang="en-AU" sz="1200" kern="1200" dirty="0" smtClean="0">
                <a:solidFill>
                  <a:schemeClr val="tx1"/>
                </a:solidFill>
                <a:ea typeface="+mn-ea"/>
                <a:cs typeface="+mn-cs"/>
              </a:rPr>
              <a:t> The cool room is not overcrowded – to enable air to circulate freely around food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to</a:t>
            </a:r>
            <a:r>
              <a:rPr lang="en-US" baseline="0" dirty="0" smtClean="0"/>
              <a:t> trainees in relation to use of refrigerated storage:</a:t>
            </a:r>
          </a:p>
          <a:p>
            <a:pPr lvl="0">
              <a:buFont typeface="Arial" pitchFamily="34" charset="0"/>
              <a:buChar char="•"/>
            </a:pPr>
            <a:r>
              <a:rPr lang="en-AU" sz="1200" kern="1200" dirty="0" smtClean="0">
                <a:solidFill>
                  <a:schemeClr val="tx1"/>
                </a:solidFill>
                <a:ea typeface="+mn-ea"/>
                <a:cs typeface="+mn-cs"/>
              </a:rPr>
              <a:t> Food loads put into the coolroom</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refrigerator are broken down into smaller units to enable faster cooling – where large units of food are placed in the refrigerator it takes a lot longer for the core of the food to move out of the Temperature Danger </a:t>
            </a:r>
            <a:r>
              <a:rPr lang="en-AU" sz="1200" kern="1200" dirty="0" smtClean="0">
                <a:solidFill>
                  <a:schemeClr val="tx1"/>
                </a:solidFill>
                <a:ea typeface="+mn-ea"/>
                <a:cs typeface="+mn-cs"/>
              </a:rPr>
              <a:t>Zone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Hot foods should be allowed to cool (for example, by placing the food in pots and then into tubs full of a water-ice mixture) before being placed in the cool room. Frequent stirring of the food will help it to cool quicker. The ‘Two-step rule’ for cooling hot foods must be complied with – see later </a:t>
            </a:r>
            <a:r>
              <a:rPr lang="en-AU" sz="1200" kern="1200" dirty="0" smtClean="0">
                <a:solidFill>
                  <a:schemeClr val="tx1"/>
                </a:solidFill>
                <a:ea typeface="+mn-ea"/>
                <a:cs typeface="+mn-cs"/>
              </a:rPr>
              <a:t>slide</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 All food is covered and protected from contamination – plastic film with a label attached to identify the food and date it was placed under refrigeration should be used</a:t>
            </a:r>
          </a:p>
          <a:p>
            <a:pPr lvl="0">
              <a:buFont typeface="Arial" pitchFamily="34" charset="0"/>
              <a:buChar char="•"/>
            </a:pPr>
            <a:r>
              <a:rPr lang="en-AU" sz="1200" kern="1200" dirty="0" smtClean="0">
                <a:solidFill>
                  <a:schemeClr val="tx1"/>
                </a:solidFill>
                <a:ea typeface="+mn-ea"/>
                <a:cs typeface="+mn-cs"/>
              </a:rPr>
              <a:t> Potentially hazardous raw food is separated from cooked or ready-to-eat foods – this is to prevent cross contamination.  Never store potentially hazardous raw food above cooked or ready-to-eat foods as there is the potential for raw blood or juice to drip down onto the food below.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direction to trainees regarding use of frozen food storage units (freezers) stating they must ensure:</a:t>
            </a:r>
          </a:p>
          <a:p>
            <a:pPr lvl="0">
              <a:buFont typeface="Arial" pitchFamily="34" charset="0"/>
              <a:buChar char="•"/>
            </a:pPr>
            <a:r>
              <a:rPr lang="en-AU" sz="1200" kern="1200" dirty="0" smtClean="0">
                <a:solidFill>
                  <a:schemeClr val="tx1"/>
                </a:solidFill>
                <a:ea typeface="+mn-ea"/>
                <a:cs typeface="+mn-cs"/>
              </a:rPr>
              <a:t> Hot food is never frozen – cool it first following the two-step rule for cooling hot food (see Section 1.5)</a:t>
            </a:r>
          </a:p>
          <a:p>
            <a:pPr lvl="0">
              <a:buFont typeface="Arial" pitchFamily="34" charset="0"/>
              <a:buChar char="•"/>
            </a:pPr>
            <a:r>
              <a:rPr lang="en-AU" sz="1200" kern="1200" dirty="0" smtClean="0">
                <a:solidFill>
                  <a:schemeClr val="tx1"/>
                </a:solidFill>
                <a:ea typeface="+mn-ea"/>
                <a:cs typeface="+mn-cs"/>
              </a:rPr>
              <a:t> Thawed items must never be refrozen – once de-frosted, food should be used or thrown out</a:t>
            </a:r>
          </a:p>
          <a:p>
            <a:pPr lvl="0">
              <a:buFont typeface="Arial" pitchFamily="34" charset="0"/>
              <a:buChar char="•"/>
            </a:pPr>
            <a:r>
              <a:rPr lang="en-AU" sz="1200" kern="1200" dirty="0" smtClean="0">
                <a:solidFill>
                  <a:schemeClr val="tx1"/>
                </a:solidFill>
                <a:ea typeface="+mn-ea"/>
                <a:cs typeface="+mn-cs"/>
              </a:rPr>
              <a:t> Freezers are defrosted regularly – to maintain operating effectiveness and encourage turnover of items </a:t>
            </a:r>
          </a:p>
          <a:p>
            <a:pPr lvl="0">
              <a:buFont typeface="Arial" pitchFamily="34" charset="0"/>
              <a:buChar char="•"/>
            </a:pPr>
            <a:r>
              <a:rPr lang="en-AU" sz="1200" kern="1200" dirty="0" smtClean="0">
                <a:solidFill>
                  <a:schemeClr val="tx1"/>
                </a:solidFill>
                <a:ea typeface="+mn-ea"/>
                <a:cs typeface="+mn-cs"/>
              </a:rPr>
              <a:t> Freezer doors are kept closed when the freezer is not in use – to keep cold air </a:t>
            </a:r>
            <a:r>
              <a:rPr lang="en-AU" sz="1200" kern="1200" dirty="0" smtClean="0">
                <a:solidFill>
                  <a:schemeClr val="tx1"/>
                </a:solidFill>
                <a:ea typeface="+mn-ea"/>
                <a:cs typeface="+mn-cs"/>
              </a:rPr>
              <a:t>in.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regarding use of freezers to store food:</a:t>
            </a:r>
          </a:p>
          <a:p>
            <a:pPr lvl="0">
              <a:buFont typeface="Arial" pitchFamily="34" charset="0"/>
              <a:buChar char="•"/>
            </a:pPr>
            <a:r>
              <a:rPr lang="en-AU" sz="1200" kern="1200" dirty="0" smtClean="0">
                <a:solidFill>
                  <a:schemeClr val="tx1"/>
                </a:solidFill>
                <a:ea typeface="+mn-ea"/>
                <a:cs typeface="+mn-cs"/>
              </a:rPr>
              <a:t> Freezer temperature is be checked at least daily – to ensure correct operating temperature</a:t>
            </a:r>
          </a:p>
          <a:p>
            <a:pPr lvl="0">
              <a:buFont typeface="Arial" pitchFamily="34" charset="0"/>
              <a:buChar char="•"/>
            </a:pPr>
            <a:r>
              <a:rPr lang="en-AU" sz="1200" kern="1200" dirty="0" smtClean="0">
                <a:solidFill>
                  <a:schemeClr val="tx1"/>
                </a:solidFill>
                <a:ea typeface="+mn-ea"/>
                <a:cs typeface="+mn-cs"/>
              </a:rPr>
              <a:t> Large pieces or amounts of food are not frozen as this encourages others to defrost the item and then re-freeze it – in practice this means freezing slices of meat rather than  slabs of meat, and using shallow storage containers rather than deep ones to freeze food</a:t>
            </a:r>
          </a:p>
          <a:p>
            <a:pPr lvl="0">
              <a:buFont typeface="Arial" pitchFamily="34" charset="0"/>
              <a:buChar char="•"/>
            </a:pPr>
            <a:r>
              <a:rPr lang="en-AU" sz="1200" kern="1200" dirty="0" smtClean="0">
                <a:solidFill>
                  <a:schemeClr val="tx1"/>
                </a:solidFill>
                <a:ea typeface="+mn-ea"/>
                <a:cs typeface="+mn-cs"/>
              </a:rPr>
              <a:t> Manufacturer’s instructions regarding the storage of frozen food products are followed – these may relate to storage temperatures and the length of time the product can be stored (for quality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or safety reasons).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instructs trainees proper stock rotation is also an important element of safe food handling indicating:</a:t>
            </a:r>
          </a:p>
          <a:p>
            <a:pPr>
              <a:buFont typeface="Arial" pitchFamily="34" charset="0"/>
              <a:buChar char="•"/>
            </a:pPr>
            <a:r>
              <a:rPr lang="en-AU" sz="1200" kern="1200" dirty="0" smtClean="0">
                <a:solidFill>
                  <a:schemeClr val="tx1"/>
                </a:solidFill>
                <a:ea typeface="+mn-ea"/>
                <a:cs typeface="+mn-cs"/>
              </a:rPr>
              <a:t> Effective stock rotation for foods means using the FIFO approach to stock rotation – First In, First Out. This method requires food to be used/served in the order it was delivered meaning the foods in stock the longest are used first. In practice this means when storing food:</a:t>
            </a:r>
          </a:p>
          <a:p>
            <a:pPr lvl="1">
              <a:buFont typeface="Arial" pitchFamily="34" charset="0"/>
              <a:buChar char="•"/>
            </a:pPr>
            <a:r>
              <a:rPr lang="en-AU" sz="1200" kern="1200" dirty="0" smtClean="0">
                <a:solidFill>
                  <a:schemeClr val="tx1"/>
                </a:solidFill>
                <a:ea typeface="+mn-ea"/>
                <a:cs typeface="+mn-cs"/>
              </a:rPr>
              <a:t> Old</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existing stock must be moved forward on the shelf and the newly delivered stock must be placed behind it – this allows the stock at the front (the oldest stock) to be used before the newer stock</a:t>
            </a:r>
          </a:p>
          <a:p>
            <a:pPr lvl="1">
              <a:buFont typeface="Arial" pitchFamily="34" charset="0"/>
              <a:buChar char="•"/>
            </a:pPr>
            <a:r>
              <a:rPr lang="en-AU" sz="1200" kern="1200" dirty="0" smtClean="0">
                <a:solidFill>
                  <a:schemeClr val="tx1"/>
                </a:solidFill>
                <a:ea typeface="+mn-ea"/>
                <a:cs typeface="+mn-cs"/>
              </a:rPr>
              <a:t> Existing product in a chest freezer should be removed and the new stock placed at the bottom of the freezer – the existing/old stock is then replaced in the freezer on top of the newer stock</a:t>
            </a:r>
          </a:p>
          <a:p>
            <a:pPr lvl="1">
              <a:buFont typeface="Arial" pitchFamily="34" charset="0"/>
              <a:buChar char="•"/>
            </a:pPr>
            <a:r>
              <a:rPr lang="en-AU" sz="1200" kern="1200" dirty="0" smtClean="0">
                <a:solidFill>
                  <a:schemeClr val="tx1"/>
                </a:solidFill>
                <a:ea typeface="+mn-ea"/>
                <a:cs typeface="+mn-cs"/>
              </a:rPr>
              <a:t> Check use-by dates of products – and store them so the nearest date is at the front so it will be used first. </a:t>
            </a:r>
          </a:p>
          <a:p>
            <a:pPr>
              <a:buFont typeface="Arial" pitchFamily="34" charset="0"/>
              <a:buNone/>
            </a:pPr>
            <a:endParaRPr lang="en-US" dirty="0" smtClean="0"/>
          </a:p>
          <a:p>
            <a:pPr>
              <a:buFont typeface="Arial" pitchFamily="34" charset="0"/>
              <a:buNone/>
            </a:pPr>
            <a:r>
              <a:rPr lang="en-US" b="1" dirty="0" smtClean="0"/>
              <a:t>Class Activity – Demonstration </a:t>
            </a:r>
          </a:p>
          <a:p>
            <a:pPr>
              <a:buFont typeface="Arial" pitchFamily="34" charset="0"/>
              <a:buNone/>
            </a:pPr>
            <a:r>
              <a:rPr lang="en-US" b="0" dirty="0" smtClean="0"/>
              <a:t>Trainer shows trainees how to rotate stock in accordance with FIFO method of stock rotation, using:</a:t>
            </a:r>
          </a:p>
          <a:p>
            <a:pPr>
              <a:buFont typeface="Arial" pitchFamily="34" charset="0"/>
              <a:buChar char="•"/>
            </a:pPr>
            <a:r>
              <a:rPr lang="en-US" b="0" dirty="0" smtClean="0"/>
              <a:t> Food on shelves</a:t>
            </a:r>
          </a:p>
          <a:p>
            <a:pPr>
              <a:buFont typeface="Arial" pitchFamily="34" charset="0"/>
              <a:buChar char="•"/>
            </a:pPr>
            <a:r>
              <a:rPr lang="en-US" b="0" dirty="0" smtClean="0"/>
              <a:t> Food in coolroom</a:t>
            </a:r>
          </a:p>
          <a:p>
            <a:pPr>
              <a:buFont typeface="Arial" pitchFamily="34" charset="0"/>
              <a:buChar char="•"/>
            </a:pPr>
            <a:r>
              <a:rPr lang="en-US" b="0" dirty="0" smtClean="0"/>
              <a:t> Food</a:t>
            </a:r>
            <a:r>
              <a:rPr lang="en-US" b="0" baseline="0" dirty="0" smtClean="0"/>
              <a:t> in freezers.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regarding application of the ‘Two-step rule’ for cooling hot food stating:</a:t>
            </a:r>
          </a:p>
          <a:p>
            <a:pPr>
              <a:buFont typeface="Arial" pitchFamily="34" charset="0"/>
              <a:buChar char="•"/>
            </a:pPr>
            <a:r>
              <a:rPr lang="en-AU" sz="1200" b="1" i="1" kern="1200" dirty="0" smtClean="0">
                <a:solidFill>
                  <a:schemeClr val="tx1"/>
                </a:solidFill>
                <a:ea typeface="+mn-ea"/>
                <a:cs typeface="+mn-cs"/>
              </a:rPr>
              <a:t> </a:t>
            </a:r>
            <a:r>
              <a:rPr lang="en-AU" sz="1200" b="0" i="0" kern="1200" dirty="0" smtClean="0">
                <a:solidFill>
                  <a:schemeClr val="tx1"/>
                </a:solidFill>
                <a:ea typeface="+mn-ea"/>
                <a:cs typeface="+mn-cs"/>
              </a:rPr>
              <a:t>Step 1: </a:t>
            </a:r>
            <a:r>
              <a:rPr lang="en-AU" sz="1200" b="1" i="1" kern="1200" dirty="0" smtClean="0">
                <a:solidFill>
                  <a:schemeClr val="tx1"/>
                </a:solidFill>
                <a:ea typeface="+mn-ea"/>
                <a:cs typeface="+mn-cs"/>
              </a:rPr>
              <a:t> </a:t>
            </a:r>
            <a:r>
              <a:rPr lang="en-AU" sz="1200" kern="1200" dirty="0" smtClean="0">
                <a:solidFill>
                  <a:schemeClr val="tx1"/>
                </a:solidFill>
                <a:ea typeface="+mn-ea"/>
                <a:cs typeface="+mn-cs"/>
              </a:rPr>
              <a:t>Cool hot food down from 60°C to 21°C within 2 hours of removing the food from the stove, oven or other cooking </a:t>
            </a:r>
            <a:r>
              <a:rPr lang="en-AU" sz="1200" kern="1200" dirty="0" smtClean="0">
                <a:solidFill>
                  <a:schemeClr val="tx1"/>
                </a:solidFill>
                <a:ea typeface="+mn-ea"/>
                <a:cs typeface="+mn-cs"/>
              </a:rPr>
              <a:t>unit</a:t>
            </a:r>
            <a:endParaRPr lang="en-AU" sz="1200" kern="1200" dirty="0" smtClean="0">
              <a:solidFill>
                <a:schemeClr val="tx1"/>
              </a:solidFill>
              <a:ea typeface="+mn-ea"/>
              <a:cs typeface="+mn-cs"/>
            </a:endParaRPr>
          </a:p>
          <a:p>
            <a:pPr>
              <a:buFont typeface="Arial" pitchFamily="34" charset="0"/>
              <a:buChar char="•"/>
            </a:pPr>
            <a:r>
              <a:rPr lang="en-AU" sz="1200" b="1" i="1" kern="1200" dirty="0" smtClean="0">
                <a:solidFill>
                  <a:schemeClr val="tx1"/>
                </a:solidFill>
                <a:ea typeface="+mn-ea"/>
                <a:cs typeface="+mn-cs"/>
              </a:rPr>
              <a:t> </a:t>
            </a:r>
            <a:r>
              <a:rPr lang="en-AU" sz="1200" b="0" i="0" kern="1200" dirty="0" smtClean="0">
                <a:solidFill>
                  <a:schemeClr val="tx1"/>
                </a:solidFill>
                <a:ea typeface="+mn-ea"/>
                <a:cs typeface="+mn-cs"/>
              </a:rPr>
              <a:t>Step 2:  </a:t>
            </a:r>
            <a:r>
              <a:rPr lang="en-AU" sz="1200" kern="1200" dirty="0" smtClean="0">
                <a:solidFill>
                  <a:schemeClr val="tx1"/>
                </a:solidFill>
                <a:ea typeface="+mn-ea"/>
                <a:cs typeface="+mn-cs"/>
              </a:rPr>
              <a:t>Once the food has reached 21°C it should be placed into a refrigerator</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coolroom, and then cooled to 5°C (or below) within a further 4 </a:t>
            </a:r>
            <a:r>
              <a:rPr lang="en-AU" sz="1200" kern="1200" dirty="0" smtClean="0">
                <a:solidFill>
                  <a:schemeClr val="tx1"/>
                </a:solidFill>
                <a:ea typeface="+mn-ea"/>
                <a:cs typeface="+mn-cs"/>
              </a:rPr>
              <a:t>hours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If the cooling of high risk food does not meet these criteria, the food must be thrown out to optimise food </a:t>
            </a:r>
            <a:r>
              <a:rPr lang="en-AU" sz="1200" kern="1200" dirty="0" smtClean="0">
                <a:solidFill>
                  <a:schemeClr val="tx1"/>
                </a:solidFill>
                <a:ea typeface="+mn-ea"/>
                <a:cs typeface="+mn-cs"/>
              </a:rPr>
              <a:t>safety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Once the food has reached 5°C, it can safely be put in the freezer.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‘cross contamination’ to trainees indicating:</a:t>
            </a:r>
          </a:p>
          <a:p>
            <a:pPr>
              <a:buFont typeface="Arial" pitchFamily="34" charset="0"/>
              <a:buChar char="•"/>
            </a:pPr>
            <a:r>
              <a:rPr lang="en-AU" sz="1200" kern="1200" dirty="0" smtClean="0">
                <a:solidFill>
                  <a:schemeClr val="tx1"/>
                </a:solidFill>
                <a:ea typeface="+mn-ea"/>
                <a:cs typeface="+mn-cs"/>
              </a:rPr>
              <a:t> Cross contamination is the contamination of food (or food preparation surfaces, equipment, utensils) with bacteria, chemicals or allergens as a result of contact with a contaminated source. Bacteria cannot fly, jump or hop so they depend on people to move them around from place to place via direct contact or through indirect contact</a:t>
            </a:r>
          </a:p>
          <a:p>
            <a:pPr>
              <a:buFont typeface="Arial" pitchFamily="34" charset="0"/>
              <a:buChar char="•"/>
            </a:pPr>
            <a:r>
              <a:rPr lang="en-AU" sz="1200" kern="1200" dirty="0" smtClean="0">
                <a:solidFill>
                  <a:schemeClr val="tx1"/>
                </a:solidFill>
                <a:ea typeface="+mn-ea"/>
                <a:cs typeface="+mn-cs"/>
              </a:rPr>
              <a:t> Examples of direct contact are:</a:t>
            </a:r>
          </a:p>
          <a:p>
            <a:pPr lvl="1">
              <a:buFont typeface="Arial" pitchFamily="34" charset="0"/>
              <a:buChar char="•"/>
            </a:pPr>
            <a:r>
              <a:rPr lang="en-AU" sz="1200" kern="1200" dirty="0" smtClean="0">
                <a:solidFill>
                  <a:schemeClr val="tx1"/>
                </a:solidFill>
                <a:ea typeface="+mn-ea"/>
                <a:cs typeface="+mn-cs"/>
              </a:rPr>
              <a:t> Using a knife to cut raw meat and then using the same knife to cut cooked, ready-to-eat meat without cleaning and sanitising the knife in between tasks – the blood and residual meat on the knife will carry bacteria and this will be transferred by the knife to the previously safe cooked, ready-to-eat meat</a:t>
            </a:r>
          </a:p>
          <a:p>
            <a:pPr lvl="1">
              <a:buFont typeface="Arial" pitchFamily="34" charset="0"/>
              <a:buChar char="•"/>
            </a:pPr>
            <a:r>
              <a:rPr lang="en-AU" sz="1200" kern="1200" dirty="0" smtClean="0">
                <a:solidFill>
                  <a:schemeClr val="tx1"/>
                </a:solidFill>
                <a:ea typeface="+mn-ea"/>
                <a:cs typeface="+mn-cs"/>
              </a:rPr>
              <a:t> Using a chopping board to cut raw chicken and then using the same chopping board to cut cooked meat for salads without cleaning and sanitising the board in between tasks – the chopping board will carry bacteria from the uncooked chicken (the cooking process should destroy the bacteria) which will then be transferred to the previously safe to eat cooked meat</a:t>
            </a:r>
          </a:p>
          <a:p>
            <a:pPr>
              <a:buFont typeface="Arial" pitchFamily="34" charset="0"/>
              <a:buChar char="•"/>
            </a:pPr>
            <a:r>
              <a:rPr lang="en-AU" sz="1200" kern="1200" dirty="0" smtClean="0">
                <a:solidFill>
                  <a:schemeClr val="tx1"/>
                </a:solidFill>
                <a:ea typeface="+mn-ea"/>
                <a:cs typeface="+mn-cs"/>
              </a:rPr>
              <a:t> Examples of indirect contact are:</a:t>
            </a:r>
          </a:p>
          <a:p>
            <a:pPr lvl="1">
              <a:buFont typeface="Arial" pitchFamily="34" charset="0"/>
              <a:buChar char="•"/>
            </a:pPr>
            <a:r>
              <a:rPr lang="en-AU" sz="1200" kern="1200" dirty="0" smtClean="0">
                <a:solidFill>
                  <a:schemeClr val="tx1"/>
                </a:solidFill>
                <a:ea typeface="+mn-ea"/>
                <a:cs typeface="+mn-cs"/>
              </a:rPr>
              <a:t> Coughing or sneezing into the hand, and then using the hand to prepare or touch food or to touch a food preparation surface without first washing it to remove the contaminants</a:t>
            </a:r>
            <a:r>
              <a:rPr lang="en-AU" sz="1200" kern="1200" dirty="0" smtClean="0">
                <a:solidFill>
                  <a:schemeClr val="tx1"/>
                </a:solidFill>
                <a:ea typeface="+mn-ea"/>
                <a:cs typeface="+mn-cs"/>
              </a:rPr>
              <a:t>.</a:t>
            </a: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the </a:t>
            </a:r>
            <a:r>
              <a:rPr lang="en-AU" sz="1200" kern="1200" dirty="0" smtClean="0">
                <a:solidFill>
                  <a:schemeClr val="tx1"/>
                </a:solidFill>
                <a:ea typeface="+mn-ea"/>
                <a:cs typeface="+mn-cs"/>
              </a:rPr>
              <a:t>primary causes of cross contamination are:</a:t>
            </a:r>
          </a:p>
          <a:p>
            <a:pPr lvl="0">
              <a:buFont typeface="Arial" pitchFamily="34" charset="0"/>
              <a:buChar char="•"/>
            </a:pPr>
            <a:r>
              <a:rPr lang="en-AU" sz="1200" kern="1200" dirty="0" smtClean="0">
                <a:solidFill>
                  <a:schemeClr val="tx1"/>
                </a:solidFill>
                <a:ea typeface="+mn-ea"/>
                <a:cs typeface="+mn-cs"/>
              </a:rPr>
              <a:t> Linen items (uniforms, tea towels, towels, swabs, handkerchiefs, cloths) that are contaminated with human waste such as blood and secretions, and food  residue (such as food that has been wiped up after a spillage or in order to clean a plate for presentation purposes)</a:t>
            </a:r>
          </a:p>
          <a:p>
            <a:pPr lvl="0">
              <a:buFont typeface="Arial" pitchFamily="34" charset="0"/>
              <a:buChar char="•"/>
            </a:pPr>
            <a:r>
              <a:rPr lang="en-AU" sz="1200" kern="1200" dirty="0" smtClean="0">
                <a:solidFill>
                  <a:schemeClr val="tx1"/>
                </a:solidFill>
                <a:ea typeface="+mn-ea"/>
                <a:cs typeface="+mn-cs"/>
              </a:rPr>
              <a:t> Dirty equipment – which is used to process, hold or serve food</a:t>
            </a:r>
          </a:p>
          <a:p>
            <a:pPr lvl="0">
              <a:buFont typeface="Arial" pitchFamily="34" charset="0"/>
              <a:buChar char="•"/>
            </a:pPr>
            <a:r>
              <a:rPr lang="en-AU" sz="1200" kern="1200" dirty="0" smtClean="0">
                <a:solidFill>
                  <a:schemeClr val="tx1"/>
                </a:solidFill>
                <a:ea typeface="+mn-ea"/>
                <a:cs typeface="+mn-cs"/>
              </a:rPr>
              <a:t> Dirty utensils – which is used to serve or eat food</a:t>
            </a:r>
          </a:p>
          <a:p>
            <a:pPr lvl="0">
              <a:buFont typeface="Arial" pitchFamily="34" charset="0"/>
              <a:buChar char="•"/>
            </a:pPr>
            <a:r>
              <a:rPr lang="en-AU" sz="1200" kern="1200" dirty="0" smtClean="0">
                <a:solidFill>
                  <a:schemeClr val="tx1"/>
                </a:solidFill>
                <a:ea typeface="+mn-ea"/>
                <a:cs typeface="+mn-cs"/>
              </a:rPr>
              <a:t> Raw food making contact with cooked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ready-to-eat food – or surfaces that will be used to prepare or serve cooked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ready-to-eat food</a:t>
            </a:r>
          </a:p>
          <a:p>
            <a:pPr lvl="0">
              <a:buFont typeface="Arial" pitchFamily="34" charset="0"/>
              <a:buChar char="•"/>
            </a:pPr>
            <a:r>
              <a:rPr lang="en-AU" sz="1200" b="1" i="1" kern="1200" dirty="0" smtClean="0">
                <a:solidFill>
                  <a:schemeClr val="tx1"/>
                </a:solidFill>
                <a:ea typeface="+mn-ea"/>
                <a:cs typeface="+mn-cs"/>
              </a:rPr>
              <a:t> </a:t>
            </a:r>
            <a:r>
              <a:rPr lang="en-AU" sz="1200" b="0" i="0" kern="1200" dirty="0" smtClean="0">
                <a:solidFill>
                  <a:schemeClr val="tx1"/>
                </a:solidFill>
                <a:ea typeface="+mn-ea"/>
                <a:cs typeface="+mn-cs"/>
              </a:rPr>
              <a:t>Failure of food handlers to wash their hands when and as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to trainees the following techniques will help reduce the likelihood of cross contamination:</a:t>
            </a:r>
          </a:p>
          <a:p>
            <a:pPr lvl="0">
              <a:buFont typeface="Arial" pitchFamily="34" charset="0"/>
              <a:buChar char="•"/>
            </a:pPr>
            <a:r>
              <a:rPr lang="en-AU" sz="1200" kern="1200" dirty="0" smtClean="0">
                <a:solidFill>
                  <a:schemeClr val="tx1"/>
                </a:solidFill>
                <a:ea typeface="+mn-ea"/>
                <a:cs typeface="+mn-cs"/>
              </a:rPr>
              <a:t> Wearing clean clothes and clean protective clothing for each shift</a:t>
            </a:r>
          </a:p>
          <a:p>
            <a:pPr lvl="0">
              <a:buFont typeface="Arial" pitchFamily="34" charset="0"/>
              <a:buChar char="•"/>
            </a:pPr>
            <a:r>
              <a:rPr lang="en-AU" sz="1200" kern="1200" dirty="0" smtClean="0">
                <a:solidFill>
                  <a:schemeClr val="tx1"/>
                </a:solidFill>
                <a:ea typeface="+mn-ea"/>
                <a:cs typeface="+mn-cs"/>
              </a:rPr>
              <a:t> Cleaning and sanitising food equipment, utensils and preparation areas in accordance with the cleaning schedule for the premises – including cleaning and sanitising of preparation benches in between preparing raw high risk food and other foods</a:t>
            </a:r>
          </a:p>
          <a:p>
            <a:pPr lvl="0">
              <a:buFont typeface="Arial" pitchFamily="34" charset="0"/>
              <a:buChar char="•"/>
            </a:pPr>
            <a:r>
              <a:rPr lang="en-AU" sz="1200" kern="1200" dirty="0" smtClean="0">
                <a:solidFill>
                  <a:schemeClr val="tx1"/>
                </a:solidFill>
                <a:ea typeface="+mn-ea"/>
                <a:cs typeface="+mn-cs"/>
              </a:rPr>
              <a:t> Using waterproof bandages and dressings on cuts and sores</a:t>
            </a:r>
          </a:p>
          <a:p>
            <a:pPr lvl="0">
              <a:buFont typeface="Arial" pitchFamily="34" charset="0"/>
              <a:buChar char="•"/>
            </a:pPr>
            <a:r>
              <a:rPr lang="en-AU" sz="1200" b="1" i="1" kern="1200" dirty="0" smtClean="0">
                <a:solidFill>
                  <a:schemeClr val="tx1"/>
                </a:solidFill>
                <a:ea typeface="+mn-ea"/>
                <a:cs typeface="+mn-cs"/>
              </a:rPr>
              <a:t> </a:t>
            </a:r>
            <a:r>
              <a:rPr lang="en-AU" sz="1200" b="0" i="0" kern="1200" dirty="0" smtClean="0">
                <a:solidFill>
                  <a:schemeClr val="tx1"/>
                </a:solidFill>
                <a:ea typeface="+mn-ea"/>
                <a:cs typeface="+mn-cs"/>
              </a:rPr>
              <a:t>Washing – and properly drying – hands when and as </a:t>
            </a:r>
            <a:r>
              <a:rPr lang="en-AU" sz="1200" b="0" i="0" kern="1200" dirty="0" smtClean="0">
                <a:solidFill>
                  <a:schemeClr val="tx1"/>
                </a:solidFill>
                <a:ea typeface="+mn-ea"/>
                <a:cs typeface="+mn-cs"/>
              </a:rPr>
              <a:t>required.</a:t>
            </a:r>
            <a:endParaRPr lang="en-AU" sz="1200" b="0" i="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ea typeface="+mn-ea"/>
                <a:cs typeface="+mn-cs"/>
              </a:rPr>
              <a:t> Storing cooked, ready-to-eat food above raw high risk foods – to prevent dripping of blood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juices onto food that will not be cooked again before being eaten</a:t>
            </a:r>
          </a:p>
          <a:p>
            <a:pPr lvl="0">
              <a:buFont typeface="Arial" pitchFamily="34" charset="0"/>
              <a:buChar char="•"/>
            </a:pPr>
            <a:r>
              <a:rPr lang="en-AU" sz="1200" kern="1200" dirty="0" smtClean="0">
                <a:solidFill>
                  <a:schemeClr val="tx1"/>
                </a:solidFill>
                <a:ea typeface="+mn-ea"/>
                <a:cs typeface="+mn-cs"/>
              </a:rPr>
              <a:t> Separating the storage of raw and cooked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ready-to-eat foods – to prevent touching of foods causing transfer of bacteria from raw to cooked items</a:t>
            </a:r>
          </a:p>
          <a:p>
            <a:pPr lvl="0">
              <a:buFont typeface="Arial" pitchFamily="34" charset="0"/>
              <a:buChar char="•"/>
            </a:pPr>
            <a:r>
              <a:rPr lang="en-AU" sz="1200" kern="1200" dirty="0" smtClean="0">
                <a:solidFill>
                  <a:schemeClr val="tx1"/>
                </a:solidFill>
                <a:ea typeface="+mn-ea"/>
                <a:cs typeface="+mn-cs"/>
              </a:rPr>
              <a:t> Keeping foods covered as much as possible when in storage, while being processed and displayed</a:t>
            </a:r>
          </a:p>
          <a:p>
            <a:pPr lvl="0">
              <a:buFont typeface="Arial" pitchFamily="34" charset="0"/>
              <a:buChar char="•"/>
            </a:pPr>
            <a:r>
              <a:rPr lang="en-AU" sz="1200" kern="1200" dirty="0" smtClean="0">
                <a:solidFill>
                  <a:schemeClr val="tx1"/>
                </a:solidFill>
                <a:ea typeface="+mn-ea"/>
                <a:cs typeface="+mn-cs"/>
              </a:rPr>
              <a:t> Using separate sinks for washing ready-to-eat salad items and vegetables and other high risk foods – this includes a requirement a sink used for thawing high risk foods by running it under cold water should take place in a different sink to the one used for washing salad items and vegetables</a:t>
            </a:r>
          </a:p>
          <a:p>
            <a:pPr lvl="0">
              <a:buFont typeface="Arial" pitchFamily="34" charset="0"/>
              <a:buChar char="•"/>
            </a:pPr>
            <a:r>
              <a:rPr lang="en-AU" sz="1200" kern="1200" dirty="0" smtClean="0">
                <a:solidFill>
                  <a:schemeClr val="tx1"/>
                </a:solidFill>
                <a:ea typeface="+mn-ea"/>
                <a:cs typeface="+mn-cs"/>
              </a:rPr>
              <a:t> Allocating different food handlers to raw foods and cooked or ready-to-eat </a:t>
            </a:r>
            <a:r>
              <a:rPr lang="en-AU" sz="1200" kern="1200" dirty="0" smtClean="0">
                <a:solidFill>
                  <a:schemeClr val="tx1"/>
                </a:solidFill>
                <a:ea typeface="+mn-ea"/>
                <a:cs typeface="+mn-cs"/>
              </a:rPr>
              <a:t>foods.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ea typeface="+mn-ea"/>
                <a:cs typeface="+mn-cs"/>
              </a:rPr>
              <a:t> Storing chemicals separately – away from food items</a:t>
            </a:r>
          </a:p>
          <a:p>
            <a:pPr lvl="0">
              <a:buFont typeface="Arial" pitchFamily="34" charset="0"/>
              <a:buChar char="•"/>
            </a:pPr>
            <a:r>
              <a:rPr lang="en-AU" sz="1200" kern="1200" dirty="0" smtClean="0">
                <a:solidFill>
                  <a:schemeClr val="tx1"/>
                </a:solidFill>
                <a:ea typeface="+mn-ea"/>
                <a:cs typeface="+mn-cs"/>
              </a:rPr>
              <a:t> Not wearing food handling clothes to and from work</a:t>
            </a:r>
          </a:p>
          <a:p>
            <a:pPr lvl="0">
              <a:buFont typeface="Arial" pitchFamily="34" charset="0"/>
              <a:buChar char="•"/>
            </a:pPr>
            <a:r>
              <a:rPr lang="en-AU" sz="1200" kern="1200" dirty="0" smtClean="0">
                <a:solidFill>
                  <a:schemeClr val="tx1"/>
                </a:solidFill>
                <a:ea typeface="+mn-ea"/>
                <a:cs typeface="+mn-cs"/>
              </a:rPr>
              <a:t> Using disposable towels – instead of cloth towels </a:t>
            </a:r>
          </a:p>
          <a:p>
            <a:pPr lvl="0">
              <a:buFont typeface="Arial" pitchFamily="34" charset="0"/>
              <a:buChar char="•"/>
            </a:pPr>
            <a:r>
              <a:rPr lang="en-AU" sz="1200" kern="1200" dirty="0" smtClean="0">
                <a:solidFill>
                  <a:schemeClr val="tx1"/>
                </a:solidFill>
                <a:ea typeface="+mn-ea"/>
                <a:cs typeface="+mn-cs"/>
              </a:rPr>
              <a:t> Changing disposable gloves whenever there would be a need to wash hands – such as in between handling raw high risk food and cooked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ready-to-eat food: gloves should be changed every hour regardless</a:t>
            </a:r>
          </a:p>
          <a:p>
            <a:pPr lvl="0">
              <a:buFont typeface="Arial" pitchFamily="34" charset="0"/>
              <a:buChar char="•"/>
            </a:pPr>
            <a:r>
              <a:rPr lang="en-AU" sz="1200" kern="1200" dirty="0" smtClean="0">
                <a:solidFill>
                  <a:schemeClr val="tx1"/>
                </a:solidFill>
                <a:ea typeface="+mn-ea"/>
                <a:cs typeface="+mn-cs"/>
              </a:rPr>
              <a:t> Using colour-coded chopping boards – instead of the same board for all </a:t>
            </a:r>
            <a:r>
              <a:rPr lang="en-AU" sz="1200" kern="1200" dirty="0" smtClean="0">
                <a:solidFill>
                  <a:schemeClr val="tx1"/>
                </a:solidFill>
                <a:ea typeface="+mn-ea"/>
                <a:cs typeface="+mn-cs"/>
              </a:rPr>
              <a:t>foods.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ea typeface="+mn-ea"/>
                <a:cs typeface="+mn-cs"/>
              </a:rPr>
              <a:t> Not mixing batches of food – use all of one batch and replace with new batch in cleaned and</a:t>
            </a:r>
            <a:r>
              <a:rPr lang="en-AU" sz="1200" kern="1200" baseline="0" dirty="0" smtClean="0">
                <a:solidFill>
                  <a:schemeClr val="tx1"/>
                </a:solidFill>
                <a:ea typeface="+mn-ea"/>
                <a:cs typeface="+mn-cs"/>
              </a:rPr>
              <a:t> sanitised containers</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 Refraining from tasting food and replacing the spoon back in the pot, tray </a:t>
            </a:r>
          </a:p>
          <a:p>
            <a:pPr lvl="0">
              <a:buFont typeface="Arial" pitchFamily="34" charset="0"/>
              <a:buChar char="•"/>
            </a:pPr>
            <a:r>
              <a:rPr lang="en-AU" sz="1200" kern="1200" dirty="0" smtClean="0">
                <a:solidFill>
                  <a:schemeClr val="tx1"/>
                </a:solidFill>
                <a:ea typeface="+mn-ea"/>
                <a:cs typeface="+mn-cs"/>
              </a:rPr>
              <a:t> Not coughing or sneezing over food or food preparation equipment, utensils or surfaces</a:t>
            </a:r>
          </a:p>
          <a:p>
            <a:pPr lvl="0">
              <a:buFont typeface="Arial" pitchFamily="34" charset="0"/>
              <a:buChar char="•"/>
            </a:pPr>
            <a:r>
              <a:rPr lang="en-AU" sz="1200" kern="1200" dirty="0" smtClean="0">
                <a:solidFill>
                  <a:schemeClr val="tx1"/>
                </a:solidFill>
                <a:ea typeface="+mn-ea"/>
                <a:cs typeface="+mn-cs"/>
              </a:rPr>
              <a:t> Cleaning and sanitising knives in between cutting raw high risk foods and cooked</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ready-to-eat foods</a:t>
            </a:r>
          </a:p>
          <a:p>
            <a:pPr lvl="0">
              <a:buFont typeface="Arial" pitchFamily="34" charset="0"/>
              <a:buChar char="•"/>
            </a:pPr>
            <a:r>
              <a:rPr lang="en-AU" sz="1200" kern="1200" dirty="0" smtClean="0">
                <a:solidFill>
                  <a:schemeClr val="tx1"/>
                </a:solidFill>
                <a:ea typeface="+mn-ea"/>
                <a:cs typeface="+mn-cs"/>
              </a:rPr>
              <a:t> Cleaning and sanitising food preparation benches and equipment that are in constant use at least every four hours</a:t>
            </a:r>
          </a:p>
          <a:p>
            <a:pPr lvl="0">
              <a:buFont typeface="Arial" pitchFamily="34" charset="0"/>
              <a:buChar char="•"/>
            </a:pPr>
            <a:r>
              <a:rPr lang="en-AU" sz="1200" kern="1200" dirty="0" smtClean="0">
                <a:solidFill>
                  <a:schemeClr val="tx1"/>
                </a:solidFill>
                <a:ea typeface="+mn-ea"/>
                <a:cs typeface="+mn-cs"/>
              </a:rPr>
              <a:t> Avoiding the use of equipment and materials - including cleaning materials - between other areas of the premises (such as bathrooms and bedrooms) and the </a:t>
            </a:r>
            <a:r>
              <a:rPr lang="en-AU" sz="1200" kern="1200" dirty="0" smtClean="0">
                <a:solidFill>
                  <a:schemeClr val="tx1"/>
                </a:solidFill>
                <a:ea typeface="+mn-ea"/>
                <a:cs typeface="+mn-cs"/>
              </a:rPr>
              <a:t>kitchen.</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ea typeface="+mn-ea"/>
                <a:cs typeface="+mn-cs"/>
              </a:rPr>
              <a:t> Repairing cracked surfaces in the food preparation area – cracks can harbour food waste and bacteria</a:t>
            </a:r>
          </a:p>
          <a:p>
            <a:pPr lvl="0">
              <a:buFont typeface="Arial" pitchFamily="34" charset="0"/>
              <a:buChar char="•"/>
            </a:pPr>
            <a:r>
              <a:rPr lang="en-AU" sz="1200" kern="1200" dirty="0" smtClean="0">
                <a:solidFill>
                  <a:schemeClr val="tx1"/>
                </a:solidFill>
                <a:ea typeface="+mn-ea"/>
                <a:cs typeface="+mn-cs"/>
              </a:rPr>
              <a:t> Excluding pests and implementing an effective pest control program – which may necessitate the use of a qualified professional external pest control company</a:t>
            </a:r>
          </a:p>
          <a:p>
            <a:pPr lvl="0">
              <a:buFont typeface="Arial" pitchFamily="34" charset="0"/>
              <a:buChar char="•"/>
            </a:pPr>
            <a:r>
              <a:rPr lang="en-AU" sz="1200" kern="1200" dirty="0" smtClean="0">
                <a:solidFill>
                  <a:schemeClr val="tx1"/>
                </a:solidFill>
                <a:ea typeface="+mn-ea"/>
                <a:cs typeface="+mn-cs"/>
              </a:rPr>
              <a:t> Discarding all food known to be contaminated – or suspected of being contaminated</a:t>
            </a:r>
          </a:p>
          <a:p>
            <a:pPr lvl="0">
              <a:buFont typeface="Arial" pitchFamily="34" charset="0"/>
              <a:buChar char="•"/>
            </a:pPr>
            <a:r>
              <a:rPr lang="en-AU" sz="1200" kern="1200" dirty="0" smtClean="0">
                <a:solidFill>
                  <a:schemeClr val="tx1"/>
                </a:solidFill>
                <a:ea typeface="+mn-ea"/>
                <a:cs typeface="+mn-cs"/>
              </a:rPr>
              <a:t> Excluding food handlers who are ill from food handling and food-related activities</a:t>
            </a:r>
          </a:p>
          <a:p>
            <a:pPr lvl="0">
              <a:buFont typeface="Arial" pitchFamily="34" charset="0"/>
              <a:buChar char="•"/>
            </a:pPr>
            <a:r>
              <a:rPr lang="en-AU" sz="1200" kern="1200" dirty="0" smtClean="0">
                <a:solidFill>
                  <a:schemeClr val="tx1"/>
                </a:solidFill>
                <a:ea typeface="+mn-ea"/>
                <a:cs typeface="+mn-cs"/>
              </a:rPr>
              <a:t> Displaying food in such a way it is protected from contamination by customers, especially children – including the use of sneeze guards, monitoring patron actions where self-service food is available and taking appropriate action when the potential for cross contamination is identified</a:t>
            </a:r>
          </a:p>
          <a:p>
            <a:pPr lvl="0">
              <a:buFont typeface="Arial" pitchFamily="34" charset="0"/>
              <a:buChar char="•"/>
            </a:pPr>
            <a:r>
              <a:rPr lang="en-AU" sz="1200" kern="1200" dirty="0" smtClean="0">
                <a:solidFill>
                  <a:schemeClr val="tx1"/>
                </a:solidFill>
                <a:ea typeface="+mn-ea"/>
                <a:cs typeface="+mn-cs"/>
              </a:rPr>
              <a:t> Disposing of any food dropped on the floor – food is unfit for use, sale or consumption as soon as it has been dropped on a floor of any kind.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ea typeface="+mn-ea"/>
                <a:cs typeface="+mn-cs"/>
              </a:rPr>
              <a:t> Disposing of any food returned from a patron (known as ‘plate waste’) – this includes food and beverage items</a:t>
            </a:r>
          </a:p>
          <a:p>
            <a:pPr lvl="0">
              <a:buFont typeface="Arial" pitchFamily="34" charset="0"/>
              <a:buChar char="•"/>
            </a:pPr>
            <a:r>
              <a:rPr lang="en-AU" sz="1200" kern="1200" dirty="0" smtClean="0">
                <a:solidFill>
                  <a:schemeClr val="tx1"/>
                </a:solidFill>
                <a:ea typeface="+mn-ea"/>
                <a:cs typeface="+mn-cs"/>
              </a:rPr>
              <a:t> Disposing of any single-use item used once or which has become contaminated (or is suspected of being contaminated) for any reason</a:t>
            </a:r>
          </a:p>
          <a:p>
            <a:pPr lvl="0">
              <a:buFont typeface="Arial" pitchFamily="34" charset="0"/>
              <a:buChar char="•"/>
            </a:pPr>
            <a:r>
              <a:rPr lang="en-AU" sz="1200" kern="1200" dirty="0" smtClean="0">
                <a:solidFill>
                  <a:schemeClr val="tx1"/>
                </a:solidFill>
                <a:ea typeface="+mn-ea"/>
                <a:cs typeface="+mn-cs"/>
              </a:rPr>
              <a:t> Using only food grade equipment to store foodstuffs</a:t>
            </a:r>
          </a:p>
          <a:p>
            <a:pPr lvl="0">
              <a:buFont typeface="Arial" pitchFamily="34" charset="0"/>
              <a:buChar char="•"/>
            </a:pPr>
            <a:r>
              <a:rPr lang="en-AU" sz="1200" kern="1200" dirty="0" smtClean="0">
                <a:solidFill>
                  <a:schemeClr val="tx1"/>
                </a:solidFill>
                <a:ea typeface="+mn-ea"/>
                <a:cs typeface="+mn-cs"/>
              </a:rPr>
              <a:t> Putting up signs</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posters in the workplace to remind food handlers about cross contamination</a:t>
            </a:r>
          </a:p>
          <a:p>
            <a:pPr lvl="0">
              <a:buFont typeface="Arial" pitchFamily="34" charset="0"/>
              <a:buChar char="•"/>
            </a:pPr>
            <a:r>
              <a:rPr lang="en-AU" sz="1200" kern="1200" dirty="0" smtClean="0">
                <a:solidFill>
                  <a:schemeClr val="tx1"/>
                </a:solidFill>
                <a:ea typeface="+mn-ea"/>
                <a:cs typeface="+mn-cs"/>
              </a:rPr>
              <a:t> Inspecting food deliveries into the premises to ensure they are not contaminated by any visible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requirements regarding service of food to customers by staff:</a:t>
            </a:r>
          </a:p>
          <a:p>
            <a:pPr lvl="0">
              <a:buFont typeface="Arial" pitchFamily="34" charset="0"/>
              <a:buChar char="•"/>
            </a:pPr>
            <a:r>
              <a:rPr lang="en-AU" sz="1200" kern="1200" dirty="0" smtClean="0">
                <a:solidFill>
                  <a:schemeClr val="tx1"/>
                </a:solidFill>
                <a:ea typeface="+mn-ea"/>
                <a:cs typeface="+mn-cs"/>
              </a:rPr>
              <a:t> Potentially hazardous food must be kept out of the Temperature Danger Zone. The temperature of any display units must be taken regularly (at least once per service session) to verify the temperature is correct. Remember: keep hot food, hot at 60˚C or above and keep cold food, cold at 5˚C or </a:t>
            </a:r>
            <a:r>
              <a:rPr lang="en-AU" sz="1200" kern="1200" dirty="0" smtClean="0">
                <a:solidFill>
                  <a:schemeClr val="tx1"/>
                </a:solidFill>
                <a:ea typeface="+mn-ea"/>
                <a:cs typeface="+mn-cs"/>
              </a:rPr>
              <a:t>below</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 Clean serving utensils must be used – change hourly</a:t>
            </a:r>
          </a:p>
          <a:p>
            <a:pPr lvl="0">
              <a:buFont typeface="Arial" pitchFamily="34" charset="0"/>
              <a:buChar char="•"/>
            </a:pPr>
            <a:r>
              <a:rPr lang="en-AU" sz="1200" kern="1200" dirty="0" smtClean="0">
                <a:solidFill>
                  <a:schemeClr val="tx1"/>
                </a:solidFill>
                <a:ea typeface="+mn-ea"/>
                <a:cs typeface="+mn-cs"/>
              </a:rPr>
              <a:t> Never touch food with bare hands – always use disposable gloves, tongs or some other item (greaseproof paper, a fork, a spatula) to create a barrier between the hands and the food in order to prevent cross contamination</a:t>
            </a:r>
          </a:p>
          <a:p>
            <a:pPr lvl="0">
              <a:buFont typeface="Arial" pitchFamily="34" charset="0"/>
              <a:buChar char="•"/>
            </a:pPr>
            <a:r>
              <a:rPr lang="en-AU" sz="1200" kern="1200" dirty="0" smtClean="0">
                <a:solidFill>
                  <a:schemeClr val="tx1"/>
                </a:solidFill>
                <a:ea typeface="+mn-ea"/>
                <a:cs typeface="+mn-cs"/>
              </a:rPr>
              <a:t> Food must be served into</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onto clean plates, bowls or other </a:t>
            </a:r>
            <a:r>
              <a:rPr lang="en-AU" sz="1200" kern="1200" dirty="0" smtClean="0">
                <a:solidFill>
                  <a:schemeClr val="tx1"/>
                </a:solidFill>
                <a:ea typeface="+mn-ea"/>
                <a:cs typeface="+mn-cs"/>
              </a:rPr>
              <a:t>items.</a:t>
            </a:r>
            <a:endParaRPr lang="en-AU" sz="1200" kern="1200" dirty="0" smtClean="0">
              <a:solidFill>
                <a:schemeClr val="tx1"/>
              </a:solidFill>
              <a:ea typeface="+mn-ea"/>
              <a:cs typeface="+mn-cs"/>
            </a:endParaRP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requirements regarding service of food to customers by staff:</a:t>
            </a:r>
          </a:p>
          <a:p>
            <a:pPr lvl="0">
              <a:buFont typeface="Arial" pitchFamily="34" charset="0"/>
              <a:buChar char="•"/>
            </a:pPr>
            <a:r>
              <a:rPr lang="en-AU" sz="1200" kern="1200" dirty="0" smtClean="0">
                <a:solidFill>
                  <a:schemeClr val="tx1"/>
                </a:solidFill>
                <a:ea typeface="+mn-ea"/>
                <a:cs typeface="+mn-cs"/>
              </a:rPr>
              <a:t> Plates and similar must be stored at the service point in such a way to protect them from contamination, including contamination by flies, dust, customers. Where food is served into single-use containers (see later slide), these containers must be only used once</a:t>
            </a:r>
          </a:p>
          <a:p>
            <a:pPr lvl="0">
              <a:buFont typeface="Arial" pitchFamily="34" charset="0"/>
              <a:buChar char="•"/>
            </a:pPr>
            <a:r>
              <a:rPr lang="en-AU" sz="1200" kern="1200" dirty="0" smtClean="0">
                <a:solidFill>
                  <a:schemeClr val="tx1"/>
                </a:solidFill>
                <a:ea typeface="+mn-ea"/>
                <a:cs typeface="+mn-cs"/>
              </a:rPr>
              <a:t> Food must be kept protected from contamination; keep doors on display units closed, and use lids where provided on storage units</a:t>
            </a:r>
          </a:p>
          <a:p>
            <a:pPr lvl="0">
              <a:buFont typeface="Arial" pitchFamily="34" charset="0"/>
              <a:buChar char="•"/>
            </a:pPr>
            <a:r>
              <a:rPr lang="en-AU" sz="1200" kern="1200" dirty="0" smtClean="0">
                <a:solidFill>
                  <a:schemeClr val="tx1"/>
                </a:solidFill>
                <a:ea typeface="+mn-ea"/>
                <a:cs typeface="+mn-cs"/>
              </a:rPr>
              <a:t> Staff must apply safe food handling and personal hygiene practices such as:</a:t>
            </a:r>
          </a:p>
          <a:p>
            <a:pPr lvl="1">
              <a:buFont typeface="Arial" pitchFamily="34" charset="0"/>
              <a:buChar char="•"/>
            </a:pPr>
            <a:r>
              <a:rPr lang="en-AU" sz="1200" kern="1200" dirty="0" smtClean="0">
                <a:solidFill>
                  <a:schemeClr val="tx1"/>
                </a:solidFill>
                <a:ea typeface="+mn-ea"/>
                <a:cs typeface="+mn-cs"/>
              </a:rPr>
              <a:t> Not coughing, sneezing onto food</a:t>
            </a:r>
          </a:p>
          <a:p>
            <a:pPr lvl="1">
              <a:buFont typeface="Arial" pitchFamily="34" charset="0"/>
              <a:buChar char="•"/>
            </a:pPr>
            <a:r>
              <a:rPr lang="en-AU" sz="1200" kern="1200" dirty="0" smtClean="0">
                <a:solidFill>
                  <a:schemeClr val="tx1"/>
                </a:solidFill>
                <a:ea typeface="+mn-ea"/>
                <a:cs typeface="+mn-cs"/>
              </a:rPr>
              <a:t> Washing hands as required – see later slide</a:t>
            </a:r>
          </a:p>
          <a:p>
            <a:pPr lvl="1">
              <a:buFont typeface="Arial" pitchFamily="34" charset="0"/>
              <a:buChar char="•"/>
            </a:pPr>
            <a:r>
              <a:rPr lang="en-AU" sz="1200" kern="1200" dirty="0" smtClean="0">
                <a:solidFill>
                  <a:schemeClr val="tx1"/>
                </a:solidFill>
                <a:ea typeface="+mn-ea"/>
                <a:cs typeface="+mn-cs"/>
              </a:rPr>
              <a:t> Using disposable gloves, as required, and changing when required</a:t>
            </a:r>
          </a:p>
          <a:p>
            <a:pPr lvl="1">
              <a:buFont typeface="Arial" pitchFamily="34" charset="0"/>
              <a:buChar char="•"/>
            </a:pPr>
            <a:r>
              <a:rPr lang="en-AU" sz="1200" kern="1200" dirty="0" smtClean="0">
                <a:solidFill>
                  <a:schemeClr val="tx1"/>
                </a:solidFill>
                <a:ea typeface="+mn-ea"/>
                <a:cs typeface="+mn-cs"/>
              </a:rPr>
              <a:t> Never using food dropped on the floor</a:t>
            </a:r>
          </a:p>
          <a:p>
            <a:pPr lvl="1">
              <a:buFont typeface="Arial" pitchFamily="34" charset="0"/>
              <a:buChar char="•"/>
            </a:pPr>
            <a:r>
              <a:rPr lang="en-AU" sz="1200" kern="1200" dirty="0" smtClean="0">
                <a:solidFill>
                  <a:schemeClr val="tx1"/>
                </a:solidFill>
                <a:ea typeface="+mn-ea"/>
                <a:cs typeface="+mn-cs"/>
              </a:rPr>
              <a:t> Never using food that has been contaminated in any way</a:t>
            </a:r>
          </a:p>
          <a:p>
            <a:pPr lvl="0">
              <a:buFont typeface="Arial" pitchFamily="34" charset="0"/>
              <a:buChar char="•"/>
            </a:pPr>
            <a:r>
              <a:rPr lang="en-AU" sz="1200" kern="1200" dirty="0" smtClean="0">
                <a:solidFill>
                  <a:schemeClr val="tx1"/>
                </a:solidFill>
                <a:ea typeface="+mn-ea"/>
                <a:cs typeface="+mn-cs"/>
              </a:rPr>
              <a:t> Use different utensils to serve different food items – to avoid cross contamination (and also to eliminate different foods [or colours] being mixed in with other foods, which is often not wanted by the customer).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times when food handlers must wash their hands:</a:t>
            </a:r>
          </a:p>
          <a:p>
            <a:pPr lvl="0">
              <a:buFont typeface="Arial" pitchFamily="34" charset="0"/>
              <a:buChar char="•"/>
            </a:pPr>
            <a:r>
              <a:rPr lang="en-AU" sz="1200" kern="1200" dirty="0" smtClean="0">
                <a:solidFill>
                  <a:schemeClr val="tx1"/>
                </a:solidFill>
                <a:ea typeface="+mn-ea"/>
                <a:cs typeface="+mn-cs"/>
              </a:rPr>
              <a:t> Any time the hands are likely to be a source of contamination – this can cover a wide range of possible circumstances and it is impossible to identify them all but the following is a representative list:</a:t>
            </a:r>
          </a:p>
          <a:p>
            <a:pPr lvl="1">
              <a:buFont typeface="Arial" pitchFamily="34" charset="0"/>
              <a:buChar char="•"/>
            </a:pPr>
            <a:r>
              <a:rPr lang="en-AU" sz="1200" kern="1200" dirty="0" smtClean="0">
                <a:solidFill>
                  <a:schemeClr val="tx1"/>
                </a:solidFill>
                <a:ea typeface="+mn-ea"/>
                <a:cs typeface="+mn-cs"/>
              </a:rPr>
              <a:t> After handling rubbish and before handling food or food contact surfaces</a:t>
            </a:r>
          </a:p>
          <a:p>
            <a:pPr lvl="1">
              <a:buFont typeface="Arial" pitchFamily="34" charset="0"/>
              <a:buChar char="•"/>
            </a:pPr>
            <a:r>
              <a:rPr lang="en-AU" sz="1200" kern="1200" dirty="0" smtClean="0">
                <a:solidFill>
                  <a:schemeClr val="tx1"/>
                </a:solidFill>
                <a:ea typeface="+mn-ea"/>
                <a:cs typeface="+mn-cs"/>
              </a:rPr>
              <a:t> After undertaking cleaning duties and before handling food or food contact surfaces</a:t>
            </a:r>
          </a:p>
          <a:p>
            <a:pPr lvl="1">
              <a:buFont typeface="Arial" pitchFamily="34" charset="0"/>
              <a:buChar char="•"/>
            </a:pPr>
            <a:r>
              <a:rPr lang="en-AU" sz="1200" kern="1200" dirty="0" smtClean="0">
                <a:solidFill>
                  <a:schemeClr val="tx1"/>
                </a:solidFill>
                <a:ea typeface="+mn-ea"/>
                <a:cs typeface="+mn-cs"/>
              </a:rPr>
              <a:t> After handling animals and before handling food or food contact surfaces</a:t>
            </a:r>
          </a:p>
          <a:p>
            <a:pPr lvl="1">
              <a:buFont typeface="Arial" pitchFamily="34" charset="0"/>
              <a:buChar char="•"/>
            </a:pPr>
            <a:r>
              <a:rPr lang="en-AU" sz="1200" kern="1200" dirty="0" smtClean="0">
                <a:solidFill>
                  <a:schemeClr val="tx1"/>
                </a:solidFill>
                <a:ea typeface="+mn-ea"/>
                <a:cs typeface="+mn-cs"/>
              </a:rPr>
              <a:t> After changing a baby’s nappy and before handling food or food contact surfaces</a:t>
            </a:r>
          </a:p>
          <a:p>
            <a:pPr lvl="1">
              <a:buFont typeface="Arial" pitchFamily="34" charset="0"/>
              <a:buChar char="•"/>
            </a:pPr>
            <a:r>
              <a:rPr lang="en-AU" sz="1200" kern="1200" dirty="0" smtClean="0">
                <a:solidFill>
                  <a:schemeClr val="tx1"/>
                </a:solidFill>
                <a:ea typeface="+mn-ea"/>
                <a:cs typeface="+mn-cs"/>
              </a:rPr>
              <a:t> After handling money and before handling food or food contact surfaces</a:t>
            </a:r>
          </a:p>
          <a:p>
            <a:pPr lvl="1">
              <a:buFont typeface="Arial" pitchFamily="34" charset="0"/>
              <a:buChar char="•"/>
            </a:pPr>
            <a:r>
              <a:rPr lang="en-AU" sz="1200" kern="1200" dirty="0" smtClean="0">
                <a:solidFill>
                  <a:schemeClr val="tx1"/>
                </a:solidFill>
                <a:ea typeface="+mn-ea"/>
                <a:cs typeface="+mn-cs"/>
              </a:rPr>
              <a:t> In between handling raw food (meat, fish or chicken) and handling other foods such as cooked and/or ready-to-eat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the times when food handlers must wash their hands:</a:t>
            </a:r>
          </a:p>
          <a:p>
            <a:pPr lvl="0">
              <a:buFont typeface="Arial" pitchFamily="34" charset="0"/>
              <a:buChar char="•"/>
            </a:pPr>
            <a:r>
              <a:rPr lang="en-AU" sz="1200" kern="1200" dirty="0" smtClean="0">
                <a:solidFill>
                  <a:schemeClr val="tx1"/>
                </a:solidFill>
                <a:ea typeface="+mn-ea"/>
                <a:cs typeface="+mn-cs"/>
              </a:rPr>
              <a:t> Before starting food handling duties – this means food handling staff must wash their hands when they arrive at work even though they may have showered, bathed or washed their hands at home before coming to work</a:t>
            </a:r>
          </a:p>
          <a:p>
            <a:pPr lvl="0">
              <a:buFont typeface="Arial" pitchFamily="34" charset="0"/>
              <a:buChar char="•"/>
            </a:pPr>
            <a:r>
              <a:rPr lang="en-AU" sz="1200" kern="1200" dirty="0" smtClean="0">
                <a:solidFill>
                  <a:schemeClr val="tx1"/>
                </a:solidFill>
                <a:ea typeface="+mn-ea"/>
                <a:cs typeface="+mn-cs"/>
              </a:rPr>
              <a:t> Immediately after engaging in nominated activities proven to be associated with bacterial transfer or cross contamination. The nominated activities include:</a:t>
            </a:r>
          </a:p>
          <a:p>
            <a:pPr lvl="1">
              <a:buFont typeface="Arial" pitchFamily="34" charset="0"/>
              <a:buChar char="•"/>
            </a:pPr>
            <a:r>
              <a:rPr lang="en-AU" sz="1200" kern="1200" dirty="0" smtClean="0">
                <a:solidFill>
                  <a:schemeClr val="tx1"/>
                </a:solidFill>
                <a:ea typeface="+mn-ea"/>
                <a:cs typeface="+mn-cs"/>
              </a:rPr>
              <a:t> Smoking – including using tobacco products</a:t>
            </a:r>
          </a:p>
          <a:p>
            <a:pPr lvl="1">
              <a:buFont typeface="Arial" pitchFamily="34" charset="0"/>
              <a:buChar char="•"/>
            </a:pPr>
            <a:r>
              <a:rPr lang="en-AU" sz="1200" kern="1200" dirty="0" smtClean="0">
                <a:solidFill>
                  <a:schemeClr val="tx1"/>
                </a:solidFill>
                <a:ea typeface="+mn-ea"/>
                <a:cs typeface="+mn-cs"/>
              </a:rPr>
              <a:t> Coughing or sneezing</a:t>
            </a:r>
          </a:p>
          <a:p>
            <a:pPr lvl="1">
              <a:buFont typeface="Arial" pitchFamily="34" charset="0"/>
              <a:buChar char="•"/>
            </a:pPr>
            <a:r>
              <a:rPr lang="en-AU" sz="1200" kern="1200" dirty="0" smtClean="0">
                <a:solidFill>
                  <a:schemeClr val="tx1"/>
                </a:solidFill>
                <a:ea typeface="+mn-ea"/>
                <a:cs typeface="+mn-cs"/>
              </a:rPr>
              <a:t> Using a handkerchief or nasal tissue – which includes blowing the nose</a:t>
            </a:r>
          </a:p>
          <a:p>
            <a:pPr lvl="1">
              <a:buFont typeface="Arial" pitchFamily="34" charset="0"/>
              <a:buChar char="•"/>
            </a:pPr>
            <a:r>
              <a:rPr lang="en-AU" sz="1200" kern="1200" dirty="0" smtClean="0">
                <a:solidFill>
                  <a:schemeClr val="tx1"/>
                </a:solidFill>
                <a:ea typeface="+mn-ea"/>
                <a:cs typeface="+mn-cs"/>
              </a:rPr>
              <a:t> Eating or drinking</a:t>
            </a:r>
          </a:p>
          <a:p>
            <a:pPr lvl="1">
              <a:buFont typeface="Arial" pitchFamily="34" charset="0"/>
              <a:buChar char="•"/>
            </a:pPr>
            <a:r>
              <a:rPr lang="en-AU" sz="1200" kern="1200" dirty="0" smtClean="0">
                <a:solidFill>
                  <a:schemeClr val="tx1"/>
                </a:solidFill>
                <a:ea typeface="+mn-ea"/>
                <a:cs typeface="+mn-cs"/>
              </a:rPr>
              <a:t> Touching hair, scalp, mouth, nose, ears, any body opening or any wound.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to trainees the times when food handlers must wash their hands:</a:t>
            </a:r>
          </a:p>
          <a:p>
            <a:pPr lvl="0">
              <a:buFont typeface="Arial" pitchFamily="34" charset="0"/>
              <a:buChar char="•"/>
            </a:pPr>
            <a:r>
              <a:rPr lang="en-AU" sz="1200" kern="1200" dirty="0" smtClean="0">
                <a:solidFill>
                  <a:schemeClr val="tx1"/>
                </a:solidFill>
                <a:ea typeface="+mn-ea"/>
                <a:cs typeface="+mn-cs"/>
              </a:rPr>
              <a:t> After any absence from the work station – this means every time a food handler leaves the kitchen (or other place where they are handling food), they must wash their hands on their return to work and before they handle food. These absences from the work station may involve or be caused by:</a:t>
            </a:r>
          </a:p>
          <a:p>
            <a:pPr lvl="1">
              <a:buFont typeface="Arial" pitchFamily="34" charset="0"/>
              <a:buChar char="•"/>
            </a:pPr>
            <a:r>
              <a:rPr lang="en-AU" sz="1200" kern="1200" dirty="0" smtClean="0">
                <a:solidFill>
                  <a:schemeClr val="tx1"/>
                </a:solidFill>
                <a:ea typeface="+mn-ea"/>
                <a:cs typeface="+mn-cs"/>
              </a:rPr>
              <a:t> Leaving the kitchen to accept a delivery of food into the premises from a supplier</a:t>
            </a:r>
          </a:p>
          <a:p>
            <a:pPr lvl="1">
              <a:buFont typeface="Arial" pitchFamily="34" charset="0"/>
              <a:buChar char="•"/>
            </a:pPr>
            <a:r>
              <a:rPr lang="en-AU" sz="1200" kern="1200" dirty="0" smtClean="0">
                <a:solidFill>
                  <a:schemeClr val="tx1"/>
                </a:solidFill>
                <a:ea typeface="+mn-ea"/>
                <a:cs typeface="+mn-cs"/>
              </a:rPr>
              <a:t> Taking a phone call</a:t>
            </a:r>
          </a:p>
          <a:p>
            <a:pPr lvl="1">
              <a:buFont typeface="Arial" pitchFamily="34" charset="0"/>
              <a:buChar char="•"/>
            </a:pPr>
            <a:r>
              <a:rPr lang="en-AU" sz="1200" kern="1200" dirty="0" smtClean="0">
                <a:solidFill>
                  <a:schemeClr val="tx1"/>
                </a:solidFill>
                <a:ea typeface="+mn-ea"/>
                <a:cs typeface="+mn-cs"/>
              </a:rPr>
              <a:t> Doing another job that is not a food-related task</a:t>
            </a:r>
          </a:p>
          <a:p>
            <a:pPr lvl="0">
              <a:buFont typeface="Arial" pitchFamily="34" charset="0"/>
              <a:buChar char="•"/>
            </a:pPr>
            <a:r>
              <a:rPr lang="en-AU" sz="1200" kern="1200" dirty="0" smtClean="0">
                <a:solidFill>
                  <a:schemeClr val="tx1"/>
                </a:solidFill>
                <a:ea typeface="+mn-ea"/>
                <a:cs typeface="+mn-cs"/>
              </a:rPr>
              <a:t> Immediately after using the toilet and before handling food or food contact surfaces – this applies to all instances where the toilet was used and includes a requirement to wash hands after urination as well as after defecation.</a:t>
            </a:r>
          </a:p>
          <a:p>
            <a:pPr lvl="0">
              <a:buFont typeface="Arial" pitchFamily="34" charset="0"/>
              <a:buNone/>
            </a:pPr>
            <a:endParaRPr lang="en-AU" sz="1200" kern="1200" dirty="0" smtClean="0">
              <a:solidFill>
                <a:schemeClr val="tx1"/>
              </a:solidFill>
              <a:ea typeface="+mn-ea"/>
              <a:cs typeface="+mn-cs"/>
            </a:endParaRPr>
          </a:p>
          <a:p>
            <a:pPr lvl="0">
              <a:buFont typeface="Arial" pitchFamily="34" charset="0"/>
              <a:buNone/>
            </a:pP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t>
            </a:r>
            <a:r>
              <a:rPr lang="en-AU" sz="1200" kern="1200" dirty="0" smtClean="0">
                <a:solidFill>
                  <a:schemeClr val="tx1"/>
                </a:solidFill>
                <a:ea typeface="+mn-ea"/>
                <a:cs typeface="+mn-cs"/>
              </a:rPr>
              <a:t>once food has been produced there can be a need to hold it ready for service</a:t>
            </a:r>
            <a:r>
              <a:rPr lang="en-AU" sz="1200" kern="1200" baseline="0" dirty="0" smtClean="0">
                <a:solidFill>
                  <a:schemeClr val="tx1"/>
                </a:solidFill>
                <a:ea typeface="+mn-ea"/>
                <a:cs typeface="+mn-cs"/>
              </a:rPr>
              <a:t> highlighting:</a:t>
            </a:r>
          </a:p>
          <a:p>
            <a:pPr>
              <a:buFont typeface="Arial" pitchFamily="34" charset="0"/>
              <a:buChar char="•"/>
            </a:pPr>
            <a:r>
              <a:rPr lang="en-AU" sz="1200" kern="1200" dirty="0" smtClean="0">
                <a:solidFill>
                  <a:schemeClr val="tx1"/>
                </a:solidFill>
                <a:ea typeface="+mn-ea"/>
                <a:cs typeface="+mn-cs"/>
              </a:rPr>
              <a:t> Equipment/cabinets can be used to hold and/or display:</a:t>
            </a:r>
          </a:p>
          <a:p>
            <a:pPr lvl="1">
              <a:buFont typeface="Arial" pitchFamily="34" charset="0"/>
              <a:buChar char="•"/>
            </a:pPr>
            <a:r>
              <a:rPr lang="en-AU" sz="1200" kern="1200" dirty="0" smtClean="0">
                <a:solidFill>
                  <a:schemeClr val="tx1"/>
                </a:solidFill>
                <a:ea typeface="+mn-ea"/>
                <a:cs typeface="+mn-cs"/>
              </a:rPr>
              <a:t> Hot food</a:t>
            </a:r>
          </a:p>
          <a:p>
            <a:pPr lvl="1">
              <a:buFont typeface="Arial" pitchFamily="34" charset="0"/>
              <a:buChar char="•"/>
            </a:pPr>
            <a:r>
              <a:rPr lang="en-AU" sz="1200" kern="1200" dirty="0" smtClean="0">
                <a:solidFill>
                  <a:schemeClr val="tx1"/>
                </a:solidFill>
                <a:ea typeface="+mn-ea"/>
                <a:cs typeface="+mn-cs"/>
              </a:rPr>
              <a:t> Cold food </a:t>
            </a:r>
          </a:p>
          <a:p>
            <a:pPr lvl="1">
              <a:buFont typeface="Arial" pitchFamily="34" charset="0"/>
              <a:buChar char="•"/>
            </a:pPr>
            <a:r>
              <a:rPr lang="en-AU" sz="1200" kern="1200" dirty="0" smtClean="0">
                <a:solidFill>
                  <a:schemeClr val="tx1"/>
                </a:solidFill>
                <a:ea typeface="+mn-ea"/>
                <a:cs typeface="+mn-cs"/>
              </a:rPr>
              <a:t> Frozen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‘Holding’ food refers to keeping food hot, cold or frozen after it has been produced while it is waiting to be </a:t>
            </a:r>
            <a:r>
              <a:rPr lang="en-AU" sz="1200" kern="1200" dirty="0" smtClean="0">
                <a:solidFill>
                  <a:schemeClr val="tx1"/>
                </a:solidFill>
                <a:ea typeface="+mn-ea"/>
                <a:cs typeface="+mn-cs"/>
              </a:rPr>
              <a:t>served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‘Displaying’ food refers to promoting food by putting it on show with the intent that ‘selling through seeing’ will </a:t>
            </a:r>
            <a:r>
              <a:rPr lang="en-AU" sz="1200" kern="1200" dirty="0" smtClean="0">
                <a:solidFill>
                  <a:schemeClr val="tx1"/>
                </a:solidFill>
                <a:ea typeface="+mn-ea"/>
                <a:cs typeface="+mn-cs"/>
              </a:rPr>
              <a:t>occur</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It is necessary to train staff in practices required to safely hold menu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a:t>
            </a:r>
            <a:r>
              <a:rPr lang="en-AU" sz="1200" kern="1200" dirty="0" smtClean="0">
                <a:solidFill>
                  <a:schemeClr val="tx1"/>
                </a:solidFill>
                <a:ea typeface="+mn-ea"/>
                <a:cs typeface="+mn-cs"/>
              </a:rPr>
              <a:t>equipment used to hold or display cold food includes:</a:t>
            </a:r>
          </a:p>
          <a:p>
            <a:pPr>
              <a:buFont typeface="Arial" pitchFamily="34" charset="0"/>
              <a:buChar char="•"/>
            </a:pPr>
            <a:r>
              <a:rPr lang="en-AU" sz="1200" kern="1200" dirty="0" smtClean="0">
                <a:solidFill>
                  <a:schemeClr val="tx1"/>
                </a:solidFill>
                <a:ea typeface="+mn-ea"/>
                <a:cs typeface="+mn-cs"/>
              </a:rPr>
              <a:t> Salad wells and cold plates</a:t>
            </a:r>
          </a:p>
          <a:p>
            <a:pPr>
              <a:buFont typeface="Arial" pitchFamily="34" charset="0"/>
              <a:buChar char="•"/>
            </a:pPr>
            <a:r>
              <a:rPr lang="en-AU" sz="1200" kern="1200" dirty="0" smtClean="0">
                <a:solidFill>
                  <a:schemeClr val="tx1"/>
                </a:solidFill>
                <a:ea typeface="+mn-ea"/>
                <a:cs typeface="+mn-cs"/>
              </a:rPr>
              <a:t> Refrigerated cabinets</a:t>
            </a:r>
          </a:p>
          <a:p>
            <a:pPr>
              <a:buFont typeface="Arial" pitchFamily="34" charset="0"/>
              <a:buChar char="•"/>
            </a:pPr>
            <a:r>
              <a:rPr lang="en-AU" sz="1200" kern="1200" dirty="0" smtClean="0">
                <a:solidFill>
                  <a:schemeClr val="tx1"/>
                </a:solidFill>
                <a:ea typeface="+mn-ea"/>
                <a:cs typeface="+mn-cs"/>
              </a:rPr>
              <a:t> Refrigerated bain maries.</a:t>
            </a:r>
          </a:p>
          <a:p>
            <a:pPr>
              <a:buFont typeface="Arial" pitchFamily="34" charset="0"/>
              <a:buNone/>
            </a:pPr>
            <a:endParaRPr lang="en-US" dirty="0" smtClean="0"/>
          </a:p>
          <a:p>
            <a:pPr>
              <a:buFont typeface="Arial" pitchFamily="34" charset="0"/>
              <a:buNone/>
            </a:pPr>
            <a:r>
              <a:rPr lang="en-US" b="1" dirty="0" smtClean="0"/>
              <a:t>Class Activity – Resource Identification</a:t>
            </a:r>
          </a:p>
          <a:p>
            <a:pPr>
              <a:buFont typeface="Arial" pitchFamily="34" charset="0"/>
              <a:buNone/>
            </a:pPr>
            <a:r>
              <a:rPr lang="en-US" b="0" dirty="0" smtClean="0"/>
              <a:t>Trainer shows students examples of equipment as identified on slide and explains how to use the items.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advice on </a:t>
            </a:r>
            <a:r>
              <a:rPr lang="en-AU" sz="1200" kern="1200" dirty="0" smtClean="0">
                <a:solidFill>
                  <a:schemeClr val="tx1"/>
                </a:solidFill>
                <a:ea typeface="+mn-ea"/>
                <a:cs typeface="+mn-cs"/>
              </a:rPr>
              <a:t>using cold food display/holding units:</a:t>
            </a:r>
          </a:p>
          <a:p>
            <a:pPr>
              <a:buFont typeface="Arial" pitchFamily="34" charset="0"/>
              <a:buChar char="•"/>
            </a:pPr>
            <a:r>
              <a:rPr lang="en-AU" sz="1200" kern="1200" dirty="0" smtClean="0">
                <a:solidFill>
                  <a:schemeClr val="tx1"/>
                </a:solidFill>
                <a:ea typeface="+mn-ea"/>
                <a:cs typeface="+mn-cs"/>
              </a:rPr>
              <a:t> Food should be held or displayed at or below 5°C – to keep it out of the Temperature Danger Zone</a:t>
            </a:r>
          </a:p>
          <a:p>
            <a:pPr>
              <a:buFont typeface="Arial" pitchFamily="34" charset="0"/>
              <a:buChar char="•"/>
            </a:pPr>
            <a:r>
              <a:rPr lang="en-AU" sz="1200" kern="1200" dirty="0" smtClean="0">
                <a:solidFill>
                  <a:schemeClr val="tx1"/>
                </a:solidFill>
                <a:ea typeface="+mn-ea"/>
                <a:cs typeface="+mn-cs"/>
              </a:rPr>
              <a:t> Food should be covered/wrapped – to prevent contamination</a:t>
            </a:r>
          </a:p>
          <a:p>
            <a:pPr>
              <a:buFont typeface="Arial" pitchFamily="34" charset="0"/>
              <a:buChar char="•"/>
            </a:pPr>
            <a:r>
              <a:rPr lang="en-AU" sz="1200" kern="1200" dirty="0" smtClean="0">
                <a:solidFill>
                  <a:schemeClr val="tx1"/>
                </a:solidFill>
                <a:ea typeface="+mn-ea"/>
                <a:cs typeface="+mn-cs"/>
              </a:rPr>
              <a:t> Temperatures must be regularly checked – at least daily using an independent thermometer </a:t>
            </a:r>
          </a:p>
          <a:p>
            <a:pPr>
              <a:buFont typeface="Arial" pitchFamily="34" charset="0"/>
              <a:buChar char="•"/>
            </a:pPr>
            <a:r>
              <a:rPr lang="en-AU" sz="1200" kern="1200" dirty="0" smtClean="0">
                <a:solidFill>
                  <a:schemeClr val="tx1"/>
                </a:solidFill>
                <a:ea typeface="+mn-ea"/>
                <a:cs typeface="+mn-cs"/>
              </a:rPr>
              <a:t> Protective guards must be provided (where appropriate) – to prevent customers breathing, sneezing and coughing over the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providing advice on </a:t>
            </a:r>
            <a:r>
              <a:rPr lang="en-AU" sz="1200" kern="1200" dirty="0" smtClean="0">
                <a:solidFill>
                  <a:schemeClr val="tx1"/>
                </a:solidFill>
                <a:ea typeface="+mn-ea"/>
                <a:cs typeface="+mn-cs"/>
              </a:rPr>
              <a:t>using cold food display/holding units:</a:t>
            </a:r>
          </a:p>
          <a:p>
            <a:pPr>
              <a:buFont typeface="Arial" pitchFamily="34" charset="0"/>
              <a:buChar char="•"/>
            </a:pPr>
            <a:r>
              <a:rPr lang="en-AU" sz="1200" kern="1200" dirty="0" smtClean="0">
                <a:solidFill>
                  <a:schemeClr val="tx1"/>
                </a:solidFill>
                <a:ea typeface="+mn-ea"/>
                <a:cs typeface="+mn-cs"/>
              </a:rPr>
              <a:t> Turn on the units and pre-chill them – before chilled food is placed into them</a:t>
            </a:r>
          </a:p>
          <a:p>
            <a:pPr>
              <a:buFont typeface="Arial" pitchFamily="34" charset="0"/>
              <a:buChar char="•"/>
            </a:pPr>
            <a:r>
              <a:rPr lang="en-AU" sz="1200" kern="1200" dirty="0" smtClean="0">
                <a:solidFill>
                  <a:schemeClr val="tx1"/>
                </a:solidFill>
                <a:ea typeface="+mn-ea"/>
                <a:cs typeface="+mn-cs"/>
              </a:rPr>
              <a:t> Pre-prepared sandwiches and filled rolls should be stored under refrigeration – where they are not so stored, some system must apply (such as the use of colour-coded stick-on labels, or written times on the wrapping/container) that will allow control over the length of time the food spends in the Temperature Danger </a:t>
            </a:r>
            <a:r>
              <a:rPr lang="en-AU" sz="1200" kern="1200" dirty="0" smtClean="0">
                <a:solidFill>
                  <a:schemeClr val="tx1"/>
                </a:solidFill>
                <a:ea typeface="+mn-ea"/>
                <a:cs typeface="+mn-cs"/>
              </a:rPr>
              <a:t>Zone</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Pre-prepared sandwiches and/or filled rolls must not be sold/eaten when they have spent four hours or more in the Temperature Danger Zone</a:t>
            </a:r>
          </a:p>
          <a:p>
            <a:pPr>
              <a:buFont typeface="Arial" pitchFamily="34" charset="0"/>
              <a:buChar char="•"/>
            </a:pPr>
            <a:r>
              <a:rPr lang="en-AU" sz="1200" kern="1200" dirty="0" smtClean="0">
                <a:solidFill>
                  <a:schemeClr val="tx1"/>
                </a:solidFill>
                <a:ea typeface="+mn-ea"/>
                <a:cs typeface="+mn-cs"/>
              </a:rPr>
              <a:t> FSPs usually require records to be kept of the temperature of cold food display/holding units – on a daily or sessional basis.</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Class Activity – Demonstration</a:t>
            </a:r>
          </a:p>
          <a:p>
            <a:r>
              <a:rPr lang="en-AU" sz="1200" b="0" kern="1200" dirty="0" smtClean="0">
                <a:solidFill>
                  <a:schemeClr val="tx1"/>
                </a:solidFill>
                <a:ea typeface="+mn-ea"/>
                <a:cs typeface="+mn-cs"/>
              </a:rPr>
              <a:t>Trainer demonstrates:</a:t>
            </a:r>
          </a:p>
          <a:p>
            <a:pPr>
              <a:buFont typeface="Arial" pitchFamily="34" charset="0"/>
              <a:buChar char="•"/>
            </a:pPr>
            <a:r>
              <a:rPr lang="en-AU" sz="1200" b="0" kern="1200" baseline="0" dirty="0" smtClean="0">
                <a:solidFill>
                  <a:schemeClr val="tx1"/>
                </a:solidFill>
                <a:ea typeface="+mn-ea"/>
                <a:cs typeface="+mn-cs"/>
              </a:rPr>
              <a:t> How to take the temperature of food in a refrigerated food cabinet</a:t>
            </a:r>
          </a:p>
          <a:p>
            <a:pPr>
              <a:buFont typeface="Arial" pitchFamily="34" charset="0"/>
              <a:buChar char="•"/>
            </a:pPr>
            <a:r>
              <a:rPr lang="en-AU" sz="1200" b="0" kern="1200" baseline="0" dirty="0" smtClean="0">
                <a:solidFill>
                  <a:schemeClr val="tx1"/>
                </a:solidFill>
                <a:ea typeface="+mn-ea"/>
                <a:cs typeface="+mn-cs"/>
              </a:rPr>
              <a:t> How to record temperature data on relevant food safety record.</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holding/display of frozen food stating:</a:t>
            </a:r>
          </a:p>
          <a:p>
            <a:pPr>
              <a:buFont typeface="Arial" pitchFamily="34" charset="0"/>
              <a:buChar char="•"/>
            </a:pPr>
            <a:r>
              <a:rPr lang="en-AU" sz="1200" kern="1200" dirty="0" smtClean="0">
                <a:solidFill>
                  <a:schemeClr val="tx1"/>
                </a:solidFill>
                <a:ea typeface="+mn-ea"/>
                <a:cs typeface="+mn-cs"/>
              </a:rPr>
              <a:t> Where the business displays or holds frozen food there is a requirement the display unit holds food so it remains ‘hard frozen’ while on </a:t>
            </a:r>
            <a:r>
              <a:rPr lang="en-AU" sz="1200" kern="1200" dirty="0" smtClean="0">
                <a:solidFill>
                  <a:schemeClr val="tx1"/>
                </a:solidFill>
                <a:ea typeface="+mn-ea"/>
                <a:cs typeface="+mn-cs"/>
              </a:rPr>
              <a:t>display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A temperature of minus 15˚C or less is </a:t>
            </a:r>
            <a:r>
              <a:rPr lang="en-AU" sz="1200" kern="1200" dirty="0" smtClean="0">
                <a:solidFill>
                  <a:schemeClr val="tx1"/>
                </a:solidFill>
                <a:ea typeface="+mn-ea"/>
                <a:cs typeface="+mn-cs"/>
              </a:rPr>
              <a:t>recommended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FSP temperature records will need to be maintained.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a:t>
            </a:r>
            <a:r>
              <a:rPr lang="en-AU" sz="1200" kern="1200" dirty="0" smtClean="0">
                <a:solidFill>
                  <a:schemeClr val="tx1"/>
                </a:solidFill>
                <a:ea typeface="+mn-ea"/>
                <a:cs typeface="+mn-cs"/>
              </a:rPr>
              <a:t>equipment used to hold or display hot food includes:</a:t>
            </a:r>
          </a:p>
          <a:p>
            <a:pPr>
              <a:buFont typeface="Arial" pitchFamily="34" charset="0"/>
              <a:buChar char="•"/>
            </a:pPr>
            <a:r>
              <a:rPr lang="en-AU" sz="1200" kern="1200" dirty="0" smtClean="0">
                <a:solidFill>
                  <a:schemeClr val="tx1"/>
                </a:solidFill>
                <a:ea typeface="+mn-ea"/>
                <a:cs typeface="+mn-cs"/>
              </a:rPr>
              <a:t> Bain maries</a:t>
            </a:r>
          </a:p>
          <a:p>
            <a:pPr>
              <a:buFont typeface="Arial" pitchFamily="34" charset="0"/>
              <a:buChar char="•"/>
            </a:pPr>
            <a:r>
              <a:rPr lang="en-AU" sz="1200" kern="1200" dirty="0" smtClean="0">
                <a:solidFill>
                  <a:schemeClr val="tx1"/>
                </a:solidFill>
                <a:ea typeface="+mn-ea"/>
                <a:cs typeface="+mn-cs"/>
              </a:rPr>
              <a:t> Pie warmers</a:t>
            </a:r>
          </a:p>
          <a:p>
            <a:pPr>
              <a:buFont typeface="Arial" pitchFamily="34" charset="0"/>
              <a:buChar char="•"/>
            </a:pPr>
            <a:r>
              <a:rPr lang="en-AU" sz="1200" kern="1200" dirty="0" smtClean="0">
                <a:solidFill>
                  <a:schemeClr val="tx1"/>
                </a:solidFill>
                <a:ea typeface="+mn-ea"/>
                <a:cs typeface="+mn-cs"/>
              </a:rPr>
              <a:t> Hot food cabinets.</a:t>
            </a:r>
          </a:p>
          <a:p>
            <a:pPr>
              <a:buFont typeface="Arial" pitchFamily="34" charset="0"/>
              <a:buNone/>
            </a:pPr>
            <a:endParaRPr lang="en-US" dirty="0" smtClean="0"/>
          </a:p>
          <a:p>
            <a:pPr>
              <a:buFont typeface="Arial" pitchFamily="34" charset="0"/>
              <a:buNone/>
            </a:pPr>
            <a:r>
              <a:rPr lang="en-US" b="1" dirty="0" smtClean="0"/>
              <a:t>Class Activity – Resource Identification</a:t>
            </a:r>
          </a:p>
          <a:p>
            <a:pPr>
              <a:buFont typeface="Arial" pitchFamily="34" charset="0"/>
              <a:buNone/>
            </a:pPr>
            <a:r>
              <a:rPr lang="en-US" b="0" dirty="0" smtClean="0"/>
              <a:t>Trainer shows students examples of equipment as identified on slide and explains how to use the items.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advice on </a:t>
            </a:r>
            <a:r>
              <a:rPr lang="en-AU" sz="1200" kern="1200" dirty="0" smtClean="0">
                <a:solidFill>
                  <a:schemeClr val="tx1"/>
                </a:solidFill>
                <a:ea typeface="+mn-ea"/>
                <a:cs typeface="+mn-cs"/>
              </a:rPr>
              <a:t>using hot food display/holding units:</a:t>
            </a:r>
          </a:p>
          <a:p>
            <a:pPr>
              <a:buFont typeface="Arial" pitchFamily="34" charset="0"/>
              <a:buChar char="•"/>
            </a:pPr>
            <a:r>
              <a:rPr lang="en-AU" sz="1200" kern="1200" dirty="0" smtClean="0">
                <a:solidFill>
                  <a:schemeClr val="tx1"/>
                </a:solidFill>
                <a:ea typeface="+mn-ea"/>
                <a:cs typeface="+mn-cs"/>
              </a:rPr>
              <a:t> The temperature of the food must be over 60°C (above/out of the Temperature Danger Zone ) – or the 2/4 Rule must be applied</a:t>
            </a:r>
          </a:p>
          <a:p>
            <a:pPr>
              <a:buFont typeface="Arial" pitchFamily="34" charset="0"/>
              <a:buChar char="•"/>
            </a:pPr>
            <a:r>
              <a:rPr lang="en-AU" sz="1200" kern="1200" dirty="0" smtClean="0">
                <a:solidFill>
                  <a:schemeClr val="tx1"/>
                </a:solidFill>
                <a:ea typeface="+mn-ea"/>
                <a:cs typeface="+mn-cs"/>
              </a:rPr>
              <a:t> Food to be put in hot food cabinets must be preheated rapidly before being placed in the cabinet – never place refrigerated food directly into hot food units</a:t>
            </a:r>
          </a:p>
          <a:p>
            <a:pPr>
              <a:buFont typeface="Arial" pitchFamily="34" charset="0"/>
              <a:buChar char="•"/>
            </a:pPr>
            <a:r>
              <a:rPr lang="en-AU" sz="1200" kern="1200" dirty="0" smtClean="0">
                <a:solidFill>
                  <a:schemeClr val="tx1"/>
                </a:solidFill>
                <a:ea typeface="+mn-ea"/>
                <a:cs typeface="+mn-cs"/>
              </a:rPr>
              <a:t> Turn on the units and pre-heat them – before pre-heated food is placed into them</a:t>
            </a:r>
          </a:p>
          <a:p>
            <a:pPr>
              <a:buFont typeface="Arial" pitchFamily="34" charset="0"/>
              <a:buChar char="•"/>
            </a:pPr>
            <a:r>
              <a:rPr lang="en-AU" sz="1200" kern="1200" dirty="0" smtClean="0">
                <a:solidFill>
                  <a:schemeClr val="tx1"/>
                </a:solidFill>
                <a:ea typeface="+mn-ea"/>
                <a:cs typeface="+mn-cs"/>
              </a:rPr>
              <a:t> Food should be served in the order it was placed in the cabinet – to minimise risk of contamination, as well as guard against loss of taste, appearance and </a:t>
            </a:r>
            <a:r>
              <a:rPr lang="en-AU" sz="1200" kern="1200" dirty="0" smtClean="0">
                <a:solidFill>
                  <a:schemeClr val="tx1"/>
                </a:solidFill>
                <a:ea typeface="+mn-ea"/>
                <a:cs typeface="+mn-cs"/>
              </a:rPr>
              <a:t>quality.</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providing advice on </a:t>
            </a:r>
            <a:r>
              <a:rPr lang="en-AU" sz="1200" kern="1200" dirty="0" smtClean="0">
                <a:solidFill>
                  <a:schemeClr val="tx1"/>
                </a:solidFill>
                <a:ea typeface="+mn-ea"/>
                <a:cs typeface="+mn-cs"/>
              </a:rPr>
              <a:t>using hot food display/holding units:</a:t>
            </a:r>
          </a:p>
          <a:p>
            <a:pPr>
              <a:buFont typeface="Arial" pitchFamily="34" charset="0"/>
              <a:buChar char="•"/>
            </a:pPr>
            <a:r>
              <a:rPr lang="en-AU" sz="1200" kern="1200" dirty="0" smtClean="0">
                <a:solidFill>
                  <a:schemeClr val="tx1"/>
                </a:solidFill>
                <a:ea typeface="+mn-ea"/>
                <a:cs typeface="+mn-cs"/>
              </a:rPr>
              <a:t> Hot foods left from the day before should be served before foods cooked today – appropriate stock rotation must apply</a:t>
            </a:r>
          </a:p>
          <a:p>
            <a:pPr lvl="1">
              <a:buFont typeface="Arial" pitchFamily="34" charset="0"/>
              <a:buChar char="•"/>
            </a:pPr>
            <a:r>
              <a:rPr lang="en-AU" sz="1200" kern="1200" dirty="0" smtClean="0">
                <a:solidFill>
                  <a:schemeClr val="tx1"/>
                </a:solidFill>
                <a:ea typeface="+mn-ea"/>
                <a:cs typeface="+mn-cs"/>
              </a:rPr>
              <a:t> Note some premises follow a standard operating procedure of discarding all left-over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Temperatures of food must be regularly checked (at least daily) – using an independent thermometer </a:t>
            </a:r>
          </a:p>
          <a:p>
            <a:pPr>
              <a:buFont typeface="Arial" pitchFamily="34" charset="0"/>
              <a:buChar char="•"/>
            </a:pPr>
            <a:r>
              <a:rPr lang="en-AU" sz="1200" kern="1200" dirty="0" smtClean="0">
                <a:solidFill>
                  <a:schemeClr val="tx1"/>
                </a:solidFill>
                <a:ea typeface="+mn-ea"/>
                <a:cs typeface="+mn-cs"/>
              </a:rPr>
              <a:t> Food containers must not be topped-up – but emptied before being replaced with fresh food to avoid mixing batches.</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Class Activity – Demonstration and Practical</a:t>
            </a:r>
          </a:p>
          <a:p>
            <a:r>
              <a:rPr lang="en-AU" sz="1200" b="0" kern="1200" dirty="0" smtClean="0">
                <a:solidFill>
                  <a:schemeClr val="tx1"/>
                </a:solidFill>
                <a:ea typeface="+mn-ea"/>
                <a:cs typeface="+mn-cs"/>
              </a:rPr>
              <a:t>Trainer demonstrates:</a:t>
            </a:r>
          </a:p>
          <a:p>
            <a:pPr>
              <a:buFont typeface="Arial" pitchFamily="34" charset="0"/>
              <a:buChar char="•"/>
            </a:pPr>
            <a:r>
              <a:rPr lang="en-AU" sz="1200" b="0" kern="1200" baseline="0" dirty="0" smtClean="0">
                <a:solidFill>
                  <a:schemeClr val="tx1"/>
                </a:solidFill>
                <a:ea typeface="+mn-ea"/>
                <a:cs typeface="+mn-cs"/>
              </a:rPr>
              <a:t> How to take the temperature of food in a hot food cabinet</a:t>
            </a:r>
          </a:p>
          <a:p>
            <a:pPr>
              <a:buFont typeface="Arial" pitchFamily="34" charset="0"/>
              <a:buChar char="•"/>
            </a:pPr>
            <a:r>
              <a:rPr lang="en-AU" sz="1200" b="0" kern="1200" baseline="0" dirty="0" smtClean="0">
                <a:solidFill>
                  <a:schemeClr val="tx1"/>
                </a:solidFill>
                <a:ea typeface="+mn-ea"/>
                <a:cs typeface="+mn-cs"/>
              </a:rPr>
              <a:t> How to record temperature data on relevant food safety record.</a:t>
            </a:r>
            <a:endParaRPr lang="en-AU" sz="1200" b="0" kern="1200" dirty="0" smtClean="0">
              <a:solidFill>
                <a:schemeClr val="tx1"/>
              </a:solidFill>
              <a:ea typeface="+mn-ea"/>
              <a:cs typeface="+mn-cs"/>
            </a:endParaRPr>
          </a:p>
          <a:p>
            <a:r>
              <a:rPr lang="en-US" b="0" baseline="0" dirty="0" smtClean="0"/>
              <a:t>Trainer also provides opportunity for students to do same.</a:t>
            </a: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it </a:t>
            </a:r>
            <a:r>
              <a:rPr lang="en-AU" sz="1200" kern="1200" dirty="0" smtClean="0">
                <a:solidFill>
                  <a:schemeClr val="tx1"/>
                </a:solidFill>
                <a:ea typeface="+mn-ea"/>
                <a:cs typeface="+mn-cs"/>
              </a:rPr>
              <a:t>is important to reheat menu items properly to maintain food quality and retain the safety of food</a:t>
            </a:r>
            <a:r>
              <a:rPr lang="en-AU" sz="1200" kern="1200" baseline="0" dirty="0" smtClean="0">
                <a:solidFill>
                  <a:schemeClr val="tx1"/>
                </a:solidFill>
                <a:ea typeface="+mn-ea"/>
                <a:cs typeface="+mn-cs"/>
              </a:rPr>
              <a:t> explaining </a:t>
            </a:r>
            <a:r>
              <a:rPr lang="en-AU" sz="1200" kern="1200" dirty="0" smtClean="0">
                <a:solidFill>
                  <a:schemeClr val="tx1"/>
                </a:solidFill>
                <a:ea typeface="+mn-ea"/>
                <a:cs typeface="+mn-cs"/>
              </a:rPr>
              <a:t>there can be a need to re-heat menu items:</a:t>
            </a:r>
          </a:p>
          <a:p>
            <a:pPr>
              <a:buFont typeface="Arial" pitchFamily="34" charset="0"/>
              <a:buChar char="•"/>
            </a:pPr>
            <a:r>
              <a:rPr lang="en-AU" sz="1200" kern="1200" dirty="0" smtClean="0">
                <a:solidFill>
                  <a:schemeClr val="tx1"/>
                </a:solidFill>
                <a:ea typeface="+mn-ea"/>
                <a:cs typeface="+mn-cs"/>
              </a:rPr>
              <a:t> When preparing left-overs – left-over food should only ever be re-heated once, and then discarded if not served/sold</a:t>
            </a:r>
          </a:p>
          <a:p>
            <a:pPr>
              <a:buFont typeface="Arial" pitchFamily="34" charset="0"/>
              <a:buChar char="•"/>
            </a:pPr>
            <a:r>
              <a:rPr lang="en-AU" sz="1200" kern="1200" dirty="0" smtClean="0">
                <a:solidFill>
                  <a:schemeClr val="tx1"/>
                </a:solidFill>
                <a:ea typeface="+mn-ea"/>
                <a:cs typeface="+mn-cs"/>
              </a:rPr>
              <a:t> When preparing food which has been previously cooked and then intentionally refrigerated or frozen for later use.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advice regarding re-heating previously cooked food:</a:t>
            </a:r>
          </a:p>
          <a:p>
            <a:pPr>
              <a:buFont typeface="Arial" pitchFamily="34" charset="0"/>
              <a:buChar char="•"/>
            </a:pPr>
            <a:r>
              <a:rPr lang="en-AU" sz="1200" kern="1200" dirty="0" smtClean="0">
                <a:solidFill>
                  <a:schemeClr val="tx1"/>
                </a:solidFill>
                <a:ea typeface="+mn-ea"/>
                <a:cs typeface="+mn-cs"/>
              </a:rPr>
              <a:t> Reheat in small quantities, not large – this reduces the time food spends in the Temperature Danger Zone (5°C – 60°C)</a:t>
            </a:r>
          </a:p>
          <a:p>
            <a:pPr>
              <a:buFont typeface="Arial" pitchFamily="34" charset="0"/>
              <a:buChar char="•"/>
            </a:pPr>
            <a:r>
              <a:rPr lang="en-AU" sz="1200" kern="1200" dirty="0" smtClean="0">
                <a:solidFill>
                  <a:schemeClr val="tx1"/>
                </a:solidFill>
                <a:ea typeface="+mn-ea"/>
                <a:cs typeface="+mn-cs"/>
              </a:rPr>
              <a:t> Follow designated re-heating practices specified in the FSP for your workplace – this may include:</a:t>
            </a:r>
          </a:p>
          <a:p>
            <a:pPr lvl="1">
              <a:buFont typeface="Arial" pitchFamily="34" charset="0"/>
              <a:buChar char="•"/>
            </a:pPr>
            <a:r>
              <a:rPr lang="en-AU" sz="1200" kern="1200" dirty="0" smtClean="0">
                <a:solidFill>
                  <a:schemeClr val="tx1"/>
                </a:solidFill>
                <a:ea typeface="+mn-ea"/>
                <a:cs typeface="+mn-cs"/>
              </a:rPr>
              <a:t> Re-heating in a microwave oven</a:t>
            </a:r>
          </a:p>
          <a:p>
            <a:pPr lvl="1">
              <a:buFont typeface="Arial" pitchFamily="34" charset="0"/>
              <a:buChar char="•"/>
            </a:pPr>
            <a:r>
              <a:rPr lang="en-AU" sz="1200" kern="1200" dirty="0" smtClean="0">
                <a:solidFill>
                  <a:schemeClr val="tx1"/>
                </a:solidFill>
                <a:ea typeface="+mn-ea"/>
                <a:cs typeface="+mn-cs"/>
              </a:rPr>
              <a:t> Using a pot on top of a stove/range</a:t>
            </a:r>
          </a:p>
          <a:p>
            <a:pPr lvl="1">
              <a:buFont typeface="Arial" pitchFamily="34" charset="0"/>
              <a:buChar char="•"/>
            </a:pPr>
            <a:r>
              <a:rPr lang="en-AU" sz="1200" kern="1200" dirty="0" smtClean="0">
                <a:solidFill>
                  <a:schemeClr val="tx1"/>
                </a:solidFill>
                <a:ea typeface="+mn-ea"/>
                <a:cs typeface="+mn-cs"/>
              </a:rPr>
              <a:t> Re-heating in an oven</a:t>
            </a:r>
          </a:p>
          <a:p>
            <a:pPr lvl="1">
              <a:buFont typeface="Arial" pitchFamily="34" charset="0"/>
              <a:buChar char="•"/>
            </a:pPr>
            <a:r>
              <a:rPr lang="en-AU" sz="1200" kern="1200" dirty="0" smtClean="0">
                <a:solidFill>
                  <a:schemeClr val="tx1"/>
                </a:solidFill>
                <a:ea typeface="+mn-ea"/>
                <a:cs typeface="+mn-cs"/>
              </a:rPr>
              <a:t> Recording re-heating of food in accordance with FSP requirements – which may require you (for example) to record on a nominated basis (say, every two weeks the details of actual workplace re-heating, such as:</a:t>
            </a:r>
          </a:p>
          <a:p>
            <a:pPr lvl="2">
              <a:buFont typeface="Arial" pitchFamily="34" charset="0"/>
              <a:buChar char="•"/>
            </a:pPr>
            <a:r>
              <a:rPr lang="en-AU" sz="1200" kern="1200" dirty="0" smtClean="0">
                <a:solidFill>
                  <a:schemeClr val="tx1"/>
                </a:solidFill>
                <a:ea typeface="+mn-ea"/>
                <a:cs typeface="+mn-cs"/>
              </a:rPr>
              <a:t> Type and quantity of food which was re-heated </a:t>
            </a:r>
          </a:p>
          <a:p>
            <a:pPr lvl="2">
              <a:buFont typeface="Arial" pitchFamily="34" charset="0"/>
              <a:buChar char="•"/>
            </a:pPr>
            <a:r>
              <a:rPr lang="en-AU" sz="1200" kern="1200" dirty="0" smtClean="0">
                <a:solidFill>
                  <a:schemeClr val="tx1"/>
                </a:solidFill>
                <a:ea typeface="+mn-ea"/>
                <a:cs typeface="+mn-cs"/>
              </a:rPr>
              <a:t> Dates and times</a:t>
            </a:r>
          </a:p>
          <a:p>
            <a:pPr lvl="2">
              <a:buFont typeface="Arial" pitchFamily="34" charset="0"/>
              <a:buChar char="•"/>
            </a:pPr>
            <a:r>
              <a:rPr lang="en-AU" sz="1200" kern="1200" dirty="0" smtClean="0">
                <a:solidFill>
                  <a:schemeClr val="tx1"/>
                </a:solidFill>
                <a:ea typeface="+mn-ea"/>
                <a:cs typeface="+mn-cs"/>
              </a:rPr>
              <a:t> Method used for the process</a:t>
            </a:r>
          </a:p>
          <a:p>
            <a:pPr lvl="2">
              <a:buFont typeface="Arial" pitchFamily="34" charset="0"/>
              <a:buChar char="•"/>
            </a:pPr>
            <a:r>
              <a:rPr lang="en-AU" sz="1200" kern="1200" dirty="0" smtClean="0">
                <a:solidFill>
                  <a:schemeClr val="tx1"/>
                </a:solidFill>
                <a:ea typeface="+mn-ea"/>
                <a:cs typeface="+mn-cs"/>
              </a:rPr>
              <a:t> Start and finish temperatures</a:t>
            </a:r>
          </a:p>
          <a:p>
            <a:pPr lvl="2">
              <a:buFont typeface="Arial" pitchFamily="34" charset="0"/>
              <a:buChar char="•"/>
            </a:pPr>
            <a:r>
              <a:rPr lang="en-AU" sz="1200" kern="1200" dirty="0" smtClean="0">
                <a:solidFill>
                  <a:schemeClr val="tx1"/>
                </a:solidFill>
                <a:ea typeface="+mn-ea"/>
                <a:cs typeface="+mn-cs"/>
              </a:rPr>
              <a:t> Name of staff member who performed the </a:t>
            </a:r>
            <a:r>
              <a:rPr lang="en-AU" sz="1200" kern="1200" dirty="0" smtClean="0">
                <a:solidFill>
                  <a:schemeClr val="tx1"/>
                </a:solidFill>
                <a:ea typeface="+mn-ea"/>
                <a:cs typeface="+mn-cs"/>
              </a:rPr>
              <a:t>process.</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 </a:t>
            </a:r>
            <a:r>
              <a:rPr lang="en-AU" sz="1200" b="1" kern="1200" dirty="0" smtClean="0">
                <a:solidFill>
                  <a:schemeClr val="tx1"/>
                </a:solidFill>
                <a:ea typeface="+mn-ea"/>
                <a:cs typeface="+mn-cs"/>
              </a:rPr>
              <a:t>and Practical</a:t>
            </a:r>
            <a:endParaRPr lang="en-US" b="1" dirty="0" smtClean="0"/>
          </a:p>
          <a:p>
            <a:pPr>
              <a:buFont typeface="Arial" pitchFamily="34" charset="0"/>
              <a:buNone/>
            </a:pPr>
            <a:r>
              <a:rPr lang="en-US" b="0" dirty="0" smtClean="0"/>
              <a:t>Trainer demonstrates:</a:t>
            </a:r>
          </a:p>
          <a:p>
            <a:pPr>
              <a:buFont typeface="Arial" pitchFamily="34" charset="0"/>
              <a:buChar char="•"/>
            </a:pPr>
            <a:r>
              <a:rPr lang="en-US" b="0" dirty="0" smtClean="0"/>
              <a:t> Safe re-heating practices for previously cooked food</a:t>
            </a:r>
          </a:p>
          <a:p>
            <a:pPr>
              <a:buFont typeface="Arial" pitchFamily="34" charset="0"/>
              <a:buChar char="•"/>
            </a:pPr>
            <a:r>
              <a:rPr lang="en-US" b="0" dirty="0" smtClean="0"/>
              <a:t> Completion of FSP</a:t>
            </a:r>
            <a:r>
              <a:rPr lang="en-US" b="0" baseline="0" dirty="0" smtClean="0"/>
              <a:t> records to track/record re-heating practices.</a:t>
            </a:r>
          </a:p>
          <a:p>
            <a:pPr>
              <a:buFont typeface="Arial" pitchFamily="34" charset="0"/>
              <a:buNone/>
            </a:pPr>
            <a:r>
              <a:rPr lang="en-US" b="0" baseline="0" dirty="0" smtClean="0"/>
              <a:t>Trainer also provides opportunity for students to do same.</a:t>
            </a:r>
            <a:r>
              <a:rPr lang="en-US" b="0" dirty="0" smtClean="0"/>
              <a:t>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regarding re-heating previously cooked food:</a:t>
            </a:r>
          </a:p>
          <a:p>
            <a:pPr>
              <a:buFont typeface="Arial" pitchFamily="34" charset="0"/>
              <a:buChar char="•"/>
            </a:pPr>
            <a:r>
              <a:rPr lang="en-AU" sz="1200" kern="1200" dirty="0" smtClean="0">
                <a:solidFill>
                  <a:schemeClr val="tx1"/>
                </a:solidFill>
                <a:ea typeface="+mn-ea"/>
                <a:cs typeface="+mn-cs"/>
              </a:rPr>
              <a:t> Do not use a bain-marie for reheating – as they are only hot </a:t>
            </a:r>
            <a:r>
              <a:rPr lang="en-AU" sz="1200" i="1" kern="1200" dirty="0" smtClean="0">
                <a:solidFill>
                  <a:schemeClr val="tx1"/>
                </a:solidFill>
                <a:ea typeface="+mn-ea"/>
                <a:cs typeface="+mn-cs"/>
              </a:rPr>
              <a:t>holding</a:t>
            </a:r>
            <a:r>
              <a:rPr lang="en-AU" sz="1200" kern="1200" dirty="0" smtClean="0">
                <a:solidFill>
                  <a:schemeClr val="tx1"/>
                </a:solidFill>
                <a:ea typeface="+mn-ea"/>
                <a:cs typeface="+mn-cs"/>
              </a:rPr>
              <a:t> devices and have not been designed as </a:t>
            </a:r>
            <a:r>
              <a:rPr lang="en-AU" sz="1200" i="1" kern="1200" dirty="0" smtClean="0">
                <a:solidFill>
                  <a:schemeClr val="tx1"/>
                </a:solidFill>
                <a:ea typeface="+mn-ea"/>
                <a:cs typeface="+mn-cs"/>
              </a:rPr>
              <a:t>heating</a:t>
            </a:r>
            <a:r>
              <a:rPr lang="en-AU" sz="1200" kern="1200" dirty="0" smtClean="0">
                <a:solidFill>
                  <a:schemeClr val="tx1"/>
                </a:solidFill>
                <a:ea typeface="+mn-ea"/>
                <a:cs typeface="+mn-cs"/>
              </a:rPr>
              <a:t> units</a:t>
            </a:r>
          </a:p>
          <a:p>
            <a:pPr>
              <a:buFont typeface="Arial" pitchFamily="34" charset="0"/>
              <a:buChar char="•"/>
            </a:pPr>
            <a:r>
              <a:rPr lang="en-AU" sz="1200" kern="1200" dirty="0" smtClean="0">
                <a:solidFill>
                  <a:schemeClr val="tx1"/>
                </a:solidFill>
                <a:ea typeface="+mn-ea"/>
                <a:cs typeface="+mn-cs"/>
              </a:rPr>
              <a:t> Food must be protected from contamination while it is being re-heated – for example, by being covered during the re-heating process</a:t>
            </a:r>
          </a:p>
          <a:p>
            <a:pPr>
              <a:buFont typeface="Arial" pitchFamily="34" charset="0"/>
              <a:buChar char="•"/>
            </a:pPr>
            <a:r>
              <a:rPr lang="en-AU" sz="1200" kern="1200" dirty="0" smtClean="0">
                <a:solidFill>
                  <a:schemeClr val="tx1"/>
                </a:solidFill>
                <a:ea typeface="+mn-ea"/>
                <a:cs typeface="+mn-cs"/>
              </a:rPr>
              <a:t> The bain-marie must hold the heated food at a minimum 60°C – so as to be above the Temperature Danger Zone (or The 2/4 Rule must be applied</a:t>
            </a:r>
            <a:r>
              <a:rPr lang="en-AU"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regarding re-heating previously cooked food:</a:t>
            </a:r>
          </a:p>
          <a:p>
            <a:pPr>
              <a:buFont typeface="Arial" pitchFamily="34" charset="0"/>
              <a:buChar char="•"/>
            </a:pPr>
            <a:r>
              <a:rPr lang="en-AU" sz="1200" kern="1200" dirty="0" smtClean="0">
                <a:solidFill>
                  <a:schemeClr val="tx1"/>
                </a:solidFill>
                <a:ea typeface="+mn-ea"/>
                <a:cs typeface="+mn-cs"/>
              </a:rPr>
              <a:t> It is preferable for food to be reheated immediately before service – rather than to reheat in bulk and held</a:t>
            </a:r>
          </a:p>
          <a:p>
            <a:pPr>
              <a:buFont typeface="Arial" pitchFamily="34" charset="0"/>
              <a:buChar char="•"/>
            </a:pPr>
            <a:r>
              <a:rPr lang="en-AU" sz="1200" kern="1200" dirty="0" smtClean="0">
                <a:solidFill>
                  <a:schemeClr val="tx1"/>
                </a:solidFill>
                <a:ea typeface="+mn-ea"/>
                <a:cs typeface="+mn-cs"/>
              </a:rPr>
              <a:t> Stir wet dishes held in the bain-marie regularly to make sure the food does not cool down to below 60°C – this applies even where the units have overhead heating lights</a:t>
            </a:r>
          </a:p>
          <a:p>
            <a:pPr>
              <a:buFont typeface="Arial" pitchFamily="34" charset="0"/>
              <a:buChar char="•"/>
            </a:pPr>
            <a:r>
              <a:rPr lang="en-AU" sz="1200" kern="1200" dirty="0" smtClean="0">
                <a:solidFill>
                  <a:schemeClr val="tx1"/>
                </a:solidFill>
                <a:ea typeface="+mn-ea"/>
                <a:cs typeface="+mn-cs"/>
              </a:rPr>
              <a:t> Previously cooked food, coming from the cool room or a refrigerator, that is going to be reheated, must be raised to 70°C (for 2 minutes) as soon as possible and then kept at a minimum of 60°C – never leave previously cooked food sitting around in the kitchen on a preparation bench in the Temperature Danger Zone</a:t>
            </a:r>
          </a:p>
          <a:p>
            <a:pPr>
              <a:buFont typeface="Arial" pitchFamily="34" charset="0"/>
              <a:buChar char="•"/>
            </a:pPr>
            <a:r>
              <a:rPr lang="en-AU" sz="1200" kern="1200" dirty="0" smtClean="0">
                <a:solidFill>
                  <a:schemeClr val="tx1"/>
                </a:solidFill>
                <a:ea typeface="+mn-ea"/>
                <a:cs typeface="+mn-cs"/>
              </a:rPr>
              <a:t> A temperature monitoring probe should be used to check the internal temperatures of food that is re-heated – never rely on guesswork, or the visual appearance of the food. </a:t>
            </a:r>
          </a:p>
          <a:p>
            <a:pPr>
              <a:buFont typeface="Arial" pitchFamily="34" charset="0"/>
              <a:buNone/>
            </a:pPr>
            <a:endParaRPr lang="en-US" dirty="0" smtClean="0"/>
          </a:p>
          <a:p>
            <a:pPr>
              <a:buFont typeface="Arial" pitchFamily="34" charset="0"/>
              <a:buNone/>
            </a:pPr>
            <a:r>
              <a:rPr lang="en-US" b="1" dirty="0" smtClean="0"/>
              <a:t>Class Activity – Demonstration and Practical</a:t>
            </a:r>
          </a:p>
          <a:p>
            <a:pPr>
              <a:buFont typeface="Arial" pitchFamily="34" charset="0"/>
              <a:buNone/>
            </a:pPr>
            <a:r>
              <a:rPr lang="en-US" b="0" dirty="0" smtClean="0"/>
              <a:t>Trainer demonstrates how to re-heat a range of previously cooked food items and</a:t>
            </a:r>
            <a:r>
              <a:rPr lang="en-US" b="0" baseline="0" dirty="0" smtClean="0"/>
              <a:t> monitor temperatures during the process.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also provides opportunity for students to do same.</a:t>
            </a:r>
            <a:r>
              <a:rPr lang="en-US" b="0" dirty="0" smtClean="0"/>
              <a:t> </a:t>
            </a:r>
          </a:p>
          <a:p>
            <a:pPr>
              <a:buFont typeface="Arial" pitchFamily="34" charset="0"/>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all food produced by a kitchen should be served and presented to match expected customer volume</a:t>
            </a:r>
            <a:r>
              <a:rPr lang="en-AU" sz="1200" kern="1200" baseline="0" dirty="0" smtClean="0">
                <a:solidFill>
                  <a:schemeClr val="tx1"/>
                </a:solidFill>
                <a:ea typeface="+mn-ea"/>
                <a:cs typeface="+mn-cs"/>
              </a:rPr>
              <a:t> noting </a:t>
            </a:r>
            <a:r>
              <a:rPr lang="en-AU" sz="1200" kern="1200" dirty="0" smtClean="0">
                <a:solidFill>
                  <a:schemeClr val="tx1"/>
                </a:solidFill>
                <a:ea typeface="+mn-ea"/>
                <a:cs typeface="+mn-cs"/>
              </a:rPr>
              <a:t>the expected demand for food for a service can be determined by using a combination of approaches:</a:t>
            </a:r>
          </a:p>
          <a:p>
            <a:pPr>
              <a:buFont typeface="Arial" pitchFamily="34" charset="0"/>
              <a:buChar char="•"/>
            </a:pPr>
            <a:r>
              <a:rPr lang="en-AU" sz="1200" kern="1200" dirty="0" smtClean="0">
                <a:solidFill>
                  <a:schemeClr val="tx1"/>
                </a:solidFill>
                <a:ea typeface="+mn-ea"/>
                <a:cs typeface="+mn-cs"/>
              </a:rPr>
              <a:t> Checking the bookings/reservations which have been received</a:t>
            </a:r>
          </a:p>
          <a:p>
            <a:pPr>
              <a:buFont typeface="Arial" pitchFamily="34" charset="0"/>
              <a:buChar char="•"/>
            </a:pPr>
            <a:r>
              <a:rPr lang="en-AU" sz="1200" kern="1200" dirty="0" smtClean="0">
                <a:solidFill>
                  <a:schemeClr val="tx1"/>
                </a:solidFill>
                <a:ea typeface="+mn-ea"/>
                <a:cs typeface="+mn-cs"/>
              </a:rPr>
              <a:t> Reading the ‘function sheet/file’ – where the session is for a function/event</a:t>
            </a:r>
          </a:p>
          <a:p>
            <a:pPr>
              <a:buFont typeface="Arial" pitchFamily="34" charset="0"/>
              <a:buChar char="•"/>
            </a:pPr>
            <a:r>
              <a:rPr lang="en-AU" sz="1200" kern="1200" dirty="0" smtClean="0">
                <a:solidFill>
                  <a:schemeClr val="tx1"/>
                </a:solidFill>
                <a:ea typeface="+mn-ea"/>
                <a:cs typeface="+mn-cs"/>
              </a:rPr>
              <a:t> Reviewing past trading data</a:t>
            </a:r>
          </a:p>
          <a:p>
            <a:pPr>
              <a:buFont typeface="Arial" pitchFamily="34" charset="0"/>
              <a:buChar char="•"/>
            </a:pPr>
            <a:r>
              <a:rPr lang="en-AU" sz="1200" kern="1200" dirty="0" smtClean="0">
                <a:solidFill>
                  <a:schemeClr val="tx1"/>
                </a:solidFill>
                <a:ea typeface="+mn-ea"/>
                <a:cs typeface="+mn-cs"/>
              </a:rPr>
              <a:t> Talking to experienced venue/kitchen staff.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lists reasons </a:t>
            </a:r>
            <a:r>
              <a:rPr lang="en-AU" sz="1200" kern="1200" dirty="0" smtClean="0">
                <a:solidFill>
                  <a:schemeClr val="tx1"/>
                </a:solidFill>
                <a:ea typeface="+mn-ea"/>
                <a:cs typeface="+mn-cs"/>
              </a:rPr>
              <a:t>to determine expected demand for food for a service session are to:</a:t>
            </a:r>
          </a:p>
          <a:p>
            <a:pPr>
              <a:buFont typeface="Arial" pitchFamily="34" charset="0"/>
              <a:buChar char="•"/>
            </a:pPr>
            <a:r>
              <a:rPr lang="en-AU" sz="1200" kern="1200" dirty="0" smtClean="0">
                <a:solidFill>
                  <a:schemeClr val="tx1"/>
                </a:solidFill>
                <a:ea typeface="+mn-ea"/>
                <a:cs typeface="+mn-cs"/>
              </a:rPr>
              <a:t> Target production to the anticipated demand</a:t>
            </a:r>
          </a:p>
          <a:p>
            <a:pPr>
              <a:buFont typeface="Arial" pitchFamily="34" charset="0"/>
              <a:buChar char="•"/>
            </a:pPr>
            <a:r>
              <a:rPr lang="en-AU" sz="1200" kern="1200" dirty="0" smtClean="0">
                <a:solidFill>
                  <a:schemeClr val="tx1"/>
                </a:solidFill>
                <a:ea typeface="+mn-ea"/>
                <a:cs typeface="+mn-cs"/>
              </a:rPr>
              <a:t> Save waste/over-production</a:t>
            </a:r>
          </a:p>
          <a:p>
            <a:pPr>
              <a:buFont typeface="Arial" pitchFamily="34" charset="0"/>
              <a:buChar char="•"/>
            </a:pPr>
            <a:r>
              <a:rPr lang="en-AU" sz="1200" kern="1200" dirty="0" smtClean="0">
                <a:solidFill>
                  <a:schemeClr val="tx1"/>
                </a:solidFill>
                <a:ea typeface="+mn-ea"/>
                <a:cs typeface="+mn-cs"/>
              </a:rPr>
              <a:t> Reduce the potential for left-over food – which has to be saved for later use/re-heating</a:t>
            </a:r>
          </a:p>
          <a:p>
            <a:pPr>
              <a:buFont typeface="Arial" pitchFamily="34" charset="0"/>
              <a:buChar char="•"/>
            </a:pPr>
            <a:r>
              <a:rPr lang="en-AU" sz="1200" kern="1200" dirty="0" smtClean="0">
                <a:solidFill>
                  <a:schemeClr val="tx1"/>
                </a:solidFill>
                <a:ea typeface="+mn-ea"/>
                <a:cs typeface="+mn-cs"/>
              </a:rPr>
              <a:t> Display/hold only the quantity of food expected to be required for the session.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t>
            </a:r>
            <a:r>
              <a:rPr lang="en-AU" sz="1200" kern="1200" dirty="0" smtClean="0">
                <a:solidFill>
                  <a:schemeClr val="tx1"/>
                </a:solidFill>
                <a:ea typeface="+mn-ea"/>
                <a:cs typeface="+mn-cs"/>
              </a:rPr>
              <a:t>issues warranting attention in relation to the service and presentation of food include:</a:t>
            </a:r>
          </a:p>
          <a:p>
            <a:pPr>
              <a:buFont typeface="Arial" pitchFamily="34" charset="0"/>
              <a:buChar char="•"/>
            </a:pPr>
            <a:r>
              <a:rPr lang="en-AU" sz="1200" kern="1200" dirty="0" smtClean="0">
                <a:solidFill>
                  <a:schemeClr val="tx1"/>
                </a:solidFill>
                <a:ea typeface="+mn-ea"/>
                <a:cs typeface="+mn-cs"/>
              </a:rPr>
              <a:t> Protecting food at all times from contamination</a:t>
            </a:r>
          </a:p>
          <a:p>
            <a:pPr>
              <a:buFont typeface="Arial" pitchFamily="34" charset="0"/>
              <a:buChar char="•"/>
            </a:pPr>
            <a:r>
              <a:rPr lang="en-AU" sz="1200" kern="1200" dirty="0" smtClean="0">
                <a:solidFill>
                  <a:schemeClr val="tx1"/>
                </a:solidFill>
                <a:ea typeface="+mn-ea"/>
                <a:cs typeface="+mn-cs"/>
              </a:rPr>
              <a:t> Maintaining food at the correct temperatures</a:t>
            </a:r>
          </a:p>
          <a:p>
            <a:pPr>
              <a:buFont typeface="Arial" pitchFamily="34" charset="0"/>
              <a:buChar char="•"/>
            </a:pPr>
            <a:r>
              <a:rPr lang="en-AU" sz="1200" kern="1200" dirty="0" smtClean="0">
                <a:solidFill>
                  <a:schemeClr val="tx1"/>
                </a:solidFill>
                <a:ea typeface="+mn-ea"/>
                <a:cs typeface="+mn-cs"/>
              </a:rPr>
              <a:t> Using designated utensils for serving food items</a:t>
            </a:r>
          </a:p>
          <a:p>
            <a:pPr>
              <a:buFont typeface="Arial" pitchFamily="34" charset="0"/>
              <a:buChar char="•"/>
            </a:pPr>
            <a:r>
              <a:rPr lang="en-AU" sz="1200" kern="1200" dirty="0" smtClean="0">
                <a:solidFill>
                  <a:schemeClr val="tx1"/>
                </a:solidFill>
                <a:ea typeface="+mn-ea"/>
                <a:cs typeface="+mn-cs"/>
              </a:rPr>
              <a:t> Controlling portion sizes for each dish </a:t>
            </a:r>
          </a:p>
          <a:p>
            <a:pPr>
              <a:buFont typeface="Arial" pitchFamily="34" charset="0"/>
              <a:buChar char="•"/>
            </a:pPr>
            <a:r>
              <a:rPr lang="en-AU" sz="1200" kern="1200" dirty="0" smtClean="0">
                <a:solidFill>
                  <a:schemeClr val="tx1"/>
                </a:solidFill>
                <a:ea typeface="+mn-ea"/>
                <a:cs typeface="+mn-cs"/>
              </a:rPr>
              <a:t> Verifying only clean and sanitised items are used for the service of </a:t>
            </a:r>
            <a:r>
              <a:rPr lang="en-AU" sz="1200" kern="1200" dirty="0" smtClean="0">
                <a:solidFill>
                  <a:schemeClr val="tx1"/>
                </a:solidFill>
                <a:ea typeface="+mn-ea"/>
                <a:cs typeface="+mn-cs"/>
              </a:rPr>
              <a:t>food.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presenting </a:t>
            </a:r>
            <a:r>
              <a:rPr lang="en-AU" sz="1200" kern="1200" dirty="0" smtClean="0">
                <a:solidFill>
                  <a:schemeClr val="tx1"/>
                </a:solidFill>
                <a:ea typeface="+mn-ea"/>
                <a:cs typeface="+mn-cs"/>
              </a:rPr>
              <a:t>issues warranting attention in relation to the service and presentation of food include:</a:t>
            </a:r>
          </a:p>
          <a:p>
            <a:pPr>
              <a:buFont typeface="Arial" pitchFamily="34" charset="0"/>
              <a:buChar char="•"/>
            </a:pPr>
            <a:r>
              <a:rPr lang="en-AU" sz="1200" kern="1200" dirty="0" smtClean="0">
                <a:solidFill>
                  <a:schemeClr val="tx1"/>
                </a:solidFill>
                <a:ea typeface="+mn-ea"/>
                <a:cs typeface="+mn-cs"/>
              </a:rPr>
              <a:t> Adding necessary garnishes and/or sauces</a:t>
            </a:r>
          </a:p>
          <a:p>
            <a:pPr>
              <a:buFont typeface="Arial" pitchFamily="34" charset="0"/>
              <a:buChar char="•"/>
            </a:pPr>
            <a:r>
              <a:rPr lang="en-AU" sz="1200" kern="1200" dirty="0" smtClean="0">
                <a:solidFill>
                  <a:schemeClr val="tx1"/>
                </a:solidFill>
                <a:ea typeface="+mn-ea"/>
                <a:cs typeface="+mn-cs"/>
              </a:rPr>
              <a:t> Adhering to identified location of food items on the pate when serving food</a:t>
            </a:r>
          </a:p>
          <a:p>
            <a:pPr>
              <a:buFont typeface="Arial" pitchFamily="34" charset="0"/>
              <a:buChar char="•"/>
            </a:pPr>
            <a:r>
              <a:rPr lang="en-AU" sz="1200" kern="1200" dirty="0" smtClean="0">
                <a:solidFill>
                  <a:schemeClr val="tx1"/>
                </a:solidFill>
                <a:ea typeface="+mn-ea"/>
                <a:cs typeface="+mn-cs"/>
              </a:rPr>
              <a:t> Ensuring attractive appearance of the finished meal/dish</a:t>
            </a:r>
          </a:p>
          <a:p>
            <a:pPr>
              <a:buFont typeface="Arial" pitchFamily="34" charset="0"/>
              <a:buChar char="•"/>
            </a:pPr>
            <a:r>
              <a:rPr lang="en-AU" sz="1200" kern="1200" dirty="0" smtClean="0">
                <a:solidFill>
                  <a:schemeClr val="tx1"/>
                </a:solidFill>
                <a:ea typeface="+mn-ea"/>
                <a:cs typeface="+mn-cs"/>
              </a:rPr>
              <a:t> Serving onto/into designated plates and/or single-use items</a:t>
            </a:r>
          </a:p>
          <a:p>
            <a:pPr>
              <a:buFont typeface="Arial" pitchFamily="34" charset="0"/>
              <a:buChar char="•"/>
            </a:pPr>
            <a:r>
              <a:rPr lang="en-AU" sz="1200" kern="1200" dirty="0" smtClean="0">
                <a:solidFill>
                  <a:schemeClr val="tx1"/>
                </a:solidFill>
                <a:ea typeface="+mn-ea"/>
                <a:cs typeface="+mn-cs"/>
              </a:rPr>
              <a:t> Implementing all personal hygiene protocols</a:t>
            </a:r>
          </a:p>
          <a:p>
            <a:pPr>
              <a:buFont typeface="Arial" pitchFamily="34" charset="0"/>
              <a:buChar char="•"/>
            </a:pPr>
            <a:r>
              <a:rPr lang="en-AU" sz="1200" kern="1200" dirty="0" smtClean="0">
                <a:solidFill>
                  <a:schemeClr val="tx1"/>
                </a:solidFill>
                <a:ea typeface="+mn-ea"/>
                <a:cs typeface="+mn-cs"/>
              </a:rPr>
              <a:t> Understanding the need for prompt/timely service of food.</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instruction regarding requirements for self-service of food by customers:</a:t>
            </a:r>
          </a:p>
          <a:p>
            <a:pPr>
              <a:buFont typeface="Arial" pitchFamily="34" charset="0"/>
              <a:buChar char="•"/>
            </a:pPr>
            <a:r>
              <a:rPr lang="en-AU" sz="1200" kern="1200" dirty="0" smtClean="0">
                <a:solidFill>
                  <a:schemeClr val="tx1"/>
                </a:solidFill>
                <a:ea typeface="+mn-ea"/>
                <a:cs typeface="+mn-cs"/>
              </a:rPr>
              <a:t> Providing this option for customers will present a higher level of risk from contamination because many elements of control have been given over to the customer. It remains a legal responsibility on the venue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 ensure the integrity of food offered in this style of service: if food safety cannot be </a:t>
            </a:r>
            <a:r>
              <a:rPr lang="en-AU" sz="1200" i="1" kern="1200" dirty="0" smtClean="0">
                <a:solidFill>
                  <a:schemeClr val="tx1"/>
                </a:solidFill>
                <a:ea typeface="+mn-ea"/>
                <a:cs typeface="+mn-cs"/>
              </a:rPr>
              <a:t>fully </a:t>
            </a:r>
            <a:r>
              <a:rPr lang="en-AU" sz="1200" kern="1200" dirty="0" smtClean="0">
                <a:solidFill>
                  <a:schemeClr val="tx1"/>
                </a:solidFill>
                <a:ea typeface="+mn-ea"/>
                <a:cs typeface="+mn-cs"/>
              </a:rPr>
              <a:t>guaranteed by allowing the service of food in this manner it should not be offered in this way. Re-consider the service style and use another service or presentation method</a:t>
            </a:r>
          </a:p>
          <a:p>
            <a:pPr lvl="0">
              <a:buFont typeface="Arial" pitchFamily="34" charset="0"/>
              <a:buChar char="•"/>
            </a:pPr>
            <a:r>
              <a:rPr lang="en-AU" sz="1200" kern="1200" dirty="0" smtClean="0">
                <a:solidFill>
                  <a:schemeClr val="tx1"/>
                </a:solidFill>
                <a:ea typeface="+mn-ea"/>
                <a:cs typeface="+mn-cs"/>
              </a:rPr>
              <a:t> Customer activities are regularly monitored so unsafe practices can be identified and remedial action taken. This means a staff member must be appointed to watch customers in order to prevent them from doing anything to  compromise the safety of the food, and to remove food when it has been contaminated</a:t>
            </a:r>
          </a:p>
          <a:p>
            <a:pPr lvl="0">
              <a:buFont typeface="Arial" pitchFamily="34" charset="0"/>
              <a:buChar char="•"/>
            </a:pPr>
            <a:r>
              <a:rPr lang="en-AU" sz="1200" kern="1200" dirty="0" smtClean="0">
                <a:solidFill>
                  <a:schemeClr val="tx1"/>
                </a:solidFill>
                <a:ea typeface="+mn-ea"/>
                <a:cs typeface="+mn-cs"/>
              </a:rPr>
              <a:t> Special attention is paid to children at self-serve areas as they are prone to handling food with their hands as well as taking food and then putting it back</a:t>
            </a:r>
          </a:p>
          <a:p>
            <a:pPr lvl="0">
              <a:buFont typeface="Arial" pitchFamily="34" charset="0"/>
              <a:buChar char="•"/>
            </a:pPr>
            <a:r>
              <a:rPr lang="en-AU" sz="1200" kern="1200" dirty="0" smtClean="0">
                <a:solidFill>
                  <a:schemeClr val="tx1"/>
                </a:solidFill>
                <a:ea typeface="+mn-ea"/>
                <a:cs typeface="+mn-cs"/>
              </a:rPr>
              <a:t> Hot food is kept hot (60°C and above), and cold food is kept cold (5°C and below)</a:t>
            </a:r>
          </a:p>
          <a:p>
            <a:pPr lvl="0">
              <a:buFont typeface="Arial" pitchFamily="34" charset="0"/>
              <a:buChar char="•"/>
            </a:pPr>
            <a:r>
              <a:rPr lang="en-AU" sz="1200" kern="1200" dirty="0" smtClean="0">
                <a:solidFill>
                  <a:schemeClr val="tx1"/>
                </a:solidFill>
                <a:ea typeface="+mn-ea"/>
                <a:cs typeface="+mn-cs"/>
              </a:rPr>
              <a:t> Any utensils dropped by customers are immediately replaced with clean and sanitised ones</a:t>
            </a:r>
          </a:p>
          <a:p>
            <a:pPr lvl="0">
              <a:buFont typeface="Arial" pitchFamily="34" charset="0"/>
              <a:buChar char="•"/>
            </a:pPr>
            <a:r>
              <a:rPr lang="en-AU" sz="1200" kern="1200" dirty="0" smtClean="0">
                <a:solidFill>
                  <a:schemeClr val="tx1"/>
                </a:solidFill>
                <a:ea typeface="+mn-ea"/>
                <a:cs typeface="+mn-cs"/>
              </a:rPr>
              <a:t> Spills are cleaned up </a:t>
            </a:r>
            <a:r>
              <a:rPr lang="en-AU" sz="1200" kern="1200" dirty="0" smtClean="0">
                <a:solidFill>
                  <a:schemeClr val="tx1"/>
                </a:solidFill>
                <a:ea typeface="+mn-ea"/>
                <a:cs typeface="+mn-cs"/>
              </a:rPr>
              <a:t>immediately.</a:t>
            </a:r>
            <a:endParaRPr lang="en-AU"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instruction regarding requirements for self-service of food by customers:</a:t>
            </a:r>
          </a:p>
          <a:p>
            <a:pPr lvl="0">
              <a:buFont typeface="Arial" pitchFamily="34" charset="0"/>
              <a:buChar char="•"/>
            </a:pPr>
            <a:r>
              <a:rPr lang="en-AU" sz="1200" kern="1200" dirty="0" smtClean="0">
                <a:solidFill>
                  <a:schemeClr val="tx1"/>
                </a:solidFill>
                <a:ea typeface="+mn-ea"/>
                <a:cs typeface="+mn-cs"/>
              </a:rPr>
              <a:t> Any contaminated food is thrown out – this includes contamination caused by customers coughing or sneezing over the food</a:t>
            </a:r>
          </a:p>
          <a:p>
            <a:pPr lvl="0">
              <a:buFont typeface="Arial" pitchFamily="34" charset="0"/>
              <a:buChar char="•"/>
            </a:pPr>
            <a:r>
              <a:rPr lang="en-AU" sz="1200" kern="1200" dirty="0" smtClean="0">
                <a:solidFill>
                  <a:schemeClr val="tx1"/>
                </a:solidFill>
                <a:ea typeface="+mn-ea"/>
                <a:cs typeface="+mn-cs"/>
              </a:rPr>
              <a:t> Signs are posted advising customers of safe food handling practices – such as asking them:</a:t>
            </a:r>
          </a:p>
          <a:p>
            <a:pPr lvl="1">
              <a:buFont typeface="Arial" pitchFamily="34" charset="0"/>
              <a:buChar char="•"/>
            </a:pPr>
            <a:r>
              <a:rPr lang="en-AU" sz="1200" kern="1200" dirty="0" smtClean="0">
                <a:solidFill>
                  <a:schemeClr val="tx1"/>
                </a:solidFill>
                <a:ea typeface="+mn-ea"/>
                <a:cs typeface="+mn-cs"/>
              </a:rPr>
              <a:t> Not to use utensils in other foods </a:t>
            </a:r>
          </a:p>
          <a:p>
            <a:pPr lvl="1">
              <a:buFont typeface="Arial" pitchFamily="34" charset="0"/>
              <a:buChar char="•"/>
            </a:pPr>
            <a:r>
              <a:rPr lang="en-AU" sz="1200" kern="1200" dirty="0" smtClean="0">
                <a:solidFill>
                  <a:schemeClr val="tx1"/>
                </a:solidFill>
                <a:ea typeface="+mn-ea"/>
                <a:cs typeface="+mn-cs"/>
              </a:rPr>
              <a:t> To refrain from coughing and sneezing over the food </a:t>
            </a:r>
          </a:p>
          <a:p>
            <a:pPr lvl="1">
              <a:buFont typeface="Arial" pitchFamily="34" charset="0"/>
              <a:buChar char="•"/>
            </a:pPr>
            <a:r>
              <a:rPr lang="en-AU" sz="1200" kern="1200" dirty="0" smtClean="0">
                <a:solidFill>
                  <a:schemeClr val="tx1"/>
                </a:solidFill>
                <a:ea typeface="+mn-ea"/>
                <a:cs typeface="+mn-cs"/>
              </a:rPr>
              <a:t> To refrain from handling any of the food with their bare hands</a:t>
            </a:r>
          </a:p>
          <a:p>
            <a:pPr lvl="1">
              <a:buFont typeface="Arial" pitchFamily="34" charset="0"/>
              <a:buChar char="•"/>
            </a:pPr>
            <a:r>
              <a:rPr lang="en-AU" sz="1200" kern="1200" dirty="0" smtClean="0">
                <a:solidFill>
                  <a:schemeClr val="tx1"/>
                </a:solidFill>
                <a:ea typeface="+mn-ea"/>
                <a:cs typeface="+mn-cs"/>
              </a:rPr>
              <a:t> To supervise children</a:t>
            </a:r>
          </a:p>
          <a:p>
            <a:pPr lvl="0">
              <a:buFont typeface="Arial" pitchFamily="34" charset="0"/>
              <a:buChar char="•"/>
            </a:pPr>
            <a:r>
              <a:rPr lang="en-AU" sz="1200" kern="1200" dirty="0" smtClean="0">
                <a:solidFill>
                  <a:schemeClr val="tx1"/>
                </a:solidFill>
                <a:ea typeface="+mn-ea"/>
                <a:cs typeface="+mn-cs"/>
              </a:rPr>
              <a:t> Foods are covered and protected – from contamination when not actually being used </a:t>
            </a:r>
          </a:p>
          <a:p>
            <a:pPr lvl="0">
              <a:buFont typeface="Arial" pitchFamily="34" charset="0"/>
              <a:buChar char="•"/>
            </a:pPr>
            <a:r>
              <a:rPr lang="en-AU" sz="1200" kern="1200" dirty="0" smtClean="0">
                <a:solidFill>
                  <a:schemeClr val="tx1"/>
                </a:solidFill>
                <a:ea typeface="+mn-ea"/>
                <a:cs typeface="+mn-cs"/>
              </a:rPr>
              <a:t> Separate utensils are provided – for each food item</a:t>
            </a:r>
          </a:p>
          <a:p>
            <a:pPr lvl="0">
              <a:buFont typeface="Arial" pitchFamily="34" charset="0"/>
              <a:buChar char="•"/>
            </a:pPr>
            <a:r>
              <a:rPr lang="en-AU" sz="1200" kern="1200" dirty="0" smtClean="0">
                <a:solidFill>
                  <a:schemeClr val="tx1"/>
                </a:solidFill>
                <a:ea typeface="+mn-ea"/>
                <a:cs typeface="+mn-cs"/>
              </a:rPr>
              <a:t> Sneeze-guards are in place – to protect food</a:t>
            </a:r>
          </a:p>
          <a:p>
            <a:pPr lvl="0">
              <a:buFont typeface="Arial" pitchFamily="34" charset="0"/>
              <a:buChar char="•"/>
            </a:pPr>
            <a:r>
              <a:rPr lang="en-AU" sz="1200" kern="1200" dirty="0" smtClean="0">
                <a:solidFill>
                  <a:schemeClr val="tx1"/>
                </a:solidFill>
                <a:ea typeface="+mn-ea"/>
                <a:cs typeface="+mn-cs"/>
              </a:rPr>
              <a:t> Batches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or trays of food items are not mixed – stock rotation is important but so is the need to keep batches </a:t>
            </a:r>
            <a:r>
              <a:rPr lang="en-AU" sz="1200" kern="1200" dirty="0" smtClean="0">
                <a:solidFill>
                  <a:schemeClr val="tx1"/>
                </a:solidFill>
                <a:ea typeface="+mn-ea"/>
                <a:cs typeface="+mn-cs"/>
              </a:rPr>
              <a:t>separate.</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instruction regarding requirements for self-service of food by customers:</a:t>
            </a:r>
          </a:p>
          <a:p>
            <a:pPr lvl="0">
              <a:buFont typeface="Arial" pitchFamily="34" charset="0"/>
              <a:buChar char="•"/>
            </a:pPr>
            <a:r>
              <a:rPr lang="en-AU" sz="1200" kern="1200" dirty="0" smtClean="0">
                <a:solidFill>
                  <a:schemeClr val="tx1"/>
                </a:solidFill>
                <a:ea typeface="+mn-ea"/>
                <a:cs typeface="+mn-cs"/>
              </a:rPr>
              <a:t> Throw out any plate waste</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returned food – it must never be re-served</a:t>
            </a:r>
          </a:p>
          <a:p>
            <a:pPr lvl="0">
              <a:buFont typeface="Arial" pitchFamily="34" charset="0"/>
              <a:buChar char="•"/>
            </a:pPr>
            <a:r>
              <a:rPr lang="en-AU" sz="1200" kern="1200" dirty="0" smtClean="0">
                <a:solidFill>
                  <a:schemeClr val="tx1"/>
                </a:solidFill>
                <a:ea typeface="+mn-ea"/>
                <a:cs typeface="+mn-cs"/>
              </a:rPr>
              <a:t> Small batches of food are put on the buffet – and replaced frequently, rather than putting out large trays or large amounts of food to begin with</a:t>
            </a:r>
          </a:p>
          <a:p>
            <a:pPr lvl="0">
              <a:buFont typeface="Arial" pitchFamily="34" charset="0"/>
              <a:buChar char="•"/>
            </a:pPr>
            <a:r>
              <a:rPr lang="en-AU" sz="1200" kern="1200" dirty="0" smtClean="0">
                <a:solidFill>
                  <a:schemeClr val="tx1"/>
                </a:solidFill>
                <a:ea typeface="+mn-ea"/>
                <a:cs typeface="+mn-cs"/>
              </a:rPr>
              <a:t> Extra utensils are provided – there always seems to be a need for more service spoons and forks</a:t>
            </a:r>
          </a:p>
          <a:p>
            <a:pPr lvl="0">
              <a:buFont typeface="Arial" pitchFamily="34" charset="0"/>
              <a:buChar char="•"/>
            </a:pPr>
            <a:r>
              <a:rPr lang="en-AU" sz="1200" kern="1200" dirty="0" smtClean="0">
                <a:solidFill>
                  <a:schemeClr val="tx1"/>
                </a:solidFill>
                <a:ea typeface="+mn-ea"/>
                <a:cs typeface="+mn-cs"/>
              </a:rPr>
              <a:t> Clean ‘rests’ for utensils (service spoons and forks) are provided and changed regularly to prevent cross-contamination</a:t>
            </a:r>
          </a:p>
          <a:p>
            <a:pPr lvl="0">
              <a:buFont typeface="Arial" pitchFamily="34" charset="0"/>
              <a:buChar char="•"/>
            </a:pPr>
            <a:r>
              <a:rPr lang="en-AU" sz="1200" kern="1200" dirty="0" smtClean="0">
                <a:solidFill>
                  <a:schemeClr val="tx1"/>
                </a:solidFill>
                <a:ea typeface="+mn-ea"/>
                <a:cs typeface="+mn-cs"/>
              </a:rPr>
              <a:t> The 2/4 rule is being complied with.</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for visit to a venue so trainees can:</a:t>
            </a:r>
          </a:p>
          <a:p>
            <a:pPr>
              <a:buFont typeface="Arial" pitchFamily="34" charset="0"/>
              <a:buChar char="•"/>
            </a:pPr>
            <a:r>
              <a:rPr lang="en-US" b="0" dirty="0" smtClean="0"/>
              <a:t> View staff serving food to dine-in customers</a:t>
            </a:r>
          </a:p>
          <a:p>
            <a:pPr>
              <a:buFont typeface="Arial" pitchFamily="34" charset="0"/>
              <a:buChar char="•"/>
            </a:pPr>
            <a:r>
              <a:rPr lang="en-US" b="0" dirty="0" smtClean="0"/>
              <a:t> View staff serving take away foods to customers</a:t>
            </a:r>
          </a:p>
          <a:p>
            <a:pPr>
              <a:buFont typeface="Arial" pitchFamily="34" charset="0"/>
              <a:buChar char="•"/>
            </a:pPr>
            <a:r>
              <a:rPr lang="en-US" b="0" dirty="0" smtClean="0"/>
              <a:t> View customer self-service of food</a:t>
            </a:r>
          </a:p>
          <a:p>
            <a:pPr>
              <a:buFont typeface="Arial" pitchFamily="34" charset="0"/>
              <a:buChar char="•"/>
            </a:pPr>
            <a:r>
              <a:rPr lang="en-US" b="0" dirty="0" smtClean="0"/>
              <a:t> Talk to management and staff</a:t>
            </a:r>
          </a:p>
          <a:p>
            <a:pPr>
              <a:buFont typeface="Arial" pitchFamily="34" charset="0"/>
              <a:buChar char="•"/>
            </a:pPr>
            <a:r>
              <a:rPr lang="en-US" b="0" dirty="0" smtClean="0"/>
              <a:t> Observe and note good and unacceptable food safety practices</a:t>
            </a:r>
          </a:p>
          <a:p>
            <a:pPr>
              <a:buFont typeface="Arial" pitchFamily="34" charset="0"/>
              <a:buChar char="•"/>
            </a:pPr>
            <a:r>
              <a:rPr lang="en-US" b="0" dirty="0" smtClean="0"/>
              <a:t> Observe</a:t>
            </a:r>
            <a:r>
              <a:rPr lang="en-US" b="0" baseline="0" dirty="0" smtClean="0"/>
              <a:t> </a:t>
            </a:r>
            <a:r>
              <a:rPr lang="en-US" b="0" dirty="0" smtClean="0"/>
              <a:t>storage and use of single use items.</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introduces concept of single use items explaining a single-use item is something intended to be used once in relation to food and then disposed of, noting: </a:t>
            </a:r>
          </a:p>
          <a:p>
            <a:pPr lvl="0">
              <a:buFont typeface="Arial" pitchFamily="34" charset="0"/>
              <a:buChar char="•"/>
            </a:pPr>
            <a:r>
              <a:rPr lang="en-AU" sz="1200" kern="1200" dirty="0" smtClean="0">
                <a:solidFill>
                  <a:schemeClr val="tx1"/>
                </a:solidFill>
                <a:ea typeface="+mn-ea"/>
                <a:cs typeface="+mn-cs"/>
              </a:rPr>
              <a:t> Single-use items must not be re-used even if they are cleaned in between uses – customers are free to re-use them at home as they see fit: customers may also re-fill single-use cups themselves from drink dispensing machines. Note: single-use containers may, however, be used by the business for non-food activities – such as collecting or storing dirty </a:t>
            </a:r>
            <a:r>
              <a:rPr lang="en-AU" sz="1200" kern="1200" dirty="0" smtClean="0">
                <a:solidFill>
                  <a:schemeClr val="tx1"/>
                </a:solidFill>
                <a:ea typeface="+mn-ea"/>
                <a:cs typeface="+mn-cs"/>
              </a:rPr>
              <a:t>cutlery</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 Must be stored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or displayed so as to be protected from contamination – this contamination may be via:</a:t>
            </a:r>
          </a:p>
          <a:p>
            <a:pPr lvl="1">
              <a:buFont typeface="Arial" pitchFamily="34" charset="0"/>
              <a:buChar char="•"/>
            </a:pPr>
            <a:r>
              <a:rPr lang="en-AU" sz="1200" kern="1200" dirty="0" smtClean="0">
                <a:solidFill>
                  <a:schemeClr val="tx1"/>
                </a:solidFill>
                <a:ea typeface="+mn-ea"/>
                <a:cs typeface="+mn-cs"/>
              </a:rPr>
              <a:t> Flies, pests and vermin</a:t>
            </a:r>
          </a:p>
          <a:p>
            <a:pPr lvl="1">
              <a:buFont typeface="Arial" pitchFamily="34" charset="0"/>
              <a:buChar char="•"/>
            </a:pPr>
            <a:r>
              <a:rPr lang="en-AU" sz="1200" kern="1200" dirty="0" smtClean="0">
                <a:solidFill>
                  <a:schemeClr val="tx1"/>
                </a:solidFill>
                <a:ea typeface="+mn-ea"/>
                <a:cs typeface="+mn-cs"/>
              </a:rPr>
              <a:t> An infected food handler</a:t>
            </a:r>
          </a:p>
          <a:p>
            <a:pPr lvl="1">
              <a:buFont typeface="Arial" pitchFamily="34" charset="0"/>
              <a:buChar char="•"/>
            </a:pPr>
            <a:r>
              <a:rPr lang="en-AU" sz="1200" kern="1200" dirty="0" smtClean="0">
                <a:solidFill>
                  <a:schemeClr val="tx1"/>
                </a:solidFill>
                <a:ea typeface="+mn-ea"/>
                <a:cs typeface="+mn-cs"/>
              </a:rPr>
              <a:t> Airborne contamination</a:t>
            </a:r>
          </a:p>
          <a:p>
            <a:pPr lvl="1">
              <a:buFont typeface="Arial" pitchFamily="34" charset="0"/>
              <a:buChar char="•"/>
            </a:pPr>
            <a:r>
              <a:rPr lang="en-AU" sz="1200" kern="1200" dirty="0" smtClean="0">
                <a:solidFill>
                  <a:schemeClr val="tx1"/>
                </a:solidFill>
                <a:ea typeface="+mn-ea"/>
                <a:cs typeface="+mn-cs"/>
              </a:rPr>
              <a:t> Physical contamination</a:t>
            </a:r>
          </a:p>
          <a:p>
            <a:pPr lvl="1">
              <a:buFont typeface="Arial" pitchFamily="34" charset="0"/>
              <a:buChar char="•"/>
            </a:pPr>
            <a:r>
              <a:rPr lang="en-AU" sz="1200" kern="1200" dirty="0" smtClean="0">
                <a:solidFill>
                  <a:schemeClr val="tx1"/>
                </a:solidFill>
                <a:ea typeface="+mn-ea"/>
                <a:cs typeface="+mn-cs"/>
              </a:rPr>
              <a:t> Customers</a:t>
            </a:r>
          </a:p>
          <a:p>
            <a:pPr lvl="0">
              <a:buFont typeface="Arial" pitchFamily="34" charset="0"/>
              <a:buChar char="•"/>
            </a:pPr>
            <a:r>
              <a:rPr lang="en-AU" sz="1200" kern="1200" dirty="0" smtClean="0">
                <a:solidFill>
                  <a:schemeClr val="tx1"/>
                </a:solidFill>
                <a:ea typeface="+mn-ea"/>
                <a:cs typeface="+mn-cs"/>
              </a:rPr>
              <a:t> Must not be used if they have been contaminated – or there is </a:t>
            </a:r>
            <a:r>
              <a:rPr lang="en-AU" sz="1200" i="1" kern="1200" dirty="0" smtClean="0">
                <a:solidFill>
                  <a:schemeClr val="tx1"/>
                </a:solidFill>
                <a:ea typeface="+mn-ea"/>
                <a:cs typeface="+mn-cs"/>
              </a:rPr>
              <a:t>suspicion</a:t>
            </a:r>
            <a:r>
              <a:rPr lang="en-AU" sz="1200" kern="1200" dirty="0" smtClean="0">
                <a:solidFill>
                  <a:schemeClr val="tx1"/>
                </a:solidFill>
                <a:ea typeface="+mn-ea"/>
                <a:cs typeface="+mn-cs"/>
              </a:rPr>
              <a:t> they may have been contaminated: this can include:</a:t>
            </a:r>
          </a:p>
          <a:p>
            <a:pPr lvl="1">
              <a:buFont typeface="Arial" pitchFamily="34" charset="0"/>
              <a:buChar char="•"/>
            </a:pPr>
            <a:r>
              <a:rPr lang="en-AU" sz="1200" kern="1200" dirty="0" smtClean="0">
                <a:solidFill>
                  <a:schemeClr val="tx1"/>
                </a:solidFill>
                <a:ea typeface="+mn-ea"/>
                <a:cs typeface="+mn-cs"/>
              </a:rPr>
              <a:t> Disposing of any single-use items handled by customers</a:t>
            </a:r>
          </a:p>
          <a:p>
            <a:pPr lvl="1">
              <a:buFont typeface="Arial" pitchFamily="34" charset="0"/>
              <a:buChar char="•"/>
            </a:pPr>
            <a:r>
              <a:rPr lang="en-AU" sz="1200" kern="1200" dirty="0" smtClean="0">
                <a:solidFill>
                  <a:schemeClr val="tx1"/>
                </a:solidFill>
                <a:ea typeface="+mn-ea"/>
                <a:cs typeface="+mn-cs"/>
              </a:rPr>
              <a:t> Disposing of any single-use items dropped on the floor</a:t>
            </a:r>
          </a:p>
          <a:p>
            <a:pPr lvl="1">
              <a:buFont typeface="Arial" pitchFamily="34" charset="0"/>
              <a:buChar char="•"/>
            </a:pPr>
            <a:r>
              <a:rPr lang="en-AU" sz="1200" kern="1200" dirty="0" smtClean="0">
                <a:solidFill>
                  <a:schemeClr val="tx1"/>
                </a:solidFill>
                <a:ea typeface="+mn-ea"/>
                <a:cs typeface="+mn-cs"/>
              </a:rPr>
              <a:t> Disposing of any single-use items where the protective packaging they were delivered in has been </a:t>
            </a:r>
            <a:r>
              <a:rPr lang="en-AU" sz="1200" kern="1200" dirty="0" smtClean="0">
                <a:solidFill>
                  <a:schemeClr val="tx1"/>
                </a:solidFill>
                <a:ea typeface="+mn-ea"/>
                <a:cs typeface="+mn-cs"/>
              </a:rPr>
              <a:t>compromised.</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Presentation of examples </a:t>
            </a:r>
            <a:r>
              <a:rPr lang="en-AU" sz="1200" kern="1200" dirty="0" smtClean="0">
                <a:solidFill>
                  <a:schemeClr val="tx1"/>
                </a:solidFill>
                <a:ea typeface="+mn-ea"/>
                <a:cs typeface="+mn-cs"/>
              </a:rPr>
              <a:t> </a:t>
            </a:r>
          </a:p>
          <a:p>
            <a:pPr>
              <a:buFont typeface="Arial" pitchFamily="34" charset="0"/>
              <a:buNone/>
            </a:pPr>
            <a:r>
              <a:rPr lang="en-AU" sz="1200" kern="1200" dirty="0" smtClean="0">
                <a:solidFill>
                  <a:schemeClr val="tx1"/>
                </a:solidFill>
                <a:ea typeface="+mn-ea"/>
                <a:cs typeface="+mn-cs"/>
              </a:rPr>
              <a:t>Trainer presents sample single use items to trainees so they understand what they are:</a:t>
            </a:r>
          </a:p>
          <a:p>
            <a:pPr>
              <a:buFont typeface="Arial" pitchFamily="34" charset="0"/>
              <a:buChar char="•"/>
            </a:pPr>
            <a:r>
              <a:rPr lang="en-AU" sz="1200" kern="1200" dirty="0" smtClean="0">
                <a:solidFill>
                  <a:schemeClr val="tx1"/>
                </a:solidFill>
                <a:ea typeface="+mn-ea"/>
                <a:cs typeface="+mn-cs"/>
              </a:rPr>
              <a:t> Examples of single-use items include:</a:t>
            </a:r>
          </a:p>
          <a:p>
            <a:pPr lvl="1">
              <a:buFont typeface="Arial" pitchFamily="34" charset="0"/>
              <a:buChar char="•"/>
            </a:pPr>
            <a:r>
              <a:rPr lang="en-AU" sz="1200" kern="1200" dirty="0" smtClean="0">
                <a:solidFill>
                  <a:schemeClr val="tx1"/>
                </a:solidFill>
                <a:ea typeface="+mn-ea"/>
                <a:cs typeface="+mn-cs"/>
              </a:rPr>
              <a:t> Take away food and drink containers – including pizza boxes, coffee cups, boxes for hamburgers, packaging for rolls and sandwiches</a:t>
            </a:r>
          </a:p>
          <a:p>
            <a:pPr lvl="1">
              <a:buFont typeface="Arial" pitchFamily="34" charset="0"/>
              <a:buChar char="•"/>
            </a:pPr>
            <a:r>
              <a:rPr lang="en-AU" sz="1200" kern="1200" dirty="0" smtClean="0">
                <a:solidFill>
                  <a:schemeClr val="tx1"/>
                </a:solidFill>
                <a:ea typeface="+mn-ea"/>
                <a:cs typeface="+mn-cs"/>
              </a:rPr>
              <a:t> Drinking straws</a:t>
            </a:r>
          </a:p>
          <a:p>
            <a:pPr lvl="1">
              <a:buFont typeface="Arial" pitchFamily="34" charset="0"/>
              <a:buChar char="•"/>
            </a:pPr>
            <a:r>
              <a:rPr lang="en-AU" sz="1200" kern="1200" dirty="0" smtClean="0">
                <a:solidFill>
                  <a:schemeClr val="tx1"/>
                </a:solidFill>
                <a:ea typeface="+mn-ea"/>
                <a:cs typeface="+mn-cs"/>
              </a:rPr>
              <a:t> Disposable gloves</a:t>
            </a:r>
          </a:p>
          <a:p>
            <a:pPr lvl="1">
              <a:buFont typeface="Arial" pitchFamily="34" charset="0"/>
              <a:buChar char="•"/>
            </a:pPr>
            <a:r>
              <a:rPr lang="en-AU" sz="1200" kern="1200" dirty="0" smtClean="0">
                <a:solidFill>
                  <a:schemeClr val="tx1"/>
                </a:solidFill>
                <a:ea typeface="+mn-ea"/>
                <a:cs typeface="+mn-cs"/>
              </a:rPr>
              <a:t> Plastic cutlery</a:t>
            </a:r>
          </a:p>
          <a:p>
            <a:pPr lvl="1">
              <a:buFont typeface="Arial" pitchFamily="34" charset="0"/>
              <a:buChar char="•"/>
            </a:pPr>
            <a:r>
              <a:rPr lang="en-AU" sz="1200" kern="1200" dirty="0" smtClean="0">
                <a:solidFill>
                  <a:schemeClr val="tx1"/>
                </a:solidFill>
                <a:ea typeface="+mn-ea"/>
                <a:cs typeface="+mn-cs"/>
              </a:rPr>
              <a:t> Tooth picks</a:t>
            </a:r>
          </a:p>
          <a:p>
            <a:pPr lvl="1">
              <a:buFont typeface="Arial" pitchFamily="34" charset="0"/>
              <a:buChar char="•"/>
            </a:pPr>
            <a:r>
              <a:rPr lang="en-AU" sz="1200" kern="1200" dirty="0" smtClean="0">
                <a:solidFill>
                  <a:schemeClr val="tx1"/>
                </a:solidFill>
                <a:ea typeface="+mn-ea"/>
                <a:cs typeface="+mn-cs"/>
              </a:rPr>
              <a:t> Food wrappers – around items such as hamburgers and other take away menu items</a:t>
            </a:r>
            <a:r>
              <a:rPr lang="en-AU" sz="1200" kern="1200" dirty="0" smtClean="0">
                <a:solidFill>
                  <a:schemeClr val="tx1"/>
                </a:solidFill>
                <a:ea typeface="+mn-ea"/>
                <a:cs typeface="+mn-cs"/>
              </a:rPr>
              <a: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presents to trainees practical measures to optimise safety when using single use items:</a:t>
            </a:r>
          </a:p>
          <a:p>
            <a:pPr lvl="0">
              <a:buFont typeface="Arial" pitchFamily="34" charset="0"/>
              <a:buChar char="•"/>
            </a:pPr>
            <a:r>
              <a:rPr lang="en-AU" sz="1200" kern="1200" dirty="0" smtClean="0">
                <a:solidFill>
                  <a:schemeClr val="tx1"/>
                </a:solidFill>
                <a:ea typeface="+mn-ea"/>
                <a:cs typeface="+mn-cs"/>
              </a:rPr>
              <a:t> Not preparing pizza boxes in advance and leaving them ‘open’ – this allows airborne and other contamination to settle inside the boxes on the food contact area: pizza boxes should be constructed ‘to order’, when required</a:t>
            </a:r>
          </a:p>
          <a:p>
            <a:pPr lvl="0">
              <a:buFont typeface="Arial" pitchFamily="34" charset="0"/>
              <a:buChar char="•"/>
            </a:pPr>
            <a:r>
              <a:rPr lang="en-AU" sz="1200" kern="1200" dirty="0" smtClean="0">
                <a:solidFill>
                  <a:schemeClr val="tx1"/>
                </a:solidFill>
                <a:ea typeface="+mn-ea"/>
                <a:cs typeface="+mn-cs"/>
              </a:rPr>
              <a:t> Providing drinking straws in containers allowing only one straw at a time to be dispensed without others in the container being touched: an alternative is to only use individually wrapped drinking straws</a:t>
            </a:r>
          </a:p>
          <a:p>
            <a:pPr lvl="0">
              <a:buFont typeface="Arial" pitchFamily="34" charset="0"/>
              <a:buChar char="•"/>
            </a:pPr>
            <a:r>
              <a:rPr lang="en-AU" sz="1200" kern="1200" dirty="0" smtClean="0">
                <a:solidFill>
                  <a:schemeClr val="tx1"/>
                </a:solidFill>
                <a:ea typeface="+mn-ea"/>
                <a:cs typeface="+mn-cs"/>
              </a:rPr>
              <a:t> Storing take away food containers (for food and beverages) upside down – so the food contact surface of the container is not exposed</a:t>
            </a:r>
          </a:p>
          <a:p>
            <a:pPr lvl="0">
              <a:buFont typeface="Arial" pitchFamily="34" charset="0"/>
              <a:buChar char="•"/>
            </a:pPr>
            <a:r>
              <a:rPr lang="en-AU" sz="1200" kern="1200" dirty="0" smtClean="0">
                <a:solidFill>
                  <a:schemeClr val="tx1"/>
                </a:solidFill>
                <a:ea typeface="+mn-ea"/>
                <a:cs typeface="+mn-cs"/>
              </a:rPr>
              <a:t> Storing the lids to take away containers safely – so the side making contact with the drink</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food is protected</a:t>
            </a:r>
          </a:p>
          <a:p>
            <a:pPr lvl="0">
              <a:buFont typeface="Arial" pitchFamily="34" charset="0"/>
              <a:buChar char="•"/>
            </a:pPr>
            <a:r>
              <a:rPr lang="en-AU" sz="1200" kern="1200" dirty="0" smtClean="0">
                <a:solidFill>
                  <a:schemeClr val="tx1"/>
                </a:solidFill>
                <a:ea typeface="+mn-ea"/>
                <a:cs typeface="+mn-cs"/>
              </a:rPr>
              <a:t> Disposable cutlery should be kept covered or individually wrapped</a:t>
            </a:r>
          </a:p>
          <a:p>
            <a:pPr lvl="0">
              <a:buFont typeface="Arial" pitchFamily="34" charset="0"/>
              <a:buChar char="•"/>
            </a:pPr>
            <a:r>
              <a:rPr lang="en-AU" sz="1200" kern="1200" dirty="0" smtClean="0">
                <a:solidFill>
                  <a:schemeClr val="tx1"/>
                </a:solidFill>
                <a:ea typeface="+mn-ea"/>
                <a:cs typeface="+mn-cs"/>
              </a:rPr>
              <a:t> Toothpicks should be individually </a:t>
            </a:r>
            <a:r>
              <a:rPr lang="en-AU" sz="1200" kern="1200" dirty="0" smtClean="0">
                <a:solidFill>
                  <a:schemeClr val="tx1"/>
                </a:solidFill>
                <a:ea typeface="+mn-ea"/>
                <a:cs typeface="+mn-cs"/>
              </a:rPr>
              <a:t>wrapped.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storing products by asking questions such as:</a:t>
            </a:r>
          </a:p>
          <a:p>
            <a:pPr>
              <a:buFont typeface="Arial" pitchFamily="34" charset="0"/>
              <a:buChar char="•"/>
            </a:pPr>
            <a:r>
              <a:rPr lang="en-US" dirty="0" smtClean="0"/>
              <a:t> Why is it important to store food after service to maintain quality?</a:t>
            </a:r>
          </a:p>
          <a:p>
            <a:pPr>
              <a:buFont typeface="Arial" pitchFamily="34" charset="0"/>
              <a:buChar char="•"/>
            </a:pPr>
            <a:r>
              <a:rPr lang="en-US" dirty="0" smtClean="0"/>
              <a:t> What is meant by ‘Cryovac items’?</a:t>
            </a:r>
          </a:p>
          <a:p>
            <a:pPr>
              <a:buFont typeface="Arial" pitchFamily="34" charset="0"/>
              <a:buChar char="•"/>
            </a:pPr>
            <a:r>
              <a:rPr lang="en-US" dirty="0" smtClean="0"/>
              <a:t> What information do you think should be included on labels placed onto food which is stored for later use?</a:t>
            </a:r>
          </a:p>
          <a:p>
            <a:pPr>
              <a:buFont typeface="Arial" pitchFamily="34" charset="0"/>
              <a:buChar char="•"/>
            </a:pPr>
            <a:r>
              <a:rPr lang="en-US" dirty="0" smtClean="0"/>
              <a:t> How would you store left-over cooked food to optimise quality and minimise wastage?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informs </a:t>
            </a:r>
            <a:r>
              <a:rPr lang="en-AU" sz="1200" kern="1200" dirty="0" smtClean="0">
                <a:solidFill>
                  <a:schemeClr val="tx1"/>
                </a:solidFill>
                <a:ea typeface="+mn-ea"/>
                <a:cs typeface="+mn-cs"/>
              </a:rPr>
              <a:t>after food service sessions have finished there is a need to store unused foods for later use observing:</a:t>
            </a:r>
          </a:p>
          <a:p>
            <a:pPr>
              <a:buFont typeface="Arial" pitchFamily="34" charset="0"/>
              <a:buChar char="•"/>
            </a:pPr>
            <a:r>
              <a:rPr lang="en-AU" sz="1200" kern="1200" dirty="0" smtClean="0">
                <a:solidFill>
                  <a:schemeClr val="tx1"/>
                </a:solidFill>
                <a:ea typeface="+mn-ea"/>
                <a:cs typeface="+mn-cs"/>
              </a:rPr>
              <a:t> Correct storage of food items relates directly to quality and food </a:t>
            </a:r>
            <a:r>
              <a:rPr lang="en-AU" sz="1200" kern="1200" dirty="0" smtClean="0">
                <a:solidFill>
                  <a:schemeClr val="tx1"/>
                </a:solidFill>
                <a:ea typeface="+mn-ea"/>
                <a:cs typeface="+mn-cs"/>
              </a:rPr>
              <a:t>safety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Prepared foods must be stored in an appropriate vessel and at the correct temperature to ensure that it is not exposed to cross contamination or bacterial </a:t>
            </a:r>
            <a:r>
              <a:rPr lang="en-AU" sz="1200" kern="1200" dirty="0" smtClean="0">
                <a:solidFill>
                  <a:schemeClr val="tx1"/>
                </a:solidFill>
                <a:ea typeface="+mn-ea"/>
                <a:cs typeface="+mn-cs"/>
              </a:rPr>
              <a:t>growth</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Other factors that can affect food quality include strong odours from other foods and elements that may affect appearance such as humidity, excess heat, air contact and natural enzymes in some fruits and </a:t>
            </a:r>
            <a:r>
              <a:rPr lang="en-AU" sz="1200" kern="1200" dirty="0" smtClean="0">
                <a:solidFill>
                  <a:schemeClr val="tx1"/>
                </a:solidFill>
                <a:ea typeface="+mn-ea"/>
                <a:cs typeface="+mn-cs"/>
              </a:rPr>
              <a:t>vegetables</a:t>
            </a:r>
            <a:endParaRPr lang="en-AU" sz="120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Food that has been thawed/de-frosted must never be re-frozen.</a:t>
            </a:r>
            <a:endParaRPr lang="en-AU" sz="1200" b="1"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placement of left-over food in cool rooms:</a:t>
            </a:r>
          </a:p>
          <a:p>
            <a:pPr>
              <a:buFont typeface="Arial" pitchFamily="34" charset="0"/>
              <a:buChar char="•"/>
            </a:pPr>
            <a:r>
              <a:rPr lang="en-AU" sz="1200" b="0" kern="1200" dirty="0" smtClean="0">
                <a:solidFill>
                  <a:schemeClr val="tx1"/>
                </a:solidFill>
                <a:ea typeface="+mn-ea"/>
                <a:cs typeface="+mn-cs"/>
              </a:rPr>
              <a:t> All prepared foods including garnishes, condiments and accompaniments should be well covered or wrapped </a:t>
            </a:r>
            <a:endParaRPr lang="en-AU" sz="1200" b="1" kern="1200" dirty="0" smtClean="0">
              <a:solidFill>
                <a:schemeClr val="tx1"/>
              </a:solidFill>
              <a:ea typeface="+mn-ea"/>
              <a:cs typeface="+mn-cs"/>
            </a:endParaRPr>
          </a:p>
          <a:p>
            <a:pPr lvl="1">
              <a:buFont typeface="Arial" pitchFamily="34" charset="0"/>
              <a:buChar char="•"/>
            </a:pPr>
            <a:r>
              <a:rPr lang="en-AU" sz="1200" b="0" kern="1200" dirty="0" smtClean="0">
                <a:solidFill>
                  <a:schemeClr val="tx1"/>
                </a:solidFill>
                <a:ea typeface="+mn-ea"/>
                <a:cs typeface="+mn-cs"/>
              </a:rPr>
              <a:t> The most common and best medium for this is plastic cling wrap as it not only minimises cross contamination but does not allow circulating air to ‘dry out’ food items</a:t>
            </a:r>
            <a:endParaRPr lang="en-AU" sz="1200" b="1" kern="1200" dirty="0" smtClean="0">
              <a:solidFill>
                <a:schemeClr val="tx1"/>
              </a:solidFill>
              <a:ea typeface="+mn-ea"/>
              <a:cs typeface="+mn-cs"/>
            </a:endParaRPr>
          </a:p>
          <a:p>
            <a:pPr lvl="1">
              <a:buFont typeface="Arial" pitchFamily="34" charset="0"/>
              <a:buChar char="•"/>
            </a:pPr>
            <a:r>
              <a:rPr lang="en-AU" sz="1200" b="0" kern="1200" dirty="0" smtClean="0">
                <a:solidFill>
                  <a:schemeClr val="tx1"/>
                </a:solidFill>
                <a:ea typeface="+mn-ea"/>
                <a:cs typeface="+mn-cs"/>
              </a:rPr>
              <a:t> Plastic cling wrap can also create a barrier to strong odours from other foods that may be absorbed, especially in the case of dairy </a:t>
            </a:r>
            <a:r>
              <a:rPr lang="en-AU" sz="1200" b="0" kern="1200" dirty="0" smtClean="0">
                <a:solidFill>
                  <a:schemeClr val="tx1"/>
                </a:solidFill>
                <a:ea typeface="+mn-ea"/>
                <a:cs typeface="+mn-cs"/>
              </a:rPr>
              <a:t>products</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Ideally, prepared food should be stored in a separate coolroom from raw foods; however in many kitchens this is not </a:t>
            </a:r>
            <a:r>
              <a:rPr lang="en-AU" sz="1200" b="0" kern="1200" dirty="0" smtClean="0">
                <a:solidFill>
                  <a:schemeClr val="tx1"/>
                </a:solidFill>
                <a:ea typeface="+mn-ea"/>
                <a:cs typeface="+mn-cs"/>
              </a:rPr>
              <a:t>practical</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As a standard rule, prepared food must always be stored above raw foods and away from strong smelling foods such as raw seafood or blue mould cheeses.</a:t>
            </a:r>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looks at time of food in storage:</a:t>
            </a:r>
          </a:p>
          <a:p>
            <a:pPr>
              <a:buFont typeface="Arial" pitchFamily="34" charset="0"/>
              <a:buChar char="•"/>
            </a:pPr>
            <a:r>
              <a:rPr lang="en-AU" sz="1200" b="0" kern="1200" dirty="0" smtClean="0">
                <a:solidFill>
                  <a:schemeClr val="tx1"/>
                </a:solidFill>
                <a:ea typeface="+mn-ea"/>
                <a:cs typeface="+mn-cs"/>
              </a:rPr>
              <a:t> ‘Safe Food Australia: A Guide to the Food Safety Standards (available at http://www.foodstandards.gov.au/publications/documents/complete_safefood.pdf) states:</a:t>
            </a:r>
            <a:endParaRPr lang="en-AU" sz="1200" b="1" kern="1200" dirty="0" smtClean="0">
              <a:solidFill>
                <a:schemeClr val="tx1"/>
              </a:solidFill>
              <a:ea typeface="+mn-ea"/>
              <a:cs typeface="+mn-cs"/>
            </a:endParaRPr>
          </a:p>
          <a:p>
            <a:pPr lvl="1">
              <a:buFont typeface="Arial" pitchFamily="34" charset="0"/>
              <a:buChar char="•"/>
            </a:pPr>
            <a:r>
              <a:rPr lang="en-AU" sz="1200" b="0" kern="1200" dirty="0" smtClean="0">
                <a:solidFill>
                  <a:schemeClr val="tx1"/>
                </a:solidFill>
                <a:ea typeface="+mn-ea"/>
                <a:cs typeface="+mn-cs"/>
              </a:rPr>
              <a:t> “… safely maintained at refrigeration temperatures provided the time that the food is kept refrigerated is limited. The US Food Code (1999) specifies that the maximum time that potentially hazardous food should be kept at 5ºC is 7 days. If the food is kept for less than 7 days at 5ºC there will not be sufficient time for food-borne bacteria to multiply to dangerous levels. If a food business wishes to keep potentially hazardous food for longer than 7 days at cold temperatures, it will need to:</a:t>
            </a:r>
            <a:endParaRPr lang="en-AU" sz="1200" b="1" kern="1200" dirty="0" smtClean="0">
              <a:solidFill>
                <a:schemeClr val="tx1"/>
              </a:solidFill>
              <a:ea typeface="+mn-ea"/>
              <a:cs typeface="+mn-cs"/>
            </a:endParaRPr>
          </a:p>
          <a:p>
            <a:pPr lvl="2">
              <a:buFont typeface="Arial" pitchFamily="34" charset="0"/>
              <a:buChar char="•"/>
            </a:pPr>
            <a:r>
              <a:rPr lang="en-AU" sz="1200" b="0" kern="1200" dirty="0" smtClean="0">
                <a:solidFill>
                  <a:schemeClr val="tx1"/>
                </a:solidFill>
                <a:ea typeface="+mn-ea"/>
                <a:cs typeface="+mn-cs"/>
              </a:rPr>
              <a:t> maintain the temperature of the food below 5ºC — for example, at 3ºC the food could be kept for longer than 7 days;</a:t>
            </a:r>
            <a:endParaRPr lang="en-AU" sz="1200" b="1" kern="1200" dirty="0" smtClean="0">
              <a:solidFill>
                <a:schemeClr val="tx1"/>
              </a:solidFill>
              <a:ea typeface="+mn-ea"/>
              <a:cs typeface="+mn-cs"/>
            </a:endParaRPr>
          </a:p>
          <a:p>
            <a:pPr lvl="2">
              <a:buFont typeface="Arial" pitchFamily="34" charset="0"/>
              <a:buChar char="•"/>
            </a:pPr>
            <a:r>
              <a:rPr lang="en-AU" sz="1200" b="0" kern="1200" dirty="0" smtClean="0">
                <a:solidFill>
                  <a:schemeClr val="tx1"/>
                </a:solidFill>
                <a:ea typeface="+mn-ea"/>
                <a:cs typeface="+mn-cs"/>
              </a:rPr>
              <a:t> keep the food frozen; or</a:t>
            </a:r>
            <a:endParaRPr lang="en-AU" sz="1200" b="1" kern="1200" dirty="0" smtClean="0">
              <a:solidFill>
                <a:schemeClr val="tx1"/>
              </a:solidFill>
              <a:ea typeface="+mn-ea"/>
              <a:cs typeface="+mn-cs"/>
            </a:endParaRPr>
          </a:p>
          <a:p>
            <a:pPr lvl="2">
              <a:buFont typeface="Arial" pitchFamily="34" charset="0"/>
              <a:buChar char="•"/>
            </a:pPr>
            <a:r>
              <a:rPr lang="en-AU" sz="1200" b="0" kern="1200" dirty="0" smtClean="0">
                <a:solidFill>
                  <a:schemeClr val="tx1"/>
                </a:solidFill>
                <a:ea typeface="+mn-ea"/>
                <a:cs typeface="+mn-cs"/>
              </a:rPr>
              <a:t> ensure that the food will not support the growth of the pathogens that grow to dangerous levels at refrigeration temperatures.” (p.41)</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Ideally, </a:t>
            </a:r>
            <a:r>
              <a:rPr lang="en-AU" sz="1200" b="0" i="1" kern="1200" dirty="0" smtClean="0">
                <a:solidFill>
                  <a:schemeClr val="tx1"/>
                </a:solidFill>
                <a:ea typeface="+mn-ea"/>
                <a:cs typeface="+mn-cs"/>
              </a:rPr>
              <a:t>prepared</a:t>
            </a:r>
            <a:r>
              <a:rPr lang="en-AU" sz="1200" b="0" kern="1200" dirty="0" smtClean="0">
                <a:solidFill>
                  <a:schemeClr val="tx1"/>
                </a:solidFill>
                <a:ea typeface="+mn-ea"/>
                <a:cs typeface="+mn-cs"/>
              </a:rPr>
              <a:t> foods should be stored for no longer than 24 hours before using or discarding.</a:t>
            </a:r>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b="0" kern="1200" dirty="0" smtClean="0">
                <a:solidFill>
                  <a:schemeClr val="tx1"/>
                </a:solidFill>
                <a:ea typeface="+mn-ea"/>
                <a:cs typeface="+mn-cs"/>
              </a:rPr>
              <a:t>excessive storage time will affect the quality of food items. Some examples of this include:</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Crumbed/breaded foods will absorb moisture and become ‘soggy’</a:t>
            </a:r>
          </a:p>
          <a:p>
            <a:pPr>
              <a:buFont typeface="Arial" pitchFamily="34" charset="0"/>
              <a:buChar char="•"/>
            </a:pPr>
            <a:r>
              <a:rPr lang="en-AU" sz="1200" kern="1200" dirty="0" smtClean="0">
                <a:solidFill>
                  <a:schemeClr val="tx1"/>
                </a:solidFill>
                <a:ea typeface="+mn-ea"/>
                <a:cs typeface="+mn-cs"/>
              </a:rPr>
              <a:t> Dairy foods such as whipped cream may absorb food odours</a:t>
            </a:r>
          </a:p>
          <a:p>
            <a:pPr>
              <a:buFont typeface="Arial" pitchFamily="34" charset="0"/>
              <a:buChar char="•"/>
            </a:pPr>
            <a:r>
              <a:rPr lang="en-AU" sz="1200" kern="1200" dirty="0" smtClean="0">
                <a:solidFill>
                  <a:schemeClr val="tx1"/>
                </a:solidFill>
                <a:ea typeface="+mn-ea"/>
                <a:cs typeface="+mn-cs"/>
              </a:rPr>
              <a:t> Sauces and custards can split or weep</a:t>
            </a:r>
          </a:p>
          <a:p>
            <a:pPr>
              <a:buFont typeface="Arial" pitchFamily="34" charset="0"/>
              <a:buChar char="•"/>
            </a:pPr>
            <a:r>
              <a:rPr lang="en-AU" sz="1200" kern="1200" dirty="0" smtClean="0">
                <a:solidFill>
                  <a:schemeClr val="tx1"/>
                </a:solidFill>
                <a:ea typeface="+mn-ea"/>
                <a:cs typeface="+mn-cs"/>
              </a:rPr>
              <a:t> Leafy garnishes can lose moisture and wither</a:t>
            </a:r>
          </a:p>
          <a:p>
            <a:pPr>
              <a:buFont typeface="Arial" pitchFamily="34" charset="0"/>
              <a:buChar char="•"/>
            </a:pPr>
            <a:r>
              <a:rPr lang="en-AU" sz="1200" kern="1200" dirty="0" smtClean="0">
                <a:solidFill>
                  <a:schemeClr val="tx1"/>
                </a:solidFill>
                <a:ea typeface="+mn-ea"/>
                <a:cs typeface="+mn-cs"/>
              </a:rPr>
              <a:t> Chopped fresh herbs can compost</a:t>
            </a:r>
          </a:p>
          <a:p>
            <a:pPr>
              <a:buFont typeface="Arial" pitchFamily="34" charset="0"/>
              <a:buChar char="•"/>
            </a:pPr>
            <a:r>
              <a:rPr lang="en-AU" sz="1200" kern="1200" dirty="0" smtClean="0">
                <a:solidFill>
                  <a:schemeClr val="tx1"/>
                </a:solidFill>
                <a:ea typeface="+mn-ea"/>
                <a:cs typeface="+mn-cs"/>
              </a:rPr>
              <a:t> Fruits and fruit juices can </a:t>
            </a:r>
            <a:r>
              <a:rPr lang="en-AU" sz="1200" kern="1200" dirty="0" smtClean="0">
                <a:solidFill>
                  <a:schemeClr val="tx1"/>
                </a:solidFill>
                <a:ea typeface="+mn-ea"/>
                <a:cs typeface="+mn-cs"/>
              </a:rPr>
              <a:t>ferment.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time of food in freezers:</a:t>
            </a:r>
          </a:p>
          <a:p>
            <a:pPr>
              <a:buFont typeface="Arial" pitchFamily="34" charset="0"/>
              <a:buChar char="•"/>
            </a:pPr>
            <a:r>
              <a:rPr lang="en-AU" sz="1200" b="0" kern="1200" dirty="0" smtClean="0">
                <a:solidFill>
                  <a:schemeClr val="tx1"/>
                </a:solidFill>
                <a:ea typeface="+mn-ea"/>
                <a:cs typeface="+mn-cs"/>
              </a:rPr>
              <a:t> Ideal freezing temperatures are between -15</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to -18</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depending on the type of food being </a:t>
            </a:r>
            <a:r>
              <a:rPr lang="en-AU" sz="1200" b="0" kern="1200" dirty="0" smtClean="0">
                <a:solidFill>
                  <a:schemeClr val="tx1"/>
                </a:solidFill>
                <a:ea typeface="+mn-ea"/>
                <a:cs typeface="+mn-cs"/>
              </a:rPr>
              <a:t>stored</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Although freezing foods will stop the growth of bacteria, food quality can be affected by an excessive freezing </a:t>
            </a:r>
            <a:r>
              <a:rPr lang="en-AU" sz="1200" b="0" kern="1200" dirty="0" smtClean="0">
                <a:solidFill>
                  <a:schemeClr val="tx1"/>
                </a:solidFill>
                <a:ea typeface="+mn-ea"/>
                <a:cs typeface="+mn-cs"/>
              </a:rPr>
              <a:t>period</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Prepared foods that are quickly frozen (within 2 hours) will lose less quality than foods that are slowly </a:t>
            </a:r>
            <a:r>
              <a:rPr lang="en-AU" sz="1200" b="0" kern="1200" dirty="0" smtClean="0">
                <a:solidFill>
                  <a:schemeClr val="tx1"/>
                </a:solidFill>
                <a:ea typeface="+mn-ea"/>
                <a:cs typeface="+mn-cs"/>
              </a:rPr>
              <a:t>frozen</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Most prepared foods will freeze well for 2-3 months before beginning to suffer a loss in </a:t>
            </a:r>
            <a:r>
              <a:rPr lang="en-AU" sz="1200" b="0" kern="1200" dirty="0" smtClean="0">
                <a:solidFill>
                  <a:schemeClr val="tx1"/>
                </a:solidFill>
                <a:ea typeface="+mn-ea"/>
                <a:cs typeface="+mn-cs"/>
              </a:rPr>
              <a:t>quality</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Defrosting should be done gradually and under refrigerated conditions. This is so the food does not lose too much moisture which would ruin the taste and </a:t>
            </a:r>
            <a:r>
              <a:rPr lang="en-AU" sz="1200" b="0" kern="1200" dirty="0" smtClean="0">
                <a:solidFill>
                  <a:schemeClr val="tx1"/>
                </a:solidFill>
                <a:ea typeface="+mn-ea"/>
                <a:cs typeface="+mn-cs"/>
              </a:rPr>
              <a:t>presentation</a:t>
            </a:r>
            <a:endParaRPr lang="en-AU" sz="1200" b="1"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 Again foods must be well wrapped. Plastic cling wrap is best as it contacts all surfaces of the food. Poorly wrapped food when exposed to circulating air at -18</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will suffer ‘freezer burn’. This is where the food will dry out leaving an unpleasant appearance and poor texture when cooked.</a:t>
            </a:r>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other storage options:</a:t>
            </a:r>
          </a:p>
          <a:p>
            <a:r>
              <a:rPr lang="en-AU" sz="1200" b="1" kern="1200" dirty="0" smtClean="0">
                <a:solidFill>
                  <a:schemeClr val="tx1"/>
                </a:solidFill>
                <a:ea typeface="+mn-ea"/>
                <a:cs typeface="+mn-cs"/>
              </a:rPr>
              <a:t>Storage on ice</a:t>
            </a:r>
          </a:p>
          <a:p>
            <a:r>
              <a:rPr lang="en-AU" sz="1200" b="0" kern="1200" dirty="0" smtClean="0">
                <a:solidFill>
                  <a:schemeClr val="tx1"/>
                </a:solidFill>
                <a:ea typeface="+mn-ea"/>
                <a:cs typeface="+mn-cs"/>
              </a:rPr>
              <a:t>The use of ice as a storage medium is commonly used for fish and shellfish.</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These foods can deteriorate rapidly, even under normal refrigeration conditions (5</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Storing in ice can bring the temperature down to between +1</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and +3</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This temperature range will allow for longer storage.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In addition, the moisture created by surrounding ice will help to stop the food item from drying out.</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If storing food on ice, it should be placed in a perforated container to allow water from melted ice to run off. </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Storage in water</a:t>
            </a:r>
          </a:p>
          <a:p>
            <a:r>
              <a:rPr lang="en-AU" sz="1200" b="0" kern="1200" dirty="0" smtClean="0">
                <a:solidFill>
                  <a:schemeClr val="tx1"/>
                </a:solidFill>
                <a:ea typeface="+mn-ea"/>
                <a:cs typeface="+mn-cs"/>
              </a:rPr>
              <a:t>Leafy vegetables and herbs can lose moisture during refrigerated storage, leaving them withered and limp which makes them unpresentable.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Placing these items into very cold water for a brief period will allow them to absorb water back into the cells (osmosis) making them crisp and fresh looking.</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Other food items that can be stored in water without losing flavour or quality include peeled and hard root vegetables.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Cut white fleshed fruits such as apples and pears will lose flavour and sweetness if placed in water so should be stored in stock syrup which is a boiled then cooled sugar/water mixture. </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Cartouche</a:t>
            </a:r>
          </a:p>
          <a:p>
            <a:r>
              <a:rPr lang="en-AU" sz="1200" b="0" kern="1200" dirty="0" smtClean="0">
                <a:solidFill>
                  <a:schemeClr val="tx1"/>
                </a:solidFill>
                <a:ea typeface="+mn-ea"/>
                <a:cs typeface="+mn-cs"/>
              </a:rPr>
              <a:t>A cartouche is used in the storage of stocks, soups and sauces. Greaseproof or silicon paper or plastic cling wrap is used and placed in direct contact with the top of the liquid creating a barrier to air. </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This stops a skin from forming which could create unattractive lumps if cooked back into the sauce or soup.</a:t>
            </a:r>
            <a:endParaRPr lang="en-AU" sz="1200" b="1"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presents examples of</a:t>
            </a:r>
            <a:r>
              <a:rPr lang="en-US" b="0" baseline="0" dirty="0" smtClean="0"/>
              <a:t> storage options as listed on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cryovacing of meats stating:</a:t>
            </a:r>
          </a:p>
          <a:p>
            <a:pPr>
              <a:buFont typeface="Arial" pitchFamily="34" charset="0"/>
              <a:buChar char="•"/>
            </a:pPr>
            <a:r>
              <a:rPr lang="en-AU" sz="1200" kern="1200" dirty="0" smtClean="0">
                <a:solidFill>
                  <a:schemeClr val="tx1"/>
                </a:solidFill>
                <a:ea typeface="+mn-ea"/>
                <a:cs typeface="+mn-cs"/>
              </a:rPr>
              <a:t> This is a system by which meat is placed in special plastic bags. All the air is then withdrawn using a special machine, which then heat seals the </a:t>
            </a:r>
            <a:r>
              <a:rPr lang="en-AU" sz="1200" kern="1200" dirty="0" smtClean="0">
                <a:solidFill>
                  <a:schemeClr val="tx1"/>
                </a:solidFill>
                <a:ea typeface="+mn-ea"/>
                <a:cs typeface="+mn-cs"/>
              </a:rPr>
              <a:t>bag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Meat packaged this way is normally stored at minus one degree to zero degrees Celsius (-1°C to 0°C</a:t>
            </a:r>
            <a:r>
              <a:rPr lang="en-AU"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This extends the storage life refrigerated meat:</a:t>
            </a:r>
          </a:p>
          <a:p>
            <a:pPr lvl="1">
              <a:buFont typeface="Arial" pitchFamily="34" charset="0"/>
              <a:buChar char="•"/>
            </a:pPr>
            <a:r>
              <a:rPr lang="en-AU" sz="1200" kern="1200" dirty="0" smtClean="0">
                <a:solidFill>
                  <a:schemeClr val="tx1"/>
                </a:solidFill>
                <a:ea typeface="+mn-ea"/>
                <a:cs typeface="+mn-cs"/>
              </a:rPr>
              <a:t> Beef up to twelve (12) weeks </a:t>
            </a:r>
          </a:p>
          <a:p>
            <a:pPr lvl="1">
              <a:buFont typeface="Arial" pitchFamily="34" charset="0"/>
              <a:buChar char="•"/>
            </a:pPr>
            <a:r>
              <a:rPr lang="en-AU" sz="1200" kern="1200" dirty="0" smtClean="0">
                <a:solidFill>
                  <a:schemeClr val="tx1"/>
                </a:solidFill>
                <a:ea typeface="+mn-ea"/>
                <a:cs typeface="+mn-cs"/>
              </a:rPr>
              <a:t> Lamb up to ten (10) weeks</a:t>
            </a:r>
          </a:p>
          <a:p>
            <a:pPr lvl="1">
              <a:buFont typeface="Arial" pitchFamily="34" charset="0"/>
              <a:buChar char="•"/>
            </a:pPr>
            <a:r>
              <a:rPr lang="en-AU" sz="1200" kern="1200" dirty="0" smtClean="0">
                <a:solidFill>
                  <a:schemeClr val="tx1"/>
                </a:solidFill>
                <a:ea typeface="+mn-ea"/>
                <a:cs typeface="+mn-cs"/>
              </a:rPr>
              <a:t> Pork up to three (3) </a:t>
            </a:r>
            <a:r>
              <a:rPr lang="en-AU" sz="1200" kern="1200" dirty="0" smtClean="0">
                <a:solidFill>
                  <a:schemeClr val="tx1"/>
                </a:solidFill>
                <a:ea typeface="+mn-ea"/>
                <a:cs typeface="+mn-cs"/>
              </a:rPr>
              <a:t>weeks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Sometimes after long storage then opening the smell can be quite strong. This will dissipate when left in the open air for a few minutes. </a:t>
            </a:r>
          </a:p>
          <a:p>
            <a:pPr lvl="1">
              <a:buFont typeface="Arial" pitchFamily="34" charset="0"/>
              <a:buChar char="•"/>
            </a:pPr>
            <a:r>
              <a:rPr lang="en-AU" sz="1200" kern="1200" dirty="0" smtClean="0">
                <a:solidFill>
                  <a:schemeClr val="tx1"/>
                </a:solidFill>
                <a:ea typeface="+mn-ea"/>
                <a:cs typeface="+mn-cs"/>
              </a:rPr>
              <a:t> If the smell lingers, seek advice before </a:t>
            </a:r>
            <a:r>
              <a:rPr lang="en-AU" sz="1200" kern="1200" dirty="0" smtClean="0">
                <a:solidFill>
                  <a:schemeClr val="tx1"/>
                </a:solidFill>
                <a:ea typeface="+mn-ea"/>
                <a:cs typeface="+mn-cs"/>
              </a:rPr>
              <a:t>using</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If in doubt, throw it out.</a:t>
            </a:r>
          </a:p>
          <a:p>
            <a:pPr>
              <a:buFont typeface="Arial" pitchFamily="34" charset="0"/>
              <a:buNone/>
            </a:pPr>
            <a:endParaRPr lang="en-US" dirty="0" smtClean="0"/>
          </a:p>
          <a:p>
            <a:pPr>
              <a:buFont typeface="Arial" pitchFamily="34" charset="0"/>
              <a:buNone/>
            </a:pPr>
            <a:r>
              <a:rPr lang="en-US" b="1" dirty="0" smtClean="0"/>
              <a:t>Class Activity – Showcasing Product</a:t>
            </a:r>
          </a:p>
          <a:p>
            <a:pPr>
              <a:buFont typeface="Arial" pitchFamily="34" charset="0"/>
              <a:buNone/>
            </a:pPr>
            <a:r>
              <a:rPr lang="en-US" sz="1200" b="0" dirty="0" smtClean="0">
                <a:latin typeface="Helvetica" pitchFamily="34" charset="0"/>
              </a:rPr>
              <a:t>Trainer</a:t>
            </a:r>
            <a:r>
              <a:rPr lang="en-US" sz="1200" b="0" baseline="0" dirty="0" smtClean="0">
                <a:latin typeface="Helvetica" pitchFamily="34" charset="0"/>
              </a:rPr>
              <a:t> shows students samples of Cryovaced meats and interprets the labels.</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t>
            </a:r>
            <a:r>
              <a:rPr lang="en-AU" sz="1200" b="0" kern="1200" dirty="0" smtClean="0">
                <a:solidFill>
                  <a:schemeClr val="tx1"/>
                </a:solidFill>
                <a:ea typeface="+mn-ea"/>
                <a:cs typeface="+mn-cs"/>
              </a:rPr>
              <a:t>standard industry practice for cryovac meat is: </a:t>
            </a:r>
            <a:endParaRPr lang="en-AU" sz="1200" b="1"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Store in pack until needed – at correct temperature and observing use-by date</a:t>
            </a:r>
          </a:p>
          <a:p>
            <a:pPr>
              <a:buFont typeface="Arial" pitchFamily="34" charset="0"/>
              <a:buChar char="•"/>
            </a:pPr>
            <a:r>
              <a:rPr lang="en-AU" sz="1200" kern="1200" dirty="0" smtClean="0">
                <a:solidFill>
                  <a:schemeClr val="tx1"/>
                </a:solidFill>
                <a:ea typeface="+mn-ea"/>
                <a:cs typeface="+mn-cs"/>
              </a:rPr>
              <a:t> Remove from packaging and place on clean washable containers when product needs to be used – to stop excess liquid from spiling if packaging fails</a:t>
            </a:r>
          </a:p>
          <a:p>
            <a:pPr>
              <a:buFont typeface="Arial" pitchFamily="34" charset="0"/>
              <a:buChar char="•"/>
            </a:pPr>
            <a:r>
              <a:rPr lang="en-AU" sz="1200" kern="1200" dirty="0" smtClean="0">
                <a:solidFill>
                  <a:schemeClr val="tx1"/>
                </a:solidFill>
                <a:ea typeface="+mn-ea"/>
                <a:cs typeface="+mn-cs"/>
              </a:rPr>
              <a:t> Meats that have a covering of fats (such as striploin) should be laid in container or on tray with the fat side up – to stop blood pooling and discolouration of fat</a:t>
            </a:r>
          </a:p>
          <a:p>
            <a:pPr>
              <a:buFont typeface="Arial" pitchFamily="34" charset="0"/>
              <a:buChar char="•"/>
            </a:pPr>
            <a:r>
              <a:rPr lang="en-AU" sz="1200" kern="1200" dirty="0" smtClean="0">
                <a:solidFill>
                  <a:schemeClr val="tx1"/>
                </a:solidFill>
                <a:ea typeface="+mn-ea"/>
                <a:cs typeface="+mn-cs"/>
              </a:rPr>
              <a:t> Do not replace meat into original pack once it has been used/opened</a:t>
            </a:r>
          </a:p>
          <a:p>
            <a:pPr>
              <a:buFont typeface="Arial" pitchFamily="34" charset="0"/>
              <a:buChar char="•"/>
            </a:pPr>
            <a:r>
              <a:rPr lang="en-AU" sz="1200" kern="1200" dirty="0" smtClean="0">
                <a:solidFill>
                  <a:schemeClr val="tx1"/>
                </a:solidFill>
                <a:ea typeface="+mn-ea"/>
                <a:cs typeface="+mn-cs"/>
              </a:rPr>
              <a:t> Labels should be facing out – so they can be easily read by staff.</a:t>
            </a:r>
          </a:p>
          <a:p>
            <a:r>
              <a:rPr lang="en-AU" sz="1200" b="1" i="1" u="sng" kern="1200" dirty="0" smtClean="0">
                <a:solidFill>
                  <a:schemeClr val="tx1"/>
                </a:solidFill>
                <a:ea typeface="+mn-ea"/>
                <a:cs typeface="+mn-cs"/>
              </a:rPr>
              <a:t>Note</a:t>
            </a:r>
            <a:endParaRPr lang="en-AU" sz="1200" b="1" kern="1200" dirty="0" smtClean="0">
              <a:solidFill>
                <a:schemeClr val="tx1"/>
              </a:solidFill>
              <a:ea typeface="+mn-ea"/>
              <a:cs typeface="+mn-cs"/>
            </a:endParaRPr>
          </a:p>
          <a:p>
            <a:r>
              <a:rPr lang="en-AU" sz="1200" u="sng" kern="1200" dirty="0" smtClean="0">
                <a:solidFill>
                  <a:schemeClr val="tx1"/>
                </a:solidFill>
                <a:ea typeface="+mn-ea"/>
                <a:cs typeface="+mn-cs"/>
              </a:rPr>
              <a:t>Time listed above for storage of meats only applies if temperature control is sufficient. </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Refrigeration of 3ºC will cut short this time. </a:t>
            </a:r>
            <a:endParaRPr lang="en-AU" sz="1200" kern="1200" dirty="0" smtClean="0">
              <a:solidFill>
                <a:schemeClr val="tx1"/>
              </a:solidFill>
              <a:ea typeface="+mn-ea"/>
              <a:cs typeface="+mn-cs"/>
            </a:endParaRPr>
          </a:p>
          <a:p>
            <a:r>
              <a:rPr lang="en-AU" sz="1200" u="sng" kern="1200" dirty="0" smtClean="0">
                <a:solidFill>
                  <a:schemeClr val="tx1"/>
                </a:solidFill>
                <a:ea typeface="+mn-ea"/>
                <a:cs typeface="+mn-cs"/>
              </a:rPr>
              <a:t>It must be -1ºC consistently.</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on storage of raw meat:</a:t>
            </a:r>
          </a:p>
          <a:p>
            <a:pPr>
              <a:buFont typeface="Arial" pitchFamily="34" charset="0"/>
              <a:buChar char="•"/>
            </a:pPr>
            <a:r>
              <a:rPr lang="en-AU" sz="1200" kern="1200" dirty="0" smtClean="0">
                <a:solidFill>
                  <a:schemeClr val="tx1"/>
                </a:solidFill>
                <a:ea typeface="+mn-ea"/>
                <a:cs typeface="+mn-cs"/>
              </a:rPr>
              <a:t> Raw meat is a favourable medium for bacterial growth if not stored and handled </a:t>
            </a:r>
            <a:r>
              <a:rPr lang="en-AU" sz="1200" kern="1200" dirty="0" smtClean="0">
                <a:solidFill>
                  <a:schemeClr val="tx1"/>
                </a:solidFill>
                <a:ea typeface="+mn-ea"/>
                <a:cs typeface="+mn-cs"/>
              </a:rPr>
              <a:t>correctly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There are two main conditions to be met when storing meat. </a:t>
            </a:r>
          </a:p>
          <a:p>
            <a:pPr lvl="1">
              <a:buFont typeface="Arial" pitchFamily="34" charset="0"/>
              <a:buChar char="•"/>
            </a:pPr>
            <a:r>
              <a:rPr lang="en-AU" sz="1200" kern="1200" dirty="0" smtClean="0">
                <a:solidFill>
                  <a:schemeClr val="tx1"/>
                </a:solidFill>
                <a:ea typeface="+mn-ea"/>
                <a:cs typeface="+mn-cs"/>
              </a:rPr>
              <a:t> Temperature 1</a:t>
            </a:r>
            <a:r>
              <a:rPr lang="en-AU" sz="1200" kern="1200" dirty="0" smtClean="0">
                <a:solidFill>
                  <a:schemeClr val="tx1"/>
                </a:solidFill>
                <a:ea typeface="+mn-ea"/>
                <a:cs typeface="+mn-cs"/>
                <a:sym typeface="Symbol"/>
              </a:rPr>
              <a:t></a:t>
            </a:r>
            <a:r>
              <a:rPr lang="en-AU" sz="1200" kern="1200" dirty="0" smtClean="0">
                <a:solidFill>
                  <a:schemeClr val="tx1"/>
                </a:solidFill>
                <a:ea typeface="+mn-ea"/>
                <a:cs typeface="+mn-cs"/>
              </a:rPr>
              <a:t>C to 3</a:t>
            </a:r>
            <a:r>
              <a:rPr lang="en-AU" sz="1200" kern="1200" dirty="0" smtClean="0">
                <a:solidFill>
                  <a:schemeClr val="tx1"/>
                </a:solidFill>
                <a:ea typeface="+mn-ea"/>
                <a:cs typeface="+mn-cs"/>
                <a:sym typeface="Symbol"/>
              </a:rPr>
              <a:t></a:t>
            </a:r>
            <a:r>
              <a:rPr lang="en-AU" sz="1200" kern="1200" dirty="0" smtClean="0">
                <a:solidFill>
                  <a:schemeClr val="tx1"/>
                </a:solidFill>
                <a:ea typeface="+mn-ea"/>
                <a:cs typeface="+mn-cs"/>
              </a:rPr>
              <a:t>C</a:t>
            </a:r>
          </a:p>
          <a:p>
            <a:pPr lvl="1">
              <a:buFont typeface="Arial" pitchFamily="34" charset="0"/>
              <a:buChar char="•"/>
            </a:pPr>
            <a:r>
              <a:rPr lang="en-AU" sz="1200" kern="1200" dirty="0" smtClean="0">
                <a:solidFill>
                  <a:schemeClr val="tx1"/>
                </a:solidFill>
                <a:ea typeface="+mn-ea"/>
                <a:cs typeface="+mn-cs"/>
              </a:rPr>
              <a:t> Humidity 85 %</a:t>
            </a:r>
          </a:p>
          <a:p>
            <a:pPr>
              <a:buFont typeface="Arial" pitchFamily="34" charset="0"/>
              <a:buChar char="•"/>
            </a:pPr>
            <a:r>
              <a:rPr lang="en-AU" sz="1200" kern="1200" dirty="0" smtClean="0">
                <a:solidFill>
                  <a:schemeClr val="tx1"/>
                </a:solidFill>
                <a:ea typeface="+mn-ea"/>
                <a:cs typeface="+mn-cs"/>
              </a:rPr>
              <a:t> Place meat in single layers on trays – fat side up, including Cryovac packs</a:t>
            </a:r>
          </a:p>
          <a:p>
            <a:pPr>
              <a:buFont typeface="Arial" pitchFamily="34" charset="0"/>
              <a:buChar char="•"/>
            </a:pPr>
            <a:r>
              <a:rPr lang="en-AU" sz="1200" kern="1200" dirty="0" smtClean="0">
                <a:solidFill>
                  <a:schemeClr val="tx1"/>
                </a:solidFill>
                <a:ea typeface="+mn-ea"/>
                <a:cs typeface="+mn-cs"/>
              </a:rPr>
              <a:t> Trays holding raw meat must be changed regularly to prevent blood pooling </a:t>
            </a:r>
          </a:p>
          <a:p>
            <a:pPr>
              <a:buFont typeface="Arial" pitchFamily="34" charset="0"/>
              <a:buChar char="•"/>
            </a:pPr>
            <a:r>
              <a:rPr lang="en-AU" sz="1200" kern="1200" dirty="0" smtClean="0">
                <a:solidFill>
                  <a:schemeClr val="tx1"/>
                </a:solidFill>
                <a:ea typeface="+mn-ea"/>
                <a:cs typeface="+mn-cs"/>
              </a:rPr>
              <a:t> Meat must be covered with plastic wrap </a:t>
            </a:r>
          </a:p>
          <a:p>
            <a:pPr>
              <a:buFont typeface="Arial" pitchFamily="34" charset="0"/>
              <a:buChar char="•"/>
            </a:pPr>
            <a:r>
              <a:rPr lang="en-AU" sz="1200" kern="1200" dirty="0" smtClean="0">
                <a:solidFill>
                  <a:schemeClr val="tx1"/>
                </a:solidFill>
                <a:ea typeface="+mn-ea"/>
                <a:cs typeface="+mn-cs"/>
              </a:rPr>
              <a:t> Different types of meat should not be </a:t>
            </a:r>
            <a:r>
              <a:rPr lang="en-AU" sz="1200" kern="1200" dirty="0" smtClean="0">
                <a:solidFill>
                  <a:schemeClr val="tx1"/>
                </a:solidFill>
                <a:ea typeface="+mn-ea"/>
                <a:cs typeface="+mn-cs"/>
              </a:rPr>
              <a:t>mixed.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information on storage of raw meat:</a:t>
            </a:r>
          </a:p>
          <a:p>
            <a:pPr>
              <a:buFont typeface="Arial" pitchFamily="34" charset="0"/>
              <a:buChar char="•"/>
            </a:pPr>
            <a:r>
              <a:rPr lang="en-AU" sz="1200" kern="1200" dirty="0" smtClean="0">
                <a:solidFill>
                  <a:schemeClr val="tx1"/>
                </a:solidFill>
                <a:ea typeface="+mn-ea"/>
                <a:cs typeface="+mn-cs"/>
              </a:rPr>
              <a:t> Raw and cooked meats must never be spread on the same tray </a:t>
            </a:r>
          </a:p>
          <a:p>
            <a:pPr>
              <a:buFont typeface="Arial" pitchFamily="34" charset="0"/>
              <a:buChar char="•"/>
            </a:pPr>
            <a:r>
              <a:rPr lang="en-AU" sz="1200" kern="1200" dirty="0" smtClean="0">
                <a:solidFill>
                  <a:schemeClr val="tx1"/>
                </a:solidFill>
                <a:ea typeface="+mn-ea"/>
                <a:cs typeface="+mn-cs"/>
              </a:rPr>
              <a:t> A sound stock rotation program should be maintained</a:t>
            </a:r>
          </a:p>
          <a:p>
            <a:pPr>
              <a:buFont typeface="Arial" pitchFamily="34" charset="0"/>
              <a:buChar char="•"/>
            </a:pPr>
            <a:r>
              <a:rPr lang="en-AU" sz="1200" kern="1200" dirty="0" smtClean="0">
                <a:solidFill>
                  <a:schemeClr val="tx1"/>
                </a:solidFill>
                <a:ea typeface="+mn-ea"/>
                <a:cs typeface="+mn-cs"/>
              </a:rPr>
              <a:t> Cooked meats should be stored on top shelves in coolrooms</a:t>
            </a:r>
          </a:p>
          <a:p>
            <a:pPr>
              <a:buFont typeface="Arial" pitchFamily="34" charset="0"/>
              <a:buChar char="•"/>
            </a:pPr>
            <a:r>
              <a:rPr lang="en-AU" sz="1200" kern="1200" dirty="0" smtClean="0">
                <a:solidFill>
                  <a:schemeClr val="tx1"/>
                </a:solidFill>
                <a:ea typeface="+mn-ea"/>
                <a:cs typeface="+mn-cs"/>
              </a:rPr>
              <a:t> Prepped meat should be stored on second shelf of coolroom</a:t>
            </a:r>
          </a:p>
          <a:p>
            <a:pPr>
              <a:buFont typeface="Arial" pitchFamily="34" charset="0"/>
              <a:buChar char="•"/>
            </a:pPr>
            <a:r>
              <a:rPr lang="en-AU" sz="1200" kern="1200" dirty="0" smtClean="0">
                <a:solidFill>
                  <a:schemeClr val="tx1"/>
                </a:solidFill>
                <a:ea typeface="+mn-ea"/>
                <a:cs typeface="+mn-cs"/>
              </a:rPr>
              <a:t> Packed or Cryovac meats should be stored on lower shelves</a:t>
            </a:r>
          </a:p>
          <a:p>
            <a:pPr>
              <a:buFont typeface="Arial" pitchFamily="34" charset="0"/>
              <a:buChar char="•"/>
            </a:pPr>
            <a:r>
              <a:rPr lang="en-AU" sz="1200" kern="1200" dirty="0" smtClean="0">
                <a:solidFill>
                  <a:schemeClr val="tx1"/>
                </a:solidFill>
                <a:ea typeface="+mn-ea"/>
                <a:cs typeface="+mn-cs"/>
              </a:rPr>
              <a:t> Thawing meats should be placed on lowest shelves.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visit to venue/cool room to view/observe food storage facilities and practices.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observes </a:t>
            </a:r>
            <a:r>
              <a:rPr lang="en-AU" sz="1200" kern="1200" dirty="0" smtClean="0">
                <a:solidFill>
                  <a:schemeClr val="tx1"/>
                </a:solidFill>
                <a:ea typeface="+mn-ea"/>
                <a:cs typeface="+mn-cs"/>
              </a:rPr>
              <a:t>it is important to use storage containers and trays correctly in order to optimise food safety and minimise wastage indicating </a:t>
            </a:r>
            <a:r>
              <a:rPr lang="en-AU" sz="1200" b="0" kern="1200" dirty="0" smtClean="0">
                <a:solidFill>
                  <a:schemeClr val="tx1"/>
                </a:solidFill>
                <a:ea typeface="+mn-ea"/>
                <a:cs typeface="+mn-cs"/>
              </a:rPr>
              <a:t>considerations relating to the use/selection of storage containers/trays should address:</a:t>
            </a:r>
            <a:endParaRPr lang="en-AU" sz="1200" b="1"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Must be appropriate to the items being stored – what is suitable for solid food may not be suitable for liquids</a:t>
            </a:r>
          </a:p>
          <a:p>
            <a:pPr>
              <a:buFont typeface="Arial" pitchFamily="34" charset="0"/>
              <a:buChar char="•"/>
            </a:pPr>
            <a:r>
              <a:rPr lang="en-AU" sz="1200" kern="1200" dirty="0" smtClean="0">
                <a:solidFill>
                  <a:schemeClr val="tx1"/>
                </a:solidFill>
                <a:ea typeface="+mn-ea"/>
                <a:cs typeface="+mn-cs"/>
              </a:rPr>
              <a:t> Size of the container – will the food fit comfortably without being forced in?</a:t>
            </a:r>
          </a:p>
          <a:p>
            <a:pPr>
              <a:buFont typeface="Arial" pitchFamily="34" charset="0"/>
              <a:buChar char="•"/>
            </a:pPr>
            <a:r>
              <a:rPr lang="en-AU" sz="1200" kern="1200" dirty="0" smtClean="0">
                <a:solidFill>
                  <a:schemeClr val="tx1"/>
                </a:solidFill>
                <a:ea typeface="+mn-ea"/>
                <a:cs typeface="+mn-cs"/>
              </a:rPr>
              <a:t> Shape of containers:</a:t>
            </a:r>
          </a:p>
          <a:p>
            <a:pPr lvl="1">
              <a:buFont typeface="Arial" pitchFamily="34" charset="0"/>
              <a:buChar char="•"/>
            </a:pPr>
            <a:r>
              <a:rPr lang="en-US" sz="1200" kern="1200" dirty="0" smtClean="0">
                <a:solidFill>
                  <a:schemeClr val="tx1"/>
                </a:solidFill>
                <a:ea typeface="+mn-ea"/>
                <a:cs typeface="+mn-cs"/>
              </a:rPr>
              <a:t> Will </a:t>
            </a:r>
            <a:r>
              <a:rPr lang="en-AU" sz="1200" kern="1200" dirty="0" smtClean="0">
                <a:solidFill>
                  <a:schemeClr val="tx1"/>
                </a:solidFill>
                <a:ea typeface="+mn-ea"/>
                <a:cs typeface="+mn-cs"/>
              </a:rPr>
              <a:t>the</a:t>
            </a:r>
            <a:r>
              <a:rPr lang="en-US" sz="1200" kern="1200" dirty="0" smtClean="0">
                <a:solidFill>
                  <a:schemeClr val="tx1"/>
                </a:solidFill>
                <a:ea typeface="+mn-ea"/>
                <a:cs typeface="+mn-cs"/>
              </a:rPr>
              <a:t> food lose its shape?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Flat, shallow or deep – does the food require air circulation or rapid cooling?</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Condition – is the container cracked, broken or chipped?</a:t>
            </a:r>
          </a:p>
          <a:p>
            <a:pPr>
              <a:buFont typeface="Arial" pitchFamily="34" charset="0"/>
              <a:buChar char="•"/>
            </a:pPr>
            <a:r>
              <a:rPr lang="en-AU" sz="1200" kern="1200" dirty="0" smtClean="0">
                <a:solidFill>
                  <a:schemeClr val="tx1"/>
                </a:solidFill>
                <a:ea typeface="+mn-ea"/>
                <a:cs typeface="+mn-cs"/>
              </a:rPr>
              <a:t> Hygiene – is the container clean and sanitised?</a:t>
            </a:r>
          </a:p>
          <a:p>
            <a:pPr>
              <a:buFont typeface="Arial" pitchFamily="34" charset="0"/>
              <a:buChar char="•"/>
            </a:pPr>
            <a:r>
              <a:rPr lang="en-AU" sz="1200" kern="1200" dirty="0" smtClean="0">
                <a:solidFill>
                  <a:schemeClr val="tx1"/>
                </a:solidFill>
                <a:ea typeface="+mn-ea"/>
                <a:cs typeface="+mn-cs"/>
              </a:rPr>
              <a:t> Food grade – is the container of a ‘food grade’ standard?</a:t>
            </a:r>
          </a:p>
          <a:p>
            <a:pPr>
              <a:buFont typeface="Arial" pitchFamily="34" charset="0"/>
              <a:buChar char="•"/>
            </a:pPr>
            <a:r>
              <a:rPr lang="en-AU" sz="1200" kern="1200" dirty="0" smtClean="0">
                <a:solidFill>
                  <a:schemeClr val="tx1"/>
                </a:solidFill>
                <a:ea typeface="+mn-ea"/>
                <a:cs typeface="+mn-cs"/>
              </a:rPr>
              <a:t> Later use – is the food to be cooked or heated in the container?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advice/information on storage containers:</a:t>
            </a:r>
          </a:p>
          <a:p>
            <a:pPr>
              <a:buFont typeface="Arial" pitchFamily="34" charset="0"/>
              <a:buChar char="•"/>
            </a:pPr>
            <a:r>
              <a:rPr lang="en-AU" sz="1200" kern="1200" dirty="0" smtClean="0">
                <a:solidFill>
                  <a:schemeClr val="tx1"/>
                </a:solidFill>
                <a:ea typeface="+mn-ea"/>
                <a:cs typeface="+mn-cs"/>
              </a:rPr>
              <a:t> Stainless steel and hard plastics are most commonly used as food storage vessels – this is because they are sturdy, easy to keep clean and are non-porous</a:t>
            </a:r>
          </a:p>
          <a:p>
            <a:pPr>
              <a:buFont typeface="Arial" pitchFamily="34" charset="0"/>
              <a:buChar char="•"/>
            </a:pPr>
            <a:r>
              <a:rPr lang="en-AU" sz="1200" kern="1200" dirty="0" smtClean="0">
                <a:solidFill>
                  <a:schemeClr val="tx1"/>
                </a:solidFill>
                <a:ea typeface="+mn-ea"/>
                <a:cs typeface="+mn-cs"/>
              </a:rPr>
              <a:t> Glass and ceramic bowls and containers may be used – however they are prone to chipping, cracks and breakage</a:t>
            </a:r>
          </a:p>
          <a:p>
            <a:pPr>
              <a:buFont typeface="Arial" pitchFamily="34" charset="0"/>
              <a:buChar char="•"/>
            </a:pPr>
            <a:r>
              <a:rPr lang="en-AU" sz="1200" kern="1200" dirty="0" smtClean="0">
                <a:solidFill>
                  <a:schemeClr val="tx1"/>
                </a:solidFill>
                <a:ea typeface="+mn-ea"/>
                <a:cs typeface="+mn-cs"/>
              </a:rPr>
              <a:t> Cardboard boxes and cartons are not recommended for storage in coolrooms – as they can harbour insects and are prone to rotting and mould</a:t>
            </a:r>
          </a:p>
          <a:p>
            <a:pPr>
              <a:buFont typeface="Arial" pitchFamily="34" charset="0"/>
              <a:buChar char="•"/>
            </a:pPr>
            <a:r>
              <a:rPr lang="en-AU" sz="1200" kern="1200" dirty="0" smtClean="0">
                <a:solidFill>
                  <a:schemeClr val="tx1"/>
                </a:solidFill>
                <a:ea typeface="+mn-ea"/>
                <a:cs typeface="+mn-cs"/>
              </a:rPr>
              <a:t> Cast aluminium vessels can react with some foods causing them to discolour, especially white sauces and egg based items so they should not be used – aluminium foil products do not have the same effect</a:t>
            </a:r>
          </a:p>
          <a:p>
            <a:pPr>
              <a:buFont typeface="Arial" pitchFamily="34" charset="0"/>
              <a:buChar char="•"/>
            </a:pPr>
            <a:r>
              <a:rPr lang="en-AU" sz="1200" kern="1200" dirty="0" smtClean="0">
                <a:solidFill>
                  <a:schemeClr val="tx1"/>
                </a:solidFill>
                <a:ea typeface="+mn-ea"/>
                <a:cs typeface="+mn-cs"/>
              </a:rPr>
              <a:t> Decanted chemical containers should definitely not be used for food storage – as they may still contain traces of poisonous substances.</a:t>
            </a:r>
          </a:p>
          <a:p>
            <a:pPr>
              <a:buFont typeface="Arial" pitchFamily="34" charset="0"/>
              <a:buChar char="•"/>
            </a:pPr>
            <a:r>
              <a:rPr lang="en-AU" sz="1200" kern="1200" dirty="0" smtClean="0">
                <a:solidFill>
                  <a:schemeClr val="tx1"/>
                </a:solidFill>
                <a:ea typeface="+mn-ea"/>
                <a:cs typeface="+mn-cs"/>
              </a:rPr>
              <a:t> Storage containers must be clean and sanitised – before and after assembly and use.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examples of food grade storage containers:</a:t>
            </a:r>
          </a:p>
          <a:p>
            <a:pPr>
              <a:buFont typeface="Arial" pitchFamily="34" charset="0"/>
              <a:buChar char="•"/>
            </a:pPr>
            <a:r>
              <a:rPr lang="en-US" dirty="0" smtClean="0"/>
              <a:t> Plastic disposable containers/tubs</a:t>
            </a:r>
          </a:p>
          <a:p>
            <a:pPr>
              <a:buFont typeface="Arial" pitchFamily="34" charset="0"/>
              <a:buChar char="•"/>
            </a:pPr>
            <a:r>
              <a:rPr lang="en-US" dirty="0" smtClean="0"/>
              <a:t> Tupperware</a:t>
            </a:r>
          </a:p>
          <a:p>
            <a:pPr>
              <a:buFont typeface="Arial" pitchFamily="34" charset="0"/>
              <a:buChar char="•"/>
            </a:pPr>
            <a:r>
              <a:rPr lang="en-US" dirty="0" smtClean="0"/>
              <a:t> Aluminium</a:t>
            </a:r>
            <a:r>
              <a:rPr lang="en-US" baseline="0" dirty="0" smtClean="0"/>
              <a:t> foil trays</a:t>
            </a:r>
          </a:p>
          <a:p>
            <a:pPr>
              <a:buFont typeface="Arial" pitchFamily="34" charset="0"/>
              <a:buChar char="•"/>
            </a:pPr>
            <a:r>
              <a:rPr lang="en-US" baseline="0" dirty="0" smtClean="0"/>
              <a:t> Plastic meat </a:t>
            </a:r>
            <a:r>
              <a:rPr lang="en-US" baseline="0" dirty="0" smtClean="0"/>
              <a:t>tubs.</a:t>
            </a:r>
            <a:endParaRPr lang="en-US" dirty="0" smtClean="0"/>
          </a:p>
          <a:p>
            <a:pPr>
              <a:buFont typeface="Arial" pitchFamily="34" charset="0"/>
              <a:buNone/>
            </a:pPr>
            <a:endParaRPr lang="en-US" dirty="0" smtClean="0"/>
          </a:p>
          <a:p>
            <a:pPr>
              <a:buFont typeface="Arial" pitchFamily="34" charset="0"/>
              <a:buNone/>
            </a:pPr>
            <a:r>
              <a:rPr lang="en-US" b="1" baseline="0" dirty="0" smtClean="0"/>
              <a:t>Class Activity – Showcasing and Explanation</a:t>
            </a:r>
          </a:p>
          <a:p>
            <a:pPr>
              <a:buFont typeface="Arial" pitchFamily="34" charset="0"/>
              <a:buNone/>
            </a:pPr>
            <a:r>
              <a:rPr lang="en-US" b="0" baseline="0" dirty="0" smtClean="0"/>
              <a:t>Trainer shows examples of </a:t>
            </a:r>
            <a:r>
              <a:rPr lang="en-US" baseline="0" dirty="0" smtClean="0"/>
              <a:t>storage containers as identified on the slide and explains use of same. </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examples of food grade storage containers:</a:t>
            </a:r>
          </a:p>
          <a:p>
            <a:pPr>
              <a:buFont typeface="Arial" pitchFamily="34" charset="0"/>
              <a:buChar char="•"/>
            </a:pPr>
            <a:r>
              <a:rPr lang="en-US" dirty="0" smtClean="0"/>
              <a:t> Gastronorm trays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Gastronorm perforated trays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Stainless steel bowls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Glass bowls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Ceramic dishes.</a:t>
            </a:r>
          </a:p>
          <a:p>
            <a:pPr>
              <a:buFont typeface="Arial" pitchFamily="34" charset="0"/>
              <a:buChar char="•"/>
            </a:pPr>
            <a:endParaRPr lang="en-US" dirty="0" smtClean="0"/>
          </a:p>
          <a:p>
            <a:pPr>
              <a:buFont typeface="Arial" pitchFamily="34" charset="0"/>
              <a:buNone/>
            </a:pPr>
            <a:r>
              <a:rPr lang="en-US" b="1" baseline="0" dirty="0" smtClean="0"/>
              <a:t>Class Activity – Showcasing and Explanation</a:t>
            </a:r>
          </a:p>
          <a:p>
            <a:pPr>
              <a:buFont typeface="Arial" pitchFamily="34" charset="0"/>
              <a:buNone/>
            </a:pPr>
            <a:r>
              <a:rPr lang="en-US" b="0" baseline="0" dirty="0" smtClean="0"/>
              <a:t>Trainer shows examples of </a:t>
            </a:r>
            <a:r>
              <a:rPr lang="en-US" baseline="0" dirty="0" smtClean="0"/>
              <a:t>storage containers as identified on the slide and explains use of same. </a:t>
            </a:r>
            <a:endParaRPr lang="en-US" b="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indicates </a:t>
            </a:r>
            <a:r>
              <a:rPr lang="en-AU" sz="1200" b="0" kern="1200" dirty="0" smtClean="0">
                <a:solidFill>
                  <a:schemeClr val="tx1"/>
                </a:solidFill>
                <a:ea typeface="+mn-ea"/>
                <a:cs typeface="+mn-cs"/>
              </a:rPr>
              <a:t>other items used for storage include materials for covering food if an appropriate lid or storage vessel is unavailable:</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Plastic cling film/wrap</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Aluminium foil</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Silicon paper</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Greaseproof paper</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Plastic Cryovac bags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Freezer bags</a:t>
            </a:r>
            <a:endParaRPr lang="en-AU" sz="1200" b="1" kern="120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 Zip lock plastic </a:t>
            </a:r>
            <a:r>
              <a:rPr lang="en-AU" sz="1200" b="0" kern="1200" dirty="0" smtClean="0">
                <a:solidFill>
                  <a:schemeClr val="tx1"/>
                </a:solidFill>
                <a:ea typeface="+mn-ea"/>
                <a:cs typeface="+mn-cs"/>
              </a:rPr>
              <a:t>bags.</a:t>
            </a:r>
            <a:endParaRPr lang="en-AU" sz="1200" b="1"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baseline="0" dirty="0" smtClean="0"/>
              <a:t>Class Activity – Showcasing and Explanation</a:t>
            </a:r>
          </a:p>
          <a:p>
            <a:pPr>
              <a:buFont typeface="Arial" pitchFamily="34" charset="0"/>
              <a:buNone/>
            </a:pPr>
            <a:r>
              <a:rPr lang="en-US" b="0" baseline="0" dirty="0" smtClean="0"/>
              <a:t>Trainer shows examples of items </a:t>
            </a:r>
            <a:r>
              <a:rPr lang="en-US" baseline="0" dirty="0" smtClean="0"/>
              <a:t>identified on the slide and explains use of same for wrapping/packaging. </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venues/kitchens may have standards relating to the use of storage containers/trays such as:</a:t>
            </a:r>
          </a:p>
          <a:p>
            <a:pPr>
              <a:buFont typeface="Arial" pitchFamily="34" charset="0"/>
              <a:buChar char="•"/>
            </a:pPr>
            <a:r>
              <a:rPr lang="en-AU" sz="1200" kern="1200" dirty="0" smtClean="0">
                <a:solidFill>
                  <a:schemeClr val="tx1"/>
                </a:solidFill>
                <a:ea typeface="+mn-ea"/>
                <a:cs typeface="+mn-cs"/>
              </a:rPr>
              <a:t> Bans on the use of glass or ceramic containers</a:t>
            </a:r>
          </a:p>
          <a:p>
            <a:pPr>
              <a:buFont typeface="Arial" pitchFamily="34" charset="0"/>
              <a:buChar char="•"/>
            </a:pPr>
            <a:r>
              <a:rPr lang="en-AU" sz="1200" kern="1200" dirty="0" smtClean="0">
                <a:solidFill>
                  <a:schemeClr val="tx1"/>
                </a:solidFill>
                <a:ea typeface="+mn-ea"/>
                <a:cs typeface="+mn-cs"/>
              </a:rPr>
              <a:t> Frequency with which storage containers/trays must be cleaned/changed – such as daily</a:t>
            </a:r>
          </a:p>
          <a:p>
            <a:pPr>
              <a:buFont typeface="Arial" pitchFamily="34" charset="0"/>
              <a:buChar char="•"/>
            </a:pPr>
            <a:r>
              <a:rPr lang="en-AU" sz="1200" kern="1200" dirty="0" smtClean="0">
                <a:solidFill>
                  <a:schemeClr val="tx1"/>
                </a:solidFill>
                <a:ea typeface="+mn-ea"/>
                <a:cs typeface="+mn-cs"/>
              </a:rPr>
              <a:t> Mandatory locations for the storage of certain </a:t>
            </a:r>
            <a:r>
              <a:rPr lang="en-AU" sz="1200" kern="1200" dirty="0" smtClean="0">
                <a:solidFill>
                  <a:schemeClr val="tx1"/>
                </a:solidFill>
                <a:ea typeface="+mn-ea"/>
                <a:cs typeface="+mn-cs"/>
              </a:rPr>
              <a:t>items/products.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possible enterprise standards/requirements for the storage of food:</a:t>
            </a:r>
          </a:p>
          <a:p>
            <a:pPr>
              <a:buFont typeface="Arial" pitchFamily="34" charset="0"/>
              <a:buChar char="•"/>
            </a:pPr>
            <a:r>
              <a:rPr lang="en-AU" sz="1200" kern="1200" dirty="0" smtClean="0">
                <a:solidFill>
                  <a:schemeClr val="tx1"/>
                </a:solidFill>
                <a:ea typeface="+mn-ea"/>
                <a:cs typeface="+mn-cs"/>
              </a:rPr>
              <a:t> Guidelines (or mandatory requirements) on storage of left-overs – such as:</a:t>
            </a:r>
          </a:p>
          <a:p>
            <a:pPr lvl="1">
              <a:buFont typeface="Arial" pitchFamily="34" charset="0"/>
              <a:buChar char="•"/>
            </a:pPr>
            <a:r>
              <a:rPr lang="en-AU" sz="1200" kern="1200" dirty="0" smtClean="0">
                <a:solidFill>
                  <a:schemeClr val="tx1"/>
                </a:solidFill>
                <a:ea typeface="+mn-ea"/>
                <a:cs typeface="+mn-cs"/>
              </a:rPr>
              <a:t> No storage of left-over food – this is a common protocol in kitchens which service hospitals, aged care facilities and other venues where customers are in a high ‘at risk’ for food poisoning</a:t>
            </a:r>
          </a:p>
          <a:p>
            <a:pPr lvl="1">
              <a:buFont typeface="Arial" pitchFamily="34" charset="0"/>
              <a:buChar char="•"/>
            </a:pPr>
            <a:r>
              <a:rPr lang="en-AU" sz="1200" kern="1200" dirty="0" smtClean="0">
                <a:solidFill>
                  <a:schemeClr val="tx1"/>
                </a:solidFill>
                <a:ea typeface="+mn-ea"/>
                <a:cs typeface="+mn-cs"/>
              </a:rPr>
              <a:t> Disposal of small quantities of left-over – as opposed to a requirement requiring all left-over food to be saved/stored</a:t>
            </a:r>
          </a:p>
          <a:p>
            <a:pPr lvl="1">
              <a:buFont typeface="Arial" pitchFamily="34" charset="0"/>
              <a:buChar char="•"/>
            </a:pPr>
            <a:r>
              <a:rPr lang="en-AU" sz="1200" kern="1200" dirty="0" smtClean="0">
                <a:solidFill>
                  <a:schemeClr val="tx1"/>
                </a:solidFill>
                <a:ea typeface="+mn-ea"/>
                <a:cs typeface="+mn-cs"/>
              </a:rPr>
              <a:t> Creation of menu items for the next service session which will use the left-over food  from the previous session</a:t>
            </a:r>
          </a:p>
          <a:p>
            <a:pPr>
              <a:buFont typeface="Arial" pitchFamily="34" charset="0"/>
              <a:buChar char="•"/>
            </a:pPr>
            <a:r>
              <a:rPr lang="en-AU" sz="1200" kern="1200" dirty="0" smtClean="0">
                <a:solidFill>
                  <a:schemeClr val="tx1"/>
                </a:solidFill>
                <a:ea typeface="+mn-ea"/>
                <a:cs typeface="+mn-cs"/>
              </a:rPr>
              <a:t> Specification of the type/style of storage containers and trays to be used for specified foods:</a:t>
            </a:r>
          </a:p>
          <a:p>
            <a:pPr lvl="1">
              <a:buFont typeface="Arial" pitchFamily="34" charset="0"/>
              <a:buChar char="•"/>
            </a:pPr>
            <a:r>
              <a:rPr lang="en-AU" sz="1200" kern="1200" dirty="0" smtClean="0">
                <a:solidFill>
                  <a:schemeClr val="tx1"/>
                </a:solidFill>
                <a:ea typeface="+mn-ea"/>
                <a:cs typeface="+mn-cs"/>
              </a:rPr>
              <a:t> For individual ingredients – that is, before assembly/production of menu items</a:t>
            </a:r>
          </a:p>
          <a:p>
            <a:pPr lvl="1">
              <a:buFont typeface="Arial" pitchFamily="34" charset="0"/>
              <a:buChar char="•"/>
            </a:pPr>
            <a:r>
              <a:rPr lang="en-AU" sz="1200" kern="1200" dirty="0" smtClean="0">
                <a:solidFill>
                  <a:schemeClr val="tx1"/>
                </a:solidFill>
                <a:ea typeface="+mn-ea"/>
                <a:cs typeface="+mn-cs"/>
              </a:rPr>
              <a:t> For prepared menu items – after dishes have been made (or are left-over)</a:t>
            </a:r>
          </a:p>
          <a:p>
            <a:pPr>
              <a:buFont typeface="Arial" pitchFamily="34" charset="0"/>
              <a:buChar char="•"/>
            </a:pPr>
            <a:r>
              <a:rPr lang="en-AU" sz="1200" kern="1200" dirty="0" smtClean="0">
                <a:solidFill>
                  <a:schemeClr val="tx1"/>
                </a:solidFill>
                <a:ea typeface="+mn-ea"/>
                <a:cs typeface="+mn-cs"/>
              </a:rPr>
              <a:t> Alignment with any applicable factors impacting the kitchen, venue or country – as this may relate to dietary, cultural or religious matters</a:t>
            </a:r>
          </a:p>
          <a:p>
            <a:pPr>
              <a:buFont typeface="Arial" pitchFamily="34" charset="0"/>
              <a:buChar char="•"/>
            </a:pPr>
            <a:r>
              <a:rPr lang="en-AU" sz="1200" kern="1200" dirty="0" smtClean="0">
                <a:solidFill>
                  <a:schemeClr val="tx1"/>
                </a:solidFill>
                <a:ea typeface="+mn-ea"/>
                <a:cs typeface="+mn-cs"/>
              </a:rPr>
              <a:t> The order/sequence in which individual items/foods are to be used – while FIFO is the usual practice for stock rotation of food there can be occasions where management/Head Chef wishes to apply an alternate option (such as, for example, Last In – First Out).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ea typeface="+mn-ea"/>
                <a:cs typeface="+mn-cs"/>
              </a:rPr>
              <a:t>where foods have to be stored after a service session there is a industry-wide need to label them</a:t>
            </a:r>
            <a:r>
              <a:rPr lang="en-AU" sz="1200" kern="1200" baseline="0" dirty="0" smtClean="0">
                <a:solidFill>
                  <a:schemeClr val="tx1"/>
                </a:solidFill>
                <a:ea typeface="+mn-ea"/>
                <a:cs typeface="+mn-cs"/>
              </a:rPr>
              <a:t> advising </a:t>
            </a:r>
            <a:r>
              <a:rPr lang="en-AU" sz="1200" kern="1200" dirty="0" smtClean="0">
                <a:solidFill>
                  <a:schemeClr val="tx1"/>
                </a:solidFill>
                <a:ea typeface="+mn-ea"/>
                <a:cs typeface="+mn-cs"/>
              </a:rPr>
              <a:t>it is important to label stored foods in order to:</a:t>
            </a:r>
          </a:p>
          <a:p>
            <a:pPr>
              <a:buFont typeface="Arial" pitchFamily="34" charset="0"/>
              <a:buChar char="•"/>
            </a:pPr>
            <a:r>
              <a:rPr lang="en-AU" sz="1200" kern="1200" dirty="0" smtClean="0">
                <a:solidFill>
                  <a:schemeClr val="tx1"/>
                </a:solidFill>
                <a:ea typeface="+mn-ea"/>
                <a:cs typeface="+mn-cs"/>
              </a:rPr>
              <a:t> Assist with stock control and rotation</a:t>
            </a:r>
          </a:p>
          <a:p>
            <a:pPr>
              <a:buFont typeface="Arial" pitchFamily="34" charset="0"/>
              <a:buChar char="•"/>
            </a:pPr>
            <a:r>
              <a:rPr lang="en-AU" sz="1200" kern="1200" dirty="0" smtClean="0">
                <a:solidFill>
                  <a:schemeClr val="tx1"/>
                </a:solidFill>
                <a:ea typeface="+mn-ea"/>
                <a:cs typeface="+mn-cs"/>
              </a:rPr>
              <a:t> Help quickly identify stock-on-hand</a:t>
            </a:r>
          </a:p>
          <a:p>
            <a:pPr>
              <a:buFont typeface="Arial" pitchFamily="34" charset="0"/>
              <a:buChar char="•"/>
            </a:pPr>
            <a:r>
              <a:rPr lang="en-AU" sz="1200" kern="1200" dirty="0" smtClean="0">
                <a:solidFill>
                  <a:schemeClr val="tx1"/>
                </a:solidFill>
                <a:ea typeface="+mn-ea"/>
                <a:cs typeface="+mn-cs"/>
              </a:rPr>
              <a:t> Facilitate retrieval of food items</a:t>
            </a:r>
          </a:p>
          <a:p>
            <a:pPr>
              <a:buFont typeface="Arial" pitchFamily="34" charset="0"/>
              <a:buChar char="•"/>
            </a:pPr>
            <a:r>
              <a:rPr lang="en-AU" sz="1200" kern="1200" dirty="0" smtClean="0">
                <a:solidFill>
                  <a:schemeClr val="tx1"/>
                </a:solidFill>
                <a:ea typeface="+mn-ea"/>
                <a:cs typeface="+mn-cs"/>
              </a:rPr>
              <a:t> Maintain food safety of menu items</a:t>
            </a:r>
          </a:p>
          <a:p>
            <a:pPr>
              <a:buFont typeface="Arial" pitchFamily="34" charset="0"/>
              <a:buChar char="•"/>
            </a:pPr>
            <a:r>
              <a:rPr lang="en-AU" sz="1200" kern="1200" dirty="0" smtClean="0">
                <a:solidFill>
                  <a:schemeClr val="tx1"/>
                </a:solidFill>
                <a:ea typeface="+mn-ea"/>
                <a:cs typeface="+mn-cs"/>
              </a:rPr>
              <a:t> Comply with FSP requirements</a:t>
            </a:r>
          </a:p>
          <a:p>
            <a:pPr>
              <a:buFont typeface="Arial" pitchFamily="34" charset="0"/>
              <a:buChar char="•"/>
            </a:pPr>
            <a:r>
              <a:rPr lang="en-AU" sz="1200" kern="1200" dirty="0" smtClean="0">
                <a:solidFill>
                  <a:schemeClr val="tx1"/>
                </a:solidFill>
                <a:ea typeface="+mn-ea"/>
                <a:cs typeface="+mn-cs"/>
              </a:rPr>
              <a:t> Demonstrate safe food handling practices.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which should be listed on labels of stored foods:</a:t>
            </a:r>
          </a:p>
          <a:p>
            <a:pPr lvl="0">
              <a:buFont typeface="Arial" pitchFamily="34" charset="0"/>
              <a:buChar char="•"/>
            </a:pPr>
            <a:r>
              <a:rPr lang="en-AU" sz="1200" kern="1200" dirty="0" smtClean="0">
                <a:solidFill>
                  <a:schemeClr val="tx1"/>
                </a:solidFill>
                <a:ea typeface="+mn-ea"/>
                <a:cs typeface="+mn-cs"/>
              </a:rPr>
              <a:t> Name of the item – a clear and accurate description of what the item </a:t>
            </a:r>
            <a:r>
              <a:rPr lang="en-AU" sz="1200" kern="1200" dirty="0" smtClean="0">
                <a:solidFill>
                  <a:schemeClr val="tx1"/>
                </a:solidFill>
                <a:ea typeface="+mn-ea"/>
                <a:cs typeface="+mn-cs"/>
              </a:rPr>
              <a:t>is:</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This is important because food is sometimes difficult to identify when it has cooled/been </a:t>
            </a:r>
            <a:r>
              <a:rPr lang="en-AU" sz="1200" kern="1200" dirty="0" smtClean="0">
                <a:solidFill>
                  <a:schemeClr val="tx1"/>
                </a:solidFill>
                <a:ea typeface="+mn-ea"/>
                <a:cs typeface="+mn-cs"/>
              </a:rPr>
              <a:t>frozen</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For example, one sauce can look very much the same as other sauces; many wet dishes look </a:t>
            </a:r>
            <a:r>
              <a:rPr lang="en-AU" sz="1200" kern="1200" dirty="0" smtClean="0">
                <a:solidFill>
                  <a:schemeClr val="tx1"/>
                </a:solidFill>
                <a:ea typeface="+mn-ea"/>
                <a:cs typeface="+mn-cs"/>
              </a:rPr>
              <a:t>similar</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 Date the item was placed into storage – using an approved format readily understood by all </a:t>
            </a:r>
            <a:r>
              <a:rPr lang="en-AU" sz="1200" kern="1200" dirty="0" smtClean="0">
                <a:solidFill>
                  <a:schemeClr val="tx1"/>
                </a:solidFill>
                <a:ea typeface="+mn-ea"/>
                <a:cs typeface="+mn-cs"/>
              </a:rPr>
              <a:t>staff:</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For example, the format may be 02/03/2014, where:</a:t>
            </a:r>
          </a:p>
          <a:p>
            <a:pPr lvl="2">
              <a:buFont typeface="Arial" pitchFamily="34" charset="0"/>
              <a:buChar char="•"/>
            </a:pPr>
            <a:r>
              <a:rPr lang="en-AU" sz="1200" kern="1200" dirty="0" smtClean="0">
                <a:solidFill>
                  <a:schemeClr val="tx1"/>
                </a:solidFill>
                <a:ea typeface="+mn-ea"/>
                <a:cs typeface="+mn-cs"/>
              </a:rPr>
              <a:t> 02 = day of the month</a:t>
            </a:r>
          </a:p>
          <a:p>
            <a:pPr lvl="2">
              <a:buFont typeface="Arial" pitchFamily="34" charset="0"/>
              <a:buChar char="•"/>
            </a:pPr>
            <a:r>
              <a:rPr lang="en-AU" sz="1200" kern="1200" dirty="0" smtClean="0">
                <a:solidFill>
                  <a:schemeClr val="tx1"/>
                </a:solidFill>
                <a:ea typeface="+mn-ea"/>
                <a:cs typeface="+mn-cs"/>
              </a:rPr>
              <a:t> 03 = month of the year</a:t>
            </a:r>
          </a:p>
          <a:p>
            <a:pPr lvl="2">
              <a:buFont typeface="Arial" pitchFamily="34" charset="0"/>
              <a:buChar char="•"/>
            </a:pPr>
            <a:r>
              <a:rPr lang="en-AU" sz="1200" kern="1200" dirty="0" smtClean="0">
                <a:solidFill>
                  <a:schemeClr val="tx1"/>
                </a:solidFill>
                <a:ea typeface="+mn-ea"/>
                <a:cs typeface="+mn-cs"/>
              </a:rPr>
              <a:t> 2014 = the year</a:t>
            </a:r>
          </a:p>
          <a:p>
            <a:pPr lvl="0">
              <a:buFont typeface="Arial" pitchFamily="34" charset="0"/>
              <a:buChar char="•"/>
            </a:pPr>
            <a:r>
              <a:rPr lang="en-AU" sz="1200" kern="1200" dirty="0" smtClean="0">
                <a:solidFill>
                  <a:schemeClr val="tx1"/>
                </a:solidFill>
                <a:ea typeface="+mn-ea"/>
                <a:cs typeface="+mn-cs"/>
              </a:rPr>
              <a:t> Time the item was stored – this is necessary where the storage process is being recorded as part of process testing/verification under the FSP for the </a:t>
            </a:r>
            <a:r>
              <a:rPr lang="en-AU" sz="1200" kern="1200" dirty="0" smtClean="0">
                <a:solidFill>
                  <a:schemeClr val="tx1"/>
                </a:solidFill>
                <a:ea typeface="+mn-ea"/>
                <a:cs typeface="+mn-cs"/>
              </a:rPr>
              <a:t>venue:</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The 24-hour clock is usually used for this – for example:</a:t>
            </a:r>
          </a:p>
          <a:p>
            <a:pPr lvl="2">
              <a:buFont typeface="Arial" pitchFamily="34" charset="0"/>
              <a:buChar char="•"/>
            </a:pPr>
            <a:r>
              <a:rPr lang="en-AU" sz="1200" kern="1200" dirty="0" smtClean="0">
                <a:solidFill>
                  <a:schemeClr val="tx1"/>
                </a:solidFill>
                <a:ea typeface="+mn-ea"/>
                <a:cs typeface="+mn-cs"/>
              </a:rPr>
              <a:t> 0900 = 9 o’clock in the morning (9:00AM)</a:t>
            </a:r>
          </a:p>
          <a:p>
            <a:pPr lvl="2">
              <a:buFont typeface="Arial" pitchFamily="34" charset="0"/>
              <a:buChar char="•"/>
            </a:pPr>
            <a:r>
              <a:rPr lang="en-AU" sz="1200" kern="1200" dirty="0" smtClean="0">
                <a:solidFill>
                  <a:schemeClr val="tx1"/>
                </a:solidFill>
                <a:ea typeface="+mn-ea"/>
                <a:cs typeface="+mn-cs"/>
              </a:rPr>
              <a:t> 1515 = a quarter past three in the afternoon (3:15PM)</a:t>
            </a:r>
          </a:p>
          <a:p>
            <a:pPr lvl="2">
              <a:buFont typeface="Arial" pitchFamily="34" charset="0"/>
              <a:buChar char="•"/>
            </a:pPr>
            <a:r>
              <a:rPr lang="en-AU" sz="1200" kern="1200" dirty="0" smtClean="0">
                <a:solidFill>
                  <a:schemeClr val="tx1"/>
                </a:solidFill>
                <a:ea typeface="+mn-ea"/>
                <a:cs typeface="+mn-cs"/>
              </a:rPr>
              <a:t> 2030 = half past ten at night (10:30PM)</a:t>
            </a:r>
          </a:p>
          <a:p>
            <a:pPr lvl="1">
              <a:buFont typeface="Arial" pitchFamily="34" charset="0"/>
              <a:buChar char="•"/>
            </a:pPr>
            <a:r>
              <a:rPr lang="en-AU" sz="1200" kern="1200" dirty="0" smtClean="0">
                <a:solidFill>
                  <a:schemeClr val="tx1"/>
                </a:solidFill>
                <a:ea typeface="+mn-ea"/>
                <a:cs typeface="+mn-cs"/>
              </a:rPr>
              <a:t> Where the storage is part of process testing/verification (record keeping) (such as checking the cooling of hot food, or the thawing of frozen food) there is also a need to record:</a:t>
            </a:r>
          </a:p>
          <a:p>
            <a:pPr lvl="2">
              <a:buFont typeface="Arial" pitchFamily="34" charset="0"/>
              <a:buChar char="•"/>
            </a:pPr>
            <a:r>
              <a:rPr lang="en-AU" sz="1200" kern="1200" dirty="0" smtClean="0">
                <a:solidFill>
                  <a:schemeClr val="tx1"/>
                </a:solidFill>
                <a:ea typeface="+mn-ea"/>
                <a:cs typeface="+mn-cs"/>
              </a:rPr>
              <a:t> The starting temperature of the food at the time it was placed into storage</a:t>
            </a:r>
          </a:p>
          <a:p>
            <a:pPr lvl="2">
              <a:buFont typeface="Arial" pitchFamily="34" charset="0"/>
              <a:buChar char="•"/>
            </a:pPr>
            <a:r>
              <a:rPr lang="en-AU" sz="1200" kern="1200" dirty="0" smtClean="0">
                <a:solidFill>
                  <a:schemeClr val="tx1"/>
                </a:solidFill>
                <a:ea typeface="+mn-ea"/>
                <a:cs typeface="+mn-cs"/>
              </a:rPr>
              <a:t> The finishing temperature of the food at the time the process(cooling or defrosting) was completed</a:t>
            </a:r>
          </a:p>
          <a:p>
            <a:pPr lvl="2">
              <a:buFont typeface="Arial" pitchFamily="34" charset="0"/>
              <a:buChar char="•"/>
            </a:pPr>
            <a:r>
              <a:rPr lang="en-AU" sz="1200" kern="1200" dirty="0" smtClean="0">
                <a:solidFill>
                  <a:schemeClr val="tx1"/>
                </a:solidFill>
                <a:ea typeface="+mn-ea"/>
                <a:cs typeface="+mn-cs"/>
              </a:rPr>
              <a:t> Type of storage – for chilling, thawing</a:t>
            </a:r>
          </a:p>
          <a:p>
            <a:pPr lvl="0">
              <a:buFont typeface="Arial" pitchFamily="34" charset="0"/>
              <a:buChar char="•"/>
            </a:pPr>
            <a:r>
              <a:rPr lang="en-AU" sz="1200" kern="1200" dirty="0" smtClean="0">
                <a:solidFill>
                  <a:schemeClr val="tx1"/>
                </a:solidFill>
                <a:ea typeface="+mn-ea"/>
                <a:cs typeface="+mn-cs"/>
              </a:rPr>
              <a:t> Name of relevant person – this may be:</a:t>
            </a:r>
          </a:p>
          <a:p>
            <a:pPr lvl="1">
              <a:buFont typeface="Arial" pitchFamily="34" charset="0"/>
              <a:buChar char="•"/>
            </a:pPr>
            <a:r>
              <a:rPr lang="en-AU" sz="1200" kern="1200" dirty="0" smtClean="0">
                <a:solidFill>
                  <a:schemeClr val="tx1"/>
                </a:solidFill>
                <a:ea typeface="+mn-ea"/>
                <a:cs typeface="+mn-cs"/>
              </a:rPr>
              <a:t> Person who </a:t>
            </a:r>
            <a:r>
              <a:rPr lang="en-AU" sz="1200" i="1" kern="1200" dirty="0" smtClean="0">
                <a:solidFill>
                  <a:schemeClr val="tx1"/>
                </a:solidFill>
                <a:ea typeface="+mn-ea"/>
                <a:cs typeface="+mn-cs"/>
              </a:rPr>
              <a:t>produced</a:t>
            </a:r>
            <a:r>
              <a:rPr lang="en-AU" sz="1200" kern="1200" dirty="0" smtClean="0">
                <a:solidFill>
                  <a:schemeClr val="tx1"/>
                </a:solidFill>
                <a:ea typeface="+mn-ea"/>
                <a:cs typeface="+mn-cs"/>
              </a:rPr>
              <a:t> the item, and/or</a:t>
            </a:r>
          </a:p>
          <a:p>
            <a:pPr lvl="1">
              <a:buFont typeface="Arial" pitchFamily="34" charset="0"/>
              <a:buChar char="•"/>
            </a:pPr>
            <a:r>
              <a:rPr lang="en-AU" sz="1200" kern="1200" dirty="0" smtClean="0">
                <a:solidFill>
                  <a:schemeClr val="tx1"/>
                </a:solidFill>
                <a:ea typeface="+mn-ea"/>
                <a:cs typeface="+mn-cs"/>
              </a:rPr>
              <a:t> Person who </a:t>
            </a:r>
            <a:r>
              <a:rPr lang="en-AU" sz="1200" i="1" kern="1200" dirty="0" smtClean="0">
                <a:solidFill>
                  <a:schemeClr val="tx1"/>
                </a:solidFill>
                <a:ea typeface="+mn-ea"/>
                <a:cs typeface="+mn-cs"/>
              </a:rPr>
              <a:t>stored</a:t>
            </a:r>
            <a:r>
              <a:rPr lang="en-AU" sz="1200" kern="1200" dirty="0" smtClean="0">
                <a:solidFill>
                  <a:schemeClr val="tx1"/>
                </a:solidFill>
                <a:ea typeface="+mn-ea"/>
                <a:cs typeface="+mn-cs"/>
              </a:rPr>
              <a:t> the </a:t>
            </a:r>
            <a:r>
              <a:rPr lang="en-AU" sz="1200" kern="1200" dirty="0" smtClean="0">
                <a:solidFill>
                  <a:schemeClr val="tx1"/>
                </a:solidFill>
                <a:ea typeface="+mn-ea"/>
                <a:cs typeface="+mn-cs"/>
              </a:rPr>
              <a:t>product.</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Exercise</a:t>
            </a:r>
          </a:p>
          <a:p>
            <a:pPr>
              <a:buFont typeface="Arial" pitchFamily="34" charset="0"/>
              <a:buNone/>
            </a:pPr>
            <a:r>
              <a:rPr lang="en-US" b="0" dirty="0" smtClean="0"/>
              <a:t>Prepare food labels for a</a:t>
            </a:r>
            <a:r>
              <a:rPr lang="en-US" b="0" baseline="0" dirty="0" smtClean="0"/>
              <a:t> range of left-over/pre-prepared food items to be stored.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some kitchens use </a:t>
            </a:r>
            <a:r>
              <a:rPr lang="en-AU" sz="1200" kern="1200" dirty="0" smtClean="0">
                <a:solidFill>
                  <a:schemeClr val="tx1"/>
                </a:solidFill>
                <a:ea typeface="+mn-ea"/>
                <a:cs typeface="+mn-cs"/>
              </a:rPr>
              <a:t>specialised labels to assist with food storage:</a:t>
            </a:r>
          </a:p>
          <a:p>
            <a:pPr>
              <a:buFont typeface="Arial" pitchFamily="34" charset="0"/>
              <a:buChar char="•"/>
            </a:pPr>
            <a:r>
              <a:rPr lang="en-AU" sz="1200" kern="1200" dirty="0" smtClean="0">
                <a:solidFill>
                  <a:schemeClr val="tx1"/>
                </a:solidFill>
                <a:ea typeface="+mn-ea"/>
                <a:cs typeface="+mn-cs"/>
              </a:rPr>
              <a:t> One of the most common is ‘day dots’, a colour coded labelling system which states the day of the week. The date is written in by kitchen </a:t>
            </a:r>
            <a:r>
              <a:rPr lang="en-AU" sz="1200" kern="1200" dirty="0" smtClean="0">
                <a:solidFill>
                  <a:schemeClr val="tx1"/>
                </a:solidFill>
                <a:ea typeface="+mn-ea"/>
                <a:cs typeface="+mn-cs"/>
              </a:rPr>
              <a:t>staff</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Some labels are simple and only state the day and date, others have sections where other important information, such as in the above points, can be </a:t>
            </a:r>
            <a:r>
              <a:rPr lang="en-AU" sz="1200" kern="1200" dirty="0" smtClean="0">
                <a:solidFill>
                  <a:schemeClr val="tx1"/>
                </a:solidFill>
                <a:ea typeface="+mn-ea"/>
                <a:cs typeface="+mn-cs"/>
              </a:rPr>
              <a:t>included:</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The information provided on food storage labels will assist staff in making a decision as to whether the food is fresh, of a quality standard or if it is safe to use.</a:t>
            </a:r>
          </a:p>
          <a:p>
            <a:pPr lvl="0">
              <a:buFont typeface="Arial" pitchFamily="34" charset="0"/>
              <a:buNone/>
            </a:pPr>
            <a:endParaRPr lang="en-AU" kern="1200" dirty="0" smtClean="0">
              <a:solidFill>
                <a:schemeClr val="tx1"/>
              </a:solidFill>
              <a:ea typeface="+mn-ea"/>
              <a:cs typeface="+mn-cs"/>
            </a:endParaRPr>
          </a:p>
          <a:p>
            <a:pPr lvl="0">
              <a:buFont typeface="Arial" pitchFamily="34" charset="0"/>
              <a:buNone/>
            </a:pPr>
            <a:r>
              <a:rPr lang="en-AU" b="1" kern="1200" dirty="0" smtClean="0">
                <a:solidFill>
                  <a:schemeClr val="tx1"/>
                </a:solidFill>
                <a:ea typeface="+mn-ea"/>
                <a:cs typeface="+mn-cs"/>
              </a:rPr>
              <a:t>Class Activity – Handout</a:t>
            </a:r>
          </a:p>
          <a:p>
            <a:pPr lvl="0">
              <a:buFont typeface="Arial" pitchFamily="34" charset="0"/>
              <a:buNone/>
            </a:pPr>
            <a:r>
              <a:rPr lang="en-AU" b="0" kern="1200" dirty="0" smtClean="0">
                <a:solidFill>
                  <a:schemeClr val="tx1"/>
                </a:solidFill>
                <a:ea typeface="+mn-ea"/>
                <a:cs typeface="+mn-cs"/>
              </a:rPr>
              <a:t>Trainer distributes and discusses examples of specialist food storage labels.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a:t>
            </a:r>
            <a:r>
              <a:rPr lang="en-AU" sz="1200" kern="1200" dirty="0" smtClean="0">
                <a:solidFill>
                  <a:schemeClr val="tx1"/>
                </a:solidFill>
                <a:ea typeface="+mn-ea"/>
                <a:cs typeface="+mn-cs"/>
              </a:rPr>
              <a:t>correct conditions should be used for the storage of food in order to maintain freshness and quality and minimise wastage. </a:t>
            </a:r>
          </a:p>
          <a:p>
            <a:r>
              <a:rPr lang="en-AU" sz="1200" b="1" kern="1200" dirty="0" smtClean="0">
                <a:solidFill>
                  <a:schemeClr val="tx1"/>
                </a:solidFill>
                <a:ea typeface="+mn-ea"/>
                <a:cs typeface="+mn-cs"/>
              </a:rPr>
              <a:t>Temperature and humidity</a:t>
            </a:r>
          </a:p>
          <a:p>
            <a:r>
              <a:rPr lang="en-AU" sz="1200" b="0" kern="1200" dirty="0" smtClean="0">
                <a:solidFill>
                  <a:schemeClr val="tx1"/>
                </a:solidFill>
                <a:ea typeface="+mn-ea"/>
                <a:cs typeface="+mn-cs"/>
              </a:rPr>
              <a:t>Humidity levels can affect food items in storage.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Excess moisture in the air can be absorbed by crisp items such as biscuits, meringues, crackers and potato crisps.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This can lead to the item becoming soggy and even collapsing which can lead to poor presentation, especially is the item is a garnish designed to give height to a dish.</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Dry, crisp food items should be stored in a cool dry area with little humidity</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Exposure to air</a:t>
            </a:r>
          </a:p>
          <a:p>
            <a:r>
              <a:rPr lang="en-AU" sz="1200" b="0" kern="1200" dirty="0" smtClean="0">
                <a:solidFill>
                  <a:schemeClr val="tx1"/>
                </a:solidFill>
                <a:ea typeface="+mn-ea"/>
                <a:cs typeface="+mn-cs"/>
              </a:rPr>
              <a:t>Some food items will lose moisture due to air exposure and low humidity. This is commonly referred to as ‘staling’.</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Foods affected by staling through exposure include baked goods such as breads, cakes, pastries and biscuits.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By storing in an airtight container, staling will be drastically slowed.</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White flesh fruits such as apples and pears, when peeled or cut begin to turn brown. This is due to enzymes in the fruit reacting with oxygen.</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Coating or rubbing with an acid such as lemon juice will slow this process down, however the taste of the fruit will be compromised.</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Storing in fresh water is not an option as the fruit will lose its flavour and sweetness through osmosis. These fruits should be stored in a sugar/water solution known as ‘stock syrup’ to minimise the osmosis process.</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Protein foods such as meat, chicken and fish can dry out if not effectively covered or wrapped. This can lead to an unattractive appearance when the food is cooked and presented.</a:t>
            </a:r>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storage conditions:</a:t>
            </a:r>
          </a:p>
          <a:p>
            <a:r>
              <a:rPr lang="en-AU" sz="1200" b="1" kern="1200" dirty="0" smtClean="0">
                <a:solidFill>
                  <a:schemeClr val="tx1"/>
                </a:solidFill>
                <a:ea typeface="+mn-ea"/>
                <a:cs typeface="+mn-cs"/>
              </a:rPr>
              <a:t>Refrigerated storage</a:t>
            </a:r>
          </a:p>
          <a:p>
            <a:r>
              <a:rPr lang="en-AU" sz="1200" b="0" kern="1200" dirty="0" smtClean="0">
                <a:solidFill>
                  <a:schemeClr val="tx1"/>
                </a:solidFill>
                <a:ea typeface="+mn-ea"/>
                <a:cs typeface="+mn-cs"/>
              </a:rPr>
              <a:t>This requires foods to be subject to low humidity and a temperature of between 1</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to 5</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 C, depending on the food type.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Refrigerated foods will continue to deteriorate in quality and freshness over a period of time.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All prepared foods requiring refrigeration must be tightly wrapped or covered, labelled and dated. </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Stock rotation principles must also be observed.</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Frozen storage</a:t>
            </a:r>
          </a:p>
          <a:p>
            <a:r>
              <a:rPr lang="en-AU" sz="1200" b="0" kern="1200" dirty="0" smtClean="0">
                <a:solidFill>
                  <a:schemeClr val="tx1"/>
                </a:solidFill>
                <a:ea typeface="+mn-ea"/>
                <a:cs typeface="+mn-cs"/>
              </a:rPr>
              <a:t>This requires foods to be subject to low humidity and temperatures between -15</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to -18</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in a solid state. </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Ideally, dairy foods such as ice cream should be as cold as possible (-18</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as it will remain firm during periods when it is exposed to kitchen temperatures during service.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When storing foods under frozen conditions it should be packaged in small batches to allow rapid freezing to take place. Slow freezing allows large ice crystals to build up which breaks down cells in food, leading to excessive loss of moisture during thawing.</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This leads to thawed foods having a dry appearance and texture when cooked. </a:t>
            </a:r>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Dry storage</a:t>
            </a:r>
          </a:p>
          <a:p>
            <a:r>
              <a:rPr lang="en-AU" sz="1200" b="0" kern="1200" dirty="0" smtClean="0">
                <a:solidFill>
                  <a:schemeClr val="tx1"/>
                </a:solidFill>
                <a:ea typeface="+mn-ea"/>
                <a:cs typeface="+mn-cs"/>
              </a:rPr>
              <a:t>This requires foods to be stored in a relatively cool area with very low humidity at between 18</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to 24</a:t>
            </a:r>
            <a:r>
              <a:rPr lang="en-AU" sz="1200" b="0" kern="1200" dirty="0" smtClean="0">
                <a:solidFill>
                  <a:schemeClr val="tx1"/>
                </a:solidFill>
                <a:ea typeface="+mn-ea"/>
                <a:cs typeface="+mn-cs"/>
                <a:sym typeface="Symbol"/>
              </a:rPr>
              <a:t></a:t>
            </a:r>
            <a:r>
              <a:rPr lang="en-AU" sz="1200" b="0" kern="1200" dirty="0" smtClean="0">
                <a:solidFill>
                  <a:schemeClr val="tx1"/>
                </a:solidFill>
                <a:ea typeface="+mn-ea"/>
                <a:cs typeface="+mn-cs"/>
              </a:rPr>
              <a:t>C. This is sometimes referred to as ‘ambient’ or ‘room’ temperature.</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Most food should be wrapped, however this can have an adverse effect on some foods leading to sogginess if the area is too humid. </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Foods should be stored in clean food grade containers that are pest proof. </a:t>
            </a:r>
            <a:endParaRPr lang="en-AU" sz="1200" b="1" kern="1200" dirty="0" smtClean="0">
              <a:solidFill>
                <a:schemeClr val="tx1"/>
              </a:solidFill>
              <a:ea typeface="+mn-ea"/>
              <a:cs typeface="+mn-cs"/>
            </a:endParaRPr>
          </a:p>
          <a:p>
            <a:r>
              <a:rPr lang="en-AU" sz="1200" b="0" kern="1200" dirty="0" smtClean="0">
                <a:solidFill>
                  <a:schemeClr val="tx1"/>
                </a:solidFill>
                <a:ea typeface="+mn-ea"/>
                <a:cs typeface="+mn-cs"/>
              </a:rPr>
              <a:t>Long term dry storage of any food will lead to staling, regardless of how it is stored. </a:t>
            </a:r>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stock </a:t>
            </a:r>
            <a:r>
              <a:rPr lang="en-AU" sz="1200" kern="1200" dirty="0" smtClean="0">
                <a:solidFill>
                  <a:schemeClr val="tx1"/>
                </a:solidFill>
                <a:ea typeface="+mn-ea"/>
                <a:cs typeface="+mn-cs"/>
              </a:rPr>
              <a:t>rotation for foods:</a:t>
            </a:r>
          </a:p>
          <a:p>
            <a:pPr>
              <a:buFont typeface="Arial" pitchFamily="34" charset="0"/>
              <a:buChar char="•"/>
            </a:pPr>
            <a:r>
              <a:rPr lang="en-AU" sz="1200" kern="1200" dirty="0" smtClean="0">
                <a:solidFill>
                  <a:schemeClr val="tx1"/>
                </a:solidFill>
                <a:ea typeface="+mn-ea"/>
                <a:cs typeface="+mn-cs"/>
              </a:rPr>
              <a:t> Standard approach is the FIFO approach to stock rotation</a:t>
            </a:r>
          </a:p>
          <a:p>
            <a:pPr lvl="1">
              <a:buFont typeface="Arial" pitchFamily="34" charset="0"/>
              <a:buChar char="•"/>
            </a:pPr>
            <a:r>
              <a:rPr lang="en-AU" sz="1200" kern="1200" dirty="0" smtClean="0">
                <a:solidFill>
                  <a:schemeClr val="tx1"/>
                </a:solidFill>
                <a:ea typeface="+mn-ea"/>
                <a:cs typeface="+mn-cs"/>
              </a:rPr>
              <a:t> This method requires food to be used/served in the order it was delivered meaning the foods in stock the longest are used first. In practice this means when storing food:</a:t>
            </a:r>
          </a:p>
          <a:p>
            <a:pPr lvl="2">
              <a:buFont typeface="Arial" pitchFamily="34" charset="0"/>
              <a:buChar char="•"/>
            </a:pPr>
            <a:r>
              <a:rPr lang="en-AU" sz="1200" kern="1200" dirty="0" smtClean="0">
                <a:solidFill>
                  <a:schemeClr val="tx1"/>
                </a:solidFill>
                <a:ea typeface="+mn-ea"/>
                <a:cs typeface="+mn-cs"/>
              </a:rPr>
              <a:t> Old/existing stock must be moved forward on the shelf and the newly delivered stock must be placed behind it – this allows the stock at the front (the oldest stock) to be used before the newer stock</a:t>
            </a:r>
          </a:p>
          <a:p>
            <a:pPr lvl="2">
              <a:buFont typeface="Arial" pitchFamily="34" charset="0"/>
              <a:buChar char="•"/>
            </a:pPr>
            <a:r>
              <a:rPr lang="en-AU" sz="1200" kern="1200" dirty="0" smtClean="0">
                <a:solidFill>
                  <a:schemeClr val="tx1"/>
                </a:solidFill>
                <a:ea typeface="+mn-ea"/>
                <a:cs typeface="+mn-cs"/>
              </a:rPr>
              <a:t> Existing product in a chest freezer should be removed and the new stock placed at the bottom of the freezer – the existing/old stock is then replaced in the freezer on top of the newer stock</a:t>
            </a:r>
          </a:p>
          <a:p>
            <a:pPr>
              <a:buFont typeface="Arial" pitchFamily="34" charset="0"/>
              <a:buChar char="•"/>
            </a:pPr>
            <a:r>
              <a:rPr lang="en-AU" sz="1200" kern="1200" dirty="0" smtClean="0">
                <a:solidFill>
                  <a:schemeClr val="tx1"/>
                </a:solidFill>
                <a:ea typeface="+mn-ea"/>
                <a:cs typeface="+mn-cs"/>
              </a:rPr>
              <a:t> Check use-by dates of products – and store them so the nearest date is at the front so it will be used first.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storage recommendations for a range of garnish items:</a:t>
            </a:r>
          </a:p>
          <a:p>
            <a:pPr>
              <a:buFont typeface="Arial" pitchFamily="34" charset="0"/>
              <a:buChar char="•"/>
            </a:pPr>
            <a:r>
              <a:rPr lang="en-AU" sz="1200" kern="1200" dirty="0" smtClean="0">
                <a:solidFill>
                  <a:schemeClr val="tx1"/>
                </a:solidFill>
                <a:ea typeface="+mn-ea"/>
                <a:cs typeface="+mn-cs"/>
              </a:rPr>
              <a:t> For Picked herbs, Salad leaves, Edible flowers and Shoots</a:t>
            </a:r>
          </a:p>
          <a:p>
            <a:pPr lvl="1">
              <a:buFont typeface="Arial" pitchFamily="34" charset="0"/>
              <a:buChar char="•"/>
            </a:pPr>
            <a:r>
              <a:rPr lang="en-AU" sz="1200" kern="1200" dirty="0" smtClean="0">
                <a:solidFill>
                  <a:schemeClr val="tx1"/>
                </a:solidFill>
                <a:ea typeface="+mn-ea"/>
                <a:cs typeface="+mn-cs"/>
              </a:rPr>
              <a:t> In water and refrigerated – short term </a:t>
            </a:r>
            <a:r>
              <a:rPr lang="en-AU" sz="1200" kern="1200" dirty="0" smtClean="0">
                <a:solidFill>
                  <a:schemeClr val="tx1"/>
                </a:solidFill>
                <a:ea typeface="+mn-ea"/>
                <a:cs typeface="+mn-cs"/>
              </a:rPr>
              <a:t>only</a:t>
            </a:r>
            <a:endParaRPr lang="en-AU" sz="1200" kern="120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 Iced water will help to crisp up herbs and leaf vegetables </a:t>
            </a:r>
            <a:r>
              <a:rPr lang="en-AU" sz="1200" kern="1200" dirty="0" smtClean="0">
                <a:solidFill>
                  <a:schemeClr val="tx1"/>
                </a:solidFill>
                <a:ea typeface="+mn-ea"/>
                <a:cs typeface="+mn-cs"/>
              </a:rPr>
              <a:t>quickly</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For chopped herbs:</a:t>
            </a:r>
          </a:p>
          <a:p>
            <a:pPr lvl="1">
              <a:buFont typeface="Arial" pitchFamily="34" charset="0"/>
              <a:buChar char="•"/>
            </a:pPr>
            <a:r>
              <a:rPr lang="en-AU" sz="1200" kern="1200" dirty="0" smtClean="0">
                <a:solidFill>
                  <a:schemeClr val="tx1"/>
                </a:solidFill>
                <a:ea typeface="+mn-ea"/>
                <a:cs typeface="+mn-cs"/>
              </a:rPr>
              <a:t> Rinsed and dried. Airtight container and refrigerated – short term </a:t>
            </a:r>
            <a:r>
              <a:rPr lang="en-AU" sz="1200" kern="1200" dirty="0" smtClean="0">
                <a:solidFill>
                  <a:schemeClr val="tx1"/>
                </a:solidFill>
                <a:ea typeface="+mn-ea"/>
                <a:cs typeface="+mn-cs"/>
              </a:rPr>
              <a:t>only.</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garnish items:</a:t>
            </a:r>
          </a:p>
          <a:p>
            <a:pPr>
              <a:buFont typeface="Arial" pitchFamily="34" charset="0"/>
              <a:buChar char="•"/>
            </a:pPr>
            <a:r>
              <a:rPr lang="en-AU" sz="1200" kern="1200" dirty="0" smtClean="0">
                <a:solidFill>
                  <a:schemeClr val="tx1"/>
                </a:solidFill>
                <a:ea typeface="+mn-ea"/>
                <a:cs typeface="+mn-cs"/>
              </a:rPr>
              <a:t> For cut vegetables:</a:t>
            </a:r>
          </a:p>
          <a:p>
            <a:pPr lvl="1">
              <a:buFont typeface="Arial" pitchFamily="34" charset="0"/>
              <a:buChar char="•"/>
            </a:pPr>
            <a:r>
              <a:rPr lang="en-AU" sz="1200" kern="1200" dirty="0" smtClean="0">
                <a:solidFill>
                  <a:schemeClr val="tx1"/>
                </a:solidFill>
                <a:ea typeface="+mn-ea"/>
                <a:cs typeface="+mn-cs"/>
              </a:rPr>
              <a:t> Root and stalk vegetables - In water and refrigerated</a:t>
            </a:r>
          </a:p>
          <a:p>
            <a:pPr lvl="1">
              <a:buFont typeface="Arial" pitchFamily="34" charset="0"/>
              <a:buChar char="•"/>
            </a:pPr>
            <a:r>
              <a:rPr lang="en-AU" sz="1200" kern="1200" dirty="0" smtClean="0">
                <a:solidFill>
                  <a:schemeClr val="tx1"/>
                </a:solidFill>
                <a:ea typeface="+mn-ea"/>
                <a:cs typeface="+mn-cs"/>
              </a:rPr>
              <a:t> Fruit type vegetables - Airtight container and refrigerated</a:t>
            </a:r>
          </a:p>
          <a:p>
            <a:pPr>
              <a:buFont typeface="Arial" pitchFamily="34" charset="0"/>
              <a:buChar char="•"/>
            </a:pPr>
            <a:r>
              <a:rPr lang="en-AU" sz="1200" kern="1200" dirty="0" smtClean="0">
                <a:solidFill>
                  <a:schemeClr val="tx1"/>
                </a:solidFill>
                <a:ea typeface="+mn-ea"/>
                <a:cs typeface="+mn-cs"/>
              </a:rPr>
              <a:t> For cooked vegetables</a:t>
            </a:r>
          </a:p>
          <a:p>
            <a:pPr lvl="1">
              <a:buFont typeface="Arial" pitchFamily="34" charset="0"/>
              <a:buChar char="•"/>
            </a:pPr>
            <a:r>
              <a:rPr lang="en-AU" sz="1200" kern="1200" dirty="0" smtClean="0">
                <a:solidFill>
                  <a:schemeClr val="tx1"/>
                </a:solidFill>
                <a:ea typeface="+mn-ea"/>
                <a:cs typeface="+mn-cs"/>
              </a:rPr>
              <a:t> Airtight container and refrigerated– short term </a:t>
            </a:r>
            <a:r>
              <a:rPr lang="en-AU" sz="1200" kern="1200" dirty="0" smtClean="0">
                <a:solidFill>
                  <a:schemeClr val="tx1"/>
                </a:solidFill>
                <a:ea typeface="+mn-ea"/>
                <a:cs typeface="+mn-cs"/>
              </a:rPr>
              <a:t>only.</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garnish items:</a:t>
            </a:r>
          </a:p>
          <a:p>
            <a:pPr>
              <a:buFont typeface="Arial" pitchFamily="34" charset="0"/>
              <a:buChar char="•"/>
            </a:pPr>
            <a:r>
              <a:rPr lang="en-US" dirty="0" smtClean="0"/>
              <a:t> For cut fruits:</a:t>
            </a:r>
          </a:p>
          <a:p>
            <a:pPr lvl="1">
              <a:buFont typeface="Arial" pitchFamily="34" charset="0"/>
              <a:buChar char="•"/>
            </a:pPr>
            <a:r>
              <a:rPr lang="en-AU" sz="1200" kern="1200" dirty="0" smtClean="0">
                <a:solidFill>
                  <a:schemeClr val="tx1"/>
                </a:solidFill>
                <a:ea typeface="+mn-ea"/>
                <a:cs typeface="+mn-cs"/>
              </a:rPr>
              <a:t> Airtight container and refrigerated</a:t>
            </a:r>
            <a:endParaRPr lang="en-US" dirty="0" smtClean="0"/>
          </a:p>
          <a:p>
            <a:pPr>
              <a:buFont typeface="Arial" pitchFamily="34" charset="0"/>
              <a:buChar char="•"/>
            </a:pPr>
            <a:r>
              <a:rPr lang="en-US" dirty="0" smtClean="0"/>
              <a:t> For cut</a:t>
            </a:r>
            <a:r>
              <a:rPr lang="en-US" baseline="0" dirty="0" smtClean="0"/>
              <a:t> white flesh fruits:</a:t>
            </a:r>
          </a:p>
          <a:p>
            <a:pPr lvl="1">
              <a:buFont typeface="Arial" pitchFamily="34" charset="0"/>
              <a:buChar char="•"/>
            </a:pPr>
            <a:r>
              <a:rPr lang="en-AU" sz="1200" kern="1200" dirty="0" smtClean="0">
                <a:solidFill>
                  <a:schemeClr val="tx1"/>
                </a:solidFill>
                <a:ea typeface="+mn-ea"/>
                <a:cs typeface="+mn-cs"/>
              </a:rPr>
              <a:t> Coat with lemon juice to stop enzyme activity – ‘browning’ or store in a sweet stock </a:t>
            </a:r>
            <a:r>
              <a:rPr lang="en-AU" sz="1200" kern="1200" dirty="0" smtClean="0">
                <a:solidFill>
                  <a:schemeClr val="tx1"/>
                </a:solidFill>
                <a:ea typeface="+mn-ea"/>
                <a:cs typeface="+mn-cs"/>
              </a:rPr>
              <a:t>syrup.</a:t>
            </a:r>
            <a:endParaRPr lang="en-US" dirty="0" smtClean="0"/>
          </a:p>
          <a:p>
            <a:pPr>
              <a:buFont typeface="Arial" pitchFamily="34" charset="0"/>
              <a:buNone/>
            </a:pPr>
            <a:endParaRPr lang="en-US" b="1"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garnish items:</a:t>
            </a:r>
          </a:p>
          <a:p>
            <a:pPr>
              <a:buFont typeface="Arial" pitchFamily="34" charset="0"/>
              <a:buChar char="•"/>
            </a:pPr>
            <a:r>
              <a:rPr lang="en-US" dirty="0" smtClean="0"/>
              <a:t> For biscuits, pastry &amp; croutons:</a:t>
            </a:r>
          </a:p>
          <a:p>
            <a:pPr lvl="1">
              <a:buFont typeface="Arial" pitchFamily="34" charset="0"/>
              <a:buChar char="•"/>
            </a:pPr>
            <a:r>
              <a:rPr lang="en-AU" sz="1200" kern="1200" dirty="0" smtClean="0">
                <a:solidFill>
                  <a:schemeClr val="tx1"/>
                </a:solidFill>
                <a:ea typeface="+mn-ea"/>
                <a:cs typeface="+mn-cs"/>
              </a:rPr>
              <a:t> Airtight container in dry storage area with low humidity</a:t>
            </a:r>
          </a:p>
          <a:p>
            <a:pPr lvl="0">
              <a:buFont typeface="Arial" pitchFamily="34" charset="0"/>
              <a:buChar char="•"/>
            </a:pPr>
            <a:r>
              <a:rPr lang="en-AU" kern="1200" dirty="0" smtClean="0">
                <a:solidFill>
                  <a:schemeClr val="tx1"/>
                </a:solidFill>
                <a:ea typeface="+mn-ea"/>
                <a:cs typeface="+mn-cs"/>
              </a:rPr>
              <a:t> For seeds &amp; nuts:</a:t>
            </a:r>
          </a:p>
          <a:p>
            <a:pPr lvl="1">
              <a:buFont typeface="Arial" pitchFamily="34" charset="0"/>
              <a:buChar char="•"/>
            </a:pPr>
            <a:r>
              <a:rPr lang="en-AU" sz="1200" kern="1200" dirty="0" smtClean="0">
                <a:solidFill>
                  <a:schemeClr val="tx1"/>
                </a:solidFill>
                <a:ea typeface="+mn-ea"/>
                <a:cs typeface="+mn-cs"/>
              </a:rPr>
              <a:t> Airtight container in dry storage area</a:t>
            </a:r>
          </a:p>
          <a:p>
            <a:pPr lvl="0">
              <a:buFont typeface="Arial" pitchFamily="34" charset="0"/>
              <a:buChar char="•"/>
            </a:pPr>
            <a:r>
              <a:rPr lang="en-AU" kern="1200" dirty="0" smtClean="0">
                <a:solidFill>
                  <a:schemeClr val="tx1"/>
                </a:solidFill>
                <a:ea typeface="+mn-ea"/>
                <a:cs typeface="+mn-cs"/>
              </a:rPr>
              <a:t> For eggs, crepes:</a:t>
            </a:r>
          </a:p>
          <a:p>
            <a:pPr lvl="1">
              <a:buFont typeface="Arial" pitchFamily="34" charset="0"/>
              <a:buChar char="•"/>
            </a:pPr>
            <a:r>
              <a:rPr lang="en-AU" sz="1200" kern="1200" dirty="0" smtClean="0">
                <a:solidFill>
                  <a:schemeClr val="tx1"/>
                </a:solidFill>
                <a:ea typeface="+mn-ea"/>
                <a:cs typeface="+mn-cs"/>
              </a:rPr>
              <a:t> Airtight container and refrigerated – short term </a:t>
            </a:r>
            <a:r>
              <a:rPr lang="en-AU" sz="1200" kern="1200" dirty="0" smtClean="0">
                <a:solidFill>
                  <a:schemeClr val="tx1"/>
                </a:solidFill>
                <a:ea typeface="+mn-ea"/>
                <a:cs typeface="+mn-cs"/>
              </a:rPr>
              <a:t>only.</a:t>
            </a:r>
            <a:endParaRPr lang="en-US" dirty="0" smtClean="0"/>
          </a:p>
          <a:p>
            <a:pPr>
              <a:buFont typeface="Arial" pitchFamily="34" charset="0"/>
              <a:buNone/>
            </a:pPr>
            <a:endParaRPr lang="en-US" b="1"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garnish items:</a:t>
            </a:r>
          </a:p>
          <a:p>
            <a:pPr>
              <a:buFont typeface="Arial" pitchFamily="34" charset="0"/>
              <a:buChar char="•"/>
            </a:pPr>
            <a:r>
              <a:rPr lang="en-AU" sz="1200" kern="1200" dirty="0" smtClean="0">
                <a:solidFill>
                  <a:schemeClr val="tx1"/>
                </a:solidFill>
                <a:ea typeface="+mn-ea"/>
                <a:cs typeface="+mn-cs"/>
              </a:rPr>
              <a:t> For Sugar based garnishes, Meringues, Candy and Toffee:</a:t>
            </a:r>
          </a:p>
          <a:p>
            <a:pPr lvl="1">
              <a:buFont typeface="Arial" pitchFamily="34" charset="0"/>
              <a:buChar char="•"/>
            </a:pPr>
            <a:r>
              <a:rPr lang="en-AU" sz="1200" kern="1200" dirty="0" smtClean="0">
                <a:solidFill>
                  <a:schemeClr val="tx1"/>
                </a:solidFill>
                <a:ea typeface="+mn-ea"/>
                <a:cs typeface="+mn-cs"/>
              </a:rPr>
              <a:t> Airtight container in dry storage area– short term </a:t>
            </a:r>
            <a:r>
              <a:rPr lang="en-AU" sz="1200" kern="1200" dirty="0" smtClean="0">
                <a:solidFill>
                  <a:schemeClr val="tx1"/>
                </a:solidFill>
                <a:ea typeface="+mn-ea"/>
                <a:cs typeface="+mn-cs"/>
              </a:rPr>
              <a:t>only.</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217</a:t>
            </a:fld>
            <a:endParaRPr lang="en-US" dirty="0"/>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storage recommendations for a range of accompaniments:</a:t>
            </a:r>
          </a:p>
          <a:p>
            <a:pPr>
              <a:buFont typeface="Arial" pitchFamily="34" charset="0"/>
              <a:buChar char="•"/>
            </a:pPr>
            <a:r>
              <a:rPr lang="en-AU" sz="1200" kern="1200" dirty="0" smtClean="0">
                <a:solidFill>
                  <a:schemeClr val="tx1"/>
                </a:solidFill>
                <a:ea typeface="+mn-ea"/>
                <a:cs typeface="+mn-cs"/>
              </a:rPr>
              <a:t> Salsa, sambals, pastes</a:t>
            </a:r>
          </a:p>
          <a:p>
            <a:pPr lvl="1">
              <a:buFont typeface="Arial" pitchFamily="34" charset="0"/>
              <a:buChar char="•"/>
            </a:pPr>
            <a:r>
              <a:rPr lang="en-AU" sz="1200" kern="1200" dirty="0" smtClean="0">
                <a:solidFill>
                  <a:schemeClr val="tx1"/>
                </a:solidFill>
                <a:ea typeface="+mn-ea"/>
                <a:cs typeface="+mn-cs"/>
              </a:rPr>
              <a:t> Refrigerate, covered or  in bottles or jars</a:t>
            </a:r>
          </a:p>
          <a:p>
            <a:pPr>
              <a:buFont typeface="Arial" pitchFamily="34" charset="0"/>
              <a:buChar char="•"/>
            </a:pPr>
            <a:r>
              <a:rPr lang="en-AU" sz="1200" kern="1200" dirty="0" smtClean="0">
                <a:solidFill>
                  <a:schemeClr val="tx1"/>
                </a:solidFill>
                <a:ea typeface="+mn-ea"/>
                <a:cs typeface="+mn-cs"/>
              </a:rPr>
              <a:t> For Prepared sauces and condiments</a:t>
            </a:r>
          </a:p>
          <a:p>
            <a:pPr lvl="1">
              <a:buFont typeface="Arial" pitchFamily="34" charset="0"/>
              <a:buChar char="•"/>
            </a:pPr>
            <a:r>
              <a:rPr lang="en-AU" sz="1200" kern="1200" dirty="0" smtClean="0">
                <a:solidFill>
                  <a:schemeClr val="tx1"/>
                </a:solidFill>
                <a:ea typeface="+mn-ea"/>
                <a:cs typeface="+mn-cs"/>
              </a:rPr>
              <a:t> Refrigerate, covered or in bottles or </a:t>
            </a:r>
            <a:r>
              <a:rPr lang="en-AU" sz="1200" kern="1200" dirty="0" smtClean="0">
                <a:solidFill>
                  <a:schemeClr val="tx1"/>
                </a:solidFill>
                <a:ea typeface="+mn-ea"/>
                <a:cs typeface="+mn-cs"/>
              </a:rPr>
              <a:t>jars.</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218</a:t>
            </a:fld>
            <a:endParaRPr lang="en-US" dirty="0"/>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accompaniments:</a:t>
            </a:r>
          </a:p>
          <a:p>
            <a:pPr>
              <a:buFont typeface="Arial" pitchFamily="34" charset="0"/>
              <a:buChar char="•"/>
            </a:pPr>
            <a:r>
              <a:rPr lang="en-AU" sz="1200" kern="1200" dirty="0" smtClean="0">
                <a:solidFill>
                  <a:schemeClr val="tx1"/>
                </a:solidFill>
                <a:ea typeface="+mn-ea"/>
                <a:cs typeface="+mn-cs"/>
              </a:rPr>
              <a:t> For Prepared sauces and condiments – egg or dairy based</a:t>
            </a:r>
          </a:p>
          <a:p>
            <a:pPr lvl="1">
              <a:buFont typeface="Arial" pitchFamily="34" charset="0"/>
              <a:buChar char="•"/>
            </a:pPr>
            <a:r>
              <a:rPr lang="en-AU" sz="1200" kern="1200" dirty="0" smtClean="0">
                <a:solidFill>
                  <a:schemeClr val="tx1"/>
                </a:solidFill>
                <a:ea typeface="+mn-ea"/>
                <a:cs typeface="+mn-cs"/>
              </a:rPr>
              <a:t> Refrigerate, covered or in bottles or jars</a:t>
            </a:r>
          </a:p>
          <a:p>
            <a:pPr>
              <a:buFont typeface="Arial" pitchFamily="34" charset="0"/>
              <a:buChar char="•"/>
            </a:pPr>
            <a:r>
              <a:rPr lang="en-AU" sz="1200" kern="1200" dirty="0" smtClean="0">
                <a:solidFill>
                  <a:schemeClr val="tx1"/>
                </a:solidFill>
                <a:ea typeface="+mn-ea"/>
                <a:cs typeface="+mn-cs"/>
              </a:rPr>
              <a:t> For Dried chillies, nuts, fried shallots and herbs:</a:t>
            </a:r>
          </a:p>
          <a:p>
            <a:pPr lvl="1">
              <a:buFont typeface="Arial" pitchFamily="34" charset="0"/>
              <a:buChar char="•"/>
            </a:pPr>
            <a:r>
              <a:rPr lang="en-AU" sz="1200" kern="1200" dirty="0" smtClean="0">
                <a:solidFill>
                  <a:schemeClr val="tx1"/>
                </a:solidFill>
                <a:ea typeface="+mn-ea"/>
                <a:cs typeface="+mn-cs"/>
              </a:rPr>
              <a:t> Well wrapped or covered in cool dry </a:t>
            </a:r>
            <a:r>
              <a:rPr lang="en-AU" sz="1200" kern="1200" dirty="0" smtClean="0">
                <a:solidFill>
                  <a:schemeClr val="tx1"/>
                </a:solidFill>
                <a:ea typeface="+mn-ea"/>
                <a:cs typeface="+mn-cs"/>
              </a:rPr>
              <a:t>area.</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219</a:t>
            </a:fld>
            <a:endParaRPr lang="en-US" dirty="0"/>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storage recommendations for a range of accompaniments:</a:t>
            </a:r>
          </a:p>
          <a:p>
            <a:pPr>
              <a:buFont typeface="Arial" pitchFamily="34" charset="0"/>
              <a:buChar char="•"/>
            </a:pPr>
            <a:r>
              <a:rPr lang="en-AU" sz="1200" kern="1200" dirty="0" smtClean="0">
                <a:solidFill>
                  <a:schemeClr val="tx1"/>
                </a:solidFill>
                <a:ea typeface="+mn-ea"/>
                <a:cs typeface="+mn-cs"/>
              </a:rPr>
              <a:t> For Dairy foods – cream, cheese, yoghurt</a:t>
            </a:r>
          </a:p>
          <a:p>
            <a:pPr lvl="1">
              <a:buFont typeface="Arial" pitchFamily="34" charset="0"/>
              <a:buChar char="•"/>
            </a:pPr>
            <a:r>
              <a:rPr lang="en-AU" sz="1200" kern="1200" dirty="0" smtClean="0">
                <a:solidFill>
                  <a:schemeClr val="tx1"/>
                </a:solidFill>
                <a:ea typeface="+mn-ea"/>
                <a:cs typeface="+mn-cs"/>
              </a:rPr>
              <a:t> Refrigerate, well covered and away from strong smelling foods </a:t>
            </a:r>
          </a:p>
          <a:p>
            <a:pPr>
              <a:buFont typeface="Arial" pitchFamily="34" charset="0"/>
              <a:buChar char="•"/>
            </a:pPr>
            <a:r>
              <a:rPr lang="en-AU" sz="1200" kern="1200" dirty="0" smtClean="0">
                <a:solidFill>
                  <a:schemeClr val="tx1"/>
                </a:solidFill>
                <a:ea typeface="+mn-ea"/>
                <a:cs typeface="+mn-cs"/>
              </a:rPr>
              <a:t> For Breads, rotis, naan</a:t>
            </a:r>
          </a:p>
          <a:p>
            <a:pPr lvl="1">
              <a:buFont typeface="Arial" pitchFamily="34" charset="0"/>
              <a:buChar char="•"/>
            </a:pPr>
            <a:r>
              <a:rPr lang="en-AU" sz="1200" kern="1200" dirty="0" smtClean="0">
                <a:solidFill>
                  <a:schemeClr val="tx1"/>
                </a:solidFill>
                <a:ea typeface="+mn-ea"/>
                <a:cs typeface="+mn-cs"/>
              </a:rPr>
              <a:t> Well wrapped or covered in cool dry </a:t>
            </a:r>
            <a:r>
              <a:rPr lang="en-AU" sz="1200" kern="1200" dirty="0" smtClean="0">
                <a:solidFill>
                  <a:schemeClr val="tx1"/>
                </a:solidFill>
                <a:ea typeface="+mn-ea"/>
                <a:cs typeface="+mn-cs"/>
              </a:rPr>
              <a:t>area.</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storage of items as identified on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220</a:t>
            </a:fld>
            <a:endParaRPr lang="en-US" dirty="0"/>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221</a:t>
            </a:fld>
            <a:endParaRPr lang="en-US" dirty="0"/>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222</a:t>
            </a:fld>
            <a:endParaRPr lang="en-US" dirty="0"/>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223</a:t>
            </a:fld>
            <a:endParaRPr lang="en-US" dirty="0"/>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7/14/2013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7/14/2013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7/14/2013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7/14/2013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7/14/2013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7/14/2013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7/14/2013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7/14/2013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7/14/2013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7/14/2013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7/14/2013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7/14/2013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wmf"/></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eg"/><Relationship Id="rId7" Type="http://schemas.openxmlformats.org/officeDocument/2006/relationships/image" Target="../media/image66.jpe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65.xml.rels><?xml version="1.0" encoding="UTF-8" standalone="yes"?>
<Relationships xmlns="http://schemas.openxmlformats.org/package/2006/relationships"><Relationship Id="rId3" Type="http://schemas.openxmlformats.org/officeDocument/2006/relationships/image" Target="../media/image68.jpeg"/><Relationship Id="rId7" Type="http://schemas.openxmlformats.org/officeDocument/2006/relationships/image" Target="../media/image72.jpe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_rels/slide6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65.jpeg"/></Relationships>
</file>

<file path=ppt/slides/_rels/slide67.xml.rels><?xml version="1.0" encoding="UTF-8" standalone="yes"?>
<Relationships xmlns="http://schemas.openxmlformats.org/package/2006/relationships"><Relationship Id="rId3" Type="http://schemas.openxmlformats.org/officeDocument/2006/relationships/image" Target="../media/image76.jpeg"/><Relationship Id="rId7" Type="http://schemas.openxmlformats.org/officeDocument/2006/relationships/image" Target="../media/image80.jpe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jpeg"/></Relationships>
</file>

<file path=ppt/slides/_rels/slide6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7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85.jpeg"/></Relationships>
</file>

<file path=ppt/slides/_rels/slide7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7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92.jpeg"/></Relationships>
</file>

<file path=ppt/slides/_rels/slide7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06.wmf"/></Relationships>
</file>

<file path=ppt/slides/_rels/slide92.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96.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114.emf"/><Relationship Id="rId4" Type="http://schemas.openxmlformats.org/officeDocument/2006/relationships/image" Target="../media/image113.emf"/></Relationships>
</file>

<file path=ppt/slides/_rels/slide97.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118.wmf"/></Relationships>
</file>

<file path=ppt/slides/_rels/slide10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33.gi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33.gi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139.jpeg"/></Relationships>
</file>

<file path=ppt/slides/_rels/slide123.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141.jpeg"/></Relationships>
</file>

<file path=ppt/slides/_rels/slide124.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57.xml"/><Relationship Id="rId1" Type="http://schemas.openxmlformats.org/officeDocument/2006/relationships/slideLayout" Target="../slideLayouts/slideLayout2.xml"/><Relationship Id="rId4" Type="http://schemas.openxmlformats.org/officeDocument/2006/relationships/image" Target="../media/image169.jpeg"/></Relationships>
</file>

<file path=ppt/slides/_rels/slide158.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63.xml"/><Relationship Id="rId1" Type="http://schemas.openxmlformats.org/officeDocument/2006/relationships/slideLayout" Target="../slideLayouts/slideLayout2.xml"/><Relationship Id="rId4" Type="http://schemas.openxmlformats.org/officeDocument/2006/relationships/image" Target="../media/image175.jpeg"/></Relationships>
</file>

<file path=ppt/slides/_rels/slide164.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68.xml"/><Relationship Id="rId1" Type="http://schemas.openxmlformats.org/officeDocument/2006/relationships/slideLayout" Target="../slideLayouts/slideLayout2.xml"/><Relationship Id="rId4" Type="http://schemas.openxmlformats.org/officeDocument/2006/relationships/image" Target="../media/image181.jpeg"/></Relationships>
</file>

<file path=ppt/slides/_rels/slide169.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69.xml"/><Relationship Id="rId1" Type="http://schemas.openxmlformats.org/officeDocument/2006/relationships/slideLayout" Target="../slideLayouts/slideLayout2.xml"/><Relationship Id="rId4" Type="http://schemas.openxmlformats.org/officeDocument/2006/relationships/image" Target="../media/image183.jpeg"/></Relationships>
</file>

<file path=ppt/slides/_rels/slide170.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202.wmf"/><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notesSlide" Target="../notesSlides/notesSlide202.xml"/><Relationship Id="rId1" Type="http://schemas.openxmlformats.org/officeDocument/2006/relationships/slideLayout" Target="../slideLayouts/slideLayout2.xml"/><Relationship Id="rId4" Type="http://schemas.openxmlformats.org/officeDocument/2006/relationships/image" Target="../media/image209.jpeg"/></Relationships>
</file>

<file path=ppt/slides/_rels/slide203.xml.rels><?xml version="1.0" encoding="UTF-8" standalone="yes"?>
<Relationships xmlns="http://schemas.openxmlformats.org/package/2006/relationships"><Relationship Id="rId3" Type="http://schemas.openxmlformats.org/officeDocument/2006/relationships/image" Target="../media/image210.jpeg"/><Relationship Id="rId7" Type="http://schemas.openxmlformats.org/officeDocument/2006/relationships/image" Target="../media/image214.jpeg"/><Relationship Id="rId2" Type="http://schemas.openxmlformats.org/officeDocument/2006/relationships/notesSlide" Target="../notesSlides/notesSlide203.xml"/><Relationship Id="rId1" Type="http://schemas.openxmlformats.org/officeDocument/2006/relationships/slideLayout" Target="../slideLayouts/slideLayout2.xml"/><Relationship Id="rId6" Type="http://schemas.openxmlformats.org/officeDocument/2006/relationships/image" Target="../media/image213.jpeg"/><Relationship Id="rId5" Type="http://schemas.openxmlformats.org/officeDocument/2006/relationships/image" Target="../media/image212.jpeg"/><Relationship Id="rId4" Type="http://schemas.openxmlformats.org/officeDocument/2006/relationships/image" Target="../media/image211.jpeg"/></Relationships>
</file>

<file path=ppt/slides/_rels/slide204.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219.jpeg"/><Relationship Id="rId2" Type="http://schemas.openxmlformats.org/officeDocument/2006/relationships/notesSlide" Target="../notesSlides/notesSlide211.xml"/><Relationship Id="rId1" Type="http://schemas.openxmlformats.org/officeDocument/2006/relationships/slideLayout" Target="../slideLayouts/slideLayout2.xml"/><Relationship Id="rId5" Type="http://schemas.openxmlformats.org/officeDocument/2006/relationships/image" Target="../media/image221.jpeg"/><Relationship Id="rId4" Type="http://schemas.openxmlformats.org/officeDocument/2006/relationships/image" Target="../media/image220.jpeg"/></Relationships>
</file>

<file path=ppt/slides/_rels/slide212.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23.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25.jpe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227.jpe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Overseas Projects\PHOTOS\2011\Culinary\img_8332.jpg"/>
          <p:cNvPicPr>
            <a:picLocks noChangeAspect="1" noChangeArrowheads="1"/>
          </p:cNvPicPr>
          <p:nvPr/>
        </p:nvPicPr>
        <p:blipFill>
          <a:blip r:embed="rId3" cstate="print"/>
          <a:srcRect/>
          <a:stretch>
            <a:fillRect/>
          </a:stretch>
        </p:blipFill>
        <p:spPr bwMode="auto">
          <a:xfrm>
            <a:off x="1489439" y="2143116"/>
            <a:ext cx="1857388" cy="2623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ctrTitle"/>
          </p:nvPr>
        </p:nvSpPr>
        <p:spPr>
          <a:xfrm>
            <a:off x="755576" y="836712"/>
            <a:ext cx="7632176" cy="1285884"/>
          </a:xfrm>
        </p:spPr>
        <p:txBody>
          <a:bodyPr>
            <a:normAutofit fontScale="90000"/>
          </a:bodyPr>
          <a:lstStyle/>
          <a:p>
            <a:r>
              <a:rPr lang="en-AU" sz="4000" dirty="0" smtClean="0">
                <a:ln w="5000" cmpd="sng">
                  <a:noFill/>
                  <a:prstDash val="solid"/>
                </a:ln>
                <a:solidFill>
                  <a:srgbClr val="FF6600"/>
                </a:solidFill>
                <a:latin typeface="Helvetica" pitchFamily="34" charset="0"/>
              </a:rPr>
              <a:t>ORGANISE FOOD SERVICE OPERATIONS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20072" y="2276872"/>
            <a:ext cx="3117332" cy="427488"/>
          </a:xfrm>
        </p:spPr>
        <p:txBody>
          <a:bodyPr>
            <a:noAutofit/>
          </a:bodyPr>
          <a:lstStyle/>
          <a:p>
            <a:r>
              <a:rPr lang="en-AU" sz="2400" b="1" dirty="0" smtClean="0">
                <a:latin typeface="Helvetica" pitchFamily="34" charset="0"/>
              </a:rPr>
              <a:t>D1.HCC.CL2.05</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6" name="Picture 2" descr="I:\Overseas Projects\PHOTOS\2011\Culinary\dsc_0005.jpg"/>
          <p:cNvPicPr>
            <a:picLocks noChangeAspect="1" noChangeArrowheads="1"/>
          </p:cNvPicPr>
          <p:nvPr/>
        </p:nvPicPr>
        <p:blipFill>
          <a:blip r:embed="rId4" cstate="print"/>
          <a:srcRect/>
          <a:stretch>
            <a:fillRect/>
          </a:stretch>
        </p:blipFill>
        <p:spPr bwMode="auto">
          <a:xfrm>
            <a:off x="3418265" y="2806162"/>
            <a:ext cx="2571768" cy="17131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I:\Overseas Projects\PHOTOS\2011\Culinary\hospitality7.jpg"/>
          <p:cNvPicPr>
            <a:picLocks noChangeAspect="1" noChangeArrowheads="1"/>
          </p:cNvPicPr>
          <p:nvPr/>
        </p:nvPicPr>
        <p:blipFill>
          <a:blip r:embed="rId5" cstate="print"/>
          <a:srcRect/>
          <a:stretch>
            <a:fillRect/>
          </a:stretch>
        </p:blipFill>
        <p:spPr bwMode="auto">
          <a:xfrm>
            <a:off x="2561009" y="4357694"/>
            <a:ext cx="2550170" cy="17133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I:\Overseas Projects\PHOTOS\2011\Culinary\ballotine_of_salmon.jpg"/>
          <p:cNvPicPr>
            <a:picLocks noChangeAspect="1" noChangeArrowheads="1"/>
          </p:cNvPicPr>
          <p:nvPr/>
        </p:nvPicPr>
        <p:blipFill>
          <a:blip r:embed="rId6" cstate="print"/>
          <a:srcRect/>
          <a:stretch>
            <a:fillRect/>
          </a:stretch>
        </p:blipFill>
        <p:spPr bwMode="auto">
          <a:xfrm>
            <a:off x="5132777" y="4286256"/>
            <a:ext cx="2368181" cy="16430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Organise food service operations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five Elements: </a:t>
            </a:r>
          </a:p>
          <a:p>
            <a:pPr marL="360000" indent="-360000">
              <a:spcBef>
                <a:spcPts val="600"/>
              </a:spcBef>
              <a:spcAft>
                <a:spcPts val="1200"/>
              </a:spcAft>
            </a:pPr>
            <a:r>
              <a:rPr lang="en-US" sz="2200" dirty="0" smtClean="0">
                <a:latin typeface="Helvetica" pitchFamily="34" charset="0"/>
              </a:rPr>
              <a:t>Plan for food service production</a:t>
            </a:r>
          </a:p>
          <a:p>
            <a:pPr marL="360000" indent="-360000">
              <a:spcBef>
                <a:spcPts val="600"/>
              </a:spcBef>
              <a:spcAft>
                <a:spcPts val="1200"/>
              </a:spcAft>
            </a:pPr>
            <a:r>
              <a:rPr lang="en-US" sz="2200" dirty="0" smtClean="0">
                <a:latin typeface="Helvetica" pitchFamily="34" charset="0"/>
              </a:rPr>
              <a:t>Prepare and produce food items for food service</a:t>
            </a:r>
          </a:p>
          <a:p>
            <a:pPr marL="360000" indent="-360000">
              <a:spcBef>
                <a:spcPts val="600"/>
              </a:spcBef>
              <a:spcAft>
                <a:spcPts val="1200"/>
              </a:spcAft>
            </a:pPr>
            <a:r>
              <a:rPr lang="en-US" sz="2200" dirty="0" smtClean="0">
                <a:latin typeface="Helvetica" pitchFamily="34" charset="0"/>
              </a:rPr>
              <a:t>Set up kitchen for food service</a:t>
            </a:r>
          </a:p>
          <a:p>
            <a:pPr marL="360000" indent="-360000">
              <a:spcBef>
                <a:spcPts val="600"/>
              </a:spcBef>
              <a:spcAft>
                <a:spcPts val="1200"/>
              </a:spcAft>
            </a:pPr>
            <a:r>
              <a:rPr lang="en-US" sz="2200" dirty="0" smtClean="0">
                <a:latin typeface="Helvetica" pitchFamily="34" charset="0"/>
              </a:rPr>
              <a:t>Hold and store products for food service</a:t>
            </a:r>
          </a:p>
          <a:p>
            <a:pPr marL="360000" indent="-360000">
              <a:spcBef>
                <a:spcPts val="600"/>
              </a:spcBef>
              <a:spcAft>
                <a:spcPts val="1200"/>
              </a:spcAft>
            </a:pPr>
            <a:r>
              <a:rPr lang="en-US" sz="2200" dirty="0" smtClean="0">
                <a:latin typeface="Helvetica" pitchFamily="34" charset="0"/>
              </a:rPr>
              <a:t>Store products after for food service to maintain quality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900638" y="1714488"/>
            <a:ext cx="1285884" cy="1285884"/>
          </a:xfrm>
          <a:prstGeom prst="rect">
            <a:avLst/>
          </a:prstGeom>
          <a:noFill/>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pPr>
            <a:r>
              <a:rPr lang="en-US" sz="2200" dirty="0" smtClean="0"/>
              <a:t>Oral questions</a:t>
            </a:r>
          </a:p>
          <a:p>
            <a:pPr marL="360000" indent="-360000">
              <a:spcBef>
                <a:spcPts val="600"/>
              </a:spcBef>
              <a:spcAft>
                <a:spcPts val="1200"/>
              </a:spcAft>
            </a:pPr>
            <a:r>
              <a:rPr lang="en-US" sz="2200" dirty="0" smtClean="0"/>
              <a:t>Written questions</a:t>
            </a:r>
          </a:p>
          <a:p>
            <a:pPr marL="360000" indent="-360000">
              <a:spcBef>
                <a:spcPts val="600"/>
              </a:spcBef>
              <a:spcAft>
                <a:spcPts val="1200"/>
              </a:spcAft>
            </a:pPr>
            <a:r>
              <a:rPr lang="en-US" sz="2200" dirty="0" smtClean="0"/>
              <a:t>Work projects</a:t>
            </a:r>
          </a:p>
          <a:p>
            <a:pPr marL="360000" indent="-360000">
              <a:spcBef>
                <a:spcPts val="600"/>
              </a:spcBef>
              <a:spcAft>
                <a:spcPts val="1200"/>
              </a:spcAft>
            </a:pPr>
            <a:r>
              <a:rPr lang="en-US" sz="2200" dirty="0" smtClean="0"/>
              <a:t>Workplace observation of practical skills</a:t>
            </a:r>
          </a:p>
          <a:p>
            <a:pPr marL="360000" indent="-360000">
              <a:spcBef>
                <a:spcPts val="600"/>
              </a:spcBef>
              <a:spcAft>
                <a:spcPts val="1200"/>
              </a:spcAft>
            </a:pPr>
            <a:r>
              <a:rPr lang="en-US" sz="2200" dirty="0" smtClean="0"/>
              <a:t>Practical exercises</a:t>
            </a:r>
          </a:p>
          <a:p>
            <a:pPr marL="360000" indent="-360000">
              <a:spcBef>
                <a:spcPts val="600"/>
              </a:spcBef>
              <a:spcAft>
                <a:spcPts val="1200"/>
              </a:spcAft>
            </a:pPr>
            <a:r>
              <a:rPr lang="en-US" sz="2200" dirty="0" smtClean="0"/>
              <a:t>Formal report from employer or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143636" y="2285992"/>
            <a:ext cx="2023769" cy="1347252"/>
          </a:xfrm>
          <a:prstGeom prst="rect">
            <a:avLst/>
          </a:prstGeom>
          <a:noFill/>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for food service production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Plan menu for specific event/occasion including resources</a:t>
            </a:r>
          </a:p>
          <a:p>
            <a:pPr marL="360000" indent="-360000">
              <a:spcBef>
                <a:spcPts val="600"/>
              </a:spcBef>
              <a:spcAft>
                <a:spcPts val="1200"/>
              </a:spcAft>
            </a:pPr>
            <a:r>
              <a:rPr lang="en-US" sz="2200" dirty="0" smtClean="0">
                <a:latin typeface="Helvetica" pitchFamily="34" charset="0"/>
              </a:rPr>
              <a:t>Determine quantities required for food items as per standard recipes</a:t>
            </a:r>
          </a:p>
          <a:p>
            <a:pPr marL="360000" indent="-360000">
              <a:spcBef>
                <a:spcPts val="600"/>
              </a:spcBef>
              <a:spcAft>
                <a:spcPts val="1200"/>
              </a:spcAft>
            </a:pPr>
            <a:r>
              <a:rPr lang="en-US" sz="2200" dirty="0" smtClean="0">
                <a:latin typeface="Helvetica" pitchFamily="34" charset="0"/>
              </a:rPr>
              <a:t>Order products required from suppliers with specifications for products</a:t>
            </a:r>
          </a:p>
          <a:p>
            <a:pPr marL="360000" indent="-360000">
              <a:spcBef>
                <a:spcPts val="600"/>
              </a:spcBef>
              <a:spcAft>
                <a:spcPts val="1200"/>
              </a:spcAft>
            </a:pPr>
            <a:r>
              <a:rPr lang="en-US" sz="2200" dirty="0" smtClean="0">
                <a:latin typeface="Helvetica" pitchFamily="34" charset="0"/>
              </a:rPr>
              <a:t>Prepare production sheets/work schedules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2357422" y="2500306"/>
            <a:ext cx="349247" cy="461148"/>
          </a:xfrm>
          <a:prstGeom prst="rect">
            <a:avLst/>
          </a:prstGeom>
          <a:noFill/>
        </p:spPr>
      </p:pic>
      <p:pic>
        <p:nvPicPr>
          <p:cNvPr id="6"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3143240" y="3357562"/>
            <a:ext cx="349247" cy="461148"/>
          </a:xfrm>
          <a:prstGeom prst="rect">
            <a:avLst/>
          </a:prstGeom>
          <a:noFill/>
        </p:spPr>
      </p:pic>
      <p:pic>
        <p:nvPicPr>
          <p:cNvPr id="7"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4365629" y="4286256"/>
            <a:ext cx="349247" cy="461148"/>
          </a:xfrm>
          <a:prstGeom prst="rect">
            <a:avLst/>
          </a:prstGeom>
          <a:noFill/>
        </p:spPr>
      </p:pic>
      <p:pic>
        <p:nvPicPr>
          <p:cNvPr id="8"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6357950" y="4857760"/>
            <a:ext cx="349247" cy="461148"/>
          </a:xfrm>
          <a:prstGeom prst="rect">
            <a:avLst/>
          </a:prstGeom>
          <a:noFill/>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menu:</a:t>
            </a:r>
          </a:p>
          <a:p>
            <a:pPr marL="360000" indent="-360000">
              <a:spcBef>
                <a:spcPts val="600"/>
              </a:spcBef>
              <a:spcAft>
                <a:spcPts val="1200"/>
              </a:spcAft>
            </a:pPr>
            <a:r>
              <a:rPr lang="en-US" sz="2200" dirty="0" smtClean="0">
                <a:latin typeface="Helvetica" pitchFamily="34" charset="0"/>
              </a:rPr>
              <a:t>Must be prepared for every service or food production session</a:t>
            </a:r>
          </a:p>
          <a:p>
            <a:pPr marL="360000" indent="-360000">
              <a:spcBef>
                <a:spcPts val="600"/>
              </a:spcBef>
              <a:spcAft>
                <a:spcPts val="1200"/>
              </a:spcAft>
            </a:pPr>
            <a:r>
              <a:rPr lang="en-US" sz="2200" dirty="0" smtClean="0">
                <a:latin typeface="Helvetica" pitchFamily="34" charset="0"/>
              </a:rPr>
              <a:t>Is a list of dishes to be offered to customers and prepared by the kitchen</a:t>
            </a:r>
          </a:p>
          <a:p>
            <a:pPr marL="360000" indent="-360000">
              <a:spcBef>
                <a:spcPts val="600"/>
              </a:spcBef>
              <a:spcAft>
                <a:spcPts val="1200"/>
              </a:spcAft>
            </a:pPr>
            <a:r>
              <a:rPr lang="en-US" sz="2200" dirty="0" smtClean="0">
                <a:latin typeface="Helvetica" pitchFamily="34" charset="0"/>
              </a:rPr>
              <a:t>Is the basis of all kitchen planning and control</a:t>
            </a:r>
          </a:p>
          <a:p>
            <a:pPr marL="360000" indent="-360000">
              <a:spcBef>
                <a:spcPts val="600"/>
              </a:spcBef>
              <a:spcAft>
                <a:spcPts val="1200"/>
              </a:spcAft>
            </a:pPr>
            <a:r>
              <a:rPr lang="en-US" sz="2200" dirty="0" smtClean="0">
                <a:latin typeface="Helvetica" pitchFamily="34" charset="0"/>
              </a:rPr>
              <a:t>Provides the foundation for all kitchen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C:\Documents and Settings\Godaishu\Desktop\PHOTOS\2012\ZOO_002.jpg"/>
          <p:cNvPicPr/>
          <p:nvPr/>
        </p:nvPicPr>
        <p:blipFill>
          <a:blip r:embed="rId3" cstate="print"/>
          <a:srcRect t="20383" r="9375"/>
          <a:stretch>
            <a:fillRect/>
          </a:stretch>
        </p:blipFill>
        <p:spPr bwMode="auto">
          <a:xfrm>
            <a:off x="7143768" y="3714752"/>
            <a:ext cx="1238250" cy="1600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plan menus - to:</a:t>
            </a:r>
          </a:p>
          <a:p>
            <a:pPr marL="360000" indent="-360000">
              <a:spcBef>
                <a:spcPts val="600"/>
              </a:spcBef>
              <a:spcAft>
                <a:spcPts val="1200"/>
              </a:spcAft>
            </a:pPr>
            <a:r>
              <a:rPr lang="en-US" sz="2200" dirty="0" smtClean="0">
                <a:latin typeface="Helvetica" pitchFamily="34" charset="0"/>
              </a:rPr>
              <a:t>Meet customer needs and expectations </a:t>
            </a:r>
          </a:p>
          <a:p>
            <a:pPr marL="360000" indent="-360000">
              <a:spcBef>
                <a:spcPts val="600"/>
              </a:spcBef>
              <a:spcAft>
                <a:spcPts val="1200"/>
              </a:spcAft>
            </a:pPr>
            <a:r>
              <a:rPr lang="en-US" sz="2200" dirty="0" smtClean="0">
                <a:latin typeface="Helvetica" pitchFamily="34" charset="0"/>
              </a:rPr>
              <a:t>Provide basis for ordering food from suppliers</a:t>
            </a:r>
          </a:p>
          <a:p>
            <a:pPr marL="360000" indent="-360000">
              <a:spcBef>
                <a:spcPts val="600"/>
              </a:spcBef>
              <a:spcAft>
                <a:spcPts val="1200"/>
              </a:spcAft>
            </a:pPr>
            <a:r>
              <a:rPr lang="en-US" sz="2200" dirty="0" smtClean="0">
                <a:latin typeface="Helvetica" pitchFamily="34" charset="0"/>
              </a:rPr>
              <a:t>Check required ingredients are available</a:t>
            </a:r>
          </a:p>
          <a:p>
            <a:pPr marL="360000" indent="-360000">
              <a:spcBef>
                <a:spcPts val="600"/>
              </a:spcBef>
              <a:spcAft>
                <a:spcPts val="1200"/>
              </a:spcAft>
            </a:pPr>
            <a:r>
              <a:rPr lang="en-US" sz="2200" dirty="0" smtClean="0">
                <a:latin typeface="Helvetica" pitchFamily="34" charset="0"/>
              </a:rPr>
              <a:t>Verify required production and service equipment </a:t>
            </a:r>
            <a:br>
              <a:rPr lang="en-US" sz="2200" dirty="0" smtClean="0">
                <a:latin typeface="Helvetica" pitchFamily="34" charset="0"/>
              </a:rPr>
            </a:br>
            <a:r>
              <a:rPr lang="en-US" sz="2200" dirty="0" smtClean="0">
                <a:latin typeface="Helvetica" pitchFamily="34" charset="0"/>
              </a:rPr>
              <a:t>is available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C:\Documents and Settings\Godaishu\Desktop\PHOTOS\2012\ZOO_004.jpg"/>
          <p:cNvPicPr/>
          <p:nvPr/>
        </p:nvPicPr>
        <p:blipFill>
          <a:blip r:embed="rId3" cstate="print"/>
          <a:srcRect t="14650"/>
          <a:stretch>
            <a:fillRect/>
          </a:stretch>
        </p:blipFill>
        <p:spPr bwMode="auto">
          <a:xfrm>
            <a:off x="7072330" y="2500306"/>
            <a:ext cx="1338263" cy="16859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Confirm dishes can be served as required</a:t>
            </a:r>
          </a:p>
          <a:p>
            <a:pPr marL="360000" indent="-360000">
              <a:spcBef>
                <a:spcPts val="600"/>
              </a:spcBef>
              <a:spcAft>
                <a:spcPts val="1200"/>
              </a:spcAft>
            </a:pPr>
            <a:r>
              <a:rPr lang="en-US" sz="2200" dirty="0" smtClean="0">
                <a:latin typeface="Helvetica" pitchFamily="34" charset="0"/>
              </a:rPr>
              <a:t>Ensure staff can produce the required menu </a:t>
            </a:r>
            <a:br>
              <a:rPr lang="en-US" sz="2200" dirty="0" smtClean="0">
                <a:latin typeface="Helvetica" pitchFamily="34" charset="0"/>
              </a:rPr>
            </a:br>
            <a:r>
              <a:rPr lang="en-US" sz="2200" dirty="0" smtClean="0">
                <a:latin typeface="Helvetica" pitchFamily="34" charset="0"/>
              </a:rPr>
              <a:t>items</a:t>
            </a:r>
          </a:p>
          <a:p>
            <a:pPr marL="360000" indent="-360000">
              <a:spcBef>
                <a:spcPts val="600"/>
              </a:spcBef>
              <a:spcAft>
                <a:spcPts val="1200"/>
              </a:spcAft>
            </a:pPr>
            <a:r>
              <a:rPr lang="en-US" sz="2200" dirty="0" smtClean="0">
                <a:latin typeface="Helvetica" pitchFamily="34" charset="0"/>
              </a:rPr>
              <a:t>Allow ‘standard recipes’ to be developed</a:t>
            </a:r>
          </a:p>
          <a:p>
            <a:pPr marL="360000" indent="-360000">
              <a:spcBef>
                <a:spcPts val="600"/>
              </a:spcBef>
              <a:spcAft>
                <a:spcPts val="1200"/>
              </a:spcAft>
            </a:pPr>
            <a:r>
              <a:rPr lang="en-US" sz="2200" dirty="0" smtClean="0">
                <a:latin typeface="Helvetica" pitchFamily="34" charset="0"/>
              </a:rPr>
              <a:t>Confirm food cost and required profit can </a:t>
            </a:r>
            <a:br>
              <a:rPr lang="en-US" sz="2200" dirty="0" smtClean="0">
                <a:latin typeface="Helvetica" pitchFamily="34" charset="0"/>
              </a:rPr>
            </a:br>
            <a:r>
              <a:rPr lang="en-US" sz="2200" dirty="0" smtClean="0">
                <a:latin typeface="Helvetica" pitchFamily="34" charset="0"/>
              </a:rPr>
              <a:t>be achieved</a:t>
            </a:r>
          </a:p>
          <a:p>
            <a:pPr marL="360000" indent="-360000">
              <a:spcBef>
                <a:spcPts val="600"/>
              </a:spcBef>
              <a:spcAft>
                <a:spcPts val="1200"/>
              </a:spcAft>
            </a:pPr>
            <a:r>
              <a:rPr lang="en-US" sz="2200" dirty="0" smtClean="0">
                <a:latin typeface="Helvetica" pitchFamily="34" charset="0"/>
              </a:rPr>
              <a:t>Include local ingredients</a:t>
            </a:r>
          </a:p>
          <a:p>
            <a:pPr marL="360000" indent="-360000">
              <a:spcBef>
                <a:spcPts val="600"/>
              </a:spcBef>
              <a:spcAft>
                <a:spcPts val="1200"/>
              </a:spcAft>
            </a:pPr>
            <a:r>
              <a:rPr lang="en-US" sz="2200" dirty="0" smtClean="0">
                <a:latin typeface="Helvetica" pitchFamily="34" charset="0"/>
              </a:rPr>
              <a:t>Balance the dishes on the menu</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2050" name="Picture 2" descr="I:\Overseas Projects\PHOTOS\2011\Culinary\bw_pm24_046.jpg"/>
          <p:cNvPicPr>
            <a:picLocks noChangeAspect="1" noChangeArrowheads="1"/>
          </p:cNvPicPr>
          <p:nvPr/>
        </p:nvPicPr>
        <p:blipFill>
          <a:blip r:embed="rId3" cstate="print"/>
          <a:srcRect/>
          <a:stretch>
            <a:fillRect/>
          </a:stretch>
        </p:blipFill>
        <p:spPr bwMode="auto">
          <a:xfrm>
            <a:off x="6429388" y="2857496"/>
            <a:ext cx="1951852" cy="1306532"/>
          </a:xfrm>
          <a:prstGeom prst="rect">
            <a:avLst/>
          </a:prstGeom>
          <a:noFill/>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714488"/>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Menus may need to be prepared for:</a:t>
            </a:r>
          </a:p>
          <a:p>
            <a:pPr marL="360000" indent="-360000">
              <a:spcBef>
                <a:spcPts val="600"/>
              </a:spcBef>
              <a:spcAft>
                <a:spcPts val="1200"/>
              </a:spcAft>
            </a:pPr>
            <a:r>
              <a:rPr lang="en-US" sz="2200" dirty="0" smtClean="0">
                <a:latin typeface="Helvetica" pitchFamily="34" charset="0"/>
              </a:rPr>
              <a:t>Normal day-to-day operations</a:t>
            </a:r>
          </a:p>
          <a:p>
            <a:pPr marL="360000" indent="-360000">
              <a:spcBef>
                <a:spcPts val="600"/>
              </a:spcBef>
              <a:spcAft>
                <a:spcPts val="1200"/>
              </a:spcAft>
            </a:pPr>
            <a:r>
              <a:rPr lang="en-US" sz="2200" dirty="0" smtClean="0">
                <a:latin typeface="Helvetica" pitchFamily="34" charset="0"/>
              </a:rPr>
              <a:t>Specific occasions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3074" name="Picture 2" descr="I:\Overseas Projects\PHOTOS\2011\Culinary\P1040522.JPG"/>
          <p:cNvPicPr>
            <a:picLocks noChangeAspect="1" noChangeArrowheads="1"/>
          </p:cNvPicPr>
          <p:nvPr/>
        </p:nvPicPr>
        <p:blipFill>
          <a:blip r:embed="rId3" cstate="print">
            <a:lum contrast="30000"/>
          </a:blip>
          <a:srcRect l="9302" r="34883"/>
          <a:stretch>
            <a:fillRect/>
          </a:stretch>
        </p:blipFill>
        <p:spPr bwMode="auto">
          <a:xfrm>
            <a:off x="6143636" y="1785926"/>
            <a:ext cx="1714512" cy="2303852"/>
          </a:xfrm>
          <a:prstGeom prst="rect">
            <a:avLst/>
          </a:prstGeo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People to liaise with when developing menus:</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pPr>
            <a:r>
              <a:rPr lang="en-US" sz="2200" dirty="0" smtClean="0">
                <a:latin typeface="Helvetica" pitchFamily="34" charset="0"/>
              </a:rPr>
              <a:t>Clients, customers</a:t>
            </a:r>
          </a:p>
          <a:p>
            <a:pPr marL="360000" indent="-360000">
              <a:spcBef>
                <a:spcPts val="600"/>
              </a:spcBef>
              <a:spcAft>
                <a:spcPts val="1200"/>
              </a:spcAft>
            </a:pPr>
            <a:r>
              <a:rPr lang="en-US" sz="2200" dirty="0" smtClean="0">
                <a:latin typeface="Helvetica" pitchFamily="34" charset="0"/>
              </a:rPr>
              <a:t>Marketing department</a:t>
            </a:r>
          </a:p>
          <a:p>
            <a:pPr marL="360000" indent="-360000">
              <a:spcBef>
                <a:spcPts val="600"/>
              </a:spcBef>
              <a:spcAft>
                <a:spcPts val="1200"/>
              </a:spcAft>
            </a:pPr>
            <a:r>
              <a:rPr lang="en-US" sz="2200" dirty="0" smtClean="0">
                <a:latin typeface="Helvetica" pitchFamily="34" charset="0"/>
              </a:rPr>
              <a:t>Other kitchen staff</a:t>
            </a:r>
          </a:p>
          <a:p>
            <a:pPr marL="360000" indent="-360000">
              <a:spcBef>
                <a:spcPts val="600"/>
              </a:spcBef>
              <a:spcAft>
                <a:spcPts val="1200"/>
              </a:spcAft>
            </a:pPr>
            <a:r>
              <a:rPr lang="en-US" sz="2200" dirty="0" smtClean="0">
                <a:latin typeface="Helvetica" pitchFamily="34" charset="0"/>
              </a:rPr>
              <a:t>Food service supervisor</a:t>
            </a:r>
          </a:p>
          <a:p>
            <a:pPr marL="360000" indent="-360000">
              <a:spcBef>
                <a:spcPts val="600"/>
              </a:spcBef>
              <a:spcAft>
                <a:spcPts val="1200"/>
              </a:spcAft>
            </a:pPr>
            <a:r>
              <a:rPr lang="en-US" sz="2200" dirty="0" smtClean="0">
                <a:latin typeface="Helvetica" pitchFamily="34" charset="0"/>
              </a:rPr>
              <a:t>Nominated food specialist consultants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C:\Documents and Settings\Godaishu\Desktop\PHOTOS\2011\Culinary\hospitality2.jpg"/>
          <p:cNvPicPr/>
          <p:nvPr/>
        </p:nvPicPr>
        <p:blipFill>
          <a:blip r:embed="rId3" cstate="print">
            <a:lum contrast="10000"/>
          </a:blip>
          <a:srcRect/>
          <a:stretch>
            <a:fillRect/>
          </a:stretch>
        </p:blipFill>
        <p:spPr bwMode="auto">
          <a:xfrm>
            <a:off x="6357950" y="2500306"/>
            <a:ext cx="1481139" cy="250570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Menu options:</a:t>
            </a:r>
          </a:p>
          <a:p>
            <a:pPr marL="360000" indent="-360000">
              <a:spcBef>
                <a:spcPts val="600"/>
              </a:spcBef>
              <a:spcAft>
                <a:spcPts val="1200"/>
              </a:spcAft>
            </a:pPr>
            <a:r>
              <a:rPr lang="en-US" sz="2200" dirty="0" smtClean="0">
                <a:latin typeface="Helvetica" pitchFamily="34" charset="0"/>
              </a:rPr>
              <a:t>A la carte</a:t>
            </a:r>
          </a:p>
          <a:p>
            <a:pPr marL="360000" indent="-360000">
              <a:spcBef>
                <a:spcPts val="600"/>
              </a:spcBef>
              <a:spcAft>
                <a:spcPts val="1200"/>
              </a:spcAft>
            </a:pPr>
            <a:r>
              <a:rPr lang="en-US" sz="2200" dirty="0" smtClean="0">
                <a:latin typeface="Helvetica" pitchFamily="34" charset="0"/>
              </a:rPr>
              <a:t>Table d’h</a:t>
            </a:r>
            <a:r>
              <a:rPr lang="en-AU" sz="2200" dirty="0" smtClean="0">
                <a:latin typeface="Helvetica" pitchFamily="34" charset="0"/>
              </a:rPr>
              <a:t>ôte</a:t>
            </a:r>
          </a:p>
          <a:p>
            <a:pPr marL="360000" indent="-360000">
              <a:spcBef>
                <a:spcPts val="600"/>
              </a:spcBef>
              <a:spcAft>
                <a:spcPts val="1200"/>
              </a:spcAft>
            </a:pPr>
            <a:r>
              <a:rPr lang="en-AU" sz="2200" dirty="0" smtClean="0">
                <a:latin typeface="Helvetica" pitchFamily="34" charset="0"/>
              </a:rPr>
              <a:t>Cyclical</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C:\Documents and Settings\Godaishu\Local Settings\Temporary Internet Files\Content.IE5\YISE4YB4\MC900235143[1].wmf"/>
          <p:cNvPicPr/>
          <p:nvPr/>
        </p:nvPicPr>
        <p:blipFill>
          <a:blip r:embed="rId3" cstate="print"/>
          <a:srcRect/>
          <a:stretch>
            <a:fillRect/>
          </a:stretch>
        </p:blipFill>
        <p:spPr bwMode="auto">
          <a:xfrm>
            <a:off x="5214942" y="2285992"/>
            <a:ext cx="1909763" cy="1600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menu for specific event/occasion including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Special needs – on cultural, religious, health or lifestyle basis</a:t>
            </a:r>
          </a:p>
          <a:p>
            <a:pPr marL="360000" indent="-360000">
              <a:spcBef>
                <a:spcPts val="600"/>
              </a:spcBef>
              <a:spcAft>
                <a:spcPts val="1200"/>
              </a:spcAft>
            </a:pPr>
            <a:r>
              <a:rPr lang="en-US" sz="2200" dirty="0" smtClean="0">
                <a:latin typeface="Helvetica" pitchFamily="34" charset="0"/>
              </a:rPr>
              <a:t>Children’s menu</a:t>
            </a:r>
          </a:p>
          <a:p>
            <a:pPr marL="360000" indent="-360000">
              <a:spcBef>
                <a:spcPts val="600"/>
              </a:spcBef>
              <a:spcAft>
                <a:spcPts val="1200"/>
              </a:spcAft>
            </a:pPr>
            <a:r>
              <a:rPr lang="en-US" sz="2200" dirty="0" smtClean="0">
                <a:latin typeface="Helvetica" pitchFamily="34" charset="0"/>
              </a:rPr>
              <a:t>Buffet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C:\Documents and Settings\Godaishu\Desktop\PHOTOS\2011\Culinary\hight_12.jpg"/>
          <p:cNvPicPr/>
          <p:nvPr/>
        </p:nvPicPr>
        <p:blipFill>
          <a:blip r:embed="rId3" cstate="print"/>
          <a:srcRect/>
          <a:stretch>
            <a:fillRect/>
          </a:stretch>
        </p:blipFill>
        <p:spPr bwMode="auto">
          <a:xfrm>
            <a:off x="6357950" y="3000372"/>
            <a:ext cx="1465582" cy="221457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quantities required for food items as per standard recipes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Recipes for dishes:</a:t>
            </a:r>
          </a:p>
          <a:p>
            <a:pPr marL="360000" indent="-360000">
              <a:spcBef>
                <a:spcPts val="600"/>
              </a:spcBef>
              <a:spcAft>
                <a:spcPts val="1200"/>
              </a:spcAft>
            </a:pPr>
            <a:r>
              <a:rPr lang="en-US" sz="2200" dirty="0" smtClean="0">
                <a:latin typeface="Helvetica" pitchFamily="34" charset="0"/>
              </a:rPr>
              <a:t>Are formulae for menu items listing: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Ingredients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Preparation method</a:t>
            </a:r>
          </a:p>
          <a:p>
            <a:pPr marL="360000" indent="-360000">
              <a:spcBef>
                <a:spcPts val="600"/>
              </a:spcBef>
              <a:spcAft>
                <a:spcPts val="1200"/>
              </a:spcAft>
            </a:pPr>
            <a:r>
              <a:rPr lang="en-US" sz="2200" dirty="0" smtClean="0">
                <a:latin typeface="Helvetica" pitchFamily="34" charset="0"/>
              </a:rPr>
              <a:t>Contain a range of standard information to assist with the production and service of the dish</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4098" name="Picture 2" descr="C:\Documents and Settings\danielc\Local Settings\Temporary Internet Files\Content.IE5\UMECW9PM\MP900314322[1].jpg"/>
          <p:cNvPicPr>
            <a:picLocks noChangeAspect="1" noChangeArrowheads="1"/>
          </p:cNvPicPr>
          <p:nvPr/>
        </p:nvPicPr>
        <p:blipFill>
          <a:blip r:embed="rId3" cstate="print"/>
          <a:srcRect/>
          <a:stretch>
            <a:fillRect/>
          </a:stretch>
        </p:blipFill>
        <p:spPr bwMode="auto">
          <a:xfrm>
            <a:off x="5715008" y="1928802"/>
            <a:ext cx="2432501" cy="1727076"/>
          </a:xfrm>
          <a:prstGeom prst="rect">
            <a:avLst/>
          </a:prstGeom>
          <a:noFill/>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quantities required for food items as per standard recipes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Kitchens use ‘Standard recipes’ for dishes to:</a:t>
            </a:r>
          </a:p>
          <a:p>
            <a:pPr marL="360000" indent="-360000">
              <a:spcBef>
                <a:spcPts val="600"/>
              </a:spcBef>
              <a:spcAft>
                <a:spcPts val="1200"/>
              </a:spcAft>
            </a:pPr>
            <a:r>
              <a:rPr lang="en-US" sz="2200" dirty="0" smtClean="0">
                <a:latin typeface="Helvetica" pitchFamily="34" charset="0"/>
              </a:rPr>
              <a:t>Maintain consistent quality of menu items</a:t>
            </a:r>
          </a:p>
          <a:p>
            <a:pPr marL="360000" indent="-360000">
              <a:spcBef>
                <a:spcPts val="600"/>
              </a:spcBef>
              <a:spcAft>
                <a:spcPts val="1200"/>
              </a:spcAft>
            </a:pPr>
            <a:r>
              <a:rPr lang="en-US" sz="2200" dirty="0" smtClean="0">
                <a:latin typeface="Helvetica" pitchFamily="34" charset="0"/>
              </a:rPr>
              <a:t>Establish food cost</a:t>
            </a:r>
          </a:p>
          <a:p>
            <a:pPr marL="360000" indent="-360000">
              <a:spcBef>
                <a:spcPts val="600"/>
              </a:spcBef>
              <a:spcAft>
                <a:spcPts val="1200"/>
              </a:spcAft>
            </a:pPr>
            <a:r>
              <a:rPr lang="en-US" sz="2200" dirty="0" smtClean="0">
                <a:latin typeface="Helvetica" pitchFamily="34" charset="0"/>
              </a:rPr>
              <a:t>Control portion size</a:t>
            </a:r>
          </a:p>
          <a:p>
            <a:pPr marL="360000" indent="-360000">
              <a:spcBef>
                <a:spcPts val="600"/>
              </a:spcBef>
              <a:spcAft>
                <a:spcPts val="1200"/>
              </a:spcAft>
            </a:pPr>
            <a:r>
              <a:rPr lang="en-US" sz="2200" dirty="0" smtClean="0">
                <a:latin typeface="Helvetica" pitchFamily="34" charset="0"/>
              </a:rPr>
              <a:t>Determine food cost percentage for each </a:t>
            </a:r>
            <a:br>
              <a:rPr lang="en-US" sz="2200" dirty="0" smtClean="0">
                <a:latin typeface="Helvetica" pitchFamily="34" charset="0"/>
              </a:rPr>
            </a:br>
            <a:r>
              <a:rPr lang="en-US" sz="2200" dirty="0" smtClean="0">
                <a:latin typeface="Helvetica" pitchFamily="34" charset="0"/>
              </a:rPr>
              <a:t>dish</a:t>
            </a:r>
          </a:p>
          <a:p>
            <a:pPr marL="360000" indent="-360000">
              <a:spcBef>
                <a:spcPts val="600"/>
              </a:spcBef>
              <a:spcAft>
                <a:spcPts val="1200"/>
              </a:spcAft>
            </a:pPr>
            <a:r>
              <a:rPr lang="en-US" sz="2200" dirty="0" smtClean="0">
                <a:latin typeface="Helvetica" pitchFamily="34" charset="0"/>
              </a:rPr>
              <a:t>Allow accurate food orders to be written</a:t>
            </a:r>
          </a:p>
          <a:p>
            <a:pPr marL="360000" indent="-360000">
              <a:spcBef>
                <a:spcPts val="600"/>
              </a:spcBef>
              <a:spcAft>
                <a:spcPts val="1200"/>
              </a:spcAft>
            </a:pPr>
            <a:r>
              <a:rPr lang="en-US" sz="2200" dirty="0" smtClean="0">
                <a:latin typeface="Helvetica" pitchFamily="34" charset="0"/>
              </a:rPr>
              <a:t>Assist with staff training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122" name="Picture 2" descr="C:\Documents and Settings\danielc\Local Settings\Temporary Internet Files\Content.IE5\112MAXTI\MP900430967[1].jpg"/>
          <p:cNvPicPr>
            <a:picLocks noChangeAspect="1" noChangeArrowheads="1"/>
          </p:cNvPicPr>
          <p:nvPr/>
        </p:nvPicPr>
        <p:blipFill>
          <a:blip r:embed="rId3" cstate="print"/>
          <a:srcRect/>
          <a:stretch>
            <a:fillRect/>
          </a:stretch>
        </p:blipFill>
        <p:spPr bwMode="auto">
          <a:xfrm>
            <a:off x="6500826" y="2571744"/>
            <a:ext cx="1913733" cy="1928802"/>
          </a:xfrm>
          <a:prstGeom prst="rect">
            <a:avLst/>
          </a:prstGeom>
          <a:noFill/>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quantities required for food items as per standard recipes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in calculating quantities required for food items:</a:t>
            </a:r>
          </a:p>
          <a:p>
            <a:pPr marL="360000" indent="-360000">
              <a:spcBef>
                <a:spcPts val="600"/>
              </a:spcBef>
              <a:spcAft>
                <a:spcPts val="1200"/>
              </a:spcAft>
            </a:pPr>
            <a:r>
              <a:rPr lang="en-US" sz="2200" dirty="0" smtClean="0">
                <a:latin typeface="Helvetica" pitchFamily="34" charset="0"/>
              </a:rPr>
              <a:t>Review previous trade figures</a:t>
            </a:r>
          </a:p>
          <a:p>
            <a:pPr marL="360000" indent="-360000">
              <a:spcBef>
                <a:spcPts val="600"/>
              </a:spcBef>
              <a:spcAft>
                <a:spcPts val="1200"/>
              </a:spcAft>
            </a:pPr>
            <a:r>
              <a:rPr lang="en-US" sz="2200" dirty="0" smtClean="0">
                <a:latin typeface="Helvetica" pitchFamily="34" charset="0"/>
              </a:rPr>
              <a:t>Talk to the client</a:t>
            </a:r>
          </a:p>
          <a:p>
            <a:pPr marL="360000" indent="-360000">
              <a:spcBef>
                <a:spcPts val="600"/>
              </a:spcBef>
              <a:spcAft>
                <a:spcPts val="1200"/>
              </a:spcAft>
            </a:pPr>
            <a:r>
              <a:rPr lang="en-US" sz="2200" dirty="0" smtClean="0">
                <a:latin typeface="Helvetica" pitchFamily="34" charset="0"/>
              </a:rPr>
              <a:t>Read contracted arrangements</a:t>
            </a:r>
          </a:p>
          <a:p>
            <a:pPr marL="360000" indent="-360000">
              <a:spcBef>
                <a:spcPts val="600"/>
              </a:spcBef>
              <a:spcAft>
                <a:spcPts val="1200"/>
              </a:spcAft>
            </a:pPr>
            <a:r>
              <a:rPr lang="en-US" sz="2200" dirty="0" smtClean="0">
                <a:latin typeface="Helvetica" pitchFamily="34" charset="0"/>
              </a:rPr>
              <a:t>Check bookings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146" name="Picture 2" descr="C:\Documents and Settings\danielc\Local Settings\Temporary Internet Files\Content.IE5\3DV3UKH9\MP900411753[1].jpg"/>
          <p:cNvPicPr>
            <a:picLocks noChangeAspect="1" noChangeArrowheads="1"/>
          </p:cNvPicPr>
          <p:nvPr/>
        </p:nvPicPr>
        <p:blipFill>
          <a:blip r:embed="rId3" cstate="print"/>
          <a:srcRect/>
          <a:stretch>
            <a:fillRect/>
          </a:stretch>
        </p:blipFill>
        <p:spPr bwMode="auto">
          <a:xfrm>
            <a:off x="6143612" y="2714620"/>
            <a:ext cx="1857388" cy="1857388"/>
          </a:xfrm>
          <a:prstGeom prst="rect">
            <a:avLst/>
          </a:prstGeom>
          <a:noFill/>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quantities required for food items as per standard recipes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Know </a:t>
            </a:r>
            <a:r>
              <a:rPr lang="en-AU" sz="2200" dirty="0" smtClean="0">
                <a:latin typeface="Helvetica" pitchFamily="34" charset="0"/>
              </a:rPr>
              <a:t>specific session information and venue requirements and preferences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Understand operational protocols for the food outlet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7170" name="Picture 2" descr="I:\Overseas Projects\PHOTOS\2011\Culinary\movida_002.jpg"/>
          <p:cNvPicPr>
            <a:picLocks noChangeAspect="1" noChangeArrowheads="1"/>
          </p:cNvPicPr>
          <p:nvPr/>
        </p:nvPicPr>
        <p:blipFill>
          <a:blip r:embed="rId3" cstate="print"/>
          <a:srcRect/>
          <a:stretch>
            <a:fillRect/>
          </a:stretch>
        </p:blipFill>
        <p:spPr bwMode="auto">
          <a:xfrm>
            <a:off x="3500430" y="3500438"/>
            <a:ext cx="1530217" cy="2286016"/>
          </a:xfrm>
          <a:prstGeom prst="rect">
            <a:avLst/>
          </a:prstGeom>
          <a:noFill/>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quantities required for food items as per standard recipes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‘Adjusting the recipe’:</a:t>
            </a:r>
          </a:p>
          <a:p>
            <a:pPr marL="360000" indent="-360000">
              <a:spcBef>
                <a:spcPts val="600"/>
              </a:spcBef>
              <a:spcAft>
                <a:spcPts val="1200"/>
              </a:spcAft>
            </a:pPr>
            <a:r>
              <a:rPr lang="en-US" sz="2200" dirty="0" smtClean="0">
                <a:latin typeface="Helvetica" pitchFamily="34" charset="0"/>
              </a:rPr>
              <a:t>Is the term used for activities required to alter the quantity of ingredients needed to produce a volume of a menu item different to the indicated yield for that item on the Standard recipe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C:\Documents and Settings\Godaishu\Desktop\PHOTOS\2011\Culinary\hight_45.jpg"/>
          <p:cNvPicPr/>
          <p:nvPr/>
        </p:nvPicPr>
        <p:blipFill>
          <a:blip r:embed="rId3" cstate="print"/>
          <a:srcRect l="10776"/>
          <a:stretch>
            <a:fillRect/>
          </a:stretch>
        </p:blipFill>
        <p:spPr bwMode="auto">
          <a:xfrm>
            <a:off x="3643306" y="4071942"/>
            <a:ext cx="2122801" cy="157163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Suppliers can be classified as:</a:t>
            </a:r>
          </a:p>
          <a:p>
            <a:pPr marL="360000" indent="-360000">
              <a:spcBef>
                <a:spcPts val="600"/>
              </a:spcBef>
              <a:spcAft>
                <a:spcPts val="1200"/>
              </a:spcAft>
            </a:pPr>
            <a:r>
              <a:rPr lang="en-US" sz="2200" dirty="0" smtClean="0">
                <a:latin typeface="Helvetica" pitchFamily="34" charset="0"/>
              </a:rPr>
              <a:t>Wholesalers</a:t>
            </a:r>
          </a:p>
          <a:p>
            <a:pPr marL="360000" indent="-360000">
              <a:spcBef>
                <a:spcPts val="600"/>
              </a:spcBef>
              <a:spcAft>
                <a:spcPts val="1200"/>
              </a:spcAft>
            </a:pPr>
            <a:r>
              <a:rPr lang="en-US" sz="2200" dirty="0" smtClean="0">
                <a:latin typeface="Helvetica" pitchFamily="34" charset="0"/>
              </a:rPr>
              <a:t>Retailers</a:t>
            </a:r>
          </a:p>
          <a:p>
            <a:pPr marL="360000" indent="-360000">
              <a:spcBef>
                <a:spcPts val="600"/>
              </a:spcBef>
              <a:spcAft>
                <a:spcPts val="1200"/>
              </a:spcAft>
            </a:pPr>
            <a:r>
              <a:rPr lang="en-US" sz="2200" dirty="0" smtClean="0">
                <a:latin typeface="Helvetica" pitchFamily="34" charset="0"/>
              </a:rPr>
              <a:t>Wholesalers and retailers</a:t>
            </a:r>
          </a:p>
          <a:p>
            <a:pPr marL="360000" indent="-360000">
              <a:spcBef>
                <a:spcPts val="600"/>
              </a:spcBef>
              <a:spcAft>
                <a:spcPts val="1200"/>
              </a:spcAft>
            </a:pPr>
            <a:r>
              <a:rPr lang="en-US" sz="2200" dirty="0" smtClean="0">
                <a:latin typeface="Helvetica" pitchFamily="34" charset="0"/>
              </a:rPr>
              <a:t>‘Preferred suppliers’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8194" name="Picture 2" descr="C:\Documents and Settings\danielc\Local Settings\Temporary Internet Files\Content.IE5\3DV3UKH9\MC900240545[1].wmf"/>
          <p:cNvPicPr>
            <a:picLocks noChangeAspect="1" noChangeArrowheads="1"/>
          </p:cNvPicPr>
          <p:nvPr/>
        </p:nvPicPr>
        <p:blipFill>
          <a:blip r:embed="rId3" cstate="print"/>
          <a:srcRect/>
          <a:stretch>
            <a:fillRect/>
          </a:stretch>
        </p:blipFill>
        <p:spPr bwMode="auto">
          <a:xfrm>
            <a:off x="5357818" y="2428868"/>
            <a:ext cx="1424635" cy="1823314"/>
          </a:xfrm>
          <a:prstGeom prst="rect">
            <a:avLst/>
          </a:prstGeom>
          <a:noFill/>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Supplier categories:</a:t>
            </a:r>
          </a:p>
          <a:p>
            <a:pPr marL="360000" indent="-360000">
              <a:spcBef>
                <a:spcPts val="600"/>
              </a:spcBef>
              <a:spcAft>
                <a:spcPts val="1200"/>
              </a:spcAft>
            </a:pPr>
            <a:r>
              <a:rPr lang="en-US" sz="2200" dirty="0" smtClean="0">
                <a:latin typeface="Helvetica" pitchFamily="34" charset="0"/>
              </a:rPr>
              <a:t>General produce</a:t>
            </a:r>
          </a:p>
          <a:p>
            <a:pPr marL="360000" indent="-360000">
              <a:spcBef>
                <a:spcPts val="600"/>
              </a:spcBef>
              <a:spcAft>
                <a:spcPts val="1200"/>
              </a:spcAft>
            </a:pPr>
            <a:r>
              <a:rPr lang="en-US" sz="2200" dirty="0" smtClean="0">
                <a:latin typeface="Helvetica" pitchFamily="34" charset="0"/>
              </a:rPr>
              <a:t>Butchers and poultry suppliers</a:t>
            </a:r>
          </a:p>
          <a:p>
            <a:pPr marL="360000" indent="-360000">
              <a:spcBef>
                <a:spcPts val="600"/>
              </a:spcBef>
              <a:spcAft>
                <a:spcPts val="1200"/>
              </a:spcAft>
            </a:pPr>
            <a:r>
              <a:rPr lang="en-US" sz="2200" dirty="0" smtClean="0">
                <a:latin typeface="Helvetica" pitchFamily="34" charset="0"/>
              </a:rPr>
              <a:t>Baker</a:t>
            </a:r>
          </a:p>
          <a:p>
            <a:pPr marL="360000" indent="-360000">
              <a:spcBef>
                <a:spcPts val="600"/>
              </a:spcBef>
              <a:spcAft>
                <a:spcPts val="1200"/>
              </a:spcAft>
            </a:pPr>
            <a:r>
              <a:rPr lang="en-US" sz="2200" dirty="0" smtClean="0">
                <a:latin typeface="Helvetica" pitchFamily="34" charset="0"/>
              </a:rPr>
              <a:t>Dairy</a:t>
            </a:r>
          </a:p>
          <a:p>
            <a:pPr marL="360000" indent="-360000">
              <a:spcBef>
                <a:spcPts val="600"/>
              </a:spcBef>
              <a:spcAft>
                <a:spcPts val="1200"/>
              </a:spcAft>
            </a:pPr>
            <a:r>
              <a:rPr lang="en-US" sz="2200" dirty="0" smtClean="0">
                <a:latin typeface="Helvetica" pitchFamily="34" charset="0"/>
              </a:rPr>
              <a:t>Seafood</a:t>
            </a:r>
          </a:p>
          <a:p>
            <a:pPr marL="360000" indent="-360000">
              <a:spcBef>
                <a:spcPts val="600"/>
              </a:spcBef>
              <a:spcAft>
                <a:spcPts val="1200"/>
              </a:spcAft>
            </a:pPr>
            <a:r>
              <a:rPr lang="en-US" sz="2200" dirty="0" smtClean="0">
                <a:latin typeface="Helvetica" pitchFamily="34" charset="0"/>
              </a:rPr>
              <a:t>Greengrocer</a:t>
            </a:r>
          </a:p>
          <a:p>
            <a:pPr marL="360000" indent="-360000">
              <a:spcBef>
                <a:spcPts val="600"/>
              </a:spcBef>
              <a:spcAft>
                <a:spcPts val="1200"/>
              </a:spcAft>
            </a:pPr>
            <a:r>
              <a:rPr lang="en-US" sz="2200" dirty="0" smtClean="0">
                <a:latin typeface="Helvetica" pitchFamily="34" charset="0"/>
              </a:rPr>
              <a:t>Specialist local suppliers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9218" name="Picture 2" descr="C:\Documents and Settings\danielc\Local Settings\Temporary Internet Files\Content.IE5\V9A2RTT8\MC900241341[1].wmf"/>
          <p:cNvPicPr>
            <a:picLocks noChangeAspect="1" noChangeArrowheads="1"/>
          </p:cNvPicPr>
          <p:nvPr/>
        </p:nvPicPr>
        <p:blipFill>
          <a:blip r:embed="rId3" cstate="print"/>
          <a:srcRect/>
          <a:stretch>
            <a:fillRect/>
          </a:stretch>
        </p:blipFill>
        <p:spPr bwMode="auto">
          <a:xfrm>
            <a:off x="5786446" y="2143116"/>
            <a:ext cx="1805026" cy="1456639"/>
          </a:xfrm>
          <a:prstGeom prst="rect">
            <a:avLst/>
          </a:prstGeom>
          <a:noFill/>
        </p:spPr>
      </p:pic>
      <p:pic>
        <p:nvPicPr>
          <p:cNvPr id="9219" name="Picture 3" descr="C:\Documents and Settings\danielc\Local Settings\Temporary Internet Files\Content.IE5\3Y3SDCJX\MC900241343[1].wmf"/>
          <p:cNvPicPr>
            <a:picLocks noChangeAspect="1" noChangeArrowheads="1"/>
          </p:cNvPicPr>
          <p:nvPr/>
        </p:nvPicPr>
        <p:blipFill>
          <a:blip r:embed="rId4" cstate="print"/>
          <a:srcRect/>
          <a:stretch>
            <a:fillRect/>
          </a:stretch>
        </p:blipFill>
        <p:spPr bwMode="auto">
          <a:xfrm>
            <a:off x="5857884" y="3643314"/>
            <a:ext cx="1808683" cy="1541678"/>
          </a:xfrm>
          <a:prstGeom prst="rect">
            <a:avLst/>
          </a:prstGeom>
          <a:noFill/>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ordering food:</a:t>
            </a:r>
          </a:p>
          <a:p>
            <a:pPr marL="360000" indent="-360000">
              <a:spcBef>
                <a:spcPts val="600"/>
              </a:spcBef>
              <a:spcAft>
                <a:spcPts val="1200"/>
              </a:spcAft>
            </a:pPr>
            <a:r>
              <a:rPr lang="en-US" sz="2200" dirty="0" smtClean="0">
                <a:latin typeface="Helvetica" pitchFamily="34" charset="0"/>
              </a:rPr>
              <a:t>Different venues do different things</a:t>
            </a:r>
          </a:p>
          <a:p>
            <a:pPr marL="360000" indent="-360000">
              <a:spcBef>
                <a:spcPts val="600"/>
              </a:spcBef>
              <a:spcAft>
                <a:spcPts val="1200"/>
              </a:spcAft>
            </a:pPr>
            <a:r>
              <a:rPr lang="en-US" sz="2200" dirty="0" smtClean="0">
                <a:latin typeface="Helvetica" pitchFamily="34" charset="0"/>
              </a:rPr>
              <a:t>Not all suppliers offer all ordering options</a:t>
            </a:r>
          </a:p>
          <a:p>
            <a:pPr marL="360000" indent="-360000">
              <a:spcBef>
                <a:spcPts val="600"/>
              </a:spcBef>
              <a:spcAft>
                <a:spcPts val="1200"/>
              </a:spcAft>
            </a:pPr>
            <a:r>
              <a:rPr lang="en-US" sz="2200" dirty="0" smtClean="0">
                <a:latin typeface="Helvetica" pitchFamily="34" charset="0"/>
              </a:rPr>
              <a:t>Must follow house policies and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C:\Documents and Settings\Godaishu\Desktop\PHOTOS\Theme Park 2010\Shop online.jpg"/>
          <p:cNvPicPr/>
          <p:nvPr/>
        </p:nvPicPr>
        <p:blipFill>
          <a:blip r:embed="rId3" cstate="print"/>
          <a:srcRect/>
          <a:stretch>
            <a:fillRect/>
          </a:stretch>
        </p:blipFill>
        <p:spPr bwMode="auto">
          <a:xfrm>
            <a:off x="6858016" y="2285992"/>
            <a:ext cx="1281113" cy="12715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order food from suppliers:</a:t>
            </a:r>
          </a:p>
          <a:p>
            <a:pPr marL="360000" indent="-360000">
              <a:spcBef>
                <a:spcPts val="600"/>
              </a:spcBef>
              <a:spcAft>
                <a:spcPts val="1200"/>
              </a:spcAft>
            </a:pPr>
            <a:r>
              <a:rPr lang="en-US" sz="2200" dirty="0" smtClean="0">
                <a:latin typeface="Helvetica" pitchFamily="34" charset="0"/>
              </a:rPr>
              <a:t>Electronic ordering systems</a:t>
            </a:r>
          </a:p>
          <a:p>
            <a:pPr marL="360000" indent="-360000">
              <a:spcBef>
                <a:spcPts val="600"/>
              </a:spcBef>
              <a:spcAft>
                <a:spcPts val="1200"/>
              </a:spcAft>
            </a:pPr>
            <a:r>
              <a:rPr lang="en-US" sz="2200" dirty="0" smtClean="0">
                <a:latin typeface="Helvetica" pitchFamily="34" charset="0"/>
              </a:rPr>
              <a:t>By telephone</a:t>
            </a:r>
          </a:p>
          <a:p>
            <a:pPr marL="360000" indent="-360000">
              <a:spcBef>
                <a:spcPts val="600"/>
              </a:spcBef>
              <a:spcAft>
                <a:spcPts val="1200"/>
              </a:spcAft>
            </a:pPr>
            <a:r>
              <a:rPr lang="en-US" sz="2200" dirty="0" smtClean="0">
                <a:latin typeface="Helvetica" pitchFamily="34" charset="0"/>
              </a:rPr>
              <a:t>Using ‘Purchase Orders’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C:\Documents and Settings\Godaishu\Desktop\PHOTOS\Theme Park 2010\PerformAdminFrontcover greyscale.jpg"/>
          <p:cNvPicPr/>
          <p:nvPr/>
        </p:nvPicPr>
        <p:blipFill>
          <a:blip r:embed="rId3" cstate="print"/>
          <a:srcRect/>
          <a:stretch>
            <a:fillRect/>
          </a:stretch>
        </p:blipFill>
        <p:spPr bwMode="auto">
          <a:xfrm>
            <a:off x="5786446" y="2357430"/>
            <a:ext cx="1909765" cy="128588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Product information which needs to included when ordering food:</a:t>
            </a:r>
          </a:p>
          <a:p>
            <a:pPr marL="360000" indent="-360000">
              <a:spcBef>
                <a:spcPts val="600"/>
              </a:spcBef>
              <a:spcAft>
                <a:spcPts val="1200"/>
              </a:spcAft>
            </a:pPr>
            <a:r>
              <a:rPr lang="en-US" sz="2200" dirty="0" smtClean="0">
                <a:latin typeface="Helvetica" pitchFamily="34" charset="0"/>
              </a:rPr>
              <a:t>Description of item</a:t>
            </a:r>
          </a:p>
          <a:p>
            <a:pPr marL="360000" indent="-360000">
              <a:spcBef>
                <a:spcPts val="600"/>
              </a:spcBef>
              <a:spcAft>
                <a:spcPts val="1200"/>
              </a:spcAft>
            </a:pPr>
            <a:r>
              <a:rPr lang="en-US" sz="2200" dirty="0" smtClean="0">
                <a:latin typeface="Helvetica" pitchFamily="34" charset="0"/>
              </a:rPr>
              <a:t>Amount required</a:t>
            </a:r>
          </a:p>
          <a:p>
            <a:pPr marL="360000" indent="-360000">
              <a:spcBef>
                <a:spcPts val="600"/>
              </a:spcBef>
              <a:spcAft>
                <a:spcPts val="1200"/>
              </a:spcAft>
            </a:pPr>
            <a:r>
              <a:rPr lang="en-US" sz="2200" dirty="0" smtClean="0">
                <a:latin typeface="Helvetica" pitchFamily="34" charset="0"/>
              </a:rPr>
              <a:t>Size of items/containers/packages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C:\Documents and Settings\Godaishu\Desktop\PHOTOS\Culinary 2012\Meat packaging.jpg"/>
          <p:cNvPicPr/>
          <p:nvPr/>
        </p:nvPicPr>
        <p:blipFill>
          <a:blip r:embed="rId3" cstate="print"/>
          <a:srcRect/>
          <a:stretch>
            <a:fillRect/>
          </a:stretch>
        </p:blipFill>
        <p:spPr bwMode="auto">
          <a:xfrm>
            <a:off x="5929322" y="2714620"/>
            <a:ext cx="1876108" cy="12573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Business information which needs to included when ordering food:</a:t>
            </a:r>
          </a:p>
          <a:p>
            <a:pPr marL="360000" indent="-360000">
              <a:spcBef>
                <a:spcPts val="600"/>
              </a:spcBef>
              <a:spcAft>
                <a:spcPts val="1200"/>
              </a:spcAft>
            </a:pPr>
            <a:r>
              <a:rPr lang="en-US" sz="2200" dirty="0" smtClean="0">
                <a:latin typeface="Helvetica" pitchFamily="34" charset="0"/>
              </a:rPr>
              <a:t>Venue name</a:t>
            </a:r>
          </a:p>
          <a:p>
            <a:pPr marL="360000" indent="-360000">
              <a:spcBef>
                <a:spcPts val="600"/>
              </a:spcBef>
              <a:spcAft>
                <a:spcPts val="1200"/>
              </a:spcAft>
            </a:pPr>
            <a:r>
              <a:rPr lang="en-US" sz="2200" dirty="0" smtClean="0">
                <a:latin typeface="Helvetica" pitchFamily="34" charset="0"/>
              </a:rPr>
              <a:t>Trading name</a:t>
            </a:r>
          </a:p>
          <a:p>
            <a:pPr marL="360000" indent="-360000">
              <a:spcBef>
                <a:spcPts val="600"/>
              </a:spcBef>
              <a:spcAft>
                <a:spcPts val="1200"/>
              </a:spcAft>
            </a:pPr>
            <a:r>
              <a:rPr lang="en-US" sz="2200" dirty="0" smtClean="0">
                <a:latin typeface="Helvetica" pitchFamily="34" charset="0"/>
              </a:rPr>
              <a:t>Password/code to identify the business</a:t>
            </a:r>
          </a:p>
          <a:p>
            <a:pPr marL="360000" indent="-360000">
              <a:spcBef>
                <a:spcPts val="600"/>
              </a:spcBef>
              <a:spcAft>
                <a:spcPts val="1200"/>
              </a:spcAft>
            </a:pPr>
            <a:r>
              <a:rPr lang="en-US" sz="2200" dirty="0" smtClean="0">
                <a:latin typeface="Helvetica" pitchFamily="34" charset="0"/>
              </a:rPr>
              <a:t>Day/time delivery is required</a:t>
            </a:r>
          </a:p>
          <a:p>
            <a:pPr marL="360000" indent="-360000">
              <a:spcBef>
                <a:spcPts val="600"/>
              </a:spcBef>
              <a:spcAft>
                <a:spcPts val="1200"/>
              </a:spcAft>
            </a:pPr>
            <a:r>
              <a:rPr lang="en-US" sz="2200" dirty="0" smtClean="0">
                <a:latin typeface="Helvetica" pitchFamily="34" charset="0"/>
              </a:rPr>
              <a:t>Address for delivery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10243" name="Picture 3" descr="C:\Documents and Settings\danielc\Local Settings\Temporary Internet Files\Content.IE5\3Y3SDCJX\MP900402515[1].jpg"/>
          <p:cNvPicPr>
            <a:picLocks noChangeAspect="1" noChangeArrowheads="1"/>
          </p:cNvPicPr>
          <p:nvPr/>
        </p:nvPicPr>
        <p:blipFill>
          <a:blip r:embed="rId3" cstate="print"/>
          <a:srcRect l="21418"/>
          <a:stretch>
            <a:fillRect/>
          </a:stretch>
        </p:blipFill>
        <p:spPr bwMode="auto">
          <a:xfrm>
            <a:off x="6572264" y="2500306"/>
            <a:ext cx="1310494" cy="2500306"/>
          </a:xfrm>
          <a:prstGeom prst="rect">
            <a:avLst/>
          </a:prstGeom>
          <a:noFill/>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Food purchase specifications:</a:t>
            </a:r>
          </a:p>
          <a:p>
            <a:pPr marL="360000" indent="-360000">
              <a:spcBef>
                <a:spcPts val="600"/>
              </a:spcBef>
              <a:spcAft>
                <a:spcPts val="1200"/>
              </a:spcAft>
            </a:pPr>
            <a:r>
              <a:rPr lang="en-US" sz="2200" dirty="0" smtClean="0">
                <a:latin typeface="Helvetica" pitchFamily="34" charset="0"/>
              </a:rPr>
              <a:t>Used to specify the quality and standards of food </a:t>
            </a:r>
            <a:br>
              <a:rPr lang="en-US" sz="2200" dirty="0" smtClean="0">
                <a:latin typeface="Helvetica" pitchFamily="34" charset="0"/>
              </a:rPr>
            </a:br>
            <a:r>
              <a:rPr lang="en-US" sz="2200" dirty="0" smtClean="0">
                <a:latin typeface="Helvetica" pitchFamily="34" charset="0"/>
              </a:rPr>
              <a:t>required by the purchaser </a:t>
            </a:r>
          </a:p>
          <a:p>
            <a:pPr marL="360000" indent="-360000">
              <a:spcBef>
                <a:spcPts val="600"/>
              </a:spcBef>
              <a:spcAft>
                <a:spcPts val="1200"/>
              </a:spcAft>
            </a:pPr>
            <a:r>
              <a:rPr lang="en-US" sz="2200" dirty="0" smtClean="0">
                <a:latin typeface="Helvetica" pitchFamily="34" charset="0"/>
              </a:rPr>
              <a:t>Most venues do not use them</a:t>
            </a:r>
          </a:p>
          <a:p>
            <a:pPr marL="360000" indent="-360000">
              <a:spcBef>
                <a:spcPts val="600"/>
              </a:spcBef>
              <a:spcAft>
                <a:spcPts val="1200"/>
              </a:spcAft>
            </a:pPr>
            <a:r>
              <a:rPr lang="en-US" sz="2200" dirty="0" smtClean="0">
                <a:latin typeface="Helvetica" pitchFamily="34" charset="0"/>
              </a:rPr>
              <a:t>Used mainly by hospitals, fast food franchises </a:t>
            </a:r>
            <a:br>
              <a:rPr lang="en-US" sz="2200" dirty="0" smtClean="0">
                <a:latin typeface="Helvetica" pitchFamily="34" charset="0"/>
              </a:rPr>
            </a:br>
            <a:r>
              <a:rPr lang="en-US" sz="2200" dirty="0" smtClean="0">
                <a:latin typeface="Helvetica" pitchFamily="34" charset="0"/>
              </a:rPr>
              <a:t>and large volume operators</a:t>
            </a:r>
          </a:p>
          <a:p>
            <a:pPr marL="360000" indent="-360000">
              <a:spcBef>
                <a:spcPts val="600"/>
              </a:spcBef>
              <a:spcAft>
                <a:spcPts val="1200"/>
              </a:spcAft>
            </a:pPr>
            <a:r>
              <a:rPr lang="en-US" sz="2200" dirty="0" smtClean="0">
                <a:latin typeface="Helvetica" pitchFamily="34" charset="0"/>
              </a:rPr>
              <a:t>Many suppliers do not provide items in response </a:t>
            </a:r>
            <a:br>
              <a:rPr lang="en-US" sz="2200" dirty="0" smtClean="0">
                <a:latin typeface="Helvetica" pitchFamily="34" charset="0"/>
              </a:rPr>
            </a:br>
            <a:r>
              <a:rPr lang="en-US" sz="2200" dirty="0" smtClean="0">
                <a:latin typeface="Helvetica" pitchFamily="34" charset="0"/>
              </a:rPr>
              <a:t>to food purchase specifications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11266" name="Picture 2" descr="I:\Overseas Projects\PHOTOS\2012\Culinary 2011\Image Receive and Store Kitchen Supplies\stores 2.jpg"/>
          <p:cNvPicPr>
            <a:picLocks noChangeAspect="1" noChangeArrowheads="1"/>
          </p:cNvPicPr>
          <p:nvPr/>
        </p:nvPicPr>
        <p:blipFill>
          <a:blip r:embed="rId3" cstate="print">
            <a:lum bright="10000" contrast="10000"/>
          </a:blip>
          <a:srcRect/>
          <a:stretch>
            <a:fillRect/>
          </a:stretch>
        </p:blipFill>
        <p:spPr bwMode="auto">
          <a:xfrm>
            <a:off x="6929454" y="2928934"/>
            <a:ext cx="1935718" cy="1285884"/>
          </a:xfrm>
          <a:prstGeom prst="rect">
            <a:avLst/>
          </a:prstGeom>
          <a:noFill/>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use food purchase specifications:</a:t>
            </a:r>
          </a:p>
          <a:p>
            <a:pPr marL="360000" indent="-360000">
              <a:spcBef>
                <a:spcPts val="600"/>
              </a:spcBef>
              <a:spcAft>
                <a:spcPts val="1200"/>
              </a:spcAft>
            </a:pPr>
            <a:r>
              <a:rPr lang="en-US" sz="2200" dirty="0" smtClean="0">
                <a:latin typeface="Helvetica" pitchFamily="34" charset="0"/>
              </a:rPr>
              <a:t>Maintain standard/quality of menu items</a:t>
            </a:r>
          </a:p>
          <a:p>
            <a:pPr marL="360000" indent="-360000">
              <a:spcBef>
                <a:spcPts val="600"/>
              </a:spcBef>
              <a:spcAft>
                <a:spcPts val="1200"/>
              </a:spcAft>
            </a:pPr>
            <a:r>
              <a:rPr lang="en-US" sz="2200" dirty="0" smtClean="0">
                <a:latin typeface="Helvetica" pitchFamily="34" charset="0"/>
              </a:rPr>
              <a:t>Control/define quality of ingredients bought</a:t>
            </a:r>
          </a:p>
          <a:p>
            <a:pPr marL="360000" indent="-360000">
              <a:spcBef>
                <a:spcPts val="600"/>
              </a:spcBef>
              <a:spcAft>
                <a:spcPts val="1200"/>
              </a:spcAft>
            </a:pPr>
            <a:r>
              <a:rPr lang="en-US" sz="2200" dirty="0" smtClean="0">
                <a:latin typeface="Helvetica" pitchFamily="34" charset="0"/>
              </a:rPr>
              <a:t>Eliminate doubt/confusion about what is </a:t>
            </a:r>
            <a:br>
              <a:rPr lang="en-US" sz="2200" dirty="0" smtClean="0">
                <a:latin typeface="Helvetica" pitchFamily="34" charset="0"/>
              </a:rPr>
            </a:br>
            <a:r>
              <a:rPr lang="en-US" sz="2200" dirty="0" smtClean="0">
                <a:latin typeface="Helvetica" pitchFamily="34" charset="0"/>
              </a:rPr>
              <a:t>required</a:t>
            </a:r>
          </a:p>
          <a:p>
            <a:pPr marL="360000" indent="-360000">
              <a:spcBef>
                <a:spcPts val="600"/>
              </a:spcBef>
              <a:spcAft>
                <a:spcPts val="1200"/>
              </a:spcAft>
            </a:pPr>
            <a:r>
              <a:rPr lang="en-US" sz="2200" dirty="0" smtClean="0">
                <a:latin typeface="Helvetica" pitchFamily="34" charset="0"/>
              </a:rPr>
              <a:t>Save labour</a:t>
            </a:r>
          </a:p>
          <a:p>
            <a:pPr marL="360000" indent="-360000">
              <a:spcBef>
                <a:spcPts val="600"/>
              </a:spcBef>
              <a:spcAft>
                <a:spcPts val="1200"/>
              </a:spcAft>
            </a:pPr>
            <a:r>
              <a:rPr lang="en-US" sz="2200" dirty="0" smtClean="0">
                <a:latin typeface="Helvetica" pitchFamily="34" charset="0"/>
              </a:rPr>
              <a:t>Provide a basis for competitive tendering</a:t>
            </a:r>
          </a:p>
          <a:p>
            <a:pPr marL="360000" indent="-360000">
              <a:spcBef>
                <a:spcPts val="600"/>
              </a:spcBef>
              <a:spcAft>
                <a:spcPts val="1200"/>
              </a:spcAft>
            </a:pPr>
            <a:r>
              <a:rPr lang="en-US" sz="2200" dirty="0" smtClean="0">
                <a:latin typeface="Helvetica" pitchFamily="34" charset="0"/>
              </a:rPr>
              <a:t>Give certainty about cost of ingredients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12290" name="Picture 2" descr="I:\Overseas Projects\PHOTOS\2012\Culinary 2011\Market.jpg"/>
          <p:cNvPicPr>
            <a:picLocks noChangeAspect="1" noChangeArrowheads="1"/>
          </p:cNvPicPr>
          <p:nvPr/>
        </p:nvPicPr>
        <p:blipFill>
          <a:blip r:embed="rId3" cstate="print"/>
          <a:srcRect/>
          <a:stretch>
            <a:fillRect/>
          </a:stretch>
        </p:blipFill>
        <p:spPr bwMode="auto">
          <a:xfrm>
            <a:off x="6786578" y="2857496"/>
            <a:ext cx="2097066" cy="1391465"/>
          </a:xfrm>
          <a:prstGeom prst="rect">
            <a:avLst/>
          </a:prstGeom>
          <a:noFill/>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Contents of food purchase specifications:</a:t>
            </a:r>
          </a:p>
          <a:p>
            <a:pPr marL="360000" indent="-360000">
              <a:spcBef>
                <a:spcPts val="600"/>
              </a:spcBef>
              <a:spcAft>
                <a:spcPts val="1200"/>
              </a:spcAft>
            </a:pPr>
            <a:r>
              <a:rPr lang="en-US" sz="2200" dirty="0" smtClean="0">
                <a:latin typeface="Helvetica" pitchFamily="34" charset="0"/>
              </a:rPr>
              <a:t>Product name</a:t>
            </a:r>
          </a:p>
          <a:p>
            <a:pPr marL="360000" indent="-360000">
              <a:spcBef>
                <a:spcPts val="600"/>
              </a:spcBef>
              <a:spcAft>
                <a:spcPts val="1200"/>
              </a:spcAft>
            </a:pPr>
            <a:r>
              <a:rPr lang="en-US" sz="2200" dirty="0" smtClean="0">
                <a:latin typeface="Helvetica" pitchFamily="34" charset="0"/>
              </a:rPr>
              <a:t>Product category</a:t>
            </a:r>
          </a:p>
          <a:p>
            <a:pPr marL="360000" indent="-360000">
              <a:spcBef>
                <a:spcPts val="600"/>
              </a:spcBef>
              <a:spcAft>
                <a:spcPts val="1200"/>
              </a:spcAft>
            </a:pPr>
            <a:r>
              <a:rPr lang="en-US" sz="2200" dirty="0" smtClean="0">
                <a:latin typeface="Helvetica" pitchFamily="34" charset="0"/>
              </a:rPr>
              <a:t>Quality specifications – as appropriate </a:t>
            </a:r>
            <a:br>
              <a:rPr lang="en-US" sz="2200" dirty="0" smtClean="0">
                <a:latin typeface="Helvetica" pitchFamily="34" charset="0"/>
              </a:rPr>
            </a:br>
            <a:r>
              <a:rPr lang="en-US" sz="2200" dirty="0" smtClean="0">
                <a:latin typeface="Helvetica" pitchFamily="34" charset="0"/>
              </a:rPr>
              <a:t>to the individual food item</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13314" name="Picture 2" descr="I:\Overseas Projects\PHOTOS\2012\Culinary 2011\Ingredients Photos &amp; Info\Copy of celery.jpg"/>
          <p:cNvPicPr>
            <a:picLocks noChangeAspect="1" noChangeArrowheads="1"/>
          </p:cNvPicPr>
          <p:nvPr/>
        </p:nvPicPr>
        <p:blipFill>
          <a:blip r:embed="rId3" cstate="print"/>
          <a:srcRect/>
          <a:stretch>
            <a:fillRect/>
          </a:stretch>
        </p:blipFill>
        <p:spPr bwMode="auto">
          <a:xfrm>
            <a:off x="6643702" y="3143248"/>
            <a:ext cx="1928826" cy="2571072"/>
          </a:xfrm>
          <a:prstGeom prst="rect">
            <a:avLst/>
          </a:prstGeom>
          <a:noFill/>
        </p:spPr>
      </p:pic>
      <p:pic>
        <p:nvPicPr>
          <p:cNvPr id="13315" name="Picture 3" descr="I:\Overseas Projects\PHOTOS\2012\Culinary 2011\Ingredients Photos &amp; Info\button mushroon.jpg"/>
          <p:cNvPicPr>
            <a:picLocks noChangeAspect="1" noChangeArrowheads="1"/>
          </p:cNvPicPr>
          <p:nvPr/>
        </p:nvPicPr>
        <p:blipFill>
          <a:blip r:embed="rId4" cstate="print"/>
          <a:srcRect/>
          <a:stretch>
            <a:fillRect/>
          </a:stretch>
        </p:blipFill>
        <p:spPr bwMode="auto">
          <a:xfrm>
            <a:off x="6572264" y="1643050"/>
            <a:ext cx="2027180" cy="1340554"/>
          </a:xfrm>
          <a:prstGeom prst="rect">
            <a:avLst/>
          </a:prstGeom>
          <a:noFill/>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Packing/packaging format</a:t>
            </a:r>
          </a:p>
          <a:p>
            <a:pPr marL="360000" indent="-360000">
              <a:spcBef>
                <a:spcPts val="600"/>
              </a:spcBef>
              <a:spcAft>
                <a:spcPts val="1200"/>
              </a:spcAft>
            </a:pPr>
            <a:r>
              <a:rPr lang="en-US" sz="2200" dirty="0" smtClean="0">
                <a:latin typeface="Helvetica" pitchFamily="34" charset="0"/>
              </a:rPr>
              <a:t>Nutritional content/requirements</a:t>
            </a:r>
          </a:p>
          <a:p>
            <a:pPr marL="360000" indent="-360000">
              <a:spcBef>
                <a:spcPts val="600"/>
              </a:spcBef>
              <a:spcAft>
                <a:spcPts val="1200"/>
              </a:spcAft>
            </a:pPr>
            <a:r>
              <a:rPr lang="en-US" sz="2200" dirty="0" smtClean="0">
                <a:latin typeface="Helvetica" pitchFamily="34" charset="0"/>
              </a:rPr>
              <a:t>Labelling data required</a:t>
            </a:r>
          </a:p>
          <a:p>
            <a:pPr marL="360000" indent="-360000">
              <a:spcBef>
                <a:spcPts val="600"/>
              </a:spcBef>
              <a:spcAft>
                <a:spcPts val="1200"/>
              </a:spcAft>
            </a:pPr>
            <a:r>
              <a:rPr lang="en-US" sz="2200" dirty="0" smtClean="0">
                <a:latin typeface="Helvetica" pitchFamily="34" charset="0"/>
              </a:rPr>
              <a:t>Brand name – where applicable</a:t>
            </a:r>
          </a:p>
          <a:p>
            <a:pPr marL="360000" indent="-360000">
              <a:spcBef>
                <a:spcPts val="600"/>
              </a:spcBef>
              <a:spcAft>
                <a:spcPts val="1200"/>
              </a:spcAft>
            </a:pPr>
            <a:r>
              <a:rPr lang="en-US" sz="2200" dirty="0" smtClean="0">
                <a:latin typeface="Helvetica" pitchFamily="34" charset="0"/>
              </a:rPr>
              <a:t>Photograph of what is required</a:t>
            </a:r>
          </a:p>
          <a:p>
            <a:pPr marL="360000" indent="-360000">
              <a:spcBef>
                <a:spcPts val="600"/>
              </a:spcBef>
              <a:spcAft>
                <a:spcPts val="1200"/>
              </a:spcAft>
            </a:pPr>
            <a:r>
              <a:rPr lang="en-US" sz="2200" dirty="0" smtClean="0">
                <a:latin typeface="Helvetica" pitchFamily="34" charset="0"/>
              </a:rPr>
              <a:t>Variety – where applicable</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14338" name="Picture 2" descr="I:\Overseas Projects\PHOTOS\2012\Culinary 2011\Image Receive and Store Kitchen Supplies\stores.jpg"/>
          <p:cNvPicPr>
            <a:picLocks noChangeAspect="1" noChangeArrowheads="1"/>
          </p:cNvPicPr>
          <p:nvPr/>
        </p:nvPicPr>
        <p:blipFill>
          <a:blip r:embed="rId3" cstate="print"/>
          <a:srcRect r="9415"/>
          <a:stretch>
            <a:fillRect/>
          </a:stretch>
        </p:blipFill>
        <p:spPr bwMode="auto">
          <a:xfrm>
            <a:off x="5857884" y="2428868"/>
            <a:ext cx="2143140" cy="1571636"/>
          </a:xfrm>
          <a:prstGeom prst="rect">
            <a:avLst/>
          </a:prstGeom>
          <a:noFill/>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Order from suppliers with specifications for products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Storage requirements required for the item</a:t>
            </a:r>
          </a:p>
          <a:p>
            <a:pPr marL="360000" indent="-360000">
              <a:spcBef>
                <a:spcPts val="600"/>
              </a:spcBef>
              <a:spcAft>
                <a:spcPts val="1200"/>
              </a:spcAft>
            </a:pPr>
            <a:r>
              <a:rPr lang="en-US" sz="2200" dirty="0" smtClean="0">
                <a:latin typeface="Helvetica" pitchFamily="34" charset="0"/>
              </a:rPr>
              <a:t>Intended use of the product</a:t>
            </a:r>
          </a:p>
          <a:p>
            <a:pPr marL="360000" indent="-360000">
              <a:spcBef>
                <a:spcPts val="600"/>
              </a:spcBef>
              <a:spcAft>
                <a:spcPts val="1200"/>
              </a:spcAft>
            </a:pPr>
            <a:r>
              <a:rPr lang="en-US" sz="2200" dirty="0" smtClean="0">
                <a:latin typeface="Helvetica" pitchFamily="34" charset="0"/>
              </a:rPr>
              <a:t>Special instructions relating to individual </a:t>
            </a:r>
            <a:br>
              <a:rPr lang="en-US" sz="2200" dirty="0" smtClean="0">
                <a:latin typeface="Helvetica" pitchFamily="34" charset="0"/>
              </a:rPr>
            </a:br>
            <a:r>
              <a:rPr lang="en-US" sz="2200" dirty="0" smtClean="0">
                <a:latin typeface="Helvetica" pitchFamily="34" charset="0"/>
              </a:rPr>
              <a:t>products</a:t>
            </a:r>
          </a:p>
          <a:p>
            <a:pPr marL="360000" indent="-360000">
              <a:spcBef>
                <a:spcPts val="600"/>
              </a:spcBef>
              <a:spcAft>
                <a:spcPts val="1200"/>
              </a:spcAft>
            </a:pPr>
            <a:r>
              <a:rPr lang="en-US" sz="2200" dirty="0" smtClean="0">
                <a:latin typeface="Helvetica" pitchFamily="34" charset="0"/>
              </a:rPr>
              <a:t>Identification of substitute product – if relevant</a:t>
            </a:r>
          </a:p>
          <a:p>
            <a:pPr marL="360000" indent="-360000">
              <a:spcBef>
                <a:spcPts val="600"/>
              </a:spcBef>
              <a:spcAft>
                <a:spcPts val="1200"/>
              </a:spcAft>
            </a:pPr>
            <a:r>
              <a:rPr lang="en-US" sz="2200" dirty="0" smtClean="0">
                <a:latin typeface="Helvetica" pitchFamily="34" charset="0"/>
              </a:rPr>
              <a:t>Maximum cost price</a:t>
            </a:r>
          </a:p>
          <a:p>
            <a:pPr marL="360000" indent="-360000">
              <a:spcBef>
                <a:spcPts val="600"/>
              </a:spcBef>
              <a:spcAft>
                <a:spcPts val="1200"/>
              </a:spcAft>
            </a:pPr>
            <a:r>
              <a:rPr lang="en-US" sz="2200" dirty="0" smtClean="0">
                <a:latin typeface="Helvetica" pitchFamily="34" charset="0"/>
              </a:rPr>
              <a:t>Delivery temperature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1026" name="Picture 2" descr="C:\Documents and Settings\danielc\Local Settings\Temporary Internet Files\Content.IE5\Y88G682L\MC900215895[1].wmf"/>
          <p:cNvPicPr>
            <a:picLocks noChangeAspect="1" noChangeArrowheads="1"/>
          </p:cNvPicPr>
          <p:nvPr/>
        </p:nvPicPr>
        <p:blipFill>
          <a:blip r:embed="rId3" cstate="print"/>
          <a:srcRect/>
          <a:stretch>
            <a:fillRect/>
          </a:stretch>
        </p:blipFill>
        <p:spPr bwMode="auto">
          <a:xfrm>
            <a:off x="6858016" y="1500174"/>
            <a:ext cx="1883121" cy="2370499"/>
          </a:xfrm>
          <a:prstGeom prst="rect">
            <a:avLst/>
          </a:prstGeom>
          <a:noFill/>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production sheets/work schedules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Production sheets/work schedules:</a:t>
            </a:r>
          </a:p>
          <a:p>
            <a:pPr marL="360000" indent="-360000">
              <a:spcBef>
                <a:spcPts val="600"/>
              </a:spcBef>
              <a:spcAft>
                <a:spcPts val="1200"/>
              </a:spcAft>
            </a:pPr>
            <a:r>
              <a:rPr lang="en-US" sz="2200" dirty="0" smtClean="0">
                <a:latin typeface="Helvetica" pitchFamily="34" charset="0"/>
              </a:rPr>
              <a:t>Not all kitchens use them</a:t>
            </a:r>
          </a:p>
          <a:p>
            <a:pPr marL="360000" indent="-360000">
              <a:spcBef>
                <a:spcPts val="600"/>
              </a:spcBef>
              <a:spcAft>
                <a:spcPts val="1200"/>
              </a:spcAft>
            </a:pPr>
            <a:r>
              <a:rPr lang="en-US" sz="2200" dirty="0" smtClean="0">
                <a:latin typeface="Helvetica" pitchFamily="34" charset="0"/>
              </a:rPr>
              <a:t>They (their content) varies between venues</a:t>
            </a:r>
          </a:p>
          <a:p>
            <a:pPr marL="360000" indent="-360000">
              <a:spcBef>
                <a:spcPts val="600"/>
              </a:spcBef>
              <a:spcAft>
                <a:spcPts val="1200"/>
              </a:spcAft>
            </a:pPr>
            <a:r>
              <a:rPr lang="en-US" sz="2200" dirty="0" smtClean="0">
                <a:latin typeface="Helvetica" pitchFamily="34" charset="0"/>
              </a:rPr>
              <a:t>Where used, they should be prepared for every </a:t>
            </a:r>
            <a:br>
              <a:rPr lang="en-US" sz="2200" dirty="0" smtClean="0">
                <a:latin typeface="Helvetica" pitchFamily="34" charset="0"/>
              </a:rPr>
            </a:br>
            <a:r>
              <a:rPr lang="en-US" sz="2200" dirty="0" smtClean="0">
                <a:latin typeface="Helvetica" pitchFamily="34" charset="0"/>
              </a:rPr>
              <a:t>session</a:t>
            </a:r>
          </a:p>
          <a:p>
            <a:pPr marL="360000" indent="-360000">
              <a:spcBef>
                <a:spcPts val="600"/>
              </a:spcBef>
              <a:spcAft>
                <a:spcPts val="1200"/>
              </a:spcAft>
            </a:pPr>
            <a:r>
              <a:rPr lang="en-AU" sz="2200" dirty="0" smtClean="0">
                <a:latin typeface="Helvetica" pitchFamily="34" charset="0"/>
              </a:rPr>
              <a:t>Sets food production targets for the session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16386" name="Picture 2" descr="I:\Overseas Projects\PHOTOS\2011\Culinary\img_8284.jpg"/>
          <p:cNvPicPr>
            <a:picLocks noChangeAspect="1" noChangeArrowheads="1"/>
          </p:cNvPicPr>
          <p:nvPr/>
        </p:nvPicPr>
        <p:blipFill>
          <a:blip r:embed="rId3" cstate="print"/>
          <a:srcRect/>
          <a:stretch>
            <a:fillRect/>
          </a:stretch>
        </p:blipFill>
        <p:spPr bwMode="auto">
          <a:xfrm>
            <a:off x="3315490" y="4857760"/>
            <a:ext cx="2513020" cy="1672729"/>
          </a:xfrm>
          <a:prstGeom prst="rect">
            <a:avLst/>
          </a:prstGeom>
          <a:noFill/>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production sheets/work schedules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Production sheets/work schedules identify:</a:t>
            </a:r>
          </a:p>
          <a:p>
            <a:pPr marL="360000" indent="-360000">
              <a:spcBef>
                <a:spcPts val="600"/>
              </a:spcBef>
              <a:spcAft>
                <a:spcPts val="1200"/>
              </a:spcAft>
            </a:pPr>
            <a:r>
              <a:rPr lang="en-US" sz="2200" dirty="0" smtClean="0">
                <a:latin typeface="Helvetica" pitchFamily="34" charset="0"/>
              </a:rPr>
              <a:t>Menu items to be produced</a:t>
            </a:r>
          </a:p>
          <a:p>
            <a:pPr marL="360000" indent="-360000">
              <a:spcBef>
                <a:spcPts val="600"/>
              </a:spcBef>
              <a:spcAft>
                <a:spcPts val="1200"/>
              </a:spcAft>
            </a:pPr>
            <a:r>
              <a:rPr lang="en-US" sz="2200" dirty="0" smtClean="0">
                <a:latin typeface="Helvetica" pitchFamily="34" charset="0"/>
              </a:rPr>
              <a:t>Quantity to be produced</a:t>
            </a:r>
          </a:p>
          <a:p>
            <a:pPr marL="360000" indent="-360000">
              <a:spcBef>
                <a:spcPts val="600"/>
              </a:spcBef>
              <a:spcAft>
                <a:spcPts val="1200"/>
              </a:spcAft>
            </a:pPr>
            <a:r>
              <a:rPr lang="en-US" sz="2200" dirty="0" smtClean="0">
                <a:latin typeface="Helvetica" pitchFamily="34" charset="0"/>
              </a:rPr>
              <a:t>Kitchen section responsible for production</a:t>
            </a:r>
          </a:p>
          <a:p>
            <a:pPr marL="360000" indent="-360000">
              <a:spcBef>
                <a:spcPts val="600"/>
              </a:spcBef>
              <a:spcAft>
                <a:spcPts val="1200"/>
              </a:spcAft>
            </a:pPr>
            <a:r>
              <a:rPr lang="en-US" sz="2200" dirty="0" smtClean="0">
                <a:latin typeface="Helvetica" pitchFamily="34" charset="0"/>
              </a:rPr>
              <a:t>Start time for production</a:t>
            </a:r>
          </a:p>
          <a:p>
            <a:pPr marL="360000" indent="-360000">
              <a:spcBef>
                <a:spcPts val="600"/>
              </a:spcBef>
              <a:spcAft>
                <a:spcPts val="1200"/>
              </a:spcAft>
            </a:pPr>
            <a:r>
              <a:rPr lang="en-US" sz="2200" dirty="0" smtClean="0">
                <a:latin typeface="Helvetica" pitchFamily="34" charset="0"/>
              </a:rPr>
              <a:t>Required time for each item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17410" name="Picture 2" descr="I:\Overseas Projects\PHOTOS\2011\Culinary\movida_004.jpg"/>
          <p:cNvPicPr>
            <a:picLocks noChangeAspect="1" noChangeArrowheads="1"/>
          </p:cNvPicPr>
          <p:nvPr/>
        </p:nvPicPr>
        <p:blipFill>
          <a:blip r:embed="rId3" cstate="print"/>
          <a:srcRect/>
          <a:stretch>
            <a:fillRect/>
          </a:stretch>
        </p:blipFill>
        <p:spPr bwMode="auto">
          <a:xfrm>
            <a:off x="6429388" y="2643182"/>
            <a:ext cx="2122601" cy="1420830"/>
          </a:xfrm>
          <a:prstGeom prst="rect">
            <a:avLst/>
          </a:prstGeom>
          <a:noFill/>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production sheets/work schedules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Production sheets/work schedules are used to:</a:t>
            </a:r>
          </a:p>
          <a:p>
            <a:pPr marL="360000" indent="-360000">
              <a:spcBef>
                <a:spcPts val="600"/>
              </a:spcBef>
              <a:spcAft>
                <a:spcPts val="1200"/>
              </a:spcAft>
            </a:pPr>
            <a:r>
              <a:rPr lang="en-US" sz="2200" dirty="0" smtClean="0">
                <a:latin typeface="Helvetica" pitchFamily="34" charset="0"/>
              </a:rPr>
              <a:t>Force the planning of food production</a:t>
            </a:r>
          </a:p>
          <a:p>
            <a:pPr marL="360000" indent="-360000">
              <a:spcBef>
                <a:spcPts val="600"/>
              </a:spcBef>
              <a:spcAft>
                <a:spcPts val="1200"/>
              </a:spcAft>
            </a:pPr>
            <a:r>
              <a:rPr lang="en-US" sz="2200" dirty="0" smtClean="0">
                <a:latin typeface="Helvetica" pitchFamily="34" charset="0"/>
              </a:rPr>
              <a:t>Provide (another) basis for food orders</a:t>
            </a:r>
          </a:p>
          <a:p>
            <a:pPr marL="360000" indent="-360000">
              <a:spcBef>
                <a:spcPts val="600"/>
              </a:spcBef>
              <a:spcAft>
                <a:spcPts val="1200"/>
              </a:spcAft>
            </a:pPr>
            <a:r>
              <a:rPr lang="en-US" sz="2200" dirty="0" smtClean="0">
                <a:latin typeface="Helvetica" pitchFamily="34" charset="0"/>
              </a:rPr>
              <a:t>Assist kitchen communication</a:t>
            </a:r>
          </a:p>
          <a:p>
            <a:pPr marL="360000" indent="-360000">
              <a:spcBef>
                <a:spcPts val="600"/>
              </a:spcBef>
              <a:spcAft>
                <a:spcPts val="1200"/>
              </a:spcAft>
            </a:pPr>
            <a:r>
              <a:rPr lang="en-US" sz="2200" dirty="0" smtClean="0">
                <a:latin typeface="Helvetica" pitchFamily="34" charset="0"/>
              </a:rPr>
              <a:t>Underpin preparation of work flow sheets</a:t>
            </a:r>
          </a:p>
          <a:p>
            <a:pPr marL="360000" indent="-360000">
              <a:spcBef>
                <a:spcPts val="600"/>
              </a:spcBef>
              <a:spcAft>
                <a:spcPts val="1200"/>
              </a:spcAft>
            </a:pPr>
            <a:r>
              <a:rPr lang="en-US" sz="2200" dirty="0" smtClean="0">
                <a:latin typeface="Helvetica" pitchFamily="34" charset="0"/>
              </a:rPr>
              <a:t>Guide and control food production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18434" name="Picture 2" descr="I:\Overseas Projects\PHOTOS\2011\Culinary\cookery7.jpg"/>
          <p:cNvPicPr>
            <a:picLocks noChangeAspect="1" noChangeArrowheads="1"/>
          </p:cNvPicPr>
          <p:nvPr/>
        </p:nvPicPr>
        <p:blipFill>
          <a:blip r:embed="rId3" cstate="print"/>
          <a:srcRect/>
          <a:stretch>
            <a:fillRect/>
          </a:stretch>
        </p:blipFill>
        <p:spPr bwMode="auto">
          <a:xfrm>
            <a:off x="6929454" y="2571744"/>
            <a:ext cx="1415610" cy="2116801"/>
          </a:xfrm>
          <a:prstGeom prst="rect">
            <a:avLst/>
          </a:prstGeom>
          <a:noFill/>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900"/>
              </a:spcAft>
              <a:buNone/>
            </a:pPr>
            <a:r>
              <a:rPr lang="en-US" sz="2200" dirty="0" smtClean="0">
                <a:latin typeface="Helvetica" pitchFamily="34" charset="0"/>
              </a:rPr>
              <a:t>When planning for food service production:</a:t>
            </a:r>
          </a:p>
          <a:p>
            <a:pPr>
              <a:spcBef>
                <a:spcPts val="600"/>
              </a:spcBef>
              <a:spcAft>
                <a:spcPts val="900"/>
              </a:spcAft>
            </a:pPr>
            <a:r>
              <a:rPr lang="en-AU" sz="2200" dirty="0" smtClean="0">
                <a:latin typeface="Helvetica" pitchFamily="34" charset="0"/>
              </a:rPr>
              <a:t>Develop the menu to accommodate all known </a:t>
            </a:r>
            <a:br>
              <a:rPr lang="en-AU" sz="2200" dirty="0" smtClean="0">
                <a:latin typeface="Helvetica" pitchFamily="34" charset="0"/>
              </a:rPr>
            </a:br>
            <a:r>
              <a:rPr lang="en-AU" sz="2200" dirty="0" smtClean="0">
                <a:latin typeface="Helvetica" pitchFamily="34" charset="0"/>
              </a:rPr>
              <a:t>venue requirements and customer requests</a:t>
            </a:r>
          </a:p>
          <a:p>
            <a:pPr>
              <a:spcBef>
                <a:spcPts val="600"/>
              </a:spcBef>
              <a:spcAft>
                <a:spcPts val="900"/>
              </a:spcAft>
            </a:pPr>
            <a:r>
              <a:rPr lang="en-AU" sz="2200" dirty="0" smtClean="0">
                <a:latin typeface="Helvetica" pitchFamily="34" charset="0"/>
              </a:rPr>
              <a:t>Consult with others when planning the menu</a:t>
            </a:r>
          </a:p>
          <a:p>
            <a:pPr>
              <a:spcBef>
                <a:spcPts val="600"/>
              </a:spcBef>
              <a:spcAft>
                <a:spcPts val="900"/>
              </a:spcAft>
            </a:pPr>
            <a:r>
              <a:rPr lang="en-AU" sz="2200" dirty="0" smtClean="0">
                <a:latin typeface="Helvetica" pitchFamily="34" charset="0"/>
              </a:rPr>
              <a:t>Determine service requirements as part of the </a:t>
            </a:r>
            <a:br>
              <a:rPr lang="en-AU" sz="2200" dirty="0" smtClean="0">
                <a:latin typeface="Helvetica" pitchFamily="34" charset="0"/>
              </a:rPr>
            </a:br>
            <a:r>
              <a:rPr lang="en-AU" sz="2200" dirty="0" smtClean="0">
                <a:latin typeface="Helvetica" pitchFamily="34" charset="0"/>
              </a:rPr>
              <a:t>menu planning process</a:t>
            </a:r>
          </a:p>
          <a:p>
            <a:pPr>
              <a:spcBef>
                <a:spcPts val="600"/>
              </a:spcBef>
              <a:spcAft>
                <a:spcPts val="900"/>
              </a:spcAft>
            </a:pPr>
            <a:r>
              <a:rPr lang="en-AU" sz="2200" dirty="0" smtClean="0"/>
              <a:t>Create/use standard recipes</a:t>
            </a:r>
            <a:endParaRPr lang="en-AU" sz="2200" dirty="0" smtClean="0">
              <a:latin typeface="Helvetica" pitchFamily="34" charset="0"/>
            </a:endParaRPr>
          </a:p>
          <a:p>
            <a:pPr>
              <a:spcBef>
                <a:spcPts val="600"/>
              </a:spcBef>
              <a:spcAft>
                <a:spcPts val="600"/>
              </a:spcAft>
            </a:pPr>
            <a:endParaRPr lang="en-AU" sz="2200" dirty="0" smtClean="0">
              <a:latin typeface="Helvetica" pitchFamily="34" charset="0"/>
            </a:endParaRPr>
          </a:p>
          <a:p>
            <a:pPr marL="360000" indent="-360000">
              <a:spcBef>
                <a:spcPts val="600"/>
              </a:spcBef>
              <a:spcAft>
                <a:spcPts val="600"/>
              </a:spcAft>
              <a:buNone/>
            </a:pPr>
            <a:r>
              <a:rPr lang="en-US" sz="2200" dirty="0" smtClean="0">
                <a:latin typeface="Helvetica" pitchFamily="34" charset="0"/>
              </a:rPr>
              <a:t>(Continued)</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20482"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000892" y="2000240"/>
            <a:ext cx="1571623" cy="1555504"/>
          </a:xfrm>
          <a:prstGeom prst="rect">
            <a:avLst/>
          </a:prstGeom>
          <a:noFill/>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Calculate quantities of ingredients needed to </a:t>
            </a:r>
            <a:br>
              <a:rPr lang="en-AU" sz="2200" dirty="0" smtClean="0">
                <a:latin typeface="Helvetica" pitchFamily="34" charset="0"/>
              </a:rPr>
            </a:br>
            <a:r>
              <a:rPr lang="en-AU" sz="2200" dirty="0" smtClean="0">
                <a:latin typeface="Helvetica" pitchFamily="34" charset="0"/>
              </a:rPr>
              <a:t>produce the amount and type of food required</a:t>
            </a:r>
          </a:p>
          <a:p>
            <a:pPr>
              <a:spcBef>
                <a:spcPts val="600"/>
              </a:spcBef>
              <a:spcAft>
                <a:spcPts val="1200"/>
              </a:spcAft>
            </a:pPr>
            <a:r>
              <a:rPr lang="en-AU" sz="2200" dirty="0" smtClean="0">
                <a:latin typeface="Helvetica" pitchFamily="34" charset="0"/>
              </a:rPr>
              <a:t>Order food/ingredients from suppliers adhering to established internal restrictions and operational protocols</a:t>
            </a:r>
          </a:p>
          <a:p>
            <a:pPr>
              <a:spcBef>
                <a:spcPts val="600"/>
              </a:spcBef>
              <a:spcAft>
                <a:spcPts val="1200"/>
              </a:spcAft>
            </a:pPr>
            <a:r>
              <a:rPr lang="en-AU" sz="2200" dirty="0" smtClean="0"/>
              <a:t>Use food purchase specifications (where appropriate) to assist in the food ordering process</a:t>
            </a:r>
          </a:p>
          <a:p>
            <a:pPr>
              <a:spcBef>
                <a:spcPts val="600"/>
              </a:spcBef>
              <a:spcAft>
                <a:spcPts val="1200"/>
              </a:spcAft>
            </a:pPr>
            <a:r>
              <a:rPr lang="en-AU" sz="2200" dirty="0" smtClean="0"/>
              <a:t>Generate and share a production sheet/work schedule for each session to facilitate food production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19458"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929454" y="928670"/>
            <a:ext cx="1515745" cy="1500198"/>
          </a:xfrm>
          <a:prstGeom prst="rect">
            <a:avLst/>
          </a:prstGeom>
          <a:noFill/>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produce food items for food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a:t>
            </a:r>
            <a:r>
              <a:rPr lang="en-US" sz="2200" dirty="0" smtClean="0"/>
              <a:t>and</a:t>
            </a:r>
            <a:r>
              <a:rPr lang="en-US" sz="2200" dirty="0" smtClean="0">
                <a:latin typeface="Helvetica" pitchFamily="34" charset="0"/>
              </a:rPr>
              <a:t> plan work flow</a:t>
            </a:r>
          </a:p>
          <a:p>
            <a:pPr marL="360000" indent="-360000">
              <a:spcBef>
                <a:spcPts val="600"/>
              </a:spcBef>
              <a:spcAft>
                <a:spcPts val="1200"/>
              </a:spcAft>
            </a:pPr>
            <a:r>
              <a:rPr lang="en-US" sz="2200" dirty="0" smtClean="0">
                <a:latin typeface="Helvetica" pitchFamily="34" charset="0"/>
              </a:rPr>
              <a:t>Communicate with production team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4437067" y="2182034"/>
            <a:ext cx="349247" cy="461148"/>
          </a:xfrm>
          <a:prstGeom prst="rect">
            <a:avLst/>
          </a:prstGeom>
          <a:noFill/>
        </p:spPr>
      </p:pic>
      <p:pic>
        <p:nvPicPr>
          <p:cNvPr id="6"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5500694" y="2786058"/>
            <a:ext cx="349247" cy="461148"/>
          </a:xfrm>
          <a:prstGeom prst="rect">
            <a:avLst/>
          </a:prstGeom>
          <a:noFill/>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Work flow sheets/work plans are:</a:t>
            </a:r>
          </a:p>
          <a:p>
            <a:pPr marL="360000" indent="-360000">
              <a:spcBef>
                <a:spcPts val="600"/>
              </a:spcBef>
              <a:spcAft>
                <a:spcPts val="1200"/>
              </a:spcAft>
            </a:pPr>
            <a:r>
              <a:rPr lang="en-AU" sz="2200" dirty="0" smtClean="0">
                <a:latin typeface="Helvetica" pitchFamily="34" charset="0"/>
              </a:rPr>
              <a:t>A sequential list of all the tasks which need to be done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 series of timelines identifying when activities should start and the time they need to be completed </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An allocation of work to individual/sections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Also called ‘work plans’</a:t>
            </a:r>
          </a:p>
          <a:p>
            <a:pPr marL="360000" indent="-360000">
              <a:spcBef>
                <a:spcPts val="600"/>
              </a:spcBef>
              <a:spcAft>
                <a:spcPts val="1200"/>
              </a:spcAft>
            </a:pPr>
            <a:r>
              <a:rPr lang="en-US" sz="2200" dirty="0" smtClean="0">
                <a:latin typeface="Helvetica" pitchFamily="34" charset="0"/>
              </a:rPr>
              <a:t>Not used by/in every kitchen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21506" name="Picture 2" descr="I:\Overseas Projects\PHOTOS\2011\Chef.jpg"/>
          <p:cNvPicPr>
            <a:picLocks noChangeAspect="1" noChangeArrowheads="1"/>
          </p:cNvPicPr>
          <p:nvPr/>
        </p:nvPicPr>
        <p:blipFill>
          <a:blip r:embed="rId3" cstate="print"/>
          <a:srcRect/>
          <a:stretch>
            <a:fillRect/>
          </a:stretch>
        </p:blipFill>
        <p:spPr bwMode="auto">
          <a:xfrm>
            <a:off x="7143768" y="3571876"/>
            <a:ext cx="1173180" cy="1462666"/>
          </a:xfrm>
          <a:prstGeom prst="rect">
            <a:avLst/>
          </a:prstGeom>
          <a:noFill/>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Work flow sheets/work plans are used to:</a:t>
            </a:r>
          </a:p>
          <a:p>
            <a:pPr marL="360000" indent="-360000">
              <a:spcBef>
                <a:spcPts val="600"/>
              </a:spcBef>
              <a:spcAft>
                <a:spcPts val="1200"/>
              </a:spcAft>
            </a:pPr>
            <a:r>
              <a:rPr lang="en-AU" sz="2200" dirty="0" smtClean="0">
                <a:latin typeface="Helvetica" pitchFamily="34" charset="0"/>
              </a:rPr>
              <a:t>Help ensure necessary food preparation and production for a service session can be completed as required</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Integrate the wide variety of kitchen activities </a:t>
            </a:r>
            <a:br>
              <a:rPr lang="en-AU" sz="2200" dirty="0" smtClean="0">
                <a:latin typeface="Helvetica" pitchFamily="34" charset="0"/>
              </a:rPr>
            </a:br>
            <a:r>
              <a:rPr lang="en-AU" sz="2200" dirty="0" smtClean="0">
                <a:latin typeface="Helvetica" pitchFamily="34" charset="0"/>
              </a:rPr>
              <a:t>into a cohesive whole</a:t>
            </a:r>
          </a:p>
          <a:p>
            <a:pPr marL="360000" indent="-360000">
              <a:spcBef>
                <a:spcPts val="600"/>
              </a:spcBef>
              <a:spcAft>
                <a:spcPts val="1200"/>
              </a:spcAft>
            </a:pPr>
            <a:r>
              <a:rPr lang="en-AU" sz="2200" dirty="0" smtClean="0">
                <a:latin typeface="Helvetica" pitchFamily="34" charset="0"/>
              </a:rPr>
              <a:t>Allocate work</a:t>
            </a:r>
          </a:p>
          <a:p>
            <a:pPr marL="360000" indent="-360000">
              <a:spcBef>
                <a:spcPts val="600"/>
              </a:spcBef>
              <a:spcAft>
                <a:spcPts val="1200"/>
              </a:spcAft>
            </a:pPr>
            <a:r>
              <a:rPr lang="en-AU" sz="2200" dirty="0" smtClean="0">
                <a:latin typeface="Helvetica" pitchFamily="34" charset="0"/>
              </a:rPr>
              <a:t>Optimise efficiency and productivity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22530" name="Picture 2" descr="I:\Overseas Projects\PHOTOS\2011\Chef 3.jpg"/>
          <p:cNvPicPr>
            <a:picLocks noChangeAspect="1" noChangeArrowheads="1"/>
          </p:cNvPicPr>
          <p:nvPr/>
        </p:nvPicPr>
        <p:blipFill>
          <a:blip r:embed="rId3" cstate="print"/>
          <a:srcRect/>
          <a:stretch>
            <a:fillRect/>
          </a:stretch>
        </p:blipFill>
        <p:spPr bwMode="auto">
          <a:xfrm>
            <a:off x="7215206" y="3143248"/>
            <a:ext cx="1208090" cy="1803119"/>
          </a:xfrm>
          <a:prstGeom prst="rect">
            <a:avLst/>
          </a:prstGeom>
          <a:noFill/>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Schedule and prioritise work </a:t>
            </a:r>
          </a:p>
          <a:p>
            <a:pPr marL="360000" indent="-360000">
              <a:spcBef>
                <a:spcPts val="600"/>
              </a:spcBef>
              <a:spcAft>
                <a:spcPts val="1200"/>
              </a:spcAft>
            </a:pPr>
            <a:r>
              <a:rPr lang="en-AU" sz="2200" dirty="0" smtClean="0">
                <a:latin typeface="Helvetica" pitchFamily="34" charset="0"/>
              </a:rPr>
              <a:t>Verify the required work can be completed </a:t>
            </a:r>
            <a:br>
              <a:rPr lang="en-AU" sz="2200" dirty="0" smtClean="0">
                <a:latin typeface="Helvetica" pitchFamily="34" charset="0"/>
              </a:rPr>
            </a:br>
            <a:r>
              <a:rPr lang="en-AU" sz="2200" dirty="0" smtClean="0">
                <a:latin typeface="Helvetica" pitchFamily="34" charset="0"/>
              </a:rPr>
              <a:t>in the time available</a:t>
            </a:r>
          </a:p>
          <a:p>
            <a:pPr marL="360000" indent="-360000">
              <a:spcBef>
                <a:spcPts val="600"/>
              </a:spcBef>
              <a:spcAft>
                <a:spcPts val="1200"/>
              </a:spcAft>
            </a:pPr>
            <a:r>
              <a:rPr lang="en-AU" sz="2200" dirty="0" smtClean="0">
                <a:latin typeface="Helvetica" pitchFamily="34" charset="0"/>
              </a:rPr>
              <a:t>Identify potential problems with timing and </a:t>
            </a:r>
            <a:br>
              <a:rPr lang="en-AU" sz="2200" dirty="0" smtClean="0">
                <a:latin typeface="Helvetica" pitchFamily="34" charset="0"/>
              </a:rPr>
            </a:br>
            <a:r>
              <a:rPr lang="en-AU" sz="2200" dirty="0" smtClean="0">
                <a:latin typeface="Helvetica" pitchFamily="34" charset="0"/>
              </a:rPr>
              <a:t>sequencing</a:t>
            </a: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23554" name="Picture 2" descr="I:\Overseas Projects\PHOTOS\2011\Culinary\wai_a_students_265.jpg"/>
          <p:cNvPicPr>
            <a:picLocks noChangeAspect="1" noChangeArrowheads="1"/>
          </p:cNvPicPr>
          <p:nvPr/>
        </p:nvPicPr>
        <p:blipFill>
          <a:blip r:embed="rId3" cstate="print"/>
          <a:srcRect/>
          <a:stretch>
            <a:fillRect/>
          </a:stretch>
        </p:blipFill>
        <p:spPr bwMode="auto">
          <a:xfrm>
            <a:off x="6786578" y="1714488"/>
            <a:ext cx="1571636" cy="2350110"/>
          </a:xfrm>
          <a:prstGeom prst="rect">
            <a:avLst/>
          </a:prstGeom>
          <a:noFill/>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preparing work flow sheets/work plans:</a:t>
            </a:r>
          </a:p>
          <a:p>
            <a:pPr marL="360000" indent="-360000">
              <a:spcBef>
                <a:spcPts val="600"/>
              </a:spcBef>
              <a:spcAft>
                <a:spcPts val="1200"/>
              </a:spcAft>
            </a:pPr>
            <a:r>
              <a:rPr lang="en-US" sz="2200" dirty="0" smtClean="0">
                <a:latin typeface="Helvetica" pitchFamily="34" charset="0"/>
              </a:rPr>
              <a:t>Watch/learn from more experienced staff</a:t>
            </a:r>
          </a:p>
          <a:p>
            <a:pPr marL="360000" indent="-360000">
              <a:spcBef>
                <a:spcPts val="600"/>
              </a:spcBef>
              <a:spcAft>
                <a:spcPts val="1200"/>
              </a:spcAft>
            </a:pPr>
            <a:r>
              <a:rPr lang="en-US" sz="2200" dirty="0" smtClean="0">
                <a:latin typeface="Helvetica" pitchFamily="34" charset="0"/>
              </a:rPr>
              <a:t>Work ‘backwards’</a:t>
            </a:r>
          </a:p>
          <a:p>
            <a:pPr marL="360000" indent="-360000">
              <a:spcBef>
                <a:spcPts val="600"/>
              </a:spcBef>
              <a:spcAft>
                <a:spcPts val="1200"/>
              </a:spcAft>
            </a:pPr>
            <a:r>
              <a:rPr lang="en-US" sz="2200" dirty="0" smtClean="0">
                <a:latin typeface="Helvetica" pitchFamily="34" charset="0"/>
              </a:rPr>
              <a:t>List/cover all items required</a:t>
            </a:r>
          </a:p>
          <a:p>
            <a:pPr marL="360000" indent="-360000">
              <a:spcBef>
                <a:spcPts val="600"/>
              </a:spcBef>
              <a:spcAft>
                <a:spcPts val="1200"/>
              </a:spcAft>
            </a:pPr>
            <a:r>
              <a:rPr lang="en-US" sz="2200" dirty="0" smtClean="0">
                <a:latin typeface="Helvetica" pitchFamily="34" charset="0"/>
              </a:rPr>
              <a:t>Accept you will need to ‘draft and revise’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24578" name="Picture 2" descr="I:\Overseas Projects\PHOTOS\2011\Culinary\patisserie1.jpg"/>
          <p:cNvPicPr>
            <a:picLocks noChangeAspect="1" noChangeArrowheads="1"/>
          </p:cNvPicPr>
          <p:nvPr/>
        </p:nvPicPr>
        <p:blipFill>
          <a:blip r:embed="rId3" cstate="print"/>
          <a:srcRect/>
          <a:stretch>
            <a:fillRect/>
          </a:stretch>
        </p:blipFill>
        <p:spPr bwMode="auto">
          <a:xfrm>
            <a:off x="6929454" y="2214554"/>
            <a:ext cx="1343927" cy="2000264"/>
          </a:xfrm>
          <a:prstGeom prst="rect">
            <a:avLst/>
          </a:prstGeom>
          <a:noFill/>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Use a template – if available</a:t>
            </a:r>
          </a:p>
          <a:p>
            <a:pPr marL="360000" indent="-360000">
              <a:spcBef>
                <a:spcPts val="600"/>
              </a:spcBef>
              <a:spcAft>
                <a:spcPts val="1200"/>
              </a:spcAft>
            </a:pPr>
            <a:r>
              <a:rPr lang="en-US" sz="2200" dirty="0" smtClean="0">
                <a:latin typeface="Helvetica" pitchFamily="34" charset="0"/>
              </a:rPr>
              <a:t>The roster for the session must provide the basis</a:t>
            </a:r>
          </a:p>
          <a:p>
            <a:pPr marL="360000" indent="-360000">
              <a:spcBef>
                <a:spcPts val="600"/>
              </a:spcBef>
              <a:spcAft>
                <a:spcPts val="1200"/>
              </a:spcAft>
            </a:pPr>
            <a:r>
              <a:rPr lang="en-US" sz="2200" dirty="0" smtClean="0">
                <a:latin typeface="Helvetica" pitchFamily="34" charset="0"/>
              </a:rPr>
              <a:t>Allocate tasks according to identified roles and responsibilities</a:t>
            </a:r>
          </a:p>
          <a:p>
            <a:pPr marL="360000" indent="-360000">
              <a:spcBef>
                <a:spcPts val="600"/>
              </a:spcBef>
              <a:spcAft>
                <a:spcPts val="1200"/>
              </a:spcAft>
            </a:pPr>
            <a:r>
              <a:rPr lang="en-US" sz="2200" dirty="0" smtClean="0">
                <a:latin typeface="Helvetica" pitchFamily="34" charset="0"/>
              </a:rPr>
              <a:t>Share with staff</a:t>
            </a:r>
          </a:p>
          <a:p>
            <a:pPr marL="360000" indent="-360000">
              <a:spcBef>
                <a:spcPts val="600"/>
              </a:spcBef>
              <a:spcAft>
                <a:spcPts val="1200"/>
              </a:spcAft>
            </a:pPr>
            <a:r>
              <a:rPr lang="en-US" sz="2200" dirty="0" smtClean="0">
                <a:latin typeface="Helvetica" pitchFamily="34" charset="0"/>
              </a:rPr>
              <a:t>Incorporate ‘lessons learned’ from previous sheets/plans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25602" name="Picture 2" descr="I:\Overseas Projects\PHOTOS\2011\Culinary\wai_a_nicky_143.jpg"/>
          <p:cNvPicPr>
            <a:picLocks noChangeAspect="1" noChangeArrowheads="1"/>
          </p:cNvPicPr>
          <p:nvPr/>
        </p:nvPicPr>
        <p:blipFill>
          <a:blip r:embed="rId3" cstate="print"/>
          <a:srcRect/>
          <a:stretch>
            <a:fillRect/>
          </a:stretch>
        </p:blipFill>
        <p:spPr bwMode="auto">
          <a:xfrm>
            <a:off x="6786578" y="3357562"/>
            <a:ext cx="2150247" cy="1437978"/>
          </a:xfrm>
          <a:prstGeom prst="rect">
            <a:avLst/>
          </a:prstGeom>
          <a:noFill/>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plan work flow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Develop each one to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Meet specific session needs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Avoid production bottle-necks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Identify resources available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Include/specify constraints/parameters</a:t>
            </a:r>
          </a:p>
          <a:p>
            <a:pPr marL="360000" indent="-360000">
              <a:spcBef>
                <a:spcPts val="600"/>
              </a:spcBef>
              <a:spcAft>
                <a:spcPts val="1200"/>
              </a:spcAft>
            </a:pPr>
            <a:r>
              <a:rPr lang="en-US" sz="2200" dirty="0" smtClean="0">
                <a:latin typeface="Helvetica" pitchFamily="34" charset="0"/>
              </a:rPr>
              <a:t>File all work flow sheets/plans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26626" name="Picture 2" descr="I:\Overseas Projects\PHOTOS\2011\Culinary\wai_a_students_024.jpg"/>
          <p:cNvPicPr>
            <a:picLocks noChangeAspect="1" noChangeArrowheads="1"/>
          </p:cNvPicPr>
          <p:nvPr/>
        </p:nvPicPr>
        <p:blipFill>
          <a:blip r:embed="rId3" cstate="print"/>
          <a:srcRect/>
          <a:stretch>
            <a:fillRect/>
          </a:stretch>
        </p:blipFill>
        <p:spPr bwMode="auto">
          <a:xfrm>
            <a:off x="6715140" y="2357430"/>
            <a:ext cx="1490545" cy="2228853"/>
          </a:xfrm>
          <a:prstGeom prst="rect">
            <a:avLst/>
          </a:prstGeom>
          <a:noFill/>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production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‘Production team’ is anyone involved in:</a:t>
            </a:r>
          </a:p>
          <a:p>
            <a:pPr marL="360000" indent="-360000">
              <a:spcBef>
                <a:spcPts val="600"/>
              </a:spcBef>
              <a:spcAft>
                <a:spcPts val="1200"/>
              </a:spcAft>
            </a:pPr>
            <a:r>
              <a:rPr lang="en-AU" sz="2200" dirty="0" smtClean="0">
                <a:latin typeface="Helvetica" pitchFamily="34" charset="0"/>
              </a:rPr>
              <a:t>Preparing, producing and plating food</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Purchasing, receiving, storing and issuing </a:t>
            </a:r>
            <a:br>
              <a:rPr lang="en-AU" sz="2200" dirty="0" smtClean="0">
                <a:latin typeface="Helvetica" pitchFamily="34" charset="0"/>
              </a:rPr>
            </a:br>
            <a:r>
              <a:rPr lang="en-AU" sz="2200" dirty="0" smtClean="0">
                <a:latin typeface="Helvetica" pitchFamily="34" charset="0"/>
              </a:rPr>
              <a:t>food</a:t>
            </a:r>
          </a:p>
          <a:p>
            <a:pPr marL="360000" indent="-360000">
              <a:spcBef>
                <a:spcPts val="600"/>
              </a:spcBef>
              <a:spcAft>
                <a:spcPts val="1200"/>
              </a:spcAft>
            </a:pPr>
            <a:r>
              <a:rPr lang="en-AU" sz="2200" dirty="0" smtClean="0">
                <a:latin typeface="Helvetica" pitchFamily="34" charset="0"/>
              </a:rPr>
              <a:t>Cleaning food areas and equipment</a:t>
            </a:r>
          </a:p>
          <a:p>
            <a:pPr marL="360000" indent="-360000">
              <a:spcBef>
                <a:spcPts val="600"/>
              </a:spcBef>
              <a:spcAft>
                <a:spcPts val="1200"/>
              </a:spcAft>
            </a:pPr>
            <a:r>
              <a:rPr lang="en-AU" sz="2200" dirty="0" smtClean="0">
                <a:latin typeface="Helvetica" pitchFamily="34" charset="0"/>
              </a:rPr>
              <a:t>Washing crockery, cutlery, pots and pans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27650" name="Picture 2" descr="I:\Overseas Projects\PHOTOS\2011\Culinary\cocoa_125.jpg"/>
          <p:cNvPicPr>
            <a:picLocks noChangeAspect="1" noChangeArrowheads="1"/>
          </p:cNvPicPr>
          <p:nvPr/>
        </p:nvPicPr>
        <p:blipFill>
          <a:blip r:embed="rId3" cstate="print"/>
          <a:srcRect/>
          <a:stretch>
            <a:fillRect/>
          </a:stretch>
        </p:blipFill>
        <p:spPr bwMode="auto">
          <a:xfrm>
            <a:off x="6786578" y="2428868"/>
            <a:ext cx="1942323" cy="1300155"/>
          </a:xfrm>
          <a:prstGeom prst="rect">
            <a:avLst/>
          </a:prstGeom>
          <a:noFill/>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production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Communication in the kitchen is required:</a:t>
            </a:r>
          </a:p>
          <a:p>
            <a:pPr marL="360000" indent="-360000">
              <a:spcBef>
                <a:spcPts val="600"/>
              </a:spcBef>
              <a:spcAft>
                <a:spcPts val="1200"/>
              </a:spcAft>
            </a:pPr>
            <a:r>
              <a:rPr lang="en-US" sz="2200" dirty="0" smtClean="0">
                <a:latin typeface="Helvetica" pitchFamily="34" charset="0"/>
              </a:rPr>
              <a:t>On a regular and scheduled basis</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and</a:t>
            </a:r>
          </a:p>
          <a:p>
            <a:pPr marL="360000" indent="-360000">
              <a:spcBef>
                <a:spcPts val="600"/>
              </a:spcBef>
              <a:spcAft>
                <a:spcPts val="1200"/>
              </a:spcAft>
            </a:pPr>
            <a:r>
              <a:rPr lang="en-US" sz="2200" dirty="0" smtClean="0">
                <a:latin typeface="Helvetica" pitchFamily="34" charset="0"/>
              </a:rPr>
              <a:t>On an on-going basis during the shift or session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28674" name="Picture 2" descr="I:\Overseas Projects\PHOTOS\2011\Culinary\dsc00041.jpg"/>
          <p:cNvPicPr>
            <a:picLocks noChangeAspect="1" noChangeArrowheads="1"/>
          </p:cNvPicPr>
          <p:nvPr/>
        </p:nvPicPr>
        <p:blipFill>
          <a:blip r:embed="rId3" cstate="print">
            <a:lum bright="10000"/>
          </a:blip>
          <a:srcRect/>
          <a:stretch>
            <a:fillRect/>
          </a:stretch>
        </p:blipFill>
        <p:spPr bwMode="auto">
          <a:xfrm>
            <a:off x="7286644" y="1928802"/>
            <a:ext cx="1451364" cy="1935152"/>
          </a:xfrm>
          <a:prstGeom prst="rect">
            <a:avLst/>
          </a:prstGeom>
          <a:noFill/>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production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Kitchen communication is mainly:</a:t>
            </a:r>
          </a:p>
          <a:p>
            <a:pPr marL="360000" indent="-360000">
              <a:spcBef>
                <a:spcPts val="600"/>
              </a:spcBef>
              <a:spcAft>
                <a:spcPts val="1200"/>
              </a:spcAft>
            </a:pPr>
            <a:r>
              <a:rPr lang="en-US" sz="2200" dirty="0" smtClean="0">
                <a:latin typeface="Helvetica" pitchFamily="34" charset="0"/>
              </a:rPr>
              <a:t>Written</a:t>
            </a:r>
          </a:p>
          <a:p>
            <a:pPr marL="360000" indent="-360000">
              <a:spcBef>
                <a:spcPts val="600"/>
              </a:spcBef>
              <a:spcAft>
                <a:spcPts val="1200"/>
              </a:spcAft>
            </a:pPr>
            <a:r>
              <a:rPr lang="en-US" sz="2200" dirty="0" smtClean="0">
                <a:latin typeface="Helvetica" pitchFamily="34" charset="0"/>
              </a:rPr>
              <a:t>Verbal, supplemented by hand signals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29698" name="Picture 2" descr="I:\Overseas Projects\PHOTOS\2011\Culinary\redbeard_013.jpg"/>
          <p:cNvPicPr>
            <a:picLocks noChangeAspect="1" noChangeArrowheads="1"/>
          </p:cNvPicPr>
          <p:nvPr/>
        </p:nvPicPr>
        <p:blipFill>
          <a:blip r:embed="rId3" cstate="print"/>
          <a:srcRect l="8870"/>
          <a:stretch>
            <a:fillRect/>
          </a:stretch>
        </p:blipFill>
        <p:spPr bwMode="auto">
          <a:xfrm>
            <a:off x="3143240" y="3643314"/>
            <a:ext cx="2528665" cy="1857388"/>
          </a:xfrm>
          <a:prstGeom prst="rect">
            <a:avLst/>
          </a:prstGeom>
          <a:noFill/>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production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 to note about communication:</a:t>
            </a:r>
          </a:p>
          <a:p>
            <a:pPr marL="360000" indent="-360000">
              <a:spcBef>
                <a:spcPts val="600"/>
              </a:spcBef>
              <a:spcAft>
                <a:spcPts val="1200"/>
              </a:spcAft>
            </a:pPr>
            <a:r>
              <a:rPr lang="en-US" sz="2200" dirty="0" smtClean="0">
                <a:latin typeface="Helvetica" pitchFamily="34" charset="0"/>
              </a:rPr>
              <a:t>It is two-way process – ‘feedback’ is a critical element</a:t>
            </a:r>
          </a:p>
          <a:p>
            <a:pPr marL="360000" indent="-360000">
              <a:spcBef>
                <a:spcPts val="600"/>
              </a:spcBef>
              <a:spcAft>
                <a:spcPts val="1200"/>
              </a:spcAft>
            </a:pPr>
            <a:r>
              <a:rPr lang="en-US" sz="2200" dirty="0" smtClean="0">
                <a:latin typeface="Helvetica" pitchFamily="34" charset="0"/>
              </a:rPr>
              <a:t>Must be </a:t>
            </a:r>
            <a:r>
              <a:rPr lang="en-AU" sz="2200" dirty="0" smtClean="0">
                <a:latin typeface="Helvetica" pitchFamily="34" charset="0"/>
              </a:rPr>
              <a:t>free, open, honest and timely </a:t>
            </a:r>
          </a:p>
          <a:p>
            <a:pPr marL="360000" indent="-360000">
              <a:spcBef>
                <a:spcPts val="600"/>
              </a:spcBef>
              <a:spcAft>
                <a:spcPts val="1200"/>
              </a:spcAft>
            </a:pPr>
            <a:r>
              <a:rPr lang="en-AU" sz="2200" dirty="0" smtClean="0">
                <a:latin typeface="Helvetica" pitchFamily="34" charset="0"/>
              </a:rPr>
              <a:t>Staff may need to be encouraged to </a:t>
            </a:r>
            <a:br>
              <a:rPr lang="en-AU" sz="2200" dirty="0" smtClean="0">
                <a:latin typeface="Helvetica" pitchFamily="34" charset="0"/>
              </a:rPr>
            </a:br>
            <a:r>
              <a:rPr lang="en-AU" sz="2200" dirty="0" smtClean="0">
                <a:latin typeface="Helvetica" pitchFamily="34" charset="0"/>
              </a:rPr>
              <a:t>communicate</a:t>
            </a:r>
          </a:p>
          <a:p>
            <a:pPr marL="360000" indent="-360000">
              <a:spcBef>
                <a:spcPts val="600"/>
              </a:spcBef>
              <a:spcAft>
                <a:spcPts val="1200"/>
              </a:spcAft>
            </a:pPr>
            <a:r>
              <a:rPr lang="en-AU" sz="2200" dirty="0" smtClean="0">
                <a:latin typeface="Helvetica" pitchFamily="34" charset="0"/>
              </a:rPr>
              <a:t>Language may be an issue</a:t>
            </a:r>
          </a:p>
          <a:p>
            <a:pPr marL="360000" indent="-360000">
              <a:spcBef>
                <a:spcPts val="600"/>
              </a:spcBef>
              <a:spcAft>
                <a:spcPts val="1200"/>
              </a:spcAft>
            </a:pPr>
            <a:r>
              <a:rPr lang="en-AU" sz="2200" dirty="0" smtClean="0">
                <a:latin typeface="Helvetica" pitchFamily="34" charset="0"/>
              </a:rPr>
              <a:t>Be aware of the ‘barriers to communication in the kitchen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C:\Documents and Settings\Godaishu\Desktop\PHOTOS\2011\Culinary\_mg_8824.jpg"/>
          <p:cNvPicPr/>
          <p:nvPr/>
        </p:nvPicPr>
        <p:blipFill>
          <a:blip r:embed="rId3" cstate="print"/>
          <a:srcRect/>
          <a:stretch>
            <a:fillRect/>
          </a:stretch>
        </p:blipFill>
        <p:spPr bwMode="auto">
          <a:xfrm>
            <a:off x="6929454" y="2714620"/>
            <a:ext cx="1232535" cy="18430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production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Communication topics in a kitchen:</a:t>
            </a:r>
          </a:p>
          <a:p>
            <a:pPr marL="360000" indent="-360000">
              <a:spcBef>
                <a:spcPts val="600"/>
              </a:spcBef>
              <a:spcAft>
                <a:spcPts val="1200"/>
              </a:spcAft>
            </a:pPr>
            <a:r>
              <a:rPr lang="en-US" sz="2200" dirty="0" smtClean="0">
                <a:latin typeface="Helvetica" pitchFamily="34" charset="0"/>
              </a:rPr>
              <a:t>Task allocation</a:t>
            </a:r>
          </a:p>
          <a:p>
            <a:pPr marL="360000" indent="-360000">
              <a:spcBef>
                <a:spcPts val="600"/>
              </a:spcBef>
              <a:spcAft>
                <a:spcPts val="1200"/>
              </a:spcAft>
            </a:pPr>
            <a:r>
              <a:rPr lang="en-US" sz="2200" dirty="0" smtClean="0">
                <a:latin typeface="Helvetica" pitchFamily="34" charset="0"/>
              </a:rPr>
              <a:t>Timing requirements</a:t>
            </a:r>
          </a:p>
          <a:p>
            <a:pPr marL="360000" indent="-360000">
              <a:spcBef>
                <a:spcPts val="600"/>
              </a:spcBef>
              <a:spcAft>
                <a:spcPts val="1200"/>
              </a:spcAft>
            </a:pPr>
            <a:r>
              <a:rPr lang="en-US" sz="2200" dirty="0" smtClean="0">
                <a:latin typeface="Helvetica" pitchFamily="34" charset="0"/>
              </a:rPr>
              <a:t>Food orders</a:t>
            </a:r>
          </a:p>
          <a:p>
            <a:pPr marL="360000" indent="-360000">
              <a:spcBef>
                <a:spcPts val="600"/>
              </a:spcBef>
              <a:spcAft>
                <a:spcPts val="1200"/>
              </a:spcAft>
            </a:pPr>
            <a:r>
              <a:rPr lang="en-US" sz="2200" dirty="0" smtClean="0">
                <a:latin typeface="Helvetica" pitchFamily="34" charset="0"/>
              </a:rPr>
              <a:t>Service protocols</a:t>
            </a:r>
          </a:p>
          <a:p>
            <a:pPr marL="360000" indent="-360000">
              <a:spcBef>
                <a:spcPts val="600"/>
              </a:spcBef>
              <a:spcAft>
                <a:spcPts val="1200"/>
              </a:spcAft>
            </a:pPr>
            <a:r>
              <a:rPr lang="en-US" sz="2200" dirty="0" smtClean="0">
                <a:latin typeface="Helvetica" pitchFamily="34" charset="0"/>
              </a:rPr>
              <a:t>Responses to complaints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30722" name="Picture 2" descr="I:\Overseas Projects\PHOTOS\2011\Culinary\wai_a_julia_back_053.jpg"/>
          <p:cNvPicPr>
            <a:picLocks noChangeAspect="1" noChangeArrowheads="1"/>
          </p:cNvPicPr>
          <p:nvPr/>
        </p:nvPicPr>
        <p:blipFill>
          <a:blip r:embed="rId3" cstate="print"/>
          <a:srcRect/>
          <a:stretch>
            <a:fillRect/>
          </a:stretch>
        </p:blipFill>
        <p:spPr bwMode="auto">
          <a:xfrm>
            <a:off x="5643570" y="2643182"/>
            <a:ext cx="2343149" cy="1566981"/>
          </a:xfrm>
          <a:prstGeom prst="rect">
            <a:avLst/>
          </a:prstGeom>
          <a:noFill/>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preparing and producing food items for food service:</a:t>
            </a:r>
          </a:p>
          <a:p>
            <a:pPr>
              <a:spcBef>
                <a:spcPts val="600"/>
              </a:spcBef>
              <a:spcAft>
                <a:spcPts val="1200"/>
              </a:spcAft>
            </a:pPr>
            <a:r>
              <a:rPr lang="en-AU" sz="2200" dirty="0" smtClean="0">
                <a:latin typeface="Helvetica" pitchFamily="34" charset="0"/>
              </a:rPr>
              <a:t>Prepare a work flow sheet/work plan for every session</a:t>
            </a:r>
          </a:p>
          <a:p>
            <a:pPr>
              <a:spcBef>
                <a:spcPts val="600"/>
              </a:spcBef>
              <a:spcAft>
                <a:spcPts val="1200"/>
              </a:spcAft>
            </a:pPr>
            <a:r>
              <a:rPr lang="en-AU" sz="2200" dirty="0" smtClean="0">
                <a:latin typeface="Helvetica" pitchFamily="34" charset="0"/>
              </a:rPr>
              <a:t>Share/communicate the work flow sheet/work plan with staff</a:t>
            </a:r>
          </a:p>
          <a:p>
            <a:pPr>
              <a:spcBef>
                <a:spcPts val="600"/>
              </a:spcBef>
              <a:spcAft>
                <a:spcPts val="1200"/>
              </a:spcAft>
            </a:pPr>
            <a:r>
              <a:rPr lang="en-AU" sz="2200" dirty="0" smtClean="0">
                <a:latin typeface="Helvetica" pitchFamily="34" charset="0"/>
              </a:rPr>
              <a:t>Hold staff briefings at the start of every shift/food production session</a:t>
            </a:r>
          </a:p>
          <a:p>
            <a:pPr>
              <a:spcBef>
                <a:spcPts val="600"/>
              </a:spcBef>
              <a:spcAft>
                <a:spcPts val="1200"/>
              </a:spcAft>
            </a:pPr>
            <a:r>
              <a:rPr lang="en-AU" sz="2200" dirty="0" smtClean="0"/>
              <a:t>Ensure work flow sheets/work plans reflect production sheet/work schedule targets</a:t>
            </a:r>
          </a:p>
          <a:p>
            <a:pPr>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500958" y="4929198"/>
            <a:ext cx="1428747" cy="1414093"/>
          </a:xfrm>
          <a:prstGeom prst="rect">
            <a:avLst/>
          </a:prstGeom>
          <a:noFill/>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643866" cy="4929222"/>
          </a:xfrm>
        </p:spPr>
        <p:txBody>
          <a:bodyPr>
            <a:noAutofit/>
          </a:bodyPr>
          <a:lstStyle/>
          <a:p>
            <a:pPr>
              <a:spcBef>
                <a:spcPts val="600"/>
              </a:spcBef>
              <a:spcAft>
                <a:spcPts val="600"/>
              </a:spcAft>
            </a:pPr>
            <a:r>
              <a:rPr lang="en-AU" sz="2100" dirty="0" smtClean="0">
                <a:latin typeface="Helvetica" pitchFamily="34" charset="0"/>
              </a:rPr>
              <a:t>Realise service time is the key criterion when preparing plans and producing food – work backwards from the required service time to determine starting times for tasks</a:t>
            </a:r>
          </a:p>
          <a:p>
            <a:pPr>
              <a:spcBef>
                <a:spcPts val="600"/>
              </a:spcBef>
              <a:spcAft>
                <a:spcPts val="600"/>
              </a:spcAft>
            </a:pPr>
            <a:r>
              <a:rPr lang="en-AU" sz="2100" dirty="0" smtClean="0">
                <a:latin typeface="Helvetica" pitchFamily="34" charset="0"/>
              </a:rPr>
              <a:t>Obtain assistance when developing your first work flow sheets/work plans</a:t>
            </a:r>
          </a:p>
          <a:p>
            <a:pPr>
              <a:spcBef>
                <a:spcPts val="600"/>
              </a:spcBef>
              <a:spcAft>
                <a:spcPts val="600"/>
              </a:spcAft>
            </a:pPr>
            <a:r>
              <a:rPr lang="en-AU" sz="2100" dirty="0" smtClean="0"/>
              <a:t>Strive to meet all internally and externally imposed requirements/requests</a:t>
            </a:r>
          </a:p>
          <a:p>
            <a:pPr>
              <a:spcBef>
                <a:spcPts val="600"/>
              </a:spcBef>
              <a:spcAft>
                <a:spcPts val="600"/>
              </a:spcAft>
            </a:pPr>
            <a:r>
              <a:rPr lang="en-AU" sz="2100" dirty="0" smtClean="0"/>
              <a:t>Communicate effectively with others</a:t>
            </a:r>
          </a:p>
          <a:p>
            <a:pPr>
              <a:spcBef>
                <a:spcPts val="600"/>
              </a:spcBef>
              <a:spcAft>
                <a:spcPts val="600"/>
              </a:spcAft>
            </a:pPr>
            <a:r>
              <a:rPr lang="en-AU" sz="2100" dirty="0" smtClean="0"/>
              <a:t>Understand the kitchen can be a difficult communication environment</a:t>
            </a:r>
          </a:p>
          <a:p>
            <a:pPr>
              <a:spcBef>
                <a:spcPts val="600"/>
              </a:spcBef>
              <a:spcAft>
                <a:spcPts val="600"/>
              </a:spcAft>
            </a:pPr>
            <a:r>
              <a:rPr lang="en-AU" sz="2100" dirty="0" smtClean="0"/>
              <a:t>Accept feedback is necessary for true communication to occur</a:t>
            </a:r>
          </a:p>
          <a:p>
            <a:pPr>
              <a:spcBef>
                <a:spcPts val="600"/>
              </a:spcBef>
              <a:spcAft>
                <a:spcPts val="600"/>
              </a:spcAft>
              <a:buNone/>
            </a:pPr>
            <a:endParaRPr lang="en-AU" sz="2100" dirty="0" smtClean="0">
              <a:latin typeface="Helvetica" pitchFamily="34" charset="0"/>
            </a:endParaRPr>
          </a:p>
          <a:p>
            <a:pPr marL="360000" indent="-360000">
              <a:spcBef>
                <a:spcPts val="600"/>
              </a:spcBef>
              <a:spcAft>
                <a:spcPts val="6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429520" y="3000372"/>
            <a:ext cx="1571623" cy="1555504"/>
          </a:xfrm>
          <a:prstGeom prst="rect">
            <a:avLst/>
          </a:prstGeom>
          <a:noFill/>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Set up kitchen for food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Place personnel ready for service</a:t>
            </a:r>
          </a:p>
          <a:p>
            <a:pPr marL="360000" indent="-360000">
              <a:spcBef>
                <a:spcPts val="600"/>
              </a:spcBef>
              <a:spcAft>
                <a:spcPts val="1200"/>
              </a:spcAft>
            </a:pPr>
            <a:r>
              <a:rPr lang="en-US" sz="2200" dirty="0" smtClean="0">
                <a:latin typeface="Helvetica" pitchFamily="34" charset="0"/>
              </a:rPr>
              <a:t>Allocate equipment</a:t>
            </a:r>
          </a:p>
          <a:p>
            <a:pPr marL="360000" indent="-360000">
              <a:spcBef>
                <a:spcPts val="600"/>
              </a:spcBef>
              <a:spcAft>
                <a:spcPts val="1200"/>
              </a:spcAft>
            </a:pPr>
            <a:r>
              <a:rPr lang="en-US" sz="2200" dirty="0" smtClean="0">
                <a:latin typeface="Helvetica" pitchFamily="34" charset="0"/>
              </a:rPr>
              <a:t>Determine service style to suit operation</a:t>
            </a:r>
          </a:p>
          <a:p>
            <a:pPr marL="360000" indent="-360000">
              <a:spcBef>
                <a:spcPts val="600"/>
              </a:spcBef>
              <a:spcAft>
                <a:spcPts val="1200"/>
              </a:spcAft>
            </a:pPr>
            <a:r>
              <a:rPr lang="en-US" sz="2200" dirty="0" smtClean="0">
                <a:latin typeface="Helvetica" pitchFamily="34" charset="0"/>
              </a:rPr>
              <a:t>Determine service flow for service style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5286380" y="2143116"/>
            <a:ext cx="349247" cy="461148"/>
          </a:xfrm>
          <a:prstGeom prst="rect">
            <a:avLst/>
          </a:prstGeom>
          <a:noFill/>
        </p:spPr>
      </p:pic>
      <p:pic>
        <p:nvPicPr>
          <p:cNvPr id="6"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3508373" y="2682100"/>
            <a:ext cx="349247" cy="461148"/>
          </a:xfrm>
          <a:prstGeom prst="rect">
            <a:avLst/>
          </a:prstGeom>
          <a:noFill/>
        </p:spPr>
      </p:pic>
      <p:pic>
        <p:nvPicPr>
          <p:cNvPr id="7"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6072198" y="3286124"/>
            <a:ext cx="349247" cy="461148"/>
          </a:xfrm>
          <a:prstGeom prst="rect">
            <a:avLst/>
          </a:prstGeom>
          <a:noFill/>
        </p:spPr>
      </p:pic>
      <p:pic>
        <p:nvPicPr>
          <p:cNvPr id="8"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6008703" y="3857628"/>
            <a:ext cx="349247" cy="461148"/>
          </a:xfrm>
          <a:prstGeom prst="rect">
            <a:avLst/>
          </a:prstGeom>
          <a:noFill/>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‘Plating’ = putting </a:t>
            </a:r>
            <a:r>
              <a:rPr lang="en-AU" sz="2200" dirty="0" smtClean="0">
                <a:latin typeface="Helvetica" pitchFamily="34" charset="0"/>
              </a:rPr>
              <a:t>food onto service platforms ready for</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Collection by service staff</a:t>
            </a:r>
          </a:p>
          <a:p>
            <a:pPr marL="360000" indent="-360000">
              <a:spcBef>
                <a:spcPts val="600"/>
              </a:spcBef>
              <a:spcAft>
                <a:spcPts val="1200"/>
              </a:spcAft>
            </a:pPr>
            <a:r>
              <a:rPr lang="en-US" sz="2200" dirty="0" smtClean="0">
                <a:latin typeface="Helvetica" pitchFamily="34" charset="0"/>
              </a:rPr>
              <a:t>Service to customers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31746" name="Picture 2" descr="I:\Overseas Projects\PHOTOS\2011\Culinary\dsc_0006.jpg"/>
          <p:cNvPicPr>
            <a:picLocks noChangeAspect="1" noChangeArrowheads="1"/>
          </p:cNvPicPr>
          <p:nvPr/>
        </p:nvPicPr>
        <p:blipFill>
          <a:blip r:embed="rId3" cstate="print"/>
          <a:srcRect/>
          <a:stretch>
            <a:fillRect/>
          </a:stretch>
        </p:blipFill>
        <p:spPr bwMode="auto">
          <a:xfrm>
            <a:off x="5429256" y="2214554"/>
            <a:ext cx="2364327" cy="1574933"/>
          </a:xfrm>
          <a:prstGeom prst="rect">
            <a:avLst/>
          </a:prstGeom>
          <a:noFill/>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pass’:</a:t>
            </a:r>
          </a:p>
          <a:p>
            <a:pPr marL="360000" indent="-360000">
              <a:spcBef>
                <a:spcPts val="600"/>
              </a:spcBef>
              <a:spcAft>
                <a:spcPts val="1200"/>
              </a:spcAft>
            </a:pPr>
            <a:r>
              <a:rPr lang="en-US" sz="2200" dirty="0" smtClean="0">
                <a:latin typeface="Helvetica" pitchFamily="34" charset="0"/>
              </a:rPr>
              <a:t>Where wait staff place orders</a:t>
            </a:r>
          </a:p>
          <a:p>
            <a:pPr marL="360000" indent="-360000">
              <a:spcBef>
                <a:spcPts val="600"/>
              </a:spcBef>
              <a:spcAft>
                <a:spcPts val="1200"/>
              </a:spcAft>
            </a:pPr>
            <a:r>
              <a:rPr lang="en-US" sz="2200" dirty="0" smtClean="0">
                <a:latin typeface="Helvetica" pitchFamily="34" charset="0"/>
              </a:rPr>
              <a:t>Where plated meals are checked and released to wait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C:\Documents and Settings\Godaishu\Desktop\PHOTOS\2011\Culinary\hospitality7.jpg"/>
          <p:cNvPicPr/>
          <p:nvPr/>
        </p:nvPicPr>
        <p:blipFill>
          <a:blip r:embed="rId3" cstate="print"/>
          <a:srcRect/>
          <a:stretch>
            <a:fillRect/>
          </a:stretch>
        </p:blipFill>
        <p:spPr bwMode="auto">
          <a:xfrm>
            <a:off x="3214678" y="3929066"/>
            <a:ext cx="2342045" cy="157163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pass:</a:t>
            </a:r>
          </a:p>
          <a:p>
            <a:pPr marL="360000" indent="-360000">
              <a:spcBef>
                <a:spcPts val="600"/>
              </a:spcBef>
              <a:spcAft>
                <a:spcPts val="1200"/>
              </a:spcAft>
            </a:pPr>
            <a:r>
              <a:rPr lang="en-US" sz="2200" dirty="0" smtClean="0">
                <a:latin typeface="Helvetica" pitchFamily="34" charset="0"/>
              </a:rPr>
              <a:t>Separates kitchen from dining area</a:t>
            </a:r>
          </a:p>
          <a:p>
            <a:pPr marL="360000" indent="-360000">
              <a:spcBef>
                <a:spcPts val="600"/>
              </a:spcBef>
              <a:spcAft>
                <a:spcPts val="1200"/>
              </a:spcAft>
            </a:pPr>
            <a:r>
              <a:rPr lang="en-US" sz="2200" dirty="0" smtClean="0">
                <a:latin typeface="Helvetica" pitchFamily="34" charset="0"/>
              </a:rPr>
              <a:t>Is under control of Chef – who: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Takes orders from wait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Coordinates food production and plating to meet orders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Checks each dish before release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32770" name="Picture 2" descr="I:\Overseas Projects\PHOTOS\2011\Culinary\movida_006.jpg"/>
          <p:cNvPicPr>
            <a:picLocks noChangeAspect="1" noChangeArrowheads="1"/>
          </p:cNvPicPr>
          <p:nvPr/>
        </p:nvPicPr>
        <p:blipFill>
          <a:blip r:embed="rId3" cstate="print"/>
          <a:srcRect/>
          <a:stretch>
            <a:fillRect/>
          </a:stretch>
        </p:blipFill>
        <p:spPr bwMode="auto">
          <a:xfrm>
            <a:off x="6215074" y="2214554"/>
            <a:ext cx="2027728" cy="1357322"/>
          </a:xfrm>
          <a:prstGeom prst="rect">
            <a:avLst/>
          </a:prstGeom>
          <a:noFill/>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Allocation of staff ready for service must address:</a:t>
            </a:r>
          </a:p>
          <a:p>
            <a:pPr marL="360000" indent="-360000">
              <a:spcBef>
                <a:spcPts val="600"/>
              </a:spcBef>
              <a:spcAft>
                <a:spcPts val="1200"/>
              </a:spcAft>
            </a:pPr>
            <a:r>
              <a:rPr lang="en-US" sz="2200" dirty="0" smtClean="0">
                <a:latin typeface="Helvetica" pitchFamily="34" charset="0"/>
              </a:rPr>
              <a:t>Adequate training in how to plate dishes</a:t>
            </a:r>
          </a:p>
          <a:p>
            <a:pPr marL="360000" indent="-360000">
              <a:spcBef>
                <a:spcPts val="600"/>
              </a:spcBef>
              <a:spcAft>
                <a:spcPts val="1200"/>
              </a:spcAft>
            </a:pPr>
            <a:r>
              <a:rPr lang="en-US" sz="2200" dirty="0" smtClean="0">
                <a:latin typeface="Helvetica" pitchFamily="34" charset="0"/>
              </a:rPr>
              <a:t>Allocation of specific duties to individuals</a:t>
            </a:r>
          </a:p>
          <a:p>
            <a:pPr marL="360000" indent="-360000">
              <a:spcBef>
                <a:spcPts val="600"/>
              </a:spcBef>
              <a:spcAft>
                <a:spcPts val="1200"/>
              </a:spcAft>
            </a:pPr>
            <a:r>
              <a:rPr lang="en-US" sz="2200" dirty="0" smtClean="0">
                <a:latin typeface="Helvetica" pitchFamily="34" charset="0"/>
              </a:rPr>
              <a:t>Optimum location of each person in relation </a:t>
            </a:r>
            <a:br>
              <a:rPr lang="en-US" sz="2200" dirty="0" smtClean="0">
                <a:latin typeface="Helvetica" pitchFamily="34" charset="0"/>
              </a:rPr>
            </a:br>
            <a:r>
              <a:rPr lang="en-US" sz="2200" dirty="0" smtClean="0">
                <a:latin typeface="Helvetica" pitchFamily="34" charset="0"/>
              </a:rPr>
              <a:t>to the food being plated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C:\Documents and Settings\Godaishu\Desktop\PHOTOS\2011\Culinary\cookery5.jpg"/>
          <p:cNvPicPr/>
          <p:nvPr/>
        </p:nvPicPr>
        <p:blipFill>
          <a:blip r:embed="rId3" cstate="print"/>
          <a:srcRect/>
          <a:stretch>
            <a:fillRect/>
          </a:stretch>
        </p:blipFill>
        <p:spPr bwMode="auto">
          <a:xfrm>
            <a:off x="6929454" y="2285992"/>
            <a:ext cx="1317401" cy="18573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Plating staff should be relieved of other duties while plating and serving</a:t>
            </a:r>
          </a:p>
          <a:p>
            <a:pPr marL="360000" indent="-360000">
              <a:spcBef>
                <a:spcPts val="600"/>
              </a:spcBef>
              <a:spcAft>
                <a:spcPts val="1200"/>
              </a:spcAft>
            </a:pPr>
            <a:r>
              <a:rPr lang="en-US" sz="2200" dirty="0" smtClean="0">
                <a:latin typeface="Helvetica" pitchFamily="34" charset="0"/>
              </a:rPr>
              <a:t>There must be ‘sufficient’ staff</a:t>
            </a:r>
          </a:p>
          <a:p>
            <a:pPr marL="360000" indent="-360000">
              <a:spcBef>
                <a:spcPts val="600"/>
              </a:spcBef>
              <a:spcAft>
                <a:spcPts val="1200"/>
              </a:spcAft>
            </a:pPr>
            <a:r>
              <a:rPr lang="en-US" sz="2200" dirty="0" smtClean="0">
                <a:latin typeface="Helvetica" pitchFamily="34" charset="0"/>
              </a:rPr>
              <a:t>Plating staff should be given adequate support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33794" name="Picture 2" descr="I:\Overseas Projects\PHOTOS\2011\Culinary\img_8284.jpg"/>
          <p:cNvPicPr>
            <a:picLocks noChangeAspect="1" noChangeArrowheads="1"/>
          </p:cNvPicPr>
          <p:nvPr/>
        </p:nvPicPr>
        <p:blipFill>
          <a:blip r:embed="rId3" cstate="print"/>
          <a:srcRect/>
          <a:stretch>
            <a:fillRect/>
          </a:stretch>
        </p:blipFill>
        <p:spPr bwMode="auto">
          <a:xfrm>
            <a:off x="3226595" y="4071942"/>
            <a:ext cx="2690810" cy="1791070"/>
          </a:xfrm>
          <a:prstGeom prst="rect">
            <a:avLst/>
          </a:prstGeom>
          <a:noFill/>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It is important to produce a consistent appearance of menu items when plating</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So all meals look the same</a:t>
            </a:r>
          </a:p>
          <a:p>
            <a:pPr marL="360000" indent="-360000">
              <a:spcBef>
                <a:spcPts val="600"/>
              </a:spcBef>
              <a:spcAft>
                <a:spcPts val="1200"/>
              </a:spcAft>
            </a:pPr>
            <a:r>
              <a:rPr lang="en-US" sz="2200" dirty="0" smtClean="0">
                <a:latin typeface="Helvetica" pitchFamily="34" charset="0"/>
              </a:rPr>
              <a:t>So dishes look ‘as described’ on menu</a:t>
            </a:r>
          </a:p>
          <a:p>
            <a:pPr marL="360000" indent="-360000">
              <a:spcBef>
                <a:spcPts val="600"/>
              </a:spcBef>
              <a:spcAft>
                <a:spcPts val="1200"/>
              </a:spcAft>
            </a:pPr>
            <a:r>
              <a:rPr lang="en-US" sz="2200" dirty="0" smtClean="0">
                <a:latin typeface="Helvetica" pitchFamily="34" charset="0"/>
              </a:rPr>
              <a:t>So customers get what they pay for</a:t>
            </a:r>
          </a:p>
          <a:p>
            <a:pPr marL="360000" indent="-360000">
              <a:spcBef>
                <a:spcPts val="600"/>
              </a:spcBef>
              <a:spcAft>
                <a:spcPts val="1200"/>
              </a:spcAft>
            </a:pPr>
            <a:r>
              <a:rPr lang="en-US" sz="2200" dirty="0" smtClean="0">
                <a:latin typeface="Helvetica" pitchFamily="34" charset="0"/>
              </a:rPr>
              <a:t>To underpin the value-for-money each dish represents</a:t>
            </a:r>
          </a:p>
          <a:p>
            <a:pPr marL="360000" indent="-360000">
              <a:spcBef>
                <a:spcPts val="600"/>
              </a:spcBef>
              <a:spcAft>
                <a:spcPts val="1200"/>
              </a:spcAft>
            </a:pPr>
            <a:r>
              <a:rPr lang="en-US" sz="2200" dirty="0" smtClean="0">
                <a:latin typeface="Helvetica" pitchFamily="34" charset="0"/>
              </a:rPr>
              <a:t>To help control portion size</a:t>
            </a:r>
          </a:p>
          <a:p>
            <a:pPr marL="360000" indent="-360000">
              <a:spcBef>
                <a:spcPts val="600"/>
              </a:spcBef>
              <a:spcAft>
                <a:spcPts val="1200"/>
              </a:spcAft>
            </a:pPr>
            <a:r>
              <a:rPr lang="en-US" sz="2200" dirty="0" smtClean="0">
                <a:latin typeface="Helvetica" pitchFamily="34" charset="0"/>
              </a:rPr>
              <a:t>To create and meet guest expectations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34818" name="Picture 2" descr="I:\Overseas Projects\PHOTOS\2011\Culinary\dsc00001.jpg"/>
          <p:cNvPicPr>
            <a:picLocks noChangeAspect="1" noChangeArrowheads="1"/>
          </p:cNvPicPr>
          <p:nvPr/>
        </p:nvPicPr>
        <p:blipFill>
          <a:blip r:embed="rId3" cstate="print"/>
          <a:srcRect/>
          <a:stretch>
            <a:fillRect/>
          </a:stretch>
        </p:blipFill>
        <p:spPr bwMode="auto">
          <a:xfrm>
            <a:off x="6286512" y="2500306"/>
            <a:ext cx="1909233" cy="1431925"/>
          </a:xfrm>
          <a:prstGeom prst="rect">
            <a:avLst/>
          </a:prstGeom>
          <a:noFill/>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plating pay attention to ensure meals are plated to:</a:t>
            </a:r>
          </a:p>
          <a:p>
            <a:pPr marL="360000" indent="-360000">
              <a:spcBef>
                <a:spcPts val="600"/>
              </a:spcBef>
              <a:spcAft>
                <a:spcPts val="1200"/>
              </a:spcAft>
            </a:pPr>
            <a:r>
              <a:rPr lang="en-US" sz="2200" dirty="0" smtClean="0">
                <a:latin typeface="Helvetica" pitchFamily="34" charset="0"/>
              </a:rPr>
              <a:t>Be of consistent quality</a:t>
            </a:r>
          </a:p>
          <a:p>
            <a:pPr marL="360000" indent="-360000">
              <a:spcBef>
                <a:spcPts val="600"/>
              </a:spcBef>
              <a:spcAft>
                <a:spcPts val="1200"/>
              </a:spcAft>
            </a:pPr>
            <a:r>
              <a:rPr lang="en-US" sz="2200" dirty="0" smtClean="0">
                <a:latin typeface="Helvetica" pitchFamily="34" charset="0"/>
              </a:rPr>
              <a:t>Look neat and attractive</a:t>
            </a:r>
          </a:p>
          <a:p>
            <a:pPr marL="360000" indent="-360000">
              <a:spcBef>
                <a:spcPts val="600"/>
              </a:spcBef>
              <a:spcAft>
                <a:spcPts val="1200"/>
              </a:spcAft>
            </a:pPr>
            <a:r>
              <a:rPr lang="en-US" sz="2200" dirty="0" smtClean="0">
                <a:latin typeface="Helvetica" pitchFamily="34" charset="0"/>
              </a:rPr>
              <a:t>Reflect advertised images of the food</a:t>
            </a:r>
          </a:p>
          <a:p>
            <a:pPr marL="360000" indent="-360000">
              <a:spcBef>
                <a:spcPts val="600"/>
              </a:spcBef>
              <a:spcAft>
                <a:spcPts val="1200"/>
              </a:spcAft>
            </a:pPr>
            <a:r>
              <a:rPr lang="en-US" sz="2200" dirty="0" smtClean="0">
                <a:latin typeface="Helvetica" pitchFamily="34" charset="0"/>
              </a:rPr>
              <a:t>Avoid spills or drips</a:t>
            </a:r>
          </a:p>
          <a:p>
            <a:pPr marL="360000" indent="-360000">
              <a:spcBef>
                <a:spcPts val="600"/>
              </a:spcBef>
              <a:spcAft>
                <a:spcPts val="1200"/>
              </a:spcAft>
            </a:pPr>
            <a:r>
              <a:rPr lang="en-US" sz="2200" dirty="0" smtClean="0">
                <a:latin typeface="Helvetica" pitchFamily="34" charset="0"/>
              </a:rPr>
              <a:t>Inspire and tempt diners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35842" name="Picture 2" descr="I:\Overseas Projects\PHOTOS\2011\Culinary\double_rib_eye.jpg"/>
          <p:cNvPicPr>
            <a:picLocks noChangeAspect="1" noChangeArrowheads="1"/>
          </p:cNvPicPr>
          <p:nvPr/>
        </p:nvPicPr>
        <p:blipFill>
          <a:blip r:embed="rId3" cstate="print"/>
          <a:srcRect/>
          <a:stretch>
            <a:fillRect/>
          </a:stretch>
        </p:blipFill>
        <p:spPr bwMode="auto">
          <a:xfrm>
            <a:off x="6429388" y="2643182"/>
            <a:ext cx="1663694" cy="1663694"/>
          </a:xfrm>
          <a:prstGeom prst="rect">
            <a:avLst/>
          </a:prstGeom>
          <a:noFill/>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Further plating considerations:</a:t>
            </a:r>
          </a:p>
          <a:p>
            <a:pPr marL="360000" indent="-360000">
              <a:spcBef>
                <a:spcPts val="600"/>
              </a:spcBef>
              <a:spcAft>
                <a:spcPts val="1200"/>
              </a:spcAft>
            </a:pPr>
            <a:r>
              <a:rPr lang="en-US" sz="2200" dirty="0" smtClean="0">
                <a:latin typeface="Helvetica" pitchFamily="34" charset="0"/>
              </a:rPr>
              <a:t>All plates of the same meal should look identical</a:t>
            </a:r>
          </a:p>
          <a:p>
            <a:pPr marL="360000" indent="-360000">
              <a:spcBef>
                <a:spcPts val="600"/>
              </a:spcBef>
              <a:spcAft>
                <a:spcPts val="1200"/>
              </a:spcAft>
            </a:pPr>
            <a:r>
              <a:rPr lang="en-US" sz="2200" dirty="0" smtClean="0">
                <a:latin typeface="Helvetica" pitchFamily="34" charset="0"/>
              </a:rPr>
              <a:t>Colour photographs should be used to guide plating</a:t>
            </a:r>
          </a:p>
          <a:p>
            <a:pPr marL="360000" indent="-360000">
              <a:spcBef>
                <a:spcPts val="600"/>
              </a:spcBef>
              <a:spcAft>
                <a:spcPts val="1200"/>
              </a:spcAft>
            </a:pPr>
            <a:r>
              <a:rPr lang="en-US" sz="2200" dirty="0" smtClean="0">
                <a:latin typeface="Helvetica" pitchFamily="34" charset="0"/>
              </a:rPr>
              <a:t>Correct type and size plate must be used</a:t>
            </a:r>
          </a:p>
          <a:p>
            <a:pPr marL="360000" indent="-360000">
              <a:spcBef>
                <a:spcPts val="600"/>
              </a:spcBef>
              <a:spcAft>
                <a:spcPts val="1200"/>
              </a:spcAft>
            </a:pPr>
            <a:r>
              <a:rPr lang="en-US" sz="2200" dirty="0" smtClean="0">
                <a:latin typeface="Helvetica" pitchFamily="34" charset="0"/>
              </a:rPr>
              <a:t>Balance for each dish must be achieved</a:t>
            </a:r>
          </a:p>
          <a:p>
            <a:pPr marL="360000" indent="-360000">
              <a:spcBef>
                <a:spcPts val="600"/>
              </a:spcBef>
              <a:spcAft>
                <a:spcPts val="1200"/>
              </a:spcAft>
            </a:pPr>
            <a:r>
              <a:rPr lang="en-US" sz="2200" dirty="0" smtClean="0">
                <a:latin typeface="Helvetica" pitchFamily="34" charset="0"/>
              </a:rPr>
              <a:t>All plates must be checked prior to sending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36866" name="Picture 2" descr="I:\Overseas Projects\PHOTOS\2011\Culinary\dsc_0054.jpg"/>
          <p:cNvPicPr>
            <a:picLocks noChangeAspect="1" noChangeArrowheads="1"/>
          </p:cNvPicPr>
          <p:nvPr/>
        </p:nvPicPr>
        <p:blipFill>
          <a:blip r:embed="rId3" cstate="print">
            <a:lum contrast="10000"/>
          </a:blip>
          <a:srcRect/>
          <a:stretch>
            <a:fillRect/>
          </a:stretch>
        </p:blipFill>
        <p:spPr bwMode="auto">
          <a:xfrm>
            <a:off x="6786578" y="3357562"/>
            <a:ext cx="2111528" cy="1406538"/>
          </a:xfrm>
          <a:prstGeom prst="rect">
            <a:avLst/>
          </a:prstGeom>
          <a:noFill/>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Plate cleaning must address:</a:t>
            </a:r>
          </a:p>
          <a:p>
            <a:pPr marL="360000" indent="-360000">
              <a:spcBef>
                <a:spcPts val="600"/>
              </a:spcBef>
              <a:spcAft>
                <a:spcPts val="1200"/>
              </a:spcAft>
            </a:pPr>
            <a:r>
              <a:rPr lang="en-US" sz="2200" dirty="0" smtClean="0">
                <a:latin typeface="Helvetica" pitchFamily="34" charset="0"/>
              </a:rPr>
              <a:t>No drips, spills, spots or run marks on plates</a:t>
            </a:r>
          </a:p>
          <a:p>
            <a:pPr marL="360000" indent="-360000">
              <a:spcBef>
                <a:spcPts val="600"/>
              </a:spcBef>
              <a:spcAft>
                <a:spcPts val="1200"/>
              </a:spcAft>
            </a:pPr>
            <a:r>
              <a:rPr lang="en-US" sz="2200" dirty="0" smtClean="0">
                <a:latin typeface="Helvetica" pitchFamily="34" charset="0"/>
              </a:rPr>
              <a:t>No smudges are created by removing drips, spills, spots or run marks </a:t>
            </a:r>
          </a:p>
          <a:p>
            <a:pPr marL="360000" indent="-360000">
              <a:spcBef>
                <a:spcPts val="600"/>
              </a:spcBef>
              <a:spcAft>
                <a:spcPts val="1200"/>
              </a:spcAft>
            </a:pPr>
            <a:r>
              <a:rPr lang="en-US" sz="2200" dirty="0" smtClean="0">
                <a:latin typeface="Helvetica" pitchFamily="34" charset="0"/>
              </a:rPr>
              <a:t>No finger marks on plates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37890" name="Picture 2" descr="I:\Overseas Projects\PHOTOS\2011\Culinary\dsc00025.jpg"/>
          <p:cNvPicPr>
            <a:picLocks noChangeAspect="1" noChangeArrowheads="1"/>
          </p:cNvPicPr>
          <p:nvPr/>
        </p:nvPicPr>
        <p:blipFill>
          <a:blip r:embed="rId3" cstate="print"/>
          <a:srcRect/>
          <a:stretch>
            <a:fillRect/>
          </a:stretch>
        </p:blipFill>
        <p:spPr bwMode="auto">
          <a:xfrm>
            <a:off x="5143504" y="3500438"/>
            <a:ext cx="2455855" cy="1841891"/>
          </a:xfrm>
          <a:prstGeom prst="rect">
            <a:avLst/>
          </a:prstGeom>
          <a:noFill/>
        </p:spPr>
      </p:pic>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Presentation standards for plating should address:</a:t>
            </a:r>
          </a:p>
          <a:p>
            <a:pPr marL="360000" indent="-360000">
              <a:spcBef>
                <a:spcPts val="600"/>
              </a:spcBef>
              <a:spcAft>
                <a:spcPts val="1200"/>
              </a:spcAft>
            </a:pPr>
            <a:r>
              <a:rPr lang="en-US" sz="2200" dirty="0" smtClean="0">
                <a:latin typeface="Helvetica" pitchFamily="34" charset="0"/>
              </a:rPr>
              <a:t>Where foods are placed on the plate</a:t>
            </a:r>
          </a:p>
          <a:p>
            <a:pPr marL="360000" indent="-360000">
              <a:spcBef>
                <a:spcPts val="600"/>
              </a:spcBef>
              <a:spcAft>
                <a:spcPts val="1200"/>
              </a:spcAft>
            </a:pPr>
            <a:r>
              <a:rPr lang="en-US" sz="2200" dirty="0" smtClean="0">
                <a:latin typeface="Helvetica" pitchFamily="34" charset="0"/>
              </a:rPr>
              <a:t>Where garnishes are placed</a:t>
            </a:r>
          </a:p>
          <a:p>
            <a:pPr marL="360000" indent="-360000">
              <a:spcBef>
                <a:spcPts val="600"/>
              </a:spcBef>
              <a:spcAft>
                <a:spcPts val="1200"/>
              </a:spcAft>
            </a:pPr>
            <a:r>
              <a:rPr lang="en-US" sz="2200" dirty="0" smtClean="0">
                <a:latin typeface="Helvetica" pitchFamily="34" charset="0"/>
              </a:rPr>
              <a:t>Timing targets for plating each meal</a:t>
            </a:r>
          </a:p>
          <a:p>
            <a:pPr marL="360000" indent="-360000">
              <a:spcBef>
                <a:spcPts val="600"/>
              </a:spcBef>
              <a:spcAft>
                <a:spcPts val="1200"/>
              </a:spcAft>
            </a:pPr>
            <a:r>
              <a:rPr lang="en-US" sz="2200" dirty="0" smtClean="0">
                <a:latin typeface="Helvetica" pitchFamily="34" charset="0"/>
              </a:rPr>
              <a:t>Temperature of the finished product</a:t>
            </a:r>
          </a:p>
          <a:p>
            <a:pPr marL="360000" indent="-360000">
              <a:spcBef>
                <a:spcPts val="600"/>
              </a:spcBef>
              <a:spcAft>
                <a:spcPts val="1200"/>
              </a:spcAft>
            </a:pPr>
            <a:r>
              <a:rPr lang="en-US" sz="2200" dirty="0" smtClean="0">
                <a:latin typeface="Helvetica" pitchFamily="34" charset="0"/>
              </a:rPr>
              <a:t>Need to accommodate special requests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38914" name="Picture 2" descr="I:\Overseas Projects\PHOTOS\2011\Culinary\dsc_0011.jpg"/>
          <p:cNvPicPr>
            <a:picLocks noChangeAspect="1" noChangeArrowheads="1"/>
          </p:cNvPicPr>
          <p:nvPr/>
        </p:nvPicPr>
        <p:blipFill>
          <a:blip r:embed="rId3" cstate="print"/>
          <a:srcRect/>
          <a:stretch>
            <a:fillRect/>
          </a:stretch>
        </p:blipFill>
        <p:spPr bwMode="auto">
          <a:xfrm>
            <a:off x="6286512" y="2857496"/>
            <a:ext cx="2001894" cy="1333510"/>
          </a:xfrm>
          <a:prstGeom prst="rect">
            <a:avLst/>
          </a:prstGeom>
          <a:noFill/>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Additional plating considerations:</a:t>
            </a:r>
          </a:p>
          <a:p>
            <a:pPr marL="360000" indent="-360000">
              <a:spcBef>
                <a:spcPts val="600"/>
              </a:spcBef>
              <a:spcAft>
                <a:spcPts val="1200"/>
              </a:spcAft>
            </a:pPr>
            <a:r>
              <a:rPr lang="en-US" sz="2200" dirty="0" smtClean="0">
                <a:latin typeface="Helvetica" pitchFamily="34" charset="0"/>
              </a:rPr>
              <a:t>Eye appeal</a:t>
            </a:r>
          </a:p>
          <a:p>
            <a:pPr marL="360000" indent="-360000">
              <a:spcBef>
                <a:spcPts val="600"/>
              </a:spcBef>
              <a:spcAft>
                <a:spcPts val="1200"/>
              </a:spcAft>
            </a:pPr>
            <a:r>
              <a:rPr lang="en-US" sz="2200" dirty="0" smtClean="0">
                <a:latin typeface="Helvetica" pitchFamily="34" charset="0"/>
              </a:rPr>
              <a:t>Colour and contrast</a:t>
            </a:r>
          </a:p>
          <a:p>
            <a:pPr marL="360000" indent="-360000">
              <a:spcBef>
                <a:spcPts val="600"/>
              </a:spcBef>
              <a:spcAft>
                <a:spcPts val="1200"/>
              </a:spcAft>
            </a:pPr>
            <a:r>
              <a:rPr lang="en-US" sz="2200" dirty="0" smtClean="0">
                <a:latin typeface="Helvetica" pitchFamily="34" charset="0"/>
              </a:rPr>
              <a:t>Height and depth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39938" name="Picture 2" descr="I:\Overseas Projects\PHOTOS\2011\Culinary\dsc00013.jpg"/>
          <p:cNvPicPr>
            <a:picLocks noChangeAspect="1" noChangeArrowheads="1"/>
          </p:cNvPicPr>
          <p:nvPr/>
        </p:nvPicPr>
        <p:blipFill>
          <a:blip r:embed="rId3" cstate="print"/>
          <a:srcRect/>
          <a:stretch>
            <a:fillRect/>
          </a:stretch>
        </p:blipFill>
        <p:spPr bwMode="auto">
          <a:xfrm>
            <a:off x="5000628" y="2071678"/>
            <a:ext cx="2530475" cy="1897856"/>
          </a:xfrm>
          <a:prstGeom prst="rect">
            <a:avLst/>
          </a:prstGeom>
          <a:noFill/>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Customers make judgements about all of the following based on the way a meal looks on the plate:</a:t>
            </a:r>
          </a:p>
          <a:p>
            <a:pPr marL="360000" indent="-360000">
              <a:spcBef>
                <a:spcPts val="600"/>
              </a:spcBef>
              <a:spcAft>
                <a:spcPts val="1200"/>
              </a:spcAft>
            </a:pPr>
            <a:r>
              <a:rPr lang="en-US" sz="2200" dirty="0" smtClean="0">
                <a:latin typeface="Helvetica" pitchFamily="34" charset="0"/>
              </a:rPr>
              <a:t>Professionalism of staff </a:t>
            </a:r>
            <a:r>
              <a:rPr lang="en-US" sz="2200" dirty="0" smtClean="0"/>
              <a:t>,</a:t>
            </a:r>
            <a:r>
              <a:rPr lang="en-US" sz="2200" dirty="0" smtClean="0">
                <a:latin typeface="Helvetica" pitchFamily="34" charset="0"/>
              </a:rPr>
              <a:t> the kitchen and the venue</a:t>
            </a:r>
          </a:p>
          <a:p>
            <a:pPr marL="360000" indent="-360000">
              <a:spcBef>
                <a:spcPts val="600"/>
              </a:spcBef>
              <a:spcAft>
                <a:spcPts val="1200"/>
              </a:spcAft>
            </a:pPr>
            <a:r>
              <a:rPr lang="en-US" sz="2200" dirty="0" smtClean="0">
                <a:latin typeface="Helvetica" pitchFamily="34" charset="0"/>
              </a:rPr>
              <a:t>Care and attention paid to everything</a:t>
            </a:r>
          </a:p>
          <a:p>
            <a:pPr marL="360000" indent="-360000">
              <a:spcBef>
                <a:spcPts val="600"/>
              </a:spcBef>
              <a:spcAft>
                <a:spcPts val="1200"/>
              </a:spcAft>
            </a:pPr>
            <a:r>
              <a:rPr lang="en-US" sz="2200" dirty="0" smtClean="0">
                <a:latin typeface="Helvetica" pitchFamily="34" charset="0"/>
              </a:rPr>
              <a:t>Food safety</a:t>
            </a:r>
          </a:p>
          <a:p>
            <a:pPr marL="360000" indent="-360000">
              <a:spcBef>
                <a:spcPts val="600"/>
              </a:spcBef>
              <a:spcAft>
                <a:spcPts val="1200"/>
              </a:spcAft>
            </a:pPr>
            <a:r>
              <a:rPr lang="en-US" sz="2200" dirty="0" smtClean="0">
                <a:latin typeface="Helvetica" pitchFamily="34" charset="0"/>
              </a:rPr>
              <a:t>Product quality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40962" name="Picture 2" descr="I:\Overseas Projects\PHOTOS\2011\Culinary\dsc_0147.jpg"/>
          <p:cNvPicPr>
            <a:picLocks noChangeAspect="1" noChangeArrowheads="1"/>
          </p:cNvPicPr>
          <p:nvPr/>
        </p:nvPicPr>
        <p:blipFill>
          <a:blip r:embed="rId3" cstate="print"/>
          <a:srcRect/>
          <a:stretch>
            <a:fillRect/>
          </a:stretch>
        </p:blipFill>
        <p:spPr bwMode="auto">
          <a:xfrm>
            <a:off x="6143636" y="3071810"/>
            <a:ext cx="2144885" cy="1428760"/>
          </a:xfrm>
          <a:prstGeom prst="rect">
            <a:avLst/>
          </a:prstGeom>
          <a:noFill/>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Place personnel ready for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Customer perception is also impacted by:</a:t>
            </a:r>
          </a:p>
          <a:p>
            <a:pPr marL="360000" indent="-360000">
              <a:spcBef>
                <a:spcPts val="600"/>
              </a:spcBef>
              <a:spcAft>
                <a:spcPts val="1200"/>
              </a:spcAft>
            </a:pPr>
            <a:r>
              <a:rPr lang="en-US" sz="2200" dirty="0" smtClean="0">
                <a:latin typeface="Helvetica" pitchFamily="34" charset="0"/>
              </a:rPr>
              <a:t>Prices charged and perceived value-for-money</a:t>
            </a:r>
          </a:p>
          <a:p>
            <a:pPr marL="360000" indent="-360000">
              <a:spcBef>
                <a:spcPts val="600"/>
              </a:spcBef>
              <a:spcAft>
                <a:spcPts val="1200"/>
              </a:spcAft>
            </a:pPr>
            <a:r>
              <a:rPr lang="en-US" sz="2200" dirty="0" smtClean="0">
                <a:latin typeface="Helvetica" pitchFamily="34" charset="0"/>
              </a:rPr>
              <a:t>Décor and ambience</a:t>
            </a:r>
          </a:p>
          <a:p>
            <a:pPr marL="360000" indent="-360000">
              <a:spcBef>
                <a:spcPts val="600"/>
              </a:spcBef>
              <a:spcAft>
                <a:spcPts val="1200"/>
              </a:spcAft>
            </a:pPr>
            <a:r>
              <a:rPr lang="en-US" sz="2200" dirty="0" smtClean="0">
                <a:latin typeface="Helvetica" pitchFamily="34" charset="0"/>
              </a:rPr>
              <a:t>Service levels and standards</a:t>
            </a:r>
          </a:p>
          <a:p>
            <a:pPr marL="360000" indent="-360000">
              <a:spcBef>
                <a:spcPts val="600"/>
              </a:spcBef>
              <a:spcAft>
                <a:spcPts val="1200"/>
              </a:spcAft>
            </a:pPr>
            <a:r>
              <a:rPr lang="en-US" sz="2200" dirty="0" smtClean="0">
                <a:latin typeface="Helvetica" pitchFamily="34" charset="0"/>
              </a:rPr>
              <a:t>Location and facilities</a:t>
            </a:r>
          </a:p>
          <a:p>
            <a:pPr marL="360000" indent="-360000">
              <a:spcBef>
                <a:spcPts val="600"/>
              </a:spcBef>
              <a:spcAft>
                <a:spcPts val="1200"/>
              </a:spcAft>
            </a:pPr>
            <a:r>
              <a:rPr lang="en-US" sz="2200" dirty="0" smtClean="0">
                <a:latin typeface="Helvetica" pitchFamily="34" charset="0"/>
              </a:rPr>
              <a:t>Range of choice</a:t>
            </a:r>
          </a:p>
          <a:p>
            <a:pPr marL="360000" indent="-360000">
              <a:spcBef>
                <a:spcPts val="600"/>
              </a:spcBef>
              <a:spcAft>
                <a:spcPts val="1200"/>
              </a:spcAft>
            </a:pPr>
            <a:r>
              <a:rPr lang="en-US" sz="2200" dirty="0" smtClean="0">
                <a:latin typeface="Helvetica" pitchFamily="34" charset="0"/>
              </a:rPr>
              <a:t>Options available for selection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41986" name="Picture 2" descr="I:\Overseas Projects\PHOTOS\2011\Culinary\white_choc_hearts.jpg"/>
          <p:cNvPicPr>
            <a:picLocks noChangeAspect="1" noChangeArrowheads="1"/>
          </p:cNvPicPr>
          <p:nvPr/>
        </p:nvPicPr>
        <p:blipFill>
          <a:blip r:embed="rId3" cstate="print"/>
          <a:srcRect/>
          <a:stretch>
            <a:fillRect/>
          </a:stretch>
        </p:blipFill>
        <p:spPr bwMode="auto">
          <a:xfrm>
            <a:off x="7072330" y="2857496"/>
            <a:ext cx="1297012" cy="1937630"/>
          </a:xfrm>
          <a:prstGeom prst="rect">
            <a:avLst/>
          </a:prstGeom>
          <a:noFill/>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Background to allocation of service equipment:</a:t>
            </a:r>
          </a:p>
          <a:p>
            <a:pPr marL="360000" indent="-360000">
              <a:spcBef>
                <a:spcPts val="600"/>
              </a:spcBef>
              <a:spcAft>
                <a:spcPts val="1200"/>
              </a:spcAft>
            </a:pPr>
            <a:r>
              <a:rPr lang="en-US" sz="2200" dirty="0" smtClean="0">
                <a:latin typeface="Helvetica" pitchFamily="34" charset="0"/>
              </a:rPr>
              <a:t>Service equipment and service platforms are used for plating, decorating and displaying dishes</a:t>
            </a:r>
          </a:p>
          <a:p>
            <a:pPr marL="360000" indent="-360000">
              <a:spcBef>
                <a:spcPts val="600"/>
              </a:spcBef>
              <a:spcAft>
                <a:spcPts val="1200"/>
              </a:spcAft>
            </a:pPr>
            <a:r>
              <a:rPr lang="en-US" sz="2200" dirty="0" smtClean="0">
                <a:latin typeface="Helvetica" pitchFamily="34" charset="0"/>
              </a:rPr>
              <a:t>All items must be ready before service starts</a:t>
            </a:r>
          </a:p>
          <a:p>
            <a:pPr marL="360000" indent="-360000">
              <a:spcBef>
                <a:spcPts val="600"/>
              </a:spcBef>
              <a:spcAft>
                <a:spcPts val="1200"/>
              </a:spcAft>
            </a:pPr>
            <a:r>
              <a:rPr lang="en-US" sz="2200" dirty="0" smtClean="0">
                <a:latin typeface="Helvetica" pitchFamily="34" charset="0"/>
              </a:rPr>
              <a:t>Disposable gloves must be worn if bare hands will touch food during the plating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C:\Documents and Settings\Godaishu\Desktop\PHOTOS\2011\Culinary\chocovic_piping72dpi.jpg"/>
          <p:cNvPicPr/>
          <p:nvPr/>
        </p:nvPicPr>
        <p:blipFill>
          <a:blip r:embed="rId3" cstate="print"/>
          <a:srcRect/>
          <a:stretch>
            <a:fillRect/>
          </a:stretch>
        </p:blipFill>
        <p:spPr bwMode="auto">
          <a:xfrm>
            <a:off x="3214678" y="4786322"/>
            <a:ext cx="1999324" cy="150019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Requirements for all service equipment and utensils:</a:t>
            </a:r>
          </a:p>
          <a:p>
            <a:pPr marL="360000" indent="-360000">
              <a:spcBef>
                <a:spcPts val="600"/>
              </a:spcBef>
              <a:spcAft>
                <a:spcPts val="1200"/>
              </a:spcAft>
            </a:pPr>
            <a:r>
              <a:rPr lang="en-US" sz="2200" dirty="0" smtClean="0">
                <a:latin typeface="Helvetica" pitchFamily="34" charset="0"/>
              </a:rPr>
              <a:t>In good condition</a:t>
            </a:r>
          </a:p>
          <a:p>
            <a:pPr marL="360000" indent="-360000">
              <a:spcBef>
                <a:spcPts val="600"/>
              </a:spcBef>
              <a:spcAft>
                <a:spcPts val="1200"/>
              </a:spcAft>
            </a:pPr>
            <a:r>
              <a:rPr lang="en-US" sz="2200" dirty="0" smtClean="0">
                <a:latin typeface="Helvetica" pitchFamily="34" charset="0"/>
              </a:rPr>
              <a:t>Clean and sanitised</a:t>
            </a:r>
          </a:p>
          <a:p>
            <a:pPr marL="360000" indent="-360000">
              <a:spcBef>
                <a:spcPts val="600"/>
              </a:spcBef>
              <a:spcAft>
                <a:spcPts val="1200"/>
              </a:spcAft>
            </a:pPr>
            <a:r>
              <a:rPr lang="en-US" sz="2200" dirty="0" smtClean="0">
                <a:latin typeface="Helvetica" pitchFamily="34" charset="0"/>
              </a:rPr>
              <a:t>No chips or cracks in plates and bowls</a:t>
            </a:r>
          </a:p>
          <a:p>
            <a:pPr marL="360000" indent="-360000">
              <a:spcBef>
                <a:spcPts val="600"/>
              </a:spcBef>
              <a:spcAft>
                <a:spcPts val="1200"/>
              </a:spcAft>
            </a:pPr>
            <a:r>
              <a:rPr lang="en-US" sz="2200" dirty="0" smtClean="0">
                <a:latin typeface="Helvetica" pitchFamily="34" charset="0"/>
              </a:rPr>
              <a:t>Sufficient in quantity</a:t>
            </a:r>
          </a:p>
          <a:p>
            <a:pPr marL="360000" indent="-360000">
              <a:spcBef>
                <a:spcPts val="600"/>
              </a:spcBef>
              <a:spcAft>
                <a:spcPts val="1200"/>
              </a:spcAft>
            </a:pPr>
            <a:r>
              <a:rPr lang="en-US" sz="2200" dirty="0" smtClean="0">
                <a:latin typeface="Helvetica" pitchFamily="34" charset="0"/>
              </a:rPr>
              <a:t>Equipment to be made from food grade material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43010" name="Picture 2" descr="I:\Overseas Projects\PHOTOS\2012\Culinary 2012\Others\shutterstock_94117282.jpg"/>
          <p:cNvPicPr>
            <a:picLocks noChangeAspect="1" noChangeArrowheads="1"/>
          </p:cNvPicPr>
          <p:nvPr/>
        </p:nvPicPr>
        <p:blipFill>
          <a:blip r:embed="rId3" cstate="print"/>
          <a:srcRect/>
          <a:stretch>
            <a:fillRect/>
          </a:stretch>
        </p:blipFill>
        <p:spPr bwMode="auto">
          <a:xfrm>
            <a:off x="6215074" y="2643182"/>
            <a:ext cx="2293009" cy="1533450"/>
          </a:xfrm>
          <a:prstGeom prst="rect">
            <a:avLst/>
          </a:prstGeom>
          <a:noFill/>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Tables and bench space for plating:</a:t>
            </a:r>
          </a:p>
          <a:p>
            <a:pPr marL="360000" indent="-360000">
              <a:spcBef>
                <a:spcPts val="600"/>
              </a:spcBef>
              <a:spcAft>
                <a:spcPts val="1200"/>
              </a:spcAft>
            </a:pPr>
            <a:r>
              <a:rPr lang="en-US" sz="2200" dirty="0" smtClean="0">
                <a:latin typeface="Helvetica" pitchFamily="34" charset="0"/>
              </a:rPr>
              <a:t>Must be cleaned and sanitised before and after each use</a:t>
            </a:r>
          </a:p>
          <a:p>
            <a:pPr marL="360000" indent="-360000">
              <a:spcBef>
                <a:spcPts val="600"/>
              </a:spcBef>
              <a:spcAft>
                <a:spcPts val="1200"/>
              </a:spcAft>
            </a:pPr>
            <a:r>
              <a:rPr lang="en-US" sz="2200" dirty="0" smtClean="0">
                <a:latin typeface="Helvetica" pitchFamily="34" charset="0"/>
              </a:rPr>
              <a:t>Should be dedicated only to plating </a:t>
            </a:r>
            <a:br>
              <a:rPr lang="en-US" sz="2200" dirty="0" smtClean="0">
                <a:latin typeface="Helvetica" pitchFamily="34" charset="0"/>
              </a:rPr>
            </a:br>
            <a:r>
              <a:rPr lang="en-US" sz="2200" dirty="0" smtClean="0">
                <a:latin typeface="Helvetica" pitchFamily="34" charset="0"/>
              </a:rPr>
              <a:t>once in use for that task</a:t>
            </a:r>
          </a:p>
          <a:p>
            <a:pPr marL="360000" indent="-360000">
              <a:spcBef>
                <a:spcPts val="600"/>
              </a:spcBef>
              <a:spcAft>
                <a:spcPts val="1200"/>
              </a:spcAft>
            </a:pPr>
            <a:r>
              <a:rPr lang="en-US" sz="2200" dirty="0" smtClean="0">
                <a:latin typeface="Helvetica" pitchFamily="34" charset="0"/>
              </a:rPr>
              <a:t>Must be no eating over these surfaces</a:t>
            </a:r>
          </a:p>
          <a:p>
            <a:pPr marL="360000" indent="-360000">
              <a:spcBef>
                <a:spcPts val="600"/>
              </a:spcBef>
              <a:spcAft>
                <a:spcPts val="1200"/>
              </a:spcAft>
            </a:pPr>
            <a:r>
              <a:rPr lang="en-US" sz="2200" dirty="0" smtClean="0">
                <a:latin typeface="Helvetica" pitchFamily="34" charset="0"/>
              </a:rPr>
              <a:t>Spills must be cleaned immediately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44034" name="Picture 2" descr="I:\Overseas Projects\PHOTOS\2012\Culinary 2012\Others\Commercial kitchen1.jpg"/>
          <p:cNvPicPr>
            <a:picLocks noChangeAspect="1" noChangeArrowheads="1"/>
          </p:cNvPicPr>
          <p:nvPr/>
        </p:nvPicPr>
        <p:blipFill>
          <a:blip r:embed="rId3" cstate="print"/>
          <a:srcRect/>
          <a:stretch>
            <a:fillRect/>
          </a:stretch>
        </p:blipFill>
        <p:spPr bwMode="auto">
          <a:xfrm>
            <a:off x="6215074" y="3429000"/>
            <a:ext cx="2136463" cy="1428760"/>
          </a:xfrm>
          <a:prstGeom prst="rect">
            <a:avLst/>
          </a:prstGeom>
          <a:noFill/>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Service items and utensils:</a:t>
            </a:r>
          </a:p>
          <a:p>
            <a:pPr marL="360000" indent="-360000">
              <a:lnSpc>
                <a:spcPct val="110000"/>
              </a:lnSpc>
              <a:spcBef>
                <a:spcPts val="600"/>
              </a:spcBef>
              <a:spcAft>
                <a:spcPts val="1200"/>
              </a:spcAft>
            </a:pPr>
            <a:r>
              <a:rPr lang="en-US" sz="2200" dirty="0" smtClean="0">
                <a:latin typeface="Helvetica" pitchFamily="34" charset="0"/>
              </a:rPr>
              <a:t>Tongs</a:t>
            </a:r>
          </a:p>
          <a:p>
            <a:pPr marL="360000" indent="-360000">
              <a:lnSpc>
                <a:spcPct val="110000"/>
              </a:lnSpc>
              <a:spcBef>
                <a:spcPts val="600"/>
              </a:spcBef>
              <a:spcAft>
                <a:spcPts val="1200"/>
              </a:spcAft>
            </a:pPr>
            <a:r>
              <a:rPr lang="en-US" sz="2200" dirty="0" smtClean="0">
                <a:latin typeface="Helvetica" pitchFamily="34" charset="0"/>
              </a:rPr>
              <a:t>Palette knife</a:t>
            </a:r>
          </a:p>
          <a:p>
            <a:pPr marL="360000" indent="-360000">
              <a:lnSpc>
                <a:spcPct val="110000"/>
              </a:lnSpc>
              <a:spcBef>
                <a:spcPts val="600"/>
              </a:spcBef>
              <a:spcAft>
                <a:spcPts val="1200"/>
              </a:spcAft>
            </a:pPr>
            <a:r>
              <a:rPr lang="en-US" sz="2200" dirty="0" smtClean="0">
                <a:latin typeface="Helvetica" pitchFamily="34" charset="0"/>
              </a:rPr>
              <a:t>Kitchen spatula</a:t>
            </a:r>
          </a:p>
          <a:p>
            <a:pPr marL="360000" indent="-360000">
              <a:lnSpc>
                <a:spcPct val="110000"/>
              </a:lnSpc>
              <a:spcBef>
                <a:spcPts val="600"/>
              </a:spcBef>
              <a:spcAft>
                <a:spcPts val="1200"/>
              </a:spcAft>
            </a:pPr>
            <a:r>
              <a:rPr lang="en-US" sz="2200" dirty="0" smtClean="0">
                <a:latin typeface="Helvetica" pitchFamily="34" charset="0"/>
              </a:rPr>
              <a:t>Ladle</a:t>
            </a:r>
          </a:p>
          <a:p>
            <a:pPr marL="360000" indent="-360000">
              <a:lnSpc>
                <a:spcPct val="110000"/>
              </a:lnSpc>
              <a:spcBef>
                <a:spcPts val="600"/>
              </a:spcBef>
              <a:spcAft>
                <a:spcPts val="1200"/>
              </a:spcAft>
            </a:pPr>
            <a:r>
              <a:rPr lang="en-US" sz="2200" dirty="0" smtClean="0">
                <a:latin typeface="Helvetica" pitchFamily="34" charset="0"/>
              </a:rPr>
              <a:t>Egg lifter</a:t>
            </a:r>
          </a:p>
          <a:p>
            <a:pPr marL="360000" indent="-360000">
              <a:lnSpc>
                <a:spcPct val="110000"/>
              </a:lnSpc>
              <a:spcBef>
                <a:spcPts val="600"/>
              </a:spcBef>
              <a:spcAft>
                <a:spcPts val="1200"/>
              </a:spcAft>
            </a:pPr>
            <a:r>
              <a:rPr lang="en-US" sz="2200" dirty="0" smtClean="0">
                <a:latin typeface="Helvetica" pitchFamily="34" charset="0"/>
              </a:rPr>
              <a:t>Squeeze bottles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6405586" y="1714488"/>
            <a:ext cx="1166810" cy="751134"/>
          </a:xfrm>
          <a:prstGeom prst="rect">
            <a:avLst/>
          </a:prstGeom>
        </p:spPr>
      </p:pic>
      <p:pic>
        <p:nvPicPr>
          <p:cNvPr id="6" name="Picture 5"/>
          <p:cNvPicPr/>
          <p:nvPr/>
        </p:nvPicPr>
        <p:blipFill>
          <a:blip r:embed="rId4"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6405586" y="2928934"/>
            <a:ext cx="1238248" cy="781644"/>
          </a:xfrm>
          <a:prstGeom prst="rect">
            <a:avLst/>
          </a:prstGeom>
        </p:spPr>
      </p:pic>
      <p:pic>
        <p:nvPicPr>
          <p:cNvPr id="7" name="Picture 6"/>
          <p:cNvPicPr/>
          <p:nvPr/>
        </p:nvPicPr>
        <p:blipFill>
          <a:blip r:embed="rId5"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6553219" y="4195773"/>
            <a:ext cx="947739" cy="947739"/>
          </a:xfrm>
          <a:prstGeom prst="rect">
            <a:avLst/>
          </a:prstGeom>
        </p:spPr>
      </p:pic>
      <p:pic>
        <p:nvPicPr>
          <p:cNvPr id="8" name="Picture 7"/>
          <p:cNvPicPr/>
          <p:nvPr/>
        </p:nvPicPr>
        <p:blipFill>
          <a:blip r:embed="rId6"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4942886" y="1571612"/>
            <a:ext cx="914998" cy="1262066"/>
          </a:xfrm>
          <a:prstGeom prst="rect">
            <a:avLst/>
          </a:prstGeom>
        </p:spPr>
      </p:pic>
      <p:pic>
        <p:nvPicPr>
          <p:cNvPr id="9" name="Picture 8"/>
          <p:cNvPicPr/>
          <p:nvPr/>
        </p:nvPicPr>
        <p:blipFill>
          <a:blip r:embed="rId7" cstate="print">
            <a:lum contrast="20000"/>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4548198" y="3048002"/>
            <a:ext cx="1524000" cy="666750"/>
          </a:xfrm>
          <a:prstGeom prst="rect">
            <a:avLst/>
          </a:prstGeom>
        </p:spPr>
      </p:pic>
      <p:pic>
        <p:nvPicPr>
          <p:cNvPr id="10" name="Picture 9"/>
          <p:cNvPicPr/>
          <p:nvPr/>
        </p:nvPicPr>
        <p:blipFill>
          <a:blip r:embed="rId8"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4714876" y="4071943"/>
            <a:ext cx="872883" cy="1214446"/>
          </a:xfrm>
          <a:prstGeom prst="rect">
            <a:avLst/>
          </a:prstGeom>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Cutting or chopping board</a:t>
            </a:r>
          </a:p>
          <a:p>
            <a:pPr marL="360000" indent="-360000">
              <a:spcBef>
                <a:spcPts val="600"/>
              </a:spcBef>
              <a:spcAft>
                <a:spcPts val="1200"/>
              </a:spcAft>
            </a:pPr>
            <a:r>
              <a:rPr lang="en-US" sz="2200" dirty="0" smtClean="0">
                <a:latin typeface="Helvetica" pitchFamily="34" charset="0"/>
              </a:rPr>
              <a:t>Carving knife and fork</a:t>
            </a:r>
          </a:p>
          <a:p>
            <a:pPr marL="360000" indent="-360000">
              <a:spcBef>
                <a:spcPts val="600"/>
              </a:spcBef>
              <a:spcAft>
                <a:spcPts val="1200"/>
              </a:spcAft>
            </a:pPr>
            <a:r>
              <a:rPr lang="en-US" sz="2200" dirty="0" smtClean="0">
                <a:latin typeface="Helvetica" pitchFamily="34" charset="0"/>
              </a:rPr>
              <a:t>Service trolleys and trays</a:t>
            </a:r>
          </a:p>
          <a:p>
            <a:pPr marL="360000" indent="-360000">
              <a:spcBef>
                <a:spcPts val="600"/>
              </a:spcBef>
              <a:spcAft>
                <a:spcPts val="1200"/>
              </a:spcAft>
            </a:pPr>
            <a:r>
              <a:rPr lang="en-US" sz="2200" dirty="0" smtClean="0">
                <a:latin typeface="Helvetica" pitchFamily="34" charset="0"/>
              </a:rPr>
              <a:t>Cake lifters</a:t>
            </a:r>
          </a:p>
          <a:p>
            <a:pPr marL="360000" indent="-360000">
              <a:spcBef>
                <a:spcPts val="600"/>
              </a:spcBef>
              <a:spcAft>
                <a:spcPts val="1200"/>
              </a:spcAft>
            </a:pPr>
            <a:r>
              <a:rPr lang="en-US" sz="2200" dirty="0" smtClean="0">
                <a:latin typeface="Helvetica" pitchFamily="34" charset="0"/>
              </a:rPr>
              <a:t>Spoodles</a:t>
            </a:r>
          </a:p>
          <a:p>
            <a:pPr marL="360000" indent="-360000">
              <a:spcBef>
                <a:spcPts val="600"/>
              </a:spcBef>
              <a:spcAft>
                <a:spcPts val="1200"/>
              </a:spcAft>
            </a:pPr>
            <a:r>
              <a:rPr lang="en-US" sz="2200" dirty="0" smtClean="0">
                <a:latin typeface="Helvetica" pitchFamily="34" charset="0"/>
              </a:rPr>
              <a:t>Heat cloths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357818" y="1428736"/>
            <a:ext cx="1166810" cy="656331"/>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500694" y="2428868"/>
            <a:ext cx="1055086" cy="857257"/>
          </a:xfrm>
          <a:prstGeom prst="rect">
            <a:avLst/>
          </a:prstGeom>
        </p:spPr>
      </p:pic>
      <p:pic>
        <p:nvPicPr>
          <p:cNvPr id="1026" name="Picture 2" descr="C:\Documents and Settings\danielc\Desktop\Service trolley.jpg"/>
          <p:cNvPicPr>
            <a:picLocks noChangeAspect="1" noChangeArrowheads="1"/>
          </p:cNvPicPr>
          <p:nvPr/>
        </p:nvPicPr>
        <p:blipFill>
          <a:blip r:embed="rId5" cstate="print"/>
          <a:srcRect l="34401" r="32172"/>
          <a:stretch>
            <a:fillRect/>
          </a:stretch>
        </p:blipFill>
        <p:spPr bwMode="auto">
          <a:xfrm>
            <a:off x="5500694" y="3500438"/>
            <a:ext cx="1000132" cy="1166813"/>
          </a:xfrm>
          <a:prstGeom prst="rect">
            <a:avLst/>
          </a:prstGeom>
          <a:noFill/>
        </p:spPr>
      </p:pic>
      <p:pic>
        <p:nvPicPr>
          <p:cNvPr id="1027" name="Picture 3" descr="C:\Documents and Settings\danielc\Desktop\cake lifter.jpg"/>
          <p:cNvPicPr>
            <a:picLocks noChangeAspect="1" noChangeArrowheads="1"/>
          </p:cNvPicPr>
          <p:nvPr/>
        </p:nvPicPr>
        <p:blipFill>
          <a:blip r:embed="rId6" cstate="print">
            <a:grayscl/>
          </a:blip>
          <a:srcRect t="10949" b="12407"/>
          <a:stretch>
            <a:fillRect/>
          </a:stretch>
        </p:blipFill>
        <p:spPr bwMode="auto">
          <a:xfrm>
            <a:off x="6786578" y="1714488"/>
            <a:ext cx="1233475" cy="945379"/>
          </a:xfrm>
          <a:prstGeom prst="rect">
            <a:avLst/>
          </a:prstGeom>
          <a:noFill/>
        </p:spPr>
      </p:pic>
      <p:pic>
        <p:nvPicPr>
          <p:cNvPr id="1028" name="Picture 4" descr="C:\Documents and Settings\danielc\Desktop\heat cloth.jpg"/>
          <p:cNvPicPr>
            <a:picLocks noChangeAspect="1" noChangeArrowheads="1"/>
          </p:cNvPicPr>
          <p:nvPr/>
        </p:nvPicPr>
        <p:blipFill>
          <a:blip r:embed="rId7" cstate="print">
            <a:grayscl/>
          </a:blip>
          <a:srcRect/>
          <a:stretch>
            <a:fillRect/>
          </a:stretch>
        </p:blipFill>
        <p:spPr bwMode="auto">
          <a:xfrm>
            <a:off x="6786578" y="3429000"/>
            <a:ext cx="1513574" cy="1076319"/>
          </a:xfrm>
          <a:prstGeom prst="rect">
            <a:avLst/>
          </a:prstGeom>
          <a:noFill/>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Service and portion control utensils:</a:t>
            </a:r>
          </a:p>
          <a:p>
            <a:pPr marL="360000" indent="-360000">
              <a:spcBef>
                <a:spcPts val="600"/>
              </a:spcBef>
              <a:spcAft>
                <a:spcPts val="1200"/>
              </a:spcAft>
            </a:pPr>
            <a:r>
              <a:rPr lang="en-US" sz="2200" dirty="0" smtClean="0">
                <a:latin typeface="Helvetica" pitchFamily="34" charset="0"/>
              </a:rPr>
              <a:t>Service spoons</a:t>
            </a:r>
          </a:p>
          <a:p>
            <a:pPr marL="360000" indent="-360000">
              <a:spcBef>
                <a:spcPts val="600"/>
              </a:spcBef>
              <a:spcAft>
                <a:spcPts val="1200"/>
              </a:spcAft>
            </a:pPr>
            <a:r>
              <a:rPr lang="en-US" sz="2200" dirty="0" smtClean="0">
                <a:latin typeface="Helvetica" pitchFamily="34" charset="0"/>
              </a:rPr>
              <a:t>Soup ladles</a:t>
            </a:r>
          </a:p>
          <a:p>
            <a:pPr marL="360000" indent="-360000">
              <a:spcBef>
                <a:spcPts val="600"/>
              </a:spcBef>
              <a:spcAft>
                <a:spcPts val="1200"/>
              </a:spcAft>
            </a:pPr>
            <a:r>
              <a:rPr lang="en-US" sz="2200" dirty="0" smtClean="0">
                <a:latin typeface="Helvetica" pitchFamily="34" charset="0"/>
              </a:rPr>
              <a:t>Cake portion guides</a:t>
            </a:r>
          </a:p>
          <a:p>
            <a:pPr marL="360000" indent="-360000">
              <a:spcBef>
                <a:spcPts val="600"/>
              </a:spcBef>
              <a:spcAft>
                <a:spcPts val="1200"/>
              </a:spcAft>
            </a:pPr>
            <a:r>
              <a:rPr lang="en-US" sz="2200" dirty="0" smtClean="0">
                <a:latin typeface="Helvetica" pitchFamily="34" charset="0"/>
              </a:rPr>
              <a:t>Ice cream scoops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500694" y="1500174"/>
            <a:ext cx="1047750" cy="1047750"/>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858016" y="1428736"/>
            <a:ext cx="805576" cy="1111140"/>
          </a:xfrm>
          <a:prstGeom prst="rect">
            <a:avLst/>
          </a:prstGeom>
        </p:spPr>
      </p:pic>
      <p:pic>
        <p:nvPicPr>
          <p:cNvPr id="7" name="Picture 6"/>
          <p:cNvPicPr/>
          <p:nvPr/>
        </p:nvPicPr>
        <p:blipFill>
          <a:blip r:embed="rId5"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357818" y="2643182"/>
            <a:ext cx="1000127" cy="1000127"/>
          </a:xfrm>
          <a:prstGeom prst="rect">
            <a:avLst/>
          </a:prstGeom>
        </p:spPr>
      </p:pic>
      <p:pic>
        <p:nvPicPr>
          <p:cNvPr id="8" name="Picture 7"/>
          <p:cNvPicPr/>
          <p:nvPr/>
        </p:nvPicPr>
        <p:blipFill>
          <a:blip r:embed="rId6"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858016" y="2786058"/>
            <a:ext cx="971548" cy="971548"/>
          </a:xfrm>
          <a:prstGeom prst="rect">
            <a:avLst/>
          </a:prstGeom>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Plastic tubs</a:t>
            </a:r>
          </a:p>
          <a:p>
            <a:pPr marL="360000" indent="-360000">
              <a:spcBef>
                <a:spcPts val="600"/>
              </a:spcBef>
              <a:spcAft>
                <a:spcPts val="1200"/>
              </a:spcAft>
            </a:pPr>
            <a:r>
              <a:rPr lang="en-US" sz="2200" dirty="0" smtClean="0">
                <a:latin typeface="Helvetica" pitchFamily="34" charset="0"/>
              </a:rPr>
              <a:t>Measuring spoons</a:t>
            </a:r>
          </a:p>
          <a:p>
            <a:pPr marL="360000" indent="-360000">
              <a:spcBef>
                <a:spcPts val="600"/>
              </a:spcBef>
              <a:spcAft>
                <a:spcPts val="1200"/>
              </a:spcAft>
            </a:pPr>
            <a:r>
              <a:rPr lang="en-US" sz="2200" dirty="0" smtClean="0">
                <a:latin typeface="Helvetica" pitchFamily="34" charset="0"/>
              </a:rPr>
              <a:t>Measuring cups</a:t>
            </a:r>
          </a:p>
          <a:p>
            <a:pPr marL="360000" indent="-360000">
              <a:spcBef>
                <a:spcPts val="600"/>
              </a:spcBef>
              <a:spcAft>
                <a:spcPts val="1200"/>
              </a:spcAft>
            </a:pPr>
            <a:r>
              <a:rPr lang="en-US" sz="2200" dirty="0" smtClean="0">
                <a:latin typeface="Helvetica" pitchFamily="34" charset="0"/>
              </a:rPr>
              <a:t>Measuring jugs</a:t>
            </a:r>
          </a:p>
          <a:p>
            <a:pPr marL="360000" indent="-360000">
              <a:spcBef>
                <a:spcPts val="600"/>
              </a:spcBef>
              <a:spcAft>
                <a:spcPts val="1200"/>
              </a:spcAft>
            </a:pPr>
            <a:r>
              <a:rPr lang="en-US" sz="2200" dirty="0" smtClean="0">
                <a:latin typeface="Helvetica" pitchFamily="34" charset="0"/>
              </a:rPr>
              <a:t>Scoops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500694" y="1428736"/>
            <a:ext cx="1238248" cy="696515"/>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643570" y="2285992"/>
            <a:ext cx="1178718" cy="942974"/>
          </a:xfrm>
          <a:prstGeom prst="rect">
            <a:avLst/>
          </a:prstGeom>
        </p:spPr>
      </p:pic>
      <p:pic>
        <p:nvPicPr>
          <p:cNvPr id="7" name="Picture 6"/>
          <p:cNvPicPr/>
          <p:nvPr/>
        </p:nvPicPr>
        <p:blipFill>
          <a:blip r:embed="rId5"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715008" y="3429000"/>
            <a:ext cx="1133710" cy="871539"/>
          </a:xfrm>
          <a:prstGeom prst="rect">
            <a:avLst/>
          </a:prstGeom>
        </p:spPr>
      </p:pic>
      <p:pic>
        <p:nvPicPr>
          <p:cNvPr id="8" name="Picture 7"/>
          <p:cNvPicPr/>
          <p:nvPr/>
        </p:nvPicPr>
        <p:blipFill>
          <a:blip r:embed="rId6"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rcRect t="10503"/>
          <a:stretch>
            <a:fillRect/>
          </a:stretch>
        </p:blipFill>
        <p:spPr>
          <a:xfrm>
            <a:off x="6858016" y="1428736"/>
            <a:ext cx="1118157" cy="1074597"/>
          </a:xfrm>
          <a:prstGeom prst="rect">
            <a:avLst/>
          </a:prstGeom>
        </p:spPr>
      </p:pic>
      <p:pic>
        <p:nvPicPr>
          <p:cNvPr id="9" name="Picture 8"/>
          <p:cNvPicPr/>
          <p:nvPr/>
        </p:nvPicPr>
        <p:blipFill>
          <a:blip r:embed="rId7"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7000892" y="2857496"/>
            <a:ext cx="1214446" cy="789390"/>
          </a:xfrm>
          <a:prstGeom prst="rect">
            <a:avLst/>
          </a:prstGeom>
        </p:spPr>
      </p:pic>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Service platforms = basis for food presentation:</a:t>
            </a:r>
          </a:p>
          <a:p>
            <a:pPr marL="360000" indent="-360000">
              <a:spcBef>
                <a:spcPts val="600"/>
              </a:spcBef>
              <a:spcAft>
                <a:spcPts val="1200"/>
              </a:spcAft>
            </a:pPr>
            <a:r>
              <a:rPr lang="en-US" sz="2200" dirty="0" smtClean="0">
                <a:latin typeface="Helvetica" pitchFamily="34" charset="0"/>
              </a:rPr>
              <a:t>Traditionally ‘plates and bowls’</a:t>
            </a:r>
          </a:p>
          <a:p>
            <a:pPr marL="360000" indent="-360000">
              <a:spcBef>
                <a:spcPts val="600"/>
              </a:spcBef>
              <a:spcAft>
                <a:spcPts val="1200"/>
              </a:spcAft>
            </a:pPr>
            <a:r>
              <a:rPr lang="en-US" sz="2200" dirty="0" smtClean="0">
                <a:latin typeface="Helvetica" pitchFamily="34" charset="0"/>
              </a:rPr>
              <a:t>Normally ‘round’ or ‘oval’ but may be angular</a:t>
            </a:r>
          </a:p>
          <a:p>
            <a:pPr marL="360000" indent="-360000">
              <a:spcBef>
                <a:spcPts val="600"/>
              </a:spcBef>
              <a:spcAft>
                <a:spcPts val="1200"/>
              </a:spcAft>
            </a:pPr>
            <a:r>
              <a:rPr lang="en-US" sz="2200" dirty="0" smtClean="0">
                <a:latin typeface="Helvetica" pitchFamily="34" charset="0"/>
              </a:rPr>
              <a:t>Usually ceramic</a:t>
            </a:r>
          </a:p>
          <a:p>
            <a:pPr marL="360000" indent="-360000">
              <a:spcBef>
                <a:spcPts val="600"/>
              </a:spcBef>
              <a:spcAft>
                <a:spcPts val="1200"/>
              </a:spcAft>
            </a:pPr>
            <a:r>
              <a:rPr lang="en-US" sz="2200" dirty="0" smtClean="0">
                <a:latin typeface="Helvetica" pitchFamily="34" charset="0"/>
              </a:rPr>
              <a:t>Commonly white in colour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858016" y="3000372"/>
            <a:ext cx="1337163" cy="1042987"/>
          </a:xfrm>
          <a:prstGeom prst="rect">
            <a:avLst/>
          </a:prstGeom>
        </p:spPr>
      </p:pic>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Examples of plates and bowls:</a:t>
            </a:r>
          </a:p>
          <a:p>
            <a:pPr marL="360000" indent="-360000">
              <a:spcBef>
                <a:spcPts val="600"/>
              </a:spcBef>
              <a:spcAft>
                <a:spcPts val="1200"/>
              </a:spcAft>
            </a:pPr>
            <a:r>
              <a:rPr lang="en-US" sz="2200" dirty="0" smtClean="0">
                <a:latin typeface="Helvetica" pitchFamily="34" charset="0"/>
              </a:rPr>
              <a:t>Main course plate</a:t>
            </a:r>
          </a:p>
          <a:p>
            <a:pPr marL="360000" indent="-360000">
              <a:spcBef>
                <a:spcPts val="600"/>
              </a:spcBef>
              <a:spcAft>
                <a:spcPts val="1200"/>
              </a:spcAft>
            </a:pPr>
            <a:r>
              <a:rPr lang="en-US" sz="2200" dirty="0" smtClean="0">
                <a:latin typeface="Helvetica" pitchFamily="34" charset="0"/>
              </a:rPr>
              <a:t>Entrée plate</a:t>
            </a:r>
          </a:p>
          <a:p>
            <a:pPr marL="360000" indent="-360000">
              <a:spcBef>
                <a:spcPts val="600"/>
              </a:spcBef>
              <a:spcAft>
                <a:spcPts val="1200"/>
              </a:spcAft>
            </a:pPr>
            <a:r>
              <a:rPr lang="en-US" sz="2200" dirty="0" smtClean="0">
                <a:latin typeface="Helvetica" pitchFamily="34" charset="0"/>
              </a:rPr>
              <a:t>Side plate</a:t>
            </a:r>
          </a:p>
          <a:p>
            <a:pPr marL="360000" indent="-360000">
              <a:spcBef>
                <a:spcPts val="600"/>
              </a:spcBef>
              <a:spcAft>
                <a:spcPts val="1200"/>
              </a:spcAft>
            </a:pPr>
            <a:r>
              <a:rPr lang="en-US" sz="2200" dirty="0" smtClean="0">
                <a:latin typeface="Helvetica" pitchFamily="34" charset="0"/>
              </a:rPr>
              <a:t>Oval plate</a:t>
            </a:r>
          </a:p>
          <a:p>
            <a:pPr marL="360000" indent="-360000">
              <a:spcBef>
                <a:spcPts val="600"/>
              </a:spcBef>
              <a:spcAft>
                <a:spcPts val="1200"/>
              </a:spcAft>
            </a:pPr>
            <a:r>
              <a:rPr lang="en-US" sz="2200" dirty="0" smtClean="0">
                <a:latin typeface="Helvetica" pitchFamily="34" charset="0"/>
              </a:rPr>
              <a:t>Deep plate</a:t>
            </a:r>
          </a:p>
          <a:p>
            <a:pPr marL="360000" indent="-360000">
              <a:spcBef>
                <a:spcPts val="600"/>
              </a:spcBef>
              <a:spcAft>
                <a:spcPts val="1200"/>
              </a:spcAft>
            </a:pPr>
            <a:r>
              <a:rPr lang="en-US" sz="2200" dirty="0" smtClean="0">
                <a:latin typeface="Helvetica" pitchFamily="34" charset="0"/>
              </a:rPr>
              <a:t>Rectangular plate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000760" y="2357430"/>
            <a:ext cx="1190625" cy="1047750"/>
          </a:xfrm>
          <a:prstGeom prst="rect">
            <a:avLst/>
          </a:prstGeom>
        </p:spPr>
      </p:pic>
      <p:pic>
        <p:nvPicPr>
          <p:cNvPr id="7" name="Picture 6"/>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929322" y="3643314"/>
            <a:ext cx="1428760" cy="857256"/>
          </a:xfrm>
          <a:prstGeom prst="rect">
            <a:avLst/>
          </a:prstGeom>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Rounded square plate</a:t>
            </a:r>
          </a:p>
          <a:p>
            <a:pPr marL="360000" indent="-360000">
              <a:spcBef>
                <a:spcPts val="600"/>
              </a:spcBef>
              <a:spcAft>
                <a:spcPts val="1200"/>
              </a:spcAft>
            </a:pPr>
            <a:r>
              <a:rPr lang="en-US" sz="2200" dirty="0" smtClean="0">
                <a:latin typeface="Helvetica" pitchFamily="34" charset="0"/>
              </a:rPr>
              <a:t>Square plate</a:t>
            </a:r>
          </a:p>
          <a:p>
            <a:pPr marL="360000" indent="-360000">
              <a:spcBef>
                <a:spcPts val="600"/>
              </a:spcBef>
              <a:spcAft>
                <a:spcPts val="1200"/>
              </a:spcAft>
            </a:pPr>
            <a:r>
              <a:rPr lang="en-US" sz="2200" dirty="0" smtClean="0">
                <a:latin typeface="Helvetica" pitchFamily="34" charset="0"/>
              </a:rPr>
              <a:t>Triangular plate</a:t>
            </a:r>
          </a:p>
          <a:p>
            <a:pPr marL="360000" indent="-360000">
              <a:spcBef>
                <a:spcPts val="600"/>
              </a:spcBef>
              <a:spcAft>
                <a:spcPts val="1200"/>
              </a:spcAft>
            </a:pPr>
            <a:r>
              <a:rPr lang="en-US" sz="2200" dirty="0" smtClean="0">
                <a:latin typeface="Helvetica" pitchFamily="34" charset="0"/>
              </a:rPr>
              <a:t>Soup or pasta bowl</a:t>
            </a:r>
          </a:p>
          <a:p>
            <a:pPr marL="360000" indent="-360000">
              <a:spcBef>
                <a:spcPts val="600"/>
              </a:spcBef>
              <a:spcAft>
                <a:spcPts val="1200"/>
              </a:spcAft>
            </a:pPr>
            <a:r>
              <a:rPr lang="en-US" sz="2200" dirty="0" smtClean="0">
                <a:latin typeface="Helvetica" pitchFamily="34" charset="0"/>
              </a:rPr>
              <a:t>Gratin dish</a:t>
            </a:r>
          </a:p>
          <a:p>
            <a:pPr marL="360000" indent="-360000">
              <a:spcBef>
                <a:spcPts val="600"/>
              </a:spcBef>
              <a:spcAft>
                <a:spcPts val="1200"/>
              </a:spcAft>
            </a:pPr>
            <a:r>
              <a:rPr lang="en-US" sz="2200" dirty="0" smtClean="0">
                <a:latin typeface="Helvetica" pitchFamily="34" charset="0"/>
              </a:rPr>
              <a:t>Ramekin, soufflé dish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286380" y="2357430"/>
            <a:ext cx="1428750" cy="942975"/>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357818" y="3714752"/>
            <a:ext cx="1238250" cy="590550"/>
          </a:xfrm>
          <a:prstGeom prst="rect">
            <a:avLst/>
          </a:prstGeom>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Innovative service platforms:</a:t>
            </a:r>
          </a:p>
          <a:p>
            <a:pPr marL="360000" indent="-360000">
              <a:spcBef>
                <a:spcPts val="600"/>
              </a:spcBef>
              <a:spcAft>
                <a:spcPts val="1200"/>
              </a:spcAft>
            </a:pPr>
            <a:r>
              <a:rPr lang="en-US" sz="2200" dirty="0" smtClean="0">
                <a:latin typeface="Helvetica" pitchFamily="34" charset="0"/>
              </a:rPr>
              <a:t>Slate tile</a:t>
            </a:r>
          </a:p>
          <a:p>
            <a:pPr marL="360000" indent="-360000">
              <a:spcBef>
                <a:spcPts val="600"/>
              </a:spcBef>
              <a:spcAft>
                <a:spcPts val="1200"/>
              </a:spcAft>
            </a:pPr>
            <a:r>
              <a:rPr lang="en-US" sz="2200" dirty="0" smtClean="0">
                <a:latin typeface="Helvetica" pitchFamily="34" charset="0"/>
              </a:rPr>
              <a:t>Banana leaf</a:t>
            </a:r>
          </a:p>
          <a:p>
            <a:pPr marL="360000" indent="-360000">
              <a:spcBef>
                <a:spcPts val="600"/>
              </a:spcBef>
              <a:spcAft>
                <a:spcPts val="1200"/>
              </a:spcAft>
            </a:pPr>
            <a:r>
              <a:rPr lang="en-US" sz="2200" dirty="0" smtClean="0">
                <a:latin typeface="Helvetica" pitchFamily="34" charset="0"/>
              </a:rPr>
              <a:t>Sizzle plate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p:nvPr/>
        </p:nvPicPr>
        <p:blipFill>
          <a:blip r:embed="rId3" cstate="print">
            <a:lum contrast="10000"/>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214942" y="1857364"/>
            <a:ext cx="1524000" cy="1009650"/>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214942" y="2857496"/>
            <a:ext cx="1672225" cy="930175"/>
          </a:xfrm>
          <a:prstGeom prst="rect">
            <a:avLst/>
          </a:prstGeom>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Display service platforms:</a:t>
            </a:r>
          </a:p>
          <a:p>
            <a:pPr marL="360000" indent="-360000">
              <a:spcBef>
                <a:spcPts val="600"/>
              </a:spcBef>
              <a:spcAft>
                <a:spcPts val="1200"/>
              </a:spcAft>
            </a:pPr>
            <a:r>
              <a:rPr lang="en-US" sz="2200" dirty="0" smtClean="0">
                <a:latin typeface="Helvetica" pitchFamily="34" charset="0"/>
              </a:rPr>
              <a:t>Used for quantity/bulk food display and presentation</a:t>
            </a:r>
          </a:p>
          <a:p>
            <a:pPr marL="360000" indent="-360000">
              <a:spcBef>
                <a:spcPts val="600"/>
              </a:spcBef>
              <a:spcAft>
                <a:spcPts val="1200"/>
              </a:spcAft>
            </a:pPr>
            <a:r>
              <a:rPr lang="en-US" sz="2200" dirty="0" smtClean="0">
                <a:latin typeface="Helvetica" pitchFamily="34" charset="0"/>
              </a:rPr>
              <a:t>Add ‘height’ and ‘depth’ to the layout</a:t>
            </a:r>
          </a:p>
          <a:p>
            <a:pPr marL="360000" indent="-360000">
              <a:spcBef>
                <a:spcPts val="600"/>
              </a:spcBef>
              <a:spcAft>
                <a:spcPts val="1200"/>
              </a:spcAft>
            </a:pPr>
            <a:r>
              <a:rPr lang="en-US" sz="2200" dirty="0" smtClean="0">
                <a:latin typeface="Helvetica" pitchFamily="34" charset="0"/>
              </a:rPr>
              <a:t>Commonly stainless steel, polished silver or </a:t>
            </a:r>
            <a:br>
              <a:rPr lang="en-US" sz="2200" dirty="0" smtClean="0">
                <a:latin typeface="Helvetica" pitchFamily="34" charset="0"/>
              </a:rPr>
            </a:br>
            <a:r>
              <a:rPr lang="en-US" sz="2200" dirty="0" smtClean="0">
                <a:latin typeface="Helvetica" pitchFamily="34" charset="0"/>
              </a:rPr>
              <a:t>glass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3357554" y="4143380"/>
            <a:ext cx="1943114" cy="1214446"/>
          </a:xfrm>
          <a:prstGeom prst="rect">
            <a:avLst/>
          </a:prstGeom>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display service platforms:</a:t>
            </a:r>
          </a:p>
          <a:p>
            <a:pPr marL="360000" indent="-360000">
              <a:spcBef>
                <a:spcPts val="600"/>
              </a:spcBef>
              <a:spcAft>
                <a:spcPts val="1200"/>
              </a:spcAft>
            </a:pPr>
            <a:r>
              <a:rPr lang="en-US" sz="2200" dirty="0" smtClean="0">
                <a:latin typeface="Helvetica" pitchFamily="34" charset="0"/>
              </a:rPr>
              <a:t>Oval platters</a:t>
            </a:r>
          </a:p>
          <a:p>
            <a:pPr marL="360000" indent="-360000">
              <a:spcBef>
                <a:spcPts val="600"/>
              </a:spcBef>
              <a:spcAft>
                <a:spcPts val="1200"/>
              </a:spcAft>
            </a:pPr>
            <a:r>
              <a:rPr lang="en-US" sz="2200" dirty="0" smtClean="0">
                <a:latin typeface="Helvetica" pitchFamily="34" charset="0"/>
              </a:rPr>
              <a:t>Round salvers</a:t>
            </a:r>
          </a:p>
          <a:p>
            <a:pPr marL="360000" indent="-360000">
              <a:spcBef>
                <a:spcPts val="600"/>
              </a:spcBef>
              <a:spcAft>
                <a:spcPts val="1200"/>
              </a:spcAft>
            </a:pPr>
            <a:r>
              <a:rPr lang="en-US" sz="2200" dirty="0" smtClean="0">
                <a:latin typeface="Helvetica" pitchFamily="34" charset="0"/>
              </a:rPr>
              <a:t>Rectangular platters</a:t>
            </a:r>
          </a:p>
          <a:p>
            <a:pPr marL="360000" indent="-360000">
              <a:spcBef>
                <a:spcPts val="600"/>
              </a:spcBef>
              <a:spcAft>
                <a:spcPts val="1200"/>
              </a:spcAft>
            </a:pPr>
            <a:r>
              <a:rPr lang="en-US" sz="2200" dirty="0" smtClean="0">
                <a:latin typeface="Helvetica" pitchFamily="34" charset="0"/>
              </a:rPr>
              <a:t>Cake stands</a:t>
            </a:r>
          </a:p>
          <a:p>
            <a:pPr marL="360000" indent="-360000">
              <a:spcBef>
                <a:spcPts val="600"/>
              </a:spcBef>
              <a:spcAft>
                <a:spcPts val="1200"/>
              </a:spcAft>
            </a:pPr>
            <a:r>
              <a:rPr lang="en-US" sz="2200" dirty="0" smtClean="0">
                <a:latin typeface="Helvetica" pitchFamily="34" charset="0"/>
              </a:rPr>
              <a:t>3-tier stand</a:t>
            </a:r>
          </a:p>
          <a:p>
            <a:pPr marL="360000" indent="-360000">
              <a:spcBef>
                <a:spcPts val="600"/>
              </a:spcBef>
              <a:spcAft>
                <a:spcPts val="1200"/>
              </a:spcAft>
            </a:pPr>
            <a:r>
              <a:rPr lang="en-US" sz="2200" dirty="0" smtClean="0">
                <a:latin typeface="Helvetica" pitchFamily="34" charset="0"/>
              </a:rPr>
              <a:t>Decorative tier stand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810248" y="2571744"/>
            <a:ext cx="1428760" cy="1428760"/>
          </a:xfrm>
          <a:prstGeom prst="rect">
            <a:avLst/>
          </a:prstGeom>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‘Props’ (‘food props’):</a:t>
            </a:r>
          </a:p>
          <a:p>
            <a:pPr marL="360000" indent="-360000">
              <a:spcBef>
                <a:spcPts val="600"/>
              </a:spcBef>
              <a:spcAft>
                <a:spcPts val="1200"/>
              </a:spcAft>
            </a:pPr>
            <a:r>
              <a:rPr lang="en-US" sz="2200" dirty="0" smtClean="0">
                <a:latin typeface="Helvetica" pitchFamily="34" charset="0"/>
              </a:rPr>
              <a:t>Compliment food displays</a:t>
            </a:r>
          </a:p>
          <a:p>
            <a:pPr marL="360000" indent="-360000">
              <a:spcBef>
                <a:spcPts val="600"/>
              </a:spcBef>
              <a:spcAft>
                <a:spcPts val="1200"/>
              </a:spcAft>
            </a:pPr>
            <a:r>
              <a:rPr lang="en-US" sz="2200" dirty="0" smtClean="0">
                <a:latin typeface="Helvetica" pitchFamily="34" charset="0"/>
              </a:rPr>
              <a:t>Can enhance a theme</a:t>
            </a:r>
          </a:p>
          <a:p>
            <a:pPr marL="360000" indent="-360000">
              <a:spcBef>
                <a:spcPts val="600"/>
              </a:spcBef>
              <a:spcAft>
                <a:spcPts val="1200"/>
              </a:spcAft>
            </a:pPr>
            <a:r>
              <a:rPr lang="en-US" sz="2200" dirty="0" smtClean="0">
                <a:latin typeface="Helvetica" pitchFamily="34" charset="0"/>
              </a:rPr>
              <a:t>Add a different dimension to displays</a:t>
            </a:r>
          </a:p>
          <a:p>
            <a:pPr marL="360000" indent="-360000">
              <a:spcBef>
                <a:spcPts val="600"/>
              </a:spcBef>
              <a:spcAft>
                <a:spcPts val="1200"/>
              </a:spcAft>
            </a:pPr>
            <a:r>
              <a:rPr lang="en-US" sz="2200" dirty="0" smtClean="0">
                <a:latin typeface="Helvetica" pitchFamily="34" charset="0"/>
              </a:rPr>
              <a:t>Create interest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357950" y="1785926"/>
            <a:ext cx="1590944" cy="735811"/>
          </a:xfrm>
          <a:prstGeom prst="rect">
            <a:avLst/>
          </a:prstGeom>
        </p:spPr>
      </p:pic>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food props:</a:t>
            </a:r>
          </a:p>
          <a:p>
            <a:pPr marL="360000" indent="-360000">
              <a:spcBef>
                <a:spcPts val="600"/>
              </a:spcBef>
              <a:spcAft>
                <a:spcPts val="1200"/>
              </a:spcAft>
            </a:pPr>
            <a:r>
              <a:rPr lang="en-US" sz="2200" dirty="0" smtClean="0">
                <a:latin typeface="Helvetica" pitchFamily="34" charset="0"/>
              </a:rPr>
              <a:t>Woven baskets</a:t>
            </a:r>
          </a:p>
          <a:p>
            <a:pPr marL="360000" indent="-360000">
              <a:spcBef>
                <a:spcPts val="600"/>
              </a:spcBef>
              <a:spcAft>
                <a:spcPts val="1200"/>
              </a:spcAft>
            </a:pPr>
            <a:r>
              <a:rPr lang="en-US" sz="2200" dirty="0" smtClean="0">
                <a:latin typeface="Helvetica" pitchFamily="34" charset="0"/>
              </a:rPr>
              <a:t>Wine bottles</a:t>
            </a:r>
          </a:p>
          <a:p>
            <a:pPr marL="360000" indent="-360000">
              <a:spcBef>
                <a:spcPts val="600"/>
              </a:spcBef>
              <a:spcAft>
                <a:spcPts val="1200"/>
              </a:spcAft>
            </a:pPr>
            <a:r>
              <a:rPr lang="en-US" sz="2200" dirty="0" smtClean="0">
                <a:latin typeface="Helvetica" pitchFamily="34" charset="0"/>
              </a:rPr>
              <a:t>Wooden boats</a:t>
            </a:r>
          </a:p>
          <a:p>
            <a:pPr marL="360000" indent="-360000">
              <a:spcBef>
                <a:spcPts val="600"/>
              </a:spcBef>
              <a:spcAft>
                <a:spcPts val="1200"/>
              </a:spcAft>
            </a:pPr>
            <a:r>
              <a:rPr lang="en-US" sz="2200" dirty="0" smtClean="0">
                <a:latin typeface="Helvetica" pitchFamily="34" charset="0"/>
              </a:rPr>
              <a:t>Table runners</a:t>
            </a:r>
          </a:p>
          <a:p>
            <a:pPr marL="360000" indent="-360000">
              <a:spcBef>
                <a:spcPts val="600"/>
              </a:spcBef>
              <a:spcAft>
                <a:spcPts val="1200"/>
              </a:spcAft>
            </a:pPr>
            <a:r>
              <a:rPr lang="en-US" sz="2200" dirty="0" smtClean="0">
                <a:latin typeface="Helvetica" pitchFamily="34" charset="0"/>
              </a:rPr>
              <a:t>Artificial plants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572132" y="2714620"/>
            <a:ext cx="1057274" cy="1057274"/>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786578" y="2500306"/>
            <a:ext cx="1066800" cy="1524000"/>
          </a:xfrm>
          <a:prstGeom prst="rect">
            <a:avLst/>
          </a:prstGeom>
        </p:spPr>
      </p:pic>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0420" y="1617681"/>
            <a:ext cx="8033546" cy="4525963"/>
          </a:xfrm>
        </p:spPr>
        <p:txBody>
          <a:bodyPr>
            <a:normAutofit/>
          </a:bodyPr>
          <a:lstStyle/>
          <a:p>
            <a:pPr marL="0" indent="0">
              <a:spcBef>
                <a:spcPts val="600"/>
              </a:spcBef>
              <a:spcAft>
                <a:spcPts val="1200"/>
              </a:spcAft>
              <a:buNone/>
            </a:pPr>
            <a:r>
              <a:rPr lang="en-US" sz="2200" dirty="0" smtClean="0">
                <a:latin typeface="Helvetica" pitchFamily="34" charset="0"/>
              </a:rPr>
              <a:t>Service style selected for a meal will be determined or influenced by:</a:t>
            </a:r>
          </a:p>
          <a:p>
            <a:pPr marL="360000" indent="-360000">
              <a:spcBef>
                <a:spcPts val="600"/>
              </a:spcBef>
              <a:spcAft>
                <a:spcPts val="1200"/>
              </a:spcAft>
            </a:pPr>
            <a:r>
              <a:rPr lang="en-US" sz="2200" dirty="0" smtClean="0">
                <a:latin typeface="Helvetica" pitchFamily="34" charset="0"/>
              </a:rPr>
              <a:t>Time of day, service session</a:t>
            </a:r>
          </a:p>
          <a:p>
            <a:pPr marL="360000" indent="-360000">
              <a:spcBef>
                <a:spcPts val="600"/>
              </a:spcBef>
              <a:spcAft>
                <a:spcPts val="1200"/>
              </a:spcAft>
            </a:pPr>
            <a:r>
              <a:rPr lang="en-US" sz="2200" dirty="0" smtClean="0">
                <a:latin typeface="Helvetica" pitchFamily="34" charset="0"/>
              </a:rPr>
              <a:t>Occasion</a:t>
            </a:r>
          </a:p>
          <a:p>
            <a:pPr marL="360000" indent="-360000">
              <a:spcBef>
                <a:spcPts val="600"/>
              </a:spcBef>
              <a:spcAft>
                <a:spcPts val="1200"/>
              </a:spcAft>
            </a:pPr>
            <a:r>
              <a:rPr lang="en-US" sz="2200" dirty="0" smtClean="0">
                <a:latin typeface="Helvetica" pitchFamily="34" charset="0"/>
              </a:rPr>
              <a:t>Number of courses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C:\Documents and Settings\Godaishu\Desktop\PHOTOS\2011\Valet.jpg"/>
          <p:cNvPicPr/>
          <p:nvPr/>
        </p:nvPicPr>
        <p:blipFill>
          <a:blip r:embed="rId3" cstate="print"/>
          <a:srcRect/>
          <a:stretch>
            <a:fillRect/>
          </a:stretch>
        </p:blipFill>
        <p:spPr bwMode="auto">
          <a:xfrm>
            <a:off x="5929322" y="2571744"/>
            <a:ext cx="1737678" cy="13716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85926"/>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Time constraints</a:t>
            </a:r>
          </a:p>
          <a:p>
            <a:pPr marL="360000" indent="-360000">
              <a:spcBef>
                <a:spcPts val="600"/>
              </a:spcBef>
              <a:spcAft>
                <a:spcPts val="1200"/>
              </a:spcAft>
            </a:pPr>
            <a:r>
              <a:rPr lang="en-US" sz="2200" dirty="0" smtClean="0">
                <a:latin typeface="Helvetica" pitchFamily="34" charset="0"/>
              </a:rPr>
              <a:t>Other activities</a:t>
            </a:r>
          </a:p>
          <a:p>
            <a:pPr marL="360000" indent="-360000">
              <a:spcBef>
                <a:spcPts val="600"/>
              </a:spcBef>
              <a:spcAft>
                <a:spcPts val="1200"/>
              </a:spcAft>
            </a:pPr>
            <a:r>
              <a:rPr lang="en-US" sz="2200" dirty="0" smtClean="0">
                <a:latin typeface="Helvetica" pitchFamily="34" charset="0"/>
              </a:rPr>
              <a:t>Customer preferences</a:t>
            </a:r>
          </a:p>
          <a:p>
            <a:pPr marL="360000" indent="-360000">
              <a:spcBef>
                <a:spcPts val="600"/>
              </a:spcBef>
              <a:spcAft>
                <a:spcPts val="1200"/>
              </a:spcAft>
            </a:pPr>
            <a:r>
              <a:rPr lang="en-US" sz="2200" dirty="0" smtClean="0">
                <a:latin typeface="Helvetica" pitchFamily="34" charset="0"/>
              </a:rPr>
              <a:t>Number of guests</a:t>
            </a:r>
          </a:p>
          <a:p>
            <a:pPr marL="360000" indent="-360000">
              <a:spcBef>
                <a:spcPts val="600"/>
              </a:spcBef>
              <a:spcAft>
                <a:spcPts val="1200"/>
              </a:spcAft>
            </a:pPr>
            <a:r>
              <a:rPr lang="en-US" sz="2200" dirty="0" smtClean="0">
                <a:latin typeface="Helvetica" pitchFamily="34" charset="0"/>
              </a:rPr>
              <a:t>Cuisine style</a:t>
            </a:r>
          </a:p>
          <a:p>
            <a:pPr marL="360000" indent="-360000">
              <a:spcBef>
                <a:spcPts val="600"/>
              </a:spcBef>
              <a:spcAft>
                <a:spcPts val="1200"/>
              </a:spcAft>
            </a:pPr>
            <a:r>
              <a:rPr lang="en-US" sz="2200" dirty="0" smtClean="0">
                <a:latin typeface="Helvetica" pitchFamily="34" charset="0"/>
              </a:rPr>
              <a:t>Menu style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122" name="Picture 2" descr="I:\Overseas Projects\PHOTOS\2012\F &amp; B 2012\set up table 2.jpg"/>
          <p:cNvPicPr>
            <a:picLocks noChangeAspect="1" noChangeArrowheads="1"/>
          </p:cNvPicPr>
          <p:nvPr/>
        </p:nvPicPr>
        <p:blipFill>
          <a:blip r:embed="rId3" cstate="print"/>
          <a:srcRect/>
          <a:stretch>
            <a:fillRect/>
          </a:stretch>
        </p:blipFill>
        <p:spPr bwMode="auto">
          <a:xfrm>
            <a:off x="5286380" y="2357430"/>
            <a:ext cx="2365878" cy="1571636"/>
          </a:xfrm>
          <a:prstGeom prst="rect">
            <a:avLst/>
          </a:prstGeom>
          <a:noFill/>
        </p:spPr>
      </p:pic>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Popular service styles:</a:t>
            </a:r>
          </a:p>
          <a:p>
            <a:pPr marL="360000" indent="-360000">
              <a:spcBef>
                <a:spcPts val="600"/>
              </a:spcBef>
              <a:spcAft>
                <a:spcPts val="1200"/>
              </a:spcAft>
            </a:pPr>
            <a:r>
              <a:rPr lang="en-US" sz="2200" dirty="0" smtClean="0">
                <a:latin typeface="Helvetica" pitchFamily="34" charset="0"/>
              </a:rPr>
              <a:t>A la carte</a:t>
            </a:r>
          </a:p>
          <a:p>
            <a:pPr marL="360000" indent="-360000">
              <a:spcBef>
                <a:spcPts val="600"/>
              </a:spcBef>
              <a:spcAft>
                <a:spcPts val="1200"/>
              </a:spcAft>
            </a:pPr>
            <a:r>
              <a:rPr lang="en-US" sz="2200" dirty="0" smtClean="0">
                <a:latin typeface="Helvetica" pitchFamily="34" charset="0"/>
              </a:rPr>
              <a:t>Function service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2050" name="Picture 2" descr="I:\Overseas Projects\PHOTOS\2012\Culinary 2012\631389_food_and_drink_1.jpg"/>
          <p:cNvPicPr>
            <a:picLocks noChangeAspect="1" noChangeArrowheads="1"/>
          </p:cNvPicPr>
          <p:nvPr/>
        </p:nvPicPr>
        <p:blipFill>
          <a:blip r:embed="rId3" cstate="print"/>
          <a:srcRect/>
          <a:stretch>
            <a:fillRect/>
          </a:stretch>
        </p:blipFill>
        <p:spPr bwMode="auto">
          <a:xfrm>
            <a:off x="5072066" y="2047879"/>
            <a:ext cx="2500310" cy="1666873"/>
          </a:xfrm>
          <a:prstGeom prst="rect">
            <a:avLst/>
          </a:prstGeom>
          <a:noFill/>
        </p:spPr>
      </p:pic>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857364"/>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Buffet service </a:t>
            </a:r>
          </a:p>
          <a:p>
            <a:pPr marL="360000" indent="-360000">
              <a:spcBef>
                <a:spcPts val="600"/>
              </a:spcBef>
              <a:spcAft>
                <a:spcPts val="1200"/>
              </a:spcAft>
            </a:pPr>
            <a:r>
              <a:rPr lang="en-US" sz="2200" dirty="0" smtClean="0">
                <a:latin typeface="Helvetica" pitchFamily="34" charset="0"/>
              </a:rPr>
              <a:t>Stand-up service – with finger foods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C:\Documents and Settings\Godaishu\Desktop\PHOTOS\Culinary 2012\Buffet Food\DSCF0453.JPG"/>
          <p:cNvPicPr/>
          <p:nvPr/>
        </p:nvPicPr>
        <p:blipFill>
          <a:blip r:embed="rId3" cstate="print"/>
          <a:srcRect/>
          <a:stretch>
            <a:fillRect/>
          </a:stretch>
        </p:blipFill>
        <p:spPr bwMode="auto">
          <a:xfrm>
            <a:off x="5929322" y="3286124"/>
            <a:ext cx="2147570" cy="16144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Family service</a:t>
            </a:r>
          </a:p>
          <a:p>
            <a:pPr marL="360000" indent="-360000">
              <a:spcBef>
                <a:spcPts val="600"/>
              </a:spcBef>
              <a:spcAft>
                <a:spcPts val="1200"/>
              </a:spcAft>
            </a:pPr>
            <a:r>
              <a:rPr lang="en-US" sz="2200" dirty="0" smtClean="0">
                <a:latin typeface="Helvetica" pitchFamily="34" charset="0"/>
              </a:rPr>
              <a:t>Gueridon service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bananas-foster-199x300.jpg"/>
          <p:cNvPicPr/>
          <p:nvPr/>
        </p:nvPicPr>
        <p:blipFill>
          <a:blip r:embed="rId3" cstate="print"/>
          <a:stretch>
            <a:fillRect/>
          </a:stretch>
        </p:blipFill>
        <p:spPr>
          <a:xfrm flipH="1">
            <a:off x="5356278" y="1785926"/>
            <a:ext cx="1540436" cy="2286016"/>
          </a:xfrm>
          <a:prstGeom prst="rect">
            <a:avLst/>
          </a:prstGeom>
        </p:spPr>
      </p:pic>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style to suit operation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Silver service – spoon and fork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descr="3977124990_4679a18af9_m.jpg"/>
          <p:cNvPicPr>
            <a:picLocks noChangeAspect="1"/>
          </p:cNvPicPr>
          <p:nvPr/>
        </p:nvPicPr>
        <p:blipFill>
          <a:blip r:embed="rId3" cstate="print"/>
          <a:stretch>
            <a:fillRect/>
          </a:stretch>
        </p:blipFill>
        <p:spPr>
          <a:xfrm>
            <a:off x="3571868" y="2714620"/>
            <a:ext cx="1714512" cy="2406334"/>
          </a:xfrm>
          <a:prstGeom prst="rect">
            <a:avLst/>
          </a:prstGeom>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flow for service style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‘Service flow’ refers to:</a:t>
            </a:r>
          </a:p>
          <a:p>
            <a:pPr marL="360000" indent="-360000">
              <a:spcBef>
                <a:spcPts val="600"/>
              </a:spcBef>
              <a:spcAft>
                <a:spcPts val="1200"/>
              </a:spcAft>
            </a:pPr>
            <a:r>
              <a:rPr lang="en-US" sz="2200" dirty="0" smtClean="0">
                <a:latin typeface="Helvetica" pitchFamily="34" charset="0"/>
              </a:rPr>
              <a:t>Activities to enable and support plating of food</a:t>
            </a:r>
          </a:p>
          <a:p>
            <a:pPr marL="360000" indent="-360000">
              <a:spcBef>
                <a:spcPts val="600"/>
              </a:spcBef>
              <a:spcAft>
                <a:spcPts val="1200"/>
              </a:spcAft>
            </a:pPr>
            <a:r>
              <a:rPr lang="en-US" sz="2200" dirty="0" smtClean="0">
                <a:latin typeface="Helvetica" pitchFamily="34" charset="0"/>
              </a:rPr>
              <a:t>Planning and sequencing of those activities in the most efficient and effective manner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3074" name="Picture 2" descr="I:\Overseas Projects\PHOTOS\2012\F &amp; B 2012\shutterstock_61330105.jpg"/>
          <p:cNvPicPr>
            <a:picLocks noChangeAspect="1" noChangeArrowheads="1"/>
          </p:cNvPicPr>
          <p:nvPr/>
        </p:nvPicPr>
        <p:blipFill>
          <a:blip r:embed="rId3" cstate="print"/>
          <a:srcRect/>
          <a:stretch>
            <a:fillRect/>
          </a:stretch>
        </p:blipFill>
        <p:spPr bwMode="auto">
          <a:xfrm>
            <a:off x="3000364" y="3857628"/>
            <a:ext cx="3048000" cy="2033587"/>
          </a:xfrm>
          <a:prstGeom prst="rect">
            <a:avLst/>
          </a:prstGeom>
          <a:noFill/>
        </p:spPr>
      </p:pic>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flow for service style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Factors to consider when determining service flow:</a:t>
            </a:r>
          </a:p>
          <a:p>
            <a:pPr marL="360000" indent="-360000">
              <a:spcBef>
                <a:spcPts val="600"/>
              </a:spcBef>
              <a:spcAft>
                <a:spcPts val="1200"/>
              </a:spcAft>
            </a:pPr>
            <a:r>
              <a:rPr lang="en-US" sz="2200" dirty="0" smtClean="0">
                <a:latin typeface="Helvetica" pitchFamily="34" charset="0"/>
              </a:rPr>
              <a:t>The unique nature of every service session – </a:t>
            </a:r>
            <a:br>
              <a:rPr lang="en-US" sz="2200" dirty="0" smtClean="0">
                <a:latin typeface="Helvetica" pitchFamily="34" charset="0"/>
              </a:rPr>
            </a:br>
            <a:r>
              <a:rPr lang="en-US" sz="2200" dirty="0" smtClean="0">
                <a:latin typeface="Helvetica" pitchFamily="34" charset="0"/>
              </a:rPr>
              <a:t>taking into account (for example):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Service style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‘production line’ plating or ‘individual’ </a:t>
            </a:r>
            <a:br>
              <a:rPr lang="en-US" sz="2200" dirty="0" smtClean="0">
                <a:latin typeface="Helvetica" pitchFamily="34" charset="0"/>
              </a:rPr>
            </a:br>
            <a:r>
              <a:rPr lang="en-US" sz="2200" dirty="0" smtClean="0">
                <a:latin typeface="Helvetica" pitchFamily="34" charset="0"/>
              </a:rPr>
              <a:t>plating is most appropriate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4098" name="Picture 2" descr="I:\Overseas Projects\PHOTOS\2012\Culinary 2011\Preparefood.jpg"/>
          <p:cNvPicPr>
            <a:picLocks noChangeAspect="1" noChangeArrowheads="1"/>
          </p:cNvPicPr>
          <p:nvPr/>
        </p:nvPicPr>
        <p:blipFill>
          <a:blip r:embed="rId3" cstate="print"/>
          <a:srcRect/>
          <a:stretch>
            <a:fillRect/>
          </a:stretch>
        </p:blipFill>
        <p:spPr bwMode="auto">
          <a:xfrm>
            <a:off x="7286644" y="2214554"/>
            <a:ext cx="1238868" cy="1857388"/>
          </a:xfrm>
          <a:prstGeom prst="rect">
            <a:avLst/>
          </a:prstGeom>
          <a:noFill/>
        </p:spPr>
      </p:pic>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service flow for service style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Need to allocate sufficient space for plating and service</a:t>
            </a:r>
          </a:p>
          <a:p>
            <a:pPr marL="360000" indent="-360000">
              <a:spcBef>
                <a:spcPts val="600"/>
              </a:spcBef>
              <a:spcAft>
                <a:spcPts val="1200"/>
              </a:spcAft>
            </a:pPr>
            <a:r>
              <a:rPr lang="en-US" sz="2200" dirty="0" smtClean="0">
                <a:latin typeface="Helvetica" pitchFamily="34" charset="0"/>
              </a:rPr>
              <a:t>Need to allocate sufficient resources, equipment and utensils</a:t>
            </a:r>
          </a:p>
          <a:p>
            <a:pPr marL="360000" indent="-360000">
              <a:spcBef>
                <a:spcPts val="600"/>
              </a:spcBef>
              <a:spcAft>
                <a:spcPts val="1200"/>
              </a:spcAft>
            </a:pPr>
            <a:r>
              <a:rPr lang="en-US" sz="2200" dirty="0" smtClean="0">
                <a:latin typeface="Helvetica" pitchFamily="34" charset="0"/>
              </a:rPr>
              <a:t>Need to allocate sufficient staff</a:t>
            </a:r>
          </a:p>
          <a:p>
            <a:pPr marL="360000" indent="-360000">
              <a:spcBef>
                <a:spcPts val="600"/>
              </a:spcBef>
              <a:spcAft>
                <a:spcPts val="1200"/>
              </a:spcAft>
            </a:pPr>
            <a:r>
              <a:rPr lang="en-US" sz="2200" dirty="0" smtClean="0">
                <a:latin typeface="Helvetica" pitchFamily="34" charset="0"/>
              </a:rPr>
              <a:t>Need to allocate individual tasks and roles</a:t>
            </a:r>
          </a:p>
          <a:p>
            <a:pPr marL="360000" indent="-360000">
              <a:spcBef>
                <a:spcPts val="600"/>
              </a:spcBef>
              <a:spcAft>
                <a:spcPts val="1200"/>
              </a:spcAft>
            </a:pPr>
            <a:r>
              <a:rPr lang="en-US" sz="2200" dirty="0" smtClean="0">
                <a:latin typeface="Helvetica" pitchFamily="34" charset="0"/>
              </a:rPr>
              <a:t>Need to factor in required service times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146" name="Picture 2" descr="I:\Overseas Projects\PHOTOS\2012\F &amp; B 2012\shutterstock_100068119.jpg"/>
          <p:cNvPicPr>
            <a:picLocks noChangeAspect="1" noChangeArrowheads="1"/>
          </p:cNvPicPr>
          <p:nvPr/>
        </p:nvPicPr>
        <p:blipFill>
          <a:blip r:embed="rId3" cstate="print"/>
          <a:srcRect/>
          <a:stretch>
            <a:fillRect/>
          </a:stretch>
        </p:blipFill>
        <p:spPr bwMode="auto">
          <a:xfrm>
            <a:off x="6786578" y="2857496"/>
            <a:ext cx="1604626" cy="2405060"/>
          </a:xfrm>
          <a:prstGeom prst="rect">
            <a:avLst/>
          </a:prstGeom>
          <a:noFill/>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4729728"/>
          </a:xfrm>
        </p:spPr>
        <p:txBody>
          <a:bodyPr>
            <a:normAutofit/>
          </a:bodyPr>
          <a:lstStyle/>
          <a:p>
            <a:pPr marL="0" indent="0">
              <a:spcBef>
                <a:spcPts val="600"/>
              </a:spcBef>
              <a:spcAft>
                <a:spcPts val="1200"/>
              </a:spcAft>
              <a:buNone/>
            </a:pPr>
            <a:r>
              <a:rPr lang="en-US" sz="2200" dirty="0" smtClean="0">
                <a:latin typeface="Helvetica" pitchFamily="34" charset="0"/>
              </a:rPr>
              <a:t>When setting up kitchen for food service:</a:t>
            </a:r>
          </a:p>
          <a:p>
            <a:pPr>
              <a:spcBef>
                <a:spcPts val="600"/>
              </a:spcBef>
              <a:spcAft>
                <a:spcPts val="600"/>
              </a:spcAft>
            </a:pPr>
            <a:r>
              <a:rPr lang="en-AU" sz="2200" dirty="0" smtClean="0">
                <a:latin typeface="Helvetica" pitchFamily="34" charset="0"/>
              </a:rPr>
              <a:t>Allocate staff to the serving/plating process</a:t>
            </a:r>
          </a:p>
          <a:p>
            <a:pPr>
              <a:spcBef>
                <a:spcPts val="600"/>
              </a:spcBef>
              <a:spcAft>
                <a:spcPts val="600"/>
              </a:spcAft>
            </a:pPr>
            <a:r>
              <a:rPr lang="en-AU" sz="2200" dirty="0" smtClean="0">
                <a:latin typeface="Helvetica" pitchFamily="34" charset="0"/>
              </a:rPr>
              <a:t>Train staff in food presentation requirements and standards</a:t>
            </a:r>
          </a:p>
          <a:p>
            <a:pPr>
              <a:spcBef>
                <a:spcPts val="600"/>
              </a:spcBef>
              <a:spcAft>
                <a:spcPts val="600"/>
              </a:spcAft>
            </a:pPr>
            <a:r>
              <a:rPr lang="en-AU" sz="2200" dirty="0" smtClean="0">
                <a:latin typeface="Helvetica" pitchFamily="34" charset="0"/>
              </a:rPr>
              <a:t>Allocate sufficient and appropriate service and portioning equipment and utensils to plating activities</a:t>
            </a:r>
          </a:p>
          <a:p>
            <a:pPr>
              <a:spcBef>
                <a:spcPts val="600"/>
              </a:spcBef>
              <a:spcAft>
                <a:spcPts val="600"/>
              </a:spcAft>
            </a:pPr>
            <a:r>
              <a:rPr lang="en-AU" sz="2200" dirty="0" smtClean="0"/>
              <a:t>Ensure consistent and attractive appearance of food on the plate</a:t>
            </a:r>
          </a:p>
          <a:p>
            <a:pPr>
              <a:spcBef>
                <a:spcPts val="600"/>
              </a:spcBef>
              <a:spcAft>
                <a:spcPts val="600"/>
              </a:spcAft>
            </a:pPr>
            <a:r>
              <a:rPr lang="en-AU" sz="2200" dirty="0" smtClean="0"/>
              <a:t>Select appropriate food service and display platforms</a:t>
            </a:r>
          </a:p>
          <a:p>
            <a:pPr>
              <a:spcBef>
                <a:spcPts val="600"/>
              </a:spcBef>
              <a:spcAft>
                <a:spcPts val="600"/>
              </a:spcAft>
            </a:pPr>
            <a:r>
              <a:rPr lang="en-AU" sz="2200" dirty="0" smtClean="0"/>
              <a:t>Factor in the need for standard portion sizes</a:t>
            </a:r>
          </a:p>
          <a:p>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000892" y="1643050"/>
            <a:ext cx="1515745" cy="1500198"/>
          </a:xfrm>
          <a:prstGeom prst="rect">
            <a:avLst/>
          </a:prstGeom>
          <a:noFill/>
        </p:spPr>
      </p:pic>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Check the visual appearance of meals and plates </a:t>
            </a:r>
            <a:br>
              <a:rPr lang="en-AU" sz="2200" dirty="0" smtClean="0">
                <a:latin typeface="Helvetica" pitchFamily="34" charset="0"/>
              </a:rPr>
            </a:br>
            <a:r>
              <a:rPr lang="en-AU" sz="2200" dirty="0" smtClean="0">
                <a:latin typeface="Helvetica" pitchFamily="34" charset="0"/>
              </a:rPr>
              <a:t>before they are released for service</a:t>
            </a:r>
          </a:p>
          <a:p>
            <a:pPr>
              <a:spcBef>
                <a:spcPts val="600"/>
              </a:spcBef>
              <a:spcAft>
                <a:spcPts val="1200"/>
              </a:spcAft>
            </a:pPr>
            <a:r>
              <a:rPr lang="en-AU" sz="2200" dirty="0" smtClean="0">
                <a:latin typeface="Helvetica" pitchFamily="34" charset="0"/>
              </a:rPr>
              <a:t>Understand the impacting of plating food on </a:t>
            </a:r>
            <a:br>
              <a:rPr lang="en-AU" sz="2200" dirty="0" smtClean="0">
                <a:latin typeface="Helvetica" pitchFamily="34" charset="0"/>
              </a:rPr>
            </a:br>
            <a:r>
              <a:rPr lang="en-AU" sz="2200" dirty="0" smtClean="0">
                <a:latin typeface="Helvetica" pitchFamily="34" charset="0"/>
              </a:rPr>
              <a:t>customer perception of the venue</a:t>
            </a:r>
          </a:p>
          <a:p>
            <a:pPr>
              <a:spcBef>
                <a:spcPts val="600"/>
              </a:spcBef>
              <a:spcAft>
                <a:spcPts val="1200"/>
              </a:spcAft>
            </a:pPr>
            <a:r>
              <a:rPr lang="en-AU" sz="2200" dirty="0" smtClean="0">
                <a:latin typeface="Helvetica" pitchFamily="34" charset="0"/>
              </a:rPr>
              <a:t>Determine an appropriate service style to reflect menu, customer preferences and operational requirements</a:t>
            </a:r>
          </a:p>
          <a:p>
            <a:pPr>
              <a:spcBef>
                <a:spcPts val="600"/>
              </a:spcBef>
              <a:spcAft>
                <a:spcPts val="1200"/>
              </a:spcAft>
            </a:pPr>
            <a:r>
              <a:rPr lang="en-AU" sz="2200" dirty="0" smtClean="0">
                <a:latin typeface="Helvetica" pitchFamily="34" charset="0"/>
              </a:rPr>
              <a:t>Establish a service flow to support and enable the requirements of the service style and menu</a:t>
            </a:r>
          </a:p>
          <a:p>
            <a:pPr>
              <a:spcBef>
                <a:spcPts val="600"/>
              </a:spcBef>
              <a:spcAft>
                <a:spcPts val="600"/>
              </a:spcAft>
            </a:pPr>
            <a:endParaRPr lang="en-AU" sz="2200" dirty="0" smtClean="0">
              <a:latin typeface="Helvetica" pitchFamily="34" charset="0"/>
            </a:endParaRPr>
          </a:p>
          <a:p>
            <a:pPr>
              <a:spcBef>
                <a:spcPts val="600"/>
              </a:spcBef>
              <a:spcAft>
                <a:spcPts val="600"/>
              </a:spcAft>
            </a:pPr>
            <a:endParaRPr lang="en-AU"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429520" y="1857364"/>
            <a:ext cx="1515745" cy="1500198"/>
          </a:xfrm>
          <a:prstGeom prst="rect">
            <a:avLst/>
          </a:prstGeom>
          <a:noFill/>
        </p:spPr>
      </p:pic>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and store products for food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Use appropriate preparation and cooking methods</a:t>
            </a:r>
          </a:p>
          <a:p>
            <a:pPr marL="360000" indent="-360000">
              <a:spcBef>
                <a:spcPts val="600"/>
              </a:spcBef>
              <a:spcAft>
                <a:spcPts val="1200"/>
              </a:spcAft>
            </a:pPr>
            <a:r>
              <a:rPr lang="en-US" sz="2200" dirty="0" smtClean="0">
                <a:latin typeface="Helvetica" pitchFamily="34" charset="0"/>
              </a:rPr>
              <a:t>Use appropriate equipment</a:t>
            </a:r>
          </a:p>
          <a:p>
            <a:pPr marL="360000" indent="-360000">
              <a:spcBef>
                <a:spcPts val="600"/>
              </a:spcBef>
              <a:spcAft>
                <a:spcPts val="1200"/>
              </a:spcAft>
            </a:pPr>
            <a:r>
              <a:rPr lang="en-US" sz="2200" dirty="0" smtClean="0">
                <a:latin typeface="Helvetica" pitchFamily="34" charset="0"/>
              </a:rPr>
              <a:t>Follow food safety requirements</a:t>
            </a:r>
          </a:p>
          <a:p>
            <a:pPr marL="360000" indent="-360000">
              <a:spcBef>
                <a:spcPts val="600"/>
              </a:spcBef>
              <a:spcAft>
                <a:spcPts val="1200"/>
              </a:spcAft>
            </a:pPr>
            <a:r>
              <a:rPr lang="en-US" sz="2200" dirty="0" smtClean="0">
                <a:latin typeface="Helvetica" pitchFamily="34" charset="0"/>
              </a:rPr>
              <a:t>Hold menu items</a:t>
            </a:r>
          </a:p>
          <a:p>
            <a:pPr marL="360000" indent="-360000">
              <a:spcBef>
                <a:spcPts val="600"/>
              </a:spcBef>
              <a:spcAft>
                <a:spcPts val="1200"/>
              </a:spcAft>
            </a:pPr>
            <a:r>
              <a:rPr lang="en-US" sz="2200" dirty="0" smtClean="0">
                <a:latin typeface="Helvetica" pitchFamily="34" charset="0"/>
              </a:rPr>
              <a:t>Reheat menu items</a:t>
            </a:r>
          </a:p>
          <a:p>
            <a:pPr marL="360000" indent="-360000">
              <a:spcBef>
                <a:spcPts val="600"/>
              </a:spcBef>
              <a:spcAft>
                <a:spcPts val="1200"/>
              </a:spcAft>
            </a:pPr>
            <a:r>
              <a:rPr lang="en-US" sz="2200" dirty="0" smtClean="0">
                <a:latin typeface="Helvetica" pitchFamily="34" charset="0"/>
              </a:rPr>
              <a:t>Serve and present food items in line with customer volume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7366025" y="2110596"/>
            <a:ext cx="349247" cy="461148"/>
          </a:xfrm>
          <a:prstGeom prst="rect">
            <a:avLst/>
          </a:prstGeom>
          <a:noFill/>
        </p:spPr>
      </p:pic>
      <p:pic>
        <p:nvPicPr>
          <p:cNvPr id="6"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4508505" y="2714620"/>
            <a:ext cx="349247" cy="461148"/>
          </a:xfrm>
          <a:prstGeom prst="rect">
            <a:avLst/>
          </a:prstGeom>
          <a:noFill/>
        </p:spPr>
      </p:pic>
      <p:pic>
        <p:nvPicPr>
          <p:cNvPr id="7"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5080009" y="3253604"/>
            <a:ext cx="349247" cy="461148"/>
          </a:xfrm>
          <a:prstGeom prst="rect">
            <a:avLst/>
          </a:prstGeom>
          <a:noFill/>
        </p:spPr>
      </p:pic>
      <p:pic>
        <p:nvPicPr>
          <p:cNvPr id="8"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3222621" y="3786190"/>
            <a:ext cx="349247" cy="461148"/>
          </a:xfrm>
          <a:prstGeom prst="rect">
            <a:avLst/>
          </a:prstGeom>
          <a:noFill/>
        </p:spPr>
      </p:pic>
      <p:pic>
        <p:nvPicPr>
          <p:cNvPr id="9"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3579811" y="4357694"/>
            <a:ext cx="349247" cy="461148"/>
          </a:xfrm>
          <a:prstGeom prst="rect">
            <a:avLst/>
          </a:prstGeom>
          <a:noFill/>
        </p:spPr>
      </p:pic>
      <p:pic>
        <p:nvPicPr>
          <p:cNvPr id="10"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2008175" y="5325306"/>
            <a:ext cx="349247" cy="461148"/>
          </a:xfrm>
          <a:prstGeom prst="rect">
            <a:avLst/>
          </a:prstGeom>
          <a:noFill/>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‘Mise en place’ (Fr) = to put in place:</a:t>
            </a:r>
          </a:p>
          <a:p>
            <a:pPr marL="360000" indent="-360000">
              <a:spcBef>
                <a:spcPts val="600"/>
              </a:spcBef>
              <a:spcAft>
                <a:spcPts val="1200"/>
              </a:spcAft>
            </a:pPr>
            <a:r>
              <a:rPr lang="en-US" sz="2200" dirty="0" smtClean="0">
                <a:latin typeface="Helvetica" pitchFamily="34" charset="0"/>
              </a:rPr>
              <a:t>Activities can include (for example):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Obtaining and measuring ingredients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Obtaining cooking and preparation </a:t>
            </a:r>
            <a:br>
              <a:rPr lang="en-US" sz="2200" dirty="0" smtClean="0">
                <a:latin typeface="Helvetica" pitchFamily="34" charset="0"/>
              </a:rPr>
            </a:br>
            <a:r>
              <a:rPr lang="en-US" sz="2200" dirty="0" smtClean="0">
                <a:latin typeface="Helvetica" pitchFamily="34" charset="0"/>
              </a:rPr>
              <a:t>equipment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Preparing ingredients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Verifying all utensils and requirements are ready for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7170" name="Picture 2" descr="I:\Overseas Projects\PHOTOS\2012\Culinary 2012\Cookery\Chef cooking2.jpg"/>
          <p:cNvPicPr>
            <a:picLocks noChangeAspect="1" noChangeArrowheads="1"/>
          </p:cNvPicPr>
          <p:nvPr/>
        </p:nvPicPr>
        <p:blipFill>
          <a:blip r:embed="rId3" cstate="print"/>
          <a:srcRect/>
          <a:stretch>
            <a:fillRect/>
          </a:stretch>
        </p:blipFill>
        <p:spPr bwMode="auto">
          <a:xfrm>
            <a:off x="6090548" y="2428868"/>
            <a:ext cx="2154925" cy="1428760"/>
          </a:xfrm>
          <a:prstGeom prst="rect">
            <a:avLst/>
          </a:prstGeom>
          <a:noFill/>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Mise en place is done to get everything ready to prepare and produce a dish – not undertaking mise en place can result in:</a:t>
            </a:r>
          </a:p>
          <a:p>
            <a:pPr marL="360000" indent="-360000">
              <a:spcBef>
                <a:spcPts val="600"/>
              </a:spcBef>
              <a:spcAft>
                <a:spcPts val="1200"/>
              </a:spcAft>
            </a:pPr>
            <a:r>
              <a:rPr lang="en-US" sz="2200" dirty="0" smtClean="0">
                <a:latin typeface="Helvetica" pitchFamily="34" charset="0"/>
              </a:rPr>
              <a:t>Lower quality end products</a:t>
            </a:r>
          </a:p>
          <a:p>
            <a:pPr marL="360000" indent="-360000">
              <a:spcBef>
                <a:spcPts val="600"/>
              </a:spcBef>
              <a:spcAft>
                <a:spcPts val="1200"/>
              </a:spcAft>
            </a:pPr>
            <a:r>
              <a:rPr lang="en-US" sz="2200" dirty="0" smtClean="0">
                <a:latin typeface="Helvetica" pitchFamily="34" charset="0"/>
              </a:rPr>
              <a:t>Food wastage</a:t>
            </a:r>
          </a:p>
          <a:p>
            <a:pPr marL="360000" indent="-360000">
              <a:spcBef>
                <a:spcPts val="600"/>
              </a:spcBef>
              <a:spcAft>
                <a:spcPts val="1200"/>
              </a:spcAft>
            </a:pPr>
            <a:r>
              <a:rPr lang="en-US" sz="2200" dirty="0" smtClean="0">
                <a:latin typeface="Helvetica" pitchFamily="34" charset="0"/>
              </a:rPr>
              <a:t>Less customer satisfaction</a:t>
            </a:r>
          </a:p>
          <a:p>
            <a:pPr marL="360000" indent="-360000">
              <a:spcBef>
                <a:spcPts val="600"/>
              </a:spcBef>
              <a:spcAft>
                <a:spcPts val="1200"/>
              </a:spcAft>
            </a:pPr>
            <a:r>
              <a:rPr lang="en-US" sz="2200" dirty="0" smtClean="0">
                <a:latin typeface="Helvetica" pitchFamily="34" charset="0"/>
              </a:rPr>
              <a:t>Reduced potential for repeat and referral business</a:t>
            </a:r>
          </a:p>
          <a:p>
            <a:pPr marL="360000" indent="-360000">
              <a:spcBef>
                <a:spcPts val="600"/>
              </a:spcBef>
              <a:spcAft>
                <a:spcPts val="1200"/>
              </a:spcAft>
            </a:pPr>
            <a:r>
              <a:rPr lang="en-US" sz="2200" dirty="0" smtClean="0">
                <a:latin typeface="Helvetica" pitchFamily="34" charset="0"/>
              </a:rPr>
              <a:t>Slow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8194" name="Picture 2" descr="I:\Overseas Projects\PHOTOS\2012\Culinary 2012\Cookery\MP900177954(2).JPG"/>
          <p:cNvPicPr>
            <a:picLocks noChangeAspect="1" noChangeArrowheads="1"/>
          </p:cNvPicPr>
          <p:nvPr/>
        </p:nvPicPr>
        <p:blipFill>
          <a:blip r:embed="rId3" cstate="print"/>
          <a:srcRect/>
          <a:stretch>
            <a:fillRect/>
          </a:stretch>
        </p:blipFill>
        <p:spPr bwMode="auto">
          <a:xfrm>
            <a:off x="6143636" y="3000372"/>
            <a:ext cx="2062159" cy="1374773"/>
          </a:xfrm>
          <a:prstGeom prst="rect">
            <a:avLst/>
          </a:prstGeom>
          <a:noFill/>
        </p:spPr>
      </p:pic>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dirty="0" smtClean="0">
                <a:latin typeface="Helvetica" pitchFamily="34" charset="0"/>
              </a:rPr>
              <a:t>Washing and cleaning fruits and vegetables:</a:t>
            </a:r>
          </a:p>
          <a:p>
            <a:pPr marL="360000" indent="-360000">
              <a:spcBef>
                <a:spcPts val="600"/>
              </a:spcBef>
              <a:spcAft>
                <a:spcPts val="1200"/>
              </a:spcAft>
            </a:pPr>
            <a:r>
              <a:rPr lang="en-US" sz="2200" dirty="0" smtClean="0">
                <a:latin typeface="Helvetica" pitchFamily="34" charset="0"/>
              </a:rPr>
              <a:t>Should be standard practice for all fruits and vegetables used</a:t>
            </a:r>
          </a:p>
          <a:p>
            <a:pPr marL="360000" indent="-360000">
              <a:spcBef>
                <a:spcPts val="600"/>
              </a:spcBef>
              <a:spcAft>
                <a:spcPts val="1200"/>
              </a:spcAft>
            </a:pPr>
            <a:r>
              <a:rPr lang="en-US" sz="2200" dirty="0" smtClean="0">
                <a:latin typeface="Helvetica" pitchFamily="34" charset="0"/>
              </a:rPr>
              <a:t>Use a sanitiser</a:t>
            </a:r>
          </a:p>
          <a:p>
            <a:pPr marL="360000" indent="-360000">
              <a:spcBef>
                <a:spcPts val="600"/>
              </a:spcBef>
              <a:spcAft>
                <a:spcPts val="1200"/>
              </a:spcAft>
            </a:pPr>
            <a:r>
              <a:rPr lang="en-US" sz="2200" dirty="0" smtClean="0">
                <a:latin typeface="Helvetica" pitchFamily="34" charset="0"/>
              </a:rPr>
              <a:t>Wash in cold water</a:t>
            </a:r>
          </a:p>
          <a:p>
            <a:pPr marL="360000" indent="-360000">
              <a:spcBef>
                <a:spcPts val="600"/>
              </a:spcBef>
              <a:spcAft>
                <a:spcPts val="1200"/>
              </a:spcAft>
            </a:pPr>
            <a:r>
              <a:rPr lang="en-US" sz="2200" dirty="0" smtClean="0">
                <a:latin typeface="Helvetica" pitchFamily="34" charset="0"/>
              </a:rPr>
              <a:t>Wash well, and wash several times</a:t>
            </a:r>
          </a:p>
          <a:p>
            <a:pPr marL="360000" indent="-360000">
              <a:spcBef>
                <a:spcPts val="600"/>
              </a:spcBef>
              <a:spcAft>
                <a:spcPts val="1200"/>
              </a:spcAft>
            </a:pPr>
            <a:r>
              <a:rPr lang="en-US" sz="2200" dirty="0" smtClean="0">
                <a:latin typeface="Helvetica" pitchFamily="34" charset="0"/>
              </a:rPr>
              <a:t>Scrub root vegetables with stiff brush under running water</a:t>
            </a:r>
          </a:p>
          <a:p>
            <a:pPr marL="360000" indent="-360000">
              <a:spcBef>
                <a:spcPts val="600"/>
              </a:spcBef>
              <a:spcAft>
                <a:spcPts val="1200"/>
              </a:spcAft>
            </a:pPr>
            <a:r>
              <a:rPr lang="en-US" sz="2200" dirty="0" smtClean="0">
                <a:latin typeface="Helvetica" pitchFamily="34" charset="0"/>
              </a:rPr>
              <a:t>Drain after washing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Vegie.jpg"/>
          <p:cNvPicPr/>
          <p:nvPr/>
        </p:nvPicPr>
        <p:blipFill>
          <a:blip r:embed="rId3" cstate="print"/>
          <a:stretch>
            <a:fillRect/>
          </a:stretch>
        </p:blipFill>
        <p:spPr>
          <a:xfrm>
            <a:off x="6732101" y="2928934"/>
            <a:ext cx="1395915" cy="1214446"/>
          </a:xfrm>
          <a:prstGeom prst="rect">
            <a:avLst/>
          </a:prstGeom>
          <a:noFill/>
          <a:ln>
            <a:noFill/>
          </a:ln>
        </p:spPr>
      </p:pic>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Peeling and trimming:</a:t>
            </a:r>
          </a:p>
          <a:p>
            <a:pPr marL="360000" indent="-360000">
              <a:spcBef>
                <a:spcPts val="600"/>
              </a:spcBef>
              <a:spcAft>
                <a:spcPts val="1200"/>
              </a:spcAft>
            </a:pPr>
            <a:r>
              <a:rPr lang="en-US" sz="2200" dirty="0" smtClean="0">
                <a:latin typeface="Helvetica" pitchFamily="34" charset="0"/>
              </a:rPr>
              <a:t>Should be done after washing and cleaning</a:t>
            </a:r>
          </a:p>
          <a:p>
            <a:pPr marL="360000" indent="-360000">
              <a:spcBef>
                <a:spcPts val="600"/>
              </a:spcBef>
              <a:spcAft>
                <a:spcPts val="1200"/>
              </a:spcAft>
            </a:pPr>
            <a:r>
              <a:rPr lang="en-AU" sz="2200" dirty="0" smtClean="0">
                <a:latin typeface="Helvetica" pitchFamily="34" charset="0"/>
              </a:rPr>
              <a:t>A peeler, a chef’s knife or a paring knife may be used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9218" name="Picture 2" descr="C:\Documents and Settings\danielc\Local Settings\Temporary Internet Files\Content.IE5\V9A2RTT8\MC900217548[1].wmf"/>
          <p:cNvPicPr>
            <a:picLocks noChangeAspect="1" noChangeArrowheads="1"/>
          </p:cNvPicPr>
          <p:nvPr/>
        </p:nvPicPr>
        <p:blipFill>
          <a:blip r:embed="rId3" cstate="print"/>
          <a:srcRect/>
          <a:stretch>
            <a:fillRect/>
          </a:stretch>
        </p:blipFill>
        <p:spPr bwMode="auto">
          <a:xfrm>
            <a:off x="4500562" y="3786190"/>
            <a:ext cx="1822399" cy="1397203"/>
          </a:xfrm>
          <a:prstGeom prst="rect">
            <a:avLst/>
          </a:prstGeom>
          <a:noFill/>
        </p:spPr>
      </p:pic>
      <p:pic>
        <p:nvPicPr>
          <p:cNvPr id="9219" name="Picture 3" descr="C:\Documents and Settings\danielc\Local Settings\Temporary Internet Files\Content.IE5\3Y3SDCJX\MC900252165[1].wmf"/>
          <p:cNvPicPr>
            <a:picLocks noChangeAspect="1" noChangeArrowheads="1"/>
          </p:cNvPicPr>
          <p:nvPr/>
        </p:nvPicPr>
        <p:blipFill>
          <a:blip r:embed="rId4" cstate="print"/>
          <a:srcRect/>
          <a:stretch>
            <a:fillRect/>
          </a:stretch>
        </p:blipFill>
        <p:spPr bwMode="auto">
          <a:xfrm>
            <a:off x="2071670" y="3929066"/>
            <a:ext cx="1825142" cy="1221638"/>
          </a:xfrm>
          <a:prstGeom prst="rect">
            <a:avLst/>
          </a:prstGeom>
          <a:noFill/>
        </p:spPr>
      </p:pic>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Peelings:</a:t>
            </a:r>
          </a:p>
          <a:p>
            <a:pPr marL="360000" indent="-360000">
              <a:spcBef>
                <a:spcPts val="600"/>
              </a:spcBef>
              <a:spcAft>
                <a:spcPts val="1200"/>
              </a:spcAft>
            </a:pPr>
            <a:r>
              <a:rPr lang="en-US" sz="2200" dirty="0" smtClean="0">
                <a:latin typeface="Helvetica" pitchFamily="34" charset="0"/>
              </a:rPr>
              <a:t>Are </a:t>
            </a:r>
            <a:r>
              <a:rPr lang="en-AU" sz="2200" dirty="0" smtClean="0">
                <a:latin typeface="Helvetica" pitchFamily="34" charset="0"/>
              </a:rPr>
              <a:t>the outside skins, tops and tails from fruit and vegetables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May be discarded</a:t>
            </a:r>
          </a:p>
          <a:p>
            <a:pPr marL="360000" indent="-360000">
              <a:spcBef>
                <a:spcPts val="600"/>
              </a:spcBef>
              <a:spcAft>
                <a:spcPts val="1200"/>
              </a:spcAft>
            </a:pPr>
            <a:r>
              <a:rPr lang="en-US" sz="2200" dirty="0" smtClean="0">
                <a:latin typeface="Helvetica" pitchFamily="34" charset="0"/>
              </a:rPr>
              <a:t>Should be ‘thin’ to preserve nutrients and save </a:t>
            </a:r>
            <a:br>
              <a:rPr lang="en-US" sz="2200" dirty="0" smtClean="0">
                <a:latin typeface="Helvetica" pitchFamily="34" charset="0"/>
              </a:rPr>
            </a:br>
            <a:r>
              <a:rPr lang="en-US" sz="2200" dirty="0" smtClean="0">
                <a:latin typeface="Helvetica" pitchFamily="34" charset="0"/>
              </a:rPr>
              <a:t>wastage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10242" name="Picture 2" descr="C:\Documents and Settings\danielc\Local Settings\Temporary Internet Files\Content.IE5\XGIII3N1\MC900347411[1].wmf"/>
          <p:cNvPicPr>
            <a:picLocks noChangeAspect="1" noChangeArrowheads="1"/>
          </p:cNvPicPr>
          <p:nvPr/>
        </p:nvPicPr>
        <p:blipFill>
          <a:blip r:embed="rId3" cstate="print"/>
          <a:srcRect/>
          <a:stretch>
            <a:fillRect/>
          </a:stretch>
        </p:blipFill>
        <p:spPr bwMode="auto">
          <a:xfrm>
            <a:off x="7215206" y="2571744"/>
            <a:ext cx="1163117" cy="1819656"/>
          </a:xfrm>
          <a:prstGeom prst="rect">
            <a:avLst/>
          </a:prstGeom>
          <a:noFill/>
        </p:spPr>
      </p:pic>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Trimmings:</a:t>
            </a:r>
          </a:p>
          <a:p>
            <a:pPr marL="360000" indent="-360000">
              <a:spcBef>
                <a:spcPts val="600"/>
              </a:spcBef>
              <a:spcAft>
                <a:spcPts val="1200"/>
              </a:spcAft>
            </a:pPr>
            <a:r>
              <a:rPr lang="en-US" sz="2200" dirty="0" smtClean="0">
                <a:latin typeface="Helvetica" pitchFamily="34" charset="0"/>
              </a:rPr>
              <a:t>Are edible off-cuts</a:t>
            </a:r>
          </a:p>
          <a:p>
            <a:pPr marL="360000" indent="-360000">
              <a:spcBef>
                <a:spcPts val="600"/>
              </a:spcBef>
              <a:spcAft>
                <a:spcPts val="1200"/>
              </a:spcAft>
            </a:pPr>
            <a:r>
              <a:rPr lang="en-US" sz="2200" dirty="0" smtClean="0">
                <a:latin typeface="Helvetica" pitchFamily="34" charset="0"/>
              </a:rPr>
              <a:t>Can be used in stocks, soups, mirepoix and </a:t>
            </a:r>
            <a:br>
              <a:rPr lang="en-US" sz="2200" dirty="0" smtClean="0">
                <a:latin typeface="Helvetica" pitchFamily="34" charset="0"/>
              </a:rPr>
            </a:br>
            <a:r>
              <a:rPr lang="en-US" sz="2200" dirty="0" smtClean="0">
                <a:latin typeface="Helvetica" pitchFamily="34" charset="0"/>
              </a:rPr>
              <a:t>purees</a:t>
            </a:r>
          </a:p>
          <a:p>
            <a:pPr marL="360000" indent="-360000">
              <a:spcBef>
                <a:spcPts val="600"/>
              </a:spcBef>
              <a:spcAft>
                <a:spcPts val="1200"/>
              </a:spcAft>
            </a:pPr>
            <a:r>
              <a:rPr lang="en-US" sz="2200" dirty="0" smtClean="0">
                <a:latin typeface="Helvetica" pitchFamily="34" charset="0"/>
              </a:rPr>
              <a:t>May turn brown so soak in cold water </a:t>
            </a:r>
            <a:br>
              <a:rPr lang="en-US" sz="2200" dirty="0" smtClean="0">
                <a:latin typeface="Helvetica" pitchFamily="34" charset="0"/>
              </a:rPr>
            </a:br>
            <a:r>
              <a:rPr lang="en-US" sz="2200" dirty="0" smtClean="0">
                <a:latin typeface="Helvetica" pitchFamily="34" charset="0"/>
              </a:rPr>
              <a:t>(or treat appropriately)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11266" name="Picture 2" descr="I:\Overseas Projects\PHOTOS\2012\Culinary 2011\Image Organize and Prepare Basic Food Items\20232.jpg"/>
          <p:cNvPicPr>
            <a:picLocks noChangeAspect="1" noChangeArrowheads="1"/>
          </p:cNvPicPr>
          <p:nvPr/>
        </p:nvPicPr>
        <p:blipFill>
          <a:blip r:embed="rId3" cstate="print"/>
          <a:srcRect/>
          <a:stretch>
            <a:fillRect/>
          </a:stretch>
        </p:blipFill>
        <p:spPr bwMode="auto">
          <a:xfrm>
            <a:off x="6786578" y="2500306"/>
            <a:ext cx="1543050" cy="1560513"/>
          </a:xfrm>
          <a:prstGeom prst="rect">
            <a:avLst/>
          </a:prstGeom>
          <a:noFill/>
        </p:spPr>
      </p:pic>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900"/>
              </a:spcAft>
              <a:buNone/>
            </a:pPr>
            <a:r>
              <a:rPr lang="en-US" sz="2200" dirty="0" smtClean="0">
                <a:latin typeface="Helvetica" pitchFamily="34" charset="0"/>
              </a:rPr>
              <a:t>Cutting:</a:t>
            </a:r>
          </a:p>
          <a:p>
            <a:pPr marL="360000" indent="-360000">
              <a:spcBef>
                <a:spcPts val="600"/>
              </a:spcBef>
              <a:spcAft>
                <a:spcPts val="900"/>
              </a:spcAft>
            </a:pPr>
            <a:r>
              <a:rPr lang="en-US" sz="2200" dirty="0" smtClean="0">
                <a:latin typeface="Helvetica" pitchFamily="34" charset="0"/>
              </a:rPr>
              <a:t>Speed is important</a:t>
            </a:r>
          </a:p>
          <a:p>
            <a:pPr marL="360000" indent="-360000">
              <a:spcBef>
                <a:spcPts val="600"/>
              </a:spcBef>
              <a:spcAft>
                <a:spcPts val="900"/>
              </a:spcAft>
            </a:pPr>
            <a:r>
              <a:rPr lang="en-US" sz="2200" dirty="0" smtClean="0">
                <a:latin typeface="Helvetica" pitchFamily="34" charset="0"/>
              </a:rPr>
              <a:t>Uniformity and accuracy of cuts is more </a:t>
            </a:r>
            <a:br>
              <a:rPr lang="en-US" sz="2200" dirty="0" smtClean="0">
                <a:latin typeface="Helvetica" pitchFamily="34" charset="0"/>
              </a:rPr>
            </a:br>
            <a:r>
              <a:rPr lang="en-US" sz="2200" dirty="0" smtClean="0">
                <a:latin typeface="Helvetica" pitchFamily="34" charset="0"/>
              </a:rPr>
              <a:t>important</a:t>
            </a:r>
          </a:p>
          <a:p>
            <a:pPr marL="360000" indent="-360000">
              <a:spcBef>
                <a:spcPts val="600"/>
              </a:spcBef>
              <a:spcAft>
                <a:spcPts val="900"/>
              </a:spcAft>
            </a:pPr>
            <a:r>
              <a:rPr lang="en-US" sz="2200" dirty="0" smtClean="0">
                <a:latin typeface="Helvetica" pitchFamily="34" charset="0"/>
              </a:rPr>
              <a:t>Safety is most important</a:t>
            </a:r>
          </a:p>
          <a:p>
            <a:pPr marL="360000" indent="-360000">
              <a:spcBef>
                <a:spcPts val="600"/>
              </a:spcBef>
              <a:spcAft>
                <a:spcPts val="900"/>
              </a:spcAft>
            </a:pPr>
            <a:r>
              <a:rPr lang="en-US" sz="2200" dirty="0" smtClean="0">
                <a:latin typeface="Helvetica" pitchFamily="34" charset="0"/>
              </a:rPr>
              <a:t>Mincing = cutting into very small pieces</a:t>
            </a:r>
          </a:p>
          <a:p>
            <a:pPr marL="360000" indent="-360000">
              <a:spcBef>
                <a:spcPts val="600"/>
              </a:spcBef>
              <a:spcAft>
                <a:spcPts val="900"/>
              </a:spcAft>
            </a:pPr>
            <a:r>
              <a:rPr lang="en-US" sz="2200" dirty="0" smtClean="0">
                <a:latin typeface="Helvetica" pitchFamily="34" charset="0"/>
              </a:rPr>
              <a:t>Dicing = cutting into (slightly) larger pieces</a:t>
            </a:r>
          </a:p>
          <a:p>
            <a:pPr marL="360000" indent="-360000">
              <a:spcBef>
                <a:spcPts val="600"/>
              </a:spcBef>
              <a:spcAft>
                <a:spcPts val="900"/>
              </a:spcAft>
            </a:pPr>
            <a:r>
              <a:rPr lang="en-US" sz="2200" dirty="0" smtClean="0">
                <a:latin typeface="Helvetica" pitchFamily="34" charset="0"/>
              </a:rPr>
              <a:t>End use of the item determines if it is minced or diced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12290" name="Picture 2" descr="I:\Overseas Projects\PHOTOS\2012\Culinary 2011\Image Organize and Prepare Basic Food Items\20244.jpg"/>
          <p:cNvPicPr>
            <a:picLocks noChangeAspect="1" noChangeArrowheads="1"/>
          </p:cNvPicPr>
          <p:nvPr/>
        </p:nvPicPr>
        <p:blipFill>
          <a:blip r:embed="rId3" cstate="print"/>
          <a:srcRect/>
          <a:stretch>
            <a:fillRect/>
          </a:stretch>
        </p:blipFill>
        <p:spPr bwMode="auto">
          <a:xfrm>
            <a:off x="6715140" y="2357430"/>
            <a:ext cx="1543050" cy="1560513"/>
          </a:xfrm>
          <a:prstGeom prst="rect">
            <a:avLst/>
          </a:prstGeom>
          <a:noFill/>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Other ‘cutting’ terms:</a:t>
            </a:r>
          </a:p>
          <a:p>
            <a:pPr marL="360000" indent="-360000">
              <a:spcBef>
                <a:spcPts val="600"/>
              </a:spcBef>
              <a:spcAft>
                <a:spcPts val="1200"/>
              </a:spcAft>
            </a:pPr>
            <a:r>
              <a:rPr lang="en-US" sz="2200" dirty="0" smtClean="0">
                <a:latin typeface="Helvetica" pitchFamily="34" charset="0"/>
              </a:rPr>
              <a:t>Slice = </a:t>
            </a:r>
            <a:r>
              <a:rPr lang="en-AU" sz="2200" dirty="0" smtClean="0">
                <a:latin typeface="Helvetica" pitchFamily="34" charset="0"/>
              </a:rPr>
              <a:t>cut a thin, broad, flat piece of food, </a:t>
            </a:r>
            <a:br>
              <a:rPr lang="en-AU" sz="2200" dirty="0" smtClean="0">
                <a:latin typeface="Helvetica" pitchFamily="34" charset="0"/>
              </a:rPr>
            </a:br>
            <a:r>
              <a:rPr lang="en-AU" sz="2200" dirty="0" smtClean="0">
                <a:latin typeface="Helvetica" pitchFamily="34" charset="0"/>
              </a:rPr>
              <a:t>usually by using a sawing action</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Chop = cut </a:t>
            </a:r>
            <a:r>
              <a:rPr lang="en-AU" sz="2200" dirty="0" smtClean="0">
                <a:latin typeface="Helvetica" pitchFamily="34" charset="0"/>
              </a:rPr>
              <a:t>into uneven bits by using short, </a:t>
            </a:r>
            <a:br>
              <a:rPr lang="en-AU" sz="2200" dirty="0" smtClean="0">
                <a:latin typeface="Helvetica" pitchFamily="34" charset="0"/>
              </a:rPr>
            </a:br>
            <a:r>
              <a:rPr lang="en-AU" sz="2200" dirty="0" smtClean="0">
                <a:latin typeface="Helvetica" pitchFamily="34" charset="0"/>
              </a:rPr>
              <a:t>sharp blows </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Shred = cut </a:t>
            </a:r>
            <a:r>
              <a:rPr lang="en-AU" sz="2200" dirty="0" smtClean="0">
                <a:latin typeface="Helvetica" pitchFamily="34" charset="0"/>
              </a:rPr>
              <a:t>into very fine, irregular strips</a:t>
            </a:r>
            <a:r>
              <a:rPr lang="en-US" sz="2200" dirty="0" smtClean="0">
                <a:latin typeface="Helvetica" pitchFamily="34" charset="0"/>
              </a:rPr>
              <a:t> </a:t>
            </a:r>
          </a:p>
          <a:p>
            <a:pPr marL="360000" indent="-360000">
              <a:spcBef>
                <a:spcPts val="600"/>
              </a:spcBef>
              <a:spcAft>
                <a:spcPts val="1200"/>
              </a:spcAft>
            </a:pPr>
            <a:r>
              <a:rPr lang="en-US" sz="2200" dirty="0" smtClean="0">
                <a:latin typeface="Helvetica" pitchFamily="34" charset="0"/>
              </a:rPr>
              <a:t>Crush = cut </a:t>
            </a:r>
            <a:r>
              <a:rPr lang="en-AU" sz="2200" dirty="0" smtClean="0">
                <a:latin typeface="Helvetica" pitchFamily="34" charset="0"/>
              </a:rPr>
              <a:t>into fine, medium or coarse particles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13314" name="Picture 2" descr="I:\Overseas Projects\PHOTOS\2012\Culinary 2011\Image Organize and Prepare Basic Food Items\20230.jpg"/>
          <p:cNvPicPr>
            <a:picLocks noChangeAspect="1" noChangeArrowheads="1"/>
          </p:cNvPicPr>
          <p:nvPr/>
        </p:nvPicPr>
        <p:blipFill>
          <a:blip r:embed="rId3" cstate="print"/>
          <a:srcRect/>
          <a:stretch>
            <a:fillRect/>
          </a:stretch>
        </p:blipFill>
        <p:spPr bwMode="auto">
          <a:xfrm>
            <a:off x="7286644" y="1214422"/>
            <a:ext cx="1214446" cy="1817048"/>
          </a:xfrm>
          <a:prstGeom prst="rect">
            <a:avLst/>
          </a:prstGeom>
          <a:noFill/>
        </p:spPr>
      </p:pic>
      <p:pic>
        <p:nvPicPr>
          <p:cNvPr id="13315" name="Picture 3" descr="I:\Overseas Projects\PHOTOS\2012\Culinary 2011\Image Organize and Prepare Basic Food Items\20239.jpg"/>
          <p:cNvPicPr>
            <a:picLocks noChangeAspect="1" noChangeArrowheads="1"/>
          </p:cNvPicPr>
          <p:nvPr/>
        </p:nvPicPr>
        <p:blipFill>
          <a:blip r:embed="rId4" cstate="print"/>
          <a:srcRect l="9259" r="13990"/>
          <a:stretch>
            <a:fillRect/>
          </a:stretch>
        </p:blipFill>
        <p:spPr bwMode="auto">
          <a:xfrm>
            <a:off x="7286644" y="3214686"/>
            <a:ext cx="1184298" cy="1560513"/>
          </a:xfrm>
          <a:prstGeom prst="rect">
            <a:avLst/>
          </a:prstGeom>
          <a:noFill/>
        </p:spPr>
      </p:pic>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cuts:</a:t>
            </a:r>
          </a:p>
          <a:p>
            <a:pPr marL="360000" indent="-360000">
              <a:spcBef>
                <a:spcPts val="600"/>
              </a:spcBef>
              <a:spcAft>
                <a:spcPts val="1200"/>
              </a:spcAft>
            </a:pPr>
            <a:r>
              <a:rPr lang="en-US" sz="2200" dirty="0" smtClean="0">
                <a:latin typeface="Helvetica" pitchFamily="34" charset="0"/>
              </a:rPr>
              <a:t>Julienne = </a:t>
            </a:r>
            <a:r>
              <a:rPr lang="en-AU" sz="2200" dirty="0" smtClean="0">
                <a:latin typeface="Helvetica" pitchFamily="34" charset="0"/>
              </a:rPr>
              <a:t>strips of vegetables/meats that </a:t>
            </a:r>
            <a:br>
              <a:rPr lang="en-AU" sz="2200" dirty="0" smtClean="0">
                <a:latin typeface="Helvetica" pitchFamily="34" charset="0"/>
              </a:rPr>
            </a:br>
            <a:r>
              <a:rPr lang="en-AU" sz="2200" dirty="0" smtClean="0">
                <a:latin typeface="Helvetica" pitchFamily="34" charset="0"/>
              </a:rPr>
              <a:t>measure 2 mm x 2 mm x 40 mm long</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Macedoine = cubes </a:t>
            </a:r>
            <a:r>
              <a:rPr lang="en-AU" sz="2200" dirty="0" smtClean="0">
                <a:latin typeface="Helvetica" pitchFamily="34" charset="0"/>
              </a:rPr>
              <a:t>8 mm x 8 mm x 8 mm</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Bâtonnet = baton cut </a:t>
            </a:r>
            <a:r>
              <a:rPr lang="en-AU" sz="2200" dirty="0" smtClean="0">
                <a:latin typeface="Helvetica" pitchFamily="34" charset="0"/>
              </a:rPr>
              <a:t>6 mm x 6 mm x 45 mm</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Jardiniere = small batons </a:t>
            </a:r>
            <a:r>
              <a:rPr lang="en-AU" sz="2200" dirty="0" smtClean="0">
                <a:latin typeface="Helvetica" pitchFamily="34" charset="0"/>
              </a:rPr>
              <a:t>4 mm x 4 mm x 20 mm</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p:nvPr/>
        </p:nvPicPr>
        <p:blipFill>
          <a:blip r:embed="rId3" cstate="print">
            <a:lum contrast="10000"/>
          </a:blip>
          <a:srcRect/>
          <a:stretch>
            <a:fillRect/>
          </a:stretch>
        </p:blipFill>
        <p:spPr bwMode="auto">
          <a:xfrm>
            <a:off x="6786578" y="2000240"/>
            <a:ext cx="1409698" cy="617733"/>
          </a:xfrm>
          <a:prstGeom prst="rect">
            <a:avLst/>
          </a:prstGeom>
          <a:noFill/>
          <a:ln w="9525">
            <a:noFill/>
            <a:miter lim="800000"/>
            <a:headEnd/>
            <a:tailEnd/>
          </a:ln>
        </p:spPr>
      </p:pic>
      <p:pic>
        <p:nvPicPr>
          <p:cNvPr id="6" name="Picture 5"/>
          <p:cNvPicPr/>
          <p:nvPr/>
        </p:nvPicPr>
        <p:blipFill>
          <a:blip r:embed="rId4" cstate="print">
            <a:lum contrast="20000"/>
          </a:blip>
          <a:srcRect/>
          <a:stretch>
            <a:fillRect/>
          </a:stretch>
        </p:blipFill>
        <p:spPr bwMode="auto">
          <a:xfrm>
            <a:off x="7215206" y="2928934"/>
            <a:ext cx="857256" cy="730502"/>
          </a:xfrm>
          <a:prstGeom prst="rect">
            <a:avLst/>
          </a:prstGeom>
          <a:noFill/>
          <a:ln w="9525">
            <a:noFill/>
            <a:miter lim="800000"/>
            <a:headEnd/>
            <a:tailEnd/>
          </a:ln>
        </p:spPr>
      </p:pic>
      <p:pic>
        <p:nvPicPr>
          <p:cNvPr id="7" name="Picture 6"/>
          <p:cNvPicPr/>
          <p:nvPr/>
        </p:nvPicPr>
        <p:blipFill>
          <a:blip r:embed="rId5" cstate="print">
            <a:lum contrast="10000"/>
          </a:blip>
          <a:srcRect/>
          <a:stretch>
            <a:fillRect/>
          </a:stretch>
        </p:blipFill>
        <p:spPr bwMode="auto">
          <a:xfrm>
            <a:off x="7143768" y="3957622"/>
            <a:ext cx="1285884" cy="51006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Paysanne = </a:t>
            </a:r>
            <a:r>
              <a:rPr lang="en-AU" sz="2200" dirty="0" smtClean="0">
                <a:latin typeface="Helvetica" pitchFamily="34" charset="0"/>
              </a:rPr>
              <a:t>round shapes 15 mm in diameter; squares and triangles must have 5 to 10 mm thickness</a:t>
            </a:r>
          </a:p>
          <a:p>
            <a:pPr marL="360000" indent="-360000">
              <a:spcBef>
                <a:spcPts val="600"/>
              </a:spcBef>
              <a:spcAft>
                <a:spcPts val="1200"/>
              </a:spcAft>
            </a:pPr>
            <a:r>
              <a:rPr lang="en-US" sz="2200" dirty="0" smtClean="0">
                <a:latin typeface="Helvetica" pitchFamily="34" charset="0"/>
              </a:rPr>
              <a:t>Lozenge = </a:t>
            </a:r>
            <a:r>
              <a:rPr lang="en-AU" sz="2200" dirty="0" smtClean="0">
                <a:latin typeface="Helvetica" pitchFamily="34" charset="0"/>
              </a:rPr>
              <a:t>diamond-shape cut about 6 mm thick</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Brunoise = </a:t>
            </a:r>
            <a:r>
              <a:rPr lang="en-AU" sz="2200" dirty="0" smtClean="0">
                <a:latin typeface="Helvetica" pitchFamily="34" charset="0"/>
              </a:rPr>
              <a:t>small cubes 2 mm x 2 mm x 2 mm</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Rondelle = coin-shape: thin for salads</a:t>
            </a:r>
          </a:p>
          <a:p>
            <a:pPr marL="360000" indent="-360000">
              <a:spcBef>
                <a:spcPts val="600"/>
              </a:spcBef>
              <a:spcAft>
                <a:spcPts val="1200"/>
              </a:spcAft>
            </a:pPr>
            <a:r>
              <a:rPr lang="en-US" sz="2200" dirty="0" smtClean="0">
                <a:latin typeface="Helvetica" pitchFamily="34" charset="0"/>
              </a:rPr>
              <a:t>Oblique/roll cut = slices where sides are not parallel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p:nvPr/>
        </p:nvPicPr>
        <p:blipFill>
          <a:blip r:embed="rId3" cstate="print">
            <a:lum contrast="10000"/>
          </a:blip>
          <a:srcRect/>
          <a:stretch>
            <a:fillRect/>
          </a:stretch>
        </p:blipFill>
        <p:spPr bwMode="auto">
          <a:xfrm>
            <a:off x="6929454" y="3214686"/>
            <a:ext cx="1366835" cy="576464"/>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‘Turned’ vegetables:</a:t>
            </a:r>
          </a:p>
          <a:p>
            <a:pPr marL="360000" indent="-360000">
              <a:spcBef>
                <a:spcPts val="600"/>
              </a:spcBef>
              <a:spcAft>
                <a:spcPts val="1200"/>
              </a:spcAft>
            </a:pPr>
            <a:r>
              <a:rPr lang="en-US" sz="2200" dirty="0" smtClean="0">
                <a:latin typeface="Helvetica" pitchFamily="34" charset="0"/>
              </a:rPr>
              <a:t>Barrel-shape</a:t>
            </a:r>
          </a:p>
          <a:p>
            <a:pPr marL="360000" indent="-360000">
              <a:spcBef>
                <a:spcPts val="600"/>
              </a:spcBef>
              <a:spcAft>
                <a:spcPts val="1200"/>
              </a:spcAft>
            </a:pPr>
            <a:r>
              <a:rPr lang="en-US" sz="2200" dirty="0" smtClean="0">
                <a:latin typeface="Helvetica" pitchFamily="34" charset="0"/>
              </a:rPr>
              <a:t>Enhances presentation</a:t>
            </a:r>
          </a:p>
          <a:p>
            <a:pPr marL="360000" indent="-360000">
              <a:spcBef>
                <a:spcPts val="600"/>
              </a:spcBef>
              <a:spcAft>
                <a:spcPts val="1200"/>
              </a:spcAft>
            </a:pPr>
            <a:r>
              <a:rPr lang="en-US" sz="2200" dirty="0" smtClean="0">
                <a:latin typeface="Helvetica" pitchFamily="34" charset="0"/>
              </a:rPr>
              <a:t>Use a turning or paring knife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p:nvPr/>
        </p:nvPicPr>
        <p:blipFill>
          <a:blip r:embed="rId3" cstate="print">
            <a:lum contrast="20000"/>
          </a:blip>
          <a:srcRect l="4024"/>
          <a:stretch>
            <a:fillRect/>
          </a:stretch>
        </p:blipFill>
        <p:spPr bwMode="auto">
          <a:xfrm>
            <a:off x="5429256" y="2285992"/>
            <a:ext cx="1681163" cy="10715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Preparing citrus fruit – there are three common cuts:</a:t>
            </a:r>
          </a:p>
          <a:p>
            <a:pPr marL="360000" indent="-360000">
              <a:spcBef>
                <a:spcPts val="600"/>
              </a:spcBef>
              <a:spcAft>
                <a:spcPts val="1200"/>
              </a:spcAft>
            </a:pPr>
            <a:r>
              <a:rPr lang="en-US" sz="2200" dirty="0" smtClean="0">
                <a:latin typeface="Helvetica" pitchFamily="34" charset="0"/>
              </a:rPr>
              <a:t>Peeled slices</a:t>
            </a:r>
          </a:p>
          <a:p>
            <a:pPr marL="360000" indent="-360000">
              <a:spcBef>
                <a:spcPts val="600"/>
              </a:spcBef>
              <a:spcAft>
                <a:spcPts val="1200"/>
              </a:spcAft>
            </a:pPr>
            <a:r>
              <a:rPr lang="en-US" sz="2200" dirty="0" smtClean="0">
                <a:latin typeface="Helvetica" pitchFamily="34" charset="0"/>
              </a:rPr>
              <a:t>Wedges</a:t>
            </a:r>
          </a:p>
          <a:p>
            <a:pPr marL="360000" indent="-360000">
              <a:spcBef>
                <a:spcPts val="600"/>
              </a:spcBef>
              <a:spcAft>
                <a:spcPts val="1200"/>
              </a:spcAft>
            </a:pPr>
            <a:r>
              <a:rPr lang="en-US" sz="2200" dirty="0" smtClean="0">
                <a:latin typeface="Helvetica" pitchFamily="34" charset="0"/>
              </a:rPr>
              <a:t>Segments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1026" name="Picture 2" descr="C:\Documents and Settings\danielc\Local Settings\Temporary Internet Files\Content.IE5\3DV3UKH9\MC900298793[1].wmf"/>
          <p:cNvPicPr>
            <a:picLocks noChangeAspect="1" noChangeArrowheads="1"/>
          </p:cNvPicPr>
          <p:nvPr/>
        </p:nvPicPr>
        <p:blipFill>
          <a:blip r:embed="rId3" cstate="print"/>
          <a:srcRect/>
          <a:stretch>
            <a:fillRect/>
          </a:stretch>
        </p:blipFill>
        <p:spPr bwMode="auto">
          <a:xfrm>
            <a:off x="5929322" y="2428868"/>
            <a:ext cx="1804111" cy="1255471"/>
          </a:xfrm>
          <a:prstGeom prst="rect">
            <a:avLst/>
          </a:prstGeom>
          <a:noFill/>
        </p:spPr>
      </p:pic>
      <p:pic>
        <p:nvPicPr>
          <p:cNvPr id="1029" name="Picture 5" descr="C:\Documents and Settings\danielc\Local Settings\Temporary Internet Files\Content.IE5\3Y3SDCJX\MC900246115[1].wmf"/>
          <p:cNvPicPr>
            <a:picLocks noChangeAspect="1" noChangeArrowheads="1"/>
          </p:cNvPicPr>
          <p:nvPr/>
        </p:nvPicPr>
        <p:blipFill>
          <a:blip r:embed="rId4" cstate="print"/>
          <a:srcRect/>
          <a:stretch>
            <a:fillRect/>
          </a:stretch>
        </p:blipFill>
        <p:spPr bwMode="auto">
          <a:xfrm>
            <a:off x="5929322" y="3714752"/>
            <a:ext cx="2050042" cy="1496478"/>
          </a:xfrm>
          <a:prstGeom prst="rect">
            <a:avLst/>
          </a:prstGeom>
          <a:noFill/>
        </p:spPr>
      </p:pic>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‘Cooking style’:</a:t>
            </a:r>
          </a:p>
          <a:p>
            <a:pPr marL="360000" indent="-360000">
              <a:spcBef>
                <a:spcPts val="600"/>
              </a:spcBef>
              <a:spcAft>
                <a:spcPts val="1200"/>
              </a:spcAft>
            </a:pPr>
            <a:r>
              <a:rPr lang="en-US" sz="2200" dirty="0" smtClean="0">
                <a:latin typeface="Helvetica" pitchFamily="34" charset="0"/>
              </a:rPr>
              <a:t>Cooking = the application of heat</a:t>
            </a:r>
          </a:p>
          <a:p>
            <a:pPr marL="360000" indent="-360000">
              <a:spcBef>
                <a:spcPts val="600"/>
              </a:spcBef>
              <a:spcAft>
                <a:spcPts val="1200"/>
              </a:spcAft>
            </a:pPr>
            <a:r>
              <a:rPr lang="en-US" sz="2200" dirty="0" smtClean="0">
                <a:latin typeface="Helvetica" pitchFamily="34" charset="0"/>
              </a:rPr>
              <a:t>Many different ways to apply heat</a:t>
            </a:r>
          </a:p>
          <a:p>
            <a:pPr marL="360000" indent="-360000">
              <a:spcBef>
                <a:spcPts val="600"/>
              </a:spcBef>
              <a:spcAft>
                <a:spcPts val="1200"/>
              </a:spcAft>
            </a:pPr>
            <a:r>
              <a:rPr lang="en-US" sz="2200" dirty="0" smtClean="0">
                <a:latin typeface="Helvetica" pitchFamily="34" charset="0"/>
              </a:rPr>
              <a:t>Recipe determines method</a:t>
            </a:r>
          </a:p>
          <a:p>
            <a:pPr marL="360000" indent="-360000">
              <a:spcBef>
                <a:spcPts val="600"/>
              </a:spcBef>
              <a:spcAft>
                <a:spcPts val="1200"/>
              </a:spcAft>
            </a:pPr>
            <a:r>
              <a:rPr lang="en-US" sz="2200" dirty="0" smtClean="0">
                <a:latin typeface="Helvetica" pitchFamily="34" charset="0"/>
              </a:rPr>
              <a:t>Menu often mentions cooking style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15362" name="Picture 2" descr="I:\Overseas Projects\PHOTOS\2012\Culinary 2012\Cookery\20203.jpg"/>
          <p:cNvPicPr>
            <a:picLocks noChangeAspect="1" noChangeArrowheads="1"/>
          </p:cNvPicPr>
          <p:nvPr/>
        </p:nvPicPr>
        <p:blipFill>
          <a:blip r:embed="rId3" cstate="print"/>
          <a:srcRect/>
          <a:stretch>
            <a:fillRect/>
          </a:stretch>
        </p:blipFill>
        <p:spPr bwMode="auto">
          <a:xfrm>
            <a:off x="6286512" y="2500306"/>
            <a:ext cx="1543050" cy="1560512"/>
          </a:xfrm>
          <a:prstGeom prst="rect">
            <a:avLst/>
          </a:prstGeom>
          <a:noFill/>
        </p:spPr>
      </p:pic>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cooking styles:</a:t>
            </a:r>
          </a:p>
          <a:p>
            <a:pPr marL="360000" indent="-360000">
              <a:spcBef>
                <a:spcPts val="600"/>
              </a:spcBef>
              <a:spcAft>
                <a:spcPts val="1200"/>
              </a:spcAft>
            </a:pPr>
            <a:r>
              <a:rPr lang="en-US" sz="2200" dirty="0" smtClean="0">
                <a:latin typeface="Helvetica" pitchFamily="34" charset="0"/>
              </a:rPr>
              <a:t>Boiling</a:t>
            </a:r>
          </a:p>
          <a:p>
            <a:pPr marL="360000" indent="-360000">
              <a:spcBef>
                <a:spcPts val="600"/>
              </a:spcBef>
              <a:spcAft>
                <a:spcPts val="1200"/>
              </a:spcAft>
            </a:pPr>
            <a:r>
              <a:rPr lang="en-US" sz="2200" dirty="0" smtClean="0">
                <a:latin typeface="Helvetica" pitchFamily="34" charset="0"/>
              </a:rPr>
              <a:t>Poaching</a:t>
            </a:r>
          </a:p>
          <a:p>
            <a:pPr marL="360000" indent="-360000">
              <a:spcBef>
                <a:spcPts val="600"/>
              </a:spcBef>
              <a:spcAft>
                <a:spcPts val="1200"/>
              </a:spcAft>
            </a:pPr>
            <a:r>
              <a:rPr lang="en-US" sz="2200" dirty="0" smtClean="0">
                <a:latin typeface="Helvetica" pitchFamily="34" charset="0"/>
              </a:rPr>
              <a:t>Braising</a:t>
            </a:r>
          </a:p>
          <a:p>
            <a:pPr marL="360000" indent="-360000">
              <a:spcBef>
                <a:spcPts val="600"/>
              </a:spcBef>
              <a:spcAft>
                <a:spcPts val="1200"/>
              </a:spcAft>
            </a:pPr>
            <a:r>
              <a:rPr lang="en-US" sz="2200" dirty="0" smtClean="0">
                <a:latin typeface="Helvetica" pitchFamily="34" charset="0"/>
              </a:rPr>
              <a:t>Stewing</a:t>
            </a:r>
          </a:p>
          <a:p>
            <a:pPr marL="360000" indent="-360000">
              <a:spcBef>
                <a:spcPts val="600"/>
              </a:spcBef>
              <a:spcAft>
                <a:spcPts val="1200"/>
              </a:spcAft>
            </a:pPr>
            <a:r>
              <a:rPr lang="en-US" sz="2200" dirty="0" smtClean="0">
                <a:latin typeface="Helvetica" pitchFamily="34" charset="0"/>
              </a:rPr>
              <a:t>Steaming</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16386" name="Picture 2" descr="I:\Overseas Projects\PHOTOS\2012\Culinary 2012\Cookery\Chef cooking4.jpg"/>
          <p:cNvPicPr>
            <a:picLocks noChangeAspect="1" noChangeArrowheads="1"/>
          </p:cNvPicPr>
          <p:nvPr/>
        </p:nvPicPr>
        <p:blipFill>
          <a:blip r:embed="rId3" cstate="print"/>
          <a:srcRect/>
          <a:stretch>
            <a:fillRect/>
          </a:stretch>
        </p:blipFill>
        <p:spPr bwMode="auto">
          <a:xfrm>
            <a:off x="5357818" y="2428868"/>
            <a:ext cx="1604625" cy="2405058"/>
          </a:xfrm>
          <a:prstGeom prst="rect">
            <a:avLst/>
          </a:prstGeom>
          <a:noFill/>
        </p:spPr>
      </p:pic>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preparation and cooking methods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Deep frying</a:t>
            </a:r>
          </a:p>
          <a:p>
            <a:pPr marL="360000" indent="-360000">
              <a:spcBef>
                <a:spcPts val="600"/>
              </a:spcBef>
              <a:spcAft>
                <a:spcPts val="1200"/>
              </a:spcAft>
            </a:pPr>
            <a:r>
              <a:rPr lang="en-US" sz="2200" dirty="0" smtClean="0">
                <a:latin typeface="Helvetica" pitchFamily="34" charset="0"/>
              </a:rPr>
              <a:t>Baking</a:t>
            </a:r>
          </a:p>
          <a:p>
            <a:pPr marL="360000" indent="-360000">
              <a:spcBef>
                <a:spcPts val="600"/>
              </a:spcBef>
              <a:spcAft>
                <a:spcPts val="1200"/>
              </a:spcAft>
            </a:pPr>
            <a:r>
              <a:rPr lang="en-US" sz="2200" dirty="0" smtClean="0">
                <a:latin typeface="Helvetica" pitchFamily="34" charset="0"/>
              </a:rPr>
              <a:t>Roasting</a:t>
            </a:r>
          </a:p>
          <a:p>
            <a:pPr marL="360000" indent="-360000">
              <a:spcBef>
                <a:spcPts val="600"/>
              </a:spcBef>
              <a:spcAft>
                <a:spcPts val="1200"/>
              </a:spcAft>
            </a:pPr>
            <a:r>
              <a:rPr lang="en-US" sz="2200" dirty="0" smtClean="0">
                <a:latin typeface="Helvetica" pitchFamily="34" charset="0"/>
              </a:rPr>
              <a:t>Grilling</a:t>
            </a:r>
          </a:p>
          <a:p>
            <a:pPr marL="360000" indent="-360000">
              <a:spcBef>
                <a:spcPts val="600"/>
              </a:spcBef>
              <a:spcAft>
                <a:spcPts val="1200"/>
              </a:spcAft>
            </a:pPr>
            <a:r>
              <a:rPr lang="en-US" sz="2200" dirty="0" smtClean="0">
                <a:latin typeface="Helvetica" pitchFamily="34" charset="0"/>
              </a:rPr>
              <a:t>Shallow frying</a:t>
            </a:r>
          </a:p>
          <a:p>
            <a:pPr marL="360000" indent="-360000">
              <a:spcBef>
                <a:spcPts val="600"/>
              </a:spcBef>
              <a:spcAft>
                <a:spcPts val="1200"/>
              </a:spcAft>
            </a:pPr>
            <a:r>
              <a:rPr lang="en-US" sz="2200" dirty="0" smtClean="0">
                <a:latin typeface="Helvetica" pitchFamily="34" charset="0"/>
              </a:rPr>
              <a:t>En papillote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17410" name="Picture 2" descr="I:\Overseas Projects\PHOTOS\2012\Culinary 2012\Cookery\1097103_46980230.jpg"/>
          <p:cNvPicPr>
            <a:picLocks noChangeAspect="1" noChangeArrowheads="1"/>
          </p:cNvPicPr>
          <p:nvPr/>
        </p:nvPicPr>
        <p:blipFill>
          <a:blip r:embed="rId3" cstate="print"/>
          <a:srcRect/>
          <a:stretch>
            <a:fillRect/>
          </a:stretch>
        </p:blipFill>
        <p:spPr bwMode="auto">
          <a:xfrm>
            <a:off x="5500694" y="2428868"/>
            <a:ext cx="2278014" cy="1834980"/>
          </a:xfrm>
          <a:prstGeom prst="rect">
            <a:avLst/>
          </a:prstGeom>
          <a:noFill/>
        </p:spPr>
      </p:pic>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Equipment:</a:t>
            </a:r>
          </a:p>
          <a:p>
            <a:pPr marL="360000" indent="-360000">
              <a:spcBef>
                <a:spcPts val="600"/>
              </a:spcBef>
              <a:spcAft>
                <a:spcPts val="1200"/>
              </a:spcAft>
            </a:pPr>
            <a:r>
              <a:rPr lang="en-US" sz="2200" dirty="0" smtClean="0">
                <a:latin typeface="Helvetica" pitchFamily="34" charset="0"/>
              </a:rPr>
              <a:t>Is required to produce/prepare food</a:t>
            </a:r>
          </a:p>
          <a:p>
            <a:pPr marL="360000" indent="-360000">
              <a:spcBef>
                <a:spcPts val="600"/>
              </a:spcBef>
              <a:spcAft>
                <a:spcPts val="1200"/>
              </a:spcAft>
            </a:pPr>
            <a:r>
              <a:rPr lang="en-US" sz="2200" dirty="0" smtClean="0">
                <a:latin typeface="Helvetica" pitchFamily="34" charset="0"/>
              </a:rPr>
              <a:t>Selection of the right equipment is necessary for the efficient production of menu items</a:t>
            </a:r>
          </a:p>
          <a:p>
            <a:pPr marL="360000" indent="-360000">
              <a:spcBef>
                <a:spcPts val="600"/>
              </a:spcBef>
              <a:spcAft>
                <a:spcPts val="1200"/>
              </a:spcAft>
            </a:pPr>
            <a:r>
              <a:rPr lang="en-US" sz="2200" dirty="0" smtClean="0">
                <a:latin typeface="Helvetica" pitchFamily="34" charset="0"/>
              </a:rPr>
              <a:t>Classified 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Utensils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Mechanical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Large/fixed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18434" name="Picture 2" descr="I:\Overseas Projects\PHOTOS\2012\Culinary 2012\Equipment Photos\STOVE06.jpg"/>
          <p:cNvPicPr>
            <a:picLocks noChangeAspect="1" noChangeArrowheads="1"/>
          </p:cNvPicPr>
          <p:nvPr/>
        </p:nvPicPr>
        <p:blipFill>
          <a:blip r:embed="rId3" cstate="print"/>
          <a:srcRect l="6152" t="9228" r="7723" b="4647"/>
          <a:stretch>
            <a:fillRect/>
          </a:stretch>
        </p:blipFill>
        <p:spPr bwMode="auto">
          <a:xfrm>
            <a:off x="5572132" y="3357562"/>
            <a:ext cx="2000264" cy="2000264"/>
          </a:xfrm>
          <a:prstGeom prst="rect">
            <a:avLst/>
          </a:prstGeom>
          <a:noFill/>
        </p:spPr>
      </p:pic>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Utensils – examples include:</a:t>
            </a:r>
          </a:p>
          <a:p>
            <a:pPr marL="360000" indent="-360000">
              <a:spcBef>
                <a:spcPts val="600"/>
              </a:spcBef>
              <a:spcAft>
                <a:spcPts val="1200"/>
              </a:spcAft>
            </a:pPr>
            <a:r>
              <a:rPr lang="en-US" sz="2200" dirty="0" smtClean="0">
                <a:latin typeface="Helvetica" pitchFamily="34" charset="0"/>
              </a:rPr>
              <a:t>Mouli</a:t>
            </a:r>
          </a:p>
          <a:p>
            <a:pPr marL="360000" indent="-360000">
              <a:spcBef>
                <a:spcPts val="600"/>
              </a:spcBef>
              <a:spcAft>
                <a:spcPts val="1200"/>
              </a:spcAft>
            </a:pPr>
            <a:r>
              <a:rPr lang="en-US" sz="2200" dirty="0" smtClean="0">
                <a:latin typeface="Helvetica" pitchFamily="34" charset="0"/>
              </a:rPr>
              <a:t>Chinois</a:t>
            </a:r>
          </a:p>
          <a:p>
            <a:pPr marL="360000" indent="-360000">
              <a:spcBef>
                <a:spcPts val="600"/>
              </a:spcBef>
              <a:spcAft>
                <a:spcPts val="1200"/>
              </a:spcAft>
            </a:pPr>
            <a:r>
              <a:rPr lang="en-US" sz="2200" dirty="0" smtClean="0">
                <a:latin typeface="Helvetica" pitchFamily="34" charset="0"/>
              </a:rPr>
              <a:t>Whisk</a:t>
            </a:r>
          </a:p>
          <a:p>
            <a:pPr marL="360000" indent="-360000">
              <a:spcBef>
                <a:spcPts val="600"/>
              </a:spcBef>
              <a:spcAft>
                <a:spcPts val="1200"/>
              </a:spcAft>
            </a:pPr>
            <a:r>
              <a:rPr lang="en-US" sz="2200" dirty="0" smtClean="0">
                <a:latin typeface="Helvetica" pitchFamily="34" charset="0"/>
              </a:rPr>
              <a:t>Ricer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C:\Documents and Settings\Godaishu\Desktop\PHOTOS\2012\Culinary 2012\Equipment Photos\8 inch Chinois.bmp"/>
          <p:cNvPicPr/>
          <p:nvPr/>
        </p:nvPicPr>
        <p:blipFill>
          <a:blip r:embed="rId3" cstate="print"/>
          <a:srcRect/>
          <a:stretch>
            <a:fillRect/>
          </a:stretch>
        </p:blipFill>
        <p:spPr bwMode="auto">
          <a:xfrm>
            <a:off x="4642587" y="2500306"/>
            <a:ext cx="2292739" cy="17145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mechanical equipment:</a:t>
            </a:r>
          </a:p>
          <a:p>
            <a:pPr marL="360000" indent="-360000">
              <a:spcBef>
                <a:spcPts val="600"/>
              </a:spcBef>
              <a:spcAft>
                <a:spcPts val="1200"/>
              </a:spcAft>
            </a:pPr>
            <a:r>
              <a:rPr lang="en-US" sz="2200" dirty="0" smtClean="0">
                <a:latin typeface="Helvetica" pitchFamily="34" charset="0"/>
              </a:rPr>
              <a:t>Mixers</a:t>
            </a:r>
          </a:p>
          <a:p>
            <a:pPr marL="360000" indent="-360000">
              <a:spcBef>
                <a:spcPts val="600"/>
              </a:spcBef>
              <a:spcAft>
                <a:spcPts val="1200"/>
              </a:spcAft>
            </a:pPr>
            <a:r>
              <a:rPr lang="en-US" sz="2200" dirty="0" smtClean="0">
                <a:latin typeface="Helvetica" pitchFamily="34" charset="0"/>
              </a:rPr>
              <a:t>Slicers</a:t>
            </a:r>
          </a:p>
          <a:p>
            <a:pPr marL="360000" indent="-360000">
              <a:spcBef>
                <a:spcPts val="600"/>
              </a:spcBef>
              <a:spcAft>
                <a:spcPts val="1200"/>
              </a:spcAft>
            </a:pPr>
            <a:r>
              <a:rPr lang="en-US" sz="2200" dirty="0" smtClean="0">
                <a:latin typeface="Helvetica" pitchFamily="34" charset="0"/>
              </a:rPr>
              <a:t>Food processors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C:\Documents and Settings\Godaishu\Desktop\PHOTOS\2012\Culinary 2012\Equipment Photos\Hand held mixer.jpg"/>
          <p:cNvPicPr/>
          <p:nvPr/>
        </p:nvPicPr>
        <p:blipFill>
          <a:blip r:embed="rId3" cstate="print"/>
          <a:srcRect/>
          <a:stretch>
            <a:fillRect/>
          </a:stretch>
        </p:blipFill>
        <p:spPr bwMode="auto">
          <a:xfrm>
            <a:off x="5072066" y="2285992"/>
            <a:ext cx="1118235" cy="1600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large, fixed equipment:</a:t>
            </a:r>
          </a:p>
          <a:p>
            <a:pPr marL="360000" indent="-360000">
              <a:spcBef>
                <a:spcPts val="600"/>
              </a:spcBef>
              <a:spcAft>
                <a:spcPts val="1200"/>
              </a:spcAft>
            </a:pPr>
            <a:r>
              <a:rPr lang="en-US" sz="2200" dirty="0" smtClean="0">
                <a:latin typeface="Helvetica" pitchFamily="34" charset="0"/>
              </a:rPr>
              <a:t>Stoves</a:t>
            </a:r>
          </a:p>
          <a:p>
            <a:pPr marL="360000" indent="-360000">
              <a:spcBef>
                <a:spcPts val="600"/>
              </a:spcBef>
              <a:spcAft>
                <a:spcPts val="1200"/>
              </a:spcAft>
            </a:pPr>
            <a:r>
              <a:rPr lang="en-US" sz="2200" dirty="0" smtClean="0">
                <a:latin typeface="Helvetica" pitchFamily="34" charset="0"/>
              </a:rPr>
              <a:t>Salamanders</a:t>
            </a:r>
          </a:p>
          <a:p>
            <a:pPr marL="360000" indent="-360000">
              <a:spcBef>
                <a:spcPts val="600"/>
              </a:spcBef>
              <a:spcAft>
                <a:spcPts val="1200"/>
              </a:spcAft>
            </a:pPr>
            <a:r>
              <a:rPr lang="en-US" sz="2200" dirty="0" smtClean="0">
                <a:latin typeface="Helvetica" pitchFamily="34" charset="0"/>
              </a:rPr>
              <a:t>Steamers</a:t>
            </a:r>
          </a:p>
          <a:p>
            <a:pPr marL="360000" indent="-360000">
              <a:spcBef>
                <a:spcPts val="600"/>
              </a:spcBef>
              <a:spcAft>
                <a:spcPts val="1200"/>
              </a:spcAft>
            </a:pPr>
            <a:r>
              <a:rPr lang="en-US" sz="2200" dirty="0" smtClean="0">
                <a:latin typeface="Helvetica" pitchFamily="34" charset="0"/>
              </a:rPr>
              <a:t>Bain Maries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19458" name="Picture 2" descr="I:\Overseas Projects\PHOTOS\2012\Culinary 2012\Equipment Photos\54422_5906.jpg"/>
          <p:cNvPicPr>
            <a:picLocks noChangeAspect="1" noChangeArrowheads="1"/>
          </p:cNvPicPr>
          <p:nvPr/>
        </p:nvPicPr>
        <p:blipFill>
          <a:blip r:embed="rId3" cstate="print"/>
          <a:srcRect b="11229"/>
          <a:stretch>
            <a:fillRect/>
          </a:stretch>
        </p:blipFill>
        <p:spPr bwMode="auto">
          <a:xfrm>
            <a:off x="5214942" y="2571744"/>
            <a:ext cx="2360585" cy="1571636"/>
          </a:xfrm>
          <a:prstGeom prst="rect">
            <a:avLst/>
          </a:prstGeom>
          <a:noFill/>
        </p:spPr>
      </p:pic>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Bowl cutter</a:t>
            </a:r>
          </a:p>
          <a:p>
            <a:pPr marL="360000" indent="-360000">
              <a:spcBef>
                <a:spcPts val="600"/>
              </a:spcBef>
              <a:spcAft>
                <a:spcPts val="1200"/>
              </a:spcAft>
            </a:pPr>
            <a:r>
              <a:rPr lang="en-US" sz="2200" dirty="0" smtClean="0">
                <a:latin typeface="Helvetica" pitchFamily="34" charset="0"/>
              </a:rPr>
              <a:t>Mincer</a:t>
            </a:r>
          </a:p>
          <a:p>
            <a:pPr marL="360000" indent="-360000">
              <a:spcBef>
                <a:spcPts val="600"/>
              </a:spcBef>
              <a:spcAft>
                <a:spcPts val="1200"/>
              </a:spcAft>
            </a:pPr>
            <a:r>
              <a:rPr lang="en-US" sz="2200" dirty="0" smtClean="0">
                <a:latin typeface="Helvetica" pitchFamily="34" charset="0"/>
              </a:rPr>
              <a:t>Deep fryer</a:t>
            </a:r>
          </a:p>
          <a:p>
            <a:pPr marL="360000" indent="-360000">
              <a:spcBef>
                <a:spcPts val="600"/>
              </a:spcBef>
              <a:spcAft>
                <a:spcPts val="1200"/>
              </a:spcAft>
            </a:pPr>
            <a:r>
              <a:rPr lang="en-US" sz="2200" dirty="0" smtClean="0">
                <a:latin typeface="Helvetica" pitchFamily="34" charset="0"/>
              </a:rPr>
              <a:t>Rotisserie</a:t>
            </a:r>
          </a:p>
          <a:p>
            <a:pPr marL="360000" indent="-360000">
              <a:spcBef>
                <a:spcPts val="600"/>
              </a:spcBef>
              <a:spcAft>
                <a:spcPts val="1200"/>
              </a:spcAft>
            </a:pPr>
            <a:r>
              <a:rPr lang="en-US" sz="2200" dirty="0" smtClean="0">
                <a:latin typeface="Helvetica" pitchFamily="34" charset="0"/>
              </a:rPr>
              <a:t>Brat pan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C:\Documents and Settings\Godaishu\Desktop\deep fryer.jpg"/>
          <p:cNvPicPr/>
          <p:nvPr/>
        </p:nvPicPr>
        <p:blipFill>
          <a:blip r:embed="rId3" cstate="print">
            <a:grayscl/>
            <a:lum contrast="20000"/>
          </a:blip>
          <a:srcRect t="13333" b="18000"/>
          <a:stretch>
            <a:fillRect/>
          </a:stretch>
        </p:blipFill>
        <p:spPr bwMode="auto">
          <a:xfrm flipH="1">
            <a:off x="5000628" y="2285992"/>
            <a:ext cx="2143125" cy="1471612"/>
          </a:xfrm>
          <a:prstGeom prst="rect">
            <a:avLst/>
          </a:prstGeom>
          <a:noFill/>
          <a:ln w="9525">
            <a:noFill/>
            <a:miter lim="800000"/>
            <a:headEnd/>
            <a:tailEnd/>
          </a:ln>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Factors to consider when selecting equipment to use:</a:t>
            </a:r>
          </a:p>
          <a:p>
            <a:pPr marL="360000" indent="-360000">
              <a:spcBef>
                <a:spcPts val="600"/>
              </a:spcBef>
              <a:spcAft>
                <a:spcPts val="1200"/>
              </a:spcAft>
            </a:pPr>
            <a:r>
              <a:rPr lang="en-US" sz="2200" dirty="0" smtClean="0">
                <a:latin typeface="Helvetica" pitchFamily="34" charset="0"/>
              </a:rPr>
              <a:t>Select ‘big enough’ bowls, pans, boards, trays to hold ingredients</a:t>
            </a:r>
          </a:p>
          <a:p>
            <a:pPr marL="360000" indent="-360000">
              <a:spcBef>
                <a:spcPts val="600"/>
              </a:spcBef>
              <a:spcAft>
                <a:spcPts val="1200"/>
              </a:spcAft>
            </a:pPr>
            <a:r>
              <a:rPr lang="en-US" sz="2200" dirty="0" smtClean="0">
                <a:latin typeface="Helvetica" pitchFamily="34" charset="0"/>
              </a:rPr>
              <a:t>Select ‘small enough’ items to allow quick cooling, refrigeration or freezing of prepared foods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descr="C:\Documents and Settings\Godaishu\Desktop\PHOTOS\2012\Culinary 2012\Commercial kitchen1.jpg"/>
          <p:cNvPicPr/>
          <p:nvPr/>
        </p:nvPicPr>
        <p:blipFill>
          <a:blip r:embed="rId3" cstate="print"/>
          <a:srcRect/>
          <a:stretch>
            <a:fillRect/>
          </a:stretch>
        </p:blipFill>
        <p:spPr bwMode="auto">
          <a:xfrm>
            <a:off x="3428992" y="4214818"/>
            <a:ext cx="2138363" cy="1428750"/>
          </a:xfrm>
          <a:prstGeom prst="rect">
            <a:avLst/>
          </a:prstGeom>
          <a:noFill/>
          <a:ln w="9525">
            <a:noFill/>
            <a:miter lim="800000"/>
            <a:headEnd/>
            <a:tailEnd/>
          </a:ln>
        </p:spPr>
      </p:pic>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select correct equipment:</a:t>
            </a:r>
          </a:p>
          <a:p>
            <a:pPr marL="360000" indent="-360000">
              <a:spcBef>
                <a:spcPts val="600"/>
              </a:spcBef>
              <a:spcAft>
                <a:spcPts val="1200"/>
              </a:spcAft>
            </a:pPr>
            <a:r>
              <a:rPr lang="en-US" sz="2200" dirty="0" smtClean="0">
                <a:latin typeface="Helvetica" pitchFamily="34" charset="0"/>
              </a:rPr>
              <a:t>Reduces preparation time</a:t>
            </a:r>
          </a:p>
          <a:p>
            <a:pPr marL="360000" indent="-360000">
              <a:spcBef>
                <a:spcPts val="600"/>
              </a:spcBef>
              <a:spcAft>
                <a:spcPts val="1200"/>
              </a:spcAft>
            </a:pPr>
            <a:r>
              <a:rPr lang="en-US" sz="2200" dirty="0" smtClean="0">
                <a:latin typeface="Helvetica" pitchFamily="34" charset="0"/>
              </a:rPr>
              <a:t>Saves energy</a:t>
            </a:r>
          </a:p>
          <a:p>
            <a:pPr marL="360000" indent="-360000">
              <a:spcBef>
                <a:spcPts val="600"/>
              </a:spcBef>
              <a:spcAft>
                <a:spcPts val="1200"/>
              </a:spcAft>
            </a:pPr>
            <a:r>
              <a:rPr lang="en-US" sz="2200" dirty="0" smtClean="0">
                <a:latin typeface="Helvetica" pitchFamily="34" charset="0"/>
              </a:rPr>
              <a:t>Increases safety</a:t>
            </a:r>
          </a:p>
          <a:p>
            <a:pPr marL="360000" indent="-360000">
              <a:spcBef>
                <a:spcPts val="600"/>
              </a:spcBef>
              <a:spcAft>
                <a:spcPts val="1200"/>
              </a:spcAft>
            </a:pPr>
            <a:r>
              <a:rPr lang="en-US" sz="2200" dirty="0" smtClean="0">
                <a:latin typeface="Helvetica" pitchFamily="34" charset="0"/>
              </a:rPr>
              <a:t>Increases output</a:t>
            </a:r>
          </a:p>
          <a:p>
            <a:pPr marL="360000" indent="-360000">
              <a:spcBef>
                <a:spcPts val="600"/>
              </a:spcBef>
              <a:spcAft>
                <a:spcPts val="1200"/>
              </a:spcAft>
            </a:pPr>
            <a:r>
              <a:rPr lang="en-US" sz="2200" dirty="0" smtClean="0">
                <a:latin typeface="Helvetica" pitchFamily="34" charset="0"/>
              </a:rPr>
              <a:t>Saves labour</a:t>
            </a:r>
          </a:p>
          <a:p>
            <a:pPr marL="360000" indent="-360000">
              <a:spcBef>
                <a:spcPts val="600"/>
              </a:spcBef>
              <a:spcAft>
                <a:spcPts val="1200"/>
              </a:spcAft>
            </a:pPr>
            <a:r>
              <a:rPr lang="en-US" sz="2200" dirty="0" smtClean="0">
                <a:latin typeface="Helvetica" pitchFamily="34" charset="0"/>
              </a:rPr>
              <a:t>Achieves better results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20482" name="Picture 2" descr="I:\Overseas Projects\PHOTOS\2012\Culinary 2011\MIK_3845.JPG"/>
          <p:cNvPicPr>
            <a:picLocks noChangeAspect="1" noChangeArrowheads="1"/>
          </p:cNvPicPr>
          <p:nvPr/>
        </p:nvPicPr>
        <p:blipFill>
          <a:blip r:embed="rId3" cstate="print">
            <a:lum bright="10000"/>
          </a:blip>
          <a:srcRect/>
          <a:stretch>
            <a:fillRect/>
          </a:stretch>
        </p:blipFill>
        <p:spPr bwMode="auto">
          <a:xfrm>
            <a:off x="6143636" y="2285992"/>
            <a:ext cx="1729622" cy="2628842"/>
          </a:xfrm>
          <a:prstGeom prst="rect">
            <a:avLst/>
          </a:prstGeom>
          <a:noFill/>
        </p:spPr>
      </p:pic>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following are critical in relation to food safety:</a:t>
            </a:r>
          </a:p>
          <a:p>
            <a:pPr marL="360000" indent="-360000">
              <a:spcBef>
                <a:spcPts val="600"/>
              </a:spcBef>
              <a:spcAft>
                <a:spcPts val="1200"/>
              </a:spcAft>
            </a:pPr>
            <a:r>
              <a:rPr lang="en-US" sz="2200" dirty="0" smtClean="0">
                <a:latin typeface="Helvetica" pitchFamily="34" charset="0"/>
              </a:rPr>
              <a:t>Observe local legislated food requirements</a:t>
            </a:r>
          </a:p>
          <a:p>
            <a:pPr marL="360000" indent="-360000">
              <a:spcBef>
                <a:spcPts val="600"/>
              </a:spcBef>
              <a:spcAft>
                <a:spcPts val="1200"/>
              </a:spcAft>
            </a:pPr>
            <a:r>
              <a:rPr lang="en-US" sz="2200" dirty="0" smtClean="0">
                <a:latin typeface="Helvetica" pitchFamily="34" charset="0"/>
              </a:rPr>
              <a:t>Follow applicable Food Safety Plan or Program</a:t>
            </a:r>
          </a:p>
          <a:p>
            <a:pPr marL="360000" indent="-360000">
              <a:spcBef>
                <a:spcPts val="600"/>
              </a:spcBef>
              <a:spcAft>
                <a:spcPts val="1200"/>
              </a:spcAft>
            </a:pPr>
            <a:r>
              <a:rPr lang="en-US" sz="2200" dirty="0" smtClean="0">
                <a:latin typeface="Helvetica" pitchFamily="34" charset="0"/>
              </a:rPr>
              <a:t>Adhere to all relevant workplace policies and procedures</a:t>
            </a:r>
          </a:p>
          <a:p>
            <a:pPr marL="360000" indent="-360000">
              <a:spcBef>
                <a:spcPts val="600"/>
              </a:spcBef>
              <a:spcAft>
                <a:spcPts val="1200"/>
              </a:spcAft>
            </a:pPr>
            <a:r>
              <a:rPr lang="en-US" sz="2200" dirty="0" smtClean="0">
                <a:latin typeface="Helvetica" pitchFamily="34" charset="0"/>
              </a:rPr>
              <a:t>All food handlers must complete required food handler training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21506" name="Picture 2" descr="C:\Documents and Settings\danielc\Local Settings\Temporary Internet Files\Content.IE5\3DV3UKH9\MC900305255[1].wmf"/>
          <p:cNvPicPr>
            <a:picLocks noChangeAspect="1" noChangeArrowheads="1"/>
          </p:cNvPicPr>
          <p:nvPr/>
        </p:nvPicPr>
        <p:blipFill>
          <a:blip r:embed="rId3" cstate="print"/>
          <a:srcRect/>
          <a:stretch>
            <a:fillRect/>
          </a:stretch>
        </p:blipFill>
        <p:spPr bwMode="auto">
          <a:xfrm>
            <a:off x="7572396" y="2357430"/>
            <a:ext cx="679388" cy="1466124"/>
          </a:xfrm>
          <a:prstGeom prst="rect">
            <a:avLst/>
          </a:prstGeom>
          <a:noFill/>
        </p:spPr>
      </p:pic>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Scope of food safety includes:</a:t>
            </a:r>
          </a:p>
          <a:p>
            <a:pPr marL="360000" indent="-360000">
              <a:spcBef>
                <a:spcPts val="1200"/>
              </a:spcBef>
              <a:spcAft>
                <a:spcPts val="1200"/>
              </a:spcAft>
            </a:pPr>
            <a:r>
              <a:rPr lang="en-US" sz="2200" dirty="0" smtClean="0">
                <a:latin typeface="Helvetica" pitchFamily="34" charset="0"/>
              </a:rPr>
              <a:t>Purchasing food</a:t>
            </a:r>
          </a:p>
          <a:p>
            <a:pPr marL="360000" indent="-360000">
              <a:spcBef>
                <a:spcPts val="1200"/>
              </a:spcBef>
              <a:spcAft>
                <a:spcPts val="1200"/>
              </a:spcAft>
            </a:pPr>
            <a:r>
              <a:rPr lang="en-US" sz="2200" dirty="0" smtClean="0">
                <a:latin typeface="Helvetica" pitchFamily="34" charset="0"/>
              </a:rPr>
              <a:t>Receiving food</a:t>
            </a:r>
          </a:p>
          <a:p>
            <a:pPr marL="360000" indent="-360000">
              <a:spcBef>
                <a:spcPts val="1200"/>
              </a:spcBef>
              <a:spcAft>
                <a:spcPts val="1200"/>
              </a:spcAft>
            </a:pPr>
            <a:r>
              <a:rPr lang="en-US" sz="2200" dirty="0" smtClean="0">
                <a:latin typeface="Helvetica" pitchFamily="34" charset="0"/>
              </a:rPr>
              <a:t>Storing food</a:t>
            </a:r>
          </a:p>
          <a:p>
            <a:pPr marL="360000" indent="-360000">
              <a:spcBef>
                <a:spcPts val="1200"/>
              </a:spcBef>
              <a:spcAft>
                <a:spcPts val="1200"/>
              </a:spcAft>
            </a:pPr>
            <a:r>
              <a:rPr lang="en-US" sz="2200" dirty="0" smtClean="0">
                <a:latin typeface="Helvetica" pitchFamily="34" charset="0"/>
              </a:rPr>
              <a:t>De-frosting frozen food</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22530" name="Picture 2" descr="I:\Overseas Projects\PHOTOS\2012\Culinary 2012\MC900230995.WMF"/>
          <p:cNvPicPr>
            <a:picLocks noChangeAspect="1" noChangeArrowheads="1"/>
          </p:cNvPicPr>
          <p:nvPr/>
        </p:nvPicPr>
        <p:blipFill>
          <a:blip r:embed="rId3" cstate="print"/>
          <a:srcRect/>
          <a:stretch>
            <a:fillRect/>
          </a:stretch>
        </p:blipFill>
        <p:spPr bwMode="auto">
          <a:xfrm>
            <a:off x="5429256" y="2428868"/>
            <a:ext cx="2241315" cy="1966925"/>
          </a:xfrm>
          <a:prstGeom prst="rect">
            <a:avLst/>
          </a:prstGeom>
          <a:noFill/>
        </p:spPr>
      </p:pic>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Preparing and cooking food – including cooling of hot food</a:t>
            </a:r>
          </a:p>
          <a:p>
            <a:pPr marL="360000" indent="-360000">
              <a:spcBef>
                <a:spcPts val="1200"/>
              </a:spcBef>
              <a:spcAft>
                <a:spcPts val="1200"/>
              </a:spcAft>
            </a:pPr>
            <a:r>
              <a:rPr lang="en-US" sz="2200" dirty="0" smtClean="0">
                <a:latin typeface="Helvetica" pitchFamily="34" charset="0"/>
              </a:rPr>
              <a:t>Holding of hot and cold food</a:t>
            </a:r>
          </a:p>
          <a:p>
            <a:pPr marL="360000" indent="-360000">
              <a:spcBef>
                <a:spcPts val="1200"/>
              </a:spcBef>
              <a:spcAft>
                <a:spcPts val="1200"/>
              </a:spcAft>
            </a:pPr>
            <a:r>
              <a:rPr lang="en-US" sz="2200" dirty="0" smtClean="0">
                <a:latin typeface="Helvetica" pitchFamily="34" charset="0"/>
              </a:rPr>
              <a:t>Re-heating of cooked food</a:t>
            </a:r>
          </a:p>
          <a:p>
            <a:pPr marL="360000" indent="-360000">
              <a:spcBef>
                <a:spcPts val="1200"/>
              </a:spcBef>
              <a:spcAft>
                <a:spcPts val="1200"/>
              </a:spcAft>
            </a:pPr>
            <a:r>
              <a:rPr lang="en-US" sz="2200" dirty="0" smtClean="0">
                <a:latin typeface="Helvetica" pitchFamily="34" charset="0"/>
              </a:rPr>
              <a:t>Serving food</a:t>
            </a:r>
          </a:p>
          <a:p>
            <a:pPr marL="360000" indent="-360000">
              <a:spcBef>
                <a:spcPts val="1200"/>
              </a:spcBef>
              <a:spcAft>
                <a:spcPts val="1200"/>
              </a:spcAft>
            </a:pPr>
            <a:r>
              <a:rPr lang="en-US" sz="2200" dirty="0" smtClean="0">
                <a:latin typeface="Helvetica" pitchFamily="34" charset="0"/>
              </a:rPr>
              <a:t>Self-service of food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5" name="Picture 4" descr="1dsc_0031.jpg"/>
          <p:cNvPicPr>
            <a:picLocks noChangeAspect="1"/>
          </p:cNvPicPr>
          <p:nvPr/>
        </p:nvPicPr>
        <p:blipFill>
          <a:blip r:embed="rId3" cstate="print"/>
          <a:stretch>
            <a:fillRect/>
          </a:stretch>
        </p:blipFill>
        <p:spPr>
          <a:xfrm>
            <a:off x="5715008" y="2786058"/>
            <a:ext cx="2487944" cy="1656037"/>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Workplaces may also require you to comply with house rules regarding:</a:t>
            </a:r>
          </a:p>
          <a:p>
            <a:pPr marL="360000" indent="-360000">
              <a:spcBef>
                <a:spcPts val="1200"/>
              </a:spcBef>
              <a:spcAft>
                <a:spcPts val="1200"/>
              </a:spcAft>
            </a:pPr>
            <a:r>
              <a:rPr lang="en-US" sz="2200" dirty="0" smtClean="0">
                <a:latin typeface="Helvetica" pitchFamily="34" charset="0"/>
              </a:rPr>
              <a:t>Cleaning and sanitising</a:t>
            </a:r>
          </a:p>
          <a:p>
            <a:pPr marL="360000" indent="-360000">
              <a:spcBef>
                <a:spcPts val="1200"/>
              </a:spcBef>
              <a:spcAft>
                <a:spcPts val="1200"/>
              </a:spcAft>
            </a:pPr>
            <a:r>
              <a:rPr lang="en-US" sz="2200" dirty="0" smtClean="0">
                <a:latin typeface="Helvetica" pitchFamily="34" charset="0"/>
              </a:rPr>
              <a:t>Food handling techniques</a:t>
            </a:r>
          </a:p>
          <a:p>
            <a:pPr marL="360000" indent="-360000">
              <a:spcBef>
                <a:spcPts val="1200"/>
              </a:spcBef>
              <a:spcAft>
                <a:spcPts val="1200"/>
              </a:spcAft>
            </a:pPr>
            <a:r>
              <a:rPr lang="en-US" sz="2200" dirty="0" smtClean="0">
                <a:latin typeface="Helvetica" pitchFamily="34" charset="0"/>
              </a:rPr>
              <a:t>Personal hygiene</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23554" name="Picture 2" descr="I:\Overseas Projects\PHOTOS\2012\Kitchen\901029_mop.jpg"/>
          <p:cNvPicPr>
            <a:picLocks noChangeAspect="1" noChangeArrowheads="1"/>
          </p:cNvPicPr>
          <p:nvPr/>
        </p:nvPicPr>
        <p:blipFill>
          <a:blip r:embed="rId3" cstate="print"/>
          <a:srcRect/>
          <a:stretch>
            <a:fillRect/>
          </a:stretch>
        </p:blipFill>
        <p:spPr bwMode="auto">
          <a:xfrm>
            <a:off x="5000628" y="2285992"/>
            <a:ext cx="2857500" cy="24384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Equipment maintenance</a:t>
            </a:r>
          </a:p>
          <a:p>
            <a:pPr marL="360000" indent="-360000">
              <a:spcBef>
                <a:spcPts val="1200"/>
              </a:spcBef>
              <a:spcAft>
                <a:spcPts val="1200"/>
              </a:spcAft>
            </a:pPr>
            <a:r>
              <a:rPr lang="en-US" sz="2200" dirty="0" smtClean="0">
                <a:latin typeface="Helvetica" pitchFamily="34" charset="0"/>
              </a:rPr>
              <a:t>Use of food thermometers</a:t>
            </a:r>
          </a:p>
          <a:p>
            <a:pPr marL="360000" indent="-360000">
              <a:spcBef>
                <a:spcPts val="1200"/>
              </a:spcBef>
              <a:spcAft>
                <a:spcPts val="1200"/>
              </a:spcAft>
            </a:pPr>
            <a:r>
              <a:rPr lang="en-US" sz="2200" dirty="0" smtClean="0">
                <a:latin typeface="Helvetica" pitchFamily="34" charset="0"/>
              </a:rPr>
              <a:t>Pest control</a:t>
            </a:r>
          </a:p>
          <a:p>
            <a:pPr marL="360000" indent="-360000">
              <a:spcBef>
                <a:spcPts val="1200"/>
              </a:spcBef>
              <a:spcAft>
                <a:spcPts val="1200"/>
              </a:spcAft>
            </a:pPr>
            <a:r>
              <a:rPr lang="en-US" sz="2200" dirty="0" smtClean="0">
                <a:latin typeface="Helvetica" pitchFamily="34" charset="0"/>
              </a:rPr>
              <a:t>Waste disposal</a:t>
            </a:r>
          </a:p>
          <a:p>
            <a:pPr marL="360000" indent="-360000">
              <a:spcBef>
                <a:spcPts val="1200"/>
              </a:spcBef>
              <a:spcAft>
                <a:spcPts val="1200"/>
              </a:spcAft>
            </a:pPr>
            <a:r>
              <a:rPr lang="en-US" sz="2200" dirty="0" smtClean="0">
                <a:latin typeface="Helvetica" pitchFamily="34" charset="0"/>
              </a:rPr>
              <a:t>Food recalls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3075" name="Picture 3" descr="C:\Users\fgvghyujil\AppData\Local\Microsoft\Windows\Temporary Internet Files\Content.IE5\PP601SXW\MC900089832[1].wmf"/>
          <p:cNvPicPr>
            <a:picLocks noChangeAspect="1" noChangeArrowheads="1"/>
          </p:cNvPicPr>
          <p:nvPr/>
        </p:nvPicPr>
        <p:blipFill>
          <a:blip r:embed="rId3" cstate="print"/>
          <a:srcRect/>
          <a:stretch>
            <a:fillRect/>
          </a:stretch>
        </p:blipFill>
        <p:spPr bwMode="auto">
          <a:xfrm>
            <a:off x="5715008" y="2214554"/>
            <a:ext cx="2031260" cy="1928826"/>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37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643050"/>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Potentially hazardous foods:</a:t>
            </a:r>
          </a:p>
          <a:p>
            <a:pPr marL="360000" indent="-360000">
              <a:spcBef>
                <a:spcPts val="1200"/>
              </a:spcBef>
              <a:spcAft>
                <a:spcPts val="1200"/>
              </a:spcAft>
            </a:pPr>
            <a:r>
              <a:rPr lang="en-US" sz="2200" dirty="0" smtClean="0">
                <a:latin typeface="Helvetica" pitchFamily="34" charset="0"/>
              </a:rPr>
              <a:t>Must be stored out of the </a:t>
            </a:r>
            <a:br>
              <a:rPr lang="en-US" sz="2200" dirty="0" smtClean="0">
                <a:latin typeface="Helvetica" pitchFamily="34" charset="0"/>
              </a:rPr>
            </a:br>
            <a:r>
              <a:rPr lang="en-US" sz="2200" dirty="0" smtClean="0">
                <a:latin typeface="Helvetica" pitchFamily="34" charset="0"/>
              </a:rPr>
              <a:t>Temperature Danger Zone </a:t>
            </a:r>
            <a:br>
              <a:rPr lang="en-US" sz="2200" dirty="0" smtClean="0">
                <a:latin typeface="Helvetica" pitchFamily="34" charset="0"/>
              </a:rPr>
            </a:br>
            <a:r>
              <a:rPr lang="en-US" sz="2200" dirty="0" smtClean="0">
                <a:latin typeface="Helvetica" pitchFamily="34" charset="0"/>
              </a:rPr>
              <a:t>(5</a:t>
            </a:r>
            <a:r>
              <a:rPr lang="en-AU" sz="2200" dirty="0" smtClean="0">
                <a:latin typeface="Helvetica" pitchFamily="34" charset="0"/>
              </a:rPr>
              <a:t>°C to 60°C)</a:t>
            </a:r>
            <a:endParaRPr lang="en-US" sz="2200" dirty="0" smtClean="0">
              <a:latin typeface="Helvetica" pitchFamily="34" charset="0"/>
            </a:endParaRPr>
          </a:p>
          <a:p>
            <a:pPr marL="360000" indent="-360000">
              <a:spcBef>
                <a:spcPts val="1200"/>
              </a:spcBef>
              <a:spcAft>
                <a:spcPts val="1200"/>
              </a:spcAft>
            </a:pPr>
            <a:r>
              <a:rPr lang="en-US" sz="2200" dirty="0" smtClean="0">
                <a:latin typeface="Helvetica" pitchFamily="34" charset="0"/>
              </a:rPr>
              <a:t>Are high protein, high moisture,</a:t>
            </a:r>
            <a:br>
              <a:rPr lang="en-US" sz="2200" dirty="0" smtClean="0">
                <a:latin typeface="Helvetica" pitchFamily="34" charset="0"/>
              </a:rPr>
            </a:br>
            <a:r>
              <a:rPr lang="en-US" sz="2200" dirty="0" smtClean="0">
                <a:latin typeface="Helvetica" pitchFamily="34" charset="0"/>
              </a:rPr>
              <a:t> low acid foods</a:t>
            </a:r>
          </a:p>
          <a:p>
            <a:pPr marL="360000" indent="-360000">
              <a:spcBef>
                <a:spcPts val="1200"/>
              </a:spcBef>
              <a:spcAft>
                <a:spcPts val="1200"/>
              </a:spcAft>
            </a:pPr>
            <a:r>
              <a:rPr lang="en-US" sz="2200" b="1" dirty="0" smtClean="0">
                <a:latin typeface="Helvetica" pitchFamily="34" charset="0"/>
              </a:rPr>
              <a:t>Also known as ‘high risk’ foods</a:t>
            </a:r>
          </a:p>
          <a:p>
            <a:pPr marL="360000" indent="-360000">
              <a:spcBef>
                <a:spcPts val="1200"/>
              </a:spcBef>
              <a:spcAft>
                <a:spcPts val="1200"/>
              </a:spcAft>
            </a:pP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6" name="Picture 5" descr="danger-zone.gif"/>
          <p:cNvPicPr>
            <a:picLocks noChangeAspect="1"/>
          </p:cNvPicPr>
          <p:nvPr/>
        </p:nvPicPr>
        <p:blipFill>
          <a:blip r:embed="rId3" cstate="print"/>
          <a:stretch>
            <a:fillRect/>
          </a:stretch>
        </p:blipFill>
        <p:spPr>
          <a:xfrm>
            <a:off x="6000760" y="2000240"/>
            <a:ext cx="2188381" cy="3038461"/>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32656"/>
            <a:ext cx="800105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57161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Potentially hazardous (high risk) foods include:</a:t>
            </a:r>
          </a:p>
          <a:p>
            <a:pPr marL="360000" indent="-360000">
              <a:spcBef>
                <a:spcPts val="1200"/>
              </a:spcBef>
              <a:spcAft>
                <a:spcPts val="1200"/>
              </a:spcAft>
            </a:pPr>
            <a:r>
              <a:rPr lang="en-US" sz="2200" dirty="0" smtClean="0">
                <a:latin typeface="Helvetica" pitchFamily="34" charset="0"/>
              </a:rPr>
              <a:t>Milk and milk products</a:t>
            </a:r>
          </a:p>
          <a:p>
            <a:pPr marL="360000" indent="-360000">
              <a:spcBef>
                <a:spcPts val="1200"/>
              </a:spcBef>
              <a:spcAft>
                <a:spcPts val="1200"/>
              </a:spcAft>
            </a:pPr>
            <a:r>
              <a:rPr lang="en-US" sz="2200" dirty="0" smtClean="0">
                <a:latin typeface="Helvetica" pitchFamily="34" charset="0"/>
              </a:rPr>
              <a:t>Egg products</a:t>
            </a:r>
          </a:p>
          <a:p>
            <a:pPr marL="360000" indent="-360000">
              <a:spcBef>
                <a:spcPts val="1200"/>
              </a:spcBef>
              <a:spcAft>
                <a:spcPts val="1200"/>
              </a:spcAft>
            </a:pPr>
            <a:r>
              <a:rPr lang="en-US" sz="2200" dirty="0" smtClean="0">
                <a:latin typeface="Helvetica" pitchFamily="34" charset="0"/>
              </a:rPr>
              <a:t>Meat and poultry – all types, </a:t>
            </a:r>
            <a:br>
              <a:rPr lang="en-US" sz="2200" dirty="0" smtClean="0">
                <a:latin typeface="Helvetica" pitchFamily="34" charset="0"/>
              </a:rPr>
            </a:br>
            <a:r>
              <a:rPr lang="en-US" sz="2200" dirty="0" smtClean="0">
                <a:latin typeface="Helvetica" pitchFamily="34" charset="0"/>
              </a:rPr>
              <a:t>all cuts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5" name="Picture 4" descr="Milk products.jpg"/>
          <p:cNvPicPr>
            <a:picLocks noChangeAspect="1"/>
          </p:cNvPicPr>
          <p:nvPr/>
        </p:nvPicPr>
        <p:blipFill>
          <a:blip r:embed="rId3" cstate="print"/>
          <a:stretch>
            <a:fillRect/>
          </a:stretch>
        </p:blipFill>
        <p:spPr>
          <a:xfrm>
            <a:off x="5786446" y="2428868"/>
            <a:ext cx="2258915" cy="2138355"/>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37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571612"/>
            <a:ext cx="7929618" cy="4296829"/>
          </a:xfrm>
        </p:spPr>
        <p:txBody>
          <a:bodyPr>
            <a:normAutofit/>
          </a:bodyPr>
          <a:lstStyle/>
          <a:p>
            <a:pPr marL="360000" indent="-360000">
              <a:spcBef>
                <a:spcPts val="1200"/>
              </a:spcBef>
              <a:spcAft>
                <a:spcPts val="1200"/>
              </a:spcAft>
            </a:pPr>
            <a:r>
              <a:rPr lang="en-US" sz="2200" dirty="0" smtClean="0">
                <a:latin typeface="Helvetica" pitchFamily="34" charset="0"/>
              </a:rPr>
              <a:t>Smallgoods products – but not salami</a:t>
            </a:r>
          </a:p>
          <a:p>
            <a:pPr marL="360000" indent="-360000">
              <a:spcBef>
                <a:spcPts val="1200"/>
              </a:spcBef>
              <a:spcAft>
                <a:spcPts val="1200"/>
              </a:spcAft>
            </a:pPr>
            <a:r>
              <a:rPr lang="en-US" sz="2200" dirty="0" smtClean="0">
                <a:latin typeface="Helvetica" pitchFamily="34" charset="0"/>
              </a:rPr>
              <a:t>Processed meat products</a:t>
            </a:r>
          </a:p>
          <a:p>
            <a:pPr marL="360000" indent="-360000">
              <a:spcBef>
                <a:spcPts val="1200"/>
              </a:spcBef>
              <a:spcAft>
                <a:spcPts val="1200"/>
              </a:spcAft>
            </a:pPr>
            <a:r>
              <a:rPr lang="en-US" sz="2200" dirty="0" smtClean="0">
                <a:latin typeface="Helvetica" pitchFamily="34" charset="0"/>
              </a:rPr>
              <a:t>Fish, shellfish and fish products</a:t>
            </a:r>
          </a:p>
          <a:p>
            <a:pPr marL="360000" indent="-360000">
              <a:spcBef>
                <a:spcPts val="1200"/>
              </a:spcBef>
              <a:spcAft>
                <a:spcPts val="1200"/>
              </a:spcAft>
            </a:pPr>
            <a:r>
              <a:rPr lang="en-US" sz="2200" dirty="0" smtClean="0">
                <a:latin typeface="Helvetica" pitchFamily="34" charset="0"/>
              </a:rPr>
              <a:t>Prepared foods containing potentially hazardous food items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24578" name="Picture 2" descr="I:\Overseas Projects\PHOTOS\2012\Culinary 2012\Seafood\zack-at-work.jpg"/>
          <p:cNvPicPr>
            <a:picLocks noChangeAspect="1" noChangeArrowheads="1"/>
          </p:cNvPicPr>
          <p:nvPr/>
        </p:nvPicPr>
        <p:blipFill>
          <a:blip r:embed="rId3" cstate="print"/>
          <a:srcRect/>
          <a:stretch>
            <a:fillRect/>
          </a:stretch>
        </p:blipFill>
        <p:spPr bwMode="auto">
          <a:xfrm>
            <a:off x="6000760" y="1714488"/>
            <a:ext cx="1894335" cy="1557255"/>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 ‘Temperature Danger Zone’ (TDZ):</a:t>
            </a:r>
          </a:p>
          <a:p>
            <a:pPr marL="360000" indent="-360000">
              <a:spcBef>
                <a:spcPts val="1200"/>
              </a:spcBef>
              <a:spcAft>
                <a:spcPts val="1200"/>
              </a:spcAft>
            </a:pPr>
            <a:r>
              <a:rPr lang="en-US" sz="2200" dirty="0" smtClean="0">
                <a:latin typeface="Helvetica" pitchFamily="34" charset="0"/>
              </a:rPr>
              <a:t>The temperature range in which </a:t>
            </a:r>
            <a:br>
              <a:rPr lang="en-US" sz="2200" dirty="0" smtClean="0">
                <a:latin typeface="Helvetica" pitchFamily="34" charset="0"/>
              </a:rPr>
            </a:br>
            <a:r>
              <a:rPr lang="en-US" sz="2200" dirty="0" smtClean="0">
                <a:latin typeface="Helvetica" pitchFamily="34" charset="0"/>
              </a:rPr>
              <a:t>bacteria multiply most rapidly</a:t>
            </a:r>
            <a:br>
              <a:rPr lang="en-US" sz="2200" dirty="0" smtClean="0">
                <a:latin typeface="Helvetica" pitchFamily="34" charset="0"/>
              </a:rPr>
            </a:br>
            <a:r>
              <a:rPr lang="en-US" sz="2200" dirty="0" smtClean="0">
                <a:latin typeface="Helvetica" pitchFamily="34" charset="0"/>
              </a:rPr>
              <a:t> (5</a:t>
            </a:r>
            <a:r>
              <a:rPr lang="en-AU" sz="2200" dirty="0" smtClean="0">
                <a:latin typeface="Helvetica" pitchFamily="34" charset="0"/>
              </a:rPr>
              <a:t>°C to 60°C)</a:t>
            </a:r>
            <a:r>
              <a:rPr lang="en-US" sz="2200" dirty="0" smtClean="0">
                <a:latin typeface="Helvetica" pitchFamily="34" charset="0"/>
              </a:rPr>
              <a:t> </a:t>
            </a:r>
          </a:p>
          <a:p>
            <a:pPr marL="360000" indent="-360000">
              <a:spcBef>
                <a:spcPts val="1200"/>
              </a:spcBef>
              <a:spcAft>
                <a:spcPts val="1200"/>
              </a:spcAft>
            </a:pPr>
            <a:r>
              <a:rPr lang="en-US" sz="2200" dirty="0" smtClean="0">
                <a:latin typeface="Helvetica" pitchFamily="34" charset="0"/>
              </a:rPr>
              <a:t>High risk food must be kept out of </a:t>
            </a:r>
            <a:br>
              <a:rPr lang="en-US" sz="2200" dirty="0" smtClean="0">
                <a:latin typeface="Helvetica" pitchFamily="34" charset="0"/>
              </a:rPr>
            </a:br>
            <a:r>
              <a:rPr lang="en-US" sz="2200" dirty="0" smtClean="0">
                <a:latin typeface="Helvetica" pitchFamily="34" charset="0"/>
              </a:rPr>
              <a:t>this range whenever possible</a:t>
            </a:r>
          </a:p>
          <a:p>
            <a:pPr marL="360000" indent="-360000">
              <a:spcBef>
                <a:spcPts val="1200"/>
              </a:spcBef>
              <a:spcAft>
                <a:spcPts val="1200"/>
              </a:spcAft>
            </a:pPr>
            <a:r>
              <a:rPr lang="en-US" sz="2200" dirty="0" smtClean="0">
                <a:latin typeface="Helvetica" pitchFamily="34" charset="0"/>
              </a:rPr>
              <a:t>All time food spends in this Zone </a:t>
            </a:r>
            <a:br>
              <a:rPr lang="en-US" sz="2200" dirty="0" smtClean="0">
                <a:latin typeface="Helvetica" pitchFamily="34" charset="0"/>
              </a:rPr>
            </a:br>
            <a:r>
              <a:rPr lang="en-US" sz="2200" dirty="0" smtClean="0">
                <a:latin typeface="Helvetica" pitchFamily="34" charset="0"/>
              </a:rPr>
              <a:t>is cumulative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6" name="Picture 5" descr="danger-zone.gif"/>
          <p:cNvPicPr>
            <a:picLocks noChangeAspect="1"/>
          </p:cNvPicPr>
          <p:nvPr/>
        </p:nvPicPr>
        <p:blipFill>
          <a:blip r:embed="rId3" cstate="print"/>
          <a:stretch>
            <a:fillRect/>
          </a:stretch>
        </p:blipFill>
        <p:spPr>
          <a:xfrm>
            <a:off x="6000760" y="1714488"/>
            <a:ext cx="2212417" cy="3071834"/>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71612"/>
            <a:ext cx="7467600" cy="4296829"/>
          </a:xfrm>
        </p:spPr>
        <p:txBody>
          <a:bodyPr>
            <a:normAutofit/>
          </a:bodyPr>
          <a:lstStyle/>
          <a:p>
            <a:pPr marL="0" indent="0">
              <a:spcBef>
                <a:spcPts val="1200"/>
              </a:spcBef>
              <a:spcAft>
                <a:spcPts val="1200"/>
              </a:spcAft>
              <a:buNone/>
            </a:pPr>
            <a:r>
              <a:rPr lang="en-US" sz="2200" dirty="0" smtClean="0">
                <a:latin typeface="Helvetica" pitchFamily="34" charset="0"/>
              </a:rPr>
              <a:t>The 2/4 Rule states:</a:t>
            </a:r>
          </a:p>
          <a:p>
            <a:pPr marL="360000" indent="-360000">
              <a:spcBef>
                <a:spcPts val="1200"/>
              </a:spcBef>
              <a:spcAft>
                <a:spcPts val="1200"/>
              </a:spcAft>
            </a:pPr>
            <a:r>
              <a:rPr lang="en-US" sz="2200" dirty="0" smtClean="0">
                <a:latin typeface="Helvetica" pitchFamily="34" charset="0"/>
              </a:rPr>
              <a:t>High risk food in the TDZ for 4 hours or </a:t>
            </a:r>
            <a:br>
              <a:rPr lang="en-US" sz="2200" dirty="0" smtClean="0">
                <a:latin typeface="Helvetica" pitchFamily="34" charset="0"/>
              </a:rPr>
            </a:br>
            <a:r>
              <a:rPr lang="en-US" sz="2200" dirty="0" smtClean="0">
                <a:latin typeface="Helvetica" pitchFamily="34" charset="0"/>
              </a:rPr>
              <a:t>more must be thrown out</a:t>
            </a:r>
          </a:p>
          <a:p>
            <a:pPr marL="360000" indent="-360000">
              <a:spcBef>
                <a:spcPts val="1200"/>
              </a:spcBef>
              <a:spcAft>
                <a:spcPts val="1200"/>
              </a:spcAft>
            </a:pPr>
            <a:r>
              <a:rPr lang="en-US" sz="2200" dirty="0" smtClean="0">
                <a:latin typeface="Helvetica" pitchFamily="34" charset="0"/>
              </a:rPr>
              <a:t>High risk food in the TDZ for 2 hours can </a:t>
            </a:r>
            <a:br>
              <a:rPr lang="en-US" sz="2200" dirty="0" smtClean="0">
                <a:latin typeface="Helvetica" pitchFamily="34" charset="0"/>
              </a:rPr>
            </a:br>
            <a:r>
              <a:rPr lang="en-US" sz="2200" dirty="0" smtClean="0">
                <a:latin typeface="Helvetica" pitchFamily="34" charset="0"/>
              </a:rPr>
              <a:t>be refrigerated and returned to TDZ </a:t>
            </a:r>
            <a:br>
              <a:rPr lang="en-US" sz="2200" dirty="0" smtClean="0">
                <a:latin typeface="Helvetica" pitchFamily="34" charset="0"/>
              </a:rPr>
            </a:br>
            <a:r>
              <a:rPr lang="en-US" sz="2200" dirty="0" smtClean="0">
                <a:latin typeface="Helvetica" pitchFamily="34" charset="0"/>
              </a:rPr>
              <a:t>for another 2 hours</a:t>
            </a:r>
          </a:p>
          <a:p>
            <a:pPr marL="360000" indent="-360000">
              <a:spcBef>
                <a:spcPts val="1200"/>
              </a:spcBef>
              <a:spcAft>
                <a:spcPts val="1200"/>
              </a:spcAft>
            </a:pPr>
            <a:r>
              <a:rPr lang="en-US" sz="2200" dirty="0" smtClean="0">
                <a:latin typeface="Helvetica" pitchFamily="34" charset="0"/>
              </a:rPr>
              <a:t>High risk food in the TDZ for 2 hours </a:t>
            </a:r>
            <a:br>
              <a:rPr lang="en-US" sz="2200" dirty="0" smtClean="0">
                <a:latin typeface="Helvetica" pitchFamily="34" charset="0"/>
              </a:rPr>
            </a:br>
            <a:r>
              <a:rPr lang="en-US" sz="2200" dirty="0" smtClean="0">
                <a:latin typeface="Helvetica" pitchFamily="34" charset="0"/>
              </a:rPr>
              <a:t>must be cooked or eaten in the </a:t>
            </a:r>
            <a:br>
              <a:rPr lang="en-US" sz="2200" dirty="0" smtClean="0">
                <a:latin typeface="Helvetica" pitchFamily="34" charset="0"/>
              </a:rPr>
            </a:br>
            <a:r>
              <a:rPr lang="en-US" sz="2200" dirty="0" smtClean="0">
                <a:latin typeface="Helvetica" pitchFamily="34" charset="0"/>
              </a:rPr>
              <a:t>next 2 hours or thrown out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5" name="Picture 4" descr="Seafood2CCTownsDelightTheCaterer.jpg"/>
          <p:cNvPicPr>
            <a:picLocks noChangeAspect="1"/>
          </p:cNvPicPr>
          <p:nvPr/>
        </p:nvPicPr>
        <p:blipFill>
          <a:blip r:embed="rId3" cstate="print"/>
          <a:stretch>
            <a:fillRect/>
          </a:stretch>
        </p:blipFill>
        <p:spPr>
          <a:xfrm>
            <a:off x="6429388" y="2928934"/>
            <a:ext cx="2214546" cy="1536341"/>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3050"/>
            <a:ext cx="7467600" cy="4225391"/>
          </a:xfrm>
        </p:spPr>
        <p:txBody>
          <a:bodyPr>
            <a:normAutofit/>
          </a:bodyPr>
          <a:lstStyle/>
          <a:p>
            <a:pPr marL="0" indent="0">
              <a:spcBef>
                <a:spcPts val="1200"/>
              </a:spcBef>
              <a:spcAft>
                <a:spcPts val="1200"/>
              </a:spcAft>
              <a:buNone/>
            </a:pPr>
            <a:r>
              <a:rPr lang="en-US" sz="2200" dirty="0" smtClean="0">
                <a:latin typeface="Helvetica" pitchFamily="34" charset="0"/>
              </a:rPr>
              <a:t>A properly calibrated probe thermometer should be available in every food premises – it must be:</a:t>
            </a:r>
          </a:p>
          <a:p>
            <a:pPr marL="360000" indent="-360000">
              <a:spcBef>
                <a:spcPts val="1200"/>
              </a:spcBef>
              <a:spcAft>
                <a:spcPts val="1200"/>
              </a:spcAft>
            </a:pPr>
            <a:r>
              <a:rPr lang="en-US" sz="2200" dirty="0" smtClean="0">
                <a:latin typeface="Helvetica" pitchFamily="34" charset="0"/>
              </a:rPr>
              <a:t>Readily available for use</a:t>
            </a:r>
          </a:p>
          <a:p>
            <a:pPr marL="360000" indent="-360000">
              <a:spcBef>
                <a:spcPts val="1200"/>
              </a:spcBef>
              <a:spcAft>
                <a:spcPts val="1200"/>
              </a:spcAft>
            </a:pPr>
            <a:r>
              <a:rPr lang="en-US" sz="2200" dirty="0" smtClean="0">
                <a:latin typeface="Helvetica" pitchFamily="34" charset="0"/>
              </a:rPr>
              <a:t>Checked for accuracy at least every 6 months</a:t>
            </a:r>
          </a:p>
          <a:p>
            <a:pPr marL="360000" indent="-360000">
              <a:spcBef>
                <a:spcPts val="1200"/>
              </a:spcBef>
              <a:spcAft>
                <a:spcPts val="1200"/>
              </a:spcAft>
            </a:pPr>
            <a:r>
              <a:rPr lang="en-US" sz="2200" dirty="0" smtClean="0">
                <a:latin typeface="Helvetica" pitchFamily="34" charset="0"/>
              </a:rPr>
              <a:t>Accurate to plus or minus 1</a:t>
            </a:r>
            <a:r>
              <a:rPr lang="en-AU" sz="2200" dirty="0" smtClean="0">
                <a:latin typeface="Helvetica" pitchFamily="34" charset="0"/>
              </a:rPr>
              <a:t>°C</a:t>
            </a: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calibrated probe thermometer.png"/>
          <p:cNvPicPr>
            <a:picLocks noChangeAspect="1"/>
          </p:cNvPicPr>
          <p:nvPr/>
        </p:nvPicPr>
        <p:blipFill>
          <a:blip r:embed="rId3" cstate="print"/>
          <a:stretch>
            <a:fillRect/>
          </a:stretch>
        </p:blipFill>
        <p:spPr>
          <a:xfrm>
            <a:off x="6858016" y="2428868"/>
            <a:ext cx="1735157" cy="2319327"/>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332656"/>
            <a:ext cx="8784976"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7161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Cleaned and sanitised between uses</a:t>
            </a:r>
          </a:p>
          <a:p>
            <a:pPr marL="360000" indent="-360000">
              <a:spcBef>
                <a:spcPts val="1200"/>
              </a:spcBef>
              <a:spcAft>
                <a:spcPts val="1200"/>
              </a:spcAft>
            </a:pPr>
            <a:r>
              <a:rPr lang="en-US" sz="2200" dirty="0" smtClean="0">
                <a:latin typeface="Helvetica" pitchFamily="34" charset="0"/>
              </a:rPr>
              <a:t>Allowed to reach room temperature when alternating between hot and cold food items</a:t>
            </a:r>
          </a:p>
          <a:p>
            <a:pPr marL="360000" indent="-360000">
              <a:spcBef>
                <a:spcPts val="1200"/>
              </a:spcBef>
              <a:spcAft>
                <a:spcPts val="1200"/>
              </a:spcAft>
            </a:pPr>
            <a:r>
              <a:rPr lang="en-US" sz="2200" dirty="0" smtClean="0">
                <a:latin typeface="Helvetica" pitchFamily="34" charset="0"/>
              </a:rPr>
              <a:t>Treated with care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calibrated hermometer.jpg"/>
          <p:cNvPicPr>
            <a:picLocks noChangeAspect="1"/>
          </p:cNvPicPr>
          <p:nvPr/>
        </p:nvPicPr>
        <p:blipFill>
          <a:blip r:embed="rId3" cstate="print"/>
          <a:stretch>
            <a:fillRect/>
          </a:stretch>
        </p:blipFill>
        <p:spPr>
          <a:xfrm>
            <a:off x="6429388" y="2786058"/>
            <a:ext cx="1571616" cy="2357424"/>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Personal hygiene practices for food handlers:</a:t>
            </a:r>
          </a:p>
          <a:p>
            <a:pPr marL="360000" indent="-360000">
              <a:spcBef>
                <a:spcPts val="1200"/>
              </a:spcBef>
              <a:spcAft>
                <a:spcPts val="1200"/>
              </a:spcAft>
            </a:pPr>
            <a:r>
              <a:rPr lang="en-US" sz="2200" dirty="0" smtClean="0">
                <a:latin typeface="Helvetica" pitchFamily="34" charset="0"/>
              </a:rPr>
              <a:t>Avoid touching food with bare hands</a:t>
            </a:r>
          </a:p>
          <a:p>
            <a:pPr marL="360000" indent="-360000">
              <a:spcBef>
                <a:spcPts val="1200"/>
              </a:spcBef>
              <a:spcAft>
                <a:spcPts val="1200"/>
              </a:spcAft>
            </a:pPr>
            <a:r>
              <a:rPr lang="en-US" sz="2200" dirty="0" smtClean="0">
                <a:latin typeface="Helvetica" pitchFamily="34" charset="0"/>
              </a:rPr>
              <a:t>Avoid touching food-contact surfaces </a:t>
            </a:r>
            <a:br>
              <a:rPr lang="en-US" sz="2200" dirty="0" smtClean="0">
                <a:latin typeface="Helvetica" pitchFamily="34" charset="0"/>
              </a:rPr>
            </a:br>
            <a:r>
              <a:rPr lang="en-US" sz="2200" dirty="0" smtClean="0">
                <a:latin typeface="Helvetica" pitchFamily="34" charset="0"/>
              </a:rPr>
              <a:t>with bare hands</a:t>
            </a:r>
          </a:p>
          <a:p>
            <a:pPr marL="360000" indent="-360000">
              <a:spcBef>
                <a:spcPts val="1200"/>
              </a:spcBef>
              <a:spcAft>
                <a:spcPts val="1200"/>
              </a:spcAft>
            </a:pPr>
            <a:r>
              <a:rPr lang="en-US" sz="2200" dirty="0" smtClean="0">
                <a:latin typeface="Helvetica" pitchFamily="34" charset="0"/>
              </a:rPr>
              <a:t>Do not wear jewellery on hands </a:t>
            </a:r>
            <a:br>
              <a:rPr lang="en-US" sz="2200" dirty="0" smtClean="0">
                <a:latin typeface="Helvetica" pitchFamily="34" charset="0"/>
              </a:rPr>
            </a:br>
            <a:r>
              <a:rPr lang="en-US" sz="2200" dirty="0" smtClean="0">
                <a:latin typeface="Helvetica" pitchFamily="34" charset="0"/>
              </a:rPr>
              <a:t>or wrists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25602" name="Picture 2" descr="I:\Overseas Projects\PHOTOS\2012\Culinary 2012\Others\handwash 1.jpg"/>
          <p:cNvPicPr>
            <a:picLocks noChangeAspect="1" noChangeArrowheads="1"/>
          </p:cNvPicPr>
          <p:nvPr/>
        </p:nvPicPr>
        <p:blipFill>
          <a:blip r:embed="rId3" cstate="print"/>
          <a:srcRect/>
          <a:stretch>
            <a:fillRect/>
          </a:stretch>
        </p:blipFill>
        <p:spPr bwMode="auto">
          <a:xfrm>
            <a:off x="6143636" y="2143116"/>
            <a:ext cx="2000264" cy="1332832"/>
          </a:xfrm>
          <a:prstGeom prst="rect">
            <a:avLst/>
          </a:prstGeom>
          <a:noFill/>
        </p:spPr>
      </p:pic>
      <p:pic>
        <p:nvPicPr>
          <p:cNvPr id="25603" name="Picture 3" descr="I:\Overseas Projects\PHOTOS\2012\Culinary 2012\Cookery\Prepare sandwiches2.jpg"/>
          <p:cNvPicPr>
            <a:picLocks noChangeAspect="1" noChangeArrowheads="1"/>
          </p:cNvPicPr>
          <p:nvPr/>
        </p:nvPicPr>
        <p:blipFill>
          <a:blip r:embed="rId4" cstate="print"/>
          <a:srcRect/>
          <a:stretch>
            <a:fillRect/>
          </a:stretch>
        </p:blipFill>
        <p:spPr bwMode="auto">
          <a:xfrm>
            <a:off x="6143636" y="3786190"/>
            <a:ext cx="2003316" cy="1330328"/>
          </a:xfrm>
          <a:prstGeom prst="rect">
            <a:avLst/>
          </a:prstGeom>
          <a:noFill/>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Control and or cover facial hair</a:t>
            </a:r>
          </a:p>
          <a:p>
            <a:pPr marL="360000" indent="-360000">
              <a:spcBef>
                <a:spcPts val="1200"/>
              </a:spcBef>
              <a:spcAft>
                <a:spcPts val="1200"/>
              </a:spcAft>
            </a:pPr>
            <a:r>
              <a:rPr lang="en-US" sz="2200" dirty="0" smtClean="0">
                <a:latin typeface="Helvetica" pitchFamily="34" charset="0"/>
              </a:rPr>
              <a:t>Keep fingernails short, clean and without </a:t>
            </a:r>
            <a:br>
              <a:rPr lang="en-US" sz="2200" dirty="0" smtClean="0">
                <a:latin typeface="Helvetica" pitchFamily="34" charset="0"/>
              </a:rPr>
            </a:br>
            <a:r>
              <a:rPr lang="en-US" sz="2200" dirty="0" smtClean="0">
                <a:latin typeface="Helvetica" pitchFamily="34" charset="0"/>
              </a:rPr>
              <a:t>polish or decorations</a:t>
            </a:r>
          </a:p>
          <a:p>
            <a:pPr marL="360000" indent="-360000">
              <a:spcBef>
                <a:spcPts val="1200"/>
              </a:spcBef>
              <a:spcAft>
                <a:spcPts val="1200"/>
              </a:spcAft>
            </a:pPr>
            <a:r>
              <a:rPr lang="en-US" sz="2200" dirty="0" smtClean="0">
                <a:latin typeface="Helvetica" pitchFamily="34" charset="0"/>
              </a:rPr>
              <a:t>Wear only clean clothing</a:t>
            </a:r>
          </a:p>
          <a:p>
            <a:pPr marL="360000" indent="-360000">
              <a:spcBef>
                <a:spcPts val="1200"/>
              </a:spcBef>
              <a:spcAft>
                <a:spcPts val="1200"/>
              </a:spcAft>
            </a:pPr>
            <a:r>
              <a:rPr lang="en-US" sz="2200" dirty="0" smtClean="0">
                <a:latin typeface="Helvetica" pitchFamily="34" charset="0"/>
              </a:rPr>
              <a:t>Do not wear food handling clothes to and </a:t>
            </a:r>
            <a:br>
              <a:rPr lang="en-US" sz="2200" dirty="0" smtClean="0">
                <a:latin typeface="Helvetica" pitchFamily="34" charset="0"/>
              </a:rPr>
            </a:br>
            <a:r>
              <a:rPr lang="en-US" sz="2200" dirty="0" smtClean="0">
                <a:latin typeface="Helvetica" pitchFamily="34" charset="0"/>
              </a:rPr>
              <a:t>from work</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9" name="Picture 8" descr="Trimming fingernails.jpg"/>
          <p:cNvPicPr>
            <a:picLocks noChangeAspect="1"/>
          </p:cNvPicPr>
          <p:nvPr/>
        </p:nvPicPr>
        <p:blipFill>
          <a:blip r:embed="rId3" cstate="print"/>
          <a:stretch>
            <a:fillRect/>
          </a:stretch>
        </p:blipFill>
        <p:spPr>
          <a:xfrm>
            <a:off x="7000892" y="3143248"/>
            <a:ext cx="1278790" cy="1643074"/>
          </a:xfrm>
          <a:prstGeom prst="rect">
            <a:avLst/>
          </a:prstGeom>
        </p:spPr>
      </p:pic>
      <p:pic>
        <p:nvPicPr>
          <p:cNvPr id="5124" name="Picture 4" descr="C:\Users\fgvghyujil\AppData\Local\Microsoft\Windows\Temporary Internet Files\Content.IE5\SIE7KNHZ\MP900430724[1].jpg"/>
          <p:cNvPicPr>
            <a:picLocks noChangeAspect="1" noChangeArrowheads="1"/>
          </p:cNvPicPr>
          <p:nvPr/>
        </p:nvPicPr>
        <p:blipFill>
          <a:blip r:embed="rId4" cstate="print"/>
          <a:srcRect l="5258"/>
          <a:stretch>
            <a:fillRect/>
          </a:stretch>
        </p:blipFill>
        <p:spPr bwMode="auto">
          <a:xfrm>
            <a:off x="7000892" y="1643050"/>
            <a:ext cx="1287210" cy="1357322"/>
          </a:xfrm>
          <a:prstGeom prst="rect">
            <a:avLst/>
          </a:prstGeom>
          <a:noFill/>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Cover all cuts and sores with water-proof bandage</a:t>
            </a:r>
          </a:p>
          <a:p>
            <a:pPr marL="360000" indent="-360000">
              <a:spcBef>
                <a:spcPts val="1200"/>
              </a:spcBef>
              <a:spcAft>
                <a:spcPts val="1200"/>
              </a:spcAft>
            </a:pPr>
            <a:r>
              <a:rPr lang="en-US" sz="2200" dirty="0" smtClean="0">
                <a:latin typeface="Helvetica" pitchFamily="34" charset="0"/>
              </a:rPr>
              <a:t>Do not handle unprotected food when ill</a:t>
            </a:r>
          </a:p>
          <a:p>
            <a:pPr marL="360000" indent="-360000">
              <a:spcBef>
                <a:spcPts val="1200"/>
              </a:spcBef>
              <a:spcAft>
                <a:spcPts val="1200"/>
              </a:spcAft>
            </a:pPr>
            <a:r>
              <a:rPr lang="en-US" sz="2200" dirty="0" smtClean="0">
                <a:latin typeface="Helvetica" pitchFamily="34" charset="0"/>
              </a:rPr>
              <a:t>Stay away from work if suffering from a communicable disease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6146" name="Picture 2" descr="C:\Users\fgvghyujil\AppData\Local\Microsoft\Windows\Temporary Internet Files\Content.IE5\SIE7KNHZ\MP900422201[1].jpg"/>
          <p:cNvPicPr>
            <a:picLocks noChangeAspect="1" noChangeArrowheads="1"/>
          </p:cNvPicPr>
          <p:nvPr/>
        </p:nvPicPr>
        <p:blipFill>
          <a:blip r:embed="rId3" cstate="print"/>
          <a:srcRect l="4348"/>
          <a:stretch>
            <a:fillRect/>
          </a:stretch>
        </p:blipFill>
        <p:spPr bwMode="auto">
          <a:xfrm>
            <a:off x="3643306" y="3714752"/>
            <a:ext cx="1571636" cy="2463408"/>
          </a:xfrm>
          <a:prstGeom prst="rect">
            <a:avLst/>
          </a:prstGeom>
          <a:noFill/>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When wearing disposable gloves:</a:t>
            </a:r>
          </a:p>
          <a:p>
            <a:pPr marL="360000" indent="-360000">
              <a:spcBef>
                <a:spcPts val="1200"/>
              </a:spcBef>
              <a:spcAft>
                <a:spcPts val="1200"/>
              </a:spcAft>
            </a:pPr>
            <a:r>
              <a:rPr lang="en-US" sz="2200" dirty="0" smtClean="0">
                <a:latin typeface="Helvetica" pitchFamily="34" charset="0"/>
              </a:rPr>
              <a:t>Change them if they become torn</a:t>
            </a:r>
          </a:p>
          <a:p>
            <a:pPr marL="360000" indent="-360000">
              <a:spcBef>
                <a:spcPts val="1200"/>
              </a:spcBef>
              <a:spcAft>
                <a:spcPts val="1200"/>
              </a:spcAft>
            </a:pPr>
            <a:r>
              <a:rPr lang="en-US" sz="2200" dirty="0" smtClean="0">
                <a:latin typeface="Helvetica" pitchFamily="34" charset="0"/>
              </a:rPr>
              <a:t>Change in between handling raw food </a:t>
            </a:r>
            <a:br>
              <a:rPr lang="en-US" sz="2200" dirty="0" smtClean="0">
                <a:latin typeface="Helvetica" pitchFamily="34" charset="0"/>
              </a:rPr>
            </a:br>
            <a:r>
              <a:rPr lang="en-US" sz="2200" dirty="0" smtClean="0">
                <a:latin typeface="Helvetica" pitchFamily="34" charset="0"/>
              </a:rPr>
              <a:t>and cooked or ready-to-eat food</a:t>
            </a:r>
          </a:p>
          <a:p>
            <a:pPr marL="360000" indent="-360000">
              <a:spcBef>
                <a:spcPts val="1200"/>
              </a:spcBef>
              <a:spcAft>
                <a:spcPts val="1200"/>
              </a:spcAft>
            </a:pPr>
            <a:r>
              <a:rPr lang="en-US" sz="2200" dirty="0" smtClean="0">
                <a:latin typeface="Helvetica" pitchFamily="34" charset="0"/>
              </a:rPr>
              <a:t>Change every hour</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descr="food handling.jpg"/>
          <p:cNvPicPr>
            <a:picLocks noChangeAspect="1"/>
          </p:cNvPicPr>
          <p:nvPr/>
        </p:nvPicPr>
        <p:blipFill>
          <a:blip r:embed="rId3" cstate="print"/>
          <a:stretch>
            <a:fillRect/>
          </a:stretch>
        </p:blipFill>
        <p:spPr>
          <a:xfrm>
            <a:off x="6572264" y="2143116"/>
            <a:ext cx="1707491" cy="2344615"/>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Change glove if money is handled</a:t>
            </a:r>
          </a:p>
          <a:p>
            <a:pPr marL="360000" indent="-360000">
              <a:spcBef>
                <a:spcPts val="1200"/>
              </a:spcBef>
              <a:spcAft>
                <a:spcPts val="1200"/>
              </a:spcAft>
            </a:pPr>
            <a:r>
              <a:rPr lang="en-US" sz="2200" dirty="0" smtClean="0">
                <a:latin typeface="Helvetica" pitchFamily="34" charset="0"/>
              </a:rPr>
              <a:t>Do not change gloves over food or food surfaces</a:t>
            </a:r>
          </a:p>
          <a:p>
            <a:pPr marL="360000" indent="-360000">
              <a:spcBef>
                <a:spcPts val="1200"/>
              </a:spcBef>
              <a:spcAft>
                <a:spcPts val="1200"/>
              </a:spcAft>
            </a:pPr>
            <a:r>
              <a:rPr lang="en-US" sz="2200" dirty="0" smtClean="0">
                <a:latin typeface="Helvetica" pitchFamily="34" charset="0"/>
              </a:rPr>
              <a:t>Never re-use gloves</a:t>
            </a:r>
          </a:p>
          <a:p>
            <a:pPr marL="360000" indent="-360000">
              <a:spcBef>
                <a:spcPts val="1200"/>
              </a:spcBef>
              <a:spcAft>
                <a:spcPts val="1200"/>
              </a:spcAft>
            </a:pPr>
            <a:r>
              <a:rPr lang="en-US" sz="2200" dirty="0" smtClean="0">
                <a:latin typeface="Helvetica" pitchFamily="34" charset="0"/>
              </a:rPr>
              <a:t>Do not turn gloves inside-out and use </a:t>
            </a:r>
            <a:br>
              <a:rPr lang="en-US" sz="2200" dirty="0" smtClean="0">
                <a:latin typeface="Helvetica" pitchFamily="34" charset="0"/>
              </a:rPr>
            </a:br>
            <a:r>
              <a:rPr lang="en-US" sz="2200" dirty="0" smtClean="0">
                <a:latin typeface="Helvetica" pitchFamily="34" charset="0"/>
              </a:rPr>
              <a:t>again</a:t>
            </a:r>
          </a:p>
          <a:p>
            <a:pPr marL="360000" indent="-360000">
              <a:spcBef>
                <a:spcPts val="1200"/>
              </a:spcBef>
              <a:spcAft>
                <a:spcPts val="1200"/>
              </a:spcAft>
            </a:pPr>
            <a:r>
              <a:rPr lang="en-US" sz="2200" dirty="0" smtClean="0">
                <a:latin typeface="Helvetica" pitchFamily="34" charset="0"/>
              </a:rPr>
              <a:t>Change gloves whenever they become contaminated</a:t>
            </a:r>
          </a:p>
          <a:p>
            <a:pPr marL="360000" indent="-360000">
              <a:spcBef>
                <a:spcPts val="1200"/>
              </a:spcBef>
              <a:spcAft>
                <a:spcPts val="1200"/>
              </a:spcAft>
            </a:pPr>
            <a:endParaRPr lang="en-US"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Mixing salad.jpg"/>
          <p:cNvPicPr>
            <a:picLocks noChangeAspect="1"/>
          </p:cNvPicPr>
          <p:nvPr/>
        </p:nvPicPr>
        <p:blipFill>
          <a:blip r:embed="rId3" cstate="print"/>
          <a:stretch>
            <a:fillRect/>
          </a:stretch>
        </p:blipFill>
        <p:spPr>
          <a:xfrm>
            <a:off x="6500826" y="2786058"/>
            <a:ext cx="1808450" cy="1485085"/>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In relation to food handling clothes:</a:t>
            </a:r>
          </a:p>
          <a:p>
            <a:pPr marL="360000" indent="-360000">
              <a:spcBef>
                <a:spcPts val="1200"/>
              </a:spcBef>
              <a:spcAft>
                <a:spcPts val="1200"/>
              </a:spcAft>
            </a:pPr>
            <a:r>
              <a:rPr lang="en-US" sz="2200" dirty="0" smtClean="0">
                <a:latin typeface="Helvetica" pitchFamily="34" charset="0"/>
              </a:rPr>
              <a:t>Avoid loose-fitting clothes</a:t>
            </a:r>
          </a:p>
          <a:p>
            <a:pPr marL="360000" indent="-360000">
              <a:spcBef>
                <a:spcPts val="1200"/>
              </a:spcBef>
              <a:spcAft>
                <a:spcPts val="1200"/>
              </a:spcAft>
            </a:pPr>
            <a:r>
              <a:rPr lang="en-US" sz="2200" dirty="0" smtClean="0">
                <a:latin typeface="Helvetica" pitchFamily="34" charset="0"/>
              </a:rPr>
              <a:t>Do not cough or sneeze over food</a:t>
            </a:r>
          </a:p>
          <a:p>
            <a:pPr marL="360000" indent="-360000">
              <a:spcBef>
                <a:spcPts val="1200"/>
              </a:spcBef>
              <a:spcAft>
                <a:spcPts val="1200"/>
              </a:spcAft>
            </a:pPr>
            <a:r>
              <a:rPr lang="en-US" sz="2200" dirty="0" smtClean="0">
                <a:latin typeface="Helvetica" pitchFamily="34" charset="0"/>
              </a:rPr>
              <a:t>Avoid jewellery on hands and wrists</a:t>
            </a:r>
          </a:p>
          <a:p>
            <a:pPr marL="360000" indent="-360000">
              <a:spcBef>
                <a:spcPts val="1200"/>
              </a:spcBef>
              <a:spcAft>
                <a:spcPts val="1200"/>
              </a:spcAft>
            </a:pPr>
            <a:r>
              <a:rPr lang="en-US" sz="2200" dirty="0" smtClean="0">
                <a:latin typeface="Helvetica" pitchFamily="34" charset="0"/>
              </a:rPr>
              <a:t>Do not wear food handling clothes to and from work</a:t>
            </a:r>
          </a:p>
          <a:p>
            <a:pPr marL="360000" indent="-360000">
              <a:spcBef>
                <a:spcPts val="1200"/>
              </a:spcBef>
              <a:spcAft>
                <a:spcPts val="1200"/>
              </a:spcAft>
            </a:pPr>
            <a:r>
              <a:rPr lang="en-US" sz="2200" dirty="0" smtClean="0">
                <a:latin typeface="Helvetica" pitchFamily="34" charset="0"/>
              </a:rPr>
              <a:t>Remove aprons before entering toilet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26626" name="Picture 2" descr="I:\Overseas Projects\PHOTOS\2012\Culinary 2012\MC900360958.WMF"/>
          <p:cNvPicPr>
            <a:picLocks noChangeAspect="1" noChangeArrowheads="1"/>
          </p:cNvPicPr>
          <p:nvPr/>
        </p:nvPicPr>
        <p:blipFill>
          <a:blip r:embed="rId3" cstate="print"/>
          <a:srcRect/>
          <a:stretch>
            <a:fillRect/>
          </a:stretch>
        </p:blipFill>
        <p:spPr bwMode="auto">
          <a:xfrm>
            <a:off x="6786578" y="2000240"/>
            <a:ext cx="1117600" cy="1820862"/>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4525963"/>
          </a:xfrm>
        </p:spPr>
        <p:txBody>
          <a:bodyPr>
            <a:normAutofit/>
          </a:bodyPr>
          <a:lstStyle/>
          <a:p>
            <a:pPr marL="0" indent="0">
              <a:spcBef>
                <a:spcPts val="1200"/>
              </a:spcBef>
              <a:spcAft>
                <a:spcPts val="1200"/>
              </a:spcAft>
              <a:buNone/>
            </a:pPr>
            <a:r>
              <a:rPr lang="en-US" sz="2200" dirty="0" smtClean="0">
                <a:latin typeface="Helvetica" pitchFamily="34" charset="0"/>
              </a:rPr>
              <a:t>Minimise contact with ready-to-eat food:</a:t>
            </a:r>
          </a:p>
          <a:p>
            <a:pPr marL="360000" indent="-360000">
              <a:spcBef>
                <a:spcPts val="1200"/>
              </a:spcBef>
              <a:spcAft>
                <a:spcPts val="1200"/>
              </a:spcAft>
            </a:pPr>
            <a:r>
              <a:rPr lang="en-US" sz="2200" dirty="0" smtClean="0">
                <a:latin typeface="Helvetica" pitchFamily="34" charset="0"/>
              </a:rPr>
              <a:t>Do not handle cooked or ready-to-eat food with bare hands</a:t>
            </a:r>
          </a:p>
          <a:p>
            <a:pPr marL="360000" indent="-360000">
              <a:spcBef>
                <a:spcPts val="1200"/>
              </a:spcBef>
              <a:spcAft>
                <a:spcPts val="1200"/>
              </a:spcAft>
            </a:pPr>
            <a:r>
              <a:rPr lang="en-US" sz="2200" dirty="0" smtClean="0">
                <a:latin typeface="Helvetica" pitchFamily="34" charset="0"/>
              </a:rPr>
              <a:t>Handle cups by handle and glasses </a:t>
            </a:r>
            <a:br>
              <a:rPr lang="en-US" sz="2200" dirty="0" smtClean="0">
                <a:latin typeface="Helvetica" pitchFamily="34" charset="0"/>
              </a:rPr>
            </a:br>
            <a:r>
              <a:rPr lang="en-US" sz="2200" dirty="0" smtClean="0">
                <a:latin typeface="Helvetica" pitchFamily="34" charset="0"/>
              </a:rPr>
              <a:t>by their base</a:t>
            </a:r>
          </a:p>
          <a:p>
            <a:pPr marL="360000" indent="-360000">
              <a:spcBef>
                <a:spcPts val="1200"/>
              </a:spcBef>
              <a:spcAft>
                <a:spcPts val="1200"/>
              </a:spcAft>
            </a:pPr>
            <a:r>
              <a:rPr lang="en-US" sz="2200" dirty="0" smtClean="0">
                <a:latin typeface="Helvetica" pitchFamily="34" charset="0"/>
              </a:rPr>
              <a:t>Handle cutlery by handles</a:t>
            </a:r>
          </a:p>
          <a:p>
            <a:pPr marL="360000" indent="-360000">
              <a:spcBef>
                <a:spcPts val="1200"/>
              </a:spcBef>
              <a:spcAft>
                <a:spcPts val="1200"/>
              </a:spcAft>
            </a:pPr>
            <a:r>
              <a:rPr lang="en-US" sz="2200" dirty="0" smtClean="0">
                <a:latin typeface="Helvetica" pitchFamily="34" charset="0"/>
              </a:rPr>
              <a:t>Avoid unnecessary skin contact with food surfaces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descr="DSC_1391.JPG"/>
          <p:cNvPicPr>
            <a:picLocks noChangeAspect="1"/>
          </p:cNvPicPr>
          <p:nvPr/>
        </p:nvPicPr>
        <p:blipFill>
          <a:blip r:embed="rId3" cstate="print"/>
          <a:stretch>
            <a:fillRect/>
          </a:stretch>
        </p:blipFill>
        <p:spPr>
          <a:xfrm>
            <a:off x="6000760" y="3143248"/>
            <a:ext cx="2151544" cy="1428760"/>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Keep hair tied back</a:t>
            </a:r>
          </a:p>
          <a:p>
            <a:pPr marL="360000" indent="-360000">
              <a:spcBef>
                <a:spcPts val="1200"/>
              </a:spcBef>
              <a:spcAft>
                <a:spcPts val="1200"/>
              </a:spcAft>
            </a:pPr>
            <a:r>
              <a:rPr lang="en-US" sz="2200" dirty="0" smtClean="0">
                <a:latin typeface="Helvetica" pitchFamily="34" charset="0"/>
              </a:rPr>
              <a:t>Do not touch hair while working</a:t>
            </a:r>
          </a:p>
          <a:p>
            <a:pPr marL="360000" indent="-360000">
              <a:spcBef>
                <a:spcPts val="1200"/>
              </a:spcBef>
              <a:spcAft>
                <a:spcPts val="1200"/>
              </a:spcAft>
            </a:pPr>
            <a:r>
              <a:rPr lang="en-US" sz="2200" dirty="0" smtClean="0">
                <a:latin typeface="Helvetica" pitchFamily="34" charset="0"/>
              </a:rPr>
              <a:t>Keep fingernails short</a:t>
            </a:r>
          </a:p>
          <a:p>
            <a:pPr marL="360000" indent="-360000">
              <a:spcBef>
                <a:spcPts val="1200"/>
              </a:spcBef>
              <a:spcAft>
                <a:spcPts val="1200"/>
              </a:spcAft>
            </a:pPr>
            <a:r>
              <a:rPr lang="en-US" sz="2200" dirty="0" smtClean="0">
                <a:latin typeface="Helvetica" pitchFamily="34" charset="0"/>
              </a:rPr>
              <a:t>Wear disposable gloves</a:t>
            </a:r>
          </a:p>
          <a:p>
            <a:pPr marL="360000" indent="-360000">
              <a:spcBef>
                <a:spcPts val="1200"/>
              </a:spcBef>
              <a:spcAft>
                <a:spcPts val="1200"/>
              </a:spcAft>
            </a:pPr>
            <a:r>
              <a:rPr lang="en-US" sz="2200" dirty="0" smtClean="0">
                <a:latin typeface="Helvetica" pitchFamily="34" charset="0"/>
              </a:rPr>
              <a:t>Avoid nail polish and decorations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4" descr="Female chef.jpg"/>
          <p:cNvPicPr>
            <a:picLocks noChangeAspect="1"/>
          </p:cNvPicPr>
          <p:nvPr/>
        </p:nvPicPr>
        <p:blipFill>
          <a:blip r:embed="rId3" cstate="print"/>
          <a:stretch>
            <a:fillRect/>
          </a:stretch>
        </p:blipFill>
        <p:spPr>
          <a:xfrm>
            <a:off x="6429388" y="2071678"/>
            <a:ext cx="1430919" cy="214385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Wear clean clothes when handling food:</a:t>
            </a:r>
          </a:p>
          <a:p>
            <a:pPr marL="360000" indent="-360000">
              <a:spcBef>
                <a:spcPts val="1200"/>
              </a:spcBef>
              <a:spcAft>
                <a:spcPts val="1200"/>
              </a:spcAft>
            </a:pPr>
            <a:r>
              <a:rPr lang="en-US" sz="2200" dirty="0" smtClean="0">
                <a:latin typeface="Helvetica" pitchFamily="34" charset="0"/>
              </a:rPr>
              <a:t>Clean clothes – every day</a:t>
            </a:r>
          </a:p>
          <a:p>
            <a:pPr marL="360000" indent="-360000">
              <a:spcBef>
                <a:spcPts val="1200"/>
              </a:spcBef>
              <a:spcAft>
                <a:spcPts val="1200"/>
              </a:spcAft>
            </a:pPr>
            <a:r>
              <a:rPr lang="en-US" sz="2200" dirty="0" smtClean="0">
                <a:latin typeface="Helvetica" pitchFamily="34" charset="0"/>
              </a:rPr>
              <a:t>Have a spare set of clothes at work</a:t>
            </a:r>
          </a:p>
          <a:p>
            <a:pPr marL="360000" indent="-360000">
              <a:spcBef>
                <a:spcPts val="1200"/>
              </a:spcBef>
              <a:spcAft>
                <a:spcPts val="1200"/>
              </a:spcAft>
            </a:pPr>
            <a:r>
              <a:rPr lang="en-US" sz="2200" dirty="0" smtClean="0">
                <a:latin typeface="Helvetica" pitchFamily="34" charset="0"/>
              </a:rPr>
              <a:t>Wear protective clothing</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5" name="Picture 4" descr="Chef cutting vegie.jpg"/>
          <p:cNvPicPr>
            <a:picLocks noChangeAspect="1"/>
          </p:cNvPicPr>
          <p:nvPr/>
        </p:nvPicPr>
        <p:blipFill>
          <a:blip r:embed="rId3" cstate="print"/>
          <a:stretch>
            <a:fillRect/>
          </a:stretch>
        </p:blipFill>
        <p:spPr>
          <a:xfrm>
            <a:off x="5929322" y="2285992"/>
            <a:ext cx="2432129" cy="1623331"/>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Cover cuts and sores with water-proof bandage:</a:t>
            </a:r>
          </a:p>
          <a:p>
            <a:pPr marL="360000" indent="-360000">
              <a:spcBef>
                <a:spcPts val="1200"/>
              </a:spcBef>
              <a:spcAft>
                <a:spcPts val="1200"/>
              </a:spcAft>
            </a:pPr>
            <a:r>
              <a:rPr lang="en-US" sz="2200" dirty="0" smtClean="0">
                <a:latin typeface="Helvetica" pitchFamily="34" charset="0"/>
              </a:rPr>
              <a:t>Use coloured band-aids</a:t>
            </a:r>
          </a:p>
          <a:p>
            <a:pPr marL="360000" indent="-360000">
              <a:spcBef>
                <a:spcPts val="1200"/>
              </a:spcBef>
              <a:spcAft>
                <a:spcPts val="1200"/>
              </a:spcAft>
            </a:pPr>
            <a:r>
              <a:rPr lang="en-US" sz="2200" dirty="0" smtClean="0">
                <a:latin typeface="Helvetica" pitchFamily="34" charset="0"/>
              </a:rPr>
              <a:t>Use a finger stall</a:t>
            </a:r>
          </a:p>
          <a:p>
            <a:pPr marL="360000" indent="-360000">
              <a:spcBef>
                <a:spcPts val="1200"/>
              </a:spcBef>
              <a:spcAft>
                <a:spcPts val="1200"/>
              </a:spcAft>
            </a:pPr>
            <a:r>
              <a:rPr lang="en-US" sz="2200" dirty="0" smtClean="0">
                <a:latin typeface="Helvetica" pitchFamily="34" charset="0"/>
              </a:rPr>
              <a:t>Put a disposable glove over the bandage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5" name="Picture 4" descr="coloured band-aids.jpg"/>
          <p:cNvPicPr>
            <a:picLocks noChangeAspect="1"/>
          </p:cNvPicPr>
          <p:nvPr/>
        </p:nvPicPr>
        <p:blipFill>
          <a:blip r:embed="rId3" cstate="print"/>
          <a:srcRect t="36000" b="40000"/>
          <a:stretch>
            <a:fillRect/>
          </a:stretch>
        </p:blipFill>
        <p:spPr>
          <a:xfrm rot="19309008">
            <a:off x="6441695" y="2793751"/>
            <a:ext cx="1791113" cy="428628"/>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When taking delivery of food:</a:t>
            </a:r>
          </a:p>
          <a:p>
            <a:pPr marL="360000" indent="-360000">
              <a:spcBef>
                <a:spcPts val="1200"/>
              </a:spcBef>
              <a:spcAft>
                <a:spcPts val="1200"/>
              </a:spcAft>
            </a:pPr>
            <a:r>
              <a:rPr lang="en-US" sz="2200" dirty="0" smtClean="0">
                <a:latin typeface="Helvetica" pitchFamily="34" charset="0"/>
              </a:rPr>
              <a:t>Inspect all deliveries</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Free from visible contamination</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No pests</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Use-by dates are OK</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7" name="Picture 2" descr="I:\Overseas Projects\PHOTOS\2012\Culinary 2011\Image Receive and Store Kitchen Supplies\stores ramp trolley up.jpg"/>
          <p:cNvPicPr>
            <a:picLocks noChangeAspect="1" noChangeArrowheads="1"/>
          </p:cNvPicPr>
          <p:nvPr/>
        </p:nvPicPr>
        <p:blipFill>
          <a:blip r:embed="rId3" cstate="print">
            <a:lum bright="10000" contrast="20000"/>
          </a:blip>
          <a:srcRect/>
          <a:stretch>
            <a:fillRect/>
          </a:stretch>
        </p:blipFill>
        <p:spPr bwMode="auto">
          <a:xfrm>
            <a:off x="5786446" y="2500306"/>
            <a:ext cx="2365876" cy="1571636"/>
          </a:xfrm>
          <a:prstGeom prst="rect">
            <a:avLst/>
          </a:prstGeom>
          <a:noFill/>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Inspect the food delivery vehicle</a:t>
            </a:r>
          </a:p>
          <a:p>
            <a:pPr marL="360000" indent="-360000">
              <a:spcBef>
                <a:spcPts val="1200"/>
              </a:spcBef>
              <a:spcAft>
                <a:spcPts val="1200"/>
              </a:spcAft>
            </a:pPr>
            <a:r>
              <a:rPr lang="en-US" sz="2200" dirty="0" smtClean="0">
                <a:latin typeface="Helvetica" pitchFamily="34" charset="0"/>
              </a:rPr>
              <a:t>Check practices of the delivery driver</a:t>
            </a:r>
          </a:p>
          <a:p>
            <a:pPr marL="360000" indent="-360000">
              <a:spcBef>
                <a:spcPts val="1200"/>
              </a:spcBef>
              <a:spcAft>
                <a:spcPts val="1200"/>
              </a:spcAft>
            </a:pPr>
            <a:r>
              <a:rPr lang="en-US" sz="2200" dirty="0" smtClean="0">
                <a:latin typeface="Helvetica" pitchFamily="34" charset="0"/>
              </a:rPr>
              <a:t>Check food temperatures are correct:</a:t>
            </a:r>
          </a:p>
          <a:p>
            <a:pPr marL="720000" indent="-360000">
              <a:spcBef>
                <a:spcPts val="12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Hot high risk food at 60</a:t>
            </a:r>
            <a:r>
              <a:rPr lang="en-AU" sz="2200" dirty="0" smtClean="0">
                <a:latin typeface="Helvetica" pitchFamily="34" charset="0"/>
              </a:rPr>
              <a:t>°C or above</a:t>
            </a:r>
          </a:p>
          <a:p>
            <a:pPr marL="720000" indent="-360000">
              <a:spcBef>
                <a:spcPts val="12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Cold high risk food at 5°C or below</a:t>
            </a:r>
          </a:p>
          <a:p>
            <a:pPr marL="720000" indent="-360000">
              <a:spcBef>
                <a:spcPts val="12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Frozen food is hard frozen</a:t>
            </a:r>
            <a:endParaRPr lang="en-US" sz="2200" dirty="0" smtClean="0">
              <a:latin typeface="Helvetica" pitchFamily="34" charset="0"/>
            </a:endParaRP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2051" name="Picture 3" descr="C:\Users\fgvghyujil\AppData\Local\Microsoft\Windows\Temporary Internet Files\Content.IE5\3J5365UD\MC900232513[1].wmf"/>
          <p:cNvPicPr>
            <a:picLocks noChangeAspect="1" noChangeArrowheads="1"/>
          </p:cNvPicPr>
          <p:nvPr/>
        </p:nvPicPr>
        <p:blipFill>
          <a:blip r:embed="rId3" cstate="print"/>
          <a:srcRect/>
          <a:stretch>
            <a:fillRect/>
          </a:stretch>
        </p:blipFill>
        <p:spPr bwMode="auto">
          <a:xfrm>
            <a:off x="6357950" y="2428868"/>
            <a:ext cx="1928826" cy="1775704"/>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Verify all packaged food is properly labelled</a:t>
            </a:r>
          </a:p>
          <a:p>
            <a:pPr marL="360000" indent="-360000">
              <a:spcBef>
                <a:spcPts val="1200"/>
              </a:spcBef>
              <a:spcAft>
                <a:spcPts val="1200"/>
              </a:spcAft>
            </a:pPr>
            <a:r>
              <a:rPr lang="en-US" sz="2200" dirty="0" smtClean="0">
                <a:latin typeface="Helvetica" pitchFamily="34" charset="0"/>
              </a:rPr>
              <a:t>Store deliveries as soon as possible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3076" name="Picture 4" descr="C:\Users\fgvghyujil\AppData\Local\Microsoft\Windows\Temporary Internet Files\Content.IE5\3J5365UD\MC900237543[1].wmf"/>
          <p:cNvPicPr>
            <a:picLocks noChangeAspect="1" noChangeArrowheads="1"/>
          </p:cNvPicPr>
          <p:nvPr/>
        </p:nvPicPr>
        <p:blipFill>
          <a:blip r:embed="rId3" cstate="print"/>
          <a:srcRect/>
          <a:stretch>
            <a:fillRect/>
          </a:stretch>
        </p:blipFill>
        <p:spPr bwMode="auto">
          <a:xfrm>
            <a:off x="6429388" y="2285992"/>
            <a:ext cx="1711837" cy="2292831"/>
          </a:xfrm>
          <a:prstGeom prst="rect">
            <a:avLst/>
          </a:prstGeom>
          <a:noFill/>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Safe food handling requirements include:</a:t>
            </a:r>
          </a:p>
          <a:p>
            <a:pPr marL="360000" indent="-360000">
              <a:spcBef>
                <a:spcPts val="1200"/>
              </a:spcBef>
              <a:spcAft>
                <a:spcPts val="1200"/>
              </a:spcAft>
            </a:pPr>
            <a:r>
              <a:rPr lang="en-US" sz="2200" dirty="0" smtClean="0">
                <a:latin typeface="Helvetica" pitchFamily="34" charset="0"/>
              </a:rPr>
              <a:t>Ensuring only safe and suitable food is processed</a:t>
            </a:r>
          </a:p>
          <a:p>
            <a:pPr marL="360000" indent="-360000">
              <a:spcBef>
                <a:spcPts val="1200"/>
              </a:spcBef>
              <a:spcAft>
                <a:spcPts val="1200"/>
              </a:spcAft>
            </a:pPr>
            <a:r>
              <a:rPr lang="en-US" sz="2200" dirty="0" smtClean="0">
                <a:latin typeface="Helvetica" pitchFamily="34" charset="0"/>
              </a:rPr>
              <a:t>Protecting food while it is being prepared</a:t>
            </a:r>
          </a:p>
          <a:p>
            <a:pPr marL="360000" indent="-360000">
              <a:spcBef>
                <a:spcPts val="1200"/>
              </a:spcBef>
              <a:spcAft>
                <a:spcPts val="1200"/>
              </a:spcAft>
            </a:pPr>
            <a:r>
              <a:rPr lang="en-US" sz="2200" dirty="0" smtClean="0">
                <a:latin typeface="Helvetica" pitchFamily="34" charset="0"/>
              </a:rPr>
              <a:t>Washing fruit and vegetables in sanitising </a:t>
            </a:r>
            <a:br>
              <a:rPr lang="en-US" sz="2200" dirty="0" smtClean="0">
                <a:latin typeface="Helvetica" pitchFamily="34" charset="0"/>
              </a:rPr>
            </a:br>
            <a:r>
              <a:rPr lang="en-US" sz="2200" dirty="0" smtClean="0">
                <a:latin typeface="Helvetica" pitchFamily="34" charset="0"/>
              </a:rPr>
              <a:t>solution</a:t>
            </a:r>
          </a:p>
          <a:p>
            <a:pPr marL="360000" indent="-360000">
              <a:spcBef>
                <a:spcPts val="1200"/>
              </a:spcBef>
              <a:spcAft>
                <a:spcPts val="1200"/>
              </a:spcAft>
            </a:pPr>
            <a:r>
              <a:rPr lang="en-US" sz="2200" dirty="0" smtClean="0">
                <a:latin typeface="Helvetica" pitchFamily="34" charset="0"/>
              </a:rPr>
              <a:t>Excluding unhealthy workers from food handling duties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Vegie.jpg"/>
          <p:cNvPicPr>
            <a:picLocks noChangeAspect="1"/>
          </p:cNvPicPr>
          <p:nvPr/>
        </p:nvPicPr>
        <p:blipFill>
          <a:blip r:embed="rId3" cstate="print"/>
          <a:stretch>
            <a:fillRect/>
          </a:stretch>
        </p:blipFill>
        <p:spPr>
          <a:xfrm>
            <a:off x="6858016" y="2857496"/>
            <a:ext cx="1428728" cy="1242993"/>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Using clean equipment that is working properly</a:t>
            </a:r>
          </a:p>
          <a:p>
            <a:pPr marL="360000" indent="-360000">
              <a:spcBef>
                <a:spcPts val="1200"/>
              </a:spcBef>
              <a:spcAft>
                <a:spcPts val="1200"/>
              </a:spcAft>
            </a:pPr>
            <a:r>
              <a:rPr lang="en-US" sz="2200" dirty="0" smtClean="0">
                <a:latin typeface="Helvetica" pitchFamily="34" charset="0"/>
              </a:rPr>
              <a:t>Keeping chemicals separate from food</a:t>
            </a:r>
          </a:p>
          <a:p>
            <a:pPr marL="360000" indent="-360000">
              <a:spcBef>
                <a:spcPts val="1200"/>
              </a:spcBef>
              <a:spcAft>
                <a:spcPts val="1200"/>
              </a:spcAft>
            </a:pPr>
            <a:r>
              <a:rPr lang="en-US" sz="2200" dirty="0" smtClean="0">
                <a:latin typeface="Helvetica" pitchFamily="34" charset="0"/>
              </a:rPr>
              <a:t>Not mixing batches of food</a:t>
            </a:r>
          </a:p>
          <a:p>
            <a:pPr marL="360000" indent="-360000">
              <a:spcBef>
                <a:spcPts val="1200"/>
              </a:spcBef>
              <a:spcAft>
                <a:spcPts val="1200"/>
              </a:spcAft>
            </a:pPr>
            <a:r>
              <a:rPr lang="en-US" sz="2200" dirty="0" smtClean="0">
                <a:latin typeface="Helvetica" pitchFamily="34" charset="0"/>
              </a:rPr>
              <a:t>Not touching food or food surfaces with </a:t>
            </a:r>
            <a:br>
              <a:rPr lang="en-US" sz="2200" dirty="0" smtClean="0">
                <a:latin typeface="Helvetica" pitchFamily="34" charset="0"/>
              </a:rPr>
            </a:br>
            <a:r>
              <a:rPr lang="en-US" sz="2200" dirty="0" smtClean="0">
                <a:latin typeface="Helvetica" pitchFamily="34" charset="0"/>
              </a:rPr>
              <a:t>bare hands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28674" name="Picture 2" descr="I:\Overseas Projects\PHOTOS\2012\Kitchen\cleaning-cupboard.png"/>
          <p:cNvPicPr>
            <a:picLocks noChangeAspect="1" noChangeArrowheads="1"/>
          </p:cNvPicPr>
          <p:nvPr/>
        </p:nvPicPr>
        <p:blipFill>
          <a:blip r:embed="rId3" cstate="print"/>
          <a:srcRect/>
          <a:stretch>
            <a:fillRect/>
          </a:stretch>
        </p:blipFill>
        <p:spPr bwMode="auto">
          <a:xfrm>
            <a:off x="6286512" y="2214554"/>
            <a:ext cx="2021315" cy="1676943"/>
          </a:xfrm>
          <a:prstGeom prst="rect">
            <a:avLst/>
          </a:prstGeom>
          <a:noFill/>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Using colour-coded chopping boards</a:t>
            </a:r>
          </a:p>
          <a:p>
            <a:pPr marL="360000" indent="-360000">
              <a:spcBef>
                <a:spcPts val="1200"/>
              </a:spcBef>
              <a:spcAft>
                <a:spcPts val="1200"/>
              </a:spcAft>
            </a:pPr>
            <a:r>
              <a:rPr lang="en-US" sz="2200" dirty="0" smtClean="0">
                <a:latin typeface="Helvetica" pitchFamily="34" charset="0"/>
              </a:rPr>
              <a:t>Clean chopping boards properly after use – then sanitise</a:t>
            </a:r>
          </a:p>
          <a:p>
            <a:pPr marL="360000" indent="-360000">
              <a:spcBef>
                <a:spcPts val="1200"/>
              </a:spcBef>
              <a:spcAft>
                <a:spcPts val="1200"/>
              </a:spcAft>
            </a:pPr>
            <a:r>
              <a:rPr lang="en-US" sz="2200" dirty="0" smtClean="0">
                <a:latin typeface="Helvetica" pitchFamily="34" charset="0"/>
              </a:rPr>
              <a:t>Avoid wooden chopping boards if </a:t>
            </a:r>
            <a:br>
              <a:rPr lang="en-US" sz="2200" dirty="0" smtClean="0">
                <a:latin typeface="Helvetica" pitchFamily="34" charset="0"/>
              </a:rPr>
            </a:br>
            <a:r>
              <a:rPr lang="en-US" sz="2200" dirty="0" smtClean="0">
                <a:latin typeface="Helvetica" pitchFamily="34" charset="0"/>
              </a:rPr>
              <a:t>possible</a:t>
            </a:r>
          </a:p>
          <a:p>
            <a:pPr marL="360000" indent="-360000">
              <a:spcBef>
                <a:spcPts val="1200"/>
              </a:spcBef>
              <a:spcAft>
                <a:spcPts val="1200"/>
              </a:spcAft>
            </a:pPr>
            <a:r>
              <a:rPr lang="en-US" sz="2200" dirty="0" smtClean="0">
                <a:latin typeface="Helvetica" pitchFamily="34" charset="0"/>
              </a:rPr>
              <a:t>Replace chopping boards regularly</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5" name="Picture 4" descr="colour-coded chopping boards.jpg"/>
          <p:cNvPicPr>
            <a:picLocks noChangeAspect="1"/>
          </p:cNvPicPr>
          <p:nvPr/>
        </p:nvPicPr>
        <p:blipFill>
          <a:blip r:embed="rId3" cstate="print"/>
          <a:stretch>
            <a:fillRect/>
          </a:stretch>
        </p:blipFill>
        <p:spPr>
          <a:xfrm>
            <a:off x="6643702" y="3357562"/>
            <a:ext cx="1604742" cy="1654373"/>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Throwing out any food dropped on the floor</a:t>
            </a:r>
          </a:p>
          <a:p>
            <a:pPr marL="360000" indent="-360000">
              <a:spcBef>
                <a:spcPts val="1200"/>
              </a:spcBef>
              <a:spcAft>
                <a:spcPts val="1200"/>
              </a:spcAft>
            </a:pPr>
            <a:r>
              <a:rPr lang="en-US" sz="2200" dirty="0" smtClean="0">
                <a:latin typeface="Helvetica" pitchFamily="34" charset="0"/>
              </a:rPr>
              <a:t>Washing and sanitising utensils dropped on the floor</a:t>
            </a:r>
          </a:p>
          <a:p>
            <a:pPr marL="360000" indent="-360000">
              <a:spcBef>
                <a:spcPts val="1200"/>
              </a:spcBef>
              <a:spcAft>
                <a:spcPts val="1200"/>
              </a:spcAft>
            </a:pPr>
            <a:r>
              <a:rPr lang="en-US" sz="2200" dirty="0" smtClean="0">
                <a:latin typeface="Helvetica" pitchFamily="34" charset="0"/>
              </a:rPr>
              <a:t>Not coughing or sneezing over food or food surfaces</a:t>
            </a:r>
          </a:p>
          <a:p>
            <a:pPr marL="360000" indent="-360000">
              <a:spcBef>
                <a:spcPts val="1200"/>
              </a:spcBef>
              <a:spcAft>
                <a:spcPts val="1200"/>
              </a:spcAft>
            </a:pPr>
            <a:r>
              <a:rPr lang="en-US" sz="2200" dirty="0" smtClean="0">
                <a:latin typeface="Helvetica" pitchFamily="34" charset="0"/>
              </a:rPr>
              <a:t>Using a tasting spoon to taste food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dsc_0005.jpg"/>
          <p:cNvPicPr>
            <a:picLocks noChangeAspect="1"/>
          </p:cNvPicPr>
          <p:nvPr/>
        </p:nvPicPr>
        <p:blipFill>
          <a:blip r:embed="rId3" cstate="print"/>
          <a:stretch>
            <a:fillRect/>
          </a:stretch>
        </p:blipFill>
        <p:spPr>
          <a:xfrm>
            <a:off x="3571868" y="4286256"/>
            <a:ext cx="2385651" cy="1587949"/>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Autofit/>
          </a:bodyPr>
          <a:lstStyle/>
          <a:p>
            <a:pPr marL="0" indent="0">
              <a:spcBef>
                <a:spcPts val="600"/>
              </a:spcBef>
              <a:spcAft>
                <a:spcPts val="1200"/>
              </a:spcAft>
              <a:buNone/>
            </a:pPr>
            <a:r>
              <a:rPr lang="en-US" sz="2200" dirty="0" smtClean="0">
                <a:latin typeface="Helvetica" pitchFamily="34" charset="0"/>
              </a:rPr>
              <a:t>Frozen food must be thawed fully before use:</a:t>
            </a:r>
          </a:p>
          <a:p>
            <a:pPr marL="360000" indent="-360000">
              <a:spcBef>
                <a:spcPts val="600"/>
              </a:spcBef>
              <a:spcAft>
                <a:spcPts val="1200"/>
              </a:spcAft>
            </a:pPr>
            <a:r>
              <a:rPr lang="en-US" sz="2200" dirty="0" smtClean="0">
                <a:latin typeface="Helvetica" pitchFamily="34" charset="0"/>
              </a:rPr>
              <a:t>Three ways to de-frost food: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Under refrigeration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 a microwave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Under cold, running water</a:t>
            </a:r>
          </a:p>
          <a:p>
            <a:pPr marL="360000" indent="-360000">
              <a:spcBef>
                <a:spcPts val="600"/>
              </a:spcBef>
              <a:spcAft>
                <a:spcPts val="1200"/>
              </a:spcAft>
            </a:pPr>
            <a:r>
              <a:rPr lang="en-US" sz="2200" dirty="0" smtClean="0">
                <a:latin typeface="Helvetica" pitchFamily="34" charset="0"/>
              </a:rPr>
              <a:t>Cook immediately food is de-frosted</a:t>
            </a:r>
          </a:p>
          <a:p>
            <a:pPr marL="360000" indent="-360000">
              <a:spcBef>
                <a:spcPts val="600"/>
              </a:spcBef>
              <a:spcAft>
                <a:spcPts val="1200"/>
              </a:spcAft>
            </a:pPr>
            <a:r>
              <a:rPr lang="en-US" sz="2200" dirty="0" smtClean="0">
                <a:latin typeface="Helvetica" pitchFamily="34" charset="0"/>
              </a:rPr>
              <a:t>It is unacceptable to thaw items in a sink or a bowl of water</a:t>
            </a:r>
          </a:p>
          <a:p>
            <a:pPr marL="360000" indent="-360000">
              <a:spcBef>
                <a:spcPts val="600"/>
              </a:spcBef>
              <a:spcAft>
                <a:spcPts val="1200"/>
              </a:spcAft>
            </a:pPr>
            <a:r>
              <a:rPr lang="en-US" sz="2200" dirty="0" smtClean="0">
                <a:latin typeface="Helvetica" pitchFamily="34" charset="0"/>
              </a:rPr>
              <a:t>Thawed items must not be re-frozen</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5122" name="Picture 2" descr="C:\Users\fgvghyujil\AppData\Local\Microsoft\Windows\Temporary Internet Files\Content.IE5\SIE7KNHZ\MC900012913[1].wmf"/>
          <p:cNvPicPr>
            <a:picLocks noChangeAspect="1" noChangeArrowheads="1"/>
          </p:cNvPicPr>
          <p:nvPr/>
        </p:nvPicPr>
        <p:blipFill>
          <a:blip r:embed="rId3" cstate="print">
            <a:lum contrast="10000"/>
          </a:blip>
          <a:stretch>
            <a:fillRect/>
          </a:stretch>
        </p:blipFill>
        <p:spPr bwMode="auto">
          <a:xfrm>
            <a:off x="6572264" y="2357430"/>
            <a:ext cx="1644196" cy="2000264"/>
          </a:xfrm>
          <a:prstGeom prst="rect">
            <a:avLst/>
          </a:prstGeom>
          <a:noFill/>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Food storage options:</a:t>
            </a:r>
          </a:p>
          <a:p>
            <a:pPr marL="360000" indent="-360000">
              <a:spcBef>
                <a:spcPts val="1200"/>
              </a:spcBef>
              <a:spcAft>
                <a:spcPts val="1200"/>
              </a:spcAft>
            </a:pPr>
            <a:r>
              <a:rPr lang="en-US" sz="2200" dirty="0" smtClean="0">
                <a:latin typeface="Helvetica" pitchFamily="34" charset="0"/>
              </a:rPr>
              <a:t>Dry goods store</a:t>
            </a:r>
          </a:p>
          <a:p>
            <a:pPr marL="360000" indent="-360000">
              <a:spcBef>
                <a:spcPts val="1200"/>
              </a:spcBef>
              <a:spcAft>
                <a:spcPts val="1200"/>
              </a:spcAft>
            </a:pPr>
            <a:r>
              <a:rPr lang="en-US" sz="2200" dirty="0" smtClean="0">
                <a:latin typeface="Helvetica" pitchFamily="34" charset="0"/>
              </a:rPr>
              <a:t>Refrigerated storage</a:t>
            </a:r>
          </a:p>
          <a:p>
            <a:pPr marL="360000" indent="-360000">
              <a:spcBef>
                <a:spcPts val="1200"/>
              </a:spcBef>
              <a:spcAft>
                <a:spcPts val="1200"/>
              </a:spcAft>
            </a:pPr>
            <a:r>
              <a:rPr lang="en-US" sz="2200" dirty="0" smtClean="0">
                <a:latin typeface="Helvetica" pitchFamily="34" charset="0"/>
              </a:rPr>
              <a:t>Frozen storage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refridgerator.jpg"/>
          <p:cNvPicPr>
            <a:picLocks noChangeAspect="1"/>
          </p:cNvPicPr>
          <p:nvPr/>
        </p:nvPicPr>
        <p:blipFill>
          <a:blip r:embed="rId3" cstate="print"/>
          <a:stretch>
            <a:fillRect/>
          </a:stretch>
        </p:blipFill>
        <p:spPr>
          <a:xfrm>
            <a:off x="6072198" y="1785926"/>
            <a:ext cx="1951337" cy="2638888"/>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marL="0" indent="0">
              <a:spcBef>
                <a:spcPts val="1200"/>
              </a:spcBef>
              <a:spcAft>
                <a:spcPts val="1200"/>
              </a:spcAft>
              <a:buNone/>
            </a:pPr>
            <a:r>
              <a:rPr lang="en-US" sz="2200" dirty="0" smtClean="0">
                <a:latin typeface="Helvetica" pitchFamily="34" charset="0"/>
              </a:rPr>
              <a:t>Basic/generic storage requirements:</a:t>
            </a:r>
          </a:p>
          <a:p>
            <a:pPr marL="360000" indent="-360000">
              <a:spcBef>
                <a:spcPts val="1200"/>
              </a:spcBef>
              <a:spcAft>
                <a:spcPts val="1200"/>
              </a:spcAft>
            </a:pPr>
            <a:r>
              <a:rPr lang="en-US" sz="2200" dirty="0" smtClean="0">
                <a:latin typeface="Helvetica" pitchFamily="34" charset="0"/>
              </a:rPr>
              <a:t>Use food grade storage materials</a:t>
            </a:r>
          </a:p>
          <a:p>
            <a:pPr marL="360000" indent="-360000">
              <a:spcBef>
                <a:spcPts val="1200"/>
              </a:spcBef>
              <a:spcAft>
                <a:spcPts val="1200"/>
              </a:spcAft>
            </a:pPr>
            <a:r>
              <a:rPr lang="en-US" sz="2200" dirty="0" smtClean="0">
                <a:latin typeface="Helvetica" pitchFamily="34" charset="0"/>
              </a:rPr>
              <a:t>Cover food</a:t>
            </a:r>
          </a:p>
          <a:p>
            <a:pPr marL="360000" indent="-360000">
              <a:spcBef>
                <a:spcPts val="1200"/>
              </a:spcBef>
              <a:spcAft>
                <a:spcPts val="1200"/>
              </a:spcAft>
            </a:pPr>
            <a:r>
              <a:rPr lang="en-US" sz="2200" dirty="0" smtClean="0">
                <a:latin typeface="Helvetica" pitchFamily="34" charset="0"/>
              </a:rPr>
              <a:t>Rotate stock – FIFO</a:t>
            </a:r>
          </a:p>
          <a:p>
            <a:pPr marL="360000" indent="-360000">
              <a:spcBef>
                <a:spcPts val="1200"/>
              </a:spcBef>
              <a:spcAft>
                <a:spcPts val="1200"/>
              </a:spcAft>
            </a:pPr>
            <a:r>
              <a:rPr lang="en-US" sz="2200" dirty="0" smtClean="0">
                <a:latin typeface="Helvetica" pitchFamily="34" charset="0"/>
              </a:rPr>
              <a:t>Keep clean</a:t>
            </a:r>
          </a:p>
          <a:p>
            <a:pPr marL="360000" indent="-360000">
              <a:spcBef>
                <a:spcPts val="1200"/>
              </a:spcBef>
              <a:spcAft>
                <a:spcPts val="1200"/>
              </a:spcAft>
            </a:pPr>
            <a:r>
              <a:rPr lang="en-US" sz="2200" dirty="0" smtClean="0">
                <a:latin typeface="Helvetica" pitchFamily="34" charset="0"/>
              </a:rPr>
              <a:t>Do not store food or food packages </a:t>
            </a:r>
            <a:br>
              <a:rPr lang="en-US" sz="2200" dirty="0" smtClean="0">
                <a:latin typeface="Helvetica" pitchFamily="34" charset="0"/>
              </a:rPr>
            </a:br>
            <a:r>
              <a:rPr lang="en-US" sz="2200" dirty="0" smtClean="0">
                <a:latin typeface="Helvetica" pitchFamily="34" charset="0"/>
              </a:rPr>
              <a:t>directly on floor</a:t>
            </a:r>
          </a:p>
          <a:p>
            <a:pPr marL="360000" indent="-360000">
              <a:spcBef>
                <a:spcPts val="1200"/>
              </a:spcBef>
              <a:spcAft>
                <a:spcPts val="1200"/>
              </a:spcAft>
            </a:pPr>
            <a:r>
              <a:rPr lang="en-US" sz="2200" dirty="0" smtClean="0">
                <a:latin typeface="Helvetica" pitchFamily="34" charset="0"/>
              </a:rPr>
              <a:t>Control pests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5" name="Picture 4" descr="Foodstorage2CCLinda&amp;Clark.jpg"/>
          <p:cNvPicPr>
            <a:picLocks noChangeAspect="1"/>
          </p:cNvPicPr>
          <p:nvPr/>
        </p:nvPicPr>
        <p:blipFill>
          <a:blip r:embed="rId3" cstate="print"/>
          <a:stretch>
            <a:fillRect/>
          </a:stretch>
        </p:blipFill>
        <p:spPr>
          <a:xfrm>
            <a:off x="6143636" y="2428868"/>
            <a:ext cx="1885963" cy="2571768"/>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Protocols for dry goods storage – ensure:</a:t>
            </a:r>
          </a:p>
          <a:p>
            <a:pPr marL="360000" indent="-360000">
              <a:spcBef>
                <a:spcPts val="1200"/>
              </a:spcBef>
              <a:spcAft>
                <a:spcPts val="1200"/>
              </a:spcAft>
            </a:pPr>
            <a:r>
              <a:rPr lang="en-US" sz="2200" dirty="0" smtClean="0">
                <a:latin typeface="Helvetica" pitchFamily="34" charset="0"/>
              </a:rPr>
              <a:t>It is fly-proof and vermin-proof</a:t>
            </a:r>
          </a:p>
          <a:p>
            <a:pPr marL="360000" indent="-360000">
              <a:spcBef>
                <a:spcPts val="1200"/>
              </a:spcBef>
              <a:spcAft>
                <a:spcPts val="1200"/>
              </a:spcAft>
            </a:pPr>
            <a:r>
              <a:rPr lang="en-US" sz="2200" dirty="0" smtClean="0">
                <a:latin typeface="Helvetica" pitchFamily="34" charset="0"/>
              </a:rPr>
              <a:t>It is well lit and ventilated</a:t>
            </a:r>
          </a:p>
          <a:p>
            <a:pPr marL="360000" indent="-360000">
              <a:spcBef>
                <a:spcPts val="1200"/>
              </a:spcBef>
              <a:spcAft>
                <a:spcPts val="1200"/>
              </a:spcAft>
            </a:pPr>
            <a:r>
              <a:rPr lang="en-US" sz="2200" dirty="0" smtClean="0">
                <a:latin typeface="Helvetica" pitchFamily="34" charset="0"/>
              </a:rPr>
              <a:t>It is not over-stocked</a:t>
            </a:r>
          </a:p>
          <a:p>
            <a:pPr marL="360000" indent="-360000">
              <a:spcBef>
                <a:spcPts val="1200"/>
              </a:spcBef>
              <a:spcAft>
                <a:spcPts val="1200"/>
              </a:spcAft>
            </a:pPr>
            <a:r>
              <a:rPr lang="en-US" sz="2200" dirty="0" smtClean="0">
                <a:latin typeface="Helvetica" pitchFamily="34" charset="0"/>
              </a:rPr>
              <a:t>Doors fit properly</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5" name="Picture 4" descr="FoodstorageCCLinda&amp;Clark.jpg"/>
          <p:cNvPicPr>
            <a:picLocks noChangeAspect="1"/>
          </p:cNvPicPr>
          <p:nvPr/>
        </p:nvPicPr>
        <p:blipFill>
          <a:blip r:embed="rId3" cstate="print">
            <a:lum bright="10000" contrast="10000"/>
          </a:blip>
          <a:stretch>
            <a:fillRect/>
          </a:stretch>
        </p:blipFill>
        <p:spPr>
          <a:xfrm>
            <a:off x="5500694" y="2571744"/>
            <a:ext cx="2604635" cy="172964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Lowest shelf allows access for a mop and broom</a:t>
            </a:r>
          </a:p>
          <a:p>
            <a:pPr marL="360000" indent="-360000">
              <a:spcBef>
                <a:spcPts val="1200"/>
              </a:spcBef>
              <a:spcAft>
                <a:spcPts val="1200"/>
              </a:spcAft>
            </a:pPr>
            <a:r>
              <a:rPr lang="en-US" sz="2200" dirty="0" smtClean="0">
                <a:latin typeface="Helvetica" pitchFamily="34" charset="0"/>
              </a:rPr>
              <a:t>Bulk food containers should be </a:t>
            </a:r>
            <a:br>
              <a:rPr lang="en-US" sz="2200" dirty="0" smtClean="0">
                <a:latin typeface="Helvetica" pitchFamily="34" charset="0"/>
              </a:rPr>
            </a:br>
            <a:r>
              <a:rPr lang="en-US" sz="2200" dirty="0" smtClean="0">
                <a:latin typeface="Helvetica" pitchFamily="34" charset="0"/>
              </a:rPr>
              <a:t>stainless steel</a:t>
            </a:r>
          </a:p>
          <a:p>
            <a:pPr marL="360000" indent="-360000">
              <a:spcBef>
                <a:spcPts val="1200"/>
              </a:spcBef>
              <a:spcAft>
                <a:spcPts val="1200"/>
              </a:spcAft>
            </a:pPr>
            <a:r>
              <a:rPr lang="en-US" sz="2200" dirty="0" smtClean="0">
                <a:latin typeface="Helvetica" pitchFamily="34" charset="0"/>
              </a:rPr>
              <a:t>Clean and sanitise food containers </a:t>
            </a:r>
            <a:br>
              <a:rPr lang="en-US" sz="2200" dirty="0" smtClean="0">
                <a:latin typeface="Helvetica" pitchFamily="34" charset="0"/>
              </a:rPr>
            </a:br>
            <a:r>
              <a:rPr lang="en-US" sz="2200" dirty="0" smtClean="0">
                <a:latin typeface="Helvetica" pitchFamily="34" charset="0"/>
              </a:rPr>
              <a:t>before re-filling them</a:t>
            </a:r>
          </a:p>
          <a:p>
            <a:pPr marL="360000" indent="-360000">
              <a:spcBef>
                <a:spcPts val="1200"/>
              </a:spcBef>
              <a:spcAft>
                <a:spcPts val="1200"/>
              </a:spcAft>
            </a:pPr>
            <a:r>
              <a:rPr lang="en-US" sz="2200" dirty="0" smtClean="0">
                <a:latin typeface="Helvetica" pitchFamily="34" charset="0"/>
              </a:rPr>
              <a:t>Transfer food from cans to suitable containers after </a:t>
            </a:r>
            <a:br>
              <a:rPr lang="en-US" sz="2200" dirty="0" smtClean="0">
                <a:latin typeface="Helvetica" pitchFamily="34" charset="0"/>
              </a:rPr>
            </a:br>
            <a:r>
              <a:rPr lang="en-US" sz="2200" dirty="0" smtClean="0">
                <a:latin typeface="Helvetica" pitchFamily="34" charset="0"/>
              </a:rPr>
              <a:t>opening then refrigerate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12" name="Picture 11" descr="food shelf.jpg"/>
          <p:cNvPicPr>
            <a:picLocks noChangeAspect="1"/>
          </p:cNvPicPr>
          <p:nvPr/>
        </p:nvPicPr>
        <p:blipFill>
          <a:blip r:embed="rId3" cstate="print"/>
          <a:stretch>
            <a:fillRect/>
          </a:stretch>
        </p:blipFill>
        <p:spPr>
          <a:xfrm>
            <a:off x="5857884" y="2256241"/>
            <a:ext cx="2198335" cy="1740584"/>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Protocols for refrigerated food storage – ensure:</a:t>
            </a:r>
          </a:p>
          <a:p>
            <a:pPr marL="360000" indent="-360000">
              <a:spcBef>
                <a:spcPts val="1200"/>
              </a:spcBef>
              <a:spcAft>
                <a:spcPts val="1200"/>
              </a:spcAft>
            </a:pPr>
            <a:r>
              <a:rPr lang="en-US" sz="2200" dirty="0" smtClean="0">
                <a:latin typeface="Helvetica" pitchFamily="34" charset="0"/>
              </a:rPr>
              <a:t>Temperature is </a:t>
            </a:r>
            <a:r>
              <a:rPr lang="en-AU" sz="2200" dirty="0" smtClean="0">
                <a:latin typeface="Helvetica" pitchFamily="34" charset="0"/>
              </a:rPr>
              <a:t>5°C or below - </a:t>
            </a:r>
            <a:br>
              <a:rPr lang="en-AU" sz="2200" dirty="0" smtClean="0">
                <a:latin typeface="Helvetica" pitchFamily="34" charset="0"/>
              </a:rPr>
            </a:br>
            <a:r>
              <a:rPr lang="en-AU" sz="2200" dirty="0" smtClean="0">
                <a:latin typeface="Helvetica" pitchFamily="34" charset="0"/>
              </a:rPr>
              <a:t>check at least daily</a:t>
            </a:r>
            <a:endParaRPr lang="en-US" sz="2200" dirty="0" smtClean="0">
              <a:latin typeface="Helvetica" pitchFamily="34" charset="0"/>
            </a:endParaRPr>
          </a:p>
          <a:p>
            <a:pPr marL="360000" indent="-360000">
              <a:spcBef>
                <a:spcPts val="1200"/>
              </a:spcBef>
              <a:spcAft>
                <a:spcPts val="1200"/>
              </a:spcAft>
            </a:pPr>
            <a:r>
              <a:rPr lang="en-US" sz="2200" dirty="0" smtClean="0">
                <a:latin typeface="Helvetica" pitchFamily="34" charset="0"/>
              </a:rPr>
              <a:t>Doors are closed between uses</a:t>
            </a:r>
          </a:p>
          <a:p>
            <a:pPr marL="360000" indent="-360000">
              <a:spcBef>
                <a:spcPts val="1200"/>
              </a:spcBef>
              <a:spcAft>
                <a:spcPts val="1200"/>
              </a:spcAft>
            </a:pPr>
            <a:r>
              <a:rPr lang="en-US" sz="2200" dirty="0" smtClean="0">
                <a:latin typeface="Helvetica" pitchFamily="34" charset="0"/>
              </a:rPr>
              <a:t>Unit is not over-crowded</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5" name="Picture 4" descr="refridgerator.jpg"/>
          <p:cNvPicPr>
            <a:picLocks noChangeAspect="1"/>
          </p:cNvPicPr>
          <p:nvPr/>
        </p:nvPicPr>
        <p:blipFill>
          <a:blip r:embed="rId3" cstate="print"/>
          <a:stretch>
            <a:fillRect/>
          </a:stretch>
        </p:blipFill>
        <p:spPr>
          <a:xfrm>
            <a:off x="6429388" y="2214554"/>
            <a:ext cx="1649985" cy="2231356"/>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30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525963"/>
          </a:xfrm>
        </p:spPr>
        <p:txBody>
          <a:bodyPr>
            <a:normAutofit/>
          </a:bodyPr>
          <a:lstStyle/>
          <a:p>
            <a:pPr marL="360000" indent="-360000">
              <a:spcBef>
                <a:spcPts val="1200"/>
              </a:spcBef>
              <a:spcAft>
                <a:spcPts val="1200"/>
              </a:spcAft>
            </a:pPr>
            <a:r>
              <a:rPr lang="en-US" sz="2200" dirty="0" smtClean="0">
                <a:latin typeface="Helvetica" pitchFamily="34" charset="0"/>
              </a:rPr>
              <a:t>Food is refrigerated in small amounts, not large </a:t>
            </a:r>
            <a:br>
              <a:rPr lang="en-US" sz="2200" dirty="0" smtClean="0">
                <a:latin typeface="Helvetica" pitchFamily="34" charset="0"/>
              </a:rPr>
            </a:br>
            <a:r>
              <a:rPr lang="en-US" sz="2200" dirty="0" smtClean="0">
                <a:latin typeface="Helvetica" pitchFamily="34" charset="0"/>
              </a:rPr>
              <a:t>quantities</a:t>
            </a:r>
          </a:p>
          <a:p>
            <a:pPr marL="360000" indent="-360000">
              <a:spcBef>
                <a:spcPts val="1200"/>
              </a:spcBef>
              <a:spcAft>
                <a:spcPts val="1200"/>
              </a:spcAft>
            </a:pPr>
            <a:r>
              <a:rPr lang="en-US" sz="2200" dirty="0" smtClean="0">
                <a:latin typeface="Helvetica" pitchFamily="34" charset="0"/>
              </a:rPr>
              <a:t>Cool hot foods before refrigerating them</a:t>
            </a:r>
          </a:p>
          <a:p>
            <a:pPr marL="360000" indent="-360000">
              <a:spcBef>
                <a:spcPts val="1200"/>
              </a:spcBef>
              <a:spcAft>
                <a:spcPts val="1200"/>
              </a:spcAft>
            </a:pPr>
            <a:r>
              <a:rPr lang="en-US" sz="2200" dirty="0" smtClean="0">
                <a:latin typeface="Helvetica" pitchFamily="34" charset="0"/>
              </a:rPr>
              <a:t>Cover all food</a:t>
            </a:r>
          </a:p>
          <a:p>
            <a:pPr marL="360000" indent="-360000">
              <a:spcBef>
                <a:spcPts val="1200"/>
              </a:spcBef>
              <a:spcAft>
                <a:spcPts val="1200"/>
              </a:spcAft>
            </a:pPr>
            <a:r>
              <a:rPr lang="en-US" sz="2200" dirty="0" smtClean="0">
                <a:latin typeface="Helvetica" pitchFamily="34" charset="0"/>
              </a:rPr>
              <a:t>Keep raw and ready-to-eat or cooked food separate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Protocols for frozen food storage – ensure:</a:t>
            </a:r>
          </a:p>
          <a:p>
            <a:pPr marL="360000" indent="-360000">
              <a:spcBef>
                <a:spcPts val="1200"/>
              </a:spcBef>
              <a:spcAft>
                <a:spcPts val="1200"/>
              </a:spcAft>
            </a:pPr>
            <a:r>
              <a:rPr lang="en-US" sz="2200" dirty="0" smtClean="0">
                <a:latin typeface="Helvetica" pitchFamily="34" charset="0"/>
              </a:rPr>
              <a:t>Hot food is never put in to the freezer – cool it first</a:t>
            </a:r>
          </a:p>
          <a:p>
            <a:pPr marL="360000" indent="-360000">
              <a:spcBef>
                <a:spcPts val="1200"/>
              </a:spcBef>
              <a:spcAft>
                <a:spcPts val="1200"/>
              </a:spcAft>
            </a:pPr>
            <a:r>
              <a:rPr lang="en-US" sz="2200" dirty="0" smtClean="0">
                <a:latin typeface="Helvetica" pitchFamily="34" charset="0"/>
              </a:rPr>
              <a:t>Thawed frozen food is never re-frozen</a:t>
            </a:r>
          </a:p>
          <a:p>
            <a:pPr marL="360000" indent="-360000">
              <a:spcBef>
                <a:spcPts val="1200"/>
              </a:spcBef>
              <a:spcAft>
                <a:spcPts val="1200"/>
              </a:spcAft>
            </a:pPr>
            <a:r>
              <a:rPr lang="en-US" sz="2200" dirty="0" smtClean="0">
                <a:latin typeface="Helvetica" pitchFamily="34" charset="0"/>
              </a:rPr>
              <a:t>Freezers are de-frosted regularly</a:t>
            </a:r>
          </a:p>
          <a:p>
            <a:pPr marL="360000" indent="-360000">
              <a:spcBef>
                <a:spcPts val="1200"/>
              </a:spcBef>
              <a:spcAft>
                <a:spcPts val="1200"/>
              </a:spcAft>
            </a:pPr>
            <a:r>
              <a:rPr lang="en-US" sz="2200" dirty="0" smtClean="0">
                <a:latin typeface="Helvetica" pitchFamily="34" charset="0"/>
              </a:rPr>
              <a:t>Freezer doors are kept closed when </a:t>
            </a:r>
            <a:br>
              <a:rPr lang="en-US" sz="2200" dirty="0" smtClean="0">
                <a:latin typeface="Helvetica" pitchFamily="34" charset="0"/>
              </a:rPr>
            </a:br>
            <a:r>
              <a:rPr lang="en-US" sz="2200" dirty="0" smtClean="0">
                <a:latin typeface="Helvetica" pitchFamily="34" charset="0"/>
              </a:rPr>
              <a:t>not in use</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8196" name="Picture 4" descr="C:\Users\fgvghyujil\AppData\Local\Microsoft\Windows\Temporary Internet Files\Content.IE5\PP601SXW\MC900036414[1].wmf"/>
          <p:cNvPicPr>
            <a:picLocks noChangeAspect="1" noChangeArrowheads="1"/>
          </p:cNvPicPr>
          <p:nvPr/>
        </p:nvPicPr>
        <p:blipFill>
          <a:blip r:embed="rId3" cstate="print"/>
          <a:srcRect/>
          <a:stretch>
            <a:fillRect/>
          </a:stretch>
        </p:blipFill>
        <p:spPr bwMode="auto">
          <a:xfrm>
            <a:off x="6572264" y="3000372"/>
            <a:ext cx="1512609" cy="2147545"/>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Freezer temperature is checked at least daily</a:t>
            </a:r>
          </a:p>
          <a:p>
            <a:pPr marL="360000" indent="-360000">
              <a:spcBef>
                <a:spcPts val="1200"/>
              </a:spcBef>
              <a:spcAft>
                <a:spcPts val="1200"/>
              </a:spcAft>
            </a:pPr>
            <a:r>
              <a:rPr lang="en-US" sz="2200" dirty="0" smtClean="0">
                <a:latin typeface="Helvetica" pitchFamily="34" charset="0"/>
              </a:rPr>
              <a:t>Large items are not frozen</a:t>
            </a:r>
          </a:p>
          <a:p>
            <a:pPr marL="360000" indent="-360000">
              <a:spcBef>
                <a:spcPts val="1200"/>
              </a:spcBef>
              <a:spcAft>
                <a:spcPts val="1200"/>
              </a:spcAft>
            </a:pPr>
            <a:r>
              <a:rPr lang="en-US" sz="2200" dirty="0" smtClean="0">
                <a:latin typeface="Helvetica" pitchFamily="34" charset="0"/>
              </a:rPr>
              <a:t>Manufacturer’s instructions for </a:t>
            </a:r>
            <a:br>
              <a:rPr lang="en-US" sz="2200" dirty="0" smtClean="0">
                <a:latin typeface="Helvetica" pitchFamily="34" charset="0"/>
              </a:rPr>
            </a:br>
            <a:r>
              <a:rPr lang="en-US" sz="2200" dirty="0" smtClean="0">
                <a:latin typeface="Helvetica" pitchFamily="34" charset="0"/>
              </a:rPr>
              <a:t>specific foods are complied with </a:t>
            </a:r>
            <a:br>
              <a:rPr lang="en-US" sz="2200" dirty="0" smtClean="0">
                <a:latin typeface="Helvetica" pitchFamily="34" charset="0"/>
              </a:rPr>
            </a:br>
            <a:r>
              <a:rPr lang="en-US" sz="2200" dirty="0" smtClean="0">
                <a:latin typeface="Helvetica" pitchFamily="34" charset="0"/>
              </a:rPr>
              <a:t>when freezing them</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9218" name="Picture 2" descr="C:\Users\fgvghyujil\AppData\Local\Microsoft\Windows\Temporary Internet Files\Content.IE5\PP601SXW\MC900403885[1].wmf"/>
          <p:cNvPicPr>
            <a:picLocks noChangeAspect="1" noChangeArrowheads="1"/>
          </p:cNvPicPr>
          <p:nvPr/>
        </p:nvPicPr>
        <p:blipFill>
          <a:blip r:embed="rId3" cstate="print"/>
          <a:srcRect/>
          <a:stretch>
            <a:fillRect/>
          </a:stretch>
        </p:blipFill>
        <p:spPr bwMode="auto">
          <a:xfrm>
            <a:off x="6143636" y="2285992"/>
            <a:ext cx="1835410" cy="1898894"/>
          </a:xfrm>
          <a:prstGeom prst="rect">
            <a:avLst/>
          </a:prstGeom>
          <a:noFill/>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1200"/>
              </a:spcBef>
              <a:spcAft>
                <a:spcPts val="1200"/>
              </a:spcAft>
              <a:buNone/>
            </a:pPr>
            <a:r>
              <a:rPr lang="en-US" sz="2200" dirty="0" smtClean="0">
                <a:latin typeface="Helvetica" pitchFamily="34" charset="0"/>
              </a:rPr>
              <a:t>Effective stock rotation is important in food safety:</a:t>
            </a:r>
          </a:p>
          <a:p>
            <a:pPr marL="360000" indent="-360000">
              <a:spcBef>
                <a:spcPts val="1200"/>
              </a:spcBef>
              <a:spcAft>
                <a:spcPts val="1200"/>
              </a:spcAft>
            </a:pPr>
            <a:r>
              <a:rPr lang="en-US" sz="2200" dirty="0" smtClean="0">
                <a:latin typeface="Helvetica" pitchFamily="34" charset="0"/>
              </a:rPr>
              <a:t>First In, First Out (FIFO) is most common method</a:t>
            </a:r>
          </a:p>
          <a:p>
            <a:pPr marL="360000" indent="-360000">
              <a:spcBef>
                <a:spcPts val="1200"/>
              </a:spcBef>
              <a:spcAft>
                <a:spcPts val="1200"/>
              </a:spcAft>
            </a:pPr>
            <a:r>
              <a:rPr lang="en-US" sz="2200" dirty="0" smtClean="0">
                <a:latin typeface="Helvetica" pitchFamily="34" charset="0"/>
              </a:rPr>
              <a:t>Food should (generally) be used in the order it was bought</a:t>
            </a:r>
          </a:p>
          <a:p>
            <a:pPr marL="360000" indent="-360000">
              <a:spcBef>
                <a:spcPts val="1200"/>
              </a:spcBef>
              <a:spcAft>
                <a:spcPts val="1200"/>
              </a:spcAft>
            </a:pPr>
            <a:r>
              <a:rPr lang="en-US" sz="2200" dirty="0" smtClean="0">
                <a:latin typeface="Helvetica" pitchFamily="34" charset="0"/>
              </a:rPr>
              <a:t>On shelves – move old stock forward and </a:t>
            </a:r>
            <a:br>
              <a:rPr lang="en-US" sz="2200" dirty="0" smtClean="0">
                <a:latin typeface="Helvetica" pitchFamily="34" charset="0"/>
              </a:rPr>
            </a:br>
            <a:r>
              <a:rPr lang="en-US" sz="2200" dirty="0" smtClean="0">
                <a:latin typeface="Helvetica" pitchFamily="34" charset="0"/>
              </a:rPr>
              <a:t>place new stock behind</a:t>
            </a:r>
          </a:p>
          <a:p>
            <a:pPr marL="360000" indent="-360000">
              <a:spcBef>
                <a:spcPts val="1200"/>
              </a:spcBef>
              <a:spcAft>
                <a:spcPts val="1200"/>
              </a:spcAft>
            </a:pPr>
            <a:r>
              <a:rPr lang="en-US" sz="2200" dirty="0" smtClean="0">
                <a:latin typeface="Helvetica" pitchFamily="34" charset="0"/>
              </a:rPr>
              <a:t>In chest freezers – move old stock to top </a:t>
            </a:r>
            <a:br>
              <a:rPr lang="en-US" sz="2200" dirty="0" smtClean="0">
                <a:latin typeface="Helvetica" pitchFamily="34" charset="0"/>
              </a:rPr>
            </a:br>
            <a:r>
              <a:rPr lang="en-US" sz="2200" dirty="0" smtClean="0">
                <a:latin typeface="Helvetica" pitchFamily="34" charset="0"/>
              </a:rPr>
              <a:t>and place new stock underneath</a:t>
            </a:r>
          </a:p>
          <a:p>
            <a:pPr marL="360000" indent="-360000">
              <a:spcBef>
                <a:spcPts val="1200"/>
              </a:spcBef>
              <a:spcAft>
                <a:spcPts val="1200"/>
              </a:spcAft>
            </a:pPr>
            <a:r>
              <a:rPr lang="en-US" sz="2200" b="1" dirty="0" smtClean="0">
                <a:latin typeface="Helvetica" pitchFamily="34" charset="0"/>
              </a:rPr>
              <a:t>Regularly check use-by or best before dates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 name="Picture 4" descr="Doc Checking.jpg"/>
          <p:cNvPicPr>
            <a:picLocks noChangeAspect="1"/>
          </p:cNvPicPr>
          <p:nvPr/>
        </p:nvPicPr>
        <p:blipFill>
          <a:blip r:embed="rId3" cstate="print"/>
          <a:stretch>
            <a:fillRect/>
          </a:stretch>
        </p:blipFill>
        <p:spPr>
          <a:xfrm>
            <a:off x="7000892" y="3214686"/>
            <a:ext cx="1357302" cy="1809736"/>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The ‘Two-step’ rule </a:t>
            </a:r>
            <a:r>
              <a:rPr lang="en-AU" sz="2200" dirty="0" smtClean="0">
                <a:latin typeface="Helvetica" pitchFamily="34" charset="0"/>
              </a:rPr>
              <a:t>provides explicit direction for the cooling of high risk, hot food</a:t>
            </a:r>
            <a:r>
              <a:rPr lang="en-US" sz="2200" dirty="0" smtClean="0">
                <a:latin typeface="Helvetica" pitchFamily="34" charset="0"/>
              </a:rPr>
              <a:t>:</a:t>
            </a:r>
          </a:p>
          <a:p>
            <a:pPr marL="457200" indent="-457200">
              <a:spcBef>
                <a:spcPts val="1200"/>
              </a:spcBef>
              <a:spcAft>
                <a:spcPts val="1200"/>
              </a:spcAft>
              <a:buAutoNum type="arabicParenBoth"/>
            </a:pPr>
            <a:r>
              <a:rPr lang="en-AU" sz="2200" dirty="0" smtClean="0">
                <a:latin typeface="Helvetica" pitchFamily="34" charset="0"/>
              </a:rPr>
              <a:t>Cool hot food down to 21°C within 2 hours</a:t>
            </a:r>
          </a:p>
          <a:p>
            <a:pPr marL="457200" indent="-457200">
              <a:spcBef>
                <a:spcPts val="1200"/>
              </a:spcBef>
              <a:spcAft>
                <a:spcPts val="1200"/>
              </a:spcAft>
              <a:buAutoNum type="arabicParenBoth"/>
            </a:pPr>
            <a:r>
              <a:rPr lang="en-AU" sz="2200" dirty="0" smtClean="0">
                <a:latin typeface="Helvetica" pitchFamily="34" charset="0"/>
              </a:rPr>
              <a:t>At 21°C place into refrigeration and cool to 5°C </a:t>
            </a:r>
            <a:br>
              <a:rPr lang="en-AU" sz="2200" dirty="0" smtClean="0">
                <a:latin typeface="Helvetica" pitchFamily="34" charset="0"/>
              </a:rPr>
            </a:br>
            <a:r>
              <a:rPr lang="en-AU" sz="2200" dirty="0" smtClean="0">
                <a:latin typeface="Helvetica" pitchFamily="34" charset="0"/>
              </a:rPr>
              <a:t>within a further 4 hours</a:t>
            </a:r>
            <a:endParaRPr lang="en-US" sz="2200" dirty="0" smtClean="0">
              <a:latin typeface="Helvetica" pitchFamily="34" charset="0"/>
            </a:endParaRPr>
          </a:p>
          <a:p>
            <a:pPr marL="360000" indent="-360000">
              <a:spcBef>
                <a:spcPts val="1200"/>
              </a:spcBef>
              <a:spcAft>
                <a:spcPts val="1200"/>
              </a:spcAft>
            </a:pPr>
            <a:r>
              <a:rPr lang="en-US" sz="2200" dirty="0" smtClean="0">
                <a:latin typeface="Helvetica" pitchFamily="34" charset="0"/>
              </a:rPr>
              <a:t>Non-conforming food must be thrown out</a:t>
            </a:r>
          </a:p>
          <a:p>
            <a:pPr marL="360000" indent="-360000">
              <a:spcBef>
                <a:spcPts val="1200"/>
              </a:spcBef>
              <a:spcAft>
                <a:spcPts val="1200"/>
              </a:spcAft>
            </a:pPr>
            <a:r>
              <a:rPr lang="en-US" sz="2200" dirty="0" smtClean="0">
                <a:latin typeface="Helvetica" pitchFamily="34" charset="0"/>
              </a:rPr>
              <a:t>At </a:t>
            </a:r>
            <a:r>
              <a:rPr lang="en-AU" sz="2200" dirty="0" smtClean="0">
                <a:latin typeface="Helvetica" pitchFamily="34" charset="0"/>
              </a:rPr>
              <a:t>5°C food can be frozen</a:t>
            </a: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29698" name="Picture 2" descr="I:\Overseas Projects\PHOTOS\2012\Culinary 2012\Cookery\Sandwiches2.jpg"/>
          <p:cNvPicPr>
            <a:picLocks noChangeAspect="1" noChangeArrowheads="1"/>
          </p:cNvPicPr>
          <p:nvPr/>
        </p:nvPicPr>
        <p:blipFill>
          <a:blip r:embed="rId3" cstate="print"/>
          <a:srcRect/>
          <a:stretch>
            <a:fillRect/>
          </a:stretch>
        </p:blipFill>
        <p:spPr bwMode="auto">
          <a:xfrm>
            <a:off x="7164288" y="2564904"/>
            <a:ext cx="1699950" cy="2547934"/>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Cross contamination = </a:t>
            </a:r>
            <a:r>
              <a:rPr lang="en-AU" sz="2200" dirty="0" smtClean="0">
                <a:latin typeface="Helvetica" pitchFamily="34" charset="0"/>
              </a:rPr>
              <a:t>contamination of food (or surfaces, equipment, utensils) with bacteria, chemicals or allergens as a result of contact with a contaminated source. </a:t>
            </a:r>
          </a:p>
          <a:p>
            <a:pPr marL="0" indent="0">
              <a:spcBef>
                <a:spcPts val="1200"/>
              </a:spcBef>
              <a:spcAft>
                <a:spcPts val="1200"/>
              </a:spcAft>
              <a:buNone/>
            </a:pPr>
            <a:r>
              <a:rPr lang="en-AU" sz="2200" dirty="0" smtClean="0">
                <a:latin typeface="Helvetica" pitchFamily="34" charset="0"/>
              </a:rPr>
              <a:t>Contamination may be:</a:t>
            </a:r>
            <a:endParaRPr lang="en-US" sz="2200" dirty="0" smtClean="0">
              <a:latin typeface="Helvetica" pitchFamily="34" charset="0"/>
            </a:endParaRPr>
          </a:p>
          <a:p>
            <a:pPr marL="360000" indent="-360000">
              <a:spcBef>
                <a:spcPts val="1200"/>
              </a:spcBef>
              <a:spcAft>
                <a:spcPts val="1200"/>
              </a:spcAft>
            </a:pPr>
            <a:r>
              <a:rPr lang="en-US" sz="2200" dirty="0" smtClean="0">
                <a:latin typeface="Helvetica" pitchFamily="34" charset="0"/>
              </a:rPr>
              <a:t>Via direct contact</a:t>
            </a:r>
          </a:p>
          <a:p>
            <a:pPr marL="360000" indent="-360000">
              <a:spcBef>
                <a:spcPts val="1200"/>
              </a:spcBef>
              <a:spcAft>
                <a:spcPts val="1200"/>
              </a:spcAft>
            </a:pPr>
            <a:r>
              <a:rPr lang="en-US" sz="2200" dirty="0" smtClean="0">
                <a:latin typeface="Helvetica" pitchFamily="34" charset="0"/>
              </a:rPr>
              <a:t>Through indirect contact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30723" name="Picture 3" descr="I:\Overseas Projects\PHOTOS\2012\Culinary 2012\Cookery\Present food1.jpg"/>
          <p:cNvPicPr>
            <a:picLocks noChangeAspect="1" noChangeArrowheads="1"/>
          </p:cNvPicPr>
          <p:nvPr/>
        </p:nvPicPr>
        <p:blipFill>
          <a:blip r:embed="rId3" cstate="print"/>
          <a:srcRect/>
          <a:stretch>
            <a:fillRect/>
          </a:stretch>
        </p:blipFill>
        <p:spPr bwMode="auto">
          <a:xfrm>
            <a:off x="5286380" y="2928934"/>
            <a:ext cx="2759074" cy="1840819"/>
          </a:xfrm>
          <a:prstGeom prst="rect">
            <a:avLst/>
          </a:prstGeom>
          <a:noFill/>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sp>
        <p:nvSpPr>
          <p:cNvPr id="6" name="Content Placeholder 2"/>
          <p:cNvSpPr txBox="1">
            <a:spLocks/>
          </p:cNvSpPr>
          <p:nvPr/>
        </p:nvSpPr>
        <p:spPr>
          <a:xfrm>
            <a:off x="571472" y="1357298"/>
            <a:ext cx="7467600" cy="5000660"/>
          </a:xfrm>
          <a:prstGeom prst="rect">
            <a:avLst/>
          </a:prstGeom>
        </p:spPr>
        <p:txBody>
          <a:bodyPr vert="horz">
            <a:normAutofit/>
          </a:bodyPr>
          <a:lstStyle/>
          <a:p>
            <a:pPr marL="53975" marR="0" lvl="0" indent="-17463" algn="l" defTabSz="914400" rtl="0" eaLnBrk="1" fontAlgn="auto" latinLnBrk="0" hangingPunct="1">
              <a:lnSpc>
                <a:spcPct val="100000"/>
              </a:lnSpc>
              <a:spcBef>
                <a:spcPts val="1200"/>
              </a:spcBef>
              <a:spcAft>
                <a:spcPts val="1200"/>
              </a:spcAft>
              <a:buClr>
                <a:schemeClr val="accent1"/>
              </a:buClr>
              <a:buSzPct val="80000"/>
              <a:tabLst/>
              <a:defRPr/>
            </a:pPr>
            <a:r>
              <a:rPr lang="en-US" sz="2200" dirty="0" smtClean="0">
                <a:latin typeface="Helvetica" pitchFamily="34" charset="0"/>
              </a:rPr>
              <a:t>Primary causes of cross contamination:</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dirty="0" smtClean="0">
                <a:latin typeface="Helvetica" pitchFamily="34" charset="0"/>
              </a:rPr>
              <a:t>Linen items (cloths, uniforms and tea towels) contaminated with human waste and food  residue</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dirty="0" smtClean="0">
                <a:latin typeface="Helvetica" pitchFamily="34" charset="0"/>
              </a:rPr>
              <a:t>Dirty equipment used to process food</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dirty="0" smtClean="0">
                <a:latin typeface="Helvetica" pitchFamily="34" charset="0"/>
              </a:rPr>
              <a:t>Dirty utensils</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dirty="0" smtClean="0">
                <a:latin typeface="Helvetica" pitchFamily="34" charset="0"/>
              </a:rPr>
              <a:t>Raw food making contact with </a:t>
            </a:r>
            <a:br>
              <a:rPr lang="en-AU" sz="2200" dirty="0" smtClean="0">
                <a:latin typeface="Helvetica" pitchFamily="34" charset="0"/>
              </a:rPr>
            </a:br>
            <a:r>
              <a:rPr lang="en-AU" sz="2200" dirty="0" smtClean="0">
                <a:latin typeface="Helvetica" pitchFamily="34" charset="0"/>
              </a:rPr>
              <a:t>cooked or ready-to-eat food</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dirty="0" smtClean="0">
                <a:latin typeface="Helvetica" pitchFamily="34" charset="0"/>
              </a:rPr>
              <a:t>Failure of food handlers to wash their hands</a:t>
            </a:r>
            <a:endParaRPr lang="en-US" sz="2200" dirty="0" smtClean="0">
              <a:latin typeface="Helvetica" pitchFamily="34" charset="0"/>
            </a:endParaRP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endParaRPr kumimoji="0" lang="en-AU"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360000" marR="0" lvl="0" indent="-360000" algn="l" defTabSz="914400" rtl="0" eaLnBrk="1" fontAlgn="auto" latinLnBrk="0" hangingPunct="1">
              <a:lnSpc>
                <a:spcPct val="100000"/>
              </a:lnSpc>
              <a:spcBef>
                <a:spcPts val="1200"/>
              </a:spcBef>
              <a:spcAft>
                <a:spcPts val="1200"/>
              </a:spcAft>
              <a:buClr>
                <a:schemeClr val="accent1"/>
              </a:buClr>
              <a:buSzPct val="80000"/>
              <a:buFont typeface="Wingdings 2"/>
              <a:buNone/>
              <a:tabLst/>
              <a:defRPr/>
            </a:pP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pic>
        <p:nvPicPr>
          <p:cNvPr id="7" name="Picture 6" descr="KitchenCCJonratcliffe.jpg"/>
          <p:cNvPicPr>
            <a:picLocks noChangeAspect="1"/>
          </p:cNvPicPr>
          <p:nvPr/>
        </p:nvPicPr>
        <p:blipFill>
          <a:blip r:embed="rId3" cstate="print">
            <a:lum bright="10000"/>
          </a:blip>
          <a:stretch>
            <a:fillRect/>
          </a:stretch>
        </p:blipFill>
        <p:spPr>
          <a:xfrm>
            <a:off x="6286512" y="3286124"/>
            <a:ext cx="2047889" cy="1535917"/>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dirty="0" smtClean="0">
                <a:latin typeface="Helvetica" pitchFamily="34" charset="0"/>
              </a:rPr>
              <a:t>To reduce possibility of cross contamination:</a:t>
            </a:r>
          </a:p>
          <a:p>
            <a:pPr lvl="0">
              <a:spcBef>
                <a:spcPts val="1200"/>
              </a:spcBef>
              <a:spcAft>
                <a:spcPts val="1200"/>
              </a:spcAft>
            </a:pPr>
            <a:r>
              <a:rPr lang="en-AU" sz="2200" dirty="0" smtClean="0">
                <a:latin typeface="Helvetica" pitchFamily="34" charset="0"/>
              </a:rPr>
              <a:t>Wear clean clothes and clean protective clothing</a:t>
            </a:r>
          </a:p>
          <a:p>
            <a:pPr lvl="0">
              <a:spcBef>
                <a:spcPts val="1200"/>
              </a:spcBef>
              <a:spcAft>
                <a:spcPts val="1200"/>
              </a:spcAft>
            </a:pPr>
            <a:r>
              <a:rPr lang="en-AU" sz="2200" dirty="0" smtClean="0">
                <a:latin typeface="Helvetica" pitchFamily="34" charset="0"/>
              </a:rPr>
              <a:t>Clean and sanitise food equipment, utensils and preparation areas </a:t>
            </a:r>
          </a:p>
          <a:p>
            <a:pPr lvl="0">
              <a:spcBef>
                <a:spcPts val="1200"/>
              </a:spcBef>
              <a:spcAft>
                <a:spcPts val="1200"/>
              </a:spcAft>
            </a:pPr>
            <a:r>
              <a:rPr lang="en-AU" sz="2200" dirty="0" smtClean="0">
                <a:latin typeface="Helvetica" pitchFamily="34" charset="0"/>
              </a:rPr>
              <a:t>Use waterproof bandages </a:t>
            </a:r>
            <a:br>
              <a:rPr lang="en-AU" sz="2200" dirty="0" smtClean="0">
                <a:latin typeface="Helvetica" pitchFamily="34" charset="0"/>
              </a:rPr>
            </a:br>
            <a:r>
              <a:rPr lang="en-AU" sz="2200" dirty="0" smtClean="0">
                <a:latin typeface="Helvetica" pitchFamily="34" charset="0"/>
              </a:rPr>
              <a:t>and dressings </a:t>
            </a:r>
          </a:p>
          <a:p>
            <a:pPr lvl="0">
              <a:spcBef>
                <a:spcPts val="1200"/>
              </a:spcBef>
              <a:spcAft>
                <a:spcPts val="1200"/>
              </a:spcAft>
            </a:pPr>
            <a:r>
              <a:rPr lang="en-AU" sz="2200" dirty="0" smtClean="0">
                <a:latin typeface="Helvetica" pitchFamily="34" charset="0"/>
              </a:rPr>
              <a:t>Wash and properly dry hands </a:t>
            </a:r>
            <a:br>
              <a:rPr lang="en-AU" sz="2200" dirty="0" smtClean="0">
                <a:latin typeface="Helvetica" pitchFamily="34" charset="0"/>
              </a:rPr>
            </a:br>
            <a:r>
              <a:rPr lang="en-AU" sz="2200" dirty="0" smtClean="0">
                <a:latin typeface="Helvetica" pitchFamily="34" charset="0"/>
              </a:rPr>
              <a:t>when, and as required</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5" name="Picture 4" descr="RetailPhoto_Shoot_2007_11.jpg"/>
          <p:cNvPicPr>
            <a:picLocks noChangeAspect="1"/>
          </p:cNvPicPr>
          <p:nvPr/>
        </p:nvPicPr>
        <p:blipFill>
          <a:blip r:embed="rId3" cstate="print"/>
          <a:stretch>
            <a:fillRect/>
          </a:stretch>
        </p:blipFill>
        <p:spPr>
          <a:xfrm>
            <a:off x="6072198" y="3571876"/>
            <a:ext cx="2150332" cy="1431314"/>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Store cooked or ready-to-eat food above raw food</a:t>
            </a:r>
          </a:p>
          <a:p>
            <a:pPr marL="360000" indent="-360000">
              <a:spcBef>
                <a:spcPts val="1200"/>
              </a:spcBef>
              <a:spcAft>
                <a:spcPts val="1200"/>
              </a:spcAft>
            </a:pPr>
            <a:r>
              <a:rPr lang="en-US" sz="2200" dirty="0" smtClean="0">
                <a:latin typeface="Helvetica" pitchFamily="34" charset="0"/>
              </a:rPr>
              <a:t>Separate raw and cooked or ready-to-eat food</a:t>
            </a:r>
          </a:p>
          <a:p>
            <a:pPr marL="360000" indent="-360000">
              <a:spcBef>
                <a:spcPts val="1200"/>
              </a:spcBef>
              <a:spcAft>
                <a:spcPts val="1200"/>
              </a:spcAft>
            </a:pPr>
            <a:r>
              <a:rPr lang="en-US" sz="2200" dirty="0" smtClean="0">
                <a:latin typeface="Helvetica" pitchFamily="34" charset="0"/>
              </a:rPr>
              <a:t>Keep food covered</a:t>
            </a:r>
          </a:p>
          <a:p>
            <a:pPr marL="360000" indent="-360000">
              <a:spcBef>
                <a:spcPts val="1200"/>
              </a:spcBef>
              <a:spcAft>
                <a:spcPts val="1200"/>
              </a:spcAft>
            </a:pPr>
            <a:r>
              <a:rPr lang="en-US" sz="2200" dirty="0" smtClean="0">
                <a:latin typeface="Helvetica" pitchFamily="34" charset="0"/>
              </a:rPr>
              <a:t>Use separate sinks for washing salads </a:t>
            </a:r>
            <a:br>
              <a:rPr lang="en-US" sz="2200" dirty="0" smtClean="0">
                <a:latin typeface="Helvetica" pitchFamily="34" charset="0"/>
              </a:rPr>
            </a:br>
            <a:r>
              <a:rPr lang="en-US" sz="2200" dirty="0" smtClean="0">
                <a:latin typeface="Helvetica" pitchFamily="34" charset="0"/>
              </a:rPr>
              <a:t>and high risk foods</a:t>
            </a:r>
          </a:p>
          <a:p>
            <a:pPr marL="360000" indent="-360000">
              <a:spcBef>
                <a:spcPts val="1200"/>
              </a:spcBef>
              <a:spcAft>
                <a:spcPts val="1200"/>
              </a:spcAft>
            </a:pPr>
            <a:r>
              <a:rPr lang="en-US" sz="2200" dirty="0" smtClean="0">
                <a:latin typeface="Helvetica" pitchFamily="34" charset="0"/>
              </a:rPr>
              <a:t>Use different food handlers for raw and </a:t>
            </a:r>
            <a:br>
              <a:rPr lang="en-US" sz="2200" dirty="0" smtClean="0">
                <a:latin typeface="Helvetica" pitchFamily="34" charset="0"/>
              </a:rPr>
            </a:br>
            <a:r>
              <a:rPr lang="en-US" sz="2200" dirty="0" smtClean="0">
                <a:latin typeface="Helvetica" pitchFamily="34" charset="0"/>
              </a:rPr>
              <a:t>cooked or ready-to-eat foods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food handling.jpg"/>
          <p:cNvPicPr>
            <a:picLocks noChangeAspect="1"/>
          </p:cNvPicPr>
          <p:nvPr/>
        </p:nvPicPr>
        <p:blipFill>
          <a:blip r:embed="rId3" cstate="print"/>
          <a:stretch>
            <a:fillRect/>
          </a:stretch>
        </p:blipFill>
        <p:spPr>
          <a:xfrm>
            <a:off x="6643702" y="2714620"/>
            <a:ext cx="1768867" cy="2428892"/>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360000" indent="-360000">
              <a:spcBef>
                <a:spcPts val="1200"/>
              </a:spcBef>
              <a:spcAft>
                <a:spcPts val="1200"/>
              </a:spcAft>
            </a:pPr>
            <a:r>
              <a:rPr lang="en-US" sz="2200" dirty="0" smtClean="0">
                <a:latin typeface="Helvetica" pitchFamily="34" charset="0"/>
              </a:rPr>
              <a:t>Store chemicals separately from food</a:t>
            </a:r>
          </a:p>
          <a:p>
            <a:pPr marL="360000" indent="-360000">
              <a:spcBef>
                <a:spcPts val="1200"/>
              </a:spcBef>
              <a:spcAft>
                <a:spcPts val="1200"/>
              </a:spcAft>
            </a:pPr>
            <a:r>
              <a:rPr lang="en-US" sz="2200" dirty="0" smtClean="0">
                <a:latin typeface="Helvetica" pitchFamily="34" charset="0"/>
              </a:rPr>
              <a:t>Do not wear food handling clothes to and from work</a:t>
            </a:r>
          </a:p>
          <a:p>
            <a:pPr marL="360000" indent="-360000">
              <a:spcBef>
                <a:spcPts val="1200"/>
              </a:spcBef>
              <a:spcAft>
                <a:spcPts val="1200"/>
              </a:spcAft>
            </a:pPr>
            <a:r>
              <a:rPr lang="en-US" sz="2200" dirty="0" smtClean="0">
                <a:latin typeface="Helvetica" pitchFamily="34" charset="0"/>
              </a:rPr>
              <a:t>Use disposable towels</a:t>
            </a:r>
          </a:p>
          <a:p>
            <a:pPr marL="360000" indent="-360000">
              <a:spcBef>
                <a:spcPts val="1200"/>
              </a:spcBef>
              <a:spcAft>
                <a:spcPts val="1200"/>
              </a:spcAft>
            </a:pPr>
            <a:r>
              <a:rPr lang="en-US" sz="2200" dirty="0" smtClean="0">
                <a:latin typeface="Helvetica" pitchFamily="34" charset="0"/>
              </a:rPr>
              <a:t>Change disposable gloves regularly </a:t>
            </a:r>
            <a:br>
              <a:rPr lang="en-US" sz="2200" dirty="0" smtClean="0">
                <a:latin typeface="Helvetica" pitchFamily="34" charset="0"/>
              </a:rPr>
            </a:br>
            <a:r>
              <a:rPr lang="en-US" sz="2200" dirty="0" smtClean="0">
                <a:latin typeface="Helvetica" pitchFamily="34" charset="0"/>
              </a:rPr>
              <a:t>and when required</a:t>
            </a:r>
          </a:p>
          <a:p>
            <a:pPr marL="360000" indent="-360000">
              <a:spcBef>
                <a:spcPts val="1200"/>
              </a:spcBef>
              <a:spcAft>
                <a:spcPts val="1200"/>
              </a:spcAft>
            </a:pPr>
            <a:r>
              <a:rPr lang="en-US" sz="2200" dirty="0" smtClean="0">
                <a:latin typeface="Helvetica" pitchFamily="34" charset="0"/>
              </a:rPr>
              <a:t>Use colour-coded chopping boards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5" name="Picture 4" descr="colour-coded chopping boards.jpg"/>
          <p:cNvPicPr>
            <a:picLocks noChangeAspect="1"/>
          </p:cNvPicPr>
          <p:nvPr/>
        </p:nvPicPr>
        <p:blipFill>
          <a:blip r:embed="rId3" cstate="print"/>
          <a:stretch>
            <a:fillRect/>
          </a:stretch>
        </p:blipFill>
        <p:spPr>
          <a:xfrm>
            <a:off x="6643702" y="3143248"/>
            <a:ext cx="1513025" cy="1559819"/>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Autofit/>
          </a:bodyPr>
          <a:lstStyle/>
          <a:p>
            <a:pPr marL="360000" indent="-360000">
              <a:spcBef>
                <a:spcPts val="600"/>
              </a:spcBef>
              <a:spcAft>
                <a:spcPts val="1200"/>
              </a:spcAft>
            </a:pPr>
            <a:r>
              <a:rPr lang="en-US" sz="2200" dirty="0" smtClean="0">
                <a:latin typeface="Helvetica" pitchFamily="34" charset="0"/>
              </a:rPr>
              <a:t>Never mix different batches of food</a:t>
            </a:r>
          </a:p>
          <a:p>
            <a:pPr marL="360000" indent="-360000">
              <a:spcBef>
                <a:spcPts val="600"/>
              </a:spcBef>
              <a:spcAft>
                <a:spcPts val="1200"/>
              </a:spcAft>
            </a:pPr>
            <a:r>
              <a:rPr lang="en-US" sz="2200" dirty="0" smtClean="0">
                <a:latin typeface="Helvetica" pitchFamily="34" charset="0"/>
              </a:rPr>
              <a:t>Do not put spoons used for tasting back into food</a:t>
            </a:r>
          </a:p>
          <a:p>
            <a:pPr marL="360000" indent="-360000">
              <a:spcBef>
                <a:spcPts val="600"/>
              </a:spcBef>
              <a:spcAft>
                <a:spcPts val="1200"/>
              </a:spcAft>
            </a:pPr>
            <a:r>
              <a:rPr lang="en-US" sz="2200" dirty="0" smtClean="0">
                <a:latin typeface="Helvetica" pitchFamily="34" charset="0"/>
              </a:rPr>
              <a:t>Do not cough or sneeze over food or food surfaces</a:t>
            </a:r>
          </a:p>
          <a:p>
            <a:pPr marL="360000" indent="-360000">
              <a:spcBef>
                <a:spcPts val="600"/>
              </a:spcBef>
              <a:spcAft>
                <a:spcPts val="1200"/>
              </a:spcAft>
            </a:pPr>
            <a:r>
              <a:rPr lang="en-US" sz="2200" dirty="0" smtClean="0">
                <a:latin typeface="Helvetica" pitchFamily="34" charset="0"/>
              </a:rPr>
              <a:t>Clean and sanitise knives between raw </a:t>
            </a:r>
            <a:br>
              <a:rPr lang="en-US" sz="2200" dirty="0" smtClean="0">
                <a:latin typeface="Helvetica" pitchFamily="34" charset="0"/>
              </a:rPr>
            </a:br>
            <a:r>
              <a:rPr lang="en-US" sz="2200" dirty="0" smtClean="0">
                <a:latin typeface="Helvetica" pitchFamily="34" charset="0"/>
              </a:rPr>
              <a:t>and cooked foods</a:t>
            </a:r>
          </a:p>
          <a:p>
            <a:pPr marL="360000" indent="-360000">
              <a:spcBef>
                <a:spcPts val="600"/>
              </a:spcBef>
              <a:spcAft>
                <a:spcPts val="1200"/>
              </a:spcAft>
            </a:pPr>
            <a:r>
              <a:rPr lang="en-US" sz="2200" dirty="0" smtClean="0">
                <a:latin typeface="Helvetica" pitchFamily="34" charset="0"/>
              </a:rPr>
              <a:t>Clean and sanitise preparation </a:t>
            </a:r>
            <a:br>
              <a:rPr lang="en-US" sz="2200" dirty="0" smtClean="0">
                <a:latin typeface="Helvetica" pitchFamily="34" charset="0"/>
              </a:rPr>
            </a:br>
            <a:r>
              <a:rPr lang="en-US" sz="2200" dirty="0" smtClean="0">
                <a:latin typeface="Helvetica" pitchFamily="34" charset="0"/>
              </a:rPr>
              <a:t>surfaces every 4 hours</a:t>
            </a:r>
          </a:p>
          <a:p>
            <a:pPr marL="360000" indent="-360000">
              <a:spcBef>
                <a:spcPts val="600"/>
              </a:spcBef>
              <a:spcAft>
                <a:spcPts val="1200"/>
              </a:spcAft>
            </a:pPr>
            <a:r>
              <a:rPr lang="en-US" sz="2200" dirty="0" smtClean="0">
                <a:latin typeface="Helvetica" pitchFamily="34" charset="0"/>
              </a:rPr>
              <a:t>Only use kitchen equipment in </a:t>
            </a:r>
            <a:br>
              <a:rPr lang="en-US" sz="2200" dirty="0" smtClean="0">
                <a:latin typeface="Helvetica" pitchFamily="34" charset="0"/>
              </a:rPr>
            </a:br>
            <a:r>
              <a:rPr lang="en-US" sz="2200" dirty="0" smtClean="0">
                <a:latin typeface="Helvetica" pitchFamily="34" charset="0"/>
              </a:rPr>
              <a:t>the kitchen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descr="Mixing salad.jpg"/>
          <p:cNvPicPr>
            <a:picLocks noChangeAspect="1"/>
          </p:cNvPicPr>
          <p:nvPr/>
        </p:nvPicPr>
        <p:blipFill>
          <a:blip r:embed="rId3" cstate="print"/>
          <a:stretch>
            <a:fillRect/>
          </a:stretch>
        </p:blipFill>
        <p:spPr>
          <a:xfrm>
            <a:off x="6357950" y="3429000"/>
            <a:ext cx="1963327" cy="1612268"/>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01166"/>
          </a:xfrm>
        </p:spPr>
        <p:txBody>
          <a:bodyPr>
            <a:normAutofit/>
          </a:bodyPr>
          <a:lstStyle/>
          <a:p>
            <a:pPr marL="360000" indent="-360000">
              <a:spcBef>
                <a:spcPts val="1200"/>
              </a:spcBef>
              <a:spcAft>
                <a:spcPts val="1200"/>
              </a:spcAft>
            </a:pPr>
            <a:r>
              <a:rPr lang="en-US" sz="2200" dirty="0" smtClean="0">
                <a:latin typeface="Helvetica" pitchFamily="34" charset="0"/>
              </a:rPr>
              <a:t>Repair cracked tiles</a:t>
            </a:r>
          </a:p>
          <a:p>
            <a:pPr marL="360000" indent="-360000">
              <a:spcBef>
                <a:spcPts val="1200"/>
              </a:spcBef>
              <a:spcAft>
                <a:spcPts val="1200"/>
              </a:spcAft>
            </a:pPr>
            <a:r>
              <a:rPr lang="en-US" sz="2200" dirty="0" smtClean="0">
                <a:latin typeface="Helvetica" pitchFamily="34" charset="0"/>
              </a:rPr>
              <a:t>Exclude vermin</a:t>
            </a:r>
          </a:p>
          <a:p>
            <a:pPr marL="360000" indent="-360000">
              <a:spcBef>
                <a:spcPts val="1200"/>
              </a:spcBef>
              <a:spcAft>
                <a:spcPts val="1200"/>
              </a:spcAft>
            </a:pPr>
            <a:r>
              <a:rPr lang="en-US" sz="2200" dirty="0" smtClean="0">
                <a:latin typeface="Helvetica" pitchFamily="34" charset="0"/>
              </a:rPr>
              <a:t>Discard contaminated food</a:t>
            </a:r>
          </a:p>
          <a:p>
            <a:pPr marL="360000" indent="-360000">
              <a:spcBef>
                <a:spcPts val="1200"/>
              </a:spcBef>
              <a:spcAft>
                <a:spcPts val="1200"/>
              </a:spcAft>
            </a:pPr>
            <a:r>
              <a:rPr lang="en-US" sz="2200" dirty="0" smtClean="0">
                <a:latin typeface="Helvetica" pitchFamily="34" charset="0"/>
              </a:rPr>
              <a:t>Exclude ill employees from food handling</a:t>
            </a:r>
          </a:p>
          <a:p>
            <a:pPr marL="360000" indent="-360000">
              <a:spcBef>
                <a:spcPts val="1200"/>
              </a:spcBef>
              <a:spcAft>
                <a:spcPts val="1200"/>
              </a:spcAft>
            </a:pPr>
            <a:r>
              <a:rPr lang="en-US" sz="2200" dirty="0" smtClean="0">
                <a:latin typeface="Helvetica" pitchFamily="34" charset="0"/>
              </a:rPr>
              <a:t>Protect displayed food from contamination</a:t>
            </a:r>
          </a:p>
          <a:p>
            <a:pPr marL="360000" indent="-360000">
              <a:spcBef>
                <a:spcPts val="1200"/>
              </a:spcBef>
              <a:spcAft>
                <a:spcPts val="1200"/>
              </a:spcAft>
            </a:pPr>
            <a:r>
              <a:rPr lang="en-US" sz="2200" dirty="0" smtClean="0">
                <a:latin typeface="Helvetica" pitchFamily="34" charset="0"/>
              </a:rPr>
              <a:t>Throw out all food that has been dropped on the floor</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31746" name="Picture 2" descr="C:\Documents and Settings\danielc\Local Settings\Temporary Internet Files\Content.IE5\V9A2RTT8\MC900053397[1].wmf"/>
          <p:cNvPicPr>
            <a:picLocks noChangeAspect="1" noChangeArrowheads="1"/>
          </p:cNvPicPr>
          <p:nvPr/>
        </p:nvPicPr>
        <p:blipFill>
          <a:blip r:embed="rId3" cstate="print"/>
          <a:srcRect/>
          <a:stretch>
            <a:fillRect/>
          </a:stretch>
        </p:blipFill>
        <p:spPr bwMode="auto">
          <a:xfrm>
            <a:off x="6429388" y="1714488"/>
            <a:ext cx="1399262" cy="1555075"/>
          </a:xfrm>
          <a:prstGeom prst="rect">
            <a:avLst/>
          </a:prstGeom>
          <a:noFill/>
        </p:spPr>
      </p:pic>
      <p:sp>
        <p:nvSpPr>
          <p:cNvPr id="7" name="&quot;No&quot; Symbol 6"/>
          <p:cNvSpPr/>
          <p:nvPr/>
        </p:nvSpPr>
        <p:spPr>
          <a:xfrm>
            <a:off x="6786578" y="2214554"/>
            <a:ext cx="1071570" cy="1071570"/>
          </a:xfrm>
          <a:prstGeom prst="noSmoking">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Throw out all ‘plate waste’</a:t>
            </a:r>
          </a:p>
          <a:p>
            <a:pPr marL="360000" indent="-360000">
              <a:spcBef>
                <a:spcPts val="1200"/>
              </a:spcBef>
              <a:spcAft>
                <a:spcPts val="1200"/>
              </a:spcAft>
            </a:pPr>
            <a:r>
              <a:rPr lang="en-US" sz="2200" dirty="0" smtClean="0">
                <a:latin typeface="Helvetica" pitchFamily="34" charset="0"/>
              </a:rPr>
              <a:t>Use single-use items only once</a:t>
            </a:r>
          </a:p>
          <a:p>
            <a:pPr marL="360000" indent="-360000">
              <a:spcBef>
                <a:spcPts val="1200"/>
              </a:spcBef>
              <a:spcAft>
                <a:spcPts val="1200"/>
              </a:spcAft>
            </a:pPr>
            <a:r>
              <a:rPr lang="en-US" sz="2200" dirty="0" smtClean="0">
                <a:latin typeface="Helvetica" pitchFamily="34" charset="0"/>
              </a:rPr>
              <a:t>Use food-grade materials for </a:t>
            </a:r>
            <a:br>
              <a:rPr lang="en-US" sz="2200" dirty="0" smtClean="0">
                <a:latin typeface="Helvetica" pitchFamily="34" charset="0"/>
              </a:rPr>
            </a:br>
            <a:r>
              <a:rPr lang="en-US" sz="2200" dirty="0" smtClean="0">
                <a:latin typeface="Helvetica" pitchFamily="34" charset="0"/>
              </a:rPr>
              <a:t>storing food</a:t>
            </a:r>
          </a:p>
          <a:p>
            <a:pPr marL="360000" indent="-360000">
              <a:spcBef>
                <a:spcPts val="1200"/>
              </a:spcBef>
              <a:spcAft>
                <a:spcPts val="1200"/>
              </a:spcAft>
            </a:pPr>
            <a:r>
              <a:rPr lang="en-US" sz="2200" dirty="0" smtClean="0">
                <a:latin typeface="Helvetica" pitchFamily="34" charset="0"/>
              </a:rPr>
              <a:t>Use workplace posters to remind </a:t>
            </a:r>
            <a:br>
              <a:rPr lang="en-US" sz="2200" dirty="0" smtClean="0">
                <a:latin typeface="Helvetica" pitchFamily="34" charset="0"/>
              </a:rPr>
            </a:br>
            <a:r>
              <a:rPr lang="en-US" sz="2200" dirty="0" smtClean="0">
                <a:latin typeface="Helvetica" pitchFamily="34" charset="0"/>
              </a:rPr>
              <a:t>staff of required practices</a:t>
            </a:r>
          </a:p>
          <a:p>
            <a:pPr marL="360000" indent="-360000">
              <a:spcBef>
                <a:spcPts val="1200"/>
              </a:spcBef>
              <a:spcAft>
                <a:spcPts val="1200"/>
              </a:spcAft>
            </a:pPr>
            <a:r>
              <a:rPr lang="en-US" sz="2200" dirty="0" smtClean="0">
                <a:latin typeface="Helvetica" pitchFamily="34" charset="0"/>
              </a:rPr>
              <a:t>Inspect all food deliveries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7" name="Picture 6" descr="C:\Documents and Settings\Godaishu\Desktop\PHOTOS\2012\pizza boxes.jpg"/>
          <p:cNvPicPr/>
          <p:nvPr/>
        </p:nvPicPr>
        <p:blipFill>
          <a:blip r:embed="rId3" cstate="print"/>
          <a:stretch>
            <a:fillRect/>
          </a:stretch>
        </p:blipFill>
        <p:spPr bwMode="auto">
          <a:xfrm>
            <a:off x="6215074" y="1714488"/>
            <a:ext cx="1627544" cy="1093836"/>
          </a:xfrm>
          <a:prstGeom prst="rect">
            <a:avLst/>
          </a:prstGeom>
          <a:noFill/>
          <a:ln>
            <a:noFill/>
          </a:ln>
        </p:spPr>
      </p:pic>
      <p:pic>
        <p:nvPicPr>
          <p:cNvPr id="8" name="Picture 7" descr="coffee cups.jpg"/>
          <p:cNvPicPr/>
          <p:nvPr/>
        </p:nvPicPr>
        <p:blipFill>
          <a:blip r:embed="rId4" cstate="print"/>
          <a:stretch>
            <a:fillRect/>
          </a:stretch>
        </p:blipFill>
        <p:spPr>
          <a:xfrm>
            <a:off x="6215073" y="3000372"/>
            <a:ext cx="1583961" cy="1571636"/>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When staff serve customers:</a:t>
            </a:r>
          </a:p>
          <a:p>
            <a:pPr marL="360000" indent="-360000">
              <a:spcBef>
                <a:spcPts val="1200"/>
              </a:spcBef>
              <a:spcAft>
                <a:spcPts val="1200"/>
              </a:spcAft>
            </a:pPr>
            <a:r>
              <a:rPr lang="en-US" sz="2200" dirty="0" smtClean="0">
                <a:latin typeface="Helvetica" pitchFamily="34" charset="0"/>
              </a:rPr>
              <a:t>Keep hot food, hot</a:t>
            </a:r>
          </a:p>
          <a:p>
            <a:pPr marL="360000" indent="-360000">
              <a:spcBef>
                <a:spcPts val="1200"/>
              </a:spcBef>
              <a:spcAft>
                <a:spcPts val="1200"/>
              </a:spcAft>
            </a:pPr>
            <a:r>
              <a:rPr lang="en-US" sz="2200" dirty="0" smtClean="0">
                <a:latin typeface="Helvetica" pitchFamily="34" charset="0"/>
              </a:rPr>
              <a:t>Keep cold food, cold</a:t>
            </a:r>
          </a:p>
          <a:p>
            <a:pPr marL="360000" indent="-360000">
              <a:spcBef>
                <a:spcPts val="1200"/>
              </a:spcBef>
              <a:spcAft>
                <a:spcPts val="1200"/>
              </a:spcAft>
            </a:pPr>
            <a:r>
              <a:rPr lang="en-US" sz="2200" dirty="0" smtClean="0">
                <a:latin typeface="Helvetica" pitchFamily="34" charset="0"/>
              </a:rPr>
              <a:t>Use clean serving utensils</a:t>
            </a:r>
          </a:p>
          <a:p>
            <a:pPr marL="360000" indent="-360000">
              <a:spcBef>
                <a:spcPts val="1200"/>
              </a:spcBef>
              <a:spcAft>
                <a:spcPts val="1200"/>
              </a:spcAft>
            </a:pPr>
            <a:r>
              <a:rPr lang="en-US" sz="2200" dirty="0" smtClean="0">
                <a:latin typeface="Helvetica" pitchFamily="34" charset="0"/>
              </a:rPr>
              <a:t>Do not touch food with bare hands</a:t>
            </a:r>
          </a:p>
          <a:p>
            <a:pPr marL="360000" indent="-360000">
              <a:spcBef>
                <a:spcPts val="1200"/>
              </a:spcBef>
              <a:spcAft>
                <a:spcPts val="1200"/>
              </a:spcAft>
            </a:pPr>
            <a:r>
              <a:rPr lang="en-US" sz="2200" dirty="0" smtClean="0">
                <a:latin typeface="Helvetica" pitchFamily="34" charset="0"/>
              </a:rPr>
              <a:t>Serve on to clean plates, or in to clean containers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4" descr="dsc_0151.jpg"/>
          <p:cNvPicPr>
            <a:picLocks noChangeAspect="1"/>
          </p:cNvPicPr>
          <p:nvPr/>
        </p:nvPicPr>
        <p:blipFill>
          <a:blip r:embed="rId3" cstate="print"/>
          <a:stretch>
            <a:fillRect/>
          </a:stretch>
        </p:blipFill>
        <p:spPr>
          <a:xfrm>
            <a:off x="6143636" y="2714620"/>
            <a:ext cx="2095514" cy="1571635"/>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dirty="0" smtClean="0">
                <a:latin typeface="Helvetica" pitchFamily="34" charset="0"/>
              </a:rPr>
              <a:t>Protect plates and service items from contamination</a:t>
            </a:r>
          </a:p>
          <a:p>
            <a:pPr marL="360000" indent="-360000">
              <a:spcBef>
                <a:spcPts val="1200"/>
              </a:spcBef>
              <a:spcAft>
                <a:spcPts val="1200"/>
              </a:spcAft>
            </a:pPr>
            <a:r>
              <a:rPr lang="en-US" sz="2200" dirty="0" smtClean="0">
                <a:latin typeface="Helvetica" pitchFamily="34" charset="0"/>
              </a:rPr>
              <a:t>Apply safe personal hygiene practices</a:t>
            </a:r>
          </a:p>
          <a:p>
            <a:pPr marL="360000" indent="-360000">
              <a:spcBef>
                <a:spcPts val="1200"/>
              </a:spcBef>
              <a:spcAft>
                <a:spcPts val="1200"/>
              </a:spcAft>
            </a:pPr>
            <a:r>
              <a:rPr lang="en-US" sz="2200" dirty="0" smtClean="0">
                <a:latin typeface="Helvetica" pitchFamily="34" charset="0"/>
              </a:rPr>
              <a:t>Use different service utensils for different foods</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 name="Picture 4" descr="warm_oysters.jpg"/>
          <p:cNvPicPr>
            <a:picLocks noChangeAspect="1"/>
          </p:cNvPicPr>
          <p:nvPr/>
        </p:nvPicPr>
        <p:blipFill>
          <a:blip r:embed="rId3" cstate="print"/>
          <a:stretch>
            <a:fillRect/>
          </a:stretch>
        </p:blipFill>
        <p:spPr>
          <a:xfrm>
            <a:off x="3095636" y="3947833"/>
            <a:ext cx="2762248" cy="1838621"/>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600"/>
              </a:spcBef>
              <a:spcAft>
                <a:spcPts val="1200"/>
              </a:spcAft>
              <a:buNone/>
            </a:pPr>
            <a:r>
              <a:rPr lang="en-US" sz="2200" dirty="0" smtClean="0">
                <a:latin typeface="Helvetica" pitchFamily="34" charset="0"/>
              </a:rPr>
              <a:t>Food handlers must wash hands:</a:t>
            </a:r>
          </a:p>
          <a:p>
            <a:pPr marL="360000" indent="-360000">
              <a:spcBef>
                <a:spcPts val="600"/>
              </a:spcBef>
              <a:spcAft>
                <a:spcPts val="1200"/>
              </a:spcAft>
            </a:pPr>
            <a:r>
              <a:rPr lang="en-US" sz="2200" dirty="0" smtClean="0">
                <a:latin typeface="Helvetica" pitchFamily="34" charset="0"/>
              </a:rPr>
              <a:t>Whenever they may be contaminated: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After handling rubbish</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After cleaning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After changing nappies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After handling money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 between handling raw and cooked food</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23557" name="Picture 5" descr="C:\Users\fgvghyujil\AppData\Local\Microsoft\Windows\Temporary Internet Files\Content.IE5\3J5365UD\MC900056292[1].wmf"/>
          <p:cNvPicPr>
            <a:picLocks noChangeAspect="1" noChangeArrowheads="1"/>
          </p:cNvPicPr>
          <p:nvPr/>
        </p:nvPicPr>
        <p:blipFill>
          <a:blip r:embed="rId3" cstate="print"/>
          <a:stretch>
            <a:fillRect/>
          </a:stretch>
        </p:blipFill>
        <p:spPr bwMode="auto">
          <a:xfrm>
            <a:off x="5857884" y="2643182"/>
            <a:ext cx="2488256" cy="1657217"/>
          </a:xfrm>
          <a:prstGeom prst="rect">
            <a:avLst/>
          </a:prstGeom>
          <a:noFill/>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Autofit/>
          </a:bodyPr>
          <a:lstStyle/>
          <a:p>
            <a:pPr marL="360000" indent="-360000">
              <a:spcBef>
                <a:spcPts val="600"/>
              </a:spcBef>
              <a:spcAft>
                <a:spcPts val="1200"/>
              </a:spcAft>
            </a:pPr>
            <a:r>
              <a:rPr lang="en-US" sz="2200" dirty="0" smtClean="0">
                <a:latin typeface="Helvetica" pitchFamily="34" charset="0"/>
              </a:rPr>
              <a:t>Before starting work</a:t>
            </a:r>
          </a:p>
          <a:p>
            <a:pPr marL="360000" indent="-360000">
              <a:spcBef>
                <a:spcPts val="600"/>
              </a:spcBef>
              <a:spcAft>
                <a:spcPts val="1200"/>
              </a:spcAft>
            </a:pPr>
            <a:r>
              <a:rPr lang="en-US" sz="2200" dirty="0" smtClean="0">
                <a:latin typeface="Helvetica" pitchFamily="34" charset="0"/>
              </a:rPr>
              <a:t>Immediately after: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Smoking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Coughing or sneezing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Using  handkerchief or nasal tissue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Eating or drinking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Touching face, body opening or sore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22534" name="Picture 6" descr="C:\Users\fgvghyujil\AppData\Local\Microsoft\Windows\Temporary Internet Files\Content.IE5\3J5365UD\MC900150465[1].wmf"/>
          <p:cNvPicPr>
            <a:picLocks noChangeAspect="1" noChangeArrowheads="1"/>
          </p:cNvPicPr>
          <p:nvPr/>
        </p:nvPicPr>
        <p:blipFill>
          <a:blip r:embed="rId3" cstate="print"/>
          <a:stretch>
            <a:fillRect/>
          </a:stretch>
        </p:blipFill>
        <p:spPr bwMode="auto">
          <a:xfrm>
            <a:off x="5715008" y="1857364"/>
            <a:ext cx="2311072" cy="1539210"/>
          </a:xfrm>
          <a:prstGeom prst="rect">
            <a:avLst/>
          </a:prstGeom>
          <a:noFill/>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food safety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After absence from the work station – for example: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Taking a delivery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Taking a telephone call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Doing any other non-food task</a:t>
            </a:r>
          </a:p>
          <a:p>
            <a:pPr marL="360000" indent="-360000">
              <a:spcBef>
                <a:spcPts val="600"/>
              </a:spcBef>
              <a:spcAft>
                <a:spcPts val="1200"/>
              </a:spcAft>
            </a:pPr>
            <a:r>
              <a:rPr lang="en-US" sz="2200" dirty="0" smtClean="0">
                <a:latin typeface="Helvetica" pitchFamily="34" charset="0"/>
              </a:rPr>
              <a:t>After using the toilet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21506" name="Picture 2" descr="C:\Users\fgvghyujil\AppData\Local\Microsoft\Windows\Temporary Internet Files\Content.IE5\SIE7KNHZ\MC900371340[1].wmf"/>
          <p:cNvPicPr>
            <a:picLocks noChangeAspect="1" noChangeArrowheads="1"/>
          </p:cNvPicPr>
          <p:nvPr/>
        </p:nvPicPr>
        <p:blipFill>
          <a:blip r:embed="rId3" cstate="print"/>
          <a:stretch>
            <a:fillRect/>
          </a:stretch>
        </p:blipFill>
        <p:spPr bwMode="auto">
          <a:xfrm>
            <a:off x="5786446" y="2571744"/>
            <a:ext cx="2485595" cy="1655445"/>
          </a:xfrm>
          <a:prstGeom prst="rect">
            <a:avLst/>
          </a:prstGeom>
          <a:noFill/>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776864" cy="4525963"/>
          </a:xfrm>
        </p:spPr>
        <p:txBody>
          <a:bodyPr>
            <a:normAutofit/>
          </a:bodyPr>
          <a:lstStyle/>
          <a:p>
            <a:pPr marL="0" indent="0">
              <a:spcBef>
                <a:spcPts val="600"/>
              </a:spcBef>
              <a:spcAft>
                <a:spcPts val="1200"/>
              </a:spcAft>
              <a:buNone/>
            </a:pPr>
            <a:r>
              <a:rPr lang="en-US" sz="2200" dirty="0" smtClean="0">
                <a:latin typeface="Helvetica" pitchFamily="34" charset="0"/>
              </a:rPr>
              <a:t>Holding of prepared food:</a:t>
            </a:r>
          </a:p>
          <a:p>
            <a:pPr marL="360000" indent="-360000">
              <a:spcBef>
                <a:spcPts val="600"/>
              </a:spcBef>
              <a:spcAft>
                <a:spcPts val="1200"/>
              </a:spcAft>
            </a:pPr>
            <a:r>
              <a:rPr lang="en-US" sz="2200" dirty="0" smtClean="0">
                <a:latin typeface="Helvetica" pitchFamily="34" charset="0"/>
              </a:rPr>
              <a:t>Can relate to hot, cold or frozen items</a:t>
            </a:r>
          </a:p>
          <a:p>
            <a:pPr marL="360000" indent="-360000">
              <a:spcBef>
                <a:spcPts val="600"/>
              </a:spcBef>
              <a:spcAft>
                <a:spcPts val="1200"/>
              </a:spcAft>
            </a:pPr>
            <a:r>
              <a:rPr lang="en-US" sz="2200" dirty="0" smtClean="0">
                <a:latin typeface="Helvetica" pitchFamily="34" charset="0"/>
              </a:rPr>
              <a:t>‘Holding’ = maintaining food ready for service</a:t>
            </a:r>
          </a:p>
          <a:p>
            <a:pPr marL="360000" indent="-360000">
              <a:spcBef>
                <a:spcPts val="600"/>
              </a:spcBef>
              <a:spcAft>
                <a:spcPts val="1200"/>
              </a:spcAft>
            </a:pPr>
            <a:r>
              <a:rPr lang="en-US" sz="2200" dirty="0" smtClean="0">
                <a:latin typeface="Helvetica" pitchFamily="34" charset="0"/>
              </a:rPr>
              <a:t>‘Displaying’ = promoting food by showing what </a:t>
            </a:r>
            <a:br>
              <a:rPr lang="en-US" sz="2200" dirty="0" smtClean="0">
                <a:latin typeface="Helvetica" pitchFamily="34" charset="0"/>
              </a:rPr>
            </a:br>
            <a:r>
              <a:rPr lang="en-US" sz="2200" dirty="0" smtClean="0">
                <a:latin typeface="Helvetica" pitchFamily="34" charset="0"/>
              </a:rPr>
              <a:t>is available</a:t>
            </a:r>
          </a:p>
          <a:p>
            <a:pPr marL="360000" indent="-360000">
              <a:spcBef>
                <a:spcPts val="600"/>
              </a:spcBef>
              <a:spcAft>
                <a:spcPts val="1200"/>
              </a:spcAft>
            </a:pPr>
            <a:r>
              <a:rPr lang="en-US" sz="2200" dirty="0" smtClean="0">
                <a:latin typeface="Helvetica" pitchFamily="34" charset="0"/>
              </a:rPr>
              <a:t>Requires staff to be trained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5" name="Picture 4" descr="C:\Documents and Settings\Godaishu\Desktop\PHOTOS\2012\Buffets.jpg"/>
          <p:cNvPicPr/>
          <p:nvPr/>
        </p:nvPicPr>
        <p:blipFill>
          <a:blip r:embed="rId3" cstate="print">
            <a:lum bright="10000"/>
          </a:blip>
          <a:stretch>
            <a:fillRect/>
          </a:stretch>
        </p:blipFill>
        <p:spPr bwMode="auto">
          <a:xfrm>
            <a:off x="6948762" y="2000240"/>
            <a:ext cx="1623766" cy="1092352"/>
          </a:xfrm>
          <a:prstGeom prst="rect">
            <a:avLst/>
          </a:prstGeom>
          <a:noFill/>
          <a:ln>
            <a:noFill/>
          </a:ln>
        </p:spPr>
      </p:pic>
      <p:pic>
        <p:nvPicPr>
          <p:cNvPr id="6" name="Picture 5" descr="C:\Documents and Settings\Godaishu\Desktop\PHOTOS\Culinary 2012\Commercial kitchen7.jpg"/>
          <p:cNvPicPr/>
          <p:nvPr/>
        </p:nvPicPr>
        <p:blipFill>
          <a:blip r:embed="rId4" cstate="print"/>
          <a:srcRect/>
          <a:stretch>
            <a:fillRect/>
          </a:stretch>
        </p:blipFill>
        <p:spPr bwMode="auto">
          <a:xfrm>
            <a:off x="6948516" y="3357562"/>
            <a:ext cx="1624012" cy="1614487"/>
          </a:xfrm>
          <a:prstGeom prst="rect">
            <a:avLst/>
          </a:prstGeom>
          <a:noFill/>
          <a:ln w="9525">
            <a:noFill/>
            <a:miter lim="800000"/>
            <a:headEnd/>
            <a:tailEnd/>
          </a:ln>
        </p:spPr>
      </p:pic>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Equipment to hold or display cold food:</a:t>
            </a:r>
          </a:p>
          <a:p>
            <a:pPr marL="360000" indent="-360000">
              <a:spcBef>
                <a:spcPts val="600"/>
              </a:spcBef>
              <a:spcAft>
                <a:spcPts val="1200"/>
              </a:spcAft>
            </a:pPr>
            <a:r>
              <a:rPr lang="en-US" sz="2200" dirty="0" smtClean="0">
                <a:latin typeface="Helvetica" pitchFamily="34" charset="0"/>
              </a:rPr>
              <a:t>Salad wells</a:t>
            </a:r>
          </a:p>
          <a:p>
            <a:pPr marL="360000" indent="-360000">
              <a:spcBef>
                <a:spcPts val="600"/>
              </a:spcBef>
              <a:spcAft>
                <a:spcPts val="1200"/>
              </a:spcAft>
            </a:pPr>
            <a:r>
              <a:rPr lang="en-US" sz="2200" dirty="0" smtClean="0">
                <a:latin typeface="Helvetica" pitchFamily="34" charset="0"/>
              </a:rPr>
              <a:t>Cold plates</a:t>
            </a:r>
          </a:p>
          <a:p>
            <a:pPr marL="360000" indent="-360000">
              <a:spcBef>
                <a:spcPts val="600"/>
              </a:spcBef>
              <a:spcAft>
                <a:spcPts val="1200"/>
              </a:spcAft>
            </a:pPr>
            <a:r>
              <a:rPr lang="en-US" sz="2200" dirty="0" smtClean="0">
                <a:latin typeface="Helvetica" pitchFamily="34" charset="0"/>
              </a:rPr>
              <a:t>Refrigerated cabinets</a:t>
            </a:r>
          </a:p>
          <a:p>
            <a:pPr marL="360000" indent="-360000">
              <a:spcBef>
                <a:spcPts val="600"/>
              </a:spcBef>
              <a:spcAft>
                <a:spcPts val="1200"/>
              </a:spcAft>
            </a:pPr>
            <a:r>
              <a:rPr lang="en-US" sz="2200" dirty="0" smtClean="0">
                <a:latin typeface="Helvetica" pitchFamily="34" charset="0"/>
              </a:rPr>
              <a:t>Refrigerated Bain maries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32771" name="Picture 3" descr="C:\Documents and Settings\danielc\Desktop\380x285-cz5t.jpg"/>
          <p:cNvPicPr>
            <a:picLocks noChangeAspect="1" noChangeArrowheads="1"/>
          </p:cNvPicPr>
          <p:nvPr/>
        </p:nvPicPr>
        <p:blipFill>
          <a:blip r:embed="rId3" cstate="print">
            <a:lum bright="10000"/>
          </a:blip>
          <a:srcRect/>
          <a:stretch>
            <a:fillRect/>
          </a:stretch>
        </p:blipFill>
        <p:spPr bwMode="auto">
          <a:xfrm>
            <a:off x="5214942" y="2214554"/>
            <a:ext cx="2539988" cy="1904991"/>
          </a:xfrm>
          <a:prstGeom prst="rect">
            <a:avLst/>
          </a:prstGeom>
          <a:noFill/>
        </p:spPr>
      </p:pic>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using cold food display holding units:</a:t>
            </a:r>
          </a:p>
          <a:p>
            <a:pPr marL="360000" indent="-360000">
              <a:spcBef>
                <a:spcPts val="600"/>
              </a:spcBef>
              <a:spcAft>
                <a:spcPts val="1200"/>
              </a:spcAft>
            </a:pPr>
            <a:r>
              <a:rPr lang="en-US" sz="2200" dirty="0" smtClean="0">
                <a:latin typeface="Helvetica" pitchFamily="34" charset="0"/>
              </a:rPr>
              <a:t>Food should be held at or below 5˚C</a:t>
            </a:r>
          </a:p>
          <a:p>
            <a:pPr marL="360000" indent="-360000">
              <a:spcBef>
                <a:spcPts val="600"/>
              </a:spcBef>
              <a:spcAft>
                <a:spcPts val="1200"/>
              </a:spcAft>
            </a:pPr>
            <a:r>
              <a:rPr lang="en-US" sz="2200" dirty="0" smtClean="0">
                <a:latin typeface="Helvetica" pitchFamily="34" charset="0"/>
              </a:rPr>
              <a:t>Food should be covered or wrapped</a:t>
            </a:r>
          </a:p>
          <a:p>
            <a:pPr marL="360000" indent="-360000">
              <a:spcBef>
                <a:spcPts val="600"/>
              </a:spcBef>
              <a:spcAft>
                <a:spcPts val="1200"/>
              </a:spcAft>
            </a:pPr>
            <a:r>
              <a:rPr lang="en-US" sz="2200" dirty="0" smtClean="0">
                <a:latin typeface="Helvetica" pitchFamily="34" charset="0"/>
              </a:rPr>
              <a:t>Temperatures should be checked regularly</a:t>
            </a:r>
          </a:p>
          <a:p>
            <a:pPr marL="360000" indent="-360000">
              <a:spcBef>
                <a:spcPts val="600"/>
              </a:spcBef>
              <a:spcAft>
                <a:spcPts val="1200"/>
              </a:spcAft>
            </a:pPr>
            <a:r>
              <a:rPr lang="en-US" sz="2200" dirty="0" smtClean="0">
                <a:latin typeface="Helvetica" pitchFamily="34" charset="0"/>
              </a:rPr>
              <a:t>‘Sneeze guards’ must be in place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33794" name="Picture 2" descr="I:\Overseas Projects\PHOTOS\2012\Culinary 2012\Others\1209598_thermometer[1].jpg"/>
          <p:cNvPicPr>
            <a:picLocks noChangeAspect="1" noChangeArrowheads="1"/>
          </p:cNvPicPr>
          <p:nvPr/>
        </p:nvPicPr>
        <p:blipFill>
          <a:blip r:embed="rId3" cstate="print"/>
          <a:srcRect l="19347" r="18744"/>
          <a:stretch>
            <a:fillRect/>
          </a:stretch>
        </p:blipFill>
        <p:spPr bwMode="auto">
          <a:xfrm>
            <a:off x="7000892" y="1785926"/>
            <a:ext cx="1143008" cy="1846259"/>
          </a:xfrm>
          <a:prstGeom prst="rect">
            <a:avLst/>
          </a:prstGeom>
          <a:noFill/>
        </p:spPr>
      </p:pic>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Pre-chill prior to use</a:t>
            </a:r>
          </a:p>
          <a:p>
            <a:pPr marL="360000" indent="-360000">
              <a:spcBef>
                <a:spcPts val="600"/>
              </a:spcBef>
              <a:spcAft>
                <a:spcPts val="1200"/>
              </a:spcAft>
            </a:pPr>
            <a:r>
              <a:rPr lang="en-US" sz="2200" dirty="0" smtClean="0">
                <a:latin typeface="Helvetica" pitchFamily="34" charset="0"/>
              </a:rPr>
              <a:t>Pre-chill food to be put in the units</a:t>
            </a:r>
          </a:p>
          <a:p>
            <a:pPr marL="360000" indent="-360000">
              <a:spcBef>
                <a:spcPts val="600"/>
              </a:spcBef>
              <a:spcAft>
                <a:spcPts val="1200"/>
              </a:spcAft>
            </a:pPr>
            <a:r>
              <a:rPr lang="en-US" sz="2200" dirty="0" smtClean="0">
                <a:latin typeface="Helvetica" pitchFamily="34" charset="0"/>
              </a:rPr>
              <a:t>Pre-prepared sandwiches and rolls should be </a:t>
            </a:r>
            <a:br>
              <a:rPr lang="en-US" sz="2200" dirty="0" smtClean="0">
                <a:latin typeface="Helvetica" pitchFamily="34" charset="0"/>
              </a:rPr>
            </a:br>
            <a:r>
              <a:rPr lang="en-US" sz="2200" dirty="0" smtClean="0">
                <a:latin typeface="Helvetica" pitchFamily="34" charset="0"/>
              </a:rPr>
              <a:t>refrigerated</a:t>
            </a:r>
          </a:p>
          <a:p>
            <a:pPr marL="360000" indent="-360000">
              <a:spcBef>
                <a:spcPts val="600"/>
              </a:spcBef>
              <a:spcAft>
                <a:spcPts val="1200"/>
              </a:spcAft>
            </a:pPr>
            <a:r>
              <a:rPr lang="en-US" sz="2200" dirty="0" smtClean="0">
                <a:latin typeface="Helvetica" pitchFamily="34" charset="0"/>
              </a:rPr>
              <a:t>Temperature records of units will have to be </a:t>
            </a:r>
            <a:br>
              <a:rPr lang="en-US" sz="2200" dirty="0" smtClean="0">
                <a:latin typeface="Helvetica" pitchFamily="34" charset="0"/>
              </a:rPr>
            </a:br>
            <a:r>
              <a:rPr lang="en-US" sz="2200" dirty="0" smtClean="0">
                <a:latin typeface="Helvetica" pitchFamily="34" charset="0"/>
              </a:rPr>
              <a:t>maintained where a Food Safety Plan or Program </a:t>
            </a:r>
            <a:br>
              <a:rPr lang="en-US" sz="2200" dirty="0" smtClean="0">
                <a:latin typeface="Helvetica" pitchFamily="34" charset="0"/>
              </a:rPr>
            </a:br>
            <a:r>
              <a:rPr lang="en-US" sz="2200" dirty="0" smtClean="0">
                <a:latin typeface="Helvetica" pitchFamily="34" charset="0"/>
              </a:rPr>
              <a:t>is in place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34818" name="Picture 2" descr="I:\Overseas Projects\PHOTOS\2012\Culinary 2012\Others\Pastry display cooler.JPG"/>
          <p:cNvPicPr>
            <a:picLocks noChangeAspect="1" noChangeArrowheads="1"/>
          </p:cNvPicPr>
          <p:nvPr/>
        </p:nvPicPr>
        <p:blipFill>
          <a:blip r:embed="rId3" cstate="print"/>
          <a:srcRect/>
          <a:stretch>
            <a:fillRect/>
          </a:stretch>
        </p:blipFill>
        <p:spPr bwMode="auto">
          <a:xfrm>
            <a:off x="6228184" y="980728"/>
            <a:ext cx="1626897" cy="1550975"/>
          </a:xfrm>
          <a:prstGeom prst="rect">
            <a:avLst/>
          </a:prstGeom>
          <a:noFill/>
        </p:spPr>
      </p:pic>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using frozen food display/holding units:</a:t>
            </a:r>
          </a:p>
          <a:p>
            <a:pPr marL="360000" indent="-360000">
              <a:spcBef>
                <a:spcPts val="600"/>
              </a:spcBef>
              <a:spcAft>
                <a:spcPts val="1200"/>
              </a:spcAft>
            </a:pPr>
            <a:r>
              <a:rPr lang="en-US" sz="2200" dirty="0" smtClean="0">
                <a:latin typeface="Helvetica" pitchFamily="34" charset="0"/>
              </a:rPr>
              <a:t>Food must maintain a ‘hard frozen’ state</a:t>
            </a:r>
          </a:p>
          <a:p>
            <a:pPr marL="360000" indent="-360000">
              <a:spcBef>
                <a:spcPts val="600"/>
              </a:spcBef>
              <a:spcAft>
                <a:spcPts val="1200"/>
              </a:spcAft>
            </a:pPr>
            <a:r>
              <a:rPr lang="en-US" sz="2200" dirty="0" smtClean="0">
                <a:latin typeface="Helvetica" pitchFamily="34" charset="0"/>
              </a:rPr>
              <a:t>A temperature of -15˚C or below is recommended</a:t>
            </a:r>
          </a:p>
          <a:p>
            <a:pPr marL="360000" indent="-360000">
              <a:spcBef>
                <a:spcPts val="600"/>
              </a:spcBef>
              <a:spcAft>
                <a:spcPts val="1200"/>
              </a:spcAft>
            </a:pPr>
            <a:r>
              <a:rPr lang="en-US" sz="2200" dirty="0" smtClean="0">
                <a:latin typeface="Helvetica" pitchFamily="34" charset="0"/>
              </a:rPr>
              <a:t>Temperature records of units will have to be maintained where a Food Safety Plan or Program is in place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35842" name="Picture 2" descr="C:\Documents and Settings\danielc\Local Settings\Temporary Internet Files\Content.IE5\3DV3UKH9\MC900304769[1].wmf"/>
          <p:cNvPicPr>
            <a:picLocks noChangeAspect="1" noChangeArrowheads="1"/>
          </p:cNvPicPr>
          <p:nvPr/>
        </p:nvPicPr>
        <p:blipFill>
          <a:blip r:embed="rId3" cstate="print"/>
          <a:srcRect/>
          <a:stretch>
            <a:fillRect/>
          </a:stretch>
        </p:blipFill>
        <p:spPr bwMode="auto">
          <a:xfrm>
            <a:off x="6858016" y="1214422"/>
            <a:ext cx="1071570" cy="1351283"/>
          </a:xfrm>
          <a:prstGeom prst="rect">
            <a:avLst/>
          </a:prstGeom>
          <a:noFill/>
        </p:spPr>
      </p:pic>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Equipment to hold or display hot food:</a:t>
            </a:r>
          </a:p>
          <a:p>
            <a:pPr marL="360000" indent="-360000">
              <a:spcBef>
                <a:spcPts val="600"/>
              </a:spcBef>
              <a:spcAft>
                <a:spcPts val="1200"/>
              </a:spcAft>
            </a:pPr>
            <a:r>
              <a:rPr lang="en-US" sz="2200" dirty="0" smtClean="0">
                <a:latin typeface="Helvetica" pitchFamily="34" charset="0"/>
              </a:rPr>
              <a:t>Bain Maries</a:t>
            </a:r>
          </a:p>
          <a:p>
            <a:pPr marL="360000" indent="-360000">
              <a:spcBef>
                <a:spcPts val="600"/>
              </a:spcBef>
              <a:spcAft>
                <a:spcPts val="1200"/>
              </a:spcAft>
            </a:pPr>
            <a:r>
              <a:rPr lang="en-US" sz="2200" dirty="0" smtClean="0">
                <a:latin typeface="Helvetica" pitchFamily="34" charset="0"/>
              </a:rPr>
              <a:t>Pie warmers</a:t>
            </a:r>
          </a:p>
          <a:p>
            <a:pPr marL="360000" indent="-360000">
              <a:spcBef>
                <a:spcPts val="600"/>
              </a:spcBef>
              <a:spcAft>
                <a:spcPts val="1200"/>
              </a:spcAft>
            </a:pPr>
            <a:r>
              <a:rPr lang="en-US" sz="2200" dirty="0" smtClean="0">
                <a:latin typeface="Helvetica" pitchFamily="34" charset="0"/>
              </a:rPr>
              <a:t>Hot food cabinets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36867" name="Picture 3" descr="I:\Overseas Projects\PHOTOS\2012\Culinary 2012\Buffet Food\Dale Buffet 2010 013.jpg"/>
          <p:cNvPicPr>
            <a:picLocks noChangeAspect="1" noChangeArrowheads="1"/>
          </p:cNvPicPr>
          <p:nvPr/>
        </p:nvPicPr>
        <p:blipFill>
          <a:blip r:embed="rId3" cstate="print">
            <a:lum contrast="20000"/>
          </a:blip>
          <a:srcRect/>
          <a:stretch>
            <a:fillRect/>
          </a:stretch>
        </p:blipFill>
        <p:spPr bwMode="auto">
          <a:xfrm>
            <a:off x="5715008" y="3500438"/>
            <a:ext cx="1959301" cy="1469601"/>
          </a:xfrm>
          <a:prstGeom prst="rect">
            <a:avLst/>
          </a:prstGeom>
          <a:noFill/>
        </p:spPr>
      </p:pic>
      <p:pic>
        <p:nvPicPr>
          <p:cNvPr id="36868" name="Picture 4" descr="I:\Overseas Projects\PHOTOS\2012\Culinary 2012\Buffet Food\Dale Buffet 2010 012.jpg"/>
          <p:cNvPicPr>
            <a:picLocks noChangeAspect="1" noChangeArrowheads="1"/>
          </p:cNvPicPr>
          <p:nvPr/>
        </p:nvPicPr>
        <p:blipFill>
          <a:blip r:embed="rId4" cstate="print">
            <a:lum contrast="20000"/>
          </a:blip>
          <a:srcRect/>
          <a:stretch>
            <a:fillRect/>
          </a:stretch>
        </p:blipFill>
        <p:spPr bwMode="auto">
          <a:xfrm>
            <a:off x="5715008" y="1928801"/>
            <a:ext cx="1928826" cy="1446743"/>
          </a:xfrm>
          <a:prstGeom prst="rect">
            <a:avLst/>
          </a:prstGeom>
          <a:noFill/>
        </p:spPr>
      </p:pic>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using hot food display holding units:</a:t>
            </a:r>
          </a:p>
          <a:p>
            <a:pPr marL="360000" indent="-360000">
              <a:spcBef>
                <a:spcPts val="600"/>
              </a:spcBef>
              <a:spcAft>
                <a:spcPts val="1200"/>
              </a:spcAft>
            </a:pPr>
            <a:r>
              <a:rPr lang="en-US" sz="2200" dirty="0" smtClean="0">
                <a:latin typeface="Helvetica" pitchFamily="34" charset="0"/>
              </a:rPr>
              <a:t>Food should be held at or above 60˚C</a:t>
            </a:r>
          </a:p>
          <a:p>
            <a:pPr marL="360000" indent="-360000">
              <a:spcBef>
                <a:spcPts val="600"/>
              </a:spcBef>
              <a:spcAft>
                <a:spcPts val="1200"/>
              </a:spcAft>
            </a:pPr>
            <a:r>
              <a:rPr lang="en-US" sz="2200" dirty="0" smtClean="0">
                <a:latin typeface="Helvetica" pitchFamily="34" charset="0"/>
              </a:rPr>
              <a:t>Pre-heat food to be put in the units</a:t>
            </a:r>
          </a:p>
          <a:p>
            <a:pPr marL="360000" indent="-360000">
              <a:spcBef>
                <a:spcPts val="600"/>
              </a:spcBef>
              <a:spcAft>
                <a:spcPts val="1200"/>
              </a:spcAft>
            </a:pPr>
            <a:r>
              <a:rPr lang="en-US" sz="2200" dirty="0" smtClean="0">
                <a:latin typeface="Helvetica" pitchFamily="34" charset="0"/>
              </a:rPr>
              <a:t>Pre-heat the units prior to use</a:t>
            </a:r>
          </a:p>
          <a:p>
            <a:pPr marL="360000" indent="-360000">
              <a:spcBef>
                <a:spcPts val="600"/>
              </a:spcBef>
              <a:spcAft>
                <a:spcPts val="1200"/>
              </a:spcAft>
            </a:pPr>
            <a:r>
              <a:rPr lang="en-US" sz="2200" dirty="0" smtClean="0">
                <a:latin typeface="Helvetica" pitchFamily="34" charset="0"/>
              </a:rPr>
              <a:t>Food should be served in the order it was placed into the units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37890" name="Picture 2" descr="I:\Overseas Projects\PHOTOS\2012\Culinary 2012\Buffet Food\Dale Buffet 2010 014.jpg"/>
          <p:cNvPicPr>
            <a:picLocks noChangeAspect="1" noChangeArrowheads="1"/>
          </p:cNvPicPr>
          <p:nvPr/>
        </p:nvPicPr>
        <p:blipFill>
          <a:blip r:embed="rId3" cstate="print"/>
          <a:srcRect/>
          <a:stretch>
            <a:fillRect/>
          </a:stretch>
        </p:blipFill>
        <p:spPr bwMode="auto">
          <a:xfrm>
            <a:off x="6072198" y="2214554"/>
            <a:ext cx="1984352" cy="1488391"/>
          </a:xfrm>
          <a:prstGeom prst="rect">
            <a:avLst/>
          </a:prstGeom>
          <a:noFill/>
        </p:spPr>
      </p:pic>
      <p:pic>
        <p:nvPicPr>
          <p:cNvPr id="37891" name="Picture 3" descr="I:\Overseas Projects\PHOTOS\2012\Culinary 2012\Buffet Food\Dale Buffet 2010 015.jpg"/>
          <p:cNvPicPr>
            <a:picLocks noChangeAspect="1" noChangeArrowheads="1"/>
          </p:cNvPicPr>
          <p:nvPr/>
        </p:nvPicPr>
        <p:blipFill>
          <a:blip r:embed="rId4" cstate="print"/>
          <a:srcRect/>
          <a:stretch>
            <a:fillRect/>
          </a:stretch>
        </p:blipFill>
        <p:spPr bwMode="auto">
          <a:xfrm>
            <a:off x="6072198" y="2214554"/>
            <a:ext cx="1984352" cy="1488391"/>
          </a:xfrm>
          <a:prstGeom prst="rect">
            <a:avLst/>
          </a:prstGeom>
          <a:noFill/>
        </p:spPr>
      </p:pic>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Hold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Left-</a:t>
            </a:r>
            <a:r>
              <a:rPr lang="en-US" sz="2200" dirty="0" err="1" smtClean="0">
                <a:latin typeface="Helvetica" pitchFamily="34" charset="0"/>
              </a:rPr>
              <a:t>overs</a:t>
            </a:r>
            <a:r>
              <a:rPr lang="en-US" sz="2200" dirty="0" smtClean="0">
                <a:latin typeface="Helvetica" pitchFamily="34" charset="0"/>
              </a:rPr>
              <a:t> should be served before freshly cooked food</a:t>
            </a:r>
          </a:p>
          <a:p>
            <a:pPr marL="360000" indent="-360000">
              <a:spcBef>
                <a:spcPts val="600"/>
              </a:spcBef>
              <a:spcAft>
                <a:spcPts val="1200"/>
              </a:spcAft>
            </a:pPr>
            <a:r>
              <a:rPr lang="en-US" sz="2200" dirty="0" smtClean="0">
                <a:latin typeface="Helvetica" pitchFamily="34" charset="0"/>
              </a:rPr>
              <a:t>Temperatures checked at least daily</a:t>
            </a:r>
          </a:p>
          <a:p>
            <a:pPr marL="360000" indent="-360000">
              <a:spcBef>
                <a:spcPts val="600"/>
              </a:spcBef>
              <a:spcAft>
                <a:spcPts val="1200"/>
              </a:spcAft>
            </a:pPr>
            <a:r>
              <a:rPr lang="en-US" sz="2200" dirty="0" smtClean="0">
                <a:latin typeface="Helvetica" pitchFamily="34" charset="0"/>
              </a:rPr>
              <a:t>Never top-up containers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38914" name="Picture 2" descr="I:\Overseas Projects\PHOTOS\2012\Culinary 2012\Buffet Food\Dale Buffet 2010 011.jpg"/>
          <p:cNvPicPr>
            <a:picLocks noChangeAspect="1" noChangeArrowheads="1"/>
          </p:cNvPicPr>
          <p:nvPr/>
        </p:nvPicPr>
        <p:blipFill>
          <a:blip r:embed="rId3" cstate="print"/>
          <a:srcRect/>
          <a:stretch>
            <a:fillRect/>
          </a:stretch>
        </p:blipFill>
        <p:spPr bwMode="auto">
          <a:xfrm>
            <a:off x="5364088" y="3573016"/>
            <a:ext cx="2297096" cy="1722969"/>
          </a:xfrm>
          <a:prstGeom prst="rect">
            <a:avLst/>
          </a:prstGeom>
          <a:noFill/>
        </p:spPr>
      </p:pic>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Reheat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Re-heating previously cooked food for service:</a:t>
            </a:r>
          </a:p>
          <a:p>
            <a:pPr marL="360000" indent="-360000">
              <a:spcBef>
                <a:spcPts val="600"/>
              </a:spcBef>
              <a:spcAft>
                <a:spcPts val="1200"/>
              </a:spcAft>
            </a:pPr>
            <a:r>
              <a:rPr lang="en-US" sz="2200" dirty="0" smtClean="0">
                <a:latin typeface="Helvetica" pitchFamily="34" charset="0"/>
              </a:rPr>
              <a:t>Is legal</a:t>
            </a:r>
          </a:p>
          <a:p>
            <a:pPr marL="360000" indent="-360000">
              <a:spcBef>
                <a:spcPts val="600"/>
              </a:spcBef>
              <a:spcAft>
                <a:spcPts val="1200"/>
              </a:spcAft>
            </a:pPr>
            <a:r>
              <a:rPr lang="en-US" sz="2200" dirty="0" smtClean="0">
                <a:latin typeface="Helvetica" pitchFamily="34" charset="0"/>
              </a:rPr>
              <a:t>Can apply to re-heating left-overs</a:t>
            </a:r>
          </a:p>
          <a:p>
            <a:pPr marL="360000" indent="-360000">
              <a:spcBef>
                <a:spcPts val="600"/>
              </a:spcBef>
              <a:spcAft>
                <a:spcPts val="1200"/>
              </a:spcAft>
            </a:pPr>
            <a:r>
              <a:rPr lang="en-US" sz="2200" dirty="0" smtClean="0">
                <a:latin typeface="Helvetica" pitchFamily="34" charset="0"/>
              </a:rPr>
              <a:t>Can apply to re-heating food intentionally cooked for later re-heating and service</a:t>
            </a:r>
          </a:p>
          <a:p>
            <a:pPr marL="360000" indent="-360000">
              <a:spcBef>
                <a:spcPts val="600"/>
              </a:spcBef>
              <a:spcAft>
                <a:spcPts val="1200"/>
              </a:spcAft>
            </a:pPr>
            <a:r>
              <a:rPr lang="en-US" sz="2200" dirty="0" smtClean="0">
                <a:latin typeface="Helvetica" pitchFamily="34" charset="0"/>
              </a:rPr>
              <a:t>Food can only be re-heated once and must then be discarded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39939" name="Picture 3" descr="C:\Documents and Settings\danielc\Local Settings\Temporary Internet Files\Content.IE5\3DV3UKH9\MC900030350[1].wmf"/>
          <p:cNvPicPr>
            <a:picLocks noChangeAspect="1" noChangeArrowheads="1"/>
          </p:cNvPicPr>
          <p:nvPr/>
        </p:nvPicPr>
        <p:blipFill>
          <a:blip r:embed="rId3" cstate="print"/>
          <a:srcRect/>
          <a:stretch>
            <a:fillRect/>
          </a:stretch>
        </p:blipFill>
        <p:spPr bwMode="auto">
          <a:xfrm>
            <a:off x="6786578" y="1571612"/>
            <a:ext cx="1752905" cy="1271016"/>
          </a:xfrm>
          <a:prstGeom prst="rect">
            <a:avLst/>
          </a:prstGeom>
          <a:noFill/>
        </p:spPr>
      </p:pic>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Reheat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Protocols for re-heating previously cooked food:</a:t>
            </a:r>
          </a:p>
          <a:p>
            <a:pPr marL="360000" indent="-360000">
              <a:spcBef>
                <a:spcPts val="600"/>
              </a:spcBef>
              <a:spcAft>
                <a:spcPts val="1200"/>
              </a:spcAft>
            </a:pPr>
            <a:r>
              <a:rPr lang="en-US" sz="2200" dirty="0" smtClean="0">
                <a:latin typeface="Helvetica" pitchFamily="34" charset="0"/>
              </a:rPr>
              <a:t>Re-heat in small quantities – not in bulk</a:t>
            </a:r>
          </a:p>
          <a:p>
            <a:pPr marL="360000" indent="-360000">
              <a:spcBef>
                <a:spcPts val="600"/>
              </a:spcBef>
              <a:spcAft>
                <a:spcPts val="1200"/>
              </a:spcAft>
            </a:pPr>
            <a:r>
              <a:rPr lang="en-US" sz="2200" dirty="0" smtClean="0">
                <a:latin typeface="Helvetica" pitchFamily="34" charset="0"/>
              </a:rPr>
              <a:t>Follow prescribed workplace practices – such 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Microwave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Pot on stove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 an oven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Maintain FSP records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40962" name="Picture 2" descr="C:\Documents and Settings\danielc\Local Settings\Temporary Internet Files\Content.IE5\UMECW9PM\MC900237768[1].wmf"/>
          <p:cNvPicPr>
            <a:picLocks noChangeAspect="1" noChangeArrowheads="1"/>
          </p:cNvPicPr>
          <p:nvPr/>
        </p:nvPicPr>
        <p:blipFill>
          <a:blip r:embed="rId3" cstate="print"/>
          <a:srcRect/>
          <a:stretch>
            <a:fillRect/>
          </a:stretch>
        </p:blipFill>
        <p:spPr bwMode="auto">
          <a:xfrm>
            <a:off x="5929322" y="3286124"/>
            <a:ext cx="2219608" cy="2230170"/>
          </a:xfrm>
          <a:prstGeom prst="rect">
            <a:avLst/>
          </a:prstGeom>
          <a:noFill/>
        </p:spPr>
      </p:pic>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Reheat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Never use bain maries/pie warmers for re-heating – these units are designed ONLY as hot </a:t>
            </a:r>
            <a:r>
              <a:rPr lang="en-US" sz="2200" i="1" dirty="0" smtClean="0">
                <a:latin typeface="Helvetica" pitchFamily="34" charset="0"/>
              </a:rPr>
              <a:t>holding</a:t>
            </a:r>
            <a:r>
              <a:rPr lang="en-US" sz="2200" dirty="0" smtClean="0">
                <a:latin typeface="Helvetica" pitchFamily="34" charset="0"/>
              </a:rPr>
              <a:t> devices (not as re-heating units)</a:t>
            </a:r>
          </a:p>
          <a:p>
            <a:pPr marL="360000" indent="-360000">
              <a:spcBef>
                <a:spcPts val="600"/>
              </a:spcBef>
              <a:spcAft>
                <a:spcPts val="1200"/>
              </a:spcAft>
            </a:pPr>
            <a:r>
              <a:rPr lang="en-US" sz="2200" dirty="0" smtClean="0">
                <a:latin typeface="Helvetica" pitchFamily="34" charset="0"/>
              </a:rPr>
              <a:t>Protect food from contamination while it is re-heating</a:t>
            </a:r>
          </a:p>
          <a:p>
            <a:pPr marL="360000" indent="-360000">
              <a:spcBef>
                <a:spcPts val="600"/>
              </a:spcBef>
              <a:spcAft>
                <a:spcPts val="1200"/>
              </a:spcAft>
            </a:pPr>
            <a:r>
              <a:rPr lang="en-US" sz="2200" dirty="0" smtClean="0">
                <a:latin typeface="Helvetica" pitchFamily="34" charset="0"/>
              </a:rPr>
              <a:t>Hot food must be held at or above 60˚C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41986" name="Picture 2" descr="C:\Documents and Settings\danielc\Local Settings\Temporary Internet Files\Content.IE5\112MAXTI\MC900030353[1].wmf"/>
          <p:cNvPicPr>
            <a:picLocks noChangeAspect="1" noChangeArrowheads="1"/>
          </p:cNvPicPr>
          <p:nvPr/>
        </p:nvPicPr>
        <p:blipFill>
          <a:blip r:embed="rId3" cstate="print"/>
          <a:srcRect/>
          <a:stretch>
            <a:fillRect/>
          </a:stretch>
        </p:blipFill>
        <p:spPr bwMode="auto">
          <a:xfrm>
            <a:off x="3643306" y="4000504"/>
            <a:ext cx="1727302" cy="2070202"/>
          </a:xfrm>
          <a:prstGeom prst="rect">
            <a:avLst/>
          </a:prstGeom>
          <a:noFill/>
        </p:spPr>
      </p:pic>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Reheat menu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Re-heat immediately before service – do not heat in bulk in advance and hold</a:t>
            </a:r>
          </a:p>
          <a:p>
            <a:pPr marL="360000" indent="-360000">
              <a:spcBef>
                <a:spcPts val="600"/>
              </a:spcBef>
              <a:spcAft>
                <a:spcPts val="1200"/>
              </a:spcAft>
            </a:pPr>
            <a:r>
              <a:rPr lang="en-US" sz="2200" dirty="0" smtClean="0">
                <a:latin typeface="Helvetica" pitchFamily="34" charset="0"/>
              </a:rPr>
              <a:t>Stir wet dishes</a:t>
            </a:r>
          </a:p>
          <a:p>
            <a:pPr marL="360000" indent="-360000">
              <a:spcBef>
                <a:spcPts val="600"/>
              </a:spcBef>
              <a:spcAft>
                <a:spcPts val="1200"/>
              </a:spcAft>
            </a:pPr>
            <a:r>
              <a:rPr lang="en-US" sz="2200" dirty="0" smtClean="0"/>
              <a:t>F</a:t>
            </a:r>
            <a:r>
              <a:rPr lang="en-US" sz="2200" dirty="0" smtClean="0">
                <a:latin typeface="Helvetica" pitchFamily="34" charset="0"/>
              </a:rPr>
              <a:t>ood from cool room heated to 70˚C for 2 minutes before holding</a:t>
            </a:r>
          </a:p>
          <a:p>
            <a:pPr marL="360000" indent="-360000">
              <a:spcBef>
                <a:spcPts val="600"/>
              </a:spcBef>
              <a:spcAft>
                <a:spcPts val="1200"/>
              </a:spcAft>
            </a:pPr>
            <a:r>
              <a:rPr lang="en-US" sz="2200" dirty="0" smtClean="0">
                <a:latin typeface="Helvetica" pitchFamily="34" charset="0"/>
              </a:rPr>
              <a:t>Use a food thermometer to check re-heating temperatures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43010" name="Picture 2" descr="C:\Documents and Settings\danielc\Local Settings\Temporary Internet Files\Content.IE5\3DV3UKH9\MC900324748[1].wmf"/>
          <p:cNvPicPr>
            <a:picLocks noChangeAspect="1" noChangeArrowheads="1"/>
          </p:cNvPicPr>
          <p:nvPr/>
        </p:nvPicPr>
        <p:blipFill>
          <a:blip r:embed="rId3" cstate="print"/>
          <a:srcRect/>
          <a:stretch>
            <a:fillRect/>
          </a:stretch>
        </p:blipFill>
        <p:spPr bwMode="auto">
          <a:xfrm>
            <a:off x="3500430" y="4643446"/>
            <a:ext cx="1809598" cy="1815084"/>
          </a:xfrm>
          <a:prstGeom prst="rect">
            <a:avLst/>
          </a:prstGeom>
          <a:noFill/>
        </p:spPr>
      </p:pic>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determine demand or expected volume:</a:t>
            </a:r>
          </a:p>
          <a:p>
            <a:pPr marL="360000" indent="-360000">
              <a:spcBef>
                <a:spcPts val="600"/>
              </a:spcBef>
              <a:spcAft>
                <a:spcPts val="1200"/>
              </a:spcAft>
            </a:pPr>
            <a:r>
              <a:rPr lang="en-US" sz="2200" dirty="0" smtClean="0">
                <a:latin typeface="Helvetica" pitchFamily="34" charset="0"/>
              </a:rPr>
              <a:t>Check reservations</a:t>
            </a:r>
          </a:p>
          <a:p>
            <a:pPr marL="360000" indent="-360000">
              <a:spcBef>
                <a:spcPts val="600"/>
              </a:spcBef>
              <a:spcAft>
                <a:spcPts val="1200"/>
              </a:spcAft>
            </a:pPr>
            <a:r>
              <a:rPr lang="en-US" sz="2200" dirty="0" smtClean="0">
                <a:latin typeface="Helvetica" pitchFamily="34" charset="0"/>
              </a:rPr>
              <a:t>Read function sheet</a:t>
            </a:r>
          </a:p>
          <a:p>
            <a:pPr marL="360000" indent="-360000">
              <a:spcBef>
                <a:spcPts val="600"/>
              </a:spcBef>
              <a:spcAft>
                <a:spcPts val="1200"/>
              </a:spcAft>
            </a:pPr>
            <a:r>
              <a:rPr lang="en-US" sz="2200" dirty="0" smtClean="0">
                <a:latin typeface="Helvetica" pitchFamily="34" charset="0"/>
              </a:rPr>
              <a:t>Review trading data</a:t>
            </a:r>
          </a:p>
          <a:p>
            <a:pPr marL="360000" indent="-360000">
              <a:spcBef>
                <a:spcPts val="600"/>
              </a:spcBef>
              <a:spcAft>
                <a:spcPts val="1200"/>
              </a:spcAft>
            </a:pPr>
            <a:r>
              <a:rPr lang="en-US" sz="2200" dirty="0" smtClean="0">
                <a:latin typeface="Helvetica" pitchFamily="34" charset="0"/>
              </a:rPr>
              <a:t>Talk to experienced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44034" name="Picture 2" descr="C:\Documents and Settings\danielc\Local Settings\Temporary Internet Files\Content.IE5\3Y3SDCJX\MP900422543[1].jpg"/>
          <p:cNvPicPr>
            <a:picLocks noChangeAspect="1" noChangeArrowheads="1"/>
          </p:cNvPicPr>
          <p:nvPr/>
        </p:nvPicPr>
        <p:blipFill>
          <a:blip r:embed="rId3" cstate="print"/>
          <a:srcRect/>
          <a:stretch>
            <a:fillRect/>
          </a:stretch>
        </p:blipFill>
        <p:spPr bwMode="auto">
          <a:xfrm>
            <a:off x="6072198" y="2285992"/>
            <a:ext cx="1828348" cy="2285992"/>
          </a:xfrm>
          <a:prstGeom prst="rect">
            <a:avLst/>
          </a:prstGeom>
          <a:noFill/>
        </p:spPr>
      </p:pic>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determine demand or expected volume:</a:t>
            </a:r>
          </a:p>
          <a:p>
            <a:pPr marL="360000" indent="-360000">
              <a:spcBef>
                <a:spcPts val="600"/>
              </a:spcBef>
              <a:spcAft>
                <a:spcPts val="1200"/>
              </a:spcAft>
            </a:pPr>
            <a:r>
              <a:rPr lang="en-US" sz="2200" dirty="0" smtClean="0">
                <a:latin typeface="Helvetica" pitchFamily="34" charset="0"/>
              </a:rPr>
              <a:t>To target production to meet that demand</a:t>
            </a:r>
          </a:p>
          <a:p>
            <a:pPr marL="360000" indent="-360000">
              <a:spcBef>
                <a:spcPts val="600"/>
              </a:spcBef>
              <a:spcAft>
                <a:spcPts val="1200"/>
              </a:spcAft>
            </a:pPr>
            <a:r>
              <a:rPr lang="en-US" sz="2200" dirty="0" smtClean="0">
                <a:latin typeface="Helvetica" pitchFamily="34" charset="0"/>
              </a:rPr>
              <a:t>To save waste and over-production</a:t>
            </a:r>
          </a:p>
          <a:p>
            <a:pPr marL="360000" indent="-360000">
              <a:spcBef>
                <a:spcPts val="600"/>
              </a:spcBef>
              <a:spcAft>
                <a:spcPts val="1200"/>
              </a:spcAft>
            </a:pPr>
            <a:r>
              <a:rPr lang="en-US" sz="2200" dirty="0" smtClean="0">
                <a:latin typeface="Helvetica" pitchFamily="34" charset="0"/>
              </a:rPr>
              <a:t>To reduce left-overs</a:t>
            </a:r>
          </a:p>
          <a:p>
            <a:pPr marL="360000" indent="-360000">
              <a:spcBef>
                <a:spcPts val="600"/>
              </a:spcBef>
              <a:spcAft>
                <a:spcPts val="1200"/>
              </a:spcAft>
            </a:pPr>
            <a:r>
              <a:rPr lang="en-US" sz="2200" dirty="0" smtClean="0">
                <a:latin typeface="Helvetica" pitchFamily="34" charset="0"/>
              </a:rPr>
              <a:t>To display and hold only minimum food needed to </a:t>
            </a:r>
            <a:br>
              <a:rPr lang="en-US" sz="2200" dirty="0" smtClean="0">
                <a:latin typeface="Helvetica" pitchFamily="34" charset="0"/>
              </a:rPr>
            </a:br>
            <a:r>
              <a:rPr lang="en-US" sz="2200" dirty="0" smtClean="0">
                <a:latin typeface="Helvetica" pitchFamily="34" charset="0"/>
              </a:rPr>
              <a:t>cater for demand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176</a:t>
            </a:fld>
            <a:endParaRPr lang="en-US" dirty="0">
              <a:latin typeface="Helvetica" pitchFamily="34" charset="0"/>
            </a:endParaRPr>
          </a:p>
        </p:txBody>
      </p:sp>
      <p:pic>
        <p:nvPicPr>
          <p:cNvPr id="45058" name="Picture 2" descr="I:\Overseas Projects\PHOTOS\2012\F &amp; B 2012\shutterstock_72434716.jpg"/>
          <p:cNvPicPr>
            <a:picLocks noChangeAspect="1" noChangeArrowheads="1"/>
          </p:cNvPicPr>
          <p:nvPr/>
        </p:nvPicPr>
        <p:blipFill>
          <a:blip r:embed="rId3" cstate="print"/>
          <a:srcRect/>
          <a:stretch>
            <a:fillRect/>
          </a:stretch>
        </p:blipFill>
        <p:spPr bwMode="auto">
          <a:xfrm>
            <a:off x="7380312" y="1628800"/>
            <a:ext cx="1339760" cy="2000264"/>
          </a:xfrm>
          <a:prstGeom prst="rect">
            <a:avLst/>
          </a:prstGeom>
          <a:noFill/>
        </p:spPr>
      </p:pic>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Issues to note:</a:t>
            </a:r>
          </a:p>
          <a:p>
            <a:pPr marL="360000" indent="-360000">
              <a:spcBef>
                <a:spcPts val="600"/>
              </a:spcBef>
              <a:spcAft>
                <a:spcPts val="1200"/>
              </a:spcAft>
            </a:pPr>
            <a:r>
              <a:rPr lang="en-US" sz="2200" dirty="0" smtClean="0">
                <a:latin typeface="Helvetica" pitchFamily="34" charset="0"/>
              </a:rPr>
              <a:t>Protect food from contamination</a:t>
            </a:r>
          </a:p>
          <a:p>
            <a:pPr marL="360000" indent="-360000">
              <a:spcBef>
                <a:spcPts val="600"/>
              </a:spcBef>
              <a:spcAft>
                <a:spcPts val="1200"/>
              </a:spcAft>
            </a:pPr>
            <a:r>
              <a:rPr lang="en-US" sz="2200" dirty="0" smtClean="0">
                <a:latin typeface="Helvetica" pitchFamily="34" charset="0"/>
              </a:rPr>
              <a:t>Maintain correct temperatures</a:t>
            </a:r>
          </a:p>
          <a:p>
            <a:pPr marL="360000" indent="-360000">
              <a:spcBef>
                <a:spcPts val="600"/>
              </a:spcBef>
              <a:spcAft>
                <a:spcPts val="1200"/>
              </a:spcAft>
            </a:pPr>
            <a:r>
              <a:rPr lang="en-US" sz="2200" dirty="0" smtClean="0">
                <a:latin typeface="Helvetica" pitchFamily="34" charset="0"/>
              </a:rPr>
              <a:t>Use service tools for serving food</a:t>
            </a:r>
          </a:p>
          <a:p>
            <a:pPr marL="360000" indent="-360000">
              <a:spcBef>
                <a:spcPts val="600"/>
              </a:spcBef>
              <a:spcAft>
                <a:spcPts val="1200"/>
              </a:spcAft>
            </a:pPr>
            <a:r>
              <a:rPr lang="en-US" sz="2200" dirty="0" smtClean="0">
                <a:latin typeface="Helvetica" pitchFamily="34" charset="0"/>
              </a:rPr>
              <a:t>Control portion sizes</a:t>
            </a:r>
          </a:p>
          <a:p>
            <a:pPr marL="360000" indent="-360000">
              <a:spcBef>
                <a:spcPts val="600"/>
              </a:spcBef>
              <a:spcAft>
                <a:spcPts val="1200"/>
              </a:spcAft>
            </a:pPr>
            <a:r>
              <a:rPr lang="en-US" sz="2200" dirty="0" smtClean="0">
                <a:latin typeface="Helvetica" pitchFamily="34" charset="0"/>
              </a:rPr>
              <a:t>Ensure utensils for service are clean and sanitised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177</a:t>
            </a:fld>
            <a:endParaRPr lang="en-US" dirty="0">
              <a:latin typeface="Helvetica" pitchFamily="34" charset="0"/>
            </a:endParaRPr>
          </a:p>
        </p:txBody>
      </p:sp>
      <p:pic>
        <p:nvPicPr>
          <p:cNvPr id="46082" name="Picture 2" descr="I:\Overseas Projects\PHOTOS\2012\Culinary 2012\Buffet Food\100_3337.jpg"/>
          <p:cNvPicPr>
            <a:picLocks noChangeAspect="1" noChangeArrowheads="1"/>
          </p:cNvPicPr>
          <p:nvPr/>
        </p:nvPicPr>
        <p:blipFill>
          <a:blip r:embed="rId3" cstate="print">
            <a:lum bright="10000"/>
          </a:blip>
          <a:srcRect/>
          <a:stretch>
            <a:fillRect/>
          </a:stretch>
        </p:blipFill>
        <p:spPr bwMode="auto">
          <a:xfrm>
            <a:off x="5643570" y="2214554"/>
            <a:ext cx="2463587" cy="1847848"/>
          </a:xfrm>
          <a:prstGeom prst="rect">
            <a:avLst/>
          </a:prstGeom>
          <a:noFill/>
        </p:spPr>
      </p:pic>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Add sauces </a:t>
            </a:r>
            <a:r>
              <a:rPr lang="en-US" sz="2200" dirty="0" smtClean="0"/>
              <a:t>and </a:t>
            </a:r>
            <a:r>
              <a:rPr lang="en-US" sz="2200" dirty="0" smtClean="0">
                <a:latin typeface="Helvetica" pitchFamily="34" charset="0"/>
              </a:rPr>
              <a:t>or garnishes</a:t>
            </a:r>
          </a:p>
          <a:p>
            <a:pPr marL="360000" indent="-360000">
              <a:spcBef>
                <a:spcPts val="600"/>
              </a:spcBef>
              <a:spcAft>
                <a:spcPts val="1200"/>
              </a:spcAft>
            </a:pPr>
            <a:r>
              <a:rPr lang="en-US" sz="2200" dirty="0" smtClean="0">
                <a:latin typeface="Helvetica" pitchFamily="34" charset="0"/>
              </a:rPr>
              <a:t>Locate food on plate according to established guidelines</a:t>
            </a:r>
          </a:p>
          <a:p>
            <a:pPr marL="360000" indent="-360000">
              <a:spcBef>
                <a:spcPts val="600"/>
              </a:spcBef>
              <a:spcAft>
                <a:spcPts val="1200"/>
              </a:spcAft>
            </a:pPr>
            <a:r>
              <a:rPr lang="en-US" sz="2200" dirty="0" smtClean="0">
                <a:latin typeface="Helvetica" pitchFamily="34" charset="0"/>
              </a:rPr>
              <a:t>Create visually appealing end product</a:t>
            </a:r>
          </a:p>
          <a:p>
            <a:pPr marL="360000" indent="-360000">
              <a:spcBef>
                <a:spcPts val="600"/>
              </a:spcBef>
              <a:spcAft>
                <a:spcPts val="1200"/>
              </a:spcAft>
            </a:pPr>
            <a:r>
              <a:rPr lang="en-US" sz="2200" dirty="0" smtClean="0">
                <a:latin typeface="Helvetica" pitchFamily="34" charset="0"/>
              </a:rPr>
              <a:t>Use designated service platforms</a:t>
            </a:r>
          </a:p>
          <a:p>
            <a:pPr marL="360000" indent="-360000">
              <a:spcBef>
                <a:spcPts val="600"/>
              </a:spcBef>
              <a:spcAft>
                <a:spcPts val="1200"/>
              </a:spcAft>
            </a:pPr>
            <a:r>
              <a:rPr lang="en-US" sz="2200" dirty="0" smtClean="0">
                <a:latin typeface="Helvetica" pitchFamily="34" charset="0"/>
              </a:rPr>
              <a:t>Maintain personal hygiene of servers</a:t>
            </a:r>
          </a:p>
          <a:p>
            <a:pPr marL="360000" indent="-360000">
              <a:spcBef>
                <a:spcPts val="600"/>
              </a:spcBef>
              <a:spcAft>
                <a:spcPts val="1200"/>
              </a:spcAft>
            </a:pPr>
            <a:r>
              <a:rPr lang="en-US" sz="2200" dirty="0" smtClean="0">
                <a:latin typeface="Helvetica" pitchFamily="34" charset="0"/>
              </a:rPr>
              <a:t>Aim for timely and prompt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178</a:t>
            </a:fld>
            <a:endParaRPr lang="en-US" dirty="0">
              <a:latin typeface="Helvetica" pitchFamily="34" charset="0"/>
            </a:endParaRPr>
          </a:p>
        </p:txBody>
      </p:sp>
      <p:pic>
        <p:nvPicPr>
          <p:cNvPr id="47106" name="Picture 2" descr="I:\Overseas Projects\PHOTOS\2012\Culinary 2012\Buffet Food\Dale Buffet 2010 007.jpg"/>
          <p:cNvPicPr>
            <a:picLocks noChangeAspect="1" noChangeArrowheads="1"/>
          </p:cNvPicPr>
          <p:nvPr/>
        </p:nvPicPr>
        <p:blipFill>
          <a:blip r:embed="rId3" cstate="print"/>
          <a:srcRect/>
          <a:stretch>
            <a:fillRect/>
          </a:stretch>
        </p:blipFill>
        <p:spPr bwMode="auto">
          <a:xfrm>
            <a:off x="6215074" y="3286124"/>
            <a:ext cx="2022799" cy="1517229"/>
          </a:xfrm>
          <a:prstGeom prst="rect">
            <a:avLst/>
          </a:prstGeom>
          <a:noFill/>
        </p:spPr>
      </p:pic>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600"/>
              </a:spcBef>
              <a:spcAft>
                <a:spcPts val="1200"/>
              </a:spcAft>
              <a:buNone/>
            </a:pPr>
            <a:r>
              <a:rPr lang="en-US" sz="2200" dirty="0" smtClean="0">
                <a:latin typeface="Helvetica" pitchFamily="34" charset="0"/>
              </a:rPr>
              <a:t>Customer self-service of food removes much ‘safe food’ control from the venue and gives it to patrons:</a:t>
            </a:r>
          </a:p>
          <a:p>
            <a:pPr marL="360000" indent="-360000">
              <a:spcBef>
                <a:spcPts val="600"/>
              </a:spcBef>
              <a:spcAft>
                <a:spcPts val="1200"/>
              </a:spcAft>
            </a:pPr>
            <a:r>
              <a:rPr lang="en-US" sz="2200" dirty="0" smtClean="0">
                <a:latin typeface="Helvetica" pitchFamily="34" charset="0"/>
              </a:rPr>
              <a:t>Monitor customers</a:t>
            </a:r>
          </a:p>
          <a:p>
            <a:pPr marL="360000" indent="-360000">
              <a:spcBef>
                <a:spcPts val="600"/>
              </a:spcBef>
              <a:spcAft>
                <a:spcPts val="1200"/>
              </a:spcAft>
            </a:pPr>
            <a:r>
              <a:rPr lang="en-US" sz="2200" dirty="0" smtClean="0">
                <a:latin typeface="Helvetica" pitchFamily="34" charset="0"/>
              </a:rPr>
              <a:t>Pay special attention to children</a:t>
            </a:r>
          </a:p>
          <a:p>
            <a:pPr marL="360000" indent="-360000">
              <a:spcBef>
                <a:spcPts val="600"/>
              </a:spcBef>
              <a:spcAft>
                <a:spcPts val="1200"/>
              </a:spcAft>
            </a:pPr>
            <a:r>
              <a:rPr lang="en-US" sz="2200" dirty="0" smtClean="0">
                <a:latin typeface="Helvetica" pitchFamily="34" charset="0"/>
              </a:rPr>
              <a:t>Keep hot food, hot and cold </a:t>
            </a:r>
            <a:br>
              <a:rPr lang="en-US" sz="2200" dirty="0" smtClean="0">
                <a:latin typeface="Helvetica" pitchFamily="34" charset="0"/>
              </a:rPr>
            </a:br>
            <a:r>
              <a:rPr lang="en-US" sz="2200" dirty="0" smtClean="0">
                <a:latin typeface="Helvetica" pitchFamily="34" charset="0"/>
              </a:rPr>
              <a:t>food, cold</a:t>
            </a:r>
          </a:p>
          <a:p>
            <a:pPr marL="360000" indent="-360000">
              <a:spcBef>
                <a:spcPts val="600"/>
              </a:spcBef>
              <a:spcAft>
                <a:spcPts val="1200"/>
              </a:spcAft>
            </a:pPr>
            <a:r>
              <a:rPr lang="en-US" sz="2200" dirty="0" smtClean="0">
                <a:latin typeface="Helvetica" pitchFamily="34" charset="0"/>
              </a:rPr>
              <a:t>Replace dropped or dirty </a:t>
            </a:r>
            <a:br>
              <a:rPr lang="en-US" sz="2200" dirty="0" smtClean="0">
                <a:latin typeface="Helvetica" pitchFamily="34" charset="0"/>
              </a:rPr>
            </a:br>
            <a:r>
              <a:rPr lang="en-US" sz="2200" dirty="0" smtClean="0">
                <a:latin typeface="Helvetica" pitchFamily="34" charset="0"/>
              </a:rPr>
              <a:t>service gear</a:t>
            </a:r>
          </a:p>
          <a:p>
            <a:pPr marL="360000" indent="-360000">
              <a:spcBef>
                <a:spcPts val="600"/>
              </a:spcBef>
              <a:spcAft>
                <a:spcPts val="1200"/>
              </a:spcAft>
            </a:pPr>
            <a:r>
              <a:rPr lang="en-US" sz="2200" dirty="0" smtClean="0">
                <a:latin typeface="Helvetica" pitchFamily="34" charset="0"/>
              </a:rPr>
              <a:t>Clean up spills immediately</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5" name="Picture 4" descr="food_images_013.jpg"/>
          <p:cNvPicPr>
            <a:picLocks noChangeAspect="1"/>
          </p:cNvPicPr>
          <p:nvPr/>
        </p:nvPicPr>
        <p:blipFill>
          <a:blip r:embed="rId3" cstate="print"/>
          <a:stretch>
            <a:fillRect/>
          </a:stretch>
        </p:blipFill>
        <p:spPr>
          <a:xfrm>
            <a:off x="5715008" y="3143248"/>
            <a:ext cx="2428892" cy="1617681"/>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lnSpcReduction="10000"/>
          </a:bodyPr>
          <a:lstStyle/>
          <a:p>
            <a:pPr marL="360000" indent="-360000">
              <a:spcBef>
                <a:spcPts val="1200"/>
              </a:spcBef>
              <a:spcAft>
                <a:spcPts val="1200"/>
              </a:spcAft>
            </a:pPr>
            <a:r>
              <a:rPr lang="en-US" sz="2200" dirty="0" smtClean="0">
                <a:latin typeface="Helvetica" pitchFamily="34" charset="0"/>
              </a:rPr>
              <a:t>Discard contaminated food</a:t>
            </a:r>
          </a:p>
          <a:p>
            <a:pPr marL="360000" indent="-360000">
              <a:spcBef>
                <a:spcPts val="1200"/>
              </a:spcBef>
              <a:spcAft>
                <a:spcPts val="1200"/>
              </a:spcAft>
            </a:pPr>
            <a:r>
              <a:rPr lang="en-US" sz="2200" dirty="0" smtClean="0">
                <a:latin typeface="Helvetica" pitchFamily="34" charset="0"/>
              </a:rPr>
              <a:t>Post signs advising customers of safe food handling practices</a:t>
            </a:r>
          </a:p>
          <a:p>
            <a:pPr marL="360000" indent="-360000">
              <a:spcBef>
                <a:spcPts val="1200"/>
              </a:spcBef>
              <a:spcAft>
                <a:spcPts val="1200"/>
              </a:spcAft>
            </a:pPr>
            <a:r>
              <a:rPr lang="en-US" sz="2200" dirty="0" smtClean="0">
                <a:latin typeface="Helvetica" pitchFamily="34" charset="0"/>
              </a:rPr>
              <a:t>Protect foods from contamination</a:t>
            </a:r>
          </a:p>
          <a:p>
            <a:pPr marL="360000" indent="-360000">
              <a:spcBef>
                <a:spcPts val="1200"/>
              </a:spcBef>
              <a:spcAft>
                <a:spcPts val="1200"/>
              </a:spcAft>
            </a:pPr>
            <a:r>
              <a:rPr lang="en-US" sz="2200" dirty="0" smtClean="0">
                <a:latin typeface="Helvetica" pitchFamily="34" charset="0"/>
              </a:rPr>
              <a:t>Provide separate service items for </a:t>
            </a:r>
            <a:br>
              <a:rPr lang="en-US" sz="2200" dirty="0" smtClean="0">
                <a:latin typeface="Helvetica" pitchFamily="34" charset="0"/>
              </a:rPr>
            </a:br>
            <a:r>
              <a:rPr lang="en-US" sz="2200" dirty="0" smtClean="0">
                <a:latin typeface="Helvetica" pitchFamily="34" charset="0"/>
              </a:rPr>
              <a:t>each menu item</a:t>
            </a:r>
          </a:p>
          <a:p>
            <a:pPr marL="360000" indent="-360000">
              <a:spcBef>
                <a:spcPts val="1200"/>
              </a:spcBef>
              <a:spcAft>
                <a:spcPts val="1200"/>
              </a:spcAft>
            </a:pPr>
            <a:r>
              <a:rPr lang="en-US" sz="2200" dirty="0" smtClean="0">
                <a:latin typeface="Helvetica" pitchFamily="34" charset="0"/>
              </a:rPr>
              <a:t>Put sneeze-guards in place</a:t>
            </a:r>
          </a:p>
          <a:p>
            <a:pPr marL="360000" indent="-360000">
              <a:spcBef>
                <a:spcPts val="1200"/>
              </a:spcBef>
              <a:spcAft>
                <a:spcPts val="1200"/>
              </a:spcAft>
            </a:pPr>
            <a:r>
              <a:rPr lang="en-US" sz="2200" dirty="0" smtClean="0">
                <a:latin typeface="Helvetica" pitchFamily="34" charset="0"/>
              </a:rPr>
              <a:t>Do not mix batches of food</a:t>
            </a:r>
          </a:p>
          <a:p>
            <a:pPr marL="360000" indent="-360000">
              <a:spcBef>
                <a:spcPts val="1200"/>
              </a:spcBef>
              <a:spcAft>
                <a:spcPts val="1200"/>
              </a:spcAft>
              <a:buNone/>
            </a:pPr>
            <a:r>
              <a:rPr lang="en-US" sz="2200"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48130" name="Picture 2" descr="I:\Overseas Projects\PHOTOS\2012\Culinary 2012\Cookery\Sneeze-guards _t.jpg"/>
          <p:cNvPicPr>
            <a:picLocks noChangeAspect="1" noChangeArrowheads="1"/>
          </p:cNvPicPr>
          <p:nvPr/>
        </p:nvPicPr>
        <p:blipFill>
          <a:blip r:embed="rId3" cstate="print"/>
          <a:srcRect/>
          <a:stretch>
            <a:fillRect/>
          </a:stretch>
        </p:blipFill>
        <p:spPr bwMode="auto">
          <a:xfrm>
            <a:off x="6500826" y="3071810"/>
            <a:ext cx="1721685" cy="1428760"/>
          </a:xfrm>
          <a:prstGeom prst="rect">
            <a:avLst/>
          </a:prstGeom>
          <a:noFill/>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60968" cy="4729728"/>
          </a:xfrm>
        </p:spPr>
        <p:txBody>
          <a:bodyPr>
            <a:normAutofit/>
          </a:bodyPr>
          <a:lstStyle/>
          <a:p>
            <a:pPr marL="360000" indent="-360000">
              <a:spcBef>
                <a:spcPts val="1200"/>
              </a:spcBef>
              <a:spcAft>
                <a:spcPts val="1200"/>
              </a:spcAft>
            </a:pPr>
            <a:r>
              <a:rPr lang="en-US" sz="2200" dirty="0" smtClean="0">
                <a:latin typeface="Helvetica" pitchFamily="34" charset="0"/>
              </a:rPr>
              <a:t>Throw out ‘plate waste’</a:t>
            </a:r>
          </a:p>
          <a:p>
            <a:pPr marL="360000" indent="-360000">
              <a:spcBef>
                <a:spcPts val="1200"/>
              </a:spcBef>
              <a:spcAft>
                <a:spcPts val="1200"/>
              </a:spcAft>
            </a:pPr>
            <a:r>
              <a:rPr lang="en-US" sz="2200" dirty="0" smtClean="0">
                <a:latin typeface="Helvetica" pitchFamily="34" charset="0"/>
              </a:rPr>
              <a:t>Provide small batches and re-supply </a:t>
            </a:r>
            <a:br>
              <a:rPr lang="en-US" sz="2200" dirty="0" smtClean="0">
                <a:latin typeface="Helvetica" pitchFamily="34" charset="0"/>
              </a:rPr>
            </a:br>
            <a:r>
              <a:rPr lang="en-US" sz="2200" dirty="0" smtClean="0">
                <a:latin typeface="Helvetica" pitchFamily="34" charset="0"/>
              </a:rPr>
              <a:t>regularly</a:t>
            </a:r>
          </a:p>
          <a:p>
            <a:pPr marL="360000" indent="-360000">
              <a:spcBef>
                <a:spcPts val="1200"/>
              </a:spcBef>
              <a:spcAft>
                <a:spcPts val="1200"/>
              </a:spcAft>
            </a:pPr>
            <a:r>
              <a:rPr lang="en-US" sz="2200" dirty="0" smtClean="0">
                <a:latin typeface="Helvetica" pitchFamily="34" charset="0"/>
              </a:rPr>
              <a:t>Provide extra service utensils and </a:t>
            </a:r>
            <a:br>
              <a:rPr lang="en-US" sz="2200" dirty="0" smtClean="0">
                <a:latin typeface="Helvetica" pitchFamily="34" charset="0"/>
              </a:rPr>
            </a:br>
            <a:r>
              <a:rPr lang="en-US" sz="2200" dirty="0" smtClean="0">
                <a:latin typeface="Helvetica" pitchFamily="34" charset="0"/>
              </a:rPr>
              <a:t>service gear</a:t>
            </a:r>
          </a:p>
          <a:p>
            <a:pPr marL="360000" indent="-360000">
              <a:spcBef>
                <a:spcPts val="1200"/>
              </a:spcBef>
              <a:spcAft>
                <a:spcPts val="1200"/>
              </a:spcAft>
            </a:pPr>
            <a:r>
              <a:rPr lang="en-US" sz="2200" dirty="0" smtClean="0">
                <a:latin typeface="Helvetica" pitchFamily="34" charset="0"/>
              </a:rPr>
              <a:t>Provide clean ‘rests’ for service gear</a:t>
            </a:r>
          </a:p>
          <a:p>
            <a:pPr marL="360000" indent="-360000">
              <a:spcBef>
                <a:spcPts val="1200"/>
              </a:spcBef>
              <a:spcAft>
                <a:spcPts val="1200"/>
              </a:spcAft>
            </a:pPr>
            <a:r>
              <a:rPr lang="en-US" sz="2200" dirty="0" smtClean="0">
                <a:latin typeface="Helvetica" pitchFamily="34" charset="0"/>
              </a:rPr>
              <a:t>Apply the 2/4 rule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5" name="Picture 4" descr="wai_a_students_035_cmyk.jpg"/>
          <p:cNvPicPr>
            <a:picLocks noChangeAspect="1"/>
          </p:cNvPicPr>
          <p:nvPr/>
        </p:nvPicPr>
        <p:blipFill>
          <a:blip r:embed="rId3" cstate="print"/>
          <a:stretch>
            <a:fillRect/>
          </a:stretch>
        </p:blipFill>
        <p:spPr>
          <a:xfrm>
            <a:off x="6072198" y="2428868"/>
            <a:ext cx="2253818" cy="1500198"/>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Single use items:</a:t>
            </a:r>
          </a:p>
          <a:p>
            <a:pPr marL="360000" indent="-360000">
              <a:spcBef>
                <a:spcPts val="1200"/>
              </a:spcBef>
              <a:spcAft>
                <a:spcPts val="1200"/>
              </a:spcAft>
            </a:pPr>
            <a:r>
              <a:rPr lang="en-US" sz="2200" dirty="0" smtClean="0">
                <a:latin typeface="Helvetica" pitchFamily="34" charset="0"/>
              </a:rPr>
              <a:t>Intended to be used once only </a:t>
            </a:r>
          </a:p>
          <a:p>
            <a:pPr marL="360000" indent="-360000">
              <a:spcBef>
                <a:spcPts val="1200"/>
              </a:spcBef>
              <a:spcAft>
                <a:spcPts val="1200"/>
              </a:spcAft>
            </a:pPr>
            <a:r>
              <a:rPr lang="en-US" sz="2200" dirty="0" smtClean="0">
                <a:latin typeface="Helvetica" pitchFamily="34" charset="0"/>
              </a:rPr>
              <a:t>Cannot be re-used even if cleaned</a:t>
            </a:r>
          </a:p>
          <a:p>
            <a:pPr marL="360000" indent="-360000">
              <a:spcBef>
                <a:spcPts val="1200"/>
              </a:spcBef>
              <a:spcAft>
                <a:spcPts val="1200"/>
              </a:spcAft>
            </a:pPr>
            <a:r>
              <a:rPr lang="en-US" sz="2200" dirty="0" smtClean="0">
                <a:latin typeface="Helvetica" pitchFamily="34" charset="0"/>
              </a:rPr>
              <a:t>Must be protected from contamination</a:t>
            </a:r>
          </a:p>
          <a:p>
            <a:pPr marL="360000" indent="-360000">
              <a:spcBef>
                <a:spcPts val="1200"/>
              </a:spcBef>
              <a:spcAft>
                <a:spcPts val="1200"/>
              </a:spcAft>
            </a:pPr>
            <a:r>
              <a:rPr lang="en-US" sz="2200" dirty="0" smtClean="0">
                <a:latin typeface="Helvetica" pitchFamily="34" charset="0"/>
              </a:rPr>
              <a:t>Must not be used if contaminated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32771" name="Picture 3" descr="C:\Users\fgvghyujil\AppData\Local\Microsoft\Windows\Temporary Internet Files\Content.IE5\3J5365UD\MP900439495[1].jpg"/>
          <p:cNvPicPr>
            <a:picLocks noChangeAspect="1" noChangeArrowheads="1"/>
          </p:cNvPicPr>
          <p:nvPr/>
        </p:nvPicPr>
        <p:blipFill>
          <a:blip r:embed="rId3" cstate="print"/>
          <a:srcRect l="3319" t="6667" b="11110"/>
          <a:stretch>
            <a:fillRect/>
          </a:stretch>
        </p:blipFill>
        <p:spPr bwMode="auto">
          <a:xfrm>
            <a:off x="6357950" y="2214554"/>
            <a:ext cx="1743432" cy="2214578"/>
          </a:xfrm>
          <a:prstGeom prst="rect">
            <a:avLst/>
          </a:prstGeom>
          <a:noFill/>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Serve and present food items in line with customer volume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dirty="0" smtClean="0">
                <a:latin typeface="Helvetica" pitchFamily="34" charset="0"/>
              </a:rPr>
              <a:t>Optimising safety when using single use items:</a:t>
            </a:r>
          </a:p>
          <a:p>
            <a:pPr marL="360000" indent="-360000">
              <a:spcBef>
                <a:spcPts val="1200"/>
              </a:spcBef>
              <a:spcAft>
                <a:spcPts val="1200"/>
              </a:spcAft>
            </a:pPr>
            <a:r>
              <a:rPr lang="en-US" sz="2200" dirty="0" smtClean="0">
                <a:latin typeface="Helvetica" pitchFamily="34" charset="0"/>
              </a:rPr>
              <a:t>Do not prepare take away boxes in advance</a:t>
            </a:r>
          </a:p>
          <a:p>
            <a:pPr marL="360000" indent="-360000">
              <a:spcBef>
                <a:spcPts val="1200"/>
              </a:spcBef>
              <a:spcAft>
                <a:spcPts val="1200"/>
              </a:spcAft>
            </a:pPr>
            <a:r>
              <a:rPr lang="en-US" sz="2200" dirty="0" smtClean="0">
                <a:latin typeface="Helvetica" pitchFamily="34" charset="0"/>
              </a:rPr>
              <a:t>Offer straws so they can be obtained one </a:t>
            </a:r>
            <a:br>
              <a:rPr lang="en-US" sz="2200" dirty="0" smtClean="0">
                <a:latin typeface="Helvetica" pitchFamily="34" charset="0"/>
              </a:rPr>
            </a:br>
            <a:r>
              <a:rPr lang="en-US" sz="2200" dirty="0" smtClean="0">
                <a:latin typeface="Helvetica" pitchFamily="34" charset="0"/>
              </a:rPr>
              <a:t>at a time without other straws being touched</a:t>
            </a:r>
          </a:p>
          <a:p>
            <a:pPr marL="360000" indent="-360000">
              <a:spcBef>
                <a:spcPts val="1200"/>
              </a:spcBef>
              <a:spcAft>
                <a:spcPts val="1200"/>
              </a:spcAft>
            </a:pPr>
            <a:r>
              <a:rPr lang="en-US" sz="2200" dirty="0" smtClean="0">
                <a:latin typeface="Helvetica" pitchFamily="34" charset="0"/>
              </a:rPr>
              <a:t>Store items and lids to protect from contamination</a:t>
            </a:r>
          </a:p>
          <a:p>
            <a:pPr marL="360000" indent="-360000">
              <a:spcBef>
                <a:spcPts val="1200"/>
              </a:spcBef>
              <a:spcAft>
                <a:spcPts val="1200"/>
              </a:spcAft>
            </a:pPr>
            <a:r>
              <a:rPr lang="en-US" sz="2200" dirty="0" smtClean="0">
                <a:latin typeface="Helvetica" pitchFamily="34" charset="0"/>
              </a:rPr>
              <a:t>Wrap or cover cutlery</a:t>
            </a:r>
          </a:p>
          <a:p>
            <a:pPr marL="360000" indent="-360000">
              <a:spcBef>
                <a:spcPts val="1200"/>
              </a:spcBef>
              <a:spcAft>
                <a:spcPts val="1200"/>
              </a:spcAft>
            </a:pPr>
            <a:r>
              <a:rPr lang="en-US" sz="2200" dirty="0" smtClean="0">
                <a:latin typeface="Helvetica" pitchFamily="34" charset="0"/>
              </a:rPr>
              <a:t>Wrap tooth picks individually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33794" name="Picture 2" descr="C:\Users\fgvghyujil\AppData\Local\Microsoft\Windows\Temporary Internet Files\Content.IE5\3J5365UD\MP900411666[1].jpg"/>
          <p:cNvPicPr>
            <a:picLocks noChangeAspect="1" noChangeArrowheads="1"/>
          </p:cNvPicPr>
          <p:nvPr/>
        </p:nvPicPr>
        <p:blipFill>
          <a:blip r:embed="rId3" cstate="print"/>
          <a:srcRect l="3102" t="3486"/>
          <a:stretch>
            <a:fillRect/>
          </a:stretch>
        </p:blipFill>
        <p:spPr bwMode="auto">
          <a:xfrm>
            <a:off x="6715140" y="2428868"/>
            <a:ext cx="1571636" cy="1393045"/>
          </a:xfrm>
          <a:prstGeom prst="rect">
            <a:avLst/>
          </a:prstGeom>
          <a:noFill/>
          <a:ln>
            <a:noFill/>
          </a:ln>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holding and storing products for food service:</a:t>
            </a:r>
          </a:p>
          <a:p>
            <a:pPr>
              <a:spcBef>
                <a:spcPts val="600"/>
              </a:spcBef>
              <a:spcAft>
                <a:spcPts val="1200"/>
              </a:spcAft>
            </a:pPr>
            <a:r>
              <a:rPr lang="en-AU" sz="2200" dirty="0" smtClean="0">
                <a:latin typeface="Helvetica" pitchFamily="34" charset="0"/>
              </a:rPr>
              <a:t>Undertake appropriate mise en place for all food production</a:t>
            </a:r>
          </a:p>
          <a:p>
            <a:pPr>
              <a:spcBef>
                <a:spcPts val="600"/>
              </a:spcBef>
              <a:spcAft>
                <a:spcPts val="1200"/>
              </a:spcAft>
            </a:pPr>
            <a:r>
              <a:rPr lang="en-AU" sz="2200" dirty="0" smtClean="0">
                <a:latin typeface="Helvetica" pitchFamily="34" charset="0"/>
              </a:rPr>
              <a:t>Prepare items/ingredients uniformly and hygienically as required for their final use</a:t>
            </a:r>
          </a:p>
          <a:p>
            <a:pPr>
              <a:spcBef>
                <a:spcPts val="600"/>
              </a:spcBef>
              <a:spcAft>
                <a:spcPts val="1200"/>
              </a:spcAft>
            </a:pPr>
            <a:r>
              <a:rPr lang="en-AU" sz="2200" dirty="0" smtClean="0">
                <a:latin typeface="Helvetica" pitchFamily="34" charset="0"/>
              </a:rPr>
              <a:t>Apply suitable cooking methods to dishes as designated by standard recipes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184</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000892" y="3786190"/>
            <a:ext cx="1515745" cy="1500198"/>
          </a:xfrm>
          <a:prstGeom prst="rect">
            <a:avLst/>
          </a:prstGeom>
          <a:noFill/>
        </p:spPr>
      </p:pic>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Select and use kitchen equipment appropriate to the required cooking styles and methods</a:t>
            </a:r>
          </a:p>
          <a:p>
            <a:pPr>
              <a:spcBef>
                <a:spcPts val="600"/>
              </a:spcBef>
              <a:spcAft>
                <a:spcPts val="1200"/>
              </a:spcAft>
            </a:pPr>
            <a:r>
              <a:rPr lang="en-AU" sz="2200" dirty="0" smtClean="0">
                <a:latin typeface="Helvetica" pitchFamily="34" charset="0"/>
              </a:rPr>
              <a:t>Observe externally imposed obligations and internally required protocols (including ESP requirements) when handling food</a:t>
            </a:r>
          </a:p>
          <a:p>
            <a:pPr>
              <a:spcBef>
                <a:spcPts val="600"/>
              </a:spcBef>
              <a:spcAft>
                <a:spcPts val="1200"/>
              </a:spcAft>
            </a:pPr>
            <a:r>
              <a:rPr lang="en-AU" sz="2200" dirty="0" smtClean="0">
                <a:latin typeface="Helvetica" pitchFamily="34" charset="0"/>
              </a:rPr>
              <a:t>Ensure all food handlers have successfully completed accredited safe food handling training</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185</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858016" y="4429132"/>
            <a:ext cx="1515745" cy="1500198"/>
          </a:xfrm>
          <a:prstGeom prst="rect">
            <a:avLst/>
          </a:prstGeom>
          <a:noFill/>
        </p:spPr>
      </p:pic>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Follow all necessary safe food handling practices when ordering, receiving, processing, serving and displaying food</a:t>
            </a:r>
          </a:p>
          <a:p>
            <a:pPr>
              <a:spcBef>
                <a:spcPts val="600"/>
              </a:spcBef>
              <a:spcAft>
                <a:spcPts val="1200"/>
              </a:spcAft>
            </a:pPr>
            <a:r>
              <a:rPr lang="en-AU" sz="2200" dirty="0" smtClean="0">
                <a:latin typeface="Helvetica" pitchFamily="34" charset="0"/>
              </a:rPr>
              <a:t>Implement personal hygiene practices</a:t>
            </a:r>
          </a:p>
          <a:p>
            <a:pPr>
              <a:spcBef>
                <a:spcPts val="600"/>
              </a:spcBef>
              <a:spcAft>
                <a:spcPts val="1200"/>
              </a:spcAft>
            </a:pPr>
            <a:r>
              <a:rPr lang="en-AU" sz="2200" dirty="0" smtClean="0">
                <a:latin typeface="Helvetica" pitchFamily="34" charset="0"/>
              </a:rPr>
              <a:t>Wash hands as and when necessary – without exception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186</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3571868" y="4286256"/>
            <a:ext cx="1660102" cy="1643074"/>
          </a:xfrm>
          <a:prstGeom prst="rect">
            <a:avLst/>
          </a:prstGeom>
          <a:noFill/>
        </p:spPr>
      </p:pic>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Complete required food safety records</a:t>
            </a:r>
          </a:p>
          <a:p>
            <a:pPr>
              <a:spcBef>
                <a:spcPts val="600"/>
              </a:spcBef>
              <a:spcAft>
                <a:spcPts val="1200"/>
              </a:spcAft>
            </a:pPr>
            <a:r>
              <a:rPr lang="en-AU" sz="2200" dirty="0" smtClean="0">
                <a:latin typeface="Helvetica" pitchFamily="34" charset="0"/>
              </a:rPr>
              <a:t>Hold and display all food at correct temperatures protected from contamination</a:t>
            </a:r>
          </a:p>
          <a:p>
            <a:pPr>
              <a:spcBef>
                <a:spcPts val="600"/>
              </a:spcBef>
              <a:spcAft>
                <a:spcPts val="1200"/>
              </a:spcAft>
            </a:pPr>
            <a:r>
              <a:rPr lang="en-AU" sz="2200" dirty="0" smtClean="0">
                <a:latin typeface="Helvetica" pitchFamily="34" charset="0"/>
              </a:rPr>
              <a:t>Reheat previously cooked food once only to required temperature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187</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643702" y="3643314"/>
            <a:ext cx="1515745" cy="1500198"/>
          </a:xfrm>
          <a:prstGeom prst="rect">
            <a:avLst/>
          </a:prstGeom>
          <a:noFill/>
        </p:spPr>
      </p:pic>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Determine how much food is required for each service session</a:t>
            </a:r>
          </a:p>
          <a:p>
            <a:pPr>
              <a:spcBef>
                <a:spcPts val="600"/>
              </a:spcBef>
              <a:spcAft>
                <a:spcPts val="1200"/>
              </a:spcAft>
            </a:pPr>
            <a:r>
              <a:rPr lang="en-AU" sz="2200" dirty="0" smtClean="0">
                <a:latin typeface="Helvetica" pitchFamily="34" charset="0"/>
              </a:rPr>
              <a:t>Monitor all instances where customers can serve themselves</a:t>
            </a:r>
          </a:p>
          <a:p>
            <a:pPr>
              <a:spcBef>
                <a:spcPts val="600"/>
              </a:spcBef>
              <a:spcAft>
                <a:spcPts val="1200"/>
              </a:spcAft>
            </a:pPr>
            <a:r>
              <a:rPr lang="en-AU" sz="2200" dirty="0" smtClean="0">
                <a:latin typeface="Helvetica" pitchFamily="34" charset="0"/>
              </a:rPr>
              <a:t>Never re-use single-use items</a:t>
            </a:r>
            <a:r>
              <a:rPr lang="en-AU" sz="2400" dirty="0" smtClean="0"/>
              <a:t/>
            </a:r>
            <a:br>
              <a:rPr lang="en-AU" sz="2400" dirty="0" smtClean="0"/>
            </a:br>
            <a:endParaRPr lang="en-AU" sz="2200" dirty="0" smtClean="0">
              <a:latin typeface="Helvetica" pitchFamily="34" charset="0"/>
            </a:endParaRPr>
          </a:p>
          <a:p>
            <a:endParaRPr lang="en-AU" sz="2200" dirty="0" smtClean="0">
              <a:latin typeface="Helvetica" pitchFamily="34" charset="0"/>
            </a:endParaRPr>
          </a:p>
          <a:p>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188</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572264" y="3357562"/>
            <a:ext cx="1515745" cy="1500198"/>
          </a:xfrm>
          <a:prstGeom prst="rect">
            <a:avLst/>
          </a:prstGeom>
          <a:noFill/>
        </p:spPr>
      </p:pic>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products after food service to maintain quality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Store fresh and or Cryovac items correctly</a:t>
            </a:r>
          </a:p>
          <a:p>
            <a:pPr marL="360000" indent="-360000">
              <a:spcBef>
                <a:spcPts val="600"/>
              </a:spcBef>
              <a:spcAft>
                <a:spcPts val="1200"/>
              </a:spcAft>
            </a:pPr>
            <a:r>
              <a:rPr lang="en-US" sz="2200" dirty="0" smtClean="0">
                <a:latin typeface="Helvetica" pitchFamily="34" charset="0"/>
              </a:rPr>
              <a:t>Change storage containers and trays to enterprise standards</a:t>
            </a:r>
          </a:p>
          <a:p>
            <a:pPr marL="360000" indent="-360000">
              <a:spcBef>
                <a:spcPts val="600"/>
              </a:spcBef>
              <a:spcAft>
                <a:spcPts val="1200"/>
              </a:spcAft>
            </a:pPr>
            <a:r>
              <a:rPr lang="en-US" sz="2200" dirty="0" smtClean="0">
                <a:latin typeface="Helvetica" pitchFamily="34" charset="0"/>
              </a:rPr>
              <a:t>Label items correctly</a:t>
            </a:r>
          </a:p>
          <a:p>
            <a:pPr marL="360000" indent="-360000">
              <a:spcBef>
                <a:spcPts val="600"/>
              </a:spcBef>
              <a:spcAft>
                <a:spcPts val="1200"/>
              </a:spcAft>
            </a:pPr>
            <a:r>
              <a:rPr lang="en-US" sz="2200" dirty="0" smtClean="0">
                <a:latin typeface="Helvetica" pitchFamily="34" charset="0"/>
              </a:rPr>
              <a:t>Store products in correct conditions to maintain freshness and quality and minimise wastage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189</a:t>
            </a:fld>
            <a:endParaRPr lang="en-US" dirty="0">
              <a:latin typeface="Helvetica" pitchFamily="34" charset="0"/>
            </a:endParaRPr>
          </a:p>
        </p:txBody>
      </p:sp>
      <p:pic>
        <p:nvPicPr>
          <p:cNvPr id="5"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6300192" y="2060848"/>
            <a:ext cx="349247" cy="461148"/>
          </a:xfrm>
          <a:prstGeom prst="rect">
            <a:avLst/>
          </a:prstGeom>
          <a:noFill/>
        </p:spPr>
      </p:pic>
      <p:pic>
        <p:nvPicPr>
          <p:cNvPr id="6"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2365365" y="3039290"/>
            <a:ext cx="349247" cy="461148"/>
          </a:xfrm>
          <a:prstGeom prst="rect">
            <a:avLst/>
          </a:prstGeom>
          <a:noFill/>
        </p:spPr>
      </p:pic>
      <p:pic>
        <p:nvPicPr>
          <p:cNvPr id="7"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3643306" y="3610794"/>
            <a:ext cx="349247" cy="461148"/>
          </a:xfrm>
          <a:prstGeom prst="rect">
            <a:avLst/>
          </a:prstGeom>
          <a:noFill/>
        </p:spPr>
      </p:pic>
      <p:pic>
        <p:nvPicPr>
          <p:cNvPr id="8" name="Picture 5" descr="C:\Documents and Settings\danielc\Local Settings\Temporary Internet Files\Content.IE5\3Y3SDCJX\MC900434663[1].wmf"/>
          <p:cNvPicPr>
            <a:picLocks noChangeAspect="1" noChangeArrowheads="1"/>
          </p:cNvPicPr>
          <p:nvPr/>
        </p:nvPicPr>
        <p:blipFill>
          <a:blip r:embed="rId3" cstate="print"/>
          <a:srcRect/>
          <a:stretch>
            <a:fillRect/>
          </a:stretch>
        </p:blipFill>
        <p:spPr bwMode="auto">
          <a:xfrm>
            <a:off x="6580207" y="4509120"/>
            <a:ext cx="349247" cy="461148"/>
          </a:xfrm>
          <a:prstGeom prst="rect">
            <a:avLst/>
          </a:prstGeom>
          <a:noFill/>
        </p:spPr>
      </p:pic>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Food must be stored after storage:</a:t>
            </a:r>
          </a:p>
          <a:p>
            <a:pPr marL="360000" indent="-360000">
              <a:spcBef>
                <a:spcPts val="600"/>
              </a:spcBef>
              <a:spcAft>
                <a:spcPts val="1200"/>
              </a:spcAft>
            </a:pPr>
            <a:r>
              <a:rPr lang="en-US" sz="2200" dirty="0" smtClean="0">
                <a:latin typeface="Helvetica" pitchFamily="34" charset="0"/>
              </a:rPr>
              <a:t>To enhance and maintain food safety</a:t>
            </a:r>
          </a:p>
          <a:p>
            <a:pPr marL="360000" indent="-360000">
              <a:spcBef>
                <a:spcPts val="600"/>
              </a:spcBef>
              <a:spcAft>
                <a:spcPts val="1200"/>
              </a:spcAft>
            </a:pPr>
            <a:r>
              <a:rPr lang="en-US" sz="2200" dirty="0" smtClean="0">
                <a:latin typeface="Helvetica" pitchFamily="34" charset="0"/>
              </a:rPr>
              <a:t>In correct containers</a:t>
            </a:r>
          </a:p>
          <a:p>
            <a:pPr marL="360000" indent="-360000">
              <a:spcBef>
                <a:spcPts val="600"/>
              </a:spcBef>
              <a:spcAft>
                <a:spcPts val="1200"/>
              </a:spcAft>
            </a:pPr>
            <a:r>
              <a:rPr lang="en-US" sz="2200" dirty="0" smtClean="0">
                <a:latin typeface="Helvetica" pitchFamily="34" charset="0"/>
              </a:rPr>
              <a:t>At correct temperatures - cool rooms at 5˚C or below</a:t>
            </a:r>
          </a:p>
          <a:p>
            <a:pPr marL="360000" indent="-360000">
              <a:spcBef>
                <a:spcPts val="600"/>
              </a:spcBef>
              <a:spcAft>
                <a:spcPts val="1200"/>
              </a:spcAft>
            </a:pPr>
            <a:r>
              <a:rPr lang="en-US" sz="2200" dirty="0" smtClean="0">
                <a:latin typeface="Helvetica" pitchFamily="34" charset="0"/>
              </a:rPr>
              <a:t>To avoid contamination, odour taint and deterioration</a:t>
            </a:r>
          </a:p>
          <a:p>
            <a:pPr marL="360000" indent="-360000">
              <a:spcBef>
                <a:spcPts val="600"/>
              </a:spcBef>
              <a:spcAft>
                <a:spcPts val="1200"/>
              </a:spcAft>
            </a:pPr>
            <a:r>
              <a:rPr lang="en-US" sz="2200" dirty="0" smtClean="0">
                <a:latin typeface="Helvetica" pitchFamily="34" charset="0"/>
              </a:rPr>
              <a:t>Foods which were frozen must never be re-frozen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190</a:t>
            </a:fld>
            <a:endParaRPr lang="en-US" dirty="0">
              <a:latin typeface="Helvetica" pitchFamily="34" charset="0"/>
            </a:endParaRPr>
          </a:p>
        </p:txBody>
      </p:sp>
      <p:pic>
        <p:nvPicPr>
          <p:cNvPr id="5" name="Picture 4" descr="C:\Documents and Settings\Godaishu\Desktop\PHOTOS\2012\1097510833_4240353410_thumbnail.jpg"/>
          <p:cNvPicPr/>
          <p:nvPr/>
        </p:nvPicPr>
        <p:blipFill>
          <a:blip r:embed="rId3" cstate="print"/>
          <a:srcRect t="12195" b="11382"/>
          <a:stretch>
            <a:fillRect/>
          </a:stretch>
        </p:blipFill>
        <p:spPr bwMode="auto">
          <a:xfrm>
            <a:off x="6072198" y="1571612"/>
            <a:ext cx="1750695" cy="1343025"/>
          </a:xfrm>
          <a:prstGeom prst="rect">
            <a:avLst/>
          </a:prstGeom>
          <a:noFill/>
          <a:ln w="9525">
            <a:noFill/>
            <a:miter lim="800000"/>
            <a:headEnd/>
            <a:tailEnd/>
          </a:ln>
        </p:spPr>
      </p:pic>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Placement of left-overs in cool room:</a:t>
            </a:r>
          </a:p>
          <a:p>
            <a:pPr marL="360000" indent="-360000">
              <a:spcBef>
                <a:spcPts val="600"/>
              </a:spcBef>
              <a:spcAft>
                <a:spcPts val="1200"/>
              </a:spcAft>
            </a:pPr>
            <a:r>
              <a:rPr lang="en-US" sz="2200" dirty="0" smtClean="0">
                <a:latin typeface="Helvetica" pitchFamily="34" charset="0"/>
              </a:rPr>
              <a:t>Cover or wrap items with plastic wrap</a:t>
            </a:r>
          </a:p>
          <a:p>
            <a:pPr marL="360000" indent="-360000">
              <a:spcBef>
                <a:spcPts val="600"/>
              </a:spcBef>
              <a:spcAft>
                <a:spcPts val="1200"/>
              </a:spcAft>
            </a:pPr>
            <a:r>
              <a:rPr lang="en-US" sz="2200" dirty="0" smtClean="0">
                <a:latin typeface="Helvetica" pitchFamily="34" charset="0"/>
              </a:rPr>
              <a:t>Separate raw from cooked</a:t>
            </a:r>
          </a:p>
          <a:p>
            <a:pPr marL="360000" indent="-360000">
              <a:spcBef>
                <a:spcPts val="600"/>
              </a:spcBef>
              <a:spcAft>
                <a:spcPts val="1200"/>
              </a:spcAft>
            </a:pPr>
            <a:r>
              <a:rPr lang="en-US" sz="2200" dirty="0" smtClean="0">
                <a:latin typeface="Helvetica" pitchFamily="34" charset="0"/>
              </a:rPr>
              <a:t>Place cooked food above raw uncooked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191</a:t>
            </a:fld>
            <a:endParaRPr lang="en-US" dirty="0">
              <a:latin typeface="Helvetica" pitchFamily="34" charset="0"/>
            </a:endParaRPr>
          </a:p>
        </p:txBody>
      </p:sp>
      <p:pic>
        <p:nvPicPr>
          <p:cNvPr id="5" name="Picture 4" descr="C:\Documents and Settings\Godaishu\Desktop\PHOTOS\Culinary 2012\FridgeandFreezer.jpg"/>
          <p:cNvPicPr/>
          <p:nvPr/>
        </p:nvPicPr>
        <p:blipFill>
          <a:blip r:embed="rId3" cstate="print"/>
          <a:srcRect/>
          <a:stretch>
            <a:fillRect/>
          </a:stretch>
        </p:blipFill>
        <p:spPr bwMode="auto">
          <a:xfrm>
            <a:off x="6357950" y="1928802"/>
            <a:ext cx="1838324" cy="1228393"/>
          </a:xfrm>
          <a:prstGeom prst="rect">
            <a:avLst/>
          </a:prstGeom>
          <a:noFill/>
          <a:ln w="9525">
            <a:noFill/>
            <a:miter lim="800000"/>
            <a:headEnd/>
            <a:tailEnd/>
          </a:ln>
        </p:spPr>
      </p:pic>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Time of food in storage:</a:t>
            </a:r>
          </a:p>
          <a:p>
            <a:pPr marL="360000" indent="-360000">
              <a:spcBef>
                <a:spcPts val="600"/>
              </a:spcBef>
              <a:spcAft>
                <a:spcPts val="1200"/>
              </a:spcAft>
            </a:pPr>
            <a:r>
              <a:rPr lang="en-US" sz="2200" dirty="0" smtClean="0">
                <a:latin typeface="Helvetica" pitchFamily="34" charset="0"/>
              </a:rPr>
              <a:t>Generally, potentially hazardous food should spend no longer than 7 days at 5˚C</a:t>
            </a:r>
          </a:p>
          <a:p>
            <a:pPr marL="360000" indent="-360000">
              <a:spcBef>
                <a:spcPts val="600"/>
              </a:spcBef>
              <a:spcAft>
                <a:spcPts val="1200"/>
              </a:spcAft>
            </a:pPr>
            <a:r>
              <a:rPr lang="en-US" sz="2200" dirty="0" smtClean="0">
                <a:latin typeface="Helvetica" pitchFamily="34" charset="0"/>
              </a:rPr>
              <a:t>Food at 3˚C can last for longer than 7 days</a:t>
            </a:r>
          </a:p>
          <a:p>
            <a:pPr marL="360000" indent="-360000">
              <a:spcBef>
                <a:spcPts val="600"/>
              </a:spcBef>
              <a:spcAft>
                <a:spcPts val="1200"/>
              </a:spcAft>
            </a:pPr>
            <a:r>
              <a:rPr lang="en-US" sz="2200" dirty="0" smtClean="0">
                <a:latin typeface="Helvetica" pitchFamily="34" charset="0"/>
              </a:rPr>
              <a:t>Ideally prepared foods should not spend </a:t>
            </a:r>
            <a:br>
              <a:rPr lang="en-US" sz="2200" dirty="0" smtClean="0">
                <a:latin typeface="Helvetica" pitchFamily="34" charset="0"/>
              </a:rPr>
            </a:br>
            <a:r>
              <a:rPr lang="en-US" sz="2200" dirty="0" smtClean="0">
                <a:latin typeface="Helvetica" pitchFamily="34" charset="0"/>
              </a:rPr>
              <a:t>longer than 24 hours under storage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192</a:t>
            </a:fld>
            <a:endParaRPr lang="en-US" dirty="0">
              <a:latin typeface="Helvetica" pitchFamily="34" charset="0"/>
            </a:endParaRPr>
          </a:p>
        </p:txBody>
      </p:sp>
      <p:pic>
        <p:nvPicPr>
          <p:cNvPr id="5" name="Picture 4" descr="C:\Documents and Settings\Godaishu\Desktop\PHOTOS\Culinary 2012\Frozen meat.jpg"/>
          <p:cNvPicPr/>
          <p:nvPr/>
        </p:nvPicPr>
        <p:blipFill>
          <a:blip r:embed="rId3" cstate="print"/>
          <a:srcRect/>
          <a:stretch>
            <a:fillRect/>
          </a:stretch>
        </p:blipFill>
        <p:spPr bwMode="auto">
          <a:xfrm>
            <a:off x="6715140" y="3000372"/>
            <a:ext cx="1681162" cy="1300163"/>
          </a:xfrm>
          <a:prstGeom prst="rect">
            <a:avLst/>
          </a:prstGeom>
          <a:noFill/>
          <a:ln w="9525">
            <a:noFill/>
            <a:miter lim="800000"/>
            <a:headEnd/>
            <a:tailEnd/>
          </a:ln>
        </p:spPr>
      </p:pic>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Excess times in storage also impacts food quality:</a:t>
            </a:r>
          </a:p>
          <a:p>
            <a:pPr marL="360000" indent="-360000">
              <a:spcBef>
                <a:spcPts val="600"/>
              </a:spcBef>
              <a:spcAft>
                <a:spcPts val="1200"/>
              </a:spcAft>
            </a:pPr>
            <a:r>
              <a:rPr lang="en-US" sz="2200" dirty="0" smtClean="0">
                <a:latin typeface="Helvetica" pitchFamily="34" charset="0"/>
              </a:rPr>
              <a:t>Crumbed food become soggy</a:t>
            </a:r>
          </a:p>
          <a:p>
            <a:pPr marL="360000" indent="-360000">
              <a:spcBef>
                <a:spcPts val="600"/>
              </a:spcBef>
              <a:spcAft>
                <a:spcPts val="1200"/>
              </a:spcAft>
            </a:pPr>
            <a:r>
              <a:rPr lang="en-US" sz="2200" dirty="0" smtClean="0">
                <a:latin typeface="Helvetica" pitchFamily="34" charset="0"/>
              </a:rPr>
              <a:t>Dairy foods can absorb odours</a:t>
            </a:r>
          </a:p>
          <a:p>
            <a:pPr marL="360000" indent="-360000">
              <a:spcBef>
                <a:spcPts val="600"/>
              </a:spcBef>
              <a:spcAft>
                <a:spcPts val="1200"/>
              </a:spcAft>
            </a:pPr>
            <a:r>
              <a:rPr lang="en-US" sz="2200" dirty="0" smtClean="0">
                <a:latin typeface="Helvetica" pitchFamily="34" charset="0"/>
              </a:rPr>
              <a:t>Sauces can ‘split’ (’separate’)</a:t>
            </a:r>
          </a:p>
          <a:p>
            <a:pPr marL="360000" indent="-360000">
              <a:spcBef>
                <a:spcPts val="600"/>
              </a:spcBef>
              <a:spcAft>
                <a:spcPts val="1200"/>
              </a:spcAft>
            </a:pPr>
            <a:r>
              <a:rPr lang="en-US" sz="2200" dirty="0" smtClean="0">
                <a:latin typeface="Helvetica" pitchFamily="34" charset="0"/>
              </a:rPr>
              <a:t>Garnishes can wither</a:t>
            </a:r>
          </a:p>
          <a:p>
            <a:pPr marL="360000" indent="-360000">
              <a:spcBef>
                <a:spcPts val="600"/>
              </a:spcBef>
              <a:spcAft>
                <a:spcPts val="1200"/>
              </a:spcAft>
            </a:pPr>
            <a:r>
              <a:rPr lang="en-US" sz="2200" dirty="0" smtClean="0">
                <a:latin typeface="Helvetica" pitchFamily="34" charset="0"/>
              </a:rPr>
              <a:t>Chopped herbs can compost</a:t>
            </a:r>
          </a:p>
          <a:p>
            <a:pPr marL="360000" indent="-360000">
              <a:spcBef>
                <a:spcPts val="600"/>
              </a:spcBef>
              <a:spcAft>
                <a:spcPts val="1200"/>
              </a:spcAft>
            </a:pPr>
            <a:r>
              <a:rPr lang="en-US" sz="2200" dirty="0" smtClean="0">
                <a:latin typeface="Helvetica" pitchFamily="34" charset="0"/>
              </a:rPr>
              <a:t>Fruits and juices may ferment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193</a:t>
            </a:fld>
            <a:endParaRPr lang="en-US" dirty="0">
              <a:latin typeface="Helvetica" pitchFamily="34" charset="0"/>
            </a:endParaRPr>
          </a:p>
        </p:txBody>
      </p:sp>
      <p:pic>
        <p:nvPicPr>
          <p:cNvPr id="49154" name="Picture 2" descr="C:\Documents and Settings\danielc\Desktop\ferment fruit.jpg"/>
          <p:cNvPicPr>
            <a:picLocks noChangeAspect="1" noChangeArrowheads="1"/>
          </p:cNvPicPr>
          <p:nvPr/>
        </p:nvPicPr>
        <p:blipFill>
          <a:blip r:embed="rId3" cstate="print">
            <a:lum contrast="30000"/>
          </a:blip>
          <a:srcRect/>
          <a:stretch>
            <a:fillRect/>
          </a:stretch>
        </p:blipFill>
        <p:spPr bwMode="auto">
          <a:xfrm>
            <a:off x="6143636" y="2857496"/>
            <a:ext cx="2201839" cy="1651379"/>
          </a:xfrm>
          <a:prstGeom prst="rect">
            <a:avLst/>
          </a:prstGeom>
          <a:noFill/>
        </p:spPr>
      </p:pic>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Storage in freezers:</a:t>
            </a:r>
          </a:p>
          <a:p>
            <a:pPr marL="360000" indent="-360000">
              <a:spcBef>
                <a:spcPts val="600"/>
              </a:spcBef>
              <a:spcAft>
                <a:spcPts val="1200"/>
              </a:spcAft>
            </a:pPr>
            <a:r>
              <a:rPr lang="en-US" sz="2200" dirty="0" smtClean="0">
                <a:latin typeface="Helvetica" pitchFamily="34" charset="0"/>
              </a:rPr>
              <a:t>Temperature range: -15˚C to -18 ˚C</a:t>
            </a:r>
          </a:p>
          <a:p>
            <a:pPr marL="360000" indent="-360000">
              <a:spcBef>
                <a:spcPts val="600"/>
              </a:spcBef>
              <a:spcAft>
                <a:spcPts val="1200"/>
              </a:spcAft>
            </a:pPr>
            <a:r>
              <a:rPr lang="en-US" sz="2200" dirty="0" smtClean="0">
                <a:latin typeface="Helvetica" pitchFamily="34" charset="0"/>
              </a:rPr>
              <a:t>Freezing halts bacterial growth but may damage food quality</a:t>
            </a:r>
          </a:p>
          <a:p>
            <a:pPr marL="360000" indent="-360000">
              <a:spcBef>
                <a:spcPts val="600"/>
              </a:spcBef>
              <a:spcAft>
                <a:spcPts val="1200"/>
              </a:spcAft>
            </a:pPr>
            <a:r>
              <a:rPr lang="en-US" sz="2200" dirty="0" smtClean="0">
                <a:latin typeface="Helvetica" pitchFamily="34" charset="0"/>
              </a:rPr>
              <a:t>Prompt freezing of prepared foods optimises quality</a:t>
            </a:r>
          </a:p>
          <a:p>
            <a:pPr marL="360000" indent="-360000">
              <a:spcBef>
                <a:spcPts val="600"/>
              </a:spcBef>
              <a:spcAft>
                <a:spcPts val="1200"/>
              </a:spcAft>
            </a:pPr>
            <a:r>
              <a:rPr lang="en-US" sz="2200" dirty="0" smtClean="0">
                <a:latin typeface="Helvetica" pitchFamily="34" charset="0"/>
              </a:rPr>
              <a:t>Most foods will last 2 to 3 months</a:t>
            </a:r>
          </a:p>
          <a:p>
            <a:pPr marL="360000" indent="-360000">
              <a:spcBef>
                <a:spcPts val="600"/>
              </a:spcBef>
              <a:spcAft>
                <a:spcPts val="1200"/>
              </a:spcAft>
            </a:pPr>
            <a:r>
              <a:rPr lang="en-US" sz="2200" dirty="0" smtClean="0">
                <a:latin typeface="Helvetica" pitchFamily="34" charset="0"/>
              </a:rPr>
              <a:t>Proper defrosting methods must be used</a:t>
            </a:r>
          </a:p>
          <a:p>
            <a:pPr marL="360000" indent="-360000">
              <a:spcBef>
                <a:spcPts val="600"/>
              </a:spcBef>
              <a:spcAft>
                <a:spcPts val="1200"/>
              </a:spcAft>
            </a:pPr>
            <a:r>
              <a:rPr lang="en-US" sz="2200" dirty="0" smtClean="0">
                <a:latin typeface="Helvetica" pitchFamily="34" charset="0"/>
              </a:rPr>
              <a:t>Foods must be protected by wrapping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194</a:t>
            </a:fld>
            <a:endParaRPr lang="en-US" dirty="0">
              <a:latin typeface="Helvetica" pitchFamily="34" charset="0"/>
            </a:endParaRPr>
          </a:p>
        </p:txBody>
      </p:sp>
      <p:pic>
        <p:nvPicPr>
          <p:cNvPr id="50178" name="Picture 2" descr="C:\Documents and Settings\danielc\Local Settings\Temporary Internet Files\Content.IE5\3DV3UKH9\MC900082911[1].wmf"/>
          <p:cNvPicPr>
            <a:picLocks noChangeAspect="1" noChangeArrowheads="1"/>
          </p:cNvPicPr>
          <p:nvPr/>
        </p:nvPicPr>
        <p:blipFill>
          <a:blip r:embed="rId3" cstate="print"/>
          <a:srcRect/>
          <a:stretch>
            <a:fillRect/>
          </a:stretch>
        </p:blipFill>
        <p:spPr bwMode="auto">
          <a:xfrm>
            <a:off x="6786578" y="4286256"/>
            <a:ext cx="1786738" cy="1509674"/>
          </a:xfrm>
          <a:prstGeom prst="rect">
            <a:avLst/>
          </a:prstGeom>
          <a:noFill/>
        </p:spPr>
      </p:pic>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and 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Other storage options:</a:t>
            </a:r>
          </a:p>
          <a:p>
            <a:pPr marL="360000" indent="-360000">
              <a:spcBef>
                <a:spcPts val="600"/>
              </a:spcBef>
              <a:spcAft>
                <a:spcPts val="1200"/>
              </a:spcAft>
            </a:pPr>
            <a:r>
              <a:rPr lang="en-US" sz="2200" dirty="0" smtClean="0">
                <a:latin typeface="Helvetica" pitchFamily="34" charset="0"/>
              </a:rPr>
              <a:t>Storage on ice</a:t>
            </a:r>
          </a:p>
          <a:p>
            <a:pPr marL="360000" indent="-360000">
              <a:spcBef>
                <a:spcPts val="600"/>
              </a:spcBef>
              <a:spcAft>
                <a:spcPts val="1200"/>
              </a:spcAft>
            </a:pPr>
            <a:r>
              <a:rPr lang="en-US" sz="2200" dirty="0" smtClean="0">
                <a:latin typeface="Helvetica" pitchFamily="34" charset="0"/>
              </a:rPr>
              <a:t>Storage in water</a:t>
            </a:r>
          </a:p>
          <a:p>
            <a:pPr marL="360000" indent="-360000">
              <a:spcBef>
                <a:spcPts val="600"/>
              </a:spcBef>
              <a:spcAft>
                <a:spcPts val="1200"/>
              </a:spcAft>
            </a:pPr>
            <a:r>
              <a:rPr lang="en-US" sz="2200" dirty="0" smtClean="0">
                <a:latin typeface="Helvetica" pitchFamily="34" charset="0"/>
              </a:rPr>
              <a:t>Cartouche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195</a:t>
            </a:fld>
            <a:endParaRPr lang="en-US" dirty="0">
              <a:latin typeface="Helvetica" pitchFamily="34" charset="0"/>
            </a:endParaRPr>
          </a:p>
        </p:txBody>
      </p:sp>
      <p:pic>
        <p:nvPicPr>
          <p:cNvPr id="2051" name="Picture 3" descr="C:\Documents and Settings\danielc\Desktop\cartouche.jpg"/>
          <p:cNvPicPr>
            <a:picLocks noChangeAspect="1" noChangeArrowheads="1"/>
          </p:cNvPicPr>
          <p:nvPr/>
        </p:nvPicPr>
        <p:blipFill>
          <a:blip r:embed="rId3" cstate="print"/>
          <a:srcRect/>
          <a:stretch>
            <a:fillRect/>
          </a:stretch>
        </p:blipFill>
        <p:spPr bwMode="auto">
          <a:xfrm>
            <a:off x="5429256" y="2000240"/>
            <a:ext cx="2365356" cy="1774017"/>
          </a:xfrm>
          <a:prstGeom prst="rect">
            <a:avLst/>
          </a:prstGeom>
          <a:noFill/>
        </p:spPr>
      </p:pic>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Cryovac packaging:</a:t>
            </a:r>
          </a:p>
          <a:p>
            <a:pPr marL="360000" indent="-360000">
              <a:spcBef>
                <a:spcPts val="600"/>
              </a:spcBef>
              <a:spcAft>
                <a:spcPts val="1200"/>
              </a:spcAft>
            </a:pPr>
            <a:r>
              <a:rPr lang="en-US" sz="2200" dirty="0" smtClean="0">
                <a:latin typeface="Helvetica" pitchFamily="34" charset="0"/>
              </a:rPr>
              <a:t>Vacuum packaging of meat</a:t>
            </a:r>
          </a:p>
          <a:p>
            <a:pPr marL="360000" indent="-360000">
              <a:spcBef>
                <a:spcPts val="600"/>
              </a:spcBef>
              <a:spcAft>
                <a:spcPts val="1200"/>
              </a:spcAft>
            </a:pPr>
            <a:r>
              <a:rPr lang="en-US" sz="2200" dirty="0" smtClean="0">
                <a:latin typeface="Helvetica" pitchFamily="34" charset="0"/>
              </a:rPr>
              <a:t>Should be stored at -1˚C to 0 ˚C</a:t>
            </a:r>
          </a:p>
          <a:p>
            <a:pPr marL="360000" indent="-360000">
              <a:spcBef>
                <a:spcPts val="600"/>
              </a:spcBef>
              <a:spcAft>
                <a:spcPts val="1200"/>
              </a:spcAft>
            </a:pPr>
            <a:r>
              <a:rPr lang="en-US" sz="2200" dirty="0" smtClean="0">
                <a:latin typeface="Helvetica" pitchFamily="34" charset="0"/>
              </a:rPr>
              <a:t>Extends storage life of meat</a:t>
            </a:r>
          </a:p>
          <a:p>
            <a:pPr marL="360000" indent="-360000">
              <a:spcBef>
                <a:spcPts val="600"/>
              </a:spcBef>
              <a:spcAft>
                <a:spcPts val="1200"/>
              </a:spcAft>
            </a:pPr>
            <a:r>
              <a:rPr lang="en-US" sz="2200" dirty="0" smtClean="0">
                <a:latin typeface="Helvetica" pitchFamily="34" charset="0"/>
              </a:rPr>
              <a:t>Meat may give off a strong smell when opened – should disappear after a few minutes: if not, discard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196</a:t>
            </a:fld>
            <a:endParaRPr lang="en-US" dirty="0">
              <a:latin typeface="Helvetica" pitchFamily="34" charset="0"/>
            </a:endParaRPr>
          </a:p>
        </p:txBody>
      </p:sp>
      <p:pic>
        <p:nvPicPr>
          <p:cNvPr id="51202" name="Picture 2" descr="C:\Documents and Settings\danielc\Desktop\pork spare ribs in Cryovac packaging and plastic wrap.jpg"/>
          <p:cNvPicPr>
            <a:picLocks noChangeAspect="1" noChangeArrowheads="1"/>
          </p:cNvPicPr>
          <p:nvPr/>
        </p:nvPicPr>
        <p:blipFill>
          <a:blip r:embed="rId3" cstate="print"/>
          <a:srcRect t="21377"/>
          <a:stretch>
            <a:fillRect/>
          </a:stretch>
        </p:blipFill>
        <p:spPr bwMode="auto">
          <a:xfrm flipV="1">
            <a:off x="5929322" y="2357430"/>
            <a:ext cx="2161249" cy="1214446"/>
          </a:xfrm>
          <a:prstGeom prst="rect">
            <a:avLst/>
          </a:prstGeom>
          <a:noFill/>
        </p:spPr>
      </p:pic>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Standard practice of Cryovac meat:</a:t>
            </a:r>
          </a:p>
          <a:p>
            <a:pPr marL="360000" indent="-360000">
              <a:spcBef>
                <a:spcPts val="600"/>
              </a:spcBef>
              <a:spcAft>
                <a:spcPts val="1200"/>
              </a:spcAft>
            </a:pPr>
            <a:r>
              <a:rPr lang="en-US" sz="2200" dirty="0" smtClean="0">
                <a:latin typeface="Helvetica" pitchFamily="34" charset="0"/>
              </a:rPr>
              <a:t>Store in pack until needed</a:t>
            </a:r>
          </a:p>
          <a:p>
            <a:pPr marL="360000" indent="-360000">
              <a:spcBef>
                <a:spcPts val="600"/>
              </a:spcBef>
              <a:spcAft>
                <a:spcPts val="1200"/>
              </a:spcAft>
            </a:pPr>
            <a:r>
              <a:rPr lang="en-US" sz="2200" dirty="0" smtClean="0">
                <a:latin typeface="Helvetica" pitchFamily="34" charset="0"/>
              </a:rPr>
              <a:t>Place opened meat onto clean tray – </a:t>
            </a:r>
            <a:br>
              <a:rPr lang="en-US" sz="2200" dirty="0" smtClean="0">
                <a:latin typeface="Helvetica" pitchFamily="34" charset="0"/>
              </a:rPr>
            </a:br>
            <a:r>
              <a:rPr lang="en-US" sz="2200" dirty="0" smtClean="0">
                <a:latin typeface="Helvetica" pitchFamily="34" charset="0"/>
              </a:rPr>
              <a:t>fat side up</a:t>
            </a:r>
          </a:p>
          <a:p>
            <a:pPr marL="360000" indent="-360000">
              <a:spcBef>
                <a:spcPts val="600"/>
              </a:spcBef>
              <a:spcAft>
                <a:spcPts val="1200"/>
              </a:spcAft>
            </a:pPr>
            <a:r>
              <a:rPr lang="en-US" sz="2200" dirty="0" smtClean="0">
                <a:latin typeface="Helvetica" pitchFamily="34" charset="0"/>
              </a:rPr>
              <a:t>Do not replace unused meat back into </a:t>
            </a:r>
            <a:br>
              <a:rPr lang="en-US" sz="2200" dirty="0" smtClean="0">
                <a:latin typeface="Helvetica" pitchFamily="34" charset="0"/>
              </a:rPr>
            </a:br>
            <a:r>
              <a:rPr lang="en-US" sz="2200" dirty="0" smtClean="0">
                <a:latin typeface="Helvetica" pitchFamily="34" charset="0"/>
              </a:rPr>
              <a:t>Cryovac pack</a:t>
            </a:r>
          </a:p>
          <a:p>
            <a:pPr marL="360000" indent="-360000">
              <a:spcBef>
                <a:spcPts val="600"/>
              </a:spcBef>
              <a:spcAft>
                <a:spcPts val="1200"/>
              </a:spcAft>
            </a:pPr>
            <a:r>
              <a:rPr lang="en-US" sz="2200" dirty="0" smtClean="0">
                <a:latin typeface="Helvetica" pitchFamily="34" charset="0"/>
              </a:rPr>
              <a:t>Labels should face outwards</a:t>
            </a:r>
          </a:p>
          <a:p>
            <a:pPr marL="360000" indent="-360000">
              <a:spcBef>
                <a:spcPts val="600"/>
              </a:spcBef>
              <a:spcAft>
                <a:spcPts val="1200"/>
              </a:spcAft>
            </a:pPr>
            <a:r>
              <a:rPr lang="en-US" sz="2200" dirty="0" smtClean="0">
                <a:latin typeface="Helvetica" pitchFamily="34" charset="0"/>
              </a:rPr>
              <a:t>Times for storage as stated on label only apply if store temperature is correct (that is, -1˚C consistently)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197</a:t>
            </a:fld>
            <a:endParaRPr lang="en-US" dirty="0">
              <a:latin typeface="Helvetica" pitchFamily="34" charset="0"/>
            </a:endParaRPr>
          </a:p>
        </p:txBody>
      </p:sp>
      <p:pic>
        <p:nvPicPr>
          <p:cNvPr id="52226" name="Picture 2" descr="C:\Documents and Settings\danielc\Desktop\tritip1.jpg"/>
          <p:cNvPicPr>
            <a:picLocks noChangeAspect="1" noChangeArrowheads="1"/>
          </p:cNvPicPr>
          <p:nvPr/>
        </p:nvPicPr>
        <p:blipFill>
          <a:blip r:embed="rId3" cstate="print"/>
          <a:srcRect l="17480" r="24658"/>
          <a:stretch>
            <a:fillRect/>
          </a:stretch>
        </p:blipFill>
        <p:spPr bwMode="auto">
          <a:xfrm>
            <a:off x="6500826" y="2428868"/>
            <a:ext cx="1763637" cy="2286016"/>
          </a:xfrm>
          <a:prstGeom prst="rect">
            <a:avLst/>
          </a:prstGeom>
          <a:noFill/>
        </p:spPr>
      </p:pic>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General storage conditions for raw meat:</a:t>
            </a:r>
          </a:p>
          <a:p>
            <a:pPr marL="360000" indent="-360000">
              <a:spcBef>
                <a:spcPts val="600"/>
              </a:spcBef>
              <a:spcAft>
                <a:spcPts val="1200"/>
              </a:spcAft>
            </a:pPr>
            <a:r>
              <a:rPr lang="en-US" sz="2200" dirty="0" smtClean="0">
                <a:latin typeface="Helvetica" pitchFamily="34" charset="0"/>
              </a:rPr>
              <a:t>Temperature range: 1˚C to 3˚C</a:t>
            </a:r>
          </a:p>
          <a:p>
            <a:pPr marL="360000" indent="-360000">
              <a:spcBef>
                <a:spcPts val="600"/>
              </a:spcBef>
              <a:spcAft>
                <a:spcPts val="1200"/>
              </a:spcAft>
            </a:pPr>
            <a:r>
              <a:rPr lang="en-US" sz="2200" dirty="0" smtClean="0">
                <a:latin typeface="Helvetica" pitchFamily="34" charset="0"/>
              </a:rPr>
              <a:t>Humidity: 85%</a:t>
            </a:r>
          </a:p>
          <a:p>
            <a:pPr marL="360000" indent="-360000">
              <a:spcBef>
                <a:spcPts val="600"/>
              </a:spcBef>
              <a:spcAft>
                <a:spcPts val="1200"/>
              </a:spcAft>
            </a:pPr>
            <a:r>
              <a:rPr lang="en-US" sz="2200" dirty="0" smtClean="0">
                <a:latin typeface="Helvetica" pitchFamily="34" charset="0"/>
              </a:rPr>
              <a:t>Single-stack meat – do not put meat on </a:t>
            </a:r>
            <a:br>
              <a:rPr lang="en-US" sz="2200" dirty="0" smtClean="0">
                <a:latin typeface="Helvetica" pitchFamily="34" charset="0"/>
              </a:rPr>
            </a:br>
            <a:r>
              <a:rPr lang="en-US" sz="2200" dirty="0" smtClean="0">
                <a:latin typeface="Helvetica" pitchFamily="34" charset="0"/>
              </a:rPr>
              <a:t>top of meat</a:t>
            </a:r>
          </a:p>
          <a:p>
            <a:pPr marL="360000" indent="-360000">
              <a:spcBef>
                <a:spcPts val="600"/>
              </a:spcBef>
              <a:spcAft>
                <a:spcPts val="1200"/>
              </a:spcAft>
            </a:pPr>
            <a:r>
              <a:rPr lang="en-US" sz="2200" dirty="0" smtClean="0">
                <a:latin typeface="Helvetica" pitchFamily="34" charset="0"/>
              </a:rPr>
              <a:t>Change meat trays regularly</a:t>
            </a:r>
          </a:p>
          <a:p>
            <a:pPr marL="360000" indent="-360000">
              <a:spcBef>
                <a:spcPts val="600"/>
              </a:spcBef>
              <a:spcAft>
                <a:spcPts val="1200"/>
              </a:spcAft>
            </a:pPr>
            <a:r>
              <a:rPr lang="en-US" sz="2200" dirty="0" smtClean="0">
                <a:latin typeface="Helvetica" pitchFamily="34" charset="0"/>
              </a:rPr>
              <a:t>Cover exposed meat with plastic wrap</a:t>
            </a:r>
          </a:p>
          <a:p>
            <a:pPr marL="360000" indent="-360000">
              <a:spcBef>
                <a:spcPts val="600"/>
              </a:spcBef>
              <a:spcAft>
                <a:spcPts val="1200"/>
              </a:spcAft>
            </a:pPr>
            <a:r>
              <a:rPr lang="en-US" sz="2200" dirty="0" smtClean="0">
                <a:latin typeface="Helvetica" pitchFamily="34" charset="0"/>
              </a:rPr>
              <a:t>Do not mix different types of meat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198</a:t>
            </a:fld>
            <a:endParaRPr lang="en-US" dirty="0">
              <a:latin typeface="Helvetica" pitchFamily="34" charset="0"/>
            </a:endParaRPr>
          </a:p>
        </p:txBody>
      </p:sp>
      <p:pic>
        <p:nvPicPr>
          <p:cNvPr id="53251" name="Picture 3" descr="C:\Documents and Settings\danielc\Local Settings\Temporary Internet Files\Content.IE5\Y88G682L\MP900438778[1].jpg"/>
          <p:cNvPicPr>
            <a:picLocks noChangeAspect="1" noChangeArrowheads="1"/>
          </p:cNvPicPr>
          <p:nvPr/>
        </p:nvPicPr>
        <p:blipFill>
          <a:blip r:embed="rId3" cstate="print"/>
          <a:srcRect/>
          <a:stretch>
            <a:fillRect/>
          </a:stretch>
        </p:blipFill>
        <p:spPr bwMode="auto">
          <a:xfrm>
            <a:off x="6786578" y="2786058"/>
            <a:ext cx="1500182" cy="1500182"/>
          </a:xfrm>
          <a:prstGeom prst="rect">
            <a:avLst/>
          </a:prstGeom>
          <a:noFill/>
        </p:spPr>
      </p:pic>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fresh </a:t>
            </a:r>
            <a:r>
              <a:rPr lang="en-US" sz="3400" b="1" dirty="0" smtClean="0">
                <a:solidFill>
                  <a:srgbClr val="FF6600"/>
                </a:solidFill>
              </a:rPr>
              <a:t>and </a:t>
            </a:r>
            <a:r>
              <a:rPr lang="en-US" sz="3400" b="1" dirty="0" smtClean="0">
                <a:solidFill>
                  <a:srgbClr val="FF6600"/>
                </a:solidFill>
                <a:latin typeface="Helvetica" pitchFamily="34" charset="0"/>
              </a:rPr>
              <a:t>or Cryovac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Do not mix raw and cooked meats</a:t>
            </a:r>
          </a:p>
          <a:p>
            <a:pPr marL="360000" indent="-360000">
              <a:spcBef>
                <a:spcPts val="600"/>
              </a:spcBef>
              <a:spcAft>
                <a:spcPts val="1200"/>
              </a:spcAft>
            </a:pPr>
            <a:r>
              <a:rPr lang="en-US" sz="2200" dirty="0" smtClean="0">
                <a:latin typeface="Helvetica" pitchFamily="34" charset="0"/>
              </a:rPr>
              <a:t>Implement stock rotation – FIFO</a:t>
            </a:r>
          </a:p>
          <a:p>
            <a:pPr marL="360000" indent="-360000">
              <a:spcBef>
                <a:spcPts val="600"/>
              </a:spcBef>
              <a:spcAft>
                <a:spcPts val="1200"/>
              </a:spcAft>
            </a:pPr>
            <a:r>
              <a:rPr lang="en-US" sz="2200" dirty="0" smtClean="0">
                <a:latin typeface="Helvetica" pitchFamily="34" charset="0"/>
              </a:rPr>
              <a:t>Store cooked meats on top shelves</a:t>
            </a:r>
          </a:p>
          <a:p>
            <a:pPr marL="360000" indent="-360000">
              <a:spcBef>
                <a:spcPts val="600"/>
              </a:spcBef>
              <a:spcAft>
                <a:spcPts val="1200"/>
              </a:spcAft>
            </a:pPr>
            <a:r>
              <a:rPr lang="en-US" sz="2200" dirty="0" smtClean="0">
                <a:latin typeface="Helvetica" pitchFamily="34" charset="0"/>
              </a:rPr>
              <a:t>Store prepared meat on second shelf</a:t>
            </a:r>
          </a:p>
          <a:p>
            <a:pPr marL="360000" indent="-360000">
              <a:spcBef>
                <a:spcPts val="600"/>
              </a:spcBef>
              <a:spcAft>
                <a:spcPts val="1200"/>
              </a:spcAft>
            </a:pPr>
            <a:r>
              <a:rPr lang="en-US" sz="2200" dirty="0" smtClean="0">
                <a:latin typeface="Helvetica" pitchFamily="34" charset="0"/>
              </a:rPr>
              <a:t>Store packed Cryovac meat on lowest shelf</a:t>
            </a:r>
          </a:p>
          <a:p>
            <a:pPr marL="360000" indent="-360000">
              <a:spcBef>
                <a:spcPts val="600"/>
              </a:spcBef>
              <a:spcAft>
                <a:spcPts val="1200"/>
              </a:spcAft>
            </a:pPr>
            <a:r>
              <a:rPr lang="en-US" sz="2200" dirty="0" smtClean="0">
                <a:latin typeface="Helvetica" pitchFamily="34" charset="0"/>
              </a:rPr>
              <a:t>Thaw meats on lowest shelf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199</a:t>
            </a:fld>
            <a:endParaRPr lang="en-US" dirty="0">
              <a:latin typeface="Helvetica" pitchFamily="34" charset="0"/>
            </a:endParaRPr>
          </a:p>
        </p:txBody>
      </p:sp>
      <p:pic>
        <p:nvPicPr>
          <p:cNvPr id="54275" name="Picture 3" descr="C:\Documents and Settings\danielc\Local Settings\Temporary Internet Files\Content.IE5\3DV3UKH9\MC900151699[1].wmf"/>
          <p:cNvPicPr>
            <a:picLocks noChangeAspect="1" noChangeArrowheads="1"/>
          </p:cNvPicPr>
          <p:nvPr/>
        </p:nvPicPr>
        <p:blipFill>
          <a:blip r:embed="rId3" cstate="print"/>
          <a:srcRect/>
          <a:stretch>
            <a:fillRect/>
          </a:stretch>
        </p:blipFill>
        <p:spPr bwMode="auto">
          <a:xfrm>
            <a:off x="6000760" y="1928802"/>
            <a:ext cx="1823314" cy="1695298"/>
          </a:xfrm>
          <a:prstGeom prst="rect">
            <a:avLst/>
          </a:prstGeom>
          <a:noFill/>
        </p:spPr>
      </p:pic>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Considerations when selecting storage containers:</a:t>
            </a:r>
          </a:p>
          <a:p>
            <a:pPr marL="360000" indent="-360000">
              <a:spcBef>
                <a:spcPts val="600"/>
              </a:spcBef>
              <a:spcAft>
                <a:spcPts val="1200"/>
              </a:spcAft>
            </a:pPr>
            <a:r>
              <a:rPr lang="en-US" sz="2200" dirty="0" smtClean="0">
                <a:latin typeface="Helvetica" pitchFamily="34" charset="0"/>
              </a:rPr>
              <a:t>Must be ‘suitable’</a:t>
            </a:r>
          </a:p>
          <a:p>
            <a:pPr marL="360000" indent="-360000">
              <a:spcBef>
                <a:spcPts val="600"/>
              </a:spcBef>
              <a:spcAft>
                <a:spcPts val="1200"/>
              </a:spcAft>
            </a:pPr>
            <a:r>
              <a:rPr lang="en-US" sz="2200" dirty="0" smtClean="0">
                <a:latin typeface="Helvetica" pitchFamily="34" charset="0"/>
              </a:rPr>
              <a:t>Must be right size</a:t>
            </a:r>
          </a:p>
          <a:p>
            <a:pPr marL="360000" indent="-360000">
              <a:spcBef>
                <a:spcPts val="600"/>
              </a:spcBef>
              <a:spcAft>
                <a:spcPts val="1200"/>
              </a:spcAft>
            </a:pPr>
            <a:r>
              <a:rPr lang="en-US" sz="2200" dirty="0" smtClean="0">
                <a:latin typeface="Helvetica" pitchFamily="34" charset="0"/>
              </a:rPr>
              <a:t>Must be suitable shape</a:t>
            </a:r>
          </a:p>
          <a:p>
            <a:pPr marL="360000" indent="-360000">
              <a:spcBef>
                <a:spcPts val="600"/>
              </a:spcBef>
              <a:spcAft>
                <a:spcPts val="1200"/>
              </a:spcAft>
            </a:pPr>
            <a:r>
              <a:rPr lang="en-US" sz="2200" dirty="0" smtClean="0">
                <a:latin typeface="Helvetica" pitchFamily="34" charset="0"/>
              </a:rPr>
              <a:t>Must be in good condition</a:t>
            </a:r>
          </a:p>
          <a:p>
            <a:pPr marL="360000" indent="-360000">
              <a:spcBef>
                <a:spcPts val="600"/>
              </a:spcBef>
              <a:spcAft>
                <a:spcPts val="1200"/>
              </a:spcAft>
            </a:pPr>
            <a:r>
              <a:rPr lang="en-US" sz="2200" dirty="0" smtClean="0">
                <a:latin typeface="Helvetica" pitchFamily="34" charset="0"/>
              </a:rPr>
              <a:t>Must be hygienic</a:t>
            </a:r>
          </a:p>
          <a:p>
            <a:pPr marL="360000" indent="-360000">
              <a:spcBef>
                <a:spcPts val="600"/>
              </a:spcBef>
              <a:spcAft>
                <a:spcPts val="1200"/>
              </a:spcAft>
            </a:pPr>
            <a:r>
              <a:rPr lang="en-US" sz="2200" dirty="0" smtClean="0">
                <a:latin typeface="Helvetica" pitchFamily="34" charset="0"/>
              </a:rPr>
              <a:t>Must be made from food grade materials</a:t>
            </a:r>
          </a:p>
          <a:p>
            <a:pPr marL="360000" indent="-360000">
              <a:spcBef>
                <a:spcPts val="600"/>
              </a:spcBef>
              <a:spcAft>
                <a:spcPts val="1200"/>
              </a:spcAft>
            </a:pPr>
            <a:r>
              <a:rPr lang="en-US" sz="2200" dirty="0" smtClean="0">
                <a:latin typeface="Helvetica" pitchFamily="34" charset="0"/>
              </a:rPr>
              <a:t>Must facilitate later or future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200</a:t>
            </a:fld>
            <a:endParaRPr lang="en-US" dirty="0">
              <a:latin typeface="Helvetica" pitchFamily="34" charset="0"/>
            </a:endParaRPr>
          </a:p>
        </p:txBody>
      </p:sp>
      <p:pic>
        <p:nvPicPr>
          <p:cNvPr id="5" name="Picture 4" descr="C:\Documents and Settings\Godaishu\Desktop\PHOTOS\2012\1097510833_4240353410_thumbnail.jpg"/>
          <p:cNvPicPr/>
          <p:nvPr/>
        </p:nvPicPr>
        <p:blipFill>
          <a:blip r:embed="rId3" cstate="print"/>
          <a:srcRect t="12195" b="11382"/>
          <a:stretch>
            <a:fillRect/>
          </a:stretch>
        </p:blipFill>
        <p:spPr bwMode="auto">
          <a:xfrm>
            <a:off x="5643570" y="2714620"/>
            <a:ext cx="1965009" cy="1507433"/>
          </a:xfrm>
          <a:prstGeom prst="rect">
            <a:avLst/>
          </a:prstGeom>
          <a:noFill/>
          <a:ln w="9525">
            <a:noFill/>
            <a:miter lim="800000"/>
            <a:headEnd/>
            <a:tailEnd/>
          </a:ln>
        </p:spPr>
      </p:pic>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storage containers:</a:t>
            </a:r>
          </a:p>
          <a:p>
            <a:pPr marL="360000" indent="-360000">
              <a:spcBef>
                <a:spcPts val="600"/>
              </a:spcBef>
              <a:spcAft>
                <a:spcPts val="1200"/>
              </a:spcAft>
            </a:pPr>
            <a:r>
              <a:rPr lang="en-US" sz="2200" dirty="0" smtClean="0">
                <a:latin typeface="Helvetica" pitchFamily="34" charset="0"/>
              </a:rPr>
              <a:t>Stainless steel and hard plastic are common and acceptable</a:t>
            </a:r>
          </a:p>
          <a:p>
            <a:pPr marL="360000" indent="-360000">
              <a:spcBef>
                <a:spcPts val="600"/>
              </a:spcBef>
              <a:spcAft>
                <a:spcPts val="1200"/>
              </a:spcAft>
            </a:pPr>
            <a:r>
              <a:rPr lang="en-US" sz="2200" dirty="0" smtClean="0">
                <a:latin typeface="Helvetica" pitchFamily="34" charset="0"/>
              </a:rPr>
              <a:t>Glass and ceramic </a:t>
            </a:r>
            <a:r>
              <a:rPr lang="en-US" sz="2200" i="1" dirty="0" smtClean="0">
                <a:latin typeface="Helvetica" pitchFamily="34" charset="0"/>
              </a:rPr>
              <a:t>may </a:t>
            </a:r>
            <a:r>
              <a:rPr lang="en-US" sz="2200" dirty="0" smtClean="0">
                <a:latin typeface="Helvetica" pitchFamily="34" charset="0"/>
              </a:rPr>
              <a:t>be used</a:t>
            </a:r>
          </a:p>
          <a:p>
            <a:pPr marL="360000" indent="-360000">
              <a:spcBef>
                <a:spcPts val="600"/>
              </a:spcBef>
              <a:spcAft>
                <a:spcPts val="1200"/>
              </a:spcAft>
            </a:pPr>
            <a:r>
              <a:rPr lang="en-US" sz="2200" dirty="0" smtClean="0">
                <a:latin typeface="Helvetica" pitchFamily="34" charset="0"/>
              </a:rPr>
              <a:t>Cardboard boxes or cartons not recommended</a:t>
            </a:r>
          </a:p>
          <a:p>
            <a:pPr marL="360000" indent="-360000">
              <a:spcBef>
                <a:spcPts val="600"/>
              </a:spcBef>
              <a:spcAft>
                <a:spcPts val="1200"/>
              </a:spcAft>
            </a:pPr>
            <a:r>
              <a:rPr lang="en-US" sz="2200" dirty="0" smtClean="0">
                <a:latin typeface="Helvetica" pitchFamily="34" charset="0"/>
              </a:rPr>
              <a:t>Aluminium should not be used</a:t>
            </a:r>
          </a:p>
          <a:p>
            <a:pPr marL="360000" indent="-360000">
              <a:spcBef>
                <a:spcPts val="600"/>
              </a:spcBef>
              <a:spcAft>
                <a:spcPts val="1200"/>
              </a:spcAft>
            </a:pPr>
            <a:r>
              <a:rPr lang="en-US" sz="2200" dirty="0" smtClean="0">
                <a:latin typeface="Helvetica" pitchFamily="34" charset="0"/>
              </a:rPr>
              <a:t>All containers must be cleaned and sanitised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201</a:t>
            </a:fld>
            <a:endParaRPr lang="en-US" dirty="0">
              <a:latin typeface="Helvetica" pitchFamily="34" charset="0"/>
            </a:endParaRPr>
          </a:p>
        </p:txBody>
      </p:sp>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food grade storage containers:</a:t>
            </a:r>
          </a:p>
          <a:p>
            <a:pPr marL="360000" indent="-360000">
              <a:spcBef>
                <a:spcPts val="600"/>
              </a:spcBef>
              <a:spcAft>
                <a:spcPts val="1200"/>
              </a:spcAft>
            </a:pPr>
            <a:r>
              <a:rPr lang="en-US" sz="2200" dirty="0" smtClean="0">
                <a:latin typeface="Helvetica" pitchFamily="34" charset="0"/>
              </a:rPr>
              <a:t>Plastic disposable containers or tubs</a:t>
            </a:r>
          </a:p>
          <a:p>
            <a:pPr marL="360000" indent="-360000">
              <a:spcBef>
                <a:spcPts val="600"/>
              </a:spcBef>
              <a:spcAft>
                <a:spcPts val="1200"/>
              </a:spcAft>
            </a:pPr>
            <a:r>
              <a:rPr lang="en-US" sz="2200" dirty="0" smtClean="0">
                <a:latin typeface="Helvetica" pitchFamily="34" charset="0"/>
              </a:rPr>
              <a:t>Tupperware</a:t>
            </a:r>
          </a:p>
          <a:p>
            <a:pPr marL="360000" indent="-360000">
              <a:spcBef>
                <a:spcPts val="600"/>
              </a:spcBef>
              <a:spcAft>
                <a:spcPts val="1200"/>
              </a:spcAft>
            </a:pPr>
            <a:r>
              <a:rPr lang="en-US" sz="2200" dirty="0" smtClean="0">
                <a:latin typeface="Helvetica" pitchFamily="34" charset="0"/>
              </a:rPr>
              <a:t>Aluminium foil trays</a:t>
            </a:r>
          </a:p>
          <a:p>
            <a:pPr marL="360000" indent="-360000">
              <a:spcBef>
                <a:spcPts val="600"/>
              </a:spcBef>
              <a:spcAft>
                <a:spcPts val="1200"/>
              </a:spcAft>
            </a:pPr>
            <a:r>
              <a:rPr lang="en-US" sz="2200" dirty="0" smtClean="0">
                <a:latin typeface="Helvetica" pitchFamily="34" charset="0"/>
              </a:rPr>
              <a:t>Plastic meat tubs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202</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643702" y="3143248"/>
            <a:ext cx="1143008" cy="1143008"/>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429388" y="1894868"/>
            <a:ext cx="1381124" cy="1053107"/>
          </a:xfrm>
          <a:prstGeom prst="rect">
            <a:avLst/>
          </a:prstGeom>
        </p:spPr>
      </p:pic>
    </p:spTree>
  </p:cSld>
  <p:clrMapOvr>
    <a:masterClrMapping/>
  </p:clrMapOv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3050"/>
            <a:ext cx="7467600" cy="4525963"/>
          </a:xfrm>
        </p:spPr>
        <p:txBody>
          <a:bodyPr>
            <a:normAutofit/>
          </a:bodyPr>
          <a:lstStyle/>
          <a:p>
            <a:pPr marL="360000" indent="-360000">
              <a:spcBef>
                <a:spcPts val="600"/>
              </a:spcBef>
              <a:spcAft>
                <a:spcPts val="1200"/>
              </a:spcAft>
            </a:pPr>
            <a:r>
              <a:rPr lang="en-US" sz="2200" dirty="0" err="1" smtClean="0">
                <a:latin typeface="Helvetica" pitchFamily="34" charset="0"/>
              </a:rPr>
              <a:t>Gastronorm</a:t>
            </a:r>
            <a:r>
              <a:rPr lang="en-US" sz="2200" dirty="0" smtClean="0">
                <a:latin typeface="Helvetica" pitchFamily="34" charset="0"/>
              </a:rPr>
              <a:t> trays</a:t>
            </a:r>
          </a:p>
          <a:p>
            <a:pPr marL="360000" indent="-360000">
              <a:spcBef>
                <a:spcPts val="600"/>
              </a:spcBef>
              <a:spcAft>
                <a:spcPts val="1200"/>
              </a:spcAft>
            </a:pPr>
            <a:r>
              <a:rPr lang="en-US" sz="2200" dirty="0" smtClean="0">
                <a:latin typeface="Helvetica" pitchFamily="34" charset="0"/>
              </a:rPr>
              <a:t>Gastronorm perforated trays</a:t>
            </a:r>
          </a:p>
          <a:p>
            <a:pPr marL="360000" indent="-360000">
              <a:spcBef>
                <a:spcPts val="600"/>
              </a:spcBef>
              <a:spcAft>
                <a:spcPts val="1200"/>
              </a:spcAft>
            </a:pPr>
            <a:r>
              <a:rPr lang="en-US" sz="2200" dirty="0" smtClean="0">
                <a:latin typeface="Helvetica" pitchFamily="34" charset="0"/>
              </a:rPr>
              <a:t>Stainless steel bowls</a:t>
            </a:r>
          </a:p>
          <a:p>
            <a:pPr marL="360000" indent="-360000">
              <a:spcBef>
                <a:spcPts val="600"/>
              </a:spcBef>
              <a:spcAft>
                <a:spcPts val="1200"/>
              </a:spcAft>
            </a:pPr>
            <a:r>
              <a:rPr lang="en-US" sz="2200" dirty="0" smtClean="0">
                <a:latin typeface="Helvetica" pitchFamily="34" charset="0"/>
              </a:rPr>
              <a:t>Glass bowls</a:t>
            </a:r>
          </a:p>
          <a:p>
            <a:pPr marL="360000" indent="-360000">
              <a:spcBef>
                <a:spcPts val="600"/>
              </a:spcBef>
              <a:spcAft>
                <a:spcPts val="1200"/>
              </a:spcAft>
            </a:pPr>
            <a:r>
              <a:rPr lang="en-US" sz="2200" dirty="0" smtClean="0">
                <a:latin typeface="Helvetica" pitchFamily="34" charset="0"/>
              </a:rPr>
              <a:t>Ceramic dishes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203</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215074" y="1857364"/>
            <a:ext cx="1538665" cy="625082"/>
          </a:xfrm>
          <a:prstGeom prst="rect">
            <a:avLst/>
          </a:prstGeom>
        </p:spPr>
      </p:pic>
      <p:pic>
        <p:nvPicPr>
          <p:cNvPr id="6" name="Picture 5"/>
          <p:cNvPicPr/>
          <p:nvPr/>
        </p:nvPicPr>
        <p:blipFill>
          <a:blip r:embed="rId4"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429388" y="2571744"/>
            <a:ext cx="1420811" cy="714374"/>
          </a:xfrm>
          <a:prstGeom prst="rect">
            <a:avLst/>
          </a:prstGeom>
        </p:spPr>
      </p:pic>
      <p:pic>
        <p:nvPicPr>
          <p:cNvPr id="7" name="Picture 6"/>
          <p:cNvPicPr/>
          <p:nvPr/>
        </p:nvPicPr>
        <p:blipFill>
          <a:blip r:embed="rId5"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643702" y="3500438"/>
            <a:ext cx="1190628" cy="1064124"/>
          </a:xfrm>
          <a:prstGeom prst="rect">
            <a:avLst/>
          </a:prstGeom>
        </p:spPr>
      </p:pic>
      <p:pic>
        <p:nvPicPr>
          <p:cNvPr id="8" name="Picture 7"/>
          <p:cNvPicPr/>
          <p:nvPr/>
        </p:nvPicPr>
        <p:blipFill>
          <a:blip r:embed="rId6"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5143504" y="2643182"/>
            <a:ext cx="1038227" cy="1038227"/>
          </a:xfrm>
          <a:prstGeom prst="rect">
            <a:avLst/>
          </a:prstGeom>
        </p:spPr>
      </p:pic>
      <p:pic>
        <p:nvPicPr>
          <p:cNvPr id="9" name="Picture 8"/>
          <p:cNvPicPr/>
          <p:nvPr/>
        </p:nvPicPr>
        <p:blipFill>
          <a:blip r:embed="rId7" cstate="print">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4929190" y="3786190"/>
            <a:ext cx="1457325" cy="664905"/>
          </a:xfrm>
          <a:prstGeom prst="rect">
            <a:avLst/>
          </a:prstGeom>
        </p:spPr>
      </p:pic>
    </p:spTree>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Other items for storing food include:</a:t>
            </a:r>
          </a:p>
          <a:p>
            <a:pPr marL="360000" indent="-360000">
              <a:spcBef>
                <a:spcPts val="600"/>
              </a:spcBef>
              <a:spcAft>
                <a:spcPts val="1200"/>
              </a:spcAft>
            </a:pPr>
            <a:r>
              <a:rPr lang="en-AU" sz="2200" dirty="0" smtClean="0">
                <a:latin typeface="Helvetica" pitchFamily="34" charset="0"/>
              </a:rPr>
              <a:t>Plastic cling wrap</a:t>
            </a:r>
          </a:p>
          <a:p>
            <a:pPr marL="360000" indent="-360000">
              <a:spcBef>
                <a:spcPts val="600"/>
              </a:spcBef>
              <a:spcAft>
                <a:spcPts val="1200"/>
              </a:spcAft>
            </a:pPr>
            <a:r>
              <a:rPr lang="en-AU" sz="2200" dirty="0" smtClean="0">
                <a:latin typeface="Helvetica" pitchFamily="34" charset="0"/>
              </a:rPr>
              <a:t>Aluminium foil</a:t>
            </a:r>
          </a:p>
          <a:p>
            <a:pPr marL="360000" indent="-360000">
              <a:spcBef>
                <a:spcPts val="600"/>
              </a:spcBef>
              <a:spcAft>
                <a:spcPts val="1200"/>
              </a:spcAft>
            </a:pPr>
            <a:r>
              <a:rPr lang="en-AU" sz="2200" dirty="0" smtClean="0">
                <a:latin typeface="Helvetica" pitchFamily="34" charset="0"/>
              </a:rPr>
              <a:t>Silicon paper</a:t>
            </a:r>
          </a:p>
          <a:p>
            <a:pPr marL="360000" indent="-360000">
              <a:spcBef>
                <a:spcPts val="600"/>
              </a:spcBef>
              <a:spcAft>
                <a:spcPts val="1200"/>
              </a:spcAft>
            </a:pPr>
            <a:r>
              <a:rPr lang="en-AU" sz="2200" dirty="0" smtClean="0">
                <a:latin typeface="Helvetica" pitchFamily="34" charset="0"/>
              </a:rPr>
              <a:t>Greaseproof paper</a:t>
            </a:r>
          </a:p>
          <a:p>
            <a:pPr marL="360000" indent="-360000">
              <a:spcBef>
                <a:spcPts val="600"/>
              </a:spcBef>
              <a:spcAft>
                <a:spcPts val="1200"/>
              </a:spcAft>
            </a:pPr>
            <a:r>
              <a:rPr lang="en-AU" sz="2200" dirty="0" smtClean="0">
                <a:latin typeface="Helvetica" pitchFamily="34" charset="0"/>
              </a:rPr>
              <a:t>Plastic Cryovac bags</a:t>
            </a:r>
          </a:p>
          <a:p>
            <a:pPr marL="360000" indent="-360000">
              <a:spcBef>
                <a:spcPts val="600"/>
              </a:spcBef>
              <a:spcAft>
                <a:spcPts val="1200"/>
              </a:spcAft>
            </a:pPr>
            <a:r>
              <a:rPr lang="en-AU" sz="2200" dirty="0" smtClean="0">
                <a:latin typeface="Helvetica" pitchFamily="34" charset="0"/>
              </a:rPr>
              <a:t>Freezer bags</a:t>
            </a:r>
          </a:p>
          <a:p>
            <a:pPr marL="360000" indent="-360000">
              <a:spcBef>
                <a:spcPts val="600"/>
              </a:spcBef>
              <a:spcAft>
                <a:spcPts val="1200"/>
              </a:spcAft>
            </a:pPr>
            <a:r>
              <a:rPr lang="en-AU" sz="2200" dirty="0" smtClean="0">
                <a:latin typeface="Helvetica" pitchFamily="34" charset="0"/>
              </a:rPr>
              <a:t>Zip lock plastic bags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204</a:t>
            </a:fld>
            <a:endParaRPr lang="en-US" dirty="0">
              <a:latin typeface="Helvetica" pitchFamily="34" charset="0"/>
            </a:endParaRPr>
          </a:p>
        </p:txBody>
      </p:sp>
      <p:pic>
        <p:nvPicPr>
          <p:cNvPr id="55298" name="Picture 2" descr="C:\Documents and Settings\danielc\Desktop\ziploc.jpg"/>
          <p:cNvPicPr>
            <a:picLocks noChangeAspect="1" noChangeArrowheads="1"/>
          </p:cNvPicPr>
          <p:nvPr/>
        </p:nvPicPr>
        <p:blipFill>
          <a:blip r:embed="rId3" cstate="print">
            <a:lum contrast="10000"/>
          </a:blip>
          <a:srcRect/>
          <a:stretch>
            <a:fillRect/>
          </a:stretch>
        </p:blipFill>
        <p:spPr bwMode="auto">
          <a:xfrm>
            <a:off x="5000628" y="2643182"/>
            <a:ext cx="2038350" cy="2247900"/>
          </a:xfrm>
          <a:prstGeom prst="rect">
            <a:avLst/>
          </a:prstGeom>
          <a:noFill/>
        </p:spPr>
      </p:pic>
    </p:spTree>
  </p:cSld>
  <p:clrMapOvr>
    <a:masterClrMapping/>
  </p:clrMapOv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Kitchens may have specific enterprise standards or requirements for the storage of food, for example:</a:t>
            </a:r>
          </a:p>
          <a:p>
            <a:pPr marL="360000" indent="-360000">
              <a:spcBef>
                <a:spcPts val="600"/>
              </a:spcBef>
              <a:spcAft>
                <a:spcPts val="1200"/>
              </a:spcAft>
            </a:pPr>
            <a:r>
              <a:rPr lang="en-US" sz="2200" dirty="0" smtClean="0">
                <a:latin typeface="Helvetica" pitchFamily="34" charset="0"/>
              </a:rPr>
              <a:t>Ban on use of glass </a:t>
            </a:r>
            <a:r>
              <a:rPr lang="en-US" sz="2200" dirty="0" smtClean="0"/>
              <a:t>and </a:t>
            </a:r>
            <a:r>
              <a:rPr lang="en-US" sz="2200" dirty="0" smtClean="0">
                <a:latin typeface="Helvetica" pitchFamily="34" charset="0"/>
              </a:rPr>
              <a:t>or ceramic containers</a:t>
            </a:r>
          </a:p>
          <a:p>
            <a:pPr marL="360000" indent="-360000">
              <a:spcBef>
                <a:spcPts val="600"/>
              </a:spcBef>
              <a:spcAft>
                <a:spcPts val="1200"/>
              </a:spcAft>
            </a:pPr>
            <a:r>
              <a:rPr lang="en-US" sz="2200" dirty="0" smtClean="0">
                <a:latin typeface="Helvetica" pitchFamily="34" charset="0"/>
              </a:rPr>
              <a:t>Frequency with which trays or containers </a:t>
            </a:r>
            <a:br>
              <a:rPr lang="en-US" sz="2200" dirty="0" smtClean="0">
                <a:latin typeface="Helvetica" pitchFamily="34" charset="0"/>
              </a:rPr>
            </a:br>
            <a:r>
              <a:rPr lang="en-US" sz="2200" dirty="0" smtClean="0">
                <a:latin typeface="Helvetica" pitchFamily="34" charset="0"/>
              </a:rPr>
              <a:t>must be changed and cleaned</a:t>
            </a:r>
          </a:p>
          <a:p>
            <a:pPr marL="360000" indent="-360000">
              <a:spcBef>
                <a:spcPts val="600"/>
              </a:spcBef>
              <a:spcAft>
                <a:spcPts val="1200"/>
              </a:spcAft>
            </a:pPr>
            <a:r>
              <a:rPr lang="en-US" sz="2200" dirty="0" smtClean="0">
                <a:latin typeface="Helvetica" pitchFamily="34" charset="0"/>
              </a:rPr>
              <a:t>Positions for the placement of items in cool </a:t>
            </a:r>
            <a:br>
              <a:rPr lang="en-US" sz="2200" dirty="0" smtClean="0">
                <a:latin typeface="Helvetica" pitchFamily="34" charset="0"/>
              </a:rPr>
            </a:br>
            <a:r>
              <a:rPr lang="en-US" sz="2200" dirty="0" smtClean="0">
                <a:latin typeface="Helvetica" pitchFamily="34" charset="0"/>
              </a:rPr>
              <a:t>room</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205</a:t>
            </a:fld>
            <a:endParaRPr lang="en-US" dirty="0">
              <a:latin typeface="Helvetica" pitchFamily="34" charset="0"/>
            </a:endParaRPr>
          </a:p>
        </p:txBody>
      </p:sp>
    </p:spTree>
  </p:cSld>
  <p:clrMapOvr>
    <a:masterClrMapping/>
  </p:clrMapOv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Change</a:t>
            </a:r>
            <a:r>
              <a:rPr lang="en-US" sz="3600" dirty="0" smtClean="0">
                <a:latin typeface="Helvetica" pitchFamily="34" charset="0"/>
              </a:rPr>
              <a:t> </a:t>
            </a:r>
            <a:r>
              <a:rPr lang="en-US" sz="3400" b="1" dirty="0" smtClean="0">
                <a:solidFill>
                  <a:srgbClr val="FF6600"/>
                </a:solidFill>
                <a:latin typeface="Helvetica" pitchFamily="34" charset="0"/>
              </a:rPr>
              <a:t>storage containers and trays to enterprise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Mandatory storage requirements or guidelines for the storage of left-over food</a:t>
            </a:r>
          </a:p>
          <a:p>
            <a:pPr marL="360000" indent="-360000">
              <a:spcBef>
                <a:spcPts val="600"/>
              </a:spcBef>
              <a:spcAft>
                <a:spcPts val="1200"/>
              </a:spcAft>
            </a:pPr>
            <a:r>
              <a:rPr lang="en-US" sz="2200" dirty="0" smtClean="0">
                <a:latin typeface="Helvetica" pitchFamily="34" charset="0"/>
              </a:rPr>
              <a:t>Specification of storage containers to be used for certain food types</a:t>
            </a:r>
          </a:p>
          <a:p>
            <a:pPr marL="360000" indent="-360000">
              <a:spcBef>
                <a:spcPts val="600"/>
              </a:spcBef>
              <a:spcAft>
                <a:spcPts val="1200"/>
              </a:spcAft>
            </a:pPr>
            <a:r>
              <a:rPr lang="en-US" sz="2200" dirty="0" smtClean="0">
                <a:latin typeface="Helvetica" pitchFamily="34" charset="0"/>
              </a:rPr>
              <a:t>Alignment with local (</a:t>
            </a:r>
            <a:r>
              <a:rPr lang="en-AU" sz="2200" dirty="0" smtClean="0">
                <a:latin typeface="Helvetica" pitchFamily="34" charset="0"/>
              </a:rPr>
              <a:t>dietary, cultural or religious) matters</a:t>
            </a:r>
          </a:p>
          <a:p>
            <a:pPr marL="360000" indent="-360000">
              <a:spcBef>
                <a:spcPts val="600"/>
              </a:spcBef>
              <a:spcAft>
                <a:spcPts val="1200"/>
              </a:spcAft>
            </a:pPr>
            <a:r>
              <a:rPr lang="en-AU" sz="2200" dirty="0" smtClean="0">
                <a:latin typeface="Helvetica" pitchFamily="34" charset="0"/>
              </a:rPr>
              <a:t>Stock rotation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206</a:t>
            </a:fld>
            <a:endParaRPr lang="en-US" dirty="0">
              <a:latin typeface="Helvetica" pitchFamily="34" charset="0"/>
            </a:endParaRPr>
          </a:p>
        </p:txBody>
      </p:sp>
    </p:spTree>
  </p:cSld>
  <p:clrMapOvr>
    <a:masterClrMapping/>
  </p:clrMapOvr>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Label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Reasons to label stored food:</a:t>
            </a:r>
          </a:p>
          <a:p>
            <a:pPr marL="360000" indent="-360000">
              <a:spcBef>
                <a:spcPts val="600"/>
              </a:spcBef>
              <a:spcAft>
                <a:spcPts val="1200"/>
              </a:spcAft>
            </a:pPr>
            <a:r>
              <a:rPr lang="en-AU" sz="2200" dirty="0" smtClean="0">
                <a:latin typeface="Helvetica" pitchFamily="34" charset="0"/>
              </a:rPr>
              <a:t>Assist with stock control</a:t>
            </a:r>
          </a:p>
          <a:p>
            <a:pPr marL="360000" indent="-360000">
              <a:spcBef>
                <a:spcPts val="600"/>
              </a:spcBef>
              <a:spcAft>
                <a:spcPts val="1200"/>
              </a:spcAft>
            </a:pPr>
            <a:r>
              <a:rPr lang="en-AU" sz="2200" dirty="0" smtClean="0">
                <a:latin typeface="Helvetica" pitchFamily="34" charset="0"/>
              </a:rPr>
              <a:t>Help identify stock-on-hand</a:t>
            </a:r>
          </a:p>
          <a:p>
            <a:pPr marL="360000" indent="-360000">
              <a:spcBef>
                <a:spcPts val="600"/>
              </a:spcBef>
              <a:spcAft>
                <a:spcPts val="1200"/>
              </a:spcAft>
            </a:pPr>
            <a:r>
              <a:rPr lang="en-AU" sz="2200" dirty="0" smtClean="0">
                <a:latin typeface="Helvetica" pitchFamily="34" charset="0"/>
              </a:rPr>
              <a:t>Facilitate retrieval of food when needed</a:t>
            </a:r>
          </a:p>
          <a:p>
            <a:pPr marL="360000" indent="-360000">
              <a:spcBef>
                <a:spcPts val="600"/>
              </a:spcBef>
              <a:spcAft>
                <a:spcPts val="1200"/>
              </a:spcAft>
            </a:pPr>
            <a:r>
              <a:rPr lang="en-AU" sz="2200" dirty="0" smtClean="0">
                <a:latin typeface="Helvetica" pitchFamily="34" charset="0"/>
              </a:rPr>
              <a:t>Maintain food safety</a:t>
            </a:r>
          </a:p>
          <a:p>
            <a:pPr marL="360000" indent="-360000">
              <a:spcBef>
                <a:spcPts val="600"/>
              </a:spcBef>
              <a:spcAft>
                <a:spcPts val="1200"/>
              </a:spcAft>
            </a:pPr>
            <a:r>
              <a:rPr lang="en-AU" sz="2200" dirty="0" smtClean="0">
                <a:latin typeface="Helvetica" pitchFamily="34" charset="0"/>
              </a:rPr>
              <a:t>Comply with FSP</a:t>
            </a:r>
          </a:p>
          <a:p>
            <a:pPr marL="360000" indent="-360000">
              <a:spcBef>
                <a:spcPts val="600"/>
              </a:spcBef>
              <a:spcAft>
                <a:spcPts val="1200"/>
              </a:spcAft>
            </a:pPr>
            <a:r>
              <a:rPr lang="en-AU" sz="2200" dirty="0" smtClean="0">
                <a:latin typeface="Helvetica" pitchFamily="34" charset="0"/>
              </a:rPr>
              <a:t>Demonstrate safe food handling</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207</a:t>
            </a:fld>
            <a:endParaRPr lang="en-US" dirty="0">
              <a:latin typeface="Helvetica" pitchFamily="34" charset="0"/>
            </a:endParaRPr>
          </a:p>
        </p:txBody>
      </p:sp>
      <p:pic>
        <p:nvPicPr>
          <p:cNvPr id="5" name="Picture 4" descr="C:\Documents and Settings\Godaishu\Desktop\PHOTOS\2012\label food.jpg"/>
          <p:cNvPicPr/>
          <p:nvPr/>
        </p:nvPicPr>
        <p:blipFill>
          <a:blip r:embed="rId3" cstate="print"/>
          <a:srcRect/>
          <a:stretch>
            <a:fillRect/>
          </a:stretch>
        </p:blipFill>
        <p:spPr bwMode="auto">
          <a:xfrm>
            <a:off x="6286512" y="2214554"/>
            <a:ext cx="1752600" cy="1757363"/>
          </a:xfrm>
          <a:prstGeom prst="rect">
            <a:avLst/>
          </a:prstGeom>
          <a:noFill/>
          <a:ln w="9525">
            <a:noFill/>
            <a:miter lim="800000"/>
            <a:headEnd/>
            <a:tailEnd/>
          </a:ln>
        </p:spPr>
      </p:pic>
    </p:spTree>
  </p:cSld>
  <p:clrMapOvr>
    <a:masterClrMapping/>
  </p:clrMapOv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Label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Information on labels of stored food:</a:t>
            </a:r>
          </a:p>
          <a:p>
            <a:pPr marL="360000" indent="-360000">
              <a:spcBef>
                <a:spcPts val="600"/>
              </a:spcBef>
              <a:spcAft>
                <a:spcPts val="1200"/>
              </a:spcAft>
            </a:pPr>
            <a:r>
              <a:rPr lang="en-US" sz="2200" dirty="0" smtClean="0">
                <a:latin typeface="Helvetica" pitchFamily="34" charset="0"/>
              </a:rPr>
              <a:t>Description and name of item or product</a:t>
            </a:r>
          </a:p>
          <a:p>
            <a:pPr marL="360000" indent="-360000">
              <a:spcBef>
                <a:spcPts val="600"/>
              </a:spcBef>
              <a:spcAft>
                <a:spcPts val="1200"/>
              </a:spcAft>
            </a:pPr>
            <a:r>
              <a:rPr lang="en-US" sz="2200" dirty="0" smtClean="0">
                <a:latin typeface="Helvetica" pitchFamily="34" charset="0"/>
              </a:rPr>
              <a:t>Date</a:t>
            </a:r>
          </a:p>
          <a:p>
            <a:pPr marL="360000" indent="-360000">
              <a:spcBef>
                <a:spcPts val="600"/>
              </a:spcBef>
              <a:spcAft>
                <a:spcPts val="1200"/>
              </a:spcAft>
            </a:pPr>
            <a:r>
              <a:rPr lang="en-US" sz="2200" dirty="0" smtClean="0">
                <a:latin typeface="Helvetica" pitchFamily="34" charset="0"/>
              </a:rPr>
              <a:t>Time</a:t>
            </a:r>
          </a:p>
          <a:p>
            <a:pPr marL="360000" indent="-360000">
              <a:spcBef>
                <a:spcPts val="600"/>
              </a:spcBef>
              <a:spcAft>
                <a:spcPts val="1200"/>
              </a:spcAft>
            </a:pPr>
            <a:r>
              <a:rPr lang="en-US" sz="2200" dirty="0" smtClean="0">
                <a:latin typeface="Helvetica" pitchFamily="34" charset="0"/>
              </a:rPr>
              <a:t>Name of person labeling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208</a:t>
            </a:fld>
            <a:endParaRPr lang="en-US" dirty="0">
              <a:latin typeface="Helvetica" pitchFamily="34" charset="0"/>
            </a:endParaRPr>
          </a:p>
        </p:txBody>
      </p:sp>
      <p:pic>
        <p:nvPicPr>
          <p:cNvPr id="6" name="Picture 5" descr="C:\Documents and Settings\Godaishu\Desktop\PHOTOS\2012\label food.jpg"/>
          <p:cNvPicPr/>
          <p:nvPr/>
        </p:nvPicPr>
        <p:blipFill>
          <a:blip r:embed="rId3" cstate="print"/>
          <a:srcRect/>
          <a:stretch>
            <a:fillRect/>
          </a:stretch>
        </p:blipFill>
        <p:spPr bwMode="auto">
          <a:xfrm>
            <a:off x="5857884" y="2500306"/>
            <a:ext cx="1752600" cy="1757363"/>
          </a:xfrm>
          <a:prstGeom prst="rect">
            <a:avLst/>
          </a:prstGeom>
          <a:noFill/>
          <a:ln w="9525">
            <a:noFill/>
            <a:miter lim="800000"/>
            <a:headEnd/>
            <a:tailEnd/>
          </a:ln>
        </p:spPr>
      </p:pic>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Label items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Some ‘specialist’ storage labels exist:</a:t>
            </a:r>
          </a:p>
          <a:p>
            <a:pPr marL="360000" indent="-360000">
              <a:spcBef>
                <a:spcPts val="600"/>
              </a:spcBef>
              <a:spcAft>
                <a:spcPts val="1200"/>
              </a:spcAft>
            </a:pPr>
            <a:r>
              <a:rPr lang="en-US" sz="2200" dirty="0" smtClean="0">
                <a:latin typeface="Helvetica" pitchFamily="34" charset="0"/>
              </a:rPr>
              <a:t>Colour-coded by day-of-week</a:t>
            </a:r>
          </a:p>
          <a:p>
            <a:pPr marL="360000" indent="-360000">
              <a:spcBef>
                <a:spcPts val="600"/>
              </a:spcBef>
              <a:spcAft>
                <a:spcPts val="1200"/>
              </a:spcAft>
            </a:pPr>
            <a:r>
              <a:rPr lang="en-US" sz="2200" dirty="0" smtClean="0">
                <a:latin typeface="Helvetica" pitchFamily="34" charset="0"/>
              </a:rPr>
              <a:t>Hand-written time of day</a:t>
            </a:r>
          </a:p>
          <a:p>
            <a:pPr marL="360000" indent="-360000">
              <a:spcBef>
                <a:spcPts val="600"/>
              </a:spcBef>
              <a:spcAft>
                <a:spcPts val="1200"/>
              </a:spcAft>
            </a:pPr>
            <a:r>
              <a:rPr lang="en-US" sz="2200" dirty="0" smtClean="0">
                <a:latin typeface="Helvetica" pitchFamily="34" charset="0"/>
              </a:rPr>
              <a:t>With additional sections to record/write further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209</a:t>
            </a:fld>
            <a:endParaRPr lang="en-US" dirty="0">
              <a:latin typeface="Helvetica" pitchFamily="34" charset="0"/>
            </a:endParaRPr>
          </a:p>
        </p:txBody>
      </p:sp>
      <p:pic>
        <p:nvPicPr>
          <p:cNvPr id="5" name="Picture 4"/>
          <p:cNvPicPr/>
          <p:nvPr/>
        </p:nvPicPr>
        <p:blipFill>
          <a:blip r:embed="rId3" cstate="print">
            <a:lum contrast="10000"/>
            <a:extLst>
              <a:ext uri="{28A0092B-C50C-407E-A947-70E740481C1C}">
                <a14:useLocalDpi xmlns:lc="http://schemas.openxmlformats.org/drawingml/2006/lockedCanvas" xmlns:pic="http://schemas.openxmlformats.org/drawingml/2006/picture"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tretch>
            <a:fillRect/>
          </a:stretch>
        </p:blipFill>
        <p:spPr>
          <a:xfrm>
            <a:off x="6429388" y="1500174"/>
            <a:ext cx="1694815" cy="1700213"/>
          </a:xfrm>
          <a:prstGeom prst="rect">
            <a:avLst/>
          </a:prstGeom>
        </p:spPr>
      </p:pic>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Correct storage conditions relate to:</a:t>
            </a:r>
          </a:p>
          <a:p>
            <a:pPr marL="360000" indent="-360000">
              <a:spcBef>
                <a:spcPts val="600"/>
              </a:spcBef>
              <a:spcAft>
                <a:spcPts val="1200"/>
              </a:spcAft>
            </a:pPr>
            <a:r>
              <a:rPr lang="en-US" sz="2200" dirty="0" smtClean="0">
                <a:latin typeface="Helvetica" pitchFamily="34" charset="0"/>
              </a:rPr>
              <a:t>Temperature and humidity</a:t>
            </a:r>
          </a:p>
          <a:p>
            <a:pPr marL="360000" indent="-360000">
              <a:spcBef>
                <a:spcPts val="600"/>
              </a:spcBef>
              <a:spcAft>
                <a:spcPts val="1200"/>
              </a:spcAft>
            </a:pPr>
            <a:r>
              <a:rPr lang="en-US" sz="2200" dirty="0" smtClean="0">
                <a:latin typeface="Helvetica" pitchFamily="34" charset="0"/>
              </a:rPr>
              <a:t>Exposure to air</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210</a:t>
            </a:fld>
            <a:endParaRPr lang="en-US" dirty="0">
              <a:latin typeface="Helvetica" pitchFamily="34" charset="0"/>
            </a:endParaRPr>
          </a:p>
        </p:txBody>
      </p:sp>
      <p:pic>
        <p:nvPicPr>
          <p:cNvPr id="57347" name="Picture 3" descr="C:\Documents and Settings\danielc\Local Settings\Temporary Internet Files\Content.IE5\112MAXTI\MC900437810[1].png"/>
          <p:cNvPicPr>
            <a:picLocks noChangeAspect="1" noChangeArrowheads="1"/>
          </p:cNvPicPr>
          <p:nvPr/>
        </p:nvPicPr>
        <p:blipFill>
          <a:blip r:embed="rId3" cstate="print"/>
          <a:srcRect/>
          <a:stretch>
            <a:fillRect/>
          </a:stretch>
        </p:blipFill>
        <p:spPr bwMode="auto">
          <a:xfrm>
            <a:off x="5786446" y="2214554"/>
            <a:ext cx="2042885" cy="2042885"/>
          </a:xfrm>
          <a:prstGeom prst="rect">
            <a:avLst/>
          </a:prstGeom>
          <a:noFill/>
        </p:spPr>
      </p:pic>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Suitable conditions for individual items: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Refrigerated storage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Frozen storage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Dry storage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211</a:t>
            </a:fld>
            <a:endParaRPr lang="en-US" dirty="0">
              <a:latin typeface="Helvetica" pitchFamily="34" charset="0"/>
            </a:endParaRPr>
          </a:p>
        </p:txBody>
      </p:sp>
      <p:pic>
        <p:nvPicPr>
          <p:cNvPr id="6" name="Picture 5" descr="C:\Documents and Settings\Godaishu\Desktop\PHOTOS\2012\314722144_130.jpg"/>
          <p:cNvPicPr/>
          <p:nvPr/>
        </p:nvPicPr>
        <p:blipFill>
          <a:blip r:embed="rId3" cstate="print">
            <a:lum contrast="20000"/>
          </a:blip>
          <a:srcRect l="5866" t="5776" r="20629" b="13255"/>
          <a:stretch>
            <a:fillRect/>
          </a:stretch>
        </p:blipFill>
        <p:spPr bwMode="auto">
          <a:xfrm>
            <a:off x="6215074" y="2357430"/>
            <a:ext cx="1509712" cy="1214437"/>
          </a:xfrm>
          <a:prstGeom prst="rect">
            <a:avLst/>
          </a:prstGeom>
          <a:noFill/>
          <a:ln w="9525">
            <a:noFill/>
            <a:miter lim="800000"/>
            <a:headEnd/>
            <a:tailEnd/>
          </a:ln>
        </p:spPr>
      </p:pic>
      <p:pic>
        <p:nvPicPr>
          <p:cNvPr id="8" name="Picture 7" descr="C:\Documents and Settings\Godaishu\Desktop\PHOTOS\2012\314722144_130.jpg"/>
          <p:cNvPicPr/>
          <p:nvPr/>
        </p:nvPicPr>
        <p:blipFill>
          <a:blip r:embed="rId3" cstate="print">
            <a:lum contrast="20000"/>
          </a:blip>
          <a:srcRect l="5866" t="5776" r="20629" b="13255"/>
          <a:stretch>
            <a:fillRect/>
          </a:stretch>
        </p:blipFill>
        <p:spPr bwMode="auto">
          <a:xfrm>
            <a:off x="6215074" y="2143116"/>
            <a:ext cx="1509712" cy="1214437"/>
          </a:xfrm>
          <a:prstGeom prst="rect">
            <a:avLst/>
          </a:prstGeom>
          <a:noFill/>
          <a:ln w="9525">
            <a:noFill/>
            <a:miter lim="800000"/>
            <a:headEnd/>
            <a:tailEnd/>
          </a:ln>
        </p:spPr>
      </p:pic>
      <p:pic>
        <p:nvPicPr>
          <p:cNvPr id="9" name="Picture 8" descr="C:\Documents and Settings\Godaishu\Desktop\PHOTOS\2012\food shelf.jpg"/>
          <p:cNvPicPr/>
          <p:nvPr/>
        </p:nvPicPr>
        <p:blipFill>
          <a:blip r:embed="rId4" cstate="print"/>
          <a:srcRect/>
          <a:stretch>
            <a:fillRect/>
          </a:stretch>
        </p:blipFill>
        <p:spPr bwMode="auto">
          <a:xfrm>
            <a:off x="6215074" y="3714752"/>
            <a:ext cx="1509712" cy="1200150"/>
          </a:xfrm>
          <a:prstGeom prst="rect">
            <a:avLst/>
          </a:prstGeom>
          <a:noFill/>
          <a:ln w="9525">
            <a:noFill/>
            <a:miter lim="800000"/>
            <a:headEnd/>
            <a:tailEnd/>
          </a:ln>
        </p:spPr>
      </p:pic>
      <p:pic>
        <p:nvPicPr>
          <p:cNvPr id="10" name="Picture 9" descr="C:\Documents and Settings\Godaishu\Desktop\PHOTOS\2012\coldFoodStorageGuidelines.jpg"/>
          <p:cNvPicPr/>
          <p:nvPr/>
        </p:nvPicPr>
        <p:blipFill>
          <a:blip r:embed="rId5" cstate="print"/>
          <a:srcRect/>
          <a:stretch>
            <a:fillRect/>
          </a:stretch>
        </p:blipFill>
        <p:spPr bwMode="auto">
          <a:xfrm>
            <a:off x="4429124" y="2786058"/>
            <a:ext cx="1580515" cy="1185863"/>
          </a:xfrm>
          <a:prstGeom prst="rect">
            <a:avLst/>
          </a:prstGeom>
          <a:noFill/>
          <a:ln w="9525">
            <a:noFill/>
            <a:miter lim="800000"/>
            <a:headEnd/>
            <a:tailEnd/>
          </a:ln>
        </p:spPr>
      </p:pic>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Stock rotation:</a:t>
            </a:r>
          </a:p>
          <a:p>
            <a:pPr marL="360000" indent="-360000">
              <a:spcBef>
                <a:spcPts val="600"/>
              </a:spcBef>
              <a:spcAft>
                <a:spcPts val="1200"/>
              </a:spcAft>
            </a:pPr>
            <a:r>
              <a:rPr lang="en-US" sz="2200" dirty="0" smtClean="0">
                <a:latin typeface="Helvetica" pitchFamily="34" charset="0"/>
              </a:rPr>
              <a:t>FIFO is standard approach</a:t>
            </a:r>
          </a:p>
          <a:p>
            <a:pPr marL="360000" indent="-360000">
              <a:spcBef>
                <a:spcPts val="600"/>
              </a:spcBef>
              <a:spcAft>
                <a:spcPts val="1200"/>
              </a:spcAft>
            </a:pPr>
            <a:r>
              <a:rPr lang="en-US" sz="2200" dirty="0" smtClean="0">
                <a:latin typeface="Helvetica" pitchFamily="34" charset="0"/>
              </a:rPr>
              <a:t>Old existing stock needs to be moved </a:t>
            </a:r>
            <a:br>
              <a:rPr lang="en-US" sz="2200" dirty="0" smtClean="0">
                <a:latin typeface="Helvetica" pitchFamily="34" charset="0"/>
              </a:rPr>
            </a:br>
            <a:r>
              <a:rPr lang="en-US" sz="2200" dirty="0" smtClean="0">
                <a:latin typeface="Helvetica" pitchFamily="34" charset="0"/>
              </a:rPr>
              <a:t>forward and new stock placed behind it</a:t>
            </a:r>
          </a:p>
          <a:p>
            <a:pPr marL="360000" indent="-360000">
              <a:spcBef>
                <a:spcPts val="600"/>
              </a:spcBef>
              <a:spcAft>
                <a:spcPts val="1200"/>
              </a:spcAft>
            </a:pPr>
            <a:r>
              <a:rPr lang="en-US" sz="2200" dirty="0" smtClean="0">
                <a:latin typeface="Helvetica" pitchFamily="34" charset="0"/>
              </a:rPr>
              <a:t>Check use-by and best before dates as a </a:t>
            </a:r>
            <a:br>
              <a:rPr lang="en-US" sz="2200" dirty="0" smtClean="0">
                <a:latin typeface="Helvetica" pitchFamily="34" charset="0"/>
              </a:rPr>
            </a:br>
            <a:r>
              <a:rPr lang="en-US" sz="2200" dirty="0" smtClean="0">
                <a:latin typeface="Helvetica" pitchFamily="34" charset="0"/>
              </a:rPr>
              <a:t>secondary stock rotation protocol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212</a:t>
            </a:fld>
            <a:endParaRPr lang="en-US" dirty="0">
              <a:latin typeface="Helvetica" pitchFamily="34" charset="0"/>
            </a:endParaRPr>
          </a:p>
        </p:txBody>
      </p:sp>
      <p:pic>
        <p:nvPicPr>
          <p:cNvPr id="58370" name="Picture 2" descr="I:\Overseas Projects\PHOTOS\Accommodation 2009\FoodstorageCCLinda&amp;Clark.jpg"/>
          <p:cNvPicPr>
            <a:picLocks noChangeAspect="1" noChangeArrowheads="1"/>
          </p:cNvPicPr>
          <p:nvPr/>
        </p:nvPicPr>
        <p:blipFill>
          <a:blip r:embed="rId3" cstate="print"/>
          <a:srcRect/>
          <a:stretch>
            <a:fillRect/>
          </a:stretch>
        </p:blipFill>
        <p:spPr bwMode="auto">
          <a:xfrm>
            <a:off x="6929454" y="2357430"/>
            <a:ext cx="1501282" cy="2000264"/>
          </a:xfrm>
          <a:prstGeom prst="rect">
            <a:avLst/>
          </a:prstGeom>
          <a:noFill/>
        </p:spPr>
      </p:pic>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Recommendations for storing garnishes:</a:t>
            </a:r>
          </a:p>
          <a:p>
            <a:pPr marL="360000" indent="-360000">
              <a:spcBef>
                <a:spcPts val="600"/>
              </a:spcBef>
              <a:spcAft>
                <a:spcPts val="1200"/>
              </a:spcAft>
            </a:pPr>
            <a:r>
              <a:rPr lang="en-US" sz="2200" dirty="0" smtClean="0">
                <a:latin typeface="Helvetica" pitchFamily="34" charset="0"/>
              </a:rPr>
              <a:t>Picked herbs; Salad leaves; Edible flowers; Shoots: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In water and refrigerated – short term only</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Chopped herbs: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Rinsed, dried, in airtight containers and </a:t>
            </a:r>
            <a:br>
              <a:rPr lang="en-US" sz="2200" dirty="0" smtClean="0">
                <a:latin typeface="Helvetica" pitchFamily="34" charset="0"/>
              </a:rPr>
            </a:br>
            <a:r>
              <a:rPr lang="en-US" sz="2200" dirty="0" smtClean="0">
                <a:latin typeface="Helvetica" pitchFamily="34" charset="0"/>
              </a:rPr>
              <a:t>refrigerated</a:t>
            </a:r>
            <a:r>
              <a:rPr lang="en-AU" sz="2200" dirty="0" smtClean="0">
                <a:latin typeface="Helvetica" pitchFamily="34" charset="0"/>
              </a:rPr>
              <a:t> – short term only</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213</a:t>
            </a:fld>
            <a:endParaRPr lang="en-US" dirty="0">
              <a:latin typeface="Helvetica" pitchFamily="34" charset="0"/>
            </a:endParaRPr>
          </a:p>
        </p:txBody>
      </p:sp>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Cut vegetables:</a:t>
            </a:r>
          </a:p>
          <a:p>
            <a:pPr lvl="1">
              <a:buFont typeface="Arial" pitchFamily="34" charset="0"/>
              <a:buChar char="•"/>
            </a:pPr>
            <a:r>
              <a:rPr lang="en-AU" sz="2200" dirty="0" smtClean="0">
                <a:latin typeface="Helvetica" pitchFamily="34" charset="0"/>
              </a:rPr>
              <a:t>Root and stalk vegetables - In water and refrigerated</a:t>
            </a:r>
          </a:p>
          <a:p>
            <a:pPr lvl="1">
              <a:buFont typeface="Arial" pitchFamily="34" charset="0"/>
              <a:buChar char="•"/>
            </a:pPr>
            <a:r>
              <a:rPr lang="en-AU" sz="2200" dirty="0" smtClean="0">
                <a:latin typeface="Helvetica" pitchFamily="34" charset="0"/>
              </a:rPr>
              <a:t>Fruit type vegetables - Airtight container and refrigerated</a:t>
            </a:r>
          </a:p>
          <a:p>
            <a:pPr marL="360000" indent="-360000">
              <a:spcBef>
                <a:spcPts val="600"/>
              </a:spcBef>
              <a:spcAft>
                <a:spcPts val="1200"/>
              </a:spcAft>
            </a:pPr>
            <a:r>
              <a:rPr lang="en-US" sz="2200" dirty="0" smtClean="0">
                <a:latin typeface="Helvetica" pitchFamily="34" charset="0"/>
              </a:rPr>
              <a:t>Cooked vegetables:</a:t>
            </a:r>
          </a:p>
          <a:p>
            <a:pPr marL="720000" lvl="1"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and refrigerated– short term only</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214</a:t>
            </a:fld>
            <a:endParaRPr lang="en-US" dirty="0">
              <a:latin typeface="Helvetica" pitchFamily="34" charset="0"/>
            </a:endParaRPr>
          </a:p>
        </p:txBody>
      </p:sp>
      <p:pic>
        <p:nvPicPr>
          <p:cNvPr id="5" name="Picture 2" descr="C:\Documents and Settings\danielc\Desktop\DSC_0051.JPG"/>
          <p:cNvPicPr>
            <a:picLocks noChangeAspect="1" noChangeArrowheads="1"/>
          </p:cNvPicPr>
          <p:nvPr/>
        </p:nvPicPr>
        <p:blipFill>
          <a:blip r:embed="rId3" cstate="print">
            <a:lum bright="10000" contrast="20000"/>
          </a:blip>
          <a:srcRect/>
          <a:stretch>
            <a:fillRect/>
          </a:stretch>
        </p:blipFill>
        <p:spPr bwMode="auto">
          <a:xfrm>
            <a:off x="3857620" y="4643446"/>
            <a:ext cx="2041085" cy="1357322"/>
          </a:xfrm>
          <a:prstGeom prst="rect">
            <a:avLst/>
          </a:prstGeom>
          <a:noFill/>
        </p:spPr>
      </p:pic>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Cut fruits: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and refrigerated</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Cut white flesh fruits: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Coat with lemon juice to stop enzyme activity – ‘browning’ or store in a sweet stock syrup</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215</a:t>
            </a:fld>
            <a:endParaRPr lang="en-US" dirty="0">
              <a:latin typeface="Helvetica" pitchFamily="34" charset="0"/>
            </a:endParaRPr>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Biscuits, pastry and croutons: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in dry storage area with low humidity</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Seeds and nuts: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in dry storage area</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Eggs and crepes: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and refrigerated – short term only</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216</a:t>
            </a:fld>
            <a:endParaRPr lang="en-US" dirty="0">
              <a:latin typeface="Helvetica" pitchFamily="34" charset="0"/>
            </a:endParaRPr>
          </a:p>
        </p:txBody>
      </p:sp>
      <p:pic>
        <p:nvPicPr>
          <p:cNvPr id="60418" name="Picture 2" descr="C:\Documents and Settings\danielc\Desktop\bbe1fbfa0cfa6c66_1000-w265-h265-b0-p0--traditional-food-containers-and-storage.jpg"/>
          <p:cNvPicPr>
            <a:picLocks noChangeAspect="1" noChangeArrowheads="1"/>
          </p:cNvPicPr>
          <p:nvPr/>
        </p:nvPicPr>
        <p:blipFill>
          <a:blip r:embed="rId3" cstate="print">
            <a:lum contrast="20000"/>
          </a:blip>
          <a:srcRect/>
          <a:stretch>
            <a:fillRect/>
          </a:stretch>
        </p:blipFill>
        <p:spPr bwMode="auto">
          <a:xfrm flipH="1">
            <a:off x="6643702" y="2857496"/>
            <a:ext cx="1593849" cy="1593849"/>
          </a:xfrm>
          <a:prstGeom prst="rect">
            <a:avLst/>
          </a:prstGeom>
          <a:noFill/>
        </p:spPr>
      </p:pic>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Sugar-based garnishes</a:t>
            </a:r>
          </a:p>
          <a:p>
            <a:pPr marL="360000" indent="-360000">
              <a:spcBef>
                <a:spcPts val="600"/>
              </a:spcBef>
              <a:spcAft>
                <a:spcPts val="1200"/>
              </a:spcAft>
            </a:pPr>
            <a:r>
              <a:rPr lang="en-US" sz="2200" dirty="0" smtClean="0">
                <a:latin typeface="Helvetica" pitchFamily="34" charset="0"/>
              </a:rPr>
              <a:t>Meringues</a:t>
            </a:r>
          </a:p>
          <a:p>
            <a:pPr marL="360000" indent="-360000">
              <a:spcBef>
                <a:spcPts val="600"/>
              </a:spcBef>
              <a:spcAft>
                <a:spcPts val="1200"/>
              </a:spcAft>
            </a:pPr>
            <a:r>
              <a:rPr lang="en-US" sz="2200" dirty="0" smtClean="0">
                <a:latin typeface="Helvetica" pitchFamily="34" charset="0"/>
              </a:rPr>
              <a:t>Candy</a:t>
            </a:r>
          </a:p>
          <a:p>
            <a:pPr marL="360000" indent="-360000">
              <a:spcBef>
                <a:spcPts val="600"/>
              </a:spcBef>
              <a:spcAft>
                <a:spcPts val="1200"/>
              </a:spcAft>
            </a:pPr>
            <a:r>
              <a:rPr lang="en-US" sz="2200" dirty="0" smtClean="0">
                <a:latin typeface="Helvetica" pitchFamily="34" charset="0"/>
              </a:rPr>
              <a:t>Toffee:</a:t>
            </a:r>
          </a:p>
          <a:p>
            <a:pPr marL="720000" lvl="1"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Airtight container in dry storage area– short term only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217</a:t>
            </a:fld>
            <a:endParaRPr lang="en-US" dirty="0">
              <a:latin typeface="Helvetica" pitchFamily="34" charset="0"/>
            </a:endParaRPr>
          </a:p>
        </p:txBody>
      </p:sp>
      <p:pic>
        <p:nvPicPr>
          <p:cNvPr id="61442" name="Picture 2" descr="C:\Documents and Settings\danielc\Desktop\ae8158bb0c5da92c_1000-w422-h639-b0-p0--traditional-bedroom.jpg"/>
          <p:cNvPicPr>
            <a:picLocks noChangeAspect="1" noChangeArrowheads="1"/>
          </p:cNvPicPr>
          <p:nvPr/>
        </p:nvPicPr>
        <p:blipFill>
          <a:blip r:embed="rId3" cstate="print"/>
          <a:srcRect/>
          <a:stretch>
            <a:fillRect/>
          </a:stretch>
        </p:blipFill>
        <p:spPr bwMode="auto">
          <a:xfrm>
            <a:off x="6643702" y="1643050"/>
            <a:ext cx="1333002" cy="2018456"/>
          </a:xfrm>
          <a:prstGeom prst="rect">
            <a:avLst/>
          </a:prstGeom>
          <a:noFill/>
        </p:spPr>
      </p:pic>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buNone/>
            </a:pPr>
            <a:r>
              <a:rPr lang="en-US" sz="2200" dirty="0" smtClean="0">
                <a:latin typeface="Helvetica" pitchFamily="34" charset="0"/>
              </a:rPr>
              <a:t>Recommended storage for accompaniments:</a:t>
            </a:r>
          </a:p>
          <a:p>
            <a:pPr marL="360000" indent="-360000">
              <a:spcBef>
                <a:spcPts val="600"/>
              </a:spcBef>
              <a:spcAft>
                <a:spcPts val="1200"/>
              </a:spcAft>
            </a:pPr>
            <a:r>
              <a:rPr lang="en-US" sz="2200" dirty="0" smtClean="0">
                <a:latin typeface="Helvetica" pitchFamily="34" charset="0"/>
              </a:rPr>
              <a:t>Salsa, Sambal and Pastes:</a:t>
            </a:r>
          </a:p>
          <a:p>
            <a:pPr marL="720000" lvl="1"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Refrigerate, covered or in bottles or jars</a:t>
            </a:r>
          </a:p>
          <a:p>
            <a:pPr marL="360000" indent="-360000">
              <a:spcBef>
                <a:spcPts val="600"/>
              </a:spcBef>
              <a:spcAft>
                <a:spcPts val="1200"/>
              </a:spcAft>
            </a:pPr>
            <a:r>
              <a:rPr lang="en-US" sz="2200" dirty="0" smtClean="0">
                <a:latin typeface="Helvetica" pitchFamily="34" charset="0"/>
              </a:rPr>
              <a:t>Prepared sauces and condiments:</a:t>
            </a:r>
          </a:p>
          <a:p>
            <a:pPr marL="720000" lvl="1"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Refrigerate, covered or  in bottles or jars</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218</a:t>
            </a:fld>
            <a:endParaRPr lang="en-US" dirty="0">
              <a:latin typeface="Helvetica" pitchFamily="34" charset="0"/>
            </a:endParaRPr>
          </a:p>
        </p:txBody>
      </p:sp>
      <p:pic>
        <p:nvPicPr>
          <p:cNvPr id="62466" name="Picture 2" descr="C:\Documents and Settings\danielc\Desktop\store paste.JPG"/>
          <p:cNvPicPr>
            <a:picLocks noChangeAspect="1" noChangeArrowheads="1"/>
          </p:cNvPicPr>
          <p:nvPr/>
        </p:nvPicPr>
        <p:blipFill>
          <a:blip r:embed="rId3" cstate="print"/>
          <a:srcRect l="31856" t="2235" r="31259" b="21758"/>
          <a:stretch>
            <a:fillRect/>
          </a:stretch>
        </p:blipFill>
        <p:spPr bwMode="auto">
          <a:xfrm>
            <a:off x="6929454" y="2214554"/>
            <a:ext cx="1294288" cy="2000264"/>
          </a:xfrm>
          <a:prstGeom prst="rect">
            <a:avLst/>
          </a:prstGeom>
          <a:noFill/>
        </p:spPr>
      </p:pic>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Prepared sauces and condiments: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Refrigerate and cover</a:t>
            </a:r>
          </a:p>
          <a:p>
            <a:pPr marL="360000" indent="-360000">
              <a:spcBef>
                <a:spcPts val="600"/>
              </a:spcBef>
              <a:spcAft>
                <a:spcPts val="1200"/>
              </a:spcAft>
            </a:pPr>
            <a:r>
              <a:rPr lang="en-US" sz="2200" dirty="0" smtClean="0">
                <a:latin typeface="Helvetica" pitchFamily="34" charset="0"/>
              </a:rPr>
              <a:t>Dried chillies, Nuts, Fried shallots and Herbs:</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Well wrapped or covered in cool dry area</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219</a:t>
            </a:fld>
            <a:endParaRPr lang="en-US" dirty="0">
              <a:latin typeface="Helvetica" pitchFamily="34" charset="0"/>
            </a:endParaRPr>
          </a:p>
        </p:txBody>
      </p:sp>
      <p:pic>
        <p:nvPicPr>
          <p:cNvPr id="63490" name="Picture 2" descr="C:\Documents and Settings\danielc\Desktop\store sauce.jpg"/>
          <p:cNvPicPr>
            <a:picLocks noChangeAspect="1" noChangeArrowheads="1"/>
          </p:cNvPicPr>
          <p:nvPr/>
        </p:nvPicPr>
        <p:blipFill>
          <a:blip r:embed="rId3" cstate="print">
            <a:lum contrast="20000"/>
          </a:blip>
          <a:srcRect/>
          <a:stretch>
            <a:fillRect/>
          </a:stretch>
        </p:blipFill>
        <p:spPr bwMode="auto">
          <a:xfrm>
            <a:off x="6715140" y="2143116"/>
            <a:ext cx="1544631" cy="1544631"/>
          </a:xfrm>
          <a:prstGeom prst="rect">
            <a:avLst/>
          </a:prstGeom>
          <a:noFill/>
        </p:spPr>
      </p:pic>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Store products to maintain freshness and quality and minimise wastage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Dairy foods – cream, cheese, yoghurt:</a:t>
            </a:r>
          </a:p>
          <a:p>
            <a:pPr marL="720000"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Refrigerate, well covered and away from strong smelling foods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Bread, Rolls, Naan:</a:t>
            </a:r>
          </a:p>
          <a:p>
            <a:pPr marL="720000" lvl="1" indent="-360000">
              <a:spcBef>
                <a:spcPts val="600"/>
              </a:spcBef>
              <a:spcAft>
                <a:spcPts val="1200"/>
              </a:spcAft>
              <a:buClr>
                <a:schemeClr val="accent1">
                  <a:lumMod val="75000"/>
                </a:schemeClr>
              </a:buClr>
              <a:buSzPct val="100000"/>
              <a:buFont typeface="Arial" pitchFamily="34" charset="0"/>
              <a:buChar char="•"/>
            </a:pPr>
            <a:r>
              <a:rPr lang="en-AU" sz="2200" dirty="0" smtClean="0">
                <a:latin typeface="Helvetica" pitchFamily="34" charset="0"/>
              </a:rPr>
              <a:t>Well wrapped or covered in cool dry area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220</a:t>
            </a:fld>
            <a:endParaRPr lang="en-US" dirty="0">
              <a:latin typeface="Helvetica" pitchFamily="34" charset="0"/>
            </a:endParaRPr>
          </a:p>
        </p:txBody>
      </p:sp>
      <p:pic>
        <p:nvPicPr>
          <p:cNvPr id="64514" name="Picture 2" descr="C:\Documents and Settings\danielc\Local Settings\Temporary Internet Files\Content.IE5\SIQ5KRQ3\MC900298979[1].wmf"/>
          <p:cNvPicPr>
            <a:picLocks noChangeAspect="1" noChangeArrowheads="1"/>
          </p:cNvPicPr>
          <p:nvPr/>
        </p:nvPicPr>
        <p:blipFill>
          <a:blip r:embed="rId3" cstate="print"/>
          <a:srcRect/>
          <a:stretch>
            <a:fillRect/>
          </a:stretch>
        </p:blipFill>
        <p:spPr bwMode="auto">
          <a:xfrm>
            <a:off x="7000892" y="3000372"/>
            <a:ext cx="1555372" cy="1297189"/>
          </a:xfrm>
          <a:prstGeom prst="rect">
            <a:avLst/>
          </a:prstGeom>
          <a:noFill/>
        </p:spPr>
      </p:pic>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storing products after food service to maintain quality:</a:t>
            </a:r>
          </a:p>
          <a:p>
            <a:pPr marL="360000" indent="-360000">
              <a:spcBef>
                <a:spcPts val="600"/>
              </a:spcBef>
              <a:spcAft>
                <a:spcPts val="1200"/>
              </a:spcAft>
            </a:pPr>
            <a:r>
              <a:rPr lang="en-AU" sz="2200" dirty="0" smtClean="0">
                <a:latin typeface="Helvetica" pitchFamily="34" charset="0"/>
              </a:rPr>
              <a:t>Store foods after service as soon as they are no longer needed</a:t>
            </a:r>
          </a:p>
          <a:p>
            <a:pPr>
              <a:spcBef>
                <a:spcPts val="600"/>
              </a:spcBef>
              <a:spcAft>
                <a:spcPts val="1200"/>
              </a:spcAft>
            </a:pPr>
            <a:r>
              <a:rPr lang="en-AU" sz="2200" dirty="0" smtClean="0">
                <a:latin typeface="Helvetica" pitchFamily="34" charset="0"/>
              </a:rPr>
              <a:t>Store fresh and prepared left-over foods</a:t>
            </a:r>
          </a:p>
          <a:p>
            <a:pPr>
              <a:spcBef>
                <a:spcPts val="600"/>
              </a:spcBef>
              <a:spcAft>
                <a:spcPts val="1200"/>
              </a:spcAft>
            </a:pPr>
            <a:r>
              <a:rPr lang="en-AU" sz="2200" dirty="0" smtClean="0">
                <a:latin typeface="Helvetica" pitchFamily="34" charset="0"/>
              </a:rPr>
              <a:t>Ensure refrigerated storage operates at or </a:t>
            </a:r>
            <a:br>
              <a:rPr lang="en-AU" sz="2200" dirty="0" smtClean="0">
                <a:latin typeface="Helvetica" pitchFamily="34" charset="0"/>
              </a:rPr>
            </a:br>
            <a:r>
              <a:rPr lang="en-AU" sz="2200" dirty="0" smtClean="0">
                <a:latin typeface="Helvetica" pitchFamily="34" charset="0"/>
              </a:rPr>
              <a:t>below 5</a:t>
            </a:r>
            <a:r>
              <a:rPr lang="en-AU" sz="2200" dirty="0" smtClean="0">
                <a:latin typeface="Helvetica" pitchFamily="34" charset="0"/>
                <a:sym typeface="Symbol"/>
              </a:rPr>
              <a:t></a:t>
            </a:r>
            <a:r>
              <a:rPr lang="en-AU" sz="2200" dirty="0" smtClean="0">
                <a:latin typeface="Helvetica" pitchFamily="34" charset="0"/>
              </a:rPr>
              <a:t>C</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221</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858016" y="3214686"/>
            <a:ext cx="1515745" cy="1500198"/>
          </a:xfrm>
          <a:prstGeom prst="rect">
            <a:avLst/>
          </a:prstGeom>
          <a:noFill/>
        </p:spPr>
      </p:pic>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Verify freezers run at -15</a:t>
            </a:r>
            <a:r>
              <a:rPr lang="en-AU" sz="2200" dirty="0" smtClean="0">
                <a:latin typeface="Helvetica" pitchFamily="34" charset="0"/>
                <a:sym typeface="Symbol"/>
              </a:rPr>
              <a:t></a:t>
            </a:r>
            <a:r>
              <a:rPr lang="en-AU" sz="2200" dirty="0" smtClean="0">
                <a:latin typeface="Helvetica" pitchFamily="34" charset="0"/>
              </a:rPr>
              <a:t>C to -18</a:t>
            </a:r>
            <a:r>
              <a:rPr lang="en-AU" sz="2200" dirty="0" smtClean="0">
                <a:latin typeface="Helvetica" pitchFamily="34" charset="0"/>
                <a:sym typeface="Symbol"/>
              </a:rPr>
              <a:t></a:t>
            </a:r>
            <a:r>
              <a:rPr lang="en-AU" sz="2200" dirty="0" smtClean="0">
                <a:latin typeface="Helvetica" pitchFamily="34" charset="0"/>
              </a:rPr>
              <a:t>C</a:t>
            </a:r>
          </a:p>
          <a:p>
            <a:pPr>
              <a:spcBef>
                <a:spcPts val="600"/>
              </a:spcBef>
              <a:spcAft>
                <a:spcPts val="1200"/>
              </a:spcAft>
            </a:pPr>
            <a:r>
              <a:rPr lang="en-AU" sz="2200" dirty="0" smtClean="0">
                <a:latin typeface="Helvetica" pitchFamily="34" charset="0"/>
              </a:rPr>
              <a:t>Use the storage option best suited to individual food type</a:t>
            </a:r>
          </a:p>
          <a:p>
            <a:pPr>
              <a:spcBef>
                <a:spcPts val="600"/>
              </a:spcBef>
              <a:spcAft>
                <a:spcPts val="1200"/>
              </a:spcAft>
            </a:pPr>
            <a:r>
              <a:rPr lang="en-AU" sz="2200" dirty="0" smtClean="0">
                <a:latin typeface="Helvetica" pitchFamily="34" charset="0"/>
              </a:rPr>
              <a:t>Monitor the time food spends in storage </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222</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715140" y="2928934"/>
            <a:ext cx="1515745" cy="1500198"/>
          </a:xfrm>
          <a:prstGeom prst="rect">
            <a:avLst/>
          </a:prstGeom>
          <a:noFill/>
        </p:spPr>
      </p:pic>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Left-over foods can only be re-heated once and must then be discarded if not used</a:t>
            </a:r>
          </a:p>
          <a:p>
            <a:pPr>
              <a:spcBef>
                <a:spcPts val="600"/>
              </a:spcBef>
              <a:spcAft>
                <a:spcPts val="1200"/>
              </a:spcAft>
            </a:pPr>
            <a:r>
              <a:rPr lang="en-AU" sz="2200" dirty="0" smtClean="0">
                <a:latin typeface="Helvetica" pitchFamily="34" charset="0"/>
              </a:rPr>
              <a:t>Change food storage containers and trays regularly to guard against cross contamination</a:t>
            </a:r>
          </a:p>
          <a:p>
            <a:pPr>
              <a:spcBef>
                <a:spcPts val="600"/>
              </a:spcBef>
              <a:spcAft>
                <a:spcPts val="1200"/>
              </a:spcAft>
            </a:pPr>
            <a:r>
              <a:rPr lang="en-AU" sz="2200" dirty="0" smtClean="0">
                <a:latin typeface="Helvetica" pitchFamily="34" charset="0"/>
              </a:rPr>
              <a:t>Follow all enterprise and legislated requirements </a:t>
            </a:r>
            <a:br>
              <a:rPr lang="en-AU" sz="2200" dirty="0" smtClean="0">
                <a:latin typeface="Helvetica" pitchFamily="34" charset="0"/>
              </a:rPr>
            </a:br>
            <a:r>
              <a:rPr lang="en-AU" sz="2200" dirty="0" smtClean="0">
                <a:latin typeface="Helvetica" pitchFamily="34" charset="0"/>
              </a:rPr>
              <a:t>for the storage of food and use of left-overs</a:t>
            </a:r>
          </a:p>
          <a:p>
            <a:pPr marL="360000" indent="-360000">
              <a:spcBef>
                <a:spcPts val="600"/>
              </a:spcBef>
              <a:spcAft>
                <a:spcPts val="1200"/>
              </a:spcAft>
              <a:buNone/>
            </a:pPr>
            <a:r>
              <a:rPr lang="en-AU" sz="2200" dirty="0" smtClean="0">
                <a:latin typeface="Helvetica" pitchFamily="34" charset="0"/>
              </a:rPr>
              <a:t>(Continued)</a:t>
            </a:r>
          </a:p>
          <a:p>
            <a:endParaRPr lang="en-AU" sz="2200" dirty="0" smtClean="0">
              <a:latin typeface="Helvetica" pitchFamily="34" charset="0"/>
            </a:endParaRPr>
          </a:p>
          <a:p>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223</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6516216" y="4365104"/>
            <a:ext cx="1515745" cy="1500198"/>
          </a:xfrm>
          <a:prstGeom prst="rect">
            <a:avLst/>
          </a:prstGeom>
          <a:noFill/>
        </p:spPr>
      </p:pic>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AU" sz="2200" dirty="0" smtClean="0"/>
              <a:t>Label prepared and left-over food placed into storage</a:t>
            </a:r>
          </a:p>
          <a:p>
            <a:r>
              <a:rPr lang="en-AU" sz="2200" dirty="0" smtClean="0">
                <a:latin typeface="Helvetica" pitchFamily="34" charset="0"/>
              </a:rPr>
              <a:t>Create, maintain and monitor correct storage conditions</a:t>
            </a:r>
          </a:p>
          <a:p>
            <a:r>
              <a:rPr lang="en-AU" sz="2200" dirty="0" smtClean="0">
                <a:latin typeface="Helvetica" pitchFamily="34" charset="0"/>
              </a:rPr>
              <a:t>Implement suitable stock rotation processes </a:t>
            </a:r>
            <a:br>
              <a:rPr lang="en-AU" sz="2200" dirty="0" smtClean="0">
                <a:latin typeface="Helvetica" pitchFamily="34" charset="0"/>
              </a:rPr>
            </a:br>
            <a:r>
              <a:rPr lang="en-AU" sz="2200" dirty="0" smtClean="0">
                <a:latin typeface="Helvetica" pitchFamily="34" charset="0"/>
              </a:rPr>
              <a:t>focusing on the use of FIFO procedures</a:t>
            </a:r>
            <a:r>
              <a:rPr lang="en-AU" sz="2400" dirty="0" smtClean="0"/>
              <a:t/>
            </a:r>
            <a:br>
              <a:rPr lang="en-AU" sz="2400" dirty="0" smtClean="0"/>
            </a:b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224</a:t>
            </a:fld>
            <a:endParaRPr lang="en-US" dirty="0">
              <a:latin typeface="Helvetica" pitchFamily="34" charset="0"/>
            </a:endParaRPr>
          </a:p>
        </p:txBody>
      </p:sp>
      <p:pic>
        <p:nvPicPr>
          <p:cNvPr id="5" name="Picture 2" descr="C:\Documents and Settings\danielc\Local Settings\Temporary Internet Files\Content.IE5\V9A2RTT8\MC900442036[1].wmf"/>
          <p:cNvPicPr>
            <a:picLocks noChangeAspect="1" noChangeArrowheads="1"/>
          </p:cNvPicPr>
          <p:nvPr/>
        </p:nvPicPr>
        <p:blipFill>
          <a:blip r:embed="rId3" cstate="print"/>
          <a:srcRect/>
          <a:stretch>
            <a:fillRect/>
          </a:stretch>
        </p:blipFill>
        <p:spPr bwMode="auto">
          <a:xfrm>
            <a:off x="7000892" y="3143248"/>
            <a:ext cx="1587923" cy="1571636"/>
          </a:xfrm>
          <a:prstGeom prst="rect">
            <a:avLst/>
          </a:prstGeom>
          <a:noFill/>
        </p:spPr>
      </p:pic>
    </p:spTree>
  </p:cSld>
  <p:clrMapOvr>
    <a:masterClrMapping/>
  </p:clrMapOvr>
  <p:transition/>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3590</TotalTime>
  <Words>37839</Words>
  <Application>Microsoft Office PowerPoint</Application>
  <PresentationFormat>On-screen Show (4:3)</PresentationFormat>
  <Paragraphs>3811</Paragraphs>
  <Slides>224</Slides>
  <Notes>224</Notes>
  <HiddenSlides>0</HiddenSlides>
  <MMClips>0</MMClips>
  <ScaleCrop>false</ScaleCrop>
  <HeadingPairs>
    <vt:vector size="4" baseType="variant">
      <vt:variant>
        <vt:lpstr>Theme</vt:lpstr>
      </vt:variant>
      <vt:variant>
        <vt:i4>1</vt:i4>
      </vt:variant>
      <vt:variant>
        <vt:lpstr>Slide Titles</vt:lpstr>
      </vt:variant>
      <vt:variant>
        <vt:i4>224</vt:i4>
      </vt:variant>
    </vt:vector>
  </HeadingPairs>
  <TitlesOfParts>
    <vt:vector size="225" baseType="lpstr">
      <vt:lpstr>ASEAN PPT Template 010611 MV</vt:lpstr>
      <vt:lpstr>ORGANISE FOOD SERVICE OPERATIONS</vt:lpstr>
      <vt:lpstr>Organise food service operations</vt:lpstr>
      <vt:lpstr>Assessment</vt:lpstr>
      <vt:lpstr>Plan for food service production </vt:lpstr>
      <vt:lpstr>Plan menu for specific event/occasion including resources</vt:lpstr>
      <vt:lpstr>Plan menu for specific event/occasion including resources</vt:lpstr>
      <vt:lpstr>Plan menu for specific event/occasion including resources</vt:lpstr>
      <vt:lpstr>Plan menu for specific event/occasion including resources</vt:lpstr>
      <vt:lpstr>Plan menu for specific event/occasion including resources</vt:lpstr>
      <vt:lpstr>Plan menu for specific event/occasion including resources</vt:lpstr>
      <vt:lpstr>Plan menu for specific event/occasion including resources</vt:lpstr>
      <vt:lpstr>Determine quantities required for food items as per standard recipes</vt:lpstr>
      <vt:lpstr>Determine quantities required for food items as per standard recipes</vt:lpstr>
      <vt:lpstr>Determine quantities required for food items as per standard recipes</vt:lpstr>
      <vt:lpstr>Determine quantities required for food items as per standard recipes</vt:lpstr>
      <vt:lpstr>Determine quantities required for food items as per standard recipes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Order from suppliers with specifications for products</vt:lpstr>
      <vt:lpstr>Prepare production sheets/work schedules</vt:lpstr>
      <vt:lpstr>Prepare production sheets/work schedules</vt:lpstr>
      <vt:lpstr>Prepare production sheets/work schedules</vt:lpstr>
      <vt:lpstr>Summary – Element 1</vt:lpstr>
      <vt:lpstr>Summary – Element 1</vt:lpstr>
      <vt:lpstr>Prepare and produce food items for food service</vt:lpstr>
      <vt:lpstr>Identify and plan work flow</vt:lpstr>
      <vt:lpstr>Identify and plan work flow</vt:lpstr>
      <vt:lpstr>Identify and plan work flow</vt:lpstr>
      <vt:lpstr>Identify and plan work flow</vt:lpstr>
      <vt:lpstr>Identify and plan work flow</vt:lpstr>
      <vt:lpstr>Identify and plan work flow</vt:lpstr>
      <vt:lpstr>Communicate with production team</vt:lpstr>
      <vt:lpstr>Communicate with production team</vt:lpstr>
      <vt:lpstr>Communicate with production team</vt:lpstr>
      <vt:lpstr>Communicate with production team</vt:lpstr>
      <vt:lpstr>Communicate with production team</vt:lpstr>
      <vt:lpstr>Summary – Element 2</vt:lpstr>
      <vt:lpstr>Summary – Element 2</vt:lpstr>
      <vt:lpstr>Set up kitchen for food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Place personnel ready for service</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Allocate equipment</vt:lpstr>
      <vt:lpstr>Determine service style to suit operation</vt:lpstr>
      <vt:lpstr>Determine service style to suit operation</vt:lpstr>
      <vt:lpstr>Determine service style to suit operation</vt:lpstr>
      <vt:lpstr>Determine service style to suit operation</vt:lpstr>
      <vt:lpstr>Determine service style to suit operation</vt:lpstr>
      <vt:lpstr>Determine service style to suit operation</vt:lpstr>
      <vt:lpstr>Determine service flow for service style</vt:lpstr>
      <vt:lpstr>Determine service flow for service style</vt:lpstr>
      <vt:lpstr>Determine service flow for service style</vt:lpstr>
      <vt:lpstr>Summary – Element 3</vt:lpstr>
      <vt:lpstr>Summary – Element 3</vt:lpstr>
      <vt:lpstr>Hold and store products for food service</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preparation and cooking methods</vt:lpstr>
      <vt:lpstr>Use appropriate equipment</vt:lpstr>
      <vt:lpstr>Use appropriate equipment</vt:lpstr>
      <vt:lpstr>Use appropriate equipment</vt:lpstr>
      <vt:lpstr>Use appropriate equipment</vt:lpstr>
      <vt:lpstr>Use appropriate equipment</vt:lpstr>
      <vt:lpstr>Use appropriate equipment</vt:lpstr>
      <vt:lpstr>Use appropriate equipment</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Follow food safety requirements</vt:lpstr>
      <vt:lpstr>Hold menu items</vt:lpstr>
      <vt:lpstr>Hold menu items</vt:lpstr>
      <vt:lpstr>Hold menu items</vt:lpstr>
      <vt:lpstr>Hold menu items</vt:lpstr>
      <vt:lpstr>Hold menu items</vt:lpstr>
      <vt:lpstr>Hold menu items</vt:lpstr>
      <vt:lpstr>Hold menu items</vt:lpstr>
      <vt:lpstr>Hold menu items</vt:lpstr>
      <vt:lpstr>Reheat menu items</vt:lpstr>
      <vt:lpstr>Reheat menu items</vt:lpstr>
      <vt:lpstr>Reheat menu items</vt:lpstr>
      <vt:lpstr>Reheat menu items</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Serve and present food items in line with customer volume</vt:lpstr>
      <vt:lpstr>Summary – Element 4</vt:lpstr>
      <vt:lpstr>Summary – Element 4</vt:lpstr>
      <vt:lpstr>Summary – Element 4</vt:lpstr>
      <vt:lpstr>Summary – Element 4</vt:lpstr>
      <vt:lpstr>Summary – Element 4</vt:lpstr>
      <vt:lpstr>Store products after food service to maintain quality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Store fresh and or Cryovac items correctly</vt:lpstr>
      <vt:lpstr>Change storage containers and trays to enterprise standards</vt:lpstr>
      <vt:lpstr>Change storage containers and trays to enterprise standards</vt:lpstr>
      <vt:lpstr>Change storage containers and trays to enterprise standards</vt:lpstr>
      <vt:lpstr>Change storage containers and trays to enterprise standards</vt:lpstr>
      <vt:lpstr>Change storage containers and trays to enterprise standards</vt:lpstr>
      <vt:lpstr>Change storage containers and trays to enterprise standards</vt:lpstr>
      <vt:lpstr>Change storage containers and trays to enterprise standards</vt:lpstr>
      <vt:lpstr>Label items correctly</vt:lpstr>
      <vt:lpstr>Label items correctly</vt:lpstr>
      <vt:lpstr>Label items correctly</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Store products to maintain freshness and quality and minimise wastage</vt:lpstr>
      <vt:lpstr>Summary – Element 5</vt:lpstr>
      <vt:lpstr>Summary – Element 5</vt:lpstr>
      <vt:lpstr>Summary – Element 5</vt:lpstr>
      <vt:lpstr>Summary – Element 5</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 FOOD SERVICE OPERATIONS</dc:title>
  <dc:creator>Administrator</dc:creator>
  <cp:lastModifiedBy>Daniel James Chee</cp:lastModifiedBy>
  <cp:revision>317</cp:revision>
  <dcterms:created xsi:type="dcterms:W3CDTF">2012-03-27T05:41:30Z</dcterms:created>
  <dcterms:modified xsi:type="dcterms:W3CDTF">2013-07-14T01:53:29Z</dcterms:modified>
</cp:coreProperties>
</file>