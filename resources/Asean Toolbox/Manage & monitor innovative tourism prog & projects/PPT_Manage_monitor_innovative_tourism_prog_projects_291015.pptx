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5"/>
  </p:notesMasterIdLst>
  <p:handoutMasterIdLst>
    <p:handoutMasterId r:id="rId156"/>
  </p:handoutMasterIdLst>
  <p:sldIdLst>
    <p:sldId id="256" r:id="rId2"/>
    <p:sldId id="257" r:id="rId3"/>
    <p:sldId id="258" r:id="rId4"/>
    <p:sldId id="259" r:id="rId5"/>
    <p:sldId id="260" r:id="rId6"/>
    <p:sldId id="263" r:id="rId7"/>
    <p:sldId id="310" r:id="rId8"/>
    <p:sldId id="356" r:id="rId9"/>
    <p:sldId id="357" r:id="rId10"/>
    <p:sldId id="358" r:id="rId11"/>
    <p:sldId id="359" r:id="rId12"/>
    <p:sldId id="360" r:id="rId13"/>
    <p:sldId id="361" r:id="rId14"/>
    <p:sldId id="363" r:id="rId15"/>
    <p:sldId id="362" r:id="rId16"/>
    <p:sldId id="364" r:id="rId17"/>
    <p:sldId id="365" r:id="rId18"/>
    <p:sldId id="355" r:id="rId19"/>
    <p:sldId id="366" r:id="rId20"/>
    <p:sldId id="312" r:id="rId21"/>
    <p:sldId id="367" r:id="rId22"/>
    <p:sldId id="298" r:id="rId23"/>
    <p:sldId id="368" r:id="rId24"/>
    <p:sldId id="369" r:id="rId25"/>
    <p:sldId id="370" r:id="rId26"/>
    <p:sldId id="371" r:id="rId27"/>
    <p:sldId id="372" r:id="rId28"/>
    <p:sldId id="373" r:id="rId29"/>
    <p:sldId id="374" r:id="rId30"/>
    <p:sldId id="375" r:id="rId31"/>
    <p:sldId id="376" r:id="rId32"/>
    <p:sldId id="377" r:id="rId33"/>
    <p:sldId id="378" r:id="rId34"/>
    <p:sldId id="379" r:id="rId35"/>
    <p:sldId id="380" r:id="rId36"/>
    <p:sldId id="381" r:id="rId37"/>
    <p:sldId id="382" r:id="rId38"/>
    <p:sldId id="383" r:id="rId39"/>
    <p:sldId id="384" r:id="rId40"/>
    <p:sldId id="385" r:id="rId41"/>
    <p:sldId id="386" r:id="rId42"/>
    <p:sldId id="387" r:id="rId43"/>
    <p:sldId id="388" r:id="rId44"/>
    <p:sldId id="389" r:id="rId45"/>
    <p:sldId id="390" r:id="rId46"/>
    <p:sldId id="391" r:id="rId47"/>
    <p:sldId id="392" r:id="rId48"/>
    <p:sldId id="393" r:id="rId49"/>
    <p:sldId id="394" r:id="rId50"/>
    <p:sldId id="395" r:id="rId51"/>
    <p:sldId id="396" r:id="rId52"/>
    <p:sldId id="289" r:id="rId53"/>
    <p:sldId id="397" r:id="rId54"/>
    <p:sldId id="398" r:id="rId55"/>
    <p:sldId id="290" r:id="rId56"/>
    <p:sldId id="291" r:id="rId57"/>
    <p:sldId id="292" r:id="rId58"/>
    <p:sldId id="293" r:id="rId59"/>
    <p:sldId id="294" r:id="rId60"/>
    <p:sldId id="295" r:id="rId61"/>
    <p:sldId id="296" r:id="rId62"/>
    <p:sldId id="297" r:id="rId63"/>
    <p:sldId id="399" r:id="rId64"/>
    <p:sldId id="400" r:id="rId65"/>
    <p:sldId id="401" r:id="rId66"/>
    <p:sldId id="402" r:id="rId67"/>
    <p:sldId id="403" r:id="rId68"/>
    <p:sldId id="404" r:id="rId69"/>
    <p:sldId id="339" r:id="rId70"/>
    <p:sldId id="405" r:id="rId71"/>
    <p:sldId id="334" r:id="rId72"/>
    <p:sldId id="335" r:id="rId73"/>
    <p:sldId id="336" r:id="rId74"/>
    <p:sldId id="337" r:id="rId75"/>
    <p:sldId id="406" r:id="rId76"/>
    <p:sldId id="407" r:id="rId77"/>
    <p:sldId id="338" r:id="rId78"/>
    <p:sldId id="408" r:id="rId79"/>
    <p:sldId id="409" r:id="rId80"/>
    <p:sldId id="410" r:id="rId81"/>
    <p:sldId id="411" r:id="rId82"/>
    <p:sldId id="412" r:id="rId83"/>
    <p:sldId id="274" r:id="rId84"/>
    <p:sldId id="275" r:id="rId85"/>
    <p:sldId id="413" r:id="rId86"/>
    <p:sldId id="414" r:id="rId87"/>
    <p:sldId id="415" r:id="rId88"/>
    <p:sldId id="416" r:id="rId89"/>
    <p:sldId id="417" r:id="rId90"/>
    <p:sldId id="418" r:id="rId91"/>
    <p:sldId id="419" r:id="rId92"/>
    <p:sldId id="420" r:id="rId93"/>
    <p:sldId id="421" r:id="rId94"/>
    <p:sldId id="422" r:id="rId95"/>
    <p:sldId id="423" r:id="rId96"/>
    <p:sldId id="424" r:id="rId97"/>
    <p:sldId id="425" r:id="rId98"/>
    <p:sldId id="426" r:id="rId99"/>
    <p:sldId id="428" r:id="rId100"/>
    <p:sldId id="427" r:id="rId101"/>
    <p:sldId id="429" r:id="rId102"/>
    <p:sldId id="430" r:id="rId103"/>
    <p:sldId id="431" r:id="rId104"/>
    <p:sldId id="432" r:id="rId105"/>
    <p:sldId id="433" r:id="rId106"/>
    <p:sldId id="434" r:id="rId107"/>
    <p:sldId id="435" r:id="rId108"/>
    <p:sldId id="436" r:id="rId109"/>
    <p:sldId id="437" r:id="rId110"/>
    <p:sldId id="438" r:id="rId111"/>
    <p:sldId id="439" r:id="rId112"/>
    <p:sldId id="440" r:id="rId113"/>
    <p:sldId id="441" r:id="rId114"/>
    <p:sldId id="442" r:id="rId115"/>
    <p:sldId id="443" r:id="rId116"/>
    <p:sldId id="444" r:id="rId117"/>
    <p:sldId id="445" r:id="rId118"/>
    <p:sldId id="446" r:id="rId119"/>
    <p:sldId id="447" r:id="rId120"/>
    <p:sldId id="448" r:id="rId121"/>
    <p:sldId id="449" r:id="rId122"/>
    <p:sldId id="450" r:id="rId123"/>
    <p:sldId id="451" r:id="rId124"/>
    <p:sldId id="452" r:id="rId125"/>
    <p:sldId id="453" r:id="rId126"/>
    <p:sldId id="454" r:id="rId127"/>
    <p:sldId id="350" r:id="rId128"/>
    <p:sldId id="455" r:id="rId129"/>
    <p:sldId id="456" r:id="rId130"/>
    <p:sldId id="457" r:id="rId131"/>
    <p:sldId id="351" r:id="rId132"/>
    <p:sldId id="283" r:id="rId133"/>
    <p:sldId id="284" r:id="rId134"/>
    <p:sldId id="467" r:id="rId135"/>
    <p:sldId id="468" r:id="rId136"/>
    <p:sldId id="469" r:id="rId137"/>
    <p:sldId id="470" r:id="rId138"/>
    <p:sldId id="471" r:id="rId139"/>
    <p:sldId id="472" r:id="rId140"/>
    <p:sldId id="473" r:id="rId141"/>
    <p:sldId id="474" r:id="rId142"/>
    <p:sldId id="475" r:id="rId143"/>
    <p:sldId id="476" r:id="rId144"/>
    <p:sldId id="477" r:id="rId145"/>
    <p:sldId id="479" r:id="rId146"/>
    <p:sldId id="480" r:id="rId147"/>
    <p:sldId id="481" r:id="rId148"/>
    <p:sldId id="458" r:id="rId149"/>
    <p:sldId id="459" r:id="rId150"/>
    <p:sldId id="460" r:id="rId151"/>
    <p:sldId id="462" r:id="rId152"/>
    <p:sldId id="463" r:id="rId153"/>
    <p:sldId id="465" r:id="rId154"/>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57" autoAdjust="0"/>
    <p:restoredTop sz="69634" autoAdjust="0"/>
  </p:normalViewPr>
  <p:slideViewPr>
    <p:cSldViewPr>
      <p:cViewPr varScale="1">
        <p:scale>
          <a:sx n="64" d="100"/>
          <a:sy n="64" d="100"/>
        </p:scale>
        <p:origin x="210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7/19/2016</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7/19/2016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welcomes students to class and introduces them to this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993066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779428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905183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tourism projects or program do you know of?</a:t>
            </a:r>
          </a:p>
          <a:p>
            <a:pPr>
              <a:buFont typeface="Arial" pitchFamily="34" charset="0"/>
              <a:buChar char="•"/>
            </a:pPr>
            <a:r>
              <a:rPr lang="en-AU" sz="1200" kern="1200" baseline="0" dirty="0" smtClean="0">
                <a:solidFill>
                  <a:schemeClr val="tx1"/>
                </a:solidFill>
                <a:ea typeface="+mn-ea"/>
                <a:cs typeface="+mn-cs"/>
              </a:rPr>
              <a:t>What activities do they involve?</a:t>
            </a:r>
          </a:p>
          <a:p>
            <a:pPr>
              <a:buFont typeface="Arial" pitchFamily="34" charset="0"/>
              <a:buChar char="•"/>
            </a:pPr>
            <a:r>
              <a:rPr lang="en-AU" sz="1200" kern="1200" baseline="0" dirty="0" smtClean="0">
                <a:solidFill>
                  <a:schemeClr val="tx1"/>
                </a:solidFill>
                <a:ea typeface="+mn-ea"/>
                <a:cs typeface="+mn-cs"/>
              </a:rPr>
              <a:t>What planning would need to take place?</a:t>
            </a: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409553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666534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616450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noProof="0" dirty="0" smtClean="0"/>
              <a:t>Discuss the questions in the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5177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noProof="0" dirty="0" smtClean="0"/>
              <a:t>What ‘innovative’ tourism</a:t>
            </a:r>
            <a:r>
              <a:rPr lang="en-AU" baseline="0" noProof="0" dirty="0" smtClean="0"/>
              <a:t> activities do you know of?</a:t>
            </a:r>
          </a:p>
          <a:p>
            <a:pPr>
              <a:buFont typeface="Arial" pitchFamily="34" charset="0"/>
              <a:buChar char="•"/>
            </a:pPr>
            <a:r>
              <a:rPr lang="en-AU" baseline="0" noProof="0" dirty="0" smtClean="0"/>
              <a:t>What makes them innovative?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720257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noProof="0" dirty="0" smtClean="0"/>
              <a:t>What is a project?</a:t>
            </a:r>
          </a:p>
          <a:p>
            <a:pPr>
              <a:buFont typeface="Arial" pitchFamily="34" charset="0"/>
              <a:buChar char="•"/>
            </a:pPr>
            <a:r>
              <a:rPr lang="en-AU" noProof="0" dirty="0" smtClean="0"/>
              <a:t>What are examples of tourism</a:t>
            </a:r>
            <a:r>
              <a:rPr lang="en-AU" baseline="0" noProof="0" dirty="0" smtClean="0"/>
              <a:t> projects?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813305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noProof="0" dirty="0" smtClean="0"/>
              <a:t>What is a program?</a:t>
            </a:r>
          </a:p>
          <a:p>
            <a:pPr>
              <a:buFont typeface="Arial" pitchFamily="34" charset="0"/>
              <a:buChar char="•"/>
            </a:pPr>
            <a:r>
              <a:rPr lang="en-AU" noProof="0" dirty="0" smtClean="0"/>
              <a:t>What are examples of tourism</a:t>
            </a:r>
            <a:r>
              <a:rPr lang="en-AU" baseline="0" noProof="0" dirty="0" smtClean="0"/>
              <a:t> programs?</a:t>
            </a:r>
          </a:p>
          <a:p>
            <a:pPr>
              <a:buFont typeface="Arial" pitchFamily="34" charset="0"/>
              <a:buChar char="•"/>
            </a:pPr>
            <a:r>
              <a:rPr lang="en-AU" baseline="0" noProof="0" dirty="0" smtClean="0"/>
              <a:t>How do projects differ from programs?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683587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noProof="0" dirty="0" smtClean="0"/>
              <a:t>Why</a:t>
            </a:r>
            <a:r>
              <a:rPr lang="en-AU" baseline="0" noProof="0" dirty="0" smtClean="0"/>
              <a:t> are these aspects important to know?</a:t>
            </a:r>
          </a:p>
          <a:p>
            <a:pPr>
              <a:buFont typeface="Arial" pitchFamily="34" charset="0"/>
              <a:buChar char="•"/>
            </a:pPr>
            <a:r>
              <a:rPr lang="en-AU" baseline="0" noProof="0" dirty="0" smtClean="0"/>
              <a:t>How can you identify them?</a:t>
            </a:r>
          </a:p>
          <a:p>
            <a:pPr>
              <a:buFont typeface="Arial" pitchFamily="34" charset="0"/>
              <a:buChar char="•"/>
            </a:pPr>
            <a:r>
              <a:rPr lang="en-AU" baseline="0" noProof="0" dirty="0" smtClean="0"/>
              <a:t>What other aspects would you like to know?</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457077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Discuss these types of projects/programs.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72867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Discuss these types of projects/programs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904942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these types of projects/programs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841713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these reasons. </a:t>
            </a:r>
          </a:p>
          <a:p>
            <a:pPr>
              <a:buFont typeface="Arial" pitchFamily="34" charset="0"/>
              <a:buChar char="•"/>
            </a:pPr>
            <a:r>
              <a:rPr lang="en-AU" sz="1200" kern="1200" baseline="0" noProof="0" dirty="0" smtClean="0">
                <a:solidFill>
                  <a:schemeClr val="tx1"/>
                </a:solidFill>
                <a:ea typeface="+mn-ea"/>
                <a:cs typeface="+mn-cs"/>
              </a:rPr>
              <a:t>Identify the nature of projects or programs designed to satisfy these reasons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892791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these reasons. </a:t>
            </a:r>
          </a:p>
          <a:p>
            <a:pPr>
              <a:buFont typeface="Arial" pitchFamily="34" charset="0"/>
              <a:buChar char="•"/>
            </a:pPr>
            <a:r>
              <a:rPr lang="en-AU" sz="1200" kern="1200" baseline="0" noProof="0" dirty="0" smtClean="0">
                <a:solidFill>
                  <a:schemeClr val="tx1"/>
                </a:solidFill>
                <a:ea typeface="+mn-ea"/>
                <a:cs typeface="+mn-cs"/>
              </a:rPr>
              <a:t>Identify the nature of projects or programs designed to satisfy these reasons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489699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What information can you gather from these methods?</a:t>
            </a:r>
          </a:p>
          <a:p>
            <a:pPr>
              <a:buFont typeface="Arial" pitchFamily="34" charset="0"/>
              <a:buChar char="•"/>
            </a:pPr>
            <a:r>
              <a:rPr lang="en-AU" sz="1200" kern="1200" baseline="0" noProof="0" dirty="0" smtClean="0">
                <a:solidFill>
                  <a:schemeClr val="tx1"/>
                </a:solidFill>
                <a:ea typeface="+mn-ea"/>
                <a:cs typeface="+mn-cs"/>
              </a:rPr>
              <a:t>What other methods can you use?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132259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examples of objectives?</a:t>
            </a:r>
          </a:p>
          <a:p>
            <a:pPr>
              <a:buFont typeface="Arial" pitchFamily="34" charset="0"/>
              <a:buChar char="•"/>
            </a:pPr>
            <a:r>
              <a:rPr lang="en-AU" sz="1200" kern="1200" baseline="0" dirty="0" smtClean="0">
                <a:solidFill>
                  <a:schemeClr val="tx1"/>
                </a:solidFill>
                <a:ea typeface="+mn-ea"/>
                <a:cs typeface="+mn-cs"/>
              </a:rPr>
              <a:t>Who sets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2908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other factors may impact on objectives for projects?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599809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SMART objectives important?</a:t>
            </a:r>
          </a:p>
          <a:p>
            <a:pPr>
              <a:buFont typeface="Arial" pitchFamily="34" charset="0"/>
              <a:buChar char="•"/>
            </a:pPr>
            <a:r>
              <a:rPr lang="en-AU" sz="1200" kern="1200" baseline="0" dirty="0" smtClean="0">
                <a:solidFill>
                  <a:schemeClr val="tx1"/>
                </a:solidFill>
                <a:ea typeface="+mn-ea"/>
                <a:cs typeface="+mn-cs"/>
              </a:rPr>
              <a:t>What are examples of SMART objectives?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662107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the different types of objectives that may exist</a:t>
            </a:r>
          </a:p>
          <a:p>
            <a:pPr>
              <a:buFont typeface="Arial" pitchFamily="34" charset="0"/>
              <a:buChar char="•"/>
            </a:pPr>
            <a:r>
              <a:rPr lang="en-AU" sz="1200" kern="1200" baseline="0" dirty="0" smtClean="0">
                <a:solidFill>
                  <a:schemeClr val="tx1"/>
                </a:solidFill>
                <a:ea typeface="+mn-ea"/>
                <a:cs typeface="+mn-cs"/>
              </a:rPr>
              <a:t>Refer to TM Page 18 for examples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2</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3450522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questions in the slide </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838081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Identify</a:t>
            </a:r>
            <a:r>
              <a:rPr lang="en-US" sz="1200" kern="1200" baseline="0" dirty="0" smtClean="0">
                <a:solidFill>
                  <a:schemeClr val="tx1"/>
                </a:solidFill>
                <a:ea typeface="+mn-ea"/>
                <a:cs typeface="+mn-cs"/>
              </a:rPr>
              <a:t> the elements within each of these factors that will impact on projects being implemented.</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298902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Identify</a:t>
            </a:r>
            <a:r>
              <a:rPr lang="en-US" sz="1200" kern="1200" baseline="0" dirty="0" smtClean="0">
                <a:solidFill>
                  <a:schemeClr val="tx1"/>
                </a:solidFill>
                <a:ea typeface="+mn-ea"/>
                <a:cs typeface="+mn-cs"/>
              </a:rPr>
              <a:t> the elements within each of these factors that will impact on projects being implemented.</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611888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are the reasons for these conflict</a:t>
            </a:r>
            <a:r>
              <a:rPr lang="en-US" sz="1200" kern="1200" baseline="0" dirty="0" smtClean="0">
                <a:solidFill>
                  <a:schemeClr val="tx1"/>
                </a:solidFill>
                <a:ea typeface="+mn-ea"/>
                <a:cs typeface="+mn-cs"/>
              </a:rPr>
              <a:t> factors?</a:t>
            </a:r>
          </a:p>
          <a:p>
            <a:pPr lvl="0">
              <a:buFont typeface="Arial" pitchFamily="34" charset="0"/>
              <a:buChar char="•"/>
            </a:pPr>
            <a:r>
              <a:rPr lang="en-US" sz="1200" kern="1200" baseline="0" dirty="0" smtClean="0">
                <a:solidFill>
                  <a:schemeClr val="tx1"/>
                </a:solidFill>
                <a:ea typeface="+mn-ea"/>
                <a:cs typeface="+mn-cs"/>
              </a:rPr>
              <a:t>How can they be overcome to ensure implementation of projects takes place?</a:t>
            </a:r>
          </a:p>
          <a:p>
            <a:pPr lvl="0">
              <a:buFont typeface="Arial" pitchFamily="34" charset="0"/>
              <a:buChar char="•"/>
            </a:pPr>
            <a:r>
              <a:rPr lang="en-US" sz="1200" kern="1200" baseline="0" dirty="0" smtClean="0">
                <a:solidFill>
                  <a:schemeClr val="tx1"/>
                </a:solidFill>
                <a:ea typeface="+mn-ea"/>
                <a:cs typeface="+mn-cs"/>
              </a:rPr>
              <a:t>Trainer to provide examples</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4213403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r>
              <a:rPr lang="en-AU" sz="1200" b="1" kern="1200" baseline="0" dirty="0" smtClean="0">
                <a:solidFill>
                  <a:schemeClr val="tx1"/>
                </a:solidFill>
                <a:ea typeface="+mn-ea"/>
                <a:cs typeface="+mn-cs"/>
              </a:rPr>
              <a:t> &amp; Activity</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are the reasons for these conflict</a:t>
            </a:r>
            <a:r>
              <a:rPr lang="en-US" sz="1200" kern="1200" baseline="0" dirty="0" smtClean="0">
                <a:solidFill>
                  <a:schemeClr val="tx1"/>
                </a:solidFill>
                <a:ea typeface="+mn-ea"/>
                <a:cs typeface="+mn-cs"/>
              </a:rPr>
              <a:t> factors?</a:t>
            </a:r>
          </a:p>
          <a:p>
            <a:pPr lvl="0">
              <a:buFont typeface="Arial" pitchFamily="34" charset="0"/>
              <a:buChar char="•"/>
            </a:pPr>
            <a:r>
              <a:rPr lang="en-US" sz="1200" kern="1200" baseline="0" dirty="0" smtClean="0">
                <a:solidFill>
                  <a:schemeClr val="tx1"/>
                </a:solidFill>
                <a:ea typeface="+mn-ea"/>
                <a:cs typeface="+mn-cs"/>
              </a:rPr>
              <a:t>How can they be overcome to ensure implementation of projects takes place?</a:t>
            </a:r>
          </a:p>
          <a:p>
            <a:pPr lvl="0">
              <a:buFont typeface="Arial" pitchFamily="34" charset="0"/>
              <a:buChar char="•"/>
            </a:pPr>
            <a:r>
              <a:rPr lang="en-US" sz="1200" kern="1200" baseline="0" dirty="0" smtClean="0">
                <a:solidFill>
                  <a:schemeClr val="tx1"/>
                </a:solidFill>
                <a:ea typeface="+mn-ea"/>
                <a:cs typeface="+mn-cs"/>
              </a:rPr>
              <a:t>Trainer to provide examples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3</a:t>
            </a:r>
          </a:p>
          <a:p>
            <a:pPr lvl="0">
              <a:buFont typeface="Arial" pitchFamily="34" charset="0"/>
              <a:buChar char="•"/>
            </a:pP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8489517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are other examples of feasibility?</a:t>
            </a:r>
          </a:p>
          <a:p>
            <a:pPr lvl="0">
              <a:buFont typeface="Arial" pitchFamily="34" charset="0"/>
              <a:buChar char="•"/>
            </a:pPr>
            <a:r>
              <a:rPr lang="en-US" sz="1200" kern="1200" dirty="0" smtClean="0">
                <a:solidFill>
                  <a:schemeClr val="tx1"/>
                </a:solidFill>
                <a:ea typeface="+mn-ea"/>
                <a:cs typeface="+mn-cs"/>
              </a:rPr>
              <a:t>How do these points impact projects</a:t>
            </a:r>
            <a:r>
              <a:rPr lang="en-US" sz="1200" kern="1200" baseline="0" dirty="0" smtClean="0">
                <a:solidFill>
                  <a:schemeClr val="tx1"/>
                </a:solidFill>
                <a:ea typeface="+mn-ea"/>
                <a:cs typeface="+mn-cs"/>
              </a:rPr>
              <a:t> from commencing?</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7903582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are other examples of feasibility?</a:t>
            </a:r>
          </a:p>
          <a:p>
            <a:pPr lvl="0">
              <a:buFont typeface="Arial" pitchFamily="34" charset="0"/>
              <a:buChar char="•"/>
            </a:pPr>
            <a:r>
              <a:rPr lang="en-US" sz="1200" kern="1200" dirty="0" smtClean="0">
                <a:solidFill>
                  <a:schemeClr val="tx1"/>
                </a:solidFill>
                <a:ea typeface="+mn-ea"/>
                <a:cs typeface="+mn-cs"/>
              </a:rPr>
              <a:t>How do these points impact projects</a:t>
            </a:r>
            <a:r>
              <a:rPr lang="en-US" sz="1200" kern="1200" baseline="0" dirty="0" smtClean="0">
                <a:solidFill>
                  <a:schemeClr val="tx1"/>
                </a:solidFill>
                <a:ea typeface="+mn-ea"/>
                <a:cs typeface="+mn-cs"/>
              </a:rPr>
              <a:t> from commencing?</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8389480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are planning steps</a:t>
            </a:r>
            <a:r>
              <a:rPr lang="en-US" sz="1200" kern="1200" baseline="0" dirty="0" smtClean="0">
                <a:solidFill>
                  <a:schemeClr val="tx1"/>
                </a:solidFill>
                <a:ea typeface="+mn-ea"/>
                <a:cs typeface="+mn-cs"/>
              </a:rPr>
              <a:t> to be undertaken?</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46976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are planning steps</a:t>
            </a:r>
            <a:r>
              <a:rPr lang="en-US" sz="1200" kern="1200" baseline="0" dirty="0" smtClean="0">
                <a:solidFill>
                  <a:schemeClr val="tx1"/>
                </a:solidFill>
                <a:ea typeface="+mn-ea"/>
                <a:cs typeface="+mn-cs"/>
              </a:rPr>
              <a:t> to be undertaken?</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8488299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Discuss these</a:t>
            </a:r>
            <a:r>
              <a:rPr lang="en-US" sz="1200" kern="1200" baseline="0" dirty="0" smtClean="0">
                <a:solidFill>
                  <a:schemeClr val="tx1"/>
                </a:solidFill>
                <a:ea typeface="+mn-ea"/>
                <a:cs typeface="+mn-cs"/>
              </a:rPr>
              <a:t> activities</a:t>
            </a:r>
          </a:p>
          <a:p>
            <a:pPr lvl="0">
              <a:buFont typeface="Arial" pitchFamily="34" charset="0"/>
              <a:buChar char="•"/>
            </a:pPr>
            <a:r>
              <a:rPr lang="en-US" sz="1200" kern="1200" baseline="0" dirty="0" smtClean="0">
                <a:solidFill>
                  <a:schemeClr val="tx1"/>
                </a:solidFill>
                <a:ea typeface="+mn-ea"/>
                <a:cs typeface="+mn-cs"/>
              </a:rPr>
              <a:t>What tasks are associated with each of these activities?</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8695188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Discuss these</a:t>
            </a:r>
            <a:r>
              <a:rPr lang="en-US" sz="1200" kern="1200" baseline="0" dirty="0" smtClean="0">
                <a:solidFill>
                  <a:schemeClr val="tx1"/>
                </a:solidFill>
                <a:ea typeface="+mn-ea"/>
                <a:cs typeface="+mn-cs"/>
              </a:rPr>
              <a:t> activities</a:t>
            </a:r>
          </a:p>
          <a:p>
            <a:pPr lvl="0">
              <a:buFont typeface="Arial" pitchFamily="34" charset="0"/>
              <a:buChar char="•"/>
            </a:pPr>
            <a:r>
              <a:rPr lang="en-US" sz="1200" kern="1200" baseline="0" dirty="0" smtClean="0">
                <a:solidFill>
                  <a:schemeClr val="tx1"/>
                </a:solidFill>
                <a:ea typeface="+mn-ea"/>
                <a:cs typeface="+mn-cs"/>
              </a:rPr>
              <a:t>What tasks are associated with each of these activities?</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7527186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Discuss these</a:t>
            </a:r>
            <a:r>
              <a:rPr lang="en-US" sz="1200" kern="1200" baseline="0" dirty="0" smtClean="0">
                <a:solidFill>
                  <a:schemeClr val="tx1"/>
                </a:solidFill>
                <a:ea typeface="+mn-ea"/>
                <a:cs typeface="+mn-cs"/>
              </a:rPr>
              <a:t> activities</a:t>
            </a:r>
          </a:p>
          <a:p>
            <a:pPr lvl="0">
              <a:buFont typeface="Arial" pitchFamily="34" charset="0"/>
              <a:buChar char="•"/>
            </a:pPr>
            <a:r>
              <a:rPr lang="en-US" sz="1200" kern="1200" baseline="0" dirty="0" smtClean="0">
                <a:solidFill>
                  <a:schemeClr val="tx1"/>
                </a:solidFill>
                <a:ea typeface="+mn-ea"/>
                <a:cs typeface="+mn-cs"/>
              </a:rPr>
              <a:t>What tasks are associated with each of these activities?</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8821747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Discuss these</a:t>
            </a:r>
            <a:r>
              <a:rPr lang="en-US" sz="1200" kern="1200" baseline="0" dirty="0" smtClean="0">
                <a:solidFill>
                  <a:schemeClr val="tx1"/>
                </a:solidFill>
                <a:ea typeface="+mn-ea"/>
                <a:cs typeface="+mn-cs"/>
              </a:rPr>
              <a:t> activities</a:t>
            </a:r>
          </a:p>
          <a:p>
            <a:pPr lvl="0">
              <a:buFont typeface="Arial" pitchFamily="34" charset="0"/>
              <a:buChar char="•"/>
            </a:pPr>
            <a:r>
              <a:rPr lang="en-US" sz="1200" kern="1200" baseline="0" dirty="0" smtClean="0">
                <a:solidFill>
                  <a:schemeClr val="tx1"/>
                </a:solidFill>
                <a:ea typeface="+mn-ea"/>
                <a:cs typeface="+mn-cs"/>
              </a:rPr>
              <a:t>What tasks are associated with each of these activities?</a:t>
            </a: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2922590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Review a project plan</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Review a project plan</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3747198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Review a project plan</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Review a project plan</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5740666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Review a project plan</a:t>
            </a:r>
            <a:r>
              <a:rPr lang="en-AU" sz="1200" b="1" kern="1200" baseline="0" dirty="0" smtClean="0">
                <a:solidFill>
                  <a:schemeClr val="tx1"/>
                </a:solidFill>
                <a:ea typeface="+mn-ea"/>
                <a:cs typeface="+mn-cs"/>
              </a:rPr>
              <a:t> &amp; Activity</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Review a project plan</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4</a:t>
            </a:r>
          </a:p>
          <a:p>
            <a:pPr lvl="0">
              <a:buFont typeface="Arial" pitchFamily="34" charset="0"/>
              <a:buChar char="•"/>
            </a:pPr>
            <a:endParaRPr lang="en-US" sz="1200" kern="1200" dirty="0" smtClean="0">
              <a:solidFill>
                <a:schemeClr val="tx1"/>
              </a:solidFill>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1341833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40359886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14727169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&amp; Review examples of budgets</a:t>
            </a:r>
          </a:p>
          <a:p>
            <a:endParaRPr lang="en-AU" dirty="0" smtClean="0"/>
          </a:p>
          <a:p>
            <a:pPr>
              <a:buFont typeface="Arial" pitchFamily="34" charset="0"/>
              <a:buChar char="•"/>
            </a:pPr>
            <a:r>
              <a:rPr lang="en-AU" baseline="0" dirty="0" smtClean="0"/>
              <a:t>What is the purpose of each of these budgets?</a:t>
            </a:r>
          </a:p>
          <a:p>
            <a:pPr>
              <a:buFont typeface="Arial" pitchFamily="34" charset="0"/>
              <a:buChar char="•"/>
            </a:pPr>
            <a:r>
              <a:rPr lang="en-AU" baseline="0" dirty="0" smtClean="0"/>
              <a:t>What information is included within these budgets?</a:t>
            </a:r>
          </a:p>
          <a:p>
            <a:pPr>
              <a:buFont typeface="Arial" pitchFamily="34" charset="0"/>
              <a:buChar char="•"/>
            </a:pPr>
            <a:r>
              <a:rPr lang="en-AU" baseline="0" dirty="0" smtClean="0"/>
              <a:t>Trainer to show examples of each of these budgets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7837642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are other considerations?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3952655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are other considerations when determining revenue for projects?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4656486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are other examples of project expenses?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10027663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are other examples of project expenses?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4350727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Answer questions in the slide</a:t>
            </a:r>
          </a:p>
          <a:p>
            <a:pPr>
              <a:buFont typeface="Arial" pitchFamily="34" charset="0"/>
              <a:buChar char="•"/>
            </a:pPr>
            <a:r>
              <a:rPr lang="en-AU" baseline="0" dirty="0" smtClean="0"/>
              <a:t>Refer to TM Pages 40-41 for examples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9342009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Answer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5</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9471563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What is the importance of monitoring projects or programs?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0349520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baseline="0" dirty="0" smtClean="0"/>
              <a:t>Discuss the different types of monitoring tools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1256750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r>
              <a:rPr lang="en-AU" sz="1200" b="1" kern="1200" baseline="0" dirty="0" smtClean="0">
                <a:solidFill>
                  <a:schemeClr val="tx1"/>
                </a:solidFill>
                <a:ea typeface="+mn-ea"/>
                <a:cs typeface="+mn-cs"/>
              </a:rPr>
              <a:t> &amp; Activities</a:t>
            </a:r>
            <a:endParaRPr lang="en-AU" b="1" dirty="0" smtClean="0"/>
          </a:p>
          <a:p>
            <a:endParaRPr lang="en-AU" dirty="0" smtClean="0"/>
          </a:p>
          <a:p>
            <a:pPr>
              <a:buFont typeface="Arial" pitchFamily="34" charset="0"/>
              <a:buChar char="•"/>
            </a:pPr>
            <a:r>
              <a:rPr lang="en-AU" baseline="0" dirty="0" smtClean="0"/>
              <a:t>Discuss the different types of monitoring tools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Activities 6 &amp; 7</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8167856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Discuss the questions in the slide</a:t>
            </a:r>
          </a:p>
          <a:p>
            <a:pPr>
              <a:buFont typeface="Arial" pitchFamily="34" charset="0"/>
              <a:buChar char="•"/>
            </a:pPr>
            <a:r>
              <a:rPr lang="en-AU" baseline="0" dirty="0" smtClean="0"/>
              <a:t>Refer to TM Pages 46-47 for examples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8</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3218225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What types of reports need to be prepared?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9</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6633601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Answer questions in the slide.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8437439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activities</a:t>
            </a:r>
          </a:p>
          <a:p>
            <a:pPr>
              <a:buFont typeface="Arial" pitchFamily="34" charset="0"/>
              <a:buChar char="•"/>
            </a:pPr>
            <a:r>
              <a:rPr lang="en-AU" sz="1200" b="0" kern="1200" baseline="0" dirty="0" smtClean="0">
                <a:solidFill>
                  <a:schemeClr val="tx1"/>
                </a:solidFill>
                <a:ea typeface="+mn-ea"/>
                <a:cs typeface="+mn-cs"/>
              </a:rPr>
              <a:t>What tasks are associated with each of these activities?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4365158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activities</a:t>
            </a:r>
          </a:p>
          <a:p>
            <a:pPr>
              <a:buFont typeface="Arial" pitchFamily="34" charset="0"/>
              <a:buChar char="•"/>
            </a:pPr>
            <a:r>
              <a:rPr lang="en-AU" sz="1200" b="0" kern="1200" baseline="0" dirty="0" smtClean="0">
                <a:solidFill>
                  <a:schemeClr val="tx1"/>
                </a:solidFill>
                <a:ea typeface="+mn-ea"/>
                <a:cs typeface="+mn-cs"/>
              </a:rPr>
              <a:t>What tasks are associated with each of these activities?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22226175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these capabilities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8163223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type of resource.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8539577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type of resource.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1384960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type of resource.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41715078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type of resource.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1021892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these factors affect resources?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737781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these factors affect resources?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5752168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Activity</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these factors affect resources?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10</a:t>
            </a:r>
          </a:p>
          <a:p>
            <a:pPr>
              <a:buFont typeface="Arial" pitchFamily="34" charset="0"/>
              <a:buChar char="•"/>
            </a:pPr>
            <a:endParaRPr lang="en-AU" sz="1200" b="0" kern="1200" baseline="0" dirty="0" smtClean="0">
              <a:solidFill>
                <a:schemeClr val="tx1"/>
              </a:solidFill>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4221194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questions in the slide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33824624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 &amp; Activity</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11</a:t>
            </a:r>
          </a:p>
          <a:p>
            <a:pPr>
              <a:buFont typeface="Arial" pitchFamily="34" charset="0"/>
              <a:buChar char="•"/>
            </a:pPr>
            <a:endParaRPr lang="en-AU" sz="1200" b="0" kern="1200" baseline="0" dirty="0" smtClean="0">
              <a:solidFill>
                <a:schemeClr val="tx1"/>
              </a:solidFill>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2099249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integrate projects with other business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39850046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How can you accommodate these considerations?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12</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162074468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3443893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Discuss the questions in the slide.</a:t>
            </a:r>
          </a:p>
          <a:p>
            <a:pPr>
              <a:buFont typeface="Arial" pitchFamily="34" charset="0"/>
              <a:buChar char="•"/>
            </a:pPr>
            <a:r>
              <a:rPr lang="en-AU" baseline="0" dirty="0" smtClean="0"/>
              <a:t>Complete Activity 13</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4863478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and Activity</a:t>
            </a:r>
          </a:p>
          <a:p>
            <a:endParaRPr lang="en-AU" dirty="0" smtClean="0"/>
          </a:p>
          <a:p>
            <a:pPr>
              <a:buFont typeface="Arial" pitchFamily="34" charset="0"/>
              <a:buChar char="•"/>
            </a:pPr>
            <a:r>
              <a:rPr lang="en-AU" dirty="0" smtClean="0"/>
              <a:t>Identify different types of successful</a:t>
            </a:r>
            <a:r>
              <a:rPr lang="en-AU" baseline="0" dirty="0" smtClean="0"/>
              <a:t> ventures or strategic alliances between companies when conducting projects.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14</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40606575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What service providers could you use?</a:t>
            </a:r>
          </a:p>
          <a:p>
            <a:pPr>
              <a:buFont typeface="Arial" pitchFamily="34" charset="0"/>
              <a:buChar char="•"/>
            </a:pPr>
            <a:r>
              <a:rPr lang="en-AU" baseline="0" dirty="0" smtClean="0"/>
              <a:t>What terms and conditions would need to be confirmed?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15</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142981135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question</a:t>
            </a:r>
            <a:r>
              <a:rPr lang="en-AU" baseline="0" dirty="0" smtClean="0"/>
              <a:t> in the slide.</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6937640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Discuss importance</a:t>
            </a:r>
            <a:r>
              <a:rPr lang="en-AU" baseline="0" dirty="0" smtClean="0"/>
              <a:t> of these points</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27422281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are examples of both?</a:t>
            </a:r>
          </a:p>
          <a:p>
            <a:pPr>
              <a:buFont typeface="Arial" pitchFamily="34" charset="0"/>
              <a:buChar char="•"/>
            </a:pPr>
            <a:r>
              <a:rPr lang="en-AU" baseline="0" dirty="0" smtClean="0"/>
              <a:t>What contingencies can you put into place for both?</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59725476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tasks are associated with these activities?</a:t>
            </a:r>
            <a:endParaRPr lang="en-AU"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68755386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are examples of each?</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18498807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are examples of each?</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362233270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dirty="0" smtClean="0"/>
              <a:t>What are examples of each section of a contingency plan?</a:t>
            </a:r>
          </a:p>
          <a:p>
            <a:pPr>
              <a:buFont typeface="Arial" pitchFamily="34" charset="0"/>
              <a:buChar char="•"/>
            </a:pPr>
            <a:r>
              <a:rPr lang="en-AU" baseline="0" dirty="0" smtClean="0"/>
              <a:t>Refer to TM Pages 68-70 for examples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16</a:t>
            </a:r>
          </a:p>
          <a:p>
            <a:pPr>
              <a:buFont typeface="Arial" pitchFamily="34" charset="0"/>
              <a:buChar char="•"/>
            </a:pPr>
            <a:endParaRPr lang="en-AU"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208375206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are these</a:t>
            </a:r>
            <a:r>
              <a:rPr lang="en-AU" baseline="0" dirty="0" smtClean="0"/>
              <a:t> activities important?</a:t>
            </a:r>
          </a:p>
          <a:p>
            <a:pPr>
              <a:buFont typeface="Arial" pitchFamily="34" charset="0"/>
              <a:buChar char="•"/>
            </a:pPr>
            <a:r>
              <a:rPr lang="en-AU" baseline="0" dirty="0" smtClean="0"/>
              <a:t>What tasks are involved in these activities?</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119152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What tasks are involved in these activities?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17</a:t>
            </a:r>
          </a:p>
          <a:p>
            <a:pPr>
              <a:buFont typeface="Arial" pitchFamily="34" charset="0"/>
              <a:buChar char="•"/>
            </a:pPr>
            <a:endParaRPr lang="en-AU"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94747379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baseline="0" dirty="0" smtClean="0"/>
              <a:t>What tasks are involved in these activities?</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50947814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baseline="0" dirty="0" smtClean="0"/>
              <a:t>What tasks are involved in these activities?</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206497050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Discuss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18</a:t>
            </a:r>
          </a:p>
          <a:p>
            <a:pPr>
              <a:buFont typeface="Arial" pitchFamily="34" charset="0"/>
              <a:buChar char="•"/>
            </a:pPr>
            <a:endParaRPr lang="en-AU" baseline="0" dirty="0" smtClean="0"/>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287707654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activities are associated with the coordination and administration of projects?</a:t>
            </a: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61095967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87793442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7392854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316082103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these considerations impact on the implementation of projects?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104591587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minimise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422490890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importance of communicating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90958919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importance of communicating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333563583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importance of communicating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7695202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Discuss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19</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410839506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monitoring activities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235930719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monitoring activities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57650033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monitoring activities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74282126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Discuss question in the slide.</a:t>
            </a:r>
          </a:p>
          <a:p>
            <a:pPr>
              <a:buFont typeface="Arial" pitchFamily="34" charset="0"/>
              <a:buChar char="•"/>
            </a:pPr>
            <a:r>
              <a:rPr lang="en-AU" baseline="0" dirty="0" smtClean="0"/>
              <a:t>Explain the difference between these two types of functions.</a:t>
            </a:r>
          </a:p>
          <a:p>
            <a:pPr>
              <a:buFont typeface="Arial" pitchFamily="34" charset="0"/>
              <a:buChar char="•"/>
            </a:pPr>
            <a:r>
              <a:rPr lang="en-AU" baseline="0" dirty="0" smtClean="0"/>
              <a:t>Refer to TM Pages 87-88 for examples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20</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424326801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332348049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manage these aspects?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80100292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manage these aspects?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13282962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activities are involved?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291933812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activities are involved?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224896992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principles.</a:t>
            </a:r>
          </a:p>
          <a:p>
            <a:pPr>
              <a:buFont typeface="Arial" pitchFamily="34" charset="0"/>
              <a:buChar char="•"/>
            </a:pPr>
            <a:r>
              <a:rPr lang="en-AU" baseline="0" dirty="0" smtClean="0"/>
              <a:t>What tasks are involved in these principles?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224778541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principles.</a:t>
            </a:r>
          </a:p>
          <a:p>
            <a:pPr>
              <a:buFont typeface="Arial" pitchFamily="34" charset="0"/>
              <a:buChar char="•"/>
            </a:pPr>
            <a:r>
              <a:rPr lang="en-AU" baseline="0" dirty="0" smtClean="0"/>
              <a:t>What tasks are involved in these principles?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50215673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importance of these principles.</a:t>
            </a:r>
          </a:p>
          <a:p>
            <a:pPr>
              <a:buFont typeface="Arial" pitchFamily="34" charset="0"/>
              <a:buChar char="•"/>
            </a:pPr>
            <a:r>
              <a:rPr lang="en-AU" baseline="0" dirty="0" smtClean="0"/>
              <a:t>What tasks are involved in these principles?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256538914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pPr>
              <a:buFont typeface="Arial" pitchFamily="34" charset="0"/>
              <a:buNone/>
            </a:pPr>
            <a:endParaRPr lang="en-AU" baseline="0" dirty="0" smtClean="0"/>
          </a:p>
          <a:p>
            <a:pPr>
              <a:buFont typeface="Arial" pitchFamily="34" charset="0"/>
              <a:buChar char="•"/>
            </a:pPr>
            <a:r>
              <a:rPr lang="en-AU" baseline="0" dirty="0" smtClean="0"/>
              <a:t>What tasks are involved in these activities?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21</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06741445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pPr>
              <a:buFont typeface="Arial" pitchFamily="34" charset="0"/>
              <a:buNone/>
            </a:pPr>
            <a:endParaRPr lang="en-AU" baseline="0"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21682533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340296321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monitor each of these areas?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175156312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can you monitor each of these areas?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211111316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steps</a:t>
            </a:r>
          </a:p>
          <a:p>
            <a:pPr>
              <a:buFont typeface="Arial" pitchFamily="34" charset="0"/>
              <a:buChar char="•"/>
            </a:pPr>
            <a:r>
              <a:rPr lang="en-AU" baseline="0" dirty="0" smtClean="0"/>
              <a:t>What activities are associated with each of these steps?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402499649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Discuss the question in this slide</a:t>
            </a:r>
          </a:p>
          <a:p>
            <a:pPr>
              <a:buFont typeface="Arial" pitchFamily="34" charset="0"/>
              <a:buChar char="•"/>
            </a:pPr>
            <a:r>
              <a:rPr lang="en-AU" baseline="0" dirty="0" smtClean="0"/>
              <a:t>When would each of these monitoring methods best be used?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22</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100063759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 in this slide</a:t>
            </a:r>
          </a:p>
          <a:p>
            <a:pPr>
              <a:spcBef>
                <a:spcPts val="600"/>
              </a:spcBef>
              <a:spcAft>
                <a:spcPts val="1200"/>
              </a:spcAft>
            </a:pPr>
            <a:r>
              <a:rPr lang="en-US" sz="1200" dirty="0" smtClean="0">
                <a:latin typeface="Helvetica" pitchFamily="34" charset="0"/>
              </a:rPr>
              <a:t>Refer to TM Page</a:t>
            </a:r>
            <a:r>
              <a:rPr lang="en-US" sz="1200" baseline="0" dirty="0" smtClean="0">
                <a:latin typeface="Helvetica" pitchFamily="34" charset="0"/>
              </a:rPr>
              <a:t> 101</a:t>
            </a:r>
            <a:endParaRPr lang="en-US"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94677854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this slide</a:t>
            </a:r>
          </a:p>
          <a:p>
            <a:pPr>
              <a:spcBef>
                <a:spcPts val="600"/>
              </a:spcBef>
              <a:spcAft>
                <a:spcPts val="1200"/>
              </a:spcAft>
            </a:pPr>
            <a:r>
              <a:rPr lang="en-US" sz="1200" dirty="0" smtClean="0">
                <a:latin typeface="Helvetica" pitchFamily="34" charset="0"/>
              </a:rPr>
              <a:t>Refer to TM Page</a:t>
            </a:r>
            <a:r>
              <a:rPr lang="en-US" sz="1200" baseline="0" dirty="0" smtClean="0">
                <a:latin typeface="Helvetica" pitchFamily="34" charset="0"/>
              </a:rPr>
              <a:t> 102</a:t>
            </a:r>
            <a:endParaRPr lang="en-US"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212104627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US" sz="1200" baseline="0" dirty="0" smtClean="0"/>
              <a:t>What causes these problems?</a:t>
            </a:r>
          </a:p>
          <a:p>
            <a:pPr>
              <a:buFont typeface="Arial" pitchFamily="34" charset="0"/>
              <a:buChar char="•"/>
            </a:pPr>
            <a:r>
              <a:rPr lang="en-US" sz="1200" baseline="0" dirty="0" smtClean="0"/>
              <a:t>How can they be overcome?</a:t>
            </a:r>
            <a:endParaRPr lang="en-US"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367928405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US" sz="1200" baseline="0" dirty="0" smtClean="0"/>
              <a:t>What causes these problems?</a:t>
            </a:r>
          </a:p>
          <a:p>
            <a:pPr>
              <a:buFont typeface="Arial" pitchFamily="34" charset="0"/>
              <a:buChar char="•"/>
            </a:pPr>
            <a:r>
              <a:rPr lang="en-US" sz="1200" baseline="0" dirty="0" smtClean="0"/>
              <a:t>How can they be overcome?</a:t>
            </a:r>
            <a:endParaRPr lang="en-US"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387703753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US" sz="1200" baseline="0" dirty="0" smtClean="0"/>
              <a:t>What causes these problems?</a:t>
            </a:r>
          </a:p>
          <a:p>
            <a:pPr>
              <a:buFont typeface="Arial" pitchFamily="34" charset="0"/>
              <a:buChar char="•"/>
            </a:pPr>
            <a:r>
              <a:rPr lang="en-US" sz="1200" baseline="0" dirty="0" smtClean="0"/>
              <a:t>How can they be overcome?</a:t>
            </a:r>
            <a:endParaRPr lang="en-US" sz="1200" dirty="0" smtClean="0">
              <a:latin typeface="Helvetica" pitchFamily="34" charset="0"/>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28223858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are examples</a:t>
            </a:r>
            <a:r>
              <a:rPr lang="en-AU" baseline="0" dirty="0" smtClean="0"/>
              <a:t> of each type of action?</a:t>
            </a:r>
            <a:endParaRPr lang="en-AU"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135939873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are some examples of when operations have changed</a:t>
            </a:r>
            <a:r>
              <a:rPr lang="en-AU" sz="1200" baseline="0" dirty="0" smtClean="0">
                <a:latin typeface="Helvetica" pitchFamily="34" charset="0"/>
              </a:rPr>
              <a:t> to improve the offering for customers?</a:t>
            </a:r>
            <a:endParaRPr lang="en-AU" sz="1200" dirty="0" smtClean="0">
              <a:latin typeface="Helvetica" pitchFamily="34" charset="0"/>
            </a:endParaRPr>
          </a:p>
          <a:p>
            <a:endParaRPr lang="en-AU" sz="1200" b="1" kern="1200" baseline="0" dirty="0" smtClean="0">
              <a:solidFill>
                <a:schemeClr val="tx1"/>
              </a:solidFill>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316427940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short term and long term action?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are these used?</a:t>
            </a:r>
            <a:endParaRPr lang="en-AU" sz="1200" b="0" dirty="0" smtClean="0">
              <a:latin typeface="Helvetica" pitchFamily="34" charset="0"/>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79183211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this important to do?</a:t>
            </a:r>
            <a:endParaRPr lang="en-AU" sz="1200" b="0" dirty="0" smtClean="0">
              <a:latin typeface="Helvetica" pitchFamily="34" charset="0"/>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399145230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examples of problems that require short term solutions?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07294983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08090472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can a change of management greatly change the direction of a business?</a:t>
            </a:r>
          </a:p>
          <a:p>
            <a:pPr>
              <a:buFont typeface="Arial" pitchFamily="34" charset="0"/>
              <a:buChar char="•"/>
            </a:pPr>
            <a:r>
              <a:rPr lang="en-AU" sz="1200" b="0" kern="1200" baseline="0" dirty="0" smtClean="0">
                <a:solidFill>
                  <a:schemeClr val="tx1"/>
                </a:solidFill>
                <a:ea typeface="+mn-ea"/>
                <a:cs typeface="+mn-cs"/>
              </a:rPr>
              <a:t>In what ways can the business change?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162638509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If a position changes, as a manager what must you do to ensure this happens effectively and smoothly?</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50565352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Think about a time when new equipment was introduced in a workplace. How did it interrupt operations and the role of staff?</a:t>
            </a:r>
          </a:p>
          <a:p>
            <a:pPr>
              <a:buFont typeface="Arial" pitchFamily="34" charset="0"/>
              <a:buChar char="•"/>
            </a:pPr>
            <a:r>
              <a:rPr lang="en-AU" sz="1200" b="0" kern="1200" baseline="0" dirty="0" smtClean="0">
                <a:solidFill>
                  <a:schemeClr val="tx1"/>
                </a:solidFill>
                <a:ea typeface="+mn-ea"/>
                <a:cs typeface="+mn-cs"/>
              </a:rPr>
              <a:t>What can a manager do to ensure new equipment is introduced with minimal disruption to staff and operations?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425327285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 &amp; Activity</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points in this slide and their impacts on the recruitment process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23.</a:t>
            </a:r>
          </a:p>
          <a:p>
            <a:pPr>
              <a:buFont typeface="Arial" pitchFamily="34" charset="0"/>
              <a:buChar cha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284257325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it important to report progress?</a:t>
            </a:r>
          </a:p>
          <a:p>
            <a:pPr>
              <a:buFont typeface="Arial" pitchFamily="34" charset="0"/>
              <a:buChar char="•"/>
            </a:pPr>
            <a:r>
              <a:rPr lang="en-AU" sz="1200" kern="1200" baseline="0" dirty="0" smtClean="0">
                <a:solidFill>
                  <a:schemeClr val="tx1"/>
                </a:solidFill>
                <a:ea typeface="+mn-ea"/>
                <a:cs typeface="+mn-cs"/>
              </a:rPr>
              <a:t>What information should be included in a review?</a:t>
            </a:r>
          </a:p>
          <a:p>
            <a:pPr>
              <a:buFont typeface="Arial" pitchFamily="34" charset="0"/>
              <a:buChar char="•"/>
            </a:pPr>
            <a:r>
              <a:rPr lang="en-AU" sz="1200" kern="1200" baseline="0" dirty="0" smtClean="0">
                <a:solidFill>
                  <a:schemeClr val="tx1"/>
                </a:solidFill>
                <a:ea typeface="+mn-ea"/>
                <a:cs typeface="+mn-cs"/>
              </a:rPr>
              <a:t>Why is honesty and transparency essential?</a:t>
            </a:r>
          </a:p>
          <a:p>
            <a:endParaRPr lang="en-AU"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10430344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Explain the importance of these points.</a:t>
            </a:r>
          </a:p>
          <a:p>
            <a:endParaRPr lang="en-AU" sz="1200" kern="1200" baseline="0" dirty="0" smtClean="0">
              <a:solidFill>
                <a:schemeClr val="tx1"/>
              </a:solidFill>
              <a:ea typeface="+mn-ea"/>
              <a:cs typeface="+mn-cs"/>
            </a:endParaRPr>
          </a:p>
          <a:p>
            <a:endParaRPr lang="en-AU"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34442760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information should be reported at each of these times?</a:t>
            </a:r>
          </a:p>
          <a:p>
            <a:endParaRPr lang="en-AU"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63977808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other activities can you conduct?</a:t>
            </a:r>
          </a:p>
          <a:p>
            <a:endParaRPr lang="en-AU"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305661972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b="0" kern="1200" baseline="0" dirty="0" smtClean="0">
                <a:solidFill>
                  <a:schemeClr val="tx1"/>
                </a:solidFill>
                <a:ea typeface="+mn-ea"/>
                <a:cs typeface="+mn-cs"/>
              </a:rPr>
              <a:t>What is the purpose of each type of presentation method?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28</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202350218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classifies as the ‘end of a project’?</a:t>
            </a:r>
          </a:p>
          <a:p>
            <a:pPr>
              <a:buFont typeface="Arial" pitchFamily="34" charset="0"/>
              <a:buChar char="•"/>
            </a:pPr>
            <a:r>
              <a:rPr lang="en-AU" sz="1200" kern="1200" baseline="0" dirty="0" smtClean="0">
                <a:solidFill>
                  <a:schemeClr val="tx1"/>
                </a:solidFill>
                <a:ea typeface="+mn-ea"/>
                <a:cs typeface="+mn-cs"/>
              </a:rPr>
              <a:t>What activities are associated with the finalising of a project/program?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31292726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203208525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367021764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tasks are associated with each of these finalising project activities?</a:t>
            </a:r>
          </a:p>
          <a:p>
            <a:pPr>
              <a:buFont typeface="Arial" pitchFamily="34" charset="0"/>
              <a:buChar char="•"/>
            </a:pPr>
            <a:r>
              <a:rPr lang="en-AU" baseline="0" dirty="0" smtClean="0"/>
              <a:t>Refer to TM Pages 113-116</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272207091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tasks are associated with each of these finalising project activities?</a:t>
            </a:r>
          </a:p>
          <a:p>
            <a:pPr>
              <a:buFont typeface="Arial" pitchFamily="34" charset="0"/>
              <a:buChar char="•"/>
            </a:pPr>
            <a:r>
              <a:rPr lang="en-AU" baseline="0" dirty="0" smtClean="0"/>
              <a:t>Refer to TM Pages 113-116</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418644616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&amp; Activity</a:t>
            </a:r>
            <a:endParaRPr lang="en-AU" b="1" dirty="0" smtClean="0"/>
          </a:p>
          <a:p>
            <a:endParaRPr lang="en-AU" dirty="0" smtClean="0"/>
          </a:p>
          <a:p>
            <a:pPr>
              <a:buFont typeface="Arial" pitchFamily="34" charset="0"/>
              <a:buChar char="•"/>
            </a:pPr>
            <a:r>
              <a:rPr lang="en-AU" baseline="0" dirty="0" smtClean="0"/>
              <a:t>What tasks are associated with each of these finalising project activities?</a:t>
            </a:r>
          </a:p>
          <a:p>
            <a:pPr>
              <a:buFont typeface="Arial" pitchFamily="34" charset="0"/>
              <a:buChar char="•"/>
            </a:pPr>
            <a:r>
              <a:rPr lang="en-AU" baseline="0" dirty="0" smtClean="0"/>
              <a:t>Refer to TM Pages 113-116</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25</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6861712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other questions would be the focus or a project review?</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145042509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other objectives would you have?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2001689180"/>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other activities would you undertake?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287888515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What information would you like to gather at each scheduled review period?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26</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235921526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3247647558"/>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Discuss the questions in the slide.</a:t>
            </a:r>
          </a:p>
          <a:p>
            <a:pPr>
              <a:buFont typeface="Arial" pitchFamily="34" charset="0"/>
              <a:buChar char="•"/>
            </a:pPr>
            <a:r>
              <a:rPr lang="en-AU" baseline="0" dirty="0" smtClean="0"/>
              <a:t>Complete Activity 27</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870917435"/>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aims.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179274649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aims.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3547724709"/>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evaluation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2997473816"/>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r>
              <a:rPr lang="en-AU" sz="1200" b="1" kern="1200" baseline="0" dirty="0" smtClean="0">
                <a:solidFill>
                  <a:schemeClr val="tx1"/>
                </a:solidFill>
                <a:ea typeface="+mn-ea"/>
                <a:cs typeface="+mn-cs"/>
              </a:rPr>
              <a:t> &amp; Activity</a:t>
            </a:r>
            <a:endParaRPr lang="en-AU" b="1" dirty="0" smtClean="0"/>
          </a:p>
          <a:p>
            <a:endParaRPr lang="en-AU" dirty="0" smtClean="0"/>
          </a:p>
          <a:p>
            <a:pPr>
              <a:buFont typeface="Arial" pitchFamily="34" charset="0"/>
              <a:buChar char="•"/>
            </a:pPr>
            <a:r>
              <a:rPr lang="en-AU" baseline="0" dirty="0" smtClean="0"/>
              <a:t>Discuss these evaluation activities</a:t>
            </a:r>
          </a:p>
          <a:p>
            <a:pPr>
              <a:buFont typeface="Arial" pitchFamily="34" charset="0"/>
              <a:buChar char="•"/>
            </a:pPr>
            <a:r>
              <a:rPr lang="en-AU" baseline="0" dirty="0" smtClean="0"/>
              <a:t>Complete Activity 28.</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344213975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General discussion:</a:t>
            </a:r>
          </a:p>
          <a:p>
            <a:pPr>
              <a:buFont typeface="Arial" pitchFamily="34" charset="0"/>
              <a:buChar char="•"/>
            </a:pPr>
            <a:r>
              <a:rPr lang="en-AU" sz="1200" b="0" kern="1200" baseline="0" dirty="0" smtClean="0">
                <a:solidFill>
                  <a:schemeClr val="tx1"/>
                </a:solidFill>
                <a:ea typeface="+mn-ea"/>
                <a:cs typeface="+mn-cs"/>
              </a:rPr>
              <a:t>Discuss the importance of these points.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2424572602"/>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General discussion:</a:t>
            </a:r>
          </a:p>
          <a:p>
            <a:pPr>
              <a:buFont typeface="Arial" pitchFamily="34" charset="0"/>
              <a:buChar char="•"/>
            </a:pPr>
            <a:r>
              <a:rPr lang="en-AU" sz="1200" b="0" kern="1200" baseline="0" dirty="0" smtClean="0">
                <a:solidFill>
                  <a:schemeClr val="tx1"/>
                </a:solidFill>
                <a:ea typeface="+mn-ea"/>
                <a:cs typeface="+mn-cs"/>
              </a:rPr>
              <a:t>Discuss the importance of these points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379968092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&amp; Activity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General discussion:</a:t>
            </a:r>
          </a:p>
          <a:p>
            <a:pPr>
              <a:buFont typeface="Arial" pitchFamily="34" charset="0"/>
              <a:buChar char="•"/>
            </a:pPr>
            <a:r>
              <a:rPr lang="en-AU" sz="1200" b="0" kern="1200" baseline="0" dirty="0" smtClean="0">
                <a:solidFill>
                  <a:schemeClr val="tx1"/>
                </a:solidFill>
                <a:ea typeface="+mn-ea"/>
                <a:cs typeface="+mn-cs"/>
              </a:rPr>
              <a:t>Discuss the questions in the slide.</a:t>
            </a:r>
          </a:p>
          <a:p>
            <a:pPr>
              <a:buFont typeface="Arial" pitchFamily="34" charset="0"/>
              <a:buNone/>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281379019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General discussion:</a:t>
            </a:r>
          </a:p>
          <a:p>
            <a:pPr>
              <a:buFont typeface="Arial" pitchFamily="34" charset="0"/>
              <a:buChar char="•"/>
            </a:pPr>
            <a:r>
              <a:rPr lang="en-AU" sz="1200" b="0" kern="1200" baseline="0" dirty="0" smtClean="0">
                <a:solidFill>
                  <a:schemeClr val="tx1"/>
                </a:solidFill>
                <a:ea typeface="+mn-ea"/>
                <a:cs typeface="+mn-cs"/>
              </a:rPr>
              <a:t>Discuss the importance of these steps.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2245011275"/>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General discussion:</a:t>
            </a:r>
          </a:p>
          <a:p>
            <a:pPr>
              <a:buFont typeface="Arial" pitchFamily="34" charset="0"/>
              <a:buChar char="•"/>
            </a:pPr>
            <a:r>
              <a:rPr lang="en-AU" sz="1200" b="0" kern="1200" baseline="0" dirty="0" smtClean="0">
                <a:solidFill>
                  <a:schemeClr val="tx1"/>
                </a:solidFill>
                <a:ea typeface="+mn-ea"/>
                <a:cs typeface="+mn-cs"/>
              </a:rPr>
              <a:t>What are examples under each of these points?</a:t>
            </a:r>
          </a:p>
          <a:p>
            <a:pPr>
              <a:buFont typeface="Arial" pitchFamily="34" charset="0"/>
              <a:buChar char="•"/>
            </a:pPr>
            <a:r>
              <a:rPr lang="en-AU" sz="1200" b="0" kern="1200" baseline="0" dirty="0" smtClean="0">
                <a:solidFill>
                  <a:schemeClr val="tx1"/>
                </a:solidFill>
                <a:ea typeface="+mn-ea"/>
                <a:cs typeface="+mn-cs"/>
              </a:rPr>
              <a:t>Refer to TM Pages 123-125 for examples.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15535484"/>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Questions</a:t>
            </a:r>
          </a:p>
          <a:p>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question in the slide.</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2585550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7/19/2016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7/19/2016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7/19/2016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7/19/2016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7/19/2016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16632"/>
            <a:ext cx="7776192" cy="1944216"/>
          </a:xfrm>
        </p:spPr>
        <p:txBody>
          <a:bodyPr>
            <a:noAutofit/>
          </a:bodyPr>
          <a:lstStyle/>
          <a:p>
            <a:r>
              <a:rPr lang="en-AU" sz="3600" dirty="0">
                <a:ln w="5000" cmpd="sng">
                  <a:noFill/>
                  <a:prstDash val="solid"/>
                </a:ln>
                <a:solidFill>
                  <a:srgbClr val="FF6600"/>
                </a:solidFill>
                <a:latin typeface="Helvetica" pitchFamily="34" charset="0"/>
              </a:rPr>
              <a:t>MANAGE AND MONITOR </a:t>
            </a:r>
            <a:r>
              <a:rPr lang="en-AU" sz="3600" dirty="0" smtClean="0">
                <a:ln w="5000" cmpd="sng">
                  <a:noFill/>
                  <a:prstDash val="solid"/>
                </a:ln>
                <a:solidFill>
                  <a:srgbClr val="FF6600"/>
                </a:solidFill>
                <a:latin typeface="Helvetica" pitchFamily="34" charset="0"/>
              </a:rPr>
              <a:t>INNOVAtIVE </a:t>
            </a:r>
            <a:r>
              <a:rPr lang="en-AU" sz="3600" dirty="0">
                <a:ln w="5000" cmpd="sng">
                  <a:noFill/>
                  <a:prstDash val="solid"/>
                </a:ln>
                <a:solidFill>
                  <a:srgbClr val="FF6600"/>
                </a:solidFill>
                <a:latin typeface="Helvetica" pitchFamily="34" charset="0"/>
              </a:rPr>
              <a:t>TOURISM PROGRAMS AND </a:t>
            </a:r>
            <a:r>
              <a:rPr lang="en-AU" sz="3600" dirty="0" smtClean="0">
                <a:ln w="5000" cmpd="sng">
                  <a:noFill/>
                  <a:prstDash val="solid"/>
                </a:ln>
                <a:solidFill>
                  <a:srgbClr val="FF6600"/>
                </a:solidFill>
                <a:latin typeface="Helvetica" pitchFamily="34" charset="0"/>
              </a:rPr>
              <a:t>PROJECTS</a:t>
            </a:r>
            <a:endParaRPr lang="en-AU" sz="36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988840"/>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436096" y="1988840"/>
            <a:ext cx="2952328" cy="576064"/>
          </a:xfrm>
        </p:spPr>
        <p:txBody>
          <a:bodyPr>
            <a:noAutofit/>
          </a:bodyPr>
          <a:lstStyle/>
          <a:p>
            <a:r>
              <a:rPr lang="en-AU" b="1" dirty="0">
                <a:latin typeface="Helvetica" pitchFamily="34" charset="0"/>
              </a:rPr>
              <a:t>D2.TGA.CL6.03	D2.TRM.CL9.10</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200" dirty="0" smtClean="0">
                <a:latin typeface="Helvetica" pitchFamily="34" charset="0"/>
              </a:rPr>
              <a:t>This unit comprises three elements:</a:t>
            </a:r>
          </a:p>
          <a:p>
            <a:pPr>
              <a:spcBef>
                <a:spcPts val="600"/>
              </a:spcBef>
              <a:spcAft>
                <a:spcPts val="1200"/>
              </a:spcAft>
            </a:pPr>
            <a:r>
              <a:rPr lang="en-US" sz="2200" dirty="0" smtClean="0">
                <a:latin typeface="Helvetica" pitchFamily="34" charset="0"/>
              </a:rPr>
              <a:t>Plan the administration of the innovative tourism program/project</a:t>
            </a:r>
          </a:p>
          <a:p>
            <a:pPr>
              <a:spcBef>
                <a:spcPts val="600"/>
              </a:spcBef>
              <a:spcAft>
                <a:spcPts val="1200"/>
              </a:spcAft>
            </a:pPr>
            <a:r>
              <a:rPr lang="en-US" sz="2200" dirty="0" smtClean="0">
                <a:latin typeface="Helvetica" pitchFamily="34" charset="0"/>
              </a:rPr>
              <a:t>Coordinate the administration of the innovative tourism program/project</a:t>
            </a:r>
          </a:p>
          <a:p>
            <a:pPr>
              <a:spcBef>
                <a:spcPts val="600"/>
              </a:spcBef>
              <a:spcAft>
                <a:spcPts val="1200"/>
              </a:spcAft>
            </a:pPr>
            <a:r>
              <a:rPr lang="en-US" sz="2200" dirty="0" smtClean="0">
                <a:latin typeface="Helvetica" pitchFamily="34" charset="0"/>
              </a:rPr>
              <a:t>Finalise the innovative tourism program/project</a:t>
            </a: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hp.jpg"/>
          <p:cNvPicPr>
            <a:picLocks noChangeAspect="1"/>
          </p:cNvPicPr>
          <p:nvPr/>
        </p:nvPicPr>
        <p:blipFill>
          <a:blip r:embed="rId3" cstate="print"/>
          <a:stretch>
            <a:fillRect/>
          </a:stretch>
        </p:blipFill>
        <p:spPr>
          <a:xfrm>
            <a:off x="3491880" y="4437112"/>
            <a:ext cx="2118736" cy="1417387"/>
          </a:xfrm>
          <a:prstGeom prst="rect">
            <a:avLst/>
          </a:prstGeom>
        </p:spPr>
      </p:pic>
    </p:spTree>
    <p:extLst>
      <p:ext uri="{BB962C8B-B14F-4D97-AF65-F5344CB8AC3E}">
        <p14:creationId xmlns:p14="http://schemas.microsoft.com/office/powerpoint/2010/main" val="22585976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104238854.jpg"/>
          <p:cNvPicPr>
            <a:picLocks noChangeAspect="1"/>
          </p:cNvPicPr>
          <p:nvPr/>
        </p:nvPicPr>
        <p:blipFill>
          <a:blip r:embed="rId3" cstate="print"/>
          <a:stretch>
            <a:fillRect/>
          </a:stretch>
        </p:blipFill>
        <p:spPr>
          <a:xfrm>
            <a:off x="6012160" y="1916832"/>
            <a:ext cx="1952628" cy="1302403"/>
          </a:xfrm>
          <a:prstGeom prst="rect">
            <a:avLst/>
          </a:prstGeom>
        </p:spPr>
      </p:pic>
    </p:spTree>
    <p:extLst>
      <p:ext uri="{BB962C8B-B14F-4D97-AF65-F5344CB8AC3E}">
        <p14:creationId xmlns:p14="http://schemas.microsoft.com/office/powerpoint/2010/main" val="8371161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8280920" cy="4680520"/>
          </a:xfrm>
        </p:spPr>
        <p:txBody>
          <a:bodyPr>
            <a:normAutofit/>
          </a:bodyPr>
          <a:lstStyle/>
          <a:p>
            <a:pPr marL="0">
              <a:buNone/>
            </a:pPr>
            <a:r>
              <a:rPr lang="en-AU" sz="4000" b="1" dirty="0" smtClean="0">
                <a:solidFill>
                  <a:srgbClr val="FF6600"/>
                </a:solidFill>
                <a:latin typeface="Helvetica" pitchFamily="34" charset="0"/>
              </a:rPr>
              <a:t>Element 1:</a:t>
            </a:r>
          </a:p>
          <a:p>
            <a:pPr marL="0">
              <a:buNone/>
            </a:pPr>
            <a:r>
              <a:rPr lang="en-AU" sz="4000" dirty="0" smtClean="0">
                <a:solidFill>
                  <a:srgbClr val="FF6600"/>
                </a:solidFill>
              </a:rPr>
              <a:t>Plan the administration of the innovative tourism program/project</a:t>
            </a:r>
            <a:endParaRPr lang="en-US" sz="4000"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A11 158587457.jpg"/>
          <p:cNvPicPr>
            <a:picLocks noChangeAspect="1"/>
          </p:cNvPicPr>
          <p:nvPr/>
        </p:nvPicPr>
        <p:blipFill>
          <a:blip r:embed="rId3" cstate="print"/>
          <a:stretch>
            <a:fillRect/>
          </a:stretch>
        </p:blipFill>
        <p:spPr>
          <a:xfrm>
            <a:off x="3419872" y="4149080"/>
            <a:ext cx="2076378" cy="1384944"/>
          </a:xfrm>
          <a:prstGeom prst="rect">
            <a:avLst/>
          </a:prstGeom>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Plan the administration of the innovative tourism program/project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684076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Confirm the program/project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factors affecting timelines for implementation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Develop program/project plans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Link budget to key outcomes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Identify monitoring and reporting arrangements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Allocate resources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A13 shutterstock_159583589.jpg"/>
          <p:cNvPicPr>
            <a:picLocks noChangeAspect="1"/>
          </p:cNvPicPr>
          <p:nvPr/>
        </p:nvPicPr>
        <p:blipFill>
          <a:blip r:embed="rId3" cstate="print"/>
          <a:stretch>
            <a:fillRect/>
          </a:stretch>
        </p:blipFill>
        <p:spPr>
          <a:xfrm>
            <a:off x="6444208" y="2492896"/>
            <a:ext cx="1845464" cy="1240152"/>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Plan the administration of the innovative tourism program/project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Integrate program/plan with other initiatives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Confirm agreements with service providers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Develop contingency plans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Develop teams to support program/project implementation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Select program/project management tools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shutterstock_131744006.jpg"/>
          <p:cNvPicPr>
            <a:picLocks noChangeAspect="1"/>
          </p:cNvPicPr>
          <p:nvPr/>
        </p:nvPicPr>
        <p:blipFill>
          <a:blip r:embed="rId3" cstate="print"/>
          <a:stretch>
            <a:fillRect/>
          </a:stretch>
        </p:blipFill>
        <p:spPr>
          <a:xfrm>
            <a:off x="3635896" y="4869160"/>
            <a:ext cx="1953898" cy="1309112"/>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buNone/>
            </a:pPr>
            <a:r>
              <a:rPr lang="en-AU" sz="2200" b="1" dirty="0" smtClean="0">
                <a:latin typeface="Helvetica" pitchFamily="34" charset="0"/>
              </a:rPr>
              <a:t>Definition of terms innovative, project and program</a:t>
            </a:r>
            <a:endParaRPr lang="en-US" sz="2200" b="1" dirty="0" smtClean="0">
              <a:latin typeface="Helvetica" pitchFamily="34" charset="0"/>
            </a:endParaRPr>
          </a:p>
          <a:p>
            <a:pPr>
              <a:spcBef>
                <a:spcPts val="1200"/>
              </a:spcBef>
              <a:spcAft>
                <a:spcPts val="1200"/>
              </a:spcAft>
              <a:buNone/>
            </a:pPr>
            <a:r>
              <a:rPr lang="en-US" sz="2200" dirty="0" smtClean="0">
                <a:latin typeface="Helvetica" pitchFamily="34" charset="0"/>
              </a:rPr>
              <a:t>What do these terms mean?</a:t>
            </a:r>
          </a:p>
          <a:p>
            <a:pPr>
              <a:spcBef>
                <a:spcPts val="1200"/>
              </a:spcBef>
              <a:spcAft>
                <a:spcPts val="1200"/>
              </a:spcAft>
            </a:pPr>
            <a:r>
              <a:rPr lang="en-AU" sz="2200" dirty="0" smtClean="0">
                <a:latin typeface="Helvetica" pitchFamily="34" charset="0"/>
              </a:rPr>
              <a:t>Innovative</a:t>
            </a:r>
          </a:p>
          <a:p>
            <a:pPr>
              <a:spcBef>
                <a:spcPts val="1200"/>
              </a:spcBef>
              <a:spcAft>
                <a:spcPts val="1200"/>
              </a:spcAft>
            </a:pPr>
            <a:r>
              <a:rPr lang="en-AU" sz="2200" dirty="0" smtClean="0">
                <a:latin typeface="Helvetica" pitchFamily="34" charset="0"/>
              </a:rPr>
              <a:t>Project</a:t>
            </a:r>
          </a:p>
          <a:p>
            <a:pPr>
              <a:spcBef>
                <a:spcPts val="1200"/>
              </a:spcBef>
              <a:spcAft>
                <a:spcPts val="1200"/>
              </a:spcAft>
            </a:pPr>
            <a:r>
              <a:rPr lang="en-AU" sz="2200" dirty="0" smtClean="0">
                <a:latin typeface="Helvetica" pitchFamily="34" charset="0"/>
              </a:rPr>
              <a:t>Program</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2j.jpg"/>
          <p:cNvPicPr>
            <a:picLocks noChangeAspect="1"/>
          </p:cNvPicPr>
          <p:nvPr/>
        </p:nvPicPr>
        <p:blipFill>
          <a:blip r:embed="rId3" cstate="print"/>
          <a:stretch>
            <a:fillRect/>
          </a:stretch>
        </p:blipFill>
        <p:spPr>
          <a:xfrm>
            <a:off x="5724128" y="2829164"/>
            <a:ext cx="2261992" cy="151524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buNone/>
            </a:pPr>
            <a:r>
              <a:rPr lang="en-AU" sz="2200" b="1" dirty="0" smtClean="0">
                <a:latin typeface="Helvetica" pitchFamily="34" charset="0"/>
              </a:rPr>
              <a:t>Definition of innovative</a:t>
            </a:r>
            <a:endParaRPr lang="en-US" sz="2200" b="1" dirty="0" smtClean="0">
              <a:latin typeface="Helvetica" pitchFamily="34" charset="0"/>
            </a:endParaRPr>
          </a:p>
          <a:p>
            <a:pPr>
              <a:spcBef>
                <a:spcPts val="1200"/>
              </a:spcBef>
              <a:spcAft>
                <a:spcPts val="1200"/>
              </a:spcAft>
              <a:buNone/>
            </a:pPr>
            <a:r>
              <a:rPr lang="en-AU" sz="2200" dirty="0" smtClean="0">
                <a:latin typeface="Helvetica" pitchFamily="34" charset="0"/>
              </a:rPr>
              <a:t>The term innovative is defined as:</a:t>
            </a:r>
            <a:endParaRPr lang="en-US" sz="2200" dirty="0" smtClean="0">
              <a:latin typeface="Helvetica" pitchFamily="34" charset="0"/>
            </a:endParaRPr>
          </a:p>
          <a:p>
            <a:pPr lvl="0">
              <a:spcBef>
                <a:spcPts val="1200"/>
              </a:spcBef>
              <a:spcAft>
                <a:spcPts val="1200"/>
              </a:spcAft>
            </a:pPr>
            <a:r>
              <a:rPr lang="en-AU" sz="2200" i="1" dirty="0" smtClean="0">
                <a:latin typeface="Helvetica" pitchFamily="34" charset="0"/>
              </a:rPr>
              <a:t>(of a product, idea, etc.) featuring new methods; advanced and original. "innovative designs"</a:t>
            </a:r>
            <a:endParaRPr lang="en-US" sz="2200" dirty="0" smtClean="0">
              <a:latin typeface="Helvetica" pitchFamily="34" charset="0"/>
            </a:endParaRPr>
          </a:p>
          <a:p>
            <a:pPr lvl="0">
              <a:spcBef>
                <a:spcPts val="1200"/>
              </a:spcBef>
              <a:spcAft>
                <a:spcPts val="1200"/>
              </a:spcAft>
            </a:pPr>
            <a:r>
              <a:rPr lang="en-AU" sz="2200" i="1" dirty="0" smtClean="0">
                <a:latin typeface="Helvetica" pitchFamily="34" charset="0"/>
              </a:rPr>
              <a:t>(of a person) introducing new ideas; original and creative in thinking</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6" name="Picture 5" descr="shutterstock_59318707.jpg"/>
          <p:cNvPicPr>
            <a:picLocks noChangeAspect="1"/>
          </p:cNvPicPr>
          <p:nvPr/>
        </p:nvPicPr>
        <p:blipFill>
          <a:blip r:embed="rId3" cstate="print"/>
          <a:stretch>
            <a:fillRect/>
          </a:stretch>
        </p:blipFill>
        <p:spPr>
          <a:xfrm>
            <a:off x="3491880" y="4869160"/>
            <a:ext cx="2171748" cy="144855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Definition of project</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The term project is defined as:</a:t>
            </a:r>
          </a:p>
          <a:p>
            <a:pPr>
              <a:spcBef>
                <a:spcPts val="600"/>
              </a:spcBef>
              <a:spcAft>
                <a:spcPts val="1200"/>
              </a:spcAft>
            </a:pPr>
            <a:r>
              <a:rPr lang="en-AU" sz="2200" i="1" dirty="0" smtClean="0">
                <a:latin typeface="Helvetica" pitchFamily="34" charset="0"/>
              </a:rPr>
              <a:t>'an individual or collaborative enterprise that is carefully planned and designed to achieve a particular aim'</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descr="shutterstock_125810687.jpg"/>
          <p:cNvPicPr/>
          <p:nvPr/>
        </p:nvPicPr>
        <p:blipFill>
          <a:blip r:embed="rId3" cstate="print"/>
          <a:stretch>
            <a:fillRect/>
          </a:stretch>
        </p:blipFill>
        <p:spPr>
          <a:xfrm>
            <a:off x="3275856" y="4005064"/>
            <a:ext cx="2179315" cy="142569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Definition of program</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The term program is defined as:</a:t>
            </a:r>
          </a:p>
          <a:p>
            <a:pPr>
              <a:spcBef>
                <a:spcPts val="600"/>
              </a:spcBef>
              <a:spcAft>
                <a:spcPts val="1200"/>
              </a:spcAft>
            </a:pPr>
            <a:r>
              <a:rPr lang="en-AU" sz="2200" dirty="0" smtClean="0">
                <a:latin typeface="Helvetica" pitchFamily="34" charset="0"/>
              </a:rPr>
              <a:t>'</a:t>
            </a:r>
            <a:r>
              <a:rPr lang="en-AU" sz="2200" i="1" dirty="0" smtClean="0">
                <a:latin typeface="Helvetica" pitchFamily="34" charset="0"/>
              </a:rPr>
              <a:t>a planned series of future events, activities, items, or performances</a:t>
            </a:r>
            <a:r>
              <a:rPr lang="en-AU" sz="2200" dirty="0" smtClean="0">
                <a:latin typeface="Helvetica" pitchFamily="34" charset="0"/>
              </a:rPr>
              <a:t>'</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shutterstock_104238854.jpg"/>
          <p:cNvPicPr/>
          <p:nvPr/>
        </p:nvPicPr>
        <p:blipFill>
          <a:blip r:embed="rId3" cstate="print"/>
          <a:stretch>
            <a:fillRect/>
          </a:stretch>
        </p:blipFill>
        <p:spPr>
          <a:xfrm>
            <a:off x="3491880" y="4077072"/>
            <a:ext cx="2061969" cy="137274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Aspects of project or program to confirm</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 aspects of a project or program to clarify includes: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Type of program</a:t>
            </a:r>
          </a:p>
          <a:p>
            <a:pPr lvl="0">
              <a:spcBef>
                <a:spcPts val="600"/>
              </a:spcBef>
              <a:spcAft>
                <a:spcPts val="1200"/>
              </a:spcAft>
            </a:pPr>
            <a:r>
              <a:rPr lang="en-US" sz="2200" dirty="0" smtClean="0">
                <a:latin typeface="Helvetica" pitchFamily="34" charset="0"/>
              </a:rPr>
              <a:t>Objectives</a:t>
            </a:r>
          </a:p>
          <a:p>
            <a:pPr lvl="0">
              <a:spcBef>
                <a:spcPts val="600"/>
              </a:spcBef>
              <a:spcAft>
                <a:spcPts val="1200"/>
              </a:spcAft>
            </a:pPr>
            <a:r>
              <a:rPr lang="en-AU" sz="2200" dirty="0" smtClean="0">
                <a:latin typeface="Helvetica" pitchFamily="34" charset="0"/>
              </a:rPr>
              <a:t>Key initiatives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 name="Picture 5" descr="shutterstock_57319615.jpg"/>
          <p:cNvPicPr>
            <a:picLocks noChangeAspect="1"/>
          </p:cNvPicPr>
          <p:nvPr/>
        </p:nvPicPr>
        <p:blipFill>
          <a:blip r:embed="rId3" cstate="print"/>
          <a:stretch>
            <a:fillRect/>
          </a:stretch>
        </p:blipFill>
        <p:spPr>
          <a:xfrm>
            <a:off x="5148064" y="2996952"/>
            <a:ext cx="2385082" cy="159562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6120680" cy="5040560"/>
          </a:xfrm>
        </p:spPr>
        <p:txBody>
          <a:bodyPr>
            <a:noAutofit/>
          </a:bodyPr>
          <a:lstStyle/>
          <a:p>
            <a:pPr>
              <a:spcBef>
                <a:spcPts val="600"/>
              </a:spcBef>
              <a:spcAft>
                <a:spcPts val="600"/>
              </a:spcAft>
              <a:buNone/>
            </a:pPr>
            <a:r>
              <a:rPr lang="en-AU" sz="2000" b="1" dirty="0" smtClean="0">
                <a:latin typeface="Helvetica" pitchFamily="34" charset="0"/>
              </a:rPr>
              <a:t>Identify types of tourism project or program</a:t>
            </a:r>
            <a:endParaRPr lang="en-US" sz="2000" b="1" dirty="0" smtClean="0">
              <a:latin typeface="Helvetica" pitchFamily="34" charset="0"/>
            </a:endParaRPr>
          </a:p>
          <a:p>
            <a:pPr lvl="0">
              <a:spcBef>
                <a:spcPts val="600"/>
              </a:spcBef>
              <a:spcAft>
                <a:spcPts val="600"/>
              </a:spcAft>
            </a:pPr>
            <a:r>
              <a:rPr lang="en-AU" sz="2000" dirty="0" smtClean="0">
                <a:latin typeface="Helvetica" pitchFamily="34" charset="0"/>
              </a:rPr>
              <a:t>Development of towns, locations and attractions to support tourism</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Development of tourism infrastructure - including transportation, roads, airports, electricity, water etc</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Creating new tourism-related businesses - including accommodation, shops, entertainment</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Development of tourism related education and training</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Developing tourism infrastructure</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Promoting tourism for the country or region</a:t>
            </a:r>
            <a:endParaRPr lang="en-US" sz="2000" dirty="0" smtClean="0">
              <a:latin typeface="Helvetica" pitchFamily="34" charset="0"/>
            </a:endParaRPr>
          </a:p>
          <a:p>
            <a:pPr>
              <a:spcBef>
                <a:spcPts val="600"/>
              </a:spcBef>
              <a:spcAft>
                <a:spcPts val="600"/>
              </a:spcAft>
            </a:pPr>
            <a:endParaRPr lang="en-US" sz="2000" dirty="0" smtClean="0">
              <a:latin typeface="Helvetica" pitchFamily="34" charset="0"/>
            </a:endParaRPr>
          </a:p>
          <a:p>
            <a:pPr marL="360000" indent="-360000">
              <a:spcBef>
                <a:spcPts val="600"/>
              </a:spcBef>
              <a:spcAft>
                <a:spcPts val="6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7" name="Picture 6" descr="shutterstock_137890043.jpg"/>
          <p:cNvPicPr/>
          <p:nvPr/>
        </p:nvPicPr>
        <p:blipFill>
          <a:blip r:embed="rId3" cstate="print"/>
          <a:stretch>
            <a:fillRect/>
          </a:stretch>
        </p:blipFill>
        <p:spPr>
          <a:xfrm>
            <a:off x="7164288" y="2852936"/>
            <a:ext cx="1724025" cy="11430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AU" sz="2200" b="1" dirty="0" smtClean="0">
                <a:latin typeface="Helvetica" pitchFamily="34" charset="0"/>
              </a:rPr>
              <a:t>Identify types of tourism project or program</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Preserving, rehabilitating or expanding tourism attractions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Development of eco-tourism initiatives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Conservation of local community wildlife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Development of local conservation projects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Development of sustainability projects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Developing tourism policies and procedures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Developing tourism activities and events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descr="Happy Smile_142334158.jpg"/>
          <p:cNvPicPr/>
          <p:nvPr/>
        </p:nvPicPr>
        <p:blipFill>
          <a:blip r:embed="rId3" cstate="print"/>
          <a:stretch>
            <a:fillRect/>
          </a:stretch>
        </p:blipFill>
        <p:spPr>
          <a:xfrm>
            <a:off x="6804248" y="2924944"/>
            <a:ext cx="2017390" cy="1320924"/>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AU" sz="2200" b="1" dirty="0" smtClean="0">
                <a:latin typeface="Helvetica" pitchFamily="34" charset="0"/>
              </a:rPr>
              <a:t>Identify types of tourism project or program</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Conducting tourism research projects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Conducting environmental assessments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Developing local communities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Developing awareness of local community issues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Conduct fundraising campaigns</a:t>
            </a:r>
            <a:endParaRPr lang="en-US" sz="2200" dirty="0" smtClean="0">
              <a:latin typeface="Helvetica" pitchFamily="34" charset="0"/>
            </a:endParaRPr>
          </a:p>
          <a:p>
            <a:pPr marL="360000" indent="-360000">
              <a:spcBef>
                <a:spcPts val="600"/>
              </a:spcBef>
              <a:spcAft>
                <a:spcPts val="1200"/>
              </a:spcAft>
              <a:buNone/>
            </a:pPr>
            <a:endParaRPr lang="en-US" sz="2200" b="1" dirty="0" smtClean="0">
              <a:solidFill>
                <a:srgbClr val="FF6600"/>
              </a:solidFill>
              <a:latin typeface="Helvetica" pitchFamily="34" charset="0"/>
            </a:endParaRPr>
          </a:p>
          <a:p>
            <a:pPr marL="360000" indent="-360000">
              <a:spcBef>
                <a:spcPts val="600"/>
              </a:spcBef>
              <a:spcAft>
                <a:spcPts val="1200"/>
              </a:spcAft>
              <a:buNone/>
            </a:pPr>
            <a:r>
              <a:rPr lang="en-US" sz="2200" b="1" dirty="0" smtClean="0">
                <a:solidFill>
                  <a:srgbClr val="FF6600"/>
                </a:solidFill>
                <a:latin typeface="Helvetica" pitchFamily="34" charset="0"/>
              </a:rPr>
              <a:t>COMPLETE ACTIVITY 1</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descr="Globe_152802833.jpg"/>
          <p:cNvPicPr/>
          <p:nvPr/>
        </p:nvPicPr>
        <p:blipFill>
          <a:blip r:embed="rId3" cstate="print"/>
          <a:stretch>
            <a:fillRect/>
          </a:stretch>
        </p:blipFill>
        <p:spPr>
          <a:xfrm>
            <a:off x="7164288" y="2060848"/>
            <a:ext cx="1688207" cy="138226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marL="0">
              <a:spcBef>
                <a:spcPts val="600"/>
              </a:spcBef>
              <a:spcAft>
                <a:spcPts val="600"/>
              </a:spcAft>
              <a:buNone/>
            </a:pPr>
            <a:r>
              <a:rPr lang="en-AU" sz="2200" b="1" dirty="0" smtClean="0">
                <a:latin typeface="Helvetica" pitchFamily="34" charset="0"/>
              </a:rPr>
              <a:t>Identify reasons for possible tourism projects or programs</a:t>
            </a:r>
            <a:endParaRPr lang="en-US" sz="2200" b="1" dirty="0" smtClean="0">
              <a:latin typeface="Helvetica" pitchFamily="34" charset="0"/>
            </a:endParaRPr>
          </a:p>
          <a:p>
            <a:pPr lvl="0">
              <a:spcBef>
                <a:spcPts val="600"/>
              </a:spcBef>
              <a:spcAft>
                <a:spcPts val="600"/>
              </a:spcAft>
            </a:pPr>
            <a:r>
              <a:rPr lang="en-AU" sz="2200" dirty="0" smtClean="0">
                <a:latin typeface="Helvetica" pitchFamily="34" charset="0"/>
              </a:rPr>
              <a:t>Changes in customer expectations</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Substandard products</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Marketing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Opportunity / commercial potential</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Changes in local and global economic conditions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Strategic directions of local communities or individual tourism organisation</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Inability to service current demand</a:t>
            </a:r>
            <a:endParaRPr lang="en-US" sz="2200" dirty="0" smtClean="0">
              <a:latin typeface="Helvetica" pitchFamily="34" charset="0"/>
            </a:endParaRPr>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6" name="Picture 5" descr="Generic_Globe with lots of faces_110905763.jpg"/>
          <p:cNvPicPr/>
          <p:nvPr/>
        </p:nvPicPr>
        <p:blipFill>
          <a:blip r:embed="rId3" cstate="print"/>
          <a:stretch>
            <a:fillRect/>
          </a:stretch>
        </p:blipFill>
        <p:spPr>
          <a:xfrm>
            <a:off x="6660232" y="2708920"/>
            <a:ext cx="1579632" cy="1151384"/>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6408712" cy="5112568"/>
          </a:xfrm>
        </p:spPr>
        <p:txBody>
          <a:bodyPr>
            <a:normAutofit/>
          </a:bodyPr>
          <a:lstStyle/>
          <a:p>
            <a:pPr marL="0">
              <a:spcBef>
                <a:spcPts val="600"/>
              </a:spcBef>
              <a:spcAft>
                <a:spcPts val="1200"/>
              </a:spcAft>
              <a:buNone/>
            </a:pPr>
            <a:r>
              <a:rPr lang="en-AU" sz="2200" b="1" dirty="0" smtClean="0">
                <a:latin typeface="Helvetica" pitchFamily="34" charset="0"/>
              </a:rPr>
              <a:t>Identify reasons for possible tourism projects or programs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Inappropriate operating practices for the                            current market place and visitors</a:t>
            </a:r>
          </a:p>
          <a:p>
            <a:pPr>
              <a:spcBef>
                <a:spcPts val="600"/>
              </a:spcBef>
              <a:spcAft>
                <a:spcPts val="1200"/>
              </a:spcAft>
            </a:pPr>
            <a:r>
              <a:rPr lang="en-AU" sz="2200" dirty="0" smtClean="0">
                <a:latin typeface="Helvetica" pitchFamily="34" charset="0"/>
              </a:rPr>
              <a:t>Visitor expectation levels below acceptable levels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Visible destruction of local environment and habitat resulting from tourism operations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Increase in conflict within local community resulting from increased tourism activity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Lack of resources for service delivery </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7092280" y="3140968"/>
            <a:ext cx="1655068" cy="1279401"/>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Projects and programs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6624736" cy="5112568"/>
          </a:xfrm>
        </p:spPr>
        <p:txBody>
          <a:bodyPr>
            <a:normAutofit/>
          </a:bodyPr>
          <a:lstStyle/>
          <a:p>
            <a:pPr indent="0">
              <a:spcBef>
                <a:spcPts val="600"/>
              </a:spcBef>
              <a:spcAft>
                <a:spcPts val="1200"/>
              </a:spcAft>
              <a:buNone/>
            </a:pPr>
            <a:r>
              <a:rPr lang="en-AU" sz="2200" b="1" dirty="0" smtClean="0">
                <a:latin typeface="Helvetica" pitchFamily="34" charset="0"/>
              </a:rPr>
              <a:t>Methods to identify and clarify possible objectives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Talking to local business owners and senior management</a:t>
            </a:r>
          </a:p>
          <a:p>
            <a:pPr>
              <a:spcBef>
                <a:spcPts val="600"/>
              </a:spcBef>
              <a:spcAft>
                <a:spcPts val="1200"/>
              </a:spcAft>
            </a:pPr>
            <a:r>
              <a:rPr lang="en-AU" sz="2200" dirty="0" smtClean="0">
                <a:latin typeface="Helvetica" pitchFamily="34" charset="0"/>
              </a:rPr>
              <a:t>Identifying the specific tourism goals and objectives of local communities</a:t>
            </a:r>
          </a:p>
          <a:p>
            <a:pPr>
              <a:spcBef>
                <a:spcPts val="600"/>
              </a:spcBef>
              <a:spcAft>
                <a:spcPts val="1200"/>
              </a:spcAft>
            </a:pPr>
            <a:r>
              <a:rPr lang="en-AU" sz="2200" dirty="0" smtClean="0">
                <a:latin typeface="Helvetica" pitchFamily="34" charset="0"/>
              </a:rPr>
              <a:t>Speaking to a broad cross-section of those affected by tourism within the local community</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Understanding the changes in demand                                      for local services and facilities</a:t>
            </a:r>
          </a:p>
          <a:p>
            <a:endParaRPr lang="en-US" sz="2400" dirty="0" smtClean="0"/>
          </a:p>
          <a:p>
            <a:endParaRPr lang="en-US" sz="2400" b="1" dirty="0" smtClean="0"/>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6" name="Picture 5" descr="10.jpg"/>
          <p:cNvPicPr/>
          <p:nvPr/>
        </p:nvPicPr>
        <p:blipFill>
          <a:blip r:embed="rId3" cstate="print"/>
          <a:stretch>
            <a:fillRect/>
          </a:stretch>
        </p:blipFill>
        <p:spPr>
          <a:xfrm>
            <a:off x="6876256" y="2780928"/>
            <a:ext cx="2009775" cy="134302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Establish project objectives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Establish project or program objectives</a:t>
            </a:r>
            <a:endParaRPr lang="en-US" sz="2200" b="1" dirty="0" smtClean="0">
              <a:latin typeface="Helvetica" pitchFamily="34" charset="0"/>
            </a:endParaRPr>
          </a:p>
          <a:p>
            <a:pPr>
              <a:spcBef>
                <a:spcPts val="600"/>
              </a:spcBef>
              <a:spcAft>
                <a:spcPts val="1200"/>
              </a:spcAft>
            </a:pPr>
            <a:r>
              <a:rPr lang="en-US" sz="2200" dirty="0" smtClean="0">
                <a:latin typeface="Helvetica" pitchFamily="34" charset="0"/>
              </a:rPr>
              <a:t>One of the initial aspects in planning innovative tourism projects or programs is to identify objectives you wish to achieve</a:t>
            </a:r>
          </a:p>
          <a:p>
            <a:pPr>
              <a:spcBef>
                <a:spcPts val="600"/>
              </a:spcBef>
              <a:spcAft>
                <a:spcPts val="1200"/>
              </a:spcAft>
            </a:pPr>
            <a:r>
              <a:rPr lang="en-US" sz="2200" dirty="0" smtClean="0">
                <a:latin typeface="Helvetica" pitchFamily="34" charset="0"/>
              </a:rPr>
              <a:t>The objectives are the goals or targets to work towards and once defined, enable the planning of projects or programs to achieve them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descr="shutterstock_179245358.jpg"/>
          <p:cNvPicPr/>
          <p:nvPr/>
        </p:nvPicPr>
        <p:blipFill>
          <a:blip r:embed="rId3" cstate="print"/>
          <a:stretch>
            <a:fillRect/>
          </a:stretch>
        </p:blipFill>
        <p:spPr>
          <a:xfrm>
            <a:off x="3779912" y="4797152"/>
            <a:ext cx="2033647" cy="1378074"/>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Establish project objectives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539552" y="1484784"/>
            <a:ext cx="6552728" cy="5301208"/>
          </a:xfrm>
        </p:spPr>
        <p:txBody>
          <a:bodyPr>
            <a:normAutofit/>
          </a:bodyPr>
          <a:lstStyle/>
          <a:p>
            <a:pPr>
              <a:spcBef>
                <a:spcPts val="600"/>
              </a:spcBef>
              <a:spcAft>
                <a:spcPts val="600"/>
              </a:spcAft>
              <a:buNone/>
            </a:pPr>
            <a:r>
              <a:rPr lang="en-AU" sz="2000" b="1" dirty="0" smtClean="0">
                <a:latin typeface="Helvetica" pitchFamily="34" charset="0"/>
              </a:rPr>
              <a:t>Factors impacting on  project objectives</a:t>
            </a:r>
            <a:endParaRPr lang="en-US" sz="2000" b="1" dirty="0" smtClean="0">
              <a:latin typeface="Helvetica" pitchFamily="34" charset="0"/>
            </a:endParaRPr>
          </a:p>
          <a:p>
            <a:pPr lvl="0">
              <a:spcBef>
                <a:spcPts val="600"/>
              </a:spcBef>
              <a:spcAft>
                <a:spcPts val="600"/>
              </a:spcAft>
            </a:pPr>
            <a:r>
              <a:rPr lang="en-AU" sz="2000" dirty="0" smtClean="0">
                <a:latin typeface="Helvetica" pitchFamily="34" charset="0"/>
              </a:rPr>
              <a:t>Results of consultations with the community</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Input made by relevant stakeholder groups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Identified opportunities and threats as revealed by the research which has been undertaken</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Government policies, initiatives and over-arching plans and strategies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Economic imperatives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Local government or in-country plans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Need to care for the local environment</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Action being taken in relation to tourism activities/initiatives by other similar communities</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6" name="Picture 5" descr="Assessment_115352104.jpg"/>
          <p:cNvPicPr>
            <a:picLocks noChangeAspect="1"/>
          </p:cNvPicPr>
          <p:nvPr/>
        </p:nvPicPr>
        <p:blipFill>
          <a:blip r:embed="rId3" cstate="print"/>
          <a:stretch>
            <a:fillRect/>
          </a:stretch>
        </p:blipFill>
        <p:spPr>
          <a:xfrm>
            <a:off x="7092280" y="4437112"/>
            <a:ext cx="1846905" cy="123558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Establish project objectives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Develop SMART 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Specific</a:t>
            </a:r>
          </a:p>
          <a:p>
            <a:pPr lvl="0">
              <a:spcBef>
                <a:spcPts val="600"/>
              </a:spcBef>
              <a:spcAft>
                <a:spcPts val="1200"/>
              </a:spcAft>
            </a:pPr>
            <a:r>
              <a:rPr lang="en-AU" sz="2200" dirty="0" smtClean="0">
                <a:latin typeface="Helvetica" pitchFamily="34" charset="0"/>
              </a:rPr>
              <a:t>Measurable</a:t>
            </a:r>
          </a:p>
          <a:p>
            <a:pPr lvl="0">
              <a:spcBef>
                <a:spcPts val="600"/>
              </a:spcBef>
              <a:spcAft>
                <a:spcPts val="1200"/>
              </a:spcAft>
            </a:pPr>
            <a:r>
              <a:rPr lang="en-AU" sz="2200" dirty="0" smtClean="0">
                <a:latin typeface="Helvetica" pitchFamily="34" charset="0"/>
              </a:rPr>
              <a:t>Accurate</a:t>
            </a:r>
          </a:p>
          <a:p>
            <a:pPr lvl="0">
              <a:spcBef>
                <a:spcPts val="600"/>
              </a:spcBef>
              <a:spcAft>
                <a:spcPts val="1200"/>
              </a:spcAft>
            </a:pPr>
            <a:r>
              <a:rPr lang="en-AU" sz="2200" dirty="0" smtClean="0">
                <a:latin typeface="Helvetica" pitchFamily="34" charset="0"/>
              </a:rPr>
              <a:t>Realistic </a:t>
            </a:r>
          </a:p>
          <a:p>
            <a:pPr lvl="0">
              <a:spcBef>
                <a:spcPts val="600"/>
              </a:spcBef>
              <a:spcAft>
                <a:spcPts val="1200"/>
              </a:spcAft>
            </a:pPr>
            <a:r>
              <a:rPr lang="en-AU" sz="2200" dirty="0" smtClean="0">
                <a:latin typeface="Helvetica" pitchFamily="34" charset="0"/>
              </a:rPr>
              <a:t>Trackable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7" name="Picture 6" descr="W27_Five_Professionals_Blank_Msg_shutterstock_2052513.jpg"/>
          <p:cNvPicPr/>
          <p:nvPr/>
        </p:nvPicPr>
        <p:blipFill>
          <a:blip r:embed="rId3" cstate="print"/>
          <a:stretch>
            <a:fillRect/>
          </a:stretch>
        </p:blipFill>
        <p:spPr>
          <a:xfrm>
            <a:off x="5652120" y="2636912"/>
            <a:ext cx="2213223" cy="1416174"/>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600" b="1" dirty="0" smtClean="0">
                <a:solidFill>
                  <a:srgbClr val="FF6600"/>
                </a:solidFill>
                <a:latin typeface="Helvetica" pitchFamily="34" charset="0"/>
              </a:rPr>
              <a:t>Establish project objectives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objectives of tourism projects or programs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are types of objectives that may exist for tourism projects and programs in your region?</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2</a:t>
            </a:r>
          </a:p>
          <a:p>
            <a:pPr lvl="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6" name="Picture 5" descr="al.jpg"/>
          <p:cNvPicPr/>
          <p:nvPr/>
        </p:nvPicPr>
        <p:blipFill>
          <a:blip r:embed="rId3" cstate="print"/>
          <a:stretch>
            <a:fillRect/>
          </a:stretch>
        </p:blipFill>
        <p:spPr>
          <a:xfrm>
            <a:off x="5940152" y="3501008"/>
            <a:ext cx="2152650" cy="142875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US" sz="3400" b="1" dirty="0" smtClean="0">
                <a:solidFill>
                  <a:srgbClr val="FF6600"/>
                </a:solidFill>
                <a:latin typeface="Helvetica" pitchFamily="34" charset="0"/>
              </a:rPr>
              <a:t>Factors impacting project implementation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997152"/>
          </a:xfrm>
          <a:prstGeom prst="rect">
            <a:avLst/>
          </a:prstGeom>
        </p:spPr>
        <p:txBody>
          <a:bodyPr>
            <a:normAutofit/>
          </a:bodyPr>
          <a:lstStyle/>
          <a:p>
            <a:pPr marL="0">
              <a:spcBef>
                <a:spcPts val="600"/>
              </a:spcBef>
              <a:spcAft>
                <a:spcPts val="1200"/>
              </a:spcAft>
              <a:buNone/>
            </a:pPr>
            <a:r>
              <a:rPr lang="en-AU" sz="2200" b="1" dirty="0" smtClean="0">
                <a:latin typeface="Helvetica" pitchFamily="34" charset="0"/>
              </a:rPr>
              <a:t>Identify factors affecting timelines for project implementation</a:t>
            </a:r>
            <a:endParaRPr lang="en-AU" sz="2200" dirty="0" smtClean="0">
              <a:latin typeface="Helvetica" pitchFamily="34" charset="0"/>
            </a:endParaRPr>
          </a:p>
          <a:p>
            <a:pPr marL="0">
              <a:spcBef>
                <a:spcPts val="600"/>
              </a:spcBef>
              <a:spcAft>
                <a:spcPts val="1200"/>
              </a:spcAft>
              <a:buNone/>
            </a:pPr>
            <a:r>
              <a:rPr lang="en-GB" sz="2200" dirty="0" smtClean="0">
                <a:latin typeface="Helvetica" pitchFamily="34" charset="0"/>
              </a:rPr>
              <a:t>There are many factors that may affect the planning, implementation and timelines for the introduction of various tourism projects and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are examples of factors?</a:t>
            </a: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22</a:t>
            </a:fld>
            <a:endParaRPr lang="en-US" dirty="0"/>
          </a:p>
        </p:txBody>
      </p:sp>
      <p:pic>
        <p:nvPicPr>
          <p:cNvPr id="6" name="Picture 5" descr="80.jpg"/>
          <p:cNvPicPr/>
          <p:nvPr/>
        </p:nvPicPr>
        <p:blipFill>
          <a:blip r:embed="rId3" cstate="print"/>
          <a:stretch>
            <a:fillRect/>
          </a:stretch>
        </p:blipFill>
        <p:spPr>
          <a:xfrm>
            <a:off x="5940152" y="3789040"/>
            <a:ext cx="1995547" cy="1359024"/>
          </a:xfrm>
          <a:prstGeom prst="rect">
            <a:avLst/>
          </a:prstGeom>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US" sz="3400" b="1" dirty="0" smtClean="0">
                <a:solidFill>
                  <a:srgbClr val="FF6600"/>
                </a:solidFill>
                <a:latin typeface="Helvetica" pitchFamily="34" charset="0"/>
              </a:rPr>
              <a:t>Factors impacting project implementation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marL="0">
              <a:spcBef>
                <a:spcPts val="600"/>
              </a:spcBef>
              <a:spcAft>
                <a:spcPts val="1200"/>
              </a:spcAft>
              <a:buNone/>
            </a:pPr>
            <a:r>
              <a:rPr lang="en-AU" sz="2200" b="1" dirty="0" smtClean="0">
                <a:latin typeface="Helvetica" pitchFamily="34" charset="0"/>
              </a:rPr>
              <a:t>Identify factors affecting timelines for project implementation</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Economic factors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Environmental factors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Technological factors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Political factors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Social factors</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Legal factors</a:t>
            </a:r>
            <a:endParaRPr lang="en-US" sz="2200" dirty="0" smtClean="0">
              <a:latin typeface="Helvetica" pitchFamily="34" charset="0"/>
            </a:endParaRPr>
          </a:p>
          <a:p>
            <a:pPr lvl="0">
              <a:spcBef>
                <a:spcPts val="600"/>
              </a:spcBef>
              <a:spcAft>
                <a:spcPts val="900"/>
              </a:spcAft>
              <a:buNone/>
            </a:pP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23</a:t>
            </a:fld>
            <a:endParaRPr lang="en-US" dirty="0"/>
          </a:p>
        </p:txBody>
      </p:sp>
      <p:pic>
        <p:nvPicPr>
          <p:cNvPr id="8" name="Picture 7" descr="C:\Documents and Settings\nickh\Desktop\PROJECTS\Singapore\Photos\W608_shutterstock_99673604.jpg"/>
          <p:cNvPicPr/>
          <p:nvPr/>
        </p:nvPicPr>
        <p:blipFill>
          <a:blip r:embed="rId3" cstate="print"/>
          <a:srcRect/>
          <a:stretch>
            <a:fillRect/>
          </a:stretch>
        </p:blipFill>
        <p:spPr bwMode="auto">
          <a:xfrm>
            <a:off x="6012160" y="3068960"/>
            <a:ext cx="1979851" cy="1478459"/>
          </a:xfrm>
          <a:prstGeom prst="rect">
            <a:avLst/>
          </a:prstGeom>
          <a:noFill/>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US" sz="3400" b="1" dirty="0" smtClean="0">
                <a:solidFill>
                  <a:srgbClr val="FF6600"/>
                </a:solidFill>
                <a:latin typeface="Helvetica" pitchFamily="34" charset="0"/>
              </a:rPr>
              <a:t>Factors impacting project implementation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6047584" cy="5257800"/>
          </a:xfrm>
          <a:prstGeom prst="rect">
            <a:avLst/>
          </a:prstGeom>
        </p:spPr>
        <p:txBody>
          <a:bodyPr>
            <a:normAutofit/>
          </a:bodyPr>
          <a:lstStyle/>
          <a:p>
            <a:pPr marL="0">
              <a:spcBef>
                <a:spcPts val="600"/>
              </a:spcBef>
              <a:spcAft>
                <a:spcPts val="1200"/>
              </a:spcAft>
              <a:buNone/>
            </a:pPr>
            <a:r>
              <a:rPr lang="en-AU" sz="2200" b="1" dirty="0" smtClean="0">
                <a:latin typeface="Helvetica" pitchFamily="34" charset="0"/>
              </a:rPr>
              <a:t>Identify factors affecting timelines for project implementation</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Competitive factors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Contractual obligations</a:t>
            </a:r>
          </a:p>
          <a:p>
            <a:pPr>
              <a:spcBef>
                <a:spcPts val="600"/>
              </a:spcBef>
              <a:spcAft>
                <a:spcPts val="1200"/>
              </a:spcAft>
            </a:pPr>
            <a:r>
              <a:rPr lang="en-AU" sz="2200" dirty="0" smtClean="0">
                <a:latin typeface="Helvetica" pitchFamily="34" charset="0"/>
              </a:rPr>
              <a:t>Integration with other programs and projects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Advertised timelines for availability or implementation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Weather and seasonality factors </a:t>
            </a:r>
            <a:endParaRPr lang="en-US" sz="2200" dirty="0" smtClean="0">
              <a:latin typeface="Helvetica" pitchFamily="34" charset="0"/>
            </a:endParaRPr>
          </a:p>
          <a:p>
            <a:pPr lvl="0">
              <a:spcBef>
                <a:spcPts val="600"/>
              </a:spcBef>
              <a:spcAft>
                <a:spcPts val="900"/>
              </a:spcAft>
            </a:pP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24</a:t>
            </a:fld>
            <a:endParaRPr lang="en-US" dirty="0"/>
          </a:p>
        </p:txBody>
      </p:sp>
      <p:pic>
        <p:nvPicPr>
          <p:cNvPr id="5" name="Picture 4" descr="shutterstock_41664772.jpg"/>
          <p:cNvPicPr/>
          <p:nvPr/>
        </p:nvPicPr>
        <p:blipFill>
          <a:blip r:embed="rId3" cstate="print"/>
          <a:stretch>
            <a:fillRect/>
          </a:stretch>
        </p:blipFill>
        <p:spPr>
          <a:xfrm>
            <a:off x="6516216" y="3140968"/>
            <a:ext cx="1745615" cy="1162050"/>
          </a:xfrm>
          <a:prstGeom prst="rect">
            <a:avLst/>
          </a:prstGeom>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US" sz="3400" b="1" dirty="0" smtClean="0">
                <a:solidFill>
                  <a:srgbClr val="FF6600"/>
                </a:solidFill>
                <a:latin typeface="Helvetica" pitchFamily="34" charset="0"/>
              </a:rPr>
              <a:t>Factors impacting project implementation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Common conflict factors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Competition for local government resources </a:t>
            </a:r>
          </a:p>
          <a:p>
            <a:pPr>
              <a:spcBef>
                <a:spcPts val="600"/>
              </a:spcBef>
              <a:spcAft>
                <a:spcPts val="1200"/>
              </a:spcAft>
            </a:pPr>
            <a:r>
              <a:rPr lang="en-AU" sz="2200" dirty="0" smtClean="0">
                <a:latin typeface="Helvetica" pitchFamily="34" charset="0"/>
              </a:rPr>
              <a:t>Conflicting opinions about tourism development options</a:t>
            </a:r>
          </a:p>
          <a:p>
            <a:pPr>
              <a:spcBef>
                <a:spcPts val="600"/>
              </a:spcBef>
              <a:spcAft>
                <a:spcPts val="1200"/>
              </a:spcAft>
            </a:pPr>
            <a:r>
              <a:rPr lang="en-AU" sz="2200" dirty="0" smtClean="0">
                <a:latin typeface="Helvetica" pitchFamily="34" charset="0"/>
              </a:rPr>
              <a:t>Perceived threat to local amenity by high visitor numbers </a:t>
            </a:r>
          </a:p>
          <a:p>
            <a:pPr>
              <a:spcBef>
                <a:spcPts val="600"/>
              </a:spcBef>
              <a:spcAft>
                <a:spcPts val="1200"/>
              </a:spcAft>
            </a:pPr>
            <a:r>
              <a:rPr lang="en-AU" sz="2200" dirty="0" smtClean="0">
                <a:latin typeface="Helvetica" pitchFamily="34" charset="0"/>
              </a:rPr>
              <a:t>Conflicting opinions regarding local government levies for tourism </a:t>
            </a:r>
          </a:p>
          <a:p>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25</a:t>
            </a:fld>
            <a:endParaRPr lang="en-US" dirty="0"/>
          </a:p>
        </p:txBody>
      </p:sp>
      <p:pic>
        <p:nvPicPr>
          <p:cNvPr id="6" name="Picture 5" descr="21.jpg"/>
          <p:cNvPicPr/>
          <p:nvPr/>
        </p:nvPicPr>
        <p:blipFill>
          <a:blip r:embed="rId3" cstate="print"/>
          <a:stretch>
            <a:fillRect/>
          </a:stretch>
        </p:blipFill>
        <p:spPr>
          <a:xfrm>
            <a:off x="3707904" y="4725144"/>
            <a:ext cx="2209165" cy="1219200"/>
          </a:xfrm>
          <a:prstGeom prst="rect">
            <a:avLst/>
          </a:prstGeom>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US" sz="3400" b="1" dirty="0" smtClean="0">
                <a:solidFill>
                  <a:srgbClr val="FF6600"/>
                </a:solidFill>
                <a:latin typeface="Helvetica" pitchFamily="34" charset="0"/>
              </a:rPr>
              <a:t>Factors impacting project implementation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6767664"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Common conflict factors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Conflict between environmental and business groups </a:t>
            </a:r>
          </a:p>
          <a:p>
            <a:pPr>
              <a:spcBef>
                <a:spcPts val="600"/>
              </a:spcBef>
              <a:spcAft>
                <a:spcPts val="1200"/>
              </a:spcAft>
            </a:pPr>
            <a:r>
              <a:rPr lang="en-AU" sz="2200" dirty="0" smtClean="0">
                <a:latin typeface="Helvetica" pitchFamily="34" charset="0"/>
              </a:rPr>
              <a:t>Misunderstanding regarding the relative benefits and disadvantages of tourism to the host community </a:t>
            </a:r>
          </a:p>
          <a:p>
            <a:pPr>
              <a:spcBef>
                <a:spcPts val="600"/>
              </a:spcBef>
              <a:spcAft>
                <a:spcPts val="1200"/>
              </a:spcAft>
            </a:pPr>
            <a:r>
              <a:rPr lang="en-AU" sz="2200" dirty="0" smtClean="0">
                <a:latin typeface="Helvetica" pitchFamily="34" charset="0"/>
              </a:rPr>
              <a:t>Misinterpretation and misunderstanding of the                        effects of tourism on other host communities </a:t>
            </a: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3</a:t>
            </a:r>
          </a:p>
          <a:p>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26</a:t>
            </a:fld>
            <a:endParaRPr lang="en-US" dirty="0"/>
          </a:p>
        </p:txBody>
      </p:sp>
      <p:pic>
        <p:nvPicPr>
          <p:cNvPr id="8" name="Picture 7" descr="20.jpg"/>
          <p:cNvPicPr/>
          <p:nvPr/>
        </p:nvPicPr>
        <p:blipFill>
          <a:blip r:embed="rId3" cstate="print"/>
          <a:stretch>
            <a:fillRect/>
          </a:stretch>
        </p:blipFill>
        <p:spPr>
          <a:xfrm>
            <a:off x="7524328" y="2204864"/>
            <a:ext cx="1403648" cy="2474472"/>
          </a:xfrm>
          <a:prstGeom prst="rect">
            <a:avLst/>
          </a:prstGeom>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US" sz="3400" b="1" dirty="0" smtClean="0">
                <a:solidFill>
                  <a:srgbClr val="FF6600"/>
                </a:solidFill>
                <a:latin typeface="Helvetica" pitchFamily="34" charset="0"/>
              </a:rPr>
              <a:t>Factors impacting project implementation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Identify feasibility for new projects and programs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Criteria may relate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Achievement of established 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Availability of resources and equipment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Code of ethics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effectiveness</a:t>
            </a:r>
            <a:endParaRPr lang="en-US" sz="2200" dirty="0" smtClean="0">
              <a:latin typeface="Helvetica" pitchFamily="34" charset="0"/>
            </a:endParaRPr>
          </a:p>
          <a:p>
            <a:pPr lvl="0">
              <a:spcBef>
                <a:spcPts val="600"/>
              </a:spcBef>
              <a:spcAft>
                <a:spcPts val="1200"/>
              </a:spcAft>
            </a:pPr>
            <a:r>
              <a:rPr lang="en-SG" sz="2200" dirty="0" smtClean="0">
                <a:latin typeface="Helvetica" pitchFamily="34" charset="0"/>
              </a:rPr>
              <a:t>Fulfilment of purpose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Impact to organisation </a:t>
            </a: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27</a:t>
            </a:fld>
            <a:endParaRPr lang="en-US" dirty="0"/>
          </a:p>
        </p:txBody>
      </p:sp>
      <p:pic>
        <p:nvPicPr>
          <p:cNvPr id="6" name="Picture 5" descr="W104_start_here_shutterstock_116767243.jpg"/>
          <p:cNvPicPr/>
          <p:nvPr/>
        </p:nvPicPr>
        <p:blipFill>
          <a:blip r:embed="rId3" cstate="print"/>
          <a:stretch>
            <a:fillRect/>
          </a:stretch>
        </p:blipFill>
        <p:spPr>
          <a:xfrm>
            <a:off x="6444208" y="2852936"/>
            <a:ext cx="1857549" cy="1436167"/>
          </a:xfrm>
          <a:prstGeom prst="rect">
            <a:avLst/>
          </a:prstGeom>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US" sz="3400" b="1" dirty="0" smtClean="0">
                <a:solidFill>
                  <a:srgbClr val="FF6600"/>
                </a:solidFill>
                <a:latin typeface="Helvetica" pitchFamily="34" charset="0"/>
              </a:rPr>
              <a:t>Factors impacting project implementation</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Identify feasibility for new projects and programs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Innovativeness of ideas or concepts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Level of risk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Level of skill, and understanding required for implementation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Potential benefits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Suitability for target clients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Technical feasibility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Time needed to realise concept</a:t>
            </a: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28</a:t>
            </a:fld>
            <a:endParaRPr lang="en-US" dirty="0"/>
          </a:p>
        </p:txBody>
      </p:sp>
      <p:pic>
        <p:nvPicPr>
          <p:cNvPr id="8" name="Picture 7" descr="shutterstock_150502661.jpg"/>
          <p:cNvPicPr/>
          <p:nvPr/>
        </p:nvPicPr>
        <p:blipFill>
          <a:blip r:embed="rId3" cstate="print"/>
          <a:stretch>
            <a:fillRect/>
          </a:stretch>
        </p:blipFill>
        <p:spPr>
          <a:xfrm>
            <a:off x="6372200" y="4077072"/>
            <a:ext cx="1704975" cy="1114425"/>
          </a:xfrm>
          <a:prstGeom prst="rect">
            <a:avLst/>
          </a:prstGeom>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AU" sz="3600" b="1" dirty="0" smtClean="0">
                <a:solidFill>
                  <a:srgbClr val="FF6600"/>
                </a:solidFill>
                <a:latin typeface="Helvetica" pitchFamily="34" charset="0"/>
              </a:rPr>
              <a:t>Develop program/project plans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Develop project plans</a:t>
            </a:r>
          </a:p>
          <a:p>
            <a:pPr>
              <a:spcBef>
                <a:spcPts val="600"/>
              </a:spcBef>
              <a:spcAft>
                <a:spcPts val="1200"/>
              </a:spcAft>
              <a:buNone/>
            </a:pPr>
            <a:r>
              <a:rPr lang="en-AU" sz="2200" dirty="0" smtClean="0">
                <a:latin typeface="Helvetica" pitchFamily="34" charset="0"/>
              </a:rPr>
              <a:t>Project/program plans focus on:</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The end </a:t>
            </a:r>
            <a:r>
              <a:rPr lang="en-AU" sz="2200" dirty="0" smtClean="0">
                <a:latin typeface="Helvetica" pitchFamily="34" charset="0"/>
              </a:rPr>
              <a:t>result and what needs to be done to get there</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Ho</a:t>
            </a:r>
            <a:r>
              <a:rPr lang="en-AU" sz="2200" dirty="0" smtClean="0">
                <a:latin typeface="Helvetica" pitchFamily="34" charset="0"/>
              </a:rPr>
              <a:t>w it is to be done</a:t>
            </a: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29</a:t>
            </a:fld>
            <a:endParaRPr lang="en-US" dirty="0"/>
          </a:p>
        </p:txBody>
      </p:sp>
      <p:pic>
        <p:nvPicPr>
          <p:cNvPr id="6" name="Picture 5" descr="1b.jpg"/>
          <p:cNvPicPr/>
          <p:nvPr/>
        </p:nvPicPr>
        <p:blipFill>
          <a:blip r:embed="rId3" cstate="print"/>
          <a:stretch>
            <a:fillRect/>
          </a:stretch>
        </p:blipFill>
        <p:spPr>
          <a:xfrm>
            <a:off x="3563888" y="4221088"/>
            <a:ext cx="2054463" cy="1579042"/>
          </a:xfrm>
          <a:prstGeom prst="rect">
            <a:avLst/>
          </a:prstGeom>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AU" sz="3600" b="1" dirty="0" smtClean="0">
                <a:solidFill>
                  <a:srgbClr val="FF6600"/>
                </a:solidFill>
                <a:latin typeface="Helvetica" pitchFamily="34" charset="0"/>
              </a:rPr>
              <a:t>Develop program/project plans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467544" y="1412776"/>
            <a:ext cx="8153400" cy="5257800"/>
          </a:xfrm>
          <a:prstGeom prst="rect">
            <a:avLst/>
          </a:prstGeom>
        </p:spPr>
        <p:txBody>
          <a:bodyPr>
            <a:normAutofit/>
          </a:bodyPr>
          <a:lstStyle/>
          <a:p>
            <a:pPr marL="0">
              <a:spcBef>
                <a:spcPts val="600"/>
              </a:spcBef>
              <a:spcAft>
                <a:spcPts val="1200"/>
              </a:spcAft>
              <a:buNone/>
            </a:pPr>
            <a:r>
              <a:rPr lang="en-AU" sz="2200" b="1" dirty="0" smtClean="0">
                <a:latin typeface="Helvetica" pitchFamily="34" charset="0"/>
              </a:rPr>
              <a:t>Importance of developing tourism projects and program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Identifies all activities in a logical and sequential order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Provides a clear outline of the project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Provides a constant reference point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Facilitates the sharing of the plan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Forces all or more planning considerations                                 to be undertaken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Allows for informed feedback in relation                                         to the plan</a:t>
            </a: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30</a:t>
            </a:fld>
            <a:endParaRPr lang="en-US" dirty="0"/>
          </a:p>
        </p:txBody>
      </p:sp>
      <p:pic>
        <p:nvPicPr>
          <p:cNvPr id="8" name="Picture 7" descr="shutterstock_170984318.jpg"/>
          <p:cNvPicPr/>
          <p:nvPr/>
        </p:nvPicPr>
        <p:blipFill>
          <a:blip r:embed="rId3" cstate="print"/>
          <a:stretch>
            <a:fillRect/>
          </a:stretch>
        </p:blipFill>
        <p:spPr>
          <a:xfrm>
            <a:off x="7092280" y="3429000"/>
            <a:ext cx="1193165" cy="1552575"/>
          </a:xfrm>
          <a:prstGeom prst="rect">
            <a:avLst/>
          </a:prstGeom>
        </p:spPr>
      </p:pic>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AU" sz="3600" b="1" dirty="0" smtClean="0">
                <a:solidFill>
                  <a:srgbClr val="FF6600"/>
                </a:solidFill>
                <a:latin typeface="Helvetica" pitchFamily="34" charset="0"/>
              </a:rPr>
              <a:t>Develop program/project plans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467544" y="1340768"/>
            <a:ext cx="6768752" cy="5257800"/>
          </a:xfrm>
          <a:prstGeom prst="rect">
            <a:avLst/>
          </a:prstGeom>
        </p:spPr>
        <p:txBody>
          <a:bodyPr>
            <a:normAutofit/>
          </a:bodyPr>
          <a:lstStyle/>
          <a:p>
            <a:pPr marL="0">
              <a:spcBef>
                <a:spcPts val="600"/>
              </a:spcBef>
              <a:spcAft>
                <a:spcPts val="600"/>
              </a:spcAft>
              <a:buNone/>
            </a:pPr>
            <a:r>
              <a:rPr lang="en-AU" sz="2000" b="1" dirty="0" smtClean="0"/>
              <a:t>Activities associated with developing project and program plans</a:t>
            </a:r>
            <a:endParaRPr lang="en-US" sz="2000" dirty="0" smtClean="0"/>
          </a:p>
          <a:p>
            <a:pPr lvl="0">
              <a:spcBef>
                <a:spcPts val="600"/>
              </a:spcBef>
              <a:spcAft>
                <a:spcPts val="600"/>
              </a:spcAft>
            </a:pPr>
            <a:r>
              <a:rPr lang="en-AU" sz="2000" dirty="0" smtClean="0"/>
              <a:t>Identifying relevant acquisition strategies for materials, information and resources</a:t>
            </a:r>
            <a:endParaRPr lang="en-US" sz="2000" dirty="0" smtClean="0"/>
          </a:p>
          <a:p>
            <a:pPr lvl="0">
              <a:spcBef>
                <a:spcPts val="600"/>
              </a:spcBef>
              <a:spcAft>
                <a:spcPts val="600"/>
              </a:spcAft>
            </a:pPr>
            <a:r>
              <a:rPr lang="en-AU" sz="2000" dirty="0" smtClean="0"/>
              <a:t>Developing a specific budget and financial management strategy</a:t>
            </a:r>
            <a:endParaRPr lang="en-US" sz="2000" dirty="0" smtClean="0"/>
          </a:p>
          <a:p>
            <a:pPr lvl="0">
              <a:spcBef>
                <a:spcPts val="600"/>
              </a:spcBef>
              <a:spcAft>
                <a:spcPts val="600"/>
              </a:spcAft>
            </a:pPr>
            <a:r>
              <a:rPr lang="en-AU" sz="2000" dirty="0" smtClean="0"/>
              <a:t>Developing communication and contract management plans</a:t>
            </a:r>
            <a:endParaRPr lang="en-US" sz="2000" dirty="0" smtClean="0"/>
          </a:p>
          <a:p>
            <a:pPr lvl="0">
              <a:spcBef>
                <a:spcPts val="600"/>
              </a:spcBef>
              <a:spcAft>
                <a:spcPts val="600"/>
              </a:spcAft>
            </a:pPr>
            <a:r>
              <a:rPr lang="en-AU" sz="2000" dirty="0" smtClean="0"/>
              <a:t>Generating details cost estimates</a:t>
            </a:r>
            <a:endParaRPr lang="en-US" sz="2000" dirty="0" smtClean="0"/>
          </a:p>
          <a:p>
            <a:pPr lvl="0">
              <a:spcBef>
                <a:spcPts val="600"/>
              </a:spcBef>
              <a:spcAft>
                <a:spcPts val="600"/>
              </a:spcAft>
            </a:pPr>
            <a:r>
              <a:rPr lang="en-AU" sz="2000" dirty="0" smtClean="0"/>
              <a:t>Preparing evaluation criteria for program/project progress and completion</a:t>
            </a:r>
            <a:endParaRPr lang="en-US" sz="2000" dirty="0" smtClean="0"/>
          </a:p>
          <a:p>
            <a:pPr lvl="0">
              <a:spcBef>
                <a:spcPts val="600"/>
              </a:spcBef>
              <a:spcAft>
                <a:spcPts val="600"/>
              </a:spcAft>
            </a:pPr>
            <a:r>
              <a:rPr lang="en-AU" sz="2000" dirty="0" smtClean="0"/>
              <a:t>Determining final expected outcomes and                          measurable benefits</a:t>
            </a:r>
            <a:endParaRPr lang="en-US" sz="2000" dirty="0" smtClean="0"/>
          </a:p>
          <a:p>
            <a:endParaRPr lang="en-AU" sz="2000" dirty="0" smtClean="0"/>
          </a:p>
          <a:p>
            <a:pPr marL="432000" lvl="1" indent="-453600">
              <a:lnSpc>
                <a:spcPct val="110000"/>
              </a:lnSpc>
              <a:spcBef>
                <a:spcPts val="600"/>
              </a:spcBef>
              <a:spcAft>
                <a:spcPts val="1200"/>
              </a:spcAft>
              <a:buClr>
                <a:srgbClr val="EB7125"/>
              </a:buClr>
            </a:pPr>
            <a:endParaRPr lang="en-AU" sz="2000" dirty="0" smtClean="0"/>
          </a:p>
          <a:p>
            <a:pPr>
              <a:lnSpc>
                <a:spcPct val="110000"/>
              </a:lnSpc>
              <a:spcBef>
                <a:spcPts val="600"/>
              </a:spcBef>
              <a:spcAft>
                <a:spcPts val="1200"/>
              </a:spcAft>
            </a:pPr>
            <a:endParaRPr lang="en-US" sz="2000" dirty="0" smtClean="0"/>
          </a:p>
          <a:p>
            <a:pPr>
              <a:lnSpc>
                <a:spcPct val="110000"/>
              </a:lnSpc>
              <a:spcBef>
                <a:spcPts val="600"/>
              </a:spcBef>
              <a:spcAft>
                <a:spcPts val="1200"/>
              </a:spcAft>
            </a:pPr>
            <a:endParaRPr lang="en-US" sz="2000" dirty="0"/>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31</a:t>
            </a:fld>
            <a:endParaRPr lang="en-US" dirty="0"/>
          </a:p>
        </p:txBody>
      </p:sp>
      <p:pic>
        <p:nvPicPr>
          <p:cNvPr id="6" name="Picture 5" descr="A8 shutterstock_149513465.jpg"/>
          <p:cNvPicPr>
            <a:picLocks noChangeAspect="1"/>
          </p:cNvPicPr>
          <p:nvPr/>
        </p:nvPicPr>
        <p:blipFill>
          <a:blip r:embed="rId3" cstate="print"/>
          <a:stretch>
            <a:fillRect/>
          </a:stretch>
        </p:blipFill>
        <p:spPr>
          <a:xfrm>
            <a:off x="7020272" y="4581128"/>
            <a:ext cx="1773530" cy="1197133"/>
          </a:xfrm>
          <a:prstGeom prst="rect">
            <a:avLst/>
          </a:prstGeom>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AU" sz="3600" b="1" dirty="0" smtClean="0">
                <a:solidFill>
                  <a:srgbClr val="FF6600"/>
                </a:solidFill>
                <a:latin typeface="Helvetica" pitchFamily="34" charset="0"/>
              </a:rPr>
              <a:t>Develop program/project plans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marL="0">
              <a:spcBef>
                <a:spcPts val="600"/>
              </a:spcBef>
              <a:spcAft>
                <a:spcPts val="600"/>
              </a:spcAft>
              <a:buNone/>
            </a:pPr>
            <a:r>
              <a:rPr lang="en-AU" sz="2200" b="1" dirty="0" smtClean="0">
                <a:latin typeface="Helvetica" pitchFamily="34" charset="0"/>
              </a:rPr>
              <a:t>Activities associated with developing project and program plans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Developing intellectual property strategies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Determining milestones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Clarifying objectives and purpose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Defining deliverables and criteria for evaluating acceptance of same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Developing a human resource plan</a:t>
            </a:r>
          </a:p>
          <a:p>
            <a:pPr lvl="0">
              <a:spcBef>
                <a:spcPts val="600"/>
              </a:spcBef>
              <a:spcAft>
                <a:spcPts val="600"/>
              </a:spcAft>
            </a:pPr>
            <a:r>
              <a:rPr lang="en-AU" sz="2200" dirty="0" smtClean="0">
                <a:latin typeface="Helvetica" pitchFamily="34" charset="0"/>
              </a:rPr>
              <a:t>Developing performance indicators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Describing project control mechanisms</a:t>
            </a:r>
            <a:endParaRPr lang="en-US" sz="2200"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32</a:t>
            </a:fld>
            <a:endParaRPr lang="en-US" dirty="0"/>
          </a:p>
        </p:txBody>
      </p:sp>
      <p:pic>
        <p:nvPicPr>
          <p:cNvPr id="5" name="Picture 4" descr="jy.jpg"/>
          <p:cNvPicPr>
            <a:picLocks noChangeAspect="1"/>
          </p:cNvPicPr>
          <p:nvPr/>
        </p:nvPicPr>
        <p:blipFill>
          <a:blip r:embed="rId3" cstate="print"/>
          <a:stretch>
            <a:fillRect/>
          </a:stretch>
        </p:blipFill>
        <p:spPr>
          <a:xfrm>
            <a:off x="6719825" y="4869160"/>
            <a:ext cx="1834639" cy="1224136"/>
          </a:xfrm>
          <a:prstGeom prst="rect">
            <a:avLst/>
          </a:prstGeom>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AU" sz="3600" b="1" dirty="0" smtClean="0">
                <a:solidFill>
                  <a:srgbClr val="FF6600"/>
                </a:solidFill>
                <a:latin typeface="Helvetica" pitchFamily="34" charset="0"/>
              </a:rPr>
              <a:t>Develop program/project plans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539552" y="1412776"/>
            <a:ext cx="8153400" cy="5257800"/>
          </a:xfrm>
          <a:prstGeom prst="rect">
            <a:avLst/>
          </a:prstGeom>
        </p:spPr>
        <p:txBody>
          <a:bodyPr>
            <a:normAutofit/>
          </a:bodyPr>
          <a:lstStyle/>
          <a:p>
            <a:pPr marL="0">
              <a:spcBef>
                <a:spcPts val="600"/>
              </a:spcBef>
              <a:spcAft>
                <a:spcPts val="600"/>
              </a:spcAft>
              <a:buNone/>
            </a:pPr>
            <a:r>
              <a:rPr lang="en-AU" sz="2200" b="1" dirty="0" smtClean="0">
                <a:latin typeface="Helvetica" pitchFamily="34" charset="0"/>
              </a:rPr>
              <a:t>Activities associated with developing project and program plans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Developing implementation and governance strategy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Defining quality assurance and quality control strategies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Identifying resource requirements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Developing risk management protocols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Defining relevant roles and responsibilities for those involved</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Deciding schedules and timelines</a:t>
            </a: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33</a:t>
            </a:fld>
            <a:endParaRPr lang="en-US" dirty="0"/>
          </a:p>
        </p:txBody>
      </p:sp>
      <p:pic>
        <p:nvPicPr>
          <p:cNvPr id="5" name="Picture 4" descr="hx.jpg"/>
          <p:cNvPicPr>
            <a:picLocks noChangeAspect="1"/>
          </p:cNvPicPr>
          <p:nvPr/>
        </p:nvPicPr>
        <p:blipFill>
          <a:blip r:embed="rId3" cstate="print"/>
          <a:stretch>
            <a:fillRect/>
          </a:stretch>
        </p:blipFill>
        <p:spPr>
          <a:xfrm>
            <a:off x="6588224" y="4941168"/>
            <a:ext cx="1936543" cy="1294256"/>
          </a:xfrm>
          <a:prstGeom prst="rect">
            <a:avLst/>
          </a:prstGeom>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AU" sz="3600" b="1" dirty="0" smtClean="0">
                <a:solidFill>
                  <a:srgbClr val="FF6600"/>
                </a:solidFill>
                <a:latin typeface="Helvetica" pitchFamily="34" charset="0"/>
              </a:rPr>
              <a:t>Develop program/project plans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marL="0">
              <a:spcBef>
                <a:spcPts val="600"/>
              </a:spcBef>
              <a:spcAft>
                <a:spcPts val="1200"/>
              </a:spcAft>
              <a:buNone/>
            </a:pPr>
            <a:r>
              <a:rPr lang="en-AU" sz="2200" b="1" dirty="0" smtClean="0">
                <a:latin typeface="Helvetica" pitchFamily="34" charset="0"/>
              </a:rPr>
              <a:t>Activities associated with developing project and program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Defining tasks and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Coordinating staff</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Preparing program/project-specific documentation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Processing income and payments relating to the program/project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Planning general and specific project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Planning administrative tasks  </a:t>
            </a: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34</a:t>
            </a:fld>
            <a:endParaRPr lang="en-US" dirty="0"/>
          </a:p>
        </p:txBody>
      </p:sp>
      <p:pic>
        <p:nvPicPr>
          <p:cNvPr id="5" name="Picture 4" descr="26.jpg"/>
          <p:cNvPicPr>
            <a:picLocks noChangeAspect="1"/>
          </p:cNvPicPr>
          <p:nvPr/>
        </p:nvPicPr>
        <p:blipFill>
          <a:blip r:embed="rId3" cstate="print"/>
          <a:stretch>
            <a:fillRect/>
          </a:stretch>
        </p:blipFill>
        <p:spPr>
          <a:xfrm>
            <a:off x="6372200" y="2276872"/>
            <a:ext cx="1754512" cy="1122319"/>
          </a:xfrm>
          <a:prstGeom prst="rect">
            <a:avLst/>
          </a:prstGeom>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AU" sz="3600" b="1" dirty="0" smtClean="0">
                <a:solidFill>
                  <a:srgbClr val="FF6600"/>
                </a:solidFill>
                <a:latin typeface="Helvetica" pitchFamily="34" charset="0"/>
              </a:rPr>
              <a:t>Develop program/project plans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Contents of the project / program plan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Identification of the type of the project/plan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 summary of the purpose of the plan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Explanation for the need for the project / program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Identification of objectives to be achieved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Breakdown of long-term and short term goals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 performance measures and metrics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Key Performance Indicators</a:t>
            </a: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35</a:t>
            </a:fld>
            <a:endParaRPr lang="en-US" dirty="0"/>
          </a:p>
        </p:txBody>
      </p:sp>
      <p:pic>
        <p:nvPicPr>
          <p:cNvPr id="6" name="Picture 5" descr="shutterstock_118113499.jpg"/>
          <p:cNvPicPr/>
          <p:nvPr/>
        </p:nvPicPr>
        <p:blipFill>
          <a:blip r:embed="rId3" cstate="print"/>
          <a:stretch>
            <a:fillRect/>
          </a:stretch>
        </p:blipFill>
        <p:spPr>
          <a:xfrm>
            <a:off x="7240680" y="1700808"/>
            <a:ext cx="1721924" cy="1311399"/>
          </a:xfrm>
          <a:prstGeom prst="rect">
            <a:avLst/>
          </a:prstGeom>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AU" sz="3600" b="1" dirty="0" smtClean="0">
                <a:solidFill>
                  <a:srgbClr val="FF6600"/>
                </a:solidFill>
                <a:latin typeface="Helvetica" pitchFamily="34" charset="0"/>
              </a:rPr>
              <a:t>Develop program/project plans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6047584"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Contents of the project / program plan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Identification of key stakeholders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Key roles and responsibilities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Overall schedule of proposed activities against a timeline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Detail of activities to be conducted </a:t>
            </a:r>
          </a:p>
          <a:p>
            <a:pPr lvl="0">
              <a:spcBef>
                <a:spcPts val="600"/>
              </a:spcBef>
              <a:spcAft>
                <a:spcPts val="1200"/>
              </a:spcAft>
            </a:pPr>
            <a:r>
              <a:rPr lang="en-AU" sz="2200" dirty="0" smtClean="0">
                <a:latin typeface="Helvetica" pitchFamily="34" charset="0"/>
              </a:rPr>
              <a:t>Workflow processes and standard operating procedures for implementation </a:t>
            </a:r>
            <a:endParaRPr lang="en-US" sz="2200" dirty="0" smtClean="0">
              <a:latin typeface="Helvetica" pitchFamily="34" charset="0"/>
            </a:endParaRP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36</a:t>
            </a:fld>
            <a:endParaRPr lang="en-US" dirty="0"/>
          </a:p>
        </p:txBody>
      </p:sp>
      <p:pic>
        <p:nvPicPr>
          <p:cNvPr id="8" name="Picture 7" descr="jb.jpg"/>
          <p:cNvPicPr>
            <a:picLocks noChangeAspect="1"/>
          </p:cNvPicPr>
          <p:nvPr/>
        </p:nvPicPr>
        <p:blipFill>
          <a:blip r:embed="rId3" cstate="print"/>
          <a:stretch>
            <a:fillRect/>
          </a:stretch>
        </p:blipFill>
        <p:spPr>
          <a:xfrm>
            <a:off x="6804248" y="2492896"/>
            <a:ext cx="1341880" cy="1720885"/>
          </a:xfrm>
          <a:prstGeom prst="rect">
            <a:avLst/>
          </a:prstGeom>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AU" sz="3600" b="1" dirty="0" smtClean="0">
                <a:solidFill>
                  <a:srgbClr val="FF6600"/>
                </a:solidFill>
                <a:latin typeface="Helvetica" pitchFamily="34" charset="0"/>
              </a:rPr>
              <a:t>Develop program/project plans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Contents of the project / program plan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Budget and resources required to implement plan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Potential risks and mitigating actions to manage the risks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Contingency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Reporting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Timelines for completion</a:t>
            </a:r>
            <a:endParaRPr lang="en-US" sz="2200" dirty="0" smtClean="0">
              <a:latin typeface="Helvetica" pitchFamily="34" charset="0"/>
            </a:endParaRPr>
          </a:p>
          <a:p>
            <a:pPr>
              <a:spcBef>
                <a:spcPts val="600"/>
              </a:spcBef>
              <a:spcAft>
                <a:spcPts val="1200"/>
              </a:spcAft>
              <a:buNone/>
            </a:pPr>
            <a:endParaRPr lang="en-US" sz="2200" b="1" dirty="0" smtClean="0">
              <a:solidFill>
                <a:srgbClr val="FF6600"/>
              </a:solidFill>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4</a:t>
            </a:r>
          </a:p>
          <a:p>
            <a:endParaRPr lang="en-AU" sz="2400" dirty="0" smtClean="0"/>
          </a:p>
          <a:p>
            <a:pPr marL="432000" lvl="1" indent="-453600">
              <a:lnSpc>
                <a:spcPct val="110000"/>
              </a:lnSpc>
              <a:spcBef>
                <a:spcPts val="600"/>
              </a:spcBef>
              <a:spcAft>
                <a:spcPts val="1200"/>
              </a:spcAft>
              <a:buClr>
                <a:srgbClr val="EB7125"/>
              </a:buClr>
            </a:pPr>
            <a:endParaRPr lang="en-AU" sz="2400" dirty="0" smtClean="0"/>
          </a:p>
          <a:p>
            <a:pPr>
              <a:lnSpc>
                <a:spcPct val="110000"/>
              </a:lnSpc>
              <a:spcBef>
                <a:spcPts val="600"/>
              </a:spcBef>
              <a:spcAft>
                <a:spcPts val="1200"/>
              </a:spcAft>
            </a:pPr>
            <a:endParaRPr lang="en-US" sz="2400" dirty="0" smtClean="0">
              <a:latin typeface="Helvetica" pitchFamily="34" charset="0"/>
            </a:endParaRPr>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37</a:t>
            </a:fld>
            <a:endParaRPr lang="en-US" dirty="0"/>
          </a:p>
        </p:txBody>
      </p:sp>
      <p:pic>
        <p:nvPicPr>
          <p:cNvPr id="8" name="Picture 7" descr="jb.jpg"/>
          <p:cNvPicPr>
            <a:picLocks noChangeAspect="1"/>
          </p:cNvPicPr>
          <p:nvPr/>
        </p:nvPicPr>
        <p:blipFill>
          <a:blip r:embed="rId3" cstate="print"/>
          <a:stretch>
            <a:fillRect/>
          </a:stretch>
        </p:blipFill>
        <p:spPr>
          <a:xfrm>
            <a:off x="6084168" y="3501008"/>
            <a:ext cx="1485896" cy="1905577"/>
          </a:xfrm>
          <a:prstGeom prst="rect">
            <a:avLst/>
          </a:prstGeom>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Link budget to key outcomes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budgets</a:t>
            </a:r>
          </a:p>
          <a:p>
            <a:pPr marL="0">
              <a:spcBef>
                <a:spcPts val="600"/>
              </a:spcBef>
              <a:spcAft>
                <a:spcPts val="1200"/>
              </a:spcAft>
              <a:buNone/>
            </a:pPr>
            <a:r>
              <a:rPr lang="en-AU" sz="2200" dirty="0" smtClean="0">
                <a:latin typeface="Helvetica" pitchFamily="34" charset="0"/>
              </a:rPr>
              <a:t>One of the tools that assists </a:t>
            </a:r>
            <a:r>
              <a:rPr lang="en-US" sz="2200" dirty="0" smtClean="0">
                <a:latin typeface="Helvetica" pitchFamily="34" charset="0"/>
              </a:rPr>
              <a:t>project managers to</a:t>
            </a:r>
            <a:r>
              <a:rPr lang="en-AU" sz="2200" dirty="0" smtClean="0">
                <a:latin typeface="Helvetica" pitchFamily="34" charset="0"/>
              </a:rPr>
              <a:t> plan and monitor </a:t>
            </a:r>
            <a:r>
              <a:rPr lang="en-US" sz="2200" dirty="0" smtClean="0">
                <a:latin typeface="Helvetica" pitchFamily="34" charset="0"/>
              </a:rPr>
              <a:t>finances associated with programs </a:t>
            </a:r>
            <a:r>
              <a:rPr lang="en-AU" sz="2200" dirty="0" smtClean="0">
                <a:latin typeface="Helvetica" pitchFamily="34" charset="0"/>
              </a:rPr>
              <a:t>is a good budgeting system. </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 product of this system is a document called a budget.</a:t>
            </a:r>
          </a:p>
          <a:p>
            <a:pPr>
              <a:spcBef>
                <a:spcPts val="600"/>
              </a:spcBef>
              <a:spcAft>
                <a:spcPts val="1200"/>
              </a:spcAft>
            </a:pPr>
            <a:r>
              <a:rPr lang="en-AU" sz="2200" dirty="0" smtClean="0">
                <a:latin typeface="Helvetica" pitchFamily="34" charset="0"/>
              </a:rPr>
              <a:t>What is a budget?</a:t>
            </a:r>
          </a:p>
          <a:p>
            <a:pPr>
              <a:spcBef>
                <a:spcPts val="600"/>
              </a:spcBef>
              <a:spcAft>
                <a:spcPts val="1200"/>
              </a:spcAft>
            </a:pPr>
            <a:r>
              <a:rPr lang="en-AU" sz="2200" dirty="0" smtClean="0">
                <a:latin typeface="Helvetica" pitchFamily="34" charset="0"/>
              </a:rPr>
              <a:t>How are they beneficial?</a:t>
            </a:r>
          </a:p>
          <a:p>
            <a:pPr>
              <a:spcBef>
                <a:spcPts val="600"/>
              </a:spcBef>
              <a:spcAft>
                <a:spcPts val="1200"/>
              </a:spcAft>
            </a:pPr>
            <a:r>
              <a:rPr lang="en-AU" sz="2200" dirty="0" smtClean="0">
                <a:latin typeface="Helvetica" pitchFamily="34" charset="0"/>
              </a:rPr>
              <a:t>How are they created?</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descr="fe.jpg"/>
          <p:cNvPicPr/>
          <p:nvPr/>
        </p:nvPicPr>
        <p:blipFill>
          <a:blip r:embed="rId3" cstate="print"/>
          <a:stretch>
            <a:fillRect/>
          </a:stretch>
        </p:blipFill>
        <p:spPr>
          <a:xfrm>
            <a:off x="5940152" y="3933056"/>
            <a:ext cx="1724025" cy="11525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Link budget to key outcomes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Link budget to key objectives </a:t>
            </a:r>
          </a:p>
          <a:p>
            <a:pPr>
              <a:spcBef>
                <a:spcPts val="600"/>
              </a:spcBef>
              <a:spcAft>
                <a:spcPts val="1200"/>
              </a:spcAft>
              <a:buNone/>
            </a:pPr>
            <a:r>
              <a:rPr lang="en-AU" sz="2200" dirty="0" smtClean="0">
                <a:latin typeface="Helvetica" pitchFamily="34" charset="0"/>
              </a:rPr>
              <a:t>This should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Prioritising outcomes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accountability and transparency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all resource types are involved as required, such as human, physical and financial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Developing explanatory notes to supplement the allocation of resources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6" name="Picture 5" descr="1c.jpg"/>
          <p:cNvPicPr/>
          <p:nvPr/>
        </p:nvPicPr>
        <p:blipFill>
          <a:blip r:embed="rId3" cstate="print"/>
          <a:stretch>
            <a:fillRect/>
          </a:stretch>
        </p:blipFill>
        <p:spPr>
          <a:xfrm>
            <a:off x="6156176" y="1700808"/>
            <a:ext cx="1878330" cy="12096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Link budget to key outcomes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846640" cy="5256584"/>
          </a:xfrm>
        </p:spPr>
        <p:txBody>
          <a:bodyPr>
            <a:normAutofit lnSpcReduction="10000"/>
          </a:bodyPr>
          <a:lstStyle/>
          <a:p>
            <a:pPr>
              <a:spcBef>
                <a:spcPts val="600"/>
              </a:spcBef>
              <a:spcAft>
                <a:spcPts val="1200"/>
              </a:spcAft>
              <a:buNone/>
            </a:pPr>
            <a:r>
              <a:rPr lang="en-US" sz="2200" b="1" dirty="0" smtClean="0">
                <a:latin typeface="Helvetica" pitchFamily="34" charset="0"/>
              </a:rPr>
              <a:t>Types of budgets</a:t>
            </a:r>
          </a:p>
          <a:p>
            <a:pPr lvl="0">
              <a:spcBef>
                <a:spcPts val="600"/>
              </a:spcBef>
              <a:spcAft>
                <a:spcPts val="1200"/>
              </a:spcAft>
            </a:pPr>
            <a:r>
              <a:rPr lang="en-AU" sz="2200" dirty="0" smtClean="0">
                <a:latin typeface="Helvetica" pitchFamily="34" charset="0"/>
              </a:rPr>
              <a:t>Sales budgets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Labour budgets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Material budgets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Inventory budget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Overhead budgets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Capital Expenditure budgets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Budgeted Financial Performance Statement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Cash budgets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Budgeted Statement of Financial Position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7" name="Picture 6" descr="1d.jpg"/>
          <p:cNvPicPr/>
          <p:nvPr/>
        </p:nvPicPr>
        <p:blipFill>
          <a:blip r:embed="rId3" cstate="print"/>
          <a:stretch>
            <a:fillRect/>
          </a:stretch>
        </p:blipFill>
        <p:spPr>
          <a:xfrm>
            <a:off x="5868144" y="2564904"/>
            <a:ext cx="1845310" cy="12382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Link budget to key outcomes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6120680" cy="5256584"/>
          </a:xfrm>
        </p:spPr>
        <p:txBody>
          <a:bodyPr>
            <a:normAutofit lnSpcReduction="10000"/>
          </a:bodyPr>
          <a:lstStyle/>
          <a:p>
            <a:pPr>
              <a:spcBef>
                <a:spcPts val="600"/>
              </a:spcBef>
              <a:spcAft>
                <a:spcPts val="1200"/>
              </a:spcAft>
              <a:buNone/>
            </a:pPr>
            <a:r>
              <a:rPr lang="en-US" sz="2200" b="1" dirty="0" smtClean="0">
                <a:latin typeface="Helvetica" pitchFamily="34" charset="0"/>
              </a:rPr>
              <a:t>Key requirements for budgets</a:t>
            </a: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When preparing budgets it is important to identify:</a:t>
            </a:r>
          </a:p>
          <a:p>
            <a:pPr lvl="0">
              <a:spcBef>
                <a:spcPts val="600"/>
              </a:spcBef>
              <a:spcAft>
                <a:spcPts val="1200"/>
              </a:spcAft>
            </a:pPr>
            <a:r>
              <a:rPr lang="en-US" sz="2200" dirty="0" smtClean="0">
                <a:latin typeface="Helvetica" pitchFamily="34" charset="0"/>
              </a:rPr>
              <a:t>The</a:t>
            </a:r>
            <a:r>
              <a:rPr lang="en-AU" sz="2200" dirty="0" smtClean="0">
                <a:latin typeface="Helvetica" pitchFamily="34" charset="0"/>
              </a:rPr>
              <a:t> time frame</a:t>
            </a:r>
            <a:r>
              <a:rPr lang="en-US" sz="2200" dirty="0" smtClean="0">
                <a:latin typeface="Helvetica" pitchFamily="34" charset="0"/>
              </a:rPr>
              <a:t> or </a:t>
            </a:r>
            <a:r>
              <a:rPr lang="en-AU" sz="2200" dirty="0" smtClean="0">
                <a:latin typeface="Helvetica" pitchFamily="34" charset="0"/>
              </a:rPr>
              <a:t>period to which the budget applies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The budget line items to be included, including </a:t>
            </a:r>
            <a:r>
              <a:rPr lang="en-AU" sz="2200" dirty="0" smtClean="0">
                <a:latin typeface="Helvetica" pitchFamily="34" charset="0"/>
              </a:rPr>
              <a:t>what is contained in each budget line </a:t>
            </a:r>
            <a:r>
              <a:rPr lang="en-US" sz="2200" dirty="0" smtClean="0">
                <a:latin typeface="Helvetica" pitchFamily="34" charset="0"/>
              </a:rPr>
              <a:t>items</a:t>
            </a:r>
          </a:p>
          <a:p>
            <a:pPr lvl="0">
              <a:spcBef>
                <a:spcPts val="600"/>
              </a:spcBef>
              <a:spcAft>
                <a:spcPts val="1200"/>
              </a:spcAft>
            </a:pPr>
            <a:r>
              <a:rPr lang="en-US" sz="2200" dirty="0" smtClean="0">
                <a:latin typeface="Helvetica" pitchFamily="34" charset="0"/>
              </a:rPr>
              <a:t>What departments of areas of responsibility individual budget line items will be grouped towards</a:t>
            </a:r>
          </a:p>
          <a:p>
            <a:pPr lvl="0">
              <a:spcBef>
                <a:spcPts val="600"/>
              </a:spcBef>
              <a:spcAft>
                <a:spcPts val="1200"/>
              </a:spcAft>
            </a:pPr>
            <a:r>
              <a:rPr lang="en-US" sz="2200" dirty="0" smtClean="0">
                <a:latin typeface="Helvetica" pitchFamily="34" charset="0"/>
              </a:rPr>
              <a:t>B</a:t>
            </a:r>
            <a:r>
              <a:rPr lang="en-AU" sz="2200" dirty="0" smtClean="0">
                <a:latin typeface="Helvetica" pitchFamily="34" charset="0"/>
              </a:rPr>
              <a:t>udget line codes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6" name="Picture 5" descr="hf.jpg"/>
          <p:cNvPicPr>
            <a:picLocks noChangeAspect="1"/>
          </p:cNvPicPr>
          <p:nvPr/>
        </p:nvPicPr>
        <p:blipFill>
          <a:blip r:embed="rId3" cstate="print"/>
          <a:stretch>
            <a:fillRect/>
          </a:stretch>
        </p:blipFill>
        <p:spPr>
          <a:xfrm>
            <a:off x="7020272" y="3140968"/>
            <a:ext cx="1764792" cy="11795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Determine project revenue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340768"/>
            <a:ext cx="7846640" cy="5256584"/>
          </a:xfrm>
        </p:spPr>
        <p:txBody>
          <a:bodyPr>
            <a:normAutofit lnSpcReduction="10000"/>
          </a:bodyPr>
          <a:lstStyle/>
          <a:p>
            <a:pPr>
              <a:spcBef>
                <a:spcPts val="600"/>
              </a:spcBef>
              <a:spcAft>
                <a:spcPts val="1200"/>
              </a:spcAft>
              <a:buNone/>
            </a:pPr>
            <a:r>
              <a:rPr lang="en-AU" sz="2200" b="1" dirty="0" smtClean="0">
                <a:latin typeface="Helvetica" pitchFamily="34" charset="0"/>
              </a:rPr>
              <a:t>Considerations when estimating project revenue</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Aims of the project or program</a:t>
            </a:r>
          </a:p>
          <a:p>
            <a:pPr lvl="0">
              <a:spcBef>
                <a:spcPts val="600"/>
              </a:spcBef>
              <a:spcAft>
                <a:spcPts val="1200"/>
              </a:spcAft>
            </a:pPr>
            <a:r>
              <a:rPr lang="en-AU" sz="2200" dirty="0" smtClean="0">
                <a:latin typeface="Helvetica" pitchFamily="34" charset="0"/>
              </a:rPr>
              <a:t>Competition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Economy</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History</a:t>
            </a:r>
          </a:p>
          <a:p>
            <a:pPr lvl="0">
              <a:spcBef>
                <a:spcPts val="600"/>
              </a:spcBef>
              <a:spcAft>
                <a:spcPts val="1200"/>
              </a:spcAft>
            </a:pPr>
            <a:r>
              <a:rPr lang="en-US" sz="2200" dirty="0" smtClean="0">
                <a:latin typeface="Helvetica" pitchFamily="34" charset="0"/>
              </a:rPr>
              <a:t>Industry trends</a:t>
            </a:r>
          </a:p>
          <a:p>
            <a:pPr lvl="0">
              <a:spcBef>
                <a:spcPts val="600"/>
              </a:spcBef>
              <a:spcAft>
                <a:spcPts val="1200"/>
              </a:spcAft>
            </a:pPr>
            <a:r>
              <a:rPr lang="en-US" sz="2200" dirty="0" smtClean="0">
                <a:latin typeface="Helvetica" pitchFamily="34" charset="0"/>
              </a:rPr>
              <a:t>Other similar projects or programs</a:t>
            </a:r>
          </a:p>
          <a:p>
            <a:pPr lvl="0">
              <a:spcBef>
                <a:spcPts val="600"/>
              </a:spcBef>
              <a:spcAft>
                <a:spcPts val="1200"/>
              </a:spcAft>
            </a:pPr>
            <a:r>
              <a:rPr lang="en-US" sz="2200" dirty="0" smtClean="0">
                <a:latin typeface="Helvetica" pitchFamily="34" charset="0"/>
              </a:rPr>
              <a:t>Sales targets</a:t>
            </a:r>
          </a:p>
          <a:p>
            <a:pPr lvl="0">
              <a:spcBef>
                <a:spcPts val="600"/>
              </a:spcBef>
              <a:spcAft>
                <a:spcPts val="1200"/>
              </a:spcAft>
            </a:pPr>
            <a:r>
              <a:rPr lang="en-US" sz="2200" dirty="0" smtClean="0">
                <a:latin typeface="Helvetica" pitchFamily="34" charset="0"/>
              </a:rPr>
              <a:t>Key Performance Indicators</a:t>
            </a:r>
          </a:p>
          <a:p>
            <a:pPr lvl="0">
              <a:spcBef>
                <a:spcPts val="600"/>
              </a:spcBef>
              <a:spcAft>
                <a:spcPts val="1200"/>
              </a:spcAft>
            </a:pPr>
            <a:r>
              <a:rPr lang="en-US" sz="2200" dirty="0" smtClean="0">
                <a:latin typeface="Helvetica" pitchFamily="34" charset="0"/>
              </a:rPr>
              <a:t>Seasonality</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7" name="Picture 6" descr="shutterstock_131162912.jpg"/>
          <p:cNvPicPr/>
          <p:nvPr/>
        </p:nvPicPr>
        <p:blipFill>
          <a:blip r:embed="rId3" cstate="print"/>
          <a:stretch>
            <a:fillRect/>
          </a:stretch>
        </p:blipFill>
        <p:spPr>
          <a:xfrm>
            <a:off x="6156176" y="2996952"/>
            <a:ext cx="1885950" cy="12573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Determine project expenditure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24744"/>
            <a:ext cx="7846640" cy="5256584"/>
          </a:xfrm>
        </p:spPr>
        <p:txBody>
          <a:bodyPr>
            <a:noAutofit/>
          </a:bodyPr>
          <a:lstStyle/>
          <a:p>
            <a:pPr>
              <a:spcBef>
                <a:spcPts val="400"/>
              </a:spcBef>
              <a:spcAft>
                <a:spcPts val="500"/>
              </a:spcAft>
              <a:buNone/>
            </a:pPr>
            <a:r>
              <a:rPr lang="en-AU" sz="2000" b="1" dirty="0" smtClean="0">
                <a:latin typeface="Helvetica" pitchFamily="34" charset="0"/>
              </a:rPr>
              <a:t>Considerations when estimating project expenses</a:t>
            </a:r>
            <a:endParaRPr lang="en-US" sz="2000" dirty="0" smtClean="0">
              <a:latin typeface="Helvetica" pitchFamily="34" charset="0"/>
            </a:endParaRPr>
          </a:p>
          <a:p>
            <a:pPr lvl="0">
              <a:spcBef>
                <a:spcPts val="400"/>
              </a:spcBef>
              <a:spcAft>
                <a:spcPts val="500"/>
              </a:spcAft>
            </a:pPr>
            <a:r>
              <a:rPr lang="en-US" sz="2000" dirty="0" smtClean="0">
                <a:latin typeface="Helvetica" pitchFamily="34" charset="0"/>
              </a:rPr>
              <a:t>Materials </a:t>
            </a:r>
          </a:p>
          <a:p>
            <a:pPr lvl="0">
              <a:spcBef>
                <a:spcPts val="400"/>
              </a:spcBef>
              <a:spcAft>
                <a:spcPts val="500"/>
              </a:spcAft>
            </a:pPr>
            <a:r>
              <a:rPr lang="en-US" sz="2000" dirty="0" smtClean="0">
                <a:latin typeface="Helvetica" pitchFamily="34" charset="0"/>
              </a:rPr>
              <a:t>Employees</a:t>
            </a:r>
          </a:p>
          <a:p>
            <a:pPr lvl="0">
              <a:spcBef>
                <a:spcPts val="400"/>
              </a:spcBef>
              <a:spcAft>
                <a:spcPts val="500"/>
              </a:spcAft>
            </a:pPr>
            <a:r>
              <a:rPr lang="en-US" sz="2000" dirty="0" smtClean="0">
                <a:latin typeface="Helvetica" pitchFamily="34" charset="0"/>
              </a:rPr>
              <a:t>Equipment</a:t>
            </a:r>
          </a:p>
          <a:p>
            <a:pPr lvl="0">
              <a:spcBef>
                <a:spcPts val="400"/>
              </a:spcBef>
              <a:spcAft>
                <a:spcPts val="500"/>
              </a:spcAft>
            </a:pPr>
            <a:r>
              <a:rPr lang="en-AU" sz="2000" dirty="0" smtClean="0">
                <a:latin typeface="Helvetica" pitchFamily="34" charset="0"/>
              </a:rPr>
              <a:t>Contract</a:t>
            </a:r>
            <a:r>
              <a:rPr lang="en-US" sz="2000" dirty="0" smtClean="0">
                <a:latin typeface="Helvetica" pitchFamily="34" charset="0"/>
              </a:rPr>
              <a:t>ed</a:t>
            </a:r>
            <a:r>
              <a:rPr lang="en-AU" sz="2000" dirty="0" smtClean="0">
                <a:latin typeface="Helvetica" pitchFamily="34" charset="0"/>
              </a:rPr>
              <a:t> labour</a:t>
            </a:r>
            <a:endParaRPr lang="en-US" sz="2000" dirty="0" smtClean="0">
              <a:latin typeface="Helvetica" pitchFamily="34" charset="0"/>
            </a:endParaRPr>
          </a:p>
          <a:p>
            <a:pPr lvl="0">
              <a:spcBef>
                <a:spcPts val="400"/>
              </a:spcBef>
              <a:spcAft>
                <a:spcPts val="500"/>
              </a:spcAft>
            </a:pPr>
            <a:r>
              <a:rPr lang="en-AU" sz="2000" dirty="0" smtClean="0">
                <a:latin typeface="Helvetica" pitchFamily="34" charset="0"/>
              </a:rPr>
              <a:t>Compensation</a:t>
            </a:r>
            <a:endParaRPr lang="en-US" sz="2000" dirty="0" smtClean="0">
              <a:latin typeface="Helvetica" pitchFamily="34" charset="0"/>
            </a:endParaRPr>
          </a:p>
          <a:p>
            <a:pPr lvl="0">
              <a:spcBef>
                <a:spcPts val="400"/>
              </a:spcBef>
              <a:spcAft>
                <a:spcPts val="500"/>
              </a:spcAft>
            </a:pPr>
            <a:r>
              <a:rPr lang="en-AU" sz="2000" dirty="0" smtClean="0">
                <a:latin typeface="Helvetica" pitchFamily="34" charset="0"/>
              </a:rPr>
              <a:t>Products</a:t>
            </a:r>
            <a:endParaRPr lang="en-US" sz="2000" dirty="0" smtClean="0">
              <a:latin typeface="Helvetica" pitchFamily="34" charset="0"/>
            </a:endParaRPr>
          </a:p>
          <a:p>
            <a:pPr lvl="0">
              <a:spcBef>
                <a:spcPts val="400"/>
              </a:spcBef>
              <a:spcAft>
                <a:spcPts val="500"/>
              </a:spcAft>
            </a:pPr>
            <a:r>
              <a:rPr lang="en-AU" sz="2000" dirty="0" smtClean="0">
                <a:latin typeface="Helvetica" pitchFamily="34" charset="0"/>
              </a:rPr>
              <a:t>Rent</a:t>
            </a:r>
            <a:endParaRPr lang="en-US" sz="2000" dirty="0" smtClean="0">
              <a:latin typeface="Helvetica" pitchFamily="34" charset="0"/>
            </a:endParaRPr>
          </a:p>
          <a:p>
            <a:pPr lvl="0">
              <a:spcBef>
                <a:spcPts val="400"/>
              </a:spcBef>
              <a:spcAft>
                <a:spcPts val="500"/>
              </a:spcAft>
            </a:pPr>
            <a:r>
              <a:rPr lang="en-AU" sz="2000" dirty="0" smtClean="0">
                <a:latin typeface="Helvetica" pitchFamily="34" charset="0"/>
              </a:rPr>
              <a:t>Advertising</a:t>
            </a:r>
            <a:endParaRPr lang="en-US" sz="2000" dirty="0" smtClean="0">
              <a:latin typeface="Helvetica" pitchFamily="34" charset="0"/>
            </a:endParaRPr>
          </a:p>
          <a:p>
            <a:pPr lvl="0">
              <a:spcBef>
                <a:spcPts val="400"/>
              </a:spcBef>
              <a:spcAft>
                <a:spcPts val="500"/>
              </a:spcAft>
            </a:pPr>
            <a:r>
              <a:rPr lang="en-AU" sz="2000" dirty="0" smtClean="0">
                <a:latin typeface="Helvetica" pitchFamily="34" charset="0"/>
              </a:rPr>
              <a:t>Insurance</a:t>
            </a:r>
            <a:endParaRPr lang="en-US" sz="2000" dirty="0" smtClean="0">
              <a:latin typeface="Helvetica" pitchFamily="34" charset="0"/>
            </a:endParaRPr>
          </a:p>
          <a:p>
            <a:pPr lvl="0">
              <a:spcBef>
                <a:spcPts val="400"/>
              </a:spcBef>
              <a:spcAft>
                <a:spcPts val="500"/>
              </a:spcAft>
            </a:pPr>
            <a:r>
              <a:rPr lang="en-AU" sz="2000" dirty="0" smtClean="0">
                <a:latin typeface="Helvetica" pitchFamily="34" charset="0"/>
              </a:rPr>
              <a:t>Office expenses</a:t>
            </a:r>
            <a:endParaRPr lang="en-US" sz="2000" dirty="0" smtClean="0">
              <a:latin typeface="Helvetica" pitchFamily="34" charset="0"/>
            </a:endParaRPr>
          </a:p>
          <a:p>
            <a:pPr lvl="0">
              <a:spcBef>
                <a:spcPts val="400"/>
              </a:spcBef>
              <a:spcAft>
                <a:spcPts val="500"/>
              </a:spcAft>
            </a:pPr>
            <a:r>
              <a:rPr lang="en-AU" sz="2000" dirty="0" smtClean="0">
                <a:latin typeface="Helvetica" pitchFamily="34" charset="0"/>
              </a:rPr>
              <a:t>Maintenance</a:t>
            </a:r>
            <a:endParaRPr lang="en-US" sz="2000" dirty="0" smtClean="0">
              <a:latin typeface="Helvetica" pitchFamily="34" charset="0"/>
            </a:endParaRPr>
          </a:p>
          <a:p>
            <a:pPr lvl="0">
              <a:spcBef>
                <a:spcPts val="400"/>
              </a:spcBef>
              <a:spcAft>
                <a:spcPts val="500"/>
              </a:spcAft>
            </a:pPr>
            <a:r>
              <a:rPr lang="en-AU" sz="2000" dirty="0" smtClean="0">
                <a:latin typeface="Helvetica" pitchFamily="34" charset="0"/>
              </a:rPr>
              <a:t>Capital expenditures</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6" name="Picture 5" descr="shutterstock_31468954.jpg"/>
          <p:cNvPicPr/>
          <p:nvPr/>
        </p:nvPicPr>
        <p:blipFill>
          <a:blip r:embed="rId3" cstate="print"/>
          <a:stretch>
            <a:fillRect/>
          </a:stretch>
        </p:blipFill>
        <p:spPr>
          <a:xfrm>
            <a:off x="5508104" y="2564904"/>
            <a:ext cx="2107565" cy="14097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Determine project expenditure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128792" cy="5256584"/>
          </a:xfrm>
        </p:spPr>
        <p:txBody>
          <a:bodyPr>
            <a:noAutofit/>
          </a:bodyPr>
          <a:lstStyle/>
          <a:p>
            <a:pPr>
              <a:spcBef>
                <a:spcPts val="600"/>
              </a:spcBef>
              <a:spcAft>
                <a:spcPts val="1200"/>
              </a:spcAft>
              <a:buNone/>
            </a:pPr>
            <a:r>
              <a:rPr lang="en-AU" sz="2200" b="1" dirty="0" smtClean="0">
                <a:latin typeface="Helvetica" pitchFamily="34" charset="0"/>
              </a:rPr>
              <a:t>Activities in estimating project expenses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The activities involved in estimating costs can include:</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Identifying each possible cost</a:t>
            </a:r>
          </a:p>
          <a:p>
            <a:pPr lvl="0">
              <a:spcBef>
                <a:spcPts val="600"/>
              </a:spcBef>
              <a:spcAft>
                <a:spcPts val="1200"/>
              </a:spcAft>
            </a:pPr>
            <a:r>
              <a:rPr lang="en-US" sz="2200" dirty="0" smtClean="0">
                <a:latin typeface="Helvetica" pitchFamily="34" charset="0"/>
              </a:rPr>
              <a:t>Calculating projected volumes or items </a:t>
            </a:r>
            <a:br>
              <a:rPr lang="en-US" sz="2200" dirty="0" smtClean="0">
                <a:latin typeface="Helvetica" pitchFamily="34" charset="0"/>
              </a:rPr>
            </a:br>
            <a:r>
              <a:rPr lang="en-US" sz="2200" dirty="0" smtClean="0">
                <a:latin typeface="Helvetica" pitchFamily="34" charset="0"/>
              </a:rPr>
              <a:t>required</a:t>
            </a:r>
          </a:p>
          <a:p>
            <a:pPr lvl="0">
              <a:spcBef>
                <a:spcPts val="600"/>
              </a:spcBef>
              <a:spcAft>
                <a:spcPts val="1200"/>
              </a:spcAft>
            </a:pPr>
            <a:r>
              <a:rPr lang="en-US" sz="2200" dirty="0" smtClean="0">
                <a:latin typeface="Helvetica" pitchFamily="34" charset="0"/>
              </a:rPr>
              <a:t>Factoring contingency costs </a:t>
            </a:r>
          </a:p>
          <a:p>
            <a:pPr lvl="0">
              <a:spcBef>
                <a:spcPts val="600"/>
              </a:spcBef>
              <a:spcAft>
                <a:spcPts val="1200"/>
              </a:spcAft>
            </a:pPr>
            <a:r>
              <a:rPr lang="en-AU" sz="2200" dirty="0" smtClean="0">
                <a:latin typeface="Helvetica" pitchFamily="34" charset="0"/>
              </a:rPr>
              <a:t>Obtaining quotations</a:t>
            </a:r>
            <a:r>
              <a:rPr lang="en-US" sz="2200" dirty="0" smtClean="0">
                <a:latin typeface="Helvetica" pitchFamily="34" charset="0"/>
              </a:rPr>
              <a:t>, </a:t>
            </a:r>
            <a:r>
              <a:rPr lang="en-AU" sz="2200" dirty="0" smtClean="0">
                <a:latin typeface="Helvetica" pitchFamily="34" charset="0"/>
              </a:rPr>
              <a:t>price lists</a:t>
            </a:r>
            <a:r>
              <a:rPr lang="en-US" sz="2200" dirty="0" smtClean="0">
                <a:latin typeface="Helvetica" pitchFamily="34" charset="0"/>
              </a:rPr>
              <a:t> and </a:t>
            </a:r>
            <a:r>
              <a:rPr lang="en-AU" sz="2200" dirty="0" smtClean="0">
                <a:latin typeface="Helvetica" pitchFamily="34" charset="0"/>
              </a:rPr>
              <a:t>catalogues </a:t>
            </a:r>
            <a:br>
              <a:rPr lang="en-AU" sz="2200" dirty="0" smtClean="0">
                <a:latin typeface="Helvetica" pitchFamily="34" charset="0"/>
              </a:rPr>
            </a:br>
            <a:r>
              <a:rPr lang="en-AU" sz="2200" dirty="0" smtClean="0">
                <a:latin typeface="Helvetica" pitchFamily="34" charset="0"/>
              </a:rPr>
              <a:t>from potential suppliers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Negotiating prices with suppliers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7" name="Picture 6" descr="39.jpg"/>
          <p:cNvPicPr>
            <a:picLocks noChangeAspect="1"/>
          </p:cNvPicPr>
          <p:nvPr/>
        </p:nvPicPr>
        <p:blipFill>
          <a:blip r:embed="rId3" cstate="print"/>
          <a:stretch>
            <a:fillRect/>
          </a:stretch>
        </p:blipFill>
        <p:spPr>
          <a:xfrm>
            <a:off x="6876256" y="2708920"/>
            <a:ext cx="1943421" cy="129692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Determine budget controls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Autofit/>
          </a:bodyPr>
          <a:lstStyle/>
          <a:p>
            <a:pPr>
              <a:spcBef>
                <a:spcPts val="600"/>
              </a:spcBef>
              <a:spcAft>
                <a:spcPts val="1200"/>
              </a:spcAft>
              <a:buNone/>
            </a:pPr>
            <a:r>
              <a:rPr lang="en-US" sz="2200" b="1" dirty="0" smtClean="0">
                <a:latin typeface="Helvetica" pitchFamily="34" charset="0"/>
              </a:rPr>
              <a:t>Budget controls</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What are budget controls you can implement to control:</a:t>
            </a:r>
          </a:p>
          <a:p>
            <a:pPr lvl="0">
              <a:spcBef>
                <a:spcPts val="600"/>
              </a:spcBef>
              <a:spcAft>
                <a:spcPts val="1200"/>
              </a:spcAft>
            </a:pPr>
            <a:r>
              <a:rPr lang="en-US" sz="2200" dirty="0" smtClean="0">
                <a:latin typeface="Helvetica" pitchFamily="34" charset="0"/>
              </a:rPr>
              <a:t>Revenue?</a:t>
            </a:r>
          </a:p>
          <a:p>
            <a:pPr lvl="0">
              <a:spcBef>
                <a:spcPts val="600"/>
              </a:spcBef>
              <a:spcAft>
                <a:spcPts val="1200"/>
              </a:spcAft>
            </a:pPr>
            <a:r>
              <a:rPr lang="en-US" sz="2200" dirty="0" smtClean="0">
                <a:latin typeface="Helvetica" pitchFamily="34" charset="0"/>
              </a:rPr>
              <a:t>Expenses?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6" name="Picture 5" descr="A8 shutterstock_149513465.jpg"/>
          <p:cNvPicPr/>
          <p:nvPr/>
        </p:nvPicPr>
        <p:blipFill>
          <a:blip r:embed="rId3" cstate="print"/>
          <a:stretch>
            <a:fillRect/>
          </a:stretch>
        </p:blipFill>
        <p:spPr>
          <a:xfrm>
            <a:off x="5220072" y="2924944"/>
            <a:ext cx="2283887" cy="153084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Determine budget controls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Autofit/>
          </a:bodyPr>
          <a:lstStyle/>
          <a:p>
            <a:pPr>
              <a:spcBef>
                <a:spcPts val="600"/>
              </a:spcBef>
              <a:spcAft>
                <a:spcPts val="1200"/>
              </a:spcAft>
              <a:buNone/>
            </a:pPr>
            <a:r>
              <a:rPr lang="en-US" sz="2200" b="1" dirty="0" smtClean="0">
                <a:latin typeface="Helvetica" pitchFamily="34" charset="0"/>
              </a:rPr>
              <a:t>Monitor budgets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Why is it important to monitor budgets?</a:t>
            </a:r>
          </a:p>
          <a:p>
            <a:pPr>
              <a:spcBef>
                <a:spcPts val="600"/>
              </a:spcBef>
              <a:spcAft>
                <a:spcPts val="1200"/>
              </a:spcAft>
            </a:pPr>
            <a:r>
              <a:rPr lang="en-US" sz="2200" dirty="0" smtClean="0">
                <a:latin typeface="Helvetica" pitchFamily="34" charset="0"/>
              </a:rPr>
              <a:t>How can you monitor budgets?</a:t>
            </a:r>
          </a:p>
          <a:p>
            <a:pPr>
              <a:spcBef>
                <a:spcPts val="600"/>
              </a:spcBef>
              <a:spcAft>
                <a:spcPts val="1200"/>
              </a:spcAft>
            </a:pPr>
            <a:r>
              <a:rPr lang="en-US" sz="2200" dirty="0" smtClean="0">
                <a:latin typeface="Helvetica" pitchFamily="34" charset="0"/>
              </a:rPr>
              <a:t>What aspects of a budget would be your focus?</a:t>
            </a:r>
          </a:p>
          <a:p>
            <a:pPr>
              <a:spcBef>
                <a:spcPts val="600"/>
              </a:spcBef>
              <a:spcAft>
                <a:spcPts val="1200"/>
              </a:spcAft>
            </a:pPr>
            <a:endParaRPr lang="en-US"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5</a:t>
            </a: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7" name="Picture 6" descr="shutterstock_165735539.jpg"/>
          <p:cNvPicPr/>
          <p:nvPr/>
        </p:nvPicPr>
        <p:blipFill>
          <a:blip r:embed="rId3" cstate="print"/>
          <a:stretch>
            <a:fillRect/>
          </a:stretch>
        </p:blipFill>
        <p:spPr>
          <a:xfrm>
            <a:off x="4788024" y="4005064"/>
            <a:ext cx="2036445" cy="14001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US" sz="3600" b="1" dirty="0" smtClean="0">
                <a:solidFill>
                  <a:srgbClr val="FF6600"/>
                </a:solidFill>
                <a:latin typeface="Helvetica" pitchFamily="34" charset="0"/>
              </a:rPr>
              <a:t>Establish monitoring arrangements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Autofit/>
          </a:bodyPr>
          <a:lstStyle/>
          <a:p>
            <a:pPr>
              <a:spcBef>
                <a:spcPts val="600"/>
              </a:spcBef>
              <a:spcAft>
                <a:spcPts val="1200"/>
              </a:spcAft>
              <a:buNone/>
            </a:pPr>
            <a:r>
              <a:rPr lang="en-US" sz="2200" b="1" dirty="0" smtClean="0">
                <a:latin typeface="Helvetica" pitchFamily="34" charset="0"/>
              </a:rPr>
              <a:t>Importance of monitoring projects and programs</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All project activities must be monitored to find out:</a:t>
            </a:r>
          </a:p>
          <a:p>
            <a:pPr lvl="0">
              <a:spcBef>
                <a:spcPts val="600"/>
              </a:spcBef>
              <a:spcAft>
                <a:spcPts val="1200"/>
              </a:spcAft>
            </a:pPr>
            <a:r>
              <a:rPr lang="en-US" sz="2200" dirty="0" smtClean="0">
                <a:latin typeface="Helvetica" pitchFamily="34" charset="0"/>
              </a:rPr>
              <a:t>If they reflect the project objectives</a:t>
            </a:r>
          </a:p>
          <a:p>
            <a:pPr lvl="0">
              <a:spcBef>
                <a:spcPts val="600"/>
              </a:spcBef>
              <a:spcAft>
                <a:spcPts val="1200"/>
              </a:spcAft>
            </a:pPr>
            <a:r>
              <a:rPr lang="en-US" sz="2200" dirty="0" smtClean="0">
                <a:latin typeface="Helvetica" pitchFamily="34" charset="0"/>
              </a:rPr>
              <a:t>What is being done correctly</a:t>
            </a:r>
          </a:p>
          <a:p>
            <a:pPr lvl="0">
              <a:spcBef>
                <a:spcPts val="600"/>
              </a:spcBef>
              <a:spcAft>
                <a:spcPts val="1200"/>
              </a:spcAft>
            </a:pPr>
            <a:r>
              <a:rPr lang="en-US" sz="2200" dirty="0" smtClean="0">
                <a:latin typeface="Helvetica" pitchFamily="34" charset="0"/>
              </a:rPr>
              <a:t>Are in line with time and budget requirements</a:t>
            </a:r>
          </a:p>
          <a:p>
            <a:pPr lvl="0">
              <a:spcBef>
                <a:spcPts val="600"/>
              </a:spcBef>
              <a:spcAft>
                <a:spcPts val="1200"/>
              </a:spcAft>
            </a:pPr>
            <a:r>
              <a:rPr lang="en-US" sz="2200" dirty="0" smtClean="0">
                <a:latin typeface="Helvetica" pitchFamily="34" charset="0"/>
              </a:rPr>
              <a:t>What needs improvement, by identifying                             causes and remedy</a:t>
            </a: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6" name="Picture 5" descr="A18 shutterstock_181389116.jpg"/>
          <p:cNvPicPr/>
          <p:nvPr/>
        </p:nvPicPr>
        <p:blipFill>
          <a:blip r:embed="rId3" cstate="print"/>
          <a:stretch>
            <a:fillRect/>
          </a:stretch>
        </p:blipFill>
        <p:spPr>
          <a:xfrm>
            <a:off x="7524328" y="2492896"/>
            <a:ext cx="1370072" cy="176326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US" sz="3600" b="1" dirty="0" smtClean="0">
                <a:solidFill>
                  <a:srgbClr val="FF6600"/>
                </a:solidFill>
                <a:latin typeface="Helvetica" pitchFamily="34" charset="0"/>
              </a:rPr>
              <a:t>Establish monitoring arrangements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Autofit/>
          </a:bodyPr>
          <a:lstStyle/>
          <a:p>
            <a:pPr>
              <a:spcBef>
                <a:spcPts val="600"/>
              </a:spcBef>
              <a:spcAft>
                <a:spcPts val="600"/>
              </a:spcAft>
              <a:buNone/>
            </a:pPr>
            <a:r>
              <a:rPr lang="en-US" sz="2200" b="1" dirty="0" smtClean="0">
                <a:latin typeface="Helvetica" pitchFamily="34" charset="0"/>
              </a:rPr>
              <a:t>Establish monitoring and reporting arrangements</a:t>
            </a:r>
            <a:endParaRPr lang="en-US" sz="2200" dirty="0" smtClean="0">
              <a:latin typeface="Helvetica" pitchFamily="34" charset="0"/>
            </a:endParaRPr>
          </a:p>
          <a:p>
            <a:pPr marL="0">
              <a:spcBef>
                <a:spcPts val="600"/>
              </a:spcBef>
              <a:spcAft>
                <a:spcPts val="600"/>
              </a:spcAft>
              <a:buNone/>
            </a:pPr>
            <a:r>
              <a:rPr lang="en-AU" sz="2200" dirty="0" smtClean="0">
                <a:latin typeface="Helvetica" pitchFamily="34" charset="0"/>
              </a:rPr>
              <a:t>Whilst each project is unique, common monitoring and reporting arrangements may include: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Financial management arrangements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Record keeping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Reporting framework and schedule, including </a:t>
            </a:r>
            <a:br>
              <a:rPr lang="en-AU" sz="2200" dirty="0" smtClean="0">
                <a:latin typeface="Helvetica" pitchFamily="34" charset="0"/>
              </a:rPr>
            </a:br>
            <a:r>
              <a:rPr lang="en-AU" sz="2200" dirty="0" smtClean="0">
                <a:latin typeface="Helvetica" pitchFamily="34" charset="0"/>
              </a:rPr>
              <a:t>team reports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Project management software and                                  other tools, such as Gantt and bar </a:t>
            </a:r>
            <a:br>
              <a:rPr lang="en-AU" sz="2200" dirty="0" smtClean="0">
                <a:latin typeface="Helvetica" pitchFamily="34" charset="0"/>
              </a:rPr>
            </a:br>
            <a:r>
              <a:rPr lang="en-AU" sz="2200" dirty="0" smtClean="0">
                <a:latin typeface="Helvetica" pitchFamily="34" charset="0"/>
              </a:rPr>
              <a:t>charts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Program Evaluation and Review Technique (PERT)</a:t>
            </a:r>
            <a:endParaRPr lang="en-US" sz="2200" dirty="0" smtClean="0">
              <a:latin typeface="Helvetica" pitchFamily="34" charset="0"/>
            </a:endParaRPr>
          </a:p>
          <a:p>
            <a:pPr>
              <a:spcBef>
                <a:spcPts val="600"/>
              </a:spcBef>
              <a:spcAft>
                <a:spcPts val="600"/>
              </a:spcAft>
            </a:pPr>
            <a:endParaRPr lang="en-US" sz="2200" dirty="0" smtClean="0">
              <a:latin typeface="Helvetica" pitchFamily="34" charset="0"/>
            </a:endParaRPr>
          </a:p>
          <a:p>
            <a:pPr>
              <a:spcBef>
                <a:spcPts val="600"/>
              </a:spcBef>
              <a:spcAft>
                <a:spcPts val="6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7" name="Picture 6" descr="Gantt.png"/>
          <p:cNvPicPr/>
          <p:nvPr/>
        </p:nvPicPr>
        <p:blipFill>
          <a:blip r:embed="rId3" cstate="print"/>
          <a:stretch>
            <a:fillRect/>
          </a:stretch>
        </p:blipFill>
        <p:spPr>
          <a:xfrm>
            <a:off x="6732240" y="4365104"/>
            <a:ext cx="2149475" cy="10382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US" sz="3600" b="1" dirty="0" smtClean="0">
                <a:solidFill>
                  <a:srgbClr val="FF6600"/>
                </a:solidFill>
                <a:latin typeface="Helvetica" pitchFamily="34" charset="0"/>
              </a:rPr>
              <a:t>Establish monitoring arrangements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Autofit/>
          </a:bodyPr>
          <a:lstStyle/>
          <a:p>
            <a:pPr>
              <a:spcBef>
                <a:spcPts val="600"/>
              </a:spcBef>
              <a:spcAft>
                <a:spcPts val="1200"/>
              </a:spcAft>
              <a:buNone/>
            </a:pPr>
            <a:r>
              <a:rPr lang="en-US" sz="2200" b="1" dirty="0" smtClean="0">
                <a:latin typeface="Helvetica" pitchFamily="34" charset="0"/>
              </a:rPr>
              <a:t>Establish monitoring and reporting arrangements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Critical Path Method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 schedule control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Spreadsheets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Charts including project control chart, control point chart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Milestone chart and budget control chart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Defining report requirements</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ACTIVITIES 6&amp;7</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6" name="Picture 5" descr="A13 shutterstock_159583589.jpg"/>
          <p:cNvPicPr/>
          <p:nvPr/>
        </p:nvPicPr>
        <p:blipFill>
          <a:blip r:embed="rId3" cstate="print"/>
          <a:stretch>
            <a:fillRect/>
          </a:stretch>
        </p:blipFill>
        <p:spPr>
          <a:xfrm>
            <a:off x="6732240" y="4365104"/>
            <a:ext cx="2019300" cy="13525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US" sz="3600" b="1" dirty="0" smtClean="0">
                <a:solidFill>
                  <a:srgbClr val="FF6600"/>
                </a:solidFill>
                <a:latin typeface="Helvetica" pitchFamily="34" charset="0"/>
              </a:rPr>
              <a:t>Establish monitoring arrangements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Autofit/>
          </a:bodyPr>
          <a:lstStyle/>
          <a:p>
            <a:pPr>
              <a:spcBef>
                <a:spcPts val="600"/>
              </a:spcBef>
              <a:spcAft>
                <a:spcPts val="1200"/>
              </a:spcAft>
              <a:buNone/>
            </a:pPr>
            <a:r>
              <a:rPr lang="en-US" sz="2200" b="1" dirty="0" smtClean="0">
                <a:latin typeface="Helvetica" pitchFamily="34" charset="0"/>
              </a:rPr>
              <a:t>Importance of monitoring projects and programs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Why is it important to identify monitoring criteria?</a:t>
            </a:r>
          </a:p>
          <a:p>
            <a:pPr>
              <a:spcBef>
                <a:spcPts val="600"/>
              </a:spcBef>
              <a:spcAft>
                <a:spcPts val="1200"/>
              </a:spcAft>
            </a:pPr>
            <a:r>
              <a:rPr lang="en-AU" sz="2200" dirty="0" smtClean="0">
                <a:latin typeface="Helvetica" pitchFamily="34" charset="0"/>
              </a:rPr>
              <a:t>What are the aims of monitoring project activities?</a:t>
            </a:r>
          </a:p>
          <a:p>
            <a:pPr>
              <a:spcBef>
                <a:spcPts val="600"/>
              </a:spcBef>
              <a:spcAft>
                <a:spcPts val="1200"/>
              </a:spcAft>
            </a:pPr>
            <a:r>
              <a:rPr lang="en-AU" sz="2200" dirty="0" smtClean="0">
                <a:latin typeface="Helvetica" pitchFamily="34" charset="0"/>
              </a:rPr>
              <a:t>What areas of a project can you evaluate?</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US" sz="2200" b="1" dirty="0" smtClean="0">
                <a:solidFill>
                  <a:srgbClr val="FF6600"/>
                </a:solidFill>
                <a:latin typeface="Helvetica" pitchFamily="34" charset="0"/>
              </a:rPr>
              <a:t>COMPLETE ACTIVITY 8</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7" name="Picture 6" descr="W420_prfitloss_shutterstock_161096432.jpg"/>
          <p:cNvPicPr/>
          <p:nvPr/>
        </p:nvPicPr>
        <p:blipFill>
          <a:blip r:embed="rId3" cstate="print"/>
          <a:stretch>
            <a:fillRect/>
          </a:stretch>
        </p:blipFill>
        <p:spPr>
          <a:xfrm>
            <a:off x="5076056" y="3933056"/>
            <a:ext cx="2160240" cy="144016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US" sz="3600" b="1" dirty="0" smtClean="0">
                <a:solidFill>
                  <a:srgbClr val="FF6600"/>
                </a:solidFill>
                <a:latin typeface="Helvetica" pitchFamily="34" charset="0"/>
              </a:rPr>
              <a:t>Establish reporting arrangements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Autofit/>
          </a:bodyPr>
          <a:lstStyle/>
          <a:p>
            <a:pPr>
              <a:spcBef>
                <a:spcPts val="600"/>
              </a:spcBef>
              <a:spcAft>
                <a:spcPts val="900"/>
              </a:spcAft>
              <a:buNone/>
            </a:pPr>
            <a:r>
              <a:rPr lang="en-AU" sz="2100" b="1" dirty="0" smtClean="0">
                <a:latin typeface="Helvetica" pitchFamily="34" charset="0"/>
              </a:rPr>
              <a:t>Decision to be taken about reports</a:t>
            </a:r>
            <a:endParaRPr lang="en-US" sz="2100" dirty="0" smtClean="0">
              <a:latin typeface="Helvetica" pitchFamily="34" charset="0"/>
            </a:endParaRPr>
          </a:p>
          <a:p>
            <a:pPr lvl="0">
              <a:spcBef>
                <a:spcPts val="600"/>
              </a:spcBef>
              <a:spcAft>
                <a:spcPts val="900"/>
              </a:spcAft>
            </a:pPr>
            <a:r>
              <a:rPr lang="en-US" sz="2100" dirty="0" smtClean="0">
                <a:latin typeface="Helvetica" pitchFamily="34" charset="0"/>
              </a:rPr>
              <a:t>The types of reports to be prepared</a:t>
            </a:r>
          </a:p>
          <a:p>
            <a:pPr lvl="0">
              <a:spcBef>
                <a:spcPts val="600"/>
              </a:spcBef>
              <a:spcAft>
                <a:spcPts val="900"/>
              </a:spcAft>
            </a:pPr>
            <a:r>
              <a:rPr lang="en-US" sz="2100" dirty="0" smtClean="0">
                <a:latin typeface="Helvetica" pitchFamily="34" charset="0"/>
              </a:rPr>
              <a:t>What information is to be included in reports</a:t>
            </a:r>
          </a:p>
          <a:p>
            <a:pPr lvl="0">
              <a:spcBef>
                <a:spcPts val="600"/>
              </a:spcBef>
              <a:spcAft>
                <a:spcPts val="900"/>
              </a:spcAft>
            </a:pPr>
            <a:r>
              <a:rPr lang="en-US" sz="2100" dirty="0" smtClean="0">
                <a:latin typeface="Helvetica" pitchFamily="34" charset="0"/>
              </a:rPr>
              <a:t>Who is to prepare reports</a:t>
            </a:r>
          </a:p>
          <a:p>
            <a:pPr lvl="0">
              <a:spcBef>
                <a:spcPts val="600"/>
              </a:spcBef>
              <a:spcAft>
                <a:spcPts val="900"/>
              </a:spcAft>
            </a:pPr>
            <a:r>
              <a:rPr lang="en-AU" sz="2100" dirty="0" smtClean="0">
                <a:latin typeface="Helvetica" pitchFamily="34" charset="0"/>
              </a:rPr>
              <a:t>The frequency with which reports are to be </a:t>
            </a:r>
            <a:br>
              <a:rPr lang="en-AU" sz="2100" dirty="0" smtClean="0">
                <a:latin typeface="Helvetica" pitchFamily="34" charset="0"/>
              </a:rPr>
            </a:br>
            <a:r>
              <a:rPr lang="en-AU" sz="2100" dirty="0" smtClean="0">
                <a:latin typeface="Helvetica" pitchFamily="34" charset="0"/>
              </a:rPr>
              <a:t>generated and disseminated </a:t>
            </a:r>
            <a:endParaRPr lang="en-US" sz="2100" dirty="0" smtClean="0">
              <a:latin typeface="Helvetica" pitchFamily="34" charset="0"/>
            </a:endParaRPr>
          </a:p>
          <a:p>
            <a:pPr lvl="0">
              <a:spcBef>
                <a:spcPts val="600"/>
              </a:spcBef>
              <a:spcAft>
                <a:spcPts val="900"/>
              </a:spcAft>
            </a:pPr>
            <a:r>
              <a:rPr lang="en-AU" sz="2100" dirty="0" smtClean="0">
                <a:latin typeface="Helvetica" pitchFamily="34" charset="0"/>
              </a:rPr>
              <a:t>The distribution list of who will receive these </a:t>
            </a:r>
            <a:br>
              <a:rPr lang="en-AU" sz="2100" dirty="0" smtClean="0">
                <a:latin typeface="Helvetica" pitchFamily="34" charset="0"/>
              </a:rPr>
            </a:br>
            <a:r>
              <a:rPr lang="en-AU" sz="2100" dirty="0" smtClean="0">
                <a:latin typeface="Helvetica" pitchFamily="34" charset="0"/>
              </a:rPr>
              <a:t>reports </a:t>
            </a:r>
            <a:endParaRPr lang="en-US" sz="2100" dirty="0" smtClean="0">
              <a:latin typeface="Helvetica" pitchFamily="34" charset="0"/>
            </a:endParaRPr>
          </a:p>
          <a:p>
            <a:pPr lvl="0">
              <a:spcBef>
                <a:spcPts val="600"/>
              </a:spcBef>
              <a:spcAft>
                <a:spcPts val="900"/>
              </a:spcAft>
            </a:pPr>
            <a:r>
              <a:rPr lang="en-AU" sz="2100" dirty="0" smtClean="0">
                <a:latin typeface="Helvetica" pitchFamily="34" charset="0"/>
              </a:rPr>
              <a:t>The method that will be use to disseminate                                  the reports</a:t>
            </a:r>
          </a:p>
          <a:p>
            <a:pPr>
              <a:spcBef>
                <a:spcPts val="600"/>
              </a:spcBef>
              <a:spcAft>
                <a:spcPts val="900"/>
              </a:spcAft>
              <a:buNone/>
            </a:pPr>
            <a:r>
              <a:rPr lang="en-US" sz="2100" b="1" dirty="0" smtClean="0">
                <a:solidFill>
                  <a:srgbClr val="FF6600"/>
                </a:solidFill>
                <a:latin typeface="Helvetica" pitchFamily="34" charset="0"/>
              </a:rPr>
              <a:t>COMPLETE ACTIVITY 9</a:t>
            </a:r>
            <a:endParaRPr lang="en-US" sz="2100" dirty="0" smtClean="0">
              <a:latin typeface="Helvetica" pitchFamily="34" charset="0"/>
            </a:endParaRPr>
          </a:p>
          <a:p>
            <a:pPr>
              <a:spcBef>
                <a:spcPts val="600"/>
              </a:spcBef>
              <a:spcAft>
                <a:spcPts val="1200"/>
              </a:spcAft>
              <a:buNone/>
            </a:pP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6" name="Picture 5" descr="shutterstock_141853249.jpg"/>
          <p:cNvPicPr/>
          <p:nvPr/>
        </p:nvPicPr>
        <p:blipFill>
          <a:blip r:embed="rId3" cstate="print"/>
          <a:stretch>
            <a:fillRect/>
          </a:stretch>
        </p:blipFill>
        <p:spPr>
          <a:xfrm>
            <a:off x="6876256" y="2924944"/>
            <a:ext cx="2032000" cy="13525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Allocate project resources</a:t>
            </a:r>
          </a:p>
        </p:txBody>
      </p:sp>
      <p:sp>
        <p:nvSpPr>
          <p:cNvPr id="3" name="Content Placeholder 2"/>
          <p:cNvSpPr>
            <a:spLocks noGrp="1"/>
          </p:cNvSpPr>
          <p:nvPr>
            <p:ph idx="1"/>
          </p:nvPr>
        </p:nvSpPr>
        <p:spPr>
          <a:xfrm>
            <a:off x="560784" y="1484784"/>
            <a:ext cx="7467600" cy="4896544"/>
          </a:xfrm>
        </p:spPr>
        <p:txBody>
          <a:bodyPr>
            <a:normAutofit/>
          </a:bodyPr>
          <a:lstStyle/>
          <a:p>
            <a:pPr marL="0">
              <a:spcBef>
                <a:spcPts val="600"/>
              </a:spcBef>
              <a:spcAft>
                <a:spcPts val="1200"/>
              </a:spcAft>
              <a:buNone/>
            </a:pPr>
            <a:r>
              <a:rPr lang="en-AU" sz="2200" b="1" dirty="0" smtClean="0">
                <a:latin typeface="Helvetica" pitchFamily="34" charset="0"/>
              </a:rPr>
              <a:t>Importance of identifying capabilities and resources</a:t>
            </a:r>
          </a:p>
          <a:p>
            <a:pPr marL="0">
              <a:spcBef>
                <a:spcPts val="600"/>
              </a:spcBef>
              <a:spcAft>
                <a:spcPts val="1200"/>
              </a:spcAft>
              <a:buNone/>
            </a:pPr>
            <a:r>
              <a:rPr lang="en-AU" sz="2200" dirty="0" smtClean="0">
                <a:latin typeface="Helvetica" pitchFamily="34" charset="0"/>
              </a:rPr>
              <a:t>The key aspects of achieving project or program success is through the use of capabilities and resources.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it is important to review the 'end results' as identified in previous sections, it is important to identify the capabilities and resources used in successfully undertaking projects or programs.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are capabilities?</a:t>
            </a:r>
          </a:p>
          <a:p>
            <a:pPr>
              <a:spcBef>
                <a:spcPts val="600"/>
              </a:spcBef>
              <a:spcAft>
                <a:spcPts val="1200"/>
              </a:spcAft>
            </a:pPr>
            <a:r>
              <a:rPr lang="en-AU" sz="2200" dirty="0" smtClean="0">
                <a:latin typeface="Helvetica" pitchFamily="34" charset="0"/>
              </a:rPr>
              <a:t>What are resources?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7" name="Picture 6" descr="shutterstock_118921213.jpg"/>
          <p:cNvPicPr>
            <a:picLocks noChangeAspect="1"/>
          </p:cNvPicPr>
          <p:nvPr/>
        </p:nvPicPr>
        <p:blipFill>
          <a:blip r:embed="rId3" cstate="print"/>
          <a:stretch>
            <a:fillRect/>
          </a:stretch>
        </p:blipFill>
        <p:spPr>
          <a:xfrm>
            <a:off x="6300192" y="4293096"/>
            <a:ext cx="1883608" cy="1256367"/>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Allocate project resources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100" b="1" dirty="0" smtClean="0">
                <a:latin typeface="Helvetica" pitchFamily="34" charset="0"/>
              </a:rPr>
              <a:t>Activities associated with allocating resources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Establishing budgets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Establishing scopes of authority and discretionary powers relating to resources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Defining systems and procedures to guide the use and application of resources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Prioritising operational activities </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Scheduling tasks and the overall                                   workload for the program/project</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Breaking tasks into sub-tasks </a:t>
            </a: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6" name="Picture 5" descr="W556_man_holding_file_55609777 NH.jpg"/>
          <p:cNvPicPr/>
          <p:nvPr/>
        </p:nvPicPr>
        <p:blipFill>
          <a:blip r:embed="rId3" cstate="print"/>
          <a:stretch>
            <a:fillRect/>
          </a:stretch>
        </p:blipFill>
        <p:spPr>
          <a:xfrm>
            <a:off x="6156176" y="4437112"/>
            <a:ext cx="2106295" cy="1400175"/>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Allocate project resources</a:t>
            </a:r>
          </a:p>
        </p:txBody>
      </p:sp>
      <p:sp>
        <p:nvSpPr>
          <p:cNvPr id="3" name="Content Placeholder 2"/>
          <p:cNvSpPr>
            <a:spLocks noGrp="1"/>
          </p:cNvSpPr>
          <p:nvPr>
            <p:ph idx="1"/>
          </p:nvPr>
        </p:nvSpPr>
        <p:spPr>
          <a:xfrm>
            <a:off x="539552" y="1484784"/>
            <a:ext cx="7467600" cy="4896544"/>
          </a:xfrm>
        </p:spPr>
        <p:txBody>
          <a:bodyPr>
            <a:normAutofit/>
          </a:bodyPr>
          <a:lstStyle/>
          <a:p>
            <a:pPr>
              <a:spcBef>
                <a:spcPts val="600"/>
              </a:spcBef>
              <a:spcAft>
                <a:spcPts val="1200"/>
              </a:spcAft>
              <a:buNone/>
            </a:pPr>
            <a:r>
              <a:rPr lang="en-AU" sz="2100" b="1" dirty="0" smtClean="0">
                <a:latin typeface="Helvetica" pitchFamily="34" charset="0"/>
              </a:rPr>
              <a:t>Activities associated with allocating resources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Arranging tasks into groups, where applicable</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Facilitating team involvement in task and resources allocations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Allocating responsibilities to align with resources provided</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Delegating tasks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Imposing constraints and limitations on                         resource availability and usage</a:t>
            </a:r>
            <a:endParaRPr lang="en-US" sz="2100" dirty="0" smtClean="0">
              <a:latin typeface="Helvetica" pitchFamily="34" charset="0"/>
            </a:endParaRPr>
          </a:p>
          <a:p>
            <a:pPr>
              <a:spcBef>
                <a:spcPts val="600"/>
              </a:spcBef>
              <a:spcAft>
                <a:spcPts val="1200"/>
              </a:spcAft>
            </a:pPr>
            <a:r>
              <a:rPr lang="en-AU" sz="2100" dirty="0" smtClean="0">
                <a:latin typeface="Helvetica" pitchFamily="34" charset="0"/>
              </a:rPr>
              <a:t>Establishing line/chain of command protocols</a:t>
            </a: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7" name="Picture 6" descr="W424_resources_shutterstock_161870750.jpg"/>
          <p:cNvPicPr/>
          <p:nvPr/>
        </p:nvPicPr>
        <p:blipFill>
          <a:blip r:embed="rId3" cstate="print"/>
          <a:stretch>
            <a:fillRect/>
          </a:stretch>
        </p:blipFill>
        <p:spPr>
          <a:xfrm>
            <a:off x="6516216" y="4221088"/>
            <a:ext cx="1638300" cy="1095375"/>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Allocate project resources</a:t>
            </a:r>
          </a:p>
        </p:txBody>
      </p:sp>
      <p:sp>
        <p:nvSpPr>
          <p:cNvPr id="3" name="Content Placeholder 2"/>
          <p:cNvSpPr>
            <a:spLocks noGrp="1"/>
          </p:cNvSpPr>
          <p:nvPr>
            <p:ph idx="1"/>
          </p:nvPr>
        </p:nvSpPr>
        <p:spPr>
          <a:xfrm>
            <a:off x="611560" y="1556792"/>
            <a:ext cx="7467600" cy="5301208"/>
          </a:xfrm>
        </p:spPr>
        <p:txBody>
          <a:bodyPr>
            <a:normAutofit lnSpcReduction="10000"/>
          </a:bodyPr>
          <a:lstStyle/>
          <a:p>
            <a:pPr>
              <a:spcBef>
                <a:spcPts val="600"/>
              </a:spcBef>
              <a:spcAft>
                <a:spcPts val="600"/>
              </a:spcAft>
              <a:buNone/>
            </a:pPr>
            <a:r>
              <a:rPr lang="en-AU" sz="2200" b="1" dirty="0" smtClean="0">
                <a:latin typeface="Helvetica" pitchFamily="34" charset="0"/>
              </a:rPr>
              <a:t>Types of capabilities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Products and or services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Capacity to produce goods or services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Equipment capacity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Skill level of staff, management and owners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Hours of operation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Communication capabilities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Location/position of the agency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E-business capacity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Need for specialist assistance in certain areas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Maintaining a competitive advantage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6" name="Picture 5" descr="shutterstock_179800145.jpg"/>
          <p:cNvPicPr/>
          <p:nvPr/>
        </p:nvPicPr>
        <p:blipFill>
          <a:blip r:embed="rId3" cstate="print"/>
          <a:stretch>
            <a:fillRect/>
          </a:stretch>
        </p:blipFill>
        <p:spPr>
          <a:xfrm>
            <a:off x="7092280" y="3140968"/>
            <a:ext cx="1859915" cy="123825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Types of project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Physical resources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These types of resources are essential in performing basic operational activities.</a:t>
            </a:r>
          </a:p>
          <a:p>
            <a:pPr>
              <a:spcBef>
                <a:spcPts val="600"/>
              </a:spcBef>
              <a:spcAft>
                <a:spcPts val="1200"/>
              </a:spcAft>
              <a:buNone/>
            </a:pPr>
            <a:r>
              <a:rPr lang="en-AU" sz="2200" dirty="0" smtClean="0">
                <a:latin typeface="Helvetica" pitchFamily="34" charset="0"/>
              </a:rPr>
              <a:t>They include:</a:t>
            </a:r>
          </a:p>
          <a:p>
            <a:pPr lvl="0">
              <a:spcBef>
                <a:spcPts val="600"/>
              </a:spcBef>
              <a:spcAft>
                <a:spcPts val="1200"/>
              </a:spcAft>
            </a:pPr>
            <a:r>
              <a:rPr lang="en-AU" sz="2200" dirty="0" smtClean="0">
                <a:latin typeface="Helvetica" pitchFamily="34" charset="0"/>
              </a:rPr>
              <a:t>Equipment</a:t>
            </a:r>
          </a:p>
          <a:p>
            <a:pPr lvl="0">
              <a:spcBef>
                <a:spcPts val="600"/>
              </a:spcBef>
              <a:spcAft>
                <a:spcPts val="1200"/>
              </a:spcAft>
            </a:pPr>
            <a:r>
              <a:rPr lang="en-AU" sz="2200" dirty="0" smtClean="0">
                <a:latin typeface="Helvetica" pitchFamily="34" charset="0"/>
              </a:rPr>
              <a:t>Raw materials</a:t>
            </a:r>
          </a:p>
          <a:p>
            <a:pPr lvl="0">
              <a:spcBef>
                <a:spcPts val="600"/>
              </a:spcBef>
              <a:spcAft>
                <a:spcPts val="1200"/>
              </a:spcAft>
            </a:pPr>
            <a:r>
              <a:rPr lang="en-AU" sz="2200" dirty="0" smtClean="0">
                <a:latin typeface="Helvetica" pitchFamily="34" charset="0"/>
              </a:rPr>
              <a:t>Stock</a:t>
            </a:r>
          </a:p>
          <a:p>
            <a:pPr lvl="0">
              <a:spcBef>
                <a:spcPts val="600"/>
              </a:spcBef>
              <a:spcAft>
                <a:spcPts val="1200"/>
              </a:spcAft>
            </a:pPr>
            <a:r>
              <a:rPr lang="en-AU" sz="2200" dirty="0" smtClean="0">
                <a:latin typeface="Helvetica" pitchFamily="34" charset="0"/>
              </a:rPr>
              <a:t>Technology</a:t>
            </a:r>
          </a:p>
          <a:p>
            <a:pPr>
              <a:spcBef>
                <a:spcPts val="600"/>
              </a:spcBef>
              <a:spcAft>
                <a:spcPts val="1200"/>
              </a:spcAft>
            </a:pPr>
            <a:r>
              <a:rPr lang="en-AU" sz="2200" dirty="0" smtClean="0">
                <a:latin typeface="Helvetica" pitchFamily="34" charset="0"/>
              </a:rPr>
              <a:t>Location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6" name="Picture 5" descr="shutterstock_68250304.jpg"/>
          <p:cNvPicPr/>
          <p:nvPr/>
        </p:nvPicPr>
        <p:blipFill>
          <a:blip r:embed="rId3" cstate="print"/>
          <a:stretch>
            <a:fillRect/>
          </a:stretch>
        </p:blipFill>
        <p:spPr>
          <a:xfrm>
            <a:off x="5220072" y="3429000"/>
            <a:ext cx="2306365" cy="1559992"/>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Types of project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Financial resources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Types of financial resources include:</a:t>
            </a:r>
          </a:p>
          <a:p>
            <a:pPr lvl="0">
              <a:spcBef>
                <a:spcPts val="600"/>
              </a:spcBef>
              <a:spcAft>
                <a:spcPts val="1200"/>
              </a:spcAft>
            </a:pPr>
            <a:r>
              <a:rPr lang="en-AU" sz="2200" dirty="0" smtClean="0">
                <a:latin typeface="Helvetica" pitchFamily="34" charset="0"/>
              </a:rPr>
              <a:t>Cash</a:t>
            </a:r>
          </a:p>
          <a:p>
            <a:pPr lvl="0">
              <a:spcBef>
                <a:spcPts val="600"/>
              </a:spcBef>
              <a:spcAft>
                <a:spcPts val="1200"/>
              </a:spcAft>
            </a:pPr>
            <a:r>
              <a:rPr lang="en-AU" sz="2200" dirty="0" smtClean="0">
                <a:latin typeface="Helvetica" pitchFamily="34" charset="0"/>
              </a:rPr>
              <a:t>Stock</a:t>
            </a:r>
          </a:p>
          <a:p>
            <a:pPr lvl="0">
              <a:spcBef>
                <a:spcPts val="600"/>
              </a:spcBef>
              <a:spcAft>
                <a:spcPts val="1200"/>
              </a:spcAft>
            </a:pPr>
            <a:r>
              <a:rPr lang="en-AU" sz="2200" dirty="0" smtClean="0">
                <a:latin typeface="Helvetica" pitchFamily="34" charset="0"/>
              </a:rPr>
              <a:t>Equity</a:t>
            </a:r>
          </a:p>
          <a:p>
            <a:pPr lvl="0">
              <a:spcBef>
                <a:spcPts val="600"/>
              </a:spcBef>
              <a:spcAft>
                <a:spcPts val="1200"/>
              </a:spcAft>
            </a:pPr>
            <a:r>
              <a:rPr lang="en-AU" sz="2200" dirty="0" smtClean="0">
                <a:latin typeface="Helvetica" pitchFamily="34" charset="0"/>
              </a:rPr>
              <a:t>Loans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7" name="Picture 6" descr="W424_resources_shutterstock_161870750.jpg"/>
          <p:cNvPicPr/>
          <p:nvPr/>
        </p:nvPicPr>
        <p:blipFill>
          <a:blip r:embed="rId3" cstate="print"/>
          <a:stretch>
            <a:fillRect/>
          </a:stretch>
        </p:blipFill>
        <p:spPr>
          <a:xfrm>
            <a:off x="5292080" y="2924944"/>
            <a:ext cx="2270358" cy="1512168"/>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Types of project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Human resources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Human resources include:</a:t>
            </a:r>
          </a:p>
          <a:p>
            <a:pPr lvl="0">
              <a:spcBef>
                <a:spcPts val="600"/>
              </a:spcBef>
              <a:spcAft>
                <a:spcPts val="1200"/>
              </a:spcAft>
            </a:pPr>
            <a:r>
              <a:rPr lang="en-AU" sz="2200" dirty="0" smtClean="0">
                <a:latin typeface="Helvetica" pitchFamily="34" charset="0"/>
              </a:rPr>
              <a:t>Physical number of staff</a:t>
            </a:r>
          </a:p>
          <a:p>
            <a:pPr lvl="0">
              <a:spcBef>
                <a:spcPts val="600"/>
              </a:spcBef>
              <a:spcAft>
                <a:spcPts val="1200"/>
              </a:spcAft>
            </a:pPr>
            <a:r>
              <a:rPr lang="en-AU" sz="2200" dirty="0" smtClean="0">
                <a:latin typeface="Helvetica" pitchFamily="34" charset="0"/>
              </a:rPr>
              <a:t>Staff expertise</a:t>
            </a:r>
          </a:p>
          <a:p>
            <a:pPr lvl="0">
              <a:spcBef>
                <a:spcPts val="600"/>
              </a:spcBef>
              <a:spcAft>
                <a:spcPts val="1200"/>
              </a:spcAft>
            </a:pPr>
            <a:r>
              <a:rPr lang="en-AU" sz="2200" dirty="0" smtClean="0">
                <a:latin typeface="Helvetica" pitchFamily="34" charset="0"/>
              </a:rPr>
              <a:t>Skills </a:t>
            </a:r>
          </a:p>
          <a:p>
            <a:pPr>
              <a:spcBef>
                <a:spcPts val="600"/>
              </a:spcBef>
              <a:spcAft>
                <a:spcPts val="1200"/>
              </a:spcAft>
            </a:pPr>
            <a:r>
              <a:rPr lang="en-AU" sz="2200" dirty="0" smtClean="0">
                <a:latin typeface="Helvetica" pitchFamily="34" charset="0"/>
              </a:rPr>
              <a:t>Knowledge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7" name="Picture 6" descr="shutterstock_141853249.jpg"/>
          <p:cNvPicPr/>
          <p:nvPr/>
        </p:nvPicPr>
        <p:blipFill>
          <a:blip r:embed="rId3" cstate="print"/>
          <a:stretch>
            <a:fillRect/>
          </a:stretch>
        </p:blipFill>
        <p:spPr>
          <a:xfrm>
            <a:off x="5868144" y="2996952"/>
            <a:ext cx="2253977" cy="1382638"/>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Types of project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Intangible resources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these are not ‘seen’ they are certainly important in the service industry.</a:t>
            </a:r>
          </a:p>
          <a:p>
            <a:pPr lvl="0">
              <a:spcBef>
                <a:spcPts val="600"/>
              </a:spcBef>
              <a:spcAft>
                <a:spcPts val="1200"/>
              </a:spcAft>
            </a:pPr>
            <a:r>
              <a:rPr lang="en-AU" sz="2200" dirty="0" smtClean="0">
                <a:latin typeface="Helvetica" pitchFamily="34" charset="0"/>
              </a:rPr>
              <a:t>Reputation</a:t>
            </a:r>
          </a:p>
          <a:p>
            <a:pPr lvl="0">
              <a:spcBef>
                <a:spcPts val="600"/>
              </a:spcBef>
              <a:spcAft>
                <a:spcPts val="1200"/>
              </a:spcAft>
            </a:pPr>
            <a:r>
              <a:rPr lang="en-AU" sz="2200" dirty="0" smtClean="0">
                <a:latin typeface="Helvetica" pitchFamily="34" charset="0"/>
              </a:rPr>
              <a:t>Good will</a:t>
            </a:r>
          </a:p>
          <a:p>
            <a:pPr lvl="0">
              <a:spcBef>
                <a:spcPts val="600"/>
              </a:spcBef>
              <a:spcAft>
                <a:spcPts val="1200"/>
              </a:spcAft>
            </a:pPr>
            <a:r>
              <a:rPr lang="en-AU" sz="2200" dirty="0" smtClean="0">
                <a:latin typeface="Helvetica" pitchFamily="34" charset="0"/>
              </a:rPr>
              <a:t>Image</a:t>
            </a:r>
          </a:p>
          <a:p>
            <a:pPr lvl="0">
              <a:spcBef>
                <a:spcPts val="600"/>
              </a:spcBef>
              <a:spcAft>
                <a:spcPts val="1200"/>
              </a:spcAft>
            </a:pPr>
            <a:r>
              <a:rPr lang="en-AU" sz="2200" dirty="0" smtClean="0">
                <a:latin typeface="Helvetica" pitchFamily="34" charset="0"/>
              </a:rPr>
              <a:t>Brand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7" name="Picture 6" descr="W82_Muslim_Lady_Receptionist_shutterstock_133392065.jpg"/>
          <p:cNvPicPr/>
          <p:nvPr/>
        </p:nvPicPr>
        <p:blipFill>
          <a:blip r:embed="rId3" cstate="print"/>
          <a:stretch>
            <a:fillRect/>
          </a:stretch>
        </p:blipFill>
        <p:spPr>
          <a:xfrm>
            <a:off x="6084168" y="2996952"/>
            <a:ext cx="1352550" cy="2028825"/>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Factors affecting project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Internal factors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Nature of the project or program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Project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Directions the business wishes to take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Target markets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 levels and standards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Services and products provided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Equipment used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4" descr="shutterstock_148416917.jpg"/>
          <p:cNvPicPr/>
          <p:nvPr/>
        </p:nvPicPr>
        <p:blipFill>
          <a:blip r:embed="rId3" cstate="print"/>
          <a:stretch>
            <a:fillRect/>
          </a:stretch>
        </p:blipFill>
        <p:spPr>
          <a:xfrm>
            <a:off x="6444208" y="3429000"/>
            <a:ext cx="1746885" cy="1266825"/>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Factors affecting project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Internal factors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 existing reputation and image of the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Budget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Existing resources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Volume of customers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Promises made</a:t>
            </a:r>
            <a:endParaRPr lang="en-US" sz="2200" dirty="0" smtClean="0">
              <a:latin typeface="Helvetica" pitchFamily="34" charset="0"/>
            </a:endParaRP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13.jpg"/>
          <p:cNvPicPr>
            <a:picLocks noChangeAspect="1"/>
          </p:cNvPicPr>
          <p:nvPr/>
        </p:nvPicPr>
        <p:blipFill>
          <a:blip r:embed="rId3" cstate="print"/>
          <a:stretch>
            <a:fillRect/>
          </a:stretch>
        </p:blipFill>
        <p:spPr>
          <a:xfrm>
            <a:off x="5796136" y="2996952"/>
            <a:ext cx="1493133" cy="2239700"/>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Factors affecting project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External factors</a:t>
            </a:r>
          </a:p>
          <a:p>
            <a:pPr lvl="0">
              <a:spcBef>
                <a:spcPts val="600"/>
              </a:spcBef>
              <a:spcAft>
                <a:spcPts val="1200"/>
              </a:spcAft>
            </a:pPr>
            <a:r>
              <a:rPr lang="en-AU" sz="2200" dirty="0" smtClean="0">
                <a:latin typeface="Helvetica" pitchFamily="34" charset="0"/>
              </a:rPr>
              <a:t>The external business environment</a:t>
            </a:r>
          </a:p>
          <a:p>
            <a:pPr lvl="0">
              <a:spcBef>
                <a:spcPts val="600"/>
              </a:spcBef>
              <a:spcAft>
                <a:spcPts val="1200"/>
              </a:spcAft>
            </a:pPr>
            <a:r>
              <a:rPr lang="en-AU" sz="2200" dirty="0" smtClean="0">
                <a:latin typeface="Helvetica" pitchFamily="34" charset="0"/>
              </a:rPr>
              <a:t>Customer expectations</a:t>
            </a:r>
          </a:p>
          <a:p>
            <a:pPr lvl="0">
              <a:spcBef>
                <a:spcPts val="600"/>
              </a:spcBef>
              <a:spcAft>
                <a:spcPts val="1200"/>
              </a:spcAft>
            </a:pPr>
            <a:r>
              <a:rPr lang="en-AU" sz="2200" dirty="0" smtClean="0">
                <a:latin typeface="Helvetica" pitchFamily="34" charset="0"/>
              </a:rPr>
              <a:t>Emerging trends</a:t>
            </a:r>
          </a:p>
          <a:p>
            <a:pPr lvl="0">
              <a:spcBef>
                <a:spcPts val="600"/>
              </a:spcBef>
              <a:spcAft>
                <a:spcPts val="1200"/>
              </a:spcAft>
            </a:pPr>
            <a:r>
              <a:rPr lang="en-AU" sz="2200" dirty="0" smtClean="0">
                <a:latin typeface="Helvetica" pitchFamily="34" charset="0"/>
              </a:rPr>
              <a:t>Changes in legislation and technology</a:t>
            </a:r>
          </a:p>
          <a:p>
            <a:pPr lvl="0">
              <a:spcBef>
                <a:spcPts val="600"/>
              </a:spcBef>
              <a:spcAft>
                <a:spcPts val="1200"/>
              </a:spcAft>
            </a:pPr>
            <a:r>
              <a:rPr lang="en-AU" sz="2200" dirty="0" smtClean="0">
                <a:latin typeface="Helvetica" pitchFamily="34" charset="0"/>
              </a:rPr>
              <a:t>Availability of resources</a:t>
            </a:r>
          </a:p>
          <a:p>
            <a:pPr>
              <a:buNone/>
            </a:pPr>
            <a:endParaRPr lang="en-AU" sz="2400" dirty="0" smtClean="0">
              <a:solidFill>
                <a:srgbClr val="FF6600"/>
              </a:solidFill>
            </a:endParaRPr>
          </a:p>
          <a:p>
            <a:pPr>
              <a:buNone/>
            </a:pPr>
            <a:r>
              <a:rPr lang="en-AU" sz="2200" b="1" dirty="0" smtClean="0">
                <a:solidFill>
                  <a:srgbClr val="FF6600"/>
                </a:solidFill>
              </a:rPr>
              <a:t>COMPLETE ACTIVITY 10</a:t>
            </a:r>
            <a:endParaRPr lang="en-US" sz="2200" b="1" dirty="0" smtClean="0">
              <a:latin typeface="Helvetica" pitchFamily="34" charset="0"/>
            </a:endParaRP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5" descr="shutterstock_141853249.jpg"/>
          <p:cNvPicPr>
            <a:picLocks noChangeAspect="1"/>
          </p:cNvPicPr>
          <p:nvPr/>
        </p:nvPicPr>
        <p:blipFill>
          <a:blip r:embed="rId3" cstate="print"/>
          <a:stretch>
            <a:fillRect/>
          </a:stretch>
        </p:blipFill>
        <p:spPr>
          <a:xfrm>
            <a:off x="6372200" y="2708920"/>
            <a:ext cx="1955832" cy="1304540"/>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Factors affecting project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39552" y="1484784"/>
            <a:ext cx="7467600" cy="4896544"/>
          </a:xfrm>
        </p:spPr>
        <p:txBody>
          <a:bodyPr>
            <a:normAutofit/>
          </a:bodyPr>
          <a:lstStyle/>
          <a:p>
            <a:pPr>
              <a:spcBef>
                <a:spcPts val="600"/>
              </a:spcBef>
              <a:spcAft>
                <a:spcPts val="1200"/>
              </a:spcAft>
              <a:buNone/>
            </a:pPr>
            <a:r>
              <a:rPr lang="en-AU" sz="2100" b="1" dirty="0" smtClean="0">
                <a:latin typeface="Helvetica" pitchFamily="34" charset="0"/>
              </a:rPr>
              <a:t>Utilising community resources</a:t>
            </a:r>
            <a:endParaRPr lang="en-US" sz="2100" b="1" dirty="0" smtClean="0">
              <a:latin typeface="Helvetica" pitchFamily="34" charset="0"/>
            </a:endParaRPr>
          </a:p>
          <a:p>
            <a:pPr marL="0">
              <a:spcBef>
                <a:spcPts val="600"/>
              </a:spcBef>
              <a:spcAft>
                <a:spcPts val="1200"/>
              </a:spcAft>
              <a:buNone/>
            </a:pPr>
            <a:r>
              <a:rPr lang="en-AU" sz="2100" dirty="0" smtClean="0">
                <a:latin typeface="Helvetica" pitchFamily="34" charset="0"/>
              </a:rPr>
              <a:t>As well as gathering and using resources from within the organisation itself, there may be a range of resources within the local community that may also be used to undertake project activities.</a:t>
            </a:r>
          </a:p>
          <a:p>
            <a:pPr>
              <a:spcBef>
                <a:spcPts val="600"/>
              </a:spcBef>
              <a:spcAft>
                <a:spcPts val="1200"/>
              </a:spcAft>
            </a:pPr>
            <a:r>
              <a:rPr lang="en-US" sz="2100" dirty="0" smtClean="0">
                <a:latin typeface="Helvetica" pitchFamily="34" charset="0"/>
              </a:rPr>
              <a:t>What are the benefits of using local </a:t>
            </a:r>
            <a:r>
              <a:rPr lang="en-AU" sz="2100" dirty="0" smtClean="0">
                <a:latin typeface="Helvetica" pitchFamily="34" charset="0"/>
              </a:rPr>
              <a:t>community resources? </a:t>
            </a:r>
            <a:endParaRPr lang="en-US" sz="2100" dirty="0" smtClean="0">
              <a:latin typeface="Helvetica" pitchFamily="34" charset="0"/>
            </a:endParaRPr>
          </a:p>
          <a:p>
            <a:pPr>
              <a:spcBef>
                <a:spcPts val="600"/>
              </a:spcBef>
              <a:spcAft>
                <a:spcPts val="1200"/>
              </a:spcAft>
            </a:pPr>
            <a:r>
              <a:rPr lang="en-AU" sz="2100" dirty="0" smtClean="0">
                <a:latin typeface="Helvetica" pitchFamily="34" charset="0"/>
              </a:rPr>
              <a:t>What are types of local community </a:t>
            </a:r>
            <a:br>
              <a:rPr lang="en-AU" sz="2100" dirty="0" smtClean="0">
                <a:latin typeface="Helvetica" pitchFamily="34" charset="0"/>
              </a:rPr>
            </a:br>
            <a:r>
              <a:rPr lang="en-AU" sz="2100" dirty="0" smtClean="0">
                <a:latin typeface="Helvetica" pitchFamily="34" charset="0"/>
              </a:rPr>
              <a:t>resources? </a:t>
            </a:r>
            <a:endParaRPr lang="en-US" sz="2100" dirty="0" smtClean="0">
              <a:latin typeface="Helvetica" pitchFamily="34" charset="0"/>
            </a:endParaRPr>
          </a:p>
          <a:p>
            <a:pPr>
              <a:spcBef>
                <a:spcPts val="600"/>
              </a:spcBef>
              <a:spcAft>
                <a:spcPts val="1200"/>
              </a:spcAft>
            </a:pPr>
            <a:r>
              <a:rPr lang="en-AU" sz="2100" dirty="0" smtClean="0">
                <a:latin typeface="Helvetica" pitchFamily="34" charset="0"/>
              </a:rPr>
              <a:t>How can you identify local community </a:t>
            </a:r>
            <a:br>
              <a:rPr lang="en-AU" sz="2100" dirty="0" smtClean="0">
                <a:latin typeface="Helvetica" pitchFamily="34" charset="0"/>
              </a:rPr>
            </a:br>
            <a:r>
              <a:rPr lang="en-AU" sz="2100" dirty="0" smtClean="0">
                <a:latin typeface="Helvetica" pitchFamily="34" charset="0"/>
              </a:rPr>
              <a:t>resources? </a:t>
            </a:r>
            <a:endParaRPr lang="en-US" sz="2100" dirty="0" smtClean="0">
              <a:latin typeface="Helvetica" pitchFamily="34" charset="0"/>
            </a:endParaRPr>
          </a:p>
          <a:p>
            <a:pPr>
              <a:buNone/>
            </a:pPr>
            <a:endParaRPr lang="en-AU" sz="2100" dirty="0" smtClean="0">
              <a:solidFill>
                <a:srgbClr val="FF6600"/>
              </a:solidFill>
            </a:endParaRPr>
          </a:p>
          <a:p>
            <a:pPr lvl="0">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7" name="Picture 6" descr="1j.jpg"/>
          <p:cNvPicPr/>
          <p:nvPr/>
        </p:nvPicPr>
        <p:blipFill>
          <a:blip r:embed="rId3" cstate="print"/>
          <a:stretch>
            <a:fillRect/>
          </a:stretch>
        </p:blipFill>
        <p:spPr>
          <a:xfrm>
            <a:off x="6372200" y="4149080"/>
            <a:ext cx="1800200" cy="1368152"/>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Factors affecting project resources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Identify tourism infrastructure inventory and tourism carrying capacity</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An audit and assessment of the existing tourism infrastructure and carrying capacity allows an organisation to understand the extent which not only the project can be implemented but also the extent in which public resources can be obtained or used.</a:t>
            </a:r>
          </a:p>
          <a:p>
            <a:pPr>
              <a:spcBef>
                <a:spcPts val="600"/>
              </a:spcBef>
              <a:spcAft>
                <a:spcPts val="1200"/>
              </a:spcAft>
            </a:pPr>
            <a:r>
              <a:rPr lang="en-AU" sz="2200" dirty="0" smtClean="0">
                <a:latin typeface="Helvetica" pitchFamily="34" charset="0"/>
              </a:rPr>
              <a:t>What is ‘infrastructure inventory’?</a:t>
            </a:r>
          </a:p>
          <a:p>
            <a:pPr>
              <a:spcBef>
                <a:spcPts val="600"/>
              </a:spcBef>
              <a:spcAft>
                <a:spcPts val="1200"/>
              </a:spcAft>
            </a:pPr>
            <a:r>
              <a:rPr lang="en-AU" sz="2200" dirty="0" smtClean="0">
                <a:latin typeface="Helvetica" pitchFamily="34" charset="0"/>
              </a:rPr>
              <a:t>What are examples of local infrastructure?</a:t>
            </a:r>
          </a:p>
          <a:p>
            <a:pPr>
              <a:spcBef>
                <a:spcPts val="600"/>
              </a:spcBef>
              <a:spcAft>
                <a:spcPts val="1200"/>
              </a:spcAft>
              <a:buNone/>
            </a:pPr>
            <a:endParaRPr lang="en-AU" sz="2200" b="1" dirty="0" smtClean="0">
              <a:solidFill>
                <a:srgbClr val="FF6600"/>
              </a:solidFill>
            </a:endParaRPr>
          </a:p>
          <a:p>
            <a:pPr>
              <a:spcBef>
                <a:spcPts val="600"/>
              </a:spcBef>
              <a:spcAft>
                <a:spcPts val="1200"/>
              </a:spcAft>
              <a:buNone/>
            </a:pPr>
            <a:r>
              <a:rPr lang="en-AU" sz="2200" b="1" dirty="0" smtClean="0">
                <a:solidFill>
                  <a:srgbClr val="FF6600"/>
                </a:solidFill>
              </a:rPr>
              <a:t>COMPLETE ACTIVITY 11</a:t>
            </a:r>
            <a:endParaRPr lang="en-US" sz="2200" dirty="0" smtClean="0">
              <a:latin typeface="Helvetica" pitchFamily="34" charset="0"/>
            </a:endParaRPr>
          </a:p>
          <a:p>
            <a:pPr>
              <a:buNone/>
            </a:pPr>
            <a:endParaRPr lang="en-AU" sz="2400" dirty="0" smtClean="0">
              <a:solidFill>
                <a:srgbClr val="FF6600"/>
              </a:solidFill>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6" name="Picture 5" descr="Generic_Plan and boarding.jpg"/>
          <p:cNvPicPr/>
          <p:nvPr/>
        </p:nvPicPr>
        <p:blipFill>
          <a:blip r:embed="rId3" cstate="print"/>
          <a:stretch>
            <a:fillRect/>
          </a:stretch>
        </p:blipFill>
        <p:spPr>
          <a:xfrm>
            <a:off x="7236296" y="4221088"/>
            <a:ext cx="1333500" cy="1781175"/>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Integrate program/plan with other initiatives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fontScale="92500" lnSpcReduction="10000"/>
          </a:bodyPr>
          <a:lstStyle/>
          <a:p>
            <a:pPr>
              <a:spcBef>
                <a:spcPts val="600"/>
              </a:spcBef>
              <a:spcAft>
                <a:spcPts val="600"/>
              </a:spcAft>
              <a:buNone/>
            </a:pPr>
            <a:r>
              <a:rPr lang="en-AU" sz="2400" b="1" dirty="0" smtClean="0">
                <a:latin typeface="Helvetica" pitchFamily="34" charset="0"/>
              </a:rPr>
              <a:t>Importance of integrating all business initiatives</a:t>
            </a:r>
            <a:endParaRPr lang="en-US" sz="2400" b="1" dirty="0" smtClean="0">
              <a:latin typeface="Helvetica" pitchFamily="34" charset="0"/>
            </a:endParaRPr>
          </a:p>
          <a:p>
            <a:pPr marL="0">
              <a:spcBef>
                <a:spcPts val="600"/>
              </a:spcBef>
              <a:spcAft>
                <a:spcPts val="600"/>
              </a:spcAft>
              <a:buNone/>
            </a:pPr>
            <a:r>
              <a:rPr lang="en-AU" sz="2400" dirty="0" smtClean="0">
                <a:latin typeface="Helvetica" pitchFamily="34" charset="0"/>
              </a:rPr>
              <a:t>Whilst it is important to plan each project or program as a separate entity, it is still vital to remember that a tourism organisation will be conducting other activities simultaneously.</a:t>
            </a:r>
            <a:endParaRPr lang="en-US" sz="2400" dirty="0" smtClean="0">
              <a:latin typeface="Helvetica" pitchFamily="34" charset="0"/>
            </a:endParaRPr>
          </a:p>
          <a:p>
            <a:pPr>
              <a:spcBef>
                <a:spcPts val="600"/>
              </a:spcBef>
              <a:spcAft>
                <a:spcPts val="600"/>
              </a:spcAft>
              <a:buNone/>
            </a:pPr>
            <a:r>
              <a:rPr lang="en-AU" sz="2400" dirty="0" smtClean="0">
                <a:latin typeface="Helvetica" pitchFamily="34" charset="0"/>
              </a:rPr>
              <a:t>These activities include, but not limited to:</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Normal operational activities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Marketing</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Special promotions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Events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Training and development initiatives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Refurbishments or upgrading of resources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Other programs or projects</a:t>
            </a:r>
            <a:endParaRPr lang="en-US" sz="24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descr="A11 158587457.jpg"/>
          <p:cNvPicPr/>
          <p:nvPr/>
        </p:nvPicPr>
        <p:blipFill>
          <a:blip r:embed="rId3" cstate="print"/>
          <a:stretch>
            <a:fillRect/>
          </a:stretch>
        </p:blipFill>
        <p:spPr>
          <a:xfrm>
            <a:off x="6444208" y="3573016"/>
            <a:ext cx="1724025" cy="11430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Integrate program/plan with other initiatives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Types of integrating considerations</a:t>
            </a:r>
            <a:endParaRPr lang="en-US" sz="2200" b="1" dirty="0" smtClean="0">
              <a:latin typeface="Helvetica" pitchFamily="34" charset="0"/>
            </a:endParaRPr>
          </a:p>
          <a:p>
            <a:pPr marL="0">
              <a:spcBef>
                <a:spcPts val="600"/>
              </a:spcBef>
              <a:spcAft>
                <a:spcPts val="1200"/>
              </a:spcAft>
              <a:buNone/>
            </a:pPr>
            <a:r>
              <a:rPr lang="en-AU" sz="2200" dirty="0" smtClean="0">
                <a:latin typeface="Helvetica" pitchFamily="34" charset="0"/>
              </a:rPr>
              <a:t>Whilst the types of integration activities will depend on the complexity, size and nature of activities to be integrated, considerations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Capitalising on economies of scale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Utilising staff with complimentary skills, knowledge and experience in associated areas and disciplines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Minimising unnecessary duplication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Centralising operations to facilitate control                                and minimise expenditure</a:t>
            </a:r>
          </a:p>
          <a:p>
            <a:pPr>
              <a:spcBef>
                <a:spcPts val="600"/>
              </a:spcBef>
              <a:spcAft>
                <a:spcPts val="1200"/>
              </a:spcAft>
              <a:buNone/>
            </a:pPr>
            <a:r>
              <a:rPr lang="en-AU" sz="2200" b="1" dirty="0" smtClean="0">
                <a:solidFill>
                  <a:srgbClr val="FF6600"/>
                </a:solidFill>
              </a:rPr>
              <a:t>COMPLETE ACTIVITY 12</a:t>
            </a:r>
            <a:endParaRPr lang="en-US" sz="2200" dirty="0" smtClean="0">
              <a:latin typeface="Helvetica" pitchFamily="34" charset="0"/>
            </a:endParaRPr>
          </a:p>
          <a:p>
            <a:pPr lvl="0">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6" name="Picture 5" descr="A9 shutterstock_155310890.jpg"/>
          <p:cNvPicPr/>
          <p:nvPr/>
        </p:nvPicPr>
        <p:blipFill>
          <a:blip r:embed="rId3" cstate="print"/>
          <a:stretch>
            <a:fillRect/>
          </a:stretch>
        </p:blipFill>
        <p:spPr>
          <a:xfrm>
            <a:off x="6876256" y="5013176"/>
            <a:ext cx="1864995" cy="10668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Obtain project approvals and agreements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obtaining approvals and agreements</a:t>
            </a:r>
          </a:p>
          <a:p>
            <a:pPr marL="0">
              <a:spcBef>
                <a:spcPts val="600"/>
              </a:spcBef>
              <a:spcAft>
                <a:spcPts val="1200"/>
              </a:spcAft>
              <a:buNone/>
            </a:pPr>
            <a:r>
              <a:rPr lang="en-AU" sz="2200" dirty="0" smtClean="0">
                <a:latin typeface="Helvetica" pitchFamily="34" charset="0"/>
              </a:rPr>
              <a:t>Given that most innovative projects or programs will involve many activities, using much needed resources, provided by a range of internal and external suppliers, it is important that all necessary approvals and agreements confirmed with all necessary stakeholders.</a:t>
            </a:r>
          </a:p>
          <a:p>
            <a:pPr>
              <a:spcBef>
                <a:spcPts val="600"/>
              </a:spcBef>
              <a:spcAft>
                <a:spcPts val="1200"/>
              </a:spcAft>
            </a:pPr>
            <a:r>
              <a:rPr lang="en-AU" sz="2200" dirty="0" smtClean="0">
                <a:latin typeface="Helvetica" pitchFamily="34" charset="0"/>
              </a:rPr>
              <a:t>Why is this important?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descr="ck.jpg"/>
          <p:cNvPicPr/>
          <p:nvPr/>
        </p:nvPicPr>
        <p:blipFill>
          <a:blip r:embed="rId3" cstate="print"/>
          <a:stretch>
            <a:fillRect/>
          </a:stretch>
        </p:blipFill>
        <p:spPr>
          <a:xfrm>
            <a:off x="5796136" y="3861048"/>
            <a:ext cx="1866900" cy="12382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Obtain project approvals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Obtaining approvals</a:t>
            </a:r>
          </a:p>
          <a:p>
            <a:pPr>
              <a:spcBef>
                <a:spcPts val="600"/>
              </a:spcBef>
              <a:spcAft>
                <a:spcPts val="1200"/>
              </a:spcAft>
            </a:pPr>
            <a:r>
              <a:rPr lang="en-AU" sz="2200" dirty="0" smtClean="0">
                <a:latin typeface="Helvetica" pitchFamily="34" charset="0"/>
              </a:rPr>
              <a:t>What approvals are needed?</a:t>
            </a:r>
          </a:p>
          <a:p>
            <a:pPr>
              <a:spcBef>
                <a:spcPts val="600"/>
              </a:spcBef>
              <a:spcAft>
                <a:spcPts val="1200"/>
              </a:spcAft>
            </a:pPr>
            <a:r>
              <a:rPr lang="en-AU" sz="2200" dirty="0" smtClean="0">
                <a:latin typeface="Helvetica" pitchFamily="34" charset="0"/>
              </a:rPr>
              <a:t>Who needs to give the approval?</a:t>
            </a:r>
          </a:p>
          <a:p>
            <a:pPr>
              <a:spcBef>
                <a:spcPts val="600"/>
              </a:spcBef>
              <a:spcAft>
                <a:spcPts val="1200"/>
              </a:spcAft>
            </a:pPr>
            <a:r>
              <a:rPr lang="en-AU" sz="2200" dirty="0" smtClean="0">
                <a:latin typeface="Helvetica" pitchFamily="34" charset="0"/>
              </a:rPr>
              <a:t>What methods can be used to get the approval?</a:t>
            </a:r>
          </a:p>
          <a:p>
            <a:pPr>
              <a:spcBef>
                <a:spcPts val="600"/>
              </a:spcBef>
              <a:spcAft>
                <a:spcPts val="1200"/>
              </a:spcAft>
            </a:pPr>
            <a:r>
              <a:rPr lang="en-AU" sz="2200" dirty="0" smtClean="0">
                <a:latin typeface="Helvetica" pitchFamily="34" charset="0"/>
              </a:rPr>
              <a:t>What funding approval needs to be sought?</a:t>
            </a:r>
          </a:p>
          <a:p>
            <a:pPr>
              <a:spcBef>
                <a:spcPts val="600"/>
              </a:spcBef>
              <a:spcAft>
                <a:spcPts val="1200"/>
              </a:spcAft>
            </a:pPr>
            <a:r>
              <a:rPr lang="en-AU" sz="2200" dirty="0" smtClean="0">
                <a:latin typeface="Helvetica" pitchFamily="34" charset="0"/>
              </a:rPr>
              <a:t>When is local community approval required?</a:t>
            </a:r>
          </a:p>
          <a:p>
            <a:pPr>
              <a:spcBef>
                <a:spcPts val="600"/>
              </a:spcBef>
              <a:spcAft>
                <a:spcPts val="1200"/>
              </a:spcAft>
            </a:pPr>
            <a:r>
              <a:rPr lang="en-AU" sz="2200" dirty="0" smtClean="0">
                <a:latin typeface="Helvetica" pitchFamily="34" charset="0"/>
              </a:rPr>
              <a:t>What feedback should be gathered by                         stakeholders when gaining approval?</a:t>
            </a:r>
          </a:p>
          <a:p>
            <a:pPr>
              <a:spcBef>
                <a:spcPts val="600"/>
              </a:spcBef>
              <a:spcAft>
                <a:spcPts val="1200"/>
              </a:spcAft>
              <a:buNone/>
            </a:pPr>
            <a:r>
              <a:rPr lang="en-AU" sz="2200" b="1" dirty="0" smtClean="0">
                <a:solidFill>
                  <a:srgbClr val="FF6600"/>
                </a:solidFill>
              </a:rPr>
              <a:t>COMPLETE ACTIVITY 13</a:t>
            </a:r>
            <a:endParaRPr lang="en-US"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6" name="Picture 5" descr="58.jpg"/>
          <p:cNvPicPr/>
          <p:nvPr/>
        </p:nvPicPr>
        <p:blipFill>
          <a:blip r:embed="rId3" cstate="print"/>
          <a:stretch>
            <a:fillRect/>
          </a:stretch>
        </p:blipFill>
        <p:spPr>
          <a:xfrm>
            <a:off x="6588224" y="1340768"/>
            <a:ext cx="1400175" cy="15144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Joint ventures and strategic alliances</a:t>
            </a: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100" b="1" dirty="0" smtClean="0">
                <a:latin typeface="Helvetica" pitchFamily="34" charset="0"/>
              </a:rPr>
              <a:t>Explore the potential for joint ventures and strategic alliances.</a:t>
            </a:r>
          </a:p>
          <a:p>
            <a:r>
              <a:rPr lang="en-US" sz="2100" dirty="0" smtClean="0">
                <a:latin typeface="Helvetica" pitchFamily="34" charset="0"/>
              </a:rPr>
              <a:t>Where new projects or programs incorporate activities or initiatives that are outside the normal business stream, there may an opportunity for your business to form a joint venture or strategic alliance with another organisation</a:t>
            </a:r>
          </a:p>
          <a:p>
            <a:pPr>
              <a:spcBef>
                <a:spcPts val="600"/>
              </a:spcBef>
              <a:spcAft>
                <a:spcPts val="1200"/>
              </a:spcAft>
              <a:buNone/>
            </a:pPr>
            <a:endParaRPr lang="en-AU" sz="2100" b="1" dirty="0" smtClean="0">
              <a:solidFill>
                <a:srgbClr val="FF6600"/>
              </a:solidFill>
            </a:endParaRPr>
          </a:p>
          <a:p>
            <a:pPr>
              <a:spcBef>
                <a:spcPts val="600"/>
              </a:spcBef>
              <a:spcAft>
                <a:spcPts val="1200"/>
              </a:spcAft>
              <a:buNone/>
            </a:pPr>
            <a:r>
              <a:rPr lang="en-AU" sz="2100" b="1" dirty="0" smtClean="0">
                <a:solidFill>
                  <a:srgbClr val="FF6600"/>
                </a:solidFill>
              </a:rPr>
              <a:t>COMPLETE ACTIVITY 14</a:t>
            </a:r>
            <a:endParaRPr lang="en-US" sz="2100" dirty="0" smtClean="0">
              <a:latin typeface="Helvetica" pitchFamily="34" charset="0"/>
            </a:endParaRPr>
          </a:p>
          <a:p>
            <a:pPr>
              <a:spcBef>
                <a:spcPts val="600"/>
              </a:spcBef>
              <a:spcAft>
                <a:spcPts val="1200"/>
              </a:spcAft>
              <a:buNone/>
            </a:pPr>
            <a:endParaRPr lang="en-AU" sz="2100" dirty="0" smtClean="0"/>
          </a:p>
          <a:p>
            <a:pPr>
              <a:spcBef>
                <a:spcPts val="600"/>
              </a:spcBef>
              <a:spcAft>
                <a:spcPts val="1200"/>
              </a:spcAft>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shutterstock_148596215.jpg"/>
          <p:cNvPicPr>
            <a:picLocks noChangeAspect="1"/>
          </p:cNvPicPr>
          <p:nvPr/>
        </p:nvPicPr>
        <p:blipFill>
          <a:blip r:embed="rId3" cstate="print"/>
          <a:stretch>
            <a:fillRect/>
          </a:stretch>
        </p:blipFill>
        <p:spPr>
          <a:xfrm>
            <a:off x="5508104" y="4149080"/>
            <a:ext cx="1658296" cy="130434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Obtain project agreements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256584"/>
          </a:xfrm>
        </p:spPr>
        <p:txBody>
          <a:bodyPr>
            <a:normAutofit/>
          </a:bodyPr>
          <a:lstStyle/>
          <a:p>
            <a:pPr>
              <a:spcBef>
                <a:spcPts val="600"/>
              </a:spcBef>
              <a:spcAft>
                <a:spcPts val="600"/>
              </a:spcAft>
              <a:buNone/>
            </a:pPr>
            <a:r>
              <a:rPr lang="en-AU" sz="2200" b="1" dirty="0" smtClean="0">
                <a:latin typeface="Helvetica" pitchFamily="34" charset="0"/>
              </a:rPr>
              <a:t>Confirming agreements with service suppliers</a:t>
            </a:r>
            <a:endParaRPr lang="en-US" sz="2200" b="1" dirty="0" smtClean="0">
              <a:latin typeface="Helvetica" pitchFamily="34" charset="0"/>
            </a:endParaRPr>
          </a:p>
          <a:p>
            <a:pPr>
              <a:spcBef>
                <a:spcPts val="600"/>
              </a:spcBef>
              <a:spcAft>
                <a:spcPts val="600"/>
              </a:spcAft>
              <a:buNone/>
            </a:pPr>
            <a:r>
              <a:rPr lang="en-AU" sz="2200" dirty="0" smtClean="0">
                <a:latin typeface="Helvetica" pitchFamily="34" charset="0"/>
              </a:rPr>
              <a:t>Agreements with service providers may include: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Legally contracted arrangements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Word-of-mouth agreements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Previous services provided by suppliers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Negotiating changes to existing arrangements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Clarifying issues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Establishing operational protocols to                           guide/control the integration of service                                providers into the program/project</a:t>
            </a:r>
          </a:p>
          <a:p>
            <a:pPr>
              <a:spcBef>
                <a:spcPts val="600"/>
              </a:spcBef>
              <a:spcAft>
                <a:spcPts val="600"/>
              </a:spcAft>
              <a:buNone/>
            </a:pPr>
            <a:r>
              <a:rPr lang="en-AU" sz="2200" b="1" dirty="0" smtClean="0">
                <a:solidFill>
                  <a:srgbClr val="FF6600"/>
                </a:solidFill>
              </a:rPr>
              <a:t>COMPLETE ACTIVITY 15</a:t>
            </a:r>
            <a:endParaRPr lang="en-US" sz="2200" dirty="0" smtClean="0">
              <a:latin typeface="Helvetica" pitchFamily="34" charset="0"/>
            </a:endParaRPr>
          </a:p>
          <a:p>
            <a:pPr>
              <a:spcBef>
                <a:spcPts val="600"/>
              </a:spcBef>
              <a:spcAft>
                <a:spcPts val="6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6" name="Picture 5" descr="93.jpg"/>
          <p:cNvPicPr/>
          <p:nvPr/>
        </p:nvPicPr>
        <p:blipFill>
          <a:blip r:embed="rId3" cstate="print"/>
          <a:stretch>
            <a:fillRect/>
          </a:stretch>
        </p:blipFill>
        <p:spPr>
          <a:xfrm>
            <a:off x="6948264" y="2492896"/>
            <a:ext cx="1906012" cy="114833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project contingency plans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contingency plans </a:t>
            </a:r>
          </a:p>
          <a:p>
            <a:pPr marL="0">
              <a:spcBef>
                <a:spcPts val="600"/>
              </a:spcBef>
              <a:spcAft>
                <a:spcPts val="1200"/>
              </a:spcAft>
              <a:buNone/>
            </a:pPr>
            <a:r>
              <a:rPr lang="en-AU" sz="2200" dirty="0" smtClean="0">
                <a:latin typeface="Helvetica" pitchFamily="34" charset="0"/>
              </a:rPr>
              <a:t>Contingency plans need to be prepared for all possible risk situations that may occur during the implementation of projects or programs.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is the purpose of a contingency plan?</a:t>
            </a:r>
          </a:p>
          <a:p>
            <a:pPr lvl="0">
              <a:spcBef>
                <a:spcPts val="600"/>
              </a:spcBef>
              <a:spcAft>
                <a:spcPts val="1200"/>
              </a:spcAft>
            </a:pPr>
            <a:r>
              <a:rPr lang="en-US" sz="2200" dirty="0" smtClean="0">
                <a:latin typeface="Helvetica" pitchFamily="34" charset="0"/>
              </a:rPr>
              <a:t>What information is contained within a </a:t>
            </a:r>
            <a:r>
              <a:rPr lang="en-AU" sz="2200" dirty="0" smtClean="0">
                <a:latin typeface="Helvetica" pitchFamily="34" charset="0"/>
              </a:rPr>
              <a:t>contingency plan?</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7" name="Picture 6" descr="shutterstock_163584698.jpg"/>
          <p:cNvPicPr/>
          <p:nvPr/>
        </p:nvPicPr>
        <p:blipFill>
          <a:blip r:embed="rId3" cstate="print"/>
          <a:stretch>
            <a:fillRect/>
          </a:stretch>
        </p:blipFill>
        <p:spPr>
          <a:xfrm>
            <a:off x="3635896" y="4869160"/>
            <a:ext cx="1824990" cy="129540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project contingency plans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Importance of planning for unforeseen events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provide direction in the event of negative situations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mitigate negative outcomes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allow the project to continue, resume or recover normal business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Because things do not always go as planned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address ‘due diligence’ requirements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protect the ongoing viability of the project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optimise project performance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To provide you with a sense of security</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6" name="Picture 5" descr="shutterstock_88003519.jpg"/>
          <p:cNvPicPr>
            <a:picLocks noChangeAspect="1"/>
          </p:cNvPicPr>
          <p:nvPr/>
        </p:nvPicPr>
        <p:blipFill>
          <a:blip r:embed="rId3" cstate="print"/>
          <a:stretch>
            <a:fillRect/>
          </a:stretch>
        </p:blipFill>
        <p:spPr>
          <a:xfrm>
            <a:off x="7524328" y="3933056"/>
            <a:ext cx="1352713" cy="2028056"/>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project contingency plans</a:t>
            </a: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Contingency plans for ‘positive’ and ‘negative’ situations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Contingency plans can be developed to address:</a:t>
            </a:r>
          </a:p>
          <a:p>
            <a:pPr>
              <a:spcBef>
                <a:spcPts val="600"/>
              </a:spcBef>
              <a:spcAft>
                <a:spcPts val="1200"/>
              </a:spcAft>
            </a:pPr>
            <a:r>
              <a:rPr lang="en-AU" sz="2200" dirty="0" smtClean="0">
                <a:latin typeface="Helvetica" pitchFamily="34" charset="0"/>
              </a:rPr>
              <a:t>Positive situations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Negative situations</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7" name="Picture 6" descr="shutterstock_129508757.jpg"/>
          <p:cNvPicPr>
            <a:picLocks noChangeAspect="1"/>
          </p:cNvPicPr>
          <p:nvPr/>
        </p:nvPicPr>
        <p:blipFill>
          <a:blip r:embed="rId3" cstate="print"/>
          <a:stretch>
            <a:fillRect/>
          </a:stretch>
        </p:blipFill>
        <p:spPr>
          <a:xfrm>
            <a:off x="5436096" y="3284984"/>
            <a:ext cx="2285414" cy="1512944"/>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project contingency plans</a:t>
            </a:r>
          </a:p>
        </p:txBody>
      </p:sp>
      <p:sp>
        <p:nvSpPr>
          <p:cNvPr id="3" name="Content Placeholder 2"/>
          <p:cNvSpPr>
            <a:spLocks noGrp="1"/>
          </p:cNvSpPr>
          <p:nvPr>
            <p:ph idx="1"/>
          </p:nvPr>
        </p:nvSpPr>
        <p:spPr>
          <a:xfrm>
            <a:off x="611560" y="1556792"/>
            <a:ext cx="7467600" cy="5112568"/>
          </a:xfrm>
        </p:spPr>
        <p:txBody>
          <a:bodyPr>
            <a:normAutofit lnSpcReduction="10000"/>
          </a:bodyPr>
          <a:lstStyle/>
          <a:p>
            <a:pPr>
              <a:spcBef>
                <a:spcPts val="600"/>
              </a:spcBef>
              <a:spcAft>
                <a:spcPts val="600"/>
              </a:spcAft>
              <a:buNone/>
            </a:pPr>
            <a:r>
              <a:rPr lang="en-AU" sz="2200" b="1" dirty="0" smtClean="0">
                <a:latin typeface="Helvetica" pitchFamily="34" charset="0"/>
              </a:rPr>
              <a:t>Contingency plan activities</a:t>
            </a:r>
            <a:endParaRPr lang="en-US" sz="2200" dirty="0" smtClean="0">
              <a:latin typeface="Helvetica" pitchFamily="34" charset="0"/>
            </a:endParaRPr>
          </a:p>
          <a:p>
            <a:pPr marL="0" lvl="0">
              <a:spcBef>
                <a:spcPts val="600"/>
              </a:spcBef>
              <a:spcAft>
                <a:spcPts val="600"/>
              </a:spcAft>
              <a:buNone/>
            </a:pPr>
            <a:r>
              <a:rPr lang="en-AU" sz="2200" dirty="0" smtClean="0">
                <a:latin typeface="Helvetica" pitchFamily="34" charset="0"/>
              </a:rPr>
              <a:t>Identifying situations that may require contingency management plans, including:</a:t>
            </a:r>
            <a:endParaRPr lang="en-US" sz="2200" dirty="0" smtClean="0">
              <a:latin typeface="Helvetica" pitchFamily="34" charset="0"/>
            </a:endParaRPr>
          </a:p>
          <a:p>
            <a:pPr lvl="0">
              <a:spcBef>
                <a:spcPts val="600"/>
              </a:spcBef>
              <a:spcAft>
                <a:spcPts val="600"/>
              </a:spcAft>
            </a:pPr>
            <a:r>
              <a:rPr lang="en-US" sz="2200" dirty="0" smtClean="0">
                <a:latin typeface="Helvetica" pitchFamily="34" charset="0"/>
              </a:rPr>
              <a:t>Operational issues</a:t>
            </a:r>
          </a:p>
          <a:p>
            <a:pPr lvl="0">
              <a:spcBef>
                <a:spcPts val="600"/>
              </a:spcBef>
              <a:spcAft>
                <a:spcPts val="600"/>
              </a:spcAft>
            </a:pPr>
            <a:r>
              <a:rPr lang="en-US" sz="2200" dirty="0" smtClean="0">
                <a:latin typeface="Helvetica" pitchFamily="34" charset="0"/>
              </a:rPr>
              <a:t>Time-related issues</a:t>
            </a:r>
          </a:p>
          <a:p>
            <a:pPr lvl="0">
              <a:spcBef>
                <a:spcPts val="600"/>
              </a:spcBef>
              <a:spcAft>
                <a:spcPts val="600"/>
              </a:spcAft>
            </a:pPr>
            <a:r>
              <a:rPr lang="en-US" sz="2200" dirty="0" smtClean="0">
                <a:latin typeface="Helvetica" pitchFamily="34" charset="0"/>
              </a:rPr>
              <a:t>Changed marketplace conditions</a:t>
            </a:r>
          </a:p>
          <a:p>
            <a:pPr lvl="0">
              <a:spcBef>
                <a:spcPts val="600"/>
              </a:spcBef>
              <a:spcAft>
                <a:spcPts val="600"/>
              </a:spcAft>
            </a:pPr>
            <a:r>
              <a:rPr lang="en-US" sz="2200" dirty="0" smtClean="0">
                <a:latin typeface="Helvetica" pitchFamily="34" charset="0"/>
              </a:rPr>
              <a:t>Obtaining stakeholder agreement</a:t>
            </a:r>
          </a:p>
          <a:p>
            <a:pPr lvl="0">
              <a:spcBef>
                <a:spcPts val="600"/>
              </a:spcBef>
              <a:spcAft>
                <a:spcPts val="600"/>
              </a:spcAft>
            </a:pPr>
            <a:r>
              <a:rPr lang="en-AU" sz="2200" dirty="0" smtClean="0">
                <a:latin typeface="Helvetica" pitchFamily="34" charset="0"/>
              </a:rPr>
              <a:t>Identifying trigger points for implementation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Developing contingency management structure, composition and policies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Writing and approving draft contingency management plans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7" name="Picture 6" descr="hj.jpg"/>
          <p:cNvPicPr/>
          <p:nvPr/>
        </p:nvPicPr>
        <p:blipFill>
          <a:blip r:embed="rId3" cstate="print"/>
          <a:stretch>
            <a:fillRect/>
          </a:stretch>
        </p:blipFill>
        <p:spPr>
          <a:xfrm>
            <a:off x="6084168" y="2780928"/>
            <a:ext cx="2019300" cy="135255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project contingency plans</a:t>
            </a:r>
          </a:p>
        </p:txBody>
      </p:sp>
      <p:sp>
        <p:nvSpPr>
          <p:cNvPr id="3" name="Content Placeholder 2"/>
          <p:cNvSpPr>
            <a:spLocks noGrp="1"/>
          </p:cNvSpPr>
          <p:nvPr>
            <p:ph idx="1"/>
          </p:nvPr>
        </p:nvSpPr>
        <p:spPr>
          <a:xfrm>
            <a:off x="539552" y="1412776"/>
            <a:ext cx="7467600" cy="5112568"/>
          </a:xfrm>
        </p:spPr>
        <p:txBody>
          <a:bodyPr>
            <a:normAutofit/>
          </a:bodyPr>
          <a:lstStyle/>
          <a:p>
            <a:pPr>
              <a:spcBef>
                <a:spcPts val="600"/>
              </a:spcBef>
              <a:spcAft>
                <a:spcPts val="1200"/>
              </a:spcAft>
              <a:buNone/>
            </a:pPr>
            <a:r>
              <a:rPr lang="en-AU" sz="2100" b="1" dirty="0" smtClean="0">
                <a:latin typeface="Helvetica" pitchFamily="34" charset="0"/>
              </a:rPr>
              <a:t>Common contingencies to be addressed</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Unsuccessful activities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Substandard work performed by contractors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Inability of service providers to provide products </a:t>
            </a:r>
            <a:br>
              <a:rPr lang="en-AU" sz="2100" dirty="0" smtClean="0">
                <a:latin typeface="Helvetica" pitchFamily="34" charset="0"/>
              </a:rPr>
            </a:br>
            <a:r>
              <a:rPr lang="en-AU" sz="2100" dirty="0" smtClean="0">
                <a:latin typeface="Helvetica" pitchFamily="34" charset="0"/>
              </a:rPr>
              <a:t>and services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Terrorism</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Economic collapse</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Faults and malfunctions occur with significant organisational equipment and systems </a:t>
            </a:r>
            <a:endParaRPr lang="en-US" sz="2100" dirty="0" smtClean="0">
              <a:latin typeface="Helvetica" pitchFamily="34" charset="0"/>
            </a:endParaRPr>
          </a:p>
          <a:p>
            <a:pPr>
              <a:spcBef>
                <a:spcPts val="600"/>
              </a:spcBef>
              <a:spcAft>
                <a:spcPts val="1200"/>
              </a:spcAft>
            </a:pPr>
            <a:r>
              <a:rPr lang="en-AU" sz="2100" dirty="0" smtClean="0">
                <a:latin typeface="Helvetica" pitchFamily="34" charset="0"/>
              </a:rPr>
              <a:t>Adverse weather conditions </a:t>
            </a: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7" name="Picture 6" descr="shutterstock_150502661.jpg"/>
          <p:cNvPicPr/>
          <p:nvPr/>
        </p:nvPicPr>
        <p:blipFill>
          <a:blip r:embed="rId3" cstate="print"/>
          <a:stretch>
            <a:fillRect/>
          </a:stretch>
        </p:blipFill>
        <p:spPr>
          <a:xfrm>
            <a:off x="7092280" y="3140968"/>
            <a:ext cx="1876425" cy="1247775"/>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project contingency plans</a:t>
            </a: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AU" sz="2200" b="1" dirty="0" smtClean="0">
                <a:latin typeface="Helvetica" pitchFamily="34" charset="0"/>
              </a:rPr>
              <a:t>Common contingencies to be addressed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Changes to bookings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Labour disputes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Funding shortfalls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Data loss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 Loss of a major client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Power failure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Loss or absence of key staff</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Death of customer</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7" name="Picture 6" descr="shutterstock_129508757.jpg"/>
          <p:cNvPicPr/>
          <p:nvPr/>
        </p:nvPicPr>
        <p:blipFill>
          <a:blip r:embed="rId3" cstate="print"/>
          <a:stretch>
            <a:fillRect/>
          </a:stretch>
        </p:blipFill>
        <p:spPr>
          <a:xfrm>
            <a:off x="6084168" y="3212976"/>
            <a:ext cx="1840230" cy="1219200"/>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project contingency plans</a:t>
            </a: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600"/>
              </a:spcAft>
              <a:buNone/>
            </a:pPr>
            <a:r>
              <a:rPr lang="en-AU" sz="2200" b="1" dirty="0" smtClean="0">
                <a:latin typeface="Helvetica" pitchFamily="34" charset="0"/>
              </a:rPr>
              <a:t>Contents of a contingency plan</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Title of the plan</a:t>
            </a:r>
          </a:p>
          <a:p>
            <a:pPr>
              <a:spcBef>
                <a:spcPts val="600"/>
              </a:spcBef>
              <a:spcAft>
                <a:spcPts val="600"/>
              </a:spcAft>
            </a:pPr>
            <a:r>
              <a:rPr lang="en-AU" sz="2200" dirty="0" smtClean="0">
                <a:latin typeface="Helvetica" pitchFamily="34" charset="0"/>
              </a:rPr>
              <a:t>Actions to take</a:t>
            </a:r>
          </a:p>
          <a:p>
            <a:pPr>
              <a:spcBef>
                <a:spcPts val="600"/>
              </a:spcBef>
              <a:spcAft>
                <a:spcPts val="600"/>
              </a:spcAft>
            </a:pPr>
            <a:r>
              <a:rPr lang="en-AU" sz="2200" dirty="0" smtClean="0">
                <a:latin typeface="Helvetica" pitchFamily="34" charset="0"/>
              </a:rPr>
              <a:t>Conditions and circumstances for action</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Responsibilities for actions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Timelines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Resources</a:t>
            </a:r>
          </a:p>
          <a:p>
            <a:pPr>
              <a:spcBef>
                <a:spcPts val="600"/>
              </a:spcBef>
              <a:spcAft>
                <a:spcPts val="600"/>
              </a:spcAft>
            </a:pPr>
            <a:r>
              <a:rPr lang="en-AU" sz="2200" dirty="0" smtClean="0">
                <a:latin typeface="Helvetica" pitchFamily="34" charset="0"/>
              </a:rPr>
              <a:t>Parameters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Intended results</a:t>
            </a:r>
            <a:endParaRPr lang="en-US" sz="2200" dirty="0" smtClean="0">
              <a:latin typeface="Helvetica" pitchFamily="34" charset="0"/>
            </a:endParaRPr>
          </a:p>
          <a:p>
            <a:pPr>
              <a:spcBef>
                <a:spcPts val="600"/>
              </a:spcBef>
              <a:spcAft>
                <a:spcPts val="600"/>
              </a:spcAft>
              <a:buNone/>
            </a:pPr>
            <a:r>
              <a:rPr lang="en-AU" sz="2200" b="1" dirty="0" smtClean="0">
                <a:solidFill>
                  <a:srgbClr val="FF6600"/>
                </a:solidFill>
                <a:latin typeface="Helvetica" pitchFamily="34" charset="0"/>
              </a:rPr>
              <a:t>COMPLETE ACTIVITY 16</a:t>
            </a:r>
            <a:endParaRPr lang="en-US" sz="2200" b="1" dirty="0" smtClean="0">
              <a:latin typeface="Helvetica" pitchFamily="34" charset="0"/>
            </a:endParaRPr>
          </a:p>
          <a:p>
            <a:endParaRPr lang="en-US" sz="2400" dirty="0" smtClean="0"/>
          </a:p>
          <a:p>
            <a:endParaRPr lang="en-US" sz="2400" dirty="0" smtClean="0"/>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7" name="Picture 6" descr="shutterstock_184837817.jpg"/>
          <p:cNvPicPr/>
          <p:nvPr/>
        </p:nvPicPr>
        <p:blipFill>
          <a:blip r:embed="rId3" cstate="print"/>
          <a:stretch>
            <a:fillRect/>
          </a:stretch>
        </p:blipFill>
        <p:spPr>
          <a:xfrm>
            <a:off x="6300192" y="3645024"/>
            <a:ext cx="1847850" cy="123825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teams to support project</a:t>
            </a:r>
          </a:p>
        </p:txBody>
      </p:sp>
      <p:sp>
        <p:nvSpPr>
          <p:cNvPr id="3" name="Content Placeholder 2"/>
          <p:cNvSpPr>
            <a:spLocks noGrp="1"/>
          </p:cNvSpPr>
          <p:nvPr>
            <p:ph idx="1"/>
          </p:nvPr>
        </p:nvSpPr>
        <p:spPr>
          <a:xfrm>
            <a:off x="611560" y="1556792"/>
            <a:ext cx="7467600" cy="5112568"/>
          </a:xfrm>
        </p:spPr>
        <p:txBody>
          <a:bodyPr>
            <a:normAutofit/>
          </a:bodyPr>
          <a:lstStyle/>
          <a:p>
            <a:pPr marL="0">
              <a:spcBef>
                <a:spcPts val="600"/>
              </a:spcBef>
              <a:spcAft>
                <a:spcPts val="1200"/>
              </a:spcAft>
              <a:buNone/>
            </a:pPr>
            <a:r>
              <a:rPr lang="en-AU" sz="2200" dirty="0" smtClean="0">
                <a:latin typeface="Helvetica" pitchFamily="34" charset="0"/>
              </a:rPr>
              <a:t>Once all the plans have been identified for proposed projects or programs, it is now time to identify:</a:t>
            </a:r>
          </a:p>
          <a:p>
            <a:pPr>
              <a:spcBef>
                <a:spcPts val="600"/>
              </a:spcBef>
              <a:spcAft>
                <a:spcPts val="1200"/>
              </a:spcAft>
            </a:pPr>
            <a:r>
              <a:rPr lang="en-AU" sz="2200" dirty="0" smtClean="0">
                <a:latin typeface="Helvetica" pitchFamily="34" charset="0"/>
              </a:rPr>
              <a:t>The structure of the different roles required to successfully implement all initiatives and</a:t>
            </a:r>
          </a:p>
          <a:p>
            <a:pPr>
              <a:spcBef>
                <a:spcPts val="600"/>
              </a:spcBef>
              <a:spcAft>
                <a:spcPts val="1200"/>
              </a:spcAft>
            </a:pPr>
            <a:r>
              <a:rPr lang="en-AU" sz="2200" dirty="0" smtClean="0">
                <a:latin typeface="Helvetica" pitchFamily="34" charset="0"/>
              </a:rPr>
              <a:t>Possible learning and development to get personnel equipped to undertake their roles</a:t>
            </a:r>
            <a:endParaRPr lang="en-US" sz="2200" b="1" dirty="0" smtClean="0">
              <a:latin typeface="Helvetica" pitchFamily="34" charset="0"/>
            </a:endParaRPr>
          </a:p>
          <a:p>
            <a:endParaRPr lang="en-US" sz="2400" dirty="0" smtClean="0"/>
          </a:p>
          <a:p>
            <a:endParaRPr lang="en-US" sz="2400" dirty="0" smtClean="0"/>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6" name="Picture 5" descr="jm.jpg"/>
          <p:cNvPicPr>
            <a:picLocks noChangeAspect="1"/>
          </p:cNvPicPr>
          <p:nvPr/>
        </p:nvPicPr>
        <p:blipFill>
          <a:blip r:embed="rId3" cstate="print"/>
          <a:stretch>
            <a:fillRect/>
          </a:stretch>
        </p:blipFill>
        <p:spPr>
          <a:xfrm>
            <a:off x="3563888" y="4365104"/>
            <a:ext cx="1283968" cy="1932818"/>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teams to support project</a:t>
            </a: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600"/>
              </a:spcAft>
              <a:buNone/>
            </a:pPr>
            <a:r>
              <a:rPr lang="en-AU" sz="2100" b="1" dirty="0" smtClean="0">
                <a:latin typeface="Helvetica" pitchFamily="34" charset="0"/>
              </a:rPr>
              <a:t>Identify team structure for projects / programs</a:t>
            </a:r>
            <a:endParaRPr lang="en-US" sz="2100" b="1" dirty="0" smtClean="0">
              <a:latin typeface="Helvetica" pitchFamily="34" charset="0"/>
            </a:endParaRPr>
          </a:p>
          <a:p>
            <a:pPr lvl="0">
              <a:spcBef>
                <a:spcPts val="600"/>
              </a:spcBef>
              <a:spcAft>
                <a:spcPts val="600"/>
              </a:spcAft>
            </a:pPr>
            <a:r>
              <a:rPr lang="en-AU" sz="2100" dirty="0" smtClean="0">
                <a:latin typeface="Helvetica" pitchFamily="34" charset="0"/>
              </a:rPr>
              <a:t>Structure of the team</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Possible positions and titles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Lines of authority, responsibility and communication</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Key responsibilities and tasks for each position</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Size of teams for each position</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Selecting appropriate persons by matching team skills to the identified program/project needs, objectives, purpose or outcomes</a:t>
            </a:r>
          </a:p>
          <a:p>
            <a:pPr>
              <a:spcBef>
                <a:spcPts val="600"/>
              </a:spcBef>
              <a:spcAft>
                <a:spcPts val="600"/>
              </a:spcAft>
              <a:buNone/>
            </a:pPr>
            <a:endParaRPr lang="en-AU" sz="2100" b="1" dirty="0" smtClean="0">
              <a:solidFill>
                <a:srgbClr val="FF6600"/>
              </a:solidFill>
              <a:latin typeface="Helvetica" pitchFamily="34" charset="0"/>
            </a:endParaRPr>
          </a:p>
          <a:p>
            <a:pPr>
              <a:spcBef>
                <a:spcPts val="600"/>
              </a:spcBef>
              <a:spcAft>
                <a:spcPts val="600"/>
              </a:spcAft>
              <a:buNone/>
            </a:pPr>
            <a:r>
              <a:rPr lang="en-AU" sz="2100" b="1" dirty="0" smtClean="0">
                <a:solidFill>
                  <a:srgbClr val="FF6600"/>
                </a:solidFill>
                <a:latin typeface="Helvetica" pitchFamily="34" charset="0"/>
              </a:rPr>
              <a:t>COMPLETE ACTIVITY 17</a:t>
            </a:r>
            <a:endParaRPr lang="en-US" sz="2100" b="1" dirty="0" smtClean="0">
              <a:latin typeface="Helvetica" pitchFamily="34" charset="0"/>
            </a:endParaRPr>
          </a:p>
          <a:p>
            <a:pPr lvl="0">
              <a:spcBef>
                <a:spcPts val="600"/>
              </a:spcBef>
              <a:spcAft>
                <a:spcPts val="600"/>
              </a:spcAft>
            </a:pPr>
            <a:endParaRPr lang="en-US" sz="2100" dirty="0" smtClean="0">
              <a:latin typeface="Helvetica" pitchFamily="34" charset="0"/>
            </a:endParaRPr>
          </a:p>
          <a:p>
            <a:endParaRPr lang="en-US" sz="2100" dirty="0" smtClean="0"/>
          </a:p>
          <a:p>
            <a:endParaRPr lang="en-US" sz="2100" dirty="0" smtClean="0"/>
          </a:p>
          <a:p>
            <a:endParaRPr lang="en-US" sz="2100" dirty="0" smtClean="0"/>
          </a:p>
          <a:p>
            <a:endParaRPr lang="en-US"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7" name="Picture 6" descr="AA1.png"/>
          <p:cNvPicPr/>
          <p:nvPr/>
        </p:nvPicPr>
        <p:blipFill>
          <a:blip r:embed="rId3" cstate="print"/>
          <a:stretch>
            <a:fillRect/>
          </a:stretch>
        </p:blipFill>
        <p:spPr>
          <a:xfrm>
            <a:off x="5508104" y="5373216"/>
            <a:ext cx="3147685" cy="991741"/>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teams to support project</a:t>
            </a: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US" sz="2200" b="1" dirty="0" smtClean="0">
                <a:latin typeface="Helvetica" pitchFamily="34" charset="0"/>
              </a:rPr>
              <a:t>Develop project/program team </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The process of i</a:t>
            </a:r>
            <a:r>
              <a:rPr lang="en-AU" sz="2200" dirty="0" smtClean="0">
                <a:latin typeface="Helvetica" pitchFamily="34" charset="0"/>
              </a:rPr>
              <a:t>mplementing training and development for a project team may involve: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Analyse training needs through gap analysis on project specifications and available capabilities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Establish training needs for project team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Organise learning for individuals or in groups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Monitor learning roadmap to ensure                               adherence to plan</a:t>
            </a:r>
            <a:endParaRPr lang="en-US" sz="2200" dirty="0" smtClean="0">
              <a:latin typeface="Helvetica" pitchFamily="34" charset="0"/>
            </a:endParaRPr>
          </a:p>
          <a:p>
            <a:pPr>
              <a:spcBef>
                <a:spcPts val="600"/>
              </a:spcBef>
              <a:spcAft>
                <a:spcPts val="600"/>
              </a:spcAft>
              <a:buNone/>
            </a:pPr>
            <a:endParaRPr lang="en-AU" sz="2200" b="1" dirty="0" smtClean="0">
              <a:solidFill>
                <a:srgbClr val="FF6600"/>
              </a:solidFill>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endParaRPr lang="en-US" sz="2400" dirty="0" smtClean="0"/>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6" name="Picture 5" descr="shutterstock_131706869.jpg"/>
          <p:cNvPicPr/>
          <p:nvPr/>
        </p:nvPicPr>
        <p:blipFill>
          <a:blip r:embed="rId3" cstate="print"/>
          <a:stretch>
            <a:fillRect/>
          </a:stretch>
        </p:blipFill>
        <p:spPr>
          <a:xfrm>
            <a:off x="7562850" y="3789040"/>
            <a:ext cx="1581150" cy="1304925"/>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teams to support project</a:t>
            </a:r>
          </a:p>
        </p:txBody>
      </p:sp>
      <p:sp>
        <p:nvSpPr>
          <p:cNvPr id="3" name="Content Placeholder 2"/>
          <p:cNvSpPr>
            <a:spLocks noGrp="1"/>
          </p:cNvSpPr>
          <p:nvPr>
            <p:ph idx="1"/>
          </p:nvPr>
        </p:nvSpPr>
        <p:spPr>
          <a:xfrm>
            <a:off x="539552" y="1484784"/>
            <a:ext cx="7467600" cy="5112568"/>
          </a:xfrm>
        </p:spPr>
        <p:txBody>
          <a:bodyPr>
            <a:normAutofit/>
          </a:bodyPr>
          <a:lstStyle/>
          <a:p>
            <a:pPr>
              <a:spcBef>
                <a:spcPts val="600"/>
              </a:spcBef>
              <a:spcAft>
                <a:spcPts val="1200"/>
              </a:spcAft>
              <a:buNone/>
            </a:pPr>
            <a:r>
              <a:rPr lang="en-AU" sz="2100" b="1" dirty="0" smtClean="0">
                <a:latin typeface="Helvetica" pitchFamily="34" charset="0"/>
              </a:rPr>
              <a:t>Identify learning and development opportunities</a:t>
            </a:r>
            <a:endParaRPr lang="en-US" sz="2100" dirty="0" smtClean="0">
              <a:latin typeface="Helvetica" pitchFamily="34" charset="0"/>
            </a:endParaRPr>
          </a:p>
          <a:p>
            <a:pPr marL="0">
              <a:spcBef>
                <a:spcPts val="600"/>
              </a:spcBef>
              <a:spcAft>
                <a:spcPts val="1200"/>
              </a:spcAft>
              <a:buNone/>
            </a:pPr>
            <a:r>
              <a:rPr lang="en-AU" sz="2100" dirty="0" smtClean="0">
                <a:latin typeface="Helvetica" pitchFamily="34" charset="0"/>
              </a:rPr>
              <a:t>All learning activities should, therefore be selected to ensure they:</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Appropriate to the identified project and </a:t>
            </a:r>
            <a:br>
              <a:rPr lang="en-AU" sz="2100" dirty="0" smtClean="0">
                <a:latin typeface="Helvetica" pitchFamily="34" charset="0"/>
              </a:rPr>
            </a:br>
            <a:r>
              <a:rPr lang="en-AU" sz="2100" dirty="0" smtClean="0">
                <a:latin typeface="Helvetica" pitchFamily="34" charset="0"/>
              </a:rPr>
              <a:t>learning objectives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Appropriate, suitable and acceptable to the </a:t>
            </a:r>
            <a:br>
              <a:rPr lang="en-AU" sz="2100" dirty="0" smtClean="0">
                <a:latin typeface="Helvetica" pitchFamily="34" charset="0"/>
              </a:rPr>
            </a:br>
            <a:r>
              <a:rPr lang="en-AU" sz="2100" dirty="0" smtClean="0">
                <a:latin typeface="Helvetica" pitchFamily="34" charset="0"/>
              </a:rPr>
              <a:t>preferred learning style of participants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Appropriate to the equipment and                               resources available to support the activity</a:t>
            </a:r>
          </a:p>
          <a:p>
            <a:pPr>
              <a:spcBef>
                <a:spcPts val="600"/>
              </a:spcBef>
              <a:spcAft>
                <a:spcPts val="600"/>
              </a:spcAft>
              <a:buNone/>
            </a:pPr>
            <a:endParaRPr lang="en-AU" sz="2100" b="1" dirty="0" smtClean="0">
              <a:solidFill>
                <a:srgbClr val="FF6600"/>
              </a:solidFill>
              <a:latin typeface="Helvetica" pitchFamily="34" charset="0"/>
            </a:endParaRPr>
          </a:p>
          <a:p>
            <a:pPr lvl="0">
              <a:spcBef>
                <a:spcPts val="600"/>
              </a:spcBef>
              <a:spcAft>
                <a:spcPts val="600"/>
              </a:spcAft>
            </a:pPr>
            <a:endParaRPr lang="en-US" sz="2100" dirty="0" smtClean="0">
              <a:latin typeface="Helvetica" pitchFamily="34" charset="0"/>
            </a:endParaRPr>
          </a:p>
          <a:p>
            <a:endParaRPr lang="en-US" sz="2100" dirty="0" smtClean="0"/>
          </a:p>
          <a:p>
            <a:endParaRPr lang="en-US" sz="2100" dirty="0" smtClean="0"/>
          </a:p>
          <a:p>
            <a:endParaRPr lang="en-US" sz="2100" dirty="0" smtClean="0"/>
          </a:p>
          <a:p>
            <a:endParaRPr lang="en-US"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8" name="Picture 7" descr="shutterstock_122825389.jpg"/>
          <p:cNvPicPr/>
          <p:nvPr/>
        </p:nvPicPr>
        <p:blipFill>
          <a:blip r:embed="rId3" cstate="print"/>
          <a:stretch>
            <a:fillRect/>
          </a:stretch>
        </p:blipFill>
        <p:spPr>
          <a:xfrm>
            <a:off x="7115175" y="2996952"/>
            <a:ext cx="2028825" cy="1390650"/>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teams to support project</a:t>
            </a:r>
          </a:p>
        </p:txBody>
      </p:sp>
      <p:sp>
        <p:nvSpPr>
          <p:cNvPr id="3" name="Content Placeholder 2"/>
          <p:cNvSpPr>
            <a:spLocks noGrp="1"/>
          </p:cNvSpPr>
          <p:nvPr>
            <p:ph idx="1"/>
          </p:nvPr>
        </p:nvSpPr>
        <p:spPr>
          <a:xfrm>
            <a:off x="611560" y="1556792"/>
            <a:ext cx="7467600" cy="5112568"/>
          </a:xfrm>
        </p:spPr>
        <p:txBody>
          <a:bodyPr>
            <a:normAutofit/>
          </a:bodyPr>
          <a:lstStyle/>
          <a:p>
            <a:pPr>
              <a:spcBef>
                <a:spcPts val="600"/>
              </a:spcBef>
              <a:spcAft>
                <a:spcPts val="1200"/>
              </a:spcAft>
              <a:buNone/>
            </a:pPr>
            <a:r>
              <a:rPr lang="en-AU" sz="2200" b="1" dirty="0" smtClean="0">
                <a:latin typeface="Helvetica" pitchFamily="34" charset="0"/>
              </a:rPr>
              <a:t>Types of learning and development opportunities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types of learning and development opportunities               can be used to develop teams?</a:t>
            </a:r>
            <a:endParaRPr lang="en-US" sz="2200" dirty="0" smtClean="0">
              <a:latin typeface="Helvetica" pitchFamily="34" charset="0"/>
            </a:endParaRPr>
          </a:p>
          <a:p>
            <a:pPr>
              <a:spcBef>
                <a:spcPts val="600"/>
              </a:spcBef>
              <a:spcAft>
                <a:spcPts val="600"/>
              </a:spcAft>
              <a:buNone/>
            </a:pPr>
            <a:endParaRPr lang="en-AU" sz="2200" b="1" dirty="0" smtClean="0">
              <a:solidFill>
                <a:srgbClr val="FF6600"/>
              </a:solidFill>
              <a:latin typeface="Helvetica" pitchFamily="34" charset="0"/>
            </a:endParaRPr>
          </a:p>
          <a:p>
            <a:pPr>
              <a:spcBef>
                <a:spcPts val="600"/>
              </a:spcBef>
              <a:spcAft>
                <a:spcPts val="600"/>
              </a:spcAft>
              <a:buNone/>
            </a:pPr>
            <a:r>
              <a:rPr lang="en-AU" sz="2200" b="1" dirty="0" smtClean="0">
                <a:solidFill>
                  <a:srgbClr val="FF6600"/>
                </a:solidFill>
                <a:latin typeface="Helvetica" pitchFamily="34" charset="0"/>
              </a:rPr>
              <a:t>COMPLETE ACTIVITY 18</a:t>
            </a:r>
            <a:endParaRPr lang="en-US" sz="2200" b="1" dirty="0" smtClean="0">
              <a:latin typeface="Helvetica" pitchFamily="34" charset="0"/>
            </a:endParaRPr>
          </a:p>
          <a:p>
            <a:pPr lvl="0">
              <a:spcBef>
                <a:spcPts val="600"/>
              </a:spcBef>
              <a:spcAft>
                <a:spcPts val="600"/>
              </a:spcAft>
            </a:pPr>
            <a:endParaRPr lang="en-US" sz="2200" dirty="0" smtClean="0">
              <a:latin typeface="Helvetica" pitchFamily="34" charset="0"/>
            </a:endParaRPr>
          </a:p>
          <a:p>
            <a:endParaRPr lang="en-US" sz="2400" dirty="0" smtClean="0"/>
          </a:p>
          <a:p>
            <a:endParaRPr lang="en-US" sz="2400" dirty="0" smtClean="0"/>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6" name="Picture 5" descr="A5 shutterstock_131103662.jpg"/>
          <p:cNvPicPr/>
          <p:nvPr/>
        </p:nvPicPr>
        <p:blipFill>
          <a:blip r:embed="rId3" cstate="print"/>
          <a:stretch>
            <a:fillRect/>
          </a:stretch>
        </p:blipFill>
        <p:spPr>
          <a:xfrm>
            <a:off x="6228184" y="3284984"/>
            <a:ext cx="1933575" cy="1285875"/>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8280920" cy="4680520"/>
          </a:xfrm>
        </p:spPr>
        <p:txBody>
          <a:bodyPr>
            <a:normAutofit/>
          </a:bodyPr>
          <a:lstStyle/>
          <a:p>
            <a:pPr marL="0">
              <a:buNone/>
            </a:pPr>
            <a:r>
              <a:rPr lang="en-AU" sz="4000" b="1" dirty="0" smtClean="0">
                <a:solidFill>
                  <a:srgbClr val="FF6600"/>
                </a:solidFill>
                <a:latin typeface="Helvetica" pitchFamily="34" charset="0"/>
              </a:rPr>
              <a:t>Element 2:</a:t>
            </a:r>
          </a:p>
          <a:p>
            <a:pPr marL="0">
              <a:buNone/>
            </a:pPr>
            <a:r>
              <a:rPr lang="en-US" sz="4000" dirty="0" smtClean="0">
                <a:solidFill>
                  <a:srgbClr val="FF6600"/>
                </a:solidFill>
              </a:rPr>
              <a:t>Coordinate the administration of the innovative tourism program/project</a:t>
            </a:r>
            <a:endParaRPr lang="en-US" sz="4000"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descr="10.jpg"/>
          <p:cNvPicPr>
            <a:picLocks noChangeAspect="1"/>
          </p:cNvPicPr>
          <p:nvPr/>
        </p:nvPicPr>
        <p:blipFill>
          <a:blip r:embed="rId3" cstate="print"/>
          <a:stretch>
            <a:fillRect/>
          </a:stretch>
        </p:blipFill>
        <p:spPr>
          <a:xfrm>
            <a:off x="3347864" y="4005064"/>
            <a:ext cx="2589491" cy="1728192"/>
          </a:xfrm>
          <a:prstGeom prst="rect">
            <a:avLst/>
          </a:prstGeom>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200" b="1" dirty="0" smtClean="0">
                <a:solidFill>
                  <a:srgbClr val="FF6600"/>
                </a:solidFill>
                <a:latin typeface="Helvetica" pitchFamily="34" charset="0"/>
              </a:rPr>
              <a:t>Coordinate the administration of the innovative tourism program/project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Allocate tasks and resources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Maintain financial control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Monitor program/project progress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Report program/project progress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Maintain program/project records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Manage start-up activities and manage project implementation</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descr="hq.jpg"/>
          <p:cNvPicPr>
            <a:picLocks noChangeAspect="1"/>
          </p:cNvPicPr>
          <p:nvPr/>
        </p:nvPicPr>
        <p:blipFill>
          <a:blip r:embed="rId3" cstate="print"/>
          <a:stretch>
            <a:fillRect/>
          </a:stretch>
        </p:blipFill>
        <p:spPr>
          <a:xfrm>
            <a:off x="6660232" y="2348880"/>
            <a:ext cx="1423048" cy="2124606"/>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Allocate tasks and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Activities associated with allocating tasks and resources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Complying with approved/established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Modifying allocations on the basis of extra funds available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Taking action to address changes in the operational and implementation context for the program/project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Communicating actions taken to the appropriate team members and relevant stakeholders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descr="shutterstock_191506634.jpg"/>
          <p:cNvPicPr/>
          <p:nvPr/>
        </p:nvPicPr>
        <p:blipFill>
          <a:blip r:embed="rId3" cstate="print"/>
          <a:stretch>
            <a:fillRect/>
          </a:stretch>
        </p:blipFill>
        <p:spPr>
          <a:xfrm>
            <a:off x="3635896" y="5085184"/>
            <a:ext cx="1859900" cy="123919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Allocate tasks and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Activities associated with allocating tasks and resources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Recording actions taken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resource allocations align with established guidelines and accountability protocols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transparency of relevant decision making processes and the expenditure of funds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descr="1b.jpg"/>
          <p:cNvPicPr/>
          <p:nvPr/>
        </p:nvPicPr>
        <p:blipFill>
          <a:blip r:embed="rId3" cstate="print"/>
          <a:stretch>
            <a:fillRect/>
          </a:stretch>
        </p:blipFill>
        <p:spPr>
          <a:xfrm>
            <a:off x="3563888" y="4653136"/>
            <a:ext cx="2012692" cy="137274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Allocate tasks and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5445224"/>
          </a:xfrm>
        </p:spPr>
        <p:txBody>
          <a:bodyPr>
            <a:normAutofit/>
          </a:bodyPr>
          <a:lstStyle/>
          <a:p>
            <a:pPr>
              <a:spcBef>
                <a:spcPts val="600"/>
              </a:spcBef>
              <a:spcAft>
                <a:spcPts val="600"/>
              </a:spcAft>
              <a:buNone/>
            </a:pPr>
            <a:r>
              <a:rPr lang="en-GB" sz="2100" b="1" dirty="0" smtClean="0">
                <a:latin typeface="Helvetica" pitchFamily="34" charset="0"/>
              </a:rPr>
              <a:t>Project/program implementation considerations</a:t>
            </a:r>
            <a:endParaRPr lang="en-US" sz="2100" b="1" dirty="0" smtClean="0">
              <a:latin typeface="Helvetica" pitchFamily="34" charset="0"/>
            </a:endParaRPr>
          </a:p>
          <a:p>
            <a:pPr lvl="0">
              <a:spcBef>
                <a:spcPts val="600"/>
              </a:spcBef>
              <a:spcAft>
                <a:spcPts val="600"/>
              </a:spcAft>
            </a:pPr>
            <a:r>
              <a:rPr lang="en-GB" sz="2100" dirty="0" smtClean="0">
                <a:latin typeface="Helvetica" pitchFamily="34" charset="0"/>
              </a:rPr>
              <a:t>Compliance requirements </a:t>
            </a:r>
            <a:endParaRPr lang="en-US" sz="2100" b="1" dirty="0" smtClean="0">
              <a:latin typeface="Helvetica" pitchFamily="34" charset="0"/>
            </a:endParaRPr>
          </a:p>
          <a:p>
            <a:pPr lvl="0">
              <a:spcBef>
                <a:spcPts val="600"/>
              </a:spcBef>
              <a:spcAft>
                <a:spcPts val="600"/>
              </a:spcAft>
            </a:pPr>
            <a:r>
              <a:rPr lang="en-GB" sz="2100" dirty="0" smtClean="0">
                <a:latin typeface="Helvetica" pitchFamily="34" charset="0"/>
              </a:rPr>
              <a:t>Occupational safety and health (OSH) </a:t>
            </a:r>
            <a:endParaRPr lang="en-US" sz="2100" b="1" dirty="0" smtClean="0">
              <a:latin typeface="Helvetica" pitchFamily="34" charset="0"/>
            </a:endParaRPr>
          </a:p>
          <a:p>
            <a:pPr lvl="0">
              <a:spcBef>
                <a:spcPts val="600"/>
              </a:spcBef>
              <a:spcAft>
                <a:spcPts val="600"/>
              </a:spcAft>
            </a:pPr>
            <a:r>
              <a:rPr lang="en-GB" sz="2100" dirty="0" smtClean="0">
                <a:latin typeface="Helvetica" pitchFamily="34" charset="0"/>
              </a:rPr>
              <a:t>Legal liability exposure </a:t>
            </a:r>
            <a:endParaRPr lang="en-US" sz="2100" b="1" dirty="0" smtClean="0">
              <a:latin typeface="Helvetica" pitchFamily="34" charset="0"/>
            </a:endParaRPr>
          </a:p>
          <a:p>
            <a:pPr lvl="0">
              <a:spcBef>
                <a:spcPts val="600"/>
              </a:spcBef>
              <a:spcAft>
                <a:spcPts val="600"/>
              </a:spcAft>
            </a:pPr>
            <a:r>
              <a:rPr lang="en-GB" sz="2100" dirty="0" smtClean="0">
                <a:latin typeface="Helvetica" pitchFamily="34" charset="0"/>
              </a:rPr>
              <a:t>Integration with other aspects of the </a:t>
            </a:r>
            <a:br>
              <a:rPr lang="en-GB" sz="2100" dirty="0" smtClean="0">
                <a:latin typeface="Helvetica" pitchFamily="34" charset="0"/>
              </a:rPr>
            </a:br>
            <a:r>
              <a:rPr lang="en-GB" sz="2100" dirty="0" smtClean="0">
                <a:latin typeface="Helvetica" pitchFamily="34" charset="0"/>
              </a:rPr>
              <a:t>business</a:t>
            </a:r>
            <a:endParaRPr lang="en-US" sz="2100" b="1" dirty="0" smtClean="0">
              <a:latin typeface="Helvetica" pitchFamily="34" charset="0"/>
            </a:endParaRPr>
          </a:p>
          <a:p>
            <a:pPr lvl="0">
              <a:spcBef>
                <a:spcPts val="600"/>
              </a:spcBef>
              <a:spcAft>
                <a:spcPts val="600"/>
              </a:spcAft>
            </a:pPr>
            <a:r>
              <a:rPr lang="en-GB" sz="2100" dirty="0" smtClean="0">
                <a:latin typeface="Helvetica" pitchFamily="34" charset="0"/>
              </a:rPr>
              <a:t>Timing issues</a:t>
            </a:r>
            <a:endParaRPr lang="en-US" sz="2100" b="1" dirty="0" smtClean="0">
              <a:latin typeface="Helvetica" pitchFamily="34" charset="0"/>
            </a:endParaRPr>
          </a:p>
          <a:p>
            <a:pPr lvl="0">
              <a:spcBef>
                <a:spcPts val="600"/>
              </a:spcBef>
              <a:spcAft>
                <a:spcPts val="600"/>
              </a:spcAft>
            </a:pPr>
            <a:r>
              <a:rPr lang="en-GB" sz="2100" dirty="0" smtClean="0">
                <a:latin typeface="Helvetica" pitchFamily="34" charset="0"/>
              </a:rPr>
              <a:t>Resources</a:t>
            </a:r>
            <a:endParaRPr lang="en-US" sz="2100" b="1" dirty="0" smtClean="0">
              <a:latin typeface="Helvetica" pitchFamily="34" charset="0"/>
            </a:endParaRPr>
          </a:p>
          <a:p>
            <a:pPr lvl="0">
              <a:spcBef>
                <a:spcPts val="600"/>
              </a:spcBef>
              <a:spcAft>
                <a:spcPts val="600"/>
              </a:spcAft>
            </a:pPr>
            <a:r>
              <a:rPr lang="en-GB" sz="2100" dirty="0" smtClean="0">
                <a:latin typeface="Helvetica" pitchFamily="34" charset="0"/>
              </a:rPr>
              <a:t>Changes to policies and procedures</a:t>
            </a:r>
            <a:endParaRPr lang="en-US" sz="2100" b="1" dirty="0" smtClean="0">
              <a:latin typeface="Helvetica" pitchFamily="34" charset="0"/>
            </a:endParaRPr>
          </a:p>
          <a:p>
            <a:pPr lvl="0">
              <a:spcBef>
                <a:spcPts val="600"/>
              </a:spcBef>
              <a:spcAft>
                <a:spcPts val="600"/>
              </a:spcAft>
            </a:pPr>
            <a:r>
              <a:rPr lang="en-GB" sz="2100" dirty="0" smtClean="0">
                <a:latin typeface="Helvetica" pitchFamily="34" charset="0"/>
              </a:rPr>
              <a:t>Documentation &amp; record keeping </a:t>
            </a:r>
            <a:endParaRPr lang="en-US" sz="2100" b="1" dirty="0" smtClean="0">
              <a:latin typeface="Helvetica" pitchFamily="34" charset="0"/>
            </a:endParaRPr>
          </a:p>
          <a:p>
            <a:pPr lvl="0">
              <a:spcBef>
                <a:spcPts val="600"/>
              </a:spcBef>
              <a:spcAft>
                <a:spcPts val="600"/>
              </a:spcAft>
            </a:pPr>
            <a:r>
              <a:rPr lang="en-GB" sz="2100" dirty="0" smtClean="0">
                <a:latin typeface="Helvetica" pitchFamily="34" charset="0"/>
              </a:rPr>
              <a:t>Impact on organisational culture </a:t>
            </a:r>
            <a:endParaRPr lang="en-US" sz="21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6" name="Picture 5" descr="A16 shutterstock_173793329.jpg"/>
          <p:cNvPicPr/>
          <p:nvPr/>
        </p:nvPicPr>
        <p:blipFill>
          <a:blip r:embed="rId3" cstate="print"/>
          <a:stretch>
            <a:fillRect/>
          </a:stretch>
        </p:blipFill>
        <p:spPr>
          <a:xfrm>
            <a:off x="6228184" y="2996952"/>
            <a:ext cx="1981200" cy="12382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Allocate tasks and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GB" sz="2200" b="1" dirty="0" smtClean="0">
                <a:latin typeface="Helvetica" pitchFamily="34" charset="0"/>
              </a:rPr>
              <a:t>Identify predictable consequences of implementing new projects</a:t>
            </a:r>
            <a:endParaRPr lang="en-US" sz="2200" b="1" dirty="0" smtClean="0">
              <a:latin typeface="Helvetica" pitchFamily="34" charset="0"/>
            </a:endParaRPr>
          </a:p>
          <a:p>
            <a:pPr>
              <a:spcBef>
                <a:spcPts val="600"/>
              </a:spcBef>
              <a:spcAft>
                <a:spcPts val="1200"/>
              </a:spcAft>
            </a:pPr>
            <a:r>
              <a:rPr lang="en-GB" sz="2200" dirty="0" smtClean="0">
                <a:latin typeface="Helvetica" pitchFamily="34" charset="0"/>
              </a:rPr>
              <a:t>Disruptions to routine</a:t>
            </a:r>
          </a:p>
          <a:p>
            <a:pPr>
              <a:spcBef>
                <a:spcPts val="600"/>
              </a:spcBef>
              <a:spcAft>
                <a:spcPts val="1200"/>
              </a:spcAft>
            </a:pPr>
            <a:r>
              <a:rPr lang="en-GB" sz="2200" dirty="0" smtClean="0">
                <a:latin typeface="Helvetica" pitchFamily="34" charset="0"/>
              </a:rPr>
              <a:t>Problems with timelines</a:t>
            </a:r>
            <a:endParaRPr lang="en-US" sz="2200" dirty="0" smtClean="0">
              <a:latin typeface="Helvetica" pitchFamily="34" charset="0"/>
            </a:endParaRPr>
          </a:p>
          <a:p>
            <a:pPr>
              <a:spcBef>
                <a:spcPts val="600"/>
              </a:spcBef>
              <a:spcAft>
                <a:spcPts val="1200"/>
              </a:spcAft>
            </a:pPr>
            <a:r>
              <a:rPr lang="en-GB" sz="2200" dirty="0" smtClean="0">
                <a:latin typeface="Helvetica" pitchFamily="34" charset="0"/>
              </a:rPr>
              <a:t>Issues with reporting structure</a:t>
            </a:r>
            <a:endParaRPr lang="en-US" sz="2200" dirty="0" smtClean="0">
              <a:latin typeface="Helvetica" pitchFamily="34" charset="0"/>
            </a:endParaRPr>
          </a:p>
          <a:p>
            <a:pPr>
              <a:spcBef>
                <a:spcPts val="600"/>
              </a:spcBef>
              <a:spcAft>
                <a:spcPts val="1200"/>
              </a:spcAft>
            </a:pPr>
            <a:r>
              <a:rPr lang="en-GB" sz="2200" dirty="0" smtClean="0">
                <a:latin typeface="Helvetica" pitchFamily="34" charset="0"/>
              </a:rPr>
              <a:t>Extra support required by employees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7" name="Picture 6" descr="shutterstock_198824870.jpg"/>
          <p:cNvPicPr/>
          <p:nvPr/>
        </p:nvPicPr>
        <p:blipFill>
          <a:blip r:embed="rId3" cstate="print"/>
          <a:stretch>
            <a:fillRect/>
          </a:stretch>
        </p:blipFill>
        <p:spPr>
          <a:xfrm>
            <a:off x="6732240" y="2492896"/>
            <a:ext cx="1352550" cy="15240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Allocate tasks and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5445224"/>
          </a:xfrm>
        </p:spPr>
        <p:txBody>
          <a:bodyPr>
            <a:normAutofit/>
          </a:bodyPr>
          <a:lstStyle/>
          <a:p>
            <a:pPr>
              <a:spcBef>
                <a:spcPts val="600"/>
              </a:spcBef>
              <a:spcAft>
                <a:spcPts val="600"/>
              </a:spcAft>
              <a:buNone/>
            </a:pPr>
            <a:r>
              <a:rPr lang="en-AU" sz="2200" b="1" dirty="0" smtClean="0">
                <a:latin typeface="Helvetica" pitchFamily="34" charset="0"/>
              </a:rPr>
              <a:t>Communicating project/program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The nature of the project/program</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Purpose of the project/program</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Background information resulting in the creation </a:t>
            </a:r>
            <a:br>
              <a:rPr lang="en-AU" sz="2200" dirty="0" smtClean="0">
                <a:latin typeface="Helvetica" pitchFamily="34" charset="0"/>
              </a:rPr>
            </a:br>
            <a:r>
              <a:rPr lang="en-AU" sz="2200" dirty="0" smtClean="0">
                <a:latin typeface="Helvetica" pitchFamily="34" charset="0"/>
              </a:rPr>
              <a:t>of the project/program</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Objectives of the project/program</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Overall implementation strategy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Outline of the project/program activities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Timelines for completion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Communication channels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Project expectations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6" name="Picture 5" descr="W649_shutterstock_166633730.jpg"/>
          <p:cNvPicPr/>
          <p:nvPr/>
        </p:nvPicPr>
        <p:blipFill>
          <a:blip r:embed="rId3" cstate="print"/>
          <a:stretch>
            <a:fillRect/>
          </a:stretch>
        </p:blipFill>
        <p:spPr>
          <a:xfrm>
            <a:off x="6444208" y="3573016"/>
            <a:ext cx="1800225" cy="12001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Allocate tasks and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600"/>
              </a:spcAft>
              <a:buNone/>
            </a:pPr>
            <a:r>
              <a:rPr lang="en-AU" sz="2200" b="1" dirty="0" smtClean="0">
                <a:latin typeface="Helvetica" pitchFamily="34" charset="0"/>
              </a:rPr>
              <a:t>Communicating project/program responsibilities and tasks  </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Structure of the project time</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Level of responsibility and authority</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Start dates of change</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Expected completion date</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Pre-change activities including attending meetings, reading job descriptions etc</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Activities to be performed</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Resources required to implement the plan</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7" name="Picture 6" descr="shutterstock_188933945.jpg"/>
          <p:cNvPicPr/>
          <p:nvPr/>
        </p:nvPicPr>
        <p:blipFill>
          <a:blip r:embed="rId3" cstate="print"/>
          <a:srcRect r="13436"/>
          <a:stretch>
            <a:fillRect/>
          </a:stretch>
        </p:blipFill>
        <p:spPr>
          <a:xfrm>
            <a:off x="6300192" y="2348880"/>
            <a:ext cx="1944216" cy="14954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Allocate tasks and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846640" cy="5445224"/>
          </a:xfrm>
        </p:spPr>
        <p:txBody>
          <a:bodyPr>
            <a:normAutofit/>
          </a:bodyPr>
          <a:lstStyle/>
          <a:p>
            <a:pPr marL="0">
              <a:spcBef>
                <a:spcPts val="600"/>
              </a:spcBef>
              <a:spcAft>
                <a:spcPts val="600"/>
              </a:spcAft>
              <a:buNone/>
            </a:pPr>
            <a:r>
              <a:rPr lang="en-AU" sz="2200" b="1" dirty="0" smtClean="0">
                <a:latin typeface="Helvetica" pitchFamily="34" charset="0"/>
              </a:rPr>
              <a:t>Communicating project/program responsibilities and tasks  </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Work breakdown</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Involvement of other staff</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Training to be taken </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Support mechanisms</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Expected standard of performance</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Milestones for completion</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Budgets to work within</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Methods of communication</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Making observations</a:t>
            </a:r>
            <a:endParaRPr lang="en-US" sz="2200" dirty="0" smtClean="0">
              <a:latin typeface="Helvetica" pitchFamily="34" charset="0"/>
            </a:endParaRPr>
          </a:p>
          <a:p>
            <a:pPr lvl="0">
              <a:spcBef>
                <a:spcPts val="600"/>
              </a:spcBef>
              <a:spcAft>
                <a:spcPts val="300"/>
              </a:spcAft>
            </a:pPr>
            <a:r>
              <a:rPr lang="en-GB" sz="2200" dirty="0" smtClean="0">
                <a:latin typeface="Helvetica" pitchFamily="34" charset="0"/>
              </a:rPr>
              <a:t>Providing feedback</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6" name="Picture 5" descr="shutterstock_95857066.jpg"/>
          <p:cNvPicPr/>
          <p:nvPr/>
        </p:nvPicPr>
        <p:blipFill>
          <a:blip r:embed="rId3" cstate="print"/>
          <a:stretch>
            <a:fillRect/>
          </a:stretch>
        </p:blipFill>
        <p:spPr>
          <a:xfrm>
            <a:off x="6588224" y="3140968"/>
            <a:ext cx="1668780" cy="13716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400" b="1" dirty="0" smtClean="0">
                <a:solidFill>
                  <a:srgbClr val="FF6600"/>
                </a:solidFill>
                <a:latin typeface="Helvetica" pitchFamily="34" charset="0"/>
              </a:rPr>
              <a:t>Allocate tasks and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AU" sz="2200" b="1" dirty="0" smtClean="0">
                <a:latin typeface="Helvetica" pitchFamily="34" charset="0"/>
              </a:rPr>
              <a:t>Methods to communicate project and roles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The communication of new project or program information may occur in various ways.</a:t>
            </a:r>
          </a:p>
          <a:p>
            <a:pPr>
              <a:spcBef>
                <a:spcPts val="600"/>
              </a:spcBef>
              <a:spcAft>
                <a:spcPts val="1200"/>
              </a:spcAft>
            </a:pPr>
            <a:r>
              <a:rPr lang="en-AU" sz="2200" dirty="0" smtClean="0">
                <a:latin typeface="Helvetica" pitchFamily="34" charset="0"/>
              </a:rPr>
              <a:t>What methods can be used?</a:t>
            </a:r>
          </a:p>
          <a:p>
            <a:pPr>
              <a:spcBef>
                <a:spcPts val="600"/>
              </a:spcBef>
              <a:spcAft>
                <a:spcPts val="1200"/>
              </a:spcAft>
            </a:pPr>
            <a:r>
              <a:rPr lang="en-AU" sz="2200" dirty="0" smtClean="0">
                <a:latin typeface="Helvetica" pitchFamily="34" charset="0"/>
              </a:rPr>
              <a:t>What are the advantages of these methods?</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b="1" dirty="0" smtClean="0">
                <a:solidFill>
                  <a:srgbClr val="FF6600"/>
                </a:solidFill>
                <a:latin typeface="Helvetica" pitchFamily="34" charset="0"/>
              </a:rPr>
              <a:t>COMPLETE ACTIVITY 19</a:t>
            </a:r>
            <a:endParaRPr lang="en-US" sz="2200" b="1"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7" name="Picture 6" descr="shutterstock_191031131.jpg"/>
          <p:cNvPicPr/>
          <p:nvPr/>
        </p:nvPicPr>
        <p:blipFill>
          <a:blip r:embed="rId3" cstate="print"/>
          <a:stretch>
            <a:fillRect/>
          </a:stretch>
        </p:blipFill>
        <p:spPr>
          <a:xfrm>
            <a:off x="5292080" y="4077072"/>
            <a:ext cx="1967657" cy="138377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GB" sz="3600" b="1" dirty="0" smtClean="0">
                <a:solidFill>
                  <a:srgbClr val="FF6600"/>
                </a:solidFill>
                <a:latin typeface="Helvetica" pitchFamily="34" charset="0"/>
              </a:rPr>
              <a:t>Manage project implementation</a:t>
            </a:r>
            <a:endParaRPr lang="en-US"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GB" sz="2100" b="1" dirty="0" smtClean="0">
                <a:latin typeface="Helvetica" pitchFamily="34" charset="0"/>
              </a:rPr>
              <a:t>Manage project implementation activities</a:t>
            </a:r>
            <a:endParaRPr lang="en-US" sz="2100" b="1" dirty="0" smtClean="0">
              <a:latin typeface="Helvetica" pitchFamily="34" charset="0"/>
            </a:endParaRPr>
          </a:p>
          <a:p>
            <a:pPr marL="0">
              <a:spcBef>
                <a:spcPts val="600"/>
              </a:spcBef>
              <a:spcAft>
                <a:spcPts val="1200"/>
              </a:spcAft>
              <a:buNone/>
            </a:pPr>
            <a:r>
              <a:rPr lang="en-GB" sz="2100" dirty="0" smtClean="0">
                <a:latin typeface="Helvetica" pitchFamily="34" charset="0"/>
              </a:rPr>
              <a:t>The activities associated with </a:t>
            </a:r>
            <a:r>
              <a:rPr lang="en-AU" sz="2100" dirty="0" smtClean="0">
                <a:latin typeface="Helvetica" pitchFamily="34" charset="0"/>
              </a:rPr>
              <a:t>managing project implementation may include:</a:t>
            </a:r>
            <a:endParaRPr lang="en-US" sz="2100" dirty="0" smtClean="0">
              <a:latin typeface="Helvetica" pitchFamily="34" charset="0"/>
            </a:endParaRPr>
          </a:p>
          <a:p>
            <a:pPr>
              <a:spcBef>
                <a:spcPts val="600"/>
              </a:spcBef>
              <a:spcAft>
                <a:spcPts val="1200"/>
              </a:spcAft>
            </a:pPr>
            <a:r>
              <a:rPr lang="en-SG" sz="2100" dirty="0" smtClean="0">
                <a:latin typeface="Helvetica" pitchFamily="34" charset="0"/>
              </a:rPr>
              <a:t>Refining project plans</a:t>
            </a:r>
            <a:endParaRPr lang="en-US" sz="2100" dirty="0" smtClean="0">
              <a:latin typeface="Helvetica" pitchFamily="34" charset="0"/>
            </a:endParaRPr>
          </a:p>
          <a:p>
            <a:pPr>
              <a:spcBef>
                <a:spcPts val="600"/>
              </a:spcBef>
              <a:spcAft>
                <a:spcPts val="1200"/>
              </a:spcAft>
            </a:pPr>
            <a:r>
              <a:rPr lang="en-SG" sz="2100" dirty="0" smtClean="0">
                <a:latin typeface="Helvetica" pitchFamily="34" charset="0"/>
              </a:rPr>
              <a:t>Consulting with steering committees </a:t>
            </a:r>
            <a:br>
              <a:rPr lang="en-SG" sz="2100" dirty="0" smtClean="0">
                <a:latin typeface="Helvetica" pitchFamily="34" charset="0"/>
              </a:rPr>
            </a:br>
            <a:r>
              <a:rPr lang="en-SG" sz="2100" dirty="0" smtClean="0">
                <a:latin typeface="Helvetica" pitchFamily="34" charset="0"/>
              </a:rPr>
              <a:t>and other relevant stakeholders</a:t>
            </a:r>
            <a:endParaRPr lang="en-US" sz="2100" dirty="0" smtClean="0">
              <a:latin typeface="Helvetica" pitchFamily="34" charset="0"/>
            </a:endParaRPr>
          </a:p>
          <a:p>
            <a:pPr>
              <a:spcBef>
                <a:spcPts val="600"/>
              </a:spcBef>
              <a:spcAft>
                <a:spcPts val="1200"/>
              </a:spcAft>
            </a:pPr>
            <a:r>
              <a:rPr lang="en-SG" sz="2100" dirty="0" smtClean="0">
                <a:latin typeface="Helvetica" pitchFamily="34" charset="0"/>
              </a:rPr>
              <a:t>Initiating and operating identified systems, procedures, processes, practices and policies</a:t>
            </a:r>
            <a:endParaRPr lang="en-US" sz="2100" dirty="0" smtClean="0">
              <a:latin typeface="Helvetica" pitchFamily="34" charset="0"/>
            </a:endParaRPr>
          </a:p>
          <a:p>
            <a:pPr>
              <a:spcBef>
                <a:spcPts val="600"/>
              </a:spcBef>
              <a:spcAft>
                <a:spcPts val="1200"/>
              </a:spcAft>
            </a:pPr>
            <a:r>
              <a:rPr lang="en-SG" sz="2100" dirty="0" smtClean="0">
                <a:latin typeface="Helvetica" pitchFamily="34" charset="0"/>
              </a:rPr>
              <a:t>Facilitating operational and implementation understanding regarding the program/project</a:t>
            </a:r>
            <a:endParaRPr lang="en-US" sz="2100" dirty="0" smtClean="0">
              <a:latin typeface="Helvetica" pitchFamily="34" charset="0"/>
            </a:endParaRPr>
          </a:p>
          <a:p>
            <a:pPr>
              <a:spcBef>
                <a:spcPts val="600"/>
              </a:spcBef>
              <a:spcAft>
                <a:spcPts val="1200"/>
              </a:spcAft>
              <a:buNone/>
            </a:pP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6" name="Picture 5" descr="hl.jpg"/>
          <p:cNvPicPr/>
          <p:nvPr/>
        </p:nvPicPr>
        <p:blipFill>
          <a:blip r:embed="rId3" cstate="print"/>
          <a:stretch>
            <a:fillRect/>
          </a:stretch>
        </p:blipFill>
        <p:spPr>
          <a:xfrm>
            <a:off x="6516216" y="2708920"/>
            <a:ext cx="1800225" cy="12001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GB" sz="3600" b="1" dirty="0" smtClean="0">
                <a:solidFill>
                  <a:srgbClr val="FF6600"/>
                </a:solidFill>
                <a:latin typeface="Helvetica" pitchFamily="34" charset="0"/>
              </a:rPr>
              <a:t>Manage project implementation</a:t>
            </a:r>
            <a:endParaRPr lang="en-US"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a:spcBef>
                <a:spcPts val="600"/>
              </a:spcBef>
              <a:spcAft>
                <a:spcPts val="1200"/>
              </a:spcAft>
              <a:buNone/>
            </a:pPr>
            <a:r>
              <a:rPr lang="en-GB" sz="2200" b="1" dirty="0" smtClean="0">
                <a:latin typeface="Helvetica" pitchFamily="34" charset="0"/>
              </a:rPr>
              <a:t>Manage project implementation activities</a:t>
            </a:r>
            <a:endParaRPr lang="en-US" sz="2200" b="1" dirty="0" smtClean="0">
              <a:latin typeface="Helvetica" pitchFamily="34" charset="0"/>
            </a:endParaRPr>
          </a:p>
          <a:p>
            <a:pPr>
              <a:spcBef>
                <a:spcPts val="600"/>
              </a:spcBef>
              <a:spcAft>
                <a:spcPts val="1200"/>
              </a:spcAft>
            </a:pPr>
            <a:r>
              <a:rPr lang="en-SG" sz="2200" dirty="0" smtClean="0">
                <a:latin typeface="Helvetica" pitchFamily="34" charset="0"/>
              </a:rPr>
              <a:t>Ensuring the requirements of all relevant plans are implemented as required or amended on the basis of feedback received and issues arising</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Providing leadership and direction to team members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Responding appropriately to established system triggers as operational demands dictate</a:t>
            </a:r>
            <a:endParaRPr lang="en-US"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7" name="Picture 6" descr="29.jpg"/>
          <p:cNvPicPr>
            <a:picLocks noChangeAspect="1"/>
          </p:cNvPicPr>
          <p:nvPr/>
        </p:nvPicPr>
        <p:blipFill>
          <a:blip r:embed="rId3" cstate="print"/>
          <a:stretch>
            <a:fillRect/>
          </a:stretch>
        </p:blipFill>
        <p:spPr>
          <a:xfrm>
            <a:off x="3563888" y="4869160"/>
            <a:ext cx="2070700" cy="137274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GB" sz="3600" b="1" dirty="0" smtClean="0">
                <a:solidFill>
                  <a:srgbClr val="FF6600"/>
                </a:solidFill>
                <a:latin typeface="Helvetica" pitchFamily="34" charset="0"/>
              </a:rPr>
              <a:t>Manage project implementation</a:t>
            </a:r>
            <a:endParaRPr lang="en-US"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6192688" cy="5445224"/>
          </a:xfrm>
        </p:spPr>
        <p:txBody>
          <a:bodyPr>
            <a:normAutofit/>
          </a:bodyPr>
          <a:lstStyle/>
          <a:p>
            <a:pPr>
              <a:spcBef>
                <a:spcPts val="600"/>
              </a:spcBef>
              <a:spcAft>
                <a:spcPts val="1200"/>
              </a:spcAft>
              <a:buNone/>
            </a:pPr>
            <a:r>
              <a:rPr lang="en-GB" sz="2200" b="1" dirty="0" smtClean="0">
                <a:latin typeface="Helvetica" pitchFamily="34" charset="0"/>
              </a:rPr>
              <a:t>Manage project implementation activities</a:t>
            </a:r>
            <a:endParaRPr lang="en-US" sz="2200" b="1" dirty="0" smtClean="0">
              <a:latin typeface="Helvetica" pitchFamily="34" charset="0"/>
            </a:endParaRPr>
          </a:p>
          <a:p>
            <a:pPr>
              <a:spcBef>
                <a:spcPts val="600"/>
              </a:spcBef>
              <a:spcAft>
                <a:spcPts val="1200"/>
              </a:spcAft>
            </a:pPr>
            <a:r>
              <a:rPr lang="en-SG" sz="2200" dirty="0" smtClean="0">
                <a:latin typeface="Helvetica" pitchFamily="34" charset="0"/>
              </a:rPr>
              <a:t>Soliciting input and feedback from team members and relevant stakeholders</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Resolving disputes and disagreements relating to program/project implementation</a:t>
            </a:r>
            <a:endParaRPr lang="en-US" sz="2200" dirty="0" smtClean="0">
              <a:latin typeface="Helvetica" pitchFamily="34" charset="0"/>
            </a:endParaRPr>
          </a:p>
          <a:p>
            <a:pPr>
              <a:spcBef>
                <a:spcPts val="600"/>
              </a:spcBef>
              <a:spcAft>
                <a:spcPts val="1200"/>
              </a:spcAft>
            </a:pPr>
            <a:r>
              <a:rPr lang="en-SG" sz="2200" dirty="0" smtClean="0">
                <a:latin typeface="Helvetica" pitchFamily="34" charset="0"/>
              </a:rPr>
              <a:t>Negotiating program/project change proposals throughout the life of the initiative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Apply consulting and reporting mechanisms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descr="14.jpg"/>
          <p:cNvPicPr>
            <a:picLocks noChangeAspect="1"/>
          </p:cNvPicPr>
          <p:nvPr/>
        </p:nvPicPr>
        <p:blipFill>
          <a:blip r:embed="rId3" cstate="print"/>
          <a:stretch>
            <a:fillRect/>
          </a:stretch>
        </p:blipFill>
        <p:spPr>
          <a:xfrm>
            <a:off x="7121346" y="2780928"/>
            <a:ext cx="2022654" cy="152018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r>
              <a:rPr lang="en-GB" sz="3600" b="1" dirty="0" smtClean="0">
                <a:solidFill>
                  <a:srgbClr val="FF6600"/>
                </a:solidFill>
                <a:latin typeface="Helvetica" pitchFamily="34" charset="0"/>
              </a:rPr>
              <a:t>Manage project implementation</a:t>
            </a:r>
            <a:endParaRPr lang="en-US"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GB" sz="2200" b="1" dirty="0" smtClean="0">
                <a:latin typeface="Helvetica" pitchFamily="34" charset="0"/>
              </a:rPr>
              <a:t>Identify support and resources required to support implementation of new project/program strategies</a:t>
            </a:r>
            <a:endParaRPr lang="en-US" sz="2200" b="1" dirty="0" smtClean="0">
              <a:latin typeface="Helvetica" pitchFamily="34" charset="0"/>
            </a:endParaRPr>
          </a:p>
          <a:p>
            <a:pPr marL="0">
              <a:spcBef>
                <a:spcPts val="600"/>
              </a:spcBef>
              <a:spcAft>
                <a:spcPts val="1200"/>
              </a:spcAft>
              <a:buNone/>
            </a:pPr>
            <a:r>
              <a:rPr lang="en-US" sz="2200" dirty="0" smtClean="0">
                <a:latin typeface="Helvetica" pitchFamily="34" charset="0"/>
              </a:rPr>
              <a:t>What types of support can be provided to project team members during the implementation of projects and programs?</a:t>
            </a:r>
          </a:p>
          <a:p>
            <a:pPr>
              <a:spcBef>
                <a:spcPts val="600"/>
              </a:spcBef>
              <a:spcAft>
                <a:spcPts val="1200"/>
              </a:spcAft>
            </a:pPr>
            <a:r>
              <a:rPr lang="en-US" sz="2200" dirty="0" smtClean="0">
                <a:latin typeface="Helvetica" pitchFamily="34" charset="0"/>
              </a:rPr>
              <a:t>Task functions</a:t>
            </a:r>
          </a:p>
          <a:p>
            <a:pPr>
              <a:spcBef>
                <a:spcPts val="600"/>
              </a:spcBef>
              <a:spcAft>
                <a:spcPts val="1200"/>
              </a:spcAft>
            </a:pPr>
            <a:r>
              <a:rPr lang="en-US" sz="2200" dirty="0" smtClean="0">
                <a:latin typeface="Helvetica" pitchFamily="34" charset="0"/>
              </a:rPr>
              <a:t>Maintenance functions</a:t>
            </a:r>
          </a:p>
          <a:p>
            <a:pPr>
              <a:spcBef>
                <a:spcPts val="600"/>
              </a:spcBef>
              <a:spcAft>
                <a:spcPts val="1200"/>
              </a:spcAft>
            </a:pPr>
            <a:endParaRPr lang="en-US" sz="2200" dirty="0" smtClean="0">
              <a:latin typeface="Helvetica" pitchFamily="34" charset="0"/>
            </a:endParaRPr>
          </a:p>
          <a:p>
            <a:pPr>
              <a:spcBef>
                <a:spcPts val="600"/>
              </a:spcBef>
              <a:spcAft>
                <a:spcPts val="1200"/>
              </a:spcAft>
              <a:buNone/>
            </a:pPr>
            <a:r>
              <a:rPr lang="en-AU" sz="2200" b="1" dirty="0" smtClean="0">
                <a:solidFill>
                  <a:srgbClr val="FF6600"/>
                </a:solidFill>
                <a:latin typeface="Helvetica" pitchFamily="34" charset="0"/>
              </a:rPr>
              <a:t>COMPLETE ACTIVITY 20</a:t>
            </a:r>
            <a:endParaRPr lang="en-US" sz="2200" b="1"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6" name="Picture 5" descr="1r.jpg"/>
          <p:cNvPicPr/>
          <p:nvPr/>
        </p:nvPicPr>
        <p:blipFill>
          <a:blip r:embed="rId3" cstate="print"/>
          <a:stretch>
            <a:fillRect/>
          </a:stretch>
        </p:blipFill>
        <p:spPr>
          <a:xfrm>
            <a:off x="6084168" y="3356992"/>
            <a:ext cx="1733550" cy="14001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financial management</a:t>
            </a:r>
          </a:p>
          <a:p>
            <a:pPr marL="0">
              <a:spcBef>
                <a:spcPts val="600"/>
              </a:spcBef>
              <a:spcAft>
                <a:spcPts val="1200"/>
              </a:spcAft>
              <a:buNone/>
            </a:pPr>
            <a:r>
              <a:rPr lang="en-US" sz="2200" dirty="0" smtClean="0">
                <a:latin typeface="Helvetica" pitchFamily="34" charset="0"/>
              </a:rPr>
              <a:t>It is essential that project managers are able to</a:t>
            </a:r>
            <a:r>
              <a:rPr lang="en-AU" sz="2200" dirty="0" smtClean="0">
                <a:latin typeface="Helvetica" pitchFamily="34" charset="0"/>
              </a:rPr>
              <a:t> manage the financial aspects of a</a:t>
            </a:r>
            <a:r>
              <a:rPr lang="en-US" sz="2200" dirty="0" smtClean="0">
                <a:latin typeface="Helvetica" pitchFamily="34" charset="0"/>
              </a:rPr>
              <a:t> project or program</a:t>
            </a:r>
            <a:r>
              <a:rPr lang="en-AU" sz="2200" dirty="0" smtClean="0">
                <a:latin typeface="Helvetica" pitchFamily="34" charset="0"/>
              </a:rPr>
              <a:t>.</a:t>
            </a:r>
          </a:p>
          <a:p>
            <a:pPr>
              <a:spcBef>
                <a:spcPts val="600"/>
              </a:spcBef>
              <a:spcAft>
                <a:spcPts val="1200"/>
              </a:spcAft>
            </a:pPr>
            <a:r>
              <a:rPr lang="en-AU" sz="2200" dirty="0" smtClean="0">
                <a:latin typeface="Helvetica" pitchFamily="34" charset="0"/>
              </a:rPr>
              <a:t>How can you manage the finances of a project or program? </a:t>
            </a:r>
          </a:p>
          <a:p>
            <a:pPr>
              <a:spcBef>
                <a:spcPts val="600"/>
              </a:spcBef>
              <a:spcAft>
                <a:spcPts val="1200"/>
              </a:spcAft>
            </a:pPr>
            <a:r>
              <a:rPr lang="en-AU" sz="2200" dirty="0" smtClean="0">
                <a:latin typeface="Helvetica" pitchFamily="34" charset="0"/>
              </a:rPr>
              <a:t>What tools can help you manage finances?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descr="fo.jpg"/>
          <p:cNvPicPr/>
          <p:nvPr/>
        </p:nvPicPr>
        <p:blipFill>
          <a:blip r:embed="rId3" cstate="print"/>
          <a:stretch>
            <a:fillRect/>
          </a:stretch>
        </p:blipFill>
        <p:spPr>
          <a:xfrm>
            <a:off x="3419872" y="4509120"/>
            <a:ext cx="2097782" cy="142569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4896544"/>
          </a:xfrm>
        </p:spPr>
        <p:txBody>
          <a:bodyPr>
            <a:normAutofit/>
          </a:bodyPr>
          <a:lstStyle/>
          <a:p>
            <a:pPr>
              <a:spcBef>
                <a:spcPts val="600"/>
              </a:spcBef>
              <a:spcAft>
                <a:spcPts val="1200"/>
              </a:spcAft>
              <a:buNone/>
            </a:pPr>
            <a:r>
              <a:rPr lang="en-AU" sz="2200" b="1" dirty="0" smtClean="0">
                <a:latin typeface="Helvetica" pitchFamily="34" charset="0"/>
              </a:rPr>
              <a:t>Focus of financial management</a:t>
            </a:r>
            <a:endParaRPr lang="en-US" sz="2200" b="1" dirty="0" smtClean="0">
              <a:latin typeface="Helvetica" pitchFamily="34" charset="0"/>
            </a:endParaRPr>
          </a:p>
          <a:p>
            <a:pPr marL="0">
              <a:spcBef>
                <a:spcPts val="600"/>
              </a:spcBef>
              <a:spcAft>
                <a:spcPts val="1200"/>
              </a:spcAft>
              <a:buNone/>
            </a:pPr>
            <a:r>
              <a:rPr lang="en-US" sz="2200" dirty="0" smtClean="0">
                <a:latin typeface="Helvetica" pitchFamily="34" charset="0"/>
              </a:rPr>
              <a:t>Depending on whether the project or program generates revenue or is a 'cost only' exercise, successful financial management can be achieved by </a:t>
            </a:r>
            <a:r>
              <a:rPr lang="en-AU" sz="2200" dirty="0" smtClean="0">
                <a:latin typeface="Helvetica" pitchFamily="34" charset="0"/>
              </a:rPr>
              <a:t>making decisions about: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Profitability </a:t>
            </a:r>
            <a:r>
              <a:rPr lang="en-US" sz="2200" dirty="0" smtClean="0">
                <a:latin typeface="Helvetica" pitchFamily="34" charset="0"/>
              </a:rPr>
              <a:t>- </a:t>
            </a:r>
            <a:r>
              <a:rPr lang="en-AU" sz="2200" dirty="0" smtClean="0">
                <a:latin typeface="Helvetica" pitchFamily="34" charset="0"/>
              </a:rPr>
              <a:t>generating sales, controlling costs and expenses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Liquidity </a:t>
            </a:r>
            <a:r>
              <a:rPr lang="en-US" sz="2200" dirty="0" smtClean="0">
                <a:latin typeface="Helvetica" pitchFamily="34" charset="0"/>
              </a:rPr>
              <a:t>- </a:t>
            </a:r>
            <a:r>
              <a:rPr lang="en-AU" sz="2200" dirty="0" smtClean="0">
                <a:latin typeface="Helvetica" pitchFamily="34" charset="0"/>
              </a:rPr>
              <a:t>managing cash flows and maintaining sufficient cash reserves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6" name="Picture 5" descr="shutterstock_130834736.jpg"/>
          <p:cNvPicPr>
            <a:picLocks noChangeAspect="1"/>
          </p:cNvPicPr>
          <p:nvPr/>
        </p:nvPicPr>
        <p:blipFill>
          <a:blip r:embed="rId3" cstate="print"/>
          <a:stretch>
            <a:fillRect/>
          </a:stretch>
        </p:blipFill>
        <p:spPr>
          <a:xfrm>
            <a:off x="3707904" y="4869160"/>
            <a:ext cx="1847874" cy="123253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Focus of financial management</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Sales, costs and profit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Internal control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Pricing decisions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Cash flow</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Performance compared with budget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Stability – short term and long term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7" name="Picture 6" descr="shutterstock_200057282.jpg"/>
          <p:cNvPicPr>
            <a:picLocks noChangeAspect="1"/>
          </p:cNvPicPr>
          <p:nvPr/>
        </p:nvPicPr>
        <p:blipFill>
          <a:blip r:embed="rId3" cstate="print"/>
          <a:stretch>
            <a:fillRect/>
          </a:stretch>
        </p:blipFill>
        <p:spPr>
          <a:xfrm>
            <a:off x="6156176" y="2564904"/>
            <a:ext cx="2066228" cy="137197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Financial management procedures and processes</a:t>
            </a:r>
            <a:endParaRPr lang="en-US" sz="2200" b="1" dirty="0" smtClean="0">
              <a:latin typeface="Helvetica" pitchFamily="34" charset="0"/>
            </a:endParaRPr>
          </a:p>
          <a:p>
            <a:pPr marL="0">
              <a:spcBef>
                <a:spcPts val="600"/>
              </a:spcBef>
              <a:spcAft>
                <a:spcPts val="1200"/>
              </a:spcAft>
              <a:buNone/>
            </a:pPr>
            <a:r>
              <a:rPr lang="en-US" sz="2200" dirty="0" smtClean="0">
                <a:latin typeface="Helvetica" pitchFamily="34" charset="0"/>
              </a:rPr>
              <a:t>F</a:t>
            </a:r>
            <a:r>
              <a:rPr lang="en-AU" sz="2200" dirty="0" smtClean="0">
                <a:latin typeface="Helvetica" pitchFamily="34" charset="0"/>
              </a:rPr>
              <a:t>inancial management involves the following procedures </a:t>
            </a:r>
            <a:br>
              <a:rPr lang="en-AU" sz="2200" dirty="0" smtClean="0">
                <a:latin typeface="Helvetica" pitchFamily="34" charset="0"/>
              </a:rPr>
            </a:br>
            <a:r>
              <a:rPr lang="en-AU" sz="2200" dirty="0" smtClean="0">
                <a:latin typeface="Helvetica" pitchFamily="34" charset="0"/>
              </a:rPr>
              <a:t>and processes: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Book-keeping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Reporting</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Analysing and interpreting the reports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7" name="Picture 6" descr="fh.jpg"/>
          <p:cNvPicPr/>
          <p:nvPr/>
        </p:nvPicPr>
        <p:blipFill>
          <a:blip r:embed="rId3" cstate="print"/>
          <a:stretch>
            <a:fillRect/>
          </a:stretch>
        </p:blipFill>
        <p:spPr>
          <a:xfrm>
            <a:off x="6588224" y="2924944"/>
            <a:ext cx="1479550" cy="18478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Financial control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Entering data into established budgets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Approving expenditures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Obtaining necessary quotations for expenses over a designated amount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Verifying purchases, payments and products/services received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Auditing the books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budgetary controls and                                      guidelines are being met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6" name="Picture 5" descr="shutterstock_194262404.jpg"/>
          <p:cNvPicPr>
            <a:picLocks noChangeAspect="1"/>
          </p:cNvPicPr>
          <p:nvPr/>
        </p:nvPicPr>
        <p:blipFill>
          <a:blip r:embed="rId3" cstate="print"/>
          <a:stretch>
            <a:fillRect/>
          </a:stretch>
        </p:blipFill>
        <p:spPr>
          <a:xfrm>
            <a:off x="6444208" y="4725144"/>
            <a:ext cx="2013185" cy="148170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P</a:t>
            </a:r>
            <a:r>
              <a:rPr lang="en-AU" sz="2200" b="1" dirty="0" smtClean="0">
                <a:latin typeface="Helvetica" pitchFamily="34" charset="0"/>
              </a:rPr>
              <a:t>rinciples of a good </a:t>
            </a:r>
            <a:r>
              <a:rPr lang="en-US" sz="2200" b="1" dirty="0" smtClean="0">
                <a:latin typeface="Helvetica" pitchFamily="34" charset="0"/>
              </a:rPr>
              <a:t>financial</a:t>
            </a:r>
            <a:r>
              <a:rPr lang="en-AU" sz="2200" b="1" dirty="0" smtClean="0">
                <a:latin typeface="Helvetica" pitchFamily="34" charset="0"/>
              </a:rPr>
              <a:t> control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Establish preventative procedures </a:t>
            </a:r>
          </a:p>
          <a:p>
            <a:pPr lvl="0">
              <a:spcBef>
                <a:spcPts val="600"/>
              </a:spcBef>
              <a:spcAft>
                <a:spcPts val="1200"/>
              </a:spcAft>
            </a:pPr>
            <a:r>
              <a:rPr lang="en-AU" sz="2200" dirty="0" smtClean="0">
                <a:latin typeface="Helvetica" pitchFamily="34" charset="0"/>
              </a:rPr>
              <a:t>Management supervision is required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Monitor and update systems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Use employee selection and training systems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Establish responsibilities</a:t>
            </a:r>
          </a:p>
          <a:p>
            <a:pPr lvl="0">
              <a:spcBef>
                <a:spcPts val="600"/>
              </a:spcBef>
              <a:spcAft>
                <a:spcPts val="1200"/>
              </a:spcAft>
            </a:pPr>
            <a:r>
              <a:rPr lang="en-AU" sz="2200" dirty="0" smtClean="0">
                <a:latin typeface="Helvetica" pitchFamily="34" charset="0"/>
              </a:rPr>
              <a:t>Prepare written procedures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Maintain adequate records</a:t>
            </a:r>
          </a:p>
          <a:p>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7" name="Picture 6" descr="hb.jpg"/>
          <p:cNvPicPr/>
          <p:nvPr/>
        </p:nvPicPr>
        <p:blipFill>
          <a:blip r:embed="rId3" cstate="print"/>
          <a:stretch>
            <a:fillRect/>
          </a:stretch>
        </p:blipFill>
        <p:spPr>
          <a:xfrm>
            <a:off x="6444208" y="4653136"/>
            <a:ext cx="2066925" cy="13811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184576"/>
          </a:xfrm>
        </p:spPr>
        <p:txBody>
          <a:bodyPr>
            <a:normAutofit lnSpcReduction="10000"/>
          </a:bodyPr>
          <a:lstStyle/>
          <a:p>
            <a:pPr>
              <a:spcBef>
                <a:spcPts val="600"/>
              </a:spcBef>
              <a:spcAft>
                <a:spcPts val="1200"/>
              </a:spcAft>
              <a:buNone/>
            </a:pPr>
            <a:r>
              <a:rPr lang="en-US" sz="2200" b="1" dirty="0" smtClean="0">
                <a:latin typeface="Helvetica" pitchFamily="34" charset="0"/>
              </a:rPr>
              <a:t>P</a:t>
            </a:r>
            <a:r>
              <a:rPr lang="en-AU" sz="2200" b="1" dirty="0" smtClean="0">
                <a:latin typeface="Helvetica" pitchFamily="34" charset="0"/>
              </a:rPr>
              <a:t>rinciples of a good </a:t>
            </a:r>
            <a:r>
              <a:rPr lang="en-US" sz="2200" b="1" dirty="0" smtClean="0">
                <a:latin typeface="Helvetica" pitchFamily="34" charset="0"/>
              </a:rPr>
              <a:t>financial</a:t>
            </a:r>
            <a:r>
              <a:rPr lang="en-AU" sz="2200" b="1" dirty="0" smtClean="0">
                <a:latin typeface="Helvetica" pitchFamily="34" charset="0"/>
              </a:rPr>
              <a:t> control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Meet relevant statutory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Separate record-keeping and control of assets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Limit staff access to assets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Conduct surprise checks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Divide the responsibility for related transactions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Rotating jobs also reduces collusion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Insist on mandatory vacations</a:t>
            </a:r>
          </a:p>
          <a:p>
            <a:pPr>
              <a:spcBef>
                <a:spcPts val="600"/>
              </a:spcBef>
              <a:spcAft>
                <a:spcPts val="1200"/>
              </a:spcAft>
            </a:pPr>
            <a:r>
              <a:rPr lang="en-AU" sz="2200" dirty="0" smtClean="0">
                <a:latin typeface="Helvetica" pitchFamily="34" charset="0"/>
              </a:rPr>
              <a:t>Explain the reasons so those carrying                                         out control functions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6" name="Picture 5" descr="fo.jpg"/>
          <p:cNvPicPr>
            <a:picLocks noChangeAspect="1"/>
          </p:cNvPicPr>
          <p:nvPr/>
        </p:nvPicPr>
        <p:blipFill>
          <a:blip r:embed="rId3" cstate="print"/>
          <a:stretch>
            <a:fillRect/>
          </a:stretch>
        </p:blipFill>
        <p:spPr>
          <a:xfrm>
            <a:off x="6516216" y="4725144"/>
            <a:ext cx="2055917" cy="1368903"/>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340768"/>
            <a:ext cx="7846640" cy="5184576"/>
          </a:xfrm>
        </p:spPr>
        <p:txBody>
          <a:bodyPr>
            <a:normAutofit/>
          </a:bodyPr>
          <a:lstStyle/>
          <a:p>
            <a:pPr>
              <a:spcBef>
                <a:spcPts val="600"/>
              </a:spcBef>
              <a:spcAft>
                <a:spcPts val="1200"/>
              </a:spcAft>
              <a:buNone/>
            </a:pPr>
            <a:r>
              <a:rPr lang="en-US" sz="2200" b="1" dirty="0" smtClean="0">
                <a:latin typeface="Helvetica" pitchFamily="34" charset="0"/>
              </a:rPr>
              <a:t>P</a:t>
            </a:r>
            <a:r>
              <a:rPr lang="en-AU" sz="2200" b="1" dirty="0" smtClean="0">
                <a:latin typeface="Helvetica" pitchFamily="34" charset="0"/>
              </a:rPr>
              <a:t>rinciples of a good </a:t>
            </a:r>
            <a:r>
              <a:rPr lang="en-US" sz="2200" b="1" dirty="0" smtClean="0">
                <a:latin typeface="Helvetica" pitchFamily="34" charset="0"/>
              </a:rPr>
              <a:t>financial</a:t>
            </a:r>
            <a:r>
              <a:rPr lang="en-AU" sz="2200" b="1" dirty="0" smtClean="0">
                <a:latin typeface="Helvetica" pitchFamily="34" charset="0"/>
              </a:rPr>
              <a:t> control system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Use machines and technology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Set standards and evaluate results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Design forms and reports specific to the business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Control mis-use of documents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Have an audit trail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Supervise the system and conduct reviews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Conduct external audits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7" name="Picture 6" descr="1d.jpg"/>
          <p:cNvPicPr/>
          <p:nvPr/>
        </p:nvPicPr>
        <p:blipFill>
          <a:blip r:embed="rId3" cstate="print"/>
          <a:stretch>
            <a:fillRect/>
          </a:stretch>
        </p:blipFill>
        <p:spPr>
          <a:xfrm>
            <a:off x="6876256" y="3861048"/>
            <a:ext cx="1845568" cy="121272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5445224"/>
          </a:xfrm>
        </p:spPr>
        <p:txBody>
          <a:bodyPr>
            <a:normAutofit/>
          </a:bodyPr>
          <a:lstStyle/>
          <a:p>
            <a:pPr>
              <a:spcBef>
                <a:spcPts val="600"/>
              </a:spcBef>
              <a:spcAft>
                <a:spcPts val="600"/>
              </a:spcAft>
              <a:buNone/>
            </a:pPr>
            <a:r>
              <a:rPr lang="en-AU" sz="2100" b="1" dirty="0" smtClean="0">
                <a:latin typeface="Helvetica" pitchFamily="34" charset="0"/>
              </a:rPr>
              <a:t>Financial monitoring activities</a:t>
            </a:r>
            <a:endParaRPr lang="en-US" sz="2100" dirty="0" smtClean="0">
              <a:latin typeface="Helvetica" pitchFamily="34" charset="0"/>
            </a:endParaRPr>
          </a:p>
          <a:p>
            <a:pPr lvl="0">
              <a:spcBef>
                <a:spcPts val="400"/>
              </a:spcBef>
              <a:spcAft>
                <a:spcPts val="600"/>
              </a:spcAft>
            </a:pPr>
            <a:r>
              <a:rPr lang="en-AU" sz="2100" dirty="0" smtClean="0">
                <a:latin typeface="Helvetica" pitchFamily="34" charset="0"/>
              </a:rPr>
              <a:t>Ensuring compliance with accounting policies and procedures </a:t>
            </a:r>
            <a:endParaRPr lang="en-US" sz="2100" dirty="0" smtClean="0">
              <a:latin typeface="Helvetica" pitchFamily="34" charset="0"/>
            </a:endParaRPr>
          </a:p>
          <a:p>
            <a:pPr lvl="0">
              <a:spcBef>
                <a:spcPts val="400"/>
              </a:spcBef>
              <a:spcAft>
                <a:spcPts val="600"/>
              </a:spcAft>
            </a:pPr>
            <a:r>
              <a:rPr lang="en-AU" sz="2100" dirty="0" smtClean="0">
                <a:latin typeface="Helvetica" pitchFamily="34" charset="0"/>
              </a:rPr>
              <a:t>Ensuring accuracy and completeness in entries and records</a:t>
            </a:r>
            <a:endParaRPr lang="en-US" sz="2100" dirty="0" smtClean="0">
              <a:latin typeface="Helvetica" pitchFamily="34" charset="0"/>
            </a:endParaRPr>
          </a:p>
          <a:p>
            <a:pPr lvl="0">
              <a:spcBef>
                <a:spcPts val="400"/>
              </a:spcBef>
              <a:spcAft>
                <a:spcPts val="600"/>
              </a:spcAft>
            </a:pPr>
            <a:r>
              <a:rPr lang="en-AU" sz="2100" dirty="0" smtClean="0">
                <a:latin typeface="Helvetica" pitchFamily="34" charset="0"/>
              </a:rPr>
              <a:t>Ensuring regular review and up-date of accounting policies and procedures </a:t>
            </a:r>
            <a:endParaRPr lang="en-US" sz="2100" dirty="0" smtClean="0">
              <a:latin typeface="Helvetica" pitchFamily="34" charset="0"/>
            </a:endParaRPr>
          </a:p>
          <a:p>
            <a:pPr lvl="0">
              <a:spcBef>
                <a:spcPts val="400"/>
              </a:spcBef>
              <a:spcAft>
                <a:spcPts val="600"/>
              </a:spcAft>
            </a:pPr>
            <a:r>
              <a:rPr lang="en-AU" sz="2100" dirty="0" smtClean="0">
                <a:latin typeface="Helvetica" pitchFamily="34" charset="0"/>
              </a:rPr>
              <a:t>Ensuring daily records are maintained </a:t>
            </a:r>
            <a:endParaRPr lang="en-US" sz="2100" dirty="0" smtClean="0">
              <a:latin typeface="Helvetica" pitchFamily="34" charset="0"/>
            </a:endParaRPr>
          </a:p>
          <a:p>
            <a:pPr lvl="0">
              <a:spcBef>
                <a:spcPts val="400"/>
              </a:spcBef>
              <a:spcAft>
                <a:spcPts val="600"/>
              </a:spcAft>
            </a:pPr>
            <a:r>
              <a:rPr lang="en-AU" sz="2100" dirty="0" smtClean="0">
                <a:latin typeface="Helvetica" pitchFamily="34" charset="0"/>
              </a:rPr>
              <a:t>Ensuring financial records are maintained </a:t>
            </a:r>
            <a:endParaRPr lang="en-US" sz="2100" dirty="0" smtClean="0">
              <a:latin typeface="Helvetica" pitchFamily="34" charset="0"/>
            </a:endParaRPr>
          </a:p>
          <a:p>
            <a:pPr lvl="0">
              <a:spcBef>
                <a:spcPts val="400"/>
              </a:spcBef>
              <a:spcAft>
                <a:spcPts val="600"/>
              </a:spcAft>
            </a:pPr>
            <a:r>
              <a:rPr lang="en-AU" sz="2100" dirty="0" smtClean="0">
                <a:latin typeface="Helvetica" pitchFamily="34" charset="0"/>
              </a:rPr>
              <a:t>Ensuring the security of all assets and</a:t>
            </a:r>
            <a:br>
              <a:rPr lang="en-AU" sz="2100" dirty="0" smtClean="0">
                <a:latin typeface="Helvetica" pitchFamily="34" charset="0"/>
              </a:rPr>
            </a:br>
            <a:r>
              <a:rPr lang="en-AU" sz="2100" dirty="0" smtClean="0">
                <a:latin typeface="Helvetica" pitchFamily="34" charset="0"/>
              </a:rPr>
              <a:t>accounting records </a:t>
            </a:r>
            <a:endParaRPr lang="en-US" sz="2100" dirty="0" smtClean="0">
              <a:latin typeface="Helvetica" pitchFamily="34" charset="0"/>
            </a:endParaRPr>
          </a:p>
          <a:p>
            <a:pPr lvl="0">
              <a:spcBef>
                <a:spcPts val="400"/>
              </a:spcBef>
              <a:spcAft>
                <a:spcPts val="600"/>
              </a:spcAft>
            </a:pPr>
            <a:r>
              <a:rPr lang="en-AU" sz="2100" dirty="0" smtClean="0">
                <a:latin typeface="Helvetica" pitchFamily="34" charset="0"/>
              </a:rPr>
              <a:t>Monitoring financing facilities </a:t>
            </a:r>
          </a:p>
          <a:p>
            <a:pPr>
              <a:spcBef>
                <a:spcPts val="400"/>
              </a:spcBef>
              <a:spcAft>
                <a:spcPts val="400"/>
              </a:spcAft>
              <a:buNone/>
            </a:pPr>
            <a:r>
              <a:rPr lang="en-AU" sz="2100" b="1" dirty="0" smtClean="0">
                <a:solidFill>
                  <a:srgbClr val="FF6600"/>
                </a:solidFill>
                <a:latin typeface="Helvetica" pitchFamily="34" charset="0"/>
              </a:rPr>
              <a:t>COMPLETE ACTIVITY 21</a:t>
            </a:r>
            <a:endParaRPr lang="en-US" sz="2100" b="1" dirty="0" smtClean="0">
              <a:latin typeface="Helvetica" pitchFamily="34" charset="0"/>
            </a:endParaRPr>
          </a:p>
          <a:p>
            <a:pPr lvl="0">
              <a:spcBef>
                <a:spcPts val="400"/>
              </a:spcBef>
              <a:spcAft>
                <a:spcPts val="400"/>
              </a:spcAft>
            </a:pP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6" name="Picture 5" descr="shutterstock_125194025.jpg"/>
          <p:cNvPicPr/>
          <p:nvPr/>
        </p:nvPicPr>
        <p:blipFill>
          <a:blip r:embed="rId3" cstate="print"/>
          <a:stretch>
            <a:fillRect/>
          </a:stretch>
        </p:blipFill>
        <p:spPr>
          <a:xfrm>
            <a:off x="6588224" y="3717032"/>
            <a:ext cx="1762001" cy="133769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Maintain financial control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5445224"/>
          </a:xfrm>
        </p:spPr>
        <p:txBody>
          <a:bodyPr>
            <a:normAutofit/>
          </a:bodyPr>
          <a:lstStyle/>
          <a:p>
            <a:pPr marL="0">
              <a:spcBef>
                <a:spcPts val="600"/>
              </a:spcBef>
              <a:spcAft>
                <a:spcPts val="1200"/>
              </a:spcAft>
              <a:buNone/>
            </a:pPr>
            <a:r>
              <a:rPr lang="en-AU" sz="2200" b="1" dirty="0" smtClean="0">
                <a:latin typeface="Helvetica" pitchFamily="34" charset="0"/>
              </a:rPr>
              <a:t>Take remedial action to address financial</a:t>
            </a:r>
            <a:r>
              <a:rPr lang="en-US" sz="2200" b="1" dirty="0" smtClean="0">
                <a:latin typeface="Helvetica" pitchFamily="34" charset="0"/>
              </a:rPr>
              <a:t> control</a:t>
            </a:r>
            <a:r>
              <a:rPr lang="en-AU" sz="2200" b="1" dirty="0" smtClean="0">
                <a:latin typeface="Helvetica" pitchFamily="34" charset="0"/>
              </a:rPr>
              <a:t> problems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What are common types of financial problems in projects or programs?</a:t>
            </a:r>
          </a:p>
          <a:p>
            <a:pPr lvl="0">
              <a:spcBef>
                <a:spcPts val="600"/>
              </a:spcBef>
              <a:spcAft>
                <a:spcPts val="1200"/>
              </a:spcAft>
            </a:pPr>
            <a:r>
              <a:rPr lang="en-US" sz="2200" dirty="0" smtClean="0">
                <a:latin typeface="Helvetica" pitchFamily="34" charset="0"/>
              </a:rPr>
              <a:t>How can you identify them?</a:t>
            </a:r>
          </a:p>
          <a:p>
            <a:pPr lvl="0">
              <a:spcBef>
                <a:spcPts val="600"/>
              </a:spcBef>
              <a:spcAft>
                <a:spcPts val="1200"/>
              </a:spcAft>
            </a:pPr>
            <a:r>
              <a:rPr lang="en-US" sz="2200" dirty="0" smtClean="0">
                <a:latin typeface="Helvetica" pitchFamily="34" charset="0"/>
              </a:rPr>
              <a:t>How can you control / resolve the financial problems?</a:t>
            </a:r>
          </a:p>
          <a:p>
            <a:pPr lvl="0">
              <a:spcBef>
                <a:spcPts val="400"/>
              </a:spcBef>
              <a:spcAft>
                <a:spcPts val="4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7" name="Picture 6" descr="shutterstock_114113611.jpg"/>
          <p:cNvPicPr/>
          <p:nvPr/>
        </p:nvPicPr>
        <p:blipFill>
          <a:blip r:embed="rId3" cstate="print"/>
          <a:stretch>
            <a:fillRect/>
          </a:stretch>
        </p:blipFill>
        <p:spPr>
          <a:xfrm>
            <a:off x="3635896" y="4653136"/>
            <a:ext cx="1933575" cy="12858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monitoring progress</a:t>
            </a:r>
          </a:p>
          <a:p>
            <a:pPr marL="0">
              <a:spcBef>
                <a:spcPts val="600"/>
              </a:spcBef>
              <a:spcAft>
                <a:spcPts val="1200"/>
              </a:spcAft>
              <a:buNone/>
            </a:pPr>
            <a:r>
              <a:rPr lang="en-AU" sz="2200" dirty="0" smtClean="0">
                <a:latin typeface="Helvetica" pitchFamily="34" charset="0"/>
              </a:rPr>
              <a:t>The key to monitoring the progress of project or program strategies is to be proactive. </a:t>
            </a:r>
          </a:p>
          <a:p>
            <a:pPr>
              <a:spcBef>
                <a:spcPts val="600"/>
              </a:spcBef>
              <a:spcAft>
                <a:spcPts val="1200"/>
              </a:spcAft>
            </a:pPr>
            <a:r>
              <a:rPr lang="en-AU" sz="2200" dirty="0" smtClean="0">
                <a:latin typeface="Helvetica" pitchFamily="34" charset="0"/>
              </a:rPr>
              <a:t>What is monitoring?</a:t>
            </a:r>
          </a:p>
          <a:p>
            <a:pPr>
              <a:spcBef>
                <a:spcPts val="600"/>
              </a:spcBef>
              <a:spcAft>
                <a:spcPts val="1200"/>
              </a:spcAft>
            </a:pPr>
            <a:r>
              <a:rPr lang="en-AU" sz="2200" dirty="0" smtClean="0">
                <a:latin typeface="Helvetica" pitchFamily="34" charset="0"/>
              </a:rPr>
              <a:t>Why is monitoring important?</a:t>
            </a:r>
          </a:p>
          <a:p>
            <a:pPr>
              <a:spcBef>
                <a:spcPts val="600"/>
              </a:spcBef>
              <a:spcAft>
                <a:spcPts val="1200"/>
              </a:spcAft>
            </a:pPr>
            <a:r>
              <a:rPr lang="en-AU" sz="2200" dirty="0" smtClean="0">
                <a:latin typeface="Helvetica" pitchFamily="34" charset="0"/>
              </a:rPr>
              <a:t>How can you monitor?</a:t>
            </a:r>
          </a:p>
          <a:p>
            <a:pPr>
              <a:spcBef>
                <a:spcPts val="600"/>
              </a:spcBef>
              <a:spcAft>
                <a:spcPts val="1200"/>
              </a:spcAft>
            </a:pPr>
            <a:r>
              <a:rPr lang="en-AU" sz="2200" dirty="0" smtClean="0">
                <a:latin typeface="Helvetica" pitchFamily="34" charset="0"/>
              </a:rPr>
              <a:t>What would you like to monitor?</a:t>
            </a: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descr="jt.jpg"/>
          <p:cNvPicPr/>
          <p:nvPr/>
        </p:nvPicPr>
        <p:blipFill>
          <a:blip r:embed="rId3" cstate="print"/>
          <a:stretch>
            <a:fillRect/>
          </a:stretch>
        </p:blipFill>
        <p:spPr>
          <a:xfrm>
            <a:off x="6156176" y="2996952"/>
            <a:ext cx="2215877" cy="143083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a:spcBef>
                <a:spcPts val="600"/>
              </a:spcBef>
              <a:spcAft>
                <a:spcPts val="1200"/>
              </a:spcAft>
              <a:buNone/>
            </a:pPr>
            <a:r>
              <a:rPr lang="en-AU" sz="2200" b="1" dirty="0" smtClean="0">
                <a:latin typeface="Helvetica" pitchFamily="34" charset="0"/>
              </a:rPr>
              <a:t>Areas of project or program to monitor</a:t>
            </a:r>
            <a:endParaRPr lang="en-US" sz="2200" b="1" dirty="0" smtClean="0">
              <a:latin typeface="Helvetica" pitchFamily="34" charset="0"/>
            </a:endParaRPr>
          </a:p>
          <a:p>
            <a:pPr marL="36576" indent="0">
              <a:spcBef>
                <a:spcPts val="600"/>
              </a:spcBef>
              <a:spcAft>
                <a:spcPts val="1200"/>
              </a:spcAft>
              <a:buNone/>
            </a:pPr>
            <a:r>
              <a:rPr lang="en-AU" sz="2200" dirty="0" smtClean="0">
                <a:latin typeface="Helvetica" pitchFamily="34" charset="0"/>
              </a:rPr>
              <a:t>These operations can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Achievement of project 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Relevance of original objectives against changing industry and customer needs and trends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Feedback from stakeholders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procedures or systems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workflow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Whether or not there are gaps or overlaps in activities or resources used</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6" name="Picture 5" descr="fe.jpg"/>
          <p:cNvPicPr/>
          <p:nvPr/>
        </p:nvPicPr>
        <p:blipFill>
          <a:blip r:embed="rId3" cstate="print"/>
          <a:stretch>
            <a:fillRect/>
          </a:stretch>
        </p:blipFill>
        <p:spPr>
          <a:xfrm>
            <a:off x="6372200" y="3717032"/>
            <a:ext cx="1935480" cy="12954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Areas of project or program to monitor</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The workload of team members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time it takes to undertake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Completion of individual timelines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Costs associated with project or program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Involvement from stakeholders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Impact on environment or local community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Level of stakeholder satisfaction with the                                  project or program initiatives provided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7" name="Picture 6" descr="9.jpg"/>
          <p:cNvPicPr>
            <a:picLocks noChangeAspect="1"/>
          </p:cNvPicPr>
          <p:nvPr/>
        </p:nvPicPr>
        <p:blipFill>
          <a:blip r:embed="rId3" cstate="print"/>
          <a:stretch>
            <a:fillRect/>
          </a:stretch>
        </p:blipFill>
        <p:spPr>
          <a:xfrm>
            <a:off x="6876256" y="2924944"/>
            <a:ext cx="1987292" cy="132625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Steps of monitoring project /program activities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Work out what needs to be evaluated</a:t>
            </a:r>
          </a:p>
          <a:p>
            <a:pPr>
              <a:spcBef>
                <a:spcPts val="600"/>
              </a:spcBef>
              <a:spcAft>
                <a:spcPts val="1200"/>
              </a:spcAft>
            </a:pPr>
            <a:r>
              <a:rPr lang="en-AU" sz="2200" dirty="0" smtClean="0">
                <a:latin typeface="Helvetica" pitchFamily="34" charset="0"/>
              </a:rPr>
              <a:t>Select monitoring methods</a:t>
            </a:r>
          </a:p>
          <a:p>
            <a:pPr>
              <a:spcBef>
                <a:spcPts val="600"/>
              </a:spcBef>
              <a:spcAft>
                <a:spcPts val="1200"/>
              </a:spcAft>
            </a:pPr>
            <a:r>
              <a:rPr lang="en-AU" sz="2200" dirty="0" smtClean="0">
                <a:latin typeface="Helvetica" pitchFamily="34" charset="0"/>
              </a:rPr>
              <a:t>Compare what is happening with what should be happening</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Take appropriate action</a:t>
            </a: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6" name="Picture 5" descr="shutterstock_88003519.jpg"/>
          <p:cNvPicPr/>
          <p:nvPr/>
        </p:nvPicPr>
        <p:blipFill>
          <a:blip r:embed="rId3" cstate="print"/>
          <a:stretch>
            <a:fillRect/>
          </a:stretch>
        </p:blipFill>
        <p:spPr>
          <a:xfrm>
            <a:off x="5508104" y="3645024"/>
            <a:ext cx="1283965" cy="191932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US" sz="2200" b="1" dirty="0" smtClean="0">
                <a:latin typeface="Helvetica" pitchFamily="34" charset="0"/>
              </a:rPr>
              <a:t>Monitoring methods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are examples of monitoring methods?</a:t>
            </a:r>
          </a:p>
          <a:p>
            <a:pPr>
              <a:spcBef>
                <a:spcPts val="600"/>
              </a:spcBef>
              <a:spcAft>
                <a:spcPts val="1200"/>
              </a:spcAft>
            </a:pPr>
            <a:r>
              <a:rPr lang="en-US" sz="2200" dirty="0" smtClean="0">
                <a:latin typeface="Helvetica" pitchFamily="34" charset="0"/>
              </a:rPr>
              <a:t>Refer to TM Pages 98-99</a:t>
            </a:r>
          </a:p>
          <a:p>
            <a:pPr>
              <a:spcBef>
                <a:spcPts val="600"/>
              </a:spcBef>
              <a:spcAft>
                <a:spcPts val="1200"/>
              </a:spcAft>
              <a:buNone/>
            </a:pPr>
            <a:endParaRPr lang="en-AU" sz="2200" b="1" dirty="0" smtClean="0">
              <a:solidFill>
                <a:srgbClr val="FF6600"/>
              </a:solidFill>
              <a:latin typeface="Helvetica" pitchFamily="34" charset="0"/>
            </a:endParaRPr>
          </a:p>
          <a:p>
            <a:pPr>
              <a:spcBef>
                <a:spcPts val="600"/>
              </a:spcBef>
              <a:spcAft>
                <a:spcPts val="1200"/>
              </a:spcAft>
              <a:buNone/>
            </a:pPr>
            <a:r>
              <a:rPr lang="en-AU" sz="2200" b="1" dirty="0" smtClean="0">
                <a:solidFill>
                  <a:srgbClr val="FF6600"/>
                </a:solidFill>
                <a:latin typeface="Helvetica" pitchFamily="34" charset="0"/>
              </a:rPr>
              <a:t>COMPLETE ACTIVITY 22</a:t>
            </a:r>
            <a:endParaRPr lang="en-US" sz="2200" b="1"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7" name="Picture 6" descr="A11 158587457.jpg"/>
          <p:cNvPicPr/>
          <p:nvPr/>
        </p:nvPicPr>
        <p:blipFill>
          <a:blip r:embed="rId3" cstate="print"/>
          <a:stretch>
            <a:fillRect/>
          </a:stretch>
        </p:blipFill>
        <p:spPr>
          <a:xfrm>
            <a:off x="5436096" y="3068960"/>
            <a:ext cx="2312968" cy="1589137"/>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Monitoring project team member performance</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it is important to monitor the project itself, it is still important to monitor the performance of individual team members.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activities are associated with monitoring team member performance?</a:t>
            </a:r>
          </a:p>
          <a:p>
            <a:pPr>
              <a:spcBef>
                <a:spcPts val="600"/>
              </a:spcBef>
              <a:spcAft>
                <a:spcPts val="1200"/>
              </a:spcAft>
            </a:pPr>
            <a:r>
              <a:rPr lang="en-AU" sz="2200" dirty="0" smtClean="0">
                <a:latin typeface="Helvetica" pitchFamily="34" charset="0"/>
              </a:rPr>
              <a:t>What areas of performance would you like to monitor?</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6" name="Picture 5" descr="ak.jpg"/>
          <p:cNvPicPr/>
          <p:nvPr/>
        </p:nvPicPr>
        <p:blipFill>
          <a:blip r:embed="rId3" cstate="print"/>
          <a:stretch>
            <a:fillRect/>
          </a:stretch>
        </p:blipFill>
        <p:spPr>
          <a:xfrm>
            <a:off x="3419872" y="4797152"/>
            <a:ext cx="1714500" cy="127635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Obtain feedback from key stakeholders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What  are the objectives when collecting and reviewing stakeholder feedback?</a:t>
            </a:r>
          </a:p>
          <a:p>
            <a:pPr>
              <a:spcBef>
                <a:spcPts val="600"/>
              </a:spcBef>
              <a:spcAft>
                <a:spcPts val="1200"/>
              </a:spcAft>
            </a:pPr>
            <a:r>
              <a:rPr lang="en-AU" sz="2200" dirty="0" smtClean="0">
                <a:latin typeface="Helvetica" pitchFamily="34" charset="0"/>
              </a:rPr>
              <a:t>What information would you like to get from stakeholders?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7" name="Picture 6" descr="W256_feedback1_shutterstock_92612392.jpg"/>
          <p:cNvPicPr/>
          <p:nvPr/>
        </p:nvPicPr>
        <p:blipFill>
          <a:blip r:embed="rId3" cstate="print"/>
          <a:stretch>
            <a:fillRect/>
          </a:stretch>
        </p:blipFill>
        <p:spPr>
          <a:xfrm>
            <a:off x="3491880" y="4509120"/>
            <a:ext cx="1419225" cy="14192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fontScale="92500" lnSpcReduction="10000"/>
          </a:bodyPr>
          <a:lstStyle/>
          <a:p>
            <a:pPr>
              <a:spcBef>
                <a:spcPts val="600"/>
              </a:spcBef>
              <a:spcAft>
                <a:spcPts val="600"/>
              </a:spcAft>
              <a:buNone/>
            </a:pPr>
            <a:r>
              <a:rPr lang="en-AU" sz="2400" b="1" dirty="0" smtClean="0">
                <a:latin typeface="Helvetica" pitchFamily="34" charset="0"/>
              </a:rPr>
              <a:t>Identify types of problems requiring corrective actions</a:t>
            </a:r>
            <a:endParaRPr lang="en-US" sz="2400" dirty="0" smtClean="0">
              <a:latin typeface="Helvetica" pitchFamily="34" charset="0"/>
            </a:endParaRPr>
          </a:p>
          <a:p>
            <a:pPr marL="0">
              <a:spcBef>
                <a:spcPts val="600"/>
              </a:spcBef>
              <a:spcAft>
                <a:spcPts val="600"/>
              </a:spcAft>
              <a:buNone/>
            </a:pPr>
            <a:r>
              <a:rPr lang="en-AU" sz="2400" dirty="0" smtClean="0">
                <a:latin typeface="Helvetica" pitchFamily="34" charset="0"/>
              </a:rPr>
              <a:t>The types of problems that may arise in project implementation but common problems may relate to:</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Product or service failures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Long delays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Escalating costs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Inability to achieve objectives</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Government interference</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Competitor interference</a:t>
            </a:r>
            <a:endParaRPr lang="en-US" sz="2400" dirty="0" smtClean="0">
              <a:latin typeface="Helvetica" pitchFamily="34" charset="0"/>
            </a:endParaRPr>
          </a:p>
          <a:p>
            <a:pPr lvl="0">
              <a:spcBef>
                <a:spcPts val="600"/>
              </a:spcBef>
              <a:spcAft>
                <a:spcPts val="600"/>
              </a:spcAft>
            </a:pPr>
            <a:r>
              <a:rPr lang="en-AU" sz="2400" dirty="0" smtClean="0">
                <a:latin typeface="Helvetica" pitchFamily="34" charset="0"/>
              </a:rPr>
              <a:t>Inaccurate or conflicting information provided to stakeholders</a:t>
            </a:r>
            <a:endParaRPr lang="en-US" sz="24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6" name="Picture 5" descr="shutterstock_162541940.jpg"/>
          <p:cNvPicPr/>
          <p:nvPr/>
        </p:nvPicPr>
        <p:blipFill>
          <a:blip r:embed="rId3" cstate="print"/>
          <a:stretch>
            <a:fillRect/>
          </a:stretch>
        </p:blipFill>
        <p:spPr>
          <a:xfrm>
            <a:off x="6804248" y="2852936"/>
            <a:ext cx="1199639" cy="1812237"/>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Identify types of problems requiring corrective actions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Lack of resources required to implement projects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Resource constraints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Conflicts in priorities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Lack of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Supplier delays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Differences in opinion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Interpersonal conflict</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7" name="Picture 6" descr="W424_resources_shutterstock_161870750.jpg"/>
          <p:cNvPicPr/>
          <p:nvPr/>
        </p:nvPicPr>
        <p:blipFill>
          <a:blip r:embed="rId3" cstate="print"/>
          <a:stretch>
            <a:fillRect/>
          </a:stretch>
        </p:blipFill>
        <p:spPr>
          <a:xfrm>
            <a:off x="6012160" y="3068960"/>
            <a:ext cx="1780208" cy="129215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Monitor program/project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Identify types of problems requiring corrective actions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Hazardous events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Time constraints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Electricity shortages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Bad weather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Shortfalls in expected outcomes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Poor personnel performance </a:t>
            </a: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buNone/>
            </a:pP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6" name="Picture 5" descr="W614_shutterstock_108796946.jpg"/>
          <p:cNvPicPr>
            <a:picLocks noChangeAspect="1"/>
          </p:cNvPicPr>
          <p:nvPr/>
        </p:nvPicPr>
        <p:blipFill>
          <a:blip r:embed="rId3" cstate="print"/>
          <a:stretch>
            <a:fillRect/>
          </a:stretch>
        </p:blipFill>
        <p:spPr>
          <a:xfrm>
            <a:off x="6444208" y="2624550"/>
            <a:ext cx="1795262" cy="1641162"/>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Corrective action</a:t>
            </a:r>
          </a:p>
        </p:txBody>
      </p:sp>
      <p:sp>
        <p:nvSpPr>
          <p:cNvPr id="3" name="Content Placeholder 2"/>
          <p:cNvSpPr>
            <a:spLocks noGrp="1"/>
          </p:cNvSpPr>
          <p:nvPr>
            <p:ph idx="1"/>
          </p:nvPr>
        </p:nvSpPr>
        <p:spPr>
          <a:xfrm>
            <a:off x="611560" y="1556792"/>
            <a:ext cx="6336704" cy="4968552"/>
          </a:xfrm>
        </p:spPr>
        <p:txBody>
          <a:bodyPr>
            <a:normAutofit/>
          </a:bodyPr>
          <a:lstStyle/>
          <a:p>
            <a:pPr>
              <a:spcBef>
                <a:spcPts val="600"/>
              </a:spcBef>
              <a:spcAft>
                <a:spcPts val="1200"/>
              </a:spcAft>
              <a:buNone/>
            </a:pPr>
            <a:r>
              <a:rPr lang="en-AU" sz="2200" b="1" dirty="0" smtClean="0">
                <a:latin typeface="Helvetica" pitchFamily="34" charset="0"/>
              </a:rPr>
              <a:t>Types of corrective actions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Quite simply, types of corrective actions taken to improve service operations may include:</a:t>
            </a:r>
          </a:p>
          <a:p>
            <a:pPr lvl="0">
              <a:spcBef>
                <a:spcPts val="600"/>
              </a:spcBef>
              <a:spcAft>
                <a:spcPts val="1200"/>
              </a:spcAft>
            </a:pPr>
            <a:r>
              <a:rPr lang="en-AU" sz="2200" dirty="0" smtClean="0">
                <a:latin typeface="Helvetica" pitchFamily="34" charset="0"/>
              </a:rPr>
              <a:t>Improvements in the design of products </a:t>
            </a:r>
            <a:br>
              <a:rPr lang="en-AU" sz="2200" dirty="0" smtClean="0">
                <a:latin typeface="Helvetica" pitchFamily="34" charset="0"/>
              </a:rPr>
            </a:br>
            <a:r>
              <a:rPr lang="en-AU" sz="2200" dirty="0" smtClean="0">
                <a:latin typeface="Helvetica" pitchFamily="34" charset="0"/>
              </a:rPr>
              <a:t>or services</a:t>
            </a:r>
          </a:p>
          <a:p>
            <a:pPr lvl="0">
              <a:spcBef>
                <a:spcPts val="600"/>
              </a:spcBef>
              <a:spcAft>
                <a:spcPts val="1200"/>
              </a:spcAft>
            </a:pPr>
            <a:r>
              <a:rPr lang="en-AU" sz="2200" dirty="0" smtClean="0">
                <a:latin typeface="Helvetica" pitchFamily="34" charset="0"/>
              </a:rPr>
              <a:t>Reviewing the allocation of resources for service operations</a:t>
            </a:r>
          </a:p>
          <a:p>
            <a:pPr lvl="0">
              <a:spcBef>
                <a:spcPts val="600"/>
              </a:spcBef>
              <a:spcAft>
                <a:spcPts val="1200"/>
              </a:spcAft>
            </a:pPr>
            <a:r>
              <a:rPr lang="en-AU" sz="2200" dirty="0" smtClean="0">
                <a:latin typeface="Helvetica" pitchFamily="34" charset="0"/>
              </a:rPr>
              <a:t>Tweaking standard operating procedures to improve efficiency</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7" name="Picture 6" descr="A7 shutterstock_138419417.jpg"/>
          <p:cNvPicPr/>
          <p:nvPr/>
        </p:nvPicPr>
        <p:blipFill>
          <a:blip r:embed="rId3" cstate="print"/>
          <a:stretch>
            <a:fillRect/>
          </a:stretch>
        </p:blipFill>
        <p:spPr>
          <a:xfrm>
            <a:off x="6732240" y="3212976"/>
            <a:ext cx="1660401" cy="1104125"/>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AU" sz="3400" b="1" dirty="0" smtClean="0">
                <a:solidFill>
                  <a:srgbClr val="FF6600"/>
                </a:solidFill>
                <a:latin typeface="Helvetica" pitchFamily="34" charset="0"/>
              </a:rPr>
              <a:t>Initiate corrective action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a:spcBef>
                <a:spcPts val="1200"/>
              </a:spcBef>
              <a:spcAft>
                <a:spcPts val="1200"/>
              </a:spcAft>
              <a:buNone/>
            </a:pPr>
            <a:r>
              <a:rPr lang="en-AU" sz="2100" b="1" dirty="0" smtClean="0">
                <a:latin typeface="Helvetica" pitchFamily="34" charset="0"/>
              </a:rPr>
              <a:t>Take appropriate corrective action</a:t>
            </a:r>
            <a:endParaRPr lang="en-AU" sz="2100" dirty="0" smtClean="0">
              <a:latin typeface="Helvetica" pitchFamily="34" charset="0"/>
            </a:endParaRPr>
          </a:p>
          <a:p>
            <a:pPr>
              <a:spcBef>
                <a:spcPts val="1200"/>
              </a:spcBef>
              <a:spcAft>
                <a:spcPts val="1200"/>
              </a:spcAft>
            </a:pPr>
            <a:r>
              <a:rPr lang="en-AU" sz="2100" dirty="0" smtClean="0">
                <a:latin typeface="Helvetica" pitchFamily="34" charset="0"/>
              </a:rPr>
              <a:t>This involves making the necessary adjustments to improve the level of service, productivity or customer satisfaction</a:t>
            </a:r>
          </a:p>
          <a:p>
            <a:pPr>
              <a:spcBef>
                <a:spcPts val="1200"/>
              </a:spcBef>
              <a:spcAft>
                <a:spcPts val="1200"/>
              </a:spcAft>
            </a:pPr>
            <a:r>
              <a:rPr lang="en-AU" sz="2100" dirty="0" smtClean="0">
                <a:latin typeface="Helvetica" pitchFamily="34" charset="0"/>
              </a:rPr>
              <a:t>Depending on what is being monitored, involving staff in all or some stages of the monitoring process is likely to achieve better results</a:t>
            </a:r>
          </a:p>
          <a:p>
            <a:pPr>
              <a:buNone/>
            </a:pPr>
            <a:endParaRPr lang="en-AU" sz="2100" dirty="0" smtClean="0"/>
          </a:p>
          <a:p>
            <a:pPr>
              <a:buNone/>
            </a:pPr>
            <a:endParaRPr lang="en-AU" sz="2100" dirty="0" smtClean="0"/>
          </a:p>
          <a:p>
            <a:pPr marL="0">
              <a:spcBef>
                <a:spcPts val="600"/>
              </a:spcBef>
              <a:spcAft>
                <a:spcPts val="1200"/>
              </a:spcAft>
              <a:buNone/>
            </a:pPr>
            <a:endParaRPr lang="en-AU" sz="2100" dirty="0" smtClean="0"/>
          </a:p>
          <a:p>
            <a:pPr marL="0">
              <a:spcBef>
                <a:spcPts val="600"/>
              </a:spcBef>
              <a:spcAft>
                <a:spcPts val="1200"/>
              </a:spcAft>
              <a:buNone/>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7" name="Picture 6" descr="shutterstock_188933945.jpg"/>
          <p:cNvPicPr/>
          <p:nvPr/>
        </p:nvPicPr>
        <p:blipFill>
          <a:blip r:embed="rId3" cstate="print"/>
          <a:stretch>
            <a:fillRect/>
          </a:stretch>
        </p:blipFill>
        <p:spPr>
          <a:xfrm>
            <a:off x="5148064" y="4437112"/>
            <a:ext cx="1744980" cy="1162050"/>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Initiate corrective action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896544"/>
          </a:xfrm>
        </p:spPr>
        <p:txBody>
          <a:bodyPr>
            <a:normAutofit/>
          </a:bodyPr>
          <a:lstStyle/>
          <a:p>
            <a:pPr marL="0">
              <a:spcBef>
                <a:spcPts val="1200"/>
              </a:spcBef>
              <a:spcAft>
                <a:spcPts val="1200"/>
              </a:spcAft>
              <a:buNone/>
            </a:pPr>
            <a:r>
              <a:rPr lang="en-AU" sz="2200" b="1" dirty="0" smtClean="0">
                <a:latin typeface="Helvetica" pitchFamily="34" charset="0"/>
              </a:rPr>
              <a:t>Short and long term corrective action</a:t>
            </a:r>
          </a:p>
          <a:p>
            <a:pPr marL="0">
              <a:spcBef>
                <a:spcPts val="1200"/>
              </a:spcBef>
              <a:spcAft>
                <a:spcPts val="1200"/>
              </a:spcAft>
              <a:buNone/>
            </a:pPr>
            <a:r>
              <a:rPr lang="en-AU" sz="2200" dirty="0" smtClean="0">
                <a:latin typeface="Helvetica" pitchFamily="34" charset="0"/>
              </a:rPr>
              <a:t>Corrective actions taken within an operation workplace context can be seen as either:</a:t>
            </a:r>
          </a:p>
          <a:p>
            <a:pPr>
              <a:spcBef>
                <a:spcPts val="1200"/>
              </a:spcBef>
              <a:spcAft>
                <a:spcPts val="1200"/>
              </a:spcAft>
            </a:pPr>
            <a:r>
              <a:rPr lang="en-AU" sz="2200" dirty="0" smtClean="0">
                <a:latin typeface="Helvetica" pitchFamily="34" charset="0"/>
              </a:rPr>
              <a:t>Short term corrective action</a:t>
            </a:r>
          </a:p>
          <a:p>
            <a:pPr>
              <a:spcBef>
                <a:spcPts val="1200"/>
              </a:spcBef>
              <a:spcAft>
                <a:spcPts val="1200"/>
              </a:spcAft>
            </a:pPr>
            <a:r>
              <a:rPr lang="en-AU" sz="2200" dirty="0" smtClean="0">
                <a:latin typeface="Helvetica" pitchFamily="34" charset="0"/>
              </a:rPr>
              <a:t>Long term corrective action</a:t>
            </a: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7" name="Picture 6" descr="shutterstock_96331862.jpg"/>
          <p:cNvPicPr/>
          <p:nvPr/>
        </p:nvPicPr>
        <p:blipFill>
          <a:blip r:embed="rId3" cstate="print"/>
          <a:stretch>
            <a:fillRect/>
          </a:stretch>
        </p:blipFill>
        <p:spPr>
          <a:xfrm>
            <a:off x="5940152" y="3284984"/>
            <a:ext cx="1862146" cy="1500194"/>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Taking corrective action</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b="1" dirty="0" smtClean="0">
                <a:latin typeface="Helvetica" pitchFamily="34" charset="0"/>
              </a:rPr>
              <a:t>Short term corrective action</a:t>
            </a:r>
          </a:p>
          <a:p>
            <a:pPr marL="0">
              <a:spcBef>
                <a:spcPts val="600"/>
              </a:spcBef>
              <a:spcAft>
                <a:spcPts val="1200"/>
              </a:spcAft>
              <a:buNone/>
            </a:pPr>
            <a:r>
              <a:rPr lang="en-AU" sz="2200" dirty="0" smtClean="0">
                <a:latin typeface="Helvetica" pitchFamily="34" charset="0"/>
              </a:rPr>
              <a:t>It is sometimes necessary to take short term action to solve a problem until it can be looked at more closely and the problem dealt with more thoroughly.</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6" name="Picture 5" descr="W226_professional_asian_man_shutterstock_127331363.jpg"/>
          <p:cNvPicPr>
            <a:picLocks noChangeAspect="1"/>
          </p:cNvPicPr>
          <p:nvPr/>
        </p:nvPicPr>
        <p:blipFill>
          <a:blip r:embed="rId3" cstate="print"/>
          <a:stretch>
            <a:fillRect/>
          </a:stretch>
        </p:blipFill>
        <p:spPr>
          <a:xfrm>
            <a:off x="3851920" y="3645024"/>
            <a:ext cx="1423111" cy="2133600"/>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Short term corrective action</a:t>
            </a:r>
          </a:p>
        </p:txBody>
      </p:sp>
      <p:sp>
        <p:nvSpPr>
          <p:cNvPr id="3" name="Content Placeholder 2"/>
          <p:cNvSpPr>
            <a:spLocks noGrp="1"/>
          </p:cNvSpPr>
          <p:nvPr>
            <p:ph idx="1"/>
          </p:nvPr>
        </p:nvSpPr>
        <p:spPr>
          <a:xfrm>
            <a:off x="611560" y="1628800"/>
            <a:ext cx="7467600" cy="4896544"/>
          </a:xfrm>
        </p:spPr>
        <p:txBody>
          <a:bodyPr>
            <a:normAutofit lnSpcReduction="10000"/>
          </a:bodyPr>
          <a:lstStyle/>
          <a:p>
            <a:pPr>
              <a:spcBef>
                <a:spcPts val="600"/>
              </a:spcBef>
              <a:spcAft>
                <a:spcPts val="1200"/>
              </a:spcAft>
              <a:buNone/>
            </a:pPr>
            <a:r>
              <a:rPr lang="en-AU" sz="2200" b="1" dirty="0" smtClean="0">
                <a:latin typeface="Helvetica" pitchFamily="34" charset="0"/>
              </a:rPr>
              <a:t>Reasons for short-term action </a:t>
            </a:r>
          </a:p>
          <a:p>
            <a:pPr lvl="0">
              <a:spcBef>
                <a:spcPts val="600"/>
              </a:spcBef>
              <a:spcAft>
                <a:spcPts val="1200"/>
              </a:spcAft>
            </a:pPr>
            <a:r>
              <a:rPr lang="en-AU" sz="2200" dirty="0" smtClean="0">
                <a:latin typeface="Helvetica" pitchFamily="34" charset="0"/>
              </a:rPr>
              <a:t>Isn’t time to stop and analyse the problem more carefully and in more detail</a:t>
            </a:r>
          </a:p>
          <a:p>
            <a:pPr lvl="0">
              <a:spcBef>
                <a:spcPts val="600"/>
              </a:spcBef>
              <a:spcAft>
                <a:spcPts val="1200"/>
              </a:spcAft>
            </a:pPr>
            <a:r>
              <a:rPr lang="en-AU" sz="2200" dirty="0" smtClean="0">
                <a:latin typeface="Helvetica" pitchFamily="34" charset="0"/>
              </a:rPr>
              <a:t>To provide the necessary or expected services to the customer</a:t>
            </a:r>
          </a:p>
          <a:p>
            <a:pPr lvl="0">
              <a:spcBef>
                <a:spcPts val="600"/>
              </a:spcBef>
              <a:spcAft>
                <a:spcPts val="1200"/>
              </a:spcAft>
            </a:pPr>
            <a:r>
              <a:rPr lang="en-AU" sz="2200" dirty="0" smtClean="0">
                <a:latin typeface="Helvetica" pitchFamily="34" charset="0"/>
              </a:rPr>
              <a:t>To meet OSH requirements</a:t>
            </a:r>
          </a:p>
          <a:p>
            <a:pPr lvl="0">
              <a:spcBef>
                <a:spcPts val="600"/>
              </a:spcBef>
              <a:spcAft>
                <a:spcPts val="1200"/>
              </a:spcAft>
            </a:pPr>
            <a:r>
              <a:rPr lang="en-AU" sz="2200" dirty="0" smtClean="0">
                <a:latin typeface="Helvetica" pitchFamily="34" charset="0"/>
              </a:rPr>
              <a:t>To deal with a complaint</a:t>
            </a:r>
          </a:p>
          <a:p>
            <a:pPr lvl="0">
              <a:spcBef>
                <a:spcPts val="600"/>
              </a:spcBef>
              <a:spcAft>
                <a:spcPts val="1200"/>
              </a:spcAft>
            </a:pPr>
            <a:r>
              <a:rPr lang="en-AU" sz="2200" dirty="0" smtClean="0">
                <a:latin typeface="Helvetica" pitchFamily="34" charset="0"/>
              </a:rPr>
              <a:t>To get staff working together again</a:t>
            </a:r>
          </a:p>
          <a:p>
            <a:pPr lvl="0">
              <a:spcBef>
                <a:spcPts val="600"/>
              </a:spcBef>
              <a:spcAft>
                <a:spcPts val="1200"/>
              </a:spcAft>
            </a:pPr>
            <a:r>
              <a:rPr lang="en-AU" sz="2200" dirty="0" smtClean="0">
                <a:latin typeface="Helvetica" pitchFamily="34" charset="0"/>
              </a:rPr>
              <a:t>To give you time to analyse and work through the problem at a later date</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7" name="Picture 6" descr="shutterstock_130439015.jpg"/>
          <p:cNvPicPr>
            <a:picLocks noChangeAspect="1"/>
          </p:cNvPicPr>
          <p:nvPr/>
        </p:nvPicPr>
        <p:blipFill>
          <a:blip r:embed="rId3" cstate="print"/>
          <a:stretch>
            <a:fillRect/>
          </a:stretch>
        </p:blipFill>
        <p:spPr>
          <a:xfrm>
            <a:off x="6300192" y="3789040"/>
            <a:ext cx="1889103" cy="1251224"/>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Short term corrective action</a:t>
            </a:r>
          </a:p>
        </p:txBody>
      </p:sp>
      <p:sp>
        <p:nvSpPr>
          <p:cNvPr id="3" name="Content Placeholder 2"/>
          <p:cNvSpPr>
            <a:spLocks noGrp="1"/>
          </p:cNvSpPr>
          <p:nvPr>
            <p:ph idx="1"/>
          </p:nvPr>
        </p:nvSpPr>
        <p:spPr>
          <a:xfrm>
            <a:off x="611560" y="1700808"/>
            <a:ext cx="6192688" cy="4896544"/>
          </a:xfrm>
        </p:spPr>
        <p:txBody>
          <a:bodyPr>
            <a:normAutofit/>
          </a:bodyPr>
          <a:lstStyle/>
          <a:p>
            <a:pPr>
              <a:spcBef>
                <a:spcPts val="600"/>
              </a:spcBef>
              <a:spcAft>
                <a:spcPts val="1200"/>
              </a:spcAft>
              <a:buNone/>
            </a:pPr>
            <a:r>
              <a:rPr lang="en-AU" sz="2200" b="1" dirty="0" smtClean="0">
                <a:latin typeface="Helvetica" pitchFamily="34" charset="0"/>
              </a:rPr>
              <a:t>Considerations for short-term action </a:t>
            </a:r>
          </a:p>
          <a:p>
            <a:pPr lvl="0">
              <a:spcBef>
                <a:spcPts val="600"/>
              </a:spcBef>
              <a:spcAft>
                <a:spcPts val="1200"/>
              </a:spcAft>
            </a:pPr>
            <a:r>
              <a:rPr lang="en-AU" sz="2200" dirty="0" smtClean="0">
                <a:latin typeface="Helvetica" pitchFamily="34" charset="0"/>
              </a:rPr>
              <a:t>Make a definite time to look at it more thoroughly later on</a:t>
            </a:r>
          </a:p>
          <a:p>
            <a:pPr lvl="0">
              <a:spcBef>
                <a:spcPts val="600"/>
              </a:spcBef>
              <a:spcAft>
                <a:spcPts val="1200"/>
              </a:spcAft>
            </a:pPr>
            <a:r>
              <a:rPr lang="en-AU" sz="2200" dirty="0" smtClean="0">
                <a:latin typeface="Helvetica" pitchFamily="34" charset="0"/>
              </a:rPr>
              <a:t>Decide who to involve in further problem solving</a:t>
            </a:r>
          </a:p>
          <a:p>
            <a:pPr lvl="0">
              <a:spcBef>
                <a:spcPts val="600"/>
              </a:spcBef>
              <a:spcAft>
                <a:spcPts val="1200"/>
              </a:spcAft>
            </a:pPr>
            <a:r>
              <a:rPr lang="en-AU" sz="2200" dirty="0" smtClean="0">
                <a:latin typeface="Helvetica" pitchFamily="34" charset="0"/>
              </a:rPr>
              <a:t>Inform staff and management it is a short term solution</a:t>
            </a:r>
          </a:p>
          <a:p>
            <a:pPr lvl="0">
              <a:spcBef>
                <a:spcPts val="600"/>
              </a:spcBef>
              <a:spcAft>
                <a:spcPts val="1200"/>
              </a:spcAft>
            </a:pPr>
            <a:r>
              <a:rPr lang="en-AU" sz="2200" dirty="0" smtClean="0">
                <a:latin typeface="Helvetica" pitchFamily="34" charset="0"/>
              </a:rPr>
              <a:t>Cost the implications of tackling the problem this way</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6" name="Picture 5" descr="shutterstock_128200775.jpg"/>
          <p:cNvPicPr>
            <a:picLocks noChangeAspect="1"/>
          </p:cNvPicPr>
          <p:nvPr/>
        </p:nvPicPr>
        <p:blipFill>
          <a:blip r:embed="rId3" cstate="print"/>
          <a:stretch>
            <a:fillRect/>
          </a:stretch>
        </p:blipFill>
        <p:spPr>
          <a:xfrm>
            <a:off x="6876256" y="2780928"/>
            <a:ext cx="1961964" cy="1307976"/>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Long term corrective action</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100" b="1" dirty="0" smtClean="0">
                <a:latin typeface="Helvetica" pitchFamily="34" charset="0"/>
              </a:rPr>
              <a:t>Management changes</a:t>
            </a:r>
            <a:endParaRPr lang="en-AU" sz="2100" dirty="0" smtClean="0">
              <a:latin typeface="Helvetica" pitchFamily="34" charset="0"/>
            </a:endParaRPr>
          </a:p>
          <a:p>
            <a:pPr>
              <a:spcBef>
                <a:spcPts val="600"/>
              </a:spcBef>
              <a:spcAft>
                <a:spcPts val="1200"/>
              </a:spcAft>
            </a:pPr>
            <a:r>
              <a:rPr lang="en-AU" sz="2100" dirty="0" smtClean="0">
                <a:latin typeface="Helvetica" pitchFamily="34" charset="0"/>
              </a:rPr>
              <a:t>New management</a:t>
            </a:r>
          </a:p>
          <a:p>
            <a:pPr>
              <a:spcBef>
                <a:spcPts val="600"/>
              </a:spcBef>
              <a:spcAft>
                <a:spcPts val="1200"/>
              </a:spcAft>
            </a:pPr>
            <a:r>
              <a:rPr lang="en-AU" sz="2100" dirty="0" smtClean="0">
                <a:latin typeface="Helvetica" pitchFamily="34" charset="0"/>
              </a:rPr>
              <a:t>Change in orientation to service</a:t>
            </a:r>
          </a:p>
          <a:p>
            <a:pPr>
              <a:spcBef>
                <a:spcPts val="600"/>
              </a:spcBef>
              <a:spcAft>
                <a:spcPts val="1200"/>
              </a:spcAft>
            </a:pPr>
            <a:r>
              <a:rPr lang="en-AU" sz="2100" dirty="0" smtClean="0">
                <a:latin typeface="Helvetica" pitchFamily="34" charset="0"/>
              </a:rPr>
              <a:t>Setting of some new directions in relation to several other factors</a:t>
            </a:r>
          </a:p>
          <a:p>
            <a:pPr>
              <a:spcBef>
                <a:spcPts val="600"/>
              </a:spcBef>
              <a:spcAft>
                <a:spcPts val="1200"/>
              </a:spcAft>
            </a:pPr>
            <a:r>
              <a:rPr lang="en-AU" sz="2100" dirty="0" smtClean="0">
                <a:latin typeface="Helvetica" pitchFamily="34" charset="0"/>
              </a:rPr>
              <a:t>New management focus</a:t>
            </a:r>
          </a:p>
          <a:p>
            <a:pPr>
              <a:buNone/>
            </a:pPr>
            <a:endParaRPr lang="en-AU" sz="2100" dirty="0" smtClean="0"/>
          </a:p>
          <a:p>
            <a:pPr marL="0">
              <a:spcBef>
                <a:spcPts val="600"/>
              </a:spcBef>
              <a:spcAft>
                <a:spcPts val="1200"/>
              </a:spcAft>
              <a:buNone/>
            </a:pPr>
            <a:endParaRPr lang="en-AU" sz="2100" dirty="0" smtClean="0"/>
          </a:p>
          <a:p>
            <a:pPr marL="0">
              <a:spcBef>
                <a:spcPts val="600"/>
              </a:spcBef>
              <a:spcAft>
                <a:spcPts val="1200"/>
              </a:spcAft>
              <a:buNone/>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6" name="Picture 5" descr="W375_namecard_shutterstock_159093671.jpg"/>
          <p:cNvPicPr/>
          <p:nvPr/>
        </p:nvPicPr>
        <p:blipFill>
          <a:blip r:embed="rId3" cstate="print"/>
          <a:stretch>
            <a:fillRect/>
          </a:stretch>
        </p:blipFill>
        <p:spPr>
          <a:xfrm>
            <a:off x="5652120" y="3933056"/>
            <a:ext cx="2036068" cy="1401883"/>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Long term corrective action</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Organisational re-structures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Change of personnel structure</a:t>
            </a:r>
          </a:p>
          <a:p>
            <a:pPr>
              <a:spcBef>
                <a:spcPts val="600"/>
              </a:spcBef>
              <a:spcAft>
                <a:spcPts val="1200"/>
              </a:spcAft>
            </a:pPr>
            <a:r>
              <a:rPr lang="en-AU" sz="2200" dirty="0" smtClean="0">
                <a:latin typeface="Helvetica" pitchFamily="34" charset="0"/>
              </a:rPr>
              <a:t>Elimination of positions</a:t>
            </a:r>
          </a:p>
          <a:p>
            <a:pPr>
              <a:spcBef>
                <a:spcPts val="600"/>
              </a:spcBef>
              <a:spcAft>
                <a:spcPts val="1200"/>
              </a:spcAft>
            </a:pPr>
            <a:r>
              <a:rPr lang="en-AU" sz="2200" dirty="0" smtClean="0">
                <a:latin typeface="Helvetica" pitchFamily="34" charset="0"/>
              </a:rPr>
              <a:t>New job roles</a:t>
            </a:r>
          </a:p>
          <a:p>
            <a:pPr>
              <a:spcBef>
                <a:spcPts val="600"/>
              </a:spcBef>
              <a:spcAft>
                <a:spcPts val="1200"/>
              </a:spcAft>
            </a:pPr>
            <a:r>
              <a:rPr lang="en-AU" sz="2200" dirty="0" smtClean="0">
                <a:latin typeface="Helvetica" pitchFamily="34" charset="0"/>
              </a:rPr>
              <a:t>Changes in job roles</a:t>
            </a:r>
          </a:p>
          <a:p>
            <a:pPr>
              <a:spcBef>
                <a:spcPts val="600"/>
              </a:spcBef>
              <a:spcAft>
                <a:spcPts val="1200"/>
              </a:spcAft>
            </a:pPr>
            <a:r>
              <a:rPr lang="en-AU" sz="2200" dirty="0" smtClean="0">
                <a:latin typeface="Helvetica" pitchFamily="34" charset="0"/>
              </a:rPr>
              <a:t>New knowledge or skills</a:t>
            </a:r>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6" name="Picture 5" descr="shutterstock_118921213.jpg"/>
          <p:cNvPicPr>
            <a:picLocks noChangeAspect="1"/>
          </p:cNvPicPr>
          <p:nvPr/>
        </p:nvPicPr>
        <p:blipFill>
          <a:blip r:embed="rId3" cstate="print"/>
          <a:stretch>
            <a:fillRect/>
          </a:stretch>
        </p:blipFill>
        <p:spPr>
          <a:xfrm>
            <a:off x="5652120" y="2564904"/>
            <a:ext cx="2309818" cy="1540649"/>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Long term corrective action</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Introduction of new equipment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New equipment means:</a:t>
            </a:r>
          </a:p>
          <a:p>
            <a:pPr>
              <a:spcBef>
                <a:spcPts val="600"/>
              </a:spcBef>
              <a:spcAft>
                <a:spcPts val="1200"/>
              </a:spcAft>
            </a:pPr>
            <a:r>
              <a:rPr lang="en-AU" sz="2200" dirty="0" smtClean="0">
                <a:latin typeface="Helvetica" pitchFamily="34" charset="0"/>
              </a:rPr>
              <a:t>Possible interruptions to operations for installation</a:t>
            </a:r>
          </a:p>
          <a:p>
            <a:pPr>
              <a:spcBef>
                <a:spcPts val="600"/>
              </a:spcBef>
              <a:spcAft>
                <a:spcPts val="1200"/>
              </a:spcAft>
            </a:pPr>
            <a:r>
              <a:rPr lang="en-AU" sz="2200" dirty="0" smtClean="0">
                <a:latin typeface="Helvetica" pitchFamily="34" charset="0"/>
              </a:rPr>
              <a:t> Training for staff</a:t>
            </a:r>
          </a:p>
          <a:p>
            <a:pPr>
              <a:spcBef>
                <a:spcPts val="600"/>
              </a:spcBef>
              <a:spcAft>
                <a:spcPts val="1200"/>
              </a:spcAft>
            </a:pPr>
            <a:r>
              <a:rPr lang="en-AU" sz="2200" dirty="0" smtClean="0">
                <a:latin typeface="Helvetica" pitchFamily="34" charset="0"/>
              </a:rPr>
              <a:t>Requires that staff can explain the new                     equipment to customers</a:t>
            </a:r>
          </a:p>
          <a:p>
            <a:pPr>
              <a:spcBef>
                <a:spcPts val="600"/>
              </a:spcBef>
              <a:spcAft>
                <a:spcPts val="1200"/>
              </a:spcAft>
            </a:pPr>
            <a:r>
              <a:rPr lang="en-AU" sz="2200" dirty="0" smtClean="0">
                <a:latin typeface="Helvetica" pitchFamily="34" charset="0"/>
              </a:rPr>
              <a:t>Changes in job roles</a:t>
            </a:r>
          </a:p>
          <a:p>
            <a:pPr>
              <a:spcBef>
                <a:spcPts val="600"/>
              </a:spcBef>
              <a:spcAft>
                <a:spcPts val="1200"/>
              </a:spcAft>
            </a:pPr>
            <a:r>
              <a:rPr lang="en-AU" sz="2200" dirty="0" smtClean="0">
                <a:latin typeface="Helvetica" pitchFamily="34" charset="0"/>
              </a:rPr>
              <a:t>Changes in procedures</a:t>
            </a:r>
          </a:p>
          <a:p>
            <a:pPr>
              <a:spcBef>
                <a:spcPts val="600"/>
              </a:spcBef>
              <a:spcAft>
                <a:spcPts val="1200"/>
              </a:spcAft>
            </a:pPr>
            <a:r>
              <a:rPr lang="en-AU" sz="2200" dirty="0" smtClean="0">
                <a:latin typeface="Helvetica" pitchFamily="34" charset="0"/>
              </a:rPr>
              <a:t>Changes to workflow</a:t>
            </a:r>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6" name="Picture 5" descr="W285_training_shutterstock_157506506.jpg"/>
          <p:cNvPicPr/>
          <p:nvPr/>
        </p:nvPicPr>
        <p:blipFill>
          <a:blip r:embed="rId3" cstate="print"/>
          <a:stretch>
            <a:fillRect/>
          </a:stretch>
        </p:blipFill>
        <p:spPr>
          <a:xfrm>
            <a:off x="6228184" y="3429000"/>
            <a:ext cx="2133600" cy="1638300"/>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US" sz="3400" b="1" dirty="0" smtClean="0">
                <a:solidFill>
                  <a:srgbClr val="FF6600"/>
                </a:solidFill>
                <a:latin typeface="Helvetica" pitchFamily="34" charset="0"/>
              </a:rPr>
              <a:t>Long term corrective action</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Recruitment practices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Need to establish comprehensive job descriptions and job specifications</a:t>
            </a:r>
          </a:p>
          <a:p>
            <a:pPr>
              <a:spcBef>
                <a:spcPts val="600"/>
              </a:spcBef>
              <a:spcAft>
                <a:spcPts val="1200"/>
              </a:spcAft>
            </a:pPr>
            <a:r>
              <a:rPr lang="en-AU" sz="2200" dirty="0" smtClean="0">
                <a:latin typeface="Helvetica" pitchFamily="34" charset="0"/>
              </a:rPr>
              <a:t>Seeking of new knowledge and skills</a:t>
            </a:r>
          </a:p>
          <a:p>
            <a:pPr>
              <a:spcBef>
                <a:spcPts val="600"/>
              </a:spcBef>
              <a:spcAft>
                <a:spcPts val="1200"/>
              </a:spcAft>
            </a:pPr>
            <a:r>
              <a:rPr lang="en-AU" sz="2200" dirty="0" smtClean="0">
                <a:latin typeface="Helvetica" pitchFamily="34" charset="0"/>
              </a:rPr>
              <a:t>Change advertising strategy</a:t>
            </a:r>
          </a:p>
          <a:p>
            <a:pPr>
              <a:spcBef>
                <a:spcPts val="600"/>
              </a:spcBef>
              <a:spcAft>
                <a:spcPts val="1200"/>
              </a:spcAft>
            </a:pPr>
            <a:r>
              <a:rPr lang="en-AU" sz="2200" dirty="0" smtClean="0">
                <a:latin typeface="Helvetica" pitchFamily="34" charset="0"/>
              </a:rPr>
              <a:t>Revised interviewing and selection process</a:t>
            </a:r>
          </a:p>
          <a:p>
            <a:pPr>
              <a:spcBef>
                <a:spcPts val="600"/>
              </a:spcBef>
              <a:spcAft>
                <a:spcPts val="1200"/>
              </a:spcAft>
            </a:pPr>
            <a:r>
              <a:rPr lang="en-AU" sz="2200" dirty="0" smtClean="0">
                <a:latin typeface="Helvetica" pitchFamily="34" charset="0"/>
              </a:rPr>
              <a:t>Revised selection criteria</a:t>
            </a:r>
          </a:p>
          <a:p>
            <a:pPr>
              <a:buNone/>
            </a:pPr>
            <a:endParaRPr lang="en-AU" sz="2400" b="1" dirty="0" smtClean="0">
              <a:solidFill>
                <a:srgbClr val="FF6600"/>
              </a:solidFill>
              <a:latin typeface="Helvetica" pitchFamily="34" charset="0"/>
            </a:endParaRPr>
          </a:p>
          <a:p>
            <a:pPr>
              <a:buNone/>
            </a:pPr>
            <a:r>
              <a:rPr lang="en-AU" sz="2400" b="1" dirty="0" smtClean="0">
                <a:solidFill>
                  <a:srgbClr val="FF6600"/>
                </a:solidFill>
                <a:latin typeface="Helvetica" pitchFamily="34" charset="0"/>
              </a:rPr>
              <a:t>COMPLETE ACTIVITY 23</a:t>
            </a:r>
            <a:endParaRPr lang="en-US" sz="2400" b="1" dirty="0" smtClean="0">
              <a:latin typeface="Helvetica" pitchFamily="34" charset="0"/>
            </a:endParaRPr>
          </a:p>
          <a:p>
            <a:endParaRPr lang="en-AU" sz="2400" dirty="0" smtClean="0"/>
          </a:p>
          <a:p>
            <a:pPr>
              <a:buNone/>
            </a:pPr>
            <a:endParaRPr lang="en-AU" sz="2400" dirty="0" smtClean="0"/>
          </a:p>
          <a:p>
            <a:pPr marL="0">
              <a:spcBef>
                <a:spcPts val="600"/>
              </a:spcBef>
              <a:spcAft>
                <a:spcPts val="1200"/>
              </a:spcAft>
              <a:buNone/>
            </a:pPr>
            <a:endParaRPr lang="en-AU" sz="2000" dirty="0" smtClean="0"/>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7" name="Picture 6" descr="shutterstock_168391730.jpg"/>
          <p:cNvPicPr/>
          <p:nvPr/>
        </p:nvPicPr>
        <p:blipFill>
          <a:blip r:embed="rId3" cstate="print"/>
          <a:stretch>
            <a:fillRect/>
          </a:stretch>
        </p:blipFill>
        <p:spPr>
          <a:xfrm>
            <a:off x="6876256" y="2924944"/>
            <a:ext cx="1465218" cy="1794892"/>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Report program/project progress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Report progress in a transparent manner</a:t>
            </a:r>
          </a:p>
          <a:p>
            <a:pPr>
              <a:spcBef>
                <a:spcPts val="600"/>
              </a:spcBef>
              <a:spcAft>
                <a:spcPts val="1200"/>
              </a:spcAft>
            </a:pPr>
            <a:r>
              <a:rPr lang="en-AU" sz="2200" dirty="0" smtClean="0">
                <a:latin typeface="Helvetica" pitchFamily="34" charset="0"/>
              </a:rPr>
              <a:t>A critical aspect of auditing the success of a project to date is to ensure the identified reports are produced and made available on the basis identified as being necessary for that project</a:t>
            </a:r>
            <a:endParaRPr lang="en-US" sz="2200" dirty="0" smtClean="0">
              <a:latin typeface="Helvetica" pitchFamily="34" charset="0"/>
            </a:endParaRP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7" name="Picture 6" descr="shutterstock_143143042.jpg"/>
          <p:cNvPicPr>
            <a:picLocks noChangeAspect="1"/>
          </p:cNvPicPr>
          <p:nvPr/>
        </p:nvPicPr>
        <p:blipFill>
          <a:blip r:embed="rId3" cstate="print"/>
          <a:stretch>
            <a:fillRect/>
          </a:stretch>
        </p:blipFill>
        <p:spPr>
          <a:xfrm>
            <a:off x="3779912" y="3933056"/>
            <a:ext cx="1490856" cy="2166942"/>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Report program/project progress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39552" y="1340768"/>
            <a:ext cx="7467600" cy="5301208"/>
          </a:xfrm>
        </p:spPr>
        <p:txBody>
          <a:bodyPr>
            <a:noAutofit/>
          </a:bodyPr>
          <a:lstStyle/>
          <a:p>
            <a:pPr>
              <a:spcBef>
                <a:spcPts val="400"/>
              </a:spcBef>
              <a:spcAft>
                <a:spcPts val="600"/>
              </a:spcAft>
              <a:buNone/>
            </a:pPr>
            <a:r>
              <a:rPr lang="en-AU" sz="2000" b="1" dirty="0" smtClean="0"/>
              <a:t>Basic checks to ensure an effective reporting system</a:t>
            </a:r>
            <a:endParaRPr lang="en-US" sz="2000" dirty="0" smtClean="0"/>
          </a:p>
          <a:p>
            <a:pPr lvl="0">
              <a:spcBef>
                <a:spcPts val="400"/>
              </a:spcBef>
              <a:spcAft>
                <a:spcPts val="600"/>
              </a:spcAft>
            </a:pPr>
            <a:r>
              <a:rPr lang="en-AU" sz="2000" dirty="0" smtClean="0"/>
              <a:t>The schedules for generation of project reports are established and being complied with</a:t>
            </a:r>
            <a:endParaRPr lang="en-US" sz="2000" dirty="0" smtClean="0"/>
          </a:p>
          <a:p>
            <a:pPr lvl="0">
              <a:spcBef>
                <a:spcPts val="400"/>
              </a:spcBef>
              <a:spcAft>
                <a:spcPts val="600"/>
              </a:spcAft>
            </a:pPr>
            <a:r>
              <a:rPr lang="en-AU" sz="2000" dirty="0" smtClean="0"/>
              <a:t>The names of the projects reports required are identified </a:t>
            </a:r>
            <a:endParaRPr lang="en-US" sz="2000" dirty="0" smtClean="0"/>
          </a:p>
          <a:p>
            <a:pPr lvl="0">
              <a:spcBef>
                <a:spcPts val="400"/>
              </a:spcBef>
              <a:spcAft>
                <a:spcPts val="600"/>
              </a:spcAft>
            </a:pPr>
            <a:r>
              <a:rPr lang="en-AU" sz="2000" dirty="0" smtClean="0"/>
              <a:t>The personnel who should generate these reports are identified</a:t>
            </a:r>
            <a:endParaRPr lang="en-US" sz="2000" dirty="0" smtClean="0"/>
          </a:p>
          <a:p>
            <a:pPr lvl="0">
              <a:spcBef>
                <a:spcPts val="400"/>
              </a:spcBef>
              <a:spcAft>
                <a:spcPts val="600"/>
              </a:spcAft>
            </a:pPr>
            <a:r>
              <a:rPr lang="en-AU" sz="2000" dirty="0" smtClean="0"/>
              <a:t>The people to whom the reports are                            distributed are identified</a:t>
            </a:r>
            <a:endParaRPr lang="en-US" sz="2000" dirty="0" smtClean="0"/>
          </a:p>
          <a:p>
            <a:pPr lvl="0">
              <a:spcBef>
                <a:spcPts val="400"/>
              </a:spcBef>
              <a:spcAft>
                <a:spcPts val="600"/>
              </a:spcAft>
            </a:pPr>
            <a:r>
              <a:rPr lang="en-AU" sz="2000" dirty="0" smtClean="0"/>
              <a:t>The method of distribution of the project                           reports is identified</a:t>
            </a:r>
            <a:endParaRPr lang="en-US" sz="2000" dirty="0" smtClean="0"/>
          </a:p>
          <a:p>
            <a:pPr lvl="0">
              <a:spcBef>
                <a:spcPts val="400"/>
              </a:spcBef>
              <a:spcAft>
                <a:spcPts val="600"/>
              </a:spcAft>
            </a:pPr>
            <a:r>
              <a:rPr lang="en-AU" sz="2000" dirty="0" smtClean="0"/>
              <a:t>The personnel who must analyse the                             identified project reports are nominated</a:t>
            </a:r>
            <a:endParaRPr lang="en-US" sz="2000" dirty="0" smtClean="0"/>
          </a:p>
          <a:p>
            <a:pPr lvl="0">
              <a:spcBef>
                <a:spcPts val="400"/>
              </a:spcBef>
              <a:spcAft>
                <a:spcPts val="600"/>
              </a:spcAft>
            </a:pPr>
            <a:r>
              <a:rPr lang="en-AU" sz="2000" dirty="0" smtClean="0"/>
              <a:t>Appropriate action is being taken to address deficiencies etc as identified from report analysis</a:t>
            </a:r>
            <a:endParaRPr lang="en-US" sz="2000" dirty="0" smtClean="0"/>
          </a:p>
          <a:p>
            <a:pPr>
              <a:spcBef>
                <a:spcPts val="400"/>
              </a:spcBef>
              <a:spcAft>
                <a:spcPts val="600"/>
              </a:spcAft>
              <a:buNone/>
            </a:pPr>
            <a:endParaRPr lang="en-US" sz="2000" dirty="0" smtClean="0"/>
          </a:p>
          <a:p>
            <a:pPr>
              <a:spcBef>
                <a:spcPts val="400"/>
              </a:spcBef>
              <a:spcAft>
                <a:spcPts val="600"/>
              </a:spcAft>
            </a:pPr>
            <a:endParaRPr lang="en-AU" sz="2000" b="1" dirty="0" smtClean="0"/>
          </a:p>
          <a:p>
            <a:pPr>
              <a:spcBef>
                <a:spcPts val="400"/>
              </a:spcBef>
              <a:spcAft>
                <a:spcPts val="6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6" name="Picture 5" descr="1l.jpg"/>
          <p:cNvPicPr/>
          <p:nvPr/>
        </p:nvPicPr>
        <p:blipFill>
          <a:blip r:embed="rId3" cstate="print"/>
          <a:stretch>
            <a:fillRect/>
          </a:stretch>
        </p:blipFill>
        <p:spPr>
          <a:xfrm>
            <a:off x="6372200" y="3645024"/>
            <a:ext cx="1565523" cy="1855465"/>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Report program/project progress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Report schedules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Common schedules are: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Daily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Weekly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Monthly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Quarterly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Annually</a:t>
            </a:r>
          </a:p>
          <a:p>
            <a:pPr lvl="0">
              <a:spcBef>
                <a:spcPts val="600"/>
              </a:spcBef>
              <a:spcAft>
                <a:spcPts val="1200"/>
              </a:spcAft>
            </a:pPr>
            <a:r>
              <a:rPr lang="en-AU" sz="2200" dirty="0" smtClean="0">
                <a:latin typeface="Helvetica" pitchFamily="34" charset="0"/>
              </a:rPr>
              <a:t>Milestone and completion of key project activities</a:t>
            </a:r>
            <a:endParaRPr lang="en-US" sz="2200" dirty="0" smtClean="0">
              <a:latin typeface="Helvetica" pitchFamily="34" charset="0"/>
            </a:endParaRP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6" name="Picture 5" descr="W399_shutterstock_156103073.jpg"/>
          <p:cNvPicPr/>
          <p:nvPr/>
        </p:nvPicPr>
        <p:blipFill>
          <a:blip r:embed="rId3" cstate="print"/>
          <a:stretch>
            <a:fillRect/>
          </a:stretch>
        </p:blipFill>
        <p:spPr>
          <a:xfrm>
            <a:off x="6084168" y="3429000"/>
            <a:ext cx="2089150" cy="139065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Report program/project progress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336704" cy="4968552"/>
          </a:xfrm>
        </p:spPr>
        <p:txBody>
          <a:bodyPr>
            <a:normAutofit/>
          </a:bodyPr>
          <a:lstStyle/>
          <a:p>
            <a:pPr marL="0" indent="0">
              <a:spcBef>
                <a:spcPts val="600"/>
              </a:spcBef>
              <a:spcAft>
                <a:spcPts val="1200"/>
              </a:spcAft>
              <a:buNone/>
            </a:pPr>
            <a:r>
              <a:rPr lang="en-AU" sz="2100" b="1" dirty="0" smtClean="0">
                <a:latin typeface="Helvetica" pitchFamily="34" charset="0"/>
              </a:rPr>
              <a:t>Activities associated with reporting project progress</a:t>
            </a:r>
            <a:endParaRPr lang="en-US" sz="2100" dirty="0" smtClean="0">
              <a:latin typeface="Helvetica" pitchFamily="34" charset="0"/>
            </a:endParaRPr>
          </a:p>
          <a:p>
            <a:pPr>
              <a:spcBef>
                <a:spcPts val="600"/>
              </a:spcBef>
              <a:spcAft>
                <a:spcPts val="1200"/>
              </a:spcAft>
              <a:buNone/>
            </a:pPr>
            <a:r>
              <a:rPr lang="en-AU" sz="2100" dirty="0" smtClean="0">
                <a:latin typeface="Helvetica" pitchFamily="34" charset="0"/>
              </a:rPr>
              <a:t>Report program/project progress may include:</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Supporting reports with fact-based evidence</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Preparing written reports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Providing verbal presentation and explanations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Organising meetings with relevant stakeholders</a:t>
            </a:r>
            <a:endParaRPr lang="en-US" sz="2100" dirty="0" smtClean="0">
              <a:latin typeface="Helvetica" pitchFamily="34" charset="0"/>
            </a:endParaRPr>
          </a:p>
          <a:p>
            <a:endParaRPr lang="en-AU" sz="2100" b="1" dirty="0" smtClean="0"/>
          </a:p>
          <a:p>
            <a:endParaRPr lang="en-AU" sz="21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7" name="Picture 6" descr="shutterstock_129565649.jpg"/>
          <p:cNvPicPr/>
          <p:nvPr/>
        </p:nvPicPr>
        <p:blipFill>
          <a:blip r:embed="rId3" cstate="print"/>
          <a:stretch>
            <a:fillRect/>
          </a:stretch>
        </p:blipFill>
        <p:spPr>
          <a:xfrm>
            <a:off x="6948264" y="2564904"/>
            <a:ext cx="1933575" cy="1285875"/>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Report program/project progress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Methods to sharing progress information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Holding team meetings</a:t>
            </a:r>
          </a:p>
          <a:p>
            <a:pPr lvl="0">
              <a:spcBef>
                <a:spcPts val="600"/>
              </a:spcBef>
              <a:spcAft>
                <a:spcPts val="1200"/>
              </a:spcAft>
            </a:pPr>
            <a:r>
              <a:rPr lang="en-AU" sz="2200" dirty="0" smtClean="0">
                <a:latin typeface="Helvetica" pitchFamily="34" charset="0"/>
              </a:rPr>
              <a:t>Providing hard copy information</a:t>
            </a:r>
          </a:p>
          <a:p>
            <a:pPr lvl="0">
              <a:spcBef>
                <a:spcPts val="600"/>
              </a:spcBef>
              <a:spcAft>
                <a:spcPts val="1200"/>
              </a:spcAft>
            </a:pPr>
            <a:r>
              <a:rPr lang="en-AU" sz="2200" dirty="0" smtClean="0">
                <a:latin typeface="Helvetica" pitchFamily="34" charset="0"/>
              </a:rPr>
              <a:t>Sharing information via the intranet</a:t>
            </a:r>
          </a:p>
          <a:p>
            <a:pPr lvl="0">
              <a:spcBef>
                <a:spcPts val="600"/>
              </a:spcBef>
              <a:spcAft>
                <a:spcPts val="1200"/>
              </a:spcAft>
            </a:pPr>
            <a:r>
              <a:rPr lang="en-AU" sz="2200" dirty="0" smtClean="0">
                <a:latin typeface="Helvetica" pitchFamily="34" charset="0"/>
              </a:rPr>
              <a:t>Disseminating information at staff briefings</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b="1" dirty="0" smtClean="0">
                <a:solidFill>
                  <a:srgbClr val="FF6600"/>
                </a:solidFill>
                <a:latin typeface="Helvetica" pitchFamily="34" charset="0"/>
              </a:rPr>
              <a:t>COMPLETE ACTIVITY 24</a:t>
            </a:r>
            <a:endParaRPr lang="en-US" sz="2200" b="1" dirty="0" smtClean="0">
              <a:latin typeface="Helvetica" pitchFamily="34" charset="0"/>
            </a:endParaRPr>
          </a:p>
          <a:p>
            <a:pPr lvl="0">
              <a:spcBef>
                <a:spcPts val="600"/>
              </a:spcBef>
              <a:spcAft>
                <a:spcPts val="1200"/>
              </a:spcAft>
            </a:pPr>
            <a:endParaRPr lang="en-AU" sz="2200" dirty="0" smtClean="0">
              <a:latin typeface="Helvetica" pitchFamily="34" charset="0"/>
            </a:endParaRP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6" name="Picture 5" descr="shutterstock_131587952.jpg"/>
          <p:cNvPicPr/>
          <p:nvPr/>
        </p:nvPicPr>
        <p:blipFill>
          <a:blip r:embed="rId3" cstate="print"/>
          <a:stretch>
            <a:fillRect/>
          </a:stretch>
        </p:blipFill>
        <p:spPr>
          <a:xfrm>
            <a:off x="6444208" y="2348880"/>
            <a:ext cx="1888793" cy="1281399"/>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8280920" cy="4680520"/>
          </a:xfrm>
        </p:spPr>
        <p:txBody>
          <a:bodyPr>
            <a:normAutofit/>
          </a:bodyPr>
          <a:lstStyle/>
          <a:p>
            <a:pPr marL="0">
              <a:buNone/>
            </a:pPr>
            <a:r>
              <a:rPr lang="en-AU" sz="4000" b="1" dirty="0" smtClean="0">
                <a:solidFill>
                  <a:srgbClr val="FF6600"/>
                </a:solidFill>
                <a:latin typeface="Helvetica" pitchFamily="34" charset="0"/>
              </a:rPr>
              <a:t>Element 3:</a:t>
            </a:r>
          </a:p>
          <a:p>
            <a:pPr marL="0">
              <a:buNone/>
            </a:pPr>
            <a:r>
              <a:rPr lang="en-US" sz="4000" dirty="0" smtClean="0">
                <a:solidFill>
                  <a:srgbClr val="FF6600"/>
                </a:solidFill>
              </a:rPr>
              <a:t>Finalise the innovative tourism program/project</a:t>
            </a:r>
            <a:endParaRPr lang="en-US" sz="4000"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descr="MP900442451.JPG"/>
          <p:cNvPicPr/>
          <p:nvPr/>
        </p:nvPicPr>
        <p:blipFill>
          <a:blip r:embed="rId3" cstate="print"/>
          <a:stretch>
            <a:fillRect/>
          </a:stretch>
        </p:blipFill>
        <p:spPr>
          <a:xfrm>
            <a:off x="5028832" y="3429000"/>
            <a:ext cx="2445217" cy="1656184"/>
          </a:xfrm>
          <a:prstGeom prst="rect">
            <a:avLst/>
          </a:prstGeom>
        </p:spPr>
      </p:pic>
    </p:spTree>
    <p:extLst>
      <p:ext uri="{BB962C8B-B14F-4D97-AF65-F5344CB8AC3E}">
        <p14:creationId xmlns:p14="http://schemas.microsoft.com/office/powerpoint/2010/main" val="204424644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US" sz="3400" b="1" dirty="0" smtClean="0">
                <a:solidFill>
                  <a:srgbClr val="FF6600"/>
                </a:solidFill>
                <a:latin typeface="Helvetica" pitchFamily="34" charset="0"/>
              </a:rPr>
              <a:t>Finalise the innovative tourism program/project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Administer winding up activities for the program/project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Review program/project administration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Evaluate the program/project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Report on program/project administration and results</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5" name="Picture 4" descr="W183_documents_shutterstock_155784974.jpg"/>
          <p:cNvPicPr>
            <a:picLocks noChangeAspect="1"/>
          </p:cNvPicPr>
          <p:nvPr/>
        </p:nvPicPr>
        <p:blipFill>
          <a:blip r:embed="rId3" cstate="print"/>
          <a:stretch>
            <a:fillRect/>
          </a:stretch>
        </p:blipFill>
        <p:spPr>
          <a:xfrm>
            <a:off x="3707904" y="4437112"/>
            <a:ext cx="2172072" cy="1448772"/>
          </a:xfrm>
          <a:prstGeom prst="rect">
            <a:avLst/>
          </a:prstGeom>
        </p:spPr>
      </p:pic>
    </p:spTree>
    <p:extLst>
      <p:ext uri="{BB962C8B-B14F-4D97-AF65-F5344CB8AC3E}">
        <p14:creationId xmlns:p14="http://schemas.microsoft.com/office/powerpoint/2010/main" val="1637321775"/>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Administer winding up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846640" cy="4896544"/>
          </a:xfrm>
        </p:spPr>
        <p:txBody>
          <a:bodyPr>
            <a:normAutofit/>
          </a:bodyPr>
          <a:lstStyle/>
          <a:p>
            <a:pPr>
              <a:spcBef>
                <a:spcPts val="600"/>
              </a:spcBef>
              <a:spcAft>
                <a:spcPts val="1200"/>
              </a:spcAft>
              <a:buNone/>
            </a:pPr>
            <a:r>
              <a:rPr lang="en-AU" sz="2200" b="1" dirty="0" smtClean="0">
                <a:latin typeface="Helvetica" pitchFamily="34" charset="0"/>
              </a:rPr>
              <a:t>Finalising a program or project</a:t>
            </a:r>
          </a:p>
          <a:p>
            <a:pPr marL="0">
              <a:spcBef>
                <a:spcPts val="600"/>
              </a:spcBef>
              <a:spcAft>
                <a:spcPts val="1200"/>
              </a:spcAft>
              <a:buNone/>
            </a:pPr>
            <a:r>
              <a:rPr lang="en-AU" sz="2200" dirty="0" smtClean="0">
                <a:latin typeface="Helvetica" pitchFamily="34" charset="0"/>
              </a:rPr>
              <a:t>Quite often a tourism project or program is considered a separate entity to the rest of the tourism operations and hence will cease once the initial objectives have been achieved.</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happens when the project comes to a conclusion? </a:t>
            </a:r>
          </a:p>
          <a:p>
            <a:pPr>
              <a:spcBef>
                <a:spcPts val="600"/>
              </a:spcBef>
              <a:spcAft>
                <a:spcPts val="1200"/>
              </a:spcAft>
            </a:pPr>
            <a:r>
              <a:rPr lang="en-AU" sz="2200" dirty="0" smtClean="0">
                <a:latin typeface="Helvetica" pitchFamily="34" charset="0"/>
              </a:rPr>
              <a:t>What are the steps involved in finalising                                 and 'winding up' a project?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5" name="Picture 4" descr="shutterstock_99237542.jpg"/>
          <p:cNvPicPr>
            <a:picLocks noChangeAspect="1"/>
          </p:cNvPicPr>
          <p:nvPr/>
        </p:nvPicPr>
        <p:blipFill>
          <a:blip r:embed="rId3" cstate="print"/>
          <a:stretch>
            <a:fillRect/>
          </a:stretch>
        </p:blipFill>
        <p:spPr>
          <a:xfrm>
            <a:off x="6588224" y="4149080"/>
            <a:ext cx="2173696" cy="1445508"/>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Administer winding up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600"/>
              </a:spcAft>
              <a:buNone/>
            </a:pPr>
            <a:r>
              <a:rPr lang="en-AU" sz="2100" b="1" dirty="0" smtClean="0">
                <a:latin typeface="Helvetica" pitchFamily="34" charset="0"/>
              </a:rPr>
              <a:t>Types of project/program finalisation activities</a:t>
            </a:r>
            <a:endParaRPr lang="en-US" sz="2100" b="1" dirty="0" smtClean="0">
              <a:latin typeface="Helvetica" pitchFamily="34" charset="0"/>
            </a:endParaRPr>
          </a:p>
          <a:p>
            <a:pPr>
              <a:spcBef>
                <a:spcPts val="600"/>
              </a:spcBef>
              <a:spcAft>
                <a:spcPts val="600"/>
              </a:spcAft>
            </a:pPr>
            <a:r>
              <a:rPr lang="en-AU" sz="2100" dirty="0" smtClean="0">
                <a:latin typeface="Helvetica" pitchFamily="34" charset="0"/>
              </a:rPr>
              <a:t>Inspection of the program/project deliverables</a:t>
            </a:r>
          </a:p>
          <a:p>
            <a:pPr>
              <a:spcBef>
                <a:spcPts val="600"/>
              </a:spcBef>
              <a:spcAft>
                <a:spcPts val="600"/>
              </a:spcAft>
            </a:pPr>
            <a:r>
              <a:rPr lang="en-AU" sz="2100" dirty="0" smtClean="0">
                <a:latin typeface="Helvetica" pitchFamily="34" charset="0"/>
              </a:rPr>
              <a:t>Testing operational capacity of the program/project deliverables</a:t>
            </a:r>
            <a:endParaRPr lang="en-US" sz="2100" dirty="0" smtClean="0">
              <a:latin typeface="Helvetica" pitchFamily="34" charset="0"/>
            </a:endParaRPr>
          </a:p>
          <a:p>
            <a:pPr>
              <a:spcBef>
                <a:spcPts val="600"/>
              </a:spcBef>
              <a:spcAft>
                <a:spcPts val="600"/>
              </a:spcAft>
            </a:pPr>
            <a:r>
              <a:rPr lang="en-AU" sz="2100" dirty="0" smtClean="0">
                <a:latin typeface="Helvetica" pitchFamily="34" charset="0"/>
              </a:rPr>
              <a:t>Evaluating the program/project deliverables against set criteria</a:t>
            </a:r>
            <a:endParaRPr lang="en-US" sz="2100" dirty="0" smtClean="0">
              <a:latin typeface="Helvetica" pitchFamily="34" charset="0"/>
            </a:endParaRPr>
          </a:p>
          <a:p>
            <a:pPr>
              <a:spcBef>
                <a:spcPts val="600"/>
              </a:spcBef>
              <a:spcAft>
                <a:spcPts val="600"/>
              </a:spcAft>
            </a:pPr>
            <a:r>
              <a:rPr lang="en-AU" sz="2100" dirty="0" smtClean="0">
                <a:latin typeface="Helvetica" pitchFamily="34" charset="0"/>
              </a:rPr>
              <a:t>Obtaining sign off on nominated aspects of the program/project</a:t>
            </a:r>
          </a:p>
          <a:p>
            <a:pPr>
              <a:spcBef>
                <a:spcPts val="600"/>
              </a:spcBef>
              <a:spcAft>
                <a:spcPts val="600"/>
              </a:spcAft>
            </a:pPr>
            <a:r>
              <a:rPr lang="en-AU" sz="2100" dirty="0" smtClean="0">
                <a:latin typeface="Helvetica" pitchFamily="34" charset="0"/>
              </a:rPr>
              <a:t>Collecting feedback from stakeholders</a:t>
            </a:r>
            <a:endParaRPr lang="en-US" sz="2100" dirty="0" smtClean="0">
              <a:latin typeface="Helvetica" pitchFamily="34" charset="0"/>
            </a:endParaRPr>
          </a:p>
          <a:p>
            <a:pPr>
              <a:spcBef>
                <a:spcPts val="600"/>
              </a:spcBef>
              <a:spcAft>
                <a:spcPts val="600"/>
              </a:spcAft>
            </a:pPr>
            <a:endParaRPr lang="en-US" sz="2100" dirty="0" smtClean="0"/>
          </a:p>
          <a:p>
            <a:pPr lvl="0">
              <a:spcBef>
                <a:spcPts val="600"/>
              </a:spcBef>
              <a:spcAft>
                <a:spcPts val="600"/>
              </a:spcAft>
            </a:pPr>
            <a:endParaRPr lang="en-US" sz="21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6" name="Picture 5" descr="hy.jpg"/>
          <p:cNvPicPr/>
          <p:nvPr/>
        </p:nvPicPr>
        <p:blipFill>
          <a:blip r:embed="rId3" cstate="print"/>
          <a:stretch>
            <a:fillRect/>
          </a:stretch>
        </p:blipFill>
        <p:spPr>
          <a:xfrm>
            <a:off x="7092280" y="3933056"/>
            <a:ext cx="1898015" cy="12668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Administer winding up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Types of project/program finalisation activities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Finalising revenues promised to support the program/project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Finalising payments related to program/project expenditure</a:t>
            </a:r>
          </a:p>
          <a:p>
            <a:pPr>
              <a:spcBef>
                <a:spcPts val="600"/>
              </a:spcBef>
              <a:spcAft>
                <a:spcPts val="1200"/>
              </a:spcAft>
            </a:pPr>
            <a:r>
              <a:rPr lang="en-AU" sz="2200" dirty="0" smtClean="0">
                <a:latin typeface="Helvetica" pitchFamily="34" charset="0"/>
              </a:rPr>
              <a:t>Re-allocation of project team staff</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Finalise accounting documentation</a:t>
            </a:r>
            <a:endParaRPr lang="en-US" sz="2200" dirty="0" smtClean="0">
              <a:latin typeface="Helvetica" pitchFamily="34" charset="0"/>
            </a:endParaRPr>
          </a:p>
          <a:p>
            <a:pPr lvl="0">
              <a:buNone/>
            </a:pPr>
            <a:endParaRPr lang="en-US" sz="2400" dirty="0" smtClean="0"/>
          </a:p>
          <a:p>
            <a:endParaRPr lang="en-US" sz="2400" dirty="0" smtClean="0"/>
          </a:p>
          <a:p>
            <a:pPr lvl="0"/>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8" name="Picture 7" descr="ft.jpg"/>
          <p:cNvPicPr/>
          <p:nvPr/>
        </p:nvPicPr>
        <p:blipFill>
          <a:blip r:embed="rId3" cstate="print"/>
          <a:stretch>
            <a:fillRect/>
          </a:stretch>
        </p:blipFill>
        <p:spPr>
          <a:xfrm>
            <a:off x="6516216" y="3717032"/>
            <a:ext cx="1819275" cy="12096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Administer winding up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a:spcBef>
                <a:spcPts val="600"/>
              </a:spcBef>
              <a:spcAft>
                <a:spcPts val="1200"/>
              </a:spcAft>
              <a:buNone/>
            </a:pPr>
            <a:r>
              <a:rPr lang="en-AU" sz="2200" b="1" dirty="0" smtClean="0">
                <a:latin typeface="Helvetica" pitchFamily="34" charset="0"/>
              </a:rPr>
              <a:t>Types of project/program finalisation activities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Undertaking internal and/or external auditing</a:t>
            </a:r>
          </a:p>
          <a:p>
            <a:pPr lvl="0">
              <a:spcBef>
                <a:spcPts val="600"/>
              </a:spcBef>
              <a:spcAft>
                <a:spcPts val="1200"/>
              </a:spcAft>
            </a:pPr>
            <a:r>
              <a:rPr lang="en-AU" sz="2200" dirty="0" smtClean="0">
                <a:latin typeface="Helvetica" pitchFamily="34" charset="0"/>
              </a:rPr>
              <a:t>Undertaking formal reporting procedures</a:t>
            </a:r>
          </a:p>
          <a:p>
            <a:pPr>
              <a:spcBef>
                <a:spcPts val="600"/>
              </a:spcBef>
              <a:spcAft>
                <a:spcPts val="1200"/>
              </a:spcAft>
            </a:pPr>
            <a:r>
              <a:rPr lang="en-AU" sz="2200" dirty="0" smtClean="0">
                <a:latin typeface="Helvetica" pitchFamily="34" charset="0"/>
              </a:rPr>
              <a:t>Promotion of project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Dismantling of project offices</a:t>
            </a:r>
          </a:p>
          <a:p>
            <a:pPr>
              <a:spcBef>
                <a:spcPts val="600"/>
              </a:spcBef>
              <a:spcAft>
                <a:spcPts val="1200"/>
              </a:spcAft>
            </a:pPr>
            <a:endParaRPr lang="en-US" sz="2200" dirty="0" smtClean="0">
              <a:latin typeface="Helvetica" pitchFamily="34" charset="0"/>
            </a:endParaRPr>
          </a:p>
          <a:p>
            <a:pPr>
              <a:spcBef>
                <a:spcPts val="600"/>
              </a:spcBef>
              <a:spcAft>
                <a:spcPts val="1200"/>
              </a:spcAft>
              <a:buNone/>
            </a:pPr>
            <a:r>
              <a:rPr lang="en-AU" sz="2200" b="1" dirty="0" smtClean="0">
                <a:solidFill>
                  <a:srgbClr val="FF6600"/>
                </a:solidFill>
                <a:latin typeface="Helvetica" pitchFamily="34" charset="0"/>
              </a:rPr>
              <a:t>COMPLETE ACTIVITY 25</a:t>
            </a:r>
            <a:endParaRPr lang="en-US" sz="2200" b="1" dirty="0" smtClean="0">
              <a:latin typeface="Helvetica" pitchFamily="34" charset="0"/>
            </a:endParaRPr>
          </a:p>
          <a:p>
            <a:pPr lvl="0"/>
            <a:endParaRPr lang="en-US" sz="2400" dirty="0" smtClean="0"/>
          </a:p>
          <a:p>
            <a:pPr lvl="0">
              <a:buNone/>
            </a:pPr>
            <a:endParaRPr lang="en-US" sz="2400" dirty="0" smtClean="0"/>
          </a:p>
          <a:p>
            <a:endParaRPr lang="en-US" sz="2400" dirty="0" smtClean="0"/>
          </a:p>
          <a:p>
            <a:pPr lvl="0"/>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6" name="Picture 5" descr="shutterstock_109435862.jpg"/>
          <p:cNvPicPr/>
          <p:nvPr/>
        </p:nvPicPr>
        <p:blipFill>
          <a:blip r:embed="rId3" cstate="print"/>
          <a:stretch>
            <a:fillRect/>
          </a:stretch>
        </p:blipFill>
        <p:spPr>
          <a:xfrm>
            <a:off x="6300192" y="3212976"/>
            <a:ext cx="1905000" cy="14001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12968" cy="734144"/>
          </a:xfrm>
        </p:spPr>
        <p:txBody>
          <a:bodyPr>
            <a:noAutofit/>
          </a:bodyPr>
          <a:lstStyle/>
          <a:p>
            <a:pPr marL="0"/>
            <a:r>
              <a:rPr lang="en-AU" sz="3600" b="1" dirty="0" smtClean="0">
                <a:solidFill>
                  <a:srgbClr val="FF6600"/>
                </a:solidFill>
                <a:latin typeface="Helvetica" pitchFamily="34" charset="0"/>
              </a:rPr>
              <a:t>Review program/project administration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5328592" cy="4896544"/>
          </a:xfrm>
        </p:spPr>
        <p:txBody>
          <a:bodyPr>
            <a:normAutofit/>
          </a:bodyPr>
          <a:lstStyle/>
          <a:p>
            <a:pPr marL="0" indent="0">
              <a:spcBef>
                <a:spcPts val="600"/>
              </a:spcBef>
              <a:spcAft>
                <a:spcPts val="1200"/>
              </a:spcAft>
              <a:buNone/>
            </a:pPr>
            <a:r>
              <a:rPr lang="en-AU" sz="2200" b="1" dirty="0" smtClean="0">
                <a:latin typeface="Helvetica" pitchFamily="34" charset="0"/>
              </a:rPr>
              <a:t>Review questions</a:t>
            </a:r>
          </a:p>
          <a:p>
            <a:pPr lvl="0">
              <a:spcBef>
                <a:spcPts val="600"/>
              </a:spcBef>
              <a:spcAft>
                <a:spcPts val="1200"/>
              </a:spcAft>
            </a:pPr>
            <a:r>
              <a:rPr lang="en-AU" sz="2200" dirty="0" smtClean="0">
                <a:latin typeface="Helvetica" pitchFamily="34" charset="0"/>
              </a:rPr>
              <a:t>Are we on track?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Have we achieved what we planned?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Are any variations acceptable, or do they require action?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Were the original </a:t>
            </a:r>
            <a:r>
              <a:rPr lang="en-US" sz="2200" dirty="0" smtClean="0">
                <a:latin typeface="Helvetica" pitchFamily="34" charset="0"/>
              </a:rPr>
              <a:t>objectives</a:t>
            </a:r>
            <a:r>
              <a:rPr lang="en-AU" sz="2200" dirty="0" smtClean="0">
                <a:latin typeface="Helvetica" pitchFamily="34" charset="0"/>
              </a:rPr>
              <a:t> realistic and achievable?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Have we improved our </a:t>
            </a:r>
            <a:r>
              <a:rPr lang="en-US" sz="2200" dirty="0" smtClean="0">
                <a:latin typeface="Helvetica" pitchFamily="34" charset="0"/>
              </a:rPr>
              <a:t>strategic </a:t>
            </a:r>
            <a:r>
              <a:rPr lang="en-AU" sz="2200" dirty="0" smtClean="0">
                <a:latin typeface="Helvetica" pitchFamily="34" charset="0"/>
              </a:rPr>
              <a:t>planning ability through these actions?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5" name="Picture 4" descr="je.jpg"/>
          <p:cNvPicPr/>
          <p:nvPr/>
        </p:nvPicPr>
        <p:blipFill>
          <a:blip r:embed="rId3" cstate="print"/>
          <a:stretch>
            <a:fillRect/>
          </a:stretch>
        </p:blipFill>
        <p:spPr>
          <a:xfrm>
            <a:off x="6516216" y="2924944"/>
            <a:ext cx="1953895" cy="130492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12968" cy="734144"/>
          </a:xfrm>
        </p:spPr>
        <p:txBody>
          <a:bodyPr>
            <a:noAutofit/>
          </a:bodyPr>
          <a:lstStyle/>
          <a:p>
            <a:pPr marL="0"/>
            <a:r>
              <a:rPr lang="en-AU" sz="3600" b="1" dirty="0" smtClean="0">
                <a:solidFill>
                  <a:srgbClr val="FF6600"/>
                </a:solidFill>
                <a:latin typeface="Helvetica" pitchFamily="34" charset="0"/>
              </a:rPr>
              <a:t>Review program/project administration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Review objectives</a:t>
            </a:r>
          </a:p>
          <a:p>
            <a:pPr lvl="0">
              <a:spcBef>
                <a:spcPts val="600"/>
              </a:spcBef>
              <a:spcAft>
                <a:spcPts val="1200"/>
              </a:spcAft>
            </a:pPr>
            <a:r>
              <a:rPr lang="en-AU" sz="2200" dirty="0" smtClean="0">
                <a:latin typeface="Helvetica" pitchFamily="34" charset="0"/>
              </a:rPr>
              <a:t>Identify strengths</a:t>
            </a:r>
          </a:p>
          <a:p>
            <a:pPr lvl="0">
              <a:spcBef>
                <a:spcPts val="600"/>
              </a:spcBef>
              <a:spcAft>
                <a:spcPts val="1200"/>
              </a:spcAft>
            </a:pPr>
            <a:r>
              <a:rPr lang="en-AU" sz="2200" dirty="0" smtClean="0">
                <a:latin typeface="Helvetica" pitchFamily="34" charset="0"/>
              </a:rPr>
              <a:t>Identify problems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Help resolve problems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Provide guidance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6" name="Picture 5" descr="js.jpg"/>
          <p:cNvPicPr/>
          <p:nvPr/>
        </p:nvPicPr>
        <p:blipFill>
          <a:blip r:embed="rId3" cstate="print"/>
          <a:stretch>
            <a:fillRect/>
          </a:stretch>
        </p:blipFill>
        <p:spPr>
          <a:xfrm>
            <a:off x="5868144" y="2276872"/>
            <a:ext cx="2095877" cy="139712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12968" cy="734144"/>
          </a:xfrm>
        </p:spPr>
        <p:txBody>
          <a:bodyPr>
            <a:noAutofit/>
          </a:bodyPr>
          <a:lstStyle/>
          <a:p>
            <a:pPr marL="0"/>
            <a:r>
              <a:rPr lang="en-AU" sz="3600" b="1" dirty="0" smtClean="0">
                <a:solidFill>
                  <a:srgbClr val="FF6600"/>
                </a:solidFill>
                <a:latin typeface="Helvetica" pitchFamily="34" charset="0"/>
              </a:rPr>
              <a:t>Review program/project administration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a:spcBef>
                <a:spcPts val="600"/>
              </a:spcBef>
              <a:spcAft>
                <a:spcPts val="1200"/>
              </a:spcAft>
              <a:buNone/>
            </a:pPr>
            <a:r>
              <a:rPr lang="en-US" sz="2100" b="1" dirty="0" smtClean="0">
                <a:latin typeface="Helvetica" pitchFamily="34" charset="0"/>
              </a:rPr>
              <a:t>Activities associated with reviewing project/program administration</a:t>
            </a:r>
            <a:endParaRPr lang="en-US" sz="2100" dirty="0" smtClean="0">
              <a:latin typeface="Helvetica" pitchFamily="34" charset="0"/>
            </a:endParaRPr>
          </a:p>
          <a:p>
            <a:pPr>
              <a:spcBef>
                <a:spcPts val="600"/>
              </a:spcBef>
              <a:spcAft>
                <a:spcPts val="1200"/>
              </a:spcAft>
              <a:buNone/>
            </a:pPr>
            <a:r>
              <a:rPr lang="en-AU" sz="2100" dirty="0" smtClean="0">
                <a:latin typeface="Helvetica" pitchFamily="34" charset="0"/>
              </a:rPr>
              <a:t>Review program/project administration may include:</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Reviewing the documentation that was used</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Reviewing the systems and procedures                                                     developed</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Reviewing the command, control and                         communication structure</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Reviewing the input, contribution, cooperation and collaboration received from joint partners and contracted service providers</a:t>
            </a: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7" name="Picture 6" descr="A15 shutterstock_173608850[1].JPG"/>
          <p:cNvPicPr>
            <a:picLocks noChangeAspect="1"/>
          </p:cNvPicPr>
          <p:nvPr/>
        </p:nvPicPr>
        <p:blipFill>
          <a:blip r:embed="rId3" cstate="print"/>
          <a:stretch>
            <a:fillRect/>
          </a:stretch>
        </p:blipFill>
        <p:spPr>
          <a:xfrm>
            <a:off x="6804248" y="3429000"/>
            <a:ext cx="1884905" cy="1255346"/>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12968" cy="734144"/>
          </a:xfrm>
        </p:spPr>
        <p:txBody>
          <a:bodyPr>
            <a:noAutofit/>
          </a:bodyPr>
          <a:lstStyle/>
          <a:p>
            <a:pPr marL="0"/>
            <a:r>
              <a:rPr lang="en-AU" sz="3600" b="1" dirty="0" smtClean="0">
                <a:solidFill>
                  <a:srgbClr val="FF6600"/>
                </a:solidFill>
                <a:latin typeface="Helvetica" pitchFamily="34" charset="0"/>
              </a:rPr>
              <a:t>Review program/project administration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lnSpcReduction="10000"/>
          </a:bodyPr>
          <a:lstStyle/>
          <a:p>
            <a:pPr>
              <a:spcBef>
                <a:spcPts val="600"/>
              </a:spcBef>
              <a:spcAft>
                <a:spcPts val="1200"/>
              </a:spcAft>
              <a:buNone/>
            </a:pPr>
            <a:r>
              <a:rPr lang="en-AU" sz="2200" b="1" dirty="0" smtClean="0">
                <a:latin typeface="Helvetica" pitchFamily="34" charset="0"/>
              </a:rPr>
              <a:t>Timing of project/program reviews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Quarterly reviews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At the end of key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Scheduled project milestones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Performance reports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Major events triggering a review</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At the conclusion of a project / program</a:t>
            </a:r>
          </a:p>
          <a:p>
            <a:pPr>
              <a:spcBef>
                <a:spcPts val="600"/>
              </a:spcBef>
              <a:spcAft>
                <a:spcPts val="1200"/>
              </a:spcAft>
              <a:buNone/>
            </a:pPr>
            <a:endParaRPr lang="en-AU" sz="2200" b="1" dirty="0" smtClean="0">
              <a:solidFill>
                <a:srgbClr val="FF6600"/>
              </a:solidFill>
              <a:latin typeface="Helvetica" pitchFamily="34" charset="0"/>
            </a:endParaRPr>
          </a:p>
          <a:p>
            <a:pPr>
              <a:spcBef>
                <a:spcPts val="600"/>
              </a:spcBef>
              <a:spcAft>
                <a:spcPts val="1200"/>
              </a:spcAft>
              <a:buNone/>
            </a:pPr>
            <a:r>
              <a:rPr lang="en-AU" sz="2200" b="1" dirty="0" smtClean="0">
                <a:solidFill>
                  <a:srgbClr val="FF6600"/>
                </a:solidFill>
                <a:latin typeface="Helvetica" pitchFamily="34" charset="0"/>
              </a:rPr>
              <a:t>COMPLETE ACTIVITY 26</a:t>
            </a:r>
            <a:endParaRPr lang="en-US" sz="2200" b="1" dirty="0" smtClean="0">
              <a:latin typeface="Helvetica" pitchFamily="34" charset="0"/>
            </a:endParaRPr>
          </a:p>
          <a:p>
            <a:pPr lvl="0">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6" name="Picture 5" descr="W40_calender.jpg"/>
          <p:cNvPicPr/>
          <p:nvPr/>
        </p:nvPicPr>
        <p:blipFill>
          <a:blip r:embed="rId3" cstate="print"/>
          <a:stretch>
            <a:fillRect/>
          </a:stretch>
        </p:blipFill>
        <p:spPr>
          <a:xfrm>
            <a:off x="6228184" y="2708920"/>
            <a:ext cx="2000250" cy="133350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Evaluate the program/project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rmAutofit/>
          </a:bodyPr>
          <a:lstStyle/>
          <a:p>
            <a:pPr marL="0" indent="0">
              <a:spcBef>
                <a:spcPts val="600"/>
              </a:spcBef>
              <a:spcAft>
                <a:spcPts val="1200"/>
              </a:spcAft>
              <a:buNone/>
            </a:pPr>
            <a:r>
              <a:rPr lang="en-AU" sz="2200" b="1" dirty="0" smtClean="0">
                <a:latin typeface="Helvetica" pitchFamily="34" charset="0"/>
              </a:rPr>
              <a:t>Importance of evaluation</a:t>
            </a:r>
          </a:p>
          <a:p>
            <a:pPr marL="0">
              <a:spcBef>
                <a:spcPts val="600"/>
              </a:spcBef>
              <a:spcAft>
                <a:spcPts val="1200"/>
              </a:spcAft>
              <a:buNone/>
            </a:pPr>
            <a:r>
              <a:rPr lang="en-AU" sz="2200" dirty="0" smtClean="0">
                <a:latin typeface="Helvetica" pitchFamily="34" charset="0"/>
              </a:rPr>
              <a:t>Once the review of the project or program has taken place, it is important to evaluate the success of the project or program.</a:t>
            </a:r>
          </a:p>
          <a:p>
            <a:pPr>
              <a:spcBef>
                <a:spcPts val="600"/>
              </a:spcBef>
              <a:spcAft>
                <a:spcPts val="1200"/>
              </a:spcAft>
            </a:pPr>
            <a:r>
              <a:rPr lang="en-AU" sz="2200" dirty="0" smtClean="0">
                <a:latin typeface="Helvetica" pitchFamily="34" charset="0"/>
              </a:rPr>
              <a:t>How can this be done?</a:t>
            </a:r>
          </a:p>
          <a:p>
            <a:pPr>
              <a:spcBef>
                <a:spcPts val="600"/>
              </a:spcBef>
              <a:spcAft>
                <a:spcPts val="1200"/>
              </a:spcAft>
            </a:pPr>
            <a:r>
              <a:rPr lang="en-AU" sz="2200" dirty="0" smtClean="0">
                <a:latin typeface="Helvetica" pitchFamily="34" charset="0"/>
              </a:rPr>
              <a:t>What is the focus of evaluation?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5" name="Picture 4" descr="iq.jpg"/>
          <p:cNvPicPr/>
          <p:nvPr/>
        </p:nvPicPr>
        <p:blipFill>
          <a:blip r:embed="rId3" cstate="print"/>
          <a:stretch>
            <a:fillRect/>
          </a:stretch>
        </p:blipFill>
        <p:spPr>
          <a:xfrm>
            <a:off x="6084168" y="3140968"/>
            <a:ext cx="2046843" cy="132439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Evaluate the program/project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4896544"/>
          </a:xfrm>
        </p:spPr>
        <p:txBody>
          <a:bodyPr>
            <a:normAutofit/>
          </a:bodyPr>
          <a:lstStyle/>
          <a:p>
            <a:pPr marL="0">
              <a:spcBef>
                <a:spcPts val="600"/>
              </a:spcBef>
              <a:spcAft>
                <a:spcPts val="1200"/>
              </a:spcAft>
              <a:buNone/>
            </a:pPr>
            <a:r>
              <a:rPr lang="en-US" sz="2100" b="1" dirty="0" smtClean="0">
                <a:latin typeface="Helvetica" pitchFamily="34" charset="0"/>
              </a:rPr>
              <a:t>Difference between reviewing and evaluating success of project / program</a:t>
            </a:r>
            <a:endParaRPr lang="en-US" sz="2100" dirty="0" smtClean="0">
              <a:latin typeface="Helvetica" pitchFamily="34" charset="0"/>
            </a:endParaRPr>
          </a:p>
          <a:p>
            <a:pPr marL="0">
              <a:spcBef>
                <a:spcPts val="600"/>
              </a:spcBef>
              <a:spcAft>
                <a:spcPts val="1200"/>
              </a:spcAft>
              <a:buNone/>
            </a:pPr>
            <a:r>
              <a:rPr lang="en-AU" sz="2100" dirty="0" smtClean="0">
                <a:latin typeface="Helvetica" pitchFamily="34" charset="0"/>
              </a:rPr>
              <a:t>In the previous section we looked at the process of 'reviewing' a project or program, whilst in this section we are focusing on 'evaluating' a project or program.</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What is the difference between these two activities?</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What is the focus of each of these activities?</a:t>
            </a:r>
          </a:p>
          <a:p>
            <a:pPr lvl="0">
              <a:spcBef>
                <a:spcPts val="600"/>
              </a:spcBef>
              <a:spcAft>
                <a:spcPts val="1200"/>
              </a:spcAft>
            </a:pPr>
            <a:endParaRPr lang="en-AU" sz="2100" dirty="0" smtClean="0">
              <a:latin typeface="Helvetica" pitchFamily="34" charset="0"/>
            </a:endParaRPr>
          </a:p>
          <a:p>
            <a:pPr>
              <a:spcBef>
                <a:spcPts val="600"/>
              </a:spcBef>
              <a:spcAft>
                <a:spcPts val="1200"/>
              </a:spcAft>
              <a:buNone/>
            </a:pPr>
            <a:r>
              <a:rPr lang="en-AU" sz="2100" b="1" dirty="0" smtClean="0">
                <a:solidFill>
                  <a:srgbClr val="FF6600"/>
                </a:solidFill>
                <a:latin typeface="Helvetica" pitchFamily="34" charset="0"/>
              </a:rPr>
              <a:t>COMPLETE ACTIVITY 27</a:t>
            </a:r>
            <a:endParaRPr lang="en-US" sz="2100" b="1" dirty="0" smtClean="0">
              <a:latin typeface="Helvetica" pitchFamily="34" charset="0"/>
            </a:endParaRPr>
          </a:p>
          <a:p>
            <a:pPr lvl="0">
              <a:spcBef>
                <a:spcPts val="600"/>
              </a:spcBef>
              <a:spcAft>
                <a:spcPts val="1200"/>
              </a:spcAft>
              <a:buNone/>
            </a:pP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6" name="Picture 5" descr="A20 shutterstock_182023328.jpg"/>
          <p:cNvPicPr>
            <a:picLocks noChangeAspect="1"/>
          </p:cNvPicPr>
          <p:nvPr/>
        </p:nvPicPr>
        <p:blipFill>
          <a:blip r:embed="rId3" cstate="print"/>
          <a:stretch>
            <a:fillRect/>
          </a:stretch>
        </p:blipFill>
        <p:spPr>
          <a:xfrm>
            <a:off x="4788024" y="4797152"/>
            <a:ext cx="1532867" cy="1443961"/>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Evaluate the program/project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4896544"/>
          </a:xfrm>
        </p:spPr>
        <p:txBody>
          <a:bodyPr>
            <a:noAutofit/>
          </a:bodyPr>
          <a:lstStyle/>
          <a:p>
            <a:pPr>
              <a:spcBef>
                <a:spcPts val="600"/>
              </a:spcBef>
              <a:spcAft>
                <a:spcPts val="1200"/>
              </a:spcAft>
              <a:buNone/>
            </a:pPr>
            <a:r>
              <a:rPr lang="en-US" sz="2200" b="1" dirty="0" smtClean="0">
                <a:latin typeface="Helvetica" pitchFamily="34" charset="0"/>
              </a:rPr>
              <a:t>Aims of evaluating success of project / program</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Aims of evaluating success of a project or program includes:</a:t>
            </a:r>
          </a:p>
          <a:p>
            <a:pPr lvl="0">
              <a:spcBef>
                <a:spcPts val="600"/>
              </a:spcBef>
              <a:spcAft>
                <a:spcPts val="1200"/>
              </a:spcAft>
            </a:pPr>
            <a:r>
              <a:rPr lang="en-US" sz="2200" dirty="0" smtClean="0">
                <a:latin typeface="Helvetica" pitchFamily="34" charset="0"/>
              </a:rPr>
              <a:t>Identify the actual progress against original project objectives</a:t>
            </a:r>
          </a:p>
          <a:p>
            <a:pPr lvl="0">
              <a:spcBef>
                <a:spcPts val="600"/>
              </a:spcBef>
              <a:spcAft>
                <a:spcPts val="1200"/>
              </a:spcAft>
            </a:pPr>
            <a:r>
              <a:rPr lang="en-US" sz="2200" dirty="0" smtClean="0">
                <a:latin typeface="Helvetica" pitchFamily="34" charset="0"/>
              </a:rPr>
              <a:t>Identify the overall success of the project or program</a:t>
            </a:r>
          </a:p>
          <a:p>
            <a:pPr lvl="0">
              <a:spcBef>
                <a:spcPts val="600"/>
              </a:spcBef>
              <a:spcAft>
                <a:spcPts val="1200"/>
              </a:spcAft>
            </a:pPr>
            <a:r>
              <a:rPr lang="en-US" sz="2200" dirty="0" smtClean="0">
                <a:latin typeface="Helvetica" pitchFamily="34" charset="0"/>
              </a:rPr>
              <a:t>Identifying areas which are being done well and rewarding accordingly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7" name="Picture 6" descr="jy.jpg"/>
          <p:cNvPicPr/>
          <p:nvPr/>
        </p:nvPicPr>
        <p:blipFill>
          <a:blip r:embed="rId3" cstate="print"/>
          <a:stretch>
            <a:fillRect/>
          </a:stretch>
        </p:blipFill>
        <p:spPr>
          <a:xfrm>
            <a:off x="3923928" y="4725144"/>
            <a:ext cx="1924050" cy="1285875"/>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Evaluate the program/project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268760"/>
            <a:ext cx="7846640" cy="4896544"/>
          </a:xfrm>
        </p:spPr>
        <p:txBody>
          <a:bodyPr>
            <a:noAutofit/>
          </a:bodyPr>
          <a:lstStyle/>
          <a:p>
            <a:pPr>
              <a:spcBef>
                <a:spcPts val="600"/>
              </a:spcBef>
              <a:spcAft>
                <a:spcPts val="1200"/>
              </a:spcAft>
              <a:buNone/>
            </a:pPr>
            <a:r>
              <a:rPr lang="en-US" sz="2200" b="1" dirty="0" smtClean="0">
                <a:latin typeface="Helvetica" pitchFamily="34" charset="0"/>
              </a:rPr>
              <a:t>Aims of evaluating success of project / program</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Identifying where areas where the project or future projects can be improved through</a:t>
            </a:r>
          </a:p>
          <a:p>
            <a:pPr lvl="0">
              <a:spcBef>
                <a:spcPts val="600"/>
              </a:spcBef>
              <a:spcAft>
                <a:spcPts val="1200"/>
              </a:spcAft>
            </a:pPr>
            <a:r>
              <a:rPr lang="en-US" sz="2200" dirty="0" smtClean="0">
                <a:latin typeface="Helvetica" pitchFamily="34" charset="0"/>
              </a:rPr>
              <a:t>Identify the need for the project to continue, it is current or varied form</a:t>
            </a:r>
          </a:p>
          <a:p>
            <a:pPr lvl="0">
              <a:spcBef>
                <a:spcPts val="600"/>
              </a:spcBef>
              <a:spcAft>
                <a:spcPts val="1200"/>
              </a:spcAft>
            </a:pPr>
            <a:r>
              <a:rPr lang="en-US" sz="2200" dirty="0" smtClean="0">
                <a:latin typeface="Helvetica" pitchFamily="34" charset="0"/>
              </a:rPr>
              <a:t>Identify the impact and value the project or program has provided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5" name="Picture 4" descr="shutterstock_122825407.jpg"/>
          <p:cNvPicPr>
            <a:picLocks noChangeAspect="1"/>
          </p:cNvPicPr>
          <p:nvPr/>
        </p:nvPicPr>
        <p:blipFill>
          <a:blip r:embed="rId3" cstate="print"/>
          <a:stretch>
            <a:fillRect/>
          </a:stretch>
        </p:blipFill>
        <p:spPr>
          <a:xfrm>
            <a:off x="3563888" y="4653136"/>
            <a:ext cx="2279706" cy="1520564"/>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Evaluate the program/project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846640" cy="4896544"/>
          </a:xfrm>
        </p:spPr>
        <p:txBody>
          <a:bodyPr>
            <a:noAutofit/>
          </a:bodyPr>
          <a:lstStyle/>
          <a:p>
            <a:pPr>
              <a:spcBef>
                <a:spcPts val="600"/>
              </a:spcBef>
              <a:spcAft>
                <a:spcPts val="1200"/>
              </a:spcAft>
              <a:buNone/>
            </a:pPr>
            <a:r>
              <a:rPr lang="en-AU" sz="2200" b="1" dirty="0" smtClean="0">
                <a:latin typeface="Helvetica" pitchFamily="34" charset="0"/>
              </a:rPr>
              <a:t>Evaluation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Assessing performance against the attainment of established indicators, including objectives, use of resources, timelines, execution of allocated responsibilities and budgets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Evaluating the outcomes of the program/project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Evaluating the contribution made by sub-systems that supported the development and implementation phases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6" name="Picture 5" descr="dk.jpg"/>
          <p:cNvPicPr/>
          <p:nvPr/>
        </p:nvPicPr>
        <p:blipFill>
          <a:blip r:embed="rId3" cstate="print"/>
          <a:stretch>
            <a:fillRect/>
          </a:stretch>
        </p:blipFill>
        <p:spPr>
          <a:xfrm>
            <a:off x="3598268" y="5034401"/>
            <a:ext cx="1917735" cy="1274919"/>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34144"/>
          </a:xfrm>
        </p:spPr>
        <p:txBody>
          <a:bodyPr>
            <a:noAutofit/>
          </a:bodyPr>
          <a:lstStyle/>
          <a:p>
            <a:pPr marL="0"/>
            <a:r>
              <a:rPr lang="en-AU" sz="3600" b="1" dirty="0" smtClean="0">
                <a:solidFill>
                  <a:srgbClr val="FF6600"/>
                </a:solidFill>
                <a:latin typeface="Helvetica" pitchFamily="34" charset="0"/>
              </a:rPr>
              <a:t>Evaluate the program/project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846640" cy="4896544"/>
          </a:xfrm>
        </p:spPr>
        <p:txBody>
          <a:bodyPr>
            <a:noAutofit/>
          </a:bodyPr>
          <a:lstStyle/>
          <a:p>
            <a:pPr>
              <a:spcBef>
                <a:spcPts val="600"/>
              </a:spcBef>
              <a:spcAft>
                <a:spcPts val="1200"/>
              </a:spcAft>
              <a:buNone/>
            </a:pPr>
            <a:r>
              <a:rPr lang="en-AU" sz="2200" b="1" dirty="0" smtClean="0">
                <a:latin typeface="Helvetica" pitchFamily="34" charset="0"/>
              </a:rPr>
              <a:t>Evaluation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lessons for inclusion in subsequent management and monitoring activities relating to innovative tourism programs/projects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Evaluating the potential for additional/follow-on innovative tourism programs/projects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Seeking opinions from relevant stakeholders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Validating conclusions reached in                                       relation to strategy performance</a:t>
            </a:r>
            <a:endParaRPr lang="en-AU" sz="2200" b="1" dirty="0" smtClean="0">
              <a:solidFill>
                <a:srgbClr val="FF6600"/>
              </a:solidFill>
              <a:latin typeface="Helvetica" pitchFamily="34" charset="0"/>
            </a:endParaRPr>
          </a:p>
          <a:p>
            <a:pPr>
              <a:spcBef>
                <a:spcPts val="600"/>
              </a:spcBef>
              <a:spcAft>
                <a:spcPts val="1200"/>
              </a:spcAft>
              <a:buNone/>
            </a:pPr>
            <a:r>
              <a:rPr lang="en-AU" sz="2200" b="1" dirty="0" smtClean="0">
                <a:solidFill>
                  <a:srgbClr val="FF6600"/>
                </a:solidFill>
                <a:latin typeface="Helvetica" pitchFamily="34" charset="0"/>
              </a:rPr>
              <a:t>ACTIVITY 28</a:t>
            </a:r>
            <a:endParaRPr lang="en-US" sz="2200" b="1"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7" name="Picture 6" descr="kj.jpg"/>
          <p:cNvPicPr>
            <a:picLocks noChangeAspect="1"/>
          </p:cNvPicPr>
          <p:nvPr/>
        </p:nvPicPr>
        <p:blipFill>
          <a:blip r:embed="rId3" cstate="print"/>
          <a:stretch>
            <a:fillRect/>
          </a:stretch>
        </p:blipFill>
        <p:spPr>
          <a:xfrm>
            <a:off x="7092280" y="3861048"/>
            <a:ext cx="1370739" cy="1968240"/>
          </a:xfrm>
          <a:prstGeom prst="rect">
            <a:avLst/>
          </a:prstGeom>
        </p:spPr>
      </p:pic>
    </p:spTree>
    <p:extLst>
      <p:ext uri="{BB962C8B-B14F-4D97-AF65-F5344CB8AC3E}">
        <p14:creationId xmlns:p14="http://schemas.microsoft.com/office/powerpoint/2010/main" val="3151221173"/>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Report project/program results</a:t>
            </a:r>
            <a:endParaRPr lang="en-US" sz="3400" dirty="0"/>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Explaining project performance related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Explaining if your project strategy and effort work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the reasons why they work or not work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Significant variations and the factors associated with the changes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Unusual results and determine their causes</a:t>
            </a:r>
            <a:endParaRPr lang="en-US" sz="2200" dirty="0" smtClean="0">
              <a:latin typeface="Helvetica" pitchFamily="34" charset="0"/>
            </a:endParaRPr>
          </a:p>
          <a:p>
            <a:endParaRPr lang="en-AU" sz="2400" b="1"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7" name="Picture 6" descr="shutterstock_133083470.jpg"/>
          <p:cNvPicPr/>
          <p:nvPr/>
        </p:nvPicPr>
        <p:blipFill>
          <a:blip r:embed="rId3" cstate="print"/>
          <a:stretch>
            <a:fillRect/>
          </a:stretch>
        </p:blipFill>
        <p:spPr>
          <a:xfrm>
            <a:off x="3707904" y="4941168"/>
            <a:ext cx="1956991" cy="1325488"/>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Report project/program results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Explaining performance related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Strengths and marketing opportunities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Weaknesses and potential areas of improvement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Impact / implications of the results and conclusions on performance</a:t>
            </a:r>
            <a:endParaRPr lang="en-US" sz="2200" dirty="0" smtClean="0">
              <a:latin typeface="Helvetica" pitchFamily="34" charset="0"/>
            </a:endParaRP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6" name="Picture 5" descr="shutterstock_190662956.jpg"/>
          <p:cNvPicPr/>
          <p:nvPr/>
        </p:nvPicPr>
        <p:blipFill>
          <a:blip r:embed="rId3" cstate="print"/>
          <a:stretch>
            <a:fillRect/>
          </a:stretch>
        </p:blipFill>
        <p:spPr>
          <a:xfrm>
            <a:off x="3275856" y="4221087"/>
            <a:ext cx="2341225" cy="1536179"/>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Report project/program results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US" sz="2200" b="1" dirty="0" smtClean="0">
                <a:latin typeface="Helvetica" pitchFamily="34" charset="0"/>
              </a:rPr>
              <a:t>Present recommendations for variation to project plans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are possible reasons for recommendations?</a:t>
            </a:r>
          </a:p>
          <a:p>
            <a:pPr>
              <a:spcBef>
                <a:spcPts val="600"/>
              </a:spcBef>
              <a:spcAft>
                <a:spcPts val="1200"/>
              </a:spcAft>
            </a:pPr>
            <a:r>
              <a:rPr lang="en-US" sz="2200" dirty="0" smtClean="0">
                <a:latin typeface="Helvetica" pitchFamily="34" charset="0"/>
              </a:rPr>
              <a:t>What information needs to be included in a recommendation</a:t>
            </a:r>
          </a:p>
          <a:p>
            <a:pPr>
              <a:spcBef>
                <a:spcPts val="600"/>
              </a:spcBef>
              <a:spcAft>
                <a:spcPts val="1200"/>
              </a:spcAft>
            </a:pPr>
            <a:r>
              <a:rPr lang="en-US" sz="2200" dirty="0" smtClean="0">
                <a:latin typeface="Helvetica" pitchFamily="34" charset="0"/>
              </a:rPr>
              <a:t>What are types of recommendations?</a:t>
            </a:r>
          </a:p>
          <a:p>
            <a:endParaRPr lang="en-US"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6" name="Picture 5" descr="shutterstock_108055754.jpg"/>
          <p:cNvPicPr/>
          <p:nvPr/>
        </p:nvPicPr>
        <p:blipFill>
          <a:blip r:embed="rId3" cstate="print"/>
          <a:stretch>
            <a:fillRect/>
          </a:stretch>
        </p:blipFill>
        <p:spPr>
          <a:xfrm>
            <a:off x="6588224" y="3645024"/>
            <a:ext cx="1657350" cy="14097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Report project/program results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Steps associated with making recommendations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Targeting recommendations to evidence-based outcomes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Reviewing internal and external business environment factors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Revising organisational policies and procedures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Revising goals, objectives and targets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Recommending changes in strategic                              directions for the organisation</a:t>
            </a:r>
            <a:endParaRPr lang="en-US" sz="2200" dirty="0" smtClean="0">
              <a:latin typeface="Helvetica" pitchFamily="34" charset="0"/>
            </a:endParaRPr>
          </a:p>
          <a:p>
            <a:endParaRPr lang="en-US"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7" name="Picture 6" descr="W343_discussion1_shutterstock_159062525.jpg"/>
          <p:cNvPicPr/>
          <p:nvPr/>
        </p:nvPicPr>
        <p:blipFill>
          <a:blip r:embed="rId3" cstate="print"/>
          <a:stretch>
            <a:fillRect/>
          </a:stretch>
        </p:blipFill>
        <p:spPr>
          <a:xfrm>
            <a:off x="6948264" y="4725144"/>
            <a:ext cx="1929631" cy="1276393"/>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recommendations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200"/>
              </a:spcAft>
              <a:buNone/>
            </a:pPr>
            <a:r>
              <a:rPr lang="en-US" sz="2200" b="1" dirty="0" smtClean="0">
                <a:latin typeface="Helvetica" pitchFamily="34" charset="0"/>
              </a:rPr>
              <a:t>Identify types of recommendations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Leverage on identified strengths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Address identified weaknesses</a:t>
            </a:r>
          </a:p>
          <a:p>
            <a:pPr>
              <a:spcBef>
                <a:spcPts val="600"/>
              </a:spcBef>
              <a:spcAft>
                <a:spcPts val="1200"/>
              </a:spcAft>
            </a:pPr>
            <a:r>
              <a:rPr lang="en-AU" sz="2200" dirty="0" smtClean="0">
                <a:latin typeface="Helvetica" pitchFamily="34" charset="0"/>
              </a:rPr>
              <a:t>Identified opportunities and threats</a:t>
            </a:r>
          </a:p>
          <a:p>
            <a:pPr>
              <a:spcBef>
                <a:spcPts val="600"/>
              </a:spcBef>
              <a:spcAft>
                <a:spcPts val="1200"/>
              </a:spcAft>
            </a:pPr>
            <a:r>
              <a:rPr lang="en-AU" sz="2200" dirty="0" smtClean="0">
                <a:latin typeface="Helvetica" pitchFamily="34" charset="0"/>
              </a:rPr>
              <a:t>Capitalising on golden opportunities</a:t>
            </a:r>
          </a:p>
          <a:p>
            <a:pPr>
              <a:spcBef>
                <a:spcPts val="600"/>
              </a:spcBef>
              <a:spcAft>
                <a:spcPts val="1200"/>
              </a:spcAft>
            </a:pPr>
            <a:r>
              <a:rPr lang="en-AU" sz="2200" dirty="0" smtClean="0">
                <a:latin typeface="Helvetica" pitchFamily="34" charset="0"/>
              </a:rPr>
              <a:t>Introducing, modifying or removing actions</a:t>
            </a:r>
          </a:p>
          <a:p>
            <a:pPr>
              <a:spcBef>
                <a:spcPts val="600"/>
              </a:spcBef>
              <a:spcAft>
                <a:spcPts val="1200"/>
              </a:spcAft>
            </a:pPr>
            <a:r>
              <a:rPr lang="en-AU" sz="2200" dirty="0" smtClean="0">
                <a:latin typeface="Helvetica" pitchFamily="34" charset="0"/>
              </a:rPr>
              <a:t>Changing the organisational structure</a:t>
            </a:r>
          </a:p>
          <a:p>
            <a:pPr>
              <a:spcBef>
                <a:spcPts val="600"/>
              </a:spcBef>
              <a:spcAft>
                <a:spcPts val="1200"/>
              </a:spcAft>
            </a:pPr>
            <a:r>
              <a:rPr lang="en-AU" sz="2200" dirty="0" smtClean="0">
                <a:latin typeface="Helvetica" pitchFamily="34" charset="0"/>
              </a:rPr>
              <a:t>Enable greater compliance </a:t>
            </a:r>
          </a:p>
          <a:p>
            <a:pPr>
              <a:spcBef>
                <a:spcPts val="600"/>
              </a:spcBef>
              <a:spcAft>
                <a:spcPts val="1200"/>
              </a:spcAft>
            </a:pPr>
            <a:r>
              <a:rPr lang="en-AU" sz="2200" dirty="0" smtClean="0">
                <a:latin typeface="Helvetica" pitchFamily="34" charset="0"/>
              </a:rPr>
              <a:t>Address future activity in relation to areas </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8" name="Picture 7" descr="shutterstock_82265860.jpg"/>
          <p:cNvPicPr/>
          <p:nvPr/>
        </p:nvPicPr>
        <p:blipFill>
          <a:blip r:embed="rId3" cstate="print"/>
          <a:stretch>
            <a:fillRect/>
          </a:stretch>
        </p:blipFill>
        <p:spPr>
          <a:xfrm>
            <a:off x="6444208" y="2276872"/>
            <a:ext cx="1764407" cy="1172477"/>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pPr marL="0"/>
            <a:r>
              <a:rPr lang="en-AU" sz="3400" b="1" dirty="0" smtClean="0">
                <a:solidFill>
                  <a:srgbClr val="FF6600"/>
                </a:solidFill>
                <a:latin typeface="Helvetica" pitchFamily="34" charset="0"/>
              </a:rPr>
              <a:t>Make recommendations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896544"/>
          </a:xfrm>
        </p:spPr>
        <p:txBody>
          <a:bodyPr>
            <a:normAutofit/>
          </a:bodyPr>
          <a:lstStyle/>
          <a:p>
            <a:pPr>
              <a:spcBef>
                <a:spcPts val="600"/>
              </a:spcBef>
              <a:spcAft>
                <a:spcPts val="1200"/>
              </a:spcAft>
              <a:buNone/>
            </a:pPr>
            <a:r>
              <a:rPr lang="en-US" sz="2200" b="1" dirty="0" smtClean="0">
                <a:latin typeface="Helvetica" pitchFamily="34" charset="0"/>
              </a:rPr>
              <a:t>Inclusions in a recommendation</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Now that we have identified a wide variety of recommendations that can be made, it is now time to put them into the appropriate format for presentation to appropriate stakeholders.</a:t>
            </a:r>
          </a:p>
          <a:p>
            <a:pPr>
              <a:spcBef>
                <a:spcPts val="600"/>
              </a:spcBef>
              <a:spcAft>
                <a:spcPts val="1200"/>
              </a:spcAft>
            </a:pPr>
            <a:r>
              <a:rPr lang="en-AU" sz="2200" dirty="0" smtClean="0">
                <a:latin typeface="Helvetica" pitchFamily="34" charset="0"/>
              </a:rPr>
              <a:t>What information should be included in a recommendation?</a:t>
            </a:r>
          </a:p>
          <a:p>
            <a:pPr>
              <a:spcBef>
                <a:spcPts val="600"/>
              </a:spcBef>
              <a:spcAft>
                <a:spcPts val="1200"/>
              </a:spcAft>
              <a:buNone/>
            </a:pPr>
            <a:endParaRPr lang="en-AU" sz="22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6" name="Picture 5" descr="shutterstock_168391730.jpg"/>
          <p:cNvPicPr/>
          <p:nvPr/>
        </p:nvPicPr>
        <p:blipFill>
          <a:blip r:embed="rId3" cstate="print"/>
          <a:srcRect l="12727" r="6670"/>
          <a:stretch>
            <a:fillRect/>
          </a:stretch>
        </p:blipFill>
        <p:spPr>
          <a:xfrm>
            <a:off x="6876256" y="3501008"/>
            <a:ext cx="1368152" cy="2016224"/>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643</TotalTime>
  <Words>8966</Words>
  <Application>Microsoft Office PowerPoint</Application>
  <PresentationFormat>On-screen Show (4:3)</PresentationFormat>
  <Paragraphs>2066</Paragraphs>
  <Slides>153</Slides>
  <Notes>153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153</vt:i4>
      </vt:variant>
    </vt:vector>
  </HeadingPairs>
  <TitlesOfParts>
    <vt:vector size="157" baseType="lpstr">
      <vt:lpstr>Arial</vt:lpstr>
      <vt:lpstr>Helvetica</vt:lpstr>
      <vt:lpstr>Wingdings 2</vt:lpstr>
      <vt:lpstr>PPT_Tour_operation_&amp;_travel_agencies_template_130214</vt:lpstr>
      <vt:lpstr>MANAGE AND MONITOR INNOVAtIVE TOURISM PROGRAMS AND PROJECTS</vt:lpstr>
      <vt:lpstr>Subject elements</vt:lpstr>
      <vt:lpstr>Assessment</vt:lpstr>
      <vt:lpstr>PowerPoint Presentation</vt:lpstr>
      <vt:lpstr>Plan the administration of the innovative tourism program/project</vt:lpstr>
      <vt:lpstr>Plan the administration of the innovative tourism program/project</vt:lpstr>
      <vt:lpstr>Projects and programs</vt:lpstr>
      <vt:lpstr>Projects and programs</vt:lpstr>
      <vt:lpstr>Projects and programs</vt:lpstr>
      <vt:lpstr>Projects and programs</vt:lpstr>
      <vt:lpstr>Projects and programs</vt:lpstr>
      <vt:lpstr>Projects and programs</vt:lpstr>
      <vt:lpstr>Projects and programs</vt:lpstr>
      <vt:lpstr>Projects and programs</vt:lpstr>
      <vt:lpstr>Projects and programs</vt:lpstr>
      <vt:lpstr>Projects and programs</vt:lpstr>
      <vt:lpstr>Projects and programs</vt:lpstr>
      <vt:lpstr>Establish project objectives</vt:lpstr>
      <vt:lpstr>Establish project objectives</vt:lpstr>
      <vt:lpstr>Establish project objectives</vt:lpstr>
      <vt:lpstr>Establish project objectives</vt:lpstr>
      <vt:lpstr>Factors impacting project implementation</vt:lpstr>
      <vt:lpstr>Factors impacting project implementation</vt:lpstr>
      <vt:lpstr>Factors impacting project implementation</vt:lpstr>
      <vt:lpstr>Factors impacting project implementation</vt:lpstr>
      <vt:lpstr>Factors impacting project implementation</vt:lpstr>
      <vt:lpstr>Factors impacting project implementation</vt:lpstr>
      <vt:lpstr>Factors impacting project implementation</vt:lpstr>
      <vt:lpstr>Develop program/project plans</vt:lpstr>
      <vt:lpstr>Develop program/project plans</vt:lpstr>
      <vt:lpstr>Develop program/project plans</vt:lpstr>
      <vt:lpstr>Develop program/project plans</vt:lpstr>
      <vt:lpstr>Develop program/project plans</vt:lpstr>
      <vt:lpstr>Develop program/project plans</vt:lpstr>
      <vt:lpstr>Develop program/project plans</vt:lpstr>
      <vt:lpstr>Develop program/project plans</vt:lpstr>
      <vt:lpstr>Develop program/project plans</vt:lpstr>
      <vt:lpstr>Link budget to key outcomes</vt:lpstr>
      <vt:lpstr>Link budget to key outcomes</vt:lpstr>
      <vt:lpstr>Link budget to key outcomes</vt:lpstr>
      <vt:lpstr>Link budget to key outcomes</vt:lpstr>
      <vt:lpstr>Determine project revenue</vt:lpstr>
      <vt:lpstr>Determine project expenditure</vt:lpstr>
      <vt:lpstr>Determine project expenditure</vt:lpstr>
      <vt:lpstr>Determine budget controls</vt:lpstr>
      <vt:lpstr>Determine budget controls</vt:lpstr>
      <vt:lpstr>Establish monitoring arrangements</vt:lpstr>
      <vt:lpstr>Establish monitoring arrangements</vt:lpstr>
      <vt:lpstr>Establish monitoring arrangements</vt:lpstr>
      <vt:lpstr>Establish monitoring arrangements</vt:lpstr>
      <vt:lpstr>Establish reporting arrangements</vt:lpstr>
      <vt:lpstr>Allocate project resources</vt:lpstr>
      <vt:lpstr>Allocate project resources</vt:lpstr>
      <vt:lpstr>Allocate project resources</vt:lpstr>
      <vt:lpstr>Allocate project resources</vt:lpstr>
      <vt:lpstr>Types of project resources</vt:lpstr>
      <vt:lpstr>Types of project resources</vt:lpstr>
      <vt:lpstr>Types of project resources</vt:lpstr>
      <vt:lpstr>Types of project resources</vt:lpstr>
      <vt:lpstr>Factors affecting project resources</vt:lpstr>
      <vt:lpstr>Factors affecting project resources</vt:lpstr>
      <vt:lpstr>Factors affecting project resources</vt:lpstr>
      <vt:lpstr>Factors affecting project resources</vt:lpstr>
      <vt:lpstr>Factors affecting project resources</vt:lpstr>
      <vt:lpstr>Integrate program/plan with other initiatives</vt:lpstr>
      <vt:lpstr>Integrate program/plan with other initiatives</vt:lpstr>
      <vt:lpstr>Obtain project approvals and agreements</vt:lpstr>
      <vt:lpstr>Obtain project approvals</vt:lpstr>
      <vt:lpstr>Joint ventures and strategic alliances</vt:lpstr>
      <vt:lpstr>Obtain project agreements</vt:lpstr>
      <vt:lpstr>Develop project contingency plans</vt:lpstr>
      <vt:lpstr>Develop project contingency plans</vt:lpstr>
      <vt:lpstr>Develop project contingency plans</vt:lpstr>
      <vt:lpstr>Develop project contingency plans</vt:lpstr>
      <vt:lpstr>Develop project contingency plans</vt:lpstr>
      <vt:lpstr>Develop project contingency plans</vt:lpstr>
      <vt:lpstr>Develop project contingency plans</vt:lpstr>
      <vt:lpstr>Develop teams to support project</vt:lpstr>
      <vt:lpstr>Develop teams to support project</vt:lpstr>
      <vt:lpstr>Develop teams to support project</vt:lpstr>
      <vt:lpstr>Develop teams to support project</vt:lpstr>
      <vt:lpstr>Develop teams to support project</vt:lpstr>
      <vt:lpstr>PowerPoint Presentation</vt:lpstr>
      <vt:lpstr>Coordinate the administration of the innovative tourism program/project</vt:lpstr>
      <vt:lpstr>Allocate tasks and resources</vt:lpstr>
      <vt:lpstr>Allocate tasks and resources</vt:lpstr>
      <vt:lpstr>Allocate tasks and resources</vt:lpstr>
      <vt:lpstr>Allocate tasks and resources</vt:lpstr>
      <vt:lpstr>Allocate tasks and resources</vt:lpstr>
      <vt:lpstr>Allocate tasks and resources</vt:lpstr>
      <vt:lpstr>Allocate tasks and resources</vt:lpstr>
      <vt:lpstr>Allocate tasks and resources</vt:lpstr>
      <vt:lpstr>Manage project implementation</vt:lpstr>
      <vt:lpstr>Manage project implementation</vt:lpstr>
      <vt:lpstr>Manage project implementation</vt:lpstr>
      <vt:lpstr>Manage project implementation</vt:lpstr>
      <vt:lpstr>Maintain financial control systems</vt:lpstr>
      <vt:lpstr>Maintain financial control systems</vt:lpstr>
      <vt:lpstr>Maintain financial control systems</vt:lpstr>
      <vt:lpstr>Maintain financial control systems</vt:lpstr>
      <vt:lpstr>Maintain financial control systems</vt:lpstr>
      <vt:lpstr>Maintain financial control systems</vt:lpstr>
      <vt:lpstr>Maintain financial control systems</vt:lpstr>
      <vt:lpstr>Maintain financial control systems</vt:lpstr>
      <vt:lpstr>Maintain financial control systems</vt:lpstr>
      <vt:lpstr>Maintain financial control systems</vt:lpstr>
      <vt:lpstr>Monitor program/project progress</vt:lpstr>
      <vt:lpstr>Monitor program/project progress</vt:lpstr>
      <vt:lpstr>Monitor program/project progress</vt:lpstr>
      <vt:lpstr>Monitor program/project progress</vt:lpstr>
      <vt:lpstr>Monitor program/project progress</vt:lpstr>
      <vt:lpstr>Monitor program/project progress</vt:lpstr>
      <vt:lpstr>Monitor program/project progress</vt:lpstr>
      <vt:lpstr>Monitor program/project progress</vt:lpstr>
      <vt:lpstr>Monitor program/project progress</vt:lpstr>
      <vt:lpstr>Monitor program/project progress</vt:lpstr>
      <vt:lpstr>Corrective action</vt:lpstr>
      <vt:lpstr>Initiate corrective action</vt:lpstr>
      <vt:lpstr>Initiate corrective action</vt:lpstr>
      <vt:lpstr>Taking corrective action</vt:lpstr>
      <vt:lpstr>Short term corrective action</vt:lpstr>
      <vt:lpstr>Short term corrective action</vt:lpstr>
      <vt:lpstr>Long term corrective action</vt:lpstr>
      <vt:lpstr>Long term corrective action</vt:lpstr>
      <vt:lpstr>Long term corrective action</vt:lpstr>
      <vt:lpstr>Long term corrective action</vt:lpstr>
      <vt:lpstr>Report program/project progress</vt:lpstr>
      <vt:lpstr>Report program/project progress</vt:lpstr>
      <vt:lpstr>Report program/project progress</vt:lpstr>
      <vt:lpstr>Report program/project progress</vt:lpstr>
      <vt:lpstr>Report program/project progress</vt:lpstr>
      <vt:lpstr>PowerPoint Presentation</vt:lpstr>
      <vt:lpstr>Finalise the innovative tourism program/project</vt:lpstr>
      <vt:lpstr>Administer winding up activities</vt:lpstr>
      <vt:lpstr>Administer winding up activities</vt:lpstr>
      <vt:lpstr>Administer winding up activities</vt:lpstr>
      <vt:lpstr>Administer winding up activities</vt:lpstr>
      <vt:lpstr>Review program/project administration</vt:lpstr>
      <vt:lpstr>Review program/project administration</vt:lpstr>
      <vt:lpstr>Review program/project administration</vt:lpstr>
      <vt:lpstr>Review program/project administration</vt:lpstr>
      <vt:lpstr>Evaluate the program/project</vt:lpstr>
      <vt:lpstr>Evaluate the program/project</vt:lpstr>
      <vt:lpstr>Evaluate the program/project</vt:lpstr>
      <vt:lpstr>Evaluate the program/project</vt:lpstr>
      <vt:lpstr>Evaluate the program/project</vt:lpstr>
      <vt:lpstr>Evaluate the program/project</vt:lpstr>
      <vt:lpstr>Report project/program results</vt:lpstr>
      <vt:lpstr>Report project/program results</vt:lpstr>
      <vt:lpstr>Report project/program results</vt:lpstr>
      <vt:lpstr>Report project/program results</vt:lpstr>
      <vt:lpstr>Make recommendations</vt:lpstr>
      <vt:lpstr>Make recommendations</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 AND MONITOR INNOVATIVE TOURISM PROGRAMS AND PROJECTS</dc:title>
  <dc:creator>Mai Vu</dc:creator>
  <cp:lastModifiedBy>Carla Angelica Co</cp:lastModifiedBy>
  <cp:revision>129</cp:revision>
  <dcterms:created xsi:type="dcterms:W3CDTF">2014-03-24T05:33:49Z</dcterms:created>
  <dcterms:modified xsi:type="dcterms:W3CDTF">2016-07-19T02:49:02Z</dcterms:modified>
</cp:coreProperties>
</file>