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37"/>
  </p:notesMasterIdLst>
  <p:handoutMasterIdLst>
    <p:handoutMasterId r:id="rId138"/>
  </p:handoutMasterIdLst>
  <p:sldIdLst>
    <p:sldId id="256" r:id="rId2"/>
    <p:sldId id="263" r:id="rId3"/>
    <p:sldId id="264" r:id="rId4"/>
    <p:sldId id="265" r:id="rId5"/>
    <p:sldId id="266" r:id="rId6"/>
    <p:sldId id="267" r:id="rId7"/>
    <p:sldId id="291" r:id="rId8"/>
    <p:sldId id="509" r:id="rId9"/>
    <p:sldId id="510" r:id="rId10"/>
    <p:sldId id="511" r:id="rId11"/>
    <p:sldId id="512" r:id="rId12"/>
    <p:sldId id="513" r:id="rId13"/>
    <p:sldId id="514" r:id="rId14"/>
    <p:sldId id="515" r:id="rId15"/>
    <p:sldId id="516" r:id="rId16"/>
    <p:sldId id="517" r:id="rId17"/>
    <p:sldId id="518" r:id="rId18"/>
    <p:sldId id="519" r:id="rId19"/>
    <p:sldId id="520" r:id="rId20"/>
    <p:sldId id="521" r:id="rId21"/>
    <p:sldId id="522" r:id="rId22"/>
    <p:sldId id="523" r:id="rId23"/>
    <p:sldId id="524" r:id="rId24"/>
    <p:sldId id="525" r:id="rId25"/>
    <p:sldId id="526" r:id="rId26"/>
    <p:sldId id="527" r:id="rId27"/>
    <p:sldId id="528" r:id="rId28"/>
    <p:sldId id="529" r:id="rId29"/>
    <p:sldId id="531" r:id="rId30"/>
    <p:sldId id="532" r:id="rId31"/>
    <p:sldId id="533" r:id="rId32"/>
    <p:sldId id="534" r:id="rId33"/>
    <p:sldId id="535" r:id="rId34"/>
    <p:sldId id="536" r:id="rId35"/>
    <p:sldId id="537" r:id="rId36"/>
    <p:sldId id="505" r:id="rId37"/>
    <p:sldId id="506" r:id="rId38"/>
    <p:sldId id="507" r:id="rId39"/>
    <p:sldId id="508" r:id="rId40"/>
    <p:sldId id="538" r:id="rId41"/>
    <p:sldId id="540" r:id="rId42"/>
    <p:sldId id="499" r:id="rId43"/>
    <p:sldId id="541" r:id="rId44"/>
    <p:sldId id="542" r:id="rId45"/>
    <p:sldId id="543" r:id="rId46"/>
    <p:sldId id="544" r:id="rId47"/>
    <p:sldId id="275" r:id="rId48"/>
    <p:sldId id="276" r:id="rId49"/>
    <p:sldId id="571" r:id="rId50"/>
    <p:sldId id="573" r:id="rId51"/>
    <p:sldId id="574" r:id="rId52"/>
    <p:sldId id="575" r:id="rId53"/>
    <p:sldId id="576" r:id="rId54"/>
    <p:sldId id="577" r:id="rId55"/>
    <p:sldId id="578" r:id="rId56"/>
    <p:sldId id="579" r:id="rId57"/>
    <p:sldId id="580" r:id="rId58"/>
    <p:sldId id="581" r:id="rId59"/>
    <p:sldId id="582" r:id="rId60"/>
    <p:sldId id="308" r:id="rId61"/>
    <p:sldId id="584" r:id="rId62"/>
    <p:sldId id="583" r:id="rId63"/>
    <p:sldId id="585" r:id="rId64"/>
    <p:sldId id="586" r:id="rId65"/>
    <p:sldId id="587" r:id="rId66"/>
    <p:sldId id="588" r:id="rId67"/>
    <p:sldId id="589" r:id="rId68"/>
    <p:sldId id="590" r:id="rId69"/>
    <p:sldId id="591" r:id="rId70"/>
    <p:sldId id="592" r:id="rId71"/>
    <p:sldId id="593" r:id="rId72"/>
    <p:sldId id="594" r:id="rId73"/>
    <p:sldId id="595" r:id="rId74"/>
    <p:sldId id="596" r:id="rId75"/>
    <p:sldId id="597" r:id="rId76"/>
    <p:sldId id="598" r:id="rId77"/>
    <p:sldId id="599" r:id="rId78"/>
    <p:sldId id="600" r:id="rId79"/>
    <p:sldId id="601" r:id="rId80"/>
    <p:sldId id="603" r:id="rId81"/>
    <p:sldId id="604" r:id="rId82"/>
    <p:sldId id="605" r:id="rId83"/>
    <p:sldId id="606" r:id="rId84"/>
    <p:sldId id="607" r:id="rId85"/>
    <p:sldId id="608" r:id="rId86"/>
    <p:sldId id="609" r:id="rId87"/>
    <p:sldId id="610" r:id="rId88"/>
    <p:sldId id="611" r:id="rId89"/>
    <p:sldId id="612" r:id="rId90"/>
    <p:sldId id="613" r:id="rId91"/>
    <p:sldId id="614" r:id="rId92"/>
    <p:sldId id="615" r:id="rId93"/>
    <p:sldId id="616" r:id="rId94"/>
    <p:sldId id="617" r:id="rId95"/>
    <p:sldId id="618" r:id="rId96"/>
    <p:sldId id="619" r:id="rId97"/>
    <p:sldId id="620" r:id="rId98"/>
    <p:sldId id="621" r:id="rId99"/>
    <p:sldId id="622" r:id="rId100"/>
    <p:sldId id="624" r:id="rId101"/>
    <p:sldId id="625" r:id="rId102"/>
    <p:sldId id="626" r:id="rId103"/>
    <p:sldId id="628" r:id="rId104"/>
    <p:sldId id="629" r:id="rId105"/>
    <p:sldId id="627" r:id="rId106"/>
    <p:sldId id="386" r:id="rId107"/>
    <p:sldId id="388" r:id="rId108"/>
    <p:sldId id="389" r:id="rId109"/>
    <p:sldId id="390" r:id="rId110"/>
    <p:sldId id="392" r:id="rId111"/>
    <p:sldId id="630" r:id="rId112"/>
    <p:sldId id="631" r:id="rId113"/>
    <p:sldId id="632" r:id="rId114"/>
    <p:sldId id="633" r:id="rId115"/>
    <p:sldId id="401" r:id="rId116"/>
    <p:sldId id="634" r:id="rId117"/>
    <p:sldId id="403" r:id="rId118"/>
    <p:sldId id="635" r:id="rId119"/>
    <p:sldId id="284" r:id="rId120"/>
    <p:sldId id="285" r:id="rId121"/>
    <p:sldId id="636" r:id="rId122"/>
    <p:sldId id="637" r:id="rId123"/>
    <p:sldId id="638" r:id="rId124"/>
    <p:sldId id="639" r:id="rId125"/>
    <p:sldId id="640" r:id="rId126"/>
    <p:sldId id="641" r:id="rId127"/>
    <p:sldId id="642" r:id="rId128"/>
    <p:sldId id="643" r:id="rId129"/>
    <p:sldId id="644" r:id="rId130"/>
    <p:sldId id="646" r:id="rId131"/>
    <p:sldId id="645" r:id="rId132"/>
    <p:sldId id="647" r:id="rId133"/>
    <p:sldId id="648" r:id="rId134"/>
    <p:sldId id="649" r:id="rId135"/>
    <p:sldId id="650" r:id="rId13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95882" autoAdjust="0"/>
  </p:normalViewPr>
  <p:slideViewPr>
    <p:cSldViewPr>
      <p:cViewPr varScale="1">
        <p:scale>
          <a:sx n="88" d="100"/>
          <a:sy n="88" d="100"/>
        </p:scale>
        <p:origin x="129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1560" y="3048"/>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7/19/2016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7/19/2016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the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679749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three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346009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014545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does ‘interpretive content’ mean?</a:t>
            </a:r>
          </a:p>
          <a:p>
            <a:pPr>
              <a:buFont typeface="Arial" pitchFamily="34" charset="0"/>
              <a:buChar char="•"/>
            </a:pPr>
            <a:r>
              <a:rPr lang="en-AU" sz="1200" kern="1200" baseline="0" dirty="0" smtClean="0">
                <a:solidFill>
                  <a:schemeClr val="tx1"/>
                </a:solidFill>
                <a:latin typeface="+mn-lt"/>
                <a:ea typeface="+mn-ea"/>
                <a:cs typeface="+mn-cs"/>
              </a:rPr>
              <a:t>What does eco-tourism mean?</a:t>
            </a:r>
          </a:p>
          <a:p>
            <a:pPr>
              <a:buFont typeface="Arial" pitchFamily="34" charset="0"/>
              <a:buChar char="•"/>
            </a:pPr>
            <a:r>
              <a:rPr lang="en-AU" sz="1200" kern="1200" baseline="0" dirty="0" smtClean="0">
                <a:solidFill>
                  <a:schemeClr val="tx1"/>
                </a:solidFill>
                <a:latin typeface="+mn-lt"/>
                <a:ea typeface="+mn-ea"/>
                <a:cs typeface="+mn-cs"/>
              </a:rPr>
              <a:t>What types of eco-tourism exist in your region?</a:t>
            </a:r>
          </a:p>
          <a:p>
            <a:pPr>
              <a:buFont typeface="Arial" pitchFamily="34" charset="0"/>
              <a:buChar char="•"/>
            </a:pPr>
            <a:endParaRPr lang="en-AU"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1707350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296278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290373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r>
              <a:rPr lang="en-AU" baseline="0" dirty="0" smtClean="0"/>
              <a:t>Think back to a tour you have been a customer of in the past:</a:t>
            </a:r>
          </a:p>
          <a:p>
            <a:pPr>
              <a:buFont typeface="Arial" pitchFamily="34" charset="0"/>
              <a:buChar char="•"/>
            </a:pPr>
            <a:r>
              <a:rPr lang="en-AU" baseline="0" dirty="0" smtClean="0"/>
              <a:t>Did you enjoy it?</a:t>
            </a:r>
          </a:p>
          <a:p>
            <a:pPr>
              <a:buFont typeface="Arial" pitchFamily="34" charset="0"/>
              <a:buChar char="•"/>
            </a:pPr>
            <a:r>
              <a:rPr lang="en-AU" baseline="0" dirty="0" smtClean="0"/>
              <a:t>What made it enjoyable?</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3862262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4262138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084329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focus of eco-tourism?</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823611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42428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153469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techniques</a:t>
            </a:r>
          </a:p>
          <a:p>
            <a:pPr>
              <a:buFont typeface="Arial" pitchFamily="34" charset="0"/>
              <a:buChar char="•"/>
            </a:pPr>
            <a:r>
              <a:rPr lang="en-AU" baseline="0" dirty="0" smtClean="0"/>
              <a:t>When are they best used?</a:t>
            </a:r>
          </a:p>
          <a:p>
            <a:pPr>
              <a:buFont typeface="Arial" pitchFamily="34" charset="0"/>
              <a:buChar char="•"/>
            </a:pPr>
            <a:r>
              <a:rPr lang="en-AU" baseline="0" dirty="0" smtClean="0"/>
              <a:t>Provide examples of real life examples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715420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purpose of commentary?</a:t>
            </a:r>
          </a:p>
          <a:p>
            <a:pPr>
              <a:buFont typeface="Arial" pitchFamily="34" charset="0"/>
              <a:buChar char="•"/>
            </a:pPr>
            <a:r>
              <a:rPr lang="en-AU" baseline="0" dirty="0" smtClean="0"/>
              <a:t>What types are there?</a:t>
            </a:r>
          </a:p>
          <a:p>
            <a:pPr>
              <a:buFont typeface="Arial" pitchFamily="34" charset="0"/>
              <a:buChar char="•"/>
            </a:pPr>
            <a:r>
              <a:rPr lang="en-AU" baseline="0" dirty="0" smtClean="0"/>
              <a:t>How can you provide commentary to customers?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740039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considerations providing real life examples of how they impact on guiding.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849786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key features.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131365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a:t>
            </a:r>
            <a:r>
              <a:rPr lang="en-AU" b="1" baseline="0" dirty="0" smtClean="0"/>
              <a:t> Activity</a:t>
            </a:r>
            <a:endParaRPr lang="en-AU" b="1" dirty="0" smtClean="0"/>
          </a:p>
          <a:p>
            <a:endParaRPr lang="en-AU" dirty="0" smtClean="0"/>
          </a:p>
          <a:p>
            <a:pPr>
              <a:buFont typeface="Arial" pitchFamily="34" charset="0"/>
              <a:buChar char="•"/>
            </a:pPr>
            <a:r>
              <a:rPr lang="en-AU" baseline="0" dirty="0" smtClean="0"/>
              <a:t>Discuss the concept of POETRY</a:t>
            </a:r>
          </a:p>
          <a:p>
            <a:pPr>
              <a:buFont typeface="Arial" pitchFamily="34" charset="0"/>
              <a:buChar char="•"/>
            </a:pPr>
            <a:r>
              <a:rPr lang="en-AU" baseline="0" dirty="0" smtClean="0"/>
              <a:t>Complete Activities 1&amp;2</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990496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are examples of sources of information?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3632185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Activities</a:t>
            </a:r>
          </a:p>
          <a:p>
            <a:endParaRPr lang="en-AU" dirty="0" smtClean="0"/>
          </a:p>
          <a:p>
            <a:pPr>
              <a:buFont typeface="Arial" pitchFamily="34" charset="0"/>
              <a:buChar char="•"/>
            </a:pPr>
            <a:r>
              <a:rPr lang="en-AU" baseline="0" dirty="0" smtClean="0"/>
              <a:t>What are examples of each source of information?</a:t>
            </a:r>
          </a:p>
          <a:p>
            <a:pPr>
              <a:buFont typeface="Arial" pitchFamily="34" charset="0"/>
              <a:buChar char="•"/>
            </a:pPr>
            <a:r>
              <a:rPr lang="en-AU" baseline="0" dirty="0" smtClean="0"/>
              <a:t>What information can be gathered from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Activities 3,4,5</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515300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endParaRPr lang="en-AU" dirty="0" smtClean="0"/>
          </a:p>
          <a:p>
            <a:pPr>
              <a:buFont typeface="Arial" pitchFamily="34" charset="0"/>
              <a:buChar char="•"/>
            </a:pPr>
            <a:r>
              <a:rPr lang="en-AU" baseline="0" dirty="0" smtClean="0"/>
              <a:t>Discuss these requirements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0510782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endParaRPr lang="en-AU" dirty="0" smtClean="0"/>
          </a:p>
          <a:p>
            <a:pPr>
              <a:buFont typeface="Arial" pitchFamily="34" charset="0"/>
              <a:buChar char="•"/>
            </a:pPr>
            <a:r>
              <a:rPr lang="en-AU" baseline="0" dirty="0" smtClean="0"/>
              <a:t>Discuss these requirements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1648954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How can you find out customer needs?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5644458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influences each of these special requests?</a:t>
            </a:r>
          </a:p>
          <a:p>
            <a:pPr>
              <a:buFont typeface="Arial" pitchFamily="34" charset="0"/>
              <a:buChar char="•"/>
            </a:pPr>
            <a:r>
              <a:rPr lang="en-AU" baseline="0" dirty="0" smtClean="0"/>
              <a:t>Use personal examples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665619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Discuss the question in the slide</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8530633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Discuss the question in the slide</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962875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Discuss the importance of these considerations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383795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are examples of these themes in your region?</a:t>
            </a:r>
          </a:p>
          <a:p>
            <a:pPr>
              <a:buFont typeface="Arial" pitchFamily="34" charset="0"/>
              <a:buChar char="•"/>
            </a:pPr>
            <a:r>
              <a:rPr lang="en-AU" baseline="0" dirty="0" smtClean="0"/>
              <a:t>How can you create tours and activities based around these themes?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5414419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Activity</a:t>
            </a:r>
          </a:p>
          <a:p>
            <a:endParaRPr lang="en-AU" dirty="0" smtClean="0"/>
          </a:p>
          <a:p>
            <a:pPr>
              <a:buFont typeface="Arial" pitchFamily="34" charset="0"/>
              <a:buChar char="•"/>
            </a:pPr>
            <a:r>
              <a:rPr lang="en-AU" baseline="0" dirty="0" smtClean="0"/>
              <a:t>What are examples of these themes in your region?</a:t>
            </a:r>
          </a:p>
          <a:p>
            <a:pPr>
              <a:buFont typeface="Arial" pitchFamily="34" charset="0"/>
              <a:buChar char="•"/>
            </a:pPr>
            <a:r>
              <a:rPr lang="en-AU" baseline="0" dirty="0" smtClean="0"/>
              <a:t>How can you create tours and activities based around these themes?</a:t>
            </a:r>
          </a:p>
          <a:p>
            <a:pPr>
              <a:buFont typeface="Arial" pitchFamily="34" charset="0"/>
              <a:buChar char="•"/>
            </a:pPr>
            <a:r>
              <a:rPr lang="en-AU" baseline="0" dirty="0" smtClean="0"/>
              <a:t>Complete Activity 6</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3023438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Discuss questions in the slide</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6427852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Explain the importance of these four points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24616363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Explain the difference between these types of data.</a:t>
            </a:r>
          </a:p>
          <a:p>
            <a:pPr>
              <a:buFont typeface="Arial" pitchFamily="34" charset="0"/>
              <a:buChar char="•"/>
            </a:pPr>
            <a:r>
              <a:rPr lang="en-AU" baseline="0" dirty="0" smtClean="0"/>
              <a:t>Provide examples of both</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7055131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are examples of each?</a:t>
            </a:r>
          </a:p>
          <a:p>
            <a:pPr>
              <a:buFont typeface="Arial" pitchFamily="34" charset="0"/>
              <a:buChar char="•"/>
            </a:pPr>
            <a:r>
              <a:rPr lang="en-AU" baseline="0" dirty="0" smtClean="0"/>
              <a:t>What are the benefits of using these research options?</a:t>
            </a:r>
          </a:p>
          <a:p>
            <a:pPr>
              <a:buFont typeface="Arial" pitchFamily="34" charset="0"/>
              <a:buChar char="•"/>
            </a:pPr>
            <a:r>
              <a:rPr lang="en-AU" baseline="0" dirty="0" smtClean="0"/>
              <a:t>What information can be obtained from each of these research options?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41271598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are examples of each?</a:t>
            </a:r>
          </a:p>
          <a:p>
            <a:pPr>
              <a:buFont typeface="Arial" pitchFamily="34" charset="0"/>
              <a:buChar char="•"/>
            </a:pPr>
            <a:r>
              <a:rPr lang="en-AU" baseline="0" dirty="0" smtClean="0"/>
              <a:t>What are the benefits of using these research options?</a:t>
            </a:r>
          </a:p>
          <a:p>
            <a:pPr>
              <a:buFont typeface="Arial" pitchFamily="34" charset="0"/>
              <a:buChar char="•"/>
            </a:pPr>
            <a:r>
              <a:rPr lang="en-AU" baseline="0" dirty="0" smtClean="0"/>
              <a:t>What information can be obtained from each of these research options?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7193684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is the importance of these points?</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9797269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Activity</a:t>
            </a:r>
          </a:p>
          <a:p>
            <a:endParaRPr lang="en-AU" dirty="0" smtClean="0"/>
          </a:p>
          <a:p>
            <a:pPr>
              <a:buFont typeface="Arial" pitchFamily="34" charset="0"/>
              <a:buChar char="•"/>
            </a:pPr>
            <a:r>
              <a:rPr lang="en-AU" baseline="0" dirty="0" smtClean="0"/>
              <a:t>What is the importance of these points?</a:t>
            </a:r>
          </a:p>
          <a:p>
            <a:pPr>
              <a:buFont typeface="Arial" pitchFamily="34" charset="0"/>
              <a:buChar char="•"/>
            </a:pPr>
            <a:r>
              <a:rPr lang="en-AU" baseline="0" dirty="0" smtClean="0"/>
              <a:t>Complete Activity 7</a:t>
            </a:r>
          </a:p>
          <a:p>
            <a:pPr>
              <a:buFont typeface="Arial" pitchFamily="34" charset="0"/>
              <a:buChar char="•"/>
            </a:pPr>
            <a:endParaRPr lang="en-AU"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3286556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latin typeface="+mn-lt"/>
                <a:ea typeface="+mn-ea"/>
                <a:cs typeface="+mn-cs"/>
              </a:rPr>
              <a:t>How can information be stored / filed?</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latin typeface="+mn-lt"/>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8335221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latin typeface="+mn-lt"/>
                <a:ea typeface="+mn-ea"/>
                <a:cs typeface="+mn-cs"/>
              </a:rPr>
              <a:t>Discuss importance of having appropriate inventory storage system</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0925447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latin typeface="+mn-lt"/>
                <a:ea typeface="+mn-ea"/>
                <a:cs typeface="+mn-cs"/>
              </a:rPr>
              <a:t>Provide examples of each systems</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1838894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latin typeface="+mn-lt"/>
                <a:ea typeface="+mn-ea"/>
                <a:cs typeface="+mn-cs"/>
              </a:rPr>
              <a:t>Discuss importance of these considerations?</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218716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baseline="0" dirty="0" smtClean="0">
                <a:solidFill>
                  <a:schemeClr val="tx1"/>
                </a:solidFill>
                <a:latin typeface="+mn-lt"/>
                <a:ea typeface="+mn-ea"/>
                <a:cs typeface="+mn-cs"/>
              </a:rPr>
              <a:t>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latin typeface="+mn-lt"/>
                <a:ea typeface="+mn-ea"/>
                <a:cs typeface="+mn-cs"/>
              </a:rPr>
              <a:t>Complete Activity 8</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9019851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questions in the slide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711358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Why is this important?</a:t>
            </a:r>
          </a:p>
          <a:p>
            <a:pPr>
              <a:buFont typeface="Arial" pitchFamily="34" charset="0"/>
              <a:buChar char="•"/>
            </a:pPr>
            <a:r>
              <a:rPr lang="en-US" sz="1200" b="0" kern="1200" dirty="0" smtClean="0">
                <a:solidFill>
                  <a:schemeClr val="tx1"/>
                </a:solidFill>
                <a:latin typeface="+mn-lt"/>
                <a:ea typeface="+mn-ea"/>
                <a:cs typeface="+mn-cs"/>
              </a:rPr>
              <a:t>Complete Activity 9</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6605940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the question in the</a:t>
            </a:r>
            <a:r>
              <a:rPr lang="en-US" sz="1200" b="0" kern="1200" baseline="0" dirty="0" smtClean="0">
                <a:solidFill>
                  <a:schemeClr val="tx1"/>
                </a:solidFill>
                <a:latin typeface="+mn-lt"/>
                <a:ea typeface="+mn-ea"/>
                <a:cs typeface="+mn-cs"/>
              </a:rPr>
              <a:t> slide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7554963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the importance</a:t>
            </a:r>
            <a:r>
              <a:rPr lang="en-US" sz="1200" b="0" kern="1200" baseline="0" dirty="0" smtClean="0">
                <a:solidFill>
                  <a:schemeClr val="tx1"/>
                </a:solidFill>
                <a:latin typeface="+mn-lt"/>
                <a:ea typeface="+mn-ea"/>
                <a:cs typeface="+mn-cs"/>
              </a:rPr>
              <a:t> of these points, providing personal examples.</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7695335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the importance</a:t>
            </a:r>
            <a:r>
              <a:rPr lang="en-US" sz="1200" b="0" kern="1200" baseline="0" dirty="0" smtClean="0">
                <a:solidFill>
                  <a:schemeClr val="tx1"/>
                </a:solidFill>
                <a:latin typeface="+mn-lt"/>
                <a:ea typeface="+mn-ea"/>
                <a:cs typeface="+mn-cs"/>
              </a:rPr>
              <a:t> of these points, providing personal examples.</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25914549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the importance</a:t>
            </a:r>
            <a:r>
              <a:rPr lang="en-US" sz="1200" b="0" kern="1200" baseline="0" dirty="0" smtClean="0">
                <a:solidFill>
                  <a:schemeClr val="tx1"/>
                </a:solidFill>
                <a:latin typeface="+mn-lt"/>
                <a:ea typeface="+mn-ea"/>
                <a:cs typeface="+mn-cs"/>
              </a:rPr>
              <a:t> of these points, providing personal examples.</a:t>
            </a:r>
          </a:p>
          <a:p>
            <a:pPr>
              <a:buFont typeface="Arial" pitchFamily="34" charset="0"/>
              <a:buChar char="•"/>
            </a:pPr>
            <a:r>
              <a:rPr lang="en-US" sz="1200" b="0" kern="1200" baseline="0" dirty="0" smtClean="0">
                <a:solidFill>
                  <a:schemeClr val="tx1"/>
                </a:solidFill>
                <a:latin typeface="+mn-lt"/>
                <a:ea typeface="+mn-ea"/>
                <a:cs typeface="+mn-cs"/>
              </a:rPr>
              <a:t>Complete Activity 10</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1333105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a ‘eco-tourism’ activity?</a:t>
            </a:r>
          </a:p>
          <a:p>
            <a:pPr>
              <a:buFont typeface="Arial" pitchFamily="34" charset="0"/>
              <a:buChar char="•"/>
            </a:pPr>
            <a:r>
              <a:rPr lang="en-AU" sz="1200" kern="1200" baseline="0" dirty="0" smtClean="0">
                <a:solidFill>
                  <a:schemeClr val="tx1"/>
                </a:solidFill>
                <a:latin typeface="+mn-lt"/>
                <a:ea typeface="+mn-ea"/>
                <a:cs typeface="+mn-cs"/>
              </a:rPr>
              <a:t>What are the steps associated with preparing a tour or activity?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9005525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7547554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3361111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the importance</a:t>
            </a:r>
            <a:r>
              <a:rPr lang="en-US" sz="1200" b="0" kern="1200" baseline="0" dirty="0" smtClean="0">
                <a:solidFill>
                  <a:schemeClr val="tx1"/>
                </a:solidFill>
                <a:latin typeface="+mn-lt"/>
                <a:ea typeface="+mn-ea"/>
                <a:cs typeface="+mn-cs"/>
              </a:rPr>
              <a:t> of these points</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6931138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Identify examples of these objectives for tours</a:t>
            </a:r>
            <a:r>
              <a:rPr lang="en-US" sz="1200" b="0" kern="1200" baseline="0" dirty="0" smtClean="0">
                <a:solidFill>
                  <a:schemeClr val="tx1"/>
                </a:solidFill>
                <a:latin typeface="+mn-lt"/>
                <a:ea typeface="+mn-ea"/>
                <a:cs typeface="+mn-cs"/>
              </a:rPr>
              <a:t> or activities currently being offered.</a:t>
            </a:r>
          </a:p>
          <a:p>
            <a:pPr>
              <a:buFont typeface="Arial" pitchFamily="34" charset="0"/>
              <a:buChar char="•"/>
            </a:pPr>
            <a:r>
              <a:rPr lang="en-US" sz="1200" b="0" kern="1200" baseline="0" dirty="0" smtClean="0">
                <a:solidFill>
                  <a:schemeClr val="tx1"/>
                </a:solidFill>
                <a:latin typeface="+mn-lt"/>
                <a:ea typeface="+mn-ea"/>
                <a:cs typeface="+mn-cs"/>
              </a:rPr>
              <a:t>What are other examples of objectives?</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8830965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considerations for</a:t>
            </a:r>
            <a:r>
              <a:rPr lang="en-US" sz="1200" b="0" kern="1200" baseline="0" dirty="0" smtClean="0">
                <a:solidFill>
                  <a:schemeClr val="tx1"/>
                </a:solidFill>
                <a:latin typeface="+mn-lt"/>
                <a:ea typeface="+mn-ea"/>
                <a:cs typeface="+mn-cs"/>
              </a:rPr>
              <a:t> each of these points?</a:t>
            </a:r>
          </a:p>
          <a:p>
            <a:pPr>
              <a:buFont typeface="Arial" pitchFamily="34" charset="0"/>
              <a:buChar char="•"/>
            </a:pPr>
            <a:r>
              <a:rPr lang="en-US" sz="1200" b="0" kern="1200" baseline="0" dirty="0" smtClean="0">
                <a:solidFill>
                  <a:schemeClr val="tx1"/>
                </a:solidFill>
                <a:latin typeface="+mn-lt"/>
                <a:ea typeface="+mn-ea"/>
                <a:cs typeface="+mn-cs"/>
              </a:rPr>
              <a:t>Complete Activity 11</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9268113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questions in the slide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1260918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examples for</a:t>
            </a:r>
            <a:r>
              <a:rPr lang="en-US" sz="1200" b="0" kern="1200" baseline="0" dirty="0" smtClean="0">
                <a:solidFill>
                  <a:schemeClr val="tx1"/>
                </a:solidFill>
                <a:latin typeface="+mn-lt"/>
                <a:ea typeface="+mn-ea"/>
                <a:cs typeface="+mn-cs"/>
              </a:rPr>
              <a:t> each these activities used in your region?</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5625256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examples for</a:t>
            </a:r>
            <a:r>
              <a:rPr lang="en-US" sz="1200" b="0" kern="1200" baseline="0" dirty="0" smtClean="0">
                <a:solidFill>
                  <a:schemeClr val="tx1"/>
                </a:solidFill>
                <a:latin typeface="+mn-lt"/>
                <a:ea typeface="+mn-ea"/>
                <a:cs typeface="+mn-cs"/>
              </a:rPr>
              <a:t> each these activities used in your region?</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1913593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these steps using an</a:t>
            </a:r>
            <a:r>
              <a:rPr lang="en-US" sz="1200" b="0" kern="1200" baseline="0" dirty="0" smtClean="0">
                <a:solidFill>
                  <a:schemeClr val="tx1"/>
                </a:solidFill>
                <a:latin typeface="+mn-lt"/>
                <a:ea typeface="+mn-ea"/>
                <a:cs typeface="+mn-cs"/>
              </a:rPr>
              <a:t> existing tour or activity as a guide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1699531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a:t>
            </a:r>
            <a:r>
              <a:rPr lang="en-US" sz="1200" b="0" kern="1200" baseline="0" dirty="0" smtClean="0">
                <a:solidFill>
                  <a:schemeClr val="tx1"/>
                </a:solidFill>
                <a:latin typeface="+mn-lt"/>
                <a:ea typeface="+mn-ea"/>
                <a:cs typeface="+mn-cs"/>
              </a:rPr>
              <a:t> other points need to be detailed?</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148114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the question in the slide</a:t>
            </a:r>
          </a:p>
          <a:p>
            <a:pPr>
              <a:buFont typeface="Arial" pitchFamily="34" charset="0"/>
              <a:buChar char="•"/>
            </a:pPr>
            <a:r>
              <a:rPr lang="en-US" sz="1200" b="0" kern="1200" dirty="0" smtClean="0">
                <a:solidFill>
                  <a:schemeClr val="tx1"/>
                </a:solidFill>
                <a:latin typeface="+mn-lt"/>
                <a:ea typeface="+mn-ea"/>
                <a:cs typeface="+mn-cs"/>
              </a:rPr>
              <a:t>What help can they provide?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6300210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How else can you involve the local community in tours</a:t>
            </a:r>
            <a:r>
              <a:rPr lang="en-US" sz="1200" b="0" kern="1200" baseline="0" dirty="0" smtClean="0">
                <a:solidFill>
                  <a:schemeClr val="tx1"/>
                </a:solidFill>
                <a:latin typeface="+mn-lt"/>
                <a:ea typeface="+mn-ea"/>
                <a:cs typeface="+mn-cs"/>
              </a:rPr>
              <a:t> or activities?</a:t>
            </a:r>
          </a:p>
          <a:p>
            <a:pPr>
              <a:buFont typeface="Arial" pitchFamily="34" charset="0"/>
              <a:buChar char="•"/>
            </a:pPr>
            <a:r>
              <a:rPr lang="en-US" sz="1200" b="0" kern="1200" baseline="0" dirty="0" smtClean="0">
                <a:solidFill>
                  <a:schemeClr val="tx1"/>
                </a:solidFill>
                <a:latin typeface="+mn-lt"/>
                <a:ea typeface="+mn-ea"/>
                <a:cs typeface="+mn-cs"/>
              </a:rPr>
              <a:t>Complete Activity 12</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8178745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1357476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other reasons for identifying resources?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3243713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What are examples for</a:t>
            </a:r>
            <a:r>
              <a:rPr lang="en-US" sz="1200" b="0" kern="1200" baseline="0" dirty="0" smtClean="0">
                <a:solidFill>
                  <a:schemeClr val="tx1"/>
                </a:solidFill>
                <a:latin typeface="+mn-lt"/>
                <a:ea typeface="+mn-ea"/>
                <a:cs typeface="+mn-cs"/>
              </a:rPr>
              <a:t> each category of resources?</a:t>
            </a:r>
            <a:endParaRPr lang="en-US" sz="1200" b="0" kern="120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Complete Activity 13</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30603597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dirty="0" smtClean="0">
                <a:solidFill>
                  <a:schemeClr val="tx1"/>
                </a:solidFill>
                <a:latin typeface="+mn-lt"/>
                <a:ea typeface="+mn-ea"/>
                <a:cs typeface="+mn-cs"/>
              </a:rPr>
              <a:t>Discuss the question in the slide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63798279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pPr>
            <a:r>
              <a:rPr lang="en-US" sz="1200" dirty="0" smtClean="0">
                <a:latin typeface="Helvetica" pitchFamily="34" charset="0"/>
              </a:rPr>
              <a:t>What are the advantages and disadvantages of this option?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73684302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pPr>
            <a:r>
              <a:rPr lang="en-US" sz="1200" dirty="0" smtClean="0">
                <a:latin typeface="Helvetica" pitchFamily="34" charset="0"/>
              </a:rPr>
              <a:t>What are the advantages and disadvantages of this option?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7090190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are the advantages and disadvantages of this option?</a:t>
            </a:r>
          </a:p>
          <a:p>
            <a:pPr>
              <a:spcBef>
                <a:spcPts val="600"/>
              </a:spcBef>
              <a:spcAft>
                <a:spcPts val="1200"/>
              </a:spcAft>
              <a:buFont typeface="Arial" pitchFamily="34" charset="0"/>
              <a:buChar char="•"/>
            </a:pPr>
            <a:r>
              <a:rPr lang="en-US" sz="1200" dirty="0" smtClean="0">
                <a:latin typeface="Helvetica" pitchFamily="34" charset="0"/>
              </a:rPr>
              <a:t>Complete Activity 14</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18567706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Discuss question in</a:t>
            </a:r>
            <a:r>
              <a:rPr lang="en-US" sz="1200" baseline="0" dirty="0" smtClean="0">
                <a:latin typeface="Helvetica" pitchFamily="34" charset="0"/>
              </a:rPr>
              <a:t> the slide</a:t>
            </a:r>
            <a:endParaRPr lang="en-US" sz="1200" dirty="0" smtClean="0">
              <a:latin typeface="Helvetica" pitchFamily="34" charset="0"/>
            </a:endParaRPr>
          </a:p>
          <a:p>
            <a:pPr>
              <a:spcBef>
                <a:spcPts val="600"/>
              </a:spcBef>
              <a:spcAft>
                <a:spcPts val="1200"/>
              </a:spcAft>
              <a:buFont typeface="Arial" pitchFamily="34" charset="0"/>
              <a:buChar char="•"/>
            </a:pPr>
            <a:r>
              <a:rPr lang="en-US" sz="1200" dirty="0" smtClean="0">
                <a:latin typeface="Helvetica" pitchFamily="34" charset="0"/>
              </a:rPr>
              <a:t>Complete Activity 15</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4466616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are examples</a:t>
            </a:r>
            <a:r>
              <a:rPr lang="en-US" sz="1200" baseline="0" dirty="0" smtClean="0">
                <a:latin typeface="Helvetica" pitchFamily="34" charset="0"/>
              </a:rPr>
              <a:t> of commentaries you have enjoyed in the past?</a:t>
            </a:r>
          </a:p>
          <a:p>
            <a:pPr>
              <a:spcBef>
                <a:spcPts val="600"/>
              </a:spcBef>
              <a:spcAft>
                <a:spcPts val="1200"/>
              </a:spcAft>
              <a:buFont typeface="Arial" pitchFamily="34" charset="0"/>
              <a:buChar char="•"/>
            </a:pPr>
            <a:r>
              <a:rPr lang="en-US" sz="1200" baseline="0" dirty="0" smtClean="0">
                <a:latin typeface="Helvetica" pitchFamily="34" charset="0"/>
              </a:rPr>
              <a:t>What made them enjoyable?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37696374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a:t>
            </a:r>
            <a:r>
              <a:rPr lang="en-US" sz="1200" baseline="0" dirty="0" smtClean="0">
                <a:latin typeface="Helvetica" pitchFamily="34" charset="0"/>
              </a:rPr>
              <a:t> other benefits exist?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81145315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Discuss these considerations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3504568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Discuss these considerations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6164911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Discuss these principles</a:t>
            </a:r>
            <a:r>
              <a:rPr lang="en-US" sz="1200" baseline="0" dirty="0" smtClean="0">
                <a:latin typeface="Helvetica" pitchFamily="34" charset="0"/>
              </a:rPr>
              <a:t> including their importance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2954053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Discuss these principles</a:t>
            </a:r>
            <a:r>
              <a:rPr lang="en-US" sz="1200" baseline="0" dirty="0" smtClean="0">
                <a:latin typeface="Helvetica" pitchFamily="34" charset="0"/>
              </a:rPr>
              <a:t> including their importance</a:t>
            </a:r>
          </a:p>
          <a:p>
            <a:pPr>
              <a:spcBef>
                <a:spcPts val="600"/>
              </a:spcBef>
              <a:spcAft>
                <a:spcPts val="1200"/>
              </a:spcAft>
              <a:buFont typeface="Arial" pitchFamily="34" charset="0"/>
              <a:buChar char="•"/>
            </a:pPr>
            <a:r>
              <a:rPr lang="en-US" sz="1200" baseline="0" noProof="0" dirty="0" smtClean="0">
                <a:latin typeface="Helvetica" pitchFamily="34" charset="0"/>
              </a:rPr>
              <a:t>Complete Activity 16</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8533675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activities are associated with each of these steps?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124671610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activities are associated with each of these steps?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56070901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are</a:t>
            </a:r>
            <a:r>
              <a:rPr lang="en-US" sz="1200" baseline="0" dirty="0" smtClean="0">
                <a:latin typeface="Helvetica" pitchFamily="34" charset="0"/>
              </a:rPr>
              <a:t> considerations for each of these points?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257592562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are</a:t>
            </a:r>
            <a:r>
              <a:rPr lang="en-US" sz="1200" baseline="0" dirty="0" smtClean="0">
                <a:latin typeface="Helvetica" pitchFamily="34" charset="0"/>
              </a:rPr>
              <a:t> requirements are there?</a:t>
            </a:r>
          </a:p>
          <a:p>
            <a:pPr>
              <a:spcBef>
                <a:spcPts val="600"/>
              </a:spcBef>
              <a:spcAft>
                <a:spcPts val="1200"/>
              </a:spcAft>
              <a:buFont typeface="Arial" pitchFamily="34" charset="0"/>
              <a:buChar char="•"/>
            </a:pPr>
            <a:r>
              <a:rPr lang="en-US" sz="1200" baseline="0" noProof="0" dirty="0" smtClean="0">
                <a:latin typeface="Helvetica" pitchFamily="34" charset="0"/>
              </a:rPr>
              <a:t>Complete Activity 17</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276438880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are examples you can do for each</a:t>
            </a:r>
            <a:r>
              <a:rPr lang="en-US" sz="1200" baseline="0" dirty="0" smtClean="0">
                <a:latin typeface="Helvetica" pitchFamily="34" charset="0"/>
              </a:rPr>
              <a:t> of these points to help respect the community?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80379716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are examples you can do for each</a:t>
            </a:r>
            <a:r>
              <a:rPr lang="en-US" sz="1200" baseline="0" dirty="0" smtClean="0">
                <a:latin typeface="Helvetica" pitchFamily="34" charset="0"/>
              </a:rPr>
              <a:t> of these points to help respect the community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15061594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are examples you can do for each</a:t>
            </a:r>
            <a:r>
              <a:rPr lang="en-US" sz="1200" baseline="0" dirty="0" smtClean="0">
                <a:latin typeface="Helvetica" pitchFamily="34" charset="0"/>
              </a:rPr>
              <a:t> of these points to help respect the community?</a:t>
            </a:r>
          </a:p>
          <a:p>
            <a:pPr>
              <a:spcBef>
                <a:spcPts val="600"/>
              </a:spcBef>
              <a:spcAft>
                <a:spcPts val="1200"/>
              </a:spcAft>
              <a:buFont typeface="Arial" pitchFamily="34" charset="0"/>
              <a:buChar char="•"/>
            </a:pPr>
            <a:r>
              <a:rPr lang="en-US" sz="1200" baseline="0" noProof="0" dirty="0" smtClean="0">
                <a:latin typeface="Helvetica" pitchFamily="34" charset="0"/>
              </a:rPr>
              <a:t>Complete Activity 18</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38782182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are examples of safety</a:t>
            </a:r>
            <a:r>
              <a:rPr lang="en-US" sz="1200" baseline="0" dirty="0" smtClean="0">
                <a:latin typeface="Helvetica" pitchFamily="34" charset="0"/>
              </a:rPr>
              <a:t> requirements and considerations for each of these points?</a:t>
            </a:r>
          </a:p>
          <a:p>
            <a:pPr>
              <a:spcBef>
                <a:spcPts val="600"/>
              </a:spcBef>
              <a:spcAft>
                <a:spcPts val="1200"/>
              </a:spcAft>
              <a:buFont typeface="Arial" pitchFamily="34" charset="0"/>
              <a:buChar char="•"/>
            </a:pPr>
            <a:r>
              <a:rPr lang="en-US" sz="1200" baseline="0" noProof="0" dirty="0" smtClean="0">
                <a:latin typeface="Helvetica" pitchFamily="34" charset="0"/>
              </a:rPr>
              <a:t>Complete Activity 19</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24261762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information</a:t>
            </a:r>
            <a:r>
              <a:rPr lang="en-US" sz="1200" baseline="0" dirty="0" smtClean="0">
                <a:latin typeface="Helvetica" pitchFamily="34" charset="0"/>
              </a:rPr>
              <a:t> would need to be explained under each point?</a:t>
            </a:r>
          </a:p>
          <a:p>
            <a:pPr>
              <a:spcBef>
                <a:spcPts val="600"/>
              </a:spcBef>
              <a:spcAft>
                <a:spcPts val="1200"/>
              </a:spcAft>
              <a:buFont typeface="Arial" pitchFamily="34" charset="0"/>
              <a:buChar char="•"/>
            </a:pPr>
            <a:r>
              <a:rPr lang="en-US" sz="1200" baseline="0" noProof="0" dirty="0" smtClean="0">
                <a:latin typeface="Helvetica" pitchFamily="34" charset="0"/>
              </a:rPr>
              <a:t>What else would need to be explained or communicated with staff conducting tours or activities?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251823310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information</a:t>
            </a:r>
            <a:r>
              <a:rPr lang="en-US" sz="1200" baseline="0" dirty="0" smtClean="0">
                <a:latin typeface="Helvetica" pitchFamily="34" charset="0"/>
              </a:rPr>
              <a:t> would need to be explained under each point?</a:t>
            </a:r>
          </a:p>
          <a:p>
            <a:pPr>
              <a:spcBef>
                <a:spcPts val="600"/>
              </a:spcBef>
              <a:spcAft>
                <a:spcPts val="1200"/>
              </a:spcAft>
              <a:buFont typeface="Arial" pitchFamily="34" charset="0"/>
              <a:buChar char="•"/>
            </a:pPr>
            <a:r>
              <a:rPr lang="en-US" sz="1200" baseline="0" noProof="0" dirty="0" smtClean="0">
                <a:latin typeface="Helvetica" pitchFamily="34" charset="0"/>
              </a:rPr>
              <a:t>What else would need to be explained or communicated with customers at the start of a tour or activity?</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346604277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information</a:t>
            </a:r>
            <a:r>
              <a:rPr lang="en-US" sz="1200" baseline="0" dirty="0" smtClean="0">
                <a:latin typeface="Helvetica" pitchFamily="34" charset="0"/>
              </a:rPr>
              <a:t> would need to be explained under each point?</a:t>
            </a:r>
          </a:p>
          <a:p>
            <a:pPr>
              <a:spcBef>
                <a:spcPts val="600"/>
              </a:spcBef>
              <a:spcAft>
                <a:spcPts val="1200"/>
              </a:spcAft>
              <a:buFont typeface="Arial" pitchFamily="34" charset="0"/>
              <a:buChar char="•"/>
            </a:pPr>
            <a:r>
              <a:rPr lang="en-US" sz="1200" baseline="0" noProof="0" dirty="0" smtClean="0">
                <a:latin typeface="Helvetica" pitchFamily="34" charset="0"/>
              </a:rPr>
              <a:t>What else would need to be explained or communicated with customers at the start of a tour or activity?</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5004757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Discuss questions in the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34621210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Discuss questions in the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8909013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is the purpose and importance of these communication</a:t>
            </a:r>
            <a:r>
              <a:rPr lang="en-US" sz="1200" baseline="0" dirty="0" smtClean="0">
                <a:latin typeface="Helvetica" pitchFamily="34" charset="0"/>
              </a:rPr>
              <a:t> techniques?</a:t>
            </a:r>
          </a:p>
          <a:p>
            <a:pPr>
              <a:spcBef>
                <a:spcPts val="600"/>
              </a:spcBef>
              <a:spcAft>
                <a:spcPts val="1200"/>
              </a:spcAft>
              <a:buFont typeface="Arial" pitchFamily="34" charset="0"/>
              <a:buChar char="•"/>
            </a:pPr>
            <a:r>
              <a:rPr lang="en-US" sz="1200" baseline="0" noProof="0" dirty="0" smtClean="0">
                <a:latin typeface="Helvetica" pitchFamily="34" charset="0"/>
              </a:rPr>
              <a:t>What other communication tips would you use?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103218025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is the purpose and importance of these communication</a:t>
            </a:r>
            <a:r>
              <a:rPr lang="en-US" sz="1200" baseline="0" dirty="0" smtClean="0">
                <a:latin typeface="Helvetica" pitchFamily="34" charset="0"/>
              </a:rPr>
              <a:t> techniques?</a:t>
            </a:r>
          </a:p>
          <a:p>
            <a:pPr>
              <a:spcBef>
                <a:spcPts val="600"/>
              </a:spcBef>
              <a:spcAft>
                <a:spcPts val="1200"/>
              </a:spcAft>
              <a:buFont typeface="Arial" pitchFamily="34" charset="0"/>
              <a:buChar char="•"/>
            </a:pPr>
            <a:r>
              <a:rPr lang="en-US" sz="1200" baseline="0" noProof="0" dirty="0" smtClean="0">
                <a:latin typeface="Helvetica" pitchFamily="34" charset="0"/>
              </a:rPr>
              <a:t>What other communication tips would you use?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70914837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is the purpose and importance of these demonstrative points?</a:t>
            </a: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38107707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is the purpose and importance of these demonstrative points?</a:t>
            </a: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34834294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Discuss the questions in the slide</a:t>
            </a: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17910822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What is the difference?</a:t>
            </a:r>
          </a:p>
          <a:p>
            <a:pPr>
              <a:spcBef>
                <a:spcPts val="600"/>
              </a:spcBef>
              <a:spcAft>
                <a:spcPts val="1200"/>
              </a:spcAft>
              <a:buFont typeface="Arial" pitchFamily="34" charset="0"/>
              <a:buChar char="•"/>
            </a:pPr>
            <a:r>
              <a:rPr lang="en-US" sz="1200" baseline="0" dirty="0" smtClean="0">
                <a:latin typeface="Helvetica" pitchFamily="34" charset="0"/>
              </a:rPr>
              <a:t>When are each type of commentary best used?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80566342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Why are these points important?</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27689451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Why are these points important?</a:t>
            </a: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66032639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Demonstrate and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dirty="0" smtClean="0">
                <a:latin typeface="Helvetica" pitchFamily="34" charset="0"/>
              </a:rPr>
              <a:t>Trainer</a:t>
            </a:r>
            <a:r>
              <a:rPr lang="en-US" sz="1200" baseline="0" dirty="0" smtClean="0">
                <a:latin typeface="Helvetica" pitchFamily="34" charset="0"/>
              </a:rPr>
              <a:t> to show examples of these hard copy items</a:t>
            </a:r>
          </a:p>
          <a:p>
            <a:pPr>
              <a:spcBef>
                <a:spcPts val="600"/>
              </a:spcBef>
              <a:spcAft>
                <a:spcPts val="1200"/>
              </a:spcAft>
              <a:buFont typeface="Arial" pitchFamily="34" charset="0"/>
              <a:buChar char="•"/>
            </a:pPr>
            <a:r>
              <a:rPr lang="en-US" sz="1200" baseline="0" dirty="0" smtClean="0">
                <a:latin typeface="Helvetica" pitchFamily="34" charset="0"/>
              </a:rPr>
              <a:t>Explain when they best would be used.</a:t>
            </a:r>
            <a:endParaRPr lang="en-US" sz="1200" dirty="0" smtClean="0">
              <a:latin typeface="Helvetica" pitchFamily="34" charset="0"/>
            </a:endParaRPr>
          </a:p>
          <a:p>
            <a:pPr>
              <a:spcBef>
                <a:spcPts val="600"/>
              </a:spcBef>
              <a:spcAft>
                <a:spcPts val="1200"/>
              </a:spcAft>
              <a:buFont typeface="Arial" pitchFamily="34" charset="0"/>
              <a:buNone/>
            </a:pPr>
            <a:endParaRPr lang="en-US" sz="120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191308570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What are examples for each type of resource?</a:t>
            </a:r>
          </a:p>
          <a:p>
            <a:pPr>
              <a:spcBef>
                <a:spcPts val="600"/>
              </a:spcBef>
              <a:spcAft>
                <a:spcPts val="1200"/>
              </a:spcAft>
              <a:buFont typeface="Arial" pitchFamily="34" charset="0"/>
              <a:buChar char="•"/>
            </a:pPr>
            <a:r>
              <a:rPr lang="en-US" sz="1200" baseline="0" dirty="0" smtClean="0">
                <a:latin typeface="Helvetica" pitchFamily="34" charset="0"/>
              </a:rPr>
              <a:t>When would they best be used?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425685094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What are examples for each type of human resource?</a:t>
            </a:r>
          </a:p>
          <a:p>
            <a:pPr>
              <a:spcBef>
                <a:spcPts val="600"/>
              </a:spcBef>
              <a:spcAft>
                <a:spcPts val="1200"/>
              </a:spcAft>
              <a:buFont typeface="Arial" pitchFamily="34" charset="0"/>
              <a:buChar char="•"/>
            </a:pPr>
            <a:r>
              <a:rPr lang="en-US" sz="1200" baseline="0" dirty="0" smtClean="0">
                <a:latin typeface="Helvetica" pitchFamily="34" charset="0"/>
              </a:rPr>
              <a:t>When would they best be used?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346514808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What are examples for each type of resource?</a:t>
            </a:r>
          </a:p>
          <a:p>
            <a:pPr>
              <a:spcBef>
                <a:spcPts val="600"/>
              </a:spcBef>
              <a:spcAft>
                <a:spcPts val="1200"/>
              </a:spcAft>
              <a:buFont typeface="Arial" pitchFamily="34" charset="0"/>
              <a:buChar char="•"/>
            </a:pPr>
            <a:r>
              <a:rPr lang="en-US" sz="1200" baseline="0" dirty="0" smtClean="0">
                <a:latin typeface="Helvetica" pitchFamily="34" charset="0"/>
              </a:rPr>
              <a:t>When would they best be used?</a:t>
            </a:r>
          </a:p>
          <a:p>
            <a:pPr>
              <a:spcBef>
                <a:spcPts val="600"/>
              </a:spcBef>
              <a:spcAft>
                <a:spcPts val="1200"/>
              </a:spcAft>
              <a:buFont typeface="Arial" pitchFamily="34" charset="0"/>
              <a:buChar char="•"/>
            </a:pPr>
            <a:r>
              <a:rPr lang="en-US" sz="1200" baseline="0" dirty="0" smtClean="0">
                <a:latin typeface="Helvetica" pitchFamily="34" charset="0"/>
              </a:rPr>
              <a:t>Complete Activity 20</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175865146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Discuss questions in the slide</a:t>
            </a:r>
          </a:p>
          <a:p>
            <a:pPr>
              <a:spcBef>
                <a:spcPts val="600"/>
              </a:spcBef>
              <a:spcAft>
                <a:spcPts val="1200"/>
              </a:spcAft>
              <a:buFont typeface="Arial" pitchFamily="34" charset="0"/>
              <a:buChar char="•"/>
            </a:pPr>
            <a:r>
              <a:rPr lang="en-US" sz="1200" baseline="0" dirty="0" smtClean="0">
                <a:latin typeface="Helvetica" pitchFamily="34" charset="0"/>
              </a:rPr>
              <a:t>Complete Activity 21</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56176287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Discuss questions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139890843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Why is this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29362219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Identify types of </a:t>
            </a:r>
            <a:r>
              <a:rPr lang="en-US" sz="1200" dirty="0" smtClean="0">
                <a:latin typeface="Helvetica" pitchFamily="34" charset="0"/>
              </a:rPr>
              <a:t>performance criteria as asked</a:t>
            </a:r>
            <a:r>
              <a:rPr lang="en-US" sz="1200" baseline="0" dirty="0" smtClean="0">
                <a:latin typeface="Helvetica" pitchFamily="34" charset="0"/>
              </a:rPr>
              <a:t> in the slide.</a:t>
            </a:r>
          </a:p>
          <a:p>
            <a:pPr>
              <a:spcBef>
                <a:spcPts val="600"/>
              </a:spcBef>
              <a:spcAft>
                <a:spcPts val="1200"/>
              </a:spcAft>
              <a:buFont typeface="Arial" pitchFamily="34" charset="0"/>
              <a:buChar char="•"/>
            </a:pPr>
            <a:r>
              <a:rPr lang="en-US" sz="1200" baseline="0" dirty="0" smtClean="0">
                <a:latin typeface="Helvetica" pitchFamily="34" charset="0"/>
              </a:rPr>
              <a:t>Complete Activity 22</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38971242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What is the purpose of each of these activities?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36296867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What is the purpose of each of these activities?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392374125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Identify types of </a:t>
            </a:r>
            <a:r>
              <a:rPr lang="en-US" sz="1200" dirty="0" smtClean="0">
                <a:latin typeface="Helvetica" pitchFamily="34" charset="0"/>
              </a:rPr>
              <a:t>performance criteria as asked</a:t>
            </a:r>
            <a:r>
              <a:rPr lang="en-US" sz="1200" baseline="0" dirty="0" smtClean="0">
                <a:latin typeface="Helvetica" pitchFamily="34" charset="0"/>
              </a:rPr>
              <a:t>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78356443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noProof="0" dirty="0" smtClean="0"/>
          </a:p>
          <a:p>
            <a:pPr>
              <a:buFont typeface="Arial" pitchFamily="34" charset="0"/>
              <a:buChar char="•"/>
            </a:pPr>
            <a:r>
              <a:rPr lang="en-AU" noProof="0" dirty="0" smtClean="0"/>
              <a:t>Who</a:t>
            </a:r>
            <a:r>
              <a:rPr lang="en-AU" baseline="0" noProof="0" dirty="0" smtClean="0"/>
              <a:t> attends a de-brief?</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198682865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1" noProof="0" dirty="0" smtClean="0"/>
              <a:t>Classroom Activity – Handout</a:t>
            </a:r>
          </a:p>
          <a:p>
            <a:pPr>
              <a:buFont typeface="Arial" pitchFamily="34" charset="0"/>
              <a:buNone/>
            </a:pPr>
            <a:endParaRPr lang="en-AU" b="1" noProof="0" dirty="0" smtClean="0"/>
          </a:p>
          <a:p>
            <a:pPr>
              <a:buFont typeface="Arial" pitchFamily="34" charset="0"/>
              <a:buNone/>
            </a:pPr>
            <a:r>
              <a:rPr lang="en-AU" b="0" noProof="0" dirty="0" smtClean="0"/>
              <a:t>Trainer distributes and discusses sample staff feedback forms/reports.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86184401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1" noProof="0" dirty="0" smtClean="0"/>
              <a:t>Classroom Activity – Guest Speakers</a:t>
            </a:r>
          </a:p>
          <a:p>
            <a:pPr>
              <a:buFont typeface="Arial" pitchFamily="34" charset="0"/>
              <a:buNone/>
            </a:pPr>
            <a:endParaRPr lang="en-AU" b="1" noProof="0" dirty="0" smtClean="0"/>
          </a:p>
          <a:p>
            <a:pPr>
              <a:buFont typeface="Arial" pitchFamily="34" charset="0"/>
              <a:buNone/>
            </a:pPr>
            <a:r>
              <a:rPr lang="en-AU" b="0" noProof="0" dirty="0" smtClean="0"/>
              <a:t>Trainer arranges for a range of colleagues</a:t>
            </a:r>
            <a:r>
              <a:rPr lang="en-AU" b="0" baseline="0" noProof="0" dirty="0" smtClean="0"/>
              <a:t> identified on slide to attend and:</a:t>
            </a:r>
          </a:p>
          <a:p>
            <a:pPr>
              <a:buFont typeface="Arial" pitchFamily="34" charset="0"/>
              <a:buChar char="•"/>
            </a:pPr>
            <a:r>
              <a:rPr lang="en-AU" b="0" noProof="0" dirty="0" smtClean="0"/>
              <a:t>Discuss importance of de-briefings</a:t>
            </a:r>
          </a:p>
          <a:p>
            <a:pPr>
              <a:buFont typeface="Arial" pitchFamily="34" charset="0"/>
              <a:buChar char="•"/>
            </a:pPr>
            <a:r>
              <a:rPr lang="en-AU" b="0" noProof="0" dirty="0" smtClean="0"/>
              <a:t>Explain their roles in de-briefings</a:t>
            </a:r>
          </a:p>
          <a:p>
            <a:pPr>
              <a:buFont typeface="Arial" pitchFamily="34" charset="0"/>
              <a:buChar char="•"/>
            </a:pPr>
            <a:r>
              <a:rPr lang="en-AU" b="0" noProof="0" dirty="0" smtClean="0"/>
              <a:t>Identify examples of issues which are raised and resolved</a:t>
            </a:r>
          </a:p>
          <a:p>
            <a:pPr>
              <a:buFont typeface="Arial" pitchFamily="34" charset="0"/>
              <a:buChar char="•"/>
            </a:pPr>
            <a:r>
              <a:rPr lang="en-AU" b="0" noProof="0" dirty="0" smtClean="0"/>
              <a:t>Describes when, where and how they take place.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15663400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noProof="0" dirty="0" smtClean="0"/>
          </a:p>
          <a:p>
            <a:pPr>
              <a:buFont typeface="Arial" pitchFamily="34" charset="0"/>
              <a:buChar char="•"/>
            </a:pPr>
            <a:r>
              <a:rPr lang="en-AU" noProof="0" dirty="0" smtClean="0"/>
              <a:t>Discuss the importance of these activities</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48612244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noProof="0" dirty="0" smtClean="0"/>
          </a:p>
          <a:p>
            <a:pPr>
              <a:buFont typeface="Arial" pitchFamily="34" charset="0"/>
              <a:buChar char="•"/>
            </a:pPr>
            <a:r>
              <a:rPr lang="en-AU" noProof="0" dirty="0" smtClean="0"/>
              <a:t>How else can you get customer feedback?</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413115015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Discuss the questions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356453287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Provide examples of where these revisions have been implemented.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247302906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Provide examples of where these revisions have been implemented.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4467794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Provide examples of where these revisions have been implemented.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190866125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68818880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What other considerations would you have?</a:t>
            </a:r>
          </a:p>
          <a:p>
            <a:pPr>
              <a:spcBef>
                <a:spcPts val="600"/>
              </a:spcBef>
              <a:spcAft>
                <a:spcPts val="1200"/>
              </a:spcAft>
              <a:buFont typeface="Arial" pitchFamily="34" charset="0"/>
              <a:buChar char="•"/>
            </a:pPr>
            <a:r>
              <a:rPr lang="en-US" sz="1200" baseline="0" dirty="0" smtClean="0">
                <a:latin typeface="Helvetica" pitchFamily="34" charset="0"/>
              </a:rPr>
              <a:t>How do you address these considerations?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52592282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When would you use these promotional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162312852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When would you use these promotional activities?</a:t>
            </a:r>
          </a:p>
          <a:p>
            <a:pPr>
              <a:spcBef>
                <a:spcPts val="600"/>
              </a:spcBef>
              <a:spcAft>
                <a:spcPts val="1200"/>
              </a:spcAft>
              <a:buFont typeface="Arial" pitchFamily="34" charset="0"/>
              <a:buChar char="•"/>
            </a:pPr>
            <a:r>
              <a:rPr lang="en-US" sz="1200" baseline="0" dirty="0" smtClean="0">
                <a:latin typeface="Helvetica" pitchFamily="34" charset="0"/>
              </a:rPr>
              <a:t>Complete Activity 23</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126226589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Why is it important to update your industry knowledge?</a:t>
            </a:r>
          </a:p>
          <a:p>
            <a:pPr>
              <a:buFont typeface="Arial" pitchFamily="34" charset="0"/>
              <a:buChar char="•"/>
            </a:pPr>
            <a:r>
              <a:rPr lang="en-AU" sz="1200" kern="1200" baseline="0" dirty="0" smtClean="0">
                <a:solidFill>
                  <a:schemeClr val="tx1"/>
                </a:solidFill>
                <a:latin typeface="+mn-lt"/>
                <a:ea typeface="+mn-ea"/>
                <a:cs typeface="+mn-cs"/>
              </a:rPr>
              <a:t>How can you do it?</a:t>
            </a:r>
          </a:p>
          <a:p>
            <a:pPr>
              <a:buFont typeface="Arial" pitchFamily="34" charset="0"/>
              <a:buChar char="•"/>
            </a:pPr>
            <a:r>
              <a:rPr lang="en-AU" sz="1200" kern="1200" baseline="0" dirty="0" smtClean="0">
                <a:solidFill>
                  <a:schemeClr val="tx1"/>
                </a:solidFill>
                <a:latin typeface="+mn-lt"/>
                <a:ea typeface="+mn-ea"/>
                <a:cs typeface="+mn-cs"/>
              </a:rPr>
              <a:t>Who can you share this information with?</a:t>
            </a:r>
          </a:p>
          <a:p>
            <a:pPr>
              <a:buFont typeface="Arial" pitchFamily="34" charset="0"/>
              <a:buChar char="•"/>
            </a:pPr>
            <a:r>
              <a:rPr lang="en-AU" sz="1200" kern="1200" baseline="0" dirty="0" smtClean="0">
                <a:solidFill>
                  <a:schemeClr val="tx1"/>
                </a:solidFill>
                <a:latin typeface="+mn-lt"/>
                <a:ea typeface="+mn-ea"/>
                <a:cs typeface="+mn-cs"/>
              </a:rPr>
              <a:t>How can information be shared?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6449575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36997946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Discuss the importance of updating industry information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61978529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How can you monitor these areas?</a:t>
            </a:r>
          </a:p>
          <a:p>
            <a:pPr>
              <a:spcBef>
                <a:spcPts val="600"/>
              </a:spcBef>
              <a:spcAft>
                <a:spcPts val="1200"/>
              </a:spcAft>
              <a:buFont typeface="Arial" pitchFamily="34" charset="0"/>
              <a:buChar char="•"/>
            </a:pPr>
            <a:r>
              <a:rPr lang="en-US" sz="1200" baseline="0" dirty="0" smtClean="0">
                <a:latin typeface="Helvetica" pitchFamily="34" charset="0"/>
              </a:rPr>
              <a:t>What information would you like to know?</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45598380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How can you monitor these areas?</a:t>
            </a:r>
          </a:p>
          <a:p>
            <a:pPr>
              <a:spcBef>
                <a:spcPts val="600"/>
              </a:spcBef>
              <a:spcAft>
                <a:spcPts val="1200"/>
              </a:spcAft>
              <a:buFont typeface="Arial" pitchFamily="34" charset="0"/>
              <a:buChar char="•"/>
            </a:pPr>
            <a:r>
              <a:rPr lang="en-US" sz="1200" baseline="0" dirty="0" smtClean="0">
                <a:latin typeface="Helvetica" pitchFamily="34" charset="0"/>
              </a:rPr>
              <a:t>What information would you like to know?</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99374415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How can you monitor these concerns?</a:t>
            </a:r>
          </a:p>
          <a:p>
            <a:pPr>
              <a:spcBef>
                <a:spcPts val="600"/>
              </a:spcBef>
              <a:spcAft>
                <a:spcPts val="1200"/>
              </a:spcAft>
              <a:buFont typeface="Arial" pitchFamily="34" charset="0"/>
              <a:buChar char="•"/>
            </a:pPr>
            <a:r>
              <a:rPr lang="en-US" sz="1200" baseline="0" dirty="0" smtClean="0">
                <a:latin typeface="Helvetica" pitchFamily="34" charset="0"/>
              </a:rPr>
              <a:t>What impacts or influences these issues for concern?</a:t>
            </a:r>
          </a:p>
          <a:p>
            <a:pPr>
              <a:spcBef>
                <a:spcPts val="600"/>
              </a:spcBef>
              <a:spcAft>
                <a:spcPts val="1200"/>
              </a:spcAft>
              <a:buFont typeface="Arial" pitchFamily="34" charset="0"/>
              <a:buChar char="•"/>
            </a:pPr>
            <a:r>
              <a:rPr lang="en-US" sz="1200" baseline="0" dirty="0" smtClean="0">
                <a:latin typeface="Helvetica" pitchFamily="34" charset="0"/>
              </a:rPr>
              <a:t>What information would you like to know?</a:t>
            </a:r>
          </a:p>
          <a:p>
            <a:pPr>
              <a:spcBef>
                <a:spcPts val="600"/>
              </a:spcBef>
              <a:spcAft>
                <a:spcPts val="1200"/>
              </a:spcAft>
              <a:buFont typeface="Arial" pitchFamily="34" charset="0"/>
              <a:buChar char="•"/>
            </a:pPr>
            <a:r>
              <a:rPr lang="en-US" sz="1200" baseline="0" dirty="0" smtClean="0">
                <a:latin typeface="Helvetica" pitchFamily="34" charset="0"/>
              </a:rPr>
              <a:t>Complete Activity 24</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77603413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What are the benefits of using each of these methods?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131720201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baseline="0" dirty="0" smtClean="0">
                <a:latin typeface="Helvetica" pitchFamily="34" charset="0"/>
              </a:rPr>
              <a:t>What are the benefits of establishing </a:t>
            </a:r>
            <a:r>
              <a:rPr lang="en-US" sz="1200" b="0" dirty="0" smtClean="0"/>
              <a:t>industry networks?</a:t>
            </a:r>
          </a:p>
          <a:p>
            <a:pPr>
              <a:spcBef>
                <a:spcPts val="600"/>
              </a:spcBef>
              <a:spcAft>
                <a:spcPts val="1200"/>
              </a:spcAft>
              <a:buFont typeface="Arial" pitchFamily="34" charset="0"/>
              <a:buChar char="•"/>
            </a:pPr>
            <a:r>
              <a:rPr lang="en-US" sz="1200" b="0" baseline="0" dirty="0" smtClean="0">
                <a:latin typeface="Helvetica" pitchFamily="34" charset="0"/>
              </a:rPr>
              <a:t>What organisations would you like to invite to a network?</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385946615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&amp; 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baseline="0" dirty="0" smtClean="0">
                <a:latin typeface="Helvetica" pitchFamily="34" charset="0"/>
              </a:rPr>
              <a:t>What are examples of organisations that provide these information services for the eco-tourism industry?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12725155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Activity</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0" baseline="0" dirty="0" smtClean="0">
                <a:latin typeface="Helvetica" pitchFamily="34" charset="0"/>
              </a:rPr>
              <a:t>Complete Activity 26</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36115495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Discuss the questions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2970870794"/>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What other methods can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189648038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baseline="0" dirty="0" smtClean="0">
                <a:latin typeface="Helvetica" pitchFamily="34" charset="0"/>
              </a:rPr>
              <a:t>Provide examples of how information can be </a:t>
            </a:r>
            <a:r>
              <a:rPr lang="en-US" sz="1200" b="0" dirty="0" smtClean="0">
                <a:latin typeface="Helvetica" pitchFamily="34" charset="0"/>
              </a:rPr>
              <a:t>incorporated into everyday practice</a:t>
            </a:r>
          </a:p>
          <a:p>
            <a:pPr>
              <a:spcBef>
                <a:spcPts val="600"/>
              </a:spcBef>
              <a:spcAft>
                <a:spcPts val="1200"/>
              </a:spcAft>
              <a:buFont typeface="Arial" pitchFamily="34" charset="0"/>
              <a:buChar char="•"/>
            </a:pPr>
            <a:endParaRPr lang="en-US" sz="1200" baseline="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120519700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b="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Discuss the question in the slide</a:t>
            </a:r>
          </a:p>
          <a:p>
            <a:pPr>
              <a:spcBef>
                <a:spcPts val="600"/>
              </a:spcBef>
              <a:spcAft>
                <a:spcPts val="1200"/>
              </a:spcAft>
              <a:buFont typeface="Arial" pitchFamily="34" charset="0"/>
              <a:buChar char="•"/>
            </a:pPr>
            <a:endParaRPr lang="en-US" sz="1200" baseline="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374360356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a:t>
            </a:r>
            <a:endParaRPr lang="en-US" sz="1200" b="1" dirty="0" smtClean="0"/>
          </a:p>
          <a:p>
            <a:endParaRPr lang="en-AU" sz="1200" b="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Identify types of people under each category</a:t>
            </a:r>
          </a:p>
          <a:p>
            <a:pPr>
              <a:spcBef>
                <a:spcPts val="600"/>
              </a:spcBef>
              <a:spcAft>
                <a:spcPts val="1200"/>
              </a:spcAft>
              <a:buFont typeface="Arial" pitchFamily="34" charset="0"/>
              <a:buChar char="•"/>
            </a:pPr>
            <a:endParaRPr lang="en-US" sz="1200" baseline="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235066364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US" sz="1200" b="1" kern="1200" baseline="0" dirty="0" smtClean="0">
                <a:solidFill>
                  <a:schemeClr val="tx1"/>
                </a:solidFill>
                <a:latin typeface="+mn-lt"/>
                <a:ea typeface="+mn-ea"/>
                <a:cs typeface="+mn-cs"/>
              </a:rPr>
              <a:t>Discuss &amp; Activity</a:t>
            </a:r>
            <a:endParaRPr lang="en-US" sz="1200" b="1" dirty="0" smtClean="0"/>
          </a:p>
          <a:p>
            <a:endParaRPr lang="en-AU" sz="1200" b="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US" sz="1200" baseline="0" dirty="0" smtClean="0">
                <a:latin typeface="Helvetica" pitchFamily="34" charset="0"/>
              </a:rPr>
              <a:t>Identify types of communication under each category</a:t>
            </a:r>
          </a:p>
          <a:p>
            <a:pPr>
              <a:spcBef>
                <a:spcPts val="600"/>
              </a:spcBef>
              <a:spcAft>
                <a:spcPts val="1200"/>
              </a:spcAft>
              <a:buFont typeface="Arial" pitchFamily="34" charset="0"/>
              <a:buChar char="•"/>
            </a:pPr>
            <a:r>
              <a:rPr lang="en-US" sz="1200" baseline="0" dirty="0" smtClean="0">
                <a:latin typeface="Helvetica" pitchFamily="34" charset="0"/>
              </a:rPr>
              <a:t>Complete Activity 27</a:t>
            </a:r>
          </a:p>
          <a:p>
            <a:pPr>
              <a:spcBef>
                <a:spcPts val="600"/>
              </a:spcBef>
              <a:spcAft>
                <a:spcPts val="1200"/>
              </a:spcAft>
              <a:buFont typeface="Arial" pitchFamily="34" charset="0"/>
              <a:buChar char="•"/>
            </a:pPr>
            <a:endParaRPr lang="en-US" sz="1200" baseline="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374009874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a:t>
            </a:r>
            <a:r>
              <a:rPr lang="en-AU" sz="1200" kern="1200" baseline="0" dirty="0" smtClean="0">
                <a:solidFill>
                  <a:schemeClr val="tx1"/>
                </a:solidFill>
                <a:ea typeface="+mn-ea"/>
                <a:cs typeface="+mn-cs"/>
              </a:rPr>
              <a:t> is the conclusion of the subject.</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Thank the audience and deliver assessments as required.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2878393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7/19/2016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7/19/2016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7/19/2016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7/19/2016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7/19/2016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2232" y="404664"/>
            <a:ext cx="7920208" cy="1800200"/>
          </a:xfrm>
        </p:spPr>
        <p:txBody>
          <a:bodyPr>
            <a:normAutofit fontScale="90000"/>
          </a:bodyPr>
          <a:lstStyle/>
          <a:p>
            <a:r>
              <a:rPr lang="en-AU" sz="4000" dirty="0">
                <a:ln w="5000" cmpd="sng">
                  <a:noFill/>
                  <a:prstDash val="solid"/>
                </a:ln>
                <a:solidFill>
                  <a:srgbClr val="FF6600"/>
                </a:solidFill>
                <a:latin typeface="Helvetica" pitchFamily="34" charset="0"/>
              </a:rPr>
              <a:t>DEVELOP INTERPRETIVE CONTENT FOR ECO-TOURISM ACTIVITIES</a:t>
            </a:r>
          </a:p>
        </p:txBody>
      </p:sp>
      <p:sp>
        <p:nvSpPr>
          <p:cNvPr id="3" name="Subtitle 2"/>
          <p:cNvSpPr>
            <a:spLocks noGrp="1"/>
          </p:cNvSpPr>
          <p:nvPr>
            <p:ph type="subTitle" idx="1"/>
          </p:nvPr>
        </p:nvSpPr>
        <p:spPr>
          <a:xfrm>
            <a:off x="5868144" y="2563194"/>
            <a:ext cx="2541268" cy="289742"/>
          </a:xfrm>
        </p:spPr>
        <p:txBody>
          <a:bodyPr>
            <a:normAutofit lnSpcReduction="10000"/>
          </a:bodyPr>
          <a:lstStyle/>
          <a:p>
            <a:r>
              <a:rPr lang="en-AU" b="1" dirty="0">
                <a:latin typeface="Helvetica" pitchFamily="34" charset="0"/>
              </a:rPr>
              <a:t>D2.TTO.CL4.07</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733490" y="2173858"/>
            <a:ext cx="5566702" cy="4207470"/>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229200"/>
          </a:xfrm>
        </p:spPr>
        <p:txBody>
          <a:bodyPr>
            <a:normAutofit/>
          </a:bodyPr>
          <a:lstStyle/>
          <a:p>
            <a:pPr marL="0" indent="0">
              <a:spcBef>
                <a:spcPts val="600"/>
              </a:spcBef>
              <a:spcAft>
                <a:spcPts val="1200"/>
              </a:spcAft>
              <a:buNone/>
            </a:pPr>
            <a:r>
              <a:rPr lang="en-AU" sz="2200" dirty="0" smtClean="0">
                <a:latin typeface="Helvetica" pitchFamily="34" charset="0"/>
              </a:rPr>
              <a:t>This unit comprises three elements:</a:t>
            </a:r>
          </a:p>
          <a:p>
            <a:pPr>
              <a:spcBef>
                <a:spcPts val="600"/>
              </a:spcBef>
              <a:spcAft>
                <a:spcPts val="1200"/>
              </a:spcAft>
            </a:pPr>
            <a:r>
              <a:rPr lang="en-AU" sz="2200" dirty="0" smtClean="0">
                <a:latin typeface="Helvetica" pitchFamily="34" charset="0"/>
              </a:rPr>
              <a:t>Research information</a:t>
            </a:r>
          </a:p>
          <a:p>
            <a:pPr>
              <a:spcBef>
                <a:spcPts val="600"/>
              </a:spcBef>
              <a:spcAft>
                <a:spcPts val="1200"/>
              </a:spcAft>
            </a:pPr>
            <a:r>
              <a:rPr lang="en-US" sz="2200" dirty="0">
                <a:latin typeface="Helvetica" pitchFamily="34" charset="0"/>
              </a:rPr>
              <a:t>Prepare an eco-tourism </a:t>
            </a:r>
            <a:r>
              <a:rPr lang="en-US" sz="2200" dirty="0" smtClean="0">
                <a:latin typeface="Helvetica" pitchFamily="34" charset="0"/>
              </a:rPr>
              <a:t>activity</a:t>
            </a:r>
          </a:p>
          <a:p>
            <a:pPr>
              <a:spcBef>
                <a:spcPts val="600"/>
              </a:spcBef>
              <a:spcAft>
                <a:spcPts val="1200"/>
              </a:spcAft>
            </a:pPr>
            <a:r>
              <a:rPr lang="en-AU" sz="2200" dirty="0">
                <a:latin typeface="Helvetica" pitchFamily="34" charset="0"/>
              </a:rPr>
              <a:t>Update knowledge and ecotourism activities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A18 shutterstock_181389116.jpg"/>
          <p:cNvPicPr/>
          <p:nvPr/>
        </p:nvPicPr>
        <p:blipFill>
          <a:blip r:embed="rId3" cstate="print"/>
          <a:stretch>
            <a:fillRect/>
          </a:stretch>
        </p:blipFill>
        <p:spPr>
          <a:xfrm>
            <a:off x="7055419" y="3601757"/>
            <a:ext cx="1368152" cy="1863080"/>
          </a:xfrm>
          <a:prstGeom prst="rect">
            <a:avLst/>
          </a:prstGeom>
        </p:spPr>
      </p:pic>
    </p:spTree>
    <p:extLst>
      <p:ext uri="{BB962C8B-B14F-4D97-AF65-F5344CB8AC3E}">
        <p14:creationId xmlns:p14="http://schemas.microsoft.com/office/powerpoint/2010/main" val="22585976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309939"/>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104238854.jpg"/>
          <p:cNvPicPr>
            <a:picLocks noChangeAspect="1"/>
          </p:cNvPicPr>
          <p:nvPr/>
        </p:nvPicPr>
        <p:blipFill>
          <a:blip r:embed="rId3" cstate="print"/>
          <a:stretch>
            <a:fillRect/>
          </a:stretch>
        </p:blipFill>
        <p:spPr>
          <a:xfrm>
            <a:off x="6444208" y="4077072"/>
            <a:ext cx="1952628" cy="1302403"/>
          </a:xfrm>
          <a:prstGeom prst="rect">
            <a:avLst/>
          </a:prstGeom>
        </p:spPr>
      </p:pic>
    </p:spTree>
    <p:extLst>
      <p:ext uri="{BB962C8B-B14F-4D97-AF65-F5344CB8AC3E}">
        <p14:creationId xmlns:p14="http://schemas.microsoft.com/office/powerpoint/2010/main" val="8371161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608" y="1196752"/>
            <a:ext cx="7344816" cy="5040560"/>
          </a:xfrm>
        </p:spPr>
        <p:txBody>
          <a:bodyPr>
            <a:normAutofit/>
          </a:bodyPr>
          <a:lstStyle/>
          <a:p>
            <a:pPr marL="0">
              <a:buNone/>
            </a:pPr>
            <a:r>
              <a:rPr lang="en-AU" sz="4000" b="1" dirty="0" smtClean="0">
                <a:solidFill>
                  <a:srgbClr val="FF6600"/>
                </a:solidFill>
                <a:latin typeface="Helvetica" pitchFamily="34" charset="0"/>
              </a:rPr>
              <a:t>Element 1:</a:t>
            </a:r>
          </a:p>
          <a:p>
            <a:pPr marL="0">
              <a:buNone/>
            </a:pPr>
            <a:r>
              <a:rPr lang="en-AU" sz="4000" b="1" i="1" dirty="0">
                <a:solidFill>
                  <a:srgbClr val="FF6600"/>
                </a:solidFill>
                <a:latin typeface="Helvetica" pitchFamily="34" charset="0"/>
              </a:rPr>
              <a:t>Research information</a:t>
            </a:r>
            <a:endParaRPr lang="en-US" sz="4000" b="1" i="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sp>
        <p:nvSpPr>
          <p:cNvPr id="6" name="Oval 5"/>
          <p:cNvSpPr/>
          <p:nvPr/>
        </p:nvSpPr>
        <p:spPr>
          <a:xfrm>
            <a:off x="1907704" y="2852936"/>
            <a:ext cx="3776738" cy="2799068"/>
          </a:xfrm>
          <a:prstGeom prst="ellipse">
            <a:avLst/>
          </a:prstGeom>
          <a:blipFill>
            <a:blip r:embed="rId3">
              <a:extLst>
                <a:ext uri="{28A0092B-C50C-407E-A947-70E740481C1C}">
                  <a14:useLocalDpi xmlns:a14="http://schemas.microsoft.com/office/drawing/2010/main" val="0"/>
                </a:ext>
              </a:extLst>
            </a:blip>
            <a:srcRect/>
            <a:stretch>
              <a:fillRect l="-5000" r="-5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Research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Describe </a:t>
            </a:r>
            <a:r>
              <a:rPr lang="en-AU" sz="2200" dirty="0">
                <a:latin typeface="Helvetica" pitchFamily="34" charset="0"/>
              </a:rPr>
              <a:t>the interpretive approach to guiding and </a:t>
            </a:r>
            <a:r>
              <a:rPr lang="en-AU" sz="2200" dirty="0" smtClean="0">
                <a:latin typeface="Helvetica" pitchFamily="34" charset="0"/>
              </a:rPr>
              <a:t>activities</a:t>
            </a:r>
            <a:endParaRPr lang="en-AU" sz="2200" dirty="0">
              <a:latin typeface="Helvetica" pitchFamily="34" charset="0"/>
            </a:endParaRPr>
          </a:p>
          <a:p>
            <a:pPr>
              <a:spcBef>
                <a:spcPts val="600"/>
              </a:spcBef>
              <a:spcAft>
                <a:spcPts val="1200"/>
              </a:spcAft>
            </a:pPr>
            <a:r>
              <a:rPr lang="en-AU" sz="2200" dirty="0" smtClean="0">
                <a:latin typeface="Helvetica" pitchFamily="34" charset="0"/>
              </a:rPr>
              <a:t>Identify </a:t>
            </a:r>
            <a:r>
              <a:rPr lang="en-AU" sz="2200" dirty="0">
                <a:latin typeface="Helvetica" pitchFamily="34" charset="0"/>
              </a:rPr>
              <a:t>sources of information for eco-tourism knowledge</a:t>
            </a:r>
          </a:p>
          <a:p>
            <a:pPr>
              <a:spcBef>
                <a:spcPts val="600"/>
              </a:spcBef>
              <a:spcAft>
                <a:spcPts val="1200"/>
              </a:spcAft>
            </a:pPr>
            <a:r>
              <a:rPr lang="en-AU" sz="2200" dirty="0" smtClean="0">
                <a:latin typeface="Helvetica" pitchFamily="34" charset="0"/>
              </a:rPr>
              <a:t>Determine </a:t>
            </a:r>
            <a:r>
              <a:rPr lang="en-AU" sz="2200" dirty="0">
                <a:latin typeface="Helvetica" pitchFamily="34" charset="0"/>
              </a:rPr>
              <a:t>customer interests and potential themes for possible interpretive activities</a:t>
            </a:r>
          </a:p>
          <a:p>
            <a:pPr>
              <a:spcBef>
                <a:spcPts val="600"/>
              </a:spcBef>
              <a:spcAft>
                <a:spcPts val="1200"/>
              </a:spcAft>
            </a:pPr>
            <a:r>
              <a:rPr lang="en-AU" sz="2200" dirty="0" smtClean="0">
                <a:latin typeface="Helvetica" pitchFamily="34" charset="0"/>
              </a:rPr>
              <a:t>Use </a:t>
            </a:r>
            <a:r>
              <a:rPr lang="en-AU" sz="2200" dirty="0">
                <a:latin typeface="Helvetica" pitchFamily="34" charset="0"/>
              </a:rPr>
              <a:t>research techniques to obtain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information</a:t>
            </a:r>
            <a:endParaRPr lang="en-AU" sz="2200" dirty="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W607_shutterstock_169040459.jpg"/>
          <p:cNvPicPr>
            <a:picLocks noChangeAspect="1"/>
          </p:cNvPicPr>
          <p:nvPr/>
        </p:nvPicPr>
        <p:blipFill>
          <a:blip r:embed="rId3" cstate="print"/>
          <a:stretch>
            <a:fillRect/>
          </a:stretch>
        </p:blipFill>
        <p:spPr>
          <a:xfrm>
            <a:off x="6426598" y="4149079"/>
            <a:ext cx="2016224" cy="1344149"/>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Research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Classify </a:t>
            </a:r>
            <a:r>
              <a:rPr lang="en-AU" sz="2200" dirty="0">
                <a:latin typeface="Helvetica" pitchFamily="34" charset="0"/>
              </a:rPr>
              <a:t>and store information</a:t>
            </a:r>
          </a:p>
          <a:p>
            <a:pPr>
              <a:spcBef>
                <a:spcPts val="600"/>
              </a:spcBef>
              <a:spcAft>
                <a:spcPts val="1200"/>
              </a:spcAft>
            </a:pPr>
            <a:r>
              <a:rPr lang="en-AU" sz="2200" dirty="0" smtClean="0">
                <a:latin typeface="Helvetica" pitchFamily="34" charset="0"/>
              </a:rPr>
              <a:t>Verify </a:t>
            </a:r>
            <a:r>
              <a:rPr lang="en-AU" sz="2200" dirty="0">
                <a:latin typeface="Helvetica" pitchFamily="34" charset="0"/>
              </a:rPr>
              <a:t>information that has been gathered</a:t>
            </a:r>
          </a:p>
          <a:p>
            <a:pPr>
              <a:spcBef>
                <a:spcPts val="600"/>
              </a:spcBef>
              <a:spcAft>
                <a:spcPts val="1200"/>
              </a:spcAft>
            </a:pPr>
            <a:r>
              <a:rPr lang="en-AU" sz="2200" dirty="0" smtClean="0">
                <a:latin typeface="Helvetica" pitchFamily="34" charset="0"/>
              </a:rPr>
              <a:t>Learn </a:t>
            </a:r>
            <a:r>
              <a:rPr lang="en-AU" sz="2200" dirty="0">
                <a:latin typeface="Helvetica" pitchFamily="34" charset="0"/>
              </a:rPr>
              <a:t>the required information to support identified eco-tourism concepts, themes and focal points</a:t>
            </a: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10.jpg"/>
          <p:cNvPicPr>
            <a:picLocks noChangeAspect="1"/>
          </p:cNvPicPr>
          <p:nvPr/>
        </p:nvPicPr>
        <p:blipFill>
          <a:blip r:embed="rId3" cstate="print"/>
          <a:stretch>
            <a:fillRect/>
          </a:stretch>
        </p:blipFill>
        <p:spPr>
          <a:xfrm>
            <a:off x="6084168" y="4077072"/>
            <a:ext cx="2390866" cy="1595632"/>
          </a:xfrm>
          <a:prstGeom prst="rect">
            <a:avLst/>
          </a:prstGeom>
        </p:spPr>
      </p:pic>
    </p:spTree>
    <p:extLst>
      <p:ext uri="{BB962C8B-B14F-4D97-AF65-F5344CB8AC3E}">
        <p14:creationId xmlns:p14="http://schemas.microsoft.com/office/powerpoint/2010/main" val="41971943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Interpretive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Importance of interpretive guiding</a:t>
            </a:r>
          </a:p>
          <a:p>
            <a:pPr marL="0">
              <a:spcBef>
                <a:spcPts val="600"/>
              </a:spcBef>
              <a:spcAft>
                <a:spcPts val="1200"/>
              </a:spcAft>
              <a:buNone/>
            </a:pPr>
            <a:r>
              <a:rPr lang="en-US" sz="2200" dirty="0" smtClean="0">
                <a:latin typeface="Helvetica" pitchFamily="34" charset="0"/>
              </a:rPr>
              <a:t>Like in any tour, the need for interpretive guiding is essential to ensure a tour is:</a:t>
            </a:r>
          </a:p>
          <a:p>
            <a:pPr>
              <a:spcBef>
                <a:spcPts val="600"/>
              </a:spcBef>
              <a:spcAft>
                <a:spcPts val="1200"/>
              </a:spcAft>
            </a:pPr>
            <a:r>
              <a:rPr lang="en-US" sz="2200" dirty="0" smtClean="0">
                <a:latin typeface="Helvetica" pitchFamily="34" charset="0"/>
              </a:rPr>
              <a:t>Conducted in a professional manner </a:t>
            </a:r>
          </a:p>
          <a:p>
            <a:pPr>
              <a:spcBef>
                <a:spcPts val="600"/>
              </a:spcBef>
              <a:spcAft>
                <a:spcPts val="1200"/>
              </a:spcAft>
            </a:pPr>
            <a:r>
              <a:rPr lang="en-US" sz="2200" dirty="0" smtClean="0">
                <a:latin typeface="Helvetica" pitchFamily="34" charset="0"/>
              </a:rPr>
              <a:t>Full of interesting facts and activities</a:t>
            </a:r>
          </a:p>
          <a:p>
            <a:pPr>
              <a:spcBef>
                <a:spcPts val="600"/>
              </a:spcBef>
              <a:spcAft>
                <a:spcPts val="1200"/>
              </a:spcAft>
            </a:pPr>
            <a:r>
              <a:rPr lang="en-US" sz="2200" dirty="0" smtClean="0">
                <a:latin typeface="Helvetica" pitchFamily="34" charset="0"/>
              </a:rPr>
              <a:t>An enjoyable experience for the </a:t>
            </a:r>
            <a:br>
              <a:rPr lang="en-US" sz="2200" dirty="0" smtClean="0">
                <a:latin typeface="Helvetica" pitchFamily="34" charset="0"/>
              </a:rPr>
            </a:br>
            <a:r>
              <a:rPr lang="en-US" sz="2200" dirty="0" smtClean="0">
                <a:latin typeface="Helvetica" pitchFamily="34" charset="0"/>
              </a:rPr>
              <a:t>customer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1p.jpg"/>
          <p:cNvPicPr/>
          <p:nvPr/>
        </p:nvPicPr>
        <p:blipFill>
          <a:blip r:embed="rId3" cstate="print"/>
          <a:stretch>
            <a:fillRect/>
          </a:stretch>
        </p:blipFill>
        <p:spPr>
          <a:xfrm>
            <a:off x="6156176" y="4118618"/>
            <a:ext cx="2264643" cy="136415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Interpretive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Importance of interpretive guiding</a:t>
            </a:r>
          </a:p>
          <a:p>
            <a:pPr marL="0">
              <a:spcBef>
                <a:spcPts val="600"/>
              </a:spcBef>
              <a:spcAft>
                <a:spcPts val="1200"/>
              </a:spcAft>
              <a:buNone/>
            </a:pPr>
            <a:r>
              <a:rPr lang="en-US" sz="2200" dirty="0" smtClean="0">
                <a:latin typeface="Helvetica" pitchFamily="34" charset="0"/>
              </a:rPr>
              <a:t>Understanding the terms </a:t>
            </a:r>
            <a:r>
              <a:rPr lang="en-US" sz="2200" u="sng" dirty="0" smtClean="0">
                <a:latin typeface="Helvetica" pitchFamily="34" charset="0"/>
              </a:rPr>
              <a:t>eco-tourism</a:t>
            </a:r>
            <a:r>
              <a:rPr lang="en-US" sz="2200" dirty="0" smtClean="0">
                <a:latin typeface="Helvetica" pitchFamily="34" charset="0"/>
              </a:rPr>
              <a:t> and the approach for an </a:t>
            </a:r>
            <a:r>
              <a:rPr lang="en-US" sz="2200" u="sng" dirty="0" smtClean="0">
                <a:latin typeface="Helvetica" pitchFamily="34" charset="0"/>
              </a:rPr>
              <a:t>interpretive</a:t>
            </a:r>
            <a:r>
              <a:rPr lang="en-US" sz="2200" dirty="0" smtClean="0">
                <a:latin typeface="Helvetica" pitchFamily="34" charset="0"/>
              </a:rPr>
              <a:t> activity must be the starting point for identifying the basis for an interpretive activity.</a:t>
            </a:r>
          </a:p>
          <a:p>
            <a:pPr>
              <a:spcBef>
                <a:spcPts val="600"/>
              </a:spcBef>
              <a:spcAft>
                <a:spcPts val="1200"/>
              </a:spcAft>
            </a:pPr>
            <a:r>
              <a:rPr lang="en-US" sz="2200" dirty="0" smtClean="0">
                <a:latin typeface="Helvetica" pitchFamily="34" charset="0"/>
              </a:rPr>
              <a:t>What do these terms mean?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6" name="Picture 5" descr="2k.jpg"/>
          <p:cNvPicPr>
            <a:picLocks noChangeAspect="1"/>
          </p:cNvPicPr>
          <p:nvPr/>
        </p:nvPicPr>
        <p:blipFill>
          <a:blip r:embed="rId3" cstate="print"/>
          <a:stretch>
            <a:fillRect/>
          </a:stretch>
        </p:blipFill>
        <p:spPr>
          <a:xfrm>
            <a:off x="6011598" y="3789040"/>
            <a:ext cx="2450952" cy="166314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Eco-tourism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Definition of eco-tourism</a:t>
            </a:r>
          </a:p>
          <a:p>
            <a:pPr marL="0">
              <a:spcBef>
                <a:spcPts val="600"/>
              </a:spcBef>
              <a:spcAft>
                <a:spcPts val="1200"/>
              </a:spcAft>
              <a:buNone/>
            </a:pPr>
            <a:r>
              <a:rPr lang="en-US" sz="2200" dirty="0" smtClean="0">
                <a:latin typeface="Helvetica" pitchFamily="34" charset="0"/>
              </a:rPr>
              <a:t>In essence, ecotourism is a form of tourism involving visiting and understanding fragile, exotic, pristine, relatively undisturbed  or threatened natural areas.</a:t>
            </a:r>
          </a:p>
          <a:p>
            <a:pPr>
              <a:spcBef>
                <a:spcPts val="600"/>
              </a:spcBef>
              <a:spcAft>
                <a:spcPts val="1200"/>
              </a:spcAft>
            </a:pPr>
            <a:r>
              <a:rPr lang="en-US" sz="2200" dirty="0" smtClean="0">
                <a:latin typeface="Helvetica" pitchFamily="34" charset="0"/>
              </a:rPr>
              <a:t>What are examples of eco-tourism in your region?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7" name="Picture 6" descr="2j.jpg"/>
          <p:cNvPicPr/>
          <p:nvPr/>
        </p:nvPicPr>
        <p:blipFill>
          <a:blip r:embed="rId3" cstate="print"/>
          <a:stretch>
            <a:fillRect/>
          </a:stretch>
        </p:blipFill>
        <p:spPr>
          <a:xfrm>
            <a:off x="2987824" y="4005064"/>
            <a:ext cx="2304256" cy="15121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Eco-tourism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Common purposes of eco-tourism</a:t>
            </a:r>
          </a:p>
          <a:p>
            <a:pPr marL="457200" lvl="0" indent="-457200">
              <a:spcBef>
                <a:spcPts val="600"/>
              </a:spcBef>
              <a:spcAft>
                <a:spcPts val="1200"/>
              </a:spcAft>
            </a:pPr>
            <a:r>
              <a:rPr lang="en-US" sz="2200" dirty="0" smtClean="0">
                <a:latin typeface="Helvetica" pitchFamily="34" charset="0"/>
              </a:rPr>
              <a:t>Educate travelers</a:t>
            </a:r>
          </a:p>
          <a:p>
            <a:pPr marL="457200" lvl="0" indent="-457200">
              <a:spcBef>
                <a:spcPts val="600"/>
              </a:spcBef>
              <a:spcAft>
                <a:spcPts val="1200"/>
              </a:spcAft>
            </a:pPr>
            <a:r>
              <a:rPr lang="en-US" sz="2200" dirty="0" smtClean="0">
                <a:latin typeface="Helvetica" pitchFamily="34" charset="0"/>
              </a:rPr>
              <a:t>To provide funds for ecological conservation</a:t>
            </a:r>
          </a:p>
          <a:p>
            <a:pPr marL="457200" lvl="0" indent="-457200">
              <a:spcBef>
                <a:spcPts val="600"/>
              </a:spcBef>
              <a:spcAft>
                <a:spcPts val="1200"/>
              </a:spcAft>
            </a:pPr>
            <a:r>
              <a:rPr lang="en-US" sz="2200" dirty="0" smtClean="0">
                <a:latin typeface="Helvetica" pitchFamily="34" charset="0"/>
              </a:rPr>
              <a:t>To directly benefit the economic development and political empowerment of local communities</a:t>
            </a:r>
          </a:p>
          <a:p>
            <a:pPr marL="457200" lvl="0" indent="-457200">
              <a:spcBef>
                <a:spcPts val="600"/>
              </a:spcBef>
              <a:spcAft>
                <a:spcPts val="1200"/>
              </a:spcAft>
            </a:pPr>
            <a:r>
              <a:rPr lang="en-US" sz="2200" dirty="0" smtClean="0">
                <a:latin typeface="Helvetica" pitchFamily="34" charset="0"/>
              </a:rPr>
              <a:t>To generate respect for different cultures                              and for human rights.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6" name="Picture 5" descr="34.jpg"/>
          <p:cNvPicPr>
            <a:picLocks noChangeAspect="1"/>
          </p:cNvPicPr>
          <p:nvPr/>
        </p:nvPicPr>
        <p:blipFill>
          <a:blip r:embed="rId3" cstate="print"/>
          <a:stretch>
            <a:fillRect/>
          </a:stretch>
        </p:blipFill>
        <p:spPr>
          <a:xfrm>
            <a:off x="6500421" y="4149080"/>
            <a:ext cx="1941095" cy="168442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a:spcBef>
                <a:spcPts val="600"/>
              </a:spcBef>
              <a:spcAft>
                <a:spcPts val="1200"/>
              </a:spcAft>
            </a:pPr>
            <a:r>
              <a:rPr lang="en-US" sz="3400" b="1" dirty="0" smtClean="0">
                <a:solidFill>
                  <a:srgbClr val="FF6600"/>
                </a:solidFill>
                <a:latin typeface="Helvetica" pitchFamily="34" charset="0"/>
              </a:rPr>
              <a:t>Interpretive guiding</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Interpretive guiding</a:t>
            </a:r>
          </a:p>
          <a:p>
            <a:pPr marL="0">
              <a:spcBef>
                <a:spcPts val="600"/>
              </a:spcBef>
              <a:spcAft>
                <a:spcPts val="1200"/>
              </a:spcAft>
              <a:buNone/>
            </a:pPr>
            <a:r>
              <a:rPr lang="en-US" sz="2200" dirty="0" smtClean="0">
                <a:latin typeface="Helvetica" pitchFamily="34" charset="0"/>
              </a:rPr>
              <a:t>Interpretive guiding can be seen as the use of interpretive activities and presentation techniques by a tour guide when conducting a tour. </a:t>
            </a:r>
          </a:p>
          <a:p>
            <a:pPr lvl="0">
              <a:spcBef>
                <a:spcPts val="600"/>
              </a:spcBef>
              <a:spcAft>
                <a:spcPts val="1200"/>
              </a:spcAft>
            </a:pPr>
            <a:r>
              <a:rPr lang="en-AU" sz="2200" dirty="0" smtClean="0">
                <a:latin typeface="Helvetica" pitchFamily="34" charset="0"/>
              </a:rPr>
              <a:t>What are characteristics of interpretive guiding?</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7" name="Picture 6" descr="C:\Documents and Settings\Godaishu\Desktop\PHOTOS\2014\Shutterstock 25-a-day\shutterstock_41410798.jpg"/>
          <p:cNvPicPr/>
          <p:nvPr/>
        </p:nvPicPr>
        <p:blipFill>
          <a:blip r:embed="rId3" cstate="print"/>
          <a:srcRect/>
          <a:stretch>
            <a:fillRect/>
          </a:stretch>
        </p:blipFill>
        <p:spPr bwMode="auto">
          <a:xfrm>
            <a:off x="2771800" y="3998892"/>
            <a:ext cx="2160240" cy="19241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Interpretive techniques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Interpretive techniques</a:t>
            </a:r>
          </a:p>
          <a:p>
            <a:pPr marL="0">
              <a:spcBef>
                <a:spcPts val="600"/>
              </a:spcBef>
              <a:spcAft>
                <a:spcPts val="1200"/>
              </a:spcAft>
              <a:buNone/>
            </a:pPr>
            <a:r>
              <a:rPr lang="en-US" sz="2200" dirty="0" smtClean="0">
                <a:latin typeface="Helvetica" pitchFamily="34" charset="0"/>
              </a:rPr>
              <a:t>Interpretive techniques are ways of communicating information to visitors.</a:t>
            </a:r>
          </a:p>
          <a:p>
            <a:pPr marL="0">
              <a:spcBef>
                <a:spcPts val="600"/>
              </a:spcBef>
              <a:spcAft>
                <a:spcPts val="1200"/>
              </a:spcAft>
              <a:buNone/>
            </a:pPr>
            <a:r>
              <a:rPr lang="en-US" sz="2200" dirty="0" smtClean="0">
                <a:latin typeface="Helvetica" pitchFamily="34" charset="0"/>
              </a:rPr>
              <a:t>Interpretive guiding commonly uses face-to-face methods and is frequently supported by interpretive media and aids:</a:t>
            </a:r>
          </a:p>
          <a:p>
            <a:pPr lvl="0">
              <a:spcBef>
                <a:spcPts val="600"/>
              </a:spcBef>
              <a:spcAft>
                <a:spcPts val="1200"/>
              </a:spcAft>
            </a:pPr>
            <a:r>
              <a:rPr lang="en-AU" sz="2200" dirty="0" smtClean="0">
                <a:latin typeface="Helvetica" pitchFamily="34" charset="0"/>
              </a:rPr>
              <a:t>What are types of interpretive techniques?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444208" y="4149080"/>
            <a:ext cx="1981200" cy="1323975"/>
          </a:xfrm>
          <a:prstGeom prst="rect">
            <a:avLst/>
          </a:prstGeom>
          <a:ln>
            <a:noFill/>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208912" cy="1143000"/>
          </a:xfrm>
        </p:spPr>
        <p:txBody>
          <a:bodyPr>
            <a:normAutofit/>
          </a:bodyPr>
          <a:lstStyle/>
          <a:p>
            <a:r>
              <a:rPr lang="en-US" sz="3400" b="1" dirty="0" smtClean="0">
                <a:solidFill>
                  <a:srgbClr val="FF6600"/>
                </a:solidFill>
                <a:latin typeface="Helvetica" pitchFamily="34" charset="0"/>
              </a:rPr>
              <a:t>Interpretive techniques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373216"/>
          </a:xfrm>
        </p:spPr>
        <p:txBody>
          <a:bodyPr>
            <a:normAutofit/>
          </a:bodyPr>
          <a:lstStyle/>
          <a:p>
            <a:pPr>
              <a:spcBef>
                <a:spcPts val="600"/>
              </a:spcBef>
              <a:spcAft>
                <a:spcPts val="600"/>
              </a:spcAft>
              <a:buNone/>
            </a:pPr>
            <a:r>
              <a:rPr lang="en-US" sz="2000" b="1" dirty="0" smtClean="0">
                <a:latin typeface="Helvetica" pitchFamily="34" charset="0"/>
              </a:rPr>
              <a:t>Interpretive techniques</a:t>
            </a:r>
          </a:p>
          <a:p>
            <a:pPr lvl="0">
              <a:spcBef>
                <a:spcPts val="600"/>
              </a:spcBef>
              <a:spcAft>
                <a:spcPts val="600"/>
              </a:spcAft>
            </a:pPr>
            <a:r>
              <a:rPr lang="en-US" sz="2000" dirty="0" smtClean="0">
                <a:latin typeface="Helvetica" pitchFamily="34" charset="0"/>
              </a:rPr>
              <a:t>Role playing </a:t>
            </a:r>
          </a:p>
          <a:p>
            <a:pPr lvl="0">
              <a:spcBef>
                <a:spcPts val="600"/>
              </a:spcBef>
              <a:spcAft>
                <a:spcPts val="600"/>
              </a:spcAft>
            </a:pPr>
            <a:r>
              <a:rPr lang="en-US" sz="2000" dirty="0" smtClean="0">
                <a:latin typeface="Helvetica" pitchFamily="34" charset="0"/>
              </a:rPr>
              <a:t>Using different voice techniques </a:t>
            </a:r>
          </a:p>
          <a:p>
            <a:pPr lvl="0">
              <a:spcBef>
                <a:spcPts val="600"/>
              </a:spcBef>
              <a:spcAft>
                <a:spcPts val="600"/>
              </a:spcAft>
            </a:pPr>
            <a:r>
              <a:rPr lang="en-US" sz="2000" dirty="0" smtClean="0">
                <a:latin typeface="Helvetica" pitchFamily="34" charset="0"/>
              </a:rPr>
              <a:t>Story-telling </a:t>
            </a:r>
          </a:p>
          <a:p>
            <a:pPr lvl="0">
              <a:spcBef>
                <a:spcPts val="600"/>
              </a:spcBef>
              <a:spcAft>
                <a:spcPts val="600"/>
              </a:spcAft>
            </a:pPr>
            <a:r>
              <a:rPr lang="en-US" sz="2000" dirty="0" smtClean="0">
                <a:latin typeface="Helvetica" pitchFamily="34" charset="0"/>
              </a:rPr>
              <a:t>Playing of games </a:t>
            </a:r>
          </a:p>
          <a:p>
            <a:pPr lvl="0">
              <a:spcBef>
                <a:spcPts val="600"/>
              </a:spcBef>
              <a:spcAft>
                <a:spcPts val="600"/>
              </a:spcAft>
            </a:pPr>
            <a:r>
              <a:rPr lang="en-US" sz="2000" dirty="0" smtClean="0">
                <a:latin typeface="Helvetica" pitchFamily="34" charset="0"/>
              </a:rPr>
              <a:t>Conducting activities </a:t>
            </a:r>
          </a:p>
          <a:p>
            <a:pPr lvl="0">
              <a:spcBef>
                <a:spcPts val="600"/>
              </a:spcBef>
              <a:spcAft>
                <a:spcPts val="600"/>
              </a:spcAft>
            </a:pPr>
            <a:r>
              <a:rPr lang="en-US" sz="2000" dirty="0" smtClean="0">
                <a:latin typeface="Helvetica" pitchFamily="34" charset="0"/>
              </a:rPr>
              <a:t>Presenting demonstrations </a:t>
            </a:r>
          </a:p>
          <a:p>
            <a:pPr lvl="0">
              <a:spcBef>
                <a:spcPts val="600"/>
              </a:spcBef>
              <a:spcAft>
                <a:spcPts val="600"/>
              </a:spcAft>
            </a:pPr>
            <a:r>
              <a:rPr lang="en-US" sz="2000" dirty="0" smtClean="0">
                <a:latin typeface="Helvetica" pitchFamily="34" charset="0"/>
              </a:rPr>
              <a:t>Delivering participant interaction situations</a:t>
            </a:r>
          </a:p>
          <a:p>
            <a:pPr lvl="0">
              <a:spcBef>
                <a:spcPts val="600"/>
              </a:spcBef>
              <a:spcAft>
                <a:spcPts val="600"/>
              </a:spcAft>
            </a:pPr>
            <a:r>
              <a:rPr lang="en-US" sz="2000" dirty="0" smtClean="0">
                <a:latin typeface="Helvetica" pitchFamily="34" charset="0"/>
              </a:rPr>
              <a:t>Holding sensory awareness exercises </a:t>
            </a:r>
          </a:p>
          <a:p>
            <a:pPr lvl="0">
              <a:spcBef>
                <a:spcPts val="600"/>
              </a:spcBef>
              <a:spcAft>
                <a:spcPts val="600"/>
              </a:spcAft>
            </a:pPr>
            <a:r>
              <a:rPr lang="en-US" sz="2000" dirty="0" smtClean="0">
                <a:latin typeface="Helvetica" pitchFamily="34" charset="0"/>
              </a:rPr>
              <a:t>Using materials to enhance illustration and experiences </a:t>
            </a:r>
          </a:p>
          <a:p>
            <a:pPr lvl="0">
              <a:spcBef>
                <a:spcPts val="600"/>
              </a:spcBef>
              <a:spcAft>
                <a:spcPts val="600"/>
              </a:spcAft>
            </a:pPr>
            <a:r>
              <a:rPr lang="en-US" sz="2000" dirty="0" smtClean="0">
                <a:latin typeface="Helvetica" pitchFamily="34" charset="0"/>
              </a:rPr>
              <a:t>Utilising technology to assist with delivery </a:t>
            </a:r>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7" name="Picture 6" descr="42.jpg"/>
          <p:cNvPicPr>
            <a:picLocks noChangeAspect="1"/>
          </p:cNvPicPr>
          <p:nvPr/>
        </p:nvPicPr>
        <p:blipFill>
          <a:blip r:embed="rId3" cstate="print"/>
          <a:stretch>
            <a:fillRect/>
          </a:stretch>
        </p:blipFill>
        <p:spPr>
          <a:xfrm>
            <a:off x="5220072" y="2132856"/>
            <a:ext cx="2304256" cy="16635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Interpretive techniques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Commentaries</a:t>
            </a:r>
          </a:p>
          <a:p>
            <a:pPr>
              <a:spcBef>
                <a:spcPts val="600"/>
              </a:spcBef>
              <a:spcAft>
                <a:spcPts val="1200"/>
              </a:spcAft>
            </a:pPr>
            <a:r>
              <a:rPr lang="en-US" sz="2200" dirty="0" smtClean="0">
                <a:latin typeface="Helvetica" pitchFamily="34" charset="0"/>
              </a:rPr>
              <a:t>It is important to note at the start of this manual that one of the main elements of 'interpretive content' is through the development and use of commentaries</a:t>
            </a:r>
          </a:p>
          <a:p>
            <a:pPr>
              <a:spcBef>
                <a:spcPts val="600"/>
              </a:spcBef>
              <a:spcAft>
                <a:spcPts val="1200"/>
              </a:spcAft>
            </a:pPr>
            <a:r>
              <a:rPr lang="en-US" sz="2200" dirty="0" smtClean="0">
                <a:latin typeface="Helvetica" pitchFamily="34" charset="0"/>
              </a:rPr>
              <a:t>A ‘ commentary’ refers to information </a:t>
            </a:r>
            <a:br>
              <a:rPr lang="en-US" sz="2200" dirty="0" smtClean="0">
                <a:latin typeface="Helvetica" pitchFamily="34" charset="0"/>
              </a:rPr>
            </a:br>
            <a:r>
              <a:rPr lang="en-US" sz="2200" dirty="0" smtClean="0">
                <a:latin typeface="Helvetica" pitchFamily="34" charset="0"/>
              </a:rPr>
              <a:t>provided by the tour guide to tour group </a:t>
            </a:r>
            <a:br>
              <a:rPr lang="en-US" sz="2200" dirty="0" smtClean="0">
                <a:latin typeface="Helvetica" pitchFamily="34" charset="0"/>
              </a:rPr>
            </a:br>
            <a:r>
              <a:rPr lang="en-US" sz="2200" dirty="0" smtClean="0">
                <a:latin typeface="Helvetica" pitchFamily="34" charset="0"/>
              </a:rPr>
              <a:t>members as part of a tour</a:t>
            </a: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6" name="Picture 5" descr="1q.jpg"/>
          <p:cNvPicPr/>
          <p:nvPr/>
        </p:nvPicPr>
        <p:blipFill>
          <a:blip r:embed="rId3" cstate="print"/>
          <a:stretch>
            <a:fillRect/>
          </a:stretch>
        </p:blipFill>
        <p:spPr>
          <a:xfrm>
            <a:off x="6156175" y="3342600"/>
            <a:ext cx="2171065" cy="141922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Interpretive guiding considerations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US" sz="2000" b="1" dirty="0" smtClean="0">
                <a:latin typeface="Helvetica" pitchFamily="34" charset="0"/>
              </a:rPr>
              <a:t>Considerations when conducting interpretive guiding</a:t>
            </a:r>
          </a:p>
          <a:p>
            <a:pPr>
              <a:spcBef>
                <a:spcPts val="600"/>
              </a:spcBef>
              <a:spcAft>
                <a:spcPts val="600"/>
              </a:spcAft>
            </a:pPr>
            <a:r>
              <a:rPr lang="en-US" sz="2000" dirty="0" smtClean="0">
                <a:latin typeface="Helvetica" pitchFamily="34" charset="0"/>
              </a:rPr>
              <a:t>The subject that is the basis of the activity </a:t>
            </a:r>
          </a:p>
          <a:p>
            <a:pPr>
              <a:spcBef>
                <a:spcPts val="600"/>
              </a:spcBef>
              <a:spcAft>
                <a:spcPts val="600"/>
              </a:spcAft>
            </a:pPr>
            <a:r>
              <a:rPr lang="en-US" sz="2000" dirty="0" smtClean="0">
                <a:latin typeface="Helvetica" pitchFamily="34" charset="0"/>
              </a:rPr>
              <a:t>Integration into other considerations</a:t>
            </a:r>
          </a:p>
          <a:p>
            <a:pPr>
              <a:spcBef>
                <a:spcPts val="600"/>
              </a:spcBef>
              <a:spcAft>
                <a:spcPts val="600"/>
              </a:spcAft>
            </a:pPr>
            <a:r>
              <a:rPr lang="en-US" sz="2000" dirty="0" smtClean="0">
                <a:latin typeface="Helvetica" pitchFamily="34" charset="0"/>
              </a:rPr>
              <a:t>Background to the activity </a:t>
            </a:r>
          </a:p>
          <a:p>
            <a:pPr>
              <a:spcBef>
                <a:spcPts val="600"/>
              </a:spcBef>
              <a:spcAft>
                <a:spcPts val="600"/>
              </a:spcAft>
            </a:pPr>
            <a:r>
              <a:rPr lang="en-US" sz="2000" dirty="0" smtClean="0">
                <a:latin typeface="Helvetica" pitchFamily="34" charset="0"/>
              </a:rPr>
              <a:t>Resources available </a:t>
            </a:r>
          </a:p>
          <a:p>
            <a:pPr>
              <a:spcBef>
                <a:spcPts val="600"/>
              </a:spcBef>
              <a:spcAft>
                <a:spcPts val="600"/>
              </a:spcAft>
            </a:pPr>
            <a:r>
              <a:rPr lang="en-US" sz="2000" dirty="0" smtClean="0">
                <a:latin typeface="Helvetica" pitchFamily="34" charset="0"/>
              </a:rPr>
              <a:t>Thoughts and opinions</a:t>
            </a:r>
          </a:p>
          <a:p>
            <a:pPr>
              <a:spcBef>
                <a:spcPts val="600"/>
              </a:spcBef>
              <a:spcAft>
                <a:spcPts val="600"/>
              </a:spcAft>
            </a:pPr>
            <a:r>
              <a:rPr lang="en-US" sz="2000" dirty="0" smtClean="0">
                <a:latin typeface="Helvetica" pitchFamily="34" charset="0"/>
              </a:rPr>
              <a:t>Need to comply with mandatory obligations </a:t>
            </a:r>
          </a:p>
          <a:p>
            <a:pPr>
              <a:spcBef>
                <a:spcPts val="600"/>
              </a:spcBef>
              <a:spcAft>
                <a:spcPts val="600"/>
              </a:spcAft>
            </a:pPr>
            <a:r>
              <a:rPr lang="en-US" sz="2000" dirty="0" smtClean="0">
                <a:latin typeface="Helvetica" pitchFamily="34" charset="0"/>
              </a:rPr>
              <a:t>Feedback that has been received from past </a:t>
            </a:r>
            <a:br>
              <a:rPr lang="en-US" sz="2000" dirty="0" smtClean="0">
                <a:latin typeface="Helvetica" pitchFamily="34" charset="0"/>
              </a:rPr>
            </a:br>
            <a:r>
              <a:rPr lang="en-US" sz="2000" dirty="0" smtClean="0">
                <a:latin typeface="Helvetica" pitchFamily="34" charset="0"/>
              </a:rPr>
              <a:t>tour group members</a:t>
            </a:r>
          </a:p>
          <a:p>
            <a:pPr>
              <a:spcBef>
                <a:spcPts val="600"/>
              </a:spcBef>
              <a:spcAft>
                <a:spcPts val="600"/>
              </a:spcAft>
            </a:pPr>
            <a:r>
              <a:rPr lang="en-US" sz="2000" dirty="0" smtClean="0">
                <a:latin typeface="Helvetica" pitchFamily="34" charset="0"/>
              </a:rPr>
              <a:t>The need to apply relevant guiding principles </a:t>
            </a:r>
          </a:p>
          <a:p>
            <a:pPr>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7" name="Picture 6" descr="C:\Documents and Settings\Godaishu\Desktop\PHOTOS\2014\Shutterstock 25-a-day\shutterstock_73251703.jpg"/>
          <p:cNvPicPr/>
          <p:nvPr/>
        </p:nvPicPr>
        <p:blipFill>
          <a:blip r:embed="rId3" cstate="print"/>
          <a:srcRect/>
          <a:stretch>
            <a:fillRect/>
          </a:stretch>
        </p:blipFill>
        <p:spPr bwMode="auto">
          <a:xfrm>
            <a:off x="6368483" y="4149080"/>
            <a:ext cx="2088232" cy="139747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Interpretive guiding features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Key features of interpretive guiding</a:t>
            </a:r>
          </a:p>
          <a:p>
            <a:pPr>
              <a:spcBef>
                <a:spcPts val="600"/>
              </a:spcBef>
              <a:spcAft>
                <a:spcPts val="1200"/>
              </a:spcAft>
            </a:pPr>
            <a:r>
              <a:rPr lang="en-US" sz="2200" dirty="0" smtClean="0">
                <a:latin typeface="Helvetica" pitchFamily="34" charset="0"/>
              </a:rPr>
              <a:t>Provide a verbal commentary</a:t>
            </a:r>
          </a:p>
          <a:p>
            <a:pPr>
              <a:spcBef>
                <a:spcPts val="600"/>
              </a:spcBef>
              <a:spcAft>
                <a:spcPts val="1200"/>
              </a:spcAft>
            </a:pPr>
            <a:r>
              <a:rPr lang="en-US" sz="2200" dirty="0" smtClean="0">
                <a:latin typeface="Helvetica" pitchFamily="34" charset="0"/>
              </a:rPr>
              <a:t>Facilitate understanding </a:t>
            </a:r>
          </a:p>
          <a:p>
            <a:pPr>
              <a:spcBef>
                <a:spcPts val="600"/>
              </a:spcBef>
              <a:spcAft>
                <a:spcPts val="1200"/>
              </a:spcAft>
            </a:pPr>
            <a:r>
              <a:rPr lang="en-US" sz="2200" dirty="0" smtClean="0">
                <a:latin typeface="Helvetica" pitchFamily="34" charset="0"/>
              </a:rPr>
              <a:t>Give local and cultural context</a:t>
            </a:r>
          </a:p>
          <a:p>
            <a:pPr>
              <a:spcBef>
                <a:spcPts val="600"/>
              </a:spcBef>
              <a:spcAft>
                <a:spcPts val="1200"/>
              </a:spcAft>
            </a:pPr>
            <a:r>
              <a:rPr lang="en-US" sz="2200" dirty="0" smtClean="0">
                <a:latin typeface="Helvetica" pitchFamily="34" charset="0"/>
              </a:rPr>
              <a:t>Conduct appropriate and meaningful activities</a:t>
            </a:r>
          </a:p>
          <a:p>
            <a:pPr>
              <a:spcBef>
                <a:spcPts val="600"/>
              </a:spcBef>
              <a:spcAft>
                <a:spcPts val="1200"/>
              </a:spcAft>
            </a:pPr>
            <a:r>
              <a:rPr lang="en-US" sz="2200" dirty="0" smtClean="0">
                <a:latin typeface="Helvetica" pitchFamily="34" charset="0"/>
              </a:rPr>
              <a:t>Contextualise the tour and activities</a:t>
            </a:r>
          </a:p>
          <a:p>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8" name="Picture 7" descr="1k.jpg"/>
          <p:cNvPicPr/>
          <p:nvPr/>
        </p:nvPicPr>
        <p:blipFill>
          <a:blip r:embed="rId3" cstate="print"/>
          <a:stretch>
            <a:fillRect/>
          </a:stretch>
        </p:blipFill>
        <p:spPr>
          <a:xfrm>
            <a:off x="6228184" y="4261545"/>
            <a:ext cx="2165598" cy="1450082"/>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1r.jpg"/>
          <p:cNvPicPr/>
          <p:nvPr/>
        </p:nvPicPr>
        <p:blipFill>
          <a:blip r:embed="rId3" cstate="print"/>
          <a:stretch>
            <a:fillRect/>
          </a:stretch>
        </p:blipFill>
        <p:spPr>
          <a:xfrm>
            <a:off x="6444208" y="3212976"/>
            <a:ext cx="1990725" cy="1609725"/>
          </a:xfrm>
          <a:prstGeom prst="rect">
            <a:avLst/>
          </a:prstGeom>
        </p:spPr>
      </p:pic>
      <p:sp>
        <p:nvSpPr>
          <p:cNvPr id="2" name="Title 1"/>
          <p:cNvSpPr>
            <a:spLocks noGrp="1"/>
          </p:cNvSpPr>
          <p:nvPr>
            <p:ph type="title"/>
          </p:nvPr>
        </p:nvSpPr>
        <p:spPr>
          <a:xfrm>
            <a:off x="611560" y="188640"/>
            <a:ext cx="8208912" cy="1143000"/>
          </a:xfrm>
        </p:spPr>
        <p:txBody>
          <a:bodyPr>
            <a:normAutofit/>
          </a:bodyPr>
          <a:lstStyle/>
          <a:p>
            <a:r>
              <a:rPr lang="en-US" sz="3400" b="1" dirty="0" smtClean="0">
                <a:solidFill>
                  <a:srgbClr val="FF6600"/>
                </a:solidFill>
                <a:latin typeface="Helvetica" pitchFamily="34" charset="0"/>
              </a:rPr>
              <a:t>Interpretive guiding features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lnSpcReduction="10000"/>
          </a:bodyPr>
          <a:lstStyle/>
          <a:p>
            <a:pPr>
              <a:spcBef>
                <a:spcPts val="600"/>
              </a:spcBef>
              <a:spcAft>
                <a:spcPts val="600"/>
              </a:spcAft>
              <a:buNone/>
            </a:pPr>
            <a:r>
              <a:rPr lang="en-US" sz="2200" b="1" dirty="0" smtClean="0">
                <a:latin typeface="Helvetica" pitchFamily="34" charset="0"/>
              </a:rPr>
              <a:t>POETRY</a:t>
            </a:r>
          </a:p>
          <a:p>
            <a:pPr marL="0">
              <a:spcBef>
                <a:spcPts val="600"/>
              </a:spcBef>
              <a:spcAft>
                <a:spcPts val="600"/>
              </a:spcAft>
              <a:buNone/>
            </a:pPr>
            <a:r>
              <a:rPr lang="en-AU" sz="2200" dirty="0" smtClean="0">
                <a:latin typeface="Helvetica" pitchFamily="34" charset="0"/>
              </a:rPr>
              <a:t>One approach used for interpretive guiding is the acronym POETRY. This formula states delivery to tour groups must be:</a:t>
            </a:r>
            <a:endParaRPr lang="en-US" sz="2200" dirty="0" smtClean="0">
              <a:latin typeface="Helvetica" pitchFamily="34" charset="0"/>
            </a:endParaRPr>
          </a:p>
          <a:p>
            <a:pPr>
              <a:spcBef>
                <a:spcPts val="600"/>
              </a:spcBef>
              <a:spcAft>
                <a:spcPts val="600"/>
              </a:spcAft>
            </a:pPr>
            <a:r>
              <a:rPr lang="en-US" sz="2200" dirty="0" smtClean="0">
                <a:latin typeface="Helvetica" pitchFamily="34" charset="0"/>
              </a:rPr>
              <a:t>P = Purposeful</a:t>
            </a:r>
          </a:p>
          <a:p>
            <a:pPr>
              <a:spcBef>
                <a:spcPts val="600"/>
              </a:spcBef>
              <a:spcAft>
                <a:spcPts val="600"/>
              </a:spcAft>
            </a:pPr>
            <a:r>
              <a:rPr lang="en-US" sz="2200" dirty="0" smtClean="0">
                <a:latin typeface="Helvetica" pitchFamily="34" charset="0"/>
              </a:rPr>
              <a:t>O = Organised</a:t>
            </a:r>
          </a:p>
          <a:p>
            <a:pPr>
              <a:spcBef>
                <a:spcPts val="600"/>
              </a:spcBef>
              <a:spcAft>
                <a:spcPts val="600"/>
              </a:spcAft>
            </a:pPr>
            <a:r>
              <a:rPr lang="en-US" sz="2200" dirty="0" smtClean="0">
                <a:latin typeface="Helvetica" pitchFamily="34" charset="0"/>
              </a:rPr>
              <a:t>E = Enjoyable or Engaging, or Entertaining</a:t>
            </a:r>
          </a:p>
          <a:p>
            <a:pPr>
              <a:spcBef>
                <a:spcPts val="600"/>
              </a:spcBef>
              <a:spcAft>
                <a:spcPts val="600"/>
              </a:spcAft>
            </a:pPr>
            <a:r>
              <a:rPr lang="en-US" sz="2200" dirty="0" smtClean="0">
                <a:latin typeface="Helvetica" pitchFamily="34" charset="0"/>
              </a:rPr>
              <a:t>T = Thematic</a:t>
            </a:r>
          </a:p>
          <a:p>
            <a:pPr>
              <a:spcBef>
                <a:spcPts val="600"/>
              </a:spcBef>
              <a:spcAft>
                <a:spcPts val="600"/>
              </a:spcAft>
            </a:pPr>
            <a:r>
              <a:rPr lang="en-US" sz="2200" dirty="0" smtClean="0">
                <a:latin typeface="Helvetica" pitchFamily="34" charset="0"/>
              </a:rPr>
              <a:t>R = Relevant to the audience</a:t>
            </a:r>
          </a:p>
          <a:p>
            <a:pPr>
              <a:spcBef>
                <a:spcPts val="600"/>
              </a:spcBef>
              <a:spcAft>
                <a:spcPts val="600"/>
              </a:spcAft>
            </a:pPr>
            <a:r>
              <a:rPr lang="en-US" sz="2200" dirty="0" smtClean="0">
                <a:latin typeface="Helvetica" pitchFamily="34" charset="0"/>
              </a:rPr>
              <a:t>Y = You (the </a:t>
            </a:r>
            <a:r>
              <a:rPr lang="en-US" sz="2200" smtClean="0">
                <a:latin typeface="Helvetica" pitchFamily="34" charset="0"/>
              </a:rPr>
              <a:t>tour guide)</a:t>
            </a:r>
            <a:endParaRPr lang="en-US" sz="2200" dirty="0" smtClean="0">
              <a:latin typeface="Helvetica" pitchFamily="34" charset="0"/>
            </a:endParaRPr>
          </a:p>
          <a:p>
            <a:pPr>
              <a:spcBef>
                <a:spcPts val="600"/>
              </a:spcBef>
              <a:spcAft>
                <a:spcPts val="600"/>
              </a:spcAft>
              <a:buNone/>
            </a:pPr>
            <a:endParaRPr lang="en-US" sz="2200" dirty="0" smtClean="0">
              <a:latin typeface="Helvetica" pitchFamily="34" charset="0"/>
            </a:endParaRPr>
          </a:p>
          <a:p>
            <a:pPr>
              <a:spcBef>
                <a:spcPts val="600"/>
              </a:spcBef>
              <a:spcAft>
                <a:spcPts val="600"/>
              </a:spcAft>
              <a:buNone/>
            </a:pPr>
            <a:r>
              <a:rPr lang="en-US" sz="2200" b="1" i="1" u="sng" dirty="0" smtClean="0">
                <a:solidFill>
                  <a:srgbClr val="FF6600"/>
                </a:solidFill>
                <a:latin typeface="Helvetica" pitchFamily="34" charset="0"/>
              </a:rPr>
              <a:t>COMPLETE ACTIVITIES 1 &amp; 2</a:t>
            </a:r>
          </a:p>
          <a:p>
            <a:endParaRPr lang="en-US" sz="2200" dirty="0" smtClean="0"/>
          </a:p>
          <a:p>
            <a:endParaRPr lang="en-US" sz="2200" dirty="0" smtClean="0"/>
          </a:p>
          <a:p>
            <a:pPr>
              <a:spcBef>
                <a:spcPts val="600"/>
              </a:spcBef>
              <a:spcAft>
                <a:spcPts val="1200"/>
              </a:spcAft>
              <a:buNone/>
            </a:pPr>
            <a:endParaRPr lang="en-US" sz="2200" dirty="0" smtClean="0"/>
          </a:p>
          <a:p>
            <a:pPr>
              <a:spcBef>
                <a:spcPts val="600"/>
              </a:spcBef>
              <a:spcAft>
                <a:spcPts val="1200"/>
              </a:spcAft>
              <a:buNone/>
            </a:pPr>
            <a:endParaRPr lang="en-US" sz="22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208912" cy="1143000"/>
          </a:xfrm>
        </p:spPr>
        <p:txBody>
          <a:bodyPr>
            <a:normAutofit/>
          </a:bodyPr>
          <a:lstStyle/>
          <a:p>
            <a:r>
              <a:rPr lang="en-US" sz="3400" b="1" dirty="0" smtClean="0">
                <a:solidFill>
                  <a:srgbClr val="FF6600"/>
                </a:solidFill>
                <a:latin typeface="Helvetica" pitchFamily="34" charset="0"/>
              </a:rPr>
              <a:t>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301208"/>
          </a:xfrm>
        </p:spPr>
        <p:txBody>
          <a:bodyPr>
            <a:normAutofit/>
          </a:bodyPr>
          <a:lstStyle/>
          <a:p>
            <a:pPr>
              <a:spcBef>
                <a:spcPts val="600"/>
              </a:spcBef>
              <a:spcAft>
                <a:spcPts val="1200"/>
              </a:spcAft>
              <a:buNone/>
            </a:pPr>
            <a:r>
              <a:rPr lang="en-US" sz="2200" b="1" dirty="0" smtClean="0">
                <a:latin typeface="Helvetica" pitchFamily="34" charset="0"/>
              </a:rPr>
              <a:t>Importance of having updated information</a:t>
            </a:r>
          </a:p>
          <a:p>
            <a:pPr marL="0">
              <a:spcBef>
                <a:spcPts val="600"/>
              </a:spcBef>
              <a:spcAft>
                <a:spcPts val="1200"/>
              </a:spcAft>
              <a:buNone/>
            </a:pPr>
            <a:r>
              <a:rPr lang="en-US" sz="2200" dirty="0" smtClean="0">
                <a:latin typeface="Helvetica" pitchFamily="34" charset="0"/>
              </a:rPr>
              <a:t>An essential aspects of conducting interpretive activities and providing accurate and informative content is to ensure that you are well versed in all aspects of:</a:t>
            </a:r>
          </a:p>
          <a:p>
            <a:pPr lvl="0">
              <a:spcBef>
                <a:spcPts val="600"/>
              </a:spcBef>
              <a:spcAft>
                <a:spcPts val="1200"/>
              </a:spcAft>
            </a:pPr>
            <a:r>
              <a:rPr lang="en-US" sz="2200" dirty="0" smtClean="0">
                <a:latin typeface="Helvetica" pitchFamily="34" charset="0"/>
              </a:rPr>
              <a:t>General eco-tourism issues and considerations</a:t>
            </a:r>
          </a:p>
          <a:p>
            <a:pPr lvl="0">
              <a:spcBef>
                <a:spcPts val="600"/>
              </a:spcBef>
              <a:spcAft>
                <a:spcPts val="1200"/>
              </a:spcAft>
            </a:pPr>
            <a:r>
              <a:rPr lang="en-US" sz="2200" dirty="0" smtClean="0">
                <a:latin typeface="Helvetica" pitchFamily="34" charset="0"/>
              </a:rPr>
              <a:t>Specific eco-tourism issues that apply to the region</a:t>
            </a:r>
          </a:p>
          <a:p>
            <a:pPr lvl="0">
              <a:spcBef>
                <a:spcPts val="600"/>
              </a:spcBef>
              <a:spcAft>
                <a:spcPts val="1200"/>
              </a:spcAft>
            </a:pPr>
            <a:r>
              <a:rPr lang="en-US" sz="2200" dirty="0" smtClean="0">
                <a:latin typeface="Helvetica" pitchFamily="34" charset="0"/>
              </a:rPr>
              <a:t>Eco-tourism facts and figures pertaining                                    to the focal areas in which the tour                                            will be based around </a:t>
            </a:r>
          </a:p>
          <a:p>
            <a:pPr>
              <a:spcBef>
                <a:spcPts val="600"/>
              </a:spcBef>
              <a:spcAft>
                <a:spcPts val="600"/>
              </a:spcAft>
              <a:buNone/>
            </a:pPr>
            <a:endParaRPr lang="en-US" sz="2200" dirty="0" smtClean="0">
              <a:latin typeface="Helvetica" pitchFamily="34" charset="0"/>
            </a:endParaRPr>
          </a:p>
          <a:p>
            <a:pPr>
              <a:buNone/>
            </a:pPr>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6" name="Picture 5" descr="A3 shutterstock_126565061.jpg"/>
          <p:cNvPicPr/>
          <p:nvPr/>
        </p:nvPicPr>
        <p:blipFill>
          <a:blip r:embed="rId3" cstate="print"/>
          <a:stretch>
            <a:fillRect/>
          </a:stretch>
        </p:blipFill>
        <p:spPr>
          <a:xfrm>
            <a:off x="6372200" y="4437112"/>
            <a:ext cx="1990725" cy="132397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208912" cy="1143000"/>
          </a:xfrm>
        </p:spPr>
        <p:txBody>
          <a:bodyPr>
            <a:normAutofit/>
          </a:bodyPr>
          <a:lstStyle/>
          <a:p>
            <a:r>
              <a:rPr lang="en-US" sz="3400" b="1" dirty="0" smtClean="0">
                <a:solidFill>
                  <a:srgbClr val="FF6600"/>
                </a:solidFill>
                <a:latin typeface="Helvetica" pitchFamily="34" charset="0"/>
              </a:rPr>
              <a:t>Sources of information</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sp>
        <p:nvSpPr>
          <p:cNvPr id="3" name="Content Placeholder 2"/>
          <p:cNvSpPr>
            <a:spLocks noGrp="1"/>
          </p:cNvSpPr>
          <p:nvPr>
            <p:ph idx="1"/>
          </p:nvPr>
        </p:nvSpPr>
        <p:spPr>
          <a:xfrm>
            <a:off x="611560" y="1484784"/>
            <a:ext cx="7467600" cy="5301208"/>
          </a:xfrm>
        </p:spPr>
        <p:txBody>
          <a:bodyPr>
            <a:normAutofit lnSpcReduction="10000"/>
          </a:bodyPr>
          <a:lstStyle/>
          <a:p>
            <a:pPr>
              <a:spcBef>
                <a:spcPts val="600"/>
              </a:spcBef>
              <a:spcAft>
                <a:spcPts val="600"/>
              </a:spcAft>
              <a:buNone/>
            </a:pPr>
            <a:r>
              <a:rPr lang="en-US" sz="2000" b="1" dirty="0" smtClean="0">
                <a:latin typeface="Helvetica" pitchFamily="34" charset="0"/>
              </a:rPr>
              <a:t>Sources of information </a:t>
            </a:r>
            <a:endParaRPr lang="en-US" sz="2000" dirty="0" smtClean="0">
              <a:latin typeface="Helvetica" pitchFamily="34" charset="0"/>
            </a:endParaRPr>
          </a:p>
          <a:p>
            <a:pPr lvl="0">
              <a:spcBef>
                <a:spcPts val="600"/>
              </a:spcBef>
              <a:spcAft>
                <a:spcPts val="600"/>
              </a:spcAft>
            </a:pPr>
            <a:r>
              <a:rPr lang="en-US" sz="2000" dirty="0" smtClean="0">
                <a:latin typeface="Helvetica" pitchFamily="34" charset="0"/>
              </a:rPr>
              <a:t>Relevant peak preservation and conservation bodies</a:t>
            </a:r>
          </a:p>
          <a:p>
            <a:pPr lvl="0">
              <a:spcBef>
                <a:spcPts val="600"/>
              </a:spcBef>
              <a:spcAft>
                <a:spcPts val="600"/>
              </a:spcAft>
            </a:pPr>
            <a:r>
              <a:rPr lang="en-US" sz="2000" dirty="0" smtClean="0">
                <a:latin typeface="Helvetica" pitchFamily="34" charset="0"/>
              </a:rPr>
              <a:t>Ministries of Tourism </a:t>
            </a:r>
            <a:endParaRPr lang="en-US" sz="2000" b="1" dirty="0" smtClean="0">
              <a:latin typeface="Helvetica" pitchFamily="34" charset="0"/>
            </a:endParaRPr>
          </a:p>
          <a:p>
            <a:pPr lvl="0">
              <a:spcBef>
                <a:spcPts val="600"/>
              </a:spcBef>
              <a:spcAft>
                <a:spcPts val="600"/>
              </a:spcAft>
            </a:pPr>
            <a:r>
              <a:rPr lang="en-US" sz="2000" dirty="0" smtClean="0">
                <a:latin typeface="Helvetica" pitchFamily="34" charset="0"/>
              </a:rPr>
              <a:t>Tourism Boards</a:t>
            </a:r>
            <a:endParaRPr lang="en-US" sz="2000" b="1" dirty="0" smtClean="0">
              <a:latin typeface="Helvetica" pitchFamily="34" charset="0"/>
            </a:endParaRPr>
          </a:p>
          <a:p>
            <a:pPr lvl="0">
              <a:spcBef>
                <a:spcPts val="600"/>
              </a:spcBef>
              <a:spcAft>
                <a:spcPts val="600"/>
              </a:spcAft>
            </a:pPr>
            <a:r>
              <a:rPr lang="en-US" sz="2000" dirty="0" smtClean="0">
                <a:latin typeface="Helvetica" pitchFamily="34" charset="0"/>
              </a:rPr>
              <a:t>Industry Authorities</a:t>
            </a:r>
            <a:endParaRPr lang="en-US" sz="2000" b="1" dirty="0" smtClean="0">
              <a:latin typeface="Helvetica" pitchFamily="34" charset="0"/>
            </a:endParaRPr>
          </a:p>
          <a:p>
            <a:pPr lvl="0">
              <a:spcBef>
                <a:spcPts val="600"/>
              </a:spcBef>
              <a:spcAft>
                <a:spcPts val="600"/>
              </a:spcAft>
            </a:pPr>
            <a:r>
              <a:rPr lang="en-US" sz="2000" dirty="0" smtClean="0">
                <a:latin typeface="Helvetica" pitchFamily="34" charset="0"/>
              </a:rPr>
              <a:t>Printed material</a:t>
            </a:r>
          </a:p>
          <a:p>
            <a:pPr lvl="0">
              <a:spcBef>
                <a:spcPts val="600"/>
              </a:spcBef>
              <a:spcAft>
                <a:spcPts val="600"/>
              </a:spcAft>
            </a:pPr>
            <a:r>
              <a:rPr lang="en-US" sz="2000" dirty="0" smtClean="0">
                <a:latin typeface="Helvetica" pitchFamily="34" charset="0"/>
              </a:rPr>
              <a:t>The general media </a:t>
            </a:r>
          </a:p>
          <a:p>
            <a:pPr lvl="0">
              <a:spcBef>
                <a:spcPts val="600"/>
              </a:spcBef>
              <a:spcAft>
                <a:spcPts val="600"/>
              </a:spcAft>
            </a:pPr>
            <a:r>
              <a:rPr lang="en-US" sz="2000" dirty="0" smtClean="0">
                <a:latin typeface="Helvetica" pitchFamily="34" charset="0"/>
              </a:rPr>
              <a:t>People from identified communities</a:t>
            </a:r>
          </a:p>
          <a:p>
            <a:pPr lvl="0">
              <a:spcBef>
                <a:spcPts val="600"/>
              </a:spcBef>
              <a:spcAft>
                <a:spcPts val="600"/>
              </a:spcAft>
            </a:pPr>
            <a:r>
              <a:rPr lang="en-US" sz="2000" dirty="0" smtClean="0">
                <a:latin typeface="Helvetica" pitchFamily="34" charset="0"/>
              </a:rPr>
              <a:t>Industry personnel</a:t>
            </a:r>
          </a:p>
          <a:p>
            <a:pPr lvl="0">
              <a:spcBef>
                <a:spcPts val="600"/>
              </a:spcBef>
              <a:spcAft>
                <a:spcPts val="600"/>
              </a:spcAft>
            </a:pPr>
            <a:r>
              <a:rPr lang="en-US" sz="2000" dirty="0" smtClean="0">
                <a:latin typeface="Helvetica" pitchFamily="34" charset="0"/>
              </a:rPr>
              <a:t>The internet</a:t>
            </a:r>
          </a:p>
          <a:p>
            <a:pPr lvl="0">
              <a:spcBef>
                <a:spcPts val="600"/>
              </a:spcBef>
              <a:spcAft>
                <a:spcPts val="600"/>
              </a:spcAft>
            </a:pPr>
            <a:endParaRPr lang="en-US" sz="2000" dirty="0" smtClean="0">
              <a:latin typeface="Helvetica" pitchFamily="34" charset="0"/>
            </a:endParaRPr>
          </a:p>
          <a:p>
            <a:pPr>
              <a:buNone/>
            </a:pPr>
            <a:r>
              <a:rPr lang="en-US" sz="2000" b="1" i="1" u="sng" dirty="0" smtClean="0">
                <a:solidFill>
                  <a:srgbClr val="FF6600"/>
                </a:solidFill>
                <a:latin typeface="Helvetica" pitchFamily="34" charset="0"/>
              </a:rPr>
              <a:t>COMPLETE ACTIVITIES 3, 4, 5</a:t>
            </a:r>
            <a:endParaRPr lang="en-US" sz="2000" i="1" u="sng" dirty="0" smtClean="0"/>
          </a:p>
          <a:p>
            <a:pPr>
              <a:buNone/>
            </a:pPr>
            <a:endParaRPr lang="en-US" sz="2000" dirty="0" smtClean="0"/>
          </a:p>
          <a:p>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latin typeface="Helvetica" pitchFamily="34" charset="0"/>
            </a:endParaRPr>
          </a:p>
        </p:txBody>
      </p:sp>
      <p:pic>
        <p:nvPicPr>
          <p:cNvPr id="7" name="Picture 6" descr="1g.png"/>
          <p:cNvPicPr/>
          <p:nvPr/>
        </p:nvPicPr>
        <p:blipFill>
          <a:blip r:embed="rId3" cstate="print"/>
          <a:stretch>
            <a:fillRect/>
          </a:stretch>
        </p:blipFill>
        <p:spPr>
          <a:xfrm>
            <a:off x="5103073" y="2780928"/>
            <a:ext cx="2376264" cy="2016224"/>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Understanding tour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US" sz="2200" b="1" dirty="0" smtClean="0">
                <a:latin typeface="Helvetica" pitchFamily="34" charset="0"/>
              </a:rPr>
              <a:t>Identify requirements of the eco-tourism tour or activity to be conducted</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Reading advertising or promotional materials</a:t>
            </a:r>
          </a:p>
          <a:p>
            <a:pPr lvl="0">
              <a:spcBef>
                <a:spcPts val="600"/>
              </a:spcBef>
              <a:spcAft>
                <a:spcPts val="1200"/>
              </a:spcAft>
            </a:pPr>
            <a:r>
              <a:rPr lang="en-US" sz="2200" dirty="0" smtClean="0">
                <a:latin typeface="Helvetica" pitchFamily="34" charset="0"/>
              </a:rPr>
              <a:t>Reading the customer itinerary for the tour</a:t>
            </a:r>
          </a:p>
          <a:p>
            <a:pPr lvl="0">
              <a:spcBef>
                <a:spcPts val="600"/>
              </a:spcBef>
              <a:spcAft>
                <a:spcPts val="1200"/>
              </a:spcAft>
            </a:pPr>
            <a:r>
              <a:rPr lang="en-US" sz="2200" dirty="0" smtClean="0">
                <a:latin typeface="Helvetica" pitchFamily="34" charset="0"/>
              </a:rPr>
              <a:t>Joining the tours already developed</a:t>
            </a:r>
          </a:p>
          <a:p>
            <a:pPr lvl="0">
              <a:spcBef>
                <a:spcPts val="600"/>
              </a:spcBef>
              <a:spcAft>
                <a:spcPts val="1200"/>
              </a:spcAft>
            </a:pPr>
            <a:r>
              <a:rPr lang="en-US" sz="2200" dirty="0" smtClean="0">
                <a:latin typeface="Helvetica" pitchFamily="34" charset="0"/>
              </a:rPr>
              <a:t>Talking to other tour guides</a:t>
            </a:r>
          </a:p>
          <a:p>
            <a:pPr lvl="0">
              <a:spcBef>
                <a:spcPts val="600"/>
              </a:spcBef>
              <a:spcAft>
                <a:spcPts val="1200"/>
              </a:spcAft>
            </a:pPr>
            <a:r>
              <a:rPr lang="en-US" sz="2200" dirty="0" smtClean="0">
                <a:latin typeface="Helvetica" pitchFamily="34" charset="0"/>
              </a:rPr>
              <a:t>Obtaining a copy of the script being                               currently used</a:t>
            </a:r>
          </a:p>
          <a:p>
            <a:pPr>
              <a:spcBef>
                <a:spcPts val="600"/>
              </a:spcBef>
              <a:spcAft>
                <a:spcPts val="1200"/>
              </a:spcAft>
            </a:pPr>
            <a:r>
              <a:rPr lang="en-US" sz="2200" dirty="0" smtClean="0">
                <a:latin typeface="Helvetica" pitchFamily="34" charset="0"/>
              </a:rPr>
              <a:t>Speaking with management </a:t>
            </a:r>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6" name="Picture 5" descr="89.jpg"/>
          <p:cNvPicPr/>
          <p:nvPr/>
        </p:nvPicPr>
        <p:blipFill>
          <a:blip r:embed="rId3" cstate="print"/>
          <a:stretch>
            <a:fillRect/>
          </a:stretch>
        </p:blipFill>
        <p:spPr>
          <a:xfrm>
            <a:off x="6012160" y="3645024"/>
            <a:ext cx="2240275" cy="1473324"/>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Understanding tour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US" sz="2200" b="1" dirty="0" smtClean="0">
                <a:latin typeface="Helvetica" pitchFamily="34" charset="0"/>
              </a:rPr>
              <a:t>Identify requirements of the eco-tourism tour or activity to be conducted</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Using personal knowledge of the tour route</a:t>
            </a:r>
          </a:p>
          <a:p>
            <a:pPr>
              <a:spcBef>
                <a:spcPts val="600"/>
              </a:spcBef>
              <a:spcAft>
                <a:spcPts val="1200"/>
              </a:spcAft>
            </a:pPr>
            <a:r>
              <a:rPr lang="en-US" sz="2200" dirty="0" smtClean="0">
                <a:latin typeface="Helvetica" pitchFamily="34" charset="0"/>
              </a:rPr>
              <a:t>Reading feedback from past tour group members</a:t>
            </a:r>
          </a:p>
          <a:p>
            <a:pPr>
              <a:spcBef>
                <a:spcPts val="600"/>
              </a:spcBef>
              <a:spcAft>
                <a:spcPts val="1200"/>
              </a:spcAft>
            </a:pPr>
            <a:r>
              <a:rPr lang="en-US" sz="2200" dirty="0" smtClean="0">
                <a:latin typeface="Helvetica" pitchFamily="34" charset="0"/>
              </a:rPr>
              <a:t>Taking other tours provided by competitors or other tour operators </a:t>
            </a:r>
          </a:p>
          <a:p>
            <a:pPr>
              <a:spcBef>
                <a:spcPts val="600"/>
              </a:spcBef>
              <a:spcAft>
                <a:spcPts val="1200"/>
              </a:spcAft>
            </a:pPr>
            <a:r>
              <a:rPr lang="en-US" sz="2200" dirty="0" smtClean="0">
                <a:latin typeface="Helvetica" pitchFamily="34" charset="0"/>
              </a:rPr>
              <a:t>Speaking with organisational staff</a:t>
            </a:r>
          </a:p>
          <a:p>
            <a:pPr>
              <a:spcBef>
                <a:spcPts val="600"/>
              </a:spcBef>
              <a:spcAft>
                <a:spcPts val="1200"/>
              </a:spcAft>
            </a:pPr>
            <a:r>
              <a:rPr lang="en-US" sz="2200" dirty="0" smtClean="0">
                <a:latin typeface="Helvetica" pitchFamily="34" charset="0"/>
              </a:rPr>
              <a:t>Reading the contract for the tour</a:t>
            </a:r>
          </a:p>
          <a:p>
            <a:pPr>
              <a:spcBef>
                <a:spcPts val="600"/>
              </a:spcBef>
              <a:spcAft>
                <a:spcPts val="1200"/>
              </a:spcAft>
            </a:pPr>
            <a:r>
              <a:rPr lang="en-US" sz="2200" dirty="0" smtClean="0">
                <a:latin typeface="Helvetica" pitchFamily="34" charset="0"/>
              </a:rPr>
              <a:t>Talking to management</a:t>
            </a:r>
          </a:p>
          <a:p>
            <a:pPr>
              <a:spcBef>
                <a:spcPts val="600"/>
              </a:spcBef>
              <a:spcAft>
                <a:spcPts val="1200"/>
              </a:spcAft>
              <a:buNone/>
            </a:pPr>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7" name="Picture 6" descr="1c.jpg"/>
          <p:cNvPicPr/>
          <p:nvPr/>
        </p:nvPicPr>
        <p:blipFill>
          <a:blip r:embed="rId3" cstate="print"/>
          <a:stretch>
            <a:fillRect/>
          </a:stretch>
        </p:blipFill>
        <p:spPr>
          <a:xfrm>
            <a:off x="6516216" y="4341093"/>
            <a:ext cx="1863725" cy="120015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Determine customer interests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Finding out needs of the customer</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It is essential to talk to the customer to identify: </a:t>
            </a:r>
          </a:p>
          <a:p>
            <a:pPr lvl="0">
              <a:spcBef>
                <a:spcPts val="600"/>
              </a:spcBef>
              <a:spcAft>
                <a:spcPts val="1200"/>
              </a:spcAft>
            </a:pPr>
            <a:r>
              <a:rPr lang="en-US" sz="2200" dirty="0" smtClean="0">
                <a:latin typeface="Helvetica" pitchFamily="34" charset="0"/>
              </a:rPr>
              <a:t>Their needs, wants and preferences</a:t>
            </a:r>
          </a:p>
          <a:p>
            <a:pPr lvl="0">
              <a:spcBef>
                <a:spcPts val="600"/>
              </a:spcBef>
              <a:spcAft>
                <a:spcPts val="1200"/>
              </a:spcAft>
            </a:pPr>
            <a:r>
              <a:rPr lang="en-US" sz="2200" dirty="0" smtClean="0">
                <a:latin typeface="Helvetica" pitchFamily="34" charset="0"/>
              </a:rPr>
              <a:t>Critical aspects or topics which must be covered</a:t>
            </a:r>
          </a:p>
          <a:p>
            <a:pPr lvl="0">
              <a:spcBef>
                <a:spcPts val="600"/>
              </a:spcBef>
              <a:spcAft>
                <a:spcPts val="1200"/>
              </a:spcAft>
            </a:pPr>
            <a:r>
              <a:rPr lang="en-US" sz="2200" dirty="0" smtClean="0">
                <a:latin typeface="Helvetica" pitchFamily="34" charset="0"/>
              </a:rPr>
              <a:t>Type or nature of the information required</a:t>
            </a:r>
          </a:p>
          <a:p>
            <a:pPr>
              <a:spcBef>
                <a:spcPts val="600"/>
              </a:spcBef>
              <a:spcAft>
                <a:spcPts val="1200"/>
              </a:spcAft>
            </a:pPr>
            <a:r>
              <a:rPr lang="en-US" sz="2200" dirty="0" smtClean="0">
                <a:latin typeface="Helvetica" pitchFamily="34" charset="0"/>
              </a:rPr>
              <a:t>Who the people in the tour group will be </a:t>
            </a:r>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6" name="Picture 5" descr="shutterstock_127786346.jpg"/>
          <p:cNvPicPr/>
          <p:nvPr/>
        </p:nvPicPr>
        <p:blipFill>
          <a:blip r:embed="rId3" cstate="print"/>
          <a:stretch>
            <a:fillRect/>
          </a:stretch>
        </p:blipFill>
        <p:spPr>
          <a:xfrm>
            <a:off x="6412704" y="4274418"/>
            <a:ext cx="2000250" cy="133350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Determine customer interests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Examples of special requests</a:t>
            </a:r>
          </a:p>
          <a:p>
            <a:pPr lvl="0">
              <a:spcBef>
                <a:spcPts val="600"/>
              </a:spcBef>
              <a:spcAft>
                <a:spcPts val="1200"/>
              </a:spcAft>
            </a:pPr>
            <a:r>
              <a:rPr lang="en-US" sz="2200" dirty="0" smtClean="0">
                <a:latin typeface="Helvetica" pitchFamily="34" charset="0"/>
              </a:rPr>
              <a:t>Timing </a:t>
            </a:r>
          </a:p>
          <a:p>
            <a:pPr lvl="0">
              <a:spcBef>
                <a:spcPts val="600"/>
              </a:spcBef>
              <a:spcAft>
                <a:spcPts val="1200"/>
              </a:spcAft>
            </a:pPr>
            <a:r>
              <a:rPr lang="en-US" sz="2200" dirty="0" smtClean="0">
                <a:latin typeface="Helvetica" pitchFamily="34" charset="0"/>
              </a:rPr>
              <a:t>Budget</a:t>
            </a:r>
          </a:p>
          <a:p>
            <a:pPr lvl="0">
              <a:spcBef>
                <a:spcPts val="600"/>
              </a:spcBef>
              <a:spcAft>
                <a:spcPts val="1200"/>
              </a:spcAft>
            </a:pPr>
            <a:r>
              <a:rPr lang="en-US" sz="2200" dirty="0" smtClean="0">
                <a:latin typeface="Helvetica" pitchFamily="34" charset="0"/>
              </a:rPr>
              <a:t>Location of the interpretive activity</a:t>
            </a:r>
          </a:p>
          <a:p>
            <a:pPr lvl="0">
              <a:spcBef>
                <a:spcPts val="600"/>
              </a:spcBef>
              <a:spcAft>
                <a:spcPts val="1200"/>
              </a:spcAft>
            </a:pPr>
            <a:r>
              <a:rPr lang="en-US" sz="2200" dirty="0" smtClean="0">
                <a:latin typeface="Helvetica" pitchFamily="34" charset="0"/>
              </a:rPr>
              <a:t>Access to interpretive activities</a:t>
            </a:r>
          </a:p>
          <a:p>
            <a:pPr lvl="0">
              <a:spcBef>
                <a:spcPts val="600"/>
              </a:spcBef>
              <a:spcAft>
                <a:spcPts val="1200"/>
              </a:spcAft>
            </a:pPr>
            <a:r>
              <a:rPr lang="en-US" sz="2200" dirty="0" smtClean="0">
                <a:latin typeface="Helvetica" pitchFamily="34" charset="0"/>
              </a:rPr>
              <a:t>Specific activities </a:t>
            </a:r>
          </a:p>
          <a:p>
            <a:pPr lvl="0">
              <a:spcBef>
                <a:spcPts val="600"/>
              </a:spcBef>
              <a:spcAft>
                <a:spcPts val="1200"/>
              </a:spcAft>
            </a:pPr>
            <a:r>
              <a:rPr lang="en-US" sz="2200" dirty="0" smtClean="0">
                <a:latin typeface="Helvetica" pitchFamily="34" charset="0"/>
              </a:rPr>
              <a:t>Information </a:t>
            </a:r>
          </a:p>
          <a:p>
            <a:pPr lvl="0">
              <a:spcBef>
                <a:spcPts val="600"/>
              </a:spcBef>
              <a:spcAft>
                <a:spcPts val="1200"/>
              </a:spcAft>
            </a:pPr>
            <a:r>
              <a:rPr lang="en-US" sz="2200" dirty="0" smtClean="0">
                <a:latin typeface="Helvetica" pitchFamily="34" charset="0"/>
              </a:rPr>
              <a:t>Level of engagement </a:t>
            </a:r>
          </a:p>
          <a:p>
            <a:pPr lvl="0">
              <a:spcBef>
                <a:spcPts val="600"/>
              </a:spcBef>
              <a:spcAft>
                <a:spcPts val="1200"/>
              </a:spcAft>
            </a:pPr>
            <a:r>
              <a:rPr lang="en-US" sz="2200" dirty="0" smtClean="0">
                <a:latin typeface="Helvetica" pitchFamily="34" charset="0"/>
              </a:rPr>
              <a:t>Variations</a:t>
            </a:r>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6012160" y="3933056"/>
            <a:ext cx="2384787" cy="1602854"/>
          </a:xfrm>
          <a:prstGeom prst="rect">
            <a:avLst/>
          </a:prstGeom>
          <a:ln>
            <a:noFill/>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Develop theme and message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Develop message</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A ‘message’ underpins and supports the theme for an activity.</a:t>
            </a:r>
          </a:p>
          <a:p>
            <a:pPr>
              <a:spcBef>
                <a:spcPts val="600"/>
              </a:spcBef>
              <a:spcAft>
                <a:spcPts val="1200"/>
              </a:spcAft>
            </a:pPr>
            <a:r>
              <a:rPr lang="en-AU" sz="2200" dirty="0" smtClean="0">
                <a:latin typeface="Helvetica" pitchFamily="34" charset="0"/>
              </a:rPr>
              <a:t>What are examples of messages for eco-tourism tours or activities?</a:t>
            </a:r>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2915816" y="3717032"/>
            <a:ext cx="3024336" cy="2016224"/>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Develop theme and message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Develop theme</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The ‘theme’ for the activity or the tour is often referred to as ‘the take home message’ for the visitors:</a:t>
            </a:r>
          </a:p>
          <a:p>
            <a:pPr>
              <a:spcBef>
                <a:spcPts val="600"/>
              </a:spcBef>
              <a:spcAft>
                <a:spcPts val="1200"/>
              </a:spcAft>
            </a:pPr>
            <a:r>
              <a:rPr lang="en-AU" sz="2200" dirty="0" smtClean="0">
                <a:latin typeface="Helvetica" pitchFamily="34" charset="0"/>
              </a:rPr>
              <a:t>What are examples of themes for eco-tourism tours or activities?</a:t>
            </a:r>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8" name="Picture 7" descr="1p.jpg"/>
          <p:cNvPicPr>
            <a:picLocks noChangeAspect="1"/>
          </p:cNvPicPr>
          <p:nvPr/>
        </p:nvPicPr>
        <p:blipFill>
          <a:blip r:embed="rId3" cstate="print"/>
          <a:stretch>
            <a:fillRect/>
          </a:stretch>
        </p:blipFill>
        <p:spPr>
          <a:xfrm>
            <a:off x="2987824" y="3741903"/>
            <a:ext cx="2224474" cy="14813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Develop theme and message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Considerations when developing themes</a:t>
            </a:r>
          </a:p>
          <a:p>
            <a:pPr>
              <a:spcBef>
                <a:spcPts val="600"/>
              </a:spcBef>
              <a:spcAft>
                <a:spcPts val="1200"/>
              </a:spcAft>
            </a:pPr>
            <a:r>
              <a:rPr lang="en-US" sz="2200" dirty="0" smtClean="0">
                <a:latin typeface="Helvetica" pitchFamily="34" charset="0"/>
              </a:rPr>
              <a:t>Support and align with identified objectives</a:t>
            </a:r>
          </a:p>
          <a:p>
            <a:pPr>
              <a:spcBef>
                <a:spcPts val="600"/>
              </a:spcBef>
              <a:spcAft>
                <a:spcPts val="1200"/>
              </a:spcAft>
            </a:pPr>
            <a:r>
              <a:rPr lang="en-US" sz="2200" dirty="0" smtClean="0">
                <a:latin typeface="Helvetica" pitchFamily="34" charset="0"/>
              </a:rPr>
              <a:t>Be approved</a:t>
            </a:r>
          </a:p>
          <a:p>
            <a:pPr>
              <a:spcBef>
                <a:spcPts val="600"/>
              </a:spcBef>
              <a:spcAft>
                <a:spcPts val="1200"/>
              </a:spcAft>
            </a:pPr>
            <a:r>
              <a:rPr lang="en-US" sz="2200" dirty="0" smtClean="0">
                <a:latin typeface="Helvetica" pitchFamily="34" charset="0"/>
              </a:rPr>
              <a:t>Integrate and align with the interpretive approach to guiding</a:t>
            </a:r>
          </a:p>
          <a:p>
            <a:pPr>
              <a:spcBef>
                <a:spcPts val="600"/>
              </a:spcBef>
              <a:spcAft>
                <a:spcPts val="1200"/>
              </a:spcAft>
            </a:pPr>
            <a:r>
              <a:rPr lang="en-US" sz="2200" dirty="0" smtClean="0">
                <a:latin typeface="Helvetica" pitchFamily="34" charset="0"/>
              </a:rPr>
              <a:t>Factor in the expected delivery environment</a:t>
            </a:r>
          </a:p>
          <a:p>
            <a:pPr>
              <a:spcBef>
                <a:spcPts val="600"/>
              </a:spcBef>
              <a:spcAft>
                <a:spcPts val="1200"/>
              </a:spcAft>
            </a:pPr>
            <a:r>
              <a:rPr lang="en-US" sz="2200" dirty="0" smtClean="0">
                <a:latin typeface="Helvetica" pitchFamily="34" charset="0"/>
              </a:rPr>
              <a:t>Comply with required and expected business                   principles and ethical standards</a:t>
            </a:r>
          </a:p>
          <a:p>
            <a:endParaRPr lang="en-US" sz="2400" b="1" dirty="0" smtClean="0"/>
          </a:p>
          <a:p>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7" name="Picture 6" descr="shutterstock_127605302.jpg"/>
          <p:cNvPicPr/>
          <p:nvPr/>
        </p:nvPicPr>
        <p:blipFill>
          <a:blip r:embed="rId3" cstate="print"/>
          <a:stretch>
            <a:fillRect/>
          </a:stretch>
        </p:blipFill>
        <p:spPr>
          <a:xfrm>
            <a:off x="6876256" y="3743959"/>
            <a:ext cx="1512169" cy="194421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Develop theme and message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Themes for interpretive activities</a:t>
            </a:r>
          </a:p>
          <a:p>
            <a:pPr lvl="0">
              <a:spcBef>
                <a:spcPts val="600"/>
              </a:spcBef>
              <a:spcAft>
                <a:spcPts val="1200"/>
              </a:spcAft>
            </a:pPr>
            <a:r>
              <a:rPr lang="en-US" sz="2200" dirty="0" smtClean="0">
                <a:latin typeface="Helvetica" pitchFamily="34" charset="0"/>
              </a:rPr>
              <a:t>Flora, including types, history, concentrations, growth patterns, threats, seasonal influences, preservation and conservation issues</a:t>
            </a:r>
          </a:p>
          <a:p>
            <a:pPr lvl="0">
              <a:spcBef>
                <a:spcPts val="600"/>
              </a:spcBef>
              <a:spcAft>
                <a:spcPts val="1200"/>
              </a:spcAft>
            </a:pPr>
            <a:r>
              <a:rPr lang="en-US" sz="2200" dirty="0" smtClean="0">
                <a:latin typeface="Helvetica" pitchFamily="34" charset="0"/>
              </a:rPr>
              <a:t>History and heritage of the general area with attention to special items or areas of interest</a:t>
            </a:r>
          </a:p>
          <a:p>
            <a:pPr lvl="0">
              <a:spcBef>
                <a:spcPts val="600"/>
              </a:spcBef>
              <a:spcAft>
                <a:spcPts val="1200"/>
              </a:spcAft>
            </a:pPr>
            <a:r>
              <a:rPr lang="en-US" sz="2200" dirty="0" smtClean="0">
                <a:latin typeface="Helvetica" pitchFamily="34" charset="0"/>
              </a:rPr>
              <a:t>The general natural environment</a:t>
            </a:r>
          </a:p>
          <a:p>
            <a:pPr lvl="0">
              <a:spcBef>
                <a:spcPts val="600"/>
              </a:spcBef>
              <a:spcAft>
                <a:spcPts val="1200"/>
              </a:spcAft>
            </a:pPr>
            <a:r>
              <a:rPr lang="en-US" sz="2200" dirty="0" smtClean="0">
                <a:latin typeface="Helvetica" pitchFamily="34" charset="0"/>
              </a:rPr>
              <a:t>The built environment, including its                                   impact on the eco-system</a:t>
            </a:r>
          </a:p>
          <a:p>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6" name="Picture 5" descr="shutterstock_174310112.jpg"/>
          <p:cNvPicPr/>
          <p:nvPr/>
        </p:nvPicPr>
        <p:blipFill>
          <a:blip r:embed="rId3" cstate="print"/>
          <a:stretch>
            <a:fillRect/>
          </a:stretch>
        </p:blipFill>
        <p:spPr>
          <a:xfrm>
            <a:off x="6228184" y="4149080"/>
            <a:ext cx="2160240" cy="1512168"/>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Develop theme and message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Themes for interpretive activities</a:t>
            </a:r>
          </a:p>
          <a:p>
            <a:pPr lvl="0">
              <a:spcBef>
                <a:spcPts val="600"/>
              </a:spcBef>
              <a:spcAft>
                <a:spcPts val="1200"/>
              </a:spcAft>
            </a:pPr>
            <a:r>
              <a:rPr lang="en-US" sz="2000" dirty="0" smtClean="0">
                <a:latin typeface="Helvetica" pitchFamily="34" charset="0"/>
              </a:rPr>
              <a:t>Individual species, including their history, current context and predicted future, foods, predatory inclinations, habitats, mating habits, life cycle and threats</a:t>
            </a:r>
          </a:p>
          <a:p>
            <a:pPr lvl="0">
              <a:spcBef>
                <a:spcPts val="600"/>
              </a:spcBef>
              <a:spcAft>
                <a:spcPts val="1200"/>
              </a:spcAft>
            </a:pPr>
            <a:r>
              <a:rPr lang="en-US" sz="2000" dirty="0" smtClean="0">
                <a:latin typeface="Helvetica" pitchFamily="34" charset="0"/>
              </a:rPr>
              <a:t>Specific geographic locations and landmarks</a:t>
            </a:r>
          </a:p>
          <a:p>
            <a:pPr lvl="0">
              <a:spcBef>
                <a:spcPts val="600"/>
              </a:spcBef>
              <a:spcAft>
                <a:spcPts val="1200"/>
              </a:spcAft>
            </a:pPr>
            <a:r>
              <a:rPr lang="en-US" sz="2000" dirty="0" smtClean="0">
                <a:latin typeface="Helvetica" pitchFamily="34" charset="0"/>
              </a:rPr>
              <a:t>Feedback from customers and co-workers suggesting topics for activities</a:t>
            </a:r>
          </a:p>
          <a:p>
            <a:pPr lvl="0">
              <a:spcBef>
                <a:spcPts val="600"/>
              </a:spcBef>
              <a:spcAft>
                <a:spcPts val="1200"/>
              </a:spcAft>
            </a:pPr>
            <a:r>
              <a:rPr lang="en-US" sz="2000" dirty="0" smtClean="0">
                <a:latin typeface="Helvetica" pitchFamily="34" charset="0"/>
              </a:rPr>
              <a:t>Initiatives recommended by local authorities                          and local communities</a:t>
            </a:r>
          </a:p>
          <a:p>
            <a:pPr>
              <a:spcBef>
                <a:spcPts val="600"/>
              </a:spcBef>
              <a:spcAft>
                <a:spcPts val="1200"/>
              </a:spcAft>
            </a:pPr>
            <a:r>
              <a:rPr lang="en-US" sz="2000" dirty="0" smtClean="0">
                <a:latin typeface="Helvetica" pitchFamily="34" charset="0"/>
              </a:rPr>
              <a:t>Topics of general community interest</a:t>
            </a:r>
          </a:p>
          <a:p>
            <a:pPr>
              <a:spcBef>
                <a:spcPts val="600"/>
              </a:spcBef>
              <a:spcAft>
                <a:spcPts val="1200"/>
              </a:spcAft>
              <a:buNone/>
            </a:pPr>
            <a:r>
              <a:rPr lang="en-US" sz="2000" b="1" i="1" u="sng" dirty="0" smtClean="0">
                <a:solidFill>
                  <a:srgbClr val="FF6600"/>
                </a:solidFill>
                <a:latin typeface="Helvetica" pitchFamily="34" charset="0"/>
              </a:rPr>
              <a:t>COMPLETE ACTIVITY 6</a:t>
            </a:r>
            <a:endParaRPr lang="en-US" sz="2000" i="1" u="sng" dirty="0" smtClean="0"/>
          </a:p>
          <a:p>
            <a:pPr>
              <a:spcBef>
                <a:spcPts val="600"/>
              </a:spcBef>
              <a:spcAft>
                <a:spcPts val="1200"/>
              </a:spcAft>
            </a:pPr>
            <a:endParaRPr lang="en-US" sz="2000" b="1" dirty="0" smtClean="0">
              <a:latin typeface="Helvetica" pitchFamily="34" charset="0"/>
            </a:endParaRPr>
          </a:p>
          <a:p>
            <a:endParaRPr lang="en-US" sz="2000" dirty="0" smtClean="0"/>
          </a:p>
          <a:p>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shutterstock_131783492.jpg"/>
          <p:cNvPicPr/>
          <p:nvPr/>
        </p:nvPicPr>
        <p:blipFill>
          <a:blip r:embed="rId3" cstate="print"/>
          <a:stretch>
            <a:fillRect/>
          </a:stretch>
        </p:blipFill>
        <p:spPr>
          <a:xfrm>
            <a:off x="6469919" y="4365104"/>
            <a:ext cx="1944216" cy="1368152"/>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research techniques to obtain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157192"/>
          </a:xfrm>
        </p:spPr>
        <p:txBody>
          <a:bodyPr>
            <a:normAutofit/>
          </a:bodyPr>
          <a:lstStyle/>
          <a:p>
            <a:pPr>
              <a:spcBef>
                <a:spcPts val="600"/>
              </a:spcBef>
              <a:spcAft>
                <a:spcPts val="1200"/>
              </a:spcAft>
              <a:buNone/>
            </a:pPr>
            <a:r>
              <a:rPr lang="en-US" sz="2200" b="1" dirty="0" smtClean="0">
                <a:latin typeface="Helvetica" pitchFamily="34" charset="0"/>
              </a:rPr>
              <a:t>Importance of conducting research</a:t>
            </a:r>
          </a:p>
          <a:p>
            <a:pPr marL="0">
              <a:spcBef>
                <a:spcPts val="600"/>
              </a:spcBef>
              <a:spcAft>
                <a:spcPts val="1200"/>
              </a:spcAft>
              <a:buNone/>
            </a:pPr>
            <a:r>
              <a:rPr lang="en-US" sz="2200" dirty="0" smtClean="0">
                <a:latin typeface="Helvetica" pitchFamily="34" charset="0"/>
              </a:rPr>
              <a:t>In order for interpretive activities and associated content to be effective there is a non-negotiable need for Tour Guides to research the subject that is the focus of the activity.</a:t>
            </a:r>
          </a:p>
          <a:p>
            <a:pPr>
              <a:spcBef>
                <a:spcPts val="600"/>
              </a:spcBef>
              <a:spcAft>
                <a:spcPts val="1200"/>
              </a:spcAft>
            </a:pPr>
            <a:r>
              <a:rPr lang="en-US" sz="2200" dirty="0" smtClean="0">
                <a:latin typeface="Helvetica" pitchFamily="34" charset="0"/>
              </a:rPr>
              <a:t>Why is this important?</a:t>
            </a:r>
          </a:p>
          <a:p>
            <a:pPr>
              <a:spcBef>
                <a:spcPts val="600"/>
              </a:spcBef>
              <a:spcAft>
                <a:spcPts val="1200"/>
              </a:spcAft>
            </a:pPr>
            <a:r>
              <a:rPr lang="en-US" sz="2200" dirty="0" smtClean="0">
                <a:latin typeface="Helvetica" pitchFamily="34" charset="0"/>
              </a:rPr>
              <a:t>How can you conduct research?</a:t>
            </a:r>
          </a:p>
          <a:p>
            <a:endParaRPr lang="en-US" sz="2400" dirty="0" smtClean="0"/>
          </a:p>
          <a:p>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7" name="Picture 6" descr="A8 shutterstock_149513465.jpg"/>
          <p:cNvPicPr/>
          <p:nvPr/>
        </p:nvPicPr>
        <p:blipFill>
          <a:blip r:embed="rId3" cstate="print"/>
          <a:stretch>
            <a:fillRect/>
          </a:stretch>
        </p:blipFill>
        <p:spPr>
          <a:xfrm>
            <a:off x="6156176" y="3933056"/>
            <a:ext cx="2276584" cy="1584176"/>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research techniques to obtain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157192"/>
          </a:xfrm>
        </p:spPr>
        <p:txBody>
          <a:bodyPr>
            <a:normAutofit/>
          </a:bodyPr>
          <a:lstStyle/>
          <a:p>
            <a:pPr marL="419100" indent="-419100">
              <a:spcBef>
                <a:spcPts val="600"/>
              </a:spcBef>
              <a:spcAft>
                <a:spcPts val="1200"/>
              </a:spcAft>
              <a:buNone/>
            </a:pPr>
            <a:r>
              <a:rPr lang="en-US" sz="2200" b="1" dirty="0" smtClean="0">
                <a:latin typeface="Helvetica" pitchFamily="34" charset="0"/>
              </a:rPr>
              <a:t>Basic requirements for researched information</a:t>
            </a:r>
          </a:p>
          <a:p>
            <a:pPr marL="0">
              <a:spcBef>
                <a:spcPts val="600"/>
              </a:spcBef>
              <a:spcAft>
                <a:spcPts val="1200"/>
              </a:spcAft>
              <a:buNone/>
            </a:pPr>
            <a:r>
              <a:rPr lang="en-US" sz="2200" dirty="0" smtClean="0">
                <a:latin typeface="Helvetica" pitchFamily="34" charset="0"/>
              </a:rPr>
              <a:t>It is essential all facts and information obtained as a result of the research process align with the criteria which require them to be:</a:t>
            </a:r>
          </a:p>
          <a:p>
            <a:pPr lvl="0">
              <a:spcBef>
                <a:spcPts val="600"/>
              </a:spcBef>
              <a:spcAft>
                <a:spcPts val="1200"/>
              </a:spcAft>
            </a:pPr>
            <a:r>
              <a:rPr lang="en-US" sz="2200" dirty="0" smtClean="0">
                <a:latin typeface="Helvetica" pitchFamily="34" charset="0"/>
              </a:rPr>
              <a:t>Relevant</a:t>
            </a:r>
          </a:p>
          <a:p>
            <a:pPr lvl="0">
              <a:spcBef>
                <a:spcPts val="600"/>
              </a:spcBef>
              <a:spcAft>
                <a:spcPts val="1200"/>
              </a:spcAft>
            </a:pPr>
            <a:r>
              <a:rPr lang="en-US" sz="2200" dirty="0" smtClean="0">
                <a:latin typeface="Helvetica" pitchFamily="34" charset="0"/>
              </a:rPr>
              <a:t>Correct and accurate</a:t>
            </a:r>
          </a:p>
          <a:p>
            <a:pPr lvl="0">
              <a:spcBef>
                <a:spcPts val="600"/>
              </a:spcBef>
              <a:spcAft>
                <a:spcPts val="1200"/>
              </a:spcAft>
            </a:pPr>
            <a:r>
              <a:rPr lang="en-US" sz="2200" dirty="0" smtClean="0">
                <a:latin typeface="Helvetica" pitchFamily="34" charset="0"/>
              </a:rPr>
              <a:t>Comprehensive</a:t>
            </a:r>
          </a:p>
          <a:p>
            <a:pPr lvl="0">
              <a:spcBef>
                <a:spcPts val="600"/>
              </a:spcBef>
              <a:spcAft>
                <a:spcPts val="1200"/>
              </a:spcAft>
            </a:pPr>
            <a:r>
              <a:rPr lang="en-US" sz="2200" dirty="0" smtClean="0">
                <a:latin typeface="Helvetica" pitchFamily="34" charset="0"/>
              </a:rPr>
              <a:t>Current, where applicable </a:t>
            </a:r>
          </a:p>
          <a:p>
            <a:endParaRPr lang="en-US" sz="2200" dirty="0" smtClean="0"/>
          </a:p>
          <a:p>
            <a:endParaRPr lang="en-US" sz="2200" dirty="0" smtClean="0"/>
          </a:p>
          <a:p>
            <a:endParaRPr lang="en-US" sz="2200" dirty="0" smtClean="0"/>
          </a:p>
          <a:p>
            <a:pPr>
              <a:spcBef>
                <a:spcPts val="600"/>
              </a:spcBef>
              <a:spcAft>
                <a:spcPts val="1200"/>
              </a:spcAft>
              <a:buNone/>
            </a:pPr>
            <a:endParaRPr lang="en-US" sz="22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6" name="Picture 5" descr="A18 shutterstock_181389116.jpg"/>
          <p:cNvPicPr/>
          <p:nvPr/>
        </p:nvPicPr>
        <p:blipFill>
          <a:blip r:embed="rId3" cstate="print"/>
          <a:stretch>
            <a:fillRect/>
          </a:stretch>
        </p:blipFill>
        <p:spPr>
          <a:xfrm>
            <a:off x="7020272" y="3501008"/>
            <a:ext cx="1368152" cy="1944216"/>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research techniques to obtain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Collect primary and secondary data</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The two most common sources of data are:</a:t>
            </a:r>
          </a:p>
          <a:p>
            <a:pPr lvl="0">
              <a:spcBef>
                <a:spcPts val="600"/>
              </a:spcBef>
              <a:spcAft>
                <a:spcPts val="1200"/>
              </a:spcAft>
            </a:pPr>
            <a:r>
              <a:rPr lang="en-US" sz="2200" dirty="0" smtClean="0">
                <a:latin typeface="Helvetica" pitchFamily="34" charset="0"/>
              </a:rPr>
              <a:t>Primary data – collected for a specific purpose</a:t>
            </a:r>
          </a:p>
          <a:p>
            <a:pPr lvl="0">
              <a:spcBef>
                <a:spcPts val="600"/>
              </a:spcBef>
              <a:spcAft>
                <a:spcPts val="1200"/>
              </a:spcAft>
            </a:pPr>
            <a:r>
              <a:rPr lang="en-US" sz="2200" dirty="0" smtClean="0">
                <a:latin typeface="Helvetica" pitchFamily="34" charset="0"/>
              </a:rPr>
              <a:t>Secondary data – generic information</a:t>
            </a:r>
          </a:p>
          <a:p>
            <a:endParaRPr lang="en-US" sz="2400" dirty="0" smtClean="0"/>
          </a:p>
          <a:p>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7" name="Picture 6" descr="shutterstock_143143042.jpg"/>
          <p:cNvPicPr/>
          <p:nvPr/>
        </p:nvPicPr>
        <p:blipFill>
          <a:blip r:embed="rId3" cstate="print"/>
          <a:stretch>
            <a:fillRect/>
          </a:stretch>
        </p:blipFill>
        <p:spPr>
          <a:xfrm>
            <a:off x="7236296" y="4293096"/>
            <a:ext cx="1301676" cy="1895078"/>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research techniques to obtain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157192"/>
          </a:xfrm>
        </p:spPr>
        <p:txBody>
          <a:bodyPr>
            <a:normAutofit/>
          </a:bodyPr>
          <a:lstStyle/>
          <a:p>
            <a:pPr>
              <a:spcBef>
                <a:spcPts val="600"/>
              </a:spcBef>
              <a:spcAft>
                <a:spcPts val="1200"/>
              </a:spcAft>
              <a:buNone/>
            </a:pPr>
            <a:r>
              <a:rPr lang="en-US" sz="2200" b="1" dirty="0" smtClean="0">
                <a:latin typeface="Helvetica" pitchFamily="34" charset="0"/>
              </a:rPr>
              <a:t>Research options</a:t>
            </a:r>
          </a:p>
          <a:p>
            <a:pPr>
              <a:spcBef>
                <a:spcPts val="600"/>
              </a:spcBef>
              <a:spcAft>
                <a:spcPts val="1200"/>
              </a:spcAft>
            </a:pPr>
            <a:r>
              <a:rPr lang="en-US" sz="2200" dirty="0" smtClean="0">
                <a:latin typeface="Helvetica" pitchFamily="34" charset="0"/>
              </a:rPr>
              <a:t>Reading site and location specific information sources </a:t>
            </a:r>
          </a:p>
          <a:p>
            <a:pPr>
              <a:spcBef>
                <a:spcPts val="600"/>
              </a:spcBef>
              <a:spcAft>
                <a:spcPts val="1200"/>
              </a:spcAft>
            </a:pPr>
            <a:r>
              <a:rPr lang="en-US" sz="2200" dirty="0" smtClean="0">
                <a:latin typeface="Helvetica" pitchFamily="34" charset="0"/>
              </a:rPr>
              <a:t>Talking and listening to relevant people</a:t>
            </a:r>
          </a:p>
          <a:p>
            <a:pPr>
              <a:spcBef>
                <a:spcPts val="600"/>
              </a:spcBef>
              <a:spcAft>
                <a:spcPts val="1200"/>
              </a:spcAft>
            </a:pPr>
            <a:r>
              <a:rPr lang="en-US" sz="2200" dirty="0" smtClean="0">
                <a:latin typeface="Helvetica" pitchFamily="34" charset="0"/>
              </a:rPr>
              <a:t>Consulting with local communities</a:t>
            </a:r>
          </a:p>
          <a:p>
            <a:pPr>
              <a:spcBef>
                <a:spcPts val="600"/>
              </a:spcBef>
              <a:spcAft>
                <a:spcPts val="1200"/>
              </a:spcAft>
            </a:pPr>
            <a:r>
              <a:rPr lang="en-US" sz="2200" dirty="0" smtClean="0">
                <a:latin typeface="Helvetica" pitchFamily="34" charset="0"/>
              </a:rPr>
              <a:t>Organising information from personal </a:t>
            </a:r>
            <a:br>
              <a:rPr lang="en-US" sz="2200" dirty="0" smtClean="0">
                <a:latin typeface="Helvetica" pitchFamily="34" charset="0"/>
              </a:rPr>
            </a:br>
            <a:r>
              <a:rPr lang="en-US" sz="2200" dirty="0" smtClean="0">
                <a:latin typeface="Helvetica" pitchFamily="34" charset="0"/>
              </a:rPr>
              <a:t>memory and personal experiences</a:t>
            </a:r>
          </a:p>
          <a:p>
            <a:pPr>
              <a:spcBef>
                <a:spcPts val="600"/>
              </a:spcBef>
              <a:spcAft>
                <a:spcPts val="1200"/>
              </a:spcAft>
            </a:pPr>
            <a:r>
              <a:rPr lang="en-US" sz="2200" dirty="0" smtClean="0">
                <a:latin typeface="Helvetica" pitchFamily="34" charset="0"/>
              </a:rPr>
              <a:t>Monitoring the media</a:t>
            </a:r>
          </a:p>
          <a:p>
            <a:endParaRPr lang="en-US" sz="2400" dirty="0" smtClean="0"/>
          </a:p>
          <a:p>
            <a:endParaRPr lang="en-US" sz="2400" dirty="0" smtClean="0"/>
          </a:p>
          <a:p>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6" name="Picture 5" descr="A22 shutterstock_182450381.jpg"/>
          <p:cNvPicPr/>
          <p:nvPr/>
        </p:nvPicPr>
        <p:blipFill>
          <a:blip r:embed="rId3" cstate="print"/>
          <a:stretch>
            <a:fillRect/>
          </a:stretch>
        </p:blipFill>
        <p:spPr>
          <a:xfrm>
            <a:off x="6372200" y="4077072"/>
            <a:ext cx="2051303" cy="1395983"/>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research techniques to obtain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157192"/>
          </a:xfrm>
        </p:spPr>
        <p:txBody>
          <a:bodyPr>
            <a:normAutofit/>
          </a:bodyPr>
          <a:lstStyle/>
          <a:p>
            <a:pPr>
              <a:spcBef>
                <a:spcPts val="600"/>
              </a:spcBef>
              <a:spcAft>
                <a:spcPts val="1200"/>
              </a:spcAft>
              <a:buNone/>
            </a:pPr>
            <a:r>
              <a:rPr lang="en-US" sz="2200" b="1" dirty="0" smtClean="0">
                <a:latin typeface="Helvetica" pitchFamily="34" charset="0"/>
              </a:rPr>
              <a:t>Research options</a:t>
            </a:r>
          </a:p>
          <a:p>
            <a:pPr>
              <a:spcBef>
                <a:spcPts val="600"/>
              </a:spcBef>
              <a:spcAft>
                <a:spcPts val="1200"/>
              </a:spcAft>
            </a:pPr>
            <a:r>
              <a:rPr lang="en-US" sz="2200" dirty="0" smtClean="0">
                <a:latin typeface="Helvetica" pitchFamily="34" charset="0"/>
              </a:rPr>
              <a:t>Undertaking internet desktop research </a:t>
            </a:r>
          </a:p>
          <a:p>
            <a:pPr>
              <a:spcBef>
                <a:spcPts val="600"/>
              </a:spcBef>
              <a:spcAft>
                <a:spcPts val="1200"/>
              </a:spcAft>
            </a:pPr>
            <a:r>
              <a:rPr lang="en-US" sz="2200" dirty="0" smtClean="0">
                <a:latin typeface="Helvetica" pitchFamily="34" charset="0"/>
              </a:rPr>
              <a:t>Touring and travelling</a:t>
            </a:r>
          </a:p>
          <a:p>
            <a:pPr>
              <a:spcBef>
                <a:spcPts val="600"/>
              </a:spcBef>
              <a:spcAft>
                <a:spcPts val="1200"/>
              </a:spcAft>
            </a:pPr>
            <a:r>
              <a:rPr lang="en-US" sz="2200" dirty="0" smtClean="0">
                <a:latin typeface="Helvetica" pitchFamily="34" charset="0"/>
              </a:rPr>
              <a:t>Joining groups &amp; memberships</a:t>
            </a:r>
          </a:p>
          <a:p>
            <a:endParaRPr lang="en-US" sz="2400" dirty="0" smtClean="0"/>
          </a:p>
          <a:p>
            <a:endParaRPr lang="en-US" sz="2400" dirty="0" smtClean="0"/>
          </a:p>
          <a:p>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6372200" y="4149080"/>
            <a:ext cx="2016224" cy="1368152"/>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research techniques to obtain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Keys in undertaking effective research</a:t>
            </a:r>
          </a:p>
          <a:p>
            <a:pPr lvl="0">
              <a:spcBef>
                <a:spcPts val="600"/>
              </a:spcBef>
              <a:spcAft>
                <a:spcPts val="1200"/>
              </a:spcAft>
            </a:pPr>
            <a:r>
              <a:rPr lang="en-US" sz="2200" dirty="0" smtClean="0">
                <a:latin typeface="Helvetica" pitchFamily="34" charset="0"/>
              </a:rPr>
              <a:t>Ask questions</a:t>
            </a:r>
          </a:p>
          <a:p>
            <a:pPr lvl="0">
              <a:spcBef>
                <a:spcPts val="600"/>
              </a:spcBef>
              <a:spcAft>
                <a:spcPts val="1200"/>
              </a:spcAft>
            </a:pPr>
            <a:r>
              <a:rPr lang="en-US" sz="2200" dirty="0" smtClean="0">
                <a:latin typeface="Helvetica" pitchFamily="34" charset="0"/>
              </a:rPr>
              <a:t>Make notes</a:t>
            </a:r>
          </a:p>
          <a:p>
            <a:pPr lvl="0">
              <a:spcBef>
                <a:spcPts val="600"/>
              </a:spcBef>
              <a:spcAft>
                <a:spcPts val="1200"/>
              </a:spcAft>
            </a:pPr>
            <a:r>
              <a:rPr lang="en-US" sz="2200" dirty="0" smtClean="0">
                <a:latin typeface="Helvetica" pitchFamily="34" charset="0"/>
              </a:rPr>
              <a:t>Ensure the sources of all information are </a:t>
            </a:r>
            <a:br>
              <a:rPr lang="en-US" sz="2200" dirty="0" smtClean="0">
                <a:latin typeface="Helvetica" pitchFamily="34" charset="0"/>
              </a:rPr>
            </a:br>
            <a:r>
              <a:rPr lang="en-US" sz="2200" dirty="0" smtClean="0">
                <a:latin typeface="Helvetica" pitchFamily="34" charset="0"/>
              </a:rPr>
              <a:t>recorded</a:t>
            </a:r>
          </a:p>
          <a:p>
            <a:pPr lvl="0">
              <a:spcBef>
                <a:spcPts val="600"/>
              </a:spcBef>
              <a:spcAft>
                <a:spcPts val="1200"/>
              </a:spcAft>
            </a:pPr>
            <a:r>
              <a:rPr lang="en-US" sz="2200" dirty="0" smtClean="0">
                <a:latin typeface="Helvetica" pitchFamily="34" charset="0"/>
              </a:rPr>
              <a:t>Read and review</a:t>
            </a:r>
          </a:p>
          <a:p>
            <a:pPr lvl="0">
              <a:spcBef>
                <a:spcPts val="600"/>
              </a:spcBef>
              <a:spcAft>
                <a:spcPts val="1200"/>
              </a:spcAft>
            </a:pPr>
            <a:r>
              <a:rPr lang="en-US" sz="2200" dirty="0" smtClean="0">
                <a:latin typeface="Helvetica" pitchFamily="34" charset="0"/>
              </a:rPr>
              <a:t>Organise information for reference                                 and research purposes</a:t>
            </a:r>
          </a:p>
          <a:p>
            <a:endParaRPr lang="en-US" sz="2400" dirty="0" smtClean="0"/>
          </a:p>
          <a:p>
            <a:endParaRPr lang="en-US" sz="2400" dirty="0" smtClean="0"/>
          </a:p>
          <a:p>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6" name="Picture 5" descr="20.jpg"/>
          <p:cNvPicPr>
            <a:picLocks noChangeAspect="1"/>
          </p:cNvPicPr>
          <p:nvPr/>
        </p:nvPicPr>
        <p:blipFill>
          <a:blip r:embed="rId3" cstate="print"/>
          <a:stretch>
            <a:fillRect/>
          </a:stretch>
        </p:blipFill>
        <p:spPr>
          <a:xfrm>
            <a:off x="6660232" y="2276872"/>
            <a:ext cx="1424552" cy="2514193"/>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research techniques to obtain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157192"/>
          </a:xfrm>
        </p:spPr>
        <p:txBody>
          <a:bodyPr>
            <a:normAutofit/>
          </a:bodyPr>
          <a:lstStyle/>
          <a:p>
            <a:pPr>
              <a:spcBef>
                <a:spcPts val="600"/>
              </a:spcBef>
              <a:spcAft>
                <a:spcPts val="1200"/>
              </a:spcAft>
              <a:buNone/>
            </a:pPr>
            <a:r>
              <a:rPr lang="en-US" sz="2200" b="1" dirty="0" smtClean="0">
                <a:latin typeface="Helvetica" pitchFamily="34" charset="0"/>
              </a:rPr>
              <a:t>Keys in undertaking effective research</a:t>
            </a:r>
          </a:p>
          <a:p>
            <a:pPr lvl="0">
              <a:spcBef>
                <a:spcPts val="600"/>
              </a:spcBef>
              <a:spcAft>
                <a:spcPts val="1200"/>
              </a:spcAft>
            </a:pPr>
            <a:r>
              <a:rPr lang="en-US" sz="2200" dirty="0" smtClean="0">
                <a:latin typeface="Helvetica" pitchFamily="34" charset="0"/>
              </a:rPr>
              <a:t>Validate the information gained</a:t>
            </a:r>
          </a:p>
          <a:p>
            <a:pPr lvl="0">
              <a:spcBef>
                <a:spcPts val="600"/>
              </a:spcBef>
              <a:spcAft>
                <a:spcPts val="1200"/>
              </a:spcAft>
            </a:pPr>
            <a:r>
              <a:rPr lang="en-US" sz="2200" dirty="0" smtClean="0">
                <a:latin typeface="Helvetica" pitchFamily="34" charset="0"/>
              </a:rPr>
              <a:t>Obtain necessary permissions</a:t>
            </a:r>
          </a:p>
          <a:p>
            <a:pPr lvl="0">
              <a:spcBef>
                <a:spcPts val="600"/>
              </a:spcBef>
              <a:spcAft>
                <a:spcPts val="1200"/>
              </a:spcAft>
            </a:pPr>
            <a:r>
              <a:rPr lang="en-US" sz="2200" dirty="0" smtClean="0">
                <a:latin typeface="Helvetica" pitchFamily="34" charset="0"/>
              </a:rPr>
              <a:t>Check back with the client</a:t>
            </a:r>
          </a:p>
          <a:p>
            <a:pPr lvl="0">
              <a:spcBef>
                <a:spcPts val="600"/>
              </a:spcBef>
              <a:spcAft>
                <a:spcPts val="1200"/>
              </a:spcAft>
            </a:pPr>
            <a:r>
              <a:rPr lang="en-US" sz="2200" dirty="0" smtClean="0">
                <a:latin typeface="Helvetica" pitchFamily="34" charset="0"/>
              </a:rPr>
              <a:t>Update the research</a:t>
            </a:r>
          </a:p>
          <a:p>
            <a:pPr lvl="0">
              <a:spcBef>
                <a:spcPts val="600"/>
              </a:spcBef>
              <a:spcAft>
                <a:spcPts val="600"/>
              </a:spcAft>
            </a:pPr>
            <a:endParaRPr lang="en-US" sz="2200" dirty="0" smtClean="0">
              <a:latin typeface="Helvetica" pitchFamily="34" charset="0"/>
            </a:endParaRPr>
          </a:p>
          <a:p>
            <a:pPr>
              <a:spcBef>
                <a:spcPts val="600"/>
              </a:spcBef>
              <a:spcAft>
                <a:spcPts val="600"/>
              </a:spcAft>
              <a:buNone/>
            </a:pPr>
            <a:r>
              <a:rPr lang="en-US" sz="2200" b="1" i="1" u="sng" dirty="0" smtClean="0">
                <a:solidFill>
                  <a:srgbClr val="FF6600"/>
                </a:solidFill>
                <a:latin typeface="Helvetica" pitchFamily="34" charset="0"/>
              </a:rPr>
              <a:t>COMPLETE ACTIVITY 7</a:t>
            </a:r>
            <a:endParaRPr lang="en-US" sz="2200" i="1" u="sng" dirty="0" smtClean="0"/>
          </a:p>
          <a:p>
            <a:pPr lvl="0">
              <a:spcBef>
                <a:spcPts val="600"/>
              </a:spcBef>
              <a:spcAft>
                <a:spcPts val="600"/>
              </a:spcAft>
            </a:pPr>
            <a:endParaRPr lang="en-US" sz="2200" dirty="0" smtClean="0">
              <a:latin typeface="Helvetica" pitchFamily="34" charset="0"/>
            </a:endParaRPr>
          </a:p>
          <a:p>
            <a:endParaRPr lang="en-US" sz="2400" dirty="0" smtClean="0"/>
          </a:p>
          <a:p>
            <a:endParaRPr lang="en-US" sz="2400" dirty="0" smtClean="0"/>
          </a:p>
          <a:p>
            <a:endParaRPr lang="en-US" sz="2400" dirty="0" smtClean="0"/>
          </a:p>
          <a:p>
            <a:endParaRPr lang="en-US" sz="2400" dirty="0" smtClean="0"/>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descr="kj.jpg"/>
          <p:cNvPicPr>
            <a:picLocks noChangeAspect="1"/>
          </p:cNvPicPr>
          <p:nvPr/>
        </p:nvPicPr>
        <p:blipFill>
          <a:blip r:embed="rId3" cstate="print"/>
          <a:stretch>
            <a:fillRect/>
          </a:stretch>
        </p:blipFill>
        <p:spPr>
          <a:xfrm>
            <a:off x="5230533" y="2348880"/>
            <a:ext cx="1717920" cy="2466757"/>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Classify and store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776864" cy="5229200"/>
          </a:xfrm>
        </p:spPr>
        <p:txBody>
          <a:bodyPr>
            <a:normAutofit/>
          </a:bodyPr>
          <a:lstStyle/>
          <a:p>
            <a:pPr marL="0">
              <a:spcBef>
                <a:spcPts val="600"/>
              </a:spcBef>
              <a:spcAft>
                <a:spcPts val="1200"/>
              </a:spcAft>
              <a:buNone/>
            </a:pPr>
            <a:r>
              <a:rPr lang="en-AU" sz="2200" b="1" dirty="0" smtClean="0">
                <a:latin typeface="Helvetica" pitchFamily="34" charset="0"/>
              </a:rPr>
              <a:t>Establish files and folders to record identified information</a:t>
            </a:r>
          </a:p>
          <a:p>
            <a:pPr>
              <a:spcBef>
                <a:spcPts val="600"/>
              </a:spcBef>
              <a:spcAft>
                <a:spcPts val="1200"/>
              </a:spcAft>
            </a:pPr>
            <a:r>
              <a:rPr lang="en-AU" sz="2200" dirty="0" smtClean="0">
                <a:latin typeface="Helvetica" pitchFamily="34" charset="0"/>
              </a:rPr>
              <a:t>Once relevant information searched and identified, it must be filed for future use as deemed most appropriate by the enterprise and in-keeping with any relevant policies and procedures</a:t>
            </a:r>
            <a:endParaRPr lang="en-US" sz="2200" dirty="0" smtClean="0">
              <a:latin typeface="Helvetica" pitchFamily="34" charset="0"/>
            </a:endParaRPr>
          </a:p>
          <a:p>
            <a:pPr>
              <a:buNone/>
            </a:pPr>
            <a:endParaRPr lang="en-US" sz="2400" b="1" dirty="0" smtClean="0"/>
          </a:p>
          <a:p>
            <a:pPr>
              <a:buNone/>
            </a:pPr>
            <a:endParaRPr lang="en-US" sz="2400" b="1" dirty="0" smtClean="0"/>
          </a:p>
          <a:p>
            <a:pPr>
              <a:buNone/>
            </a:pPr>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6" name="Picture 5" descr="shutterstock_60932932.jpg"/>
          <p:cNvPicPr>
            <a:picLocks noChangeAspect="1"/>
          </p:cNvPicPr>
          <p:nvPr/>
        </p:nvPicPr>
        <p:blipFill>
          <a:blip r:embed="rId3" cstate="print"/>
          <a:stretch>
            <a:fillRect/>
          </a:stretch>
        </p:blipFill>
        <p:spPr>
          <a:xfrm>
            <a:off x="3419872" y="4041616"/>
            <a:ext cx="2171748" cy="1448556"/>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Classify and store information</a:t>
            </a: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Every tourism operator will have their own method of filing and storing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Every office will have a system of filing all information so that it is easy to retrieve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6" name="Picture 5" descr="shutterstock_118921213.jpg"/>
          <p:cNvPicPr>
            <a:picLocks noChangeAspect="1"/>
          </p:cNvPicPr>
          <p:nvPr/>
        </p:nvPicPr>
        <p:blipFill>
          <a:blip r:embed="rId3" cstate="print"/>
          <a:stretch>
            <a:fillRect/>
          </a:stretch>
        </p:blipFill>
        <p:spPr>
          <a:xfrm>
            <a:off x="3347863" y="3717032"/>
            <a:ext cx="2247579" cy="149913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Classify and store information</a:t>
            </a: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Options for storing information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Information inventory systems may be:</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Manual filing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Computerised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Combination of the above</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7" name="Picture 6" descr="A4 shutterstock_129113624.jpg"/>
          <p:cNvPicPr/>
          <p:nvPr/>
        </p:nvPicPr>
        <p:blipFill>
          <a:blip r:embed="rId3" cstate="print"/>
          <a:stretch>
            <a:fillRect/>
          </a:stretch>
        </p:blipFill>
        <p:spPr>
          <a:xfrm>
            <a:off x="4932040" y="2780928"/>
            <a:ext cx="2016224" cy="1584176"/>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Classify and store information</a:t>
            </a:r>
          </a:p>
        </p:txBody>
      </p:sp>
      <p:sp>
        <p:nvSpPr>
          <p:cNvPr id="3" name="Content Placeholder 2"/>
          <p:cNvSpPr>
            <a:spLocks noGrp="1"/>
          </p:cNvSpPr>
          <p:nvPr>
            <p:ph idx="1"/>
          </p:nvPr>
        </p:nvSpPr>
        <p:spPr>
          <a:xfrm>
            <a:off x="611560" y="1484784"/>
            <a:ext cx="7467600" cy="5373216"/>
          </a:xfrm>
        </p:spPr>
        <p:txBody>
          <a:bodyPr>
            <a:normAutofit/>
          </a:bodyPr>
          <a:lstStyle/>
          <a:p>
            <a:pPr>
              <a:spcBef>
                <a:spcPts val="600"/>
              </a:spcBef>
              <a:spcAft>
                <a:spcPts val="1200"/>
              </a:spcAft>
              <a:buNone/>
            </a:pPr>
            <a:r>
              <a:rPr lang="en-AU" sz="2000" b="1" dirty="0" smtClean="0">
                <a:latin typeface="Helvetica" pitchFamily="34" charset="0"/>
              </a:rPr>
              <a:t>Considerations when storing information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Timing of data entry and up-dates, including up-date schedules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Authorities to enter data, including designation of individuals and positions within the business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Identification of specific data that must and must not be entered onto the system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Complying with operational requirements                         of the data system</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Version controls to note dates material                                was last edited/up-dated</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6" name="Picture 5" descr="shutterstock_95857066.jpg"/>
          <p:cNvPicPr/>
          <p:nvPr/>
        </p:nvPicPr>
        <p:blipFill>
          <a:blip r:embed="rId3" cstate="print"/>
          <a:stretch>
            <a:fillRect/>
          </a:stretch>
        </p:blipFill>
        <p:spPr>
          <a:xfrm>
            <a:off x="6498243" y="4293096"/>
            <a:ext cx="1885187" cy="1511796"/>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8208912" cy="1143000"/>
          </a:xfrm>
        </p:spPr>
        <p:txBody>
          <a:bodyPr>
            <a:normAutofit/>
          </a:bodyPr>
          <a:lstStyle/>
          <a:p>
            <a:pPr marL="0"/>
            <a:r>
              <a:rPr lang="en-AU" sz="3400" b="1" dirty="0" smtClean="0">
                <a:solidFill>
                  <a:srgbClr val="FF6600"/>
                </a:solidFill>
                <a:latin typeface="Helvetica" pitchFamily="34" charset="0"/>
              </a:rPr>
              <a:t>Classify and store information</a:t>
            </a:r>
          </a:p>
        </p:txBody>
      </p:sp>
      <p:sp>
        <p:nvSpPr>
          <p:cNvPr id="3" name="Content Placeholder 2"/>
          <p:cNvSpPr>
            <a:spLocks noGrp="1"/>
          </p:cNvSpPr>
          <p:nvPr>
            <p:ph idx="1"/>
          </p:nvPr>
        </p:nvSpPr>
        <p:spPr>
          <a:xfrm>
            <a:off x="611560" y="1484784"/>
            <a:ext cx="7467600" cy="5373216"/>
          </a:xfrm>
        </p:spPr>
        <p:txBody>
          <a:bodyPr>
            <a:normAutofit/>
          </a:bodyPr>
          <a:lstStyle/>
          <a:p>
            <a:pPr>
              <a:spcBef>
                <a:spcPts val="600"/>
              </a:spcBef>
              <a:spcAft>
                <a:spcPts val="600"/>
              </a:spcAft>
              <a:buNone/>
            </a:pPr>
            <a:r>
              <a:rPr lang="en-US" sz="1900" b="1" dirty="0" smtClean="0">
                <a:latin typeface="Helvetica" pitchFamily="34" charset="0"/>
              </a:rPr>
              <a:t>Classifying information</a:t>
            </a:r>
          </a:p>
          <a:p>
            <a:pPr>
              <a:spcBef>
                <a:spcPts val="600"/>
              </a:spcBef>
              <a:spcAft>
                <a:spcPts val="600"/>
              </a:spcAft>
              <a:buNone/>
            </a:pPr>
            <a:r>
              <a:rPr lang="en-US" sz="1900" dirty="0" smtClean="0">
                <a:latin typeface="Helvetica" pitchFamily="34" charset="0"/>
              </a:rPr>
              <a:t>The process of classifying information includes:</a:t>
            </a:r>
          </a:p>
          <a:p>
            <a:pPr lvl="0">
              <a:spcBef>
                <a:spcPts val="600"/>
              </a:spcBef>
              <a:spcAft>
                <a:spcPts val="600"/>
              </a:spcAft>
            </a:pPr>
            <a:r>
              <a:rPr lang="en-US" sz="1900" dirty="0" smtClean="0">
                <a:latin typeface="Helvetica" pitchFamily="34" charset="0"/>
              </a:rPr>
              <a:t>Preserving actual samples</a:t>
            </a:r>
          </a:p>
          <a:p>
            <a:pPr lvl="0">
              <a:spcBef>
                <a:spcPts val="600"/>
              </a:spcBef>
              <a:spcAft>
                <a:spcPts val="600"/>
              </a:spcAft>
            </a:pPr>
            <a:r>
              <a:rPr lang="en-US" sz="1900" dirty="0" smtClean="0">
                <a:latin typeface="Helvetica" pitchFamily="34" charset="0"/>
              </a:rPr>
              <a:t>Organising facts into discrete sections</a:t>
            </a:r>
          </a:p>
          <a:p>
            <a:pPr lvl="0">
              <a:spcBef>
                <a:spcPts val="600"/>
              </a:spcBef>
              <a:spcAft>
                <a:spcPts val="600"/>
              </a:spcAft>
            </a:pPr>
            <a:r>
              <a:rPr lang="en-US" sz="1900" dirty="0" smtClean="0">
                <a:latin typeface="Helvetica" pitchFamily="34" charset="0"/>
              </a:rPr>
              <a:t>Arranging information under nominated headings</a:t>
            </a:r>
          </a:p>
          <a:p>
            <a:pPr lvl="0">
              <a:spcBef>
                <a:spcPts val="600"/>
              </a:spcBef>
              <a:spcAft>
                <a:spcPts val="600"/>
              </a:spcAft>
            </a:pPr>
            <a:r>
              <a:rPr lang="en-US" sz="1900" dirty="0" smtClean="0">
                <a:latin typeface="Helvetica" pitchFamily="34" charset="0"/>
              </a:rPr>
              <a:t>Ordering statistics in date or time sequence</a:t>
            </a:r>
          </a:p>
          <a:p>
            <a:pPr lvl="0">
              <a:spcBef>
                <a:spcPts val="600"/>
              </a:spcBef>
              <a:spcAft>
                <a:spcPts val="600"/>
              </a:spcAft>
            </a:pPr>
            <a:r>
              <a:rPr lang="en-US" sz="1900" dirty="0" smtClean="0">
                <a:latin typeface="Helvetica" pitchFamily="34" charset="0"/>
              </a:rPr>
              <a:t>Contrasting one set of data to another set </a:t>
            </a:r>
            <a:br>
              <a:rPr lang="en-US" sz="1900" dirty="0" smtClean="0">
                <a:latin typeface="Helvetica" pitchFamily="34" charset="0"/>
              </a:rPr>
            </a:br>
            <a:r>
              <a:rPr lang="en-US" sz="1900" dirty="0" smtClean="0">
                <a:latin typeface="Helvetica" pitchFamily="34" charset="0"/>
              </a:rPr>
              <a:t>for the purposes of comparison</a:t>
            </a:r>
          </a:p>
          <a:p>
            <a:pPr lvl="0">
              <a:spcBef>
                <a:spcPts val="600"/>
              </a:spcBef>
              <a:spcAft>
                <a:spcPts val="600"/>
              </a:spcAft>
            </a:pPr>
            <a:r>
              <a:rPr lang="en-US" sz="1900" dirty="0" smtClean="0">
                <a:latin typeface="Helvetica" pitchFamily="34" charset="0"/>
              </a:rPr>
              <a:t>Grouping similar facts and details</a:t>
            </a:r>
          </a:p>
          <a:p>
            <a:pPr lvl="0">
              <a:spcBef>
                <a:spcPts val="600"/>
              </a:spcBef>
              <a:spcAft>
                <a:spcPts val="600"/>
              </a:spcAft>
            </a:pPr>
            <a:r>
              <a:rPr lang="en-US" sz="1900" dirty="0" smtClean="0">
                <a:latin typeface="Helvetica" pitchFamily="34" charset="0"/>
              </a:rPr>
              <a:t>Indexing the information obtained</a:t>
            </a:r>
          </a:p>
          <a:p>
            <a:pPr lvl="0">
              <a:spcBef>
                <a:spcPts val="600"/>
              </a:spcBef>
              <a:spcAft>
                <a:spcPts val="600"/>
              </a:spcAft>
            </a:pPr>
            <a:endParaRPr lang="en-US" sz="1900" dirty="0" smtClean="0">
              <a:latin typeface="Helvetica" pitchFamily="34" charset="0"/>
            </a:endParaRPr>
          </a:p>
          <a:p>
            <a:pPr>
              <a:spcBef>
                <a:spcPts val="600"/>
              </a:spcBef>
              <a:spcAft>
                <a:spcPts val="600"/>
              </a:spcAft>
              <a:buNone/>
            </a:pPr>
            <a:r>
              <a:rPr lang="en-US" sz="1900" b="1" i="1" u="sng" dirty="0" smtClean="0">
                <a:solidFill>
                  <a:srgbClr val="FF6600"/>
                </a:solidFill>
                <a:latin typeface="Helvetica" pitchFamily="34" charset="0"/>
              </a:rPr>
              <a:t>COMPLETE ACTIVITY 8</a:t>
            </a:r>
            <a:endParaRPr lang="en-US" sz="1900" i="1" u="sng" dirty="0" smtClean="0"/>
          </a:p>
          <a:p>
            <a:pPr lvl="0">
              <a:spcBef>
                <a:spcPts val="600"/>
              </a:spcBef>
              <a:spcAft>
                <a:spcPts val="600"/>
              </a:spcAft>
            </a:pPr>
            <a:endParaRPr lang="en-US" sz="19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7" name="Picture 6" descr="A15 shutterstock_173608850[1].JPG"/>
          <p:cNvPicPr/>
          <p:nvPr/>
        </p:nvPicPr>
        <p:blipFill>
          <a:blip r:embed="rId3" cstate="print"/>
          <a:stretch>
            <a:fillRect/>
          </a:stretch>
        </p:blipFill>
        <p:spPr>
          <a:xfrm>
            <a:off x="6228184" y="4221088"/>
            <a:ext cx="2203450" cy="146685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Verify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verifying information</a:t>
            </a:r>
          </a:p>
          <a:p>
            <a:pPr marL="0">
              <a:spcBef>
                <a:spcPts val="600"/>
              </a:spcBef>
              <a:spcAft>
                <a:spcPts val="1200"/>
              </a:spcAft>
              <a:buNone/>
            </a:pPr>
            <a:r>
              <a:rPr lang="en-US" sz="2200" dirty="0" smtClean="0">
                <a:latin typeface="Helvetica" pitchFamily="34" charset="0"/>
              </a:rPr>
              <a:t>Once you have captured information that has been collect or given to you by various sources and organisations it is now time to review and verify  the information and determine its importance, accuracy and relevancy for tours to be conducted:</a:t>
            </a:r>
          </a:p>
          <a:p>
            <a:pPr>
              <a:spcBef>
                <a:spcPts val="600"/>
              </a:spcBef>
              <a:spcAft>
                <a:spcPts val="1200"/>
              </a:spcAft>
            </a:pPr>
            <a:r>
              <a:rPr lang="en-US" sz="2200" dirty="0" smtClean="0">
                <a:latin typeface="Helvetica" pitchFamily="34" charset="0"/>
              </a:rPr>
              <a:t>Why is this important?</a:t>
            </a:r>
          </a:p>
          <a:p>
            <a:pPr>
              <a:spcBef>
                <a:spcPts val="600"/>
              </a:spcBef>
              <a:spcAft>
                <a:spcPts val="1200"/>
              </a:spcAft>
            </a:pPr>
            <a:r>
              <a:rPr lang="en-US" sz="2200" dirty="0" smtClean="0">
                <a:latin typeface="Helvetica" pitchFamily="34" charset="0"/>
              </a:rPr>
              <a:t>How can you do this?</a:t>
            </a:r>
          </a:p>
          <a:p>
            <a:pPr>
              <a:spcBef>
                <a:spcPts val="600"/>
              </a:spcBef>
              <a:spcAft>
                <a:spcPts val="1200"/>
              </a:spcAft>
            </a:pPr>
            <a:r>
              <a:rPr lang="en-US" sz="2200" dirty="0" smtClean="0">
                <a:latin typeface="Helvetica" pitchFamily="34" charset="0"/>
              </a:rPr>
              <a:t>What are the objectives of reviewing                                  and verifying captured information?</a:t>
            </a: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p>
          <a:p>
            <a:endParaRPr lang="en-AU" sz="2200" b="1" dirty="0" smtClean="0"/>
          </a:p>
          <a:p>
            <a:endParaRPr lang="en-US" sz="2200" dirty="0" smtClean="0"/>
          </a:p>
          <a:p>
            <a:pPr>
              <a:spcBef>
                <a:spcPts val="600"/>
              </a:spcBef>
              <a:spcAft>
                <a:spcPts val="600"/>
              </a:spcAft>
            </a:pPr>
            <a:endParaRPr lang="en-US" sz="2200" b="1" dirty="0" smtClean="0">
              <a:latin typeface="Helvetica" pitchFamily="34" charset="0"/>
            </a:endParaRPr>
          </a:p>
          <a:p>
            <a:endParaRPr lang="en-US" sz="22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7" name="Picture 6" descr="shutterstock_122825407.jpg"/>
          <p:cNvPicPr/>
          <p:nvPr/>
        </p:nvPicPr>
        <p:blipFill>
          <a:blip r:embed="rId3" cstate="print"/>
          <a:stretch>
            <a:fillRect/>
          </a:stretch>
        </p:blipFill>
        <p:spPr>
          <a:xfrm>
            <a:off x="6156176" y="4046610"/>
            <a:ext cx="2263502" cy="1531417"/>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Verify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Purpose of interpreting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Gaining further understanding of the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any questions you may have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the key points in which you may </a:t>
            </a:r>
            <a:br>
              <a:rPr lang="en-AU" sz="2200" dirty="0" smtClean="0">
                <a:latin typeface="Helvetica" pitchFamily="34" charset="0"/>
              </a:rPr>
            </a:br>
            <a:r>
              <a:rPr lang="en-AU" sz="2200" dirty="0" smtClean="0">
                <a:latin typeface="Helvetica" pitchFamily="34" charset="0"/>
              </a:rPr>
              <a:t>convey to stakeholders, colleagues </a:t>
            </a:r>
            <a:br>
              <a:rPr lang="en-AU" sz="2200" dirty="0" smtClean="0">
                <a:latin typeface="Helvetica" pitchFamily="34" charset="0"/>
              </a:rPr>
            </a:br>
            <a:r>
              <a:rPr lang="en-AU" sz="2200" dirty="0" smtClean="0">
                <a:latin typeface="Helvetica" pitchFamily="34" charset="0"/>
              </a:rPr>
              <a:t>or clients</a:t>
            </a:r>
          </a:p>
          <a:p>
            <a:pPr lvl="0">
              <a:spcBef>
                <a:spcPts val="600"/>
              </a:spcBef>
              <a:spcAft>
                <a:spcPts val="1200"/>
              </a:spcAft>
            </a:pPr>
            <a:endParaRPr lang="en-US" sz="2200" dirty="0" smtClean="0">
              <a:latin typeface="Helvetica" pitchFamily="34" charset="0"/>
            </a:endParaRPr>
          </a:p>
          <a:p>
            <a:pPr>
              <a:spcBef>
                <a:spcPts val="600"/>
              </a:spcBef>
              <a:spcAft>
                <a:spcPts val="1200"/>
              </a:spcAft>
              <a:buNone/>
            </a:pPr>
            <a:r>
              <a:rPr lang="en-US" sz="2200" b="1" i="1" u="sng" dirty="0" smtClean="0">
                <a:solidFill>
                  <a:srgbClr val="FF6600"/>
                </a:solidFill>
                <a:latin typeface="Helvetica" pitchFamily="34" charset="0"/>
              </a:rPr>
              <a:t>COMPLETE ACTIVITY 9</a:t>
            </a:r>
            <a:endParaRPr lang="en-US" sz="2200" i="1" u="sng"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7" name="Picture 6" descr="shutterstock_91170884.jpg"/>
          <p:cNvPicPr>
            <a:picLocks noChangeAspect="1"/>
          </p:cNvPicPr>
          <p:nvPr/>
        </p:nvPicPr>
        <p:blipFill>
          <a:blip r:embed="rId3" cstate="print"/>
          <a:stretch>
            <a:fillRect/>
          </a:stretch>
        </p:blipFill>
        <p:spPr>
          <a:xfrm>
            <a:off x="6300192" y="2852936"/>
            <a:ext cx="1812032" cy="1527543"/>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Learn required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Why the need to gather and learn more information?</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Based on the process of verifying and interpreting information, further information may need to be gathered:</a:t>
            </a:r>
          </a:p>
          <a:p>
            <a:pPr>
              <a:spcBef>
                <a:spcPts val="600"/>
              </a:spcBef>
              <a:spcAft>
                <a:spcPts val="1200"/>
              </a:spcAft>
            </a:pPr>
            <a:r>
              <a:rPr lang="en-US" sz="2200" dirty="0" smtClean="0">
                <a:latin typeface="Helvetica" pitchFamily="34" charset="0"/>
              </a:rPr>
              <a:t>Why is this required?</a:t>
            </a: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6" name="Picture 5" descr="shutterstock_104238854.jpg"/>
          <p:cNvPicPr/>
          <p:nvPr/>
        </p:nvPicPr>
        <p:blipFill>
          <a:blip r:embed="rId3" cstate="print"/>
          <a:stretch>
            <a:fillRect/>
          </a:stretch>
        </p:blipFill>
        <p:spPr>
          <a:xfrm>
            <a:off x="2627784" y="3717032"/>
            <a:ext cx="2592288" cy="180020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Learn required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Need to gather and learn extra information</a:t>
            </a:r>
          </a:p>
          <a:p>
            <a:pPr lvl="0">
              <a:spcBef>
                <a:spcPts val="600"/>
              </a:spcBef>
              <a:spcAft>
                <a:spcPts val="1200"/>
              </a:spcAft>
            </a:pPr>
            <a:r>
              <a:rPr lang="en-US" sz="2200" dirty="0" smtClean="0">
                <a:latin typeface="Helvetica" pitchFamily="34" charset="0"/>
              </a:rPr>
              <a:t>Paint more context for the tour</a:t>
            </a:r>
          </a:p>
          <a:p>
            <a:pPr lvl="0">
              <a:spcBef>
                <a:spcPts val="600"/>
              </a:spcBef>
              <a:spcAft>
                <a:spcPts val="1200"/>
              </a:spcAft>
            </a:pPr>
            <a:r>
              <a:rPr lang="en-US" sz="2200" dirty="0" smtClean="0">
                <a:latin typeface="Helvetica" pitchFamily="34" charset="0"/>
              </a:rPr>
              <a:t>Describe additional features and information </a:t>
            </a:r>
          </a:p>
          <a:p>
            <a:pPr lvl="0">
              <a:spcBef>
                <a:spcPts val="600"/>
              </a:spcBef>
              <a:spcAft>
                <a:spcPts val="1200"/>
              </a:spcAft>
            </a:pPr>
            <a:r>
              <a:rPr lang="en-US" sz="2200" dirty="0" smtClean="0">
                <a:latin typeface="Helvetica" pitchFamily="34" charset="0"/>
              </a:rPr>
              <a:t>Answer questions asked by tour group </a:t>
            </a:r>
            <a:br>
              <a:rPr lang="en-US" sz="2200" dirty="0" smtClean="0">
                <a:latin typeface="Helvetica" pitchFamily="34" charset="0"/>
              </a:rPr>
            </a:br>
            <a:r>
              <a:rPr lang="en-US" sz="2200" dirty="0" smtClean="0">
                <a:latin typeface="Helvetica" pitchFamily="34" charset="0"/>
              </a:rPr>
              <a:t>members </a:t>
            </a:r>
          </a:p>
          <a:p>
            <a:pPr lvl="0">
              <a:spcBef>
                <a:spcPts val="600"/>
              </a:spcBef>
              <a:spcAft>
                <a:spcPts val="1200"/>
              </a:spcAft>
            </a:pPr>
            <a:r>
              <a:rPr lang="en-US" sz="2200" dirty="0" smtClean="0">
                <a:latin typeface="Helvetica" pitchFamily="34" charset="0"/>
              </a:rPr>
              <a:t>Provide extra detail emerging as required </a:t>
            </a:r>
            <a:br>
              <a:rPr lang="en-US" sz="2200" dirty="0" smtClean="0">
                <a:latin typeface="Helvetica" pitchFamily="34" charset="0"/>
              </a:rPr>
            </a:br>
            <a:r>
              <a:rPr lang="en-US" sz="2200" dirty="0" smtClean="0">
                <a:latin typeface="Helvetica" pitchFamily="34" charset="0"/>
              </a:rPr>
              <a:t>for individual parties</a:t>
            </a:r>
          </a:p>
          <a:p>
            <a:pPr lvl="0">
              <a:spcBef>
                <a:spcPts val="600"/>
              </a:spcBef>
              <a:spcAft>
                <a:spcPts val="1200"/>
              </a:spcAft>
            </a:pPr>
            <a:r>
              <a:rPr lang="en-US" sz="2200" dirty="0" smtClean="0">
                <a:latin typeface="Helvetica" pitchFamily="34" charset="0"/>
              </a:rPr>
              <a:t>Demonstrate professionalism</a:t>
            </a: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7" name="Picture 6" descr="shutterstock_88003519.jpg"/>
          <p:cNvPicPr/>
          <p:nvPr/>
        </p:nvPicPr>
        <p:blipFill>
          <a:blip r:embed="rId3" cstate="print"/>
          <a:stretch>
            <a:fillRect/>
          </a:stretch>
        </p:blipFill>
        <p:spPr>
          <a:xfrm>
            <a:off x="6903782" y="2996952"/>
            <a:ext cx="1333500" cy="2009775"/>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Learn required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Need to gather and learn extra information</a:t>
            </a:r>
          </a:p>
          <a:p>
            <a:pPr lvl="0">
              <a:spcBef>
                <a:spcPts val="600"/>
              </a:spcBef>
              <a:spcAft>
                <a:spcPts val="1200"/>
              </a:spcAft>
            </a:pPr>
            <a:r>
              <a:rPr lang="en-US" sz="2200" dirty="0" smtClean="0">
                <a:latin typeface="Helvetica" pitchFamily="34" charset="0"/>
              </a:rPr>
              <a:t>Help build personal credibility</a:t>
            </a:r>
          </a:p>
          <a:p>
            <a:pPr lvl="0">
              <a:spcBef>
                <a:spcPts val="600"/>
              </a:spcBef>
              <a:spcAft>
                <a:spcPts val="1200"/>
              </a:spcAft>
            </a:pPr>
            <a:r>
              <a:rPr lang="en-US" sz="2200" dirty="0" smtClean="0">
                <a:latin typeface="Helvetica" pitchFamily="34" charset="0"/>
              </a:rPr>
              <a:t>Promote certain businesses, activities or regions associated with the tour</a:t>
            </a:r>
          </a:p>
          <a:p>
            <a:pPr lvl="0">
              <a:spcBef>
                <a:spcPts val="600"/>
              </a:spcBef>
              <a:spcAft>
                <a:spcPts val="1200"/>
              </a:spcAft>
            </a:pPr>
            <a:r>
              <a:rPr lang="en-US" sz="2200" dirty="0" smtClean="0">
                <a:latin typeface="Helvetica" pitchFamily="34" charset="0"/>
              </a:rPr>
              <a:t>Expand on information supplied as part of the scripted commentary</a:t>
            </a:r>
          </a:p>
          <a:p>
            <a:pPr lvl="0">
              <a:spcBef>
                <a:spcPts val="600"/>
              </a:spcBef>
              <a:spcAft>
                <a:spcPts val="1200"/>
              </a:spcAft>
            </a:pPr>
            <a:r>
              <a:rPr lang="en-US" sz="2200" dirty="0" smtClean="0">
                <a:latin typeface="Helvetica" pitchFamily="34" charset="0"/>
              </a:rPr>
              <a:t>Meet tour party expectations by                                    satisfying individual need</a:t>
            </a: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kg.jpg"/>
          <p:cNvPicPr>
            <a:picLocks noChangeAspect="1"/>
          </p:cNvPicPr>
          <p:nvPr/>
        </p:nvPicPr>
        <p:blipFill>
          <a:blip r:embed="rId3" cstate="print"/>
          <a:stretch>
            <a:fillRect/>
          </a:stretch>
        </p:blipFill>
        <p:spPr>
          <a:xfrm>
            <a:off x="6024495" y="4149080"/>
            <a:ext cx="2419720" cy="1617678"/>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Learn required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Ways to learn extra information</a:t>
            </a:r>
          </a:p>
          <a:p>
            <a:pPr>
              <a:spcBef>
                <a:spcPts val="600"/>
              </a:spcBef>
              <a:spcAft>
                <a:spcPts val="1200"/>
              </a:spcAft>
            </a:pPr>
            <a:r>
              <a:rPr lang="en-US" sz="2200" dirty="0" smtClean="0">
                <a:latin typeface="Helvetica" pitchFamily="34" charset="0"/>
              </a:rPr>
              <a:t>Actively studying the material generated</a:t>
            </a:r>
          </a:p>
          <a:p>
            <a:pPr>
              <a:spcBef>
                <a:spcPts val="600"/>
              </a:spcBef>
              <a:spcAft>
                <a:spcPts val="1200"/>
              </a:spcAft>
            </a:pPr>
            <a:r>
              <a:rPr lang="en-US" sz="2200" dirty="0" smtClean="0">
                <a:latin typeface="Helvetica" pitchFamily="34" charset="0"/>
              </a:rPr>
              <a:t>Conducting test activities</a:t>
            </a:r>
          </a:p>
          <a:p>
            <a:pPr>
              <a:spcBef>
                <a:spcPts val="600"/>
              </a:spcBef>
              <a:spcAft>
                <a:spcPts val="1200"/>
              </a:spcAft>
            </a:pPr>
            <a:r>
              <a:rPr lang="en-US" sz="2200" dirty="0" smtClean="0">
                <a:latin typeface="Helvetica" pitchFamily="34" charset="0"/>
              </a:rPr>
              <a:t>Writing additional scripts</a:t>
            </a:r>
          </a:p>
          <a:p>
            <a:pPr>
              <a:spcBef>
                <a:spcPts val="600"/>
              </a:spcBef>
              <a:spcAft>
                <a:spcPts val="1200"/>
              </a:spcAft>
            </a:pPr>
            <a:r>
              <a:rPr lang="en-US" sz="2200" dirty="0" smtClean="0">
                <a:latin typeface="Helvetica" pitchFamily="34" charset="0"/>
              </a:rPr>
              <a:t>Creating alternate presentation options </a:t>
            </a:r>
          </a:p>
          <a:p>
            <a:pPr>
              <a:spcBef>
                <a:spcPts val="600"/>
              </a:spcBef>
              <a:spcAft>
                <a:spcPts val="1200"/>
              </a:spcAft>
            </a:pPr>
            <a:r>
              <a:rPr lang="en-US" sz="2200" dirty="0" smtClean="0">
                <a:latin typeface="Helvetica" pitchFamily="34" charset="0"/>
              </a:rPr>
              <a:t>Updating personal knowledge</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i="1" u="sng" dirty="0" smtClean="0">
                <a:solidFill>
                  <a:srgbClr val="FF6600"/>
                </a:solidFill>
                <a:latin typeface="Helvetica" pitchFamily="34" charset="0"/>
              </a:rPr>
              <a:t>COMPLETE ACTIVITY 10</a:t>
            </a:r>
            <a:endParaRPr lang="en-US" sz="2200" i="1" u="sng" dirty="0" smtClean="0">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6" name="Picture 5" descr="shutterstock_2953316.jpg"/>
          <p:cNvPicPr/>
          <p:nvPr/>
        </p:nvPicPr>
        <p:blipFill>
          <a:blip r:embed="rId3" cstate="print"/>
          <a:stretch>
            <a:fillRect/>
          </a:stretch>
        </p:blipFill>
        <p:spPr>
          <a:xfrm>
            <a:off x="6614109" y="4060141"/>
            <a:ext cx="1767840" cy="144780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776864" cy="4680520"/>
          </a:xfrm>
        </p:spPr>
        <p:txBody>
          <a:bodyPr>
            <a:normAutofit/>
          </a:bodyPr>
          <a:lstStyle/>
          <a:p>
            <a:pPr marL="0">
              <a:buNone/>
            </a:pPr>
            <a:r>
              <a:rPr lang="en-AU" sz="4000" b="1" dirty="0" smtClean="0">
                <a:solidFill>
                  <a:srgbClr val="FF6600"/>
                </a:solidFill>
                <a:latin typeface="Helvetica" pitchFamily="34" charset="0"/>
              </a:rPr>
              <a:t>Element 2:</a:t>
            </a:r>
          </a:p>
          <a:p>
            <a:pPr marL="0">
              <a:buNone/>
            </a:pPr>
            <a:r>
              <a:rPr lang="en-AU" sz="4000" b="1" i="1" dirty="0">
                <a:solidFill>
                  <a:srgbClr val="FF6600"/>
                </a:solidFill>
                <a:latin typeface="Helvetica" pitchFamily="34" charset="0"/>
              </a:rPr>
              <a:t>Prepare an eco-tourism activity</a:t>
            </a:r>
            <a:endParaRPr lang="en-US" sz="4000" b="1" i="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descr="2g.jpg"/>
          <p:cNvPicPr>
            <a:picLocks noChangeAspect="1"/>
          </p:cNvPicPr>
          <p:nvPr/>
        </p:nvPicPr>
        <p:blipFill>
          <a:blip r:embed="rId3" cstate="print"/>
          <a:stretch>
            <a:fillRect/>
          </a:stretch>
        </p:blipFill>
        <p:spPr>
          <a:xfrm>
            <a:off x="2938298" y="3284984"/>
            <a:ext cx="2718816" cy="18105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1858551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a:solidFill>
                  <a:srgbClr val="FF6600"/>
                </a:solidFill>
                <a:latin typeface="Helvetica" pitchFamily="34" charset="0"/>
              </a:rPr>
              <a:t>Prepare an eco-tourism activity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Develop </a:t>
            </a:r>
            <a:r>
              <a:rPr lang="en-AU" sz="2200" dirty="0">
                <a:latin typeface="Helvetica" pitchFamily="34" charset="0"/>
              </a:rPr>
              <a:t>and determine concepts, themes and focal points for potential eco-tourism </a:t>
            </a:r>
            <a:r>
              <a:rPr lang="en-AU" sz="2200" dirty="0" smtClean="0">
                <a:latin typeface="Helvetica" pitchFamily="34" charset="0"/>
              </a:rPr>
              <a:t>activities</a:t>
            </a:r>
          </a:p>
          <a:p>
            <a:pPr>
              <a:spcBef>
                <a:spcPts val="600"/>
              </a:spcBef>
              <a:spcAft>
                <a:spcPts val="1200"/>
              </a:spcAft>
            </a:pPr>
            <a:r>
              <a:rPr lang="en-AU" sz="2200" dirty="0" smtClean="0">
                <a:latin typeface="Helvetica" pitchFamily="34" charset="0"/>
              </a:rPr>
              <a:t>Acquire </a:t>
            </a:r>
            <a:r>
              <a:rPr lang="en-AU" sz="2200" dirty="0">
                <a:latin typeface="Helvetica" pitchFamily="34" charset="0"/>
              </a:rPr>
              <a:t>physical resources to support identified eco-tourism concepts, themes and focal points</a:t>
            </a:r>
          </a:p>
          <a:p>
            <a:pPr>
              <a:spcBef>
                <a:spcPts val="600"/>
              </a:spcBef>
              <a:spcAft>
                <a:spcPts val="1200"/>
              </a:spcAft>
            </a:pPr>
            <a:r>
              <a:rPr lang="en-AU" sz="2200" dirty="0" smtClean="0">
                <a:latin typeface="Helvetica" pitchFamily="34" charset="0"/>
              </a:rPr>
              <a:t>Generate </a:t>
            </a:r>
            <a:r>
              <a:rPr lang="en-AU" sz="2200" dirty="0">
                <a:latin typeface="Helvetica" pitchFamily="34" charset="0"/>
              </a:rPr>
              <a:t>scripted commentaries to support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identified </a:t>
            </a:r>
            <a:r>
              <a:rPr lang="en-AU" sz="2200" dirty="0">
                <a:latin typeface="Helvetica" pitchFamily="34" charset="0"/>
              </a:rPr>
              <a:t>eco-tourism concepts, themes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and </a:t>
            </a:r>
            <a:r>
              <a:rPr lang="en-AU" sz="2200" dirty="0">
                <a:latin typeface="Helvetica" pitchFamily="34" charset="0"/>
              </a:rPr>
              <a:t>focal points</a:t>
            </a: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descr="W607_shutterstock_169040459.jpg"/>
          <p:cNvPicPr>
            <a:picLocks noChangeAspect="1"/>
          </p:cNvPicPr>
          <p:nvPr/>
        </p:nvPicPr>
        <p:blipFill>
          <a:blip r:embed="rId3" cstate="print"/>
          <a:stretch>
            <a:fillRect/>
          </a:stretch>
        </p:blipFill>
        <p:spPr>
          <a:xfrm>
            <a:off x="6372200" y="4293096"/>
            <a:ext cx="2052229" cy="1368152"/>
          </a:xfrm>
          <a:prstGeom prst="rect">
            <a:avLst/>
          </a:prstGeom>
        </p:spPr>
      </p:pic>
    </p:spTree>
    <p:extLst>
      <p:ext uri="{BB962C8B-B14F-4D97-AF65-F5344CB8AC3E}">
        <p14:creationId xmlns:p14="http://schemas.microsoft.com/office/powerpoint/2010/main" val="122017343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a:solidFill>
                  <a:srgbClr val="FF6600"/>
                </a:solidFill>
                <a:latin typeface="Helvetica" pitchFamily="34" charset="0"/>
              </a:rPr>
              <a:t>Prepare an eco-tourism activity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Trial </a:t>
            </a:r>
            <a:r>
              <a:rPr lang="en-AU" sz="2200" dirty="0">
                <a:latin typeface="Helvetica" pitchFamily="34" charset="0"/>
              </a:rPr>
              <a:t>developed eco-tourism activities for identified concepts, themes and focal points</a:t>
            </a:r>
          </a:p>
          <a:p>
            <a:pPr>
              <a:spcBef>
                <a:spcPts val="600"/>
              </a:spcBef>
              <a:spcAft>
                <a:spcPts val="1200"/>
              </a:spcAft>
            </a:pPr>
            <a:r>
              <a:rPr lang="en-AU" sz="2200" dirty="0" smtClean="0">
                <a:latin typeface="Helvetica" pitchFamily="34" charset="0"/>
              </a:rPr>
              <a:t>Revise </a:t>
            </a:r>
            <a:r>
              <a:rPr lang="en-AU" sz="2200" dirty="0">
                <a:latin typeface="Helvetica" pitchFamily="34" charset="0"/>
              </a:rPr>
              <a:t>developed eco-tourism activities </a:t>
            </a:r>
            <a:r>
              <a:rPr lang="en-AU" sz="2200" dirty="0" smtClean="0">
                <a:latin typeface="Helvetica" pitchFamily="34" charset="0"/>
              </a:rPr>
              <a:t>on                                         </a:t>
            </a:r>
            <a:r>
              <a:rPr lang="en-AU" sz="2200" dirty="0">
                <a:latin typeface="Helvetica" pitchFamily="34" charset="0"/>
              </a:rPr>
              <a:t>the basis of feedback</a:t>
            </a:r>
          </a:p>
          <a:p>
            <a:pPr>
              <a:spcBef>
                <a:spcPts val="600"/>
              </a:spcBef>
              <a:spcAft>
                <a:spcPts val="1200"/>
              </a:spcAft>
            </a:pPr>
            <a:r>
              <a:rPr lang="en-AU" sz="2200" dirty="0" smtClean="0">
                <a:latin typeface="Helvetica" pitchFamily="34" charset="0"/>
              </a:rPr>
              <a:t>Promote </a:t>
            </a:r>
            <a:r>
              <a:rPr lang="en-AU" sz="2200" dirty="0">
                <a:latin typeface="Helvetica" pitchFamily="34" charset="0"/>
              </a:rPr>
              <a:t>prepared eco-tourism activities</a:t>
            </a: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6" name="Picture 5" descr="2j.jpg"/>
          <p:cNvPicPr>
            <a:picLocks noChangeAspect="1"/>
          </p:cNvPicPr>
          <p:nvPr/>
        </p:nvPicPr>
        <p:blipFill>
          <a:blip r:embed="rId3" cstate="print"/>
          <a:stretch>
            <a:fillRect/>
          </a:stretch>
        </p:blipFill>
        <p:spPr>
          <a:xfrm>
            <a:off x="6300192" y="4221088"/>
            <a:ext cx="2117976" cy="1418772"/>
          </a:xfrm>
          <a:prstGeom prst="rect">
            <a:avLst/>
          </a:prstGeom>
        </p:spPr>
      </p:pic>
    </p:spTree>
    <p:extLst>
      <p:ext uri="{BB962C8B-B14F-4D97-AF65-F5344CB8AC3E}">
        <p14:creationId xmlns:p14="http://schemas.microsoft.com/office/powerpoint/2010/main" val="122017343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Key points of determining and creating activities</a:t>
            </a:r>
          </a:p>
          <a:p>
            <a:pPr lvl="0">
              <a:spcBef>
                <a:spcPts val="600"/>
              </a:spcBef>
              <a:spcAft>
                <a:spcPts val="1200"/>
              </a:spcAft>
            </a:pPr>
            <a:r>
              <a:rPr lang="en-US" sz="2200" dirty="0" smtClean="0">
                <a:latin typeface="Helvetica" pitchFamily="34" charset="0"/>
              </a:rPr>
              <a:t>Prioritising options that have been identified</a:t>
            </a:r>
          </a:p>
          <a:p>
            <a:pPr lvl="0">
              <a:spcBef>
                <a:spcPts val="600"/>
              </a:spcBef>
              <a:spcAft>
                <a:spcPts val="1200"/>
              </a:spcAft>
            </a:pPr>
            <a:r>
              <a:rPr lang="en-US" sz="2200" dirty="0" smtClean="0">
                <a:latin typeface="Helvetica" pitchFamily="34" charset="0"/>
              </a:rPr>
              <a:t>Evaluating practicality of implementing available options, including impact, cost, sensitivity, timing, safety and sustainability issues</a:t>
            </a:r>
          </a:p>
          <a:p>
            <a:pPr lvl="0">
              <a:spcBef>
                <a:spcPts val="600"/>
              </a:spcBef>
              <a:spcAft>
                <a:spcPts val="1200"/>
              </a:spcAft>
            </a:pPr>
            <a:r>
              <a:rPr lang="en-US" sz="2200" dirty="0" smtClean="0">
                <a:latin typeface="Helvetica" pitchFamily="34" charset="0"/>
              </a:rPr>
              <a:t>Planning physical and ancillary                                     requirements to deliver selected options</a:t>
            </a:r>
          </a:p>
          <a:p>
            <a:pPr lvl="0">
              <a:spcBef>
                <a:spcPts val="600"/>
              </a:spcBef>
              <a:spcAft>
                <a:spcPts val="1200"/>
              </a:spcAft>
            </a:pPr>
            <a:r>
              <a:rPr lang="en-US" sz="2200" dirty="0" smtClean="0">
                <a:latin typeface="Helvetica" pitchFamily="34" charset="0"/>
              </a:rPr>
              <a:t>Setting specific objectives for each                                      eco-tourism activity</a:t>
            </a: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6" name="Picture 5" descr="2f.jpg"/>
          <p:cNvPicPr>
            <a:picLocks noChangeAspect="1"/>
          </p:cNvPicPr>
          <p:nvPr/>
        </p:nvPicPr>
        <p:blipFill>
          <a:blip r:embed="rId3" cstate="print"/>
          <a:stretch>
            <a:fillRect/>
          </a:stretch>
        </p:blipFill>
        <p:spPr>
          <a:xfrm>
            <a:off x="6372200" y="4181727"/>
            <a:ext cx="2104138" cy="1409502"/>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lnSpc>
                <a:spcPct val="110000"/>
              </a:lnSpc>
              <a:spcBef>
                <a:spcPts val="600"/>
              </a:spcBef>
              <a:spcAft>
                <a:spcPts val="600"/>
              </a:spcAft>
              <a:buNone/>
            </a:pPr>
            <a:r>
              <a:rPr lang="en-US" sz="2000" b="1" dirty="0" smtClean="0">
                <a:latin typeface="Helvetica" pitchFamily="34" charset="0"/>
              </a:rPr>
              <a:t>Objectives of interpretive activities</a:t>
            </a:r>
          </a:p>
          <a:p>
            <a:pPr>
              <a:lnSpc>
                <a:spcPct val="110000"/>
              </a:lnSpc>
              <a:spcBef>
                <a:spcPts val="600"/>
              </a:spcBef>
              <a:spcAft>
                <a:spcPts val="600"/>
              </a:spcAft>
              <a:buNone/>
            </a:pPr>
            <a:r>
              <a:rPr lang="en-US" sz="2000" dirty="0" smtClean="0">
                <a:latin typeface="Helvetica" pitchFamily="34" charset="0"/>
              </a:rPr>
              <a:t>Possible objectives for the tour group can include:</a:t>
            </a:r>
          </a:p>
          <a:p>
            <a:pPr lvl="0">
              <a:lnSpc>
                <a:spcPct val="110000"/>
              </a:lnSpc>
              <a:spcBef>
                <a:spcPts val="600"/>
              </a:spcBef>
              <a:spcAft>
                <a:spcPts val="600"/>
              </a:spcAft>
            </a:pPr>
            <a:r>
              <a:rPr lang="en-US" sz="2000" dirty="0" smtClean="0">
                <a:latin typeface="Helvetica" pitchFamily="34" charset="0"/>
              </a:rPr>
              <a:t>Education</a:t>
            </a:r>
          </a:p>
          <a:p>
            <a:pPr lvl="0">
              <a:lnSpc>
                <a:spcPct val="110000"/>
              </a:lnSpc>
              <a:spcBef>
                <a:spcPts val="600"/>
              </a:spcBef>
              <a:spcAft>
                <a:spcPts val="600"/>
              </a:spcAft>
            </a:pPr>
            <a:r>
              <a:rPr lang="en-US" sz="2000" dirty="0" smtClean="0">
                <a:latin typeface="Helvetica" pitchFamily="34" charset="0"/>
              </a:rPr>
              <a:t>Experience</a:t>
            </a:r>
          </a:p>
          <a:p>
            <a:pPr lvl="0">
              <a:lnSpc>
                <a:spcPct val="110000"/>
              </a:lnSpc>
              <a:spcBef>
                <a:spcPts val="600"/>
              </a:spcBef>
              <a:spcAft>
                <a:spcPts val="600"/>
              </a:spcAft>
            </a:pPr>
            <a:r>
              <a:rPr lang="en-US" sz="2000" dirty="0" smtClean="0">
                <a:latin typeface="Helvetica" pitchFamily="34" charset="0"/>
              </a:rPr>
              <a:t>Relaxation</a:t>
            </a:r>
          </a:p>
          <a:p>
            <a:pPr lvl="0">
              <a:lnSpc>
                <a:spcPct val="110000"/>
              </a:lnSpc>
              <a:spcBef>
                <a:spcPts val="600"/>
              </a:spcBef>
              <a:spcAft>
                <a:spcPts val="600"/>
              </a:spcAft>
            </a:pPr>
            <a:r>
              <a:rPr lang="en-US" sz="2000" dirty="0" smtClean="0">
                <a:latin typeface="Helvetica" pitchFamily="34" charset="0"/>
              </a:rPr>
              <a:t>Fun </a:t>
            </a:r>
          </a:p>
          <a:p>
            <a:pPr lvl="0">
              <a:lnSpc>
                <a:spcPct val="110000"/>
              </a:lnSpc>
              <a:spcBef>
                <a:spcPts val="600"/>
              </a:spcBef>
              <a:spcAft>
                <a:spcPts val="600"/>
              </a:spcAft>
            </a:pPr>
            <a:r>
              <a:rPr lang="en-US" sz="2000" dirty="0" smtClean="0">
                <a:latin typeface="Helvetica" pitchFamily="34" charset="0"/>
              </a:rPr>
              <a:t>Excitement</a:t>
            </a:r>
          </a:p>
          <a:p>
            <a:pPr lvl="0">
              <a:lnSpc>
                <a:spcPct val="110000"/>
              </a:lnSpc>
              <a:spcBef>
                <a:spcPts val="600"/>
              </a:spcBef>
              <a:spcAft>
                <a:spcPts val="600"/>
              </a:spcAft>
            </a:pPr>
            <a:r>
              <a:rPr lang="en-US" sz="2000" dirty="0" smtClean="0">
                <a:latin typeface="Helvetica" pitchFamily="34" charset="0"/>
              </a:rPr>
              <a:t>Celebration of an event/historical date</a:t>
            </a:r>
          </a:p>
          <a:p>
            <a:pPr lvl="0">
              <a:lnSpc>
                <a:spcPct val="110000"/>
              </a:lnSpc>
              <a:spcBef>
                <a:spcPts val="600"/>
              </a:spcBef>
              <a:spcAft>
                <a:spcPts val="600"/>
              </a:spcAft>
            </a:pPr>
            <a:r>
              <a:rPr lang="en-US" sz="2000" dirty="0" smtClean="0">
                <a:latin typeface="Helvetica" pitchFamily="34" charset="0"/>
              </a:rPr>
              <a:t>Money raising</a:t>
            </a:r>
          </a:p>
          <a:p>
            <a:pPr lvl="0">
              <a:lnSpc>
                <a:spcPct val="110000"/>
              </a:lnSpc>
              <a:spcBef>
                <a:spcPts val="600"/>
              </a:spcBef>
              <a:spcAft>
                <a:spcPts val="600"/>
              </a:spcAft>
            </a:pPr>
            <a:r>
              <a:rPr lang="en-US" sz="2000" dirty="0" smtClean="0">
                <a:latin typeface="Helvetica" pitchFamily="34" charset="0"/>
              </a:rPr>
              <a:t>Recreation</a:t>
            </a: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3978776" y="2924944"/>
            <a:ext cx="2376264" cy="1512168"/>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000"/>
              </a:spcAft>
              <a:buNone/>
            </a:pPr>
            <a:r>
              <a:rPr lang="en-US" sz="2200" b="1" dirty="0" smtClean="0">
                <a:latin typeface="Helvetica" pitchFamily="34" charset="0"/>
              </a:rPr>
              <a:t>Setting objectives for each eco-tourism activity</a:t>
            </a:r>
          </a:p>
          <a:p>
            <a:pPr>
              <a:spcBef>
                <a:spcPts val="600"/>
              </a:spcBef>
              <a:spcAft>
                <a:spcPts val="1000"/>
              </a:spcAft>
              <a:buNone/>
            </a:pPr>
            <a:r>
              <a:rPr lang="en-US" sz="2200" dirty="0" smtClean="0">
                <a:latin typeface="Helvetica" pitchFamily="34" charset="0"/>
              </a:rPr>
              <a:t>Specific objectives for interpretive activities may relate to:</a:t>
            </a:r>
          </a:p>
          <a:p>
            <a:pPr>
              <a:spcBef>
                <a:spcPts val="600"/>
              </a:spcBef>
              <a:spcAft>
                <a:spcPts val="1000"/>
              </a:spcAft>
            </a:pPr>
            <a:r>
              <a:rPr lang="en-US" sz="2200" dirty="0" smtClean="0">
                <a:latin typeface="Helvetica" pitchFamily="34" charset="0"/>
              </a:rPr>
              <a:t>Educational, historical or cultural issues</a:t>
            </a:r>
          </a:p>
          <a:p>
            <a:pPr>
              <a:spcBef>
                <a:spcPts val="600"/>
              </a:spcBef>
              <a:spcAft>
                <a:spcPts val="1000"/>
              </a:spcAft>
            </a:pPr>
            <a:r>
              <a:rPr lang="en-US" sz="2200" dirty="0" smtClean="0">
                <a:latin typeface="Helvetica" pitchFamily="34" charset="0"/>
              </a:rPr>
              <a:t>Commercial imperatives</a:t>
            </a:r>
          </a:p>
          <a:p>
            <a:pPr>
              <a:spcBef>
                <a:spcPts val="600"/>
              </a:spcBef>
              <a:spcAft>
                <a:spcPts val="1000"/>
              </a:spcAft>
            </a:pPr>
            <a:r>
              <a:rPr lang="en-US" sz="2200" dirty="0" smtClean="0">
                <a:latin typeface="Helvetica" pitchFamily="34" charset="0"/>
              </a:rPr>
              <a:t>Social agendas</a:t>
            </a:r>
          </a:p>
          <a:p>
            <a:pPr>
              <a:spcBef>
                <a:spcPts val="600"/>
              </a:spcBef>
              <a:spcAft>
                <a:spcPts val="1000"/>
              </a:spcAft>
            </a:pPr>
            <a:r>
              <a:rPr lang="en-US" sz="2200" dirty="0" smtClean="0">
                <a:latin typeface="Helvetica" pitchFamily="34" charset="0"/>
              </a:rPr>
              <a:t>Content of the tour</a:t>
            </a:r>
          </a:p>
          <a:p>
            <a:pPr>
              <a:spcBef>
                <a:spcPts val="600"/>
              </a:spcBef>
              <a:spcAft>
                <a:spcPts val="1000"/>
              </a:spcAft>
            </a:pPr>
            <a:r>
              <a:rPr lang="en-US" sz="2200" dirty="0" smtClean="0">
                <a:latin typeface="Helvetica" pitchFamily="34" charset="0"/>
              </a:rPr>
              <a:t>Compliance requirements</a:t>
            </a:r>
          </a:p>
          <a:p>
            <a:pPr>
              <a:spcBef>
                <a:spcPts val="600"/>
              </a:spcBef>
              <a:spcAft>
                <a:spcPts val="1000"/>
              </a:spcAft>
            </a:pPr>
            <a:endParaRPr lang="en-US" sz="2200" dirty="0" smtClean="0">
              <a:latin typeface="Helvetica" pitchFamily="34" charset="0"/>
            </a:endParaRPr>
          </a:p>
          <a:p>
            <a:pPr>
              <a:spcBef>
                <a:spcPts val="600"/>
              </a:spcBef>
              <a:spcAft>
                <a:spcPts val="1000"/>
              </a:spcAft>
              <a:buNone/>
            </a:pPr>
            <a:r>
              <a:rPr lang="en-US" sz="2200" b="1" i="1" u="sng" dirty="0" smtClean="0">
                <a:solidFill>
                  <a:srgbClr val="FF6600"/>
                </a:solidFill>
                <a:latin typeface="Helvetica" pitchFamily="34" charset="0"/>
              </a:rPr>
              <a:t>COMPLETE ACTIVITY 11</a:t>
            </a:r>
            <a:endParaRPr lang="en-US" sz="2200" i="1" u="sng" dirty="0" smtClean="0">
              <a:latin typeface="Helvetica" pitchFamily="34" charset="0"/>
            </a:endParaRPr>
          </a:p>
          <a:p>
            <a:pPr lvl="0">
              <a:spcBef>
                <a:spcPts val="600"/>
              </a:spcBef>
              <a:spcAft>
                <a:spcPts val="1000"/>
              </a:spcAft>
            </a:pPr>
            <a:endParaRPr lang="en-US" sz="2200" dirty="0" smtClean="0">
              <a:latin typeface="Helvetica" pitchFamily="34" charset="0"/>
            </a:endParaRPr>
          </a:p>
          <a:p>
            <a:pPr>
              <a:spcBef>
                <a:spcPts val="600"/>
              </a:spcBef>
              <a:spcAft>
                <a:spcPts val="1000"/>
              </a:spcAft>
              <a:buNone/>
            </a:pPr>
            <a:endParaRPr lang="en-US" sz="2200" dirty="0" smtClean="0"/>
          </a:p>
          <a:p>
            <a:pPr>
              <a:spcBef>
                <a:spcPts val="600"/>
              </a:spcBef>
              <a:spcAft>
                <a:spcPts val="1000"/>
              </a:spcAft>
            </a:pPr>
            <a:endParaRPr lang="en-AU" sz="2200" b="1" dirty="0" smtClean="0"/>
          </a:p>
          <a:p>
            <a:pPr>
              <a:spcBef>
                <a:spcPts val="600"/>
              </a:spcBef>
              <a:spcAft>
                <a:spcPts val="1000"/>
              </a:spcAft>
            </a:pPr>
            <a:endParaRPr lang="en-US" sz="2200" dirty="0" smtClean="0"/>
          </a:p>
          <a:p>
            <a:pPr>
              <a:spcBef>
                <a:spcPts val="600"/>
              </a:spcBef>
              <a:spcAft>
                <a:spcPts val="1000"/>
              </a:spcAft>
            </a:pPr>
            <a:endParaRPr lang="en-US" sz="2200" b="1" dirty="0" smtClean="0">
              <a:latin typeface="Helvetica" pitchFamily="34" charset="0"/>
            </a:endParaRPr>
          </a:p>
          <a:p>
            <a:pPr>
              <a:spcBef>
                <a:spcPts val="600"/>
              </a:spcBef>
              <a:spcAft>
                <a:spcPts val="1000"/>
              </a:spcAft>
            </a:pPr>
            <a:endParaRPr lang="en-US" sz="2200" b="1" dirty="0" smtClean="0"/>
          </a:p>
          <a:p>
            <a:pPr>
              <a:spcBef>
                <a:spcPts val="600"/>
              </a:spcBef>
              <a:spcAft>
                <a:spcPts val="10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5" descr="shutterstock_64920490.jpg"/>
          <p:cNvPicPr/>
          <p:nvPr/>
        </p:nvPicPr>
        <p:blipFill>
          <a:blip r:embed="rId3" cstate="print"/>
          <a:stretch>
            <a:fillRect/>
          </a:stretch>
        </p:blipFill>
        <p:spPr>
          <a:xfrm>
            <a:off x="6372200" y="4221088"/>
            <a:ext cx="2078420" cy="1325116"/>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Developing interpretive activities</a:t>
            </a:r>
          </a:p>
          <a:p>
            <a:pPr marL="0">
              <a:spcBef>
                <a:spcPts val="600"/>
              </a:spcBef>
              <a:spcAft>
                <a:spcPts val="1200"/>
              </a:spcAft>
              <a:buNone/>
            </a:pPr>
            <a:r>
              <a:rPr lang="en-US" sz="2200" dirty="0" smtClean="0">
                <a:latin typeface="Helvetica" pitchFamily="34" charset="0"/>
              </a:rPr>
              <a:t>When the themes and messages for an interpretive activity have been identified the next stage of development is to generate the specific activities which will be used to deliver the experience:</a:t>
            </a:r>
          </a:p>
          <a:p>
            <a:pPr>
              <a:spcBef>
                <a:spcPts val="600"/>
              </a:spcBef>
              <a:spcAft>
                <a:spcPts val="1200"/>
              </a:spcAft>
            </a:pPr>
            <a:r>
              <a:rPr lang="en-US" sz="2200" dirty="0" smtClean="0">
                <a:latin typeface="Helvetica" pitchFamily="34" charset="0"/>
              </a:rPr>
              <a:t>What are examples of activities that can be used to support themes and objectives?</a:t>
            </a:r>
          </a:p>
          <a:p>
            <a:pPr>
              <a:spcBef>
                <a:spcPts val="600"/>
              </a:spcBef>
              <a:spcAft>
                <a:spcPts val="1200"/>
              </a:spcAft>
            </a:pPr>
            <a:r>
              <a:rPr lang="en-US" sz="2200" dirty="0" smtClean="0">
                <a:latin typeface="Helvetica" pitchFamily="34" charset="0"/>
              </a:rPr>
              <a:t>What are considerations when selecting                          interpretive activities</a:t>
            </a: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6444208" y="4293096"/>
            <a:ext cx="1914525" cy="125730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Types of interpretive activities </a:t>
            </a:r>
            <a:endParaRPr lang="en-US" sz="2000" dirty="0" smtClean="0">
              <a:latin typeface="Helvetica" pitchFamily="34" charset="0"/>
            </a:endParaRPr>
          </a:p>
          <a:p>
            <a:pPr lvl="0">
              <a:spcBef>
                <a:spcPts val="600"/>
              </a:spcBef>
              <a:spcAft>
                <a:spcPts val="1200"/>
              </a:spcAft>
            </a:pPr>
            <a:r>
              <a:rPr lang="en-US" sz="2000" dirty="0" smtClean="0">
                <a:latin typeface="Helvetica" pitchFamily="34" charset="0"/>
              </a:rPr>
              <a:t>Guided site activities, including interactive and static displays</a:t>
            </a:r>
          </a:p>
          <a:p>
            <a:pPr lvl="0">
              <a:spcBef>
                <a:spcPts val="600"/>
              </a:spcBef>
              <a:spcAft>
                <a:spcPts val="1200"/>
              </a:spcAft>
            </a:pPr>
            <a:r>
              <a:rPr lang="en-US" sz="2000" dirty="0" smtClean="0">
                <a:latin typeface="Helvetica" pitchFamily="34" charset="0"/>
              </a:rPr>
              <a:t>Touring activities</a:t>
            </a:r>
          </a:p>
          <a:p>
            <a:pPr lvl="0">
              <a:spcBef>
                <a:spcPts val="600"/>
              </a:spcBef>
              <a:spcAft>
                <a:spcPts val="1200"/>
              </a:spcAft>
            </a:pPr>
            <a:r>
              <a:rPr lang="en-US" sz="2000" dirty="0" smtClean="0">
                <a:latin typeface="Helvetica" pitchFamily="34" charset="0"/>
              </a:rPr>
              <a:t>Commentaries</a:t>
            </a:r>
          </a:p>
          <a:p>
            <a:pPr lvl="0">
              <a:spcBef>
                <a:spcPts val="600"/>
              </a:spcBef>
              <a:spcAft>
                <a:spcPts val="1200"/>
              </a:spcAft>
            </a:pPr>
            <a:r>
              <a:rPr lang="en-US" sz="2000" dirty="0" smtClean="0">
                <a:latin typeface="Helvetica" pitchFamily="34" charset="0"/>
              </a:rPr>
              <a:t>Problem solving activities</a:t>
            </a:r>
          </a:p>
          <a:p>
            <a:pPr lvl="0">
              <a:spcBef>
                <a:spcPts val="600"/>
              </a:spcBef>
              <a:spcAft>
                <a:spcPts val="1200"/>
              </a:spcAft>
            </a:pPr>
            <a:r>
              <a:rPr lang="en-US" sz="2000" dirty="0" smtClean="0">
                <a:latin typeface="Helvetica" pitchFamily="34" charset="0"/>
              </a:rPr>
              <a:t>Concept testing activities</a:t>
            </a:r>
          </a:p>
          <a:p>
            <a:pPr lvl="0">
              <a:spcBef>
                <a:spcPts val="600"/>
              </a:spcBef>
              <a:spcAft>
                <a:spcPts val="1200"/>
              </a:spcAft>
            </a:pPr>
            <a:r>
              <a:rPr lang="en-US" sz="2000" dirty="0" smtClean="0">
                <a:latin typeface="Helvetica" pitchFamily="34" charset="0"/>
              </a:rPr>
              <a:t>Spotting and observation activities</a:t>
            </a:r>
          </a:p>
          <a:p>
            <a:pPr lvl="0">
              <a:spcBef>
                <a:spcPts val="600"/>
              </a:spcBef>
              <a:spcAft>
                <a:spcPts val="1200"/>
              </a:spcAft>
            </a:pPr>
            <a:r>
              <a:rPr lang="en-US" sz="2000" dirty="0" smtClean="0">
                <a:latin typeface="Helvetica" pitchFamily="34" charset="0"/>
              </a:rPr>
              <a:t>Any activity that facilitates engagement                                    with the subject that is the focus of the activity</a:t>
            </a:r>
          </a:p>
          <a:p>
            <a:pPr>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pPr>
              <a:spcBef>
                <a:spcPts val="600"/>
              </a:spcBef>
              <a:spcAft>
                <a:spcPts val="1200"/>
              </a:spcAft>
            </a:pPr>
            <a:endParaRPr lang="en-AU" sz="2000" b="1" dirty="0" smtClean="0"/>
          </a:p>
          <a:p>
            <a:pPr>
              <a:spcBef>
                <a:spcPts val="600"/>
              </a:spcBef>
              <a:spcAft>
                <a:spcPts val="1200"/>
              </a:spcAft>
            </a:pPr>
            <a:endParaRPr lang="en-US" sz="2000" dirty="0" smtClean="0"/>
          </a:p>
          <a:p>
            <a:pPr>
              <a:spcBef>
                <a:spcPts val="600"/>
              </a:spcBef>
              <a:spcAft>
                <a:spcPts val="1200"/>
              </a:spcAft>
            </a:pPr>
            <a:endParaRPr lang="en-US" sz="2000" b="1" dirty="0" smtClean="0">
              <a:latin typeface="Helvetica" pitchFamily="34" charset="0"/>
            </a:endParaRPr>
          </a:p>
          <a:p>
            <a:pPr>
              <a:spcBef>
                <a:spcPts val="600"/>
              </a:spcBef>
              <a:spcAft>
                <a:spcPts val="1200"/>
              </a:spcAft>
            </a:pPr>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6" name="Picture 5" descr="1p.jpg"/>
          <p:cNvPicPr/>
          <p:nvPr/>
        </p:nvPicPr>
        <p:blipFill>
          <a:blip r:embed="rId3" cstate="print"/>
          <a:stretch>
            <a:fillRect/>
          </a:stretch>
        </p:blipFill>
        <p:spPr>
          <a:xfrm>
            <a:off x="5508104" y="2996952"/>
            <a:ext cx="2376264" cy="1656184"/>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301208"/>
          </a:xfrm>
        </p:spPr>
        <p:txBody>
          <a:bodyPr>
            <a:normAutofit/>
          </a:bodyPr>
          <a:lstStyle/>
          <a:p>
            <a:pPr>
              <a:lnSpc>
                <a:spcPct val="110000"/>
              </a:lnSpc>
              <a:spcBef>
                <a:spcPts val="600"/>
              </a:spcBef>
              <a:spcAft>
                <a:spcPts val="600"/>
              </a:spcAft>
              <a:buNone/>
            </a:pPr>
            <a:r>
              <a:rPr lang="en-US" sz="2000" b="1" dirty="0" smtClean="0">
                <a:latin typeface="Helvetica" pitchFamily="34" charset="0"/>
              </a:rPr>
              <a:t>Types of interpretive activities </a:t>
            </a:r>
            <a:endParaRPr lang="en-US" sz="2000" dirty="0" smtClean="0">
              <a:latin typeface="Helvetica" pitchFamily="34" charset="0"/>
            </a:endParaRPr>
          </a:p>
          <a:p>
            <a:pPr>
              <a:lnSpc>
                <a:spcPct val="110000"/>
              </a:lnSpc>
              <a:spcBef>
                <a:spcPts val="600"/>
              </a:spcBef>
              <a:spcAft>
                <a:spcPts val="600"/>
              </a:spcAft>
            </a:pPr>
            <a:r>
              <a:rPr lang="en-US" sz="2000" dirty="0" smtClean="0">
                <a:latin typeface="Helvetica" pitchFamily="34" charset="0"/>
              </a:rPr>
              <a:t>Conducting role plays</a:t>
            </a:r>
          </a:p>
          <a:p>
            <a:pPr>
              <a:lnSpc>
                <a:spcPct val="110000"/>
              </a:lnSpc>
              <a:spcBef>
                <a:spcPts val="600"/>
              </a:spcBef>
              <a:spcAft>
                <a:spcPts val="600"/>
              </a:spcAft>
            </a:pPr>
            <a:r>
              <a:rPr lang="en-US" sz="2000" dirty="0" smtClean="0">
                <a:latin typeface="Helvetica" pitchFamily="34" charset="0"/>
              </a:rPr>
              <a:t>Story telling</a:t>
            </a:r>
          </a:p>
          <a:p>
            <a:pPr>
              <a:lnSpc>
                <a:spcPct val="110000"/>
              </a:lnSpc>
              <a:spcBef>
                <a:spcPts val="600"/>
              </a:spcBef>
              <a:spcAft>
                <a:spcPts val="600"/>
              </a:spcAft>
            </a:pPr>
            <a:r>
              <a:rPr lang="en-US" sz="2000" dirty="0" smtClean="0">
                <a:latin typeface="Helvetica" pitchFamily="34" charset="0"/>
              </a:rPr>
              <a:t>Games</a:t>
            </a:r>
          </a:p>
          <a:p>
            <a:pPr>
              <a:lnSpc>
                <a:spcPct val="110000"/>
              </a:lnSpc>
              <a:spcBef>
                <a:spcPts val="600"/>
              </a:spcBef>
              <a:spcAft>
                <a:spcPts val="600"/>
              </a:spcAft>
            </a:pPr>
            <a:r>
              <a:rPr lang="en-US" sz="2000" dirty="0" smtClean="0">
                <a:latin typeface="Helvetica" pitchFamily="34" charset="0"/>
              </a:rPr>
              <a:t>Demonstrations</a:t>
            </a:r>
          </a:p>
          <a:p>
            <a:pPr>
              <a:lnSpc>
                <a:spcPct val="110000"/>
              </a:lnSpc>
              <a:spcBef>
                <a:spcPts val="600"/>
              </a:spcBef>
              <a:spcAft>
                <a:spcPts val="600"/>
              </a:spcAft>
            </a:pPr>
            <a:r>
              <a:rPr lang="en-US" sz="2000" dirty="0" smtClean="0">
                <a:latin typeface="Helvetica" pitchFamily="34" charset="0"/>
              </a:rPr>
              <a:t>Interpretive walking tours</a:t>
            </a:r>
          </a:p>
          <a:p>
            <a:pPr>
              <a:lnSpc>
                <a:spcPct val="110000"/>
              </a:lnSpc>
              <a:spcBef>
                <a:spcPts val="600"/>
              </a:spcBef>
              <a:spcAft>
                <a:spcPts val="600"/>
              </a:spcAft>
            </a:pPr>
            <a:r>
              <a:rPr lang="en-US" sz="2000" dirty="0" smtClean="0">
                <a:latin typeface="Helvetica" pitchFamily="34" charset="0"/>
              </a:rPr>
              <a:t>Participant interaction</a:t>
            </a:r>
          </a:p>
          <a:p>
            <a:pPr>
              <a:lnSpc>
                <a:spcPct val="110000"/>
              </a:lnSpc>
              <a:spcBef>
                <a:spcPts val="600"/>
              </a:spcBef>
              <a:spcAft>
                <a:spcPts val="600"/>
              </a:spcAft>
            </a:pPr>
            <a:r>
              <a:rPr lang="en-US" sz="2000" dirty="0" smtClean="0">
                <a:latin typeface="Helvetica" pitchFamily="34" charset="0"/>
              </a:rPr>
              <a:t>Sensory awareness exercises</a:t>
            </a:r>
          </a:p>
          <a:p>
            <a:pPr>
              <a:lnSpc>
                <a:spcPct val="110000"/>
              </a:lnSpc>
              <a:spcBef>
                <a:spcPts val="600"/>
              </a:spcBef>
              <a:spcAft>
                <a:spcPts val="600"/>
              </a:spcAft>
            </a:pPr>
            <a:r>
              <a:rPr lang="en-US" sz="2000" dirty="0" smtClean="0">
                <a:latin typeface="Helvetica" pitchFamily="34" charset="0"/>
              </a:rPr>
              <a:t>Use of materials</a:t>
            </a:r>
          </a:p>
          <a:p>
            <a:pPr>
              <a:lnSpc>
                <a:spcPct val="110000"/>
              </a:lnSpc>
              <a:spcBef>
                <a:spcPts val="600"/>
              </a:spcBef>
              <a:spcAft>
                <a:spcPts val="600"/>
              </a:spcAft>
            </a:pPr>
            <a:r>
              <a:rPr lang="en-US" sz="2000" dirty="0" smtClean="0">
                <a:latin typeface="Helvetica" pitchFamily="34" charset="0"/>
              </a:rPr>
              <a:t>Use of technology</a:t>
            </a:r>
          </a:p>
          <a:p>
            <a:pPr>
              <a:spcBef>
                <a:spcPts val="600"/>
              </a:spcBef>
              <a:spcAft>
                <a:spcPts val="1200"/>
              </a:spcAft>
              <a:buNone/>
            </a:pPr>
            <a:endParaRPr lang="en-US" sz="2000" dirty="0" smtClean="0">
              <a:latin typeface="Helvetica" pitchFamily="34" charset="0"/>
            </a:endParaRPr>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7" name="Picture 6" descr="C:\Documents and Settings\Godaishu\Desktop\PHOTOS\2014\Shutterstock 25-a-day\Backpackers.jpg"/>
          <p:cNvPicPr/>
          <p:nvPr/>
        </p:nvPicPr>
        <p:blipFill>
          <a:blip r:embed="rId3" cstate="print"/>
          <a:srcRect/>
          <a:stretch>
            <a:fillRect/>
          </a:stretch>
        </p:blipFill>
        <p:spPr bwMode="auto">
          <a:xfrm>
            <a:off x="6758125" y="3667319"/>
            <a:ext cx="1642864" cy="191680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Planning interpretive activities</a:t>
            </a:r>
          </a:p>
          <a:p>
            <a:pPr lvl="0">
              <a:spcBef>
                <a:spcPts val="600"/>
              </a:spcBef>
              <a:spcAft>
                <a:spcPts val="1200"/>
              </a:spcAft>
            </a:pPr>
            <a:r>
              <a:rPr lang="en-US" sz="2200" dirty="0" smtClean="0">
                <a:latin typeface="Helvetica" pitchFamily="34" charset="0"/>
              </a:rPr>
              <a:t>Type of activity</a:t>
            </a:r>
          </a:p>
          <a:p>
            <a:pPr lvl="0">
              <a:spcBef>
                <a:spcPts val="600"/>
              </a:spcBef>
              <a:spcAft>
                <a:spcPts val="1200"/>
              </a:spcAft>
            </a:pPr>
            <a:r>
              <a:rPr lang="en-US" sz="2200" dirty="0" smtClean="0">
                <a:latin typeface="Helvetica" pitchFamily="34" charset="0"/>
              </a:rPr>
              <a:t>Staff who may deliver it</a:t>
            </a:r>
          </a:p>
          <a:p>
            <a:pPr lvl="0">
              <a:spcBef>
                <a:spcPts val="600"/>
              </a:spcBef>
              <a:spcAft>
                <a:spcPts val="1200"/>
              </a:spcAft>
            </a:pPr>
            <a:r>
              <a:rPr lang="en-US" sz="2200" dirty="0" smtClean="0">
                <a:latin typeface="Helvetica" pitchFamily="34" charset="0"/>
              </a:rPr>
              <a:t>Resources available</a:t>
            </a:r>
          </a:p>
          <a:p>
            <a:pPr lvl="0">
              <a:spcBef>
                <a:spcPts val="600"/>
              </a:spcBef>
              <a:spcAft>
                <a:spcPts val="1200"/>
              </a:spcAft>
            </a:pPr>
            <a:r>
              <a:rPr lang="en-US" sz="2200" dirty="0" smtClean="0">
                <a:latin typeface="Helvetica" pitchFamily="34" charset="0"/>
              </a:rPr>
              <a:t>Resources required</a:t>
            </a:r>
          </a:p>
          <a:p>
            <a:pPr lvl="0">
              <a:spcBef>
                <a:spcPts val="600"/>
              </a:spcBef>
              <a:spcAft>
                <a:spcPts val="1200"/>
              </a:spcAft>
            </a:pPr>
            <a:r>
              <a:rPr lang="en-US" sz="2200" dirty="0" smtClean="0">
                <a:latin typeface="Helvetica" pitchFamily="34" charset="0"/>
              </a:rPr>
              <a:t>Time required for planning and </a:t>
            </a:r>
            <a:br>
              <a:rPr lang="en-US" sz="2200" dirty="0" smtClean="0">
                <a:latin typeface="Helvetica" pitchFamily="34" charset="0"/>
              </a:rPr>
            </a:br>
            <a:r>
              <a:rPr lang="en-US" sz="2200" dirty="0" smtClean="0">
                <a:latin typeface="Helvetica" pitchFamily="34" charset="0"/>
              </a:rPr>
              <a:t>implementation</a:t>
            </a:r>
          </a:p>
          <a:p>
            <a:pPr lvl="0">
              <a:spcBef>
                <a:spcPts val="600"/>
              </a:spcBef>
              <a:spcAft>
                <a:spcPts val="1200"/>
              </a:spcAft>
            </a:pPr>
            <a:r>
              <a:rPr lang="en-US" sz="2200" dirty="0" smtClean="0">
                <a:latin typeface="Helvetica" pitchFamily="34" charset="0"/>
              </a:rPr>
              <a:t>Audience numbers</a:t>
            </a: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6" name="Picture 5" descr="shutterstock_185953370.jpg"/>
          <p:cNvPicPr/>
          <p:nvPr/>
        </p:nvPicPr>
        <p:blipFill>
          <a:blip r:embed="rId3" cstate="print"/>
          <a:stretch>
            <a:fillRect/>
          </a:stretch>
        </p:blipFill>
        <p:spPr>
          <a:xfrm>
            <a:off x="5588198" y="2636912"/>
            <a:ext cx="2016224" cy="13681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lnSpcReduction="10000"/>
          </a:bodyPr>
          <a:lstStyle/>
          <a:p>
            <a:pPr lvl="0">
              <a:spcBef>
                <a:spcPts val="600"/>
              </a:spcBef>
              <a:spcAft>
                <a:spcPts val="1200"/>
              </a:spcAft>
              <a:buNone/>
            </a:pPr>
            <a:r>
              <a:rPr lang="en-US" sz="2000" b="1" dirty="0" smtClean="0">
                <a:latin typeface="Helvetica" pitchFamily="34" charset="0"/>
              </a:rPr>
              <a:t>Identify detailed description of activity</a:t>
            </a:r>
          </a:p>
          <a:p>
            <a:pPr lvl="0">
              <a:spcBef>
                <a:spcPts val="600"/>
              </a:spcBef>
              <a:spcAft>
                <a:spcPts val="1200"/>
              </a:spcAft>
            </a:pPr>
            <a:r>
              <a:rPr lang="en-US" sz="2000" dirty="0" smtClean="0">
                <a:latin typeface="Helvetica" pitchFamily="34" charset="0"/>
              </a:rPr>
              <a:t>Sequencing of element</a:t>
            </a:r>
          </a:p>
          <a:p>
            <a:pPr lvl="0">
              <a:spcBef>
                <a:spcPts val="600"/>
              </a:spcBef>
              <a:spcAft>
                <a:spcPts val="1200"/>
              </a:spcAft>
            </a:pPr>
            <a:r>
              <a:rPr lang="en-US" sz="2000" dirty="0" smtClean="0">
                <a:latin typeface="Helvetica" pitchFamily="34" charset="0"/>
              </a:rPr>
              <a:t>Timing</a:t>
            </a:r>
          </a:p>
          <a:p>
            <a:pPr lvl="0">
              <a:spcBef>
                <a:spcPts val="600"/>
              </a:spcBef>
              <a:spcAft>
                <a:spcPts val="1200"/>
              </a:spcAft>
            </a:pPr>
            <a:r>
              <a:rPr lang="en-US" sz="2000" dirty="0" smtClean="0">
                <a:latin typeface="Helvetica" pitchFamily="34" charset="0"/>
              </a:rPr>
              <a:t>Suggested  introduction</a:t>
            </a:r>
          </a:p>
          <a:p>
            <a:pPr lvl="0">
              <a:spcBef>
                <a:spcPts val="600"/>
              </a:spcBef>
              <a:spcAft>
                <a:spcPts val="1200"/>
              </a:spcAft>
            </a:pPr>
            <a:r>
              <a:rPr lang="en-US" sz="2000" dirty="0" smtClean="0">
                <a:latin typeface="Helvetica" pitchFamily="34" charset="0"/>
              </a:rPr>
              <a:t>Actions to be undertaken by presenter</a:t>
            </a:r>
          </a:p>
          <a:p>
            <a:pPr lvl="0">
              <a:spcBef>
                <a:spcPts val="600"/>
              </a:spcBef>
              <a:spcAft>
                <a:spcPts val="1200"/>
              </a:spcAft>
            </a:pPr>
            <a:r>
              <a:rPr lang="en-US" sz="2000" dirty="0" smtClean="0">
                <a:latin typeface="Helvetica" pitchFamily="34" charset="0"/>
              </a:rPr>
              <a:t>Central points to be raised</a:t>
            </a:r>
          </a:p>
          <a:p>
            <a:pPr lvl="0">
              <a:spcBef>
                <a:spcPts val="600"/>
              </a:spcBef>
              <a:spcAft>
                <a:spcPts val="1200"/>
              </a:spcAft>
            </a:pPr>
            <a:r>
              <a:rPr lang="en-US" sz="2000" dirty="0" smtClean="0">
                <a:latin typeface="Helvetica" pitchFamily="34" charset="0"/>
              </a:rPr>
              <a:t>Matters which cannot be shared</a:t>
            </a:r>
          </a:p>
          <a:p>
            <a:pPr lvl="0">
              <a:spcBef>
                <a:spcPts val="600"/>
              </a:spcBef>
              <a:spcAft>
                <a:spcPts val="1200"/>
              </a:spcAft>
            </a:pPr>
            <a:r>
              <a:rPr lang="en-US" sz="2000" dirty="0" smtClean="0">
                <a:latin typeface="Helvetica" pitchFamily="34" charset="0"/>
              </a:rPr>
              <a:t>Agreed involvement of local communities</a:t>
            </a:r>
          </a:p>
          <a:p>
            <a:pPr lvl="0">
              <a:spcBef>
                <a:spcPts val="600"/>
              </a:spcBef>
              <a:spcAft>
                <a:spcPts val="1200"/>
              </a:spcAft>
            </a:pPr>
            <a:r>
              <a:rPr lang="en-US" sz="2000" dirty="0" smtClean="0">
                <a:latin typeface="Helvetica" pitchFamily="34" charset="0"/>
              </a:rPr>
              <a:t>Activities anticipated by tour group members</a:t>
            </a:r>
          </a:p>
          <a:p>
            <a:pPr lvl="0">
              <a:spcBef>
                <a:spcPts val="600"/>
              </a:spcBef>
              <a:spcAft>
                <a:spcPts val="1200"/>
              </a:spcAft>
            </a:pPr>
            <a:r>
              <a:rPr lang="en-US" sz="2000" dirty="0" smtClean="0">
                <a:latin typeface="Helvetica" pitchFamily="34" charset="0"/>
              </a:rPr>
              <a:t>Central aspect of the activity</a:t>
            </a:r>
          </a:p>
          <a:p>
            <a:pPr>
              <a:spcBef>
                <a:spcPts val="600"/>
              </a:spcBef>
              <a:spcAft>
                <a:spcPts val="1200"/>
              </a:spcAft>
              <a:buNone/>
            </a:pPr>
            <a:endParaRPr lang="en-US" sz="2000" dirty="0" smtClean="0">
              <a:latin typeface="Helvetica" pitchFamily="34" charset="0"/>
            </a:endParaRPr>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pPr>
              <a:spcBef>
                <a:spcPts val="600"/>
              </a:spcBef>
              <a:spcAft>
                <a:spcPts val="1200"/>
              </a:spcAft>
            </a:pPr>
            <a:endParaRPr lang="en-AU" sz="2000" b="1" dirty="0" smtClean="0"/>
          </a:p>
          <a:p>
            <a:pPr>
              <a:spcBef>
                <a:spcPts val="600"/>
              </a:spcBef>
              <a:spcAft>
                <a:spcPts val="1200"/>
              </a:spcAft>
            </a:pPr>
            <a:endParaRPr lang="en-US" sz="2000" dirty="0" smtClean="0"/>
          </a:p>
          <a:p>
            <a:pPr>
              <a:spcBef>
                <a:spcPts val="600"/>
              </a:spcBef>
              <a:spcAft>
                <a:spcPts val="1200"/>
              </a:spcAft>
            </a:pPr>
            <a:endParaRPr lang="en-US" sz="2000" b="1" dirty="0" smtClean="0">
              <a:latin typeface="Helvetica" pitchFamily="34" charset="0"/>
            </a:endParaRPr>
          </a:p>
          <a:p>
            <a:pPr>
              <a:spcBef>
                <a:spcPts val="600"/>
              </a:spcBef>
              <a:spcAft>
                <a:spcPts val="1200"/>
              </a:spcAft>
            </a:pPr>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7" name="Picture 6" descr="C:\Documents and Settings\Godaishu\Desktop\PHOTOS\2014\Shutterstock 25-a-day\shutterstock_82931998.jpg"/>
          <p:cNvPicPr/>
          <p:nvPr/>
        </p:nvPicPr>
        <p:blipFill>
          <a:blip r:embed="rId3" cstate="print"/>
          <a:srcRect/>
          <a:stretch>
            <a:fillRect/>
          </a:stretch>
        </p:blipFill>
        <p:spPr bwMode="auto">
          <a:xfrm>
            <a:off x="6372200" y="4060504"/>
            <a:ext cx="2088232" cy="14401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Using specialist personnel</a:t>
            </a:r>
          </a:p>
          <a:p>
            <a:pPr marL="0">
              <a:spcBef>
                <a:spcPts val="600"/>
              </a:spcBef>
              <a:spcAft>
                <a:spcPts val="1200"/>
              </a:spcAft>
              <a:buNone/>
            </a:pPr>
            <a:r>
              <a:rPr lang="en-US" sz="2000" dirty="0" smtClean="0">
                <a:latin typeface="Helvetica" pitchFamily="34" charset="0"/>
              </a:rPr>
              <a:t>In some cases those with responsibility for developing an interpretive activity may be able to involve a range of specialist personnel in the development phase.</a:t>
            </a:r>
          </a:p>
          <a:p>
            <a:pPr>
              <a:spcBef>
                <a:spcPts val="600"/>
              </a:spcBef>
              <a:spcAft>
                <a:spcPts val="1200"/>
              </a:spcAft>
              <a:buNone/>
            </a:pPr>
            <a:r>
              <a:rPr lang="en-US" sz="2000" dirty="0" smtClean="0">
                <a:latin typeface="Helvetica" pitchFamily="34" charset="0"/>
              </a:rPr>
              <a:t>What are examples of:</a:t>
            </a:r>
          </a:p>
          <a:p>
            <a:pPr>
              <a:spcBef>
                <a:spcPts val="600"/>
              </a:spcBef>
              <a:spcAft>
                <a:spcPts val="1200"/>
              </a:spcAft>
            </a:pPr>
            <a:r>
              <a:rPr lang="en-US" sz="2000" dirty="0" smtClean="0">
                <a:latin typeface="Helvetica" pitchFamily="34" charset="0"/>
              </a:rPr>
              <a:t>Subject matter experts</a:t>
            </a:r>
          </a:p>
          <a:p>
            <a:pPr>
              <a:spcBef>
                <a:spcPts val="600"/>
              </a:spcBef>
              <a:spcAft>
                <a:spcPts val="1200"/>
              </a:spcAft>
            </a:pPr>
            <a:r>
              <a:rPr lang="en-US" sz="2000" dirty="0" smtClean="0">
                <a:latin typeface="Helvetica" pitchFamily="34" charset="0"/>
              </a:rPr>
              <a:t>Cultural advisers</a:t>
            </a:r>
          </a:p>
          <a:p>
            <a:pPr>
              <a:spcBef>
                <a:spcPts val="600"/>
              </a:spcBef>
              <a:spcAft>
                <a:spcPts val="1200"/>
              </a:spcAft>
            </a:pPr>
            <a:r>
              <a:rPr lang="en-US" sz="2000" dirty="0" smtClean="0">
                <a:latin typeface="Helvetica" pitchFamily="34" charset="0"/>
              </a:rPr>
              <a:t>Technical advisors and experts</a:t>
            </a:r>
          </a:p>
          <a:p>
            <a:pPr>
              <a:spcBef>
                <a:spcPts val="600"/>
              </a:spcBef>
              <a:spcAft>
                <a:spcPts val="1200"/>
              </a:spcAft>
            </a:pPr>
            <a:r>
              <a:rPr lang="en-US" sz="2000" dirty="0" smtClean="0">
                <a:latin typeface="Helvetica" pitchFamily="34" charset="0"/>
              </a:rPr>
              <a:t>Environmental educators</a:t>
            </a:r>
          </a:p>
          <a:p>
            <a:pPr>
              <a:spcBef>
                <a:spcPts val="600"/>
              </a:spcBef>
              <a:spcAft>
                <a:spcPts val="1200"/>
              </a:spcAft>
            </a:pPr>
            <a:r>
              <a:rPr lang="en-US" sz="2000" dirty="0" smtClean="0">
                <a:latin typeface="Helvetica" pitchFamily="34" charset="0"/>
              </a:rPr>
              <a:t>Interpretive consultants</a:t>
            </a:r>
          </a:p>
          <a:p>
            <a:pPr>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6" name="Picture 5" descr="shutterstock_62285248.jpg"/>
          <p:cNvPicPr/>
          <p:nvPr/>
        </p:nvPicPr>
        <p:blipFill>
          <a:blip r:embed="rId3" cstate="print"/>
          <a:stretch>
            <a:fillRect/>
          </a:stretch>
        </p:blipFill>
        <p:spPr>
          <a:xfrm>
            <a:off x="6300192" y="4221088"/>
            <a:ext cx="2133600" cy="1419225"/>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Develop eco-tourism activities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Involve local community participation</a:t>
            </a:r>
          </a:p>
          <a:p>
            <a:pPr>
              <a:spcBef>
                <a:spcPts val="600"/>
              </a:spcBef>
              <a:spcAft>
                <a:spcPts val="1200"/>
              </a:spcAft>
            </a:pPr>
            <a:r>
              <a:rPr lang="en-US" sz="2200" dirty="0" smtClean="0">
                <a:latin typeface="Helvetica" pitchFamily="34" charset="0"/>
              </a:rPr>
              <a:t>Employing or engaging local people in nominated roles</a:t>
            </a:r>
          </a:p>
          <a:p>
            <a:pPr>
              <a:spcBef>
                <a:spcPts val="600"/>
              </a:spcBef>
              <a:spcAft>
                <a:spcPts val="1200"/>
              </a:spcAft>
            </a:pPr>
            <a:r>
              <a:rPr lang="en-US" sz="2200" dirty="0" smtClean="0">
                <a:latin typeface="Helvetica" pitchFamily="34" charset="0"/>
              </a:rPr>
              <a:t>Capitalising on retail opportunities </a:t>
            </a:r>
          </a:p>
          <a:p>
            <a:pPr>
              <a:spcBef>
                <a:spcPts val="600"/>
              </a:spcBef>
              <a:spcAft>
                <a:spcPts val="1200"/>
              </a:spcAft>
            </a:pPr>
            <a:r>
              <a:rPr lang="en-US" sz="2200" dirty="0" smtClean="0">
                <a:latin typeface="Helvetica" pitchFamily="34" charset="0"/>
              </a:rPr>
              <a:t>Increasing levels of public exposure for issues</a:t>
            </a:r>
          </a:p>
          <a:p>
            <a:pPr>
              <a:spcBef>
                <a:spcPts val="600"/>
              </a:spcBef>
              <a:spcAft>
                <a:spcPts val="1200"/>
              </a:spcAft>
            </a:pPr>
            <a:r>
              <a:rPr lang="en-US" sz="2200" dirty="0" smtClean="0">
                <a:latin typeface="Helvetica" pitchFamily="34" charset="0"/>
              </a:rPr>
              <a:t>Chance to redress public misconceptions</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i="1" u="sng" dirty="0" smtClean="0">
                <a:solidFill>
                  <a:srgbClr val="FF6600"/>
                </a:solidFill>
                <a:latin typeface="Helvetica" pitchFamily="34" charset="0"/>
              </a:rPr>
              <a:t>COMPLETE ACTIVITY 12</a:t>
            </a:r>
            <a:endParaRPr lang="en-US" sz="2200" i="1" u="sng"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pPr>
            <a:endParaRPr lang="en-AU" sz="2400" b="1" dirty="0" smtClean="0"/>
          </a:p>
          <a:p>
            <a:pPr>
              <a:spcBef>
                <a:spcPts val="600"/>
              </a:spcBef>
              <a:spcAft>
                <a:spcPts val="1200"/>
              </a:spcAft>
            </a:pPr>
            <a:endParaRPr lang="en-US" sz="2400" dirty="0" smtClean="0"/>
          </a:p>
          <a:p>
            <a:pPr>
              <a:spcBef>
                <a:spcPts val="600"/>
              </a:spcBef>
              <a:spcAft>
                <a:spcPts val="1200"/>
              </a:spcAft>
            </a:pPr>
            <a:endParaRPr lang="en-US" sz="2200" b="1" dirty="0" smtClean="0">
              <a:latin typeface="Helvetica" pitchFamily="34" charset="0"/>
            </a:endParaRPr>
          </a:p>
          <a:p>
            <a:pPr>
              <a:spcBef>
                <a:spcPts val="600"/>
              </a:spcBef>
              <a:spcAft>
                <a:spcPts val="1200"/>
              </a:spcAft>
            </a:pPr>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7" name="Picture 6" descr="https://farm3.staticflickr.com/2558/3696750357_9dbe46f5d2_o.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8184" y="4293096"/>
            <a:ext cx="2150745" cy="1428750"/>
          </a:xfrm>
          <a:prstGeom prst="rect">
            <a:avLst/>
          </a:prstGeom>
          <a:noFill/>
          <a:ln>
            <a:noFill/>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physical resources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Importance of identifying required resources</a:t>
            </a:r>
          </a:p>
          <a:p>
            <a:pPr marL="0">
              <a:spcBef>
                <a:spcPts val="600"/>
              </a:spcBef>
              <a:spcAft>
                <a:spcPts val="1200"/>
              </a:spcAft>
              <a:buNone/>
            </a:pPr>
            <a:r>
              <a:rPr lang="en-US" sz="2200" dirty="0" smtClean="0">
                <a:latin typeface="Helvetica" pitchFamily="34" charset="0"/>
              </a:rPr>
              <a:t>When interpretive activities have been authorised for inclusion as part of a tour there will be a need to develop materials and resources to enable and support the delivery of the activity when on-tour:</a:t>
            </a:r>
          </a:p>
          <a:p>
            <a:pPr>
              <a:spcBef>
                <a:spcPts val="600"/>
              </a:spcBef>
              <a:spcAft>
                <a:spcPts val="1200"/>
              </a:spcAft>
            </a:pPr>
            <a:r>
              <a:rPr lang="en-US" sz="2200" dirty="0" smtClean="0">
                <a:latin typeface="Helvetica" pitchFamily="34" charset="0"/>
              </a:rPr>
              <a:t>What are examples of resources that can be </a:t>
            </a:r>
            <a:br>
              <a:rPr lang="en-US" sz="2200" dirty="0" smtClean="0">
                <a:latin typeface="Helvetica" pitchFamily="34" charset="0"/>
              </a:rPr>
            </a:br>
            <a:r>
              <a:rPr lang="en-US" sz="2200" dirty="0" smtClean="0">
                <a:latin typeface="Helvetica" pitchFamily="34" charset="0"/>
              </a:rPr>
              <a:t>used in a tour or activity?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1l.jpg"/>
          <p:cNvPicPr/>
          <p:nvPr/>
        </p:nvPicPr>
        <p:blipFill>
          <a:blip r:embed="rId3" cstate="print"/>
          <a:stretch>
            <a:fillRect/>
          </a:stretch>
        </p:blipFill>
        <p:spPr>
          <a:xfrm>
            <a:off x="7064130" y="3212976"/>
            <a:ext cx="1275080" cy="1685925"/>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physical resources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Importance of identifying required resources</a:t>
            </a:r>
          </a:p>
          <a:p>
            <a:pPr marL="360000" indent="-360000">
              <a:spcBef>
                <a:spcPts val="600"/>
              </a:spcBef>
              <a:spcAft>
                <a:spcPts val="1200"/>
              </a:spcAft>
            </a:pPr>
            <a:r>
              <a:rPr lang="en-US" sz="2200" dirty="0" smtClean="0">
                <a:latin typeface="Helvetica" pitchFamily="34" charset="0"/>
              </a:rPr>
              <a:t>Cross-check requirements against supply</a:t>
            </a:r>
          </a:p>
          <a:p>
            <a:pPr marL="360000" indent="-360000">
              <a:spcBef>
                <a:spcPts val="600"/>
              </a:spcBef>
              <a:spcAft>
                <a:spcPts val="1200"/>
              </a:spcAft>
            </a:pPr>
            <a:r>
              <a:rPr lang="en-US" sz="2200" dirty="0" smtClean="0">
                <a:latin typeface="Helvetica" pitchFamily="34" charset="0"/>
              </a:rPr>
              <a:t>Determine financial parameters/budget</a:t>
            </a:r>
          </a:p>
          <a:p>
            <a:pPr marL="360000" indent="-360000">
              <a:spcBef>
                <a:spcPts val="600"/>
              </a:spcBef>
              <a:spcAft>
                <a:spcPts val="1200"/>
              </a:spcAft>
            </a:pPr>
            <a:r>
              <a:rPr lang="en-US" sz="2200" dirty="0" smtClean="0">
                <a:latin typeface="Helvetica" pitchFamily="34" charset="0"/>
              </a:rPr>
              <a:t>Ensure all required resources are prepared and loaded for the tour or activity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1c.jpg"/>
          <p:cNvPicPr>
            <a:picLocks noChangeAspect="1"/>
          </p:cNvPicPr>
          <p:nvPr/>
        </p:nvPicPr>
        <p:blipFill>
          <a:blip r:embed="rId3" cstate="print"/>
          <a:stretch>
            <a:fillRect/>
          </a:stretch>
        </p:blipFill>
        <p:spPr>
          <a:xfrm>
            <a:off x="2987824" y="4437112"/>
            <a:ext cx="2336621" cy="1498096"/>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Acquire physical resources </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US" sz="2000" b="1" dirty="0" smtClean="0">
                <a:latin typeface="Helvetica" pitchFamily="34" charset="0"/>
              </a:rPr>
              <a:t>Types of resources required to deliver interpretive activities</a:t>
            </a:r>
          </a:p>
          <a:p>
            <a:pPr>
              <a:spcBef>
                <a:spcPts val="600"/>
              </a:spcBef>
              <a:spcAft>
                <a:spcPts val="1200"/>
              </a:spcAft>
            </a:pPr>
            <a:r>
              <a:rPr lang="en-US" sz="2000" dirty="0" smtClean="0">
                <a:latin typeface="Helvetica" pitchFamily="34" charset="0"/>
              </a:rPr>
              <a:t>Financial resources</a:t>
            </a:r>
          </a:p>
          <a:p>
            <a:pPr>
              <a:spcBef>
                <a:spcPts val="600"/>
              </a:spcBef>
              <a:spcAft>
                <a:spcPts val="1200"/>
              </a:spcAft>
            </a:pPr>
            <a:r>
              <a:rPr lang="en-US" sz="2000" dirty="0" smtClean="0">
                <a:latin typeface="Helvetica" pitchFamily="34" charset="0"/>
              </a:rPr>
              <a:t>Human resources</a:t>
            </a:r>
          </a:p>
          <a:p>
            <a:pPr>
              <a:spcBef>
                <a:spcPts val="600"/>
              </a:spcBef>
              <a:spcAft>
                <a:spcPts val="1200"/>
              </a:spcAft>
            </a:pPr>
            <a:r>
              <a:rPr lang="en-US" sz="2000" dirty="0" smtClean="0">
                <a:latin typeface="Helvetica" pitchFamily="34" charset="0"/>
              </a:rPr>
              <a:t>Materials</a:t>
            </a:r>
          </a:p>
          <a:p>
            <a:pPr>
              <a:spcBef>
                <a:spcPts val="600"/>
              </a:spcBef>
              <a:spcAft>
                <a:spcPts val="1200"/>
              </a:spcAft>
            </a:pPr>
            <a:r>
              <a:rPr lang="en-US" sz="2000" dirty="0" smtClean="0">
                <a:latin typeface="Helvetica" pitchFamily="34" charset="0"/>
              </a:rPr>
              <a:t>On-tour documents</a:t>
            </a:r>
          </a:p>
          <a:p>
            <a:pPr>
              <a:spcBef>
                <a:spcPts val="600"/>
              </a:spcBef>
              <a:spcAft>
                <a:spcPts val="1200"/>
              </a:spcAft>
            </a:pPr>
            <a:r>
              <a:rPr lang="en-US" sz="2000" dirty="0" smtClean="0">
                <a:latin typeface="Helvetica" pitchFamily="34" charset="0"/>
              </a:rPr>
              <a:t>Activity-related physical resources </a:t>
            </a:r>
          </a:p>
          <a:p>
            <a:pPr>
              <a:spcBef>
                <a:spcPts val="600"/>
              </a:spcBef>
              <a:spcAft>
                <a:spcPts val="1200"/>
              </a:spcAft>
            </a:pPr>
            <a:r>
              <a:rPr lang="en-US" sz="2000" dirty="0" smtClean="0">
                <a:latin typeface="Helvetica" pitchFamily="34" charset="0"/>
              </a:rPr>
              <a:t>Presentation equipment </a:t>
            </a:r>
          </a:p>
          <a:p>
            <a:pPr>
              <a:spcBef>
                <a:spcPts val="600"/>
              </a:spcBef>
              <a:spcAft>
                <a:spcPts val="1200"/>
              </a:spcAft>
            </a:pPr>
            <a:endParaRPr lang="en-US" sz="2000" dirty="0" smtClean="0">
              <a:latin typeface="Helvetica" pitchFamily="34" charset="0"/>
            </a:endParaRPr>
          </a:p>
          <a:p>
            <a:pPr>
              <a:spcBef>
                <a:spcPts val="600"/>
              </a:spcBef>
              <a:spcAft>
                <a:spcPts val="1200"/>
              </a:spcAft>
              <a:buNone/>
            </a:pPr>
            <a:r>
              <a:rPr lang="en-US" sz="2000" b="1" i="1" u="sng" dirty="0" smtClean="0">
                <a:solidFill>
                  <a:srgbClr val="FF6600"/>
                </a:solidFill>
                <a:latin typeface="Helvetica" pitchFamily="34" charset="0"/>
              </a:rPr>
              <a:t>COMPLETE ACTIVITY 13</a:t>
            </a:r>
            <a:endParaRPr lang="en-US" sz="2000" i="1" u="sng" dirty="0" smtClean="0">
              <a:latin typeface="Helvetica" pitchFamily="34" charset="0"/>
            </a:endParaRPr>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7" name="Picture 6" descr="2f.jpg"/>
          <p:cNvPicPr/>
          <p:nvPr/>
        </p:nvPicPr>
        <p:blipFill>
          <a:blip r:embed="rId3" cstate="print"/>
          <a:stretch>
            <a:fillRect/>
          </a:stretch>
        </p:blipFill>
        <p:spPr>
          <a:xfrm>
            <a:off x="5940152" y="3861048"/>
            <a:ext cx="2478524" cy="1564382"/>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Acquire physical resources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Development or acquisition resources</a:t>
            </a:r>
          </a:p>
          <a:p>
            <a:pPr>
              <a:spcBef>
                <a:spcPts val="600"/>
              </a:spcBef>
              <a:spcAft>
                <a:spcPts val="1200"/>
              </a:spcAft>
              <a:buNone/>
            </a:pPr>
            <a:r>
              <a:rPr lang="en-US" sz="2200" dirty="0" smtClean="0">
                <a:latin typeface="Helvetica" pitchFamily="34" charset="0"/>
              </a:rPr>
              <a:t>Materials and physical resources may need to be:</a:t>
            </a:r>
          </a:p>
          <a:p>
            <a:pPr>
              <a:spcBef>
                <a:spcPts val="600"/>
              </a:spcBef>
              <a:spcAft>
                <a:spcPts val="1200"/>
              </a:spcAft>
            </a:pPr>
            <a:r>
              <a:rPr lang="en-US" sz="2200" dirty="0" smtClean="0">
                <a:latin typeface="Helvetica" pitchFamily="34" charset="0"/>
              </a:rPr>
              <a:t>Developed</a:t>
            </a:r>
          </a:p>
          <a:p>
            <a:pPr>
              <a:spcBef>
                <a:spcPts val="600"/>
              </a:spcBef>
              <a:spcAft>
                <a:spcPts val="1200"/>
              </a:spcAft>
            </a:pPr>
            <a:r>
              <a:rPr lang="en-US" sz="2200" dirty="0" smtClean="0">
                <a:latin typeface="Helvetica" pitchFamily="34" charset="0"/>
              </a:rPr>
              <a:t>Acquired</a:t>
            </a:r>
          </a:p>
          <a:p>
            <a:pPr>
              <a:spcBef>
                <a:spcPts val="600"/>
              </a:spcBef>
              <a:spcAft>
                <a:spcPts val="1200"/>
              </a:spcAft>
            </a:pPr>
            <a:r>
              <a:rPr lang="en-US" sz="2200" dirty="0" smtClean="0">
                <a:latin typeface="Helvetica" pitchFamily="34" charset="0"/>
              </a:rPr>
              <a:t>What is the difference?</a:t>
            </a: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6" name="Picture 5" descr="C:\Documents and Settings\Godaishu\Desktop\PHOTOS\2014\Shutterstock 25-a-day\shutterstock_188496518.jpg"/>
          <p:cNvPicPr/>
          <p:nvPr/>
        </p:nvPicPr>
        <p:blipFill>
          <a:blip r:embed="rId3" cstate="print"/>
          <a:srcRect/>
          <a:stretch>
            <a:fillRect/>
          </a:stretch>
        </p:blipFill>
        <p:spPr bwMode="auto">
          <a:xfrm>
            <a:off x="4709628" y="2708920"/>
            <a:ext cx="2144008" cy="15750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Acquire physical resources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Development of resources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Researching what is required</a:t>
            </a:r>
          </a:p>
          <a:p>
            <a:pPr lvl="0">
              <a:spcBef>
                <a:spcPts val="600"/>
              </a:spcBef>
              <a:spcAft>
                <a:spcPts val="1200"/>
              </a:spcAft>
            </a:pPr>
            <a:r>
              <a:rPr lang="en-US" sz="2200" dirty="0" smtClean="0">
                <a:latin typeface="Helvetica" pitchFamily="34" charset="0"/>
              </a:rPr>
              <a:t>Preparing materials</a:t>
            </a:r>
          </a:p>
          <a:p>
            <a:pPr lvl="0">
              <a:spcBef>
                <a:spcPts val="600"/>
              </a:spcBef>
              <a:spcAft>
                <a:spcPts val="1200"/>
              </a:spcAft>
            </a:pPr>
            <a:r>
              <a:rPr lang="en-US" sz="2200" dirty="0" smtClean="0">
                <a:latin typeface="Helvetica" pitchFamily="34" charset="0"/>
              </a:rPr>
              <a:t>Writing handouts, scripts, instructions and information</a:t>
            </a:r>
          </a:p>
          <a:p>
            <a:pPr lvl="0">
              <a:spcBef>
                <a:spcPts val="600"/>
              </a:spcBef>
              <a:spcAft>
                <a:spcPts val="1200"/>
              </a:spcAft>
            </a:pPr>
            <a:r>
              <a:rPr lang="en-US" sz="2200" dirty="0" smtClean="0">
                <a:latin typeface="Helvetica" pitchFamily="34" charset="0"/>
              </a:rPr>
              <a:t>Making a film/DVD</a:t>
            </a:r>
          </a:p>
          <a:p>
            <a:pPr lvl="0">
              <a:spcBef>
                <a:spcPts val="600"/>
              </a:spcBef>
              <a:spcAft>
                <a:spcPts val="1200"/>
              </a:spcAft>
            </a:pPr>
            <a:r>
              <a:rPr lang="en-US" sz="2200" dirty="0" smtClean="0">
                <a:latin typeface="Helvetica" pitchFamily="34" charset="0"/>
              </a:rPr>
              <a:t>Generating things ‘from scratch’</a:t>
            </a:r>
          </a:p>
          <a:p>
            <a:pPr lvl="0">
              <a:spcBef>
                <a:spcPts val="600"/>
              </a:spcBef>
              <a:spcAft>
                <a:spcPts val="1200"/>
              </a:spcAft>
            </a:pPr>
            <a:r>
              <a:rPr lang="en-US" sz="2200" dirty="0" smtClean="0">
                <a:latin typeface="Helvetica" pitchFamily="34" charset="0"/>
              </a:rPr>
              <a:t>Modifying existing resources</a:t>
            </a: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7" name="Picture 6" descr="13.jpg"/>
          <p:cNvPicPr>
            <a:picLocks noChangeAspect="1"/>
          </p:cNvPicPr>
          <p:nvPr/>
        </p:nvPicPr>
        <p:blipFill>
          <a:blip r:embed="rId3" cstate="print"/>
          <a:stretch>
            <a:fillRect/>
          </a:stretch>
        </p:blipFill>
        <p:spPr>
          <a:xfrm>
            <a:off x="7122069" y="3744322"/>
            <a:ext cx="1325115" cy="1987672"/>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Acquire physical resources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Acquiring resources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Buying resources from a third party</a:t>
            </a:r>
          </a:p>
          <a:p>
            <a:pPr lvl="0">
              <a:spcBef>
                <a:spcPts val="600"/>
              </a:spcBef>
              <a:spcAft>
                <a:spcPts val="1200"/>
              </a:spcAft>
            </a:pPr>
            <a:r>
              <a:rPr lang="en-US" sz="2200" dirty="0" smtClean="0">
                <a:latin typeface="Helvetica" pitchFamily="34" charset="0"/>
              </a:rPr>
              <a:t>Borrowing resources from someone or another business</a:t>
            </a:r>
          </a:p>
          <a:p>
            <a:pPr lvl="0">
              <a:spcBef>
                <a:spcPts val="600"/>
              </a:spcBef>
              <a:spcAft>
                <a:spcPts val="1200"/>
              </a:spcAft>
            </a:pPr>
            <a:r>
              <a:rPr lang="en-US" sz="2200" dirty="0" smtClean="0">
                <a:latin typeface="Helvetica" pitchFamily="34" charset="0"/>
              </a:rPr>
              <a:t>Sharing the cost of purchase between other Tour Operators</a:t>
            </a:r>
          </a:p>
          <a:p>
            <a:pPr lvl="0">
              <a:spcBef>
                <a:spcPts val="600"/>
              </a:spcBef>
              <a:spcAft>
                <a:spcPts val="1200"/>
              </a:spcAft>
            </a:pPr>
            <a:r>
              <a:rPr lang="en-US" sz="2200" dirty="0" smtClean="0">
                <a:latin typeface="Helvetica" pitchFamily="34" charset="0"/>
              </a:rPr>
              <a:t>Asking others to donate items</a:t>
            </a: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pPr>
            <a:endParaRPr lang="en-AU" sz="2400" b="1" dirty="0" smtClean="0"/>
          </a:p>
          <a:p>
            <a:pPr>
              <a:spcBef>
                <a:spcPts val="600"/>
              </a:spcBef>
              <a:spcAft>
                <a:spcPts val="1200"/>
              </a:spcAft>
            </a:pPr>
            <a:endParaRPr lang="en-US" sz="2400" dirty="0" smtClean="0"/>
          </a:p>
          <a:p>
            <a:pPr>
              <a:spcBef>
                <a:spcPts val="600"/>
              </a:spcBef>
              <a:spcAft>
                <a:spcPts val="1200"/>
              </a:spcAft>
            </a:pPr>
            <a:endParaRPr lang="en-US" sz="2200" b="1" dirty="0" smtClean="0">
              <a:latin typeface="Helvetica" pitchFamily="34" charset="0"/>
            </a:endParaRPr>
          </a:p>
          <a:p>
            <a:pPr>
              <a:spcBef>
                <a:spcPts val="600"/>
              </a:spcBef>
              <a:spcAft>
                <a:spcPts val="1200"/>
              </a:spcAft>
            </a:pPr>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6" name="Picture 5" descr="10.jpg"/>
          <p:cNvPicPr>
            <a:picLocks noChangeAspect="1"/>
          </p:cNvPicPr>
          <p:nvPr/>
        </p:nvPicPr>
        <p:blipFill>
          <a:blip r:embed="rId3" cstate="print"/>
          <a:stretch>
            <a:fillRect/>
          </a:stretch>
        </p:blipFill>
        <p:spPr>
          <a:xfrm>
            <a:off x="6163536" y="4221088"/>
            <a:ext cx="2275320" cy="1518518"/>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Acquire physical resources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US" sz="2200" b="1" dirty="0" smtClean="0">
                <a:latin typeface="Helvetica" pitchFamily="34" charset="0"/>
              </a:rPr>
              <a:t>Acquiring resources </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Hiring items</a:t>
            </a:r>
          </a:p>
          <a:p>
            <a:pPr lvl="0">
              <a:spcBef>
                <a:spcPts val="600"/>
              </a:spcBef>
              <a:spcAft>
                <a:spcPts val="600"/>
              </a:spcAft>
            </a:pPr>
            <a:r>
              <a:rPr lang="en-US" sz="2200" dirty="0" smtClean="0">
                <a:latin typeface="Helvetica" pitchFamily="34" charset="0"/>
              </a:rPr>
              <a:t>Using resources which already exist within the business</a:t>
            </a:r>
          </a:p>
          <a:p>
            <a:pPr lvl="0">
              <a:spcBef>
                <a:spcPts val="600"/>
              </a:spcBef>
              <a:spcAft>
                <a:spcPts val="600"/>
              </a:spcAft>
            </a:pPr>
            <a:r>
              <a:rPr lang="en-US" sz="2200" dirty="0" smtClean="0">
                <a:latin typeface="Helvetica" pitchFamily="34" charset="0"/>
              </a:rPr>
              <a:t>Being given resources, items or materials from local communities or government agencies</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i="1" u="sng" dirty="0" smtClean="0">
                <a:solidFill>
                  <a:srgbClr val="FF6600"/>
                </a:solidFill>
                <a:latin typeface="Helvetica" pitchFamily="34" charset="0"/>
              </a:rPr>
              <a:t>COMPLETE ACTIVITY 14</a:t>
            </a:r>
            <a:endParaRPr lang="en-US" sz="2200" i="1" u="sng" dirty="0" smtClean="0">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descr="14.jpg"/>
          <p:cNvPicPr>
            <a:picLocks noChangeAspect="1"/>
          </p:cNvPicPr>
          <p:nvPr/>
        </p:nvPicPr>
        <p:blipFill>
          <a:blip r:embed="rId3" cstate="print"/>
          <a:stretch>
            <a:fillRect/>
          </a:stretch>
        </p:blipFill>
        <p:spPr>
          <a:xfrm>
            <a:off x="6086534" y="4221088"/>
            <a:ext cx="2247528" cy="1689195"/>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Acquire physical resources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Obtaining necessary permits</a:t>
            </a:r>
          </a:p>
          <a:p>
            <a:pPr marL="0">
              <a:spcBef>
                <a:spcPts val="600"/>
              </a:spcBef>
              <a:spcAft>
                <a:spcPts val="1200"/>
              </a:spcAft>
              <a:buNone/>
            </a:pPr>
            <a:r>
              <a:rPr lang="en-US" sz="2200" dirty="0" smtClean="0">
                <a:latin typeface="Helvetica" pitchFamily="34" charset="0"/>
              </a:rPr>
              <a:t>It is essential that the permissions and authorisations for the tour and for each activity are obtained:</a:t>
            </a:r>
          </a:p>
          <a:p>
            <a:pPr>
              <a:spcBef>
                <a:spcPts val="600"/>
              </a:spcBef>
              <a:spcAft>
                <a:spcPts val="1200"/>
              </a:spcAft>
            </a:pPr>
            <a:r>
              <a:rPr lang="en-US" sz="2200" dirty="0" smtClean="0">
                <a:latin typeface="Helvetica" pitchFamily="34" charset="0"/>
              </a:rPr>
              <a:t>What permits are required to conduct </a:t>
            </a:r>
            <a:br>
              <a:rPr lang="en-US" sz="2200" dirty="0" smtClean="0">
                <a:latin typeface="Helvetica" pitchFamily="34" charset="0"/>
              </a:rPr>
            </a:br>
            <a:r>
              <a:rPr lang="en-US" sz="2200" dirty="0" smtClean="0">
                <a:latin typeface="Helvetica" pitchFamily="34" charset="0"/>
              </a:rPr>
              <a:t>eco-tourism activities in your region?</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i="1" u="sng" dirty="0" smtClean="0">
                <a:solidFill>
                  <a:srgbClr val="FF6600"/>
                </a:solidFill>
                <a:latin typeface="Helvetica" pitchFamily="34" charset="0"/>
              </a:rPr>
              <a:t>COMPLETE ACTIVITY 15</a:t>
            </a:r>
            <a:endParaRPr lang="en-US" sz="2200" i="1" u="sng" dirty="0" smtClean="0">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6" name="Picture 5" descr="iy.jpg"/>
          <p:cNvPicPr/>
          <p:nvPr/>
        </p:nvPicPr>
        <p:blipFill>
          <a:blip r:embed="rId3" cstate="print"/>
          <a:stretch>
            <a:fillRect/>
          </a:stretch>
        </p:blipFill>
        <p:spPr>
          <a:xfrm>
            <a:off x="6588224" y="2780928"/>
            <a:ext cx="1656184" cy="2016224"/>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Generate scripted commentaries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Importance of commentaries</a:t>
            </a:r>
          </a:p>
          <a:p>
            <a:pPr marL="0">
              <a:spcBef>
                <a:spcPts val="600"/>
              </a:spcBef>
              <a:spcAft>
                <a:spcPts val="1200"/>
              </a:spcAft>
              <a:buNone/>
            </a:pPr>
            <a:r>
              <a:rPr lang="en-US" sz="2200" dirty="0" smtClean="0">
                <a:latin typeface="Helvetica" pitchFamily="34" charset="0"/>
              </a:rPr>
              <a:t>One of the main features of providing 'interpretive content' is to have commentary to support activities.</a:t>
            </a:r>
          </a:p>
          <a:p>
            <a:pPr>
              <a:spcBef>
                <a:spcPts val="600"/>
              </a:spcBef>
              <a:spcAft>
                <a:spcPts val="1200"/>
              </a:spcAft>
              <a:buNone/>
            </a:pPr>
            <a:r>
              <a:rPr lang="en-US" sz="2200" dirty="0" smtClean="0">
                <a:latin typeface="Helvetica" pitchFamily="34" charset="0"/>
              </a:rPr>
              <a:t>All tour commentaries should be:</a:t>
            </a:r>
          </a:p>
          <a:p>
            <a:pPr>
              <a:spcBef>
                <a:spcPts val="600"/>
              </a:spcBef>
              <a:spcAft>
                <a:spcPts val="1200"/>
              </a:spcAft>
            </a:pPr>
            <a:r>
              <a:rPr lang="en-US" sz="2200" dirty="0" smtClean="0">
                <a:latin typeface="Helvetica" pitchFamily="34" charset="0"/>
              </a:rPr>
              <a:t>Well thought out, accurate</a:t>
            </a:r>
          </a:p>
          <a:p>
            <a:pPr>
              <a:spcBef>
                <a:spcPts val="600"/>
              </a:spcBef>
              <a:spcAft>
                <a:spcPts val="1200"/>
              </a:spcAft>
            </a:pPr>
            <a:r>
              <a:rPr lang="en-US" sz="2200" dirty="0" smtClean="0">
                <a:latin typeface="Helvetica" pitchFamily="34" charset="0"/>
              </a:rPr>
              <a:t>Entertaining</a:t>
            </a:r>
          </a:p>
          <a:p>
            <a:pPr>
              <a:spcBef>
                <a:spcPts val="600"/>
              </a:spcBef>
              <a:spcAft>
                <a:spcPts val="1200"/>
              </a:spcAft>
            </a:pPr>
            <a:r>
              <a:rPr lang="en-US" sz="2200" dirty="0" smtClean="0">
                <a:latin typeface="Helvetica" pitchFamily="34" charset="0"/>
              </a:rPr>
              <a:t>Containing all essential information                                   to help customers understand and                                      enjoy the tour and associated activities</a:t>
            </a: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7" name="Picture 6" descr="26.jpg"/>
          <p:cNvPicPr/>
          <p:nvPr/>
        </p:nvPicPr>
        <p:blipFill>
          <a:blip r:embed="rId3" cstate="print"/>
          <a:stretch>
            <a:fillRect/>
          </a:stretch>
        </p:blipFill>
        <p:spPr>
          <a:xfrm>
            <a:off x="5940151" y="3284984"/>
            <a:ext cx="2162175" cy="1381125"/>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Generate scripted commentaries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Benefits of commentary scripts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They allow the quick and efficient communication of information and facts</a:t>
            </a:r>
          </a:p>
          <a:p>
            <a:pPr lvl="0">
              <a:spcBef>
                <a:spcPts val="600"/>
              </a:spcBef>
              <a:spcAft>
                <a:spcPts val="1200"/>
              </a:spcAft>
            </a:pPr>
            <a:r>
              <a:rPr lang="en-US" sz="2200" dirty="0" smtClean="0">
                <a:latin typeface="Helvetica" pitchFamily="34" charset="0"/>
              </a:rPr>
              <a:t>They can be used to reinforce and </a:t>
            </a:r>
            <a:br>
              <a:rPr lang="en-US" sz="2200" dirty="0" smtClean="0">
                <a:latin typeface="Helvetica" pitchFamily="34" charset="0"/>
              </a:rPr>
            </a:br>
            <a:r>
              <a:rPr lang="en-US" sz="2200" dirty="0" smtClean="0">
                <a:latin typeface="Helvetica" pitchFamily="34" charset="0"/>
              </a:rPr>
              <a:t>remind tour group members of detail </a:t>
            </a:r>
            <a:br>
              <a:rPr lang="en-US" sz="2200" dirty="0" smtClean="0">
                <a:latin typeface="Helvetica" pitchFamily="34" charset="0"/>
              </a:rPr>
            </a:br>
            <a:r>
              <a:rPr lang="en-US" sz="2200" dirty="0" smtClean="0">
                <a:latin typeface="Helvetica" pitchFamily="34" charset="0"/>
              </a:rPr>
              <a:t>and data pertinent to an activity</a:t>
            </a:r>
          </a:p>
          <a:p>
            <a:pPr lvl="0">
              <a:spcBef>
                <a:spcPts val="600"/>
              </a:spcBef>
              <a:spcAft>
                <a:spcPts val="1200"/>
              </a:spcAft>
            </a:pPr>
            <a:r>
              <a:rPr lang="en-US" sz="2200" dirty="0" smtClean="0">
                <a:latin typeface="Helvetica" pitchFamily="34" charset="0"/>
              </a:rPr>
              <a:t>They can be pre-planned and practiced</a:t>
            </a:r>
          </a:p>
          <a:p>
            <a:pPr lvl="0">
              <a:spcBef>
                <a:spcPts val="600"/>
              </a:spcBef>
              <a:spcAft>
                <a:spcPts val="1200"/>
              </a:spcAft>
            </a:pPr>
            <a:r>
              <a:rPr lang="en-US" sz="2200" dirty="0" smtClean="0">
                <a:latin typeface="Helvetica" pitchFamily="34" charset="0"/>
              </a:rPr>
              <a:t>They are expected</a:t>
            </a:r>
          </a:p>
          <a:p>
            <a:pPr lvl="0">
              <a:spcBef>
                <a:spcPts val="600"/>
              </a:spcBef>
              <a:spcAft>
                <a:spcPts val="1200"/>
              </a:spcAft>
            </a:pPr>
            <a:r>
              <a:rPr lang="en-US" sz="2200" dirty="0" smtClean="0">
                <a:latin typeface="Helvetica" pitchFamily="34" charset="0"/>
              </a:rPr>
              <a:t>They are inexpensive</a:t>
            </a:r>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6" name="Picture 5" descr="23.jpg"/>
          <p:cNvPicPr>
            <a:picLocks noChangeAspect="1"/>
          </p:cNvPicPr>
          <p:nvPr/>
        </p:nvPicPr>
        <p:blipFill>
          <a:blip r:embed="rId3" cstate="print"/>
          <a:stretch>
            <a:fillRect/>
          </a:stretch>
        </p:blipFill>
        <p:spPr>
          <a:xfrm>
            <a:off x="6329582" y="2996952"/>
            <a:ext cx="1893480" cy="171564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Generate scripted commentaries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Considerations when preparing commentary scripts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Identify the commentary information that needs to be conveyed</a:t>
            </a:r>
          </a:p>
          <a:p>
            <a:pPr>
              <a:spcBef>
                <a:spcPts val="600"/>
              </a:spcBef>
              <a:spcAft>
                <a:spcPts val="1200"/>
              </a:spcAft>
            </a:pPr>
            <a:r>
              <a:rPr lang="en-US" sz="2200" dirty="0" smtClean="0">
                <a:latin typeface="Helvetica" pitchFamily="34" charset="0"/>
              </a:rPr>
              <a:t>Research the selected commentary information that needs to be conveyed</a:t>
            </a:r>
          </a:p>
          <a:p>
            <a:pPr>
              <a:spcBef>
                <a:spcPts val="600"/>
              </a:spcBef>
              <a:spcAft>
                <a:spcPts val="1200"/>
              </a:spcAft>
            </a:pPr>
            <a:r>
              <a:rPr lang="en-US" sz="2200" dirty="0" smtClean="0">
                <a:latin typeface="Helvetica" pitchFamily="34" charset="0"/>
              </a:rPr>
              <a:t>Obtain copies of sample tour commentary scripts </a:t>
            </a:r>
          </a:p>
          <a:p>
            <a:pPr>
              <a:spcBef>
                <a:spcPts val="600"/>
              </a:spcBef>
              <a:spcAft>
                <a:spcPts val="1200"/>
              </a:spcAft>
            </a:pPr>
            <a:r>
              <a:rPr lang="en-US" sz="2200" dirty="0" smtClean="0">
                <a:latin typeface="Helvetica" pitchFamily="34" charset="0"/>
              </a:rPr>
              <a:t>Talk to other Tour Guides</a:t>
            </a:r>
          </a:p>
          <a:p>
            <a:pPr>
              <a:spcBef>
                <a:spcPts val="600"/>
              </a:spcBef>
              <a:spcAft>
                <a:spcPts val="1200"/>
              </a:spcAft>
            </a:pPr>
            <a:r>
              <a:rPr lang="en-US" sz="2200" dirty="0" smtClean="0">
                <a:latin typeface="Helvetica" pitchFamily="34" charset="0"/>
              </a:rPr>
              <a:t>Classify commentary information</a:t>
            </a:r>
          </a:p>
          <a:p>
            <a:pPr>
              <a:spcBef>
                <a:spcPts val="600"/>
              </a:spcBef>
              <a:spcAft>
                <a:spcPts val="1200"/>
              </a:spcAft>
              <a:buNone/>
            </a:pPr>
            <a:endParaRPr lang="en-US" sz="2400" dirty="0" smtClean="0"/>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6372200" y="4509120"/>
            <a:ext cx="2009775" cy="1333500"/>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Generate scripted commentaries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Considerations when preparing commentary scripts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Develop themes for the commentary information</a:t>
            </a:r>
          </a:p>
          <a:p>
            <a:pPr>
              <a:spcBef>
                <a:spcPts val="600"/>
              </a:spcBef>
              <a:spcAft>
                <a:spcPts val="1200"/>
              </a:spcAft>
            </a:pPr>
            <a:r>
              <a:rPr lang="en-US" sz="2200" dirty="0" smtClean="0">
                <a:latin typeface="Helvetica" pitchFamily="34" charset="0"/>
              </a:rPr>
              <a:t>Prepare draft scripts for commentary information that needs to be conveyed </a:t>
            </a:r>
          </a:p>
          <a:p>
            <a:pPr>
              <a:spcBef>
                <a:spcPts val="600"/>
              </a:spcBef>
              <a:spcAft>
                <a:spcPts val="1200"/>
              </a:spcAft>
            </a:pPr>
            <a:r>
              <a:rPr lang="en-US" sz="2200" dirty="0" smtClean="0">
                <a:latin typeface="Helvetica" pitchFamily="34" charset="0"/>
              </a:rPr>
              <a:t>Learn supporting information</a:t>
            </a:r>
          </a:p>
          <a:p>
            <a:pPr>
              <a:spcBef>
                <a:spcPts val="600"/>
              </a:spcBef>
              <a:spcAft>
                <a:spcPts val="1200"/>
              </a:spcAft>
            </a:pPr>
            <a:r>
              <a:rPr lang="en-US" sz="2200" dirty="0" smtClean="0">
                <a:latin typeface="Helvetica" pitchFamily="34" charset="0"/>
              </a:rPr>
              <a:t>Implement the scripted commentary</a:t>
            </a:r>
          </a:p>
          <a:p>
            <a:pPr>
              <a:spcBef>
                <a:spcPts val="600"/>
              </a:spcBef>
              <a:spcAft>
                <a:spcPts val="1200"/>
              </a:spcAft>
              <a:buNone/>
            </a:pPr>
            <a:endParaRPr lang="en-US" sz="2400" dirty="0" smtClean="0"/>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6" name="Picture 5" descr="10.jpg"/>
          <p:cNvPicPr/>
          <p:nvPr/>
        </p:nvPicPr>
        <p:blipFill>
          <a:blip r:embed="rId3" cstate="print"/>
          <a:stretch>
            <a:fillRect/>
          </a:stretch>
        </p:blipFill>
        <p:spPr>
          <a:xfrm>
            <a:off x="6372200" y="4149080"/>
            <a:ext cx="1993265" cy="133350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Generate scripted commentaries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Principles for writing commentary scripts</a:t>
            </a:r>
            <a:endParaRPr lang="en-US" sz="2000" dirty="0" smtClean="0">
              <a:latin typeface="Helvetica" pitchFamily="34" charset="0"/>
            </a:endParaRPr>
          </a:p>
          <a:p>
            <a:pPr>
              <a:spcBef>
                <a:spcPts val="600"/>
              </a:spcBef>
              <a:spcAft>
                <a:spcPts val="1200"/>
              </a:spcAft>
            </a:pPr>
            <a:r>
              <a:rPr lang="en-US" sz="2000" dirty="0" smtClean="0">
                <a:latin typeface="Helvetica" pitchFamily="34" charset="0"/>
              </a:rPr>
              <a:t>Realising the creation of a good scripted commentary for a tour takes time</a:t>
            </a:r>
          </a:p>
          <a:p>
            <a:pPr>
              <a:spcBef>
                <a:spcPts val="600"/>
              </a:spcBef>
              <a:spcAft>
                <a:spcPts val="1200"/>
              </a:spcAft>
            </a:pPr>
            <a:r>
              <a:rPr lang="en-US" sz="2000" dirty="0" smtClean="0">
                <a:latin typeface="Helvetica" pitchFamily="34" charset="0"/>
              </a:rPr>
              <a:t>Ensuring currency and accuracy of content</a:t>
            </a:r>
          </a:p>
          <a:p>
            <a:pPr>
              <a:spcBef>
                <a:spcPts val="600"/>
              </a:spcBef>
              <a:spcAft>
                <a:spcPts val="1200"/>
              </a:spcAft>
            </a:pPr>
            <a:r>
              <a:rPr lang="en-US" sz="2000" dirty="0" smtClean="0">
                <a:latin typeface="Helvetica" pitchFamily="34" charset="0"/>
              </a:rPr>
              <a:t>Ensuring comprehensive and relevant information</a:t>
            </a:r>
          </a:p>
          <a:p>
            <a:pPr>
              <a:spcBef>
                <a:spcPts val="600"/>
              </a:spcBef>
              <a:spcAft>
                <a:spcPts val="1200"/>
              </a:spcAft>
            </a:pPr>
            <a:r>
              <a:rPr lang="en-US" sz="2000" dirty="0" smtClean="0">
                <a:latin typeface="Helvetica" pitchFamily="34" charset="0"/>
              </a:rPr>
              <a:t>Including necessary safety and security information</a:t>
            </a:r>
          </a:p>
          <a:p>
            <a:pPr>
              <a:spcBef>
                <a:spcPts val="600"/>
              </a:spcBef>
              <a:spcAft>
                <a:spcPts val="1200"/>
              </a:spcAft>
            </a:pPr>
            <a:r>
              <a:rPr lang="en-US" sz="2000" dirty="0" smtClean="0">
                <a:latin typeface="Helvetica" pitchFamily="34" charset="0"/>
              </a:rPr>
              <a:t>Ordering the information in logical sequence</a:t>
            </a:r>
          </a:p>
          <a:p>
            <a:pPr>
              <a:spcBef>
                <a:spcPts val="600"/>
              </a:spcBef>
              <a:spcAft>
                <a:spcPts val="1200"/>
              </a:spcAft>
            </a:pPr>
            <a:r>
              <a:rPr lang="en-US" sz="2000" dirty="0" smtClean="0">
                <a:latin typeface="Helvetica" pitchFamily="34" charset="0"/>
              </a:rPr>
              <a:t>Preparing sufficient information</a:t>
            </a:r>
          </a:p>
          <a:p>
            <a:pPr>
              <a:spcBef>
                <a:spcPts val="600"/>
              </a:spcBef>
              <a:spcAft>
                <a:spcPts val="1200"/>
              </a:spcAft>
              <a:buNone/>
            </a:pPr>
            <a:endParaRPr lang="en-US" sz="2000" dirty="0" smtClean="0"/>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7" name="Picture 6" descr="ke.jpg"/>
          <p:cNvPicPr/>
          <p:nvPr/>
        </p:nvPicPr>
        <p:blipFill>
          <a:blip r:embed="rId3" cstate="print"/>
          <a:stretch>
            <a:fillRect/>
          </a:stretch>
        </p:blipFill>
        <p:spPr>
          <a:xfrm>
            <a:off x="7236296" y="3645024"/>
            <a:ext cx="1171575" cy="175260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Generate scripted commentaries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US" sz="2000" b="1" dirty="0" smtClean="0">
                <a:latin typeface="Helvetica" pitchFamily="34" charset="0"/>
              </a:rPr>
              <a:t>Principles for writing commentary scripts</a:t>
            </a:r>
            <a:endParaRPr lang="en-US" sz="2000" dirty="0" smtClean="0">
              <a:latin typeface="Helvetica" pitchFamily="34" charset="0"/>
            </a:endParaRPr>
          </a:p>
          <a:p>
            <a:pPr>
              <a:spcBef>
                <a:spcPts val="600"/>
              </a:spcBef>
              <a:spcAft>
                <a:spcPts val="600"/>
              </a:spcAft>
            </a:pPr>
            <a:r>
              <a:rPr lang="en-US" sz="2000" dirty="0" smtClean="0">
                <a:latin typeface="Helvetica" pitchFamily="34" charset="0"/>
              </a:rPr>
              <a:t>Choosing and using appropriate language</a:t>
            </a:r>
          </a:p>
          <a:p>
            <a:pPr>
              <a:spcBef>
                <a:spcPts val="600"/>
              </a:spcBef>
              <a:spcAft>
                <a:spcPts val="600"/>
              </a:spcAft>
            </a:pPr>
            <a:r>
              <a:rPr lang="en-US" sz="2000" dirty="0" smtClean="0">
                <a:latin typeface="Helvetica" pitchFamily="34" charset="0"/>
              </a:rPr>
              <a:t>Matching the length of the script</a:t>
            </a:r>
          </a:p>
          <a:p>
            <a:pPr>
              <a:spcBef>
                <a:spcPts val="600"/>
              </a:spcBef>
              <a:spcAft>
                <a:spcPts val="600"/>
              </a:spcAft>
            </a:pPr>
            <a:r>
              <a:rPr lang="en-US" sz="2000" dirty="0" smtClean="0">
                <a:latin typeface="Helvetica" pitchFamily="34" charset="0"/>
              </a:rPr>
              <a:t>Providing an appropriate mix of Quantitative </a:t>
            </a:r>
            <a:br>
              <a:rPr lang="en-US" sz="2000" dirty="0" smtClean="0">
                <a:latin typeface="Helvetica" pitchFamily="34" charset="0"/>
              </a:rPr>
            </a:br>
            <a:r>
              <a:rPr lang="en-US" sz="2000" dirty="0" smtClean="0">
                <a:latin typeface="Helvetica" pitchFamily="34" charset="0"/>
              </a:rPr>
              <a:t>and Qualitative information </a:t>
            </a:r>
          </a:p>
          <a:p>
            <a:pPr>
              <a:spcBef>
                <a:spcPts val="600"/>
              </a:spcBef>
              <a:spcAft>
                <a:spcPts val="600"/>
              </a:spcAft>
            </a:pPr>
            <a:r>
              <a:rPr lang="en-US" sz="2000" dirty="0" smtClean="0">
                <a:latin typeface="Helvetica" pitchFamily="34" charset="0"/>
              </a:rPr>
              <a:t>Writing the script from the tour group members’ </a:t>
            </a:r>
            <a:br>
              <a:rPr lang="en-US" sz="2000" dirty="0" smtClean="0">
                <a:latin typeface="Helvetica" pitchFamily="34" charset="0"/>
              </a:rPr>
            </a:br>
            <a:r>
              <a:rPr lang="en-US" sz="2000" dirty="0" smtClean="0">
                <a:latin typeface="Helvetica" pitchFamily="34" charset="0"/>
              </a:rPr>
              <a:t>perspective </a:t>
            </a:r>
          </a:p>
          <a:p>
            <a:pPr>
              <a:spcBef>
                <a:spcPts val="600"/>
              </a:spcBef>
              <a:spcAft>
                <a:spcPts val="600"/>
              </a:spcAft>
            </a:pPr>
            <a:r>
              <a:rPr lang="en-US" sz="2000" dirty="0" smtClean="0">
                <a:latin typeface="Helvetica" pitchFamily="34" charset="0"/>
              </a:rPr>
              <a:t>Involving others in the writing of the script </a:t>
            </a:r>
          </a:p>
          <a:p>
            <a:pPr>
              <a:spcBef>
                <a:spcPts val="600"/>
              </a:spcBef>
              <a:spcAft>
                <a:spcPts val="600"/>
              </a:spcAft>
            </a:pPr>
            <a:r>
              <a:rPr lang="en-US" sz="2000" dirty="0" smtClean="0">
                <a:latin typeface="Helvetica" pitchFamily="34" charset="0"/>
              </a:rPr>
              <a:t>Identify the commentary for the tour and                              each interpretive activity </a:t>
            </a:r>
          </a:p>
          <a:p>
            <a:pPr>
              <a:spcBef>
                <a:spcPts val="600"/>
              </a:spcBef>
              <a:spcAft>
                <a:spcPts val="600"/>
              </a:spcAft>
            </a:pPr>
            <a:endParaRPr lang="en-US" sz="2000" dirty="0" smtClean="0">
              <a:latin typeface="Helvetica" pitchFamily="34" charset="0"/>
            </a:endParaRPr>
          </a:p>
          <a:p>
            <a:pPr>
              <a:spcBef>
                <a:spcPts val="600"/>
              </a:spcBef>
              <a:spcAft>
                <a:spcPts val="1200"/>
              </a:spcAft>
              <a:buNone/>
            </a:pPr>
            <a:r>
              <a:rPr lang="en-US" sz="2000" b="1" i="1" u="sng" dirty="0" smtClean="0">
                <a:solidFill>
                  <a:srgbClr val="FF6600"/>
                </a:solidFill>
                <a:latin typeface="Helvetica" pitchFamily="34" charset="0"/>
              </a:rPr>
              <a:t>COMPLETE ACTIVITY 16</a:t>
            </a:r>
            <a:endParaRPr lang="en-US" sz="2000" i="1" u="sng" dirty="0" smtClean="0">
              <a:latin typeface="Helvetica" pitchFamily="34" charset="0"/>
            </a:endParaRPr>
          </a:p>
          <a:p>
            <a:pPr>
              <a:spcBef>
                <a:spcPts val="600"/>
              </a:spcBef>
              <a:spcAft>
                <a:spcPts val="1200"/>
              </a:spcAft>
              <a:buNone/>
            </a:pPr>
            <a:endParaRPr lang="en-US" sz="2000" dirty="0" smtClean="0"/>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8" name="Picture 7" descr="jm.jpg"/>
          <p:cNvPicPr/>
          <p:nvPr/>
        </p:nvPicPr>
        <p:blipFill>
          <a:blip r:embed="rId3" cstate="print"/>
          <a:stretch>
            <a:fillRect/>
          </a:stretch>
        </p:blipFill>
        <p:spPr>
          <a:xfrm>
            <a:off x="6804248" y="2780928"/>
            <a:ext cx="1440160" cy="2088232"/>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Conducting eco-tourism activities</a:t>
            </a:r>
          </a:p>
          <a:p>
            <a:pPr marL="0">
              <a:spcBef>
                <a:spcPts val="600"/>
              </a:spcBef>
              <a:spcAft>
                <a:spcPts val="1200"/>
              </a:spcAft>
              <a:buNone/>
            </a:pPr>
            <a:r>
              <a:rPr lang="en-US" sz="2200" dirty="0" smtClean="0">
                <a:latin typeface="Helvetica" pitchFamily="34" charset="0"/>
              </a:rPr>
              <a:t>Once all the elements of a eco-tourism activity have been identified, it is now time to:</a:t>
            </a:r>
          </a:p>
          <a:p>
            <a:pPr>
              <a:spcBef>
                <a:spcPts val="600"/>
              </a:spcBef>
              <a:spcAft>
                <a:spcPts val="1200"/>
              </a:spcAft>
            </a:pPr>
            <a:r>
              <a:rPr lang="en-US" sz="2200" dirty="0" smtClean="0">
                <a:latin typeface="Helvetica" pitchFamily="34" charset="0"/>
              </a:rPr>
              <a:t>Plan</a:t>
            </a:r>
          </a:p>
          <a:p>
            <a:pPr>
              <a:spcBef>
                <a:spcPts val="600"/>
              </a:spcBef>
              <a:spcAft>
                <a:spcPts val="1200"/>
              </a:spcAft>
            </a:pPr>
            <a:r>
              <a:rPr lang="en-US" sz="2200" dirty="0" smtClean="0">
                <a:latin typeface="Helvetica" pitchFamily="34" charset="0"/>
              </a:rPr>
              <a:t>Implement</a:t>
            </a:r>
          </a:p>
          <a:p>
            <a:pPr>
              <a:spcBef>
                <a:spcPts val="600"/>
              </a:spcBef>
              <a:spcAft>
                <a:spcPts val="1200"/>
              </a:spcAft>
            </a:pPr>
            <a:r>
              <a:rPr lang="en-US" sz="2200" dirty="0" smtClean="0">
                <a:latin typeface="Helvetica" pitchFamily="34" charset="0"/>
              </a:rPr>
              <a:t>Monitor</a:t>
            </a:r>
          </a:p>
          <a:p>
            <a:pPr>
              <a:spcBef>
                <a:spcPts val="600"/>
              </a:spcBef>
              <a:spcAft>
                <a:spcPts val="1200"/>
              </a:spcAft>
            </a:pPr>
            <a:r>
              <a:rPr lang="en-US" sz="2200" dirty="0" smtClean="0">
                <a:latin typeface="Helvetica" pitchFamily="34" charset="0"/>
              </a:rPr>
              <a:t>Review </a:t>
            </a:r>
          </a:p>
          <a:p>
            <a:pPr>
              <a:spcBef>
                <a:spcPts val="600"/>
              </a:spcBef>
              <a:spcAft>
                <a:spcPts val="1200"/>
              </a:spcAft>
              <a:buNone/>
            </a:pPr>
            <a:r>
              <a:rPr lang="en-US" sz="2200" dirty="0" smtClean="0">
                <a:latin typeface="Helvetica" pitchFamily="34" charset="0"/>
              </a:rPr>
              <a:t>the interpretive activity.</a:t>
            </a:r>
          </a:p>
          <a:p>
            <a:pPr>
              <a:spcBef>
                <a:spcPts val="600"/>
              </a:spcBef>
              <a:spcAft>
                <a:spcPts val="1200"/>
              </a:spcAft>
              <a:buNone/>
            </a:pPr>
            <a:endParaRPr lang="en-US" sz="2400" dirty="0" smtClean="0"/>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6" name="Picture 5" descr="shutterstock_57319615.jpg"/>
          <p:cNvPicPr/>
          <p:nvPr/>
        </p:nvPicPr>
        <p:blipFill>
          <a:blip r:embed="rId3" cstate="print"/>
          <a:stretch>
            <a:fillRect/>
          </a:stretch>
        </p:blipFill>
        <p:spPr>
          <a:xfrm>
            <a:off x="4139952" y="3345284"/>
            <a:ext cx="2632432" cy="165618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Trial eco-tourism activities </a:t>
            </a:r>
            <a:endParaRPr lang="en-US" sz="2000" dirty="0" smtClean="0">
              <a:latin typeface="Helvetica" pitchFamily="34" charset="0"/>
            </a:endParaRPr>
          </a:p>
          <a:p>
            <a:pPr>
              <a:spcBef>
                <a:spcPts val="600"/>
              </a:spcBef>
              <a:spcAft>
                <a:spcPts val="1200"/>
              </a:spcAft>
              <a:buNone/>
            </a:pPr>
            <a:r>
              <a:rPr lang="en-US" sz="2000" dirty="0" smtClean="0">
                <a:latin typeface="Helvetica" pitchFamily="34" charset="0"/>
              </a:rPr>
              <a:t>These may include:</a:t>
            </a:r>
          </a:p>
          <a:p>
            <a:pPr lvl="0">
              <a:spcBef>
                <a:spcPts val="600"/>
              </a:spcBef>
              <a:spcAft>
                <a:spcPts val="1200"/>
              </a:spcAft>
            </a:pPr>
            <a:r>
              <a:rPr lang="en-US" sz="2000" dirty="0" smtClean="0">
                <a:latin typeface="Helvetica" pitchFamily="34" charset="0"/>
              </a:rPr>
              <a:t>Undertake planning of eco-tourism activities</a:t>
            </a:r>
          </a:p>
          <a:p>
            <a:pPr lvl="0">
              <a:spcBef>
                <a:spcPts val="600"/>
              </a:spcBef>
              <a:spcAft>
                <a:spcPts val="1200"/>
              </a:spcAft>
            </a:pPr>
            <a:r>
              <a:rPr lang="en-US" sz="2000" dirty="0" smtClean="0">
                <a:latin typeface="Helvetica" pitchFamily="34" charset="0"/>
              </a:rPr>
              <a:t>Conducting the eco-tourism activities as planned, including all activities and commentaries</a:t>
            </a:r>
          </a:p>
          <a:p>
            <a:pPr lvl="0">
              <a:spcBef>
                <a:spcPts val="600"/>
              </a:spcBef>
              <a:spcAft>
                <a:spcPts val="1200"/>
              </a:spcAft>
            </a:pPr>
            <a:r>
              <a:rPr lang="en-US" sz="2000" dirty="0" smtClean="0">
                <a:latin typeface="Helvetica" pitchFamily="34" charset="0"/>
              </a:rPr>
              <a:t>Including participants and observers for the trial</a:t>
            </a:r>
          </a:p>
          <a:p>
            <a:pPr lvl="0">
              <a:spcBef>
                <a:spcPts val="600"/>
              </a:spcBef>
              <a:spcAft>
                <a:spcPts val="1200"/>
              </a:spcAft>
            </a:pPr>
            <a:r>
              <a:rPr lang="en-US" sz="2000" dirty="0" smtClean="0">
                <a:latin typeface="Helvetica" pitchFamily="34" charset="0"/>
              </a:rPr>
              <a:t>Ensuring the trial reflects expected actual tour </a:t>
            </a:r>
            <a:br>
              <a:rPr lang="en-US" sz="2000" dirty="0" smtClean="0">
                <a:latin typeface="Helvetica" pitchFamily="34" charset="0"/>
              </a:rPr>
            </a:br>
            <a:r>
              <a:rPr lang="en-US" sz="2000" dirty="0" smtClean="0">
                <a:latin typeface="Helvetica" pitchFamily="34" charset="0"/>
              </a:rPr>
              <a:t>conditions for the activity</a:t>
            </a:r>
          </a:p>
          <a:p>
            <a:pPr lvl="0">
              <a:spcBef>
                <a:spcPts val="600"/>
              </a:spcBef>
              <a:spcAft>
                <a:spcPts val="1200"/>
              </a:spcAft>
            </a:pPr>
            <a:r>
              <a:rPr lang="en-US" sz="2000" dirty="0" smtClean="0">
                <a:latin typeface="Helvetica" pitchFamily="34" charset="0"/>
              </a:rPr>
              <a:t>Recording the trial for later analysis or review</a:t>
            </a:r>
          </a:p>
          <a:p>
            <a:pPr>
              <a:spcBef>
                <a:spcPts val="600"/>
              </a:spcBef>
              <a:spcAft>
                <a:spcPts val="1200"/>
              </a:spcAft>
              <a:buNone/>
            </a:pPr>
            <a:endParaRPr lang="en-US" sz="2000" dirty="0" smtClean="0"/>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7" name="Picture 6" descr="shutterstock_118113499.jpg"/>
          <p:cNvPicPr/>
          <p:nvPr/>
        </p:nvPicPr>
        <p:blipFill>
          <a:blip r:embed="rId3" cstate="print"/>
          <a:stretch>
            <a:fillRect/>
          </a:stretch>
        </p:blipFill>
        <p:spPr>
          <a:xfrm>
            <a:off x="6732240" y="4221087"/>
            <a:ext cx="1693045" cy="1288105"/>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Undertake planning of eco-tourism activities</a:t>
            </a:r>
          </a:p>
          <a:p>
            <a:pPr>
              <a:spcBef>
                <a:spcPts val="600"/>
              </a:spcBef>
              <a:spcAft>
                <a:spcPts val="1200"/>
              </a:spcAft>
              <a:buNone/>
            </a:pPr>
            <a:r>
              <a:rPr lang="en-US" sz="2200" dirty="0" smtClean="0">
                <a:latin typeface="Helvetica" pitchFamily="34" charset="0"/>
              </a:rPr>
              <a:t>Consideration of planning needs may embrace:</a:t>
            </a:r>
          </a:p>
          <a:p>
            <a:pPr>
              <a:spcBef>
                <a:spcPts val="600"/>
              </a:spcBef>
              <a:spcAft>
                <a:spcPts val="1200"/>
              </a:spcAft>
            </a:pPr>
            <a:r>
              <a:rPr lang="en-US" sz="2200" dirty="0" smtClean="0">
                <a:latin typeface="Helvetica" pitchFamily="34" charset="0"/>
              </a:rPr>
              <a:t>Consideration of the timing</a:t>
            </a:r>
          </a:p>
          <a:p>
            <a:pPr>
              <a:spcBef>
                <a:spcPts val="600"/>
              </a:spcBef>
              <a:spcAft>
                <a:spcPts val="1200"/>
              </a:spcAft>
            </a:pPr>
            <a:r>
              <a:rPr lang="en-US" sz="2200" dirty="0" smtClean="0">
                <a:latin typeface="Helvetica" pitchFamily="34" charset="0"/>
              </a:rPr>
              <a:t>Consideration of the weather</a:t>
            </a:r>
          </a:p>
          <a:p>
            <a:pPr>
              <a:spcBef>
                <a:spcPts val="600"/>
              </a:spcBef>
              <a:spcAft>
                <a:spcPts val="1200"/>
              </a:spcAft>
            </a:pPr>
            <a:r>
              <a:rPr lang="en-US" sz="2200" dirty="0" smtClean="0">
                <a:latin typeface="Helvetica" pitchFamily="34" charset="0"/>
              </a:rPr>
              <a:t>Consideration of the physical resources</a:t>
            </a:r>
          </a:p>
          <a:p>
            <a:endParaRPr lang="en-US" sz="2200" dirty="0" smtClean="0"/>
          </a:p>
          <a:p>
            <a:endParaRPr lang="en-US" sz="2200" dirty="0" smtClean="0"/>
          </a:p>
          <a:p>
            <a:pPr>
              <a:spcBef>
                <a:spcPts val="600"/>
              </a:spcBef>
              <a:spcAft>
                <a:spcPts val="1200"/>
              </a:spcAft>
              <a:buNone/>
            </a:pPr>
            <a:endParaRPr lang="en-US" sz="2200" dirty="0" smtClean="0"/>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p>
          <a:p>
            <a:endParaRPr lang="en-AU" sz="2200" b="1" dirty="0" smtClean="0"/>
          </a:p>
          <a:p>
            <a:endParaRPr lang="en-US" sz="2200" dirty="0" smtClean="0"/>
          </a:p>
          <a:p>
            <a:pPr>
              <a:spcBef>
                <a:spcPts val="600"/>
              </a:spcBef>
              <a:spcAft>
                <a:spcPts val="600"/>
              </a:spcAft>
            </a:pPr>
            <a:endParaRPr lang="en-US" sz="2200" b="1" dirty="0" smtClean="0">
              <a:latin typeface="Helvetica" pitchFamily="34" charset="0"/>
            </a:endParaRPr>
          </a:p>
          <a:p>
            <a:endParaRPr lang="en-US" sz="22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6" name="Picture 5" descr="2k.jpg"/>
          <p:cNvPicPr/>
          <p:nvPr/>
        </p:nvPicPr>
        <p:blipFill>
          <a:blip r:embed="rId3" cstate="print"/>
          <a:stretch>
            <a:fillRect/>
          </a:stretch>
        </p:blipFill>
        <p:spPr>
          <a:xfrm>
            <a:off x="6228184" y="4199888"/>
            <a:ext cx="2171700" cy="1476375"/>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484784"/>
            <a:ext cx="7467600" cy="5301208"/>
          </a:xfrm>
        </p:spPr>
        <p:txBody>
          <a:bodyPr>
            <a:normAutofit/>
          </a:bodyPr>
          <a:lstStyle/>
          <a:p>
            <a:pPr>
              <a:spcBef>
                <a:spcPts val="600"/>
              </a:spcBef>
              <a:spcAft>
                <a:spcPts val="1200"/>
              </a:spcAft>
              <a:buNone/>
            </a:pPr>
            <a:r>
              <a:rPr lang="en-US" sz="2000" b="1" dirty="0" smtClean="0">
                <a:latin typeface="Helvetica" pitchFamily="34" charset="0"/>
              </a:rPr>
              <a:t>Prepare interpretive activity requirements</a:t>
            </a:r>
          </a:p>
          <a:p>
            <a:pPr marL="0">
              <a:spcBef>
                <a:spcPts val="600"/>
              </a:spcBef>
              <a:spcAft>
                <a:spcPts val="1200"/>
              </a:spcAft>
              <a:buNone/>
            </a:pPr>
            <a:r>
              <a:rPr lang="en-US" sz="2000" dirty="0" smtClean="0">
                <a:latin typeface="Helvetica" pitchFamily="34" charset="0"/>
              </a:rPr>
              <a:t>Setting up an interpretive activity can involve the following generic actions:</a:t>
            </a:r>
          </a:p>
          <a:p>
            <a:pPr>
              <a:spcBef>
                <a:spcPts val="600"/>
              </a:spcBef>
              <a:spcAft>
                <a:spcPts val="1200"/>
              </a:spcAft>
            </a:pPr>
            <a:r>
              <a:rPr lang="en-US" sz="2000" dirty="0" smtClean="0">
                <a:latin typeface="Helvetica" pitchFamily="34" charset="0"/>
              </a:rPr>
              <a:t>Obtaining resources </a:t>
            </a:r>
          </a:p>
          <a:p>
            <a:pPr>
              <a:spcBef>
                <a:spcPts val="600"/>
              </a:spcBef>
              <a:spcAft>
                <a:spcPts val="1200"/>
              </a:spcAft>
            </a:pPr>
            <a:r>
              <a:rPr lang="en-US" sz="2000" dirty="0" smtClean="0">
                <a:latin typeface="Helvetica" pitchFamily="34" charset="0"/>
              </a:rPr>
              <a:t>Inspecting the condition of equipment and other items </a:t>
            </a:r>
          </a:p>
          <a:p>
            <a:pPr>
              <a:spcBef>
                <a:spcPts val="600"/>
              </a:spcBef>
              <a:spcAft>
                <a:spcPts val="1200"/>
              </a:spcAft>
            </a:pPr>
            <a:r>
              <a:rPr lang="en-US" sz="2000" dirty="0" smtClean="0">
                <a:latin typeface="Helvetica" pitchFamily="34" charset="0"/>
              </a:rPr>
              <a:t>Obtaining handout materials, equipment </a:t>
            </a:r>
            <a:br>
              <a:rPr lang="en-US" sz="2000" dirty="0" smtClean="0">
                <a:latin typeface="Helvetica" pitchFamily="34" charset="0"/>
              </a:rPr>
            </a:br>
            <a:r>
              <a:rPr lang="en-US" sz="2000" dirty="0" smtClean="0">
                <a:latin typeface="Helvetica" pitchFamily="34" charset="0"/>
              </a:rPr>
              <a:t>and other physical resources</a:t>
            </a:r>
          </a:p>
          <a:p>
            <a:pPr>
              <a:spcBef>
                <a:spcPts val="600"/>
              </a:spcBef>
              <a:spcAft>
                <a:spcPts val="1200"/>
              </a:spcAft>
            </a:pPr>
            <a:r>
              <a:rPr lang="en-US" sz="2000" dirty="0" smtClean="0">
                <a:latin typeface="Helvetica" pitchFamily="34" charset="0"/>
              </a:rPr>
              <a:t>Checking the activity area </a:t>
            </a:r>
          </a:p>
          <a:p>
            <a:pPr>
              <a:spcBef>
                <a:spcPts val="600"/>
              </a:spcBef>
              <a:spcAft>
                <a:spcPts val="1200"/>
              </a:spcAft>
            </a:pPr>
            <a:r>
              <a:rPr lang="en-US" sz="2000" dirty="0" smtClean="0">
                <a:latin typeface="Helvetica" pitchFamily="34" charset="0"/>
              </a:rPr>
              <a:t>Holding a briefing</a:t>
            </a:r>
          </a:p>
          <a:p>
            <a:pPr>
              <a:spcBef>
                <a:spcPts val="1800"/>
              </a:spcBef>
              <a:buNone/>
            </a:pPr>
            <a:r>
              <a:rPr lang="en-US" sz="2000" b="1" i="1" u="sng" dirty="0" smtClean="0">
                <a:solidFill>
                  <a:srgbClr val="FF6600"/>
                </a:solidFill>
                <a:latin typeface="Helvetica" pitchFamily="34" charset="0"/>
              </a:rPr>
              <a:t>COMPLETE ACTIVITY 17</a:t>
            </a:r>
            <a:endParaRPr lang="en-US" sz="2000" i="1" u="sng" dirty="0" smtClean="0">
              <a:latin typeface="Helvetica" pitchFamily="34" charset="0"/>
            </a:endParaRPr>
          </a:p>
          <a:p>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7" name="Picture 6" descr="cv.jpg"/>
          <p:cNvPicPr/>
          <p:nvPr/>
        </p:nvPicPr>
        <p:blipFill>
          <a:blip r:embed="rId3" cstate="print"/>
          <a:stretch>
            <a:fillRect/>
          </a:stretch>
        </p:blipFill>
        <p:spPr>
          <a:xfrm>
            <a:off x="6444208" y="4149080"/>
            <a:ext cx="1995170" cy="150495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1800" b="1" dirty="0" smtClean="0">
                <a:latin typeface="Helvetica" pitchFamily="34" charset="0"/>
              </a:rPr>
              <a:t>Respect local communities</a:t>
            </a:r>
          </a:p>
          <a:p>
            <a:pPr marL="0">
              <a:spcBef>
                <a:spcPts val="600"/>
              </a:spcBef>
              <a:spcAft>
                <a:spcPts val="1200"/>
              </a:spcAft>
              <a:buNone/>
            </a:pPr>
            <a:r>
              <a:rPr lang="en-US" sz="1800" dirty="0" smtClean="0">
                <a:latin typeface="Helvetica" pitchFamily="34" charset="0"/>
              </a:rPr>
              <a:t>At all times the Tour Guide must ensure there is respect shown for local communities.</a:t>
            </a:r>
          </a:p>
          <a:p>
            <a:pPr marL="0">
              <a:spcBef>
                <a:spcPts val="600"/>
              </a:spcBef>
              <a:spcAft>
                <a:spcPts val="1200"/>
              </a:spcAft>
              <a:buNone/>
            </a:pPr>
            <a:r>
              <a:rPr lang="en-US" sz="1800" dirty="0" smtClean="0">
                <a:latin typeface="Helvetica" pitchFamily="34" charset="0"/>
              </a:rPr>
              <a:t>Practical aspects of this requirement may include:</a:t>
            </a:r>
          </a:p>
          <a:p>
            <a:pPr>
              <a:spcBef>
                <a:spcPts val="600"/>
              </a:spcBef>
              <a:spcAft>
                <a:spcPts val="1200"/>
              </a:spcAft>
            </a:pPr>
            <a:r>
              <a:rPr lang="en-US" sz="1800" dirty="0" smtClean="0">
                <a:latin typeface="Helvetica" pitchFamily="34" charset="0"/>
              </a:rPr>
              <a:t>Meeting with local communities to develop Codes of Practice and other working agreements</a:t>
            </a:r>
          </a:p>
          <a:p>
            <a:pPr>
              <a:spcBef>
                <a:spcPts val="600"/>
              </a:spcBef>
              <a:spcAft>
                <a:spcPts val="1200"/>
              </a:spcAft>
            </a:pPr>
            <a:r>
              <a:rPr lang="en-US" sz="1800" dirty="0" smtClean="0">
                <a:latin typeface="Helvetica" pitchFamily="34" charset="0"/>
              </a:rPr>
              <a:t>Developing Codes of Conduct</a:t>
            </a:r>
          </a:p>
          <a:p>
            <a:pPr>
              <a:spcBef>
                <a:spcPts val="600"/>
              </a:spcBef>
              <a:spcAft>
                <a:spcPts val="1200"/>
              </a:spcAft>
            </a:pPr>
            <a:r>
              <a:rPr lang="en-US" sz="1800" dirty="0" smtClean="0">
                <a:latin typeface="Helvetica" pitchFamily="34" charset="0"/>
              </a:rPr>
              <a:t>Notifying communities in advance</a:t>
            </a:r>
          </a:p>
          <a:p>
            <a:pPr>
              <a:spcBef>
                <a:spcPts val="600"/>
              </a:spcBef>
              <a:spcAft>
                <a:spcPts val="1200"/>
              </a:spcAft>
            </a:pPr>
            <a:r>
              <a:rPr lang="en-US" sz="1800" dirty="0" smtClean="0">
                <a:latin typeface="Helvetica" pitchFamily="34" charset="0"/>
              </a:rPr>
              <a:t>Maintaining regular contact with local communities</a:t>
            </a:r>
          </a:p>
          <a:p>
            <a:pPr>
              <a:spcBef>
                <a:spcPts val="600"/>
              </a:spcBef>
              <a:spcAft>
                <a:spcPts val="1200"/>
              </a:spcAft>
            </a:pPr>
            <a:r>
              <a:rPr lang="en-US" sz="1800" dirty="0" smtClean="0">
                <a:latin typeface="Helvetica" pitchFamily="34" charset="0"/>
              </a:rPr>
              <a:t>Providing economic opportunity for host communities </a:t>
            </a:r>
          </a:p>
          <a:p>
            <a:pPr>
              <a:spcBef>
                <a:spcPts val="600"/>
              </a:spcBef>
              <a:spcAft>
                <a:spcPts val="1200"/>
              </a:spcAft>
              <a:buNone/>
            </a:pPr>
            <a:endParaRPr lang="en-US" sz="1800" dirty="0" smtClean="0"/>
          </a:p>
          <a:p>
            <a:pPr>
              <a:spcBef>
                <a:spcPts val="600"/>
              </a:spcBef>
              <a:spcAft>
                <a:spcPts val="1200"/>
              </a:spcAft>
              <a:buNone/>
            </a:pPr>
            <a:endParaRPr lang="en-US" sz="1800" b="1" dirty="0" smtClean="0">
              <a:solidFill>
                <a:srgbClr val="FF6600"/>
              </a:solidFill>
              <a:latin typeface="Helvetica" pitchFamily="34" charset="0"/>
            </a:endParaRPr>
          </a:p>
          <a:p>
            <a:pPr lvl="0">
              <a:spcBef>
                <a:spcPts val="600"/>
              </a:spcBef>
              <a:spcAft>
                <a:spcPts val="1200"/>
              </a:spcAft>
            </a:pPr>
            <a:endParaRPr lang="en-US" sz="1800" dirty="0" smtClean="0">
              <a:latin typeface="Helvetica" pitchFamily="34" charset="0"/>
            </a:endParaRPr>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latin typeface="Helvetica" pitchFamily="34" charset="0"/>
            </a:endParaRPr>
          </a:p>
          <a:p>
            <a:endParaRPr lang="en-US" sz="1800" b="1" dirty="0" smtClean="0"/>
          </a:p>
          <a:p>
            <a:pPr>
              <a:spcBef>
                <a:spcPts val="600"/>
              </a:spcBef>
              <a:spcAft>
                <a:spcPts val="1200"/>
              </a:spcAft>
              <a:buNone/>
            </a:pP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6" name="Picture 5" descr="dm.jpg"/>
          <p:cNvPicPr/>
          <p:nvPr/>
        </p:nvPicPr>
        <p:blipFill>
          <a:blip r:embed="rId3" cstate="print"/>
          <a:stretch>
            <a:fillRect/>
          </a:stretch>
        </p:blipFill>
        <p:spPr>
          <a:xfrm>
            <a:off x="6516216" y="4221088"/>
            <a:ext cx="1935480" cy="1447800"/>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Respect local communities</a:t>
            </a:r>
          </a:p>
          <a:p>
            <a:pPr>
              <a:spcBef>
                <a:spcPts val="600"/>
              </a:spcBef>
              <a:spcAft>
                <a:spcPts val="1200"/>
              </a:spcAft>
            </a:pPr>
            <a:r>
              <a:rPr lang="en-US" sz="2000" dirty="0" smtClean="0">
                <a:latin typeface="Helvetica" pitchFamily="34" charset="0"/>
              </a:rPr>
              <a:t>Advising the communities before the tour</a:t>
            </a:r>
          </a:p>
          <a:p>
            <a:pPr>
              <a:spcBef>
                <a:spcPts val="600"/>
              </a:spcBef>
              <a:spcAft>
                <a:spcPts val="1200"/>
              </a:spcAft>
            </a:pPr>
            <a:r>
              <a:rPr lang="en-US" sz="2000" dirty="0" smtClean="0">
                <a:latin typeface="Helvetica" pitchFamily="34" charset="0"/>
              </a:rPr>
              <a:t>Notifying tour group members of acceptable and unacceptable conduct </a:t>
            </a:r>
          </a:p>
          <a:p>
            <a:pPr>
              <a:spcBef>
                <a:spcPts val="600"/>
              </a:spcBef>
              <a:spcAft>
                <a:spcPts val="1200"/>
              </a:spcAft>
            </a:pPr>
            <a:r>
              <a:rPr lang="en-US" sz="2000" dirty="0" smtClean="0">
                <a:latin typeface="Helvetica" pitchFamily="34" charset="0"/>
              </a:rPr>
              <a:t>Asking permission to enter lands or communities</a:t>
            </a:r>
          </a:p>
          <a:p>
            <a:pPr>
              <a:spcBef>
                <a:spcPts val="600"/>
              </a:spcBef>
              <a:spcAft>
                <a:spcPts val="1200"/>
              </a:spcAft>
            </a:pPr>
            <a:r>
              <a:rPr lang="en-US" sz="2000" dirty="0" smtClean="0">
                <a:latin typeface="Helvetica" pitchFamily="34" charset="0"/>
              </a:rPr>
              <a:t>Observing the necessary cultural constraints</a:t>
            </a:r>
          </a:p>
          <a:p>
            <a:pPr>
              <a:spcBef>
                <a:spcPts val="600"/>
              </a:spcBef>
              <a:spcAft>
                <a:spcPts val="1200"/>
              </a:spcAft>
            </a:pPr>
            <a:r>
              <a:rPr lang="en-US" sz="2000" dirty="0" smtClean="0">
                <a:latin typeface="Helvetica" pitchFamily="34" charset="0"/>
              </a:rPr>
              <a:t>Maintaining secrecy of items and information</a:t>
            </a:r>
          </a:p>
          <a:p>
            <a:pPr>
              <a:spcBef>
                <a:spcPts val="600"/>
              </a:spcBef>
              <a:spcAft>
                <a:spcPts val="1200"/>
              </a:spcAft>
            </a:pPr>
            <a:r>
              <a:rPr lang="en-US" sz="2000" dirty="0" smtClean="0">
                <a:latin typeface="Helvetica" pitchFamily="34" charset="0"/>
              </a:rPr>
              <a:t>Involving the host community in decision                         making which impacts them</a:t>
            </a:r>
          </a:p>
          <a:p>
            <a:pPr>
              <a:spcBef>
                <a:spcPts val="600"/>
              </a:spcBef>
              <a:spcAft>
                <a:spcPts val="1200"/>
              </a:spcAft>
              <a:buNone/>
            </a:pPr>
            <a:endParaRPr lang="en-US" sz="2000" dirty="0" smtClean="0"/>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cr.jpg"/>
          <p:cNvPicPr/>
          <p:nvPr/>
        </p:nvPicPr>
        <p:blipFill>
          <a:blip r:embed="rId3" cstate="print"/>
          <a:stretch>
            <a:fillRect/>
          </a:stretch>
        </p:blipFill>
        <p:spPr>
          <a:xfrm>
            <a:off x="6444207" y="4365476"/>
            <a:ext cx="1938655" cy="1295400"/>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600"/>
              </a:spcAft>
              <a:buNone/>
            </a:pPr>
            <a:r>
              <a:rPr lang="en-US" sz="2000" b="1" dirty="0" smtClean="0">
                <a:latin typeface="Helvetica" pitchFamily="34" charset="0"/>
              </a:rPr>
              <a:t>Respect local communities</a:t>
            </a:r>
          </a:p>
          <a:p>
            <a:pPr>
              <a:spcBef>
                <a:spcPts val="600"/>
              </a:spcBef>
              <a:spcAft>
                <a:spcPts val="600"/>
              </a:spcAft>
            </a:pPr>
            <a:r>
              <a:rPr lang="en-US" sz="2000" dirty="0" smtClean="0">
                <a:latin typeface="Helvetica" pitchFamily="34" charset="0"/>
              </a:rPr>
              <a:t>Parking only in designated areas</a:t>
            </a:r>
          </a:p>
          <a:p>
            <a:pPr>
              <a:spcBef>
                <a:spcPts val="600"/>
              </a:spcBef>
              <a:spcAft>
                <a:spcPts val="600"/>
              </a:spcAft>
            </a:pPr>
            <a:r>
              <a:rPr lang="en-US" sz="2000" dirty="0" smtClean="0">
                <a:latin typeface="Helvetica" pitchFamily="34" charset="0"/>
              </a:rPr>
              <a:t>Staying on designated walking tracks and agreed pedestrian routes</a:t>
            </a:r>
          </a:p>
          <a:p>
            <a:pPr>
              <a:spcBef>
                <a:spcPts val="600"/>
              </a:spcBef>
              <a:spcAft>
                <a:spcPts val="600"/>
              </a:spcAft>
            </a:pPr>
            <a:r>
              <a:rPr lang="en-US" sz="2000" dirty="0" smtClean="0">
                <a:latin typeface="Helvetica" pitchFamily="34" charset="0"/>
              </a:rPr>
              <a:t>Prohibiting taking of photographs</a:t>
            </a:r>
          </a:p>
          <a:p>
            <a:pPr>
              <a:spcBef>
                <a:spcPts val="600"/>
              </a:spcBef>
              <a:spcAft>
                <a:spcPts val="600"/>
              </a:spcAft>
            </a:pPr>
            <a:r>
              <a:rPr lang="en-US" sz="2000" dirty="0" smtClean="0">
                <a:latin typeface="Helvetica" pitchFamily="34" charset="0"/>
              </a:rPr>
              <a:t>Banning use of limited local resources</a:t>
            </a:r>
          </a:p>
          <a:p>
            <a:pPr>
              <a:spcBef>
                <a:spcPts val="600"/>
              </a:spcBef>
              <a:spcAft>
                <a:spcPts val="600"/>
              </a:spcAft>
            </a:pPr>
            <a:r>
              <a:rPr lang="en-US" sz="2000" dirty="0" smtClean="0">
                <a:latin typeface="Helvetica" pitchFamily="34" charset="0"/>
              </a:rPr>
              <a:t>Identifying and banning carriage of nominated </a:t>
            </a:r>
            <a:br>
              <a:rPr lang="en-US" sz="2000" dirty="0" smtClean="0">
                <a:latin typeface="Helvetica" pitchFamily="34" charset="0"/>
              </a:rPr>
            </a:br>
            <a:r>
              <a:rPr lang="en-US" sz="2000" dirty="0" smtClean="0">
                <a:latin typeface="Helvetica" pitchFamily="34" charset="0"/>
              </a:rPr>
              <a:t>items onto community property</a:t>
            </a:r>
          </a:p>
          <a:p>
            <a:pPr>
              <a:spcBef>
                <a:spcPts val="600"/>
              </a:spcBef>
              <a:spcAft>
                <a:spcPts val="600"/>
              </a:spcAft>
            </a:pPr>
            <a:r>
              <a:rPr lang="en-US" sz="2000" dirty="0" smtClean="0">
                <a:latin typeface="Helvetica" pitchFamily="34" charset="0"/>
              </a:rPr>
              <a:t>Cleaning up after using facilities</a:t>
            </a:r>
          </a:p>
          <a:p>
            <a:pPr>
              <a:spcBef>
                <a:spcPts val="600"/>
              </a:spcBef>
              <a:spcAft>
                <a:spcPts val="600"/>
              </a:spcAft>
            </a:pPr>
            <a:r>
              <a:rPr lang="en-US" sz="2000" dirty="0" smtClean="0">
                <a:latin typeface="Helvetica" pitchFamily="34" charset="0"/>
              </a:rPr>
              <a:t>Modifying tours and interpretive activities </a:t>
            </a:r>
          </a:p>
          <a:p>
            <a:pPr>
              <a:spcBef>
                <a:spcPts val="2400"/>
              </a:spcBef>
              <a:spcAft>
                <a:spcPts val="1200"/>
              </a:spcAft>
              <a:buNone/>
            </a:pPr>
            <a:r>
              <a:rPr lang="en-US" sz="2000" b="1" i="1" u="sng" dirty="0" smtClean="0">
                <a:solidFill>
                  <a:srgbClr val="FF6600"/>
                </a:solidFill>
                <a:latin typeface="Helvetica" pitchFamily="34" charset="0"/>
              </a:rPr>
              <a:t>COMPLETE ACTIVITY 18</a:t>
            </a:r>
            <a:endParaRPr lang="en-US" sz="2000" i="1" u="sng" dirty="0" smtClean="0">
              <a:latin typeface="Helvetica" pitchFamily="34" charset="0"/>
            </a:endParaRPr>
          </a:p>
          <a:p>
            <a:pPr>
              <a:spcBef>
                <a:spcPts val="600"/>
              </a:spcBef>
              <a:spcAft>
                <a:spcPts val="1200"/>
              </a:spcAft>
              <a:buNone/>
            </a:pPr>
            <a:endParaRPr lang="en-US" sz="2000" dirty="0" smtClean="0"/>
          </a:p>
          <a:p>
            <a:pPr>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1t.jpg"/>
          <p:cNvPicPr>
            <a:picLocks noChangeAspect="1"/>
          </p:cNvPicPr>
          <p:nvPr/>
        </p:nvPicPr>
        <p:blipFill>
          <a:blip r:embed="rId3" cstate="print"/>
          <a:stretch>
            <a:fillRect/>
          </a:stretch>
        </p:blipFill>
        <p:spPr>
          <a:xfrm>
            <a:off x="6504689" y="4437112"/>
            <a:ext cx="1891554" cy="1265296"/>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Ensure safety issues are addressed</a:t>
            </a:r>
          </a:p>
          <a:p>
            <a:pPr marL="0">
              <a:spcBef>
                <a:spcPts val="600"/>
              </a:spcBef>
              <a:spcAft>
                <a:spcPts val="1200"/>
              </a:spcAft>
              <a:buNone/>
            </a:pPr>
            <a:r>
              <a:rPr lang="en-US" sz="2200" dirty="0" smtClean="0">
                <a:latin typeface="Helvetica" pitchFamily="34" charset="0"/>
              </a:rPr>
              <a:t>A vital part of the preparation for an on-tour activity is the need to ensure all safety issues have been addressed:</a:t>
            </a:r>
          </a:p>
          <a:p>
            <a:pPr>
              <a:spcBef>
                <a:spcPts val="600"/>
              </a:spcBef>
              <a:spcAft>
                <a:spcPts val="1200"/>
              </a:spcAft>
            </a:pPr>
            <a:r>
              <a:rPr lang="en-US" sz="2200" dirty="0" smtClean="0">
                <a:latin typeface="Helvetica" pitchFamily="34" charset="0"/>
              </a:rPr>
              <a:t>Duty of Care</a:t>
            </a:r>
          </a:p>
          <a:p>
            <a:pPr>
              <a:spcBef>
                <a:spcPts val="600"/>
              </a:spcBef>
              <a:spcAft>
                <a:spcPts val="1200"/>
              </a:spcAft>
            </a:pPr>
            <a:r>
              <a:rPr lang="en-US" sz="2200" dirty="0" smtClean="0">
                <a:latin typeface="Helvetica" pitchFamily="34" charset="0"/>
              </a:rPr>
              <a:t>General safety and security</a:t>
            </a:r>
          </a:p>
          <a:p>
            <a:pPr>
              <a:spcBef>
                <a:spcPts val="600"/>
              </a:spcBef>
              <a:spcAft>
                <a:spcPts val="1200"/>
              </a:spcAft>
            </a:pPr>
            <a:r>
              <a:rPr lang="en-US" sz="2200" dirty="0" smtClean="0">
                <a:latin typeface="Helvetica" pitchFamily="34" charset="0"/>
              </a:rPr>
              <a:t>Emergency equipment </a:t>
            </a:r>
          </a:p>
          <a:p>
            <a:pPr>
              <a:spcBef>
                <a:spcPts val="600"/>
              </a:spcBef>
              <a:spcAft>
                <a:spcPts val="1200"/>
              </a:spcAft>
            </a:pPr>
            <a:r>
              <a:rPr lang="en-US" sz="2200" dirty="0" smtClean="0">
                <a:latin typeface="Helvetica" pitchFamily="34" charset="0"/>
              </a:rPr>
              <a:t>Safety equipment </a:t>
            </a:r>
          </a:p>
          <a:p>
            <a:pPr>
              <a:spcBef>
                <a:spcPts val="600"/>
              </a:spcBef>
              <a:spcAft>
                <a:spcPts val="1200"/>
              </a:spcAft>
            </a:pPr>
            <a:endParaRPr lang="en-US" sz="2200" dirty="0" smtClean="0">
              <a:latin typeface="Helvetica" pitchFamily="34" charset="0"/>
            </a:endParaRPr>
          </a:p>
          <a:p>
            <a:pPr>
              <a:spcBef>
                <a:spcPts val="600"/>
              </a:spcBef>
              <a:spcAft>
                <a:spcPts val="1200"/>
              </a:spcAft>
              <a:buNone/>
            </a:pPr>
            <a:r>
              <a:rPr lang="en-US" sz="2200" b="1" i="1" u="sng" dirty="0" smtClean="0">
                <a:solidFill>
                  <a:srgbClr val="FF6600"/>
                </a:solidFill>
                <a:latin typeface="Helvetica" pitchFamily="34" charset="0"/>
              </a:rPr>
              <a:t>COMPLETE ACTIVITY 19</a:t>
            </a:r>
            <a:endParaRPr lang="en-US" sz="2200" i="1" u="sng"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200" b="1" dirty="0" smtClean="0">
              <a:solidFill>
                <a:srgbClr val="FF6600"/>
              </a:solidFill>
              <a:latin typeface="Helvetica" pitchFamily="34" charset="0"/>
            </a:endParaRP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6" name="Picture 5" descr="W347_first_aid_shutterstock_159048065.jpg"/>
          <p:cNvPicPr/>
          <p:nvPr/>
        </p:nvPicPr>
        <p:blipFill>
          <a:blip r:embed="rId3" cstate="print"/>
          <a:stretch>
            <a:fillRect/>
          </a:stretch>
        </p:blipFill>
        <p:spPr>
          <a:xfrm>
            <a:off x="5292080" y="3284984"/>
            <a:ext cx="1590675" cy="1590675"/>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900"/>
              </a:spcAft>
              <a:buNone/>
            </a:pPr>
            <a:r>
              <a:rPr lang="en-US" sz="2000" b="1" dirty="0" smtClean="0">
                <a:latin typeface="Helvetica" pitchFamily="34" charset="0"/>
              </a:rPr>
              <a:t>Conduct briefings with staff</a:t>
            </a:r>
          </a:p>
          <a:p>
            <a:pPr marL="0">
              <a:spcBef>
                <a:spcPts val="600"/>
              </a:spcBef>
              <a:spcAft>
                <a:spcPts val="900"/>
              </a:spcAft>
            </a:pPr>
            <a:r>
              <a:rPr lang="en-US" sz="2000" dirty="0" smtClean="0">
                <a:latin typeface="Helvetica" pitchFamily="34" charset="0"/>
              </a:rPr>
              <a:t>Roll call </a:t>
            </a:r>
          </a:p>
          <a:p>
            <a:pPr>
              <a:spcBef>
                <a:spcPts val="600"/>
              </a:spcBef>
              <a:spcAft>
                <a:spcPts val="900"/>
              </a:spcAft>
            </a:pPr>
            <a:r>
              <a:rPr lang="en-US" sz="2000" dirty="0" smtClean="0">
                <a:latin typeface="Helvetica" pitchFamily="34" charset="0"/>
              </a:rPr>
              <a:t>Provision of an overview of the activity</a:t>
            </a:r>
          </a:p>
          <a:p>
            <a:pPr>
              <a:spcBef>
                <a:spcPts val="600"/>
              </a:spcBef>
              <a:spcAft>
                <a:spcPts val="900"/>
              </a:spcAft>
            </a:pPr>
            <a:r>
              <a:rPr lang="en-US" sz="2000" dirty="0" smtClean="0">
                <a:latin typeface="Helvetica" pitchFamily="34" charset="0"/>
              </a:rPr>
              <a:t>Confirmation the activity should proceed</a:t>
            </a:r>
            <a:endParaRPr lang="en-US" sz="2000" b="1" dirty="0" smtClean="0">
              <a:solidFill>
                <a:srgbClr val="FF6600"/>
              </a:solidFill>
              <a:latin typeface="Helvetica" pitchFamily="34" charset="0"/>
            </a:endParaRPr>
          </a:p>
          <a:p>
            <a:pPr lvl="0">
              <a:spcBef>
                <a:spcPts val="600"/>
              </a:spcBef>
              <a:spcAft>
                <a:spcPts val="900"/>
              </a:spcAft>
            </a:pPr>
            <a:r>
              <a:rPr lang="en-US" sz="2000" dirty="0" smtClean="0">
                <a:latin typeface="Helvetica" pitchFamily="34" charset="0"/>
              </a:rPr>
              <a:t>Discussion of duration for the activity</a:t>
            </a:r>
          </a:p>
          <a:p>
            <a:pPr>
              <a:spcBef>
                <a:spcPts val="600"/>
              </a:spcBef>
              <a:spcAft>
                <a:spcPts val="900"/>
              </a:spcAft>
            </a:pPr>
            <a:r>
              <a:rPr lang="en-US" sz="2000" dirty="0" smtClean="0">
                <a:latin typeface="Helvetica" pitchFamily="34" charset="0"/>
              </a:rPr>
              <a:t>Development or confirmation of arrangements </a:t>
            </a:r>
            <a:br>
              <a:rPr lang="en-US" sz="2000" dirty="0" smtClean="0">
                <a:latin typeface="Helvetica" pitchFamily="34" charset="0"/>
              </a:rPr>
            </a:br>
            <a:r>
              <a:rPr lang="en-US" sz="2000" dirty="0" smtClean="0">
                <a:latin typeface="Helvetica" pitchFamily="34" charset="0"/>
              </a:rPr>
              <a:t>to address issues arising</a:t>
            </a:r>
          </a:p>
          <a:p>
            <a:pPr>
              <a:spcBef>
                <a:spcPts val="600"/>
              </a:spcBef>
              <a:spcAft>
                <a:spcPts val="900"/>
              </a:spcAft>
            </a:pPr>
            <a:r>
              <a:rPr lang="en-US" sz="2000" dirty="0" smtClean="0">
                <a:latin typeface="Helvetica" pitchFamily="34" charset="0"/>
              </a:rPr>
              <a:t>Allocation of staff to required positions</a:t>
            </a:r>
          </a:p>
          <a:p>
            <a:pPr>
              <a:spcBef>
                <a:spcPts val="600"/>
              </a:spcBef>
              <a:spcAft>
                <a:spcPts val="900"/>
              </a:spcAft>
            </a:pPr>
            <a:r>
              <a:rPr lang="en-US" sz="2000" dirty="0" smtClean="0">
                <a:latin typeface="Helvetica" pitchFamily="34" charset="0"/>
              </a:rPr>
              <a:t>Verification of the presence of physical resources</a:t>
            </a:r>
          </a:p>
          <a:p>
            <a:pPr>
              <a:spcBef>
                <a:spcPts val="600"/>
              </a:spcBef>
              <a:spcAft>
                <a:spcPts val="900"/>
              </a:spcAft>
            </a:pPr>
            <a:r>
              <a:rPr lang="en-US" sz="2000" dirty="0" smtClean="0">
                <a:latin typeface="Helvetica" pitchFamily="34" charset="0"/>
              </a:rPr>
              <a:t>Conduct of communication checks</a:t>
            </a:r>
            <a:endParaRPr lang="en-US" sz="2000" b="1" dirty="0" smtClean="0">
              <a:latin typeface="Helvetica" pitchFamily="34" charset="0"/>
            </a:endParaRPr>
          </a:p>
          <a:p>
            <a:endParaRPr lang="en-US" sz="2000" b="1" dirty="0" smtClean="0"/>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7" name="Picture 6" descr="1l.jpg"/>
          <p:cNvPicPr/>
          <p:nvPr/>
        </p:nvPicPr>
        <p:blipFill>
          <a:blip r:embed="rId3" cstate="print"/>
          <a:stretch>
            <a:fillRect/>
          </a:stretch>
        </p:blipFill>
        <p:spPr>
          <a:xfrm>
            <a:off x="6516216" y="2924944"/>
            <a:ext cx="1656184" cy="1944216"/>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Key points of interpretive activity to explain</a:t>
            </a:r>
          </a:p>
          <a:p>
            <a:pPr marL="0">
              <a:spcBef>
                <a:spcPts val="600"/>
              </a:spcBef>
              <a:spcAft>
                <a:spcPts val="1200"/>
              </a:spcAft>
            </a:pPr>
            <a:r>
              <a:rPr lang="en-US" sz="2000" dirty="0" smtClean="0">
                <a:latin typeface="Helvetica" pitchFamily="34" charset="0"/>
              </a:rPr>
              <a:t>Making verbal group-based announcements</a:t>
            </a:r>
          </a:p>
          <a:p>
            <a:pPr marL="0">
              <a:spcBef>
                <a:spcPts val="600"/>
              </a:spcBef>
              <a:spcAft>
                <a:spcPts val="1200"/>
              </a:spcAft>
            </a:pPr>
            <a:r>
              <a:rPr lang="en-US" sz="2000" dirty="0" smtClean="0">
                <a:latin typeface="Helvetica" pitchFamily="34" charset="0"/>
              </a:rPr>
              <a:t>Provide a welcome </a:t>
            </a:r>
            <a:endParaRPr lang="en-US" sz="2000" b="1" dirty="0" smtClean="0">
              <a:latin typeface="Helvetica" pitchFamily="34" charset="0"/>
            </a:endParaRPr>
          </a:p>
          <a:p>
            <a:pPr>
              <a:spcBef>
                <a:spcPts val="600"/>
              </a:spcBef>
              <a:spcAft>
                <a:spcPts val="1200"/>
              </a:spcAft>
            </a:pPr>
            <a:r>
              <a:rPr lang="en-US" sz="2000" dirty="0" smtClean="0">
                <a:latin typeface="Helvetica" pitchFamily="34" charset="0"/>
              </a:rPr>
              <a:t>Including them on the itinerary</a:t>
            </a:r>
          </a:p>
          <a:p>
            <a:pPr>
              <a:spcBef>
                <a:spcPts val="600"/>
              </a:spcBef>
              <a:spcAft>
                <a:spcPts val="1200"/>
              </a:spcAft>
            </a:pPr>
            <a:r>
              <a:rPr lang="en-US" sz="2000" dirty="0" smtClean="0">
                <a:latin typeface="Helvetica" pitchFamily="34" charset="0"/>
              </a:rPr>
              <a:t>Presentation of site-specific Code of Conduct </a:t>
            </a:r>
          </a:p>
          <a:p>
            <a:pPr>
              <a:spcBef>
                <a:spcPts val="600"/>
              </a:spcBef>
              <a:spcAft>
                <a:spcPts val="1200"/>
              </a:spcAft>
            </a:pPr>
            <a:r>
              <a:rPr lang="en-US" sz="2000" dirty="0" smtClean="0">
                <a:latin typeface="Helvetica" pitchFamily="34" charset="0"/>
              </a:rPr>
              <a:t>Notifying of basic operational parameters</a:t>
            </a:r>
          </a:p>
          <a:p>
            <a:pPr>
              <a:spcBef>
                <a:spcPts val="600"/>
              </a:spcBef>
              <a:spcAft>
                <a:spcPts val="1200"/>
              </a:spcAft>
            </a:pPr>
            <a:r>
              <a:rPr lang="en-US" sz="2000" dirty="0" smtClean="0">
                <a:latin typeface="Helvetica" pitchFamily="34" charset="0"/>
              </a:rPr>
              <a:t>Introducing other staff who will assist the                               Tour Guide</a:t>
            </a:r>
          </a:p>
          <a:p>
            <a:pPr>
              <a:spcBef>
                <a:spcPts val="600"/>
              </a:spcBef>
              <a:spcAft>
                <a:spcPts val="1200"/>
              </a:spcAft>
            </a:pPr>
            <a:r>
              <a:rPr lang="en-US" sz="2000" dirty="0" smtClean="0">
                <a:latin typeface="Helvetica" pitchFamily="34" charset="0"/>
              </a:rPr>
              <a:t>Distributing materials, resources or equipment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6" name="Picture 5" descr="1q.jpg"/>
          <p:cNvPicPr/>
          <p:nvPr/>
        </p:nvPicPr>
        <p:blipFill>
          <a:blip r:embed="rId3" cstate="print"/>
          <a:stretch>
            <a:fillRect/>
          </a:stretch>
        </p:blipFill>
        <p:spPr>
          <a:xfrm>
            <a:off x="6372200" y="3501008"/>
            <a:ext cx="1944216" cy="1368152"/>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Key points of interpretive activity to explain</a:t>
            </a:r>
          </a:p>
          <a:p>
            <a:pPr marL="457200">
              <a:spcBef>
                <a:spcPts val="600"/>
              </a:spcBef>
              <a:spcAft>
                <a:spcPts val="1200"/>
              </a:spcAft>
            </a:pPr>
            <a:r>
              <a:rPr lang="en-US" sz="2000" dirty="0" smtClean="0">
                <a:latin typeface="Helvetica" pitchFamily="34" charset="0"/>
              </a:rPr>
              <a:t>Demonstrating use of items required in relation to the activity</a:t>
            </a:r>
          </a:p>
          <a:p>
            <a:pPr marL="457200">
              <a:spcBef>
                <a:spcPts val="600"/>
              </a:spcBef>
              <a:spcAft>
                <a:spcPts val="1200"/>
              </a:spcAft>
            </a:pPr>
            <a:r>
              <a:rPr lang="en-US" sz="2000" dirty="0" smtClean="0">
                <a:latin typeface="Helvetica" pitchFamily="34" charset="0"/>
              </a:rPr>
              <a:t>Assessing individual capacity for individual tour group members to participate in the activity</a:t>
            </a:r>
          </a:p>
          <a:p>
            <a:pPr marL="457200">
              <a:spcBef>
                <a:spcPts val="600"/>
              </a:spcBef>
              <a:spcAft>
                <a:spcPts val="1200"/>
              </a:spcAft>
            </a:pPr>
            <a:r>
              <a:rPr lang="en-US" sz="2000" dirty="0" smtClean="0">
                <a:latin typeface="Helvetica" pitchFamily="34" charset="0"/>
              </a:rPr>
              <a:t>Encouraging tour group members to engage </a:t>
            </a:r>
            <a:br>
              <a:rPr lang="en-US" sz="2000" dirty="0" smtClean="0">
                <a:latin typeface="Helvetica" pitchFamily="34" charset="0"/>
              </a:rPr>
            </a:br>
            <a:r>
              <a:rPr lang="en-US" sz="2000" dirty="0" smtClean="0">
                <a:latin typeface="Helvetica" pitchFamily="34" charset="0"/>
              </a:rPr>
              <a:t>with the activity</a:t>
            </a:r>
          </a:p>
          <a:p>
            <a:pPr marL="457200">
              <a:spcBef>
                <a:spcPts val="600"/>
              </a:spcBef>
              <a:spcAft>
                <a:spcPts val="1200"/>
              </a:spcAft>
            </a:pPr>
            <a:r>
              <a:rPr lang="en-US" sz="2000" dirty="0" smtClean="0">
                <a:latin typeface="Helvetica" pitchFamily="34" charset="0"/>
              </a:rPr>
              <a:t>Responding to questions and concerns</a:t>
            </a:r>
          </a:p>
          <a:p>
            <a:pPr marL="457200">
              <a:spcBef>
                <a:spcPts val="600"/>
              </a:spcBef>
              <a:spcAft>
                <a:spcPts val="1200"/>
              </a:spcAft>
            </a:pPr>
            <a:r>
              <a:rPr lang="en-US" sz="2000" dirty="0" smtClean="0">
                <a:latin typeface="Helvetica" pitchFamily="34" charset="0"/>
              </a:rPr>
              <a:t>Speaking to people on an individual basis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7" name="Picture 6" descr="83.jpg"/>
          <p:cNvPicPr/>
          <p:nvPr/>
        </p:nvPicPr>
        <p:blipFill>
          <a:blip r:embed="rId3" cstate="print"/>
          <a:stretch>
            <a:fillRect/>
          </a:stretch>
        </p:blipFill>
        <p:spPr>
          <a:xfrm>
            <a:off x="6558361" y="3356992"/>
            <a:ext cx="1695450" cy="1666875"/>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Using recorded introductions</a:t>
            </a:r>
          </a:p>
          <a:p>
            <a:pPr marL="0">
              <a:spcBef>
                <a:spcPts val="600"/>
              </a:spcBef>
              <a:spcAft>
                <a:spcPts val="1200"/>
              </a:spcAft>
              <a:buNone/>
            </a:pPr>
            <a:r>
              <a:rPr lang="en-US" sz="2200" dirty="0" smtClean="0">
                <a:latin typeface="Helvetica" pitchFamily="34" charset="0"/>
              </a:rPr>
              <a:t>Some tours and activities feature the use of recorded ‘introductions’:</a:t>
            </a:r>
          </a:p>
          <a:p>
            <a:pPr marL="457200">
              <a:spcBef>
                <a:spcPts val="600"/>
              </a:spcBef>
              <a:spcAft>
                <a:spcPts val="1200"/>
              </a:spcAft>
            </a:pPr>
            <a:r>
              <a:rPr lang="en-US" sz="2200" dirty="0" smtClean="0">
                <a:latin typeface="Helvetica" pitchFamily="34" charset="0"/>
              </a:rPr>
              <a:t>When would they be used?</a:t>
            </a:r>
          </a:p>
          <a:p>
            <a:pPr marL="457200">
              <a:spcBef>
                <a:spcPts val="600"/>
              </a:spcBef>
              <a:spcAft>
                <a:spcPts val="1200"/>
              </a:spcAft>
            </a:pPr>
            <a:r>
              <a:rPr lang="en-US" sz="2200" dirty="0" smtClean="0">
                <a:latin typeface="Helvetica" pitchFamily="34" charset="0"/>
              </a:rPr>
              <a:t>How can this information be communicated with customers?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6" name="Picture 5" descr="shutterstock_163307801.jpg"/>
          <p:cNvPicPr/>
          <p:nvPr/>
        </p:nvPicPr>
        <p:blipFill>
          <a:blip r:embed="rId3" cstate="print"/>
          <a:stretch>
            <a:fillRect/>
          </a:stretch>
        </p:blipFill>
        <p:spPr>
          <a:xfrm>
            <a:off x="3275856" y="4365104"/>
            <a:ext cx="2160240" cy="1512168"/>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Explaining interpretive activities</a:t>
            </a:r>
          </a:p>
          <a:p>
            <a:pPr marL="0">
              <a:spcBef>
                <a:spcPts val="600"/>
              </a:spcBef>
              <a:spcAft>
                <a:spcPts val="1200"/>
              </a:spcAft>
              <a:buNone/>
            </a:pPr>
            <a:r>
              <a:rPr lang="en-US" sz="2200" dirty="0" smtClean="0">
                <a:latin typeface="Helvetica" pitchFamily="34" charset="0"/>
              </a:rPr>
              <a:t>After tour group members have been formally introduced to the interpretive activity, the activity must be explained to them:</a:t>
            </a:r>
          </a:p>
          <a:p>
            <a:pPr marL="457200">
              <a:spcBef>
                <a:spcPts val="600"/>
              </a:spcBef>
              <a:spcAft>
                <a:spcPts val="1200"/>
              </a:spcAft>
            </a:pPr>
            <a:r>
              <a:rPr lang="en-US" sz="2200" dirty="0" smtClean="0">
                <a:latin typeface="Helvetica" pitchFamily="34" charset="0"/>
              </a:rPr>
              <a:t>What do customers need to know?</a:t>
            </a:r>
          </a:p>
          <a:p>
            <a:pPr marL="457200">
              <a:spcBef>
                <a:spcPts val="600"/>
              </a:spcBef>
              <a:spcAft>
                <a:spcPts val="1200"/>
              </a:spcAft>
            </a:pPr>
            <a:r>
              <a:rPr lang="en-US" sz="2200" dirty="0" smtClean="0">
                <a:latin typeface="Helvetica" pitchFamily="34" charset="0"/>
              </a:rPr>
              <a:t>How would your explain activities?</a:t>
            </a:r>
          </a:p>
          <a:p>
            <a:pPr marL="4572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10" name="Picture 9" descr="2b.jpg"/>
          <p:cNvPicPr/>
          <p:nvPr/>
        </p:nvPicPr>
        <p:blipFill>
          <a:blip r:embed="rId3" cstate="print"/>
          <a:stretch>
            <a:fillRect/>
          </a:stretch>
        </p:blipFill>
        <p:spPr>
          <a:xfrm>
            <a:off x="6228184" y="4005064"/>
            <a:ext cx="2170430" cy="144780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Communication techniques</a:t>
            </a:r>
          </a:p>
          <a:p>
            <a:pPr>
              <a:spcBef>
                <a:spcPts val="600"/>
              </a:spcBef>
              <a:spcAft>
                <a:spcPts val="1200"/>
              </a:spcAft>
            </a:pPr>
            <a:r>
              <a:rPr lang="en-US" sz="2200" dirty="0" smtClean="0">
                <a:latin typeface="Helvetica" pitchFamily="34" charset="0"/>
              </a:rPr>
              <a:t>Repeat parts of the commentary</a:t>
            </a:r>
          </a:p>
          <a:p>
            <a:pPr>
              <a:spcBef>
                <a:spcPts val="600"/>
              </a:spcBef>
              <a:spcAft>
                <a:spcPts val="1200"/>
              </a:spcAft>
            </a:pPr>
            <a:r>
              <a:rPr lang="en-US" sz="2200" dirty="0" smtClean="0">
                <a:latin typeface="Helvetica" pitchFamily="34" charset="0"/>
              </a:rPr>
              <a:t>Be prepared to paraphrase what has already been said</a:t>
            </a:r>
          </a:p>
          <a:p>
            <a:pPr>
              <a:spcBef>
                <a:spcPts val="600"/>
              </a:spcBef>
              <a:spcAft>
                <a:spcPts val="1200"/>
              </a:spcAft>
            </a:pPr>
            <a:r>
              <a:rPr lang="en-US" sz="2200" dirty="0" smtClean="0">
                <a:latin typeface="Helvetica" pitchFamily="34" charset="0"/>
              </a:rPr>
              <a:t>Speak at a different pace</a:t>
            </a:r>
          </a:p>
          <a:p>
            <a:pPr>
              <a:spcBef>
                <a:spcPts val="600"/>
              </a:spcBef>
              <a:spcAft>
                <a:spcPts val="1200"/>
              </a:spcAft>
            </a:pPr>
            <a:r>
              <a:rPr lang="en-US" sz="2200" dirty="0" smtClean="0">
                <a:latin typeface="Helvetica" pitchFamily="34" charset="0"/>
              </a:rPr>
              <a:t>Use plenty of pointing and hand gestures</a:t>
            </a:r>
          </a:p>
          <a:p>
            <a:pPr>
              <a:spcBef>
                <a:spcPts val="600"/>
              </a:spcBef>
              <a:spcAft>
                <a:spcPts val="1200"/>
              </a:spcAft>
            </a:pPr>
            <a:r>
              <a:rPr lang="en-US" sz="2200" dirty="0" smtClean="0">
                <a:latin typeface="Helvetica" pitchFamily="34" charset="0"/>
              </a:rPr>
              <a:t>Interact with the group</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7" name="Picture 6" descr="1r.jpg"/>
          <p:cNvPicPr/>
          <p:nvPr/>
        </p:nvPicPr>
        <p:blipFill>
          <a:blip r:embed="rId3" cstate="print"/>
          <a:stretch>
            <a:fillRect/>
          </a:stretch>
        </p:blipFill>
        <p:spPr>
          <a:xfrm>
            <a:off x="6464736" y="3573016"/>
            <a:ext cx="1819275" cy="1466850"/>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Communication techniques</a:t>
            </a:r>
          </a:p>
          <a:p>
            <a:pPr>
              <a:spcBef>
                <a:spcPts val="600"/>
              </a:spcBef>
              <a:spcAft>
                <a:spcPts val="1200"/>
              </a:spcAft>
            </a:pPr>
            <a:r>
              <a:rPr lang="en-US" sz="2200" dirty="0" smtClean="0">
                <a:latin typeface="Helvetica" pitchFamily="34" charset="0"/>
              </a:rPr>
              <a:t>Be constantly alert to barriers to communications</a:t>
            </a:r>
          </a:p>
          <a:p>
            <a:pPr lvl="0">
              <a:spcBef>
                <a:spcPts val="600"/>
              </a:spcBef>
              <a:spcAft>
                <a:spcPts val="1200"/>
              </a:spcAft>
            </a:pPr>
            <a:r>
              <a:rPr lang="en-US" sz="2200" dirty="0" smtClean="0">
                <a:latin typeface="Helvetica" pitchFamily="34" charset="0"/>
              </a:rPr>
              <a:t>Common barriers are noise and line-of-sight obstacles.</a:t>
            </a:r>
          </a:p>
          <a:p>
            <a:pPr>
              <a:spcBef>
                <a:spcPts val="600"/>
              </a:spcBef>
              <a:spcAft>
                <a:spcPts val="1200"/>
              </a:spcAft>
            </a:pPr>
            <a:r>
              <a:rPr lang="en-US" sz="2200" dirty="0" smtClean="0">
                <a:latin typeface="Helvetica" pitchFamily="34" charset="0"/>
              </a:rPr>
              <a:t>Check for understanding of what has been said </a:t>
            </a:r>
          </a:p>
          <a:p>
            <a:pPr>
              <a:spcBef>
                <a:spcPts val="600"/>
              </a:spcBef>
              <a:spcAft>
                <a:spcPts val="1200"/>
              </a:spcAft>
            </a:pPr>
            <a:r>
              <a:rPr lang="en-US" sz="2200" dirty="0" smtClean="0">
                <a:latin typeface="Helvetica" pitchFamily="34" charset="0"/>
              </a:rPr>
              <a:t>Use extra staff</a:t>
            </a:r>
          </a:p>
          <a:p>
            <a:pPr>
              <a:spcBef>
                <a:spcPts val="600"/>
              </a:spcBef>
              <a:spcAft>
                <a:spcPts val="1200"/>
              </a:spcAft>
            </a:pPr>
            <a:r>
              <a:rPr lang="en-US" sz="2200" dirty="0" smtClean="0">
                <a:latin typeface="Helvetica" pitchFamily="34" charset="0"/>
              </a:rPr>
              <a:t>Address emotional barriers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6" name="Picture 5" descr="ay.jpg"/>
          <p:cNvPicPr/>
          <p:nvPr/>
        </p:nvPicPr>
        <p:blipFill>
          <a:blip r:embed="rId3" cstate="print"/>
          <a:stretch>
            <a:fillRect/>
          </a:stretch>
        </p:blipFill>
        <p:spPr>
          <a:xfrm>
            <a:off x="6998582" y="3789040"/>
            <a:ext cx="1428750" cy="1838325"/>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Demonstrate activity pre-requisites</a:t>
            </a:r>
          </a:p>
          <a:p>
            <a:pPr>
              <a:spcBef>
                <a:spcPts val="600"/>
              </a:spcBef>
              <a:spcAft>
                <a:spcPts val="1200"/>
              </a:spcAft>
            </a:pPr>
            <a:r>
              <a:rPr lang="en-US" sz="2000" dirty="0" smtClean="0">
                <a:latin typeface="Helvetica" pitchFamily="34" charset="0"/>
              </a:rPr>
              <a:t>Implementing approved plans for demonstration of the interpretive activity </a:t>
            </a:r>
          </a:p>
          <a:p>
            <a:pPr>
              <a:spcBef>
                <a:spcPts val="600"/>
              </a:spcBef>
              <a:spcAft>
                <a:spcPts val="1200"/>
              </a:spcAft>
            </a:pPr>
            <a:r>
              <a:rPr lang="en-US" sz="2000" dirty="0" smtClean="0">
                <a:latin typeface="Helvetica" pitchFamily="34" charset="0"/>
              </a:rPr>
              <a:t>Distributing equipment </a:t>
            </a:r>
          </a:p>
          <a:p>
            <a:pPr>
              <a:spcBef>
                <a:spcPts val="600"/>
              </a:spcBef>
              <a:spcAft>
                <a:spcPts val="1200"/>
              </a:spcAft>
            </a:pPr>
            <a:r>
              <a:rPr lang="en-US" sz="2000" dirty="0" smtClean="0">
                <a:latin typeface="Helvetica" pitchFamily="34" charset="0"/>
              </a:rPr>
              <a:t>Integrating explanations with demonstrations </a:t>
            </a:r>
          </a:p>
          <a:p>
            <a:pPr>
              <a:spcBef>
                <a:spcPts val="600"/>
              </a:spcBef>
              <a:spcAft>
                <a:spcPts val="1200"/>
              </a:spcAft>
            </a:pPr>
            <a:r>
              <a:rPr lang="en-US" sz="2000" dirty="0" smtClean="0">
                <a:latin typeface="Helvetica" pitchFamily="34" charset="0"/>
              </a:rPr>
              <a:t>Using the tour team to conduct a </a:t>
            </a:r>
            <a:br>
              <a:rPr lang="en-US" sz="2000" dirty="0" smtClean="0">
                <a:latin typeface="Helvetica" pitchFamily="34" charset="0"/>
              </a:rPr>
            </a:br>
            <a:r>
              <a:rPr lang="en-US" sz="2000" dirty="0" smtClean="0">
                <a:latin typeface="Helvetica" pitchFamily="34" charset="0"/>
              </a:rPr>
              <a:t>simulated activity</a:t>
            </a:r>
          </a:p>
          <a:p>
            <a:pPr>
              <a:spcBef>
                <a:spcPts val="600"/>
              </a:spcBef>
              <a:spcAft>
                <a:spcPts val="1200"/>
              </a:spcAft>
            </a:pPr>
            <a:r>
              <a:rPr lang="en-US" sz="2000" dirty="0" smtClean="0">
                <a:latin typeface="Helvetica" pitchFamily="34" charset="0"/>
              </a:rPr>
              <a:t> Focusing on the standard presentation                             technique for demonstrations</a:t>
            </a:r>
          </a:p>
          <a:p>
            <a:pPr>
              <a:spcBef>
                <a:spcPts val="600"/>
              </a:spcBef>
              <a:spcAft>
                <a:spcPts val="1200"/>
              </a:spcAft>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7" name="Picture 6" descr="1p.jpg"/>
          <p:cNvPicPr/>
          <p:nvPr/>
        </p:nvPicPr>
        <p:blipFill>
          <a:blip r:embed="rId3" cstate="print"/>
          <a:stretch>
            <a:fillRect/>
          </a:stretch>
        </p:blipFill>
        <p:spPr>
          <a:xfrm>
            <a:off x="6215568" y="4149080"/>
            <a:ext cx="2193032" cy="1410841"/>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Demonstrate activity pre-requisites</a:t>
            </a:r>
          </a:p>
          <a:p>
            <a:pPr>
              <a:spcBef>
                <a:spcPts val="600"/>
              </a:spcBef>
              <a:spcAft>
                <a:spcPts val="1200"/>
              </a:spcAft>
            </a:pPr>
            <a:r>
              <a:rPr lang="en-US" sz="2000" dirty="0" smtClean="0">
                <a:latin typeface="Helvetica" pitchFamily="34" charset="0"/>
              </a:rPr>
              <a:t>Walking the activity ground</a:t>
            </a:r>
          </a:p>
          <a:p>
            <a:pPr>
              <a:spcBef>
                <a:spcPts val="600"/>
              </a:spcBef>
              <a:spcAft>
                <a:spcPts val="1200"/>
              </a:spcAft>
            </a:pPr>
            <a:r>
              <a:rPr lang="en-US" sz="2000" dirty="0" smtClean="0">
                <a:latin typeface="Helvetica" pitchFamily="34" charset="0"/>
              </a:rPr>
              <a:t>Distributing activity-related items if required</a:t>
            </a:r>
          </a:p>
          <a:p>
            <a:pPr>
              <a:spcBef>
                <a:spcPts val="600"/>
              </a:spcBef>
              <a:spcAft>
                <a:spcPts val="1200"/>
              </a:spcAft>
            </a:pPr>
            <a:r>
              <a:rPr lang="en-US" sz="2000" dirty="0" smtClean="0">
                <a:latin typeface="Helvetica" pitchFamily="34" charset="0"/>
              </a:rPr>
              <a:t> Distributing safety equipment</a:t>
            </a:r>
          </a:p>
          <a:p>
            <a:pPr>
              <a:spcBef>
                <a:spcPts val="600"/>
              </a:spcBef>
              <a:spcAft>
                <a:spcPts val="1200"/>
              </a:spcAft>
            </a:pPr>
            <a:r>
              <a:rPr lang="en-US" sz="2000" dirty="0" smtClean="0">
                <a:latin typeface="Helvetica" pitchFamily="34" charset="0"/>
              </a:rPr>
              <a:t>Showing how to use equipment</a:t>
            </a:r>
          </a:p>
          <a:p>
            <a:pPr>
              <a:spcBef>
                <a:spcPts val="600"/>
              </a:spcBef>
              <a:spcAft>
                <a:spcPts val="1200"/>
              </a:spcAft>
            </a:pPr>
            <a:r>
              <a:rPr lang="en-US" sz="2000" dirty="0" smtClean="0">
                <a:latin typeface="Helvetica" pitchFamily="34" charset="0"/>
              </a:rPr>
              <a:t>Showing use of PPE</a:t>
            </a:r>
          </a:p>
          <a:p>
            <a:pPr>
              <a:spcBef>
                <a:spcPts val="600"/>
              </a:spcBef>
              <a:spcAft>
                <a:spcPts val="1200"/>
              </a:spcAft>
            </a:pPr>
            <a:r>
              <a:rPr lang="en-US" sz="2000" dirty="0" smtClean="0">
                <a:latin typeface="Helvetica" pitchFamily="34" charset="0"/>
              </a:rPr>
              <a:t>Showing how to use emergency equipment</a:t>
            </a:r>
          </a:p>
          <a:p>
            <a:pPr>
              <a:spcBef>
                <a:spcPts val="600"/>
              </a:spcBef>
              <a:spcAft>
                <a:spcPts val="1200"/>
              </a:spcAft>
            </a:pPr>
            <a:r>
              <a:rPr lang="en-US" sz="2000" dirty="0" smtClean="0">
                <a:latin typeface="Helvetica" pitchFamily="34" charset="0"/>
              </a:rPr>
              <a:t>Employing the services of ‘sufficient’ personnel</a:t>
            </a:r>
          </a:p>
          <a:p>
            <a:pPr>
              <a:spcBef>
                <a:spcPts val="600"/>
              </a:spcBef>
              <a:spcAft>
                <a:spcPts val="1200"/>
              </a:spcAft>
            </a:pPr>
            <a:r>
              <a:rPr lang="en-US" sz="2000" dirty="0" smtClean="0">
                <a:latin typeface="Helvetica" pitchFamily="34" charset="0"/>
              </a:rPr>
              <a:t>Allocating sufficient time for the demonstrations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8" name="Picture 7" descr="a.jpg"/>
          <p:cNvPicPr/>
          <p:nvPr/>
        </p:nvPicPr>
        <p:blipFill>
          <a:blip r:embed="rId3" cstate="print"/>
          <a:stretch>
            <a:fillRect/>
          </a:stretch>
        </p:blipFill>
        <p:spPr>
          <a:xfrm>
            <a:off x="5940152" y="3140968"/>
            <a:ext cx="2038350" cy="1362075"/>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Confirm customer understanding of upcoming activity</a:t>
            </a:r>
          </a:p>
          <a:p>
            <a:pPr marL="0">
              <a:spcBef>
                <a:spcPts val="600"/>
              </a:spcBef>
              <a:spcAft>
                <a:spcPts val="1200"/>
              </a:spcAft>
              <a:buNone/>
            </a:pPr>
            <a:r>
              <a:rPr lang="en-US" sz="2200" dirty="0" smtClean="0">
                <a:latin typeface="Helvetica" pitchFamily="34" charset="0"/>
              </a:rPr>
              <a:t>A vital part of the explanation and demonstration phase is the need to ensure tour group members understanding of requirements:</a:t>
            </a:r>
          </a:p>
          <a:p>
            <a:pPr>
              <a:spcBef>
                <a:spcPts val="600"/>
              </a:spcBef>
              <a:spcAft>
                <a:spcPts val="1200"/>
              </a:spcAft>
            </a:pPr>
            <a:r>
              <a:rPr lang="en-US" sz="2200" dirty="0" smtClean="0">
                <a:latin typeface="Helvetica" pitchFamily="34" charset="0"/>
              </a:rPr>
              <a:t>Why is it important to confirm understanding?</a:t>
            </a:r>
          </a:p>
          <a:p>
            <a:pPr>
              <a:spcBef>
                <a:spcPts val="600"/>
              </a:spcBef>
              <a:spcAft>
                <a:spcPts val="1200"/>
              </a:spcAft>
            </a:pPr>
            <a:r>
              <a:rPr lang="en-US" sz="2200" dirty="0" smtClean="0">
                <a:latin typeface="Helvetica" pitchFamily="34" charset="0"/>
              </a:rPr>
              <a:t>What methods can be used to check understanding?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6" name="Picture 5" descr="de.jpg"/>
          <p:cNvPicPr/>
          <p:nvPr/>
        </p:nvPicPr>
        <p:blipFill>
          <a:blip r:embed="rId3" cstate="print"/>
          <a:stretch>
            <a:fillRect/>
          </a:stretch>
        </p:blipFill>
        <p:spPr>
          <a:xfrm>
            <a:off x="3260874" y="4549214"/>
            <a:ext cx="1872208" cy="1512168"/>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Provide interpretive commentary</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Conduct of interpretive activities will traditionally require the provision of commentary and the use of a range of interpretive presentation techniques.</a:t>
            </a:r>
          </a:p>
          <a:p>
            <a:pPr>
              <a:spcBef>
                <a:spcPts val="600"/>
              </a:spcBef>
              <a:spcAft>
                <a:spcPts val="1200"/>
              </a:spcAft>
              <a:buNone/>
            </a:pPr>
            <a:r>
              <a:rPr lang="en-US" sz="2200" dirty="0" smtClean="0">
                <a:latin typeface="Helvetica" pitchFamily="34" charset="0"/>
              </a:rPr>
              <a:t>All tours will require some form of commentary:</a:t>
            </a:r>
          </a:p>
          <a:p>
            <a:pPr>
              <a:spcBef>
                <a:spcPts val="600"/>
              </a:spcBef>
              <a:spcAft>
                <a:spcPts val="1200"/>
              </a:spcAft>
            </a:pPr>
            <a:r>
              <a:rPr lang="en-US" sz="2200" dirty="0" smtClean="0">
                <a:latin typeface="Helvetica" pitchFamily="34" charset="0"/>
              </a:rPr>
              <a:t>Commentary may be described as:</a:t>
            </a:r>
          </a:p>
          <a:p>
            <a:pPr>
              <a:spcBef>
                <a:spcPts val="600"/>
              </a:spcBef>
              <a:spcAft>
                <a:spcPts val="1200"/>
              </a:spcAft>
            </a:pPr>
            <a:r>
              <a:rPr lang="en-US" sz="2200" dirty="0" smtClean="0">
                <a:latin typeface="Helvetica" pitchFamily="34" charset="0"/>
              </a:rPr>
              <a:t>Scripted</a:t>
            </a:r>
          </a:p>
          <a:p>
            <a:pPr>
              <a:spcBef>
                <a:spcPts val="600"/>
              </a:spcBef>
              <a:spcAft>
                <a:spcPts val="1200"/>
              </a:spcAft>
            </a:pPr>
            <a:r>
              <a:rPr lang="en-US" sz="2200" dirty="0" smtClean="0">
                <a:latin typeface="Helvetica" pitchFamily="34" charset="0"/>
              </a:rPr>
              <a:t>Unscripted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7" name="Picture 6" descr="shutterstock_2958937.jpg"/>
          <p:cNvPicPr/>
          <p:nvPr/>
        </p:nvPicPr>
        <p:blipFill>
          <a:blip r:embed="rId3" cstate="print"/>
          <a:stretch>
            <a:fillRect/>
          </a:stretch>
        </p:blipFill>
        <p:spPr>
          <a:xfrm>
            <a:off x="6300192" y="4221088"/>
            <a:ext cx="2089150" cy="1390650"/>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Advice on delivering scripted commentary</a:t>
            </a:r>
            <a:endParaRPr lang="en-US" sz="2000" dirty="0" smtClean="0">
              <a:latin typeface="Helvetica" pitchFamily="34" charset="0"/>
            </a:endParaRPr>
          </a:p>
          <a:p>
            <a:pPr>
              <a:spcBef>
                <a:spcPts val="600"/>
              </a:spcBef>
              <a:spcAft>
                <a:spcPts val="1200"/>
              </a:spcAft>
            </a:pPr>
            <a:r>
              <a:rPr lang="en-US" sz="2000" dirty="0" smtClean="0">
                <a:latin typeface="Helvetica" pitchFamily="34" charset="0"/>
              </a:rPr>
              <a:t>Ensuring visibility to all tour group members</a:t>
            </a:r>
          </a:p>
          <a:p>
            <a:pPr>
              <a:spcBef>
                <a:spcPts val="600"/>
              </a:spcBef>
              <a:spcAft>
                <a:spcPts val="1200"/>
              </a:spcAft>
            </a:pPr>
            <a:r>
              <a:rPr lang="en-US" sz="2000" dirty="0" smtClean="0">
                <a:latin typeface="Helvetica" pitchFamily="34" charset="0"/>
              </a:rPr>
              <a:t>Facing the group</a:t>
            </a:r>
          </a:p>
          <a:p>
            <a:pPr>
              <a:spcBef>
                <a:spcPts val="600"/>
              </a:spcBef>
              <a:spcAft>
                <a:spcPts val="1200"/>
              </a:spcAft>
            </a:pPr>
            <a:r>
              <a:rPr lang="en-US" sz="2000" dirty="0" smtClean="0">
                <a:latin typeface="Helvetica" pitchFamily="34" charset="0"/>
              </a:rPr>
              <a:t>Speaking loudly enough for everyone to hear</a:t>
            </a:r>
          </a:p>
          <a:p>
            <a:pPr>
              <a:spcBef>
                <a:spcPts val="600"/>
              </a:spcBef>
              <a:spcAft>
                <a:spcPts val="1200"/>
              </a:spcAft>
            </a:pPr>
            <a:r>
              <a:rPr lang="en-US" sz="2000" dirty="0" smtClean="0">
                <a:latin typeface="Helvetica" pitchFamily="34" charset="0"/>
              </a:rPr>
              <a:t>Remaining enthusiastic and appropriate to the </a:t>
            </a:r>
            <a:br>
              <a:rPr lang="en-US" sz="2000" dirty="0" smtClean="0">
                <a:latin typeface="Helvetica" pitchFamily="34" charset="0"/>
              </a:rPr>
            </a:br>
            <a:r>
              <a:rPr lang="en-US" sz="2000" dirty="0" smtClean="0">
                <a:latin typeface="Helvetica" pitchFamily="34" charset="0"/>
              </a:rPr>
              <a:t>nature and content of the activity</a:t>
            </a:r>
          </a:p>
          <a:p>
            <a:pPr>
              <a:spcBef>
                <a:spcPts val="600"/>
              </a:spcBef>
              <a:spcAft>
                <a:spcPts val="1200"/>
              </a:spcAft>
            </a:pPr>
            <a:r>
              <a:rPr lang="en-US" sz="2000" dirty="0" smtClean="0">
                <a:latin typeface="Helvetica" pitchFamily="34" charset="0"/>
              </a:rPr>
              <a:t>Beginning the verbal commentary sufficiently                           in advance of a scheduled event</a:t>
            </a:r>
          </a:p>
          <a:p>
            <a:pPr>
              <a:spcBef>
                <a:spcPts val="600"/>
              </a:spcBef>
              <a:spcAft>
                <a:spcPts val="1200"/>
              </a:spcAft>
            </a:pPr>
            <a:r>
              <a:rPr lang="en-US" sz="2000" dirty="0" smtClean="0">
                <a:latin typeface="Helvetica" pitchFamily="34" charset="0"/>
              </a:rPr>
              <a:t>Focusing attention on entire group</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6" name="Picture 5" descr="shutterstock_110078846.jpg"/>
          <p:cNvPicPr/>
          <p:nvPr/>
        </p:nvPicPr>
        <p:blipFill>
          <a:blip r:embed="rId3" cstate="print"/>
          <a:stretch>
            <a:fillRect/>
          </a:stretch>
        </p:blipFill>
        <p:spPr>
          <a:xfrm>
            <a:off x="7020272" y="3509410"/>
            <a:ext cx="1419860" cy="1838325"/>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29.jpg"/>
          <p:cNvPicPr>
            <a:picLocks noChangeAspect="1"/>
          </p:cNvPicPr>
          <p:nvPr/>
        </p:nvPicPr>
        <p:blipFill>
          <a:blip r:embed="rId3" cstate="print"/>
          <a:stretch>
            <a:fillRect/>
          </a:stretch>
        </p:blipFill>
        <p:spPr>
          <a:xfrm>
            <a:off x="6105059" y="3573016"/>
            <a:ext cx="2179320" cy="1444752"/>
          </a:xfrm>
          <a:prstGeom prst="rect">
            <a:avLst/>
          </a:prstGeom>
        </p:spPr>
      </p:pic>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Trial developed eco-tourism activities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Advice on delivering scripted commentary</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Communicating at level that will be                             understood by the audience</a:t>
            </a:r>
          </a:p>
          <a:p>
            <a:pPr>
              <a:spcBef>
                <a:spcPts val="600"/>
              </a:spcBef>
              <a:spcAft>
                <a:spcPts val="1200"/>
              </a:spcAft>
            </a:pPr>
            <a:r>
              <a:rPr lang="en-US" sz="2200" dirty="0" smtClean="0">
                <a:latin typeface="Helvetica" pitchFamily="34" charset="0"/>
              </a:rPr>
              <a:t>Encouraging questions</a:t>
            </a:r>
          </a:p>
          <a:p>
            <a:pPr>
              <a:spcBef>
                <a:spcPts val="600"/>
              </a:spcBef>
              <a:spcAft>
                <a:spcPts val="1200"/>
              </a:spcAft>
            </a:pPr>
            <a:r>
              <a:rPr lang="en-US" sz="2200" dirty="0" smtClean="0">
                <a:latin typeface="Helvetica" pitchFamily="34" charset="0"/>
              </a:rPr>
              <a:t>Making the commentary a ‘unique’ event</a:t>
            </a:r>
          </a:p>
          <a:p>
            <a:pPr>
              <a:spcBef>
                <a:spcPts val="600"/>
              </a:spcBef>
              <a:spcAft>
                <a:spcPts val="1200"/>
              </a:spcAft>
            </a:pPr>
            <a:r>
              <a:rPr lang="en-US" sz="2200" dirty="0" smtClean="0">
                <a:latin typeface="Helvetica" pitchFamily="34" charset="0"/>
              </a:rPr>
              <a:t>Knowing when to be quiet </a:t>
            </a:r>
          </a:p>
          <a:p>
            <a:pPr>
              <a:spcBef>
                <a:spcPts val="600"/>
              </a:spcBef>
              <a:spcAft>
                <a:spcPts val="1200"/>
              </a:spcAft>
            </a:pPr>
            <a:r>
              <a:rPr lang="en-US" sz="2200" dirty="0" smtClean="0">
                <a:latin typeface="Helvetica" pitchFamily="34" charset="0"/>
              </a:rPr>
              <a:t>Adjusting the commentary as required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prepared aids and materials</a:t>
            </a:r>
          </a:p>
        </p:txBody>
      </p:sp>
      <p:sp>
        <p:nvSpPr>
          <p:cNvPr id="3" name="Content Placeholder 2"/>
          <p:cNvSpPr>
            <a:spLocks noGrp="1"/>
          </p:cNvSpPr>
          <p:nvPr>
            <p:ph idx="1"/>
          </p:nvPr>
        </p:nvSpPr>
        <p:spPr>
          <a:xfrm>
            <a:off x="611560" y="1556792"/>
            <a:ext cx="7467600" cy="5301208"/>
          </a:xfrm>
        </p:spPr>
        <p:txBody>
          <a:bodyPr>
            <a:normAutofit/>
          </a:bodyPr>
          <a:lstStyle/>
          <a:p>
            <a:pPr>
              <a:buNone/>
            </a:pPr>
            <a:r>
              <a:rPr lang="en-US" sz="2000" b="1" dirty="0" smtClean="0">
                <a:latin typeface="Helvetica" pitchFamily="34" charset="0"/>
              </a:rPr>
              <a:t>Hard copy items</a:t>
            </a:r>
          </a:p>
          <a:p>
            <a:pPr lvl="0"/>
            <a:r>
              <a:rPr lang="en-AU" sz="2000" dirty="0" smtClean="0">
                <a:latin typeface="Helvetica" pitchFamily="34" charset="0"/>
              </a:rPr>
              <a:t>Safety tips</a:t>
            </a:r>
            <a:endParaRPr lang="en-US" sz="2000" dirty="0" smtClean="0">
              <a:latin typeface="Helvetica" pitchFamily="34" charset="0"/>
            </a:endParaRPr>
          </a:p>
          <a:p>
            <a:pPr lvl="0"/>
            <a:r>
              <a:rPr lang="en-AU" sz="2000" dirty="0" smtClean="0">
                <a:latin typeface="Helvetica" pitchFamily="34" charset="0"/>
              </a:rPr>
              <a:t>Information handouts</a:t>
            </a:r>
            <a:endParaRPr lang="en-US" sz="2000" dirty="0" smtClean="0">
              <a:latin typeface="Helvetica" pitchFamily="34" charset="0"/>
            </a:endParaRPr>
          </a:p>
          <a:p>
            <a:pPr lvl="0"/>
            <a:r>
              <a:rPr lang="en-AU" sz="2000" dirty="0" smtClean="0">
                <a:latin typeface="Helvetica" pitchFamily="34" charset="0"/>
              </a:rPr>
              <a:t>Rules of the game</a:t>
            </a:r>
            <a:endParaRPr lang="en-US" sz="2000" dirty="0" smtClean="0">
              <a:latin typeface="Helvetica" pitchFamily="34" charset="0"/>
            </a:endParaRPr>
          </a:p>
          <a:p>
            <a:pPr lvl="0"/>
            <a:r>
              <a:rPr lang="en-AU" sz="2000" dirty="0" smtClean="0">
                <a:latin typeface="Helvetica" pitchFamily="34" charset="0"/>
              </a:rPr>
              <a:t>Permanent take home copy of the commentary </a:t>
            </a:r>
            <a:endParaRPr lang="en-US" sz="2000" dirty="0" smtClean="0">
              <a:latin typeface="Helvetica" pitchFamily="34" charset="0"/>
            </a:endParaRPr>
          </a:p>
          <a:p>
            <a:pPr lvl="0"/>
            <a:r>
              <a:rPr lang="en-AU" sz="2000" dirty="0" smtClean="0">
                <a:latin typeface="Helvetica" pitchFamily="34" charset="0"/>
              </a:rPr>
              <a:t>Maps</a:t>
            </a:r>
            <a:endParaRPr lang="en-US" sz="2000" dirty="0" smtClean="0">
              <a:latin typeface="Helvetica" pitchFamily="34" charset="0"/>
            </a:endParaRPr>
          </a:p>
          <a:p>
            <a:pPr lvl="0"/>
            <a:r>
              <a:rPr lang="en-AU" sz="2000" dirty="0" smtClean="0">
                <a:latin typeface="Helvetica" pitchFamily="34" charset="0"/>
              </a:rPr>
              <a:t>Diagrams</a:t>
            </a:r>
            <a:endParaRPr lang="en-US" sz="2000" dirty="0" smtClean="0">
              <a:latin typeface="Helvetica" pitchFamily="34" charset="0"/>
            </a:endParaRPr>
          </a:p>
          <a:p>
            <a:pPr lvl="0"/>
            <a:r>
              <a:rPr lang="en-AU" sz="2000" dirty="0" smtClean="0">
                <a:latin typeface="Helvetica" pitchFamily="34" charset="0"/>
              </a:rPr>
              <a:t>Photographs</a:t>
            </a:r>
            <a:endParaRPr lang="en-US" sz="2000" dirty="0" smtClean="0">
              <a:latin typeface="Helvetica" pitchFamily="34" charset="0"/>
            </a:endParaRPr>
          </a:p>
          <a:p>
            <a:pPr lvl="0"/>
            <a:r>
              <a:rPr lang="en-AU" sz="2000" dirty="0" smtClean="0">
                <a:latin typeface="Helvetica" pitchFamily="34" charset="0"/>
              </a:rPr>
              <a:t>Sight cards</a:t>
            </a:r>
            <a:endParaRPr lang="en-US" sz="2000" dirty="0" smtClean="0">
              <a:latin typeface="Helvetica" pitchFamily="34" charset="0"/>
            </a:endParaRPr>
          </a:p>
          <a:p>
            <a:pPr lvl="0"/>
            <a:r>
              <a:rPr lang="en-AU" sz="2000" dirty="0" smtClean="0">
                <a:latin typeface="Helvetica" pitchFamily="34" charset="0"/>
              </a:rPr>
              <a:t>Activity sheets</a:t>
            </a:r>
            <a:endParaRPr lang="en-US" sz="2000" dirty="0" smtClean="0">
              <a:latin typeface="Helvetica" pitchFamily="34" charset="0"/>
            </a:endParaRPr>
          </a:p>
          <a:p>
            <a:pPr lvl="0"/>
            <a:r>
              <a:rPr lang="en-AU" sz="2000" dirty="0" smtClean="0">
                <a:latin typeface="Helvetica" pitchFamily="34" charset="0"/>
              </a:rPr>
              <a:t>Exercise sheets</a:t>
            </a:r>
            <a:endParaRPr lang="en-US" sz="2000" dirty="0" smtClean="0">
              <a:latin typeface="Helvetica" pitchFamily="34" charset="0"/>
            </a:endParaRPr>
          </a:p>
          <a:p>
            <a:pPr lvl="0"/>
            <a:r>
              <a:rPr lang="en-AU" sz="2000" dirty="0" smtClean="0">
                <a:latin typeface="Helvetica" pitchFamily="34" charset="0"/>
              </a:rPr>
              <a:t>Question sheets</a:t>
            </a:r>
            <a:endParaRPr lang="en-US" sz="2000" dirty="0" smtClean="0">
              <a:latin typeface="Helvetica" pitchFamily="34" charset="0"/>
            </a:endParaRPr>
          </a:p>
          <a:p>
            <a:pPr lvl="0"/>
            <a:r>
              <a:rPr lang="en-AU" sz="2000" dirty="0" smtClean="0">
                <a:latin typeface="Helvetica" pitchFamily="34" charset="0"/>
              </a:rPr>
              <a:t>Score cards</a:t>
            </a:r>
            <a:endParaRPr lang="en-US" sz="2000" dirty="0" smtClean="0">
              <a:latin typeface="Helvetica" pitchFamily="34" charset="0"/>
            </a:endParaRPr>
          </a:p>
          <a:p>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6" name="Picture 5" descr="shutterstock_184643621.jpg"/>
          <p:cNvPicPr/>
          <p:nvPr/>
        </p:nvPicPr>
        <p:blipFill>
          <a:blip r:embed="rId3" cstate="print"/>
          <a:stretch>
            <a:fillRect/>
          </a:stretch>
        </p:blipFill>
        <p:spPr>
          <a:xfrm>
            <a:off x="6012160" y="4130585"/>
            <a:ext cx="2384152" cy="1540371"/>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prepared aids and materials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Activity-related physical resources</a:t>
            </a:r>
          </a:p>
          <a:p>
            <a:pPr lvl="0">
              <a:spcBef>
                <a:spcPts val="600"/>
              </a:spcBef>
              <a:spcAft>
                <a:spcPts val="1200"/>
              </a:spcAft>
            </a:pPr>
            <a:r>
              <a:rPr lang="en-AU" sz="2200" dirty="0" smtClean="0">
                <a:latin typeface="Helvetica" pitchFamily="34" charset="0"/>
              </a:rPr>
              <a:t>Sports gear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Costumes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Equipment and items specific to the individual                           nature and need of particular activities </a:t>
            </a:r>
          </a:p>
          <a:p>
            <a:pPr lvl="0">
              <a:spcBef>
                <a:spcPts val="600"/>
              </a:spcBef>
              <a:spcAft>
                <a:spcPts val="1200"/>
              </a:spcAft>
            </a:pPr>
            <a:r>
              <a:rPr lang="en-AU" sz="2200" dirty="0" smtClean="0">
                <a:latin typeface="Helvetica" pitchFamily="34" charset="0"/>
              </a:rPr>
              <a:t>Special needs gear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Natural resources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7" name="Picture 6" descr="1p.jpg"/>
          <p:cNvPicPr>
            <a:picLocks noChangeAspect="1"/>
          </p:cNvPicPr>
          <p:nvPr/>
        </p:nvPicPr>
        <p:blipFill>
          <a:blip r:embed="rId3" cstate="print"/>
          <a:stretch>
            <a:fillRect/>
          </a:stretch>
        </p:blipFill>
        <p:spPr>
          <a:xfrm>
            <a:off x="6339443" y="4410555"/>
            <a:ext cx="2070017" cy="1378464"/>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prepared aids and materials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Human resources</a:t>
            </a:r>
          </a:p>
          <a:p>
            <a:pPr lvl="0">
              <a:spcBef>
                <a:spcPts val="600"/>
              </a:spcBef>
              <a:spcAft>
                <a:spcPts val="1200"/>
              </a:spcAft>
            </a:pPr>
            <a:r>
              <a:rPr lang="en-AU" sz="2000" dirty="0" smtClean="0">
                <a:latin typeface="Helvetica" pitchFamily="34" charset="0"/>
              </a:rPr>
              <a:t>Sufficient observers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Performers and actors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Players, teams and troupes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Presenters and demonstrators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Guest speakers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Assistants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Involvement of special interest                                      organisations and groups</a:t>
            </a:r>
            <a:endParaRPr lang="en-US" sz="2000" dirty="0" smtClean="0">
              <a:latin typeface="Helvetica" pitchFamily="34" charset="0"/>
            </a:endParaRPr>
          </a:p>
          <a:p>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6" name="Picture 5" descr="30.jpg"/>
          <p:cNvPicPr>
            <a:picLocks noChangeAspect="1"/>
          </p:cNvPicPr>
          <p:nvPr/>
        </p:nvPicPr>
        <p:blipFill>
          <a:blip r:embed="rId3" cstate="print"/>
          <a:stretch>
            <a:fillRect/>
          </a:stretch>
        </p:blipFill>
        <p:spPr>
          <a:xfrm>
            <a:off x="6516216" y="3645024"/>
            <a:ext cx="1903475" cy="1903475"/>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Use prepared aids and materials</a:t>
            </a:r>
          </a:p>
        </p:txBody>
      </p:sp>
      <p:sp>
        <p:nvSpPr>
          <p:cNvPr id="3" name="Content Placeholder 2"/>
          <p:cNvSpPr>
            <a:spLocks noGrp="1"/>
          </p:cNvSpPr>
          <p:nvPr>
            <p:ph idx="1"/>
          </p:nvPr>
        </p:nvSpPr>
        <p:spPr>
          <a:xfrm>
            <a:off x="611560" y="1556792"/>
            <a:ext cx="7467600" cy="5301208"/>
          </a:xfrm>
        </p:spPr>
        <p:txBody>
          <a:bodyPr>
            <a:normAutofit/>
          </a:bodyPr>
          <a:lstStyle/>
          <a:p>
            <a:pPr lvl="0">
              <a:lnSpc>
                <a:spcPct val="110000"/>
              </a:lnSpc>
              <a:spcBef>
                <a:spcPts val="600"/>
              </a:spcBef>
              <a:spcAft>
                <a:spcPts val="600"/>
              </a:spcAft>
              <a:buNone/>
            </a:pPr>
            <a:r>
              <a:rPr lang="en-US" sz="1900" b="1" dirty="0" smtClean="0">
                <a:latin typeface="Helvetica" pitchFamily="34" charset="0"/>
              </a:rPr>
              <a:t>Equipment and technology</a:t>
            </a:r>
          </a:p>
          <a:p>
            <a:pPr lvl="0">
              <a:lnSpc>
                <a:spcPct val="110000"/>
              </a:lnSpc>
              <a:spcBef>
                <a:spcPts val="600"/>
              </a:spcBef>
              <a:spcAft>
                <a:spcPts val="600"/>
              </a:spcAft>
            </a:pPr>
            <a:r>
              <a:rPr lang="en-US" sz="1900" dirty="0" smtClean="0">
                <a:latin typeface="Helvetica" pitchFamily="34" charset="0"/>
              </a:rPr>
              <a:t>PA systems and microphones </a:t>
            </a:r>
          </a:p>
          <a:p>
            <a:pPr lvl="0">
              <a:lnSpc>
                <a:spcPct val="110000"/>
              </a:lnSpc>
              <a:spcBef>
                <a:spcPts val="600"/>
              </a:spcBef>
              <a:spcAft>
                <a:spcPts val="600"/>
              </a:spcAft>
            </a:pPr>
            <a:r>
              <a:rPr lang="en-US" sz="1900" dirty="0" smtClean="0">
                <a:latin typeface="Helvetica" pitchFamily="34" charset="0"/>
              </a:rPr>
              <a:t>Megaphones </a:t>
            </a:r>
          </a:p>
          <a:p>
            <a:pPr lvl="0">
              <a:lnSpc>
                <a:spcPct val="110000"/>
              </a:lnSpc>
              <a:spcBef>
                <a:spcPts val="600"/>
              </a:spcBef>
              <a:spcAft>
                <a:spcPts val="600"/>
              </a:spcAft>
            </a:pPr>
            <a:r>
              <a:rPr lang="en-US" sz="1900" dirty="0" smtClean="0">
                <a:latin typeface="Helvetica" pitchFamily="34" charset="0"/>
              </a:rPr>
              <a:t>Overhead projectors </a:t>
            </a:r>
          </a:p>
          <a:p>
            <a:pPr lvl="0">
              <a:lnSpc>
                <a:spcPct val="110000"/>
              </a:lnSpc>
              <a:spcBef>
                <a:spcPts val="600"/>
              </a:spcBef>
              <a:spcAft>
                <a:spcPts val="600"/>
              </a:spcAft>
            </a:pPr>
            <a:r>
              <a:rPr lang="en-US" sz="1900" dirty="0" smtClean="0">
                <a:latin typeface="Helvetica" pitchFamily="34" charset="0"/>
              </a:rPr>
              <a:t>Data projectors </a:t>
            </a:r>
          </a:p>
          <a:p>
            <a:pPr lvl="0">
              <a:lnSpc>
                <a:spcPct val="110000"/>
              </a:lnSpc>
              <a:spcBef>
                <a:spcPts val="600"/>
              </a:spcBef>
              <a:spcAft>
                <a:spcPts val="600"/>
              </a:spcAft>
            </a:pPr>
            <a:r>
              <a:rPr lang="en-US" sz="1900" dirty="0" smtClean="0">
                <a:latin typeface="Helvetica" pitchFamily="34" charset="0"/>
              </a:rPr>
              <a:t>Slides and transparencies </a:t>
            </a:r>
          </a:p>
          <a:p>
            <a:pPr lvl="0">
              <a:lnSpc>
                <a:spcPct val="110000"/>
              </a:lnSpc>
              <a:spcBef>
                <a:spcPts val="600"/>
              </a:spcBef>
              <a:spcAft>
                <a:spcPts val="600"/>
              </a:spcAft>
            </a:pPr>
            <a:r>
              <a:rPr lang="en-US" sz="1900" dirty="0" smtClean="0">
                <a:latin typeface="Helvetica" pitchFamily="34" charset="0"/>
              </a:rPr>
              <a:t>Sound and lighting technologies</a:t>
            </a:r>
          </a:p>
          <a:p>
            <a:pPr lvl="0">
              <a:lnSpc>
                <a:spcPct val="110000"/>
              </a:lnSpc>
              <a:spcBef>
                <a:spcPts val="600"/>
              </a:spcBef>
              <a:spcAft>
                <a:spcPts val="600"/>
              </a:spcAft>
            </a:pPr>
            <a:r>
              <a:rPr lang="en-US" sz="1900" dirty="0" smtClean="0">
                <a:latin typeface="Helvetica" pitchFamily="34" charset="0"/>
              </a:rPr>
              <a:t>Laser pointers</a:t>
            </a:r>
          </a:p>
          <a:p>
            <a:pPr lvl="0">
              <a:lnSpc>
                <a:spcPct val="110000"/>
              </a:lnSpc>
              <a:spcBef>
                <a:spcPts val="600"/>
              </a:spcBef>
              <a:spcAft>
                <a:spcPts val="600"/>
              </a:spcAft>
            </a:pPr>
            <a:r>
              <a:rPr lang="en-US" sz="1900" dirty="0" smtClean="0">
                <a:latin typeface="Helvetica" pitchFamily="34" charset="0"/>
              </a:rPr>
              <a:t>Personal electronic devices</a:t>
            </a:r>
          </a:p>
          <a:p>
            <a:pPr>
              <a:lnSpc>
                <a:spcPct val="110000"/>
              </a:lnSpc>
              <a:spcBef>
                <a:spcPts val="1800"/>
              </a:spcBef>
              <a:spcAft>
                <a:spcPts val="1800"/>
              </a:spcAft>
              <a:buNone/>
            </a:pPr>
            <a:r>
              <a:rPr lang="en-US" sz="1900" b="1" i="1" u="sng" dirty="0" smtClean="0">
                <a:solidFill>
                  <a:srgbClr val="FF6600"/>
                </a:solidFill>
                <a:latin typeface="Helvetica" pitchFamily="34" charset="0"/>
              </a:rPr>
              <a:t>COMPLETE ACTIVITY 20</a:t>
            </a:r>
            <a:endParaRPr lang="en-US" sz="1900" i="1" u="sng" dirty="0" smtClean="0">
              <a:latin typeface="Helvetica" pitchFamily="34" charset="0"/>
            </a:endParaRPr>
          </a:p>
          <a:p>
            <a:pPr lvl="0">
              <a:spcBef>
                <a:spcPts val="600"/>
              </a:spcBef>
              <a:spcAft>
                <a:spcPts val="1200"/>
              </a:spcAft>
            </a:pPr>
            <a:endParaRPr lang="en-US" sz="1900" dirty="0" smtClean="0">
              <a:latin typeface="Helvetica" pitchFamily="34" charset="0"/>
            </a:endParaRPr>
          </a:p>
          <a:p>
            <a:endParaRPr lang="en-US" sz="19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7" name="Picture 6" descr="bt.jpg"/>
          <p:cNvPicPr>
            <a:picLocks noChangeAspect="1"/>
          </p:cNvPicPr>
          <p:nvPr/>
        </p:nvPicPr>
        <p:blipFill>
          <a:blip r:embed="rId3" cstate="print"/>
          <a:stretch>
            <a:fillRect/>
          </a:stretch>
        </p:blipFill>
        <p:spPr>
          <a:xfrm>
            <a:off x="5236695" y="2708920"/>
            <a:ext cx="2173976" cy="1636179"/>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Anticipate issues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Anticipate issues</a:t>
            </a:r>
          </a:p>
          <a:p>
            <a:pPr marL="0">
              <a:spcBef>
                <a:spcPts val="600"/>
              </a:spcBef>
              <a:spcAft>
                <a:spcPts val="1200"/>
              </a:spcAft>
              <a:buNone/>
            </a:pPr>
            <a:r>
              <a:rPr lang="en-US" sz="2200" dirty="0" smtClean="0">
                <a:latin typeface="Helvetica" pitchFamily="34" charset="0"/>
              </a:rPr>
              <a:t>All Tour Guides need to consider ‘issues arising’ during the conduct of the tour when they schedule an interpretive activity:</a:t>
            </a:r>
          </a:p>
          <a:p>
            <a:pPr>
              <a:spcBef>
                <a:spcPts val="600"/>
              </a:spcBef>
              <a:spcAft>
                <a:spcPts val="1200"/>
              </a:spcAft>
            </a:pPr>
            <a:r>
              <a:rPr lang="en-US" sz="2200" dirty="0" smtClean="0">
                <a:latin typeface="Helvetica" pitchFamily="34" charset="0"/>
              </a:rPr>
              <a:t>What are examples of issues?</a:t>
            </a:r>
          </a:p>
          <a:p>
            <a:pPr>
              <a:spcBef>
                <a:spcPts val="600"/>
              </a:spcBef>
              <a:spcAft>
                <a:spcPts val="1200"/>
              </a:spcAft>
            </a:pPr>
            <a:r>
              <a:rPr lang="en-US" sz="2200" dirty="0" smtClean="0">
                <a:latin typeface="Helvetica" pitchFamily="34" charset="0"/>
              </a:rPr>
              <a:t>How do you identify them?</a:t>
            </a:r>
          </a:p>
          <a:p>
            <a:pPr>
              <a:spcBef>
                <a:spcPts val="600"/>
              </a:spcBef>
              <a:spcAft>
                <a:spcPts val="1200"/>
              </a:spcAft>
            </a:pPr>
            <a:r>
              <a:rPr lang="en-US" sz="2200" dirty="0" smtClean="0">
                <a:latin typeface="Helvetica" pitchFamily="34" charset="0"/>
              </a:rPr>
              <a:t>How do you resolve them?</a:t>
            </a:r>
          </a:p>
          <a:p>
            <a:pPr>
              <a:lnSpc>
                <a:spcPct val="110000"/>
              </a:lnSpc>
              <a:spcBef>
                <a:spcPts val="600"/>
              </a:spcBef>
              <a:spcAft>
                <a:spcPts val="1200"/>
              </a:spcAft>
              <a:buNone/>
            </a:pPr>
            <a:endParaRPr lang="en-US" sz="2200" b="1" dirty="0" smtClean="0">
              <a:solidFill>
                <a:srgbClr val="FF6600"/>
              </a:solidFill>
              <a:latin typeface="Helvetica" pitchFamily="34" charset="0"/>
            </a:endParaRPr>
          </a:p>
          <a:p>
            <a:pPr>
              <a:lnSpc>
                <a:spcPct val="110000"/>
              </a:lnSpc>
              <a:spcBef>
                <a:spcPts val="600"/>
              </a:spcBef>
              <a:spcAft>
                <a:spcPts val="1200"/>
              </a:spcAft>
              <a:buNone/>
            </a:pPr>
            <a:r>
              <a:rPr lang="en-US" sz="2200" b="1" i="1" u="sng" dirty="0" smtClean="0">
                <a:solidFill>
                  <a:srgbClr val="FF6600"/>
                </a:solidFill>
                <a:latin typeface="Helvetica" pitchFamily="34" charset="0"/>
              </a:rPr>
              <a:t>COMPLETE ACTIVITY 21</a:t>
            </a:r>
            <a:endParaRPr lang="en-US" sz="2200" i="1" u="sng" dirty="0" smtClean="0">
              <a:latin typeface="Helvetica" pitchFamily="34" charset="0"/>
            </a:endParaRPr>
          </a:p>
          <a:p>
            <a:pPr lvl="0">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6" name="Picture 5" descr="20.jpg"/>
          <p:cNvPicPr/>
          <p:nvPr/>
        </p:nvPicPr>
        <p:blipFill>
          <a:blip r:embed="rId3" cstate="print"/>
          <a:stretch>
            <a:fillRect/>
          </a:stretch>
        </p:blipFill>
        <p:spPr>
          <a:xfrm>
            <a:off x="5580112" y="3284984"/>
            <a:ext cx="1155065" cy="2038350"/>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Importance of conducting review and evaluation</a:t>
            </a:r>
          </a:p>
          <a:p>
            <a:pPr marL="0">
              <a:spcBef>
                <a:spcPts val="600"/>
              </a:spcBef>
              <a:spcAft>
                <a:spcPts val="1200"/>
              </a:spcAft>
              <a:buNone/>
            </a:pPr>
            <a:r>
              <a:rPr lang="en-US" sz="2000" dirty="0" smtClean="0">
                <a:latin typeface="Helvetica" pitchFamily="34" charset="0"/>
              </a:rPr>
              <a:t>Once the trial interactive activity has taken place, it is now time to review and evaluate the success of the trial and to make recommendations for future success.</a:t>
            </a:r>
          </a:p>
          <a:p>
            <a:pPr marL="0">
              <a:spcBef>
                <a:spcPts val="600"/>
              </a:spcBef>
              <a:spcAft>
                <a:spcPts val="1200"/>
              </a:spcAft>
              <a:buNone/>
            </a:pPr>
            <a:r>
              <a:rPr lang="en-US" sz="2000" dirty="0" smtClean="0">
                <a:latin typeface="Helvetica" pitchFamily="34" charset="0"/>
              </a:rPr>
              <a:t>All interpretive activities need to be reviewed and evaluated as part of standard operating procedures.</a:t>
            </a:r>
          </a:p>
          <a:p>
            <a:pPr>
              <a:spcBef>
                <a:spcPts val="600"/>
              </a:spcBef>
              <a:spcAft>
                <a:spcPts val="1200"/>
              </a:spcAft>
            </a:pPr>
            <a:r>
              <a:rPr lang="en-US" sz="2000" dirty="0" smtClean="0">
                <a:latin typeface="Helvetica" pitchFamily="34" charset="0"/>
              </a:rPr>
              <a:t>What is the difference between a review </a:t>
            </a:r>
            <a:br>
              <a:rPr lang="en-US" sz="2000" dirty="0" smtClean="0">
                <a:latin typeface="Helvetica" pitchFamily="34" charset="0"/>
              </a:rPr>
            </a:br>
            <a:r>
              <a:rPr lang="en-US" sz="2000" dirty="0" smtClean="0">
                <a:latin typeface="Helvetica" pitchFamily="34" charset="0"/>
              </a:rPr>
              <a:t>and evaluation?</a:t>
            </a:r>
          </a:p>
          <a:p>
            <a:pPr>
              <a:spcBef>
                <a:spcPts val="600"/>
              </a:spcBef>
              <a:spcAft>
                <a:spcPts val="1200"/>
              </a:spcAft>
            </a:pPr>
            <a:r>
              <a:rPr lang="en-US" sz="2000" dirty="0" smtClean="0">
                <a:latin typeface="Helvetica" pitchFamily="34" charset="0"/>
              </a:rPr>
              <a:t>Why are they important to do?</a:t>
            </a:r>
          </a:p>
          <a:p>
            <a:pPr>
              <a:spcBef>
                <a:spcPts val="600"/>
              </a:spcBef>
              <a:spcAft>
                <a:spcPts val="1200"/>
              </a:spcAft>
            </a:pPr>
            <a:r>
              <a:rPr lang="en-US" sz="2000" dirty="0" smtClean="0">
                <a:latin typeface="Helvetica" pitchFamily="34" charset="0"/>
              </a:rPr>
              <a:t>How can they be done? </a:t>
            </a:r>
          </a:p>
          <a:p>
            <a:pPr>
              <a:lnSpc>
                <a:spcPct val="110000"/>
              </a:lnSpc>
              <a:spcBef>
                <a:spcPts val="600"/>
              </a:spcBef>
              <a:spcAft>
                <a:spcPts val="1200"/>
              </a:spcAft>
              <a:buNone/>
            </a:pP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7" name="Picture 6" descr="Assessment_115352104.jpg"/>
          <p:cNvPicPr/>
          <p:nvPr/>
        </p:nvPicPr>
        <p:blipFill>
          <a:blip r:embed="rId3" cstate="print"/>
          <a:stretch>
            <a:fillRect/>
          </a:stretch>
        </p:blipFill>
        <p:spPr>
          <a:xfrm>
            <a:off x="6372200" y="4149080"/>
            <a:ext cx="2088232" cy="1440160"/>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US" sz="2000" b="1" dirty="0" smtClean="0">
                <a:latin typeface="Helvetica" pitchFamily="34" charset="0"/>
              </a:rPr>
              <a:t>Purpose of conducting a review and evaluation</a:t>
            </a:r>
          </a:p>
          <a:p>
            <a:pPr>
              <a:spcBef>
                <a:spcPts val="600"/>
              </a:spcBef>
              <a:spcAft>
                <a:spcPts val="600"/>
              </a:spcAft>
            </a:pPr>
            <a:r>
              <a:rPr lang="en-US" sz="2000" dirty="0" smtClean="0">
                <a:latin typeface="Helvetica" pitchFamily="34" charset="0"/>
              </a:rPr>
              <a:t>Determine if the activities are effective</a:t>
            </a:r>
          </a:p>
          <a:p>
            <a:pPr>
              <a:spcBef>
                <a:spcPts val="600"/>
              </a:spcBef>
              <a:spcAft>
                <a:spcPts val="600"/>
              </a:spcAft>
            </a:pPr>
            <a:r>
              <a:rPr lang="en-US" sz="2000" dirty="0" smtClean="0">
                <a:latin typeface="Helvetica" pitchFamily="34" charset="0"/>
              </a:rPr>
              <a:t>Assess whether or not the activities remain relevant</a:t>
            </a:r>
          </a:p>
          <a:p>
            <a:pPr>
              <a:spcBef>
                <a:spcPts val="600"/>
              </a:spcBef>
              <a:spcAft>
                <a:spcPts val="600"/>
              </a:spcAft>
            </a:pPr>
            <a:r>
              <a:rPr lang="en-US" sz="2000" dirty="0" smtClean="0">
                <a:latin typeface="Helvetica" pitchFamily="34" charset="0"/>
              </a:rPr>
              <a:t>Identify satisfaction levels of tour group members</a:t>
            </a:r>
          </a:p>
          <a:p>
            <a:pPr>
              <a:spcBef>
                <a:spcPts val="600"/>
              </a:spcBef>
              <a:spcAft>
                <a:spcPts val="600"/>
              </a:spcAft>
            </a:pPr>
            <a:r>
              <a:rPr lang="en-US" sz="2000" dirty="0" smtClean="0">
                <a:latin typeface="Helvetica" pitchFamily="34" charset="0"/>
              </a:rPr>
              <a:t>Work out the extent to which the activities ‘as delivered’ in reality match expectations</a:t>
            </a:r>
          </a:p>
          <a:p>
            <a:pPr>
              <a:spcBef>
                <a:spcPts val="600"/>
              </a:spcBef>
              <a:spcAft>
                <a:spcPts val="600"/>
              </a:spcAft>
            </a:pPr>
            <a:r>
              <a:rPr lang="en-US" sz="2000" dirty="0" smtClean="0">
                <a:latin typeface="Helvetica" pitchFamily="34" charset="0"/>
              </a:rPr>
              <a:t>Calculate the cost of conducting the activities</a:t>
            </a:r>
          </a:p>
          <a:p>
            <a:pPr>
              <a:spcBef>
                <a:spcPts val="600"/>
              </a:spcBef>
              <a:spcAft>
                <a:spcPts val="600"/>
              </a:spcAft>
            </a:pPr>
            <a:r>
              <a:rPr lang="en-US" sz="2000" dirty="0" smtClean="0">
                <a:latin typeface="Helvetica" pitchFamily="34" charset="0"/>
              </a:rPr>
              <a:t>Meet quality assurance obligation</a:t>
            </a:r>
          </a:p>
          <a:p>
            <a:pPr>
              <a:spcBef>
                <a:spcPts val="600"/>
              </a:spcBef>
              <a:spcAft>
                <a:spcPts val="600"/>
              </a:spcAft>
            </a:pPr>
            <a:r>
              <a:rPr lang="en-US" sz="2000" dirty="0" smtClean="0">
                <a:latin typeface="Helvetica" pitchFamily="34" charset="0"/>
              </a:rPr>
              <a:t>Provide current and actual data to management</a:t>
            </a:r>
          </a:p>
          <a:p>
            <a:pPr>
              <a:spcBef>
                <a:spcPts val="600"/>
              </a:spcBef>
              <a:spcAft>
                <a:spcPts val="600"/>
              </a:spcAft>
            </a:pPr>
            <a:r>
              <a:rPr lang="en-US" sz="2000" dirty="0" smtClean="0">
                <a:latin typeface="Helvetica" pitchFamily="34" charset="0"/>
              </a:rPr>
              <a:t>Confirm all management protocols remain                            valid and effective </a:t>
            </a:r>
            <a:endParaRPr lang="en-US" sz="2000" b="1" dirty="0" smtClean="0">
              <a:solidFill>
                <a:srgbClr val="FF6600"/>
              </a:solidFill>
              <a:latin typeface="Helvetica" pitchFamily="34" charset="0"/>
            </a:endParaRPr>
          </a:p>
          <a:p>
            <a:pPr lvl="0">
              <a:spcBef>
                <a:spcPts val="600"/>
              </a:spcBef>
              <a:spcAft>
                <a:spcPts val="1200"/>
              </a:spcAft>
            </a:pPr>
            <a:endParaRPr lang="en-US" sz="2000" dirty="0" smtClean="0">
              <a:latin typeface="Helvetica" pitchFamily="34" charset="0"/>
            </a:endParaRPr>
          </a:p>
          <a:p>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6" name="Picture 5" descr="Assessment checklist.jpg"/>
          <p:cNvPicPr/>
          <p:nvPr/>
        </p:nvPicPr>
        <p:blipFill>
          <a:blip r:embed="rId3" cstate="print"/>
          <a:stretch>
            <a:fillRect/>
          </a:stretch>
        </p:blipFill>
        <p:spPr>
          <a:xfrm>
            <a:off x="6444208" y="3789040"/>
            <a:ext cx="1872208" cy="1411982"/>
          </a:xfrm>
          <a:prstGeom prst="ellipse">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US" sz="2000" b="1" dirty="0" smtClean="0">
                <a:latin typeface="Helvetica" pitchFamily="34" charset="0"/>
              </a:rPr>
              <a:t>Evaluate actual presentation of the interpretive activity against target performance criteria </a:t>
            </a:r>
            <a:endParaRPr lang="en-US" sz="2000" dirty="0" smtClean="0">
              <a:latin typeface="Helvetica" pitchFamily="34" charset="0"/>
            </a:endParaRPr>
          </a:p>
          <a:p>
            <a:pPr marL="0">
              <a:spcBef>
                <a:spcPts val="600"/>
              </a:spcBef>
              <a:spcAft>
                <a:spcPts val="1200"/>
              </a:spcAft>
              <a:buNone/>
            </a:pPr>
            <a:r>
              <a:rPr lang="en-US" sz="2000" dirty="0" smtClean="0">
                <a:latin typeface="Helvetica" pitchFamily="34" charset="0"/>
              </a:rPr>
              <a:t>A standard element of many evaluations is to consider the extent to which each interpretive activity achieved its projected performance objectives.</a:t>
            </a:r>
          </a:p>
          <a:p>
            <a:pPr>
              <a:spcBef>
                <a:spcPts val="600"/>
              </a:spcBef>
              <a:spcAft>
                <a:spcPts val="1200"/>
              </a:spcAft>
              <a:buNone/>
            </a:pPr>
            <a:r>
              <a:rPr lang="en-US" sz="2000" dirty="0" smtClean="0">
                <a:latin typeface="Helvetica" pitchFamily="34" charset="0"/>
              </a:rPr>
              <a:t>These are referred to as ‘Performance criteria’</a:t>
            </a:r>
          </a:p>
          <a:p>
            <a:pPr>
              <a:spcBef>
                <a:spcPts val="600"/>
              </a:spcBef>
              <a:spcAft>
                <a:spcPts val="1200"/>
              </a:spcAft>
            </a:pPr>
            <a:r>
              <a:rPr lang="en-US" sz="2000" dirty="0" smtClean="0">
                <a:latin typeface="Helvetica" pitchFamily="34" charset="0"/>
              </a:rPr>
              <a:t>What are examples of performance criteria?</a:t>
            </a:r>
          </a:p>
          <a:p>
            <a:pPr lvl="0">
              <a:spcBef>
                <a:spcPts val="600"/>
              </a:spcBef>
              <a:spcAft>
                <a:spcPts val="1200"/>
              </a:spcAft>
            </a:pPr>
            <a:endParaRPr lang="en-US" sz="2000" dirty="0" smtClean="0">
              <a:latin typeface="Helvetica" pitchFamily="34" charset="0"/>
            </a:endParaRPr>
          </a:p>
          <a:p>
            <a:pPr>
              <a:buNone/>
            </a:pPr>
            <a:r>
              <a:rPr lang="en-US" sz="2000" b="1" i="1" u="sng" dirty="0" smtClean="0">
                <a:solidFill>
                  <a:srgbClr val="FF6600"/>
                </a:solidFill>
                <a:latin typeface="Helvetica" pitchFamily="34" charset="0"/>
              </a:rPr>
              <a:t>COMPLETE ACTIVITY 22</a:t>
            </a:r>
            <a:endParaRPr lang="en-US" sz="2000" i="1" u="sng" dirty="0" smtClean="0">
              <a:latin typeface="Helvetica" pitchFamily="34" charset="0"/>
            </a:endParaRPr>
          </a:p>
          <a:p>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7" name="Picture 6" descr="A2 shutterstock_99180761.jpg"/>
          <p:cNvPicPr/>
          <p:nvPr/>
        </p:nvPicPr>
        <p:blipFill>
          <a:blip r:embed="rId3" cstate="print"/>
          <a:stretch>
            <a:fillRect/>
          </a:stretch>
        </p:blipFill>
        <p:spPr>
          <a:xfrm>
            <a:off x="6446211" y="4437112"/>
            <a:ext cx="1943100" cy="1295400"/>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Conducting review and evaluation activities</a:t>
            </a:r>
          </a:p>
          <a:p>
            <a:pPr>
              <a:spcBef>
                <a:spcPts val="600"/>
              </a:spcBef>
              <a:spcAft>
                <a:spcPts val="1200"/>
              </a:spcAft>
            </a:pPr>
            <a:r>
              <a:rPr lang="en-US" sz="2200" dirty="0" smtClean="0">
                <a:latin typeface="Helvetica" pitchFamily="34" charset="0"/>
              </a:rPr>
              <a:t>Holding meetings</a:t>
            </a:r>
          </a:p>
          <a:p>
            <a:pPr>
              <a:spcBef>
                <a:spcPts val="600"/>
              </a:spcBef>
              <a:spcAft>
                <a:spcPts val="1200"/>
              </a:spcAft>
            </a:pPr>
            <a:r>
              <a:rPr lang="en-US" sz="2200" dirty="0" smtClean="0">
                <a:latin typeface="Helvetica" pitchFamily="34" charset="0"/>
              </a:rPr>
              <a:t>Reviewing customer feedback</a:t>
            </a:r>
          </a:p>
          <a:p>
            <a:pPr>
              <a:spcBef>
                <a:spcPts val="600"/>
              </a:spcBef>
              <a:spcAft>
                <a:spcPts val="1200"/>
              </a:spcAft>
            </a:pPr>
            <a:r>
              <a:rPr lang="en-US" sz="2200" dirty="0" smtClean="0">
                <a:latin typeface="Helvetica" pitchFamily="34" charset="0"/>
              </a:rPr>
              <a:t>Distributing feedback forms</a:t>
            </a:r>
          </a:p>
          <a:p>
            <a:pPr>
              <a:spcBef>
                <a:spcPts val="600"/>
              </a:spcBef>
              <a:spcAft>
                <a:spcPts val="1200"/>
              </a:spcAft>
            </a:pPr>
            <a:r>
              <a:rPr lang="en-US" sz="2200" dirty="0" smtClean="0">
                <a:latin typeface="Helvetica" pitchFamily="34" charset="0"/>
              </a:rPr>
              <a:t>Encouraging feedback</a:t>
            </a:r>
          </a:p>
          <a:p>
            <a:pPr>
              <a:spcBef>
                <a:spcPts val="600"/>
              </a:spcBef>
              <a:spcAft>
                <a:spcPts val="1200"/>
              </a:spcAft>
            </a:pPr>
            <a:r>
              <a:rPr lang="en-US" sz="2200" dirty="0" smtClean="0">
                <a:latin typeface="Helvetica" pitchFamily="34" charset="0"/>
              </a:rPr>
              <a:t>Interviewing stakeholders face-to-face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6" name="Picture 5" descr="A19 shutterstock_181811597.jpg"/>
          <p:cNvPicPr/>
          <p:nvPr/>
        </p:nvPicPr>
        <p:blipFill>
          <a:blip r:embed="rId3" cstate="print"/>
          <a:stretch>
            <a:fillRect/>
          </a:stretch>
        </p:blipFill>
        <p:spPr>
          <a:xfrm>
            <a:off x="6328978" y="4099127"/>
            <a:ext cx="2107565" cy="1409700"/>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Conducting review and evaluation activities</a:t>
            </a:r>
          </a:p>
          <a:p>
            <a:pPr>
              <a:spcBef>
                <a:spcPts val="600"/>
              </a:spcBef>
              <a:spcAft>
                <a:spcPts val="1200"/>
              </a:spcAft>
            </a:pPr>
            <a:r>
              <a:rPr lang="en-US" sz="2200" dirty="0" smtClean="0">
                <a:latin typeface="Helvetica" pitchFamily="34" charset="0"/>
              </a:rPr>
              <a:t>Observing implementation of activities in order to record required data</a:t>
            </a:r>
          </a:p>
          <a:p>
            <a:pPr>
              <a:spcBef>
                <a:spcPts val="600"/>
              </a:spcBef>
              <a:spcAft>
                <a:spcPts val="1200"/>
              </a:spcAft>
            </a:pPr>
            <a:r>
              <a:rPr lang="en-US" sz="2200" dirty="0" smtClean="0">
                <a:latin typeface="Helvetica" pitchFamily="34" charset="0"/>
              </a:rPr>
              <a:t>Entering data into the system for analysis</a:t>
            </a:r>
          </a:p>
          <a:p>
            <a:pPr>
              <a:spcBef>
                <a:spcPts val="600"/>
              </a:spcBef>
              <a:spcAft>
                <a:spcPts val="1200"/>
              </a:spcAft>
            </a:pPr>
            <a:r>
              <a:rPr lang="en-US" sz="2200" dirty="0" smtClean="0">
                <a:latin typeface="Helvetica" pitchFamily="34" charset="0"/>
              </a:rPr>
              <a:t>Determining whether or not more data </a:t>
            </a:r>
            <a:br>
              <a:rPr lang="en-US" sz="2200" dirty="0" smtClean="0">
                <a:latin typeface="Helvetica" pitchFamily="34" charset="0"/>
              </a:rPr>
            </a:br>
            <a:r>
              <a:rPr lang="en-US" sz="2200" dirty="0" smtClean="0">
                <a:latin typeface="Helvetica" pitchFamily="34" charset="0"/>
              </a:rPr>
              <a:t>needs to be obtained or if current data </a:t>
            </a:r>
            <a:br>
              <a:rPr lang="en-US" sz="2200" dirty="0" smtClean="0">
                <a:latin typeface="Helvetica" pitchFamily="34" charset="0"/>
              </a:rPr>
            </a:br>
            <a:r>
              <a:rPr lang="en-US" sz="2200" dirty="0" smtClean="0">
                <a:latin typeface="Helvetica" pitchFamily="34" charset="0"/>
              </a:rPr>
              <a:t>requires clarification</a:t>
            </a:r>
          </a:p>
          <a:p>
            <a:pPr>
              <a:spcBef>
                <a:spcPts val="600"/>
              </a:spcBef>
              <a:spcAft>
                <a:spcPts val="1200"/>
              </a:spcAft>
            </a:pPr>
            <a:r>
              <a:rPr lang="en-US" sz="2200" dirty="0" smtClean="0">
                <a:latin typeface="Helvetica" pitchFamily="34" charset="0"/>
              </a:rPr>
              <a:t>Assessing and analysing the information                           against the objectives set for the review                                 process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hv.jpg"/>
          <p:cNvPicPr>
            <a:picLocks noChangeAspect="1"/>
          </p:cNvPicPr>
          <p:nvPr/>
        </p:nvPicPr>
        <p:blipFill>
          <a:blip r:embed="rId3" cstate="print"/>
          <a:stretch>
            <a:fillRect/>
          </a:stretch>
        </p:blipFill>
        <p:spPr>
          <a:xfrm>
            <a:off x="6516216" y="3068960"/>
            <a:ext cx="1829521" cy="1770504"/>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US" sz="2200" b="1" dirty="0" smtClean="0">
                <a:latin typeface="Helvetica" pitchFamily="34" charset="0"/>
              </a:rPr>
              <a:t>Evaluate actual presentation of the interpretive activity against target performance criteria </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A standard element of many evaluations is to consider the extent to which each interpretive activity achieved its projected performance objectives:</a:t>
            </a:r>
          </a:p>
          <a:p>
            <a:pPr>
              <a:spcBef>
                <a:spcPts val="600"/>
              </a:spcBef>
              <a:spcAft>
                <a:spcPts val="1200"/>
              </a:spcAft>
              <a:buNone/>
            </a:pPr>
            <a:r>
              <a:rPr lang="en-US" sz="2200" dirty="0" smtClean="0">
                <a:latin typeface="Helvetica" pitchFamily="34" charset="0"/>
              </a:rPr>
              <a:t>These are referred to as ‘Performance criteria’</a:t>
            </a:r>
          </a:p>
          <a:p>
            <a:pPr>
              <a:spcBef>
                <a:spcPts val="600"/>
              </a:spcBef>
              <a:spcAft>
                <a:spcPts val="1200"/>
              </a:spcAft>
            </a:pPr>
            <a:r>
              <a:rPr lang="en-US" sz="2200" dirty="0" smtClean="0">
                <a:latin typeface="Helvetica" pitchFamily="34" charset="0"/>
              </a:rPr>
              <a:t>What are examples of performance criteria?</a:t>
            </a:r>
          </a:p>
          <a:p>
            <a:pPr>
              <a:spcBef>
                <a:spcPts val="600"/>
              </a:spcBef>
              <a:spcAft>
                <a:spcPts val="1200"/>
              </a:spcAft>
              <a:buNone/>
            </a:pP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7" name="Picture 6" descr="A2 shutterstock_99180761.jpg"/>
          <p:cNvPicPr/>
          <p:nvPr/>
        </p:nvPicPr>
        <p:blipFill>
          <a:blip r:embed="rId3" cstate="print"/>
          <a:stretch>
            <a:fillRect/>
          </a:stretch>
        </p:blipFill>
        <p:spPr>
          <a:xfrm>
            <a:off x="2699792" y="4869160"/>
            <a:ext cx="1943100" cy="1295400"/>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Revise eco-tourism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b="1" dirty="0" smtClean="0">
                <a:latin typeface="Helvetica" pitchFamily="34" charset="0"/>
              </a:rPr>
              <a:t>De-brief with colleagues</a:t>
            </a: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De-briefing occurs after an event and is undertaken to capture feedback on:</a:t>
            </a:r>
          </a:p>
          <a:p>
            <a:pPr marL="360000" indent="-360000">
              <a:spcBef>
                <a:spcPts val="600"/>
              </a:spcBef>
              <a:spcAft>
                <a:spcPts val="1200"/>
              </a:spcAft>
            </a:pPr>
            <a:r>
              <a:rPr lang="en-US" sz="2200" dirty="0" smtClean="0">
                <a:latin typeface="Helvetica" pitchFamily="34" charset="0"/>
              </a:rPr>
              <a:t>What happened</a:t>
            </a:r>
          </a:p>
          <a:p>
            <a:pPr marL="360000" indent="-360000">
              <a:spcBef>
                <a:spcPts val="600"/>
              </a:spcBef>
              <a:spcAft>
                <a:spcPts val="1200"/>
              </a:spcAft>
            </a:pPr>
            <a:r>
              <a:rPr lang="en-US" sz="2200" dirty="0" smtClean="0">
                <a:latin typeface="Helvetica" pitchFamily="34" charset="0"/>
              </a:rPr>
              <a:t>What could be improved</a:t>
            </a:r>
          </a:p>
          <a:p>
            <a:pPr marL="360000" indent="-360000">
              <a:spcBef>
                <a:spcPts val="600"/>
              </a:spcBef>
              <a:spcAft>
                <a:spcPts val="1200"/>
              </a:spcAft>
            </a:pPr>
            <a:r>
              <a:rPr lang="en-US" sz="2200" dirty="0" smtClean="0">
                <a:latin typeface="Helvetica" pitchFamily="34" charset="0"/>
              </a:rPr>
              <a:t>Problems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7346" name="Picture 2" descr="C:\Documents and Settings\Godaishu\Desktop\PHOTOS\2014\Shutterstock 25-a-day\shutterstock_104638982.jpg"/>
          <p:cNvPicPr>
            <a:picLocks noChangeAspect="1" noChangeArrowheads="1"/>
          </p:cNvPicPr>
          <p:nvPr/>
        </p:nvPicPr>
        <p:blipFill>
          <a:blip r:embed="rId3" cstate="print"/>
          <a:srcRect/>
          <a:stretch>
            <a:fillRect/>
          </a:stretch>
        </p:blipFill>
        <p:spPr bwMode="auto">
          <a:xfrm>
            <a:off x="4788024" y="3068960"/>
            <a:ext cx="2615952" cy="1745330"/>
          </a:xfrm>
          <a:prstGeom prst="rect">
            <a:avLst/>
          </a:prstGeom>
          <a:noFill/>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Revise eco-tourism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De-briefings may be supported by:</a:t>
            </a:r>
          </a:p>
          <a:p>
            <a:pPr marL="360000" indent="-360000">
              <a:spcBef>
                <a:spcPts val="600"/>
              </a:spcBef>
              <a:spcAft>
                <a:spcPts val="1200"/>
              </a:spcAft>
            </a:pPr>
            <a:r>
              <a:rPr lang="en-US" sz="2200" dirty="0" smtClean="0">
                <a:latin typeface="Helvetica" pitchFamily="34" charset="0"/>
              </a:rPr>
              <a:t>Paper-based or electronic reports</a:t>
            </a:r>
          </a:p>
          <a:p>
            <a:pPr marL="360000" indent="-360000">
              <a:spcBef>
                <a:spcPts val="600"/>
              </a:spcBef>
              <a:spcAft>
                <a:spcPts val="1200"/>
              </a:spcAft>
            </a:pPr>
            <a:r>
              <a:rPr lang="en-US" sz="2200" dirty="0" smtClean="0">
                <a:latin typeface="Helvetica" pitchFamily="34" charset="0"/>
              </a:rPr>
              <a:t>Formal meetings</a:t>
            </a:r>
          </a:p>
          <a:p>
            <a:pPr marL="360000" indent="-360000">
              <a:spcBef>
                <a:spcPts val="600"/>
              </a:spcBef>
              <a:spcAft>
                <a:spcPts val="1200"/>
              </a:spcAft>
            </a:pPr>
            <a:r>
              <a:rPr lang="en-US" sz="2200" dirty="0" smtClean="0">
                <a:latin typeface="Helvetica" pitchFamily="34" charset="0"/>
              </a:rPr>
              <a:t>Input from relevant others/third </a:t>
            </a:r>
            <a:br>
              <a:rPr lang="en-US" sz="2200" dirty="0" smtClean="0">
                <a:latin typeface="Helvetica" pitchFamily="34" charset="0"/>
              </a:rPr>
            </a:br>
            <a:r>
              <a:rPr lang="en-US" sz="2200" dirty="0" smtClean="0">
                <a:latin typeface="Helvetica" pitchFamily="34" charset="0"/>
              </a:rPr>
              <a:t>party partners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8371" name="Picture 3" descr="C:\Documents and Settings\Godaishu\Desktop\PHOTOS\2014\Shutterstock 25-a-day\shutterstock_118113499.jpg"/>
          <p:cNvPicPr>
            <a:picLocks noChangeAspect="1" noChangeArrowheads="1"/>
          </p:cNvPicPr>
          <p:nvPr/>
        </p:nvPicPr>
        <p:blipFill>
          <a:blip r:embed="rId3" cstate="print"/>
          <a:srcRect/>
          <a:stretch>
            <a:fillRect/>
          </a:stretch>
        </p:blipFill>
        <p:spPr bwMode="auto">
          <a:xfrm>
            <a:off x="5599638" y="2204864"/>
            <a:ext cx="2108399" cy="1608753"/>
          </a:xfrm>
          <a:prstGeom prst="rect">
            <a:avLst/>
          </a:prstGeom>
          <a:noFill/>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Revise eco-tourism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Types of colleagues</a:t>
            </a:r>
          </a:p>
          <a:p>
            <a:pPr marL="0" indent="0">
              <a:spcBef>
                <a:spcPts val="600"/>
              </a:spcBef>
              <a:spcAft>
                <a:spcPts val="1200"/>
              </a:spcAft>
              <a:buNone/>
            </a:pPr>
            <a:r>
              <a:rPr lang="en-US" sz="2200" dirty="0" smtClean="0">
                <a:latin typeface="Helvetica" pitchFamily="34" charset="0"/>
              </a:rPr>
              <a:t>Colleagues who may be involved in de-briefings:</a:t>
            </a:r>
          </a:p>
          <a:p>
            <a:pPr marL="360000" indent="-360000">
              <a:spcBef>
                <a:spcPts val="600"/>
              </a:spcBef>
              <a:spcAft>
                <a:spcPts val="1200"/>
              </a:spcAft>
            </a:pPr>
            <a:r>
              <a:rPr lang="en-US" sz="2200" dirty="0" smtClean="0">
                <a:latin typeface="Helvetica" pitchFamily="34" charset="0"/>
              </a:rPr>
              <a:t>Tour Guides</a:t>
            </a:r>
          </a:p>
          <a:p>
            <a:pPr marL="360000" indent="-360000">
              <a:spcBef>
                <a:spcPts val="600"/>
              </a:spcBef>
              <a:spcAft>
                <a:spcPts val="1200"/>
              </a:spcAft>
            </a:pPr>
            <a:r>
              <a:rPr lang="en-US" sz="2200" dirty="0" smtClean="0">
                <a:latin typeface="Helvetica" pitchFamily="34" charset="0"/>
              </a:rPr>
              <a:t>Drivers</a:t>
            </a:r>
          </a:p>
          <a:p>
            <a:pPr marL="360000" indent="-360000">
              <a:spcBef>
                <a:spcPts val="600"/>
              </a:spcBef>
              <a:spcAft>
                <a:spcPts val="1200"/>
              </a:spcAft>
            </a:pPr>
            <a:r>
              <a:rPr lang="en-US" sz="2200" dirty="0" smtClean="0">
                <a:latin typeface="Helvetica" pitchFamily="34" charset="0"/>
              </a:rPr>
              <a:t>Internal sales, counter, ticketing staff</a:t>
            </a:r>
          </a:p>
          <a:p>
            <a:pPr marL="360000" indent="-360000">
              <a:spcBef>
                <a:spcPts val="600"/>
              </a:spcBef>
              <a:spcAft>
                <a:spcPts val="1200"/>
              </a:spcAft>
            </a:pPr>
            <a:r>
              <a:rPr lang="en-US" sz="2200" dirty="0" smtClean="0">
                <a:latin typeface="Helvetica" pitchFamily="34" charset="0"/>
              </a:rPr>
              <a:t>Agents and partners</a:t>
            </a:r>
          </a:p>
          <a:p>
            <a:pPr marL="360000" indent="-360000">
              <a:spcBef>
                <a:spcPts val="600"/>
              </a:spcBef>
              <a:spcAft>
                <a:spcPts val="1200"/>
              </a:spcAft>
            </a:pPr>
            <a:r>
              <a:rPr lang="en-US" sz="2200" dirty="0" smtClean="0">
                <a:latin typeface="Helvetica" pitchFamily="34" charset="0"/>
              </a:rPr>
              <a:t>Presenters and performers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6084168" y="3933056"/>
            <a:ext cx="2295164" cy="1606666"/>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Revise eco-tourism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b="1" dirty="0" smtClean="0">
                <a:latin typeface="Helvetica" pitchFamily="34" charset="0"/>
              </a:rPr>
              <a:t>Activities in de-briefings</a:t>
            </a:r>
          </a:p>
          <a:p>
            <a:pPr marL="360000" indent="-360000">
              <a:spcBef>
                <a:spcPts val="600"/>
              </a:spcBef>
              <a:spcAft>
                <a:spcPts val="1200"/>
              </a:spcAft>
            </a:pPr>
            <a:r>
              <a:rPr lang="en-US" sz="2200" dirty="0" smtClean="0">
                <a:latin typeface="Helvetica" pitchFamily="34" charset="0"/>
              </a:rPr>
              <a:t>Soliciting verbal feedback</a:t>
            </a:r>
          </a:p>
          <a:p>
            <a:pPr marL="360000" indent="-360000">
              <a:spcBef>
                <a:spcPts val="600"/>
              </a:spcBef>
              <a:spcAft>
                <a:spcPts val="1200"/>
              </a:spcAft>
            </a:pPr>
            <a:r>
              <a:rPr lang="en-US" sz="2200" dirty="0" smtClean="0">
                <a:latin typeface="Helvetica" pitchFamily="34" charset="0"/>
              </a:rPr>
              <a:t>Obtaining written feedback</a:t>
            </a:r>
          </a:p>
          <a:p>
            <a:pPr marL="360000" indent="-360000">
              <a:spcBef>
                <a:spcPts val="600"/>
              </a:spcBef>
              <a:spcAft>
                <a:spcPts val="1200"/>
              </a:spcAft>
            </a:pPr>
            <a:r>
              <a:rPr lang="en-US" sz="2200" dirty="0" smtClean="0">
                <a:latin typeface="Helvetica" pitchFamily="34" charset="0"/>
              </a:rPr>
              <a:t>Analysing written reports</a:t>
            </a:r>
          </a:p>
          <a:p>
            <a:pPr marL="360000" indent="-360000">
              <a:spcBef>
                <a:spcPts val="600"/>
              </a:spcBef>
              <a:spcAft>
                <a:spcPts val="1200"/>
              </a:spcAft>
            </a:pPr>
            <a:r>
              <a:rPr lang="en-US" sz="2200" dirty="0" smtClean="0">
                <a:latin typeface="Helvetica" pitchFamily="34" charset="0"/>
              </a:rPr>
              <a:t>Evaluating staff perceptions</a:t>
            </a:r>
          </a:p>
          <a:p>
            <a:pPr marL="360000" indent="-360000">
              <a:spcBef>
                <a:spcPts val="600"/>
              </a:spcBef>
              <a:spcAft>
                <a:spcPts val="1200"/>
              </a:spcAft>
            </a:pPr>
            <a:r>
              <a:rPr lang="en-US" sz="2200" dirty="0" smtClean="0">
                <a:latin typeface="Helvetica" pitchFamily="34" charset="0"/>
              </a:rPr>
              <a:t>Considering known complaints</a:t>
            </a:r>
          </a:p>
          <a:p>
            <a:pPr marL="360000" indent="-360000">
              <a:spcBef>
                <a:spcPts val="600"/>
              </a:spcBef>
              <a:spcAft>
                <a:spcPts val="1200"/>
              </a:spcAft>
            </a:pPr>
            <a:r>
              <a:rPr lang="en-US" sz="2200" dirty="0" smtClean="0">
                <a:latin typeface="Helvetica" pitchFamily="34" charset="0"/>
              </a:rPr>
              <a:t>Advising of upcoming tours/activities</a:t>
            </a:r>
          </a:p>
          <a:p>
            <a:pPr marL="360000" indent="-360000">
              <a:spcBef>
                <a:spcPts val="600"/>
              </a:spcBef>
              <a:spcAft>
                <a:spcPts val="1200"/>
              </a:spcAft>
            </a:pPr>
            <a:r>
              <a:rPr lang="en-US" sz="2200" dirty="0" smtClean="0">
                <a:latin typeface="Helvetica" pitchFamily="34" charset="0"/>
              </a:rPr>
              <a:t>Thanking staff</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6" name="Picture 5" descr="1s.jpg"/>
          <p:cNvPicPr/>
          <p:nvPr/>
        </p:nvPicPr>
        <p:blipFill>
          <a:blip r:embed="rId3" cstate="print"/>
          <a:stretch>
            <a:fillRect/>
          </a:stretch>
        </p:blipFill>
        <p:spPr>
          <a:xfrm>
            <a:off x="5419938" y="2636912"/>
            <a:ext cx="2232248" cy="1512168"/>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Seek feedback from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560840" cy="4896544"/>
          </a:xfrm>
        </p:spPr>
        <p:txBody>
          <a:bodyPr>
            <a:normAutofit/>
          </a:bodyPr>
          <a:lstStyle/>
          <a:p>
            <a:pPr marL="0" indent="0">
              <a:spcBef>
                <a:spcPts val="600"/>
              </a:spcBef>
              <a:spcAft>
                <a:spcPts val="1200"/>
              </a:spcAft>
              <a:buNone/>
            </a:pPr>
            <a:r>
              <a:rPr lang="en-US" sz="2000" b="1" dirty="0" smtClean="0">
                <a:latin typeface="Helvetica" pitchFamily="34" charset="0"/>
              </a:rPr>
              <a:t>Methods and timing of customer feedback</a:t>
            </a:r>
          </a:p>
          <a:p>
            <a:pPr lvl="0">
              <a:spcBef>
                <a:spcPts val="600"/>
              </a:spcBef>
              <a:spcAft>
                <a:spcPts val="1200"/>
              </a:spcAft>
            </a:pPr>
            <a:r>
              <a:rPr lang="en-US" sz="2000" dirty="0" smtClean="0">
                <a:latin typeface="Helvetica" pitchFamily="34" charset="0"/>
              </a:rPr>
              <a:t>Noting the body language of people</a:t>
            </a:r>
          </a:p>
          <a:p>
            <a:pPr lvl="0">
              <a:spcBef>
                <a:spcPts val="600"/>
              </a:spcBef>
              <a:spcAft>
                <a:spcPts val="1200"/>
              </a:spcAft>
            </a:pPr>
            <a:r>
              <a:rPr lang="en-US" sz="2000" dirty="0" smtClean="0">
                <a:latin typeface="Helvetica" pitchFamily="34" charset="0"/>
              </a:rPr>
              <a:t>Listening to what tour group members say</a:t>
            </a:r>
          </a:p>
          <a:p>
            <a:pPr lvl="0">
              <a:spcBef>
                <a:spcPts val="600"/>
              </a:spcBef>
              <a:spcAft>
                <a:spcPts val="1200"/>
              </a:spcAft>
            </a:pPr>
            <a:r>
              <a:rPr lang="en-US" sz="2000" dirty="0" smtClean="0">
                <a:latin typeface="Helvetica" pitchFamily="34" charset="0"/>
              </a:rPr>
              <a:t>Soliciting written feedback </a:t>
            </a:r>
          </a:p>
          <a:p>
            <a:pPr lvl="0">
              <a:spcBef>
                <a:spcPts val="600"/>
              </a:spcBef>
              <a:spcAft>
                <a:spcPts val="1200"/>
              </a:spcAft>
            </a:pPr>
            <a:r>
              <a:rPr lang="en-US" sz="2000" dirty="0" smtClean="0">
                <a:latin typeface="Helvetica" pitchFamily="34" charset="0"/>
              </a:rPr>
              <a:t>Surveys or Response Sheets </a:t>
            </a:r>
          </a:p>
          <a:p>
            <a:pPr lvl="0">
              <a:spcBef>
                <a:spcPts val="600"/>
              </a:spcBef>
              <a:spcAft>
                <a:spcPts val="1200"/>
              </a:spcAft>
            </a:pPr>
            <a:r>
              <a:rPr lang="en-US" sz="2000" dirty="0" smtClean="0">
                <a:latin typeface="Helvetica" pitchFamily="34" charset="0"/>
              </a:rPr>
              <a:t>Targeted questionnaires </a:t>
            </a:r>
          </a:p>
          <a:p>
            <a:pPr lvl="0">
              <a:spcBef>
                <a:spcPts val="600"/>
              </a:spcBef>
              <a:spcAft>
                <a:spcPts val="1200"/>
              </a:spcAft>
            </a:pPr>
            <a:r>
              <a:rPr lang="en-US" sz="2000" dirty="0" smtClean="0">
                <a:latin typeface="Helvetica" pitchFamily="34" charset="0"/>
              </a:rPr>
              <a:t>Focus groups </a:t>
            </a:r>
          </a:p>
          <a:p>
            <a:pPr>
              <a:spcBef>
                <a:spcPts val="600"/>
              </a:spcBef>
              <a:spcAft>
                <a:spcPts val="1200"/>
              </a:spcAft>
            </a:pPr>
            <a:r>
              <a:rPr lang="en-US" sz="2000" dirty="0" smtClean="0">
                <a:latin typeface="Helvetica" pitchFamily="34" charset="0"/>
              </a:rPr>
              <a:t>Analysing comments made by and input                               received from third party providers</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60418" name="Picture 2" descr="C:\Documents and Settings\Godaishu\Desktop\PHOTOS\2014\Shutterstock 25-a-day\shutterstock_168391733.jpg"/>
          <p:cNvPicPr>
            <a:picLocks noChangeAspect="1" noChangeArrowheads="1"/>
          </p:cNvPicPr>
          <p:nvPr/>
        </p:nvPicPr>
        <p:blipFill>
          <a:blip r:embed="rId3" cstate="print"/>
          <a:srcRect/>
          <a:stretch>
            <a:fillRect/>
          </a:stretch>
        </p:blipFill>
        <p:spPr bwMode="auto">
          <a:xfrm>
            <a:off x="6365667" y="2492896"/>
            <a:ext cx="1584176" cy="2374409"/>
          </a:xfrm>
          <a:prstGeom prst="rect">
            <a:avLst/>
          </a:prstGeom>
          <a:noFill/>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Identifying revisions to interpretive tours or activities</a:t>
            </a:r>
          </a:p>
          <a:p>
            <a:pPr marL="0">
              <a:spcBef>
                <a:spcPts val="600"/>
              </a:spcBef>
              <a:spcAft>
                <a:spcPts val="1200"/>
              </a:spcAft>
              <a:buNone/>
            </a:pPr>
            <a:r>
              <a:rPr lang="en-US" sz="2000" dirty="0" smtClean="0">
                <a:latin typeface="Helvetica" pitchFamily="34" charset="0"/>
              </a:rPr>
              <a:t>It is important revisions to be made to tours or activities are based on evidence as revealed by the evaluation:</a:t>
            </a:r>
          </a:p>
          <a:p>
            <a:pPr>
              <a:spcBef>
                <a:spcPts val="600"/>
              </a:spcBef>
              <a:spcAft>
                <a:spcPts val="1200"/>
              </a:spcAft>
            </a:pPr>
            <a:r>
              <a:rPr lang="en-US" sz="2000" dirty="0" smtClean="0">
                <a:latin typeface="Helvetica" pitchFamily="34" charset="0"/>
              </a:rPr>
              <a:t>What are revisions necessary?</a:t>
            </a:r>
          </a:p>
          <a:p>
            <a:pPr>
              <a:spcBef>
                <a:spcPts val="600"/>
              </a:spcBef>
              <a:spcAft>
                <a:spcPts val="1200"/>
              </a:spcAft>
            </a:pPr>
            <a:r>
              <a:rPr lang="en-US" sz="2000" dirty="0" smtClean="0">
                <a:latin typeface="Helvetica" pitchFamily="34" charset="0"/>
              </a:rPr>
              <a:t>What are the benefits of making revisions?</a:t>
            </a:r>
          </a:p>
          <a:p>
            <a:pPr>
              <a:spcBef>
                <a:spcPts val="600"/>
              </a:spcBef>
              <a:spcAft>
                <a:spcPts val="1200"/>
              </a:spcAft>
            </a:pPr>
            <a:r>
              <a:rPr lang="en-US" sz="2000" dirty="0" smtClean="0">
                <a:latin typeface="Helvetica" pitchFamily="34" charset="0"/>
              </a:rPr>
              <a:t>What types of revisions can be made to tours and activities?</a:t>
            </a:r>
          </a:p>
          <a:p>
            <a:pPr>
              <a:spcBef>
                <a:spcPts val="600"/>
              </a:spcBef>
              <a:spcAft>
                <a:spcPts val="1200"/>
              </a:spcAft>
              <a:buNone/>
            </a:pPr>
            <a:endParaRPr lang="en-US" sz="2000" dirty="0" smtClean="0">
              <a:latin typeface="Helvetica" pitchFamily="34" charset="0"/>
            </a:endParaRPr>
          </a:p>
          <a:p>
            <a:pPr lvl="0">
              <a:spcBef>
                <a:spcPts val="600"/>
              </a:spcBef>
              <a:spcAft>
                <a:spcPts val="1200"/>
              </a:spcAft>
            </a:pPr>
            <a:endParaRPr lang="en-US" sz="2000" dirty="0" smtClean="0">
              <a:latin typeface="Helvetica" pitchFamily="34" charset="0"/>
            </a:endParaRPr>
          </a:p>
          <a:p>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6" name="Picture 5" descr="9.jpg"/>
          <p:cNvPicPr>
            <a:picLocks noChangeAspect="1"/>
          </p:cNvPicPr>
          <p:nvPr/>
        </p:nvPicPr>
        <p:blipFill>
          <a:blip r:embed="rId3" cstate="print"/>
          <a:stretch>
            <a:fillRect/>
          </a:stretch>
        </p:blipFill>
        <p:spPr>
          <a:xfrm>
            <a:off x="3347864" y="4581128"/>
            <a:ext cx="2203089" cy="1470272"/>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Types of revisions</a:t>
            </a:r>
          </a:p>
          <a:p>
            <a:pPr>
              <a:spcBef>
                <a:spcPts val="600"/>
              </a:spcBef>
              <a:spcAft>
                <a:spcPts val="1200"/>
              </a:spcAft>
            </a:pPr>
            <a:r>
              <a:rPr lang="en-US" sz="2000" dirty="0" smtClean="0">
                <a:latin typeface="Helvetica" pitchFamily="34" charset="0"/>
              </a:rPr>
              <a:t>Altering plans </a:t>
            </a:r>
          </a:p>
          <a:p>
            <a:pPr>
              <a:spcBef>
                <a:spcPts val="600"/>
              </a:spcBef>
              <a:spcAft>
                <a:spcPts val="1200"/>
              </a:spcAft>
            </a:pPr>
            <a:r>
              <a:rPr lang="en-US" sz="2000" dirty="0" smtClean="0">
                <a:latin typeface="Helvetica" pitchFamily="34" charset="0"/>
              </a:rPr>
              <a:t>Acquiring extra or different resources</a:t>
            </a:r>
          </a:p>
          <a:p>
            <a:pPr lvl="0">
              <a:spcBef>
                <a:spcPts val="600"/>
              </a:spcBef>
              <a:spcAft>
                <a:spcPts val="1200"/>
              </a:spcAft>
            </a:pPr>
            <a:r>
              <a:rPr lang="en-US" sz="2000" dirty="0" smtClean="0">
                <a:latin typeface="Helvetica" pitchFamily="34" charset="0"/>
              </a:rPr>
              <a:t>Acquiring extra information</a:t>
            </a:r>
          </a:p>
          <a:p>
            <a:pPr>
              <a:spcBef>
                <a:spcPts val="600"/>
              </a:spcBef>
              <a:spcAft>
                <a:spcPts val="1200"/>
              </a:spcAft>
            </a:pPr>
            <a:r>
              <a:rPr lang="en-US" sz="2000" dirty="0" smtClean="0">
                <a:latin typeface="Helvetica" pitchFamily="34" charset="0"/>
              </a:rPr>
              <a:t>Preparing revised or new activities</a:t>
            </a:r>
          </a:p>
          <a:p>
            <a:pPr>
              <a:spcBef>
                <a:spcPts val="600"/>
              </a:spcBef>
              <a:spcAft>
                <a:spcPts val="1200"/>
              </a:spcAft>
            </a:pPr>
            <a:r>
              <a:rPr lang="en-US" sz="2000" dirty="0" smtClean="0">
                <a:latin typeface="Helvetica" pitchFamily="34" charset="0"/>
              </a:rPr>
              <a:t>Generating revised or new commentaries</a:t>
            </a:r>
          </a:p>
          <a:p>
            <a:pPr>
              <a:spcBef>
                <a:spcPts val="600"/>
              </a:spcBef>
              <a:spcAft>
                <a:spcPts val="1200"/>
              </a:spcAft>
            </a:pPr>
            <a:r>
              <a:rPr lang="en-US" sz="2000" dirty="0" smtClean="0">
                <a:latin typeface="Helvetica" pitchFamily="34" charset="0"/>
              </a:rPr>
              <a:t>Incorporate new knowledge in existing activities</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6804248" y="2924944"/>
            <a:ext cx="1347470" cy="2009775"/>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1800" b="1" dirty="0" smtClean="0">
                <a:latin typeface="Helvetica" pitchFamily="34" charset="0"/>
              </a:rPr>
              <a:t>Types of revisions</a:t>
            </a:r>
          </a:p>
          <a:p>
            <a:pPr>
              <a:spcBef>
                <a:spcPts val="600"/>
              </a:spcBef>
              <a:spcAft>
                <a:spcPts val="1200"/>
              </a:spcAft>
            </a:pPr>
            <a:r>
              <a:rPr lang="en-US" sz="1800" dirty="0" smtClean="0">
                <a:latin typeface="Helvetica" pitchFamily="34" charset="0"/>
              </a:rPr>
              <a:t>Changing the basic tenor of an activity </a:t>
            </a:r>
          </a:p>
          <a:p>
            <a:pPr>
              <a:spcBef>
                <a:spcPts val="600"/>
              </a:spcBef>
              <a:spcAft>
                <a:spcPts val="1200"/>
              </a:spcAft>
            </a:pPr>
            <a:r>
              <a:rPr lang="en-US" sz="1800" dirty="0" smtClean="0">
                <a:latin typeface="Helvetica" pitchFamily="34" charset="0"/>
              </a:rPr>
              <a:t>Altering the pacing of the presentation </a:t>
            </a:r>
          </a:p>
          <a:p>
            <a:pPr>
              <a:spcBef>
                <a:spcPts val="600"/>
              </a:spcBef>
              <a:spcAft>
                <a:spcPts val="1200"/>
              </a:spcAft>
            </a:pPr>
            <a:r>
              <a:rPr lang="en-US" sz="1800" dirty="0" smtClean="0">
                <a:latin typeface="Helvetica" pitchFamily="34" charset="0"/>
              </a:rPr>
              <a:t>Changing the scope of the activity itself </a:t>
            </a:r>
          </a:p>
          <a:p>
            <a:pPr>
              <a:spcBef>
                <a:spcPts val="600"/>
              </a:spcBef>
              <a:spcAft>
                <a:spcPts val="1200"/>
              </a:spcAft>
            </a:pPr>
            <a:r>
              <a:rPr lang="en-US" sz="1800" dirty="0" smtClean="0">
                <a:latin typeface="Helvetica" pitchFamily="34" charset="0"/>
              </a:rPr>
              <a:t>Adjusting the duration of the activity </a:t>
            </a:r>
          </a:p>
          <a:p>
            <a:pPr>
              <a:spcBef>
                <a:spcPts val="600"/>
              </a:spcBef>
              <a:spcAft>
                <a:spcPts val="1200"/>
              </a:spcAft>
            </a:pPr>
            <a:r>
              <a:rPr lang="en-US" sz="1800" dirty="0" smtClean="0">
                <a:latin typeface="Helvetica" pitchFamily="34" charset="0"/>
              </a:rPr>
              <a:t>Addressing the degree of engagement and </a:t>
            </a:r>
            <a:br>
              <a:rPr lang="en-US" sz="1800" dirty="0" smtClean="0">
                <a:latin typeface="Helvetica" pitchFamily="34" charset="0"/>
              </a:rPr>
            </a:br>
            <a:r>
              <a:rPr lang="en-US" sz="1800" dirty="0" smtClean="0">
                <a:latin typeface="Helvetica" pitchFamily="34" charset="0"/>
              </a:rPr>
              <a:t>participation of the tour group </a:t>
            </a:r>
          </a:p>
          <a:p>
            <a:pPr>
              <a:spcBef>
                <a:spcPts val="600"/>
              </a:spcBef>
              <a:spcAft>
                <a:spcPts val="1200"/>
              </a:spcAft>
            </a:pPr>
            <a:r>
              <a:rPr lang="en-US" sz="1800" dirty="0" smtClean="0">
                <a:latin typeface="Helvetica" pitchFamily="34" charset="0"/>
              </a:rPr>
              <a:t>Altering the level of communication and interaction with individuals </a:t>
            </a:r>
          </a:p>
          <a:p>
            <a:pPr>
              <a:spcBef>
                <a:spcPts val="600"/>
              </a:spcBef>
              <a:spcAft>
                <a:spcPts val="1200"/>
              </a:spcAft>
            </a:pPr>
            <a:r>
              <a:rPr lang="en-US" sz="1800" dirty="0" smtClean="0">
                <a:latin typeface="Helvetica" pitchFamily="34" charset="0"/>
              </a:rPr>
              <a:t>Taking action in relation to the administration of the activity </a:t>
            </a:r>
          </a:p>
          <a:p>
            <a:pPr>
              <a:spcBef>
                <a:spcPts val="600"/>
              </a:spcBef>
              <a:spcAft>
                <a:spcPts val="1200"/>
              </a:spcAft>
            </a:pPr>
            <a:endParaRPr lang="en-US" sz="18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822021" y="2652849"/>
            <a:ext cx="2232248" cy="1512168"/>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Revise eco-tourism activities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latin typeface="Helvetica" pitchFamily="34" charset="0"/>
              </a:rPr>
              <a:t>Types of revisions</a:t>
            </a:r>
          </a:p>
          <a:p>
            <a:pPr>
              <a:spcBef>
                <a:spcPts val="600"/>
              </a:spcBef>
              <a:spcAft>
                <a:spcPts val="1200"/>
              </a:spcAft>
            </a:pPr>
            <a:r>
              <a:rPr lang="en-US" sz="2000" dirty="0" smtClean="0">
                <a:latin typeface="Helvetica" pitchFamily="34" charset="0"/>
              </a:rPr>
              <a:t>Moving the location of the activity </a:t>
            </a:r>
          </a:p>
          <a:p>
            <a:pPr>
              <a:spcBef>
                <a:spcPts val="600"/>
              </a:spcBef>
              <a:spcAft>
                <a:spcPts val="1200"/>
              </a:spcAft>
            </a:pPr>
            <a:r>
              <a:rPr lang="en-US" sz="2000" dirty="0" smtClean="0">
                <a:latin typeface="Helvetica" pitchFamily="34" charset="0"/>
              </a:rPr>
              <a:t>Responding to changing environmental and other factors </a:t>
            </a:r>
          </a:p>
          <a:p>
            <a:pPr>
              <a:spcBef>
                <a:spcPts val="600"/>
              </a:spcBef>
              <a:spcAft>
                <a:spcPts val="1200"/>
              </a:spcAft>
            </a:pPr>
            <a:r>
              <a:rPr lang="en-US" sz="2000" dirty="0" smtClean="0">
                <a:latin typeface="Helvetica" pitchFamily="34" charset="0"/>
              </a:rPr>
              <a:t>Abandoning planned activities and initiating a substitute alternative activity </a:t>
            </a:r>
          </a:p>
          <a:p>
            <a:pPr>
              <a:spcBef>
                <a:spcPts val="600"/>
              </a:spcBef>
              <a:spcAft>
                <a:spcPts val="1200"/>
              </a:spcAft>
            </a:pPr>
            <a:r>
              <a:rPr lang="en-US" sz="2000" dirty="0" smtClean="0">
                <a:latin typeface="Helvetica" pitchFamily="34" charset="0"/>
              </a:rPr>
              <a:t>Changing the promotional activities for the tour </a:t>
            </a:r>
          </a:p>
          <a:p>
            <a:pPr>
              <a:spcBef>
                <a:spcPts val="600"/>
              </a:spcBef>
              <a:spcAft>
                <a:spcPts val="1200"/>
              </a:spcAft>
            </a:pPr>
            <a:r>
              <a:rPr lang="en-US" sz="2000" dirty="0" smtClean="0">
                <a:latin typeface="Helvetica" pitchFamily="34" charset="0"/>
              </a:rPr>
              <a:t>Amending staffing for the tour </a:t>
            </a:r>
          </a:p>
          <a:p>
            <a:pPr>
              <a:spcBef>
                <a:spcPts val="600"/>
              </a:spcBef>
              <a:spcAft>
                <a:spcPts val="1200"/>
              </a:spcAft>
            </a:pPr>
            <a:r>
              <a:rPr lang="en-US" sz="2000" dirty="0" smtClean="0">
                <a:latin typeface="Helvetica" pitchFamily="34" charset="0"/>
              </a:rPr>
              <a:t>Changing parameters relating to tour customers </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7" name="Picture 6" descr="shutterstock_156813770.jpg"/>
          <p:cNvPicPr/>
          <p:nvPr/>
        </p:nvPicPr>
        <p:blipFill>
          <a:blip r:embed="rId3" cstate="print"/>
          <a:stretch>
            <a:fillRect/>
          </a:stretch>
        </p:blipFill>
        <p:spPr>
          <a:xfrm>
            <a:off x="6876256" y="4149080"/>
            <a:ext cx="1506984" cy="1327026"/>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Promote prepared eco-tourism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Promoting activities</a:t>
            </a:r>
          </a:p>
          <a:p>
            <a:pPr marL="0">
              <a:spcBef>
                <a:spcPts val="600"/>
              </a:spcBef>
              <a:spcAft>
                <a:spcPts val="1200"/>
              </a:spcAft>
              <a:buNone/>
            </a:pPr>
            <a:r>
              <a:rPr lang="en-US" sz="2200" dirty="0" smtClean="0">
                <a:latin typeface="Helvetica" pitchFamily="34" charset="0"/>
              </a:rPr>
              <a:t>After all planning, preparation and trails for interpretive activities have been completed there can be a need to promote both the tour and the activities:</a:t>
            </a:r>
          </a:p>
          <a:p>
            <a:pPr>
              <a:spcBef>
                <a:spcPts val="600"/>
              </a:spcBef>
              <a:spcAft>
                <a:spcPts val="1200"/>
              </a:spcAft>
            </a:pPr>
            <a:r>
              <a:rPr lang="en-US" sz="2200" dirty="0" smtClean="0">
                <a:latin typeface="Helvetica" pitchFamily="34" charset="0"/>
              </a:rPr>
              <a:t>How can you promote a tour or activity?</a:t>
            </a:r>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44034" name="Picture 2" descr="C:\Documents and Settings\Godaishu\Desktop\PHOTOS\2014\Shutterstock 25-a-day\shutterstock_178686758.jpg"/>
          <p:cNvPicPr>
            <a:picLocks noChangeAspect="1" noChangeArrowheads="1"/>
          </p:cNvPicPr>
          <p:nvPr/>
        </p:nvPicPr>
        <p:blipFill>
          <a:blip r:embed="rId3" cstate="print"/>
          <a:srcRect/>
          <a:stretch>
            <a:fillRect/>
          </a:stretch>
        </p:blipFill>
        <p:spPr bwMode="auto">
          <a:xfrm>
            <a:off x="2699792" y="3933056"/>
            <a:ext cx="2374409" cy="1584176"/>
          </a:xfrm>
          <a:prstGeom prst="rect">
            <a:avLst/>
          </a:prstGeom>
          <a:noFill/>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Promote prepared eco-tourism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83568" y="1628800"/>
            <a:ext cx="7467600" cy="4896544"/>
          </a:xfrm>
        </p:spPr>
        <p:txBody>
          <a:bodyPr>
            <a:normAutofit/>
          </a:bodyPr>
          <a:lstStyle/>
          <a:p>
            <a:pPr>
              <a:lnSpc>
                <a:spcPct val="110000"/>
              </a:lnSpc>
              <a:spcBef>
                <a:spcPts val="600"/>
              </a:spcBef>
              <a:spcAft>
                <a:spcPts val="600"/>
              </a:spcAft>
              <a:buNone/>
            </a:pPr>
            <a:r>
              <a:rPr lang="en-US" sz="2000" b="1" dirty="0" smtClean="0">
                <a:latin typeface="Helvetica" pitchFamily="34" charset="0"/>
              </a:rPr>
              <a:t>Promotional considerations</a:t>
            </a:r>
          </a:p>
          <a:p>
            <a:pPr marL="360000" indent="-360000">
              <a:lnSpc>
                <a:spcPct val="110000"/>
              </a:lnSpc>
              <a:spcBef>
                <a:spcPts val="600"/>
              </a:spcBef>
              <a:spcAft>
                <a:spcPts val="600"/>
              </a:spcAft>
            </a:pPr>
            <a:r>
              <a:rPr lang="en-US" sz="2000" dirty="0" smtClean="0">
                <a:latin typeface="Helvetica" pitchFamily="34" charset="0"/>
              </a:rPr>
              <a:t>Adhere to budget</a:t>
            </a:r>
          </a:p>
          <a:p>
            <a:pPr marL="360000" indent="-360000">
              <a:lnSpc>
                <a:spcPct val="110000"/>
              </a:lnSpc>
              <a:spcBef>
                <a:spcPts val="600"/>
              </a:spcBef>
              <a:spcAft>
                <a:spcPts val="600"/>
              </a:spcAft>
            </a:pPr>
            <a:r>
              <a:rPr lang="en-US" sz="2000" dirty="0" smtClean="0">
                <a:latin typeface="Helvetica" pitchFamily="34" charset="0"/>
              </a:rPr>
              <a:t>Target intended customers</a:t>
            </a:r>
          </a:p>
          <a:p>
            <a:pPr marL="360000" indent="-360000">
              <a:lnSpc>
                <a:spcPct val="110000"/>
              </a:lnSpc>
              <a:spcBef>
                <a:spcPts val="600"/>
              </a:spcBef>
              <a:spcAft>
                <a:spcPts val="600"/>
              </a:spcAft>
            </a:pPr>
            <a:r>
              <a:rPr lang="en-US" sz="2000" dirty="0" smtClean="0">
                <a:latin typeface="Helvetica" pitchFamily="34" charset="0"/>
              </a:rPr>
              <a:t>Use language appropriate to each </a:t>
            </a:r>
            <a:br>
              <a:rPr lang="en-US" sz="2000" dirty="0" smtClean="0">
                <a:latin typeface="Helvetica" pitchFamily="34" charset="0"/>
              </a:rPr>
            </a:br>
            <a:r>
              <a:rPr lang="en-US" sz="2000" dirty="0" smtClean="0">
                <a:latin typeface="Helvetica" pitchFamily="34" charset="0"/>
              </a:rPr>
              <a:t>target market</a:t>
            </a:r>
          </a:p>
          <a:p>
            <a:pPr marL="360000" indent="-360000">
              <a:lnSpc>
                <a:spcPct val="110000"/>
              </a:lnSpc>
              <a:spcBef>
                <a:spcPts val="600"/>
              </a:spcBef>
              <a:spcAft>
                <a:spcPts val="600"/>
              </a:spcAft>
            </a:pPr>
            <a:r>
              <a:rPr lang="en-US" sz="2000" dirty="0" smtClean="0">
                <a:latin typeface="Helvetica" pitchFamily="34" charset="0"/>
              </a:rPr>
              <a:t>Leverage joint/co-promotions</a:t>
            </a:r>
          </a:p>
          <a:p>
            <a:pPr marL="360000" indent="-360000">
              <a:lnSpc>
                <a:spcPct val="110000"/>
              </a:lnSpc>
              <a:spcBef>
                <a:spcPts val="600"/>
              </a:spcBef>
              <a:spcAft>
                <a:spcPts val="600"/>
              </a:spcAft>
            </a:pPr>
            <a:r>
              <a:rPr lang="en-US" sz="2000" dirty="0" smtClean="0">
                <a:latin typeface="Helvetica" pitchFamily="34" charset="0"/>
              </a:rPr>
              <a:t>Time the promotion ‘correctly’</a:t>
            </a:r>
          </a:p>
          <a:p>
            <a:pPr marL="360000" indent="-360000">
              <a:lnSpc>
                <a:spcPct val="110000"/>
              </a:lnSpc>
              <a:spcBef>
                <a:spcPts val="600"/>
              </a:spcBef>
              <a:spcAft>
                <a:spcPts val="600"/>
              </a:spcAft>
            </a:pPr>
            <a:r>
              <a:rPr lang="en-US" sz="2000" dirty="0" smtClean="0">
                <a:latin typeface="Helvetica" pitchFamily="34" charset="0"/>
              </a:rPr>
              <a:t>Use a variety of options</a:t>
            </a:r>
          </a:p>
          <a:p>
            <a:pPr marL="360000" indent="-360000">
              <a:lnSpc>
                <a:spcPct val="110000"/>
              </a:lnSpc>
              <a:spcBef>
                <a:spcPts val="600"/>
              </a:spcBef>
              <a:spcAft>
                <a:spcPts val="600"/>
              </a:spcAft>
            </a:pPr>
            <a:r>
              <a:rPr lang="en-US" sz="2000" dirty="0" smtClean="0">
                <a:latin typeface="Helvetica" pitchFamily="34" charset="0"/>
              </a:rPr>
              <a:t>Use a promotion plan</a:t>
            </a:r>
          </a:p>
          <a:p>
            <a:pPr marL="360000" indent="-360000">
              <a:lnSpc>
                <a:spcPct val="110000"/>
              </a:lnSpc>
              <a:spcBef>
                <a:spcPts val="600"/>
              </a:spcBef>
              <a:spcAft>
                <a:spcPts val="600"/>
              </a:spcAft>
            </a:pPr>
            <a:r>
              <a:rPr lang="en-US" sz="2000" dirty="0" smtClean="0">
                <a:latin typeface="Helvetica" pitchFamily="34" charset="0"/>
              </a:rPr>
              <a:t>Update/revise advertising, as required</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6" name="Picture 5" descr="W134_white_board_shutterstock_156103070.jpg"/>
          <p:cNvPicPr/>
          <p:nvPr/>
        </p:nvPicPr>
        <p:blipFill>
          <a:blip r:embed="rId3" cstate="print"/>
          <a:stretch>
            <a:fillRect/>
          </a:stretch>
        </p:blipFill>
        <p:spPr>
          <a:xfrm>
            <a:off x="6228184" y="2901654"/>
            <a:ext cx="1266825" cy="1895475"/>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Promote prepared eco-tourism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Types of promotional activities</a:t>
            </a:r>
          </a:p>
          <a:p>
            <a:pPr marL="360000" indent="-360000">
              <a:spcBef>
                <a:spcPts val="600"/>
              </a:spcBef>
              <a:spcAft>
                <a:spcPts val="1200"/>
              </a:spcAft>
            </a:pPr>
            <a:r>
              <a:rPr lang="en-US" sz="2200" dirty="0" smtClean="0">
                <a:latin typeface="Helvetica" pitchFamily="34" charset="0"/>
              </a:rPr>
              <a:t>Writing advertisements</a:t>
            </a:r>
          </a:p>
          <a:p>
            <a:pPr marL="360000" indent="-360000">
              <a:spcBef>
                <a:spcPts val="600"/>
              </a:spcBef>
              <a:spcAft>
                <a:spcPts val="1200"/>
              </a:spcAft>
            </a:pPr>
            <a:r>
              <a:rPr lang="en-US" sz="2200" dirty="0" smtClean="0">
                <a:latin typeface="Helvetica" pitchFamily="34" charset="0"/>
              </a:rPr>
              <a:t>Designing promotional materials</a:t>
            </a:r>
          </a:p>
          <a:p>
            <a:pPr marL="360000" indent="-360000">
              <a:spcBef>
                <a:spcPts val="600"/>
              </a:spcBef>
              <a:spcAft>
                <a:spcPts val="1200"/>
              </a:spcAft>
            </a:pPr>
            <a:r>
              <a:rPr lang="en-US" sz="2200" dirty="0" smtClean="0">
                <a:latin typeface="Helvetica" pitchFamily="34" charset="0"/>
              </a:rPr>
              <a:t>Selecting media</a:t>
            </a:r>
          </a:p>
          <a:p>
            <a:pPr>
              <a:spcBef>
                <a:spcPts val="600"/>
              </a:spcBef>
              <a:spcAft>
                <a:spcPts val="1200"/>
              </a:spcAft>
            </a:pPr>
            <a:r>
              <a:rPr lang="en-US" sz="2200" dirty="0" smtClean="0">
                <a:latin typeface="Helvetica" pitchFamily="34" charset="0"/>
              </a:rPr>
              <a:t>Supplying media releases to the media</a:t>
            </a:r>
          </a:p>
          <a:p>
            <a:pPr>
              <a:spcBef>
                <a:spcPts val="600"/>
              </a:spcBef>
              <a:spcAft>
                <a:spcPts val="1200"/>
              </a:spcAft>
            </a:pPr>
            <a:r>
              <a:rPr lang="en-US" sz="2200" dirty="0" smtClean="0">
                <a:latin typeface="Helvetica" pitchFamily="34" charset="0"/>
              </a:rPr>
              <a:t>Conducting media events</a:t>
            </a:r>
          </a:p>
          <a:p>
            <a:pPr>
              <a:spcBef>
                <a:spcPts val="600"/>
              </a:spcBef>
              <a:spcAft>
                <a:spcPts val="1200"/>
              </a:spcAft>
            </a:pPr>
            <a:r>
              <a:rPr lang="en-US" sz="2200" dirty="0" smtClean="0">
                <a:latin typeface="Helvetica" pitchFamily="34" charset="0"/>
              </a:rPr>
              <a:t>Inviting agents to participate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46082" name="Picture 2" descr="C:\Documents and Settings\Godaishu\Desktop\PHOTOS\2014\Shutterstock 25-a-day\shutterstock_179149739.jpg"/>
          <p:cNvPicPr>
            <a:picLocks noChangeAspect="1" noChangeArrowheads="1"/>
          </p:cNvPicPr>
          <p:nvPr/>
        </p:nvPicPr>
        <p:blipFill>
          <a:blip r:embed="rId3" cstate="print"/>
          <a:srcRect/>
          <a:stretch>
            <a:fillRect/>
          </a:stretch>
        </p:blipFill>
        <p:spPr bwMode="auto">
          <a:xfrm>
            <a:off x="6097611" y="4077072"/>
            <a:ext cx="2322141" cy="1542047"/>
          </a:xfrm>
          <a:prstGeom prst="rect">
            <a:avLst/>
          </a:prstGeom>
          <a:noFill/>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Promote prepared eco-tourism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a:lnSpc>
                <a:spcPct val="110000"/>
              </a:lnSpc>
              <a:spcBef>
                <a:spcPts val="600"/>
              </a:spcBef>
              <a:spcAft>
                <a:spcPts val="1200"/>
              </a:spcAft>
              <a:buNone/>
            </a:pPr>
            <a:r>
              <a:rPr lang="en-US" sz="2000" b="1" dirty="0" smtClean="0">
                <a:latin typeface="Helvetica" pitchFamily="34" charset="0"/>
              </a:rPr>
              <a:t>Types of promotional activities</a:t>
            </a:r>
          </a:p>
          <a:p>
            <a:pPr>
              <a:lnSpc>
                <a:spcPct val="110000"/>
              </a:lnSpc>
              <a:spcBef>
                <a:spcPts val="600"/>
              </a:spcBef>
              <a:spcAft>
                <a:spcPts val="1200"/>
              </a:spcAft>
            </a:pPr>
            <a:r>
              <a:rPr lang="en-US" sz="2000" dirty="0" smtClean="0">
                <a:latin typeface="Helvetica" pitchFamily="34" charset="0"/>
              </a:rPr>
              <a:t>Providing free tours, travel and accommodation to the media</a:t>
            </a:r>
          </a:p>
          <a:p>
            <a:pPr>
              <a:lnSpc>
                <a:spcPct val="110000"/>
              </a:lnSpc>
              <a:spcBef>
                <a:spcPts val="600"/>
              </a:spcBef>
              <a:spcAft>
                <a:spcPts val="1200"/>
              </a:spcAft>
            </a:pPr>
            <a:r>
              <a:rPr lang="en-US" sz="2000" dirty="0" smtClean="0">
                <a:latin typeface="Helvetica" pitchFamily="34" charset="0"/>
              </a:rPr>
              <a:t>Creating merchandise to support the tour or attraction</a:t>
            </a:r>
          </a:p>
          <a:p>
            <a:pPr>
              <a:lnSpc>
                <a:spcPct val="110000"/>
              </a:lnSpc>
              <a:spcBef>
                <a:spcPts val="600"/>
              </a:spcBef>
              <a:spcAft>
                <a:spcPts val="1200"/>
              </a:spcAft>
            </a:pPr>
            <a:r>
              <a:rPr lang="en-US" sz="2000" dirty="0" smtClean="0">
                <a:latin typeface="Helvetica" pitchFamily="34" charset="0"/>
              </a:rPr>
              <a:t>Allocating resources to support the promotion</a:t>
            </a:r>
          </a:p>
          <a:p>
            <a:pPr>
              <a:lnSpc>
                <a:spcPct val="110000"/>
              </a:lnSpc>
              <a:spcBef>
                <a:spcPts val="600"/>
              </a:spcBef>
              <a:spcAft>
                <a:spcPts val="1200"/>
              </a:spcAft>
            </a:pPr>
            <a:r>
              <a:rPr lang="en-US" sz="2000" dirty="0" smtClean="0">
                <a:latin typeface="Helvetica" pitchFamily="34" charset="0"/>
              </a:rPr>
              <a:t>Distributing promotional materials to targeted outlets</a:t>
            </a:r>
          </a:p>
          <a:p>
            <a:pPr>
              <a:lnSpc>
                <a:spcPct val="110000"/>
              </a:lnSpc>
              <a:spcBef>
                <a:spcPts val="600"/>
              </a:spcBef>
              <a:spcAft>
                <a:spcPts val="1200"/>
              </a:spcAft>
            </a:pPr>
            <a:r>
              <a:rPr lang="en-US" sz="2000" dirty="0" smtClean="0">
                <a:latin typeface="Helvetica" pitchFamily="34" charset="0"/>
              </a:rPr>
              <a:t>Participating in a variety of shows</a:t>
            </a:r>
          </a:p>
          <a:p>
            <a:pPr>
              <a:lnSpc>
                <a:spcPct val="110000"/>
              </a:lnSpc>
              <a:spcBef>
                <a:spcPts val="600"/>
              </a:spcBef>
              <a:spcAft>
                <a:spcPts val="1200"/>
              </a:spcAft>
            </a:pPr>
            <a:r>
              <a:rPr lang="en-US" sz="2000" dirty="0" smtClean="0">
                <a:latin typeface="Helvetica" pitchFamily="34" charset="0"/>
              </a:rPr>
              <a:t>Using a range of personalities to sell                                      the message</a:t>
            </a:r>
          </a:p>
          <a:p>
            <a:pPr>
              <a:lnSpc>
                <a:spcPct val="110000"/>
              </a:lnSpc>
              <a:spcBef>
                <a:spcPts val="2400"/>
              </a:spcBef>
              <a:spcAft>
                <a:spcPts val="1200"/>
              </a:spcAft>
              <a:buNone/>
            </a:pPr>
            <a:r>
              <a:rPr lang="en-US" sz="2000" b="1" i="1" u="sng" dirty="0" smtClean="0">
                <a:solidFill>
                  <a:srgbClr val="FF6600"/>
                </a:solidFill>
                <a:latin typeface="Helvetica" pitchFamily="34" charset="0"/>
              </a:rPr>
              <a:t>COMPLETE ACTIVITY 23</a:t>
            </a:r>
            <a:endParaRPr lang="en-US" sz="2000" i="1" u="sng"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6" name="Picture 5" descr="W422_upelling_shutterstock_161243552.jpg"/>
          <p:cNvPicPr/>
          <p:nvPr/>
        </p:nvPicPr>
        <p:blipFill>
          <a:blip r:embed="rId3" cstate="print"/>
          <a:stretch>
            <a:fillRect/>
          </a:stretch>
        </p:blipFill>
        <p:spPr>
          <a:xfrm>
            <a:off x="6804248" y="4221088"/>
            <a:ext cx="1656184" cy="1656184"/>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7584" y="1124744"/>
            <a:ext cx="7560840" cy="5112568"/>
          </a:xfrm>
        </p:spPr>
        <p:txBody>
          <a:bodyPr>
            <a:normAutofit/>
          </a:bodyPr>
          <a:lstStyle/>
          <a:p>
            <a:pPr marL="0">
              <a:buNone/>
            </a:pPr>
            <a:r>
              <a:rPr lang="en-AU" sz="4000" b="1" dirty="0" smtClean="0">
                <a:solidFill>
                  <a:srgbClr val="FF6600"/>
                </a:solidFill>
                <a:latin typeface="Helvetica" pitchFamily="34" charset="0"/>
              </a:rPr>
              <a:t>Element 3:</a:t>
            </a:r>
          </a:p>
          <a:p>
            <a:pPr marL="0">
              <a:buNone/>
            </a:pPr>
            <a:r>
              <a:rPr lang="en-AU" sz="4000" b="1" i="1" dirty="0">
                <a:solidFill>
                  <a:srgbClr val="FF6600"/>
                </a:solidFill>
                <a:latin typeface="Helvetica" pitchFamily="34" charset="0"/>
              </a:rPr>
              <a:t>Update knowledge and ecotourism activities</a:t>
            </a:r>
            <a:endParaRPr lang="en-US" sz="4000" b="1" i="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descr="km.jpg"/>
          <p:cNvPicPr>
            <a:picLocks noChangeAspect="1"/>
          </p:cNvPicPr>
          <p:nvPr/>
        </p:nvPicPr>
        <p:blipFill>
          <a:blip r:embed="rId3" cstate="print"/>
          <a:stretch>
            <a:fillRect/>
          </a:stretch>
        </p:blipFill>
        <p:spPr>
          <a:xfrm>
            <a:off x="1907704" y="3294475"/>
            <a:ext cx="3985249" cy="2664296"/>
          </a:xfrm>
          <a:prstGeom prst="ellipse">
            <a:avLst/>
          </a:prstGeom>
          <a:ln>
            <a:noFill/>
          </a:ln>
          <a:effectLst>
            <a:softEdge rad="112500"/>
          </a:effectLst>
        </p:spPr>
      </p:pic>
    </p:spTree>
    <p:extLst>
      <p:ext uri="{BB962C8B-B14F-4D97-AF65-F5344CB8AC3E}">
        <p14:creationId xmlns:p14="http://schemas.microsoft.com/office/powerpoint/2010/main" val="276986012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224136"/>
          </a:xfrm>
        </p:spPr>
        <p:txBody>
          <a:bodyPr>
            <a:noAutofit/>
          </a:bodyPr>
          <a:lstStyle/>
          <a:p>
            <a:pPr marL="0"/>
            <a:r>
              <a:rPr lang="en-AU" sz="3400" b="1" dirty="0">
                <a:solidFill>
                  <a:srgbClr val="FF6600"/>
                </a:solidFill>
                <a:latin typeface="Helvetica" pitchFamily="34" charset="0"/>
              </a:rPr>
              <a:t>Update knowledge and ecotourism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846640" cy="4536504"/>
          </a:xfrm>
        </p:spPr>
        <p:txBody>
          <a:bodyPr>
            <a:normAutofit/>
          </a:bodyPr>
          <a:lstStyle/>
          <a:p>
            <a:pPr marL="0" indent="0">
              <a:spcBef>
                <a:spcPts val="600"/>
              </a:spcBef>
              <a:spcAft>
                <a:spcPts val="1200"/>
              </a:spcAft>
              <a:buNone/>
            </a:pPr>
            <a:r>
              <a:rPr lang="en-AU" sz="2000" dirty="0" smtClean="0">
                <a:latin typeface="Helvetica" pitchFamily="34" charset="0"/>
              </a:rPr>
              <a:t>Performance Criteria for this Element are: </a:t>
            </a:r>
          </a:p>
          <a:p>
            <a:pPr>
              <a:spcBef>
                <a:spcPts val="600"/>
              </a:spcBef>
              <a:spcAft>
                <a:spcPts val="1200"/>
              </a:spcAft>
            </a:pPr>
            <a:r>
              <a:rPr lang="en-AU" sz="2000" dirty="0" smtClean="0">
                <a:latin typeface="Helvetica" pitchFamily="34" charset="0"/>
              </a:rPr>
              <a:t>Take </a:t>
            </a:r>
            <a:r>
              <a:rPr lang="en-AU" sz="2000" dirty="0">
                <a:latin typeface="Helvetica" pitchFamily="34" charset="0"/>
              </a:rPr>
              <a:t>action to receive information from relevant bodies</a:t>
            </a:r>
          </a:p>
          <a:p>
            <a:pPr>
              <a:spcBef>
                <a:spcPts val="600"/>
              </a:spcBef>
              <a:spcAft>
                <a:spcPts val="1200"/>
              </a:spcAft>
            </a:pPr>
            <a:r>
              <a:rPr lang="en-AU" sz="2000" dirty="0" smtClean="0">
                <a:latin typeface="Helvetica" pitchFamily="34" charset="0"/>
              </a:rPr>
              <a:t>File </a:t>
            </a:r>
            <a:r>
              <a:rPr lang="en-AU" sz="2000" dirty="0">
                <a:latin typeface="Helvetica" pitchFamily="34" charset="0"/>
              </a:rPr>
              <a:t>and share new information</a:t>
            </a:r>
          </a:p>
          <a:p>
            <a:pPr>
              <a:spcBef>
                <a:spcPts val="600"/>
              </a:spcBef>
              <a:spcAft>
                <a:spcPts val="1200"/>
              </a:spcAft>
            </a:pPr>
            <a:r>
              <a:rPr lang="en-AU" sz="2000" dirty="0" smtClean="0">
                <a:latin typeface="Helvetica" pitchFamily="34" charset="0"/>
              </a:rPr>
              <a:t>Incorporate </a:t>
            </a:r>
            <a:r>
              <a:rPr lang="en-AU" sz="2000" dirty="0">
                <a:latin typeface="Helvetica" pitchFamily="34" charset="0"/>
              </a:rPr>
              <a:t>new knowledge in existing activities</a:t>
            </a:r>
          </a:p>
          <a:p>
            <a:pPr>
              <a:spcBef>
                <a:spcPts val="600"/>
              </a:spcBef>
              <a:spcAft>
                <a:spcPts val="1200"/>
              </a:spcAft>
            </a:pPr>
            <a:r>
              <a:rPr lang="en-AU" sz="2000" dirty="0" smtClean="0">
                <a:latin typeface="Helvetica" pitchFamily="34" charset="0"/>
              </a:rPr>
              <a:t>Create </a:t>
            </a:r>
            <a:r>
              <a:rPr lang="en-AU" sz="2000" dirty="0">
                <a:latin typeface="Helvetica" pitchFamily="34" charset="0"/>
              </a:rPr>
              <a:t>new activities</a:t>
            </a:r>
          </a:p>
          <a:p>
            <a:pPr>
              <a:spcBef>
                <a:spcPts val="600"/>
              </a:spcBef>
              <a:spcAft>
                <a:spcPts val="1200"/>
              </a:spcAft>
            </a:pPr>
            <a:r>
              <a:rPr lang="en-AU" sz="2000" dirty="0" smtClean="0">
                <a:latin typeface="Helvetica" pitchFamily="34" charset="0"/>
              </a:rPr>
              <a:t>Correct </a:t>
            </a:r>
            <a:r>
              <a:rPr lang="en-AU" sz="2000" dirty="0">
                <a:latin typeface="Helvetica" pitchFamily="34" charset="0"/>
              </a:rPr>
              <a:t>information and activities that </a:t>
            </a:r>
            <a:r>
              <a:rPr lang="en-AU" sz="2000" dirty="0" smtClean="0">
                <a:latin typeface="Helvetica" pitchFamily="34" charset="0"/>
              </a:rPr>
              <a:t>                                     prove </a:t>
            </a:r>
            <a:r>
              <a:rPr lang="en-AU" sz="2000" dirty="0">
                <a:latin typeface="Helvetica" pitchFamily="34" charset="0"/>
              </a:rPr>
              <a:t>to be inaccurate or misleading</a:t>
            </a:r>
          </a:p>
          <a:p>
            <a:pPr>
              <a:spcBef>
                <a:spcPts val="600"/>
              </a:spcBef>
              <a:spcAft>
                <a:spcPts val="1200"/>
              </a:spcAft>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5" name="Picture 4" descr="hp.jpg"/>
          <p:cNvPicPr>
            <a:picLocks noChangeAspect="1"/>
          </p:cNvPicPr>
          <p:nvPr/>
        </p:nvPicPr>
        <p:blipFill>
          <a:blip r:embed="rId3" cstate="print"/>
          <a:stretch>
            <a:fillRect/>
          </a:stretch>
        </p:blipFill>
        <p:spPr>
          <a:xfrm>
            <a:off x="6048033" y="4149080"/>
            <a:ext cx="2334760" cy="1561902"/>
          </a:xfrm>
          <a:prstGeom prst="rect">
            <a:avLst/>
          </a:prstGeom>
        </p:spPr>
      </p:pic>
    </p:spTree>
    <p:extLst>
      <p:ext uri="{BB962C8B-B14F-4D97-AF65-F5344CB8AC3E}">
        <p14:creationId xmlns:p14="http://schemas.microsoft.com/office/powerpoint/2010/main" val="404081011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224136"/>
          </a:xfrm>
        </p:spPr>
        <p:txBody>
          <a:bodyPr>
            <a:normAutofit/>
          </a:bodyPr>
          <a:lstStyle/>
          <a:p>
            <a:r>
              <a:rPr lang="en-US" sz="3400" b="1" dirty="0" smtClean="0">
                <a:solidFill>
                  <a:srgbClr val="FF6600"/>
                </a:solidFill>
                <a:latin typeface="Helvetica" pitchFamily="34" charset="0"/>
              </a:rPr>
              <a:t>Updating eco-tourism industry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a:spcBef>
                <a:spcPts val="600"/>
              </a:spcBef>
              <a:spcAft>
                <a:spcPts val="1200"/>
              </a:spcAft>
              <a:buNone/>
            </a:pPr>
            <a:r>
              <a:rPr lang="en-US" sz="2200" b="1" dirty="0" smtClean="0">
                <a:latin typeface="Helvetica" pitchFamily="34" charset="0"/>
              </a:rPr>
              <a:t>Importance of updating industry knowledge</a:t>
            </a:r>
          </a:p>
          <a:p>
            <a:pPr>
              <a:spcBef>
                <a:spcPts val="600"/>
              </a:spcBef>
              <a:spcAft>
                <a:spcPts val="1200"/>
              </a:spcAft>
            </a:pPr>
            <a:r>
              <a:rPr lang="en-US" sz="2200" dirty="0" smtClean="0">
                <a:latin typeface="Helvetica" pitchFamily="34" charset="0"/>
              </a:rPr>
              <a:t>It is important to be up-to-date with the ever changing industry, especially in relation to eco-tourism trends and developments</a:t>
            </a:r>
          </a:p>
          <a:p>
            <a:pPr>
              <a:spcBef>
                <a:spcPts val="600"/>
              </a:spcBef>
              <a:spcAft>
                <a:spcPts val="1200"/>
              </a:spcAft>
            </a:pPr>
            <a:r>
              <a:rPr lang="en-US" sz="2200" dirty="0" smtClean="0">
                <a:latin typeface="Helvetica" pitchFamily="34" charset="0"/>
              </a:rPr>
              <a:t>This might mean that you have to find out </a:t>
            </a:r>
            <a:br>
              <a:rPr lang="en-US" sz="2200" dirty="0" smtClean="0">
                <a:latin typeface="Helvetica" pitchFamily="34" charset="0"/>
              </a:rPr>
            </a:br>
            <a:r>
              <a:rPr lang="en-US" sz="2200" dirty="0" smtClean="0">
                <a:latin typeface="Helvetica" pitchFamily="34" charset="0"/>
              </a:rPr>
              <a:t>information about a particular eco-tourism </a:t>
            </a:r>
            <a:br>
              <a:rPr lang="en-US" sz="2200" dirty="0" smtClean="0">
                <a:latin typeface="Helvetica" pitchFamily="34" charset="0"/>
              </a:rPr>
            </a:br>
            <a:r>
              <a:rPr lang="en-US" sz="2200" dirty="0" smtClean="0">
                <a:latin typeface="Helvetica" pitchFamily="34" charset="0"/>
              </a:rPr>
              <a:t>topic, location, attraction, trend or customer </a:t>
            </a:r>
            <a:br>
              <a:rPr lang="en-US" sz="2200" dirty="0" smtClean="0">
                <a:latin typeface="Helvetica" pitchFamily="34" charset="0"/>
              </a:rPr>
            </a:br>
            <a:r>
              <a:rPr lang="en-US" sz="2200" dirty="0" smtClean="0">
                <a:latin typeface="Helvetica" pitchFamily="34" charset="0"/>
              </a:rPr>
              <a:t>preference</a:t>
            </a: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6" name="Picture 5" descr="Asian girl with world on hand_34766518.jpg"/>
          <p:cNvPicPr/>
          <p:nvPr/>
        </p:nvPicPr>
        <p:blipFill>
          <a:blip r:embed="rId3" cstate="print"/>
          <a:stretch>
            <a:fillRect/>
          </a:stretch>
        </p:blipFill>
        <p:spPr>
          <a:xfrm>
            <a:off x="6985656" y="3068960"/>
            <a:ext cx="1328420" cy="1990725"/>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Updating eco-tourism industry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000" b="1" dirty="0" smtClean="0">
                <a:latin typeface="Helvetica" pitchFamily="34" charset="0"/>
              </a:rPr>
              <a:t>Areas to monitor</a:t>
            </a:r>
            <a:endParaRPr lang="en-US" sz="2000" dirty="0" smtClean="0">
              <a:latin typeface="Helvetica" pitchFamily="34" charset="0"/>
            </a:endParaRPr>
          </a:p>
          <a:p>
            <a:pPr lvl="0">
              <a:spcBef>
                <a:spcPts val="600"/>
              </a:spcBef>
              <a:spcAft>
                <a:spcPts val="1200"/>
              </a:spcAft>
            </a:pPr>
            <a:r>
              <a:rPr lang="en-US" sz="2000" dirty="0" smtClean="0">
                <a:latin typeface="Helvetica" pitchFamily="34" charset="0"/>
              </a:rPr>
              <a:t>New eco-tourism developments</a:t>
            </a:r>
          </a:p>
          <a:p>
            <a:pPr lvl="0">
              <a:spcBef>
                <a:spcPts val="600"/>
              </a:spcBef>
              <a:spcAft>
                <a:spcPts val="1200"/>
              </a:spcAft>
            </a:pPr>
            <a:r>
              <a:rPr lang="en-US" sz="2000" dirty="0" smtClean="0">
                <a:latin typeface="Helvetica" pitchFamily="34" charset="0"/>
              </a:rPr>
              <a:t>New topics for discussion</a:t>
            </a:r>
          </a:p>
          <a:p>
            <a:pPr lvl="0">
              <a:spcBef>
                <a:spcPts val="600"/>
              </a:spcBef>
              <a:spcAft>
                <a:spcPts val="1200"/>
              </a:spcAft>
            </a:pPr>
            <a:r>
              <a:rPr lang="en-US" sz="2000" dirty="0" smtClean="0">
                <a:latin typeface="Helvetica" pitchFamily="34" charset="0"/>
              </a:rPr>
              <a:t>New laws and regulations relating to eco-tourism in your region</a:t>
            </a:r>
          </a:p>
          <a:p>
            <a:pPr lvl="0">
              <a:spcBef>
                <a:spcPts val="600"/>
              </a:spcBef>
              <a:spcAft>
                <a:spcPts val="1200"/>
              </a:spcAft>
            </a:pPr>
            <a:r>
              <a:rPr lang="en-US" sz="2000" dirty="0" smtClean="0">
                <a:latin typeface="Helvetica" pitchFamily="34" charset="0"/>
              </a:rPr>
              <a:t>New eco-tourism related products, services, </a:t>
            </a:r>
            <a:br>
              <a:rPr lang="en-US" sz="2000" dirty="0" smtClean="0">
                <a:latin typeface="Helvetica" pitchFamily="34" charset="0"/>
              </a:rPr>
            </a:br>
            <a:r>
              <a:rPr lang="en-US" sz="2000" dirty="0" smtClean="0">
                <a:latin typeface="Helvetica" pitchFamily="34" charset="0"/>
              </a:rPr>
              <a:t>tours and activities	</a:t>
            </a:r>
          </a:p>
          <a:p>
            <a:pPr lvl="0">
              <a:spcBef>
                <a:spcPts val="600"/>
              </a:spcBef>
              <a:spcAft>
                <a:spcPts val="1200"/>
              </a:spcAft>
            </a:pPr>
            <a:r>
              <a:rPr lang="en-US" sz="2000" dirty="0" smtClean="0">
                <a:latin typeface="Helvetica" pitchFamily="34" charset="0"/>
              </a:rPr>
              <a:t>Trends and selling prices of the products                                                           and services being offered by your business                      and competitors</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7" name="Picture 6" descr="shutterstock_121223512.jpg"/>
          <p:cNvPicPr/>
          <p:nvPr/>
        </p:nvPicPr>
        <p:blipFill>
          <a:blip r:embed="rId3" cstate="print"/>
          <a:stretch>
            <a:fillRect/>
          </a:stretch>
        </p:blipFill>
        <p:spPr>
          <a:xfrm>
            <a:off x="6383466" y="4293096"/>
            <a:ext cx="1971675" cy="1295400"/>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Updating eco-tourism industry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Areas to monitor</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Activities the opposition is undertaking to attract customers or to meet competition in the market place</a:t>
            </a:r>
          </a:p>
          <a:p>
            <a:pPr lvl="0">
              <a:spcBef>
                <a:spcPts val="600"/>
              </a:spcBef>
              <a:spcAft>
                <a:spcPts val="1200"/>
              </a:spcAft>
            </a:pPr>
            <a:r>
              <a:rPr lang="en-US" sz="2200" dirty="0" smtClean="0">
                <a:latin typeface="Helvetica" pitchFamily="34" charset="0"/>
              </a:rPr>
              <a:t>Changing and emerging trends</a:t>
            </a:r>
          </a:p>
          <a:p>
            <a:pPr lvl="0">
              <a:spcBef>
                <a:spcPts val="600"/>
              </a:spcBef>
              <a:spcAft>
                <a:spcPts val="1200"/>
              </a:spcAft>
            </a:pPr>
            <a:r>
              <a:rPr lang="en-US" sz="2200" dirty="0" smtClean="0">
                <a:latin typeface="Helvetica" pitchFamily="34" charset="0"/>
              </a:rPr>
              <a:t>New techniques and workplace practices</a:t>
            </a:r>
          </a:p>
          <a:p>
            <a:pPr lvl="0">
              <a:spcBef>
                <a:spcPts val="600"/>
              </a:spcBef>
              <a:spcAft>
                <a:spcPts val="1200"/>
              </a:spcAft>
            </a:pPr>
            <a:r>
              <a:rPr lang="en-US" sz="2200" dirty="0" smtClean="0">
                <a:latin typeface="Helvetica" pitchFamily="34" charset="0"/>
              </a:rPr>
              <a:t>New equipment and technology</a:t>
            </a:r>
          </a:p>
          <a:p>
            <a:pPr lvl="0">
              <a:spcBef>
                <a:spcPts val="600"/>
              </a:spcBef>
              <a:spcAft>
                <a:spcPts val="1200"/>
              </a:spcAft>
            </a:pPr>
            <a:r>
              <a:rPr lang="en-US" sz="2200" dirty="0" smtClean="0">
                <a:latin typeface="Helvetica" pitchFamily="34" charset="0"/>
              </a:rPr>
              <a:t>Initiatives relating to advertising,                                  marketing and promotion</a:t>
            </a:r>
          </a:p>
          <a:p>
            <a:pPr>
              <a:spcBef>
                <a:spcPts val="600"/>
              </a:spcBef>
              <a:spcAft>
                <a:spcPts val="1200"/>
              </a:spcAft>
            </a:pPr>
            <a:r>
              <a:rPr lang="en-US" sz="2200" dirty="0" smtClean="0">
                <a:latin typeface="Helvetica" pitchFamily="34" charset="0"/>
              </a:rPr>
              <a:t>Market research information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6" name="Picture 5" descr="hg.jpg"/>
          <p:cNvPicPr>
            <a:picLocks noChangeAspect="1"/>
          </p:cNvPicPr>
          <p:nvPr/>
        </p:nvPicPr>
        <p:blipFill>
          <a:blip r:embed="rId3" cstate="print"/>
          <a:stretch>
            <a:fillRect/>
          </a:stretch>
        </p:blipFill>
        <p:spPr>
          <a:xfrm>
            <a:off x="6372200" y="3068960"/>
            <a:ext cx="1903472" cy="1903472"/>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Monitor current issues of concern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900"/>
              </a:spcAft>
              <a:buNone/>
            </a:pPr>
            <a:r>
              <a:rPr lang="en-US" sz="2000" b="1" dirty="0" smtClean="0">
                <a:latin typeface="Helvetica" pitchFamily="34" charset="0"/>
              </a:rPr>
              <a:t>Causes of issues of concern</a:t>
            </a:r>
          </a:p>
          <a:p>
            <a:pPr lvl="0">
              <a:spcBef>
                <a:spcPts val="600"/>
              </a:spcBef>
              <a:spcAft>
                <a:spcPts val="900"/>
              </a:spcAft>
            </a:pPr>
            <a:r>
              <a:rPr lang="en-US" sz="2000" dirty="0" smtClean="0">
                <a:latin typeface="Helvetica" pitchFamily="34" charset="0"/>
              </a:rPr>
              <a:t>The state of the economy </a:t>
            </a:r>
          </a:p>
          <a:p>
            <a:pPr lvl="0">
              <a:spcBef>
                <a:spcPts val="600"/>
              </a:spcBef>
              <a:spcAft>
                <a:spcPts val="900"/>
              </a:spcAft>
            </a:pPr>
            <a:r>
              <a:rPr lang="en-US" sz="2000" dirty="0" smtClean="0">
                <a:latin typeface="Helvetica" pitchFamily="34" charset="0"/>
              </a:rPr>
              <a:t>Eco-tourism practices</a:t>
            </a:r>
          </a:p>
          <a:p>
            <a:pPr lvl="0">
              <a:spcBef>
                <a:spcPts val="600"/>
              </a:spcBef>
              <a:spcAft>
                <a:spcPts val="900"/>
              </a:spcAft>
            </a:pPr>
            <a:r>
              <a:rPr lang="en-US" sz="2000" dirty="0" smtClean="0">
                <a:latin typeface="Helvetica" pitchFamily="34" charset="0"/>
              </a:rPr>
              <a:t>Environmental considerations and concerns</a:t>
            </a:r>
          </a:p>
          <a:p>
            <a:pPr lvl="0">
              <a:spcBef>
                <a:spcPts val="600"/>
              </a:spcBef>
              <a:spcAft>
                <a:spcPts val="900"/>
              </a:spcAft>
            </a:pPr>
            <a:r>
              <a:rPr lang="en-US" sz="2000" dirty="0" smtClean="0">
                <a:latin typeface="Helvetica" pitchFamily="34" charset="0"/>
              </a:rPr>
              <a:t>Terrorism</a:t>
            </a:r>
          </a:p>
          <a:p>
            <a:pPr lvl="0">
              <a:spcBef>
                <a:spcPts val="600"/>
              </a:spcBef>
              <a:spcAft>
                <a:spcPts val="900"/>
              </a:spcAft>
            </a:pPr>
            <a:r>
              <a:rPr lang="en-US" sz="2000" dirty="0" smtClean="0">
                <a:latin typeface="Helvetica" pitchFamily="34" charset="0"/>
              </a:rPr>
              <a:t>Customer confidence</a:t>
            </a:r>
          </a:p>
          <a:p>
            <a:pPr lvl="0">
              <a:spcBef>
                <a:spcPts val="600"/>
              </a:spcBef>
              <a:spcAft>
                <a:spcPts val="900"/>
              </a:spcAft>
            </a:pPr>
            <a:r>
              <a:rPr lang="en-US" sz="2000" dirty="0" smtClean="0">
                <a:latin typeface="Helvetica" pitchFamily="34" charset="0"/>
              </a:rPr>
              <a:t>Weather</a:t>
            </a:r>
          </a:p>
          <a:p>
            <a:pPr lvl="0">
              <a:spcBef>
                <a:spcPts val="600"/>
              </a:spcBef>
              <a:spcAft>
                <a:spcPts val="900"/>
              </a:spcAft>
            </a:pPr>
            <a:r>
              <a:rPr lang="en-US" sz="2000" dirty="0" smtClean="0">
                <a:latin typeface="Helvetica" pitchFamily="34" charset="0"/>
              </a:rPr>
              <a:t>Technological and legislative changes that                                     impact on the industry</a:t>
            </a:r>
          </a:p>
          <a:p>
            <a:pPr>
              <a:spcBef>
                <a:spcPts val="2400"/>
              </a:spcBef>
              <a:spcAft>
                <a:spcPts val="2400"/>
              </a:spcAft>
              <a:buNone/>
            </a:pPr>
            <a:r>
              <a:rPr lang="en-US" sz="2000" b="1" i="1" u="sng" dirty="0" smtClean="0">
                <a:solidFill>
                  <a:srgbClr val="FF6600"/>
                </a:solidFill>
                <a:latin typeface="Helvetica" pitchFamily="34" charset="0"/>
              </a:rPr>
              <a:t>COMPLETE ACTIVITY 24</a:t>
            </a:r>
            <a:endParaRPr lang="en-US" sz="2000" i="1" u="sng"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7" name="Picture 6" descr="ie.jpg"/>
          <p:cNvPicPr>
            <a:picLocks noChangeAspect="1"/>
          </p:cNvPicPr>
          <p:nvPr/>
        </p:nvPicPr>
        <p:blipFill>
          <a:blip r:embed="rId3" cstate="print"/>
          <a:stretch>
            <a:fillRect/>
          </a:stretch>
        </p:blipFill>
        <p:spPr>
          <a:xfrm>
            <a:off x="6292570" y="4149080"/>
            <a:ext cx="2135412" cy="1600576"/>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Updating eco-tourism industry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600"/>
              </a:spcAft>
              <a:buNone/>
            </a:pPr>
            <a:r>
              <a:rPr lang="en-US" sz="1800" b="1" dirty="0" smtClean="0">
                <a:latin typeface="Helvetica" pitchFamily="34" charset="0"/>
              </a:rPr>
              <a:t>Methods to update industry knowledge</a:t>
            </a:r>
            <a:endParaRPr lang="en-US" sz="1800" dirty="0" smtClean="0">
              <a:latin typeface="Helvetica" pitchFamily="34" charset="0"/>
            </a:endParaRPr>
          </a:p>
          <a:p>
            <a:pPr lvl="0">
              <a:spcBef>
                <a:spcPts val="600"/>
              </a:spcBef>
              <a:spcAft>
                <a:spcPts val="600"/>
              </a:spcAft>
            </a:pPr>
            <a:r>
              <a:rPr lang="en-US" sz="1800" dirty="0" smtClean="0">
                <a:latin typeface="Helvetica" pitchFamily="34" charset="0"/>
              </a:rPr>
              <a:t>Formal and informal research </a:t>
            </a:r>
          </a:p>
          <a:p>
            <a:pPr lvl="0">
              <a:spcBef>
                <a:spcPts val="600"/>
              </a:spcBef>
              <a:spcAft>
                <a:spcPts val="600"/>
              </a:spcAft>
            </a:pPr>
            <a:r>
              <a:rPr lang="en-US" sz="1800" dirty="0" smtClean="0">
                <a:latin typeface="Helvetica" pitchFamily="34" charset="0"/>
              </a:rPr>
              <a:t>Media</a:t>
            </a:r>
          </a:p>
          <a:p>
            <a:pPr lvl="0">
              <a:spcBef>
                <a:spcPts val="600"/>
              </a:spcBef>
              <a:spcAft>
                <a:spcPts val="600"/>
              </a:spcAft>
            </a:pPr>
            <a:r>
              <a:rPr lang="en-US" sz="1800" dirty="0" smtClean="0">
                <a:latin typeface="Helvetica" pitchFamily="34" charset="0"/>
              </a:rPr>
              <a:t>Reference books</a:t>
            </a:r>
          </a:p>
          <a:p>
            <a:pPr lvl="0">
              <a:spcBef>
                <a:spcPts val="600"/>
              </a:spcBef>
              <a:spcAft>
                <a:spcPts val="600"/>
              </a:spcAft>
            </a:pPr>
            <a:r>
              <a:rPr lang="en-US" sz="1800" dirty="0" smtClean="0">
                <a:latin typeface="Helvetica" pitchFamily="34" charset="0"/>
              </a:rPr>
              <a:t>Industry associations and organisations</a:t>
            </a:r>
          </a:p>
          <a:p>
            <a:pPr lvl="0">
              <a:spcBef>
                <a:spcPts val="600"/>
              </a:spcBef>
              <a:spcAft>
                <a:spcPts val="600"/>
              </a:spcAft>
            </a:pPr>
            <a:r>
              <a:rPr lang="en-US" sz="1800" dirty="0" smtClean="0">
                <a:latin typeface="Helvetica" pitchFamily="34" charset="0"/>
              </a:rPr>
              <a:t>Industry journals</a:t>
            </a:r>
          </a:p>
          <a:p>
            <a:pPr lvl="0">
              <a:spcBef>
                <a:spcPts val="600"/>
              </a:spcBef>
              <a:spcAft>
                <a:spcPts val="600"/>
              </a:spcAft>
            </a:pPr>
            <a:r>
              <a:rPr lang="en-US" sz="1800" dirty="0" smtClean="0">
                <a:latin typeface="Helvetica" pitchFamily="34" charset="0"/>
              </a:rPr>
              <a:t>Personal experience</a:t>
            </a:r>
          </a:p>
          <a:p>
            <a:pPr lvl="0">
              <a:spcBef>
                <a:spcPts val="600"/>
              </a:spcBef>
              <a:spcAft>
                <a:spcPts val="600"/>
              </a:spcAft>
            </a:pPr>
            <a:r>
              <a:rPr lang="en-US" sz="1800" dirty="0" smtClean="0">
                <a:latin typeface="Helvetica" pitchFamily="34" charset="0"/>
              </a:rPr>
              <a:t>Educationals</a:t>
            </a:r>
          </a:p>
          <a:p>
            <a:pPr lvl="0">
              <a:spcBef>
                <a:spcPts val="600"/>
              </a:spcBef>
              <a:spcAft>
                <a:spcPts val="600"/>
              </a:spcAft>
            </a:pPr>
            <a:r>
              <a:rPr lang="en-US" sz="1800" dirty="0" smtClean="0">
                <a:latin typeface="Helvetica" pitchFamily="34" charset="0"/>
              </a:rPr>
              <a:t>Functions </a:t>
            </a:r>
          </a:p>
          <a:p>
            <a:pPr lvl="0">
              <a:spcBef>
                <a:spcPts val="600"/>
              </a:spcBef>
              <a:spcAft>
                <a:spcPts val="600"/>
              </a:spcAft>
            </a:pPr>
            <a:r>
              <a:rPr lang="en-US" sz="1800" dirty="0" smtClean="0">
                <a:latin typeface="Helvetica" pitchFamily="34" charset="0"/>
              </a:rPr>
              <a:t>On-the-job </a:t>
            </a:r>
          </a:p>
          <a:p>
            <a:pPr lvl="0">
              <a:spcBef>
                <a:spcPts val="600"/>
              </a:spcBef>
              <a:spcAft>
                <a:spcPts val="600"/>
              </a:spcAft>
            </a:pPr>
            <a:r>
              <a:rPr lang="en-US" sz="1800" dirty="0" smtClean="0">
                <a:latin typeface="Helvetica" pitchFamily="34" charset="0"/>
              </a:rPr>
              <a:t>Taking the time to visit the opposition </a:t>
            </a:r>
            <a:endParaRPr lang="en-US" sz="18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6" name="Picture 5" descr="shutterstock_115609774.jpg"/>
          <p:cNvPicPr/>
          <p:nvPr/>
        </p:nvPicPr>
        <p:blipFill>
          <a:blip r:embed="rId3" cstate="print"/>
          <a:stretch>
            <a:fillRect/>
          </a:stretch>
        </p:blipFill>
        <p:spPr>
          <a:xfrm>
            <a:off x="6228184" y="3895987"/>
            <a:ext cx="2162142" cy="1510039"/>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Updating eco-tourism industry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752528"/>
          </a:xfrm>
        </p:spPr>
        <p:txBody>
          <a:bodyPr>
            <a:normAutofit/>
          </a:bodyPr>
          <a:lstStyle/>
          <a:p>
            <a:pPr>
              <a:spcBef>
                <a:spcPts val="600"/>
              </a:spcBef>
              <a:spcAft>
                <a:spcPts val="1200"/>
              </a:spcAft>
              <a:buNone/>
            </a:pPr>
            <a:r>
              <a:rPr lang="en-US" sz="2200" b="1" dirty="0" smtClean="0">
                <a:latin typeface="Helvetica" pitchFamily="34" charset="0"/>
              </a:rPr>
              <a:t>Establishing industry networks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Developing your own industry network</a:t>
            </a:r>
          </a:p>
          <a:p>
            <a:pPr>
              <a:spcBef>
                <a:spcPts val="600"/>
              </a:spcBef>
              <a:spcAft>
                <a:spcPts val="1200"/>
              </a:spcAft>
            </a:pPr>
            <a:r>
              <a:rPr lang="en-US" sz="2200" dirty="0" smtClean="0">
                <a:latin typeface="Helvetica" pitchFamily="34" charset="0"/>
              </a:rPr>
              <a:t>Networking with industry colleagues</a:t>
            </a:r>
          </a:p>
          <a:p>
            <a:pPr>
              <a:spcBef>
                <a:spcPts val="600"/>
              </a:spcBef>
              <a:spcAft>
                <a:spcPts val="1200"/>
              </a:spcAft>
            </a:pPr>
            <a:r>
              <a:rPr lang="en-US" sz="2200" dirty="0" smtClean="0">
                <a:latin typeface="Helvetica" pitchFamily="34" charset="0"/>
              </a:rPr>
              <a:t>Attend conferences and seminars</a:t>
            </a:r>
            <a:endParaRPr lang="en-US" sz="2200" b="1" dirty="0" smtClean="0">
              <a:solidFill>
                <a:srgbClr val="FF6600"/>
              </a:solidFill>
              <a:latin typeface="Helvetica" pitchFamily="34" charset="0"/>
            </a:endParaRPr>
          </a:p>
          <a:p>
            <a:pPr>
              <a:spcBef>
                <a:spcPts val="600"/>
              </a:spcBef>
              <a:spcAft>
                <a:spcPts val="1200"/>
              </a:spcAft>
              <a:buNone/>
            </a:pPr>
            <a:endParaRPr lang="en-US" sz="2200" b="1" i="1" u="sng" dirty="0" smtClean="0">
              <a:solidFill>
                <a:srgbClr val="FF6600"/>
              </a:solidFill>
              <a:latin typeface="Helvetica" pitchFamily="34" charset="0"/>
            </a:endParaRPr>
          </a:p>
          <a:p>
            <a:pPr>
              <a:spcBef>
                <a:spcPts val="600"/>
              </a:spcBef>
              <a:spcAft>
                <a:spcPts val="1200"/>
              </a:spcAft>
              <a:buNone/>
            </a:pPr>
            <a:r>
              <a:rPr lang="en-US" sz="2200" b="1" i="1" u="sng" dirty="0" smtClean="0">
                <a:solidFill>
                  <a:srgbClr val="FF6600"/>
                </a:solidFill>
                <a:latin typeface="Helvetica" pitchFamily="34" charset="0"/>
              </a:rPr>
              <a:t>COMPLETE ACTIVITY 25</a:t>
            </a:r>
            <a:endParaRPr lang="en-US" sz="2200" i="1" u="sng"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6" name="Picture 5" descr="shutterstock_122825389.jpg"/>
          <p:cNvPicPr/>
          <p:nvPr/>
        </p:nvPicPr>
        <p:blipFill>
          <a:blip r:embed="rId3" cstate="print"/>
          <a:stretch>
            <a:fillRect/>
          </a:stretch>
        </p:blipFill>
        <p:spPr>
          <a:xfrm>
            <a:off x="6228184" y="2420888"/>
            <a:ext cx="1974210" cy="1320924"/>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Updating eco-tourism industry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US" sz="2200" b="1" dirty="0" smtClean="0">
                <a:latin typeface="Helvetica" pitchFamily="34" charset="0"/>
              </a:rPr>
              <a:t>Contact information services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E-newsletters </a:t>
            </a:r>
          </a:p>
          <a:p>
            <a:pPr lvl="0">
              <a:spcBef>
                <a:spcPts val="600"/>
              </a:spcBef>
              <a:spcAft>
                <a:spcPts val="1200"/>
              </a:spcAft>
            </a:pPr>
            <a:r>
              <a:rPr lang="en-US" sz="2200" dirty="0" smtClean="0">
                <a:latin typeface="Helvetica" pitchFamily="34" charset="0"/>
              </a:rPr>
              <a:t>Fact Sheets </a:t>
            </a:r>
          </a:p>
          <a:p>
            <a:pPr lvl="0">
              <a:spcBef>
                <a:spcPts val="600"/>
              </a:spcBef>
              <a:spcAft>
                <a:spcPts val="1200"/>
              </a:spcAft>
            </a:pPr>
            <a:r>
              <a:rPr lang="en-US" sz="2200" dirty="0" smtClean="0">
                <a:latin typeface="Helvetica" pitchFamily="34" charset="0"/>
              </a:rPr>
              <a:t>Updates </a:t>
            </a:r>
          </a:p>
          <a:p>
            <a:pPr lvl="0">
              <a:spcBef>
                <a:spcPts val="600"/>
              </a:spcBef>
              <a:spcAft>
                <a:spcPts val="1200"/>
              </a:spcAft>
            </a:pPr>
            <a:r>
              <a:rPr lang="en-US" sz="2200" dirty="0" smtClean="0">
                <a:latin typeface="Helvetica" pitchFamily="34" charset="0"/>
              </a:rPr>
              <a:t>Guides </a:t>
            </a:r>
          </a:p>
          <a:p>
            <a:pPr lvl="0">
              <a:spcBef>
                <a:spcPts val="600"/>
              </a:spcBef>
              <a:spcAft>
                <a:spcPts val="1200"/>
              </a:spcAft>
            </a:pPr>
            <a:r>
              <a:rPr lang="en-US" sz="2200" dirty="0" smtClean="0">
                <a:latin typeface="Helvetica" pitchFamily="34" charset="0"/>
              </a:rPr>
              <a:t>Information Sheets </a:t>
            </a:r>
          </a:p>
          <a:p>
            <a:pPr lvl="0">
              <a:spcBef>
                <a:spcPts val="600"/>
              </a:spcBef>
              <a:spcAft>
                <a:spcPts val="1200"/>
              </a:spcAft>
            </a:pPr>
            <a:r>
              <a:rPr lang="en-US" sz="2200" dirty="0" smtClean="0">
                <a:latin typeface="Helvetica" pitchFamily="34" charset="0"/>
              </a:rPr>
              <a:t>Over-the-phone advice from inspectors, field officers or other appropriate personnel within the agency </a:t>
            </a:r>
          </a:p>
          <a:p>
            <a:pPr>
              <a:spcBef>
                <a:spcPts val="600"/>
              </a:spcBef>
              <a:spcAft>
                <a:spcPts val="1200"/>
              </a:spcAft>
              <a:buNone/>
            </a:pPr>
            <a:endParaRPr lang="en-US" sz="2200" b="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7" name="Picture 6" descr="W258_info_shutterstock_156516218.jpg"/>
          <p:cNvPicPr/>
          <p:nvPr/>
        </p:nvPicPr>
        <p:blipFill>
          <a:blip r:embed="rId3" cstate="print"/>
          <a:stretch>
            <a:fillRect/>
          </a:stretch>
        </p:blipFill>
        <p:spPr>
          <a:xfrm>
            <a:off x="4355976" y="2492896"/>
            <a:ext cx="1789733" cy="1645717"/>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Updating eco-tourism industry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5085184"/>
          </a:xfrm>
        </p:spPr>
        <p:txBody>
          <a:bodyPr>
            <a:normAutofit/>
          </a:bodyPr>
          <a:lstStyle/>
          <a:p>
            <a:pPr>
              <a:spcBef>
                <a:spcPts val="600"/>
              </a:spcBef>
              <a:spcAft>
                <a:spcPts val="600"/>
              </a:spcAft>
              <a:buNone/>
            </a:pPr>
            <a:r>
              <a:rPr lang="en-US" sz="1800" b="1" dirty="0" smtClean="0">
                <a:latin typeface="Helvetica" pitchFamily="34" charset="0"/>
              </a:rPr>
              <a:t>Registering for information</a:t>
            </a:r>
            <a:endParaRPr lang="en-US" sz="1800" dirty="0" smtClean="0">
              <a:latin typeface="Helvetica" pitchFamily="34" charset="0"/>
            </a:endParaRPr>
          </a:p>
          <a:p>
            <a:pPr>
              <a:spcBef>
                <a:spcPts val="600"/>
              </a:spcBef>
              <a:spcAft>
                <a:spcPts val="600"/>
              </a:spcAft>
              <a:buNone/>
            </a:pPr>
            <a:r>
              <a:rPr lang="en-US" sz="1800" dirty="0" smtClean="0">
                <a:latin typeface="Helvetica" pitchFamily="34" charset="0"/>
              </a:rPr>
              <a:t>Registering for industry information may include:</a:t>
            </a:r>
          </a:p>
          <a:p>
            <a:pPr lvl="0">
              <a:spcBef>
                <a:spcPts val="600"/>
              </a:spcBef>
              <a:spcAft>
                <a:spcPts val="600"/>
              </a:spcAft>
            </a:pPr>
            <a:r>
              <a:rPr lang="en-US" sz="1800" dirty="0" smtClean="0">
                <a:latin typeface="Helvetica" pitchFamily="34" charset="0"/>
              </a:rPr>
              <a:t>Registering on-line </a:t>
            </a:r>
          </a:p>
          <a:p>
            <a:pPr lvl="0">
              <a:spcBef>
                <a:spcPts val="600"/>
              </a:spcBef>
              <a:spcAft>
                <a:spcPts val="600"/>
              </a:spcAft>
            </a:pPr>
            <a:r>
              <a:rPr lang="en-US" sz="1800" dirty="0" smtClean="0">
                <a:latin typeface="Helvetica" pitchFamily="34" charset="0"/>
              </a:rPr>
              <a:t>Paying a fee </a:t>
            </a:r>
          </a:p>
          <a:p>
            <a:pPr lvl="0">
              <a:spcBef>
                <a:spcPts val="600"/>
              </a:spcBef>
              <a:spcAft>
                <a:spcPts val="600"/>
              </a:spcAft>
            </a:pPr>
            <a:r>
              <a:rPr lang="en-US" sz="1800" dirty="0" smtClean="0">
                <a:latin typeface="Helvetica" pitchFamily="34" charset="0"/>
              </a:rPr>
              <a:t>Establishing required password and username, if required</a:t>
            </a:r>
          </a:p>
          <a:p>
            <a:pPr lvl="0">
              <a:spcBef>
                <a:spcPts val="600"/>
              </a:spcBef>
              <a:spcAft>
                <a:spcPts val="600"/>
              </a:spcAft>
            </a:pPr>
            <a:r>
              <a:rPr lang="en-US" sz="1800" dirty="0" smtClean="0">
                <a:latin typeface="Helvetica" pitchFamily="34" charset="0"/>
              </a:rPr>
              <a:t>Lodging host enterprise details with product information source</a:t>
            </a:r>
          </a:p>
          <a:p>
            <a:pPr lvl="0">
              <a:spcBef>
                <a:spcPts val="600"/>
              </a:spcBef>
              <a:spcAft>
                <a:spcPts val="600"/>
              </a:spcAft>
            </a:pPr>
            <a:r>
              <a:rPr lang="en-US" sz="1800" dirty="0" smtClean="0">
                <a:latin typeface="Helvetica" pitchFamily="34" charset="0"/>
              </a:rPr>
              <a:t>Establishing the bona fides of the host enterprise</a:t>
            </a:r>
          </a:p>
          <a:p>
            <a:pPr lvl="0">
              <a:spcBef>
                <a:spcPts val="600"/>
              </a:spcBef>
              <a:spcAft>
                <a:spcPts val="600"/>
              </a:spcAft>
            </a:pPr>
            <a:r>
              <a:rPr lang="en-US" sz="1800" dirty="0" smtClean="0">
                <a:latin typeface="Helvetica" pitchFamily="34" charset="0"/>
              </a:rPr>
              <a:t>Joining an association or body</a:t>
            </a:r>
          </a:p>
          <a:p>
            <a:pPr lvl="0">
              <a:spcBef>
                <a:spcPts val="600"/>
              </a:spcBef>
              <a:spcAft>
                <a:spcPts val="600"/>
              </a:spcAft>
            </a:pPr>
            <a:endParaRPr lang="en-US" sz="1800" dirty="0" smtClean="0">
              <a:latin typeface="Helvetica" pitchFamily="34" charset="0"/>
            </a:endParaRPr>
          </a:p>
          <a:p>
            <a:pPr>
              <a:spcBef>
                <a:spcPts val="600"/>
              </a:spcBef>
              <a:spcAft>
                <a:spcPts val="600"/>
              </a:spcAft>
              <a:buNone/>
            </a:pPr>
            <a:r>
              <a:rPr lang="en-US" sz="1800" b="1" i="1" u="sng" dirty="0" smtClean="0">
                <a:solidFill>
                  <a:srgbClr val="FF6600"/>
                </a:solidFill>
                <a:latin typeface="Helvetica" pitchFamily="34" charset="0"/>
              </a:rPr>
              <a:t>COMPLETE ACTIVITY 26</a:t>
            </a:r>
            <a:endParaRPr lang="en-US" sz="1800" i="1" u="sng" dirty="0" smtClean="0">
              <a:latin typeface="Helvetica" pitchFamily="34" charset="0"/>
            </a:endParaRPr>
          </a:p>
          <a:p>
            <a:pPr lvl="0">
              <a:spcBef>
                <a:spcPts val="600"/>
              </a:spcBef>
              <a:spcAft>
                <a:spcPts val="600"/>
              </a:spcAft>
            </a:pPr>
            <a:endParaRPr lang="en-US" sz="1800" dirty="0" smtClean="0">
              <a:latin typeface="Helvetica" pitchFamily="34" charset="0"/>
            </a:endParaRPr>
          </a:p>
          <a:p>
            <a:pPr>
              <a:spcBef>
                <a:spcPts val="600"/>
              </a:spcBef>
              <a:spcAft>
                <a:spcPts val="1200"/>
              </a:spcAft>
              <a:buNone/>
            </a:pPr>
            <a:endParaRPr lang="en-US" sz="1800" b="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6" name="Picture 5" descr="A8 shutterstock_149513465.jpg"/>
          <p:cNvPicPr/>
          <p:nvPr/>
        </p:nvPicPr>
        <p:blipFill>
          <a:blip r:embed="rId3" cstate="print"/>
          <a:stretch>
            <a:fillRect/>
          </a:stretch>
        </p:blipFill>
        <p:spPr>
          <a:xfrm>
            <a:off x="6526393" y="4365104"/>
            <a:ext cx="1800200" cy="1224136"/>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Sharing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Importance of sharing information</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When you have managed to gather updated information, knowledge or skills you must be prepared to share that information and incorporate it into you day-to-day work activities:</a:t>
            </a:r>
          </a:p>
          <a:p>
            <a:pPr>
              <a:spcBef>
                <a:spcPts val="600"/>
              </a:spcBef>
              <a:spcAft>
                <a:spcPts val="1200"/>
              </a:spcAft>
            </a:pPr>
            <a:r>
              <a:rPr lang="en-US" sz="2200" dirty="0" smtClean="0">
                <a:latin typeface="Helvetica" pitchFamily="34" charset="0"/>
              </a:rPr>
              <a:t>Who should you share information with?</a:t>
            </a:r>
          </a:p>
          <a:p>
            <a:pPr>
              <a:spcBef>
                <a:spcPts val="600"/>
              </a:spcBef>
              <a:spcAft>
                <a:spcPts val="1200"/>
              </a:spcAft>
            </a:pPr>
            <a:r>
              <a:rPr lang="en-US" sz="2200" dirty="0" smtClean="0">
                <a:latin typeface="Helvetica" pitchFamily="34" charset="0"/>
              </a:rPr>
              <a:t>What information do they need to know?</a:t>
            </a:r>
          </a:p>
          <a:p>
            <a:pPr lvl="0">
              <a:spcBef>
                <a:spcPts val="600"/>
              </a:spcBef>
              <a:spcAft>
                <a:spcPts val="600"/>
              </a:spcAft>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7" name="Picture 6" descr="je.jpg"/>
          <p:cNvPicPr/>
          <p:nvPr/>
        </p:nvPicPr>
        <p:blipFill>
          <a:blip r:embed="rId3" cstate="print"/>
          <a:stretch>
            <a:fillRect/>
          </a:stretch>
        </p:blipFill>
        <p:spPr>
          <a:xfrm>
            <a:off x="6421604" y="4437112"/>
            <a:ext cx="1990725" cy="133350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Sharing general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Sharing general industry knowledge</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One-on-one basis discussions</a:t>
            </a:r>
          </a:p>
          <a:p>
            <a:pPr lvl="0">
              <a:spcBef>
                <a:spcPts val="600"/>
              </a:spcBef>
              <a:spcAft>
                <a:spcPts val="1200"/>
              </a:spcAft>
            </a:pPr>
            <a:r>
              <a:rPr lang="en-US" sz="2200" dirty="0" smtClean="0">
                <a:latin typeface="Helvetica" pitchFamily="34" charset="0"/>
              </a:rPr>
              <a:t>Staff briefings or meetings</a:t>
            </a:r>
          </a:p>
          <a:p>
            <a:pPr lvl="0">
              <a:spcBef>
                <a:spcPts val="600"/>
              </a:spcBef>
              <a:spcAft>
                <a:spcPts val="1200"/>
              </a:spcAft>
            </a:pPr>
            <a:r>
              <a:rPr lang="en-US" sz="2200" dirty="0" smtClean="0">
                <a:latin typeface="Helvetica" pitchFamily="34" charset="0"/>
              </a:rPr>
              <a:t>E-mail</a:t>
            </a:r>
          </a:p>
          <a:p>
            <a:pPr lvl="0">
              <a:spcBef>
                <a:spcPts val="600"/>
              </a:spcBef>
              <a:spcAft>
                <a:spcPts val="1200"/>
              </a:spcAft>
            </a:pPr>
            <a:r>
              <a:rPr lang="en-US" sz="2200" dirty="0" smtClean="0">
                <a:latin typeface="Helvetica" pitchFamily="34" charset="0"/>
              </a:rPr>
              <a:t>Prepare a short handout</a:t>
            </a:r>
          </a:p>
          <a:p>
            <a:pPr lvl="0">
              <a:spcBef>
                <a:spcPts val="600"/>
              </a:spcBef>
              <a:spcAft>
                <a:spcPts val="1200"/>
              </a:spcAft>
            </a:pPr>
            <a:r>
              <a:rPr lang="en-US" sz="2200" dirty="0" smtClean="0">
                <a:latin typeface="Helvetica" pitchFamily="34" charset="0"/>
              </a:rPr>
              <a:t>Preparing posters to share the information</a:t>
            </a:r>
          </a:p>
          <a:p>
            <a:pPr lvl="0">
              <a:spcBef>
                <a:spcPts val="600"/>
              </a:spcBef>
              <a:spcAft>
                <a:spcPts val="1200"/>
              </a:spcAft>
            </a:pPr>
            <a:r>
              <a:rPr lang="en-US" sz="2200" dirty="0" smtClean="0">
                <a:latin typeface="Helvetica" pitchFamily="34" charset="0"/>
              </a:rPr>
              <a:t>Producing handouts </a:t>
            </a:r>
          </a:p>
          <a:p>
            <a:pPr lvl="0">
              <a:spcBef>
                <a:spcPts val="600"/>
              </a:spcBef>
              <a:spcAft>
                <a:spcPts val="600"/>
              </a:spcAft>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6" name="Picture 5" descr="10.jpg"/>
          <p:cNvPicPr/>
          <p:nvPr/>
        </p:nvPicPr>
        <p:blipFill>
          <a:blip r:embed="rId3" cstate="print"/>
          <a:stretch>
            <a:fillRect/>
          </a:stretch>
        </p:blipFill>
        <p:spPr>
          <a:xfrm>
            <a:off x="6565983" y="4631765"/>
            <a:ext cx="1876425" cy="1257300"/>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Sharing general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Incorporating knowledge into everyday practice</a:t>
            </a:r>
          </a:p>
          <a:p>
            <a:pPr lvl="0">
              <a:spcBef>
                <a:spcPts val="600"/>
              </a:spcBef>
              <a:spcAft>
                <a:spcPts val="1200"/>
              </a:spcAft>
            </a:pPr>
            <a:r>
              <a:rPr lang="en-US" sz="2200" dirty="0" smtClean="0">
                <a:latin typeface="Helvetica" pitchFamily="34" charset="0"/>
              </a:rPr>
              <a:t>Working in accordance with new or revised requirements</a:t>
            </a:r>
          </a:p>
          <a:p>
            <a:pPr lvl="0">
              <a:spcBef>
                <a:spcPts val="600"/>
              </a:spcBef>
              <a:spcAft>
                <a:spcPts val="1200"/>
              </a:spcAft>
            </a:pPr>
            <a:r>
              <a:rPr lang="en-US" sz="2200" dirty="0" smtClean="0">
                <a:latin typeface="Helvetica" pitchFamily="34" charset="0"/>
              </a:rPr>
              <a:t>Using new knowledge to modify personal work practices</a:t>
            </a:r>
          </a:p>
          <a:p>
            <a:pPr lvl="0">
              <a:spcBef>
                <a:spcPts val="600"/>
              </a:spcBef>
              <a:spcAft>
                <a:spcPts val="1200"/>
              </a:spcAft>
            </a:pPr>
            <a:r>
              <a:rPr lang="en-US" sz="2200" dirty="0" smtClean="0">
                <a:latin typeface="Helvetica" pitchFamily="34" charset="0"/>
              </a:rPr>
              <a:t>Updating printed materials</a:t>
            </a:r>
          </a:p>
          <a:p>
            <a:pPr lvl="0">
              <a:spcBef>
                <a:spcPts val="600"/>
              </a:spcBef>
              <a:spcAft>
                <a:spcPts val="1200"/>
              </a:spcAft>
            </a:pPr>
            <a:r>
              <a:rPr lang="en-US" sz="2200" dirty="0" smtClean="0">
                <a:latin typeface="Helvetica" pitchFamily="34" charset="0"/>
              </a:rPr>
              <a:t>Supplying information to customers that                         incorporate the new knowledge</a:t>
            </a:r>
          </a:p>
          <a:p>
            <a:pPr lvl="0">
              <a:spcBef>
                <a:spcPts val="600"/>
              </a:spcBef>
              <a:spcAft>
                <a:spcPts val="600"/>
              </a:spcAft>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8" name="Picture 7" descr="ke.jpg"/>
          <p:cNvPicPr>
            <a:picLocks noChangeAspect="1"/>
          </p:cNvPicPr>
          <p:nvPr/>
        </p:nvPicPr>
        <p:blipFill>
          <a:blip r:embed="rId3" cstate="print"/>
          <a:stretch>
            <a:fillRect/>
          </a:stretch>
        </p:blipFill>
        <p:spPr>
          <a:xfrm>
            <a:off x="6948264" y="3501008"/>
            <a:ext cx="1387216" cy="2074649"/>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Sharing specific tours and activities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Sharing specific tours and activities information</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As mentioned, whether in the course of normal operations or due to changes made to tours and activities, information must be communicated with a wide range of vested stakeholders:</a:t>
            </a:r>
          </a:p>
          <a:p>
            <a:pPr>
              <a:spcBef>
                <a:spcPts val="600"/>
              </a:spcBef>
              <a:spcAft>
                <a:spcPts val="1200"/>
              </a:spcAft>
            </a:pPr>
            <a:r>
              <a:rPr lang="en-US" sz="2200" dirty="0" smtClean="0">
                <a:latin typeface="Helvetica" pitchFamily="34" charset="0"/>
              </a:rPr>
              <a:t>What are examples of ‘invested stakeholders’?</a:t>
            </a:r>
          </a:p>
          <a:p>
            <a:pPr lvl="0">
              <a:spcBef>
                <a:spcPts val="600"/>
              </a:spcBef>
              <a:spcAft>
                <a:spcPts val="600"/>
              </a:spcAft>
            </a:pP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7" name="Picture 6" descr="80.jpg"/>
          <p:cNvPicPr/>
          <p:nvPr/>
        </p:nvPicPr>
        <p:blipFill>
          <a:blip r:embed="rId3" cstate="print"/>
          <a:stretch>
            <a:fillRect/>
          </a:stretch>
        </p:blipFill>
        <p:spPr>
          <a:xfrm>
            <a:off x="2627784" y="4293096"/>
            <a:ext cx="2304256" cy="1586851"/>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Sharing specific tours and activities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157192"/>
          </a:xfrm>
        </p:spPr>
        <p:txBody>
          <a:bodyPr>
            <a:normAutofit/>
          </a:bodyPr>
          <a:lstStyle/>
          <a:p>
            <a:pPr>
              <a:spcBef>
                <a:spcPts val="600"/>
              </a:spcBef>
              <a:spcAft>
                <a:spcPts val="600"/>
              </a:spcAft>
              <a:buNone/>
            </a:pPr>
            <a:r>
              <a:rPr lang="en-US" sz="2000" b="1" dirty="0" smtClean="0">
                <a:latin typeface="Helvetica" pitchFamily="34" charset="0"/>
              </a:rPr>
              <a:t>Types of stakeholders</a:t>
            </a:r>
          </a:p>
          <a:p>
            <a:pPr>
              <a:spcBef>
                <a:spcPts val="600"/>
              </a:spcBef>
              <a:spcAft>
                <a:spcPts val="600"/>
              </a:spcAft>
            </a:pPr>
            <a:r>
              <a:rPr lang="en-US" sz="2000" dirty="0" smtClean="0">
                <a:latin typeface="Helvetica" pitchFamily="34" charset="0"/>
              </a:rPr>
              <a:t>Host communities</a:t>
            </a:r>
          </a:p>
          <a:p>
            <a:pPr>
              <a:spcBef>
                <a:spcPts val="600"/>
              </a:spcBef>
              <a:spcAft>
                <a:spcPts val="600"/>
              </a:spcAft>
            </a:pPr>
            <a:r>
              <a:rPr lang="en-US" sz="2000" dirty="0" smtClean="0">
                <a:latin typeface="Helvetica" pitchFamily="34" charset="0"/>
              </a:rPr>
              <a:t>Tour operator employees who are also part of the tour group</a:t>
            </a:r>
          </a:p>
          <a:p>
            <a:pPr>
              <a:spcBef>
                <a:spcPts val="600"/>
              </a:spcBef>
              <a:spcAft>
                <a:spcPts val="600"/>
              </a:spcAft>
            </a:pPr>
            <a:r>
              <a:rPr lang="en-US" sz="2000" dirty="0" smtClean="0">
                <a:latin typeface="Helvetica" pitchFamily="34" charset="0"/>
              </a:rPr>
              <a:t>Third party providers, joint venture partner and agencies</a:t>
            </a:r>
          </a:p>
          <a:p>
            <a:pPr>
              <a:spcBef>
                <a:spcPts val="600"/>
              </a:spcBef>
              <a:spcAft>
                <a:spcPts val="600"/>
              </a:spcAft>
            </a:pPr>
            <a:r>
              <a:rPr lang="en-US" sz="2000" dirty="0" smtClean="0">
                <a:latin typeface="Helvetica" pitchFamily="34" charset="0"/>
              </a:rPr>
              <a:t>Local and independent guides </a:t>
            </a:r>
          </a:p>
          <a:p>
            <a:pPr>
              <a:spcBef>
                <a:spcPts val="600"/>
              </a:spcBef>
              <a:spcAft>
                <a:spcPts val="600"/>
              </a:spcAft>
            </a:pPr>
            <a:r>
              <a:rPr lang="en-US" sz="2000" dirty="0" smtClean="0">
                <a:latin typeface="Helvetica" pitchFamily="34" charset="0"/>
              </a:rPr>
              <a:t>Designated contacts at destinations,                                             suppliers and venues </a:t>
            </a:r>
          </a:p>
          <a:p>
            <a:pPr>
              <a:spcBef>
                <a:spcPts val="600"/>
              </a:spcBef>
              <a:spcAft>
                <a:spcPts val="600"/>
              </a:spcAft>
            </a:pPr>
            <a:r>
              <a:rPr lang="en-US" sz="2000" dirty="0" smtClean="0">
                <a:latin typeface="Helvetica" pitchFamily="34" charset="0"/>
              </a:rPr>
              <a:t>Land owners and land managers </a:t>
            </a:r>
          </a:p>
          <a:p>
            <a:pPr>
              <a:spcBef>
                <a:spcPts val="600"/>
              </a:spcBef>
              <a:spcAft>
                <a:spcPts val="600"/>
              </a:spcAft>
            </a:pPr>
            <a:r>
              <a:rPr lang="en-US" sz="2000" dirty="0" smtClean="0">
                <a:latin typeface="Helvetica" pitchFamily="34" charset="0"/>
              </a:rPr>
              <a:t>Representatives of statutory authorities </a:t>
            </a:r>
          </a:p>
          <a:p>
            <a:pPr>
              <a:spcBef>
                <a:spcPts val="600"/>
              </a:spcBef>
              <a:spcAft>
                <a:spcPts val="1200"/>
              </a:spcAft>
              <a:buNone/>
            </a:pPr>
            <a:endParaRPr lang="en-US" sz="2000" b="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8" name="Picture 7" descr="92.jpg"/>
          <p:cNvPicPr/>
          <p:nvPr/>
        </p:nvPicPr>
        <p:blipFill>
          <a:blip r:embed="rId3" cstate="print"/>
          <a:stretch>
            <a:fillRect/>
          </a:stretch>
        </p:blipFill>
        <p:spPr>
          <a:xfrm>
            <a:off x="6444208" y="4293096"/>
            <a:ext cx="1943100" cy="129540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Sharing specific tours and activities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US" sz="2000" b="1" dirty="0" smtClean="0">
                <a:latin typeface="Helvetica" pitchFamily="34" charset="0"/>
              </a:rPr>
              <a:t>Nature of communication with stakeholders</a:t>
            </a:r>
          </a:p>
          <a:p>
            <a:pPr>
              <a:spcBef>
                <a:spcPts val="600"/>
              </a:spcBef>
              <a:spcAft>
                <a:spcPts val="600"/>
              </a:spcAft>
            </a:pPr>
            <a:r>
              <a:rPr lang="en-US" sz="2000" dirty="0" smtClean="0">
                <a:latin typeface="Helvetica" pitchFamily="34" charset="0"/>
              </a:rPr>
              <a:t>Responding to requests from colleagues for assistance </a:t>
            </a:r>
          </a:p>
          <a:p>
            <a:pPr>
              <a:spcBef>
                <a:spcPts val="600"/>
              </a:spcBef>
              <a:spcAft>
                <a:spcPts val="600"/>
              </a:spcAft>
            </a:pPr>
            <a:r>
              <a:rPr lang="en-US" sz="2000" dirty="0" smtClean="0">
                <a:latin typeface="Helvetica" pitchFamily="34" charset="0"/>
              </a:rPr>
              <a:t>Asking them for assistance </a:t>
            </a:r>
          </a:p>
          <a:p>
            <a:pPr>
              <a:spcBef>
                <a:spcPts val="600"/>
              </a:spcBef>
              <a:spcAft>
                <a:spcPts val="600"/>
              </a:spcAft>
            </a:pPr>
            <a:r>
              <a:rPr lang="en-US" sz="2000" dirty="0" smtClean="0">
                <a:latin typeface="Helvetica" pitchFamily="34" charset="0"/>
              </a:rPr>
              <a:t>Liaising with individuals and properties </a:t>
            </a:r>
          </a:p>
          <a:p>
            <a:pPr>
              <a:spcBef>
                <a:spcPts val="600"/>
              </a:spcBef>
              <a:spcAft>
                <a:spcPts val="600"/>
              </a:spcAft>
            </a:pPr>
            <a:r>
              <a:rPr lang="en-US" sz="2000" dirty="0" smtClean="0">
                <a:latin typeface="Helvetica" pitchFamily="34" charset="0"/>
              </a:rPr>
              <a:t>Providing support for the work of others </a:t>
            </a:r>
          </a:p>
          <a:p>
            <a:pPr>
              <a:spcBef>
                <a:spcPts val="600"/>
              </a:spcBef>
              <a:spcAft>
                <a:spcPts val="600"/>
              </a:spcAft>
            </a:pPr>
            <a:r>
              <a:rPr lang="en-US" sz="2000" dirty="0" smtClean="0">
                <a:latin typeface="Helvetica" pitchFamily="34" charset="0"/>
              </a:rPr>
              <a:t>Anticipating requests from colleagues </a:t>
            </a:r>
          </a:p>
          <a:p>
            <a:pPr>
              <a:spcBef>
                <a:spcPts val="600"/>
              </a:spcBef>
              <a:spcAft>
                <a:spcPts val="600"/>
              </a:spcAft>
            </a:pPr>
            <a:r>
              <a:rPr lang="en-US" sz="2000" dirty="0" smtClean="0">
                <a:latin typeface="Helvetica" pitchFamily="34" charset="0"/>
              </a:rPr>
              <a:t>Communicating with venues, sites,                            destinations and providers </a:t>
            </a:r>
          </a:p>
          <a:p>
            <a:pPr>
              <a:spcBef>
                <a:spcPts val="600"/>
              </a:spcBef>
              <a:spcAft>
                <a:spcPts val="600"/>
              </a:spcAft>
            </a:pPr>
            <a:r>
              <a:rPr lang="en-US" sz="2000" dirty="0" smtClean="0">
                <a:latin typeface="Helvetica" pitchFamily="34" charset="0"/>
              </a:rPr>
              <a:t>Making payment for services and products </a:t>
            </a:r>
          </a:p>
          <a:p>
            <a:pPr>
              <a:spcBef>
                <a:spcPts val="600"/>
              </a:spcBef>
              <a:spcAft>
                <a:spcPts val="600"/>
              </a:spcAft>
            </a:pPr>
            <a:endParaRPr lang="en-US" sz="2000" dirty="0" smtClean="0">
              <a:latin typeface="Helvetica" pitchFamily="34" charset="0"/>
            </a:endParaRPr>
          </a:p>
          <a:p>
            <a:pPr>
              <a:spcBef>
                <a:spcPts val="600"/>
              </a:spcBef>
              <a:spcAft>
                <a:spcPts val="600"/>
              </a:spcAft>
              <a:buNone/>
            </a:pPr>
            <a:r>
              <a:rPr lang="en-US" sz="2000" b="1" i="1" u="sng" dirty="0" smtClean="0">
                <a:solidFill>
                  <a:srgbClr val="FF6600"/>
                </a:solidFill>
                <a:latin typeface="Helvetica" pitchFamily="34" charset="0"/>
              </a:rPr>
              <a:t>COMPLETE ACTIVITY 27</a:t>
            </a:r>
            <a:endParaRPr lang="en-US" sz="2000" i="1" u="sng" dirty="0" smtClean="0">
              <a:latin typeface="Helvetica" pitchFamily="34" charset="0"/>
            </a:endParaRPr>
          </a:p>
          <a:p>
            <a:pPr>
              <a:spcBef>
                <a:spcPts val="600"/>
              </a:spcBef>
              <a:spcAft>
                <a:spcPts val="600"/>
              </a:spcAft>
              <a:buNone/>
            </a:pPr>
            <a:endParaRPr lang="en-US" sz="2000" b="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6" name="Picture 5" descr="hu.jpg"/>
          <p:cNvPicPr/>
          <p:nvPr/>
        </p:nvPicPr>
        <p:blipFill>
          <a:blip r:embed="rId3" cstate="print"/>
          <a:stretch>
            <a:fillRect/>
          </a:stretch>
        </p:blipFill>
        <p:spPr>
          <a:xfrm>
            <a:off x="6444208" y="4149080"/>
            <a:ext cx="1947933" cy="1440160"/>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556792"/>
            <a:ext cx="7776864" cy="4680520"/>
          </a:xfrm>
        </p:spPr>
        <p:txBody>
          <a:bodyPr>
            <a:normAutofit/>
          </a:bodyPr>
          <a:lstStyle/>
          <a:p>
            <a:pPr algn="ctr">
              <a:buNone/>
            </a:pPr>
            <a:r>
              <a:rPr lang="en-AU" sz="4000" b="1" dirty="0" smtClean="0">
                <a:solidFill>
                  <a:srgbClr val="FF6600"/>
                </a:solidFill>
              </a:rPr>
              <a:t>Finish:</a:t>
            </a:r>
          </a:p>
          <a:p>
            <a:pPr algn="ctr">
              <a:buNone/>
            </a:pPr>
            <a:r>
              <a:rPr lang="en-AU" sz="4000" b="1" i="1" dirty="0">
                <a:solidFill>
                  <a:srgbClr val="FF6600"/>
                </a:solidFill>
              </a:rPr>
              <a:t>Thank you!</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5" name="Picture 4" descr="shutterstock_118921213.jpg"/>
          <p:cNvPicPr>
            <a:picLocks noChangeAspect="1"/>
          </p:cNvPicPr>
          <p:nvPr/>
        </p:nvPicPr>
        <p:blipFill>
          <a:blip r:embed="rId3" cstate="print"/>
          <a:stretch>
            <a:fillRect/>
          </a:stretch>
        </p:blipFill>
        <p:spPr>
          <a:xfrm>
            <a:off x="2771800" y="3140968"/>
            <a:ext cx="3238740" cy="2160240"/>
          </a:xfrm>
          <a:prstGeom prst="ellipse">
            <a:avLst/>
          </a:prstGeom>
          <a:ln>
            <a:noFill/>
          </a:ln>
          <a:effectLst>
            <a:softEdge rad="112500"/>
          </a:effectLst>
        </p:spPr>
      </p:pic>
    </p:spTree>
    <p:extLst>
      <p:ext uri="{BB962C8B-B14F-4D97-AF65-F5344CB8AC3E}">
        <p14:creationId xmlns:p14="http://schemas.microsoft.com/office/powerpoint/2010/main" val="416552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2315</TotalTime>
  <Words>7796</Words>
  <Application>Microsoft Office PowerPoint</Application>
  <PresentationFormat>On-screen Show (4:3)</PresentationFormat>
  <Paragraphs>1995</Paragraphs>
  <Slides>135</Slides>
  <Notes>135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135</vt:i4>
      </vt:variant>
    </vt:vector>
  </HeadingPairs>
  <TitlesOfParts>
    <vt:vector size="141" baseType="lpstr">
      <vt:lpstr>Arial</vt:lpstr>
      <vt:lpstr>Calibri</vt:lpstr>
      <vt:lpstr>Franklin Gothic Book</vt:lpstr>
      <vt:lpstr>Helvetica</vt:lpstr>
      <vt:lpstr>Wingdings 2</vt:lpstr>
      <vt:lpstr>PPT_Tour_operation_templates_130214</vt:lpstr>
      <vt:lpstr>DEVELOP INTERPRETIVE CONTENT FOR ECO-TOURISM ACTIVITIES</vt:lpstr>
      <vt:lpstr>Subject elements</vt:lpstr>
      <vt:lpstr>Assessment</vt:lpstr>
      <vt:lpstr>PowerPoint Presentation</vt:lpstr>
      <vt:lpstr>Research information</vt:lpstr>
      <vt:lpstr>Research information</vt:lpstr>
      <vt:lpstr>Interpretive guiding</vt:lpstr>
      <vt:lpstr>Interpretive guiding</vt:lpstr>
      <vt:lpstr>Eco-tourism</vt:lpstr>
      <vt:lpstr>Eco-tourism</vt:lpstr>
      <vt:lpstr>Interpretive guiding</vt:lpstr>
      <vt:lpstr>Interpretive techniques</vt:lpstr>
      <vt:lpstr>Interpretive techniques</vt:lpstr>
      <vt:lpstr>Interpretive techniques</vt:lpstr>
      <vt:lpstr>Interpretive guiding considerations</vt:lpstr>
      <vt:lpstr>Interpretive guiding features</vt:lpstr>
      <vt:lpstr>Interpretive guiding features</vt:lpstr>
      <vt:lpstr>Sources of information</vt:lpstr>
      <vt:lpstr>Sources of information</vt:lpstr>
      <vt:lpstr>Understanding tour requirements</vt:lpstr>
      <vt:lpstr>Understanding tour requirements</vt:lpstr>
      <vt:lpstr>Determine customer interests</vt:lpstr>
      <vt:lpstr>Determine customer interests</vt:lpstr>
      <vt:lpstr>Develop theme and message</vt:lpstr>
      <vt:lpstr>Develop theme and message</vt:lpstr>
      <vt:lpstr>Develop theme and message</vt:lpstr>
      <vt:lpstr>Develop theme and message</vt:lpstr>
      <vt:lpstr>Develop theme and message</vt:lpstr>
      <vt:lpstr>Use research techniques to obtain information</vt:lpstr>
      <vt:lpstr>Use research techniques to obtain information</vt:lpstr>
      <vt:lpstr>Use research techniques to obtain information</vt:lpstr>
      <vt:lpstr>Use research techniques to obtain information</vt:lpstr>
      <vt:lpstr>Use research techniques to obtain information</vt:lpstr>
      <vt:lpstr>Use research techniques to obtain information</vt:lpstr>
      <vt:lpstr>Use research techniques to obtain information</vt:lpstr>
      <vt:lpstr>Classify and store information</vt:lpstr>
      <vt:lpstr>Classify and store information</vt:lpstr>
      <vt:lpstr>Classify and store information</vt:lpstr>
      <vt:lpstr>Classify and store information</vt:lpstr>
      <vt:lpstr>Classify and store information</vt:lpstr>
      <vt:lpstr>Verify information</vt:lpstr>
      <vt:lpstr>Verify information</vt:lpstr>
      <vt:lpstr>Learn required information</vt:lpstr>
      <vt:lpstr>Learn required information</vt:lpstr>
      <vt:lpstr>Learn required information</vt:lpstr>
      <vt:lpstr>Learn required information</vt:lpstr>
      <vt:lpstr>PowerPoint Presentation</vt:lpstr>
      <vt:lpstr>Prepare an eco-tourism activity</vt:lpstr>
      <vt:lpstr>Prepare an eco-tourism activity</vt:lpstr>
      <vt:lpstr>Develop eco-tourism activities</vt:lpstr>
      <vt:lpstr>Develop eco-tourism activities</vt:lpstr>
      <vt:lpstr>Develop eco-tourism activities</vt:lpstr>
      <vt:lpstr>Develop eco-tourism activities</vt:lpstr>
      <vt:lpstr>Develop eco-tourism activities</vt:lpstr>
      <vt:lpstr>Develop eco-tourism activities</vt:lpstr>
      <vt:lpstr>Develop eco-tourism activities</vt:lpstr>
      <vt:lpstr>Develop eco-tourism activities</vt:lpstr>
      <vt:lpstr>Develop eco-tourism activities</vt:lpstr>
      <vt:lpstr>Develop eco-tourism activities</vt:lpstr>
      <vt:lpstr>Acquire physical resources </vt:lpstr>
      <vt:lpstr>Acquire physical resources </vt:lpstr>
      <vt:lpstr>Acquire physical resources </vt:lpstr>
      <vt:lpstr>Acquire physical resources </vt:lpstr>
      <vt:lpstr>Acquire physical resources </vt:lpstr>
      <vt:lpstr>Acquire physical resources </vt:lpstr>
      <vt:lpstr>Acquire physical resources </vt:lpstr>
      <vt:lpstr>Acquire physical resources </vt:lpstr>
      <vt:lpstr>Generate scripted commentaries </vt:lpstr>
      <vt:lpstr>Generate scripted commentaries </vt:lpstr>
      <vt:lpstr>Generate scripted commentaries </vt:lpstr>
      <vt:lpstr>Generate scripted commentaries </vt:lpstr>
      <vt:lpstr>Generate scripted commentaries </vt:lpstr>
      <vt:lpstr>Generate scripted commentaries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Trial developed eco-tourism activities </vt:lpstr>
      <vt:lpstr>Use prepared aids and materials</vt:lpstr>
      <vt:lpstr>Use prepared aids and materials</vt:lpstr>
      <vt:lpstr>Use prepared aids and materials</vt:lpstr>
      <vt:lpstr>Use prepared aids and materials</vt:lpstr>
      <vt:lpstr>Anticipate issues</vt:lpstr>
      <vt:lpstr>Revise eco-tourism activities</vt:lpstr>
      <vt:lpstr>Revise eco-tourism activities</vt:lpstr>
      <vt:lpstr>Revise eco-tourism activities</vt:lpstr>
      <vt:lpstr>Revise eco-tourism activities</vt:lpstr>
      <vt:lpstr>Revise eco-tourism activities</vt:lpstr>
      <vt:lpstr>Revise eco-tourism activities</vt:lpstr>
      <vt:lpstr>Revise eco-tourism activities</vt:lpstr>
      <vt:lpstr>Revise eco-tourism activities</vt:lpstr>
      <vt:lpstr>Revise eco-tourism activities</vt:lpstr>
      <vt:lpstr>Revise eco-tourism activities</vt:lpstr>
      <vt:lpstr>Seek feedback from customers</vt:lpstr>
      <vt:lpstr>Revise eco-tourism activities</vt:lpstr>
      <vt:lpstr>Revise eco-tourism activities</vt:lpstr>
      <vt:lpstr>Revise eco-tourism activities</vt:lpstr>
      <vt:lpstr>Revise eco-tourism activities</vt:lpstr>
      <vt:lpstr>Promote prepared eco-tourism activities</vt:lpstr>
      <vt:lpstr>Promote prepared eco-tourism activities</vt:lpstr>
      <vt:lpstr>Promote prepared eco-tourism activities</vt:lpstr>
      <vt:lpstr>Promote prepared eco-tourism activities</vt:lpstr>
      <vt:lpstr>PowerPoint Presentation</vt:lpstr>
      <vt:lpstr>Update knowledge and ecotourism activities</vt:lpstr>
      <vt:lpstr>Updating eco-tourism industry knowledge</vt:lpstr>
      <vt:lpstr>Updating eco-tourism industry knowledge</vt:lpstr>
      <vt:lpstr>Updating eco-tourism industry knowledge</vt:lpstr>
      <vt:lpstr>Monitor current issues of concern</vt:lpstr>
      <vt:lpstr>Updating eco-tourism industry knowledge</vt:lpstr>
      <vt:lpstr>Updating eco-tourism industry knowledge</vt:lpstr>
      <vt:lpstr>Updating eco-tourism industry knowledge</vt:lpstr>
      <vt:lpstr>Updating eco-tourism industry knowledge</vt:lpstr>
      <vt:lpstr>Sharing information</vt:lpstr>
      <vt:lpstr>Sharing general information</vt:lpstr>
      <vt:lpstr>Sharing general information</vt:lpstr>
      <vt:lpstr>Sharing specific tours and activities information</vt:lpstr>
      <vt:lpstr>Sharing specific tours and activities information</vt:lpstr>
      <vt:lpstr>Sharing specific tours and activities information</vt:lpstr>
      <vt:lpstr>PowerPoint Presentation</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INTERPRETIVE CONTENT FOR ECO-TOURISM ACTIVITIES</dc:title>
  <dc:creator>Daniel James Chee</dc:creator>
  <cp:lastModifiedBy>Carla Angelica Co</cp:lastModifiedBy>
  <cp:revision>158</cp:revision>
  <dcterms:created xsi:type="dcterms:W3CDTF">2014-05-16T02:14:31Z</dcterms:created>
  <dcterms:modified xsi:type="dcterms:W3CDTF">2016-07-19T01:44:34Z</dcterms:modified>
</cp:coreProperties>
</file>