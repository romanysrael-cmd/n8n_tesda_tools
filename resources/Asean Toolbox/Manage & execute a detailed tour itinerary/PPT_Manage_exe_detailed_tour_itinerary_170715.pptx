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97"/>
  </p:notesMasterIdLst>
  <p:handoutMasterIdLst>
    <p:handoutMasterId r:id="rId98"/>
  </p:handoutMasterIdLst>
  <p:sldIdLst>
    <p:sldId id="256" r:id="rId2"/>
    <p:sldId id="257" r:id="rId3"/>
    <p:sldId id="258" r:id="rId4"/>
    <p:sldId id="296" r:id="rId5"/>
    <p:sldId id="297" r:id="rId6"/>
    <p:sldId id="260" r:id="rId7"/>
    <p:sldId id="298" r:id="rId8"/>
    <p:sldId id="300" r:id="rId9"/>
    <p:sldId id="365" r:id="rId10"/>
    <p:sldId id="301" r:id="rId11"/>
    <p:sldId id="366" r:id="rId12"/>
    <p:sldId id="302" r:id="rId13"/>
    <p:sldId id="374" r:id="rId14"/>
    <p:sldId id="375" r:id="rId15"/>
    <p:sldId id="303" r:id="rId16"/>
    <p:sldId id="376" r:id="rId17"/>
    <p:sldId id="368" r:id="rId18"/>
    <p:sldId id="304" r:id="rId19"/>
    <p:sldId id="305" r:id="rId20"/>
    <p:sldId id="307" r:id="rId21"/>
    <p:sldId id="369" r:id="rId22"/>
    <p:sldId id="370" r:id="rId23"/>
    <p:sldId id="377" r:id="rId24"/>
    <p:sldId id="371" r:id="rId25"/>
    <p:sldId id="378" r:id="rId26"/>
    <p:sldId id="306" r:id="rId27"/>
    <p:sldId id="379" r:id="rId28"/>
    <p:sldId id="372" r:id="rId29"/>
    <p:sldId id="261" r:id="rId30"/>
    <p:sldId id="262" r:id="rId31"/>
    <p:sldId id="311" r:id="rId32"/>
    <p:sldId id="308" r:id="rId33"/>
    <p:sldId id="309" r:id="rId34"/>
    <p:sldId id="310" r:id="rId35"/>
    <p:sldId id="380" r:id="rId36"/>
    <p:sldId id="312" r:id="rId37"/>
    <p:sldId id="313" r:id="rId38"/>
    <p:sldId id="314" r:id="rId39"/>
    <p:sldId id="315" r:id="rId40"/>
    <p:sldId id="316" r:id="rId41"/>
    <p:sldId id="317" r:id="rId42"/>
    <p:sldId id="318" r:id="rId43"/>
    <p:sldId id="381" r:id="rId44"/>
    <p:sldId id="319" r:id="rId45"/>
    <p:sldId id="320" r:id="rId46"/>
    <p:sldId id="263" r:id="rId47"/>
    <p:sldId id="321" r:id="rId48"/>
    <p:sldId id="322" r:id="rId49"/>
    <p:sldId id="323" r:id="rId50"/>
    <p:sldId id="264" r:id="rId51"/>
    <p:sldId id="324" r:id="rId52"/>
    <p:sldId id="325" r:id="rId53"/>
    <p:sldId id="326" r:id="rId54"/>
    <p:sldId id="327" r:id="rId55"/>
    <p:sldId id="328" r:id="rId56"/>
    <p:sldId id="330" r:id="rId57"/>
    <p:sldId id="333" r:id="rId58"/>
    <p:sldId id="391" r:id="rId59"/>
    <p:sldId id="392" r:id="rId60"/>
    <p:sldId id="373" r:id="rId61"/>
    <p:sldId id="393" r:id="rId62"/>
    <p:sldId id="331" r:id="rId63"/>
    <p:sldId id="334" r:id="rId64"/>
    <p:sldId id="336" r:id="rId65"/>
    <p:sldId id="395" r:id="rId66"/>
    <p:sldId id="337" r:id="rId67"/>
    <p:sldId id="396" r:id="rId68"/>
    <p:sldId id="266" r:id="rId69"/>
    <p:sldId id="338" r:id="rId70"/>
    <p:sldId id="339" r:id="rId71"/>
    <p:sldId id="340" r:id="rId72"/>
    <p:sldId id="382" r:id="rId73"/>
    <p:sldId id="341" r:id="rId74"/>
    <p:sldId id="342" r:id="rId75"/>
    <p:sldId id="383" r:id="rId76"/>
    <p:sldId id="343" r:id="rId77"/>
    <p:sldId id="344" r:id="rId78"/>
    <p:sldId id="384" r:id="rId79"/>
    <p:sldId id="387" r:id="rId80"/>
    <p:sldId id="385" r:id="rId81"/>
    <p:sldId id="388" r:id="rId82"/>
    <p:sldId id="349" r:id="rId83"/>
    <p:sldId id="350" r:id="rId84"/>
    <p:sldId id="352" r:id="rId85"/>
    <p:sldId id="354" r:id="rId86"/>
    <p:sldId id="356" r:id="rId87"/>
    <p:sldId id="357" r:id="rId88"/>
    <p:sldId id="358" r:id="rId89"/>
    <p:sldId id="389" r:id="rId90"/>
    <p:sldId id="359" r:id="rId91"/>
    <p:sldId id="360" r:id="rId92"/>
    <p:sldId id="390" r:id="rId93"/>
    <p:sldId id="362" r:id="rId94"/>
    <p:sldId id="363" r:id="rId95"/>
    <p:sldId id="364" r:id="rId9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39140" autoAdjust="0"/>
  </p:normalViewPr>
  <p:slideViewPr>
    <p:cSldViewPr>
      <p:cViewPr varScale="1">
        <p:scale>
          <a:sx n="36" d="100"/>
          <a:sy n="36" d="100"/>
        </p:scale>
        <p:origin x="279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2.xml.rels><?xml version="1.0" encoding="UTF-8" standalone="yes"?>
<Relationships xmlns="http://schemas.openxmlformats.org/package/2006/relationships"><Relationship Id="rId1" Type="http://schemas.openxmlformats.org/officeDocument/2006/relationships/image" Target="../media/image79.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FDA6BF-673B-4C01-9547-002DAFBD33FD}"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en-AU"/>
        </a:p>
      </dgm:t>
    </dgm:pt>
    <dgm:pt modelId="{85002147-3B5C-474F-80CA-93A114C008F4}">
      <dgm:prSet phldrT="[Text]" custT="1"/>
      <dgm:spPr/>
      <dgm:t>
        <a:bodyPr/>
        <a:lstStyle/>
        <a:p>
          <a:r>
            <a:rPr lang="en-US" sz="2000" dirty="0" smtClean="0">
              <a:latin typeface="Helvetica" pitchFamily="34" charset="0"/>
            </a:rPr>
            <a:t>Trainer</a:t>
          </a:r>
          <a:endParaRPr lang="en-AU" sz="2000" dirty="0"/>
        </a:p>
      </dgm:t>
    </dgm:pt>
    <dgm:pt modelId="{22C14CAD-EDC3-429F-80AF-06AF81724282}" type="parTrans" cxnId="{D8C1A2AC-AB43-456C-9827-AE79F987B504}">
      <dgm:prSet/>
      <dgm:spPr/>
      <dgm:t>
        <a:bodyPr/>
        <a:lstStyle/>
        <a:p>
          <a:endParaRPr lang="en-AU" sz="2000"/>
        </a:p>
      </dgm:t>
    </dgm:pt>
    <dgm:pt modelId="{C61F79B0-0695-4895-83CF-3D0BC7AE81AF}" type="sibTrans" cxnId="{D8C1A2AC-AB43-456C-9827-AE79F987B504}">
      <dgm:prSet/>
      <dgm:spPr/>
      <dgm:t>
        <a:bodyPr/>
        <a:lstStyle/>
        <a:p>
          <a:endParaRPr lang="en-AU" sz="2000"/>
        </a:p>
      </dgm:t>
    </dgm:pt>
    <dgm:pt modelId="{6A2E7F05-42DC-48E1-812C-D3E342E4A33B}">
      <dgm:prSet phldrT="[Text]" custT="1"/>
      <dgm:spPr/>
      <dgm:t>
        <a:bodyPr/>
        <a:lstStyle/>
        <a:p>
          <a:r>
            <a:rPr lang="en-US" sz="2000" dirty="0" smtClean="0">
              <a:latin typeface="Helvetica" pitchFamily="34" charset="0"/>
            </a:rPr>
            <a:t>What are we going to cover?</a:t>
          </a:r>
          <a:endParaRPr lang="en-AU" sz="2000" dirty="0"/>
        </a:p>
      </dgm:t>
    </dgm:pt>
    <dgm:pt modelId="{6968C462-58E7-4865-A609-0F2AE4AC5B2B}" type="parTrans" cxnId="{183DEFF9-D1D0-4C5D-9C49-617A7B611120}">
      <dgm:prSet/>
      <dgm:spPr/>
      <dgm:t>
        <a:bodyPr/>
        <a:lstStyle/>
        <a:p>
          <a:endParaRPr lang="en-AU" sz="2000"/>
        </a:p>
      </dgm:t>
    </dgm:pt>
    <dgm:pt modelId="{7A0BBFEF-1F03-4E22-A7B2-7F0C58D339BA}" type="sibTrans" cxnId="{183DEFF9-D1D0-4C5D-9C49-617A7B611120}">
      <dgm:prSet/>
      <dgm:spPr/>
      <dgm:t>
        <a:bodyPr/>
        <a:lstStyle/>
        <a:p>
          <a:endParaRPr lang="en-AU" sz="2000"/>
        </a:p>
      </dgm:t>
    </dgm:pt>
    <dgm:pt modelId="{DF747DE4-97CE-42F3-A212-36577BF34796}">
      <dgm:prSet phldrT="[Text]" custT="1"/>
      <dgm:spPr/>
      <dgm:t>
        <a:bodyPr/>
        <a:lstStyle/>
        <a:p>
          <a:r>
            <a:rPr lang="en-US" sz="2000" dirty="0" smtClean="0">
              <a:latin typeface="Helvetica" pitchFamily="34" charset="0"/>
            </a:rPr>
            <a:t>Unit requirements</a:t>
          </a:r>
          <a:endParaRPr lang="en-AU" sz="2000" dirty="0"/>
        </a:p>
      </dgm:t>
    </dgm:pt>
    <dgm:pt modelId="{8D823578-61EB-41EC-8025-12B165ADC05A}" type="parTrans" cxnId="{44A740AA-70B5-4EE1-853D-38D829AAA35C}">
      <dgm:prSet/>
      <dgm:spPr/>
      <dgm:t>
        <a:bodyPr/>
        <a:lstStyle/>
        <a:p>
          <a:endParaRPr lang="en-AU" sz="2000"/>
        </a:p>
      </dgm:t>
    </dgm:pt>
    <dgm:pt modelId="{1121BE45-A418-44BF-B9DD-0FC8E8570890}" type="sibTrans" cxnId="{44A740AA-70B5-4EE1-853D-38D829AAA35C}">
      <dgm:prSet/>
      <dgm:spPr/>
      <dgm:t>
        <a:bodyPr/>
        <a:lstStyle/>
        <a:p>
          <a:endParaRPr lang="en-AU" sz="2000"/>
        </a:p>
      </dgm:t>
    </dgm:pt>
    <dgm:pt modelId="{5B5F259A-E94C-47C3-A5CA-6FCCDC502545}" type="pres">
      <dgm:prSet presAssocID="{04FDA6BF-673B-4C01-9547-002DAFBD33FD}" presName="linear" presStyleCnt="0">
        <dgm:presLayoutVars>
          <dgm:dir/>
          <dgm:animLvl val="lvl"/>
          <dgm:resizeHandles val="exact"/>
        </dgm:presLayoutVars>
      </dgm:prSet>
      <dgm:spPr/>
      <dgm:t>
        <a:bodyPr/>
        <a:lstStyle/>
        <a:p>
          <a:endParaRPr lang="en-AU"/>
        </a:p>
      </dgm:t>
    </dgm:pt>
    <dgm:pt modelId="{4991DB77-7B69-468B-8998-DE7C14E3D94F}" type="pres">
      <dgm:prSet presAssocID="{85002147-3B5C-474F-80CA-93A114C008F4}" presName="parentLin" presStyleCnt="0"/>
      <dgm:spPr/>
    </dgm:pt>
    <dgm:pt modelId="{FD4FBF7F-B91E-420B-9C05-A37F43C0B808}" type="pres">
      <dgm:prSet presAssocID="{85002147-3B5C-474F-80CA-93A114C008F4}" presName="parentLeftMargin" presStyleLbl="node1" presStyleIdx="0" presStyleCnt="3"/>
      <dgm:spPr/>
      <dgm:t>
        <a:bodyPr/>
        <a:lstStyle/>
        <a:p>
          <a:endParaRPr lang="en-AU"/>
        </a:p>
      </dgm:t>
    </dgm:pt>
    <dgm:pt modelId="{CA8097EF-893B-4040-8FB5-A1EFAD923EEA}" type="pres">
      <dgm:prSet presAssocID="{85002147-3B5C-474F-80CA-93A114C008F4}" presName="parentText" presStyleLbl="node1" presStyleIdx="0" presStyleCnt="3">
        <dgm:presLayoutVars>
          <dgm:chMax val="0"/>
          <dgm:bulletEnabled val="1"/>
        </dgm:presLayoutVars>
      </dgm:prSet>
      <dgm:spPr/>
      <dgm:t>
        <a:bodyPr/>
        <a:lstStyle/>
        <a:p>
          <a:endParaRPr lang="en-AU"/>
        </a:p>
      </dgm:t>
    </dgm:pt>
    <dgm:pt modelId="{2C0E8C3E-9ABA-4856-A337-523D98ED05A6}" type="pres">
      <dgm:prSet presAssocID="{85002147-3B5C-474F-80CA-93A114C008F4}" presName="negativeSpace" presStyleCnt="0"/>
      <dgm:spPr/>
    </dgm:pt>
    <dgm:pt modelId="{C060CDAC-7173-4FC0-A59B-A41936250454}" type="pres">
      <dgm:prSet presAssocID="{85002147-3B5C-474F-80CA-93A114C008F4}" presName="childText" presStyleLbl="conFgAcc1" presStyleIdx="0" presStyleCnt="3">
        <dgm:presLayoutVars>
          <dgm:bulletEnabled val="1"/>
        </dgm:presLayoutVars>
      </dgm:prSet>
      <dgm:spPr/>
    </dgm:pt>
    <dgm:pt modelId="{9F14DE21-74B8-4B86-A6D1-5E9548C885C5}" type="pres">
      <dgm:prSet presAssocID="{C61F79B0-0695-4895-83CF-3D0BC7AE81AF}" presName="spaceBetweenRectangles" presStyleCnt="0"/>
      <dgm:spPr/>
    </dgm:pt>
    <dgm:pt modelId="{3B9B728F-840E-413C-BAD2-D280EBB975CB}" type="pres">
      <dgm:prSet presAssocID="{6A2E7F05-42DC-48E1-812C-D3E342E4A33B}" presName="parentLin" presStyleCnt="0"/>
      <dgm:spPr/>
    </dgm:pt>
    <dgm:pt modelId="{D06A05FF-0CC2-4251-85D9-9A51D3296C7D}" type="pres">
      <dgm:prSet presAssocID="{6A2E7F05-42DC-48E1-812C-D3E342E4A33B}" presName="parentLeftMargin" presStyleLbl="node1" presStyleIdx="0" presStyleCnt="3"/>
      <dgm:spPr/>
      <dgm:t>
        <a:bodyPr/>
        <a:lstStyle/>
        <a:p>
          <a:endParaRPr lang="en-AU"/>
        </a:p>
      </dgm:t>
    </dgm:pt>
    <dgm:pt modelId="{749354DB-2B13-4CC0-8969-E51F4336C428}" type="pres">
      <dgm:prSet presAssocID="{6A2E7F05-42DC-48E1-812C-D3E342E4A33B}" presName="parentText" presStyleLbl="node1" presStyleIdx="1" presStyleCnt="3">
        <dgm:presLayoutVars>
          <dgm:chMax val="0"/>
          <dgm:bulletEnabled val="1"/>
        </dgm:presLayoutVars>
      </dgm:prSet>
      <dgm:spPr/>
      <dgm:t>
        <a:bodyPr/>
        <a:lstStyle/>
        <a:p>
          <a:endParaRPr lang="en-AU"/>
        </a:p>
      </dgm:t>
    </dgm:pt>
    <dgm:pt modelId="{0ECDF6CA-FC86-4B11-9DE0-41752476D17F}" type="pres">
      <dgm:prSet presAssocID="{6A2E7F05-42DC-48E1-812C-D3E342E4A33B}" presName="negativeSpace" presStyleCnt="0"/>
      <dgm:spPr/>
    </dgm:pt>
    <dgm:pt modelId="{2FB214BA-8D5A-4659-B840-9816333C0A76}" type="pres">
      <dgm:prSet presAssocID="{6A2E7F05-42DC-48E1-812C-D3E342E4A33B}" presName="childText" presStyleLbl="conFgAcc1" presStyleIdx="1" presStyleCnt="3">
        <dgm:presLayoutVars>
          <dgm:bulletEnabled val="1"/>
        </dgm:presLayoutVars>
      </dgm:prSet>
      <dgm:spPr/>
    </dgm:pt>
    <dgm:pt modelId="{5FEBD58B-B2A8-4614-9823-8B787AF56FC7}" type="pres">
      <dgm:prSet presAssocID="{7A0BBFEF-1F03-4E22-A7B2-7F0C58D339BA}" presName="spaceBetweenRectangles" presStyleCnt="0"/>
      <dgm:spPr/>
    </dgm:pt>
    <dgm:pt modelId="{28413A7A-C97E-44E9-A27D-FF4B8CF74629}" type="pres">
      <dgm:prSet presAssocID="{DF747DE4-97CE-42F3-A212-36577BF34796}" presName="parentLin" presStyleCnt="0"/>
      <dgm:spPr/>
    </dgm:pt>
    <dgm:pt modelId="{AF7F69CA-1205-4BE4-9E31-0DB113C9377C}" type="pres">
      <dgm:prSet presAssocID="{DF747DE4-97CE-42F3-A212-36577BF34796}" presName="parentLeftMargin" presStyleLbl="node1" presStyleIdx="1" presStyleCnt="3"/>
      <dgm:spPr/>
      <dgm:t>
        <a:bodyPr/>
        <a:lstStyle/>
        <a:p>
          <a:endParaRPr lang="en-AU"/>
        </a:p>
      </dgm:t>
    </dgm:pt>
    <dgm:pt modelId="{2A8DBC70-58CB-40B1-9602-ED128C95A73F}" type="pres">
      <dgm:prSet presAssocID="{DF747DE4-97CE-42F3-A212-36577BF34796}" presName="parentText" presStyleLbl="node1" presStyleIdx="2" presStyleCnt="3">
        <dgm:presLayoutVars>
          <dgm:chMax val="0"/>
          <dgm:bulletEnabled val="1"/>
        </dgm:presLayoutVars>
      </dgm:prSet>
      <dgm:spPr/>
      <dgm:t>
        <a:bodyPr/>
        <a:lstStyle/>
        <a:p>
          <a:endParaRPr lang="en-AU"/>
        </a:p>
      </dgm:t>
    </dgm:pt>
    <dgm:pt modelId="{51C4C12D-11E0-40B3-9C89-5EA0240E4180}" type="pres">
      <dgm:prSet presAssocID="{DF747DE4-97CE-42F3-A212-36577BF34796}" presName="negativeSpace" presStyleCnt="0"/>
      <dgm:spPr/>
    </dgm:pt>
    <dgm:pt modelId="{B3F458E7-4F71-4525-9729-2B2FBE8A0D77}" type="pres">
      <dgm:prSet presAssocID="{DF747DE4-97CE-42F3-A212-36577BF34796}" presName="childText" presStyleLbl="conFgAcc1" presStyleIdx="2" presStyleCnt="3">
        <dgm:presLayoutVars>
          <dgm:bulletEnabled val="1"/>
        </dgm:presLayoutVars>
      </dgm:prSet>
      <dgm:spPr/>
    </dgm:pt>
  </dgm:ptLst>
  <dgm:cxnLst>
    <dgm:cxn modelId="{EB37AFF7-8979-4184-9102-751FC793B0CE}" type="presOf" srcId="{85002147-3B5C-474F-80CA-93A114C008F4}" destId="{CA8097EF-893B-4040-8FB5-A1EFAD923EEA}" srcOrd="1" destOrd="0" presId="urn:microsoft.com/office/officeart/2005/8/layout/list1"/>
    <dgm:cxn modelId="{30A50F95-63B8-4A7A-A2CF-766A74520E2F}" type="presOf" srcId="{6A2E7F05-42DC-48E1-812C-D3E342E4A33B}" destId="{D06A05FF-0CC2-4251-85D9-9A51D3296C7D}" srcOrd="0" destOrd="0" presId="urn:microsoft.com/office/officeart/2005/8/layout/list1"/>
    <dgm:cxn modelId="{D8C1A2AC-AB43-456C-9827-AE79F987B504}" srcId="{04FDA6BF-673B-4C01-9547-002DAFBD33FD}" destId="{85002147-3B5C-474F-80CA-93A114C008F4}" srcOrd="0" destOrd="0" parTransId="{22C14CAD-EDC3-429F-80AF-06AF81724282}" sibTransId="{C61F79B0-0695-4895-83CF-3D0BC7AE81AF}"/>
    <dgm:cxn modelId="{126E7ADE-4734-4956-AF4C-8084AFDFA362}" type="presOf" srcId="{DF747DE4-97CE-42F3-A212-36577BF34796}" destId="{2A8DBC70-58CB-40B1-9602-ED128C95A73F}" srcOrd="1" destOrd="0" presId="urn:microsoft.com/office/officeart/2005/8/layout/list1"/>
    <dgm:cxn modelId="{D4FB5877-3977-4C36-BF62-77C2D4EE45F4}" type="presOf" srcId="{6A2E7F05-42DC-48E1-812C-D3E342E4A33B}" destId="{749354DB-2B13-4CC0-8969-E51F4336C428}" srcOrd="1" destOrd="0" presId="urn:microsoft.com/office/officeart/2005/8/layout/list1"/>
    <dgm:cxn modelId="{AA3F148F-3CF1-427C-BC0B-630644B54ECE}" type="presOf" srcId="{04FDA6BF-673B-4C01-9547-002DAFBD33FD}" destId="{5B5F259A-E94C-47C3-A5CA-6FCCDC502545}" srcOrd="0" destOrd="0" presId="urn:microsoft.com/office/officeart/2005/8/layout/list1"/>
    <dgm:cxn modelId="{BD3D2024-661B-4C69-B02E-6B49E8022246}" type="presOf" srcId="{DF747DE4-97CE-42F3-A212-36577BF34796}" destId="{AF7F69CA-1205-4BE4-9E31-0DB113C9377C}" srcOrd="0" destOrd="0" presId="urn:microsoft.com/office/officeart/2005/8/layout/list1"/>
    <dgm:cxn modelId="{F7842DF2-CEF1-4405-BB6D-D495A593D511}" type="presOf" srcId="{85002147-3B5C-474F-80CA-93A114C008F4}" destId="{FD4FBF7F-B91E-420B-9C05-A37F43C0B808}" srcOrd="0" destOrd="0" presId="urn:microsoft.com/office/officeart/2005/8/layout/list1"/>
    <dgm:cxn modelId="{44A740AA-70B5-4EE1-853D-38D829AAA35C}" srcId="{04FDA6BF-673B-4C01-9547-002DAFBD33FD}" destId="{DF747DE4-97CE-42F3-A212-36577BF34796}" srcOrd="2" destOrd="0" parTransId="{8D823578-61EB-41EC-8025-12B165ADC05A}" sibTransId="{1121BE45-A418-44BF-B9DD-0FC8E8570890}"/>
    <dgm:cxn modelId="{183DEFF9-D1D0-4C5D-9C49-617A7B611120}" srcId="{04FDA6BF-673B-4C01-9547-002DAFBD33FD}" destId="{6A2E7F05-42DC-48E1-812C-D3E342E4A33B}" srcOrd="1" destOrd="0" parTransId="{6968C462-58E7-4865-A609-0F2AE4AC5B2B}" sibTransId="{7A0BBFEF-1F03-4E22-A7B2-7F0C58D339BA}"/>
    <dgm:cxn modelId="{677E274A-B43D-4D66-AFC2-EC91B8CD8A0F}" type="presParOf" srcId="{5B5F259A-E94C-47C3-A5CA-6FCCDC502545}" destId="{4991DB77-7B69-468B-8998-DE7C14E3D94F}" srcOrd="0" destOrd="0" presId="urn:microsoft.com/office/officeart/2005/8/layout/list1"/>
    <dgm:cxn modelId="{166B9D42-C80D-4C50-A610-9F846EE4F9EA}" type="presParOf" srcId="{4991DB77-7B69-468B-8998-DE7C14E3D94F}" destId="{FD4FBF7F-B91E-420B-9C05-A37F43C0B808}" srcOrd="0" destOrd="0" presId="urn:microsoft.com/office/officeart/2005/8/layout/list1"/>
    <dgm:cxn modelId="{CE109A5A-49E4-4431-A1AE-3FEFDB3EEC25}" type="presParOf" srcId="{4991DB77-7B69-468B-8998-DE7C14E3D94F}" destId="{CA8097EF-893B-4040-8FB5-A1EFAD923EEA}" srcOrd="1" destOrd="0" presId="urn:microsoft.com/office/officeart/2005/8/layout/list1"/>
    <dgm:cxn modelId="{EA7A78A4-F0A4-4FF2-B666-2357E7A65891}" type="presParOf" srcId="{5B5F259A-E94C-47C3-A5CA-6FCCDC502545}" destId="{2C0E8C3E-9ABA-4856-A337-523D98ED05A6}" srcOrd="1" destOrd="0" presId="urn:microsoft.com/office/officeart/2005/8/layout/list1"/>
    <dgm:cxn modelId="{1F0E145C-97B1-46D6-8088-E4F385F173DB}" type="presParOf" srcId="{5B5F259A-E94C-47C3-A5CA-6FCCDC502545}" destId="{C060CDAC-7173-4FC0-A59B-A41936250454}" srcOrd="2" destOrd="0" presId="urn:microsoft.com/office/officeart/2005/8/layout/list1"/>
    <dgm:cxn modelId="{F0E4A856-9184-43B3-929B-ED8C0FC2FAEA}" type="presParOf" srcId="{5B5F259A-E94C-47C3-A5CA-6FCCDC502545}" destId="{9F14DE21-74B8-4B86-A6D1-5E9548C885C5}" srcOrd="3" destOrd="0" presId="urn:microsoft.com/office/officeart/2005/8/layout/list1"/>
    <dgm:cxn modelId="{501ED051-3763-4A04-A7D2-71B3F4A74B7F}" type="presParOf" srcId="{5B5F259A-E94C-47C3-A5CA-6FCCDC502545}" destId="{3B9B728F-840E-413C-BAD2-D280EBB975CB}" srcOrd="4" destOrd="0" presId="urn:microsoft.com/office/officeart/2005/8/layout/list1"/>
    <dgm:cxn modelId="{6A4FE503-565D-4A5B-9CBF-985C49B0DA1B}" type="presParOf" srcId="{3B9B728F-840E-413C-BAD2-D280EBB975CB}" destId="{D06A05FF-0CC2-4251-85D9-9A51D3296C7D}" srcOrd="0" destOrd="0" presId="urn:microsoft.com/office/officeart/2005/8/layout/list1"/>
    <dgm:cxn modelId="{8C2151E9-9333-440E-9898-FDDB2B322281}" type="presParOf" srcId="{3B9B728F-840E-413C-BAD2-D280EBB975CB}" destId="{749354DB-2B13-4CC0-8969-E51F4336C428}" srcOrd="1" destOrd="0" presId="urn:microsoft.com/office/officeart/2005/8/layout/list1"/>
    <dgm:cxn modelId="{F1D77D6A-0A1F-4B41-89E9-DCCE2749A482}" type="presParOf" srcId="{5B5F259A-E94C-47C3-A5CA-6FCCDC502545}" destId="{0ECDF6CA-FC86-4B11-9DE0-41752476D17F}" srcOrd="5" destOrd="0" presId="urn:microsoft.com/office/officeart/2005/8/layout/list1"/>
    <dgm:cxn modelId="{4A344988-FE25-477C-A484-02ECC740D960}" type="presParOf" srcId="{5B5F259A-E94C-47C3-A5CA-6FCCDC502545}" destId="{2FB214BA-8D5A-4659-B840-9816333C0A76}" srcOrd="6" destOrd="0" presId="urn:microsoft.com/office/officeart/2005/8/layout/list1"/>
    <dgm:cxn modelId="{3D4E9162-178A-4E64-B93C-F4CDE9399B73}" type="presParOf" srcId="{5B5F259A-E94C-47C3-A5CA-6FCCDC502545}" destId="{5FEBD58B-B2A8-4614-9823-8B787AF56FC7}" srcOrd="7" destOrd="0" presId="urn:microsoft.com/office/officeart/2005/8/layout/list1"/>
    <dgm:cxn modelId="{A080D224-3810-460C-B4EF-1749D75C9E80}" type="presParOf" srcId="{5B5F259A-E94C-47C3-A5CA-6FCCDC502545}" destId="{28413A7A-C97E-44E9-A27D-FF4B8CF74629}" srcOrd="8" destOrd="0" presId="urn:microsoft.com/office/officeart/2005/8/layout/list1"/>
    <dgm:cxn modelId="{B13BFBC4-EC44-4A4A-A741-A0AECB8EC6CF}" type="presParOf" srcId="{28413A7A-C97E-44E9-A27D-FF4B8CF74629}" destId="{AF7F69CA-1205-4BE4-9E31-0DB113C9377C}" srcOrd="0" destOrd="0" presId="urn:microsoft.com/office/officeart/2005/8/layout/list1"/>
    <dgm:cxn modelId="{7861653F-C8FB-48DE-A195-8FF3DA428FA0}" type="presParOf" srcId="{28413A7A-C97E-44E9-A27D-FF4B8CF74629}" destId="{2A8DBC70-58CB-40B1-9602-ED128C95A73F}" srcOrd="1" destOrd="0" presId="urn:microsoft.com/office/officeart/2005/8/layout/list1"/>
    <dgm:cxn modelId="{9C7903DB-5C41-4D3B-85F2-2A46270A1EFD}" type="presParOf" srcId="{5B5F259A-E94C-47C3-A5CA-6FCCDC502545}" destId="{51C4C12D-11E0-40B3-9C89-5EA0240E4180}" srcOrd="9" destOrd="0" presId="urn:microsoft.com/office/officeart/2005/8/layout/list1"/>
    <dgm:cxn modelId="{E261267D-918F-454E-982C-4E26A18DD073}" type="presParOf" srcId="{5B5F259A-E94C-47C3-A5CA-6FCCDC502545}" destId="{B3F458E7-4F71-4525-9729-2B2FBE8A0D77}"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DE98B0F-1825-46C5-A362-9135C77C8C39}" type="doc">
      <dgm:prSet loTypeId="urn:microsoft.com/office/officeart/2008/layout/AscendingPictureAccentProcess" loCatId="picture" qsTypeId="urn:microsoft.com/office/officeart/2005/8/quickstyle/simple1" qsCatId="simple" csTypeId="urn:microsoft.com/office/officeart/2005/8/colors/colorful4" csCatId="colorful" phldr="1"/>
      <dgm:spPr/>
      <dgm:t>
        <a:bodyPr/>
        <a:lstStyle/>
        <a:p>
          <a:endParaRPr lang="en-AU"/>
        </a:p>
      </dgm:t>
    </dgm:pt>
    <dgm:pt modelId="{791E7601-962F-4E0A-963C-E230F78777DC}">
      <dgm:prSet phldrT="[Text]" custT="1"/>
      <dgm:spPr/>
      <dgm:t>
        <a:bodyPr/>
        <a:lstStyle/>
        <a:p>
          <a:r>
            <a:rPr lang="en-US" sz="2400" dirty="0" smtClean="0">
              <a:latin typeface="Helvetica" pitchFamily="34" charset="0"/>
            </a:rPr>
            <a:t>How?</a:t>
          </a:r>
          <a:endParaRPr lang="en-AU" sz="2400" dirty="0"/>
        </a:p>
      </dgm:t>
    </dgm:pt>
    <dgm:pt modelId="{58B9AD04-F5A9-4411-ADD9-3E0E01E9E96D}" type="parTrans" cxnId="{91DF8034-41F3-4659-81EE-2939E031CF53}">
      <dgm:prSet/>
      <dgm:spPr/>
      <dgm:t>
        <a:bodyPr/>
        <a:lstStyle/>
        <a:p>
          <a:endParaRPr lang="en-AU"/>
        </a:p>
      </dgm:t>
    </dgm:pt>
    <dgm:pt modelId="{F79270C4-1F66-40DA-85B2-573794A1495E}" type="sibTrans" cxnId="{91DF8034-41F3-4659-81EE-2939E031CF53}">
      <dgm:prSet/>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17000" b="-17000"/>
          </a:stretch>
        </a:blipFill>
        <a:ln>
          <a:solidFill>
            <a:schemeClr val="bg1">
              <a:lumMod val="50000"/>
            </a:schemeClr>
          </a:solidFill>
        </a:ln>
      </dgm:spPr>
      <dgm:t>
        <a:bodyPr/>
        <a:lstStyle/>
        <a:p>
          <a:endParaRPr lang="en-AU"/>
        </a:p>
      </dgm:t>
    </dgm:pt>
    <dgm:pt modelId="{EA2198D4-F160-4A7C-AB7E-0BC8B41359CA}">
      <dgm:prSet phldrT="[Text]" custT="1"/>
      <dgm:spPr/>
      <dgm:t>
        <a:bodyPr/>
        <a:lstStyle/>
        <a:p>
          <a:r>
            <a:rPr lang="en-US" sz="2400" dirty="0" smtClean="0">
              <a:latin typeface="Helvetica" pitchFamily="34" charset="0"/>
            </a:rPr>
            <a:t>Why?</a:t>
          </a:r>
          <a:endParaRPr lang="en-AU" sz="2400" dirty="0"/>
        </a:p>
      </dgm:t>
    </dgm:pt>
    <dgm:pt modelId="{448CC4B9-5B32-480D-A0B6-01E24B437ACB}" type="parTrans" cxnId="{3DFE0F64-593D-4F19-8939-50E7D8910A4F}">
      <dgm:prSet/>
      <dgm:spPr/>
      <dgm:t>
        <a:bodyPr/>
        <a:lstStyle/>
        <a:p>
          <a:endParaRPr lang="en-AU"/>
        </a:p>
      </dgm:t>
    </dgm:pt>
    <dgm:pt modelId="{238896C6-703E-4FBE-B14C-9C7FF583709C}" type="sibTrans" cxnId="{3DFE0F64-593D-4F19-8939-50E7D8910A4F}">
      <dgm:prSet/>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17000" b="-17000"/>
          </a:stretch>
        </a:blipFill>
        <a:ln>
          <a:solidFill>
            <a:schemeClr val="bg1">
              <a:lumMod val="50000"/>
            </a:schemeClr>
          </a:solidFill>
        </a:ln>
      </dgm:spPr>
      <dgm:t>
        <a:bodyPr/>
        <a:lstStyle/>
        <a:p>
          <a:endParaRPr lang="en-AU"/>
        </a:p>
      </dgm:t>
    </dgm:pt>
    <dgm:pt modelId="{CC5E6E74-2673-4341-A945-9D118CA580DF}" type="pres">
      <dgm:prSet presAssocID="{6DE98B0F-1825-46C5-A362-9135C77C8C39}" presName="Name0" presStyleCnt="0">
        <dgm:presLayoutVars>
          <dgm:chMax val="7"/>
          <dgm:chPref val="7"/>
          <dgm:dir/>
        </dgm:presLayoutVars>
      </dgm:prSet>
      <dgm:spPr/>
      <dgm:t>
        <a:bodyPr/>
        <a:lstStyle/>
        <a:p>
          <a:endParaRPr lang="en-AU"/>
        </a:p>
      </dgm:t>
    </dgm:pt>
    <dgm:pt modelId="{C237EC08-E8BE-4D04-9EDF-150426B4399D}" type="pres">
      <dgm:prSet presAssocID="{6DE98B0F-1825-46C5-A362-9135C77C8C39}" presName="dot1" presStyleLbl="alignNode1" presStyleIdx="0" presStyleCnt="10"/>
      <dgm:spPr/>
    </dgm:pt>
    <dgm:pt modelId="{296644A7-6C32-4568-8096-63B057714D2A}" type="pres">
      <dgm:prSet presAssocID="{6DE98B0F-1825-46C5-A362-9135C77C8C39}" presName="dot2" presStyleLbl="alignNode1" presStyleIdx="1" presStyleCnt="10"/>
      <dgm:spPr/>
    </dgm:pt>
    <dgm:pt modelId="{812693BF-E60E-458B-823A-F01480FA3C1B}" type="pres">
      <dgm:prSet presAssocID="{6DE98B0F-1825-46C5-A362-9135C77C8C39}" presName="dot3" presStyleLbl="alignNode1" presStyleIdx="2" presStyleCnt="10"/>
      <dgm:spPr/>
    </dgm:pt>
    <dgm:pt modelId="{D9103935-F865-4325-BDC2-3B32A4DA35F3}" type="pres">
      <dgm:prSet presAssocID="{6DE98B0F-1825-46C5-A362-9135C77C8C39}" presName="dotArrow1" presStyleLbl="alignNode1" presStyleIdx="3" presStyleCnt="10"/>
      <dgm:spPr/>
    </dgm:pt>
    <dgm:pt modelId="{8E310D46-C83C-46D7-AE7C-91A127B6FF88}" type="pres">
      <dgm:prSet presAssocID="{6DE98B0F-1825-46C5-A362-9135C77C8C39}" presName="dotArrow2" presStyleLbl="alignNode1" presStyleIdx="4" presStyleCnt="10"/>
      <dgm:spPr/>
    </dgm:pt>
    <dgm:pt modelId="{D469D881-82DE-4072-88FF-DE338D86FFB3}" type="pres">
      <dgm:prSet presAssocID="{6DE98B0F-1825-46C5-A362-9135C77C8C39}" presName="dotArrow3" presStyleLbl="alignNode1" presStyleIdx="5" presStyleCnt="10"/>
      <dgm:spPr/>
    </dgm:pt>
    <dgm:pt modelId="{B48E96C4-C640-434B-AEED-8062849EE645}" type="pres">
      <dgm:prSet presAssocID="{6DE98B0F-1825-46C5-A362-9135C77C8C39}" presName="dotArrow4" presStyleLbl="alignNode1" presStyleIdx="6" presStyleCnt="10"/>
      <dgm:spPr/>
    </dgm:pt>
    <dgm:pt modelId="{2DE53625-0696-4A49-901F-13EEDB04481A}" type="pres">
      <dgm:prSet presAssocID="{6DE98B0F-1825-46C5-A362-9135C77C8C39}" presName="dotArrow5" presStyleLbl="alignNode1" presStyleIdx="7" presStyleCnt="10"/>
      <dgm:spPr/>
    </dgm:pt>
    <dgm:pt modelId="{09022505-AA59-405B-B6E2-D2AC3450496D}" type="pres">
      <dgm:prSet presAssocID="{6DE98B0F-1825-46C5-A362-9135C77C8C39}" presName="dotArrow6" presStyleLbl="alignNode1" presStyleIdx="8" presStyleCnt="10"/>
      <dgm:spPr/>
    </dgm:pt>
    <dgm:pt modelId="{94546DB4-F3E1-4B60-91EE-E557F3176315}" type="pres">
      <dgm:prSet presAssocID="{6DE98B0F-1825-46C5-A362-9135C77C8C39}" presName="dotArrow7" presStyleLbl="alignNode1" presStyleIdx="9" presStyleCnt="10"/>
      <dgm:spPr/>
    </dgm:pt>
    <dgm:pt modelId="{903B47BD-7872-4CF1-8B71-E50B089534DD}" type="pres">
      <dgm:prSet presAssocID="{791E7601-962F-4E0A-963C-E230F78777DC}" presName="parTx1" presStyleLbl="node1" presStyleIdx="0" presStyleCnt="2"/>
      <dgm:spPr/>
      <dgm:t>
        <a:bodyPr/>
        <a:lstStyle/>
        <a:p>
          <a:endParaRPr lang="en-AU"/>
        </a:p>
      </dgm:t>
    </dgm:pt>
    <dgm:pt modelId="{0008F536-0520-40FE-8074-F9DA5175E259}" type="pres">
      <dgm:prSet presAssocID="{F79270C4-1F66-40DA-85B2-573794A1495E}" presName="picture1" presStyleCnt="0"/>
      <dgm:spPr/>
    </dgm:pt>
    <dgm:pt modelId="{2E469AF0-9D80-4F40-8CC6-851CF69B6939}" type="pres">
      <dgm:prSet presAssocID="{F79270C4-1F66-40DA-85B2-573794A1495E}" presName="imageRepeatNode" presStyleLbl="fgImgPlace1" presStyleIdx="0" presStyleCnt="2"/>
      <dgm:spPr/>
      <dgm:t>
        <a:bodyPr/>
        <a:lstStyle/>
        <a:p>
          <a:endParaRPr lang="en-AU"/>
        </a:p>
      </dgm:t>
    </dgm:pt>
    <dgm:pt modelId="{FB2170F1-A4F4-49FD-850F-60E874CAFEC7}" type="pres">
      <dgm:prSet presAssocID="{EA2198D4-F160-4A7C-AB7E-0BC8B41359CA}" presName="parTx2" presStyleLbl="node1" presStyleIdx="1" presStyleCnt="2"/>
      <dgm:spPr/>
      <dgm:t>
        <a:bodyPr/>
        <a:lstStyle/>
        <a:p>
          <a:endParaRPr lang="en-AU"/>
        </a:p>
      </dgm:t>
    </dgm:pt>
    <dgm:pt modelId="{CD86F1F4-797C-4FA3-84FA-265B2225BF17}" type="pres">
      <dgm:prSet presAssocID="{238896C6-703E-4FBE-B14C-9C7FF583709C}" presName="picture2" presStyleCnt="0"/>
      <dgm:spPr/>
    </dgm:pt>
    <dgm:pt modelId="{E219235D-00C2-416D-A96B-E3CBCE8EC318}" type="pres">
      <dgm:prSet presAssocID="{238896C6-703E-4FBE-B14C-9C7FF583709C}" presName="imageRepeatNode" presStyleLbl="fgImgPlace1" presStyleIdx="1" presStyleCnt="2"/>
      <dgm:spPr/>
      <dgm:t>
        <a:bodyPr/>
        <a:lstStyle/>
        <a:p>
          <a:endParaRPr lang="en-AU"/>
        </a:p>
      </dgm:t>
    </dgm:pt>
  </dgm:ptLst>
  <dgm:cxnLst>
    <dgm:cxn modelId="{91DF8034-41F3-4659-81EE-2939E031CF53}" srcId="{6DE98B0F-1825-46C5-A362-9135C77C8C39}" destId="{791E7601-962F-4E0A-963C-E230F78777DC}" srcOrd="0" destOrd="0" parTransId="{58B9AD04-F5A9-4411-ADD9-3E0E01E9E96D}" sibTransId="{F79270C4-1F66-40DA-85B2-573794A1495E}"/>
    <dgm:cxn modelId="{973C4729-EE59-445B-B4A2-CBAE81EC5D6F}" type="presOf" srcId="{EA2198D4-F160-4A7C-AB7E-0BC8B41359CA}" destId="{FB2170F1-A4F4-49FD-850F-60E874CAFEC7}" srcOrd="0" destOrd="0" presId="urn:microsoft.com/office/officeart/2008/layout/AscendingPictureAccentProcess"/>
    <dgm:cxn modelId="{E3B24461-545B-4D8E-AB87-E8767200AF2B}" type="presOf" srcId="{791E7601-962F-4E0A-963C-E230F78777DC}" destId="{903B47BD-7872-4CF1-8B71-E50B089534DD}" srcOrd="0" destOrd="0" presId="urn:microsoft.com/office/officeart/2008/layout/AscendingPictureAccentProcess"/>
    <dgm:cxn modelId="{B57D82C6-97A1-49E2-B1A1-04405A358355}" type="presOf" srcId="{238896C6-703E-4FBE-B14C-9C7FF583709C}" destId="{E219235D-00C2-416D-A96B-E3CBCE8EC318}" srcOrd="0" destOrd="0" presId="urn:microsoft.com/office/officeart/2008/layout/AscendingPictureAccentProcess"/>
    <dgm:cxn modelId="{401E4E96-0C4A-49DB-A5F1-AAE2DC99E5F1}" type="presOf" srcId="{F79270C4-1F66-40DA-85B2-573794A1495E}" destId="{2E469AF0-9D80-4F40-8CC6-851CF69B6939}" srcOrd="0" destOrd="0" presId="urn:microsoft.com/office/officeart/2008/layout/AscendingPictureAccentProcess"/>
    <dgm:cxn modelId="{3DFE0F64-593D-4F19-8939-50E7D8910A4F}" srcId="{6DE98B0F-1825-46C5-A362-9135C77C8C39}" destId="{EA2198D4-F160-4A7C-AB7E-0BC8B41359CA}" srcOrd="1" destOrd="0" parTransId="{448CC4B9-5B32-480D-A0B6-01E24B437ACB}" sibTransId="{238896C6-703E-4FBE-B14C-9C7FF583709C}"/>
    <dgm:cxn modelId="{7D12FFE6-8E18-445C-A8F8-9CF739CC34AE}" type="presOf" srcId="{6DE98B0F-1825-46C5-A362-9135C77C8C39}" destId="{CC5E6E74-2673-4341-A945-9D118CA580DF}" srcOrd="0" destOrd="0" presId="urn:microsoft.com/office/officeart/2008/layout/AscendingPictureAccentProcess"/>
    <dgm:cxn modelId="{E4D4FB79-E5E3-4A40-9505-935C154059F5}" type="presParOf" srcId="{CC5E6E74-2673-4341-A945-9D118CA580DF}" destId="{C237EC08-E8BE-4D04-9EDF-150426B4399D}" srcOrd="0" destOrd="0" presId="urn:microsoft.com/office/officeart/2008/layout/AscendingPictureAccentProcess"/>
    <dgm:cxn modelId="{B2BE624A-3B03-47F5-84C8-238E10C19AA5}" type="presParOf" srcId="{CC5E6E74-2673-4341-A945-9D118CA580DF}" destId="{296644A7-6C32-4568-8096-63B057714D2A}" srcOrd="1" destOrd="0" presId="urn:microsoft.com/office/officeart/2008/layout/AscendingPictureAccentProcess"/>
    <dgm:cxn modelId="{0EFA5605-0814-4B47-96B2-73F1D3F5BED1}" type="presParOf" srcId="{CC5E6E74-2673-4341-A945-9D118CA580DF}" destId="{812693BF-E60E-458B-823A-F01480FA3C1B}" srcOrd="2" destOrd="0" presId="urn:microsoft.com/office/officeart/2008/layout/AscendingPictureAccentProcess"/>
    <dgm:cxn modelId="{01770629-77E9-4225-9843-6AD7FCE334B3}" type="presParOf" srcId="{CC5E6E74-2673-4341-A945-9D118CA580DF}" destId="{D9103935-F865-4325-BDC2-3B32A4DA35F3}" srcOrd="3" destOrd="0" presId="urn:microsoft.com/office/officeart/2008/layout/AscendingPictureAccentProcess"/>
    <dgm:cxn modelId="{B5AB519D-502E-4CB9-8E26-AC37734AD2B1}" type="presParOf" srcId="{CC5E6E74-2673-4341-A945-9D118CA580DF}" destId="{8E310D46-C83C-46D7-AE7C-91A127B6FF88}" srcOrd="4" destOrd="0" presId="urn:microsoft.com/office/officeart/2008/layout/AscendingPictureAccentProcess"/>
    <dgm:cxn modelId="{B9A40059-5582-441E-B276-C7D769C659E6}" type="presParOf" srcId="{CC5E6E74-2673-4341-A945-9D118CA580DF}" destId="{D469D881-82DE-4072-88FF-DE338D86FFB3}" srcOrd="5" destOrd="0" presId="urn:microsoft.com/office/officeart/2008/layout/AscendingPictureAccentProcess"/>
    <dgm:cxn modelId="{FB69DE5A-D714-4BCB-B6F7-A9BB3EE260BF}" type="presParOf" srcId="{CC5E6E74-2673-4341-A945-9D118CA580DF}" destId="{B48E96C4-C640-434B-AEED-8062849EE645}" srcOrd="6" destOrd="0" presId="urn:microsoft.com/office/officeart/2008/layout/AscendingPictureAccentProcess"/>
    <dgm:cxn modelId="{4506A473-EE0A-49F2-BD38-D3D2C05A2961}" type="presParOf" srcId="{CC5E6E74-2673-4341-A945-9D118CA580DF}" destId="{2DE53625-0696-4A49-901F-13EEDB04481A}" srcOrd="7" destOrd="0" presId="urn:microsoft.com/office/officeart/2008/layout/AscendingPictureAccentProcess"/>
    <dgm:cxn modelId="{C5AB3D36-628C-4A5B-9FA0-A802533E355C}" type="presParOf" srcId="{CC5E6E74-2673-4341-A945-9D118CA580DF}" destId="{09022505-AA59-405B-B6E2-D2AC3450496D}" srcOrd="8" destOrd="0" presId="urn:microsoft.com/office/officeart/2008/layout/AscendingPictureAccentProcess"/>
    <dgm:cxn modelId="{4853E516-8457-42E0-96C3-F19CF9800F61}" type="presParOf" srcId="{CC5E6E74-2673-4341-A945-9D118CA580DF}" destId="{94546DB4-F3E1-4B60-91EE-E557F3176315}" srcOrd="9" destOrd="0" presId="urn:microsoft.com/office/officeart/2008/layout/AscendingPictureAccentProcess"/>
    <dgm:cxn modelId="{2E468CDB-079C-4A67-A07A-EAC6F12CF5F7}" type="presParOf" srcId="{CC5E6E74-2673-4341-A945-9D118CA580DF}" destId="{903B47BD-7872-4CF1-8B71-E50B089534DD}" srcOrd="10" destOrd="0" presId="urn:microsoft.com/office/officeart/2008/layout/AscendingPictureAccentProcess"/>
    <dgm:cxn modelId="{424E0CC3-3271-4534-986C-A8E27B15C85B}" type="presParOf" srcId="{CC5E6E74-2673-4341-A945-9D118CA580DF}" destId="{0008F536-0520-40FE-8074-F9DA5175E259}" srcOrd="11" destOrd="0" presId="urn:microsoft.com/office/officeart/2008/layout/AscendingPictureAccentProcess"/>
    <dgm:cxn modelId="{CA326C20-3FCE-40CF-9EFB-E2261934D3DB}" type="presParOf" srcId="{0008F536-0520-40FE-8074-F9DA5175E259}" destId="{2E469AF0-9D80-4F40-8CC6-851CF69B6939}" srcOrd="0" destOrd="0" presId="urn:microsoft.com/office/officeart/2008/layout/AscendingPictureAccentProcess"/>
    <dgm:cxn modelId="{6376276B-D730-457B-B126-D98DC6F36E44}" type="presParOf" srcId="{CC5E6E74-2673-4341-A945-9D118CA580DF}" destId="{FB2170F1-A4F4-49FD-850F-60E874CAFEC7}" srcOrd="12" destOrd="0" presId="urn:microsoft.com/office/officeart/2008/layout/AscendingPictureAccentProcess"/>
    <dgm:cxn modelId="{EFCF0D23-7B65-43A3-864B-9B29E9959D3B}" type="presParOf" srcId="{CC5E6E74-2673-4341-A945-9D118CA580DF}" destId="{CD86F1F4-797C-4FA3-84FA-265B2225BF17}" srcOrd="13" destOrd="0" presId="urn:microsoft.com/office/officeart/2008/layout/AscendingPictureAccentProcess"/>
    <dgm:cxn modelId="{23584D06-4971-439B-8F91-D359D6328803}" type="presParOf" srcId="{CD86F1F4-797C-4FA3-84FA-265B2225BF17}" destId="{E219235D-00C2-416D-A96B-E3CBCE8EC318}" srcOrd="0" destOrd="0" presId="urn:microsoft.com/office/officeart/2008/layout/AscendingPictureAccent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7/14/2016</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7/14/2016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students to class.</a:t>
            </a:r>
          </a:p>
          <a:p>
            <a:endParaRPr lang="en-AU" noProof="0" dirty="0" smtClean="0"/>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1839381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b="1" noProof="0" dirty="0" smtClean="0"/>
              <a:t>Session introduction</a:t>
            </a:r>
          </a:p>
          <a:p>
            <a:pPr>
              <a:buFont typeface="Arial" pitchFamily="34" charset="0"/>
              <a:buChar char="•"/>
            </a:pPr>
            <a:r>
              <a:rPr lang="en-AU" noProof="0" dirty="0" smtClean="0"/>
              <a:t>Trainer to greet the trainees and introduce himself or herself</a:t>
            </a:r>
          </a:p>
          <a:p>
            <a:pPr>
              <a:buFont typeface="Arial" pitchFamily="34" charset="0"/>
              <a:buChar char="•"/>
            </a:pPr>
            <a:r>
              <a:rPr lang="en-AU" noProof="0" dirty="0" smtClean="0"/>
              <a:t>Explain the unit is looking at the skills and knowledge required to manage and execute a detailed tour itinerary</a:t>
            </a:r>
          </a:p>
          <a:p>
            <a:pPr>
              <a:buFont typeface="Arial" pitchFamily="34" charset="0"/>
              <a:buChar char="•"/>
            </a:pPr>
            <a:r>
              <a:rPr lang="en-AU" noProof="0" dirty="0" smtClean="0"/>
              <a:t>Explain to the trainees they are expected to actively participate in the learning process : from giving examples to complete research and participate during class work and activities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2557312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list all elements, explain to the trainees some topics, contents will be common to a few elements.</a:t>
            </a:r>
          </a:p>
          <a:p>
            <a:pPr>
              <a:buFont typeface="Arial" pitchFamily="34" charset="0"/>
              <a:buNone/>
            </a:pPr>
            <a:r>
              <a:rPr lang="en-US" noProof="0" dirty="0" smtClean="0"/>
              <a:t>Clarify that the unit addresses the management practices underpinning the on tour activities the tour leaders/guides will undertake and does not address the leading of the tour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846202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noProof="0" dirty="0" smtClean="0"/>
              <a:t>Trainer to make clear that the elements follow the order in which tour management and execution</a:t>
            </a:r>
            <a:r>
              <a:rPr lang="en-US" baseline="0" noProof="0" dirty="0" smtClean="0"/>
              <a:t> </a:t>
            </a:r>
            <a:r>
              <a:rPr lang="en-US" noProof="0" dirty="0" smtClean="0"/>
              <a:t>takes place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019794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noProof="0" dirty="0" smtClean="0"/>
              <a:t>Each of the 5 specific criteria details recommended steps for the preparation of a tour itinerary</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801155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clearly explain what an itinerary is and its importance as the ‘data base’ , framework for the tour including all the information necessary to organise the tour.</a:t>
            </a:r>
          </a:p>
          <a:p>
            <a:pPr>
              <a:buFont typeface="Arial" pitchFamily="34" charset="0"/>
              <a:buNone/>
            </a:pPr>
            <a:r>
              <a:rPr lang="en-US" noProof="0" dirty="0" smtClean="0"/>
              <a:t>Tour route means : where is the tour going?</a:t>
            </a:r>
          </a:p>
          <a:p>
            <a:pPr>
              <a:buFont typeface="Arial" pitchFamily="34" charset="0"/>
              <a:buNone/>
            </a:pPr>
            <a:r>
              <a:rPr lang="en-US" noProof="0" dirty="0" smtClean="0"/>
              <a:t>ALL travel arrangements means : every aspect of the tour from transport to accommodation, meals, activities etc..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11629302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Clearly identifying ALL requirements needs to take place to make sure the tour can be delivered in an efficient and successful manner</a:t>
            </a:r>
          </a:p>
          <a:p>
            <a:pPr>
              <a:buFont typeface="Arial" pitchFamily="34" charset="0"/>
              <a:buNone/>
            </a:pPr>
            <a:r>
              <a:rPr lang="en-US" noProof="0" dirty="0" smtClean="0"/>
              <a:t>Every step of the itinerary needs to be listed with as much information as is available at this preparation time    </a:t>
            </a:r>
          </a:p>
          <a:p>
            <a:pPr>
              <a:buFont typeface="Arial" pitchFamily="34" charset="0"/>
              <a:buNone/>
            </a:pPr>
            <a:r>
              <a:rPr lang="en-US" noProof="0" dirty="0" smtClean="0"/>
              <a:t>Trainer to organise the trainees in small 5 groups and ask each group to identify the products, services and activities that will be required for the following tours :</a:t>
            </a:r>
          </a:p>
          <a:p>
            <a:pPr>
              <a:buFont typeface="Arial" pitchFamily="34" charset="0"/>
              <a:buNone/>
            </a:pPr>
            <a:r>
              <a:rPr lang="en-US" noProof="0" dirty="0" smtClean="0"/>
              <a:t>Day city tour</a:t>
            </a:r>
          </a:p>
          <a:p>
            <a:pPr>
              <a:buFont typeface="Arial" pitchFamily="34" charset="0"/>
              <a:buNone/>
            </a:pPr>
            <a:r>
              <a:rPr lang="en-US" noProof="0" dirty="0" smtClean="0"/>
              <a:t>Galleries, museums day tour</a:t>
            </a:r>
          </a:p>
          <a:p>
            <a:pPr>
              <a:buFont typeface="Arial" pitchFamily="34" charset="0"/>
              <a:buNone/>
            </a:pPr>
            <a:r>
              <a:rPr lang="en-US" noProof="0" dirty="0" smtClean="0"/>
              <a:t>One day reef tour</a:t>
            </a:r>
          </a:p>
          <a:p>
            <a:pPr>
              <a:buFont typeface="Arial" pitchFamily="34" charset="0"/>
              <a:buNone/>
            </a:pPr>
            <a:r>
              <a:rPr lang="en-US" noProof="0" dirty="0" smtClean="0"/>
              <a:t>Overnight bush camping tour </a:t>
            </a:r>
          </a:p>
          <a:p>
            <a:pPr>
              <a:buFont typeface="Arial" pitchFamily="34" charset="0"/>
              <a:buNone/>
            </a:pPr>
            <a:r>
              <a:rPr lang="en-US" noProof="0" dirty="0" smtClean="0"/>
              <a:t>2 days cruise</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1118833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insist on the importance of </a:t>
            </a:r>
          </a:p>
          <a:p>
            <a:pPr>
              <a:buFont typeface="Arial" pitchFamily="34" charset="0"/>
              <a:buNone/>
            </a:pPr>
            <a:r>
              <a:rPr lang="en-US" noProof="0" dirty="0" smtClean="0"/>
              <a:t>Knowing who your customers are so you, as the tour guide, are aware of the group profile: younger, older, families for example. This will help you understand the group profile and understand better the tour group members needs and expectations</a:t>
            </a:r>
          </a:p>
          <a:p>
            <a:pPr>
              <a:buFont typeface="Arial" pitchFamily="34" charset="0"/>
              <a:buNone/>
            </a:pPr>
            <a:r>
              <a:rPr lang="en-US" noProof="0" dirty="0" smtClean="0"/>
              <a:t>Payments also need to be recorded and checked  </a:t>
            </a:r>
          </a:p>
          <a:p>
            <a:pPr>
              <a:buFont typeface="Arial" pitchFamily="34" charset="0"/>
              <a:buNone/>
            </a:pPr>
            <a:r>
              <a:rPr lang="en-US" noProof="0" dirty="0" smtClean="0"/>
              <a:t>If some destinations , activities have had to be changed , you need to know</a:t>
            </a:r>
          </a:p>
          <a:p>
            <a:pPr>
              <a:buFont typeface="Arial" pitchFamily="34" charset="0"/>
              <a:buNone/>
            </a:pPr>
            <a:r>
              <a:rPr lang="en-US" noProof="0" dirty="0" smtClean="0"/>
              <a:t>Clarification on all products and services scheduled to be part of the tour need to be take place and it is paramount to have all suppliers contact details on hand at any time during the tour</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399303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Any changes to destinations, activities and experiences need to be taken into account. Those changes might be due to seasonal changes, one off event such as an exhibition </a:t>
            </a:r>
          </a:p>
          <a:p>
            <a:pPr>
              <a:buFont typeface="Arial" pitchFamily="34" charset="0"/>
              <a:buNone/>
            </a:pPr>
            <a:r>
              <a:rPr lang="en-US" noProof="0" dirty="0" smtClean="0"/>
              <a:t>Trainer to ask trainees to research on the internet, in their country, region,  specific events, exhibition, shows that they think could be included in tours while they take place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2793825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list the requirements and divide the class in small working groups </a:t>
            </a:r>
          </a:p>
          <a:p>
            <a:pPr>
              <a:buFont typeface="Arial" pitchFamily="34" charset="0"/>
              <a:buNone/>
            </a:pPr>
            <a:r>
              <a:rPr lang="en-US" noProof="0" dirty="0" smtClean="0"/>
              <a:t>Trainees to research publicised financial terms and conditions for different tour organisations and discuss why they think why it is important </a:t>
            </a:r>
          </a:p>
          <a:p>
            <a:pPr>
              <a:buFont typeface="Arial" pitchFamily="34" charset="0"/>
              <a:buNone/>
            </a:pPr>
            <a:r>
              <a:rPr lang="en-US" noProof="0" dirty="0" smtClean="0"/>
              <a:t>Trainer to insist on to importance of finalising customers preferences prior to the beginning of the tour. Knowing which activities, options they have chosen is important to confirm numbers to the suppliers of products and services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3901404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that this stage is about contacting potential customers who are on file as having contacted the organisation in regards to the tour but have not followed up on </a:t>
            </a:r>
          </a:p>
          <a:p>
            <a:pPr>
              <a:buFont typeface="Arial" pitchFamily="34" charset="0"/>
              <a:buNone/>
            </a:pPr>
            <a:r>
              <a:rPr lang="en-US" noProof="0" dirty="0" smtClean="0"/>
              <a:t>Confirming if they are still interested in participating to the tour</a:t>
            </a:r>
          </a:p>
          <a:p>
            <a:pPr>
              <a:buFont typeface="Arial" pitchFamily="34" charset="0"/>
              <a:buNone/>
            </a:pPr>
            <a:r>
              <a:rPr lang="en-US" noProof="0" dirty="0" smtClean="0"/>
              <a:t>Obtaining payment if applicable</a:t>
            </a:r>
          </a:p>
          <a:p>
            <a:pPr>
              <a:buFont typeface="Arial" pitchFamily="34" charset="0"/>
              <a:buNone/>
            </a:pPr>
            <a:r>
              <a:rPr lang="en-US" noProof="0" dirty="0" smtClean="0"/>
              <a:t>This will finalise the number of participants. It is also an important part of customer service delivery as some potential customer might simply have forgotten to send payment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2425614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remind trainees of the importance of the ‘preparation work’  and how all the information collected will now be used to plan the tour.</a:t>
            </a:r>
          </a:p>
          <a:p>
            <a:pPr>
              <a:buFont typeface="Arial" pitchFamily="34" charset="0"/>
              <a:buNone/>
            </a:pPr>
            <a:r>
              <a:rPr lang="en-US" noProof="0" dirty="0" smtClean="0"/>
              <a:t>Trainer to explain that we are now at the planning stage of the tour using the information we have on hand</a:t>
            </a:r>
          </a:p>
          <a:p>
            <a:pPr>
              <a:buFont typeface="Arial" pitchFamily="34" charset="0"/>
              <a:buNone/>
            </a:pPr>
            <a:r>
              <a:rPr lang="en-US" noProof="0" dirty="0" smtClean="0"/>
              <a:t>The first step is to contact all suppliers to confirm the delivery of products and services for the tour:</a:t>
            </a:r>
          </a:p>
          <a:p>
            <a:pPr>
              <a:buFont typeface="Arial" pitchFamily="34" charset="0"/>
              <a:buNone/>
            </a:pPr>
            <a:r>
              <a:rPr lang="en-US" noProof="0" dirty="0" smtClean="0"/>
              <a:t>Transport-Accommodation-Catering and all activities included in the tour</a:t>
            </a:r>
          </a:p>
          <a:p>
            <a:pPr>
              <a:buFont typeface="Arial" pitchFamily="34" charset="0"/>
              <a:buNone/>
            </a:pPr>
            <a:r>
              <a:rPr lang="en-US" noProof="0" dirty="0" smtClean="0"/>
              <a:t>Trainer to explain that timeline is important to give suppliers enough time to get organised to deliver the products, services they are contracted for with the organisation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6234078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Using the examples from the workbook or its/her own, the trainer illustrates when, why you would seek information  in regards to</a:t>
            </a:r>
          </a:p>
          <a:p>
            <a:pPr>
              <a:buFont typeface="Arial" pitchFamily="34" charset="0"/>
              <a:buNone/>
            </a:pPr>
            <a:r>
              <a:rPr lang="en-US" noProof="0" dirty="0" smtClean="0"/>
              <a:t>Accommodation</a:t>
            </a:r>
          </a:p>
          <a:p>
            <a:pPr>
              <a:buFont typeface="Arial" pitchFamily="34" charset="0"/>
              <a:buNone/>
            </a:pPr>
            <a:r>
              <a:rPr lang="en-US" noProof="0" dirty="0" smtClean="0"/>
              <a:t>Catering</a:t>
            </a:r>
          </a:p>
          <a:p>
            <a:pPr>
              <a:buFont typeface="Arial" pitchFamily="34" charset="0"/>
              <a:buNone/>
            </a:pPr>
            <a:r>
              <a:rPr lang="en-US" noProof="0" dirty="0" smtClean="0"/>
              <a:t>Specific equipment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40920924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explain that sometimes the organisation will need to source and contract new suppliers. This business process is time consuming and reinforces the importance of having as much tour specific information as early as possible</a:t>
            </a:r>
          </a:p>
          <a:p>
            <a:pPr>
              <a:buFont typeface="Arial" pitchFamily="34" charset="0"/>
              <a:buNone/>
            </a:pPr>
            <a:r>
              <a:rPr lang="en-US" noProof="0" dirty="0" smtClean="0"/>
              <a:t>Using the examples from the workbook or its, her own trainer to illustrate the point just made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3760354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clarify that all reservations includes all products and services part of the tour</a:t>
            </a:r>
          </a:p>
          <a:p>
            <a:pPr>
              <a:buFont typeface="Arial" pitchFamily="34" charset="0"/>
              <a:buNone/>
            </a:pPr>
            <a:r>
              <a:rPr lang="en-US" noProof="0" dirty="0" smtClean="0"/>
              <a:t>Prior to the beginning of the tour, inclusions must all be checked to make sure they can take place: some places might be closed for winter, summer, renovations. You must always make sure you have the latest information on hand and a handling agent, on the ground, will help with this. Trainer to remind trainees of what a handling agent : your organisation representative on the ground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3265134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ask the trainees to give one example for each of the listed tour content components and share with the rest of the class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5482754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insist on the importance of managing customers’ needs and expectations to make sure the tour meets the group members needs and expectations from beginning to end</a:t>
            </a:r>
          </a:p>
          <a:p>
            <a:pPr>
              <a:buFont typeface="Arial" pitchFamily="34" charset="0"/>
              <a:buNone/>
            </a:pPr>
            <a:r>
              <a:rPr lang="en-US" noProof="0" dirty="0" smtClean="0"/>
              <a:t>Trainees to reflect on what expectations they would have if they were doing a educational day tour, visiting one museum and one art gallery. Trainer to write all the board the answers and discuss them with the group</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4125071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remind trainees of what Duty of Care is and clarify that the safety and security requirements for a tour will be different according to the country the tour takes place, and the type and length of the tour</a:t>
            </a:r>
          </a:p>
          <a:p>
            <a:pPr>
              <a:buFont typeface="Arial" pitchFamily="34" charset="0"/>
              <a:buNone/>
            </a:pPr>
            <a:r>
              <a:rPr lang="en-US" noProof="0" dirty="0" smtClean="0"/>
              <a:t>Trainer to explain how it is almost impossible to forecast every risk</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1979674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how some risk are more ‘serious’ that others, present more danger and ask the trainees to rate the 3 risks on from 1 : highest risk to 3 lowest risk. Trainees to share and explain their ranking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22698087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Tour specific risks factors need to be closely monitored to ensure the safety and security of all tour group and cover all aspects, inclusions of the tour.</a:t>
            </a:r>
          </a:p>
          <a:p>
            <a:pPr>
              <a:buFont typeface="Arial" pitchFamily="34" charset="0"/>
              <a:buNone/>
            </a:pPr>
            <a:r>
              <a:rPr lang="en-US" noProof="0" dirty="0" smtClean="0"/>
              <a:t>Using the workbook as a guide, the trainer can again split the group into 5 small groups and allocate one of the 5 topics on the 2 slides to investigate. The tour is an overnight bush tour</a:t>
            </a:r>
          </a:p>
          <a:p>
            <a:pPr>
              <a:buFont typeface="Arial" pitchFamily="34" charset="0"/>
              <a:buNone/>
            </a:pPr>
            <a:r>
              <a:rPr lang="en-US" noProof="0" dirty="0" smtClean="0"/>
              <a:t>Trainees to share the identified risk with the rest of the class and trainer to reinforce the importance of risk management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9249149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Tour specific risks factors need to be closely monitored to ensure the safety and security of all tour group and cover all aspects, inclusions of the tour.</a:t>
            </a:r>
          </a:p>
          <a:p>
            <a:pPr>
              <a:buFont typeface="Arial" pitchFamily="34" charset="0"/>
              <a:buNone/>
            </a:pPr>
            <a:r>
              <a:rPr lang="en-US" noProof="0" dirty="0" smtClean="0"/>
              <a:t>Using the workbook as a guide, the trainer can again split the group into 5 small groups and allocate one of the 5 topics on the 2 slides to investigate. The tour is an overnight bush tour</a:t>
            </a:r>
          </a:p>
          <a:p>
            <a:pPr>
              <a:buFont typeface="Arial" pitchFamily="34" charset="0"/>
              <a:buNone/>
            </a:pPr>
            <a:r>
              <a:rPr lang="en-US" noProof="0" dirty="0" smtClean="0"/>
              <a:t>Trainees to share the identified risk with the rest of the class and trainer to reinforce the importance of risk management  </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26793066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Brainstorming activity : </a:t>
            </a:r>
          </a:p>
          <a:p>
            <a:pPr>
              <a:buFont typeface="Arial" pitchFamily="34" charset="0"/>
              <a:buNone/>
            </a:pPr>
            <a:r>
              <a:rPr lang="en-US" noProof="0" dirty="0" smtClean="0"/>
              <a:t>When</a:t>
            </a:r>
          </a:p>
          <a:p>
            <a:pPr>
              <a:buFont typeface="Arial" pitchFamily="34" charset="0"/>
              <a:buNone/>
            </a:pPr>
            <a:r>
              <a:rPr lang="en-US" noProof="0" dirty="0" smtClean="0"/>
              <a:t>Why when would potential service delivery difficulties happen?</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963392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clarify where contingency plans fit with the organisation RMP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3822725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briefly go through those 4 steps and explain that we will mainly look at  1, 2 and 3 in this unit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5367076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and trainees to consult the table with the risk identified + proposed contingency plans and discuss if other contingency plans would be applicable for some of the risks identified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5594741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explain that distributing the correct information is paramount to the successful delivery of the tour.</a:t>
            </a:r>
          </a:p>
          <a:p>
            <a:pPr>
              <a:buFont typeface="Arial" pitchFamily="34" charset="0"/>
              <a:buNone/>
            </a:pPr>
            <a:r>
              <a:rPr lang="en-US" noProof="0" dirty="0" smtClean="0"/>
              <a:t>Suppliers need to know participants numbers, in regards to transport and accommodation, their names.</a:t>
            </a:r>
          </a:p>
          <a:p>
            <a:pPr>
              <a:buFont typeface="Arial" pitchFamily="34" charset="0"/>
              <a:buNone/>
            </a:pPr>
            <a:r>
              <a:rPr lang="en-US" noProof="0" dirty="0" smtClean="0"/>
              <a:t>The group profile information : age, gender, interest will also ensure the service will be more customised to the tour group members</a:t>
            </a:r>
          </a:p>
          <a:p>
            <a:pPr>
              <a:buFont typeface="Arial" pitchFamily="34" charset="0"/>
              <a:buNone/>
            </a:pPr>
            <a:r>
              <a:rPr lang="en-US" noProof="0" dirty="0" smtClean="0"/>
              <a:t>Booking numbers are a way of confirming that services are reserved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26448368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Official travel requirements such as visa, passport, vaccinations need to be checked and passed onto the relevant body  </a:t>
            </a:r>
          </a:p>
          <a:p>
            <a:pPr>
              <a:buFont typeface="Arial" pitchFamily="34" charset="0"/>
              <a:buNone/>
            </a:pPr>
            <a:r>
              <a:rPr lang="en-US" noProof="0" dirty="0" smtClean="0"/>
              <a:t>Of course, payments need to be processed so that the tour products and services can be delivered </a:t>
            </a:r>
          </a:p>
          <a:p>
            <a:pPr>
              <a:buFont typeface="Arial" pitchFamily="34" charset="0"/>
              <a:buNone/>
            </a:pPr>
            <a:r>
              <a:rPr lang="en-US" noProof="0" dirty="0" smtClean="0"/>
              <a:t>Working in pairs, trainees to match the information to the relevant body, supplier</a:t>
            </a:r>
          </a:p>
          <a:p>
            <a:pPr>
              <a:buFont typeface="Arial" pitchFamily="34" charset="0"/>
              <a:buNone/>
            </a:pPr>
            <a:r>
              <a:rPr lang="en-US" noProof="0" dirty="0" smtClean="0"/>
              <a:t>Passport number</a:t>
            </a:r>
          </a:p>
          <a:p>
            <a:pPr>
              <a:buFont typeface="Arial" pitchFamily="34" charset="0"/>
              <a:buNone/>
            </a:pPr>
            <a:r>
              <a:rPr lang="en-US" noProof="0" dirty="0" smtClean="0"/>
              <a:t>Customer request for a quiet room</a:t>
            </a:r>
          </a:p>
          <a:p>
            <a:pPr>
              <a:buFont typeface="Arial" pitchFamily="34" charset="0"/>
              <a:buNone/>
            </a:pPr>
            <a:r>
              <a:rPr lang="en-US" noProof="0" dirty="0" smtClean="0"/>
              <a:t> </a:t>
            </a:r>
          </a:p>
          <a:p>
            <a:pPr>
              <a:buFont typeface="Arial" pitchFamily="34" charset="0"/>
              <a:buNone/>
            </a:pPr>
            <a:r>
              <a:rPr lang="en-US" noProof="0" dirty="0" smtClean="0"/>
              <a:t>Organisation records</a:t>
            </a:r>
          </a:p>
          <a:p>
            <a:pPr>
              <a:buFont typeface="Arial" pitchFamily="34" charset="0"/>
              <a:buNone/>
            </a:pPr>
            <a:r>
              <a:rPr lang="en-US" noProof="0" dirty="0" smtClean="0"/>
              <a:t>Accommodation venue </a:t>
            </a:r>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171086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to remind trainees of the importance of obtaining a confirmation from each suppliers to make sure they are aware of the impending tour and of the products, services they will provide</a:t>
            </a:r>
          </a:p>
          <a:p>
            <a:pPr>
              <a:buFont typeface="Arial" pitchFamily="34" charset="0"/>
              <a:buNone/>
            </a:pPr>
            <a:r>
              <a:rPr lang="en-US" noProof="0" dirty="0" smtClean="0"/>
              <a:t>Trainer and trainees to list on the board the various ways confirmations can now be received </a:t>
            </a:r>
          </a:p>
          <a:p>
            <a:pPr>
              <a:buFont typeface="Arial" pitchFamily="34" charset="0"/>
              <a:buNone/>
            </a:pPr>
            <a:r>
              <a:rPr lang="en-US" noProof="0" dirty="0" smtClean="0"/>
              <a:t>Hard copy</a:t>
            </a:r>
          </a:p>
          <a:p>
            <a:pPr>
              <a:buFont typeface="Arial" pitchFamily="34" charset="0"/>
              <a:buNone/>
            </a:pPr>
            <a:r>
              <a:rPr lang="en-US" noProof="0" dirty="0" smtClean="0"/>
              <a:t>Soft copy via : email, skype, mobile phone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40222170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present this new element dealing with conducting departure-related activities</a:t>
            </a:r>
          </a:p>
          <a:p>
            <a:pPr>
              <a:buFont typeface="Arial" pitchFamily="34" charset="0"/>
              <a:buNone/>
            </a:pPr>
            <a:r>
              <a:rPr lang="en-US" dirty="0" smtClean="0"/>
              <a:t>This is when the tour staff will meet all the tour group members, establish a rapport and check all outstanding details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10718073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insist on the importance of this stage, its impact for the delivery of the tour</a:t>
            </a:r>
          </a:p>
          <a:p>
            <a:pPr>
              <a:buFont typeface="Arial" pitchFamily="34" charset="0"/>
              <a:buNone/>
            </a:pPr>
            <a:r>
              <a:rPr lang="en-US" dirty="0" smtClean="0"/>
              <a:t>Trainer to ask trainees to write, in small, groups a few sentences they would use to </a:t>
            </a:r>
          </a:p>
          <a:p>
            <a:pPr>
              <a:buFont typeface="Arial" pitchFamily="34" charset="0"/>
              <a:buNone/>
            </a:pPr>
            <a:r>
              <a:rPr lang="en-US" dirty="0" smtClean="0"/>
              <a:t>Welcome the participants</a:t>
            </a:r>
          </a:p>
          <a:p>
            <a:pPr>
              <a:buFont typeface="Arial" pitchFamily="34" charset="0"/>
              <a:buNone/>
            </a:pPr>
            <a:r>
              <a:rPr lang="en-US" dirty="0" smtClean="0"/>
              <a:t>Introduce themselves and staff</a:t>
            </a:r>
          </a:p>
          <a:p>
            <a:pPr>
              <a:buFont typeface="Arial" pitchFamily="34" charset="0"/>
              <a:buNone/>
            </a:pPr>
            <a:r>
              <a:rPr lang="en-US" dirty="0" smtClean="0"/>
              <a:t>Groups to read their scenario to the rest of the class. At the completion of the activity, trainer to give opinion on the ‘good scenarios’ and the ones with ‘room for improvement’ and explain why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38081275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that after the tour briefing takes place after the introduction stage</a:t>
            </a:r>
          </a:p>
          <a:p>
            <a:pPr>
              <a:buFont typeface="Arial" pitchFamily="34" charset="0"/>
              <a:buNone/>
            </a:pPr>
            <a:r>
              <a:rPr lang="en-US" dirty="0" smtClean="0"/>
              <a:t>The briefing will cover all the information required so that the tour group members are clear on </a:t>
            </a:r>
          </a:p>
          <a:p>
            <a:pPr>
              <a:buFont typeface="Arial" pitchFamily="34" charset="0"/>
              <a:buNone/>
            </a:pPr>
            <a:r>
              <a:rPr lang="en-US" dirty="0" smtClean="0"/>
              <a:t>What is happening, when and how</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26452584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While all members are present, the tour staff can </a:t>
            </a:r>
          </a:p>
          <a:p>
            <a:pPr>
              <a:buFont typeface="Arial" pitchFamily="34" charset="0"/>
              <a:buNone/>
            </a:pPr>
            <a:r>
              <a:rPr lang="en-US" dirty="0" smtClean="0"/>
              <a:t>Check all names and how to say them properly, clarify how tour group members would prefer to be called</a:t>
            </a:r>
          </a:p>
          <a:p>
            <a:pPr>
              <a:buFont typeface="Arial" pitchFamily="34" charset="0"/>
              <a:buNone/>
            </a:pPr>
            <a:r>
              <a:rPr lang="en-US" dirty="0" smtClean="0"/>
              <a:t>Confirm optional activities participation so  you can finalise numbers and informed the relevant supplier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9750636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The last step of completing outstanding details is to make sure you</a:t>
            </a:r>
          </a:p>
          <a:p>
            <a:pPr>
              <a:buFont typeface="Arial" pitchFamily="34" charset="0"/>
              <a:buNone/>
            </a:pPr>
            <a:r>
              <a:rPr lang="en-US" dirty="0" smtClean="0"/>
              <a:t>Have all the necessary documentation from passport copies to visa and disclaimer forms for high risks activities </a:t>
            </a:r>
          </a:p>
          <a:p>
            <a:pPr>
              <a:buFont typeface="Arial" pitchFamily="34" charset="0"/>
              <a:buNone/>
            </a:pPr>
            <a:r>
              <a:rPr lang="en-US" dirty="0" smtClean="0"/>
              <a:t>Issue receipts for payments, name badges, luggage (If applicable), vouchers, passes, welcome kit </a:t>
            </a:r>
          </a:p>
          <a:p>
            <a:pPr>
              <a:buFont typeface="Arial" pitchFamily="34" charset="0"/>
              <a:buNone/>
            </a:pPr>
            <a:r>
              <a:rPr lang="en-US" dirty="0" smtClean="0"/>
              <a:t>Trainer to organise 3 groups of trainees and ask groups to compile a list of items they would put in a welcome bag for:</a:t>
            </a:r>
          </a:p>
          <a:p>
            <a:pPr>
              <a:buFont typeface="Arial" pitchFamily="34" charset="0"/>
              <a:buNone/>
            </a:pPr>
            <a:r>
              <a:rPr lang="en-US" dirty="0" smtClean="0"/>
              <a:t>One day educational tour visiting a couple of museums</a:t>
            </a:r>
          </a:p>
          <a:p>
            <a:pPr>
              <a:buFont typeface="Arial" pitchFamily="34" charset="0"/>
              <a:buNone/>
            </a:pPr>
            <a:r>
              <a:rPr lang="en-US" dirty="0" smtClean="0"/>
              <a:t>Overnight cruise on a river</a:t>
            </a:r>
          </a:p>
          <a:p>
            <a:pPr>
              <a:buFont typeface="Arial" pitchFamily="34" charset="0"/>
              <a:buNone/>
            </a:pPr>
            <a:r>
              <a:rPr lang="en-US" dirty="0" smtClean="0"/>
              <a:t>Historical 2 days trip, visiting places of worship such as temples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5032330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Tour related information you will pass on and distribute to tour group members will vary according to the type and length of tour and may deal with:</a:t>
            </a:r>
          </a:p>
          <a:p>
            <a:pPr>
              <a:buFont typeface="Arial" pitchFamily="34" charset="0"/>
              <a:buNone/>
            </a:pPr>
            <a:r>
              <a:rPr lang="en-US" dirty="0" smtClean="0"/>
              <a:t>Tour rules : they cover </a:t>
            </a:r>
          </a:p>
          <a:p>
            <a:pPr>
              <a:buFont typeface="Arial" pitchFamily="34" charset="0"/>
              <a:buNone/>
            </a:pPr>
            <a:r>
              <a:rPr lang="en-US" dirty="0" smtClean="0"/>
              <a:t>Appropriate expected behaviour at all times : during the activities specially if the visits include temples, churches with specific dress codes </a:t>
            </a:r>
          </a:p>
          <a:p>
            <a:pPr>
              <a:buFont typeface="Arial" pitchFamily="34" charset="0"/>
              <a:buNone/>
            </a:pPr>
            <a:r>
              <a:rPr lang="en-US" dirty="0" smtClean="0"/>
              <a:t>Communication protocols at all times : during activities, during business hours, after hours </a:t>
            </a:r>
          </a:p>
          <a:p>
            <a:pPr>
              <a:buFont typeface="Arial" pitchFamily="34" charset="0"/>
              <a:buNone/>
            </a:pPr>
            <a:r>
              <a:rPr lang="en-US" dirty="0" smtClean="0"/>
              <a:t>Safety and Security information are part of Duty of Care and the tour staff must ensure all tour group members are aware of them and if the use of safety equipment is required, it is imperative all tour group members are shown how to use it and practice how to use it </a:t>
            </a:r>
          </a:p>
          <a:p>
            <a:pPr>
              <a:buFont typeface="Arial" pitchFamily="34" charset="0"/>
              <a:buNone/>
            </a:pPr>
            <a:r>
              <a:rPr lang="en-US" dirty="0" smtClean="0"/>
              <a:t>Trainer to organise to get some safety equipment such as life jacket, demonstrate how to out it one and use it and then ask trainees to do the same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972100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the importance of providing all tour group members with useful information on </a:t>
            </a:r>
          </a:p>
          <a:p>
            <a:pPr>
              <a:buFont typeface="Arial" pitchFamily="34" charset="0"/>
              <a:buNone/>
            </a:pPr>
            <a:r>
              <a:rPr lang="en-US" dirty="0" smtClean="0"/>
              <a:t>How and where to exchange foreign currency (if overseas) </a:t>
            </a:r>
          </a:p>
          <a:p>
            <a:pPr>
              <a:buFont typeface="Arial" pitchFamily="34" charset="0"/>
              <a:buNone/>
            </a:pPr>
            <a:r>
              <a:rPr lang="en-US" dirty="0" smtClean="0"/>
              <a:t>How to tip, if appropriate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7421324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remind class of the importance for all concerned parties to have the latest information to deliver the product and services booked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34954052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remind the trainees of the importance of actioning last minute changes, payments</a:t>
            </a:r>
          </a:p>
          <a:p>
            <a:pPr>
              <a:buFont typeface="Arial" pitchFamily="34" charset="0"/>
              <a:buNone/>
            </a:pPr>
            <a:r>
              <a:rPr lang="en-US" dirty="0" smtClean="0"/>
              <a:t>Service suppliers must be informed to deliver their products, services  </a:t>
            </a:r>
          </a:p>
          <a:p>
            <a:pPr>
              <a:buFont typeface="Arial" pitchFamily="34" charset="0"/>
              <a:buNone/>
            </a:pPr>
            <a:r>
              <a:rPr lang="en-US" dirty="0" smtClean="0"/>
              <a:t>Trainer and trainees to compile a list of possible last minute changes that could happen for</a:t>
            </a:r>
          </a:p>
          <a:p>
            <a:pPr>
              <a:buFont typeface="Arial" pitchFamily="34" charset="0"/>
              <a:buNone/>
            </a:pPr>
            <a:r>
              <a:rPr lang="en-US" dirty="0" smtClean="0"/>
              <a:t>A half day city tour including a visit to a park and to a tower with a famous city view platform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5049474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that this element deals with the tour staff in regards to managing the itinerary </a:t>
            </a:r>
          </a:p>
          <a:p>
            <a:pPr>
              <a:buFont typeface="Arial" pitchFamily="34" charset="0"/>
              <a:buNone/>
            </a:pPr>
            <a:r>
              <a:rPr lang="en-US" dirty="0" smtClean="0"/>
              <a:t>2 topics will be covered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42910957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list the topics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5864721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stress that the itinerary must be explained in detail to the tour staff so they can deliver the tour in the most efficient way possible</a:t>
            </a:r>
          </a:p>
          <a:p>
            <a:pPr>
              <a:buFont typeface="Arial" pitchFamily="34" charset="0"/>
              <a:buNone/>
            </a:pPr>
            <a:r>
              <a:rPr lang="en-US" dirty="0" smtClean="0"/>
              <a:t>Tour staff needs to pay special attention to the tour schedule, timetable, transfer times, visits times, accommodation and meals times and requirements</a:t>
            </a:r>
          </a:p>
          <a:p>
            <a:pPr>
              <a:buFont typeface="Arial" pitchFamily="34" charset="0"/>
              <a:buNone/>
            </a:pPr>
            <a:r>
              <a:rPr lang="en-US" dirty="0" smtClean="0"/>
              <a:t>They also need to be familiar with all inclusions and options as they will be managing them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35952468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remind trainees that good customer service is one of the keys element to deliver a successful tour</a:t>
            </a:r>
          </a:p>
          <a:p>
            <a:pPr>
              <a:buFont typeface="Arial" pitchFamily="34" charset="0"/>
              <a:buNone/>
            </a:pPr>
            <a:r>
              <a:rPr lang="en-US" dirty="0" smtClean="0"/>
              <a:t>Knowing your audience will help with ensuring you meet the group tour members expectations  </a:t>
            </a:r>
          </a:p>
          <a:p>
            <a:pPr>
              <a:buFont typeface="Arial" pitchFamily="34" charset="0"/>
              <a:buNone/>
            </a:pPr>
            <a:r>
              <a:rPr lang="en-US" dirty="0" smtClean="0"/>
              <a:t>Case study : during the tour briefing it emerges that a large majority of the overnight indulgence, luxury tour participants are not fluent in English. In pairs, decide what steps, strategies you will put in place to ensure the success of the tour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21278298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to the trainees what is a :</a:t>
            </a:r>
          </a:p>
          <a:p>
            <a:pPr>
              <a:buFont typeface="Arial" pitchFamily="34" charset="0"/>
              <a:buNone/>
            </a:pPr>
            <a:r>
              <a:rPr lang="en-US" dirty="0" smtClean="0"/>
              <a:t>Rooming list</a:t>
            </a:r>
          </a:p>
          <a:p>
            <a:pPr>
              <a:buFont typeface="Arial" pitchFamily="34" charset="0"/>
              <a:buNone/>
            </a:pPr>
            <a:r>
              <a:rPr lang="en-US" dirty="0" smtClean="0"/>
              <a:t>Running sheet</a:t>
            </a:r>
          </a:p>
          <a:p>
            <a:pPr>
              <a:buFont typeface="Arial" pitchFamily="34" charset="0"/>
              <a:buNone/>
            </a:pPr>
            <a:r>
              <a:rPr lang="en-US" dirty="0" smtClean="0"/>
              <a:t>Daily log</a:t>
            </a:r>
          </a:p>
          <a:p>
            <a:pPr>
              <a:buFont typeface="Arial" pitchFamily="34" charset="0"/>
              <a:buNone/>
            </a:pPr>
            <a:r>
              <a:rPr lang="en-US" dirty="0" smtClean="0"/>
              <a:t>and why those documents are important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24523163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 to remind the trainees that the administration side of any tour is important as it serves to keep transaction records that will be used for</a:t>
            </a:r>
          </a:p>
          <a:p>
            <a:pPr>
              <a:buFont typeface="Arial" pitchFamily="34" charset="0"/>
              <a:buNone/>
            </a:pPr>
            <a:r>
              <a:rPr lang="en-US" dirty="0" smtClean="0"/>
              <a:t>Accounting purposes</a:t>
            </a:r>
          </a:p>
          <a:p>
            <a:pPr>
              <a:buFont typeface="Arial" pitchFamily="34" charset="0"/>
              <a:buNone/>
            </a:pPr>
            <a:r>
              <a:rPr lang="en-US" dirty="0" smtClean="0"/>
              <a:t>For future reference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4110898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go through what resources to support tour can cover :</a:t>
            </a:r>
          </a:p>
          <a:p>
            <a:pPr>
              <a:buFont typeface="Arial" pitchFamily="34" charset="0"/>
              <a:buNone/>
            </a:pPr>
            <a:r>
              <a:rPr lang="en-US" dirty="0" smtClean="0"/>
              <a:t>Documentation as listed above</a:t>
            </a:r>
          </a:p>
          <a:p>
            <a:pPr>
              <a:buFont typeface="Arial" pitchFamily="34" charset="0"/>
              <a:buNone/>
            </a:pPr>
            <a:r>
              <a:rPr lang="en-US" dirty="0" smtClean="0"/>
              <a:t>Industry contacts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40971926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go through the list and remind trainees that different tours will have different resources requirements</a:t>
            </a:r>
          </a:p>
          <a:p>
            <a:pPr>
              <a:buFont typeface="Arial" pitchFamily="34" charset="0"/>
              <a:buNone/>
            </a:pPr>
            <a:r>
              <a:rPr lang="en-US" dirty="0" smtClean="0"/>
              <a:t>Trainees to complete some research and put together a physical resources list for a 2 nights bush camping tour and share their findings with the class when the list is completed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3131519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that this 4</a:t>
            </a:r>
            <a:r>
              <a:rPr lang="en-US" baseline="30000" dirty="0" smtClean="0"/>
              <a:t>th</a:t>
            </a:r>
            <a:r>
              <a:rPr lang="en-US" dirty="0" smtClean="0"/>
              <a:t> element is about liaising with all external colleagues, suppliers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4691290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use the examples from the workbook or his/her examples to illustrate the points on the slide </a:t>
            </a:r>
          </a:p>
          <a:p>
            <a:pPr>
              <a:buFont typeface="Arial" pitchFamily="34" charset="0"/>
              <a:buNone/>
            </a:pPr>
            <a:r>
              <a:rPr lang="en-US" dirty="0" smtClean="0"/>
              <a:t>Trainer to ask trainees to explain, in your own words, the importance of liaising with industry personnel using an example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40933484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Again, using the workbook examples or others, the trainer will explain how specialist advice might be required during the tour  and changes negotiated, if required</a:t>
            </a:r>
          </a:p>
          <a:p>
            <a:pPr>
              <a:buFont typeface="Arial" pitchFamily="34" charset="0"/>
              <a:buNone/>
            </a:pPr>
            <a:r>
              <a:rPr lang="en-US" dirty="0" smtClean="0"/>
              <a:t>Class activity : trainees to find examples when legal advice due to change</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7413922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brainstorm with the trainees examples of issues that might arise during a tour</a:t>
            </a:r>
          </a:p>
          <a:p>
            <a:pPr>
              <a:buFont typeface="Arial" pitchFamily="34" charset="0"/>
              <a:buNone/>
            </a:pPr>
            <a:r>
              <a:rPr lang="en-US" dirty="0" smtClean="0"/>
              <a:t>Trainer to explain the difference between issue and emergency</a:t>
            </a:r>
          </a:p>
          <a:p>
            <a:pPr>
              <a:buFont typeface="Arial" pitchFamily="34" charset="0"/>
              <a:buNone/>
            </a:pPr>
            <a:r>
              <a:rPr lang="en-US" dirty="0" smtClean="0"/>
              <a:t>Trainer to explain, as per the workbook examples, what measures can be put in place to respond to issues arising from organising transport to change a booking  </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31233349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go through the 6 criteria and insist we are now dealing with the management of the tour itinerary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3865406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the importance of the tour schedule and keeping to it to make sure all the activities, options etc can take place on time and when scheduled</a:t>
            </a:r>
          </a:p>
          <a:p>
            <a:pPr>
              <a:buFont typeface="Arial" pitchFamily="34" charset="0"/>
              <a:buNone/>
            </a:pPr>
            <a:r>
              <a:rPr lang="en-US" dirty="0" smtClean="0"/>
              <a:t>The facilitation can be provided both by the office and on the ground by the tour staff dealing with all products and services suppliers, support systems such as emergency numbers if required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4107592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to provide the trainees with some tour organisations contact name and number. Trainees to find the type of office based support the organisation provide to the tour staff while on tour. Findings to be shared with the class when the activity is completed and compared with the items listed in the workbook  </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38687833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how those points are also designed to support the staff while on tour and illustrate the points with a few examples from the region, country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22279044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conduct internet research with trainees within their country to identify specific locations where the situation explained on the slide would take place due to remote location and difficulty in communication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36303658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 to comment on the examples in the workbooks or use his /her own to illustrate the point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28273380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comment on slide and also remind trainees about the well being of tour group members being more important than financial  considerations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26284023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that re planning an itinerary is going to require team work and all 4 points listed need to be carefully considered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29551159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the consequences of re-planning itinerary using workbook examples or his/her own.</a:t>
            </a:r>
          </a:p>
          <a:p>
            <a:pPr>
              <a:buFont typeface="Arial" pitchFamily="34" charset="0"/>
              <a:buNone/>
            </a:pPr>
            <a:r>
              <a:rPr lang="en-US" dirty="0" smtClean="0"/>
              <a:t>Trainer to stress the importance of putting the tour group members first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13368142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the differences between countries legislation, liabilities, duty of care etc.</a:t>
            </a:r>
          </a:p>
          <a:p>
            <a:pPr>
              <a:buFont typeface="Arial" pitchFamily="34" charset="0"/>
              <a:buNone/>
            </a:pPr>
            <a:r>
              <a:rPr lang="en-US" dirty="0" smtClean="0"/>
              <a:t>Class activity : trainees to find the relevant country legislation , guidelines or even examples in regards to tour operator liabilities when a change of itinerary takes place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6710408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discuss with trainees the various ways alternative arrangements can be confirmed and communicated to all concerned parties nowadays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0823204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illustrate the point by asking the trainees in groups of 4 to write a scenario about a change of itinerary due to a road closure.</a:t>
            </a:r>
          </a:p>
          <a:p>
            <a:pPr>
              <a:buFont typeface="Arial" pitchFamily="34" charset="0"/>
              <a:buNone/>
            </a:pPr>
            <a:r>
              <a:rPr lang="en-US" dirty="0" smtClean="0"/>
              <a:t>Trainees to role play what the tour staff would say to the tour group members to minimise disruption and dissatisfaction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229262255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split the class into 3 groups. Groups to read the workbook content and then explain it to the rest of the class</a:t>
            </a:r>
          </a:p>
          <a:p>
            <a:pPr>
              <a:buFont typeface="Arial" pitchFamily="34" charset="0"/>
              <a:buNone/>
            </a:pPr>
            <a:r>
              <a:rPr lang="en-US" dirty="0" smtClean="0"/>
              <a:t>One group will cover central contact point</a:t>
            </a:r>
          </a:p>
          <a:p>
            <a:pPr>
              <a:buFont typeface="Arial" pitchFamily="34" charset="0"/>
              <a:buNone/>
            </a:pPr>
            <a:r>
              <a:rPr lang="en-US" dirty="0" smtClean="0"/>
              <a:t>One group progress report</a:t>
            </a:r>
          </a:p>
          <a:p>
            <a:pPr>
              <a:buFont typeface="Arial" pitchFamily="34" charset="0"/>
              <a:buNone/>
            </a:pPr>
            <a:r>
              <a:rPr lang="en-US" dirty="0" smtClean="0"/>
              <a:t>One group financial settlement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162116459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illustrate the slide content with the workbook examples or his/her own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29627091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remind trainees of the importance of the support role the host enterprise needs to plan when managing on tour itinerary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44096075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this follows onto the importance of keeping in touch and ensuring that, even if the tour is in a remote location, regular contact can be made and maintained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83920664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remind trainees of the host enterprise legal responsibilities and duty of care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369759667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0" i="0" kern="1200" dirty="0" smtClean="0">
                <a:solidFill>
                  <a:schemeClr val="tx1"/>
                </a:solidFill>
                <a:latin typeface="+mn-lt"/>
                <a:ea typeface="+mn-ea"/>
                <a:cs typeface="+mn-cs"/>
              </a:rPr>
              <a:t>T</a:t>
            </a:r>
            <a:r>
              <a:rPr lang="en-US" dirty="0" smtClean="0"/>
              <a:t>rainer to illustrate the points on slide by researching with trainees official websites such as Smart traveller in Australia</a:t>
            </a:r>
          </a:p>
          <a:p>
            <a:pPr fontAlgn="ctr"/>
            <a:r>
              <a:rPr lang="en-AU" sz="1200" b="0" i="0" kern="1200" dirty="0" smtClean="0">
                <a:solidFill>
                  <a:schemeClr val="tx1"/>
                </a:solidFill>
                <a:latin typeface="+mn-lt"/>
                <a:ea typeface="+mn-ea"/>
                <a:cs typeface="+mn-cs"/>
              </a:rPr>
              <a:t>www.</a:t>
            </a:r>
            <a:r>
              <a:rPr lang="en-AU" sz="1200" b="1" i="0" kern="1200" dirty="0" smtClean="0">
                <a:solidFill>
                  <a:schemeClr val="tx1"/>
                </a:solidFill>
                <a:latin typeface="+mn-lt"/>
                <a:ea typeface="+mn-ea"/>
                <a:cs typeface="+mn-cs"/>
              </a:rPr>
              <a:t>smartraveller</a:t>
            </a:r>
            <a:r>
              <a:rPr lang="en-AU" sz="1200" b="0" i="0" kern="1200" dirty="0" smtClean="0">
                <a:solidFill>
                  <a:schemeClr val="tx1"/>
                </a:solidFill>
                <a:latin typeface="+mn-lt"/>
                <a:ea typeface="+mn-ea"/>
                <a:cs typeface="+mn-cs"/>
              </a:rPr>
              <a:t>.gov.au/</a:t>
            </a:r>
            <a:br>
              <a:rPr lang="en-AU" sz="1200" b="0" i="0" kern="1200" dirty="0" smtClean="0">
                <a:solidFill>
                  <a:schemeClr val="tx1"/>
                </a:solidFill>
                <a:latin typeface="+mn-lt"/>
                <a:ea typeface="+mn-ea"/>
                <a:cs typeface="+mn-cs"/>
              </a:rPr>
            </a:b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191327593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introduce this element dealing with unexpected events and their impact on the tour</a:t>
            </a:r>
          </a:p>
          <a:p>
            <a:pPr>
              <a:buFont typeface="Arial" pitchFamily="34" charset="0"/>
              <a:buNone/>
            </a:pPr>
            <a:r>
              <a:rPr lang="en-US" dirty="0" smtClean="0"/>
              <a:t>Trainer to detail the 6 performance criteria</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21511893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introduce this element dealing with unexpected events and their impact on the tour</a:t>
            </a:r>
          </a:p>
          <a:p>
            <a:pPr>
              <a:buFont typeface="Arial" pitchFamily="34" charset="0"/>
              <a:buNone/>
            </a:pPr>
            <a:r>
              <a:rPr lang="en-US" dirty="0" smtClean="0"/>
              <a:t>Trainer to detail the 6 performance criteria</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38217402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remind the trainees of the importance of knowing what to do when the unexpected happens and stress the organisation’s responsibilities in having a EMP (Emergency Management Plan) and making sure all tour staff are familiar with it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258719670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this list is not exhaustive and ask trainees for other examples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12357915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detail each step and options to make sure the contingency planning actions are the best for dealing with the unexpected event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253332197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insist on the importance of the 2 topics , one being more office based and the other one on the ground support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383807643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stress how important it is to listen to all parties as they might come from difference perspective and offer different strategies to deal with the unexpected event. The office based staff might have had more time to do research as the staff on the ground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362853997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go over the examples in the workbook and explain the difference between a</a:t>
            </a:r>
          </a:p>
          <a:p>
            <a:pPr>
              <a:buFont typeface="Arial" pitchFamily="34" charset="0"/>
              <a:buNone/>
            </a:pPr>
            <a:r>
              <a:rPr lang="en-US" dirty="0" smtClean="0"/>
              <a:t>Crisis management team</a:t>
            </a:r>
          </a:p>
          <a:p>
            <a:pPr>
              <a:buFont typeface="Arial" pitchFamily="34" charset="0"/>
              <a:buNone/>
            </a:pPr>
            <a:r>
              <a:rPr lang="en-US" dirty="0" smtClean="0"/>
              <a:t>Designated business representative</a:t>
            </a:r>
          </a:p>
          <a:p>
            <a:pPr>
              <a:buFont typeface="Arial" pitchFamily="34" charset="0"/>
              <a:buNone/>
            </a:pPr>
            <a:r>
              <a:rPr lang="en-US" dirty="0" smtClean="0"/>
              <a:t>Trainer to ask the trainees to write, in their own words, how sending staff on the ground will provide moral support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91038186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that ‘knowledge is power’ and one of the best outcome of data gathering is to find and get in touch with parties, people who have gone trough the same unexpected even and discuss :</a:t>
            </a:r>
            <a:r>
              <a:rPr lang="en-US" baseline="0" dirty="0" smtClean="0"/>
              <a:t> </a:t>
            </a:r>
            <a:r>
              <a:rPr lang="en-US" dirty="0" smtClean="0"/>
              <a:t>what happened-what was one and how and use the information and experience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95464618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have a brainstorming session with trainees and list as many emergencies as possible on the board or flip chart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248082817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that any change needs to be take place with the minimum disruption for the tour group members</a:t>
            </a:r>
          </a:p>
          <a:p>
            <a:pPr>
              <a:buFont typeface="Arial" pitchFamily="34" charset="0"/>
              <a:buNone/>
            </a:pPr>
            <a:r>
              <a:rPr lang="en-US" dirty="0" smtClean="0"/>
              <a:t>Trainer to direct the trainees to do complete research on how various organisations dealt with the Iceland volcano eruption situation in April 2009  when 100,00 planes were grounded and 10 millions passengers stranded at some point in time and their travel plans disrupted . Findings to be shared with the class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285758181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insist on the fact that a tour that has already started will be cancel only as a last resort.</a:t>
            </a:r>
          </a:p>
          <a:p>
            <a:pPr>
              <a:buFont typeface="Arial" pitchFamily="34" charset="0"/>
              <a:buNone/>
            </a:pPr>
            <a:r>
              <a:rPr lang="en-US" dirty="0" smtClean="0"/>
              <a:t>Discuss the points on slide with trainees </a:t>
            </a:r>
          </a:p>
          <a:p>
            <a:pPr>
              <a:buFont typeface="Arial" pitchFamily="34" charset="0"/>
              <a:buNone/>
            </a:pPr>
            <a:r>
              <a:rPr lang="en-US" dirty="0" smtClean="0"/>
              <a:t>Discuss the possible flow on effect in regards to the host enterprise, tour operator reputation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220173327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impart on the trainees the importance of this public relation aspect of an emergency.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15679624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each organisation should have a protocol in place for those times when the media will become involved</a:t>
            </a:r>
          </a:p>
          <a:p>
            <a:pPr>
              <a:buFont typeface="Arial" pitchFamily="34" charset="0"/>
              <a:buNone/>
            </a:pPr>
            <a:r>
              <a:rPr lang="en-US" dirty="0" smtClean="0"/>
              <a:t>Trainer and trainees to do some research and/or use recent publicised tour unexpected events and  discuss how each company, organisation dealt with the media attention from printed media to Facebook and twitter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43281325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use this as revision from 5.3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265991514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this is the last element of the unit and it covers the tasks to complete after the tour completion</a:t>
            </a:r>
          </a:p>
          <a:p>
            <a:pPr>
              <a:buFont typeface="Arial" pitchFamily="34" charset="0"/>
              <a:buNone/>
            </a:pPr>
            <a:r>
              <a:rPr lang="en-US" dirty="0" smtClean="0"/>
              <a:t>This element has 6 topics (criteria)</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166653332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the importance of feedback from all concerned parties. Feedback enables any organisation to know how the are doing with customers and criticism should be seen as an opportunity to improve</a:t>
            </a:r>
          </a:p>
          <a:p>
            <a:pPr>
              <a:buFont typeface="Arial" pitchFamily="34" charset="0"/>
              <a:buNone/>
            </a:pPr>
            <a:r>
              <a:rPr lang="en-US" dirty="0" smtClean="0"/>
              <a:t>Trainees to research the various ways feedback can be obtained and share with the class</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27806751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that the industry colleagues you work with can also provide useful feedback on your tours, business and potential ways to improve the way you conduct your business, identify trends and your relationship with them  </a:t>
            </a:r>
          </a:p>
          <a:p>
            <a:pPr>
              <a:buFont typeface="Arial" pitchFamily="34" charset="0"/>
              <a:buNone/>
            </a:pPr>
            <a:r>
              <a:rPr lang="en-US" dirty="0" smtClean="0"/>
              <a:t>How you obtain can be similar to soliciting feedback from tour group members : verbal, written, questionnaires, web based feedback</a:t>
            </a:r>
          </a:p>
          <a:p>
            <a:pPr>
              <a:buFont typeface="Arial" pitchFamily="34" charset="0"/>
              <a:buNone/>
            </a:pPr>
            <a:r>
              <a:rPr lang="en-US" dirty="0" smtClean="0"/>
              <a:t>Trainees to work in pairs and pretend they are a product or service supplier for a large tour operator: what would they expect from the company so the business relationship is viable and strong? All findings to be shared and discussed further </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342564590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cover the various aspects to cover to support the organisation continuous improvement and quality control </a:t>
            </a:r>
          </a:p>
          <a:p>
            <a:pPr>
              <a:buFont typeface="Arial" pitchFamily="34" charset="0"/>
              <a:buNone/>
            </a:pPr>
            <a:r>
              <a:rPr lang="en-US" dirty="0" smtClean="0"/>
              <a:t>What worked and did. If any problem/s, what happened and how was it handled/were they handled?   </a:t>
            </a:r>
          </a:p>
          <a:p>
            <a:pPr>
              <a:buFont typeface="Arial" pitchFamily="34" charset="0"/>
              <a:buNone/>
            </a:pPr>
            <a:r>
              <a:rPr lang="en-US" dirty="0" smtClean="0"/>
              <a:t>This is the first stage of the debrief</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9071409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The second stage deals with quality control components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Was the timetable followed?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Was the delivery of services matching the products and services standards?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403594275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Last stage:</a:t>
            </a:r>
          </a:p>
          <a:p>
            <a:pPr>
              <a:buFont typeface="Arial" pitchFamily="34" charset="0"/>
              <a:buNone/>
            </a:pPr>
            <a:r>
              <a:rPr lang="en-US" dirty="0" smtClean="0"/>
              <a:t>Potential changes : trainer to explain the debrief is an opportunity to get the tour staff feedback ‘first hand’ as they are on the ground and experience first hand what works or not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8649839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the more feedback, the better</a:t>
            </a:r>
          </a:p>
          <a:p>
            <a:pPr>
              <a:buFont typeface="Arial" pitchFamily="34" charset="0"/>
              <a:buNone/>
            </a:pPr>
            <a:r>
              <a:rPr lang="en-US" dirty="0" smtClean="0"/>
              <a:t>Class activity : trainees to do some research via phone, internet, or even using the trainer’s industry connections to find out :</a:t>
            </a:r>
          </a:p>
          <a:p>
            <a:pPr>
              <a:buFont typeface="Arial" pitchFamily="34" charset="0"/>
              <a:buNone/>
            </a:pPr>
            <a:r>
              <a:rPr lang="en-US" dirty="0" smtClean="0"/>
              <a:t>1 or 2 organisations Standard Operating Procedures in regards to the timeline between a tour completion and the tour staff debrief</a:t>
            </a:r>
          </a:p>
          <a:p>
            <a:pPr>
              <a:buFont typeface="Arial" pitchFamily="34" charset="0"/>
              <a:buNone/>
            </a:pPr>
            <a:r>
              <a:rPr lang="en-US" dirty="0" smtClean="0"/>
              <a:t>Trainees to share their findings with the rest of the class when they have gathered the information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173154210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clarify that the tour report is indeed a summary of what happened during the tour and , in most organisations, is simply the extension</a:t>
            </a:r>
          </a:p>
          <a:p>
            <a:pPr>
              <a:buFont typeface="Arial" pitchFamily="34" charset="0"/>
              <a:buNone/>
            </a:pPr>
            <a:r>
              <a:rPr lang="en-US" dirty="0" smtClean="0"/>
              <a:t>of the debrief</a:t>
            </a:r>
          </a:p>
          <a:p>
            <a:pPr>
              <a:buFont typeface="Arial" pitchFamily="34" charset="0"/>
              <a:buNone/>
            </a:pPr>
            <a:r>
              <a:rPr lang="en-US" dirty="0" smtClean="0"/>
              <a:t>Trainees to research on the internet templates that could be used for a tour report and present them to the class explaining their choice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63432054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ask each trainee to list one topic, item that can be part of the tour report and write it on board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137341127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ask each trainee to list one topic, item that can be part of the tour report and write it on board </a:t>
            </a:r>
          </a:p>
          <a:p>
            <a:pPr>
              <a:buFont typeface="Arial" pitchFamily="34" charset="0"/>
              <a:buNone/>
            </a:pPr>
            <a:r>
              <a:rPr lang="en-US" dirty="0" smtClean="0"/>
              <a:t>Once the list is completed, trainees to research on the internet templates that could be used for a tour report and present them to the class explaining their choice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73932215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insist on the importance of sharing all the information obtained as part of the debrief/report with all the industry partners having provided products, services to the tour and also remind trainees the information needs to be qualitative and quantitative(sales numbers etc..) </a:t>
            </a:r>
          </a:p>
          <a:p>
            <a:pPr>
              <a:buFont typeface="Arial" pitchFamily="34" charset="0"/>
              <a:buNone/>
            </a:pPr>
            <a:r>
              <a:rPr lang="en-US" dirty="0" smtClean="0"/>
              <a:t>Trainees to work in groups of 3 or 4 and write </a:t>
            </a:r>
          </a:p>
          <a:p>
            <a:pPr>
              <a:buFont typeface="Arial" pitchFamily="34" charset="0"/>
              <a:buNone/>
            </a:pPr>
            <a:r>
              <a:rPr lang="en-US" dirty="0" smtClean="0"/>
              <a:t>1 advantage in sharing the information with suppliers, providers and carriers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1 disadvantage in sharing the information with suppliers, providers and carriers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314617676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to explain that the archiving system will be different from one organisation to the other, stressing that nowadays electronic filing is become prevalent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169574133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to discuss with the trainees why is important is to make sure the information will be easy to access for future reference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Lastly , explain to the trainees that every organisation needs to follow the law or regulations in regards to how long official documents need to be kept for. This varies depending on the country.</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2379483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7/14/2016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7/14/2016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7/14/2016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7/14/2016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7/14/2016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78.jpeg"/></Relationships>
</file>

<file path=ppt/slides/_rels/slide8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8.jp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548680"/>
            <a:ext cx="6480048" cy="936104"/>
          </a:xfrm>
        </p:spPr>
        <p:txBody>
          <a:bodyPr>
            <a:normAutofit fontScale="90000"/>
          </a:bodyPr>
          <a:lstStyle/>
          <a:p>
            <a:r>
              <a:rPr lang="en-AU" sz="4000" dirty="0">
                <a:ln w="5000" cmpd="sng">
                  <a:noFill/>
                  <a:prstDash val="solid"/>
                </a:ln>
                <a:solidFill>
                  <a:srgbClr val="FF6600"/>
                </a:solidFill>
                <a:latin typeface="Helvetica" pitchFamily="34" charset="0"/>
              </a:rPr>
              <a:t>Manage and execute a detailed tour itinerary</a:t>
            </a:r>
          </a:p>
        </p:txBody>
      </p:sp>
      <p:sp>
        <p:nvSpPr>
          <p:cNvPr id="3" name="Subtitle 2"/>
          <p:cNvSpPr>
            <a:spLocks noGrp="1"/>
          </p:cNvSpPr>
          <p:nvPr>
            <p:ph type="subTitle" idx="1"/>
          </p:nvPr>
        </p:nvSpPr>
        <p:spPr>
          <a:xfrm>
            <a:off x="5836716" y="1708457"/>
            <a:ext cx="2541268" cy="289742"/>
          </a:xfrm>
        </p:spPr>
        <p:txBody>
          <a:bodyPr>
            <a:normAutofit lnSpcReduction="10000"/>
          </a:bodyPr>
          <a:lstStyle/>
          <a:p>
            <a:r>
              <a:rPr lang="en-AU" b="1" dirty="0">
                <a:latin typeface="Helvetica" pitchFamily="34" charset="0"/>
              </a:rPr>
              <a:t>D2.TTO.CL4.09</a:t>
            </a: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6" name="Group 5"/>
          <p:cNvGrpSpPr/>
          <p:nvPr/>
        </p:nvGrpSpPr>
        <p:grpSpPr>
          <a:xfrm>
            <a:off x="733490" y="1813818"/>
            <a:ext cx="5134654" cy="3775422"/>
            <a:chOff x="0" y="0"/>
            <a:chExt cx="7533431" cy="6059171"/>
          </a:xfrm>
        </p:grpSpPr>
        <p:grpSp>
          <p:nvGrpSpPr>
            <p:cNvPr id="7" name="Group 6"/>
            <p:cNvGrpSpPr/>
            <p:nvPr/>
          </p:nvGrpSpPr>
          <p:grpSpPr>
            <a:xfrm>
              <a:off x="2156346" y="13648"/>
              <a:ext cx="3028870" cy="6045523"/>
              <a:chOff x="-13650" y="0"/>
              <a:chExt cx="3029805" cy="6045958"/>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7457" r="17632"/>
              <a:stretch/>
            </p:blipFill>
            <p:spPr bwMode="auto">
              <a:xfrm>
                <a:off x="0" y="0"/>
                <a:ext cx="3016155" cy="3029803"/>
              </a:xfrm>
              <a:prstGeom prst="rect">
                <a:avLst/>
              </a:prstGeom>
              <a:noFill/>
              <a:ln>
                <a:noFill/>
              </a:ln>
              <a:extLst>
                <a:ext uri="{53640926-AAD7-44D8-BBD7-CCE9431645EC}">
                  <a14:shadowObscured xmlns:a14="http://schemas.microsoft.com/office/drawing/2010/main"/>
                </a:ext>
              </a:extLst>
            </p:spPr>
          </p:pic>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2502" t="3750" r="36049" b="3750"/>
              <a:stretch/>
            </p:blipFill>
            <p:spPr bwMode="auto">
              <a:xfrm>
                <a:off x="-13650" y="3016155"/>
                <a:ext cx="3016155" cy="3029803"/>
              </a:xfrm>
              <a:prstGeom prst="rect">
                <a:avLst/>
              </a:prstGeom>
              <a:ln>
                <a:noFill/>
              </a:ln>
              <a:extLst>
                <a:ext uri="{53640926-AAD7-44D8-BBD7-CCE9431645EC}">
                  <a14:shadowObscured xmlns:a14="http://schemas.microsoft.com/office/drawing/2010/main"/>
                </a:ext>
              </a:extLst>
            </p:spPr>
          </p:pic>
        </p:grpSp>
        <p:grpSp>
          <p:nvGrpSpPr>
            <p:cNvPr id="8" name="Group 7"/>
            <p:cNvGrpSpPr/>
            <p:nvPr/>
          </p:nvGrpSpPr>
          <p:grpSpPr>
            <a:xfrm>
              <a:off x="0" y="0"/>
              <a:ext cx="2565332" cy="6045522"/>
              <a:chOff x="0" y="0"/>
              <a:chExt cx="2565779" cy="6045958"/>
            </a:xfrm>
          </p:grpSpPr>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t="3586" b="9122"/>
              <a:stretch/>
            </p:blipFill>
            <p:spPr bwMode="auto">
              <a:xfrm>
                <a:off x="0" y="0"/>
                <a:ext cx="2565779" cy="3302758"/>
              </a:xfrm>
              <a:prstGeom prst="rect">
                <a:avLst/>
              </a:prstGeom>
              <a:ln>
                <a:noFill/>
              </a:ln>
              <a:extLst>
                <a:ext uri="{53640926-AAD7-44D8-BBD7-CCE9431645EC}">
                  <a14:shadowObscured xmlns:a14="http://schemas.microsoft.com/office/drawing/2010/main"/>
                </a:ext>
              </a:extLst>
            </p:spPr>
          </p:pic>
          <p:pic>
            <p:nvPicPr>
              <p:cNvPr id="13" name="Picture 12"/>
              <p:cNvPicPr>
                <a:picLocks noChangeAspect="1"/>
              </p:cNvPicPr>
              <p:nvPr/>
            </p:nvPicPr>
            <p:blipFill rotWithShape="1">
              <a:blip r:embed="rId6" cstate="print">
                <a:extLst>
                  <a:ext uri="{28A0092B-C50C-407E-A947-70E740481C1C}">
                    <a14:useLocalDpi xmlns:a14="http://schemas.microsoft.com/office/drawing/2010/main" val="0"/>
                  </a:ext>
                </a:extLst>
              </a:blip>
              <a:srcRect l="23275" r="19761"/>
              <a:stretch/>
            </p:blipFill>
            <p:spPr bwMode="auto">
              <a:xfrm>
                <a:off x="0" y="3043451"/>
                <a:ext cx="2565779" cy="3002507"/>
              </a:xfrm>
              <a:prstGeom prst="rect">
                <a:avLst/>
              </a:prstGeom>
              <a:ln>
                <a:noFill/>
              </a:ln>
              <a:extLst>
                <a:ext uri="{53640926-AAD7-44D8-BBD7-CCE9431645EC}">
                  <a14:shadowObscured xmlns:a14="http://schemas.microsoft.com/office/drawing/2010/main"/>
                </a:ext>
              </a:extLst>
            </p:spPr>
          </p:pic>
        </p:grpSp>
        <p:grpSp>
          <p:nvGrpSpPr>
            <p:cNvPr id="9" name="Group 8"/>
            <p:cNvGrpSpPr/>
            <p:nvPr/>
          </p:nvGrpSpPr>
          <p:grpSpPr>
            <a:xfrm>
              <a:off x="5172501" y="0"/>
              <a:ext cx="2360930" cy="6045835"/>
              <a:chOff x="0" y="0"/>
              <a:chExt cx="2361063" cy="6045959"/>
            </a:xfrm>
          </p:grpSpPr>
          <p:pic>
            <p:nvPicPr>
              <p:cNvPr id="10" name="Picture 9"/>
              <p:cNvPicPr>
                <a:picLocks noChangeAspect="1"/>
              </p:cNvPicPr>
              <p:nvPr/>
            </p:nvPicPr>
            <p:blipFill rotWithShape="1">
              <a:blip r:embed="rId7" cstate="print">
                <a:extLst>
                  <a:ext uri="{28A0092B-C50C-407E-A947-70E740481C1C}">
                    <a14:useLocalDpi xmlns:a14="http://schemas.microsoft.com/office/drawing/2010/main" val="0"/>
                  </a:ext>
                </a:extLst>
              </a:blip>
              <a:srcRect l="1653" t="2048" r="15231" b="6503"/>
              <a:stretch/>
            </p:blipFill>
            <p:spPr bwMode="auto">
              <a:xfrm>
                <a:off x="0" y="2934269"/>
                <a:ext cx="2347415" cy="3111690"/>
              </a:xfrm>
              <a:prstGeom prst="rect">
                <a:avLst/>
              </a:prstGeom>
              <a:ln>
                <a:noFill/>
              </a:ln>
              <a:extLst>
                <a:ext uri="{53640926-AAD7-44D8-BBD7-CCE9431645EC}">
                  <a14:shadowObscured xmlns:a14="http://schemas.microsoft.com/office/drawing/2010/main"/>
                </a:ext>
              </a:extLst>
            </p:spPr>
          </p:pic>
          <p:pic>
            <p:nvPicPr>
              <p:cNvPr id="11" name="Picture 10"/>
              <p:cNvPicPr>
                <a:picLocks noChangeAspect="1"/>
              </p:cNvPicPr>
              <p:nvPr/>
            </p:nvPicPr>
            <p:blipFill rotWithShape="1">
              <a:blip r:embed="rId8" cstate="print">
                <a:extLst>
                  <a:ext uri="{28A0092B-C50C-407E-A947-70E740481C1C}">
                    <a14:useLocalDpi xmlns:a14="http://schemas.microsoft.com/office/drawing/2010/main" val="0"/>
                  </a:ext>
                </a:extLst>
              </a:blip>
              <a:srcRect t="9604" b="4786"/>
              <a:stretch/>
            </p:blipFill>
            <p:spPr bwMode="auto">
              <a:xfrm>
                <a:off x="0" y="0"/>
                <a:ext cx="2361063" cy="3043451"/>
              </a:xfrm>
              <a:prstGeom prst="rect">
                <a:avLst/>
              </a:prstGeom>
              <a:ln>
                <a:noFill/>
              </a:ln>
              <a:extLst>
                <a:ext uri="{53640926-AAD7-44D8-BBD7-CCE9431645EC}">
                  <a14:shadowObscured xmlns:a14="http://schemas.microsoft.com/office/drawing/2010/main"/>
                </a:ext>
              </a:extLst>
            </p:spPr>
          </p:pic>
        </p:gr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Manage and execute a detailed tour itinerary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457200" indent="-457200">
              <a:spcBef>
                <a:spcPts val="600"/>
              </a:spcBef>
              <a:spcAft>
                <a:spcPts val="1200"/>
              </a:spcAft>
              <a:buNone/>
            </a:pPr>
            <a:r>
              <a:rPr lang="en-US" sz="2200" b="1" dirty="0" smtClean="0">
                <a:latin typeface="Helvetica" pitchFamily="34" charset="0"/>
              </a:rPr>
              <a:t>Introduction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graphicFrame>
        <p:nvGraphicFramePr>
          <p:cNvPr id="8" name="Diagram 7"/>
          <p:cNvGraphicFramePr/>
          <p:nvPr>
            <p:extLst>
              <p:ext uri="{D42A27DB-BD31-4B8C-83A1-F6EECF244321}">
                <p14:modId xmlns:p14="http://schemas.microsoft.com/office/powerpoint/2010/main" val="1882764393"/>
              </p:ext>
            </p:extLst>
          </p:nvPr>
        </p:nvGraphicFramePr>
        <p:xfrm>
          <a:off x="683568" y="2204864"/>
          <a:ext cx="5184576" cy="334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Manage and execute a detailed tour itinerary</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grpSp>
        <p:nvGrpSpPr>
          <p:cNvPr id="16" name="Group 15"/>
          <p:cNvGrpSpPr/>
          <p:nvPr/>
        </p:nvGrpSpPr>
        <p:grpSpPr>
          <a:xfrm>
            <a:off x="657583" y="1700806"/>
            <a:ext cx="5274696" cy="4064000"/>
            <a:chOff x="1537846" y="1700808"/>
            <a:chExt cx="5274696" cy="4064000"/>
          </a:xfrm>
        </p:grpSpPr>
        <p:sp>
          <p:nvSpPr>
            <p:cNvPr id="17" name="Freeform 16"/>
            <p:cNvSpPr/>
            <p:nvPr/>
          </p:nvSpPr>
          <p:spPr>
            <a:xfrm>
              <a:off x="2310005" y="3732808"/>
              <a:ext cx="506536" cy="1447800"/>
            </a:xfrm>
            <a:custGeom>
              <a:avLst/>
              <a:gdLst>
                <a:gd name="connsiteX0" fmla="*/ 0 w 506536"/>
                <a:gd name="connsiteY0" fmla="*/ 0 h 1447800"/>
                <a:gd name="connsiteX1" fmla="*/ 253268 w 506536"/>
                <a:gd name="connsiteY1" fmla="*/ 0 h 1447800"/>
                <a:gd name="connsiteX2" fmla="*/ 253268 w 506536"/>
                <a:gd name="connsiteY2" fmla="*/ 1447800 h 1447800"/>
                <a:gd name="connsiteX3" fmla="*/ 506536 w 506536"/>
                <a:gd name="connsiteY3" fmla="*/ 1447800 h 1447800"/>
              </a:gdLst>
              <a:ahLst/>
              <a:cxnLst>
                <a:cxn ang="0">
                  <a:pos x="connsiteX0" y="connsiteY0"/>
                </a:cxn>
                <a:cxn ang="0">
                  <a:pos x="connsiteX1" y="connsiteY1"/>
                </a:cxn>
                <a:cxn ang="0">
                  <a:pos x="connsiteX2" y="connsiteY2"/>
                </a:cxn>
                <a:cxn ang="0">
                  <a:pos x="connsiteX3" y="connsiteY3"/>
                </a:cxn>
              </a:cxnLst>
              <a:rect l="l" t="t" r="r" b="b"/>
              <a:pathLst>
                <a:path w="506536" h="1447800">
                  <a:moveTo>
                    <a:pt x="0" y="0"/>
                  </a:moveTo>
                  <a:lnTo>
                    <a:pt x="253268" y="0"/>
                  </a:lnTo>
                  <a:lnTo>
                    <a:pt x="253268" y="1447800"/>
                  </a:lnTo>
                  <a:lnTo>
                    <a:pt x="506536" y="1447800"/>
                  </a:lnTo>
                </a:path>
              </a:pathLst>
            </a:custGeom>
            <a:noFill/>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spcFirstLastPara="0" vert="horz" wrap="square" lIns="227622" tIns="685553" rIns="227622" bIns="685555" numCol="1" spcCol="1270" anchor="ctr" anchorCtr="0">
              <a:noAutofit/>
            </a:bodyPr>
            <a:lstStyle/>
            <a:p>
              <a:pPr lvl="0" algn="ctr" defTabSz="800100">
                <a:lnSpc>
                  <a:spcPct val="90000"/>
                </a:lnSpc>
                <a:spcBef>
                  <a:spcPct val="0"/>
                </a:spcBef>
                <a:spcAft>
                  <a:spcPct val="35000"/>
                </a:spcAft>
              </a:pPr>
              <a:endParaRPr lang="en-AU" sz="1800" kern="1200" dirty="0">
                <a:latin typeface="Helvetica" pitchFamily="34" charset="0"/>
              </a:endParaRPr>
            </a:p>
          </p:txBody>
        </p:sp>
        <p:sp>
          <p:nvSpPr>
            <p:cNvPr id="18" name="Freeform 17"/>
            <p:cNvSpPr/>
            <p:nvPr/>
          </p:nvSpPr>
          <p:spPr>
            <a:xfrm>
              <a:off x="2310005" y="3732808"/>
              <a:ext cx="506536" cy="482599"/>
            </a:xfrm>
            <a:custGeom>
              <a:avLst/>
              <a:gdLst>
                <a:gd name="connsiteX0" fmla="*/ 0 w 506536"/>
                <a:gd name="connsiteY0" fmla="*/ 0 h 482599"/>
                <a:gd name="connsiteX1" fmla="*/ 253268 w 506536"/>
                <a:gd name="connsiteY1" fmla="*/ 0 h 482599"/>
                <a:gd name="connsiteX2" fmla="*/ 253268 w 506536"/>
                <a:gd name="connsiteY2" fmla="*/ 482599 h 482599"/>
                <a:gd name="connsiteX3" fmla="*/ 506536 w 506536"/>
                <a:gd name="connsiteY3" fmla="*/ 482599 h 482599"/>
              </a:gdLst>
              <a:ahLst/>
              <a:cxnLst>
                <a:cxn ang="0">
                  <a:pos x="connsiteX0" y="connsiteY0"/>
                </a:cxn>
                <a:cxn ang="0">
                  <a:pos x="connsiteX1" y="connsiteY1"/>
                </a:cxn>
                <a:cxn ang="0">
                  <a:pos x="connsiteX2" y="connsiteY2"/>
                </a:cxn>
                <a:cxn ang="0">
                  <a:pos x="connsiteX3" y="connsiteY3"/>
                </a:cxn>
              </a:cxnLst>
              <a:rect l="l" t="t" r="r" b="b"/>
              <a:pathLst>
                <a:path w="506536" h="482599">
                  <a:moveTo>
                    <a:pt x="0" y="0"/>
                  </a:moveTo>
                  <a:lnTo>
                    <a:pt x="253268" y="0"/>
                  </a:lnTo>
                  <a:lnTo>
                    <a:pt x="253268" y="482599"/>
                  </a:lnTo>
                  <a:lnTo>
                    <a:pt x="506536" y="482599"/>
                  </a:lnTo>
                </a:path>
              </a:pathLst>
            </a:custGeom>
            <a:noFill/>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spcFirstLastPara="0" vert="horz" wrap="square" lIns="248477" tIns="223809" rIns="248478" bIns="223809" numCol="1" spcCol="1270" anchor="ctr" anchorCtr="0">
              <a:noAutofit/>
            </a:bodyPr>
            <a:lstStyle/>
            <a:p>
              <a:pPr lvl="0" algn="ctr" defTabSz="800100">
                <a:lnSpc>
                  <a:spcPct val="90000"/>
                </a:lnSpc>
                <a:spcBef>
                  <a:spcPct val="0"/>
                </a:spcBef>
                <a:spcAft>
                  <a:spcPct val="35000"/>
                </a:spcAft>
              </a:pPr>
              <a:endParaRPr lang="en-AU" sz="1800" kern="1200" dirty="0">
                <a:latin typeface="Helvetica" pitchFamily="34" charset="0"/>
              </a:endParaRPr>
            </a:p>
          </p:txBody>
        </p:sp>
        <p:sp>
          <p:nvSpPr>
            <p:cNvPr id="19" name="Freeform 18"/>
            <p:cNvSpPr/>
            <p:nvPr/>
          </p:nvSpPr>
          <p:spPr>
            <a:xfrm>
              <a:off x="2310005" y="3250207"/>
              <a:ext cx="506536" cy="482600"/>
            </a:xfrm>
            <a:custGeom>
              <a:avLst/>
              <a:gdLst>
                <a:gd name="connsiteX0" fmla="*/ 0 w 506536"/>
                <a:gd name="connsiteY0" fmla="*/ 482600 h 482600"/>
                <a:gd name="connsiteX1" fmla="*/ 253268 w 506536"/>
                <a:gd name="connsiteY1" fmla="*/ 482600 h 482600"/>
                <a:gd name="connsiteX2" fmla="*/ 253268 w 506536"/>
                <a:gd name="connsiteY2" fmla="*/ 0 h 482600"/>
                <a:gd name="connsiteX3" fmla="*/ 506536 w 506536"/>
                <a:gd name="connsiteY3" fmla="*/ 0 h 482600"/>
              </a:gdLst>
              <a:ahLst/>
              <a:cxnLst>
                <a:cxn ang="0">
                  <a:pos x="connsiteX0" y="connsiteY0"/>
                </a:cxn>
                <a:cxn ang="0">
                  <a:pos x="connsiteX1" y="connsiteY1"/>
                </a:cxn>
                <a:cxn ang="0">
                  <a:pos x="connsiteX2" y="connsiteY2"/>
                </a:cxn>
                <a:cxn ang="0">
                  <a:pos x="connsiteX3" y="connsiteY3"/>
                </a:cxn>
              </a:cxnLst>
              <a:rect l="l" t="t" r="r" b="b"/>
              <a:pathLst>
                <a:path w="506536" h="482600">
                  <a:moveTo>
                    <a:pt x="0" y="482600"/>
                  </a:moveTo>
                  <a:lnTo>
                    <a:pt x="253268" y="482600"/>
                  </a:lnTo>
                  <a:lnTo>
                    <a:pt x="253268" y="0"/>
                  </a:lnTo>
                  <a:lnTo>
                    <a:pt x="506536" y="0"/>
                  </a:lnTo>
                </a:path>
              </a:pathLst>
            </a:custGeom>
            <a:noFill/>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spcFirstLastPara="0" vert="horz" wrap="square" lIns="248477" tIns="223810" rIns="248478" bIns="223809" numCol="1" spcCol="1270" anchor="ctr" anchorCtr="0">
              <a:noAutofit/>
            </a:bodyPr>
            <a:lstStyle/>
            <a:p>
              <a:pPr lvl="0" algn="ctr" defTabSz="800100">
                <a:lnSpc>
                  <a:spcPct val="90000"/>
                </a:lnSpc>
                <a:spcBef>
                  <a:spcPct val="0"/>
                </a:spcBef>
                <a:spcAft>
                  <a:spcPct val="35000"/>
                </a:spcAft>
              </a:pPr>
              <a:endParaRPr lang="en-AU" sz="1800" kern="1200" dirty="0">
                <a:latin typeface="Helvetica" pitchFamily="34" charset="0"/>
              </a:endParaRPr>
            </a:p>
          </p:txBody>
        </p:sp>
        <p:sp>
          <p:nvSpPr>
            <p:cNvPr id="20" name="Freeform 19"/>
            <p:cNvSpPr/>
            <p:nvPr/>
          </p:nvSpPr>
          <p:spPr>
            <a:xfrm>
              <a:off x="2310005" y="2285007"/>
              <a:ext cx="506536" cy="1447800"/>
            </a:xfrm>
            <a:custGeom>
              <a:avLst/>
              <a:gdLst>
                <a:gd name="connsiteX0" fmla="*/ 0 w 506536"/>
                <a:gd name="connsiteY0" fmla="*/ 1447800 h 1447800"/>
                <a:gd name="connsiteX1" fmla="*/ 253268 w 506536"/>
                <a:gd name="connsiteY1" fmla="*/ 1447800 h 1447800"/>
                <a:gd name="connsiteX2" fmla="*/ 253268 w 506536"/>
                <a:gd name="connsiteY2" fmla="*/ 0 h 1447800"/>
                <a:gd name="connsiteX3" fmla="*/ 506536 w 506536"/>
                <a:gd name="connsiteY3" fmla="*/ 0 h 1447800"/>
              </a:gdLst>
              <a:ahLst/>
              <a:cxnLst>
                <a:cxn ang="0">
                  <a:pos x="connsiteX0" y="connsiteY0"/>
                </a:cxn>
                <a:cxn ang="0">
                  <a:pos x="connsiteX1" y="connsiteY1"/>
                </a:cxn>
                <a:cxn ang="0">
                  <a:pos x="connsiteX2" y="connsiteY2"/>
                </a:cxn>
                <a:cxn ang="0">
                  <a:pos x="connsiteX3" y="connsiteY3"/>
                </a:cxn>
              </a:cxnLst>
              <a:rect l="l" t="t" r="r" b="b"/>
              <a:pathLst>
                <a:path w="506536" h="1447800">
                  <a:moveTo>
                    <a:pt x="0" y="1447800"/>
                  </a:moveTo>
                  <a:lnTo>
                    <a:pt x="253268" y="1447800"/>
                  </a:lnTo>
                  <a:lnTo>
                    <a:pt x="253268" y="0"/>
                  </a:lnTo>
                  <a:lnTo>
                    <a:pt x="506536" y="0"/>
                  </a:lnTo>
                </a:path>
              </a:pathLst>
            </a:custGeom>
            <a:noFill/>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spcFirstLastPara="0" vert="horz" wrap="square" lIns="227622" tIns="685554" rIns="227622" bIns="685554" numCol="1" spcCol="1270" anchor="ctr" anchorCtr="0">
              <a:noAutofit/>
            </a:bodyPr>
            <a:lstStyle/>
            <a:p>
              <a:pPr lvl="0" algn="ctr" defTabSz="800100">
                <a:lnSpc>
                  <a:spcPct val="90000"/>
                </a:lnSpc>
                <a:spcBef>
                  <a:spcPct val="0"/>
                </a:spcBef>
                <a:spcAft>
                  <a:spcPct val="35000"/>
                </a:spcAft>
              </a:pPr>
              <a:endParaRPr lang="en-AU" sz="1800" kern="1200" dirty="0">
                <a:latin typeface="Helvetica" pitchFamily="34" charset="0"/>
              </a:endParaRPr>
            </a:p>
          </p:txBody>
        </p:sp>
        <p:sp>
          <p:nvSpPr>
            <p:cNvPr id="21" name="Freeform 20"/>
            <p:cNvSpPr/>
            <p:nvPr/>
          </p:nvSpPr>
          <p:spPr>
            <a:xfrm rot="16200000">
              <a:off x="-108074" y="3346728"/>
              <a:ext cx="4064000" cy="772160"/>
            </a:xfrm>
            <a:custGeom>
              <a:avLst/>
              <a:gdLst>
                <a:gd name="connsiteX0" fmla="*/ 0 w 4064000"/>
                <a:gd name="connsiteY0" fmla="*/ 0 h 772160"/>
                <a:gd name="connsiteX1" fmla="*/ 4064000 w 4064000"/>
                <a:gd name="connsiteY1" fmla="*/ 0 h 772160"/>
                <a:gd name="connsiteX2" fmla="*/ 4064000 w 4064000"/>
                <a:gd name="connsiteY2" fmla="*/ 772160 h 772160"/>
                <a:gd name="connsiteX3" fmla="*/ 0 w 4064000"/>
                <a:gd name="connsiteY3" fmla="*/ 772160 h 772160"/>
                <a:gd name="connsiteX4" fmla="*/ 0 w 4064000"/>
                <a:gd name="connsiteY4" fmla="*/ 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772160">
                  <a:moveTo>
                    <a:pt x="0" y="0"/>
                  </a:moveTo>
                  <a:lnTo>
                    <a:pt x="4064000" y="0"/>
                  </a:lnTo>
                  <a:lnTo>
                    <a:pt x="4064000" y="772160"/>
                  </a:lnTo>
                  <a:lnTo>
                    <a:pt x="0" y="772160"/>
                  </a:lnTo>
                  <a:lnTo>
                    <a:pt x="0" y="0"/>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3969" tIns="13970" rIns="13970" bIns="13970" numCol="1" spcCol="1270" anchor="ctr" anchorCtr="0">
              <a:noAutofit/>
            </a:bodyPr>
            <a:lstStyle/>
            <a:p>
              <a:pPr lvl="0" algn="ctr" defTabSz="977900">
                <a:lnSpc>
                  <a:spcPct val="90000"/>
                </a:lnSpc>
                <a:spcBef>
                  <a:spcPct val="0"/>
                </a:spcBef>
                <a:spcAft>
                  <a:spcPct val="35000"/>
                </a:spcAft>
              </a:pPr>
              <a:r>
                <a:rPr lang="en-US" sz="2200" kern="1200" dirty="0" smtClean="0">
                  <a:latin typeface="Helvetica" pitchFamily="34" charset="0"/>
                </a:rPr>
                <a:t>This unit has 7 elements</a:t>
              </a:r>
              <a:endParaRPr lang="en-AU" sz="2200" kern="1200" dirty="0">
                <a:latin typeface="Helvetica" pitchFamily="34" charset="0"/>
              </a:endParaRPr>
            </a:p>
          </p:txBody>
        </p:sp>
        <p:sp>
          <p:nvSpPr>
            <p:cNvPr id="22" name="Freeform 21"/>
            <p:cNvSpPr/>
            <p:nvPr/>
          </p:nvSpPr>
          <p:spPr>
            <a:xfrm>
              <a:off x="2816542" y="1898927"/>
              <a:ext cx="3996000" cy="772160"/>
            </a:xfrm>
            <a:custGeom>
              <a:avLst/>
              <a:gdLst>
                <a:gd name="connsiteX0" fmla="*/ 0 w 2532684"/>
                <a:gd name="connsiteY0" fmla="*/ 0 h 772160"/>
                <a:gd name="connsiteX1" fmla="*/ 2532684 w 2532684"/>
                <a:gd name="connsiteY1" fmla="*/ 0 h 772160"/>
                <a:gd name="connsiteX2" fmla="*/ 2532684 w 2532684"/>
                <a:gd name="connsiteY2" fmla="*/ 772160 h 772160"/>
                <a:gd name="connsiteX3" fmla="*/ 0 w 2532684"/>
                <a:gd name="connsiteY3" fmla="*/ 772160 h 772160"/>
                <a:gd name="connsiteX4" fmla="*/ 0 w 2532684"/>
                <a:gd name="connsiteY4" fmla="*/ 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2684" h="772160">
                  <a:moveTo>
                    <a:pt x="0" y="0"/>
                  </a:moveTo>
                  <a:lnTo>
                    <a:pt x="2532684" y="0"/>
                  </a:lnTo>
                  <a:lnTo>
                    <a:pt x="2532684" y="772160"/>
                  </a:lnTo>
                  <a:lnTo>
                    <a:pt x="0" y="772160"/>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latin typeface="Helvetica" pitchFamily="34" charset="0"/>
                </a:rPr>
                <a:t>Prepare for tour itinerary</a:t>
              </a:r>
              <a:endParaRPr lang="en-AU" sz="1800" kern="1200" dirty="0">
                <a:latin typeface="Helvetica" pitchFamily="34" charset="0"/>
              </a:endParaRPr>
            </a:p>
          </p:txBody>
        </p:sp>
        <p:sp>
          <p:nvSpPr>
            <p:cNvPr id="23" name="Freeform 22"/>
            <p:cNvSpPr/>
            <p:nvPr/>
          </p:nvSpPr>
          <p:spPr>
            <a:xfrm>
              <a:off x="2816542" y="2864127"/>
              <a:ext cx="3996000" cy="772160"/>
            </a:xfrm>
            <a:custGeom>
              <a:avLst/>
              <a:gdLst>
                <a:gd name="connsiteX0" fmla="*/ 0 w 2532684"/>
                <a:gd name="connsiteY0" fmla="*/ 0 h 772160"/>
                <a:gd name="connsiteX1" fmla="*/ 2532684 w 2532684"/>
                <a:gd name="connsiteY1" fmla="*/ 0 h 772160"/>
                <a:gd name="connsiteX2" fmla="*/ 2532684 w 2532684"/>
                <a:gd name="connsiteY2" fmla="*/ 772160 h 772160"/>
                <a:gd name="connsiteX3" fmla="*/ 0 w 2532684"/>
                <a:gd name="connsiteY3" fmla="*/ 772160 h 772160"/>
                <a:gd name="connsiteX4" fmla="*/ 0 w 2532684"/>
                <a:gd name="connsiteY4" fmla="*/ 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2684" h="772160">
                  <a:moveTo>
                    <a:pt x="0" y="0"/>
                  </a:moveTo>
                  <a:lnTo>
                    <a:pt x="2532684" y="0"/>
                  </a:lnTo>
                  <a:lnTo>
                    <a:pt x="2532684" y="772160"/>
                  </a:lnTo>
                  <a:lnTo>
                    <a:pt x="0" y="772160"/>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latin typeface="Helvetica" pitchFamily="34" charset="0"/>
                </a:rPr>
                <a:t>Conduct departure-related activities</a:t>
              </a:r>
              <a:endParaRPr lang="en-AU" sz="1800" kern="1200" dirty="0">
                <a:latin typeface="Helvetica" pitchFamily="34" charset="0"/>
              </a:endParaRPr>
            </a:p>
          </p:txBody>
        </p:sp>
        <p:sp>
          <p:nvSpPr>
            <p:cNvPr id="24" name="Freeform 23"/>
            <p:cNvSpPr/>
            <p:nvPr/>
          </p:nvSpPr>
          <p:spPr>
            <a:xfrm>
              <a:off x="2816542" y="3829327"/>
              <a:ext cx="3996000" cy="772160"/>
            </a:xfrm>
            <a:custGeom>
              <a:avLst/>
              <a:gdLst>
                <a:gd name="connsiteX0" fmla="*/ 0 w 2532684"/>
                <a:gd name="connsiteY0" fmla="*/ 0 h 772160"/>
                <a:gd name="connsiteX1" fmla="*/ 2532684 w 2532684"/>
                <a:gd name="connsiteY1" fmla="*/ 0 h 772160"/>
                <a:gd name="connsiteX2" fmla="*/ 2532684 w 2532684"/>
                <a:gd name="connsiteY2" fmla="*/ 772160 h 772160"/>
                <a:gd name="connsiteX3" fmla="*/ 0 w 2532684"/>
                <a:gd name="connsiteY3" fmla="*/ 772160 h 772160"/>
                <a:gd name="connsiteX4" fmla="*/ 0 w 2532684"/>
                <a:gd name="connsiteY4" fmla="*/ 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2684" h="772160">
                  <a:moveTo>
                    <a:pt x="0" y="0"/>
                  </a:moveTo>
                  <a:lnTo>
                    <a:pt x="2532684" y="0"/>
                  </a:lnTo>
                  <a:lnTo>
                    <a:pt x="2532684" y="772160"/>
                  </a:lnTo>
                  <a:lnTo>
                    <a:pt x="0" y="772160"/>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latin typeface="Helvetica" pitchFamily="34" charset="0"/>
                </a:rPr>
                <a:t>Brief tour staff</a:t>
              </a:r>
              <a:endParaRPr lang="en-AU" sz="1800" kern="1200" dirty="0">
                <a:latin typeface="Helvetica" pitchFamily="34" charset="0"/>
              </a:endParaRPr>
            </a:p>
          </p:txBody>
        </p:sp>
        <p:sp>
          <p:nvSpPr>
            <p:cNvPr id="25" name="Freeform 24"/>
            <p:cNvSpPr/>
            <p:nvPr/>
          </p:nvSpPr>
          <p:spPr>
            <a:xfrm>
              <a:off x="2816542" y="4794528"/>
              <a:ext cx="3996000" cy="772160"/>
            </a:xfrm>
            <a:custGeom>
              <a:avLst/>
              <a:gdLst>
                <a:gd name="connsiteX0" fmla="*/ 0 w 2532684"/>
                <a:gd name="connsiteY0" fmla="*/ 0 h 772160"/>
                <a:gd name="connsiteX1" fmla="*/ 2532684 w 2532684"/>
                <a:gd name="connsiteY1" fmla="*/ 0 h 772160"/>
                <a:gd name="connsiteX2" fmla="*/ 2532684 w 2532684"/>
                <a:gd name="connsiteY2" fmla="*/ 772160 h 772160"/>
                <a:gd name="connsiteX3" fmla="*/ 0 w 2532684"/>
                <a:gd name="connsiteY3" fmla="*/ 772160 h 772160"/>
                <a:gd name="connsiteX4" fmla="*/ 0 w 2532684"/>
                <a:gd name="connsiteY4" fmla="*/ 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2684" h="772160">
                  <a:moveTo>
                    <a:pt x="0" y="0"/>
                  </a:moveTo>
                  <a:lnTo>
                    <a:pt x="2532684" y="0"/>
                  </a:lnTo>
                  <a:lnTo>
                    <a:pt x="2532684" y="772160"/>
                  </a:lnTo>
                  <a:lnTo>
                    <a:pt x="0" y="772160"/>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latin typeface="Helvetica" pitchFamily="34" charset="0"/>
                </a:rPr>
                <a:t>Liaise with external industry </a:t>
              </a:r>
              <a:br>
                <a:rPr lang="en-US" sz="1800" kern="1200" dirty="0" smtClean="0">
                  <a:latin typeface="Helvetica" pitchFamily="34" charset="0"/>
                </a:rPr>
              </a:br>
              <a:r>
                <a:rPr lang="en-US" sz="1800" kern="1200" dirty="0" smtClean="0">
                  <a:latin typeface="Helvetica" pitchFamily="34" charset="0"/>
                </a:rPr>
                <a:t>colleagues throughout the tour</a:t>
              </a:r>
              <a:endParaRPr lang="en-AU" sz="1800" kern="1200" dirty="0">
                <a:latin typeface="Helvetica" pitchFamily="34" charset="0"/>
              </a:endParaRPr>
            </a:p>
          </p:txBody>
        </p:sp>
      </p:grpSp>
      <p:sp>
        <p:nvSpPr>
          <p:cNvPr id="26" name="Rectangle 25"/>
          <p:cNvSpPr/>
          <p:nvPr/>
        </p:nvSpPr>
        <p:spPr>
          <a:xfrm>
            <a:off x="662196" y="6021288"/>
            <a:ext cx="1285224" cy="369332"/>
          </a:xfrm>
          <a:prstGeom prst="rect">
            <a:avLst/>
          </a:prstGeom>
        </p:spPr>
        <p:txBody>
          <a:bodyPr wrap="none">
            <a:spAutoFit/>
          </a:bodyPr>
          <a:lstStyle/>
          <a:p>
            <a:pPr>
              <a:spcBef>
                <a:spcPts val="600"/>
              </a:spcBef>
              <a:spcAft>
                <a:spcPts val="1200"/>
              </a:spcAft>
            </a:pPr>
            <a:r>
              <a:rPr lang="en-US" b="1" i="1" dirty="0">
                <a:latin typeface="Helvetica" pitchFamily="34" charset="0"/>
              </a:rPr>
              <a:t>continued</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Manage and execute a detailed tour itinerary</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grpSp>
        <p:nvGrpSpPr>
          <p:cNvPr id="5" name="Group 4"/>
          <p:cNvGrpSpPr/>
          <p:nvPr/>
        </p:nvGrpSpPr>
        <p:grpSpPr>
          <a:xfrm>
            <a:off x="611560" y="1778174"/>
            <a:ext cx="4482694" cy="4064000"/>
            <a:chOff x="1058173" y="1772816"/>
            <a:chExt cx="4482694" cy="4064000"/>
          </a:xfrm>
        </p:grpSpPr>
        <p:sp>
          <p:nvSpPr>
            <p:cNvPr id="7" name="Freeform 6"/>
            <p:cNvSpPr/>
            <p:nvPr/>
          </p:nvSpPr>
          <p:spPr>
            <a:xfrm>
              <a:off x="1830332" y="3804816"/>
              <a:ext cx="506536" cy="965199"/>
            </a:xfrm>
            <a:custGeom>
              <a:avLst/>
              <a:gdLst>
                <a:gd name="connsiteX0" fmla="*/ 0 w 506536"/>
                <a:gd name="connsiteY0" fmla="*/ 0 h 965199"/>
                <a:gd name="connsiteX1" fmla="*/ 253268 w 506536"/>
                <a:gd name="connsiteY1" fmla="*/ 0 h 965199"/>
                <a:gd name="connsiteX2" fmla="*/ 253268 w 506536"/>
                <a:gd name="connsiteY2" fmla="*/ 965199 h 965199"/>
                <a:gd name="connsiteX3" fmla="*/ 506536 w 506536"/>
                <a:gd name="connsiteY3" fmla="*/ 965199 h 965199"/>
              </a:gdLst>
              <a:ahLst/>
              <a:cxnLst>
                <a:cxn ang="0">
                  <a:pos x="connsiteX0" y="connsiteY0"/>
                </a:cxn>
                <a:cxn ang="0">
                  <a:pos x="connsiteX1" y="connsiteY1"/>
                </a:cxn>
                <a:cxn ang="0">
                  <a:pos x="connsiteX2" y="connsiteY2"/>
                </a:cxn>
                <a:cxn ang="0">
                  <a:pos x="connsiteX3" y="connsiteY3"/>
                </a:cxn>
              </a:cxnLst>
              <a:rect l="l" t="t" r="r" b="b"/>
              <a:pathLst>
                <a:path w="506536" h="965199">
                  <a:moveTo>
                    <a:pt x="0" y="0"/>
                  </a:moveTo>
                  <a:lnTo>
                    <a:pt x="253268" y="0"/>
                  </a:lnTo>
                  <a:lnTo>
                    <a:pt x="253268" y="965199"/>
                  </a:lnTo>
                  <a:lnTo>
                    <a:pt x="506536" y="965199"/>
                  </a:lnTo>
                </a:path>
              </a:pathLst>
            </a:custGeom>
            <a:noFill/>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spcFirstLastPara="0" vert="horz" wrap="square" lIns="238717" tIns="455348" rIns="238717" bIns="455349" numCol="1" spcCol="1270" anchor="ctr" anchorCtr="0">
              <a:noAutofit/>
            </a:bodyPr>
            <a:lstStyle/>
            <a:p>
              <a:pPr lvl="0" algn="ctr" defTabSz="800100">
                <a:lnSpc>
                  <a:spcPct val="90000"/>
                </a:lnSpc>
                <a:spcBef>
                  <a:spcPct val="0"/>
                </a:spcBef>
                <a:spcAft>
                  <a:spcPct val="35000"/>
                </a:spcAft>
              </a:pPr>
              <a:endParaRPr lang="en-AU" sz="1800" kern="1200" dirty="0">
                <a:latin typeface="Helvetica" pitchFamily="34" charset="0"/>
              </a:endParaRPr>
            </a:p>
          </p:txBody>
        </p:sp>
        <p:sp>
          <p:nvSpPr>
            <p:cNvPr id="8" name="Freeform 7"/>
            <p:cNvSpPr/>
            <p:nvPr/>
          </p:nvSpPr>
          <p:spPr>
            <a:xfrm>
              <a:off x="1830332" y="3759096"/>
              <a:ext cx="506536" cy="91440"/>
            </a:xfrm>
            <a:custGeom>
              <a:avLst/>
              <a:gdLst>
                <a:gd name="connsiteX0" fmla="*/ 0 w 506536"/>
                <a:gd name="connsiteY0" fmla="*/ 45720 h 91440"/>
                <a:gd name="connsiteX1" fmla="*/ 506536 w 506536"/>
                <a:gd name="connsiteY1" fmla="*/ 45720 h 91440"/>
              </a:gdLst>
              <a:ahLst/>
              <a:cxnLst>
                <a:cxn ang="0">
                  <a:pos x="connsiteX0" y="connsiteY0"/>
                </a:cxn>
                <a:cxn ang="0">
                  <a:pos x="connsiteX1" y="connsiteY1"/>
                </a:cxn>
              </a:cxnLst>
              <a:rect l="l" t="t" r="r" b="b"/>
              <a:pathLst>
                <a:path w="506536" h="91440">
                  <a:moveTo>
                    <a:pt x="0" y="45720"/>
                  </a:moveTo>
                  <a:lnTo>
                    <a:pt x="506536" y="45720"/>
                  </a:lnTo>
                </a:path>
              </a:pathLst>
            </a:custGeom>
            <a:noFill/>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spcFirstLastPara="0" vert="horz" wrap="square" lIns="253305" tIns="33056" rIns="253305" bIns="33058" numCol="1" spcCol="1270" anchor="ctr" anchorCtr="0">
              <a:noAutofit/>
            </a:bodyPr>
            <a:lstStyle/>
            <a:p>
              <a:pPr lvl="0" algn="ctr" defTabSz="800100">
                <a:lnSpc>
                  <a:spcPct val="90000"/>
                </a:lnSpc>
                <a:spcBef>
                  <a:spcPct val="0"/>
                </a:spcBef>
                <a:spcAft>
                  <a:spcPct val="35000"/>
                </a:spcAft>
              </a:pPr>
              <a:endParaRPr lang="en-AU" sz="1800" kern="1200" dirty="0">
                <a:latin typeface="Helvetica" pitchFamily="34" charset="0"/>
              </a:endParaRPr>
            </a:p>
          </p:txBody>
        </p:sp>
        <p:sp>
          <p:nvSpPr>
            <p:cNvPr id="9" name="Freeform 8"/>
            <p:cNvSpPr/>
            <p:nvPr/>
          </p:nvSpPr>
          <p:spPr>
            <a:xfrm>
              <a:off x="1830332" y="2839615"/>
              <a:ext cx="506536" cy="965200"/>
            </a:xfrm>
            <a:custGeom>
              <a:avLst/>
              <a:gdLst>
                <a:gd name="connsiteX0" fmla="*/ 0 w 506536"/>
                <a:gd name="connsiteY0" fmla="*/ 965200 h 965200"/>
                <a:gd name="connsiteX1" fmla="*/ 253268 w 506536"/>
                <a:gd name="connsiteY1" fmla="*/ 965200 h 965200"/>
                <a:gd name="connsiteX2" fmla="*/ 253268 w 506536"/>
                <a:gd name="connsiteY2" fmla="*/ 0 h 965200"/>
                <a:gd name="connsiteX3" fmla="*/ 506536 w 506536"/>
                <a:gd name="connsiteY3" fmla="*/ 0 h 965200"/>
              </a:gdLst>
              <a:ahLst/>
              <a:cxnLst>
                <a:cxn ang="0">
                  <a:pos x="connsiteX0" y="connsiteY0"/>
                </a:cxn>
                <a:cxn ang="0">
                  <a:pos x="connsiteX1" y="connsiteY1"/>
                </a:cxn>
                <a:cxn ang="0">
                  <a:pos x="connsiteX2" y="connsiteY2"/>
                </a:cxn>
                <a:cxn ang="0">
                  <a:pos x="connsiteX3" y="connsiteY3"/>
                </a:cxn>
              </a:cxnLst>
              <a:rect l="l" t="t" r="r" b="b"/>
              <a:pathLst>
                <a:path w="506536" h="965200">
                  <a:moveTo>
                    <a:pt x="0" y="965200"/>
                  </a:moveTo>
                  <a:lnTo>
                    <a:pt x="253268" y="965200"/>
                  </a:lnTo>
                  <a:lnTo>
                    <a:pt x="253268" y="0"/>
                  </a:lnTo>
                  <a:lnTo>
                    <a:pt x="506536" y="0"/>
                  </a:lnTo>
                </a:path>
              </a:pathLst>
            </a:custGeom>
            <a:noFill/>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spcFirstLastPara="0" vert="horz" wrap="square" lIns="238717" tIns="455349" rIns="238717" bIns="455349" numCol="1" spcCol="1270" anchor="ctr" anchorCtr="0">
              <a:noAutofit/>
            </a:bodyPr>
            <a:lstStyle/>
            <a:p>
              <a:pPr lvl="0" algn="ctr" defTabSz="800100">
                <a:lnSpc>
                  <a:spcPct val="90000"/>
                </a:lnSpc>
                <a:spcBef>
                  <a:spcPct val="0"/>
                </a:spcBef>
                <a:spcAft>
                  <a:spcPct val="35000"/>
                </a:spcAft>
              </a:pPr>
              <a:endParaRPr lang="en-AU" sz="1800" kern="1200" dirty="0">
                <a:latin typeface="Helvetica" pitchFamily="34" charset="0"/>
              </a:endParaRPr>
            </a:p>
          </p:txBody>
        </p:sp>
        <p:sp>
          <p:nvSpPr>
            <p:cNvPr id="10" name="Freeform 9"/>
            <p:cNvSpPr/>
            <p:nvPr/>
          </p:nvSpPr>
          <p:spPr>
            <a:xfrm rot="16200000">
              <a:off x="-587747" y="3418736"/>
              <a:ext cx="4064000" cy="772160"/>
            </a:xfrm>
            <a:custGeom>
              <a:avLst/>
              <a:gdLst>
                <a:gd name="connsiteX0" fmla="*/ 0 w 4064000"/>
                <a:gd name="connsiteY0" fmla="*/ 0 h 772160"/>
                <a:gd name="connsiteX1" fmla="*/ 4064000 w 4064000"/>
                <a:gd name="connsiteY1" fmla="*/ 0 h 772160"/>
                <a:gd name="connsiteX2" fmla="*/ 4064000 w 4064000"/>
                <a:gd name="connsiteY2" fmla="*/ 772160 h 772160"/>
                <a:gd name="connsiteX3" fmla="*/ 0 w 4064000"/>
                <a:gd name="connsiteY3" fmla="*/ 772160 h 772160"/>
                <a:gd name="connsiteX4" fmla="*/ 0 w 4064000"/>
                <a:gd name="connsiteY4" fmla="*/ 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772160">
                  <a:moveTo>
                    <a:pt x="0" y="0"/>
                  </a:moveTo>
                  <a:lnTo>
                    <a:pt x="4064000" y="0"/>
                  </a:lnTo>
                  <a:lnTo>
                    <a:pt x="4064000" y="772160"/>
                  </a:lnTo>
                  <a:lnTo>
                    <a:pt x="0" y="772160"/>
                  </a:lnTo>
                  <a:lnTo>
                    <a:pt x="0" y="0"/>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3969" tIns="13970" rIns="13970" bIns="13970" numCol="1" spcCol="1270" anchor="ctr" anchorCtr="0">
              <a:noAutofit/>
            </a:bodyPr>
            <a:lstStyle/>
            <a:p>
              <a:pPr lvl="0" algn="ctr" defTabSz="977900">
                <a:lnSpc>
                  <a:spcPct val="90000"/>
                </a:lnSpc>
                <a:spcBef>
                  <a:spcPct val="0"/>
                </a:spcBef>
                <a:spcAft>
                  <a:spcPct val="35000"/>
                </a:spcAft>
              </a:pPr>
              <a:r>
                <a:rPr lang="en-AU" sz="2200" b="1" kern="1200" dirty="0" smtClean="0">
                  <a:latin typeface="Helvetica" pitchFamily="34" charset="0"/>
                </a:rPr>
                <a:t>This unit has 7 elements</a:t>
              </a:r>
              <a:endParaRPr lang="en-AU" sz="2200" b="1" kern="1200" dirty="0">
                <a:latin typeface="Helvetica" pitchFamily="34" charset="0"/>
              </a:endParaRPr>
            </a:p>
          </p:txBody>
        </p:sp>
        <p:sp>
          <p:nvSpPr>
            <p:cNvPr id="11" name="Freeform 10"/>
            <p:cNvSpPr/>
            <p:nvPr/>
          </p:nvSpPr>
          <p:spPr>
            <a:xfrm>
              <a:off x="2336869" y="2453535"/>
              <a:ext cx="3203998" cy="772160"/>
            </a:xfrm>
            <a:custGeom>
              <a:avLst/>
              <a:gdLst>
                <a:gd name="connsiteX0" fmla="*/ 0 w 3203998"/>
                <a:gd name="connsiteY0" fmla="*/ 0 h 772160"/>
                <a:gd name="connsiteX1" fmla="*/ 3203998 w 3203998"/>
                <a:gd name="connsiteY1" fmla="*/ 0 h 772160"/>
                <a:gd name="connsiteX2" fmla="*/ 3203998 w 3203998"/>
                <a:gd name="connsiteY2" fmla="*/ 772160 h 772160"/>
                <a:gd name="connsiteX3" fmla="*/ 0 w 3203998"/>
                <a:gd name="connsiteY3" fmla="*/ 772160 h 772160"/>
                <a:gd name="connsiteX4" fmla="*/ 0 w 3203998"/>
                <a:gd name="connsiteY4" fmla="*/ 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3998" h="772160">
                  <a:moveTo>
                    <a:pt x="0" y="0"/>
                  </a:moveTo>
                  <a:lnTo>
                    <a:pt x="3203998" y="0"/>
                  </a:lnTo>
                  <a:lnTo>
                    <a:pt x="3203998" y="772160"/>
                  </a:lnTo>
                  <a:lnTo>
                    <a:pt x="0" y="772160"/>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AU" sz="1800" kern="1200" dirty="0" smtClean="0">
                  <a:latin typeface="Helvetica" pitchFamily="34" charset="0"/>
                </a:rPr>
                <a:t>Manage on tour itinerary</a:t>
              </a:r>
              <a:endParaRPr lang="en-AU" sz="1800" kern="1200" dirty="0">
                <a:latin typeface="Helvetica" pitchFamily="34" charset="0"/>
              </a:endParaRPr>
            </a:p>
          </p:txBody>
        </p:sp>
        <p:sp>
          <p:nvSpPr>
            <p:cNvPr id="12" name="Freeform 11"/>
            <p:cNvSpPr/>
            <p:nvPr/>
          </p:nvSpPr>
          <p:spPr>
            <a:xfrm>
              <a:off x="2336869" y="3418736"/>
              <a:ext cx="3203998" cy="772160"/>
            </a:xfrm>
            <a:custGeom>
              <a:avLst/>
              <a:gdLst>
                <a:gd name="connsiteX0" fmla="*/ 0 w 3203998"/>
                <a:gd name="connsiteY0" fmla="*/ 0 h 772160"/>
                <a:gd name="connsiteX1" fmla="*/ 3203998 w 3203998"/>
                <a:gd name="connsiteY1" fmla="*/ 0 h 772160"/>
                <a:gd name="connsiteX2" fmla="*/ 3203998 w 3203998"/>
                <a:gd name="connsiteY2" fmla="*/ 772160 h 772160"/>
                <a:gd name="connsiteX3" fmla="*/ 0 w 3203998"/>
                <a:gd name="connsiteY3" fmla="*/ 772160 h 772160"/>
                <a:gd name="connsiteX4" fmla="*/ 0 w 3203998"/>
                <a:gd name="connsiteY4" fmla="*/ 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3998" h="772160">
                  <a:moveTo>
                    <a:pt x="0" y="0"/>
                  </a:moveTo>
                  <a:lnTo>
                    <a:pt x="3203998" y="0"/>
                  </a:lnTo>
                  <a:lnTo>
                    <a:pt x="3203998" y="772160"/>
                  </a:lnTo>
                  <a:lnTo>
                    <a:pt x="0" y="772160"/>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AU" sz="1800" kern="1200" dirty="0" smtClean="0">
                  <a:latin typeface="Helvetica" pitchFamily="34" charset="0"/>
                </a:rPr>
                <a:t>Deal with unexpected events</a:t>
              </a:r>
              <a:endParaRPr lang="en-AU" sz="1800" kern="1200" dirty="0">
                <a:latin typeface="Helvetica" pitchFamily="34" charset="0"/>
              </a:endParaRPr>
            </a:p>
          </p:txBody>
        </p:sp>
        <p:sp>
          <p:nvSpPr>
            <p:cNvPr id="13" name="Freeform 12"/>
            <p:cNvSpPr/>
            <p:nvPr/>
          </p:nvSpPr>
          <p:spPr>
            <a:xfrm>
              <a:off x="2336869" y="4383935"/>
              <a:ext cx="3203998" cy="772160"/>
            </a:xfrm>
            <a:custGeom>
              <a:avLst/>
              <a:gdLst>
                <a:gd name="connsiteX0" fmla="*/ 0 w 3203998"/>
                <a:gd name="connsiteY0" fmla="*/ 0 h 772160"/>
                <a:gd name="connsiteX1" fmla="*/ 3203998 w 3203998"/>
                <a:gd name="connsiteY1" fmla="*/ 0 h 772160"/>
                <a:gd name="connsiteX2" fmla="*/ 3203998 w 3203998"/>
                <a:gd name="connsiteY2" fmla="*/ 772160 h 772160"/>
                <a:gd name="connsiteX3" fmla="*/ 0 w 3203998"/>
                <a:gd name="connsiteY3" fmla="*/ 772160 h 772160"/>
                <a:gd name="connsiteX4" fmla="*/ 0 w 3203998"/>
                <a:gd name="connsiteY4" fmla="*/ 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3998" h="772160">
                  <a:moveTo>
                    <a:pt x="0" y="0"/>
                  </a:moveTo>
                  <a:lnTo>
                    <a:pt x="3203998" y="0"/>
                  </a:lnTo>
                  <a:lnTo>
                    <a:pt x="3203998" y="772160"/>
                  </a:lnTo>
                  <a:lnTo>
                    <a:pt x="0" y="772160"/>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AU" sz="1800" kern="1200" dirty="0" smtClean="0">
                  <a:latin typeface="Helvetica" pitchFamily="34" charset="0"/>
                </a:rPr>
                <a:t>Finalise the tour</a:t>
              </a:r>
              <a:endParaRPr lang="en-AU" sz="1800" kern="1200" dirty="0">
                <a:latin typeface="Helvetica" pitchFamily="34" charset="0"/>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a:solidFill>
                  <a:srgbClr val="FF6600"/>
                </a:solidFill>
                <a:latin typeface="Helvetica" pitchFamily="34" charset="0"/>
              </a:rPr>
              <a:t>Element 1 Prepare for tour itinerary</a:t>
            </a:r>
          </a:p>
        </p:txBody>
      </p:sp>
      <p:sp>
        <p:nvSpPr>
          <p:cNvPr id="3" name="Content Placeholder 2"/>
          <p:cNvSpPr>
            <a:spLocks noGrp="1"/>
          </p:cNvSpPr>
          <p:nvPr>
            <p:ph idx="1"/>
          </p:nvPr>
        </p:nvSpPr>
        <p:spPr>
          <a:xfrm>
            <a:off x="611560" y="1556792"/>
            <a:ext cx="7467600" cy="4824536"/>
          </a:xfrm>
        </p:spPr>
        <p:txBody>
          <a:bodyPr>
            <a:normAutofit/>
          </a:bodyPr>
          <a:lstStyle/>
          <a:p>
            <a:pPr marL="360000" indent="-360000">
              <a:spcBef>
                <a:spcPts val="600"/>
              </a:spcBef>
              <a:spcAft>
                <a:spcPts val="1200"/>
              </a:spcAft>
            </a:pPr>
            <a:r>
              <a:rPr lang="en-US" sz="2200" dirty="0" smtClean="0">
                <a:latin typeface="Helvetica" pitchFamily="34" charset="0"/>
              </a:rPr>
              <a:t>Identify the requirements in the itinerary</a:t>
            </a:r>
            <a:endParaRPr lang="en-AU" sz="3200" dirty="0" smtClean="0"/>
          </a:p>
          <a:p>
            <a:pPr marL="360000" indent="-360000">
              <a:spcBef>
                <a:spcPts val="600"/>
              </a:spcBef>
              <a:spcAft>
                <a:spcPts val="1200"/>
              </a:spcAft>
            </a:pPr>
            <a:r>
              <a:rPr lang="en-US" sz="2200" dirty="0" smtClean="0">
                <a:latin typeface="Helvetica" pitchFamily="34" charset="0"/>
              </a:rPr>
              <a:t>Clarify requirements relating to the itinerary</a:t>
            </a:r>
          </a:p>
          <a:p>
            <a:pPr marL="360000" indent="-360000">
              <a:spcBef>
                <a:spcPts val="600"/>
              </a:spcBef>
              <a:spcAft>
                <a:spcPts val="1200"/>
              </a:spcAft>
            </a:pPr>
            <a:r>
              <a:rPr lang="en-US" sz="2200" dirty="0" smtClean="0">
                <a:latin typeface="Helvetica" pitchFamily="34" charset="0"/>
              </a:rPr>
              <a:t>Plan tour in accordance with briefing information</a:t>
            </a:r>
          </a:p>
          <a:p>
            <a:pPr marL="360000" indent="-360000">
              <a:spcBef>
                <a:spcPts val="600"/>
              </a:spcBef>
              <a:spcAft>
                <a:spcPts val="1200"/>
              </a:spcAft>
            </a:pPr>
            <a:r>
              <a:rPr lang="en-US" sz="2200" dirty="0" smtClean="0">
                <a:latin typeface="Helvetica" pitchFamily="34" charset="0"/>
              </a:rPr>
              <a:t>Identify tour related risks</a:t>
            </a:r>
          </a:p>
          <a:p>
            <a:pPr marL="360000" indent="-360000">
              <a:spcBef>
                <a:spcPts val="600"/>
              </a:spcBef>
              <a:spcAft>
                <a:spcPts val="1200"/>
              </a:spcAft>
            </a:pPr>
            <a:r>
              <a:rPr lang="en-US" sz="2200" dirty="0" smtClean="0">
                <a:latin typeface="Helvetica" pitchFamily="34" charset="0"/>
              </a:rPr>
              <a:t>Develop contingency plans for risks</a:t>
            </a:r>
          </a:p>
          <a:p>
            <a:pPr marL="360000" indent="-360000">
              <a:spcBef>
                <a:spcPts val="600"/>
              </a:spcBef>
              <a:spcAft>
                <a:spcPts val="1200"/>
              </a:spcAft>
            </a:pPr>
            <a:r>
              <a:rPr lang="en-US" sz="2200" dirty="0" smtClean="0">
                <a:latin typeface="Helvetica" pitchFamily="34" charset="0"/>
              </a:rPr>
              <a:t>Confirm reserved tour components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2200" y="3153147"/>
            <a:ext cx="1927498" cy="1927498"/>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1.1	Identify the requirements in the itinerary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buNone/>
            </a:pPr>
            <a:r>
              <a:rPr lang="en-US" sz="2200" dirty="0" smtClean="0">
                <a:latin typeface="Helvetica" pitchFamily="34" charset="0"/>
              </a:rPr>
              <a:t>What is an itinerary?</a:t>
            </a:r>
          </a:p>
          <a:p>
            <a:pPr marL="360000" indent="-360000">
              <a:spcBef>
                <a:spcPts val="600"/>
              </a:spcBef>
              <a:spcAft>
                <a:spcPts val="1200"/>
              </a:spcAft>
              <a:buNone/>
            </a:pPr>
            <a:r>
              <a:rPr lang="en-US" sz="2200" dirty="0" smtClean="0">
                <a:latin typeface="Helvetica" pitchFamily="34" charset="0"/>
              </a:rPr>
              <a:t>It is the road map for a tour including:</a:t>
            </a:r>
          </a:p>
          <a:p>
            <a:pPr marL="360000" indent="-360000">
              <a:spcBef>
                <a:spcPts val="600"/>
              </a:spcBef>
              <a:spcAft>
                <a:spcPts val="1200"/>
              </a:spcAft>
            </a:pPr>
            <a:r>
              <a:rPr lang="en-US" sz="2200" dirty="0" smtClean="0">
                <a:latin typeface="Helvetica" pitchFamily="34" charset="0"/>
              </a:rPr>
              <a:t>Tour route</a:t>
            </a:r>
          </a:p>
          <a:p>
            <a:pPr marL="360000" indent="-360000">
              <a:spcBef>
                <a:spcPts val="600"/>
              </a:spcBef>
              <a:spcAft>
                <a:spcPts val="1200"/>
              </a:spcAft>
            </a:pPr>
            <a:r>
              <a:rPr lang="en-US" sz="2200" dirty="0" smtClean="0">
                <a:latin typeface="Helvetica" pitchFamily="34" charset="0"/>
              </a:rPr>
              <a:t>All travel arrangements by date and order delivery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4077072"/>
            <a:ext cx="2543944" cy="1696811"/>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The itinerary include all products, services, activities required during the trip: </a:t>
            </a:r>
          </a:p>
          <a:p>
            <a:pPr marL="360000" indent="-360000">
              <a:spcBef>
                <a:spcPts val="600"/>
              </a:spcBef>
              <a:spcAft>
                <a:spcPts val="1200"/>
              </a:spcAft>
            </a:pPr>
            <a:r>
              <a:rPr lang="en-US" sz="2200" dirty="0" smtClean="0">
                <a:latin typeface="Helvetica" pitchFamily="34" charset="0"/>
              </a:rPr>
              <a:t>Destination: domestic-international</a:t>
            </a:r>
          </a:p>
          <a:p>
            <a:pPr marL="360000" indent="-360000">
              <a:spcBef>
                <a:spcPts val="600"/>
              </a:spcBef>
              <a:spcAft>
                <a:spcPts val="1200"/>
              </a:spcAft>
            </a:pPr>
            <a:r>
              <a:rPr lang="en-US" sz="2200" dirty="0" smtClean="0">
                <a:latin typeface="Helvetica" pitchFamily="34" charset="0"/>
              </a:rPr>
              <a:t>Dates and times</a:t>
            </a:r>
          </a:p>
          <a:p>
            <a:pPr marL="360000" indent="-360000">
              <a:spcBef>
                <a:spcPts val="600"/>
              </a:spcBef>
              <a:spcAft>
                <a:spcPts val="1200"/>
              </a:spcAft>
            </a:pPr>
            <a:r>
              <a:rPr lang="en-US" sz="2200" dirty="0" smtClean="0">
                <a:latin typeface="Helvetica" pitchFamily="34" charset="0"/>
              </a:rPr>
              <a:t>Type of transport/s </a:t>
            </a:r>
          </a:p>
          <a:p>
            <a:pPr marL="360000" indent="-360000">
              <a:spcBef>
                <a:spcPts val="600"/>
              </a:spcBef>
              <a:spcAft>
                <a:spcPts val="1200"/>
              </a:spcAft>
            </a:pPr>
            <a:r>
              <a:rPr lang="en-US" sz="2200" dirty="0" smtClean="0">
                <a:latin typeface="Helvetica" pitchFamily="34" charset="0"/>
              </a:rPr>
              <a:t>Transfers if applicable</a:t>
            </a:r>
          </a:p>
          <a:p>
            <a:pPr marL="360000" indent="-360000">
              <a:spcBef>
                <a:spcPts val="600"/>
              </a:spcBef>
              <a:spcAft>
                <a:spcPts val="1200"/>
              </a:spcAft>
            </a:pPr>
            <a:r>
              <a:rPr lang="en-US" sz="2200" dirty="0" smtClean="0">
                <a:latin typeface="Helvetica" pitchFamily="34" charset="0"/>
              </a:rPr>
              <a:t>Accommodation and Meals</a:t>
            </a:r>
          </a:p>
          <a:p>
            <a:pPr marL="360000" indent="-360000">
              <a:spcBef>
                <a:spcPts val="600"/>
              </a:spcBef>
              <a:spcAft>
                <a:spcPts val="1200"/>
              </a:spcAft>
            </a:pPr>
            <a:r>
              <a:rPr lang="en-US" sz="2200" dirty="0" smtClean="0">
                <a:latin typeface="Helvetica" pitchFamily="34" charset="0"/>
              </a:rPr>
              <a:t>All tour activities from visits to options and free time</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sp>
        <p:nvSpPr>
          <p:cNvPr id="8"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1.1	Identify the requirements in the itinerary</a:t>
            </a:r>
            <a:endParaRPr lang="en-US" sz="3400" b="1" dirty="0">
              <a:solidFill>
                <a:srgbClr val="FF6600"/>
              </a:solidFill>
              <a:latin typeface="Helvetic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2636912"/>
            <a:ext cx="2567947" cy="192596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72816"/>
            <a:ext cx="7467600" cy="4680520"/>
          </a:xfrm>
        </p:spPr>
        <p:txBody>
          <a:bodyPr>
            <a:normAutofit/>
          </a:bodyPr>
          <a:lstStyle/>
          <a:p>
            <a:pPr marL="0" indent="0">
              <a:spcBef>
                <a:spcPts val="600"/>
              </a:spcBef>
              <a:spcAft>
                <a:spcPts val="1200"/>
              </a:spcAft>
              <a:buNone/>
            </a:pPr>
            <a:r>
              <a:rPr lang="en-US" sz="2200" dirty="0" smtClean="0">
                <a:latin typeface="Helvetica" pitchFamily="34" charset="0"/>
              </a:rPr>
              <a:t>The itinerary include all products, services, activities required during the trip: </a:t>
            </a:r>
          </a:p>
          <a:p>
            <a:pPr marL="360000" indent="-360000">
              <a:spcBef>
                <a:spcPts val="600"/>
              </a:spcBef>
              <a:spcAft>
                <a:spcPts val="1200"/>
              </a:spcAft>
            </a:pPr>
            <a:r>
              <a:rPr lang="en-US" sz="2200" dirty="0" smtClean="0">
                <a:latin typeface="Helvetica" pitchFamily="34" charset="0"/>
              </a:rPr>
              <a:t>Bookings information: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Customers details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Payments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716016" y="2852936"/>
            <a:ext cx="2577319" cy="1719072"/>
          </a:xfrm>
          <a:prstGeom prst="rect">
            <a:avLst/>
          </a:prstGeom>
          <a:noFill/>
        </p:spPr>
      </p:pic>
      <p:sp>
        <p:nvSpPr>
          <p:cNvPr id="8"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1.1	Identify the requirements in the itinerary</a:t>
            </a:r>
            <a:endParaRPr lang="en-US" sz="3400" b="1" dirty="0">
              <a:solidFill>
                <a:srgbClr val="FF6600"/>
              </a:solidFill>
              <a:latin typeface="Helvetica"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The itinerary include all products, services, activities required during the trip: </a:t>
            </a:r>
          </a:p>
          <a:p>
            <a:pPr marL="360000" indent="-360000">
              <a:spcBef>
                <a:spcPts val="600"/>
              </a:spcBef>
              <a:spcAft>
                <a:spcPts val="1200"/>
              </a:spcAft>
            </a:pPr>
            <a:r>
              <a:rPr lang="en-US" sz="2200" dirty="0" smtClean="0">
                <a:latin typeface="Helvetica" pitchFamily="34" charset="0"/>
              </a:rPr>
              <a:t>Recent changes to advertised:</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Destinations, activities, experiences</a:t>
            </a:r>
          </a:p>
          <a:p>
            <a:pPr marL="720000" indent="-360000">
              <a:spcBef>
                <a:spcPts val="600"/>
              </a:spcBef>
              <a:spcAft>
                <a:spcPts val="1200"/>
              </a:spcAft>
              <a:buClr>
                <a:schemeClr val="accent1">
                  <a:lumMod val="75000"/>
                </a:schemeClr>
              </a:buClr>
              <a:buSzPct val="100000"/>
              <a:buNone/>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828481" y="3859510"/>
            <a:ext cx="2588963" cy="1719072"/>
          </a:xfrm>
          <a:prstGeom prst="rect">
            <a:avLst/>
          </a:prstGeom>
          <a:noFill/>
        </p:spPr>
      </p:pic>
      <p:sp>
        <p:nvSpPr>
          <p:cNvPr id="8"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1.1	Identify the requirements in the itinerary</a:t>
            </a:r>
            <a:endParaRPr lang="en-US" sz="3400" b="1" dirty="0">
              <a:solidFill>
                <a:srgbClr val="FF6600"/>
              </a:solidFill>
              <a:latin typeface="Helvetica"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1.2	Clarify requirements relating to the itinerary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467600" cy="4165923"/>
          </a:xfrm>
        </p:spPr>
        <p:txBody>
          <a:bodyPr>
            <a:normAutofit/>
          </a:bodyPr>
          <a:lstStyle/>
          <a:p>
            <a:pPr marL="360000" indent="-360000">
              <a:spcBef>
                <a:spcPts val="600"/>
              </a:spcBef>
              <a:spcAft>
                <a:spcPts val="1200"/>
              </a:spcAft>
            </a:pPr>
            <a:r>
              <a:rPr lang="en-AU" sz="2200" dirty="0" smtClean="0">
                <a:latin typeface="Helvetica" pitchFamily="34" charset="0"/>
              </a:rPr>
              <a:t>Financial requirements and </a:t>
            </a:r>
            <a:br>
              <a:rPr lang="en-AU" sz="2200" dirty="0" smtClean="0">
                <a:latin typeface="Helvetica" pitchFamily="34" charset="0"/>
              </a:rPr>
            </a:br>
            <a:r>
              <a:rPr lang="en-AU" sz="2200" dirty="0" smtClean="0">
                <a:latin typeface="Helvetica" pitchFamily="34" charset="0"/>
              </a:rPr>
              <a:t>compliance with organisation </a:t>
            </a:r>
            <a:br>
              <a:rPr lang="en-AU" sz="2200" dirty="0" smtClean="0">
                <a:latin typeface="Helvetica" pitchFamily="34" charset="0"/>
              </a:rPr>
            </a:br>
            <a:r>
              <a:rPr lang="en-AU" sz="2200" dirty="0" smtClean="0">
                <a:latin typeface="Helvetica" pitchFamily="34" charset="0"/>
              </a:rPr>
              <a:t>terms and conditions</a:t>
            </a:r>
          </a:p>
          <a:p>
            <a:pPr marL="360000" indent="-360000">
              <a:spcBef>
                <a:spcPts val="600"/>
              </a:spcBef>
              <a:spcAft>
                <a:spcPts val="1200"/>
              </a:spcAft>
            </a:pPr>
            <a:r>
              <a:rPr lang="en-AU" sz="2200" dirty="0" smtClean="0">
                <a:latin typeface="Helvetica" pitchFamily="34" charset="0"/>
              </a:rPr>
              <a:t>Finalise customers preferences </a:t>
            </a: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444360" y="2035688"/>
            <a:ext cx="2577319" cy="1719072"/>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916832"/>
            <a:ext cx="7467600" cy="4165923"/>
          </a:xfrm>
        </p:spPr>
        <p:txBody>
          <a:bodyPr>
            <a:normAutofit/>
          </a:bodyPr>
          <a:lstStyle/>
          <a:p>
            <a:pPr marL="360000" indent="-360000">
              <a:spcBef>
                <a:spcPts val="600"/>
              </a:spcBef>
              <a:spcAft>
                <a:spcPts val="1200"/>
              </a:spcAft>
            </a:pPr>
            <a:r>
              <a:rPr lang="en-US" sz="2200" dirty="0" smtClean="0">
                <a:latin typeface="Helvetica" pitchFamily="34" charset="0"/>
              </a:rPr>
              <a:t>Follow up on potential customers having failed to: </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Confirm their participation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Pay for the tour</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932040" y="2348880"/>
            <a:ext cx="2585070" cy="1719072"/>
          </a:xfrm>
          <a:prstGeom prst="rect">
            <a:avLst/>
          </a:prstGeom>
          <a:noFill/>
        </p:spPr>
      </p:pic>
      <p:sp>
        <p:nvSpPr>
          <p:cNvPr id="8"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1.2	Clarify requirements relating to the itinerary</a:t>
            </a:r>
            <a:endParaRPr lang="en-US" sz="3400" b="1" dirty="0">
              <a:solidFill>
                <a:srgbClr val="FF6600"/>
              </a:solidFill>
              <a:latin typeface="Helvetica"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1.3	Plan in accordance with briefing information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467600" cy="4165923"/>
          </a:xfrm>
        </p:spPr>
        <p:txBody>
          <a:bodyPr>
            <a:normAutofit/>
          </a:bodyPr>
          <a:lstStyle/>
          <a:p>
            <a:pPr marL="360000" indent="-360000">
              <a:spcBef>
                <a:spcPts val="600"/>
              </a:spcBef>
              <a:spcAft>
                <a:spcPts val="1200"/>
              </a:spcAft>
            </a:pPr>
            <a:r>
              <a:rPr lang="en-US" sz="2200" dirty="0" smtClean="0">
                <a:latin typeface="Helvetica" pitchFamily="34" charset="0"/>
              </a:rPr>
              <a:t>Advise all the existing suppliers with the information they need to deliver the required products and services</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915816" y="2996952"/>
            <a:ext cx="2590994" cy="1728192"/>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844824"/>
            <a:ext cx="7467600" cy="4237931"/>
          </a:xfrm>
        </p:spPr>
        <p:txBody>
          <a:bodyPr>
            <a:normAutofit/>
          </a:bodyPr>
          <a:lstStyle/>
          <a:p>
            <a:pPr marL="360000" indent="-360000">
              <a:spcBef>
                <a:spcPts val="600"/>
              </a:spcBef>
              <a:spcAft>
                <a:spcPts val="1200"/>
              </a:spcAft>
            </a:pPr>
            <a:r>
              <a:rPr lang="en-US" sz="2200" dirty="0" smtClean="0">
                <a:latin typeface="Helvetica" pitchFamily="34" charset="0"/>
              </a:rPr>
              <a:t>Seek information from those </a:t>
            </a:r>
            <a:br>
              <a:rPr lang="en-US" sz="2200" dirty="0" smtClean="0">
                <a:latin typeface="Helvetica" pitchFamily="34" charset="0"/>
              </a:rPr>
            </a:br>
            <a:r>
              <a:rPr lang="en-US" sz="2200" dirty="0" smtClean="0">
                <a:latin typeface="Helvetica" pitchFamily="34" charset="0"/>
              </a:rPr>
              <a:t>suppliers in regards to specific </a:t>
            </a:r>
            <a:br>
              <a:rPr lang="en-US" sz="2200" dirty="0" smtClean="0">
                <a:latin typeface="Helvetica" pitchFamily="34" charset="0"/>
              </a:rPr>
            </a:br>
            <a:r>
              <a:rPr lang="en-US" sz="2200" dirty="0" smtClean="0">
                <a:latin typeface="Helvetica" pitchFamily="34" charset="0"/>
              </a:rPr>
              <a:t>tour requirements </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1.3	Plan in accordance with briefing information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8144" y="1700808"/>
            <a:ext cx="1777013" cy="2672628"/>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916832"/>
            <a:ext cx="7467600" cy="4165923"/>
          </a:xfrm>
        </p:spPr>
        <p:txBody>
          <a:bodyPr>
            <a:normAutofit/>
          </a:bodyPr>
          <a:lstStyle/>
          <a:p>
            <a:pPr marL="360000" indent="-360000">
              <a:spcBef>
                <a:spcPts val="600"/>
              </a:spcBef>
              <a:spcAft>
                <a:spcPts val="1200"/>
              </a:spcAft>
            </a:pPr>
            <a:r>
              <a:rPr lang="en-US" sz="2200" dirty="0" smtClean="0">
                <a:latin typeface="Helvetica" pitchFamily="34" charset="0"/>
              </a:rPr>
              <a:t>Sourcing and contracting new suppliers if required</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1.3	Plan in accordance with briefing information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15816" y="2780928"/>
            <a:ext cx="2375925" cy="1781944"/>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916832"/>
            <a:ext cx="7467600" cy="4165923"/>
          </a:xfrm>
        </p:spPr>
        <p:txBody>
          <a:bodyPr>
            <a:normAutofit/>
          </a:bodyPr>
          <a:lstStyle/>
          <a:p>
            <a:pPr marL="360000" indent="-360000">
              <a:spcBef>
                <a:spcPts val="600"/>
              </a:spcBef>
              <a:spcAft>
                <a:spcPts val="1200"/>
              </a:spcAft>
            </a:pPr>
            <a:r>
              <a:rPr lang="en-US" sz="2200" dirty="0" smtClean="0">
                <a:latin typeface="Helvetica" pitchFamily="34" charset="0"/>
              </a:rPr>
              <a:t>Manage all reservations: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Making bookings </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Check all inclusions</a:t>
            </a:r>
          </a:p>
          <a:p>
            <a:pPr marL="360000" indent="-360000">
              <a:spcBef>
                <a:spcPts val="600"/>
              </a:spcBef>
              <a:spcAft>
                <a:spcPts val="1200"/>
              </a:spcAft>
            </a:pPr>
            <a:r>
              <a:rPr lang="en-US" sz="2200" dirty="0" smtClean="0">
                <a:latin typeface="Helvetica" pitchFamily="34" charset="0"/>
              </a:rPr>
              <a:t>Liaise with handling agents, if applicable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1.3	Plan in accordance with briefing information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3933056"/>
            <a:ext cx="1909482" cy="1783456"/>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916832"/>
            <a:ext cx="7467600" cy="4165923"/>
          </a:xfrm>
        </p:spPr>
        <p:txBody>
          <a:bodyPr>
            <a:normAutofit/>
          </a:bodyPr>
          <a:lstStyle/>
          <a:p>
            <a:pPr marL="360000" indent="-360000">
              <a:spcBef>
                <a:spcPts val="600"/>
              </a:spcBef>
              <a:spcAft>
                <a:spcPts val="1200"/>
              </a:spcAft>
            </a:pPr>
            <a:r>
              <a:rPr lang="en-US" sz="2200" dirty="0" smtClean="0">
                <a:latin typeface="Helvetica" pitchFamily="34" charset="0"/>
              </a:rPr>
              <a:t>Manage tour content can cover:</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Carriers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Destinations </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Activities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Specific inclusions</a:t>
            </a:r>
          </a:p>
          <a:p>
            <a:pPr marL="360000" indent="-360000">
              <a:spcBef>
                <a:spcPts val="600"/>
              </a:spcBef>
              <a:spcAft>
                <a:spcPts val="1200"/>
              </a:spcAft>
              <a:buNone/>
            </a:pPr>
            <a:r>
              <a:rPr lang="en-US" sz="2200" dirty="0" smtClean="0">
                <a:latin typeface="Helvetica" pitchFamily="34" charset="0"/>
              </a:rPr>
              <a:t>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1.3	Plan in accordance with briefing information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8024" y="2557661"/>
            <a:ext cx="3048000" cy="2033016"/>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844824"/>
            <a:ext cx="7179568" cy="4669979"/>
          </a:xfrm>
        </p:spPr>
        <p:txBody>
          <a:bodyPr>
            <a:normAutofit/>
          </a:bodyPr>
          <a:lstStyle/>
          <a:p>
            <a:pPr marL="0" indent="0">
              <a:spcBef>
                <a:spcPts val="600"/>
              </a:spcBef>
              <a:spcAft>
                <a:spcPts val="1200"/>
              </a:spcAft>
              <a:buNone/>
            </a:pPr>
            <a:r>
              <a:rPr lang="en-US" sz="2200" b="1" dirty="0" smtClean="0">
                <a:latin typeface="Helvetica" pitchFamily="34" charset="0"/>
              </a:rPr>
              <a:t>Manage customers’ needs and expectations: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1.3	Plan in accordance with briefing information </a:t>
            </a:r>
            <a:endParaRPr lang="en-US" sz="3400" b="1" dirty="0">
              <a:solidFill>
                <a:srgbClr val="FF6600"/>
              </a:solidFill>
              <a:latin typeface="Helvetica" pitchFamily="34" charset="0"/>
            </a:endParaRPr>
          </a:p>
        </p:txBody>
      </p:sp>
      <p:grpSp>
        <p:nvGrpSpPr>
          <p:cNvPr id="9" name="Group 8"/>
          <p:cNvGrpSpPr/>
          <p:nvPr/>
        </p:nvGrpSpPr>
        <p:grpSpPr>
          <a:xfrm>
            <a:off x="683568" y="2420888"/>
            <a:ext cx="6353047" cy="3542250"/>
            <a:chOff x="758132" y="2429734"/>
            <a:chExt cx="6353047" cy="3542250"/>
          </a:xfrm>
        </p:grpSpPr>
        <p:sp>
          <p:nvSpPr>
            <p:cNvPr id="10" name="Oval 9"/>
            <p:cNvSpPr/>
            <p:nvPr/>
          </p:nvSpPr>
          <p:spPr>
            <a:xfrm>
              <a:off x="2303679" y="4434460"/>
              <a:ext cx="127520" cy="127520"/>
            </a:xfrm>
            <a:prstGeom prst="ellipse">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1" name="Oval 10"/>
            <p:cNvSpPr/>
            <p:nvPr/>
          </p:nvSpPr>
          <p:spPr>
            <a:xfrm>
              <a:off x="2191971" y="4613478"/>
              <a:ext cx="127520" cy="127520"/>
            </a:xfrm>
            <a:prstGeom prst="ellipse">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2" name="Oval 11"/>
            <p:cNvSpPr/>
            <p:nvPr/>
          </p:nvSpPr>
          <p:spPr>
            <a:xfrm>
              <a:off x="2058840" y="4768468"/>
              <a:ext cx="127520" cy="127520"/>
            </a:xfrm>
            <a:prstGeom prst="ellipse">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3" name="Oval 12"/>
            <p:cNvSpPr/>
            <p:nvPr/>
          </p:nvSpPr>
          <p:spPr>
            <a:xfrm>
              <a:off x="2217985" y="2632779"/>
              <a:ext cx="127520" cy="127520"/>
            </a:xfrm>
            <a:prstGeom prst="ellipse">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4" name="Oval 13"/>
            <p:cNvSpPr/>
            <p:nvPr/>
          </p:nvSpPr>
          <p:spPr>
            <a:xfrm>
              <a:off x="2388352" y="2531257"/>
              <a:ext cx="127520" cy="127520"/>
            </a:xfrm>
            <a:prstGeom prst="ellipse">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5" name="Oval 14"/>
            <p:cNvSpPr/>
            <p:nvPr/>
          </p:nvSpPr>
          <p:spPr>
            <a:xfrm>
              <a:off x="2558210" y="2429734"/>
              <a:ext cx="127520" cy="127520"/>
            </a:xfrm>
            <a:prstGeom prst="ellipse">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6" name="Oval 15"/>
            <p:cNvSpPr/>
            <p:nvPr/>
          </p:nvSpPr>
          <p:spPr>
            <a:xfrm>
              <a:off x="2728067" y="2531257"/>
              <a:ext cx="127520" cy="127520"/>
            </a:xfrm>
            <a:prstGeom prst="ellipse">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7" name="Oval 16"/>
            <p:cNvSpPr/>
            <p:nvPr/>
          </p:nvSpPr>
          <p:spPr>
            <a:xfrm>
              <a:off x="2898434" y="2632779"/>
              <a:ext cx="127520" cy="127520"/>
            </a:xfrm>
            <a:prstGeom prst="ellipse">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8" name="Oval 17"/>
            <p:cNvSpPr/>
            <p:nvPr/>
          </p:nvSpPr>
          <p:spPr>
            <a:xfrm>
              <a:off x="2558210" y="2643946"/>
              <a:ext cx="127520" cy="127520"/>
            </a:xfrm>
            <a:prstGeom prst="ellipse">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9" name="Oval 18"/>
            <p:cNvSpPr/>
            <p:nvPr/>
          </p:nvSpPr>
          <p:spPr>
            <a:xfrm>
              <a:off x="2558210" y="2858158"/>
              <a:ext cx="127520" cy="127520"/>
            </a:xfrm>
            <a:prstGeom prst="ellipse">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20" name="Freeform 19"/>
            <p:cNvSpPr/>
            <p:nvPr/>
          </p:nvSpPr>
          <p:spPr>
            <a:xfrm>
              <a:off x="1520703" y="5234256"/>
              <a:ext cx="4428000" cy="737728"/>
            </a:xfrm>
            <a:custGeom>
              <a:avLst/>
              <a:gdLst>
                <a:gd name="connsiteX0" fmla="*/ 0 w 2750359"/>
                <a:gd name="connsiteY0" fmla="*/ 122957 h 737728"/>
                <a:gd name="connsiteX1" fmla="*/ 122957 w 2750359"/>
                <a:gd name="connsiteY1" fmla="*/ 0 h 737728"/>
                <a:gd name="connsiteX2" fmla="*/ 2627402 w 2750359"/>
                <a:gd name="connsiteY2" fmla="*/ 0 h 737728"/>
                <a:gd name="connsiteX3" fmla="*/ 2750359 w 2750359"/>
                <a:gd name="connsiteY3" fmla="*/ 122957 h 737728"/>
                <a:gd name="connsiteX4" fmla="*/ 2750359 w 2750359"/>
                <a:gd name="connsiteY4" fmla="*/ 614771 h 737728"/>
                <a:gd name="connsiteX5" fmla="*/ 2627402 w 2750359"/>
                <a:gd name="connsiteY5" fmla="*/ 737728 h 737728"/>
                <a:gd name="connsiteX6" fmla="*/ 122957 w 2750359"/>
                <a:gd name="connsiteY6" fmla="*/ 737728 h 737728"/>
                <a:gd name="connsiteX7" fmla="*/ 0 w 2750359"/>
                <a:gd name="connsiteY7" fmla="*/ 614771 h 737728"/>
                <a:gd name="connsiteX8" fmla="*/ 0 w 2750359"/>
                <a:gd name="connsiteY8" fmla="*/ 122957 h 73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0359" h="737728">
                  <a:moveTo>
                    <a:pt x="0" y="122957"/>
                  </a:moveTo>
                  <a:cubicBezTo>
                    <a:pt x="0" y="55050"/>
                    <a:pt x="55050" y="0"/>
                    <a:pt x="122957" y="0"/>
                  </a:cubicBezTo>
                  <a:lnTo>
                    <a:pt x="2627402" y="0"/>
                  </a:lnTo>
                  <a:cubicBezTo>
                    <a:pt x="2695309" y="0"/>
                    <a:pt x="2750359" y="55050"/>
                    <a:pt x="2750359" y="122957"/>
                  </a:cubicBezTo>
                  <a:lnTo>
                    <a:pt x="2750359" y="614771"/>
                  </a:lnTo>
                  <a:cubicBezTo>
                    <a:pt x="2750359" y="682678"/>
                    <a:pt x="2695309" y="737728"/>
                    <a:pt x="2627402" y="737728"/>
                  </a:cubicBezTo>
                  <a:lnTo>
                    <a:pt x="122957" y="737728"/>
                  </a:lnTo>
                  <a:cubicBezTo>
                    <a:pt x="55050" y="737728"/>
                    <a:pt x="0" y="682678"/>
                    <a:pt x="0" y="614771"/>
                  </a:cubicBezTo>
                  <a:lnTo>
                    <a:pt x="0" y="122957"/>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18172" tIns="104593" rIns="104593" bIns="104593"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sz="1800" kern="1200" dirty="0" smtClean="0">
                  <a:latin typeface="Helvetica" pitchFamily="34" charset="0"/>
                </a:rPr>
                <a:t>What would be your expectations? </a:t>
              </a:r>
            </a:p>
            <a:p>
              <a:pPr lvl="0" algn="l" defTabSz="1600200">
                <a:lnSpc>
                  <a:spcPct val="90000"/>
                </a:lnSpc>
                <a:spcBef>
                  <a:spcPct val="0"/>
                </a:spcBef>
              </a:pPr>
              <a:endParaRPr lang="en-AU" kern="1200" dirty="0"/>
            </a:p>
          </p:txBody>
        </p:sp>
        <p:sp>
          <p:nvSpPr>
            <p:cNvPr id="21" name="Oval 20"/>
            <p:cNvSpPr/>
            <p:nvPr/>
          </p:nvSpPr>
          <p:spPr>
            <a:xfrm>
              <a:off x="758132" y="4511418"/>
              <a:ext cx="1275203" cy="1275119"/>
            </a:xfrm>
            <a:prstGeom prst="ellipse">
              <a:avLst/>
            </a:prstGeom>
            <a:blipFill>
              <a:blip r:embed="rId3" cstate="print">
                <a:extLst>
                  <a:ext uri="{28A0092B-C50C-407E-A947-70E740481C1C}">
                    <a14:useLocalDpi xmlns:a14="http://schemas.microsoft.com/office/drawing/2010/main" val="0"/>
                  </a:ext>
                </a:extLst>
              </a:blip>
              <a:srcRect/>
              <a:stretch>
                <a:fillRect l="-11000" r="-11000"/>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sp>
        <p:sp>
          <p:nvSpPr>
            <p:cNvPr id="22" name="Freeform 21"/>
            <p:cNvSpPr/>
            <p:nvPr/>
          </p:nvSpPr>
          <p:spPr>
            <a:xfrm>
              <a:off x="2683179" y="3791287"/>
              <a:ext cx="4428000" cy="737728"/>
            </a:xfrm>
            <a:custGeom>
              <a:avLst/>
              <a:gdLst>
                <a:gd name="connsiteX0" fmla="*/ 0 w 2750359"/>
                <a:gd name="connsiteY0" fmla="*/ 122957 h 737728"/>
                <a:gd name="connsiteX1" fmla="*/ 122957 w 2750359"/>
                <a:gd name="connsiteY1" fmla="*/ 0 h 737728"/>
                <a:gd name="connsiteX2" fmla="*/ 2627402 w 2750359"/>
                <a:gd name="connsiteY2" fmla="*/ 0 h 737728"/>
                <a:gd name="connsiteX3" fmla="*/ 2750359 w 2750359"/>
                <a:gd name="connsiteY3" fmla="*/ 122957 h 737728"/>
                <a:gd name="connsiteX4" fmla="*/ 2750359 w 2750359"/>
                <a:gd name="connsiteY4" fmla="*/ 614771 h 737728"/>
                <a:gd name="connsiteX5" fmla="*/ 2627402 w 2750359"/>
                <a:gd name="connsiteY5" fmla="*/ 737728 h 737728"/>
                <a:gd name="connsiteX6" fmla="*/ 122957 w 2750359"/>
                <a:gd name="connsiteY6" fmla="*/ 737728 h 737728"/>
                <a:gd name="connsiteX7" fmla="*/ 0 w 2750359"/>
                <a:gd name="connsiteY7" fmla="*/ 614771 h 737728"/>
                <a:gd name="connsiteX8" fmla="*/ 0 w 2750359"/>
                <a:gd name="connsiteY8" fmla="*/ 122957 h 73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0359" h="737728">
                  <a:moveTo>
                    <a:pt x="0" y="122957"/>
                  </a:moveTo>
                  <a:cubicBezTo>
                    <a:pt x="0" y="55050"/>
                    <a:pt x="55050" y="0"/>
                    <a:pt x="122957" y="0"/>
                  </a:cubicBezTo>
                  <a:lnTo>
                    <a:pt x="2627402" y="0"/>
                  </a:lnTo>
                  <a:cubicBezTo>
                    <a:pt x="2695309" y="0"/>
                    <a:pt x="2750359" y="55050"/>
                    <a:pt x="2750359" y="122957"/>
                  </a:cubicBezTo>
                  <a:lnTo>
                    <a:pt x="2750359" y="614771"/>
                  </a:lnTo>
                  <a:cubicBezTo>
                    <a:pt x="2750359" y="682678"/>
                    <a:pt x="2695309" y="737728"/>
                    <a:pt x="2627402" y="737728"/>
                  </a:cubicBezTo>
                  <a:lnTo>
                    <a:pt x="122957" y="737728"/>
                  </a:lnTo>
                  <a:cubicBezTo>
                    <a:pt x="55050" y="737728"/>
                    <a:pt x="0" y="682678"/>
                    <a:pt x="0" y="614771"/>
                  </a:cubicBezTo>
                  <a:lnTo>
                    <a:pt x="0" y="122957"/>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618172" tIns="104593" rIns="104593" bIns="104593"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sz="1800" kern="1200" dirty="0" smtClean="0">
                  <a:latin typeface="Helvetica" pitchFamily="34" charset="0"/>
                </a:rPr>
                <a:t>Importance </a:t>
              </a:r>
            </a:p>
          </p:txBody>
        </p:sp>
        <p:sp>
          <p:nvSpPr>
            <p:cNvPr id="23" name="Oval 22"/>
            <p:cNvSpPr/>
            <p:nvPr/>
          </p:nvSpPr>
          <p:spPr>
            <a:xfrm>
              <a:off x="1920608" y="3068449"/>
              <a:ext cx="1275203" cy="1275119"/>
            </a:xfrm>
            <a:prstGeom prst="ellipse">
              <a:avLst/>
            </a:prstGeom>
            <a:blipFill>
              <a:blip r:embed="rId4" cstate="print">
                <a:extLst>
                  <a:ext uri="{28A0092B-C50C-407E-A947-70E740481C1C}">
                    <a14:useLocalDpi xmlns:a14="http://schemas.microsoft.com/office/drawing/2010/main" val="0"/>
                  </a:ext>
                </a:extLst>
              </a:blip>
              <a:srcRect/>
              <a:stretch>
                <a:fillRect/>
              </a:stretch>
            </a:blipFill>
          </p:spPr>
          <p:style>
            <a:lnRef idx="2">
              <a:schemeClr val="lt2">
                <a:hueOff val="0"/>
                <a:satOff val="0"/>
                <a:lumOff val="0"/>
                <a:alphaOff val="0"/>
              </a:schemeClr>
            </a:lnRef>
            <a:fillRef idx="1">
              <a:scrgbClr r="0" g="0" b="0"/>
            </a:fillRef>
            <a:effectRef idx="0">
              <a:schemeClr val="dk2">
                <a:tint val="50000"/>
                <a:hueOff val="0"/>
                <a:satOff val="0"/>
                <a:lumOff val="0"/>
                <a:alphaOff val="0"/>
              </a:schemeClr>
            </a:effectRef>
            <a:fontRef idx="minor">
              <a:schemeClr val="lt2">
                <a:hueOff val="0"/>
                <a:satOff val="0"/>
                <a:lumOff val="0"/>
                <a:alphaOff val="0"/>
              </a:schemeClr>
            </a:fontRef>
          </p:style>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1.4	Identify tour-related risks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Safety and security are an important of tour management and  the organisation has a duty of care towards its customers and staff:</a:t>
            </a:r>
          </a:p>
          <a:p>
            <a:pPr marL="360000" indent="-360000">
              <a:spcBef>
                <a:spcPts val="600"/>
              </a:spcBef>
              <a:spcAft>
                <a:spcPts val="1200"/>
              </a:spcAft>
            </a:pPr>
            <a:r>
              <a:rPr lang="en-US" sz="2200" dirty="0" smtClean="0">
                <a:latin typeface="Helvetica" pitchFamily="34" charset="0"/>
              </a:rPr>
              <a:t>External risks factors </a:t>
            </a:r>
          </a:p>
          <a:p>
            <a:pPr marL="360000" indent="-360000">
              <a:spcBef>
                <a:spcPts val="600"/>
              </a:spcBef>
              <a:spcAft>
                <a:spcPts val="1200"/>
              </a:spcAft>
            </a:pPr>
            <a:r>
              <a:rPr lang="en-US" sz="2200" dirty="0" smtClean="0">
                <a:latin typeface="Helvetica" pitchFamily="34" charset="0"/>
              </a:rPr>
              <a:t>Tour specific risks factors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024" y="2636912"/>
            <a:ext cx="1939304" cy="128678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467600" cy="4680520"/>
          </a:xfrm>
        </p:spPr>
        <p:txBody>
          <a:bodyPr>
            <a:normAutofit/>
          </a:bodyPr>
          <a:lstStyle/>
          <a:p>
            <a:pPr marL="0" indent="0">
              <a:spcBef>
                <a:spcPts val="600"/>
              </a:spcBef>
              <a:spcAft>
                <a:spcPts val="1200"/>
              </a:spcAft>
              <a:buNone/>
            </a:pPr>
            <a:r>
              <a:rPr lang="en-US" sz="2200" dirty="0" smtClean="0">
                <a:latin typeface="Helvetica" pitchFamily="34" charset="0"/>
              </a:rPr>
              <a:t>Safety and security are an important of tour management and  the organisation has a duty of care towards its customers and staff:</a:t>
            </a:r>
          </a:p>
          <a:p>
            <a:pPr marL="360000" indent="-360000">
              <a:spcBef>
                <a:spcPts val="600"/>
              </a:spcBef>
              <a:spcAft>
                <a:spcPts val="1200"/>
              </a:spcAft>
            </a:pPr>
            <a:r>
              <a:rPr lang="en-US" sz="2200" dirty="0" smtClean="0">
                <a:latin typeface="Helvetica" pitchFamily="34" charset="0"/>
              </a:rPr>
              <a:t>External risks factors: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Political factors </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Theft</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Environmental conditions</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1.4	Identify tour-related risks</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0032" y="2924944"/>
            <a:ext cx="2319637" cy="2060848"/>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Safety and security are an important of tour management and  the organisation has a duty of care towards its customers and staff:</a:t>
            </a:r>
          </a:p>
          <a:p>
            <a:pPr marL="360000" indent="-360000">
              <a:spcBef>
                <a:spcPts val="600"/>
              </a:spcBef>
              <a:spcAft>
                <a:spcPts val="1200"/>
              </a:spcAft>
            </a:pPr>
            <a:r>
              <a:rPr lang="en-US" sz="2200" dirty="0" smtClean="0">
                <a:latin typeface="Helvetica" pitchFamily="34" charset="0"/>
              </a:rPr>
              <a:t>Tour specific risks factors: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Infrastructures </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Access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Tour activities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1.4	Identify tour-related risks</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3645024"/>
            <a:ext cx="2076378" cy="1384944"/>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Safety and security are an important of tour management and  the organisation has a duty of care towards its customers and staff:</a:t>
            </a:r>
          </a:p>
          <a:p>
            <a:pPr marL="360000" indent="-360000">
              <a:spcBef>
                <a:spcPts val="600"/>
              </a:spcBef>
              <a:spcAft>
                <a:spcPts val="1200"/>
              </a:spcAft>
            </a:pPr>
            <a:r>
              <a:rPr lang="en-US" sz="2200" dirty="0" smtClean="0">
                <a:latin typeface="Helvetica" pitchFamily="34" charset="0"/>
              </a:rPr>
              <a:t>Time management </a:t>
            </a:r>
          </a:p>
          <a:p>
            <a:pPr marL="360000" indent="-360000">
              <a:spcBef>
                <a:spcPts val="600"/>
              </a:spcBef>
              <a:spcAft>
                <a:spcPts val="1200"/>
              </a:spcAft>
            </a:pPr>
            <a:r>
              <a:rPr lang="en-US" sz="2200" dirty="0" smtClean="0">
                <a:latin typeface="Helvetica" pitchFamily="34" charset="0"/>
              </a:rPr>
              <a:t>Group profile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1.4	Identify tour-related risks</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06310" y="2636912"/>
            <a:ext cx="1728063" cy="25908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Safety and security are an important of tour management and  the organisation has a duty of care towards its customers and staff:</a:t>
            </a:r>
          </a:p>
          <a:p>
            <a:pPr marL="360000" indent="-360000">
              <a:spcBef>
                <a:spcPts val="600"/>
              </a:spcBef>
              <a:spcAft>
                <a:spcPts val="1200"/>
              </a:spcAft>
            </a:pPr>
            <a:r>
              <a:rPr lang="en-US" sz="2200" dirty="0" smtClean="0">
                <a:latin typeface="Helvetica" pitchFamily="34" charset="0"/>
              </a:rPr>
              <a:t>Potential service delivery difficulty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1.4	Identify tour-related risks</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59261" y="3605386"/>
            <a:ext cx="2344885" cy="2033016"/>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1.5	Develop contingency plans for risks </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grpSp>
        <p:nvGrpSpPr>
          <p:cNvPr id="6" name="Group 5"/>
          <p:cNvGrpSpPr/>
          <p:nvPr/>
        </p:nvGrpSpPr>
        <p:grpSpPr>
          <a:xfrm>
            <a:off x="720072" y="1700808"/>
            <a:ext cx="5912510" cy="3110807"/>
            <a:chOff x="775312" y="2465436"/>
            <a:chExt cx="5912510" cy="3110807"/>
          </a:xfrm>
        </p:grpSpPr>
        <p:sp>
          <p:nvSpPr>
            <p:cNvPr id="7" name="Freeform 6"/>
            <p:cNvSpPr/>
            <p:nvPr/>
          </p:nvSpPr>
          <p:spPr>
            <a:xfrm>
              <a:off x="775312" y="2465436"/>
              <a:ext cx="5486400" cy="498763"/>
            </a:xfrm>
            <a:custGeom>
              <a:avLst/>
              <a:gdLst>
                <a:gd name="connsiteX0" fmla="*/ 0 w 5486400"/>
                <a:gd name="connsiteY0" fmla="*/ 0 h 498763"/>
                <a:gd name="connsiteX1" fmla="*/ 5486400 w 5486400"/>
                <a:gd name="connsiteY1" fmla="*/ 0 h 498763"/>
                <a:gd name="connsiteX2" fmla="*/ 5486400 w 5486400"/>
                <a:gd name="connsiteY2" fmla="*/ 498763 h 498763"/>
                <a:gd name="connsiteX3" fmla="*/ 0 w 5486400"/>
                <a:gd name="connsiteY3" fmla="*/ 498763 h 498763"/>
                <a:gd name="connsiteX4" fmla="*/ 0 w 5486400"/>
                <a:gd name="connsiteY4" fmla="*/ 0 h 498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0" h="498763">
                  <a:moveTo>
                    <a:pt x="0" y="0"/>
                  </a:moveTo>
                  <a:lnTo>
                    <a:pt x="5486400" y="0"/>
                  </a:lnTo>
                  <a:lnTo>
                    <a:pt x="5486400" y="498763"/>
                  </a:lnTo>
                  <a:lnTo>
                    <a:pt x="0" y="498763"/>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91440" tIns="91440" rIns="91440" bIns="91440" numCol="1" spcCol="1270" anchor="b" anchorCtr="0">
              <a:noAutofit/>
            </a:bodyPr>
            <a:lstStyle/>
            <a:p>
              <a:pPr lvl="0" algn="l" defTabSz="1066800">
                <a:lnSpc>
                  <a:spcPct val="90000"/>
                </a:lnSpc>
                <a:spcBef>
                  <a:spcPct val="0"/>
                </a:spcBef>
                <a:spcAft>
                  <a:spcPct val="35000"/>
                </a:spcAft>
              </a:pPr>
              <a:endParaRPr lang="en-AU" sz="2000" kern="1200" dirty="0">
                <a:latin typeface="Helvetica" pitchFamily="34" charset="0"/>
              </a:endParaRPr>
            </a:p>
          </p:txBody>
        </p:sp>
        <p:sp>
          <p:nvSpPr>
            <p:cNvPr id="8" name="Chevron 7"/>
            <p:cNvSpPr/>
            <p:nvPr/>
          </p:nvSpPr>
          <p:spPr>
            <a:xfrm>
              <a:off x="775312" y="2964199"/>
              <a:ext cx="1283817" cy="1016000"/>
            </a:xfrm>
            <a:prstGeom prst="chevron">
              <a:avLst>
                <a:gd name="adj" fmla="val 70610"/>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9" name="Chevron 8"/>
            <p:cNvSpPr/>
            <p:nvPr/>
          </p:nvSpPr>
          <p:spPr>
            <a:xfrm>
              <a:off x="1546456" y="2964199"/>
              <a:ext cx="1283817" cy="1016000"/>
            </a:xfrm>
            <a:prstGeom prst="chevron">
              <a:avLst>
                <a:gd name="adj" fmla="val 70610"/>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0" name="Chevron 9"/>
            <p:cNvSpPr/>
            <p:nvPr/>
          </p:nvSpPr>
          <p:spPr>
            <a:xfrm>
              <a:off x="2318210" y="2964199"/>
              <a:ext cx="1283817" cy="1016000"/>
            </a:xfrm>
            <a:prstGeom prst="chevron">
              <a:avLst>
                <a:gd name="adj" fmla="val 70610"/>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1" name="Chevron 10"/>
            <p:cNvSpPr/>
            <p:nvPr/>
          </p:nvSpPr>
          <p:spPr>
            <a:xfrm>
              <a:off x="3089354" y="2964199"/>
              <a:ext cx="1283817" cy="1016000"/>
            </a:xfrm>
            <a:prstGeom prst="chevron">
              <a:avLst>
                <a:gd name="adj" fmla="val 70610"/>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2" name="Chevron 11"/>
            <p:cNvSpPr/>
            <p:nvPr/>
          </p:nvSpPr>
          <p:spPr>
            <a:xfrm>
              <a:off x="3861107" y="2964199"/>
              <a:ext cx="1283817" cy="1016000"/>
            </a:xfrm>
            <a:prstGeom prst="chevron">
              <a:avLst>
                <a:gd name="adj" fmla="val 70610"/>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3" name="Chevron 12"/>
            <p:cNvSpPr/>
            <p:nvPr/>
          </p:nvSpPr>
          <p:spPr>
            <a:xfrm>
              <a:off x="4632252" y="2964199"/>
              <a:ext cx="1283817" cy="1016000"/>
            </a:xfrm>
            <a:prstGeom prst="chevron">
              <a:avLst>
                <a:gd name="adj" fmla="val 70610"/>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4" name="Chevron 13"/>
            <p:cNvSpPr/>
            <p:nvPr/>
          </p:nvSpPr>
          <p:spPr>
            <a:xfrm>
              <a:off x="5404005" y="2964199"/>
              <a:ext cx="1283817" cy="1016000"/>
            </a:xfrm>
            <a:prstGeom prst="chevron">
              <a:avLst>
                <a:gd name="adj" fmla="val 70610"/>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5" name="Freeform 14"/>
            <p:cNvSpPr/>
            <p:nvPr/>
          </p:nvSpPr>
          <p:spPr>
            <a:xfrm>
              <a:off x="775312" y="3065800"/>
              <a:ext cx="5557723" cy="812800"/>
            </a:xfrm>
            <a:custGeom>
              <a:avLst/>
              <a:gdLst>
                <a:gd name="connsiteX0" fmla="*/ 0 w 5557723"/>
                <a:gd name="connsiteY0" fmla="*/ 0 h 812800"/>
                <a:gd name="connsiteX1" fmla="*/ 5557723 w 5557723"/>
                <a:gd name="connsiteY1" fmla="*/ 0 h 812800"/>
                <a:gd name="connsiteX2" fmla="*/ 5557723 w 5557723"/>
                <a:gd name="connsiteY2" fmla="*/ 812800 h 812800"/>
                <a:gd name="connsiteX3" fmla="*/ 0 w 5557723"/>
                <a:gd name="connsiteY3" fmla="*/ 812800 h 812800"/>
                <a:gd name="connsiteX4" fmla="*/ 0 w 5557723"/>
                <a:gd name="connsiteY4" fmla="*/ 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7723" h="812800">
                  <a:moveTo>
                    <a:pt x="0" y="0"/>
                  </a:moveTo>
                  <a:lnTo>
                    <a:pt x="5557723" y="0"/>
                  </a:lnTo>
                  <a:lnTo>
                    <a:pt x="5557723" y="812800"/>
                  </a:lnTo>
                  <a:lnTo>
                    <a:pt x="0" y="812800"/>
                  </a:lnTo>
                  <a:lnTo>
                    <a:pt x="0" y="0"/>
                  </a:lnTo>
                  <a:close/>
                </a:path>
              </a:pathLst>
            </a:custGeom>
          </p:spPr>
          <p:style>
            <a:lnRef idx="2">
              <a:schemeClr val="dk2">
                <a:hueOff val="0"/>
                <a:satOff val="0"/>
                <a:lumOff val="0"/>
                <a:alphaOff val="0"/>
              </a:schemeClr>
            </a:lnRef>
            <a:fillRef idx="1">
              <a:schemeClr val="lt2">
                <a:hueOff val="0"/>
                <a:satOff val="0"/>
                <a:lumOff val="0"/>
                <a:alphaOff val="0"/>
              </a:schemeClr>
            </a:fillRef>
            <a:effectRef idx="0">
              <a:schemeClr val="lt2">
                <a:hueOff val="0"/>
                <a:satOff val="0"/>
                <a:lumOff val="0"/>
                <a:alphaOff val="0"/>
              </a:schemeClr>
            </a:effectRef>
            <a:fontRef idx="minor">
              <a:schemeClr val="dk1">
                <a:hueOff val="0"/>
                <a:satOff val="0"/>
                <a:lumOff val="0"/>
                <a:alphaOff val="0"/>
              </a:schemeClr>
            </a:fontRef>
          </p:style>
          <p:txBody>
            <a:bodyPr spcFirstLastPara="0" vert="horz" wrap="square" lIns="63500" tIns="63500" rIns="63500" bIns="63500" numCol="1" spcCol="1270" anchor="ctr" anchorCtr="0">
              <a:noAutofit/>
            </a:bodyPr>
            <a:lstStyle/>
            <a:p>
              <a:pPr lvl="0" algn="l" defTabSz="1111250">
                <a:lnSpc>
                  <a:spcPct val="90000"/>
                </a:lnSpc>
                <a:spcBef>
                  <a:spcPct val="0"/>
                </a:spcBef>
                <a:spcAft>
                  <a:spcPct val="35000"/>
                </a:spcAft>
              </a:pPr>
              <a:r>
                <a:rPr lang="en-AU" sz="2000" kern="1200" dirty="0" smtClean="0">
                  <a:latin typeface="Helvetica" pitchFamily="34" charset="0"/>
                </a:rPr>
                <a:t>Contingency plans are part of the organisation Risk Management Plan</a:t>
              </a:r>
              <a:endParaRPr lang="en-AU" sz="2000" kern="1200" dirty="0">
                <a:latin typeface="Helvetica" pitchFamily="34" charset="0"/>
              </a:endParaRPr>
            </a:p>
          </p:txBody>
        </p:sp>
        <p:sp>
          <p:nvSpPr>
            <p:cNvPr id="16" name="Freeform 15"/>
            <p:cNvSpPr/>
            <p:nvPr/>
          </p:nvSpPr>
          <p:spPr>
            <a:xfrm>
              <a:off x="775312" y="4061480"/>
              <a:ext cx="5486400" cy="498763"/>
            </a:xfrm>
            <a:custGeom>
              <a:avLst/>
              <a:gdLst>
                <a:gd name="connsiteX0" fmla="*/ 0 w 5486400"/>
                <a:gd name="connsiteY0" fmla="*/ 0 h 498763"/>
                <a:gd name="connsiteX1" fmla="*/ 5486400 w 5486400"/>
                <a:gd name="connsiteY1" fmla="*/ 0 h 498763"/>
                <a:gd name="connsiteX2" fmla="*/ 5486400 w 5486400"/>
                <a:gd name="connsiteY2" fmla="*/ 498763 h 498763"/>
                <a:gd name="connsiteX3" fmla="*/ 0 w 5486400"/>
                <a:gd name="connsiteY3" fmla="*/ 498763 h 498763"/>
                <a:gd name="connsiteX4" fmla="*/ 0 w 5486400"/>
                <a:gd name="connsiteY4" fmla="*/ 0 h 498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6400" h="498763">
                  <a:moveTo>
                    <a:pt x="0" y="0"/>
                  </a:moveTo>
                  <a:lnTo>
                    <a:pt x="5486400" y="0"/>
                  </a:lnTo>
                  <a:lnTo>
                    <a:pt x="5486400" y="498763"/>
                  </a:lnTo>
                  <a:lnTo>
                    <a:pt x="0" y="498763"/>
                  </a:lnTo>
                  <a:lnTo>
                    <a:pt x="0" y="0"/>
                  </a:lnTo>
                  <a:close/>
                </a:path>
              </a:pathLst>
            </a:cu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txBody>
            <a:bodyPr spcFirstLastPara="0" vert="horz" wrap="square" lIns="91440" tIns="91440" rIns="91440" bIns="91440" numCol="1" spcCol="1270" anchor="b" anchorCtr="0">
              <a:noAutofit/>
            </a:bodyPr>
            <a:lstStyle/>
            <a:p>
              <a:pPr lvl="0" algn="l" defTabSz="1066800">
                <a:lnSpc>
                  <a:spcPct val="90000"/>
                </a:lnSpc>
                <a:spcBef>
                  <a:spcPct val="0"/>
                </a:spcBef>
                <a:spcAft>
                  <a:spcPct val="35000"/>
                </a:spcAft>
              </a:pPr>
              <a:endParaRPr lang="en-AU" sz="2000" kern="1200" dirty="0">
                <a:latin typeface="Helvetica" pitchFamily="34" charset="0"/>
              </a:endParaRPr>
            </a:p>
          </p:txBody>
        </p:sp>
        <p:sp>
          <p:nvSpPr>
            <p:cNvPr id="17" name="Chevron 16"/>
            <p:cNvSpPr/>
            <p:nvPr/>
          </p:nvSpPr>
          <p:spPr>
            <a:xfrm>
              <a:off x="775312" y="4560243"/>
              <a:ext cx="1283817" cy="1016000"/>
            </a:xfrm>
            <a:prstGeom prst="chevron">
              <a:avLst>
                <a:gd name="adj" fmla="val 70610"/>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8" name="Chevron 17"/>
            <p:cNvSpPr/>
            <p:nvPr/>
          </p:nvSpPr>
          <p:spPr>
            <a:xfrm>
              <a:off x="1546456" y="4560243"/>
              <a:ext cx="1283817" cy="1016000"/>
            </a:xfrm>
            <a:prstGeom prst="chevron">
              <a:avLst>
                <a:gd name="adj" fmla="val 70610"/>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19" name="Chevron 18"/>
            <p:cNvSpPr/>
            <p:nvPr/>
          </p:nvSpPr>
          <p:spPr>
            <a:xfrm>
              <a:off x="2318210" y="4560243"/>
              <a:ext cx="1283817" cy="1016000"/>
            </a:xfrm>
            <a:prstGeom prst="chevron">
              <a:avLst>
                <a:gd name="adj" fmla="val 70610"/>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20" name="Chevron 19"/>
            <p:cNvSpPr/>
            <p:nvPr/>
          </p:nvSpPr>
          <p:spPr>
            <a:xfrm>
              <a:off x="3089354" y="4560243"/>
              <a:ext cx="1283817" cy="1016000"/>
            </a:xfrm>
            <a:prstGeom prst="chevron">
              <a:avLst>
                <a:gd name="adj" fmla="val 70610"/>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21" name="Chevron 20"/>
            <p:cNvSpPr/>
            <p:nvPr/>
          </p:nvSpPr>
          <p:spPr>
            <a:xfrm>
              <a:off x="3861107" y="4560243"/>
              <a:ext cx="1283817" cy="1016000"/>
            </a:xfrm>
            <a:prstGeom prst="chevron">
              <a:avLst>
                <a:gd name="adj" fmla="val 70610"/>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22" name="Chevron 21"/>
            <p:cNvSpPr/>
            <p:nvPr/>
          </p:nvSpPr>
          <p:spPr>
            <a:xfrm>
              <a:off x="4632252" y="4560243"/>
              <a:ext cx="1283817" cy="1016000"/>
            </a:xfrm>
            <a:prstGeom prst="chevron">
              <a:avLst>
                <a:gd name="adj" fmla="val 70610"/>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23" name="Chevron 22"/>
            <p:cNvSpPr/>
            <p:nvPr/>
          </p:nvSpPr>
          <p:spPr>
            <a:xfrm>
              <a:off x="5404005" y="4560243"/>
              <a:ext cx="1283817" cy="1016000"/>
            </a:xfrm>
            <a:prstGeom prst="chevron">
              <a:avLst>
                <a:gd name="adj" fmla="val 70610"/>
              </a:avLst>
            </a:pr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sp>
        <p:sp>
          <p:nvSpPr>
            <p:cNvPr id="24" name="Freeform 23"/>
            <p:cNvSpPr/>
            <p:nvPr/>
          </p:nvSpPr>
          <p:spPr>
            <a:xfrm>
              <a:off x="775312" y="4661843"/>
              <a:ext cx="5557723" cy="812800"/>
            </a:xfrm>
            <a:custGeom>
              <a:avLst/>
              <a:gdLst>
                <a:gd name="connsiteX0" fmla="*/ 0 w 5557723"/>
                <a:gd name="connsiteY0" fmla="*/ 0 h 812800"/>
                <a:gd name="connsiteX1" fmla="*/ 5557723 w 5557723"/>
                <a:gd name="connsiteY1" fmla="*/ 0 h 812800"/>
                <a:gd name="connsiteX2" fmla="*/ 5557723 w 5557723"/>
                <a:gd name="connsiteY2" fmla="*/ 812800 h 812800"/>
                <a:gd name="connsiteX3" fmla="*/ 0 w 5557723"/>
                <a:gd name="connsiteY3" fmla="*/ 812800 h 812800"/>
                <a:gd name="connsiteX4" fmla="*/ 0 w 5557723"/>
                <a:gd name="connsiteY4" fmla="*/ 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7723" h="812800">
                  <a:moveTo>
                    <a:pt x="0" y="0"/>
                  </a:moveTo>
                  <a:lnTo>
                    <a:pt x="5557723" y="0"/>
                  </a:lnTo>
                  <a:lnTo>
                    <a:pt x="5557723" y="812800"/>
                  </a:lnTo>
                  <a:lnTo>
                    <a:pt x="0" y="812800"/>
                  </a:lnTo>
                  <a:lnTo>
                    <a:pt x="0" y="0"/>
                  </a:lnTo>
                  <a:close/>
                </a:path>
              </a:pathLst>
            </a:custGeom>
          </p:spPr>
          <p:style>
            <a:lnRef idx="2">
              <a:schemeClr val="dk2">
                <a:hueOff val="0"/>
                <a:satOff val="0"/>
                <a:lumOff val="0"/>
                <a:alphaOff val="0"/>
              </a:schemeClr>
            </a:lnRef>
            <a:fillRef idx="1">
              <a:schemeClr val="lt2">
                <a:hueOff val="0"/>
                <a:satOff val="0"/>
                <a:lumOff val="0"/>
                <a:alphaOff val="0"/>
              </a:schemeClr>
            </a:fillRef>
            <a:effectRef idx="0">
              <a:schemeClr val="lt2">
                <a:hueOff val="0"/>
                <a:satOff val="0"/>
                <a:lumOff val="0"/>
                <a:alphaOff val="0"/>
              </a:schemeClr>
            </a:effectRef>
            <a:fontRef idx="minor">
              <a:schemeClr val="dk1">
                <a:hueOff val="0"/>
                <a:satOff val="0"/>
                <a:lumOff val="0"/>
                <a:alphaOff val="0"/>
              </a:schemeClr>
            </a:fontRef>
          </p:style>
          <p:txBody>
            <a:bodyPr spcFirstLastPara="0" vert="horz" wrap="square" lIns="63500" tIns="63500" rIns="63500" bIns="63500" numCol="1" spcCol="1270" anchor="ctr" anchorCtr="0">
              <a:noAutofit/>
            </a:bodyPr>
            <a:lstStyle/>
            <a:p>
              <a:pPr lvl="0" algn="l" defTabSz="1111250">
                <a:lnSpc>
                  <a:spcPct val="90000"/>
                </a:lnSpc>
                <a:spcBef>
                  <a:spcPct val="0"/>
                </a:spcBef>
                <a:spcAft>
                  <a:spcPct val="35000"/>
                </a:spcAft>
              </a:pPr>
              <a:r>
                <a:rPr lang="en-AU" sz="2000" kern="1200" dirty="0" smtClean="0">
                  <a:latin typeface="Helvetica" pitchFamily="34" charset="0"/>
                </a:rPr>
                <a:t>Each identified risk needs to be matched with a contingency plan</a:t>
              </a:r>
              <a:endParaRPr lang="en-AU" sz="2000" kern="1200" dirty="0">
                <a:latin typeface="Helvetica" pitchFamily="34" charset="0"/>
              </a:endParaRPr>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Contingency plans are part of the organisation Risk Management Plan.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1.5	Develop contingency plans for risks </a:t>
            </a:r>
            <a:endParaRPr lang="en-US" sz="3400" b="1" dirty="0">
              <a:solidFill>
                <a:srgbClr val="FF6600"/>
              </a:solidFill>
              <a:latin typeface="Helvetica" pitchFamily="34" charset="0"/>
            </a:endParaRPr>
          </a:p>
        </p:txBody>
      </p:sp>
      <p:grpSp>
        <p:nvGrpSpPr>
          <p:cNvPr id="8" name="Group 7"/>
          <p:cNvGrpSpPr/>
          <p:nvPr/>
        </p:nvGrpSpPr>
        <p:grpSpPr>
          <a:xfrm>
            <a:off x="2339752" y="2348880"/>
            <a:ext cx="3960440" cy="3924312"/>
            <a:chOff x="2195736" y="2348880"/>
            <a:chExt cx="3960440" cy="3924312"/>
          </a:xfrm>
        </p:grpSpPr>
        <p:sp>
          <p:nvSpPr>
            <p:cNvPr id="9" name="Block Arc 8"/>
            <p:cNvSpPr/>
            <p:nvPr/>
          </p:nvSpPr>
          <p:spPr>
            <a:xfrm>
              <a:off x="2600901" y="2746157"/>
              <a:ext cx="3125428" cy="3125428"/>
            </a:xfrm>
            <a:prstGeom prst="blockArc">
              <a:avLst>
                <a:gd name="adj1" fmla="val 10800000"/>
                <a:gd name="adj2" fmla="val 16200000"/>
                <a:gd name="adj3" fmla="val 4642"/>
              </a:avLst>
            </a:pr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sp>
        <p:sp>
          <p:nvSpPr>
            <p:cNvPr id="10" name="Block Arc 9"/>
            <p:cNvSpPr/>
            <p:nvPr/>
          </p:nvSpPr>
          <p:spPr>
            <a:xfrm>
              <a:off x="2600901" y="2746157"/>
              <a:ext cx="3125428" cy="3125428"/>
            </a:xfrm>
            <a:prstGeom prst="blockArc">
              <a:avLst>
                <a:gd name="adj1" fmla="val 5400000"/>
                <a:gd name="adj2" fmla="val 10800000"/>
                <a:gd name="adj3" fmla="val 4642"/>
              </a:avLst>
            </a:pr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sp>
        <p:sp>
          <p:nvSpPr>
            <p:cNvPr id="11" name="Block Arc 10"/>
            <p:cNvSpPr/>
            <p:nvPr/>
          </p:nvSpPr>
          <p:spPr>
            <a:xfrm>
              <a:off x="2600901" y="2746157"/>
              <a:ext cx="3125428" cy="3125428"/>
            </a:xfrm>
            <a:prstGeom prst="blockArc">
              <a:avLst>
                <a:gd name="adj1" fmla="val 0"/>
                <a:gd name="adj2" fmla="val 5400000"/>
                <a:gd name="adj3" fmla="val 4642"/>
              </a:avLst>
            </a:pr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sp>
        <p:sp>
          <p:nvSpPr>
            <p:cNvPr id="12" name="Block Arc 11"/>
            <p:cNvSpPr/>
            <p:nvPr/>
          </p:nvSpPr>
          <p:spPr>
            <a:xfrm>
              <a:off x="2600901" y="2746157"/>
              <a:ext cx="3125428" cy="3125428"/>
            </a:xfrm>
            <a:prstGeom prst="blockArc">
              <a:avLst>
                <a:gd name="adj1" fmla="val 16200000"/>
                <a:gd name="adj2" fmla="val 0"/>
                <a:gd name="adj3" fmla="val 4642"/>
              </a:avLst>
            </a:pr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sp>
        <p:sp>
          <p:nvSpPr>
            <p:cNvPr id="13" name="Freeform 12"/>
            <p:cNvSpPr/>
            <p:nvPr/>
          </p:nvSpPr>
          <p:spPr>
            <a:xfrm>
              <a:off x="3444032" y="3589288"/>
              <a:ext cx="1439167" cy="1439167"/>
            </a:xfrm>
            <a:custGeom>
              <a:avLst/>
              <a:gdLst>
                <a:gd name="connsiteX0" fmla="*/ 0 w 1439167"/>
                <a:gd name="connsiteY0" fmla="*/ 719584 h 1439167"/>
                <a:gd name="connsiteX1" fmla="*/ 719584 w 1439167"/>
                <a:gd name="connsiteY1" fmla="*/ 0 h 1439167"/>
                <a:gd name="connsiteX2" fmla="*/ 1439168 w 1439167"/>
                <a:gd name="connsiteY2" fmla="*/ 719584 h 1439167"/>
                <a:gd name="connsiteX3" fmla="*/ 719584 w 1439167"/>
                <a:gd name="connsiteY3" fmla="*/ 1439168 h 1439167"/>
                <a:gd name="connsiteX4" fmla="*/ 0 w 1439167"/>
                <a:gd name="connsiteY4" fmla="*/ 719584 h 1439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9167" h="1439167">
                  <a:moveTo>
                    <a:pt x="0" y="719584"/>
                  </a:moveTo>
                  <a:cubicBezTo>
                    <a:pt x="0" y="322169"/>
                    <a:pt x="322169" y="0"/>
                    <a:pt x="719584" y="0"/>
                  </a:cubicBezTo>
                  <a:cubicBezTo>
                    <a:pt x="1116999" y="0"/>
                    <a:pt x="1439168" y="322169"/>
                    <a:pt x="1439168" y="719584"/>
                  </a:cubicBezTo>
                  <a:cubicBezTo>
                    <a:pt x="1439168" y="1116999"/>
                    <a:pt x="1116999" y="1439168"/>
                    <a:pt x="719584" y="1439168"/>
                  </a:cubicBezTo>
                  <a:cubicBezTo>
                    <a:pt x="322169" y="1439168"/>
                    <a:pt x="0" y="1116999"/>
                    <a:pt x="0" y="719584"/>
                  </a:cubicBez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223461" tIns="223461" rIns="223461" bIns="223461" numCol="1" spcCol="1270" anchor="ctr" anchorCtr="0">
              <a:noAutofit/>
            </a:bodyPr>
            <a:lstStyle/>
            <a:p>
              <a:pPr lvl="0" algn="ctr" defTabSz="444500">
                <a:lnSpc>
                  <a:spcPct val="90000"/>
                </a:lnSpc>
                <a:spcBef>
                  <a:spcPct val="0"/>
                </a:spcBef>
                <a:spcAft>
                  <a:spcPct val="35000"/>
                </a:spcAft>
              </a:pPr>
              <a:r>
                <a:rPr lang="en-US" sz="1200" kern="1200" dirty="0" smtClean="0">
                  <a:latin typeface="Helvetica" pitchFamily="34" charset="0"/>
                </a:rPr>
                <a:t>Risk management steps</a:t>
              </a:r>
              <a:endParaRPr lang="en-AU" sz="1200" kern="1200" dirty="0">
                <a:latin typeface="Helvetica" pitchFamily="34" charset="0"/>
              </a:endParaRPr>
            </a:p>
          </p:txBody>
        </p:sp>
        <p:sp>
          <p:nvSpPr>
            <p:cNvPr id="14" name="Freeform 13"/>
            <p:cNvSpPr/>
            <p:nvPr/>
          </p:nvSpPr>
          <p:spPr>
            <a:xfrm>
              <a:off x="3659906" y="2348880"/>
              <a:ext cx="1116000" cy="1116000"/>
            </a:xfrm>
            <a:custGeom>
              <a:avLst/>
              <a:gdLst>
                <a:gd name="connsiteX0" fmla="*/ 0 w 1007417"/>
                <a:gd name="connsiteY0" fmla="*/ 503709 h 1007417"/>
                <a:gd name="connsiteX1" fmla="*/ 503709 w 1007417"/>
                <a:gd name="connsiteY1" fmla="*/ 0 h 1007417"/>
                <a:gd name="connsiteX2" fmla="*/ 1007418 w 1007417"/>
                <a:gd name="connsiteY2" fmla="*/ 503709 h 1007417"/>
                <a:gd name="connsiteX3" fmla="*/ 503709 w 1007417"/>
                <a:gd name="connsiteY3" fmla="*/ 1007418 h 1007417"/>
                <a:gd name="connsiteX4" fmla="*/ 0 w 1007417"/>
                <a:gd name="connsiteY4" fmla="*/ 503709 h 1007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417" h="1007417">
                  <a:moveTo>
                    <a:pt x="0" y="503709"/>
                  </a:moveTo>
                  <a:cubicBezTo>
                    <a:pt x="0" y="225518"/>
                    <a:pt x="225518" y="0"/>
                    <a:pt x="503709" y="0"/>
                  </a:cubicBezTo>
                  <a:cubicBezTo>
                    <a:pt x="781900" y="0"/>
                    <a:pt x="1007418" y="225518"/>
                    <a:pt x="1007418" y="503709"/>
                  </a:cubicBezTo>
                  <a:cubicBezTo>
                    <a:pt x="1007418" y="781900"/>
                    <a:pt x="781900" y="1007418"/>
                    <a:pt x="503709" y="1007418"/>
                  </a:cubicBezTo>
                  <a:cubicBezTo>
                    <a:pt x="225518" y="1007418"/>
                    <a:pt x="0" y="781900"/>
                    <a:pt x="0" y="503709"/>
                  </a:cubicBez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60233" tIns="160233" rIns="160233" bIns="160233" numCol="1" spcCol="1270" anchor="ctr" anchorCtr="0">
              <a:noAutofit/>
            </a:bodyPr>
            <a:lstStyle/>
            <a:p>
              <a:pPr lvl="0" algn="ctr" defTabSz="444500">
                <a:lnSpc>
                  <a:spcPct val="90000"/>
                </a:lnSpc>
                <a:spcBef>
                  <a:spcPct val="0"/>
                </a:spcBef>
                <a:spcAft>
                  <a:spcPct val="35000"/>
                </a:spcAft>
              </a:pPr>
              <a:r>
                <a:rPr lang="en-US" sz="1000" kern="1200" dirty="0" smtClean="0">
                  <a:latin typeface="Helvetica" pitchFamily="34" charset="0"/>
                </a:rPr>
                <a:t>Risk identification</a:t>
              </a:r>
              <a:endParaRPr lang="en-AU" sz="1000" kern="1200" dirty="0">
                <a:latin typeface="Helvetica" pitchFamily="34" charset="0"/>
              </a:endParaRPr>
            </a:p>
          </p:txBody>
        </p:sp>
        <p:sp>
          <p:nvSpPr>
            <p:cNvPr id="15" name="Freeform 14"/>
            <p:cNvSpPr/>
            <p:nvPr/>
          </p:nvSpPr>
          <p:spPr>
            <a:xfrm>
              <a:off x="5040176" y="3875328"/>
              <a:ext cx="1116000" cy="1116000"/>
            </a:xfrm>
            <a:custGeom>
              <a:avLst/>
              <a:gdLst>
                <a:gd name="connsiteX0" fmla="*/ 0 w 1007417"/>
                <a:gd name="connsiteY0" fmla="*/ 503709 h 1007417"/>
                <a:gd name="connsiteX1" fmla="*/ 503709 w 1007417"/>
                <a:gd name="connsiteY1" fmla="*/ 0 h 1007417"/>
                <a:gd name="connsiteX2" fmla="*/ 1007418 w 1007417"/>
                <a:gd name="connsiteY2" fmla="*/ 503709 h 1007417"/>
                <a:gd name="connsiteX3" fmla="*/ 503709 w 1007417"/>
                <a:gd name="connsiteY3" fmla="*/ 1007418 h 1007417"/>
                <a:gd name="connsiteX4" fmla="*/ 0 w 1007417"/>
                <a:gd name="connsiteY4" fmla="*/ 503709 h 1007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417" h="1007417">
                  <a:moveTo>
                    <a:pt x="0" y="503709"/>
                  </a:moveTo>
                  <a:cubicBezTo>
                    <a:pt x="0" y="225518"/>
                    <a:pt x="225518" y="0"/>
                    <a:pt x="503709" y="0"/>
                  </a:cubicBezTo>
                  <a:cubicBezTo>
                    <a:pt x="781900" y="0"/>
                    <a:pt x="1007418" y="225518"/>
                    <a:pt x="1007418" y="503709"/>
                  </a:cubicBezTo>
                  <a:cubicBezTo>
                    <a:pt x="1007418" y="781900"/>
                    <a:pt x="781900" y="1007418"/>
                    <a:pt x="503709" y="1007418"/>
                  </a:cubicBezTo>
                  <a:cubicBezTo>
                    <a:pt x="225518" y="1007418"/>
                    <a:pt x="0" y="781900"/>
                    <a:pt x="0" y="503709"/>
                  </a:cubicBez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60233" tIns="160233" rIns="160233" bIns="160233" numCol="1" spcCol="1270" anchor="ctr" anchorCtr="0">
              <a:noAutofit/>
            </a:bodyPr>
            <a:lstStyle/>
            <a:p>
              <a:pPr lvl="0" algn="ctr" defTabSz="444500">
                <a:lnSpc>
                  <a:spcPct val="90000"/>
                </a:lnSpc>
                <a:spcBef>
                  <a:spcPct val="0"/>
                </a:spcBef>
                <a:spcAft>
                  <a:spcPct val="35000"/>
                </a:spcAft>
              </a:pPr>
              <a:r>
                <a:rPr lang="en-US" sz="1000" kern="1200" dirty="0" smtClean="0">
                  <a:latin typeface="Helvetica" pitchFamily="34" charset="0"/>
                </a:rPr>
                <a:t>Risk assessment</a:t>
              </a:r>
              <a:endParaRPr lang="en-AU" sz="1000" kern="1200" dirty="0">
                <a:latin typeface="Helvetica" pitchFamily="34" charset="0"/>
              </a:endParaRPr>
            </a:p>
          </p:txBody>
        </p:sp>
        <p:sp>
          <p:nvSpPr>
            <p:cNvPr id="16" name="Freeform 15"/>
            <p:cNvSpPr/>
            <p:nvPr/>
          </p:nvSpPr>
          <p:spPr>
            <a:xfrm>
              <a:off x="3659906" y="5157192"/>
              <a:ext cx="1116000" cy="1116000"/>
            </a:xfrm>
            <a:custGeom>
              <a:avLst/>
              <a:gdLst>
                <a:gd name="connsiteX0" fmla="*/ 0 w 1007417"/>
                <a:gd name="connsiteY0" fmla="*/ 503709 h 1007417"/>
                <a:gd name="connsiteX1" fmla="*/ 503709 w 1007417"/>
                <a:gd name="connsiteY1" fmla="*/ 0 h 1007417"/>
                <a:gd name="connsiteX2" fmla="*/ 1007418 w 1007417"/>
                <a:gd name="connsiteY2" fmla="*/ 503709 h 1007417"/>
                <a:gd name="connsiteX3" fmla="*/ 503709 w 1007417"/>
                <a:gd name="connsiteY3" fmla="*/ 1007418 h 1007417"/>
                <a:gd name="connsiteX4" fmla="*/ 0 w 1007417"/>
                <a:gd name="connsiteY4" fmla="*/ 503709 h 1007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417" h="1007417">
                  <a:moveTo>
                    <a:pt x="0" y="503709"/>
                  </a:moveTo>
                  <a:cubicBezTo>
                    <a:pt x="0" y="225518"/>
                    <a:pt x="225518" y="0"/>
                    <a:pt x="503709" y="0"/>
                  </a:cubicBezTo>
                  <a:cubicBezTo>
                    <a:pt x="781900" y="0"/>
                    <a:pt x="1007418" y="225518"/>
                    <a:pt x="1007418" y="503709"/>
                  </a:cubicBezTo>
                  <a:cubicBezTo>
                    <a:pt x="1007418" y="781900"/>
                    <a:pt x="781900" y="1007418"/>
                    <a:pt x="503709" y="1007418"/>
                  </a:cubicBezTo>
                  <a:cubicBezTo>
                    <a:pt x="225518" y="1007418"/>
                    <a:pt x="0" y="781900"/>
                    <a:pt x="0" y="503709"/>
                  </a:cubicBez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60233" tIns="160233" rIns="160233" bIns="160233" numCol="1" spcCol="1270" anchor="ctr" anchorCtr="0">
              <a:noAutofit/>
            </a:bodyPr>
            <a:lstStyle/>
            <a:p>
              <a:pPr lvl="0" algn="ctr" defTabSz="444500">
                <a:lnSpc>
                  <a:spcPct val="90000"/>
                </a:lnSpc>
                <a:spcBef>
                  <a:spcPct val="0"/>
                </a:spcBef>
                <a:spcAft>
                  <a:spcPct val="35000"/>
                </a:spcAft>
              </a:pPr>
              <a:r>
                <a:rPr lang="en-US" sz="1000" kern="1200" dirty="0" smtClean="0">
                  <a:latin typeface="Helvetica" pitchFamily="34" charset="0"/>
                </a:rPr>
                <a:t>Risk control</a:t>
              </a:r>
              <a:endParaRPr lang="en-AU" sz="1000" kern="1200" dirty="0">
                <a:latin typeface="Helvetica" pitchFamily="34" charset="0"/>
              </a:endParaRPr>
            </a:p>
          </p:txBody>
        </p:sp>
        <p:sp>
          <p:nvSpPr>
            <p:cNvPr id="17" name="Freeform 16"/>
            <p:cNvSpPr/>
            <p:nvPr/>
          </p:nvSpPr>
          <p:spPr>
            <a:xfrm>
              <a:off x="2195736" y="3875328"/>
              <a:ext cx="1116000" cy="1116000"/>
            </a:xfrm>
            <a:custGeom>
              <a:avLst/>
              <a:gdLst>
                <a:gd name="connsiteX0" fmla="*/ 0 w 1007417"/>
                <a:gd name="connsiteY0" fmla="*/ 503709 h 1007417"/>
                <a:gd name="connsiteX1" fmla="*/ 503709 w 1007417"/>
                <a:gd name="connsiteY1" fmla="*/ 0 h 1007417"/>
                <a:gd name="connsiteX2" fmla="*/ 1007418 w 1007417"/>
                <a:gd name="connsiteY2" fmla="*/ 503709 h 1007417"/>
                <a:gd name="connsiteX3" fmla="*/ 503709 w 1007417"/>
                <a:gd name="connsiteY3" fmla="*/ 1007418 h 1007417"/>
                <a:gd name="connsiteX4" fmla="*/ 0 w 1007417"/>
                <a:gd name="connsiteY4" fmla="*/ 503709 h 1007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417" h="1007417">
                  <a:moveTo>
                    <a:pt x="0" y="503709"/>
                  </a:moveTo>
                  <a:cubicBezTo>
                    <a:pt x="0" y="225518"/>
                    <a:pt x="225518" y="0"/>
                    <a:pt x="503709" y="0"/>
                  </a:cubicBezTo>
                  <a:cubicBezTo>
                    <a:pt x="781900" y="0"/>
                    <a:pt x="1007418" y="225518"/>
                    <a:pt x="1007418" y="503709"/>
                  </a:cubicBezTo>
                  <a:cubicBezTo>
                    <a:pt x="1007418" y="781900"/>
                    <a:pt x="781900" y="1007418"/>
                    <a:pt x="503709" y="1007418"/>
                  </a:cubicBezTo>
                  <a:cubicBezTo>
                    <a:pt x="225518" y="1007418"/>
                    <a:pt x="0" y="781900"/>
                    <a:pt x="0" y="503709"/>
                  </a:cubicBez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60233" tIns="160233" rIns="160233" bIns="160233" numCol="1" spcCol="1270" anchor="ctr" anchorCtr="0">
              <a:noAutofit/>
            </a:bodyPr>
            <a:lstStyle/>
            <a:p>
              <a:pPr lvl="0" algn="ctr" defTabSz="444500">
                <a:lnSpc>
                  <a:spcPct val="90000"/>
                </a:lnSpc>
                <a:spcBef>
                  <a:spcPct val="0"/>
                </a:spcBef>
                <a:spcAft>
                  <a:spcPct val="35000"/>
                </a:spcAft>
              </a:pPr>
              <a:r>
                <a:rPr lang="en-US" sz="1000" kern="1200" dirty="0" smtClean="0">
                  <a:latin typeface="Helvetica" pitchFamily="34" charset="0"/>
                </a:rPr>
                <a:t>Risk review</a:t>
              </a:r>
              <a:endParaRPr lang="en-AU" sz="1000" kern="1200" dirty="0">
                <a:latin typeface="Helvetica" pitchFamily="34" charset="0"/>
              </a:endParaRPr>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2060848"/>
            <a:ext cx="7467600" cy="4021907"/>
          </a:xfrm>
        </p:spPr>
        <p:txBody>
          <a:bodyPr>
            <a:normAutofit/>
          </a:bodyPr>
          <a:lstStyle/>
          <a:p>
            <a:pPr marL="360000" indent="-360000" algn="ctr">
              <a:spcBef>
                <a:spcPts val="600"/>
              </a:spcBef>
              <a:spcAft>
                <a:spcPts val="1200"/>
              </a:spcAft>
              <a:buNone/>
            </a:pPr>
            <a:r>
              <a:rPr lang="en-US" sz="2200" dirty="0" smtClean="0">
                <a:latin typeface="Helvetica" pitchFamily="34" charset="0"/>
              </a:rPr>
              <a:t>	</a:t>
            </a:r>
            <a:r>
              <a:rPr lang="en-US" sz="2200" b="1" i="1" dirty="0" smtClean="0">
                <a:latin typeface="Helvetica" pitchFamily="34" charset="0"/>
              </a:rPr>
              <a:t>Workbook table activity</a:t>
            </a:r>
          </a:p>
          <a:p>
            <a:pPr marL="360000" indent="-360000">
              <a:spcBef>
                <a:spcPts val="600"/>
              </a:spcBef>
              <a:spcAft>
                <a:spcPts val="1200"/>
              </a:spcAft>
              <a:buNone/>
            </a:pPr>
            <a:endParaRPr lang="en-US"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1.5	Develop contingency plans for risks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3054" y="2708920"/>
            <a:ext cx="3048000" cy="2033016"/>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1.6	Confirm reserved tour components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The last step in the preparation for tour itinerary is to make sure all components are reserved prior to the commencement of the tour:</a:t>
            </a:r>
          </a:p>
          <a:p>
            <a:pPr marL="360000" indent="-360000">
              <a:spcBef>
                <a:spcPts val="600"/>
              </a:spcBef>
              <a:spcAft>
                <a:spcPts val="1200"/>
              </a:spcAft>
            </a:pPr>
            <a:r>
              <a:rPr lang="en-US" sz="2200" dirty="0" smtClean="0">
                <a:latin typeface="Helvetica" pitchFamily="34" charset="0"/>
              </a:rPr>
              <a:t>Information distribution to all concerned suppliers: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Group tour members details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Booking confirmation numbers</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80112" y="3428999"/>
            <a:ext cx="1967880" cy="1658923"/>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The last step in the preparation for tour itinerary is to make sure all components are reserved prior to the commencement of the tour:</a:t>
            </a:r>
          </a:p>
          <a:p>
            <a:pPr marL="360000" indent="-360000">
              <a:spcBef>
                <a:spcPts val="600"/>
              </a:spcBef>
              <a:spcAft>
                <a:spcPts val="1200"/>
              </a:spcAft>
            </a:pPr>
            <a:r>
              <a:rPr lang="en-US" sz="2200" dirty="0" smtClean="0">
                <a:latin typeface="Helvetica" pitchFamily="34" charset="0"/>
              </a:rPr>
              <a:t>Information distribution to all concerned suppliers: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Specific travel requirements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Payments</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1.6	Confirm reserved tour components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4005064"/>
            <a:ext cx="2184336" cy="1456952"/>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The last step in the preparation for tour itinerary is to make sure all components are reserved prior to the commencement of the tour:</a:t>
            </a:r>
          </a:p>
          <a:p>
            <a:pPr marL="360000" indent="-360000">
              <a:spcBef>
                <a:spcPts val="600"/>
              </a:spcBef>
              <a:spcAft>
                <a:spcPts val="1200"/>
              </a:spcAft>
            </a:pPr>
            <a:r>
              <a:rPr lang="en-US" sz="2200" dirty="0" smtClean="0">
                <a:latin typeface="Helvetica" pitchFamily="34" charset="0"/>
              </a:rPr>
              <a:t>Obtain confirmation for all bookings placed:</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How?</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1.6	Confirm reserved tour components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39752" y="3284984"/>
            <a:ext cx="1353588" cy="1812032"/>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Element 2</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Conduct departure-related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360000" indent="-360000">
              <a:spcBef>
                <a:spcPts val="600"/>
              </a:spcBef>
              <a:spcAft>
                <a:spcPts val="1200"/>
              </a:spcAft>
            </a:pPr>
            <a:r>
              <a:rPr lang="en-US" sz="2200" dirty="0" smtClean="0">
                <a:latin typeface="Helvetica" pitchFamily="34" charset="0"/>
              </a:rPr>
              <a:t>Greet tour group members and</a:t>
            </a:r>
          </a:p>
          <a:p>
            <a:pPr marL="360000" indent="-360000">
              <a:spcBef>
                <a:spcPts val="600"/>
              </a:spcBef>
              <a:spcAft>
                <a:spcPts val="1200"/>
              </a:spcAft>
            </a:pPr>
            <a:r>
              <a:rPr lang="en-US" sz="2200" dirty="0" smtClean="0">
                <a:latin typeface="Helvetica" pitchFamily="34" charset="0"/>
              </a:rPr>
              <a:t>Provide tour briefing</a:t>
            </a:r>
          </a:p>
          <a:p>
            <a:pPr marL="360000" indent="-360000">
              <a:spcBef>
                <a:spcPts val="600"/>
              </a:spcBef>
              <a:spcAft>
                <a:spcPts val="1200"/>
              </a:spcAft>
            </a:pPr>
            <a:r>
              <a:rPr lang="en-US" sz="2200" dirty="0" smtClean="0">
                <a:latin typeface="Helvetica" pitchFamily="34" charset="0"/>
              </a:rPr>
              <a:t>Complete outstanding customer details</a:t>
            </a:r>
          </a:p>
          <a:p>
            <a:pPr marL="360000" indent="-360000">
              <a:spcBef>
                <a:spcPts val="600"/>
              </a:spcBef>
              <a:spcAft>
                <a:spcPts val="1200"/>
              </a:spcAft>
            </a:pPr>
            <a:r>
              <a:rPr lang="en-US" sz="2200" dirty="0" smtClean="0">
                <a:latin typeface="Helvetica" pitchFamily="34" charset="0"/>
              </a:rPr>
              <a:t>Distribute tour-related information</a:t>
            </a:r>
          </a:p>
          <a:p>
            <a:pPr marL="360000" indent="-360000">
              <a:spcBef>
                <a:spcPts val="600"/>
              </a:spcBef>
              <a:spcAft>
                <a:spcPts val="1200"/>
              </a:spcAft>
            </a:pPr>
            <a:r>
              <a:rPr lang="en-US" sz="2200" dirty="0" smtClean="0">
                <a:latin typeface="Helvetica" pitchFamily="34" charset="0"/>
              </a:rPr>
              <a:t>Provide last-minute confirmations payments and booking details to suppliers, providers and carriers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1988840"/>
            <a:ext cx="1257788" cy="1885739"/>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4375" indent="-714375"/>
            <a:r>
              <a:rPr lang="en-US" sz="3400" b="1" dirty="0" smtClean="0">
                <a:solidFill>
                  <a:srgbClr val="FF6600"/>
                </a:solidFill>
                <a:latin typeface="Helvetica" pitchFamily="34" charset="0"/>
              </a:rPr>
              <a:t>2.1	Greet tour group members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Greeting tour group members sets the tone for tour and consists of:</a:t>
            </a:r>
          </a:p>
          <a:p>
            <a:pPr marL="360000" indent="-360000">
              <a:spcBef>
                <a:spcPts val="600"/>
              </a:spcBef>
              <a:spcAft>
                <a:spcPts val="1200"/>
              </a:spcAft>
            </a:pPr>
            <a:r>
              <a:rPr lang="en-US" sz="2200" dirty="0" smtClean="0">
                <a:latin typeface="Helvetica" pitchFamily="34" charset="0"/>
              </a:rPr>
              <a:t>Meet and greet:</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Welcome tour participants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Introduce yourself and staff</a:t>
            </a:r>
          </a:p>
          <a:p>
            <a:pPr marL="360000" indent="-360000">
              <a:spcBef>
                <a:spcPts val="600"/>
              </a:spcBef>
              <a:spcAft>
                <a:spcPts val="1200"/>
              </a:spcAft>
            </a:pPr>
            <a:r>
              <a:rPr lang="en-US" sz="2200" dirty="0" smtClean="0">
                <a:latin typeface="Helvetica" pitchFamily="34" charset="0"/>
              </a:rPr>
              <a:t>Build a rapport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2132856"/>
            <a:ext cx="1875709" cy="2812157"/>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24136"/>
          </a:xfrm>
        </p:spPr>
        <p:txBody>
          <a:bodyPr>
            <a:normAutofit/>
          </a:bodyPr>
          <a:lstStyle/>
          <a:p>
            <a:pPr marL="714375" indent="-714375"/>
            <a:r>
              <a:rPr lang="en-US" sz="3400" b="1" dirty="0" smtClean="0">
                <a:solidFill>
                  <a:srgbClr val="FF6600"/>
                </a:solidFill>
                <a:latin typeface="Helvetica" pitchFamily="34" charset="0"/>
              </a:rPr>
              <a:t>2.4	Provide tour briefing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tour briefing provides the tour group members with all the information they need to know: </a:t>
            </a:r>
          </a:p>
          <a:p>
            <a:pPr marL="360000" indent="-360000">
              <a:spcBef>
                <a:spcPts val="600"/>
              </a:spcBef>
              <a:spcAft>
                <a:spcPts val="1200"/>
              </a:spcAft>
            </a:pPr>
            <a:r>
              <a:rPr lang="en-US" sz="2200" dirty="0" smtClean="0">
                <a:latin typeface="Helvetica" pitchFamily="34" charset="0"/>
              </a:rPr>
              <a:t>Tour related information:</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Identify sites, activities, special events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Go over tour timetable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2636912"/>
            <a:ext cx="2022975" cy="1705368"/>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24136"/>
          </a:xfrm>
        </p:spPr>
        <p:txBody>
          <a:bodyPr>
            <a:normAutofit/>
          </a:bodyPr>
          <a:lstStyle/>
          <a:p>
            <a:pPr marL="714375" indent="-714375"/>
            <a:r>
              <a:rPr lang="en-US" sz="3400" b="1" dirty="0" smtClean="0">
                <a:solidFill>
                  <a:srgbClr val="FF6600"/>
                </a:solidFill>
                <a:latin typeface="Helvetica" pitchFamily="34" charset="0"/>
              </a:rPr>
              <a:t>2.2	Complete outstanding customers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Having all tour group members is the ideal time to clarify and finalise any outstanding details such as:</a:t>
            </a:r>
          </a:p>
          <a:p>
            <a:pPr marL="360000" indent="-360000">
              <a:spcBef>
                <a:spcPts val="600"/>
              </a:spcBef>
              <a:spcAft>
                <a:spcPts val="1200"/>
              </a:spcAft>
            </a:pPr>
            <a:r>
              <a:rPr lang="en-US" sz="2200" dirty="0" smtClean="0">
                <a:latin typeface="Helvetica" pitchFamily="34" charset="0"/>
              </a:rPr>
              <a:t>Tour group members name spelling and pronunciation</a:t>
            </a:r>
          </a:p>
          <a:p>
            <a:pPr marL="360000" indent="-360000">
              <a:spcBef>
                <a:spcPts val="600"/>
              </a:spcBef>
              <a:spcAft>
                <a:spcPts val="1200"/>
              </a:spcAft>
            </a:pPr>
            <a:r>
              <a:rPr lang="en-US" sz="2200" dirty="0" smtClean="0">
                <a:latin typeface="Helvetica" pitchFamily="34" charset="0"/>
              </a:rPr>
              <a:t>Options confirmation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83968" y="3284984"/>
            <a:ext cx="1967880" cy="1967880"/>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Having all tour group members is the ideal time to clarify and finalise any outstanding details such as:</a:t>
            </a:r>
          </a:p>
          <a:p>
            <a:pPr marL="360000" indent="-360000">
              <a:spcBef>
                <a:spcPts val="600"/>
              </a:spcBef>
              <a:spcAft>
                <a:spcPts val="1200"/>
              </a:spcAft>
            </a:pPr>
            <a:r>
              <a:rPr lang="en-US" sz="2200" dirty="0" smtClean="0">
                <a:latin typeface="Helvetica" pitchFamily="34" charset="0"/>
              </a:rPr>
              <a:t>Group tour members documents finalisation</a:t>
            </a:r>
          </a:p>
          <a:p>
            <a:pPr marL="360000" indent="-360000">
              <a:spcBef>
                <a:spcPts val="600"/>
              </a:spcBef>
              <a:spcAft>
                <a:spcPts val="1200"/>
              </a:spcAft>
            </a:pPr>
            <a:r>
              <a:rPr lang="en-US" sz="2200" dirty="0" smtClean="0">
                <a:latin typeface="Helvetica" pitchFamily="34" charset="0"/>
              </a:rPr>
              <a:t>Issuing of relevant documentation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sp>
        <p:nvSpPr>
          <p:cNvPr id="7" name="Title 1"/>
          <p:cNvSpPr>
            <a:spLocks noGrp="1"/>
          </p:cNvSpPr>
          <p:nvPr>
            <p:ph type="title"/>
          </p:nvPr>
        </p:nvSpPr>
        <p:spPr>
          <a:xfrm>
            <a:off x="611560" y="332656"/>
            <a:ext cx="7467600" cy="1224136"/>
          </a:xfrm>
        </p:spPr>
        <p:txBody>
          <a:bodyPr>
            <a:normAutofit/>
          </a:bodyPr>
          <a:lstStyle/>
          <a:p>
            <a:pPr marL="714375" indent="-714375"/>
            <a:r>
              <a:rPr lang="en-US" sz="3400" b="1" dirty="0" smtClean="0">
                <a:solidFill>
                  <a:srgbClr val="FF6600"/>
                </a:solidFill>
                <a:latin typeface="Helvetica" pitchFamily="34" charset="0"/>
              </a:rPr>
              <a:t>2.2	Complete outstanding customers details</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27784" y="3717032"/>
            <a:ext cx="2543944" cy="1941029"/>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072" y="2348880"/>
            <a:ext cx="2392057" cy="2363352"/>
          </a:xfrm>
          <a:prstGeom prst="rect">
            <a:avLst/>
          </a:prstGeom>
        </p:spPr>
      </p:pic>
      <p:sp>
        <p:nvSpPr>
          <p:cNvPr id="2" name="Title 1"/>
          <p:cNvSpPr>
            <a:spLocks noGrp="1"/>
          </p:cNvSpPr>
          <p:nvPr>
            <p:ph type="title"/>
          </p:nvPr>
        </p:nvSpPr>
        <p:spPr>
          <a:xfrm>
            <a:off x="611560" y="332656"/>
            <a:ext cx="7467600" cy="1224136"/>
          </a:xfrm>
        </p:spPr>
        <p:txBody>
          <a:bodyPr>
            <a:normAutofit/>
          </a:bodyPr>
          <a:lstStyle/>
          <a:p>
            <a:pPr marL="714375" indent="-714375"/>
            <a:r>
              <a:rPr lang="en-US" sz="3400" b="1" dirty="0" smtClean="0">
                <a:solidFill>
                  <a:srgbClr val="FF6600"/>
                </a:solidFill>
                <a:latin typeface="Helvetica" pitchFamily="34" charset="0"/>
              </a:rPr>
              <a:t>2.3	Distribute tour-related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752528"/>
          </a:xfrm>
        </p:spPr>
        <p:txBody>
          <a:bodyPr>
            <a:normAutofit/>
          </a:bodyPr>
          <a:lstStyle/>
          <a:p>
            <a:pPr marL="0" indent="0">
              <a:spcBef>
                <a:spcPts val="600"/>
              </a:spcBef>
              <a:spcAft>
                <a:spcPts val="1200"/>
              </a:spcAft>
              <a:buNone/>
            </a:pPr>
            <a:r>
              <a:rPr lang="en-US" sz="2200" dirty="0" smtClean="0">
                <a:latin typeface="Helvetica" pitchFamily="34" charset="0"/>
              </a:rPr>
              <a:t>The information will vary depending on the tour and might include:</a:t>
            </a:r>
          </a:p>
          <a:p>
            <a:pPr marL="360000" indent="-360000">
              <a:spcBef>
                <a:spcPts val="600"/>
              </a:spcBef>
              <a:spcAft>
                <a:spcPts val="1200"/>
              </a:spcAft>
            </a:pPr>
            <a:r>
              <a:rPr lang="en-US" sz="2200" dirty="0" smtClean="0">
                <a:latin typeface="Helvetica" pitchFamily="34" charset="0"/>
              </a:rPr>
              <a:t>Tour rules: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Behaviour</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Communication protocols</a:t>
            </a:r>
          </a:p>
          <a:p>
            <a:pPr marL="720000" indent="-360000">
              <a:spcBef>
                <a:spcPts val="600"/>
              </a:spcBef>
              <a:spcAft>
                <a:spcPts val="1200"/>
              </a:spcAft>
              <a:buClr>
                <a:srgbClr val="7FD13B"/>
              </a:buClr>
              <a:buSzPct val="100000"/>
              <a:buFont typeface="Arial" pitchFamily="34" charset="0"/>
              <a:buChar char="•"/>
            </a:pPr>
            <a:r>
              <a:rPr lang="en-US" sz="2200" dirty="0" smtClean="0">
                <a:latin typeface="Helvetica" pitchFamily="34" charset="0"/>
              </a:rPr>
              <a:t>Safety and security requirements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467600" cy="4752528"/>
          </a:xfrm>
        </p:spPr>
        <p:txBody>
          <a:bodyPr>
            <a:normAutofit/>
          </a:bodyPr>
          <a:lstStyle/>
          <a:p>
            <a:pPr marL="0" indent="0">
              <a:spcBef>
                <a:spcPts val="600"/>
              </a:spcBef>
              <a:spcAft>
                <a:spcPts val="1200"/>
              </a:spcAft>
              <a:buNone/>
            </a:pPr>
            <a:r>
              <a:rPr lang="en-US" sz="2000" dirty="0" smtClean="0">
                <a:latin typeface="Helvetica" pitchFamily="34" charset="0"/>
              </a:rPr>
              <a:t>The information will vary depending on the tour and might include:</a:t>
            </a:r>
          </a:p>
          <a:p>
            <a:pPr marL="360000" indent="-360000">
              <a:spcBef>
                <a:spcPts val="600"/>
              </a:spcBef>
              <a:spcAft>
                <a:spcPts val="1200"/>
              </a:spcAft>
            </a:pPr>
            <a:r>
              <a:rPr lang="en-US" sz="2000" dirty="0" smtClean="0">
                <a:latin typeface="Helvetica" pitchFamily="34" charset="0"/>
              </a:rPr>
              <a:t>General information:</a:t>
            </a:r>
          </a:p>
          <a:p>
            <a:pPr marL="720000" indent="-360000">
              <a:spcBef>
                <a:spcPts val="600"/>
              </a:spcBef>
              <a:spcAft>
                <a:spcPts val="1200"/>
              </a:spcAft>
              <a:buClr>
                <a:srgbClr val="7FD13B"/>
              </a:buClr>
              <a:buSzPct val="100000"/>
              <a:buFont typeface="Arial" pitchFamily="34" charset="0"/>
              <a:buChar char="•"/>
            </a:pPr>
            <a:r>
              <a:rPr lang="en-US" sz="2000" dirty="0" smtClean="0">
                <a:latin typeface="Helvetica" pitchFamily="34" charset="0"/>
              </a:rPr>
              <a:t>Issuing of maps, leaflets, tourism </a:t>
            </a:r>
            <a:br>
              <a:rPr lang="en-US" sz="2000" dirty="0" smtClean="0">
                <a:latin typeface="Helvetica" pitchFamily="34" charset="0"/>
              </a:rPr>
            </a:br>
            <a:r>
              <a:rPr lang="en-US" sz="2000" dirty="0" smtClean="0">
                <a:latin typeface="Helvetica" pitchFamily="34" charset="0"/>
              </a:rPr>
              <a:t>information</a:t>
            </a:r>
          </a:p>
          <a:p>
            <a:pPr marL="720000" indent="-360000">
              <a:spcBef>
                <a:spcPts val="600"/>
              </a:spcBef>
              <a:spcAft>
                <a:spcPts val="1200"/>
              </a:spcAft>
              <a:buClr>
                <a:srgbClr val="7FD13B"/>
              </a:buClr>
              <a:buSzPct val="100000"/>
              <a:buFont typeface="Arial" pitchFamily="34" charset="0"/>
              <a:buChar char="•"/>
            </a:pPr>
            <a:r>
              <a:rPr lang="en-US" sz="2000" dirty="0" smtClean="0">
                <a:latin typeface="Helvetica" pitchFamily="34" charset="0"/>
              </a:rPr>
              <a:t>Useful ‘tips’ in regards to foreign exchange,  tipping, local customs</a:t>
            </a:r>
          </a:p>
          <a:p>
            <a:pPr marL="720000" indent="-360000">
              <a:spcBef>
                <a:spcPts val="600"/>
              </a:spcBef>
              <a:spcAft>
                <a:spcPts val="1200"/>
              </a:spcAft>
              <a:buClr>
                <a:srgbClr val="7FD13B"/>
              </a:buClr>
              <a:buSzPct val="100000"/>
              <a:buFont typeface="Arial" pitchFamily="34" charset="0"/>
              <a:buChar char="•"/>
            </a:pPr>
            <a:r>
              <a:rPr lang="en-US" sz="2000" dirty="0" smtClean="0">
                <a:latin typeface="Helvetica" pitchFamily="34" charset="0"/>
              </a:rPr>
              <a:t>Specific information related to destinations, attractions, site and activities</a:t>
            </a:r>
          </a:p>
          <a:p>
            <a:pPr marL="360000" indent="-360000">
              <a:spcBef>
                <a:spcPts val="600"/>
              </a:spcBef>
              <a:spcAft>
                <a:spcPts val="1200"/>
              </a:spcAft>
              <a:buNone/>
            </a:pPr>
            <a:r>
              <a:rPr lang="en-US" sz="2000" dirty="0" smtClean="0">
                <a:latin typeface="Helvetica" pitchFamily="34" charset="0"/>
              </a:rPr>
              <a:t> </a:t>
            </a:r>
          </a:p>
          <a:p>
            <a:pPr marL="360000" indent="-360000">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sp>
        <p:nvSpPr>
          <p:cNvPr id="7" name="Title 1"/>
          <p:cNvSpPr>
            <a:spLocks noGrp="1"/>
          </p:cNvSpPr>
          <p:nvPr>
            <p:ph type="title"/>
          </p:nvPr>
        </p:nvSpPr>
        <p:spPr>
          <a:xfrm>
            <a:off x="611560" y="332656"/>
            <a:ext cx="7467600" cy="1224136"/>
          </a:xfrm>
        </p:spPr>
        <p:txBody>
          <a:bodyPr>
            <a:normAutofit/>
          </a:bodyPr>
          <a:lstStyle/>
          <a:p>
            <a:pPr marL="714375" indent="-714375"/>
            <a:r>
              <a:rPr lang="en-US" sz="3400" b="1" dirty="0" smtClean="0">
                <a:solidFill>
                  <a:srgbClr val="FF6600"/>
                </a:solidFill>
                <a:latin typeface="Helvetica" pitchFamily="34" charset="0"/>
              </a:rPr>
              <a:t>2.3	Distribute tour-related information</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2169815"/>
            <a:ext cx="2399928" cy="1600752"/>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24136"/>
          </a:xfrm>
        </p:spPr>
        <p:txBody>
          <a:bodyPr>
            <a:normAutofit fontScale="90000"/>
          </a:bodyPr>
          <a:lstStyle/>
          <a:p>
            <a:pPr marL="714375" indent="-714375"/>
            <a:r>
              <a:rPr lang="en-US" sz="3400" b="1" dirty="0" smtClean="0">
                <a:solidFill>
                  <a:srgbClr val="FF6600"/>
                </a:solidFill>
                <a:latin typeface="Helvetica" pitchFamily="34" charset="0"/>
              </a:rPr>
              <a:t>2.5	Provide last-minute details to suppliers, providers and carriers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Following the briefing, the tour staff have had the opportunity to finalise a lot of details and information with the tour group members.</a:t>
            </a:r>
          </a:p>
          <a:p>
            <a:pPr marL="0" indent="0">
              <a:spcBef>
                <a:spcPts val="600"/>
              </a:spcBef>
              <a:spcAft>
                <a:spcPts val="1200"/>
              </a:spcAft>
              <a:buNone/>
            </a:pPr>
            <a:r>
              <a:rPr lang="en-US" sz="2200" dirty="0" smtClean="0">
                <a:latin typeface="Helvetica" pitchFamily="34" charset="0"/>
              </a:rPr>
              <a:t>The next step is to pass on the relevant information to the service suppliers.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39752" y="3863312"/>
            <a:ext cx="2879812" cy="1919875"/>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560840" cy="4752528"/>
          </a:xfrm>
        </p:spPr>
        <p:txBody>
          <a:bodyPr>
            <a:normAutofit/>
          </a:bodyPr>
          <a:lstStyle/>
          <a:p>
            <a:pPr marL="0" indent="0">
              <a:spcBef>
                <a:spcPts val="600"/>
              </a:spcBef>
              <a:spcAft>
                <a:spcPts val="1200"/>
              </a:spcAft>
              <a:buNone/>
            </a:pPr>
            <a:r>
              <a:rPr lang="en-US" sz="2200" dirty="0" smtClean="0">
                <a:latin typeface="Helvetica" pitchFamily="34" charset="0"/>
              </a:rPr>
              <a:t>The last-minute information might cover:</a:t>
            </a:r>
          </a:p>
          <a:p>
            <a:pPr marL="360000" indent="-360000">
              <a:spcBef>
                <a:spcPts val="600"/>
              </a:spcBef>
              <a:spcAft>
                <a:spcPts val="1200"/>
              </a:spcAft>
            </a:pPr>
            <a:r>
              <a:rPr lang="en-US" sz="2200" dirty="0" smtClean="0">
                <a:latin typeface="Helvetica" pitchFamily="34" charset="0"/>
              </a:rPr>
              <a:t>Confirmation of any changes such as final tour group members</a:t>
            </a:r>
          </a:p>
          <a:p>
            <a:pPr marL="360000" indent="-360000">
              <a:spcBef>
                <a:spcPts val="600"/>
              </a:spcBef>
              <a:spcAft>
                <a:spcPts val="1200"/>
              </a:spcAft>
            </a:pPr>
            <a:r>
              <a:rPr lang="en-US" sz="2200" dirty="0" smtClean="0">
                <a:latin typeface="Helvetica" pitchFamily="34" charset="0"/>
              </a:rPr>
              <a:t>Clarification of any financial implications of </a:t>
            </a:r>
            <a:br>
              <a:rPr lang="en-US" sz="2200" dirty="0" smtClean="0">
                <a:latin typeface="Helvetica" pitchFamily="34" charset="0"/>
              </a:rPr>
            </a:br>
            <a:r>
              <a:rPr lang="en-US" sz="2200" dirty="0" smtClean="0">
                <a:latin typeface="Helvetica" pitchFamily="34" charset="0"/>
              </a:rPr>
              <a:t>those changes for either the tour group </a:t>
            </a:r>
            <a:br>
              <a:rPr lang="en-US" sz="2200" dirty="0" smtClean="0">
                <a:latin typeface="Helvetica" pitchFamily="34" charset="0"/>
              </a:rPr>
            </a:br>
            <a:r>
              <a:rPr lang="en-US" sz="2200" dirty="0" smtClean="0">
                <a:latin typeface="Helvetica" pitchFamily="34" charset="0"/>
              </a:rPr>
              <a:t>member or the organisation</a:t>
            </a:r>
          </a:p>
          <a:p>
            <a:pPr marL="360000" indent="-360000">
              <a:spcBef>
                <a:spcPts val="600"/>
              </a:spcBef>
              <a:spcAft>
                <a:spcPts val="1200"/>
              </a:spcAft>
            </a:pPr>
            <a:r>
              <a:rPr lang="en-US" sz="2200" dirty="0" smtClean="0">
                <a:latin typeface="Helvetica" pitchFamily="34" charset="0"/>
              </a:rPr>
              <a:t>All information must be kept on file  </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sp>
        <p:nvSpPr>
          <p:cNvPr id="7" name="Title 1"/>
          <p:cNvSpPr>
            <a:spLocks noGrp="1"/>
          </p:cNvSpPr>
          <p:nvPr>
            <p:ph type="title"/>
          </p:nvPr>
        </p:nvSpPr>
        <p:spPr>
          <a:xfrm>
            <a:off x="611560" y="332656"/>
            <a:ext cx="7467600" cy="1224136"/>
          </a:xfrm>
        </p:spPr>
        <p:txBody>
          <a:bodyPr>
            <a:normAutofit fontScale="90000"/>
          </a:bodyPr>
          <a:lstStyle/>
          <a:p>
            <a:pPr marL="714375" indent="-714375"/>
            <a:r>
              <a:rPr lang="en-US" sz="3400" b="1" dirty="0" smtClean="0">
                <a:solidFill>
                  <a:srgbClr val="FF6600"/>
                </a:solidFill>
                <a:latin typeface="Helvetica" pitchFamily="34" charset="0"/>
              </a:rPr>
              <a:t>2.5	Provide last-minute details to suppliers, providers and carriers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6216" y="2775967"/>
            <a:ext cx="1717397" cy="2204864"/>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24136"/>
          </a:xfrm>
        </p:spPr>
        <p:txBody>
          <a:bodyPr>
            <a:normAutofit/>
          </a:bodyPr>
          <a:lstStyle/>
          <a:p>
            <a:r>
              <a:rPr lang="en-US" sz="3400" b="1" dirty="0" smtClean="0">
                <a:solidFill>
                  <a:srgbClr val="FF6600"/>
                </a:solidFill>
                <a:latin typeface="Helvetica" pitchFamily="34" charset="0"/>
              </a:rPr>
              <a:t>Element 3: Brief tour staff </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grpSp>
        <p:nvGrpSpPr>
          <p:cNvPr id="7" name="Group 6"/>
          <p:cNvGrpSpPr/>
          <p:nvPr/>
        </p:nvGrpSpPr>
        <p:grpSpPr>
          <a:xfrm>
            <a:off x="990517" y="1772816"/>
            <a:ext cx="5869898" cy="4044317"/>
            <a:chOff x="990517" y="1854665"/>
            <a:chExt cx="5869898" cy="4044317"/>
          </a:xfrm>
        </p:grpSpPr>
        <p:sp>
          <p:nvSpPr>
            <p:cNvPr id="8" name="Oval 7"/>
            <p:cNvSpPr/>
            <p:nvPr/>
          </p:nvSpPr>
          <p:spPr>
            <a:xfrm>
              <a:off x="2755125" y="4143534"/>
              <a:ext cx="145594" cy="145594"/>
            </a:xfrm>
            <a:prstGeom prst="ellipse">
              <a:avLst/>
            </a:pr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9" name="Oval 8"/>
            <p:cNvSpPr/>
            <p:nvPr/>
          </p:nvSpPr>
          <p:spPr>
            <a:xfrm>
              <a:off x="2627584" y="4347925"/>
              <a:ext cx="145594" cy="145594"/>
            </a:xfrm>
            <a:prstGeom prst="ellipse">
              <a:avLst/>
            </a:prstGeom>
          </p:spPr>
          <p:style>
            <a:lnRef idx="2">
              <a:schemeClr val="accent5">
                <a:hueOff val="-344057"/>
                <a:satOff val="3449"/>
                <a:lumOff val="-2397"/>
                <a:alphaOff val="0"/>
              </a:schemeClr>
            </a:lnRef>
            <a:fillRef idx="1">
              <a:schemeClr val="accent5">
                <a:hueOff val="-344057"/>
                <a:satOff val="3449"/>
                <a:lumOff val="-2397"/>
                <a:alphaOff val="0"/>
              </a:schemeClr>
            </a:fillRef>
            <a:effectRef idx="0">
              <a:schemeClr val="accent5">
                <a:hueOff val="-344057"/>
                <a:satOff val="3449"/>
                <a:lumOff val="-2397"/>
                <a:alphaOff val="0"/>
              </a:schemeClr>
            </a:effectRef>
            <a:fontRef idx="minor">
              <a:schemeClr val="lt1"/>
            </a:fontRef>
          </p:style>
        </p:sp>
        <p:sp>
          <p:nvSpPr>
            <p:cNvPr id="10" name="Oval 9"/>
            <p:cNvSpPr/>
            <p:nvPr/>
          </p:nvSpPr>
          <p:spPr>
            <a:xfrm>
              <a:off x="2475583" y="4524883"/>
              <a:ext cx="145594" cy="145594"/>
            </a:xfrm>
            <a:prstGeom prst="ellipse">
              <a:avLst/>
            </a:prstGeom>
          </p:spPr>
          <p:style>
            <a:lnRef idx="2">
              <a:schemeClr val="accent5">
                <a:hueOff val="-688115"/>
                <a:satOff val="6899"/>
                <a:lumOff val="-4793"/>
                <a:alphaOff val="0"/>
              </a:schemeClr>
            </a:lnRef>
            <a:fillRef idx="1">
              <a:schemeClr val="accent5">
                <a:hueOff val="-688115"/>
                <a:satOff val="6899"/>
                <a:lumOff val="-4793"/>
                <a:alphaOff val="0"/>
              </a:schemeClr>
            </a:fillRef>
            <a:effectRef idx="0">
              <a:schemeClr val="accent5">
                <a:hueOff val="-688115"/>
                <a:satOff val="6899"/>
                <a:lumOff val="-4793"/>
                <a:alphaOff val="0"/>
              </a:schemeClr>
            </a:effectRef>
            <a:fontRef idx="minor">
              <a:schemeClr val="lt1"/>
            </a:fontRef>
          </p:style>
        </p:sp>
        <p:sp>
          <p:nvSpPr>
            <p:cNvPr id="11" name="Oval 10"/>
            <p:cNvSpPr/>
            <p:nvPr/>
          </p:nvSpPr>
          <p:spPr>
            <a:xfrm>
              <a:off x="2657285" y="2086488"/>
              <a:ext cx="145594" cy="145594"/>
            </a:xfrm>
            <a:prstGeom prst="ellipse">
              <a:avLst/>
            </a:prstGeom>
          </p:spPr>
          <p:style>
            <a:lnRef idx="2">
              <a:schemeClr val="accent5">
                <a:hueOff val="-1032172"/>
                <a:satOff val="10348"/>
                <a:lumOff val="-7190"/>
                <a:alphaOff val="0"/>
              </a:schemeClr>
            </a:lnRef>
            <a:fillRef idx="1">
              <a:schemeClr val="accent5">
                <a:hueOff val="-1032172"/>
                <a:satOff val="10348"/>
                <a:lumOff val="-7190"/>
                <a:alphaOff val="0"/>
              </a:schemeClr>
            </a:fillRef>
            <a:effectRef idx="0">
              <a:schemeClr val="accent5">
                <a:hueOff val="-1032172"/>
                <a:satOff val="10348"/>
                <a:lumOff val="-7190"/>
                <a:alphaOff val="0"/>
              </a:schemeClr>
            </a:effectRef>
            <a:fontRef idx="minor">
              <a:schemeClr val="lt1"/>
            </a:fontRef>
          </p:style>
        </p:sp>
        <p:sp>
          <p:nvSpPr>
            <p:cNvPr id="12" name="Oval 11"/>
            <p:cNvSpPr/>
            <p:nvPr/>
          </p:nvSpPr>
          <p:spPr>
            <a:xfrm>
              <a:off x="2851800" y="1970576"/>
              <a:ext cx="145594" cy="145594"/>
            </a:xfrm>
            <a:prstGeom prst="ellipse">
              <a:avLst/>
            </a:prstGeom>
          </p:spPr>
          <p:style>
            <a:lnRef idx="2">
              <a:schemeClr val="accent5">
                <a:hueOff val="-1376230"/>
                <a:satOff val="13797"/>
                <a:lumOff val="-9586"/>
                <a:alphaOff val="0"/>
              </a:schemeClr>
            </a:lnRef>
            <a:fillRef idx="1">
              <a:schemeClr val="accent5">
                <a:hueOff val="-1376230"/>
                <a:satOff val="13797"/>
                <a:lumOff val="-9586"/>
                <a:alphaOff val="0"/>
              </a:schemeClr>
            </a:fillRef>
            <a:effectRef idx="0">
              <a:schemeClr val="accent5">
                <a:hueOff val="-1376230"/>
                <a:satOff val="13797"/>
                <a:lumOff val="-9586"/>
                <a:alphaOff val="0"/>
              </a:schemeClr>
            </a:effectRef>
            <a:fontRef idx="minor">
              <a:schemeClr val="lt1"/>
            </a:fontRef>
          </p:style>
        </p:sp>
        <p:sp>
          <p:nvSpPr>
            <p:cNvPr id="13" name="Oval 12"/>
            <p:cNvSpPr/>
            <p:nvPr/>
          </p:nvSpPr>
          <p:spPr>
            <a:xfrm>
              <a:off x="3045732" y="1854665"/>
              <a:ext cx="145594" cy="145594"/>
            </a:xfrm>
            <a:prstGeom prst="ellipse">
              <a:avLst/>
            </a:prstGeom>
          </p:spPr>
          <p:style>
            <a:lnRef idx="2">
              <a:schemeClr val="accent5">
                <a:hueOff val="-1720287"/>
                <a:satOff val="17247"/>
                <a:lumOff val="-11983"/>
                <a:alphaOff val="0"/>
              </a:schemeClr>
            </a:lnRef>
            <a:fillRef idx="1">
              <a:schemeClr val="accent5">
                <a:hueOff val="-1720287"/>
                <a:satOff val="17247"/>
                <a:lumOff val="-11983"/>
                <a:alphaOff val="0"/>
              </a:schemeClr>
            </a:fillRef>
            <a:effectRef idx="0">
              <a:schemeClr val="accent5">
                <a:hueOff val="-1720287"/>
                <a:satOff val="17247"/>
                <a:lumOff val="-11983"/>
                <a:alphaOff val="0"/>
              </a:schemeClr>
            </a:effectRef>
            <a:fontRef idx="minor">
              <a:schemeClr val="lt1"/>
            </a:fontRef>
          </p:style>
        </p:sp>
        <p:sp>
          <p:nvSpPr>
            <p:cNvPr id="14" name="Oval 13"/>
            <p:cNvSpPr/>
            <p:nvPr/>
          </p:nvSpPr>
          <p:spPr>
            <a:xfrm>
              <a:off x="3239664" y="1970576"/>
              <a:ext cx="145594" cy="145594"/>
            </a:xfrm>
            <a:prstGeom prst="ellipse">
              <a:avLst/>
            </a:prstGeom>
          </p:spPr>
          <p:style>
            <a:lnRef idx="2">
              <a:schemeClr val="accent5">
                <a:hueOff val="-2064345"/>
                <a:satOff val="20696"/>
                <a:lumOff val="-14379"/>
                <a:alphaOff val="0"/>
              </a:schemeClr>
            </a:lnRef>
            <a:fillRef idx="1">
              <a:schemeClr val="accent5">
                <a:hueOff val="-2064345"/>
                <a:satOff val="20696"/>
                <a:lumOff val="-14379"/>
                <a:alphaOff val="0"/>
              </a:schemeClr>
            </a:fillRef>
            <a:effectRef idx="0">
              <a:schemeClr val="accent5">
                <a:hueOff val="-2064345"/>
                <a:satOff val="20696"/>
                <a:lumOff val="-14379"/>
                <a:alphaOff val="0"/>
              </a:schemeClr>
            </a:effectRef>
            <a:fontRef idx="minor">
              <a:schemeClr val="lt1"/>
            </a:fontRef>
          </p:style>
        </p:sp>
        <p:sp>
          <p:nvSpPr>
            <p:cNvPr id="15" name="Oval 14"/>
            <p:cNvSpPr/>
            <p:nvPr/>
          </p:nvSpPr>
          <p:spPr>
            <a:xfrm>
              <a:off x="3434179" y="2086488"/>
              <a:ext cx="145594" cy="145594"/>
            </a:xfrm>
            <a:prstGeom prst="ellipse">
              <a:avLst/>
            </a:prstGeom>
          </p:spPr>
          <p:style>
            <a:lnRef idx="2">
              <a:schemeClr val="accent5">
                <a:hueOff val="-2408402"/>
                <a:satOff val="24145"/>
                <a:lumOff val="-16776"/>
                <a:alphaOff val="0"/>
              </a:schemeClr>
            </a:lnRef>
            <a:fillRef idx="1">
              <a:schemeClr val="accent5">
                <a:hueOff val="-2408402"/>
                <a:satOff val="24145"/>
                <a:lumOff val="-16776"/>
                <a:alphaOff val="0"/>
              </a:schemeClr>
            </a:fillRef>
            <a:effectRef idx="0">
              <a:schemeClr val="accent5">
                <a:hueOff val="-2408402"/>
                <a:satOff val="24145"/>
                <a:lumOff val="-16776"/>
                <a:alphaOff val="0"/>
              </a:schemeClr>
            </a:effectRef>
            <a:fontRef idx="minor">
              <a:schemeClr val="lt1"/>
            </a:fontRef>
          </p:style>
        </p:sp>
        <p:sp>
          <p:nvSpPr>
            <p:cNvPr id="16" name="Oval 15"/>
            <p:cNvSpPr/>
            <p:nvPr/>
          </p:nvSpPr>
          <p:spPr>
            <a:xfrm>
              <a:off x="3045732" y="2099238"/>
              <a:ext cx="145594" cy="145594"/>
            </a:xfrm>
            <a:prstGeom prst="ellipse">
              <a:avLst/>
            </a:prstGeom>
          </p:spPr>
          <p:style>
            <a:lnRef idx="2">
              <a:schemeClr val="accent5">
                <a:hueOff val="-2752459"/>
                <a:satOff val="27595"/>
                <a:lumOff val="-19172"/>
                <a:alphaOff val="0"/>
              </a:schemeClr>
            </a:lnRef>
            <a:fillRef idx="1">
              <a:schemeClr val="accent5">
                <a:hueOff val="-2752459"/>
                <a:satOff val="27595"/>
                <a:lumOff val="-19172"/>
                <a:alphaOff val="0"/>
              </a:schemeClr>
            </a:fillRef>
            <a:effectRef idx="0">
              <a:schemeClr val="accent5">
                <a:hueOff val="-2752459"/>
                <a:satOff val="27595"/>
                <a:lumOff val="-19172"/>
                <a:alphaOff val="0"/>
              </a:schemeClr>
            </a:effectRef>
            <a:fontRef idx="minor">
              <a:schemeClr val="lt1"/>
            </a:fontRef>
          </p:style>
        </p:sp>
        <p:sp>
          <p:nvSpPr>
            <p:cNvPr id="17" name="Oval 16"/>
            <p:cNvSpPr/>
            <p:nvPr/>
          </p:nvSpPr>
          <p:spPr>
            <a:xfrm>
              <a:off x="3045732" y="2343812"/>
              <a:ext cx="145594" cy="145594"/>
            </a:xfrm>
            <a:prstGeom prst="ellipse">
              <a:avLst/>
            </a:prstGeom>
          </p:spPr>
          <p:style>
            <a:lnRef idx="2">
              <a:schemeClr val="accent5">
                <a:hueOff val="-3096517"/>
                <a:satOff val="31044"/>
                <a:lumOff val="-21569"/>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sp>
        <p:sp>
          <p:nvSpPr>
            <p:cNvPr id="18" name="Freeform 17"/>
            <p:cNvSpPr/>
            <p:nvPr/>
          </p:nvSpPr>
          <p:spPr>
            <a:xfrm>
              <a:off x="1861174" y="5056691"/>
              <a:ext cx="3672000" cy="842291"/>
            </a:xfrm>
            <a:custGeom>
              <a:avLst/>
              <a:gdLst>
                <a:gd name="connsiteX0" fmla="*/ 0 w 3140186"/>
                <a:gd name="connsiteY0" fmla="*/ 140385 h 842291"/>
                <a:gd name="connsiteX1" fmla="*/ 140385 w 3140186"/>
                <a:gd name="connsiteY1" fmla="*/ 0 h 842291"/>
                <a:gd name="connsiteX2" fmla="*/ 2999801 w 3140186"/>
                <a:gd name="connsiteY2" fmla="*/ 0 h 842291"/>
                <a:gd name="connsiteX3" fmla="*/ 3140186 w 3140186"/>
                <a:gd name="connsiteY3" fmla="*/ 140385 h 842291"/>
                <a:gd name="connsiteX4" fmla="*/ 3140186 w 3140186"/>
                <a:gd name="connsiteY4" fmla="*/ 701906 h 842291"/>
                <a:gd name="connsiteX5" fmla="*/ 2999801 w 3140186"/>
                <a:gd name="connsiteY5" fmla="*/ 842291 h 842291"/>
                <a:gd name="connsiteX6" fmla="*/ 140385 w 3140186"/>
                <a:gd name="connsiteY6" fmla="*/ 842291 h 842291"/>
                <a:gd name="connsiteX7" fmla="*/ 0 w 3140186"/>
                <a:gd name="connsiteY7" fmla="*/ 701906 h 842291"/>
                <a:gd name="connsiteX8" fmla="*/ 0 w 3140186"/>
                <a:gd name="connsiteY8" fmla="*/ 140385 h 842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0186" h="842291">
                  <a:moveTo>
                    <a:pt x="0" y="140385"/>
                  </a:moveTo>
                  <a:cubicBezTo>
                    <a:pt x="0" y="62853"/>
                    <a:pt x="62853" y="0"/>
                    <a:pt x="140385" y="0"/>
                  </a:cubicBezTo>
                  <a:lnTo>
                    <a:pt x="2999801" y="0"/>
                  </a:lnTo>
                  <a:cubicBezTo>
                    <a:pt x="3077333" y="0"/>
                    <a:pt x="3140186" y="62853"/>
                    <a:pt x="3140186" y="140385"/>
                  </a:cubicBezTo>
                  <a:lnTo>
                    <a:pt x="3140186" y="701906"/>
                  </a:lnTo>
                  <a:cubicBezTo>
                    <a:pt x="3140186" y="779438"/>
                    <a:pt x="3077333" y="842291"/>
                    <a:pt x="2999801" y="842291"/>
                  </a:cubicBezTo>
                  <a:lnTo>
                    <a:pt x="140385" y="842291"/>
                  </a:lnTo>
                  <a:cubicBezTo>
                    <a:pt x="62853" y="842291"/>
                    <a:pt x="0" y="779438"/>
                    <a:pt x="0" y="701906"/>
                  </a:cubicBezTo>
                  <a:lnTo>
                    <a:pt x="0" y="140385"/>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705790" tIns="124937" rIns="124937" bIns="124937" numCol="1" spcCol="1270" anchor="ctr" anchorCtr="0">
              <a:noAutofit/>
            </a:bodyPr>
            <a:lstStyle/>
            <a:p>
              <a:pPr lvl="0" algn="l" defTabSz="977900">
                <a:lnSpc>
                  <a:spcPct val="90000"/>
                </a:lnSpc>
                <a:spcBef>
                  <a:spcPct val="0"/>
                </a:spcBef>
                <a:spcAft>
                  <a:spcPct val="35000"/>
                </a:spcAft>
              </a:pPr>
              <a:r>
                <a:rPr lang="en-US" sz="2000" kern="1200" dirty="0" smtClean="0">
                  <a:latin typeface="Helvetica" pitchFamily="34" charset="0"/>
                </a:rPr>
                <a:t>Provide resources to support tour</a:t>
              </a:r>
              <a:endParaRPr lang="en-AU" sz="2000" kern="1200" dirty="0"/>
            </a:p>
          </p:txBody>
        </p:sp>
        <p:sp>
          <p:nvSpPr>
            <p:cNvPr id="19" name="Oval 18"/>
            <p:cNvSpPr/>
            <p:nvPr/>
          </p:nvSpPr>
          <p:spPr>
            <a:xfrm>
              <a:off x="990517" y="4231400"/>
              <a:ext cx="1455947" cy="1455850"/>
            </a:xfrm>
            <a:prstGeom prst="ellipse">
              <a:avLst/>
            </a:prstGeom>
            <a:blipFill>
              <a:blip r:embed="rId3" cstate="print">
                <a:extLst>
                  <a:ext uri="{28A0092B-C50C-407E-A947-70E740481C1C}">
                    <a14:useLocalDpi xmlns:a14="http://schemas.microsoft.com/office/drawing/2010/main" val="0"/>
                  </a:ext>
                </a:extLst>
              </a:blip>
              <a:srcRect/>
              <a:stretch>
                <a:fillRect l="-17000" r="-17000"/>
              </a:stretch>
            </a:blipFill>
          </p:spPr>
          <p:style>
            <a:lnRef idx="2">
              <a:schemeClr val="lt1">
                <a:hueOff val="0"/>
                <a:satOff val="0"/>
                <a:lumOff val="0"/>
                <a:alphaOff val="0"/>
              </a:schemeClr>
            </a:lnRef>
            <a:fillRef idx="1">
              <a:scrgbClr r="0" g="0" b="0"/>
            </a:fillRef>
            <a:effectRef idx="0">
              <a:schemeClr val="accent5">
                <a:tint val="50000"/>
                <a:hueOff val="0"/>
                <a:satOff val="0"/>
                <a:lumOff val="0"/>
                <a:alphaOff val="0"/>
              </a:schemeClr>
            </a:effectRef>
            <a:fontRef idx="minor">
              <a:schemeClr val="lt1">
                <a:hueOff val="0"/>
                <a:satOff val="0"/>
                <a:lumOff val="0"/>
                <a:alphaOff val="0"/>
              </a:schemeClr>
            </a:fontRef>
          </p:style>
        </p:sp>
        <p:sp>
          <p:nvSpPr>
            <p:cNvPr id="20" name="Freeform 19"/>
            <p:cNvSpPr/>
            <p:nvPr/>
          </p:nvSpPr>
          <p:spPr>
            <a:xfrm>
              <a:off x="3188415" y="3409200"/>
              <a:ext cx="3672000" cy="842291"/>
            </a:xfrm>
            <a:custGeom>
              <a:avLst/>
              <a:gdLst>
                <a:gd name="connsiteX0" fmla="*/ 0 w 3140186"/>
                <a:gd name="connsiteY0" fmla="*/ 140385 h 842291"/>
                <a:gd name="connsiteX1" fmla="*/ 140385 w 3140186"/>
                <a:gd name="connsiteY1" fmla="*/ 0 h 842291"/>
                <a:gd name="connsiteX2" fmla="*/ 2999801 w 3140186"/>
                <a:gd name="connsiteY2" fmla="*/ 0 h 842291"/>
                <a:gd name="connsiteX3" fmla="*/ 3140186 w 3140186"/>
                <a:gd name="connsiteY3" fmla="*/ 140385 h 842291"/>
                <a:gd name="connsiteX4" fmla="*/ 3140186 w 3140186"/>
                <a:gd name="connsiteY4" fmla="*/ 701906 h 842291"/>
                <a:gd name="connsiteX5" fmla="*/ 2999801 w 3140186"/>
                <a:gd name="connsiteY5" fmla="*/ 842291 h 842291"/>
                <a:gd name="connsiteX6" fmla="*/ 140385 w 3140186"/>
                <a:gd name="connsiteY6" fmla="*/ 842291 h 842291"/>
                <a:gd name="connsiteX7" fmla="*/ 0 w 3140186"/>
                <a:gd name="connsiteY7" fmla="*/ 701906 h 842291"/>
                <a:gd name="connsiteX8" fmla="*/ 0 w 3140186"/>
                <a:gd name="connsiteY8" fmla="*/ 140385 h 842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0186" h="842291">
                  <a:moveTo>
                    <a:pt x="0" y="140385"/>
                  </a:moveTo>
                  <a:cubicBezTo>
                    <a:pt x="0" y="62853"/>
                    <a:pt x="62853" y="0"/>
                    <a:pt x="140385" y="0"/>
                  </a:cubicBezTo>
                  <a:lnTo>
                    <a:pt x="2999801" y="0"/>
                  </a:lnTo>
                  <a:cubicBezTo>
                    <a:pt x="3077333" y="0"/>
                    <a:pt x="3140186" y="62853"/>
                    <a:pt x="3140186" y="140385"/>
                  </a:cubicBezTo>
                  <a:lnTo>
                    <a:pt x="3140186" y="701906"/>
                  </a:lnTo>
                  <a:cubicBezTo>
                    <a:pt x="3140186" y="779438"/>
                    <a:pt x="3077333" y="842291"/>
                    <a:pt x="2999801" y="842291"/>
                  </a:cubicBezTo>
                  <a:lnTo>
                    <a:pt x="140385" y="842291"/>
                  </a:lnTo>
                  <a:cubicBezTo>
                    <a:pt x="62853" y="842291"/>
                    <a:pt x="0" y="779438"/>
                    <a:pt x="0" y="701906"/>
                  </a:cubicBezTo>
                  <a:lnTo>
                    <a:pt x="0" y="140385"/>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705790" tIns="124937" rIns="124937" bIns="124937" numCol="1" spcCol="1270" anchor="ctr" anchorCtr="0">
              <a:noAutofit/>
            </a:bodyPr>
            <a:lstStyle/>
            <a:p>
              <a:pPr lvl="0" algn="l" defTabSz="977900">
                <a:lnSpc>
                  <a:spcPct val="90000"/>
                </a:lnSpc>
                <a:spcBef>
                  <a:spcPct val="0"/>
                </a:spcBef>
                <a:spcAft>
                  <a:spcPct val="35000"/>
                </a:spcAft>
              </a:pPr>
              <a:r>
                <a:rPr lang="en-US" sz="2000" kern="1200" dirty="0" smtClean="0">
                  <a:latin typeface="Helvetica" pitchFamily="34" charset="0"/>
                </a:rPr>
                <a:t>Provide tour details to tour staff</a:t>
              </a:r>
              <a:endParaRPr lang="en-AU" sz="2000" kern="1200" dirty="0"/>
            </a:p>
          </p:txBody>
        </p:sp>
        <p:sp>
          <p:nvSpPr>
            <p:cNvPr id="21" name="Oval 20"/>
            <p:cNvSpPr/>
            <p:nvPr/>
          </p:nvSpPr>
          <p:spPr>
            <a:xfrm>
              <a:off x="2317759" y="2583908"/>
              <a:ext cx="1455947" cy="1455850"/>
            </a:xfrm>
            <a:prstGeom prst="ellipse">
              <a:avLst/>
            </a:prstGeom>
            <a:blipFill>
              <a:blip r:embed="rId4" cstate="print">
                <a:extLst>
                  <a:ext uri="{28A0092B-C50C-407E-A947-70E740481C1C}">
                    <a14:useLocalDpi xmlns:a14="http://schemas.microsoft.com/office/drawing/2010/main" val="0"/>
                  </a:ext>
                </a:extLst>
              </a:blip>
              <a:srcRect/>
              <a:stretch>
                <a:fillRect l="-28000" r="-28000"/>
              </a:stretch>
            </a:blipFill>
          </p:spPr>
          <p:style>
            <a:lnRef idx="2">
              <a:schemeClr val="lt1">
                <a:hueOff val="0"/>
                <a:satOff val="0"/>
                <a:lumOff val="0"/>
                <a:alphaOff val="0"/>
              </a:schemeClr>
            </a:lnRef>
            <a:fillRef idx="1">
              <a:scrgbClr r="0" g="0" b="0"/>
            </a:fillRef>
            <a:effectRef idx="0">
              <a:schemeClr val="accent5">
                <a:tint val="50000"/>
                <a:hueOff val="-3599420"/>
                <a:satOff val="-3114"/>
                <a:lumOff val="-4163"/>
                <a:alphaOff val="0"/>
              </a:schemeClr>
            </a:effectRef>
            <a:fontRef idx="minor">
              <a:schemeClr val="lt1">
                <a:hueOff val="0"/>
                <a:satOff val="0"/>
                <a:lumOff val="0"/>
                <a:alphaOff val="0"/>
              </a:schemeClr>
            </a:fontRef>
          </p:style>
        </p:sp>
      </p:gr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24136"/>
          </a:xfrm>
        </p:spPr>
        <p:txBody>
          <a:bodyPr>
            <a:normAutofit/>
          </a:bodyPr>
          <a:lstStyle/>
          <a:p>
            <a:pPr marL="714375" indent="-714375"/>
            <a:r>
              <a:rPr lang="en-US" sz="3400" b="1" dirty="0" smtClean="0">
                <a:solidFill>
                  <a:srgbClr val="FF6600"/>
                </a:solidFill>
                <a:latin typeface="Helvetica" pitchFamily="34" charset="0"/>
              </a:rPr>
              <a:t>3.1	Provide tour details to support staff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US" sz="2200" dirty="0" smtClean="0">
                <a:latin typeface="Helvetica" pitchFamily="34" charset="0"/>
              </a:rPr>
              <a:t>In order to deliver the tour to the required standards, the tour staff needs to be given as much information as possible. This includes: </a:t>
            </a:r>
          </a:p>
          <a:p>
            <a:pPr marL="0" indent="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grpSp>
        <p:nvGrpSpPr>
          <p:cNvPr id="6" name="Group 5"/>
          <p:cNvGrpSpPr/>
          <p:nvPr/>
        </p:nvGrpSpPr>
        <p:grpSpPr>
          <a:xfrm>
            <a:off x="848639" y="3068960"/>
            <a:ext cx="4947497" cy="3019449"/>
            <a:chOff x="848639" y="3068960"/>
            <a:chExt cx="4947497" cy="3019449"/>
          </a:xfrm>
        </p:grpSpPr>
        <p:sp>
          <p:nvSpPr>
            <p:cNvPr id="7" name="Oval 6"/>
            <p:cNvSpPr/>
            <p:nvPr/>
          </p:nvSpPr>
          <p:spPr>
            <a:xfrm>
              <a:off x="848639" y="3823822"/>
              <a:ext cx="2264587" cy="2264587"/>
            </a:xfrm>
            <a:prstGeom prst="ellipse">
              <a:avLst/>
            </a:pr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sp>
        <p:sp>
          <p:nvSpPr>
            <p:cNvPr id="8" name="Oval 7"/>
            <p:cNvSpPr/>
            <p:nvPr/>
          </p:nvSpPr>
          <p:spPr>
            <a:xfrm>
              <a:off x="1301557" y="4276740"/>
              <a:ext cx="1358752" cy="1358752"/>
            </a:xfrm>
            <a:prstGeom prst="ellipse">
              <a:avLst/>
            </a:prstGeom>
          </p:spPr>
          <p:style>
            <a:lnRef idx="2">
              <a:schemeClr val="lt1">
                <a:hueOff val="0"/>
                <a:satOff val="0"/>
                <a:lumOff val="0"/>
                <a:alphaOff val="0"/>
              </a:schemeClr>
            </a:lnRef>
            <a:fillRef idx="1">
              <a:schemeClr val="accent5">
                <a:hueOff val="-1548258"/>
                <a:satOff val="15522"/>
                <a:lumOff val="-10784"/>
                <a:alphaOff val="0"/>
              </a:schemeClr>
            </a:fillRef>
            <a:effectRef idx="0">
              <a:schemeClr val="accent5">
                <a:hueOff val="-1548258"/>
                <a:satOff val="15522"/>
                <a:lumOff val="-10784"/>
                <a:alphaOff val="0"/>
              </a:schemeClr>
            </a:effectRef>
            <a:fontRef idx="minor">
              <a:schemeClr val="lt1"/>
            </a:fontRef>
          </p:style>
        </p:sp>
        <p:sp>
          <p:nvSpPr>
            <p:cNvPr id="9" name="Oval 8"/>
            <p:cNvSpPr/>
            <p:nvPr/>
          </p:nvSpPr>
          <p:spPr>
            <a:xfrm>
              <a:off x="1754474" y="4729657"/>
              <a:ext cx="452917" cy="452917"/>
            </a:xfrm>
            <a:prstGeom prst="ellipse">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10" name="Freeform 9"/>
            <p:cNvSpPr/>
            <p:nvPr/>
          </p:nvSpPr>
          <p:spPr>
            <a:xfrm>
              <a:off x="3490658" y="3068960"/>
              <a:ext cx="2305478" cy="660504"/>
            </a:xfrm>
            <a:custGeom>
              <a:avLst/>
              <a:gdLst>
                <a:gd name="connsiteX0" fmla="*/ 0 w 1132293"/>
                <a:gd name="connsiteY0" fmla="*/ 0 h 660504"/>
                <a:gd name="connsiteX1" fmla="*/ 1132293 w 1132293"/>
                <a:gd name="connsiteY1" fmla="*/ 0 h 660504"/>
                <a:gd name="connsiteX2" fmla="*/ 1132293 w 1132293"/>
                <a:gd name="connsiteY2" fmla="*/ 660504 h 660504"/>
                <a:gd name="connsiteX3" fmla="*/ 0 w 1132293"/>
                <a:gd name="connsiteY3" fmla="*/ 660504 h 660504"/>
                <a:gd name="connsiteX4" fmla="*/ 0 w 1132293"/>
                <a:gd name="connsiteY4" fmla="*/ 0 h 660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293" h="660504">
                  <a:moveTo>
                    <a:pt x="0" y="0"/>
                  </a:moveTo>
                  <a:lnTo>
                    <a:pt x="1132293" y="0"/>
                  </a:lnTo>
                  <a:lnTo>
                    <a:pt x="1132293" y="660504"/>
                  </a:lnTo>
                  <a:lnTo>
                    <a:pt x="0" y="66050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15240" rIns="15240" bIns="15240" numCol="1" spcCol="1270" anchor="ctr" anchorCtr="0">
              <a:noAutofit/>
            </a:bodyPr>
            <a:lstStyle/>
            <a:p>
              <a:pPr lvl="0" algn="l" defTabSz="533400">
                <a:lnSpc>
                  <a:spcPct val="90000"/>
                </a:lnSpc>
                <a:spcBef>
                  <a:spcPct val="0"/>
                </a:spcBef>
                <a:spcAft>
                  <a:spcPct val="35000"/>
                </a:spcAft>
              </a:pPr>
              <a:r>
                <a:rPr lang="en-US" kern="1200" dirty="0" smtClean="0">
                  <a:latin typeface="Helvetica" pitchFamily="34" charset="0"/>
                </a:rPr>
                <a:t>Itinerary</a:t>
              </a:r>
              <a:endParaRPr lang="en-AU" kern="1200" dirty="0"/>
            </a:p>
          </p:txBody>
        </p:sp>
        <p:sp>
          <p:nvSpPr>
            <p:cNvPr id="11" name="Straight Connector 10"/>
            <p:cNvSpPr/>
            <p:nvPr/>
          </p:nvSpPr>
          <p:spPr>
            <a:xfrm>
              <a:off x="3207585" y="3399212"/>
              <a:ext cx="283073" cy="0"/>
            </a:xfrm>
            <a:prstGeom prst="line">
              <a:avLst/>
            </a:prstGeom>
          </p:spPr>
          <p:style>
            <a:lnRef idx="2">
              <a:schemeClr val="accent5">
                <a:tint val="50000"/>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tx1">
                <a:hueOff val="0"/>
                <a:satOff val="0"/>
                <a:lumOff val="0"/>
                <a:alphaOff val="0"/>
              </a:schemeClr>
            </a:fontRef>
          </p:style>
        </p:sp>
        <p:sp>
          <p:nvSpPr>
            <p:cNvPr id="12" name="Straight Connector 11"/>
            <p:cNvSpPr/>
            <p:nvPr/>
          </p:nvSpPr>
          <p:spPr>
            <a:xfrm rot="5400000">
              <a:off x="1815429" y="3565093"/>
              <a:ext cx="1556526" cy="1225519"/>
            </a:xfrm>
            <a:prstGeom prst="line">
              <a:avLst/>
            </a:prstGeom>
          </p:spPr>
          <p:style>
            <a:lnRef idx="2">
              <a:schemeClr val="accent5">
                <a:tint val="50000"/>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tx1">
                <a:hueOff val="0"/>
                <a:satOff val="0"/>
                <a:lumOff val="0"/>
                <a:alphaOff val="0"/>
              </a:schemeClr>
            </a:fontRef>
          </p:style>
        </p:sp>
        <p:sp>
          <p:nvSpPr>
            <p:cNvPr id="13" name="Freeform 12"/>
            <p:cNvSpPr/>
            <p:nvPr/>
          </p:nvSpPr>
          <p:spPr>
            <a:xfrm>
              <a:off x="3490658" y="3729464"/>
              <a:ext cx="2305478" cy="660504"/>
            </a:xfrm>
            <a:custGeom>
              <a:avLst/>
              <a:gdLst>
                <a:gd name="connsiteX0" fmla="*/ 0 w 1132293"/>
                <a:gd name="connsiteY0" fmla="*/ 0 h 660504"/>
                <a:gd name="connsiteX1" fmla="*/ 1132293 w 1132293"/>
                <a:gd name="connsiteY1" fmla="*/ 0 h 660504"/>
                <a:gd name="connsiteX2" fmla="*/ 1132293 w 1132293"/>
                <a:gd name="connsiteY2" fmla="*/ 660504 h 660504"/>
                <a:gd name="connsiteX3" fmla="*/ 0 w 1132293"/>
                <a:gd name="connsiteY3" fmla="*/ 660504 h 660504"/>
                <a:gd name="connsiteX4" fmla="*/ 0 w 1132293"/>
                <a:gd name="connsiteY4" fmla="*/ 0 h 660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293" h="660504">
                  <a:moveTo>
                    <a:pt x="0" y="0"/>
                  </a:moveTo>
                  <a:lnTo>
                    <a:pt x="1132293" y="0"/>
                  </a:lnTo>
                  <a:lnTo>
                    <a:pt x="1132293" y="660504"/>
                  </a:lnTo>
                  <a:lnTo>
                    <a:pt x="0" y="66050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15240" rIns="15240" bIns="15240" numCol="1" spcCol="1270" anchor="ctr" anchorCtr="0">
              <a:noAutofit/>
            </a:bodyPr>
            <a:lstStyle/>
            <a:p>
              <a:pPr lvl="0" algn="l" defTabSz="533400">
                <a:lnSpc>
                  <a:spcPct val="90000"/>
                </a:lnSpc>
                <a:spcBef>
                  <a:spcPct val="0"/>
                </a:spcBef>
                <a:spcAft>
                  <a:spcPct val="35000"/>
                </a:spcAft>
              </a:pPr>
              <a:r>
                <a:rPr lang="en-US" kern="1200" dirty="0" smtClean="0">
                  <a:latin typeface="Helvetica" pitchFamily="34" charset="0"/>
                </a:rPr>
                <a:t>Group profile</a:t>
              </a:r>
              <a:endParaRPr lang="en-AU" kern="1200" dirty="0"/>
            </a:p>
          </p:txBody>
        </p:sp>
        <p:sp>
          <p:nvSpPr>
            <p:cNvPr id="14" name="Straight Connector 13"/>
            <p:cNvSpPr/>
            <p:nvPr/>
          </p:nvSpPr>
          <p:spPr>
            <a:xfrm>
              <a:off x="3207585" y="4059717"/>
              <a:ext cx="283073" cy="0"/>
            </a:xfrm>
            <a:prstGeom prst="line">
              <a:avLst/>
            </a:prstGeom>
          </p:spPr>
          <p:style>
            <a:lnRef idx="2">
              <a:schemeClr val="accent5">
                <a:tint val="50000"/>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tx1">
                <a:hueOff val="0"/>
                <a:satOff val="0"/>
                <a:lumOff val="0"/>
                <a:alphaOff val="0"/>
              </a:schemeClr>
            </a:fontRef>
          </p:style>
        </p:sp>
        <p:sp>
          <p:nvSpPr>
            <p:cNvPr id="15" name="Straight Connector 14"/>
            <p:cNvSpPr/>
            <p:nvPr/>
          </p:nvSpPr>
          <p:spPr>
            <a:xfrm rot="5400000">
              <a:off x="2149532" y="4215294"/>
              <a:ext cx="1212913" cy="900928"/>
            </a:xfrm>
            <a:prstGeom prst="line">
              <a:avLst/>
            </a:prstGeom>
          </p:spPr>
          <p:style>
            <a:lnRef idx="2">
              <a:schemeClr val="accent5">
                <a:tint val="50000"/>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tx1">
                <a:hueOff val="0"/>
                <a:satOff val="0"/>
                <a:lumOff val="0"/>
                <a:alphaOff val="0"/>
              </a:schemeClr>
            </a:fontRef>
          </p:style>
        </p:sp>
        <p:sp>
          <p:nvSpPr>
            <p:cNvPr id="16" name="Freeform 15"/>
            <p:cNvSpPr/>
            <p:nvPr/>
          </p:nvSpPr>
          <p:spPr>
            <a:xfrm>
              <a:off x="3490658" y="4389969"/>
              <a:ext cx="2305478" cy="660504"/>
            </a:xfrm>
            <a:custGeom>
              <a:avLst/>
              <a:gdLst>
                <a:gd name="connsiteX0" fmla="*/ 0 w 1132293"/>
                <a:gd name="connsiteY0" fmla="*/ 0 h 660504"/>
                <a:gd name="connsiteX1" fmla="*/ 1132293 w 1132293"/>
                <a:gd name="connsiteY1" fmla="*/ 0 h 660504"/>
                <a:gd name="connsiteX2" fmla="*/ 1132293 w 1132293"/>
                <a:gd name="connsiteY2" fmla="*/ 660504 h 660504"/>
                <a:gd name="connsiteX3" fmla="*/ 0 w 1132293"/>
                <a:gd name="connsiteY3" fmla="*/ 660504 h 660504"/>
                <a:gd name="connsiteX4" fmla="*/ 0 w 1132293"/>
                <a:gd name="connsiteY4" fmla="*/ 0 h 660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293" h="660504">
                  <a:moveTo>
                    <a:pt x="0" y="0"/>
                  </a:moveTo>
                  <a:lnTo>
                    <a:pt x="1132293" y="0"/>
                  </a:lnTo>
                  <a:lnTo>
                    <a:pt x="1132293" y="660504"/>
                  </a:lnTo>
                  <a:lnTo>
                    <a:pt x="0" y="66050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15240" rIns="15240" bIns="15240" numCol="1" spcCol="1270" anchor="ctr" anchorCtr="0">
              <a:noAutofit/>
            </a:bodyPr>
            <a:lstStyle/>
            <a:p>
              <a:pPr lvl="0" algn="l" defTabSz="533400">
                <a:lnSpc>
                  <a:spcPct val="90000"/>
                </a:lnSpc>
                <a:spcBef>
                  <a:spcPct val="0"/>
                </a:spcBef>
                <a:spcAft>
                  <a:spcPct val="35000"/>
                </a:spcAft>
              </a:pPr>
              <a:r>
                <a:rPr lang="en-US" kern="1200" dirty="0" smtClean="0">
                  <a:latin typeface="Helvetica" pitchFamily="34" charset="0"/>
                </a:rPr>
                <a:t>Tour documentation</a:t>
              </a:r>
              <a:endParaRPr lang="en-AU" kern="1200" dirty="0"/>
            </a:p>
          </p:txBody>
        </p:sp>
        <p:sp>
          <p:nvSpPr>
            <p:cNvPr id="17" name="Straight Connector 16"/>
            <p:cNvSpPr/>
            <p:nvPr/>
          </p:nvSpPr>
          <p:spPr>
            <a:xfrm>
              <a:off x="3207585" y="4720221"/>
              <a:ext cx="283073" cy="0"/>
            </a:xfrm>
            <a:prstGeom prst="line">
              <a:avLst/>
            </a:prstGeom>
          </p:spPr>
          <p:style>
            <a:lnRef idx="2">
              <a:schemeClr val="accent5">
                <a:tint val="50000"/>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tx1">
                <a:hueOff val="0"/>
                <a:satOff val="0"/>
                <a:lumOff val="0"/>
                <a:alphaOff val="0"/>
              </a:schemeClr>
            </a:fontRef>
          </p:style>
        </p:sp>
        <p:sp>
          <p:nvSpPr>
            <p:cNvPr id="18" name="Straight Connector 17"/>
            <p:cNvSpPr/>
            <p:nvPr/>
          </p:nvSpPr>
          <p:spPr>
            <a:xfrm rot="5400000">
              <a:off x="2484049" y="4864966"/>
              <a:ext cx="866582" cy="576337"/>
            </a:xfrm>
            <a:prstGeom prst="line">
              <a:avLst/>
            </a:prstGeom>
          </p:spPr>
          <p:style>
            <a:lnRef idx="2">
              <a:schemeClr val="accent5">
                <a:tint val="50000"/>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tx1">
                <a:hueOff val="0"/>
                <a:satOff val="0"/>
                <a:lumOff val="0"/>
                <a:alphaOff val="0"/>
              </a:schemeClr>
            </a:fontRef>
          </p:style>
        </p:sp>
      </p:gr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itinerary is list, description of all the travel arrangements services involved and will include:</a:t>
            </a:r>
          </a:p>
          <a:p>
            <a:pPr marL="360000" indent="-360000">
              <a:spcBef>
                <a:spcPts val="600"/>
              </a:spcBef>
              <a:spcAft>
                <a:spcPts val="1200"/>
              </a:spcAft>
            </a:pPr>
            <a:r>
              <a:rPr lang="en-US" sz="2200" dirty="0" smtClean="0">
                <a:latin typeface="Helvetica" pitchFamily="34" charset="0"/>
              </a:rPr>
              <a:t>Tour duration</a:t>
            </a:r>
          </a:p>
          <a:p>
            <a:pPr marL="360000" indent="-360000">
              <a:spcBef>
                <a:spcPts val="600"/>
              </a:spcBef>
              <a:spcAft>
                <a:spcPts val="1200"/>
              </a:spcAft>
            </a:pPr>
            <a:r>
              <a:rPr lang="en-US" sz="2200" dirty="0" smtClean="0">
                <a:latin typeface="Helvetica" pitchFamily="34" charset="0"/>
              </a:rPr>
              <a:t>Transport</a:t>
            </a:r>
          </a:p>
          <a:p>
            <a:pPr marL="360000" indent="-360000">
              <a:spcBef>
                <a:spcPts val="600"/>
              </a:spcBef>
              <a:spcAft>
                <a:spcPts val="1200"/>
              </a:spcAft>
            </a:pPr>
            <a:r>
              <a:rPr lang="en-US" sz="2200" dirty="0" smtClean="0">
                <a:latin typeface="Helvetica" pitchFamily="34" charset="0"/>
              </a:rPr>
              <a:t>Transfers and connections</a:t>
            </a:r>
          </a:p>
          <a:p>
            <a:pPr marL="360000" indent="-360000">
              <a:spcBef>
                <a:spcPts val="600"/>
              </a:spcBef>
              <a:spcAft>
                <a:spcPts val="1200"/>
              </a:spcAft>
            </a:pPr>
            <a:r>
              <a:rPr lang="en-US" sz="2200" dirty="0" smtClean="0">
                <a:latin typeface="Helvetica" pitchFamily="34" charset="0"/>
              </a:rPr>
              <a:t>Accommodation and Meals</a:t>
            </a:r>
          </a:p>
          <a:p>
            <a:pPr marL="360000" indent="-360000">
              <a:spcBef>
                <a:spcPts val="600"/>
              </a:spcBef>
              <a:spcAft>
                <a:spcPts val="1200"/>
              </a:spcAft>
            </a:pPr>
            <a:r>
              <a:rPr lang="en-US" sz="2200" dirty="0" smtClean="0">
                <a:latin typeface="Helvetica" pitchFamily="34" charset="0"/>
              </a:rPr>
              <a:t>Inclusions and options </a:t>
            </a:r>
          </a:p>
          <a:p>
            <a:pPr marL="0" indent="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sp>
        <p:nvSpPr>
          <p:cNvPr id="7" name="Title 1"/>
          <p:cNvSpPr>
            <a:spLocks noGrp="1"/>
          </p:cNvSpPr>
          <p:nvPr>
            <p:ph type="title"/>
          </p:nvPr>
        </p:nvSpPr>
        <p:spPr>
          <a:xfrm>
            <a:off x="611560" y="332656"/>
            <a:ext cx="7467600" cy="1224136"/>
          </a:xfrm>
        </p:spPr>
        <p:txBody>
          <a:bodyPr>
            <a:normAutofit/>
          </a:bodyPr>
          <a:lstStyle/>
          <a:p>
            <a:pPr marL="714375" indent="-714375"/>
            <a:r>
              <a:rPr lang="en-US" sz="3400" b="1" dirty="0" smtClean="0">
                <a:solidFill>
                  <a:srgbClr val="FF6600"/>
                </a:solidFill>
                <a:latin typeface="Helvetica" pitchFamily="34" charset="0"/>
              </a:rPr>
              <a:t>3.1	Provide tour details to support staff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4983" y="2708920"/>
            <a:ext cx="3048000" cy="1868424"/>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628800"/>
            <a:ext cx="7467600" cy="4752528"/>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The group profile is a collation of information from the tour group members that will give the tour staff an understanding of the type of customers on the tour .The information might include: </a:t>
            </a:r>
          </a:p>
          <a:p>
            <a:pPr marL="360000" indent="-360000">
              <a:spcBef>
                <a:spcPts val="600"/>
              </a:spcBef>
              <a:spcAft>
                <a:spcPts val="1200"/>
              </a:spcAft>
            </a:pPr>
            <a:r>
              <a:rPr lang="en-US" sz="2200" dirty="0" smtClean="0">
                <a:latin typeface="Helvetica" pitchFamily="34" charset="0"/>
              </a:rPr>
              <a:t>Number of participants</a:t>
            </a:r>
          </a:p>
          <a:p>
            <a:pPr marL="360000" indent="-360000">
              <a:spcBef>
                <a:spcPts val="600"/>
              </a:spcBef>
              <a:spcAft>
                <a:spcPts val="1200"/>
              </a:spcAft>
            </a:pPr>
            <a:r>
              <a:rPr lang="en-US" sz="2200" dirty="0" smtClean="0">
                <a:latin typeface="Helvetica" pitchFamily="34" charset="0"/>
              </a:rPr>
              <a:t>Origin</a:t>
            </a:r>
          </a:p>
          <a:p>
            <a:pPr marL="360000" indent="-360000">
              <a:spcBef>
                <a:spcPts val="600"/>
              </a:spcBef>
              <a:spcAft>
                <a:spcPts val="1200"/>
              </a:spcAft>
            </a:pPr>
            <a:r>
              <a:rPr lang="en-US" sz="2200" dirty="0" smtClean="0">
                <a:latin typeface="Helvetica" pitchFamily="34" charset="0"/>
              </a:rPr>
              <a:t>Age bracket</a:t>
            </a:r>
          </a:p>
          <a:p>
            <a:pPr marL="360000" indent="-360000">
              <a:spcBef>
                <a:spcPts val="600"/>
              </a:spcBef>
              <a:spcAft>
                <a:spcPts val="1200"/>
              </a:spcAft>
            </a:pPr>
            <a:r>
              <a:rPr lang="en-US" sz="2200" dirty="0" smtClean="0">
                <a:latin typeface="Helvetica" pitchFamily="34" charset="0"/>
              </a:rPr>
              <a:t>Special needs, requests </a:t>
            </a:r>
          </a:p>
          <a:p>
            <a:pPr marL="360000" indent="-360000">
              <a:spcBef>
                <a:spcPts val="600"/>
              </a:spcBef>
              <a:spcAft>
                <a:spcPts val="1200"/>
              </a:spcAft>
            </a:pPr>
            <a:r>
              <a:rPr lang="en-US" sz="2200" dirty="0" smtClean="0">
                <a:latin typeface="Helvetica" pitchFamily="34" charset="0"/>
              </a:rPr>
              <a:t>Language spoken</a:t>
            </a:r>
          </a:p>
          <a:p>
            <a:pPr marL="360000" indent="-360000">
              <a:spcBef>
                <a:spcPts val="600"/>
              </a:spcBef>
              <a:spcAft>
                <a:spcPts val="1200"/>
              </a:spcAft>
            </a:pPr>
            <a:r>
              <a:rPr lang="en-US" sz="2200" dirty="0" smtClean="0">
                <a:latin typeface="Helvetica" pitchFamily="34" charset="0"/>
              </a:rPr>
              <a:t>Main interest</a:t>
            </a:r>
          </a:p>
          <a:p>
            <a:pPr marL="360000" indent="-360000">
              <a:spcBef>
                <a:spcPts val="600"/>
              </a:spcBef>
              <a:spcAft>
                <a:spcPts val="1200"/>
              </a:spcAft>
            </a:pPr>
            <a:r>
              <a:rPr lang="en-US" sz="2200" dirty="0" smtClean="0">
                <a:latin typeface="Helvetica" pitchFamily="34" charset="0"/>
              </a:rPr>
              <a:t>Potential identified problems customers </a:t>
            </a:r>
          </a:p>
          <a:p>
            <a:pPr marL="0" indent="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sp>
        <p:nvSpPr>
          <p:cNvPr id="7" name="Title 1"/>
          <p:cNvSpPr>
            <a:spLocks noGrp="1"/>
          </p:cNvSpPr>
          <p:nvPr>
            <p:ph type="title"/>
          </p:nvPr>
        </p:nvSpPr>
        <p:spPr>
          <a:xfrm>
            <a:off x="611560" y="332656"/>
            <a:ext cx="7467600" cy="1224136"/>
          </a:xfrm>
        </p:spPr>
        <p:txBody>
          <a:bodyPr>
            <a:normAutofit/>
          </a:bodyPr>
          <a:lstStyle/>
          <a:p>
            <a:pPr marL="714375" indent="-714375"/>
            <a:r>
              <a:rPr lang="en-US" sz="3400" b="1" dirty="0" smtClean="0">
                <a:solidFill>
                  <a:srgbClr val="FF6600"/>
                </a:solidFill>
                <a:latin typeface="Helvetica" pitchFamily="34" charset="0"/>
              </a:rPr>
              <a:t>3.1	Provide tour details to support staff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3284984"/>
            <a:ext cx="2687960" cy="1779429"/>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It is an important requirement for the staff to have all the documentation necessary to successfully manage the tour. The documentation might include: </a:t>
            </a:r>
          </a:p>
          <a:p>
            <a:pPr marL="360000" indent="-360000">
              <a:spcBef>
                <a:spcPts val="600"/>
              </a:spcBef>
              <a:spcAft>
                <a:spcPts val="1200"/>
              </a:spcAft>
              <a:buNone/>
            </a:pPr>
            <a:r>
              <a:rPr lang="en-US" sz="2200" dirty="0" smtClean="0">
                <a:latin typeface="Helvetica"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sp>
        <p:nvSpPr>
          <p:cNvPr id="7" name="Title 1"/>
          <p:cNvSpPr>
            <a:spLocks noGrp="1"/>
          </p:cNvSpPr>
          <p:nvPr>
            <p:ph type="title"/>
          </p:nvPr>
        </p:nvSpPr>
        <p:spPr>
          <a:xfrm>
            <a:off x="611560" y="332656"/>
            <a:ext cx="7467600" cy="1224136"/>
          </a:xfrm>
        </p:spPr>
        <p:txBody>
          <a:bodyPr>
            <a:normAutofit/>
          </a:bodyPr>
          <a:lstStyle/>
          <a:p>
            <a:pPr marL="714375" indent="-714375"/>
            <a:r>
              <a:rPr lang="en-US" sz="3400" b="1" dirty="0" smtClean="0">
                <a:solidFill>
                  <a:srgbClr val="FF6600"/>
                </a:solidFill>
                <a:latin typeface="Helvetica" pitchFamily="34" charset="0"/>
              </a:rPr>
              <a:t>3.1	Provide tour details to support staff </a:t>
            </a:r>
            <a:endParaRPr lang="en-US" sz="3400" b="1" dirty="0">
              <a:solidFill>
                <a:srgbClr val="FF6600"/>
              </a:solidFill>
              <a:latin typeface="Helvetica" pitchFamily="34" charset="0"/>
            </a:endParaRPr>
          </a:p>
        </p:txBody>
      </p:sp>
      <p:grpSp>
        <p:nvGrpSpPr>
          <p:cNvPr id="8" name="Group 7"/>
          <p:cNvGrpSpPr/>
          <p:nvPr/>
        </p:nvGrpSpPr>
        <p:grpSpPr>
          <a:xfrm>
            <a:off x="2438129" y="2629807"/>
            <a:ext cx="3433985" cy="3642619"/>
            <a:chOff x="2481540" y="2720116"/>
            <a:chExt cx="3433985" cy="3642619"/>
          </a:xfrm>
        </p:grpSpPr>
        <p:sp>
          <p:nvSpPr>
            <p:cNvPr id="9" name="Freeform 8"/>
            <p:cNvSpPr/>
            <p:nvPr/>
          </p:nvSpPr>
          <p:spPr>
            <a:xfrm>
              <a:off x="3760332" y="4325296"/>
              <a:ext cx="1799551" cy="1799551"/>
            </a:xfrm>
            <a:custGeom>
              <a:avLst/>
              <a:gdLst>
                <a:gd name="connsiteX0" fmla="*/ 1277329 w 1799551"/>
                <a:gd name="connsiteY0" fmla="*/ 286918 h 1799551"/>
                <a:gd name="connsiteX1" fmla="*/ 1417306 w 1799551"/>
                <a:gd name="connsiteY1" fmla="*/ 169457 h 1799551"/>
                <a:gd name="connsiteX2" fmla="*/ 1529131 w 1799551"/>
                <a:gd name="connsiteY2" fmla="*/ 263289 h 1799551"/>
                <a:gd name="connsiteX3" fmla="*/ 1437761 w 1799551"/>
                <a:gd name="connsiteY3" fmla="*/ 421536 h 1799551"/>
                <a:gd name="connsiteX4" fmla="*/ 1582935 w 1799551"/>
                <a:gd name="connsiteY4" fmla="*/ 672985 h 1799551"/>
                <a:gd name="connsiteX5" fmla="*/ 1765666 w 1799551"/>
                <a:gd name="connsiteY5" fmla="*/ 672981 h 1799551"/>
                <a:gd name="connsiteX6" fmla="*/ 1791015 w 1799551"/>
                <a:gd name="connsiteY6" fmla="*/ 816741 h 1799551"/>
                <a:gd name="connsiteX7" fmla="*/ 1619303 w 1799551"/>
                <a:gd name="connsiteY7" fmla="*/ 879234 h 1799551"/>
                <a:gd name="connsiteX8" fmla="*/ 1568884 w 1799551"/>
                <a:gd name="connsiteY8" fmla="*/ 1165172 h 1799551"/>
                <a:gd name="connsiteX9" fmla="*/ 1708867 w 1799551"/>
                <a:gd name="connsiteY9" fmla="*/ 1282625 h 1799551"/>
                <a:gd name="connsiteX10" fmla="*/ 1635878 w 1799551"/>
                <a:gd name="connsiteY10" fmla="*/ 1409045 h 1799551"/>
                <a:gd name="connsiteX11" fmla="*/ 1464169 w 1799551"/>
                <a:gd name="connsiteY11" fmla="*/ 1346543 h 1799551"/>
                <a:gd name="connsiteX12" fmla="*/ 1241749 w 1799551"/>
                <a:gd name="connsiteY12" fmla="*/ 1533176 h 1799551"/>
                <a:gd name="connsiteX13" fmla="*/ 1273485 w 1799551"/>
                <a:gd name="connsiteY13" fmla="*/ 1713129 h 1799551"/>
                <a:gd name="connsiteX14" fmla="*/ 1136311 w 1799551"/>
                <a:gd name="connsiteY14" fmla="*/ 1763056 h 1799551"/>
                <a:gd name="connsiteX15" fmla="*/ 1044950 w 1799551"/>
                <a:gd name="connsiteY15" fmla="*/ 1604804 h 1799551"/>
                <a:gd name="connsiteX16" fmla="*/ 754601 w 1799551"/>
                <a:gd name="connsiteY16" fmla="*/ 1604804 h 1799551"/>
                <a:gd name="connsiteX17" fmla="*/ 663240 w 1799551"/>
                <a:gd name="connsiteY17" fmla="*/ 1763056 h 1799551"/>
                <a:gd name="connsiteX18" fmla="*/ 526066 w 1799551"/>
                <a:gd name="connsiteY18" fmla="*/ 1713129 h 1799551"/>
                <a:gd name="connsiteX19" fmla="*/ 557802 w 1799551"/>
                <a:gd name="connsiteY19" fmla="*/ 1533175 h 1799551"/>
                <a:gd name="connsiteX20" fmla="*/ 335382 w 1799551"/>
                <a:gd name="connsiteY20" fmla="*/ 1346542 h 1799551"/>
                <a:gd name="connsiteX21" fmla="*/ 163673 w 1799551"/>
                <a:gd name="connsiteY21" fmla="*/ 1409045 h 1799551"/>
                <a:gd name="connsiteX22" fmla="*/ 90684 w 1799551"/>
                <a:gd name="connsiteY22" fmla="*/ 1282625 h 1799551"/>
                <a:gd name="connsiteX23" fmla="*/ 230667 w 1799551"/>
                <a:gd name="connsiteY23" fmla="*/ 1165171 h 1799551"/>
                <a:gd name="connsiteX24" fmla="*/ 180248 w 1799551"/>
                <a:gd name="connsiteY24" fmla="*/ 879233 h 1799551"/>
                <a:gd name="connsiteX25" fmla="*/ 8536 w 1799551"/>
                <a:gd name="connsiteY25" fmla="*/ 816741 h 1799551"/>
                <a:gd name="connsiteX26" fmla="*/ 33885 w 1799551"/>
                <a:gd name="connsiteY26" fmla="*/ 672981 h 1799551"/>
                <a:gd name="connsiteX27" fmla="*/ 216615 w 1799551"/>
                <a:gd name="connsiteY27" fmla="*/ 672986 h 1799551"/>
                <a:gd name="connsiteX28" fmla="*/ 361789 w 1799551"/>
                <a:gd name="connsiteY28" fmla="*/ 421537 h 1799551"/>
                <a:gd name="connsiteX29" fmla="*/ 270420 w 1799551"/>
                <a:gd name="connsiteY29" fmla="*/ 263289 h 1799551"/>
                <a:gd name="connsiteX30" fmla="*/ 382245 w 1799551"/>
                <a:gd name="connsiteY30" fmla="*/ 169457 h 1799551"/>
                <a:gd name="connsiteX31" fmla="*/ 522222 w 1799551"/>
                <a:gd name="connsiteY31" fmla="*/ 286918 h 1799551"/>
                <a:gd name="connsiteX32" fmla="*/ 795061 w 1799551"/>
                <a:gd name="connsiteY32" fmla="*/ 187613 h 1799551"/>
                <a:gd name="connsiteX33" fmla="*/ 826787 w 1799551"/>
                <a:gd name="connsiteY33" fmla="*/ 7657 h 1799551"/>
                <a:gd name="connsiteX34" fmla="*/ 972764 w 1799551"/>
                <a:gd name="connsiteY34" fmla="*/ 7657 h 1799551"/>
                <a:gd name="connsiteX35" fmla="*/ 1004490 w 1799551"/>
                <a:gd name="connsiteY35" fmla="*/ 187612 h 1799551"/>
                <a:gd name="connsiteX36" fmla="*/ 1277329 w 1799551"/>
                <a:gd name="connsiteY36" fmla="*/ 286917 h 1799551"/>
                <a:gd name="connsiteX37" fmla="*/ 1277329 w 1799551"/>
                <a:gd name="connsiteY37" fmla="*/ 286918 h 179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99551" h="1799551">
                  <a:moveTo>
                    <a:pt x="1277329" y="286918"/>
                  </a:moveTo>
                  <a:lnTo>
                    <a:pt x="1417306" y="169457"/>
                  </a:lnTo>
                  <a:lnTo>
                    <a:pt x="1529131" y="263289"/>
                  </a:lnTo>
                  <a:lnTo>
                    <a:pt x="1437761" y="421536"/>
                  </a:lnTo>
                  <a:cubicBezTo>
                    <a:pt x="1502730" y="494621"/>
                    <a:pt x="1552126" y="580178"/>
                    <a:pt x="1582935" y="672985"/>
                  </a:cubicBezTo>
                  <a:lnTo>
                    <a:pt x="1765666" y="672981"/>
                  </a:lnTo>
                  <a:lnTo>
                    <a:pt x="1791015" y="816741"/>
                  </a:lnTo>
                  <a:lnTo>
                    <a:pt x="1619303" y="879234"/>
                  </a:lnTo>
                  <a:cubicBezTo>
                    <a:pt x="1622094" y="976982"/>
                    <a:pt x="1604939" y="1074273"/>
                    <a:pt x="1568884" y="1165172"/>
                  </a:cubicBezTo>
                  <a:lnTo>
                    <a:pt x="1708867" y="1282625"/>
                  </a:lnTo>
                  <a:lnTo>
                    <a:pt x="1635878" y="1409045"/>
                  </a:lnTo>
                  <a:lnTo>
                    <a:pt x="1464169" y="1346543"/>
                  </a:lnTo>
                  <a:cubicBezTo>
                    <a:pt x="1403476" y="1423216"/>
                    <a:pt x="1327796" y="1486718"/>
                    <a:pt x="1241749" y="1533176"/>
                  </a:cubicBezTo>
                  <a:lnTo>
                    <a:pt x="1273485" y="1713129"/>
                  </a:lnTo>
                  <a:lnTo>
                    <a:pt x="1136311" y="1763056"/>
                  </a:lnTo>
                  <a:lnTo>
                    <a:pt x="1044950" y="1604804"/>
                  </a:lnTo>
                  <a:cubicBezTo>
                    <a:pt x="949172" y="1624526"/>
                    <a:pt x="850379" y="1624526"/>
                    <a:pt x="754601" y="1604804"/>
                  </a:cubicBezTo>
                  <a:lnTo>
                    <a:pt x="663240" y="1763056"/>
                  </a:lnTo>
                  <a:lnTo>
                    <a:pt x="526066" y="1713129"/>
                  </a:lnTo>
                  <a:lnTo>
                    <a:pt x="557802" y="1533175"/>
                  </a:lnTo>
                  <a:cubicBezTo>
                    <a:pt x="471755" y="1486718"/>
                    <a:pt x="396075" y="1423215"/>
                    <a:pt x="335382" y="1346542"/>
                  </a:cubicBezTo>
                  <a:lnTo>
                    <a:pt x="163673" y="1409045"/>
                  </a:lnTo>
                  <a:lnTo>
                    <a:pt x="90684" y="1282625"/>
                  </a:lnTo>
                  <a:lnTo>
                    <a:pt x="230667" y="1165171"/>
                  </a:lnTo>
                  <a:cubicBezTo>
                    <a:pt x="194613" y="1074273"/>
                    <a:pt x="177458" y="976981"/>
                    <a:pt x="180248" y="879233"/>
                  </a:cubicBezTo>
                  <a:lnTo>
                    <a:pt x="8536" y="816741"/>
                  </a:lnTo>
                  <a:lnTo>
                    <a:pt x="33885" y="672981"/>
                  </a:lnTo>
                  <a:lnTo>
                    <a:pt x="216615" y="672986"/>
                  </a:lnTo>
                  <a:cubicBezTo>
                    <a:pt x="247424" y="580179"/>
                    <a:pt x="296821" y="494622"/>
                    <a:pt x="361789" y="421537"/>
                  </a:cubicBezTo>
                  <a:lnTo>
                    <a:pt x="270420" y="263289"/>
                  </a:lnTo>
                  <a:lnTo>
                    <a:pt x="382245" y="169457"/>
                  </a:lnTo>
                  <a:lnTo>
                    <a:pt x="522222" y="286918"/>
                  </a:lnTo>
                  <a:cubicBezTo>
                    <a:pt x="605479" y="235627"/>
                    <a:pt x="698313" y="201838"/>
                    <a:pt x="795061" y="187613"/>
                  </a:cubicBezTo>
                  <a:lnTo>
                    <a:pt x="826787" y="7657"/>
                  </a:lnTo>
                  <a:lnTo>
                    <a:pt x="972764" y="7657"/>
                  </a:lnTo>
                  <a:lnTo>
                    <a:pt x="1004490" y="187612"/>
                  </a:lnTo>
                  <a:cubicBezTo>
                    <a:pt x="1101237" y="201837"/>
                    <a:pt x="1194072" y="235626"/>
                    <a:pt x="1277329" y="286917"/>
                  </a:cubicBezTo>
                  <a:lnTo>
                    <a:pt x="1277329" y="286918"/>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78300" tIns="438046" rIns="378300" bIns="469518" numCol="1" spcCol="1270" anchor="ctr" anchorCtr="0">
              <a:noAutofit/>
            </a:bodyPr>
            <a:lstStyle/>
            <a:p>
              <a:pPr lvl="0" algn="ctr" defTabSz="577850">
                <a:lnSpc>
                  <a:spcPct val="90000"/>
                </a:lnSpc>
                <a:spcBef>
                  <a:spcPct val="0"/>
                </a:spcBef>
                <a:spcAft>
                  <a:spcPct val="35000"/>
                </a:spcAft>
              </a:pPr>
              <a:r>
                <a:rPr lang="en-US" sz="1300" kern="1200" dirty="0" smtClean="0">
                  <a:latin typeface="Helvetica" pitchFamily="34" charset="0"/>
                </a:rPr>
                <a:t>Daily log</a:t>
              </a:r>
              <a:endParaRPr lang="en-AU" sz="1300" kern="1200" dirty="0"/>
            </a:p>
          </p:txBody>
        </p:sp>
        <p:sp>
          <p:nvSpPr>
            <p:cNvPr id="10" name="Freeform 9"/>
            <p:cNvSpPr/>
            <p:nvPr/>
          </p:nvSpPr>
          <p:spPr>
            <a:xfrm>
              <a:off x="2713320" y="3899947"/>
              <a:ext cx="1308764" cy="1308764"/>
            </a:xfrm>
            <a:custGeom>
              <a:avLst/>
              <a:gdLst>
                <a:gd name="connsiteX0" fmla="*/ 979279 w 1308764"/>
                <a:gd name="connsiteY0" fmla="*/ 331477 h 1308764"/>
                <a:gd name="connsiteX1" fmla="*/ 1172366 w 1308764"/>
                <a:gd name="connsiteY1" fmla="*/ 273284 h 1308764"/>
                <a:gd name="connsiteX2" fmla="*/ 1243415 w 1308764"/>
                <a:gd name="connsiteY2" fmla="*/ 396344 h 1308764"/>
                <a:gd name="connsiteX3" fmla="*/ 1096475 w 1308764"/>
                <a:gd name="connsiteY3" fmla="*/ 534466 h 1308764"/>
                <a:gd name="connsiteX4" fmla="*/ 1096475 w 1308764"/>
                <a:gd name="connsiteY4" fmla="*/ 774298 h 1308764"/>
                <a:gd name="connsiteX5" fmla="*/ 1243415 w 1308764"/>
                <a:gd name="connsiteY5" fmla="*/ 912420 h 1308764"/>
                <a:gd name="connsiteX6" fmla="*/ 1172366 w 1308764"/>
                <a:gd name="connsiteY6" fmla="*/ 1035480 h 1308764"/>
                <a:gd name="connsiteX7" fmla="*/ 979279 w 1308764"/>
                <a:gd name="connsiteY7" fmla="*/ 977287 h 1308764"/>
                <a:gd name="connsiteX8" fmla="*/ 771578 w 1308764"/>
                <a:gd name="connsiteY8" fmla="*/ 1097203 h 1308764"/>
                <a:gd name="connsiteX9" fmla="*/ 725431 w 1308764"/>
                <a:gd name="connsiteY9" fmla="*/ 1293518 h 1308764"/>
                <a:gd name="connsiteX10" fmla="*/ 583333 w 1308764"/>
                <a:gd name="connsiteY10" fmla="*/ 1293518 h 1308764"/>
                <a:gd name="connsiteX11" fmla="*/ 537186 w 1308764"/>
                <a:gd name="connsiteY11" fmla="*/ 1097203 h 1308764"/>
                <a:gd name="connsiteX12" fmla="*/ 329485 w 1308764"/>
                <a:gd name="connsiteY12" fmla="*/ 977287 h 1308764"/>
                <a:gd name="connsiteX13" fmla="*/ 136398 w 1308764"/>
                <a:gd name="connsiteY13" fmla="*/ 1035480 h 1308764"/>
                <a:gd name="connsiteX14" fmla="*/ 65349 w 1308764"/>
                <a:gd name="connsiteY14" fmla="*/ 912420 h 1308764"/>
                <a:gd name="connsiteX15" fmla="*/ 212289 w 1308764"/>
                <a:gd name="connsiteY15" fmla="*/ 774298 h 1308764"/>
                <a:gd name="connsiteX16" fmla="*/ 212289 w 1308764"/>
                <a:gd name="connsiteY16" fmla="*/ 534466 h 1308764"/>
                <a:gd name="connsiteX17" fmla="*/ 65349 w 1308764"/>
                <a:gd name="connsiteY17" fmla="*/ 396344 h 1308764"/>
                <a:gd name="connsiteX18" fmla="*/ 136398 w 1308764"/>
                <a:gd name="connsiteY18" fmla="*/ 273284 h 1308764"/>
                <a:gd name="connsiteX19" fmla="*/ 329485 w 1308764"/>
                <a:gd name="connsiteY19" fmla="*/ 331477 h 1308764"/>
                <a:gd name="connsiteX20" fmla="*/ 537186 w 1308764"/>
                <a:gd name="connsiteY20" fmla="*/ 211561 h 1308764"/>
                <a:gd name="connsiteX21" fmla="*/ 583333 w 1308764"/>
                <a:gd name="connsiteY21" fmla="*/ 15246 h 1308764"/>
                <a:gd name="connsiteX22" fmla="*/ 725431 w 1308764"/>
                <a:gd name="connsiteY22" fmla="*/ 15246 h 1308764"/>
                <a:gd name="connsiteX23" fmla="*/ 771578 w 1308764"/>
                <a:gd name="connsiteY23" fmla="*/ 211561 h 1308764"/>
                <a:gd name="connsiteX24" fmla="*/ 979279 w 1308764"/>
                <a:gd name="connsiteY24" fmla="*/ 331477 h 1308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08764" h="1308764">
                  <a:moveTo>
                    <a:pt x="979279" y="331477"/>
                  </a:moveTo>
                  <a:lnTo>
                    <a:pt x="1172366" y="273284"/>
                  </a:lnTo>
                  <a:lnTo>
                    <a:pt x="1243415" y="396344"/>
                  </a:lnTo>
                  <a:lnTo>
                    <a:pt x="1096475" y="534466"/>
                  </a:lnTo>
                  <a:cubicBezTo>
                    <a:pt x="1117775" y="612991"/>
                    <a:pt x="1117775" y="695773"/>
                    <a:pt x="1096475" y="774298"/>
                  </a:cubicBezTo>
                  <a:lnTo>
                    <a:pt x="1243415" y="912420"/>
                  </a:lnTo>
                  <a:lnTo>
                    <a:pt x="1172366" y="1035480"/>
                  </a:lnTo>
                  <a:lnTo>
                    <a:pt x="979279" y="977287"/>
                  </a:lnTo>
                  <a:cubicBezTo>
                    <a:pt x="921924" y="1034996"/>
                    <a:pt x="850233" y="1076387"/>
                    <a:pt x="771578" y="1097203"/>
                  </a:cubicBezTo>
                  <a:lnTo>
                    <a:pt x="725431" y="1293518"/>
                  </a:lnTo>
                  <a:lnTo>
                    <a:pt x="583333" y="1293518"/>
                  </a:lnTo>
                  <a:lnTo>
                    <a:pt x="537186" y="1097203"/>
                  </a:lnTo>
                  <a:cubicBezTo>
                    <a:pt x="458531" y="1076386"/>
                    <a:pt x="386840" y="1034996"/>
                    <a:pt x="329485" y="977287"/>
                  </a:cubicBezTo>
                  <a:lnTo>
                    <a:pt x="136398" y="1035480"/>
                  </a:lnTo>
                  <a:lnTo>
                    <a:pt x="65349" y="912420"/>
                  </a:lnTo>
                  <a:lnTo>
                    <a:pt x="212289" y="774298"/>
                  </a:lnTo>
                  <a:cubicBezTo>
                    <a:pt x="190989" y="695773"/>
                    <a:pt x="190989" y="612991"/>
                    <a:pt x="212289" y="534466"/>
                  </a:cubicBezTo>
                  <a:lnTo>
                    <a:pt x="65349" y="396344"/>
                  </a:lnTo>
                  <a:lnTo>
                    <a:pt x="136398" y="273284"/>
                  </a:lnTo>
                  <a:lnTo>
                    <a:pt x="329485" y="331477"/>
                  </a:lnTo>
                  <a:cubicBezTo>
                    <a:pt x="386840" y="273768"/>
                    <a:pt x="458531" y="232377"/>
                    <a:pt x="537186" y="211561"/>
                  </a:cubicBezTo>
                  <a:lnTo>
                    <a:pt x="583333" y="15246"/>
                  </a:lnTo>
                  <a:lnTo>
                    <a:pt x="725431" y="15246"/>
                  </a:lnTo>
                  <a:lnTo>
                    <a:pt x="771578" y="211561"/>
                  </a:lnTo>
                  <a:cubicBezTo>
                    <a:pt x="850233" y="232378"/>
                    <a:pt x="921924" y="273768"/>
                    <a:pt x="979279" y="331477"/>
                  </a:cubicBezTo>
                  <a:close/>
                </a:path>
              </a:pathLst>
            </a:custGeom>
          </p:spPr>
          <p:style>
            <a:lnRef idx="2">
              <a:schemeClr val="lt1">
                <a:hueOff val="0"/>
                <a:satOff val="0"/>
                <a:lumOff val="0"/>
                <a:alphaOff val="0"/>
              </a:schemeClr>
            </a:lnRef>
            <a:fillRef idx="1">
              <a:schemeClr val="accent5">
                <a:hueOff val="-1548258"/>
                <a:satOff val="15522"/>
                <a:lumOff val="-10784"/>
                <a:alphaOff val="0"/>
              </a:schemeClr>
            </a:fillRef>
            <a:effectRef idx="0">
              <a:schemeClr val="accent5">
                <a:hueOff val="-1548258"/>
                <a:satOff val="15522"/>
                <a:lumOff val="-10784"/>
                <a:alphaOff val="0"/>
              </a:schemeClr>
            </a:effectRef>
            <a:fontRef idx="minor">
              <a:schemeClr val="lt1"/>
            </a:fontRef>
          </p:style>
          <p:txBody>
            <a:bodyPr spcFirstLastPara="0" vert="horz" wrap="square" lIns="345995" tIns="347987" rIns="345995" bIns="347987" numCol="1" spcCol="1270" anchor="ctr" anchorCtr="0">
              <a:noAutofit/>
            </a:bodyPr>
            <a:lstStyle/>
            <a:p>
              <a:pPr lvl="0" algn="ctr" defTabSz="577850">
                <a:lnSpc>
                  <a:spcPct val="90000"/>
                </a:lnSpc>
                <a:spcBef>
                  <a:spcPct val="0"/>
                </a:spcBef>
                <a:spcAft>
                  <a:spcPct val="35000"/>
                </a:spcAft>
              </a:pPr>
              <a:r>
                <a:rPr lang="en-US" sz="1300" kern="1200" dirty="0" smtClean="0">
                  <a:latin typeface="Helvetica" pitchFamily="34" charset="0"/>
                </a:rPr>
                <a:t>Running sheet</a:t>
              </a:r>
              <a:endParaRPr lang="en-AU" sz="1300" kern="1200" dirty="0"/>
            </a:p>
          </p:txBody>
        </p:sp>
        <p:sp>
          <p:nvSpPr>
            <p:cNvPr id="11" name="Freeform 10"/>
            <p:cNvSpPr/>
            <p:nvPr/>
          </p:nvSpPr>
          <p:spPr>
            <a:xfrm>
              <a:off x="3302264" y="2852935"/>
              <a:ext cx="1570518" cy="1570518"/>
            </a:xfrm>
            <a:custGeom>
              <a:avLst/>
              <a:gdLst>
                <a:gd name="connsiteX0" fmla="*/ 959494 w 1282322"/>
                <a:gd name="connsiteY0" fmla="*/ 324780 h 1282322"/>
                <a:gd name="connsiteX1" fmla="*/ 1148679 w 1282322"/>
                <a:gd name="connsiteY1" fmla="*/ 267762 h 1282322"/>
                <a:gd name="connsiteX2" fmla="*/ 1218293 w 1282322"/>
                <a:gd name="connsiteY2" fmla="*/ 388336 h 1282322"/>
                <a:gd name="connsiteX3" fmla="*/ 1074322 w 1282322"/>
                <a:gd name="connsiteY3" fmla="*/ 523668 h 1282322"/>
                <a:gd name="connsiteX4" fmla="*/ 1074322 w 1282322"/>
                <a:gd name="connsiteY4" fmla="*/ 758655 h 1282322"/>
                <a:gd name="connsiteX5" fmla="*/ 1218293 w 1282322"/>
                <a:gd name="connsiteY5" fmla="*/ 893986 h 1282322"/>
                <a:gd name="connsiteX6" fmla="*/ 1148679 w 1282322"/>
                <a:gd name="connsiteY6" fmla="*/ 1014560 h 1282322"/>
                <a:gd name="connsiteX7" fmla="*/ 959494 w 1282322"/>
                <a:gd name="connsiteY7" fmla="*/ 957542 h 1282322"/>
                <a:gd name="connsiteX8" fmla="*/ 755989 w 1282322"/>
                <a:gd name="connsiteY8" fmla="*/ 1075035 h 1282322"/>
                <a:gd name="connsiteX9" fmla="*/ 710774 w 1282322"/>
                <a:gd name="connsiteY9" fmla="*/ 1267384 h 1282322"/>
                <a:gd name="connsiteX10" fmla="*/ 571548 w 1282322"/>
                <a:gd name="connsiteY10" fmla="*/ 1267384 h 1282322"/>
                <a:gd name="connsiteX11" fmla="*/ 526333 w 1282322"/>
                <a:gd name="connsiteY11" fmla="*/ 1075036 h 1282322"/>
                <a:gd name="connsiteX12" fmla="*/ 322828 w 1282322"/>
                <a:gd name="connsiteY12" fmla="*/ 957543 h 1282322"/>
                <a:gd name="connsiteX13" fmla="*/ 133643 w 1282322"/>
                <a:gd name="connsiteY13" fmla="*/ 1014560 h 1282322"/>
                <a:gd name="connsiteX14" fmla="*/ 64029 w 1282322"/>
                <a:gd name="connsiteY14" fmla="*/ 893986 h 1282322"/>
                <a:gd name="connsiteX15" fmla="*/ 208000 w 1282322"/>
                <a:gd name="connsiteY15" fmla="*/ 758654 h 1282322"/>
                <a:gd name="connsiteX16" fmla="*/ 208000 w 1282322"/>
                <a:gd name="connsiteY16" fmla="*/ 523667 h 1282322"/>
                <a:gd name="connsiteX17" fmla="*/ 64029 w 1282322"/>
                <a:gd name="connsiteY17" fmla="*/ 388336 h 1282322"/>
                <a:gd name="connsiteX18" fmla="*/ 133643 w 1282322"/>
                <a:gd name="connsiteY18" fmla="*/ 267762 h 1282322"/>
                <a:gd name="connsiteX19" fmla="*/ 322828 w 1282322"/>
                <a:gd name="connsiteY19" fmla="*/ 324780 h 1282322"/>
                <a:gd name="connsiteX20" fmla="*/ 526333 w 1282322"/>
                <a:gd name="connsiteY20" fmla="*/ 207287 h 1282322"/>
                <a:gd name="connsiteX21" fmla="*/ 571548 w 1282322"/>
                <a:gd name="connsiteY21" fmla="*/ 14938 h 1282322"/>
                <a:gd name="connsiteX22" fmla="*/ 710774 w 1282322"/>
                <a:gd name="connsiteY22" fmla="*/ 14938 h 1282322"/>
                <a:gd name="connsiteX23" fmla="*/ 755989 w 1282322"/>
                <a:gd name="connsiteY23" fmla="*/ 207286 h 1282322"/>
                <a:gd name="connsiteX24" fmla="*/ 959494 w 1282322"/>
                <a:gd name="connsiteY24" fmla="*/ 324779 h 1282322"/>
                <a:gd name="connsiteX25" fmla="*/ 959494 w 1282322"/>
                <a:gd name="connsiteY25" fmla="*/ 324780 h 1282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2322" h="1282322">
                  <a:moveTo>
                    <a:pt x="825363" y="324368"/>
                  </a:moveTo>
                  <a:lnTo>
                    <a:pt x="962519" y="239420"/>
                  </a:lnTo>
                  <a:lnTo>
                    <a:pt x="1042902" y="319802"/>
                  </a:lnTo>
                  <a:lnTo>
                    <a:pt x="957955" y="456960"/>
                  </a:lnTo>
                  <a:cubicBezTo>
                    <a:pt x="990673" y="513229"/>
                    <a:pt x="1007813" y="577198"/>
                    <a:pt x="1007614" y="642288"/>
                  </a:cubicBezTo>
                  <a:lnTo>
                    <a:pt x="1149759" y="718595"/>
                  </a:lnTo>
                  <a:lnTo>
                    <a:pt x="1120336" y="828400"/>
                  </a:lnTo>
                  <a:lnTo>
                    <a:pt x="959081" y="823411"/>
                  </a:lnTo>
                  <a:cubicBezTo>
                    <a:pt x="926710" y="879881"/>
                    <a:pt x="879881" y="926709"/>
                    <a:pt x="823411" y="959080"/>
                  </a:cubicBezTo>
                  <a:lnTo>
                    <a:pt x="828399" y="1120336"/>
                  </a:lnTo>
                  <a:lnTo>
                    <a:pt x="718595" y="1149758"/>
                  </a:lnTo>
                  <a:lnTo>
                    <a:pt x="642288" y="1007613"/>
                  </a:lnTo>
                  <a:cubicBezTo>
                    <a:pt x="577197" y="1007813"/>
                    <a:pt x="513229" y="990673"/>
                    <a:pt x="456959" y="957955"/>
                  </a:cubicBezTo>
                  <a:lnTo>
                    <a:pt x="319803" y="1042902"/>
                  </a:lnTo>
                  <a:lnTo>
                    <a:pt x="239420" y="962520"/>
                  </a:lnTo>
                  <a:lnTo>
                    <a:pt x="324367" y="825362"/>
                  </a:lnTo>
                  <a:cubicBezTo>
                    <a:pt x="291649" y="769093"/>
                    <a:pt x="274509" y="705124"/>
                    <a:pt x="274708" y="640034"/>
                  </a:cubicBezTo>
                  <a:lnTo>
                    <a:pt x="132563" y="563727"/>
                  </a:lnTo>
                  <a:lnTo>
                    <a:pt x="161986" y="453922"/>
                  </a:lnTo>
                  <a:lnTo>
                    <a:pt x="323241" y="458911"/>
                  </a:lnTo>
                  <a:cubicBezTo>
                    <a:pt x="355612" y="402441"/>
                    <a:pt x="402441" y="355613"/>
                    <a:pt x="458911" y="323242"/>
                  </a:cubicBezTo>
                  <a:lnTo>
                    <a:pt x="453923" y="161986"/>
                  </a:lnTo>
                  <a:lnTo>
                    <a:pt x="563727" y="132564"/>
                  </a:lnTo>
                  <a:lnTo>
                    <a:pt x="640034" y="274709"/>
                  </a:lnTo>
                  <a:cubicBezTo>
                    <a:pt x="705125" y="274509"/>
                    <a:pt x="769093" y="291649"/>
                    <a:pt x="825363" y="324367"/>
                  </a:cubicBezTo>
                  <a:lnTo>
                    <a:pt x="825363" y="324368"/>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441859" tIns="441859" rIns="441859" bIns="441859" numCol="1" spcCol="1270" anchor="ctr" anchorCtr="0">
              <a:noAutofit/>
            </a:bodyPr>
            <a:lstStyle/>
            <a:p>
              <a:pPr lvl="0" algn="ctr" defTabSz="577850">
                <a:lnSpc>
                  <a:spcPct val="90000"/>
                </a:lnSpc>
                <a:spcBef>
                  <a:spcPct val="0"/>
                </a:spcBef>
                <a:spcAft>
                  <a:spcPct val="35000"/>
                </a:spcAft>
              </a:pPr>
              <a:r>
                <a:rPr lang="en-US" sz="1300" kern="1200" dirty="0" smtClean="0">
                  <a:latin typeface="Helvetica" pitchFamily="34" charset="0"/>
                </a:rPr>
                <a:t>Rooming lists </a:t>
              </a:r>
              <a:endParaRPr lang="en-AU" sz="1300" kern="1200" dirty="0"/>
            </a:p>
          </p:txBody>
        </p:sp>
        <p:sp>
          <p:nvSpPr>
            <p:cNvPr id="12" name="Circular Arrow 11"/>
            <p:cNvSpPr/>
            <p:nvPr/>
          </p:nvSpPr>
          <p:spPr>
            <a:xfrm>
              <a:off x="3612099" y="4059309"/>
              <a:ext cx="2303426" cy="2303426"/>
            </a:xfrm>
            <a:prstGeom prst="circularArrow">
              <a:avLst>
                <a:gd name="adj1" fmla="val 4688"/>
                <a:gd name="adj2" fmla="val 299029"/>
                <a:gd name="adj3" fmla="val 2489303"/>
                <a:gd name="adj4" fmla="val 15920406"/>
                <a:gd name="adj5" fmla="val 5469"/>
              </a:avLst>
            </a:prstGeom>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13" name="Shape 12"/>
            <p:cNvSpPr/>
            <p:nvPr/>
          </p:nvSpPr>
          <p:spPr>
            <a:xfrm>
              <a:off x="2481540" y="3614326"/>
              <a:ext cx="1673582" cy="1673582"/>
            </a:xfrm>
            <a:prstGeom prst="leftCircularArrow">
              <a:avLst>
                <a:gd name="adj1" fmla="val 6452"/>
                <a:gd name="adj2" fmla="val 429999"/>
                <a:gd name="adj3" fmla="val 10489124"/>
                <a:gd name="adj4" fmla="val 14837806"/>
                <a:gd name="adj5" fmla="val 7527"/>
              </a:avLst>
            </a:prstGeom>
          </p:spPr>
          <p:style>
            <a:lnRef idx="0">
              <a:schemeClr val="lt1">
                <a:hueOff val="0"/>
                <a:satOff val="0"/>
                <a:lumOff val="0"/>
                <a:alphaOff val="0"/>
              </a:schemeClr>
            </a:lnRef>
            <a:fillRef idx="1">
              <a:schemeClr val="accent5">
                <a:hueOff val="-1548258"/>
                <a:satOff val="15522"/>
                <a:lumOff val="-10784"/>
                <a:alphaOff val="0"/>
              </a:schemeClr>
            </a:fillRef>
            <a:effectRef idx="0">
              <a:schemeClr val="accent5">
                <a:hueOff val="-1548258"/>
                <a:satOff val="15522"/>
                <a:lumOff val="-10784"/>
                <a:alphaOff val="0"/>
              </a:schemeClr>
            </a:effectRef>
            <a:fontRef idx="minor">
              <a:schemeClr val="lt1"/>
            </a:fontRef>
          </p:style>
        </p:sp>
        <p:sp>
          <p:nvSpPr>
            <p:cNvPr id="14" name="Circular Arrow 13"/>
            <p:cNvSpPr/>
            <p:nvPr/>
          </p:nvSpPr>
          <p:spPr>
            <a:xfrm>
              <a:off x="3149748" y="2720116"/>
              <a:ext cx="1804459" cy="1804459"/>
            </a:xfrm>
            <a:prstGeom prst="circularArrow">
              <a:avLst>
                <a:gd name="adj1" fmla="val 5984"/>
                <a:gd name="adj2" fmla="val 394124"/>
                <a:gd name="adj3" fmla="val 13313824"/>
                <a:gd name="adj4" fmla="val 10508221"/>
                <a:gd name="adj5" fmla="val 6981"/>
              </a:avLst>
            </a:prstGeom>
          </p:spPr>
          <p:style>
            <a:lnRef idx="0">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sp>
      </p:gr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It is an important requirement for the staff to have all the documentation necessary to successfully manage the tour. The documentation might include: </a:t>
            </a:r>
          </a:p>
          <a:p>
            <a:pPr marL="360000" indent="-360000">
              <a:spcBef>
                <a:spcPts val="600"/>
              </a:spcBef>
              <a:spcAft>
                <a:spcPts val="1200"/>
              </a:spcAft>
            </a:pPr>
            <a:r>
              <a:rPr lang="en-US" sz="2200" dirty="0" smtClean="0">
                <a:latin typeface="Helvetica" pitchFamily="34" charset="0"/>
              </a:rPr>
              <a:t>Information and forms to forward to the organisation such as:</a:t>
            </a:r>
          </a:p>
          <a:p>
            <a:pPr marL="711200" indent="-358775">
              <a:spcBef>
                <a:spcPts val="600"/>
              </a:spcBef>
              <a:spcAft>
                <a:spcPts val="1200"/>
              </a:spcAft>
              <a:buClr>
                <a:srgbClr val="7FD13B"/>
              </a:buClr>
              <a:buSzPct val="100000"/>
              <a:buFont typeface="Arial" panose="020B0604020202020204" pitchFamily="34" charset="0"/>
              <a:buChar char="•"/>
            </a:pPr>
            <a:r>
              <a:rPr lang="en-US" sz="2200" dirty="0" smtClean="0">
                <a:latin typeface="Helvetica" pitchFamily="34" charset="0"/>
              </a:rPr>
              <a:t>Invoices</a:t>
            </a:r>
          </a:p>
          <a:p>
            <a:pPr marL="711200" indent="-358775">
              <a:spcBef>
                <a:spcPts val="600"/>
              </a:spcBef>
              <a:spcAft>
                <a:spcPts val="1200"/>
              </a:spcAft>
              <a:buClr>
                <a:srgbClr val="7FD13B"/>
              </a:buClr>
              <a:buSzPct val="100000"/>
              <a:buFont typeface="Arial" panose="020B0604020202020204" pitchFamily="34" charset="0"/>
              <a:buChar char="•"/>
            </a:pPr>
            <a:r>
              <a:rPr lang="en-US" sz="2200" dirty="0" smtClean="0">
                <a:latin typeface="Helvetica" pitchFamily="34" charset="0"/>
              </a:rPr>
              <a:t>Payment receipts </a:t>
            </a:r>
          </a:p>
          <a:p>
            <a:pPr marL="0" indent="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sp>
        <p:nvSpPr>
          <p:cNvPr id="7" name="Title 1"/>
          <p:cNvSpPr>
            <a:spLocks noGrp="1"/>
          </p:cNvSpPr>
          <p:nvPr>
            <p:ph type="title"/>
          </p:nvPr>
        </p:nvSpPr>
        <p:spPr>
          <a:xfrm>
            <a:off x="611560" y="332656"/>
            <a:ext cx="7467600" cy="1224136"/>
          </a:xfrm>
        </p:spPr>
        <p:txBody>
          <a:bodyPr>
            <a:normAutofit/>
          </a:bodyPr>
          <a:lstStyle/>
          <a:p>
            <a:pPr marL="714375" indent="-714375"/>
            <a:r>
              <a:rPr lang="en-US" sz="3400" b="1" dirty="0" smtClean="0">
                <a:solidFill>
                  <a:srgbClr val="FF6600"/>
                </a:solidFill>
                <a:latin typeface="Helvetica" pitchFamily="34" charset="0"/>
              </a:rPr>
              <a:t>3.1	Provide tour details to support staff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55976" y="3562138"/>
            <a:ext cx="2058495" cy="1365872"/>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24136"/>
          </a:xfrm>
        </p:spPr>
        <p:txBody>
          <a:bodyPr>
            <a:normAutofit/>
          </a:bodyPr>
          <a:lstStyle/>
          <a:p>
            <a:pPr marL="714375" indent="-714375"/>
            <a:r>
              <a:rPr lang="en-US" sz="3400" b="1" dirty="0" smtClean="0">
                <a:solidFill>
                  <a:srgbClr val="FF6600"/>
                </a:solidFill>
                <a:latin typeface="Helvetica" pitchFamily="34" charset="0"/>
              </a:rPr>
              <a:t>3.2	Provide resources to support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fontScale="85000" lnSpcReduction="20000"/>
          </a:bodyPr>
          <a:lstStyle/>
          <a:p>
            <a:pPr marL="0" indent="0">
              <a:spcBef>
                <a:spcPts val="600"/>
              </a:spcBef>
              <a:spcAft>
                <a:spcPts val="1200"/>
              </a:spcAft>
              <a:buNone/>
            </a:pPr>
            <a:r>
              <a:rPr lang="en-US" sz="2200" dirty="0" smtClean="0">
                <a:latin typeface="Helvetica" pitchFamily="34" charset="0"/>
              </a:rPr>
              <a:t>Resources are indispensable to support a tour and can include:</a:t>
            </a:r>
          </a:p>
          <a:p>
            <a:pPr marL="360000" indent="-360000">
              <a:spcBef>
                <a:spcPts val="600"/>
              </a:spcBef>
              <a:spcAft>
                <a:spcPts val="1200"/>
              </a:spcAft>
            </a:pPr>
            <a:r>
              <a:rPr lang="en-US" sz="2200" dirty="0" smtClean="0">
                <a:latin typeface="Helvetica" pitchFamily="34" charset="0"/>
              </a:rPr>
              <a:t>Documentation: </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Official documentation such as visa, entry permits, licenses , company policies</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Letter of authority</a:t>
            </a:r>
          </a:p>
          <a:p>
            <a:pPr marL="360000" indent="-360000">
              <a:spcBef>
                <a:spcPts val="600"/>
              </a:spcBef>
              <a:spcAft>
                <a:spcPts val="1200"/>
              </a:spcAft>
            </a:pPr>
            <a:r>
              <a:rPr lang="en-US" sz="2200" dirty="0" smtClean="0">
                <a:latin typeface="Helvetica" pitchFamily="34" charset="0"/>
              </a:rPr>
              <a:t> Tour group members specific medical details </a:t>
            </a:r>
          </a:p>
          <a:p>
            <a:pPr marL="360000" indent="-360000">
              <a:spcBef>
                <a:spcPts val="600"/>
              </a:spcBef>
              <a:spcAft>
                <a:spcPts val="1200"/>
              </a:spcAft>
            </a:pPr>
            <a:r>
              <a:rPr lang="en-US" sz="2200" dirty="0" smtClean="0">
                <a:latin typeface="Helvetica" pitchFamily="34" charset="0"/>
              </a:rPr>
              <a:t>Vouchers, tickets</a:t>
            </a:r>
          </a:p>
          <a:p>
            <a:pPr marL="360000" indent="-360000">
              <a:spcBef>
                <a:spcPts val="600"/>
              </a:spcBef>
              <a:spcAft>
                <a:spcPts val="1200"/>
              </a:spcAft>
            </a:pPr>
            <a:r>
              <a:rPr lang="en-US" sz="2200" dirty="0" smtClean="0">
                <a:latin typeface="Helvetica" pitchFamily="34" charset="0"/>
              </a:rPr>
              <a:t>Tour schedule, detailed timetable , maps</a:t>
            </a:r>
          </a:p>
          <a:p>
            <a:pPr marL="360000" indent="-360000">
              <a:spcBef>
                <a:spcPts val="600"/>
              </a:spcBef>
              <a:spcAft>
                <a:spcPts val="1200"/>
              </a:spcAft>
            </a:pPr>
            <a:r>
              <a:rPr lang="en-US" sz="2200" dirty="0" smtClean="0">
                <a:latin typeface="Helvetica" pitchFamily="34" charset="0"/>
              </a:rPr>
              <a:t>Industry contacts names and contact numbers</a:t>
            </a:r>
          </a:p>
          <a:p>
            <a:pPr marL="360000" indent="-360000">
              <a:spcBef>
                <a:spcPts val="600"/>
              </a:spcBef>
              <a:spcAft>
                <a:spcPts val="1200"/>
              </a:spcAft>
              <a:buNone/>
            </a:pPr>
            <a:r>
              <a:rPr lang="en-US" sz="2200" dirty="0" smtClean="0">
                <a:latin typeface="Helvetica" pitchFamily="34" charset="0"/>
              </a:rPr>
              <a:t>	 </a:t>
            </a:r>
          </a:p>
          <a:p>
            <a:pPr marL="0" indent="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3212975"/>
            <a:ext cx="2261195" cy="1508217"/>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fontScale="92500"/>
          </a:bodyPr>
          <a:lstStyle/>
          <a:p>
            <a:pPr marL="0" indent="0">
              <a:spcBef>
                <a:spcPts val="600"/>
              </a:spcBef>
              <a:spcAft>
                <a:spcPts val="1200"/>
              </a:spcAft>
              <a:buNone/>
            </a:pPr>
            <a:r>
              <a:rPr lang="en-US" sz="2200" dirty="0" smtClean="0">
                <a:latin typeface="Helvetica" pitchFamily="34" charset="0"/>
              </a:rPr>
              <a:t>Resources are indispensable to support a tour and can include: </a:t>
            </a:r>
          </a:p>
          <a:p>
            <a:pPr marL="360000" indent="-360000">
              <a:spcBef>
                <a:spcPts val="600"/>
              </a:spcBef>
              <a:spcAft>
                <a:spcPts val="1200"/>
              </a:spcAft>
            </a:pPr>
            <a:r>
              <a:rPr lang="en-US" sz="2200" dirty="0" smtClean="0">
                <a:latin typeface="Helvetica" pitchFamily="34" charset="0"/>
              </a:rPr>
              <a:t>Physical resources:</a:t>
            </a:r>
          </a:p>
          <a:p>
            <a:pPr marL="711200" indent="-358775">
              <a:spcBef>
                <a:spcPts val="600"/>
              </a:spcBef>
              <a:spcAft>
                <a:spcPts val="1200"/>
              </a:spcAft>
              <a:buSzPct val="100000"/>
              <a:buFont typeface="Arial" panose="020B0604020202020204" pitchFamily="34" charset="0"/>
              <a:buChar char="•"/>
            </a:pPr>
            <a:r>
              <a:rPr lang="en-US" sz="2200" dirty="0" smtClean="0">
                <a:latin typeface="Helvetica" pitchFamily="34" charset="0"/>
              </a:rPr>
              <a:t>Vehicles</a:t>
            </a:r>
          </a:p>
          <a:p>
            <a:pPr marL="711200" indent="-358775">
              <a:spcBef>
                <a:spcPts val="600"/>
              </a:spcBef>
              <a:spcAft>
                <a:spcPts val="1200"/>
              </a:spcAft>
              <a:buSzPct val="100000"/>
              <a:buFont typeface="Arial" panose="020B0604020202020204" pitchFamily="34" charset="0"/>
              <a:buChar char="•"/>
            </a:pPr>
            <a:r>
              <a:rPr lang="en-US" sz="2200" dirty="0" smtClean="0">
                <a:latin typeface="Helvetica" pitchFamily="34" charset="0"/>
              </a:rPr>
              <a:t>Supplies and equipment: </a:t>
            </a:r>
          </a:p>
          <a:p>
            <a:pPr marL="1071563" indent="-358775">
              <a:spcBef>
                <a:spcPts val="600"/>
              </a:spcBef>
              <a:spcAft>
                <a:spcPts val="1200"/>
              </a:spcAft>
              <a:buFont typeface="Wingdings" panose="05000000000000000000" pitchFamily="2" charset="2"/>
              <a:buChar char="§"/>
            </a:pPr>
            <a:r>
              <a:rPr lang="en-US" sz="2200" dirty="0" smtClean="0">
                <a:latin typeface="Helvetica" pitchFamily="34" charset="0"/>
              </a:rPr>
              <a:t>Food supplies </a:t>
            </a:r>
          </a:p>
          <a:p>
            <a:pPr marL="1071563" indent="-358775">
              <a:spcBef>
                <a:spcPts val="600"/>
              </a:spcBef>
              <a:spcAft>
                <a:spcPts val="1200"/>
              </a:spcAft>
              <a:buFont typeface="Wingdings" panose="05000000000000000000" pitchFamily="2" charset="2"/>
              <a:buChar char="§"/>
            </a:pPr>
            <a:r>
              <a:rPr lang="en-US" sz="2200" dirty="0" smtClean="0">
                <a:latin typeface="Helvetica" pitchFamily="34" charset="0"/>
              </a:rPr>
              <a:t>Phones</a:t>
            </a:r>
          </a:p>
          <a:p>
            <a:pPr marL="1071563" indent="-358775">
              <a:spcBef>
                <a:spcPts val="600"/>
              </a:spcBef>
              <a:spcAft>
                <a:spcPts val="1200"/>
              </a:spcAft>
              <a:buFont typeface="Wingdings" panose="05000000000000000000" pitchFamily="2" charset="2"/>
              <a:buChar char="§"/>
            </a:pPr>
            <a:r>
              <a:rPr lang="en-US" sz="2200" dirty="0" smtClean="0">
                <a:latin typeface="Helvetica" pitchFamily="34" charset="0"/>
              </a:rPr>
              <a:t>DVD</a:t>
            </a:r>
          </a:p>
          <a:p>
            <a:pPr marL="1071563" indent="-358775">
              <a:spcBef>
                <a:spcPts val="600"/>
              </a:spcBef>
              <a:spcAft>
                <a:spcPts val="1200"/>
              </a:spcAft>
              <a:buFont typeface="Wingdings" panose="05000000000000000000" pitchFamily="2" charset="2"/>
              <a:buChar char="§"/>
            </a:pPr>
            <a:r>
              <a:rPr lang="en-US" sz="2200" dirty="0" smtClean="0">
                <a:latin typeface="Helvetica" pitchFamily="34" charset="0"/>
              </a:rPr>
              <a:t>Speakers, music	 </a:t>
            </a:r>
          </a:p>
          <a:p>
            <a:pPr marL="0" indent="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sp>
        <p:nvSpPr>
          <p:cNvPr id="7" name="Title 1"/>
          <p:cNvSpPr>
            <a:spLocks noGrp="1"/>
          </p:cNvSpPr>
          <p:nvPr>
            <p:ph type="title"/>
          </p:nvPr>
        </p:nvSpPr>
        <p:spPr>
          <a:xfrm>
            <a:off x="611560" y="332656"/>
            <a:ext cx="7467600" cy="1224136"/>
          </a:xfrm>
        </p:spPr>
        <p:txBody>
          <a:bodyPr>
            <a:normAutofit/>
          </a:bodyPr>
          <a:lstStyle/>
          <a:p>
            <a:pPr marL="714375" indent="-714375"/>
            <a:r>
              <a:rPr lang="en-US" sz="3400" b="1" dirty="0" smtClean="0">
                <a:solidFill>
                  <a:srgbClr val="FF6600"/>
                </a:solidFill>
                <a:latin typeface="Helvetica" pitchFamily="34" charset="0"/>
              </a:rPr>
              <a:t>3.2	Provide resources to support tour</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4048" y="2492896"/>
            <a:ext cx="2076378" cy="1384944"/>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rmAutofit fontScale="90000"/>
          </a:bodyPr>
          <a:lstStyle/>
          <a:p>
            <a:r>
              <a:rPr lang="en-US" sz="3400" b="1" dirty="0" smtClean="0">
                <a:solidFill>
                  <a:srgbClr val="FF6600"/>
                </a:solidFill>
                <a:latin typeface="Helvetica" pitchFamily="34" charset="0"/>
              </a:rPr>
              <a:t>Element 4:</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Liaise with external industry colleagues throughout the tour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7467600" cy="4093915"/>
          </a:xfrm>
        </p:spPr>
        <p:txBody>
          <a:bodyPr>
            <a:normAutofit/>
          </a:bodyPr>
          <a:lstStyle/>
          <a:p>
            <a:pPr marL="360000" indent="-360000">
              <a:spcBef>
                <a:spcPts val="600"/>
              </a:spcBef>
              <a:spcAft>
                <a:spcPts val="1200"/>
              </a:spcAft>
            </a:pPr>
            <a:r>
              <a:rPr lang="en-US" sz="2200" dirty="0" smtClean="0">
                <a:latin typeface="Helvetica" pitchFamily="34" charset="0"/>
              </a:rPr>
              <a:t>Liaise with industry personnel to facilitate tour implementation </a:t>
            </a:r>
          </a:p>
          <a:p>
            <a:pPr marL="360000" indent="-360000">
              <a:spcBef>
                <a:spcPts val="600"/>
              </a:spcBef>
              <a:spcAft>
                <a:spcPts val="1200"/>
              </a:spcAft>
            </a:pPr>
            <a:r>
              <a:rPr lang="en-US" sz="2200" dirty="0" smtClean="0">
                <a:latin typeface="Helvetica" pitchFamily="34" charset="0"/>
              </a:rPr>
              <a:t>Request assistance, when appropriate</a:t>
            </a:r>
          </a:p>
          <a:p>
            <a:pPr marL="360000" indent="-360000">
              <a:spcBef>
                <a:spcPts val="600"/>
              </a:spcBef>
              <a:spcAft>
                <a:spcPts val="1200"/>
              </a:spcAft>
            </a:pPr>
            <a:r>
              <a:rPr lang="en-US" sz="2200" dirty="0" smtClean="0">
                <a:latin typeface="Helvetica" pitchFamily="34" charset="0"/>
              </a:rPr>
              <a:t>Make on tour agreements with organisations to respond to issues arising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4128" y="4149080"/>
            <a:ext cx="2616168" cy="1744984"/>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96144"/>
          </a:xfrm>
        </p:spPr>
        <p:txBody>
          <a:bodyPr>
            <a:noAutofit/>
          </a:bodyPr>
          <a:lstStyle/>
          <a:p>
            <a:pPr marL="714375" indent="-714375"/>
            <a:r>
              <a:rPr lang="en-US" sz="3400" b="1" dirty="0" smtClean="0">
                <a:solidFill>
                  <a:srgbClr val="FF6600"/>
                </a:solidFill>
                <a:latin typeface="Helvetica" pitchFamily="34" charset="0"/>
              </a:rPr>
              <a:t>4.1	Liaise with industry personnel to facilitate tour implementation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0" indent="0">
              <a:spcBef>
                <a:spcPts val="600"/>
              </a:spcBef>
              <a:spcAft>
                <a:spcPts val="1200"/>
              </a:spcAft>
              <a:buNone/>
            </a:pPr>
            <a:r>
              <a:rPr lang="en-US" sz="2000" dirty="0" smtClean="0">
                <a:latin typeface="Helvetica" pitchFamily="34" charset="0"/>
              </a:rPr>
              <a:t>A good relationship and positive dialogue is crucial between the staff tour and all industry personnel involved and might involve: </a:t>
            </a:r>
          </a:p>
          <a:p>
            <a:pPr marL="360000" indent="-360000">
              <a:spcBef>
                <a:spcPts val="600"/>
              </a:spcBef>
              <a:spcAft>
                <a:spcPts val="1200"/>
              </a:spcAft>
            </a:pPr>
            <a:r>
              <a:rPr lang="en-US" sz="2000" dirty="0" smtClean="0">
                <a:latin typeface="Helvetica" pitchFamily="34" charset="0"/>
              </a:rPr>
              <a:t>Enquiring about a specific topic, request </a:t>
            </a:r>
          </a:p>
          <a:p>
            <a:pPr marL="360000" indent="-360000">
              <a:spcBef>
                <a:spcPts val="600"/>
              </a:spcBef>
              <a:spcAft>
                <a:spcPts val="1200"/>
              </a:spcAft>
            </a:pPr>
            <a:r>
              <a:rPr lang="en-US" sz="2000" dirty="0" smtClean="0">
                <a:latin typeface="Helvetica" pitchFamily="34" charset="0"/>
              </a:rPr>
              <a:t>Confirm all details required to deliver the </a:t>
            </a:r>
            <a:br>
              <a:rPr lang="en-US" sz="2000" dirty="0" smtClean="0">
                <a:latin typeface="Helvetica" pitchFamily="34" charset="0"/>
              </a:rPr>
            </a:br>
            <a:r>
              <a:rPr lang="en-US" sz="2000" dirty="0" smtClean="0">
                <a:latin typeface="Helvetica" pitchFamily="34" charset="0"/>
              </a:rPr>
              <a:t>products and service </a:t>
            </a:r>
          </a:p>
          <a:p>
            <a:pPr marL="360000" indent="-360000">
              <a:spcBef>
                <a:spcPts val="600"/>
              </a:spcBef>
              <a:spcAft>
                <a:spcPts val="1200"/>
              </a:spcAft>
            </a:pPr>
            <a:r>
              <a:rPr lang="en-US" sz="2000" dirty="0" smtClean="0">
                <a:latin typeface="Helvetica" pitchFamily="34" charset="0"/>
              </a:rPr>
              <a:t>Forward bookings </a:t>
            </a:r>
          </a:p>
          <a:p>
            <a:pPr marL="0" indent="0">
              <a:spcBef>
                <a:spcPts val="600"/>
              </a:spcBef>
              <a:spcAft>
                <a:spcPts val="1200"/>
              </a:spcAft>
              <a:buNone/>
            </a:pPr>
            <a:r>
              <a:rPr lang="en-US" sz="2000" dirty="0" smtClean="0">
                <a:latin typeface="Helvetica" pitchFamily="34" charset="0"/>
              </a:rPr>
              <a:t>Make sure all the information shared is clear, easy to understand.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13934" y="2852936"/>
            <a:ext cx="1296144" cy="1903296"/>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4375" indent="-714375"/>
            <a:r>
              <a:rPr lang="en-US" sz="3400" b="1" dirty="0" smtClean="0">
                <a:solidFill>
                  <a:srgbClr val="FF6600"/>
                </a:solidFill>
                <a:latin typeface="Helvetica" pitchFamily="34" charset="0"/>
              </a:rPr>
              <a:t>4.2	Request assistance, where appropriate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Specialist advice might be required at some point in time: </a:t>
            </a:r>
          </a:p>
          <a:p>
            <a:pPr marL="360000" indent="-360000">
              <a:spcBef>
                <a:spcPts val="600"/>
              </a:spcBef>
              <a:spcAft>
                <a:spcPts val="1200"/>
              </a:spcAft>
            </a:pPr>
            <a:r>
              <a:rPr lang="en-US" sz="2200" dirty="0" smtClean="0">
                <a:latin typeface="Helvetica" pitchFamily="34" charset="0"/>
              </a:rPr>
              <a:t>Advice, recommendations, suggestions</a:t>
            </a:r>
          </a:p>
          <a:p>
            <a:pPr marL="360000" indent="-360000">
              <a:spcBef>
                <a:spcPts val="600"/>
              </a:spcBef>
              <a:spcAft>
                <a:spcPts val="1200"/>
              </a:spcAft>
            </a:pPr>
            <a:r>
              <a:rPr lang="en-US" sz="2200" dirty="0" smtClean="0">
                <a:latin typeface="Helvetica" pitchFamily="34" charset="0"/>
              </a:rPr>
              <a:t>Negotiating changes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3933056"/>
            <a:ext cx="2400252" cy="1600968"/>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728192"/>
          </a:xfrm>
        </p:spPr>
        <p:txBody>
          <a:bodyPr>
            <a:noAutofit/>
          </a:bodyPr>
          <a:lstStyle/>
          <a:p>
            <a:pPr marL="714375" indent="-714375"/>
            <a:r>
              <a:rPr lang="en-US" sz="3200" b="1" dirty="0" smtClean="0">
                <a:solidFill>
                  <a:srgbClr val="FF6600"/>
                </a:solidFill>
                <a:latin typeface="Helvetica" pitchFamily="34" charset="0"/>
              </a:rPr>
              <a:t>4.3	Make on tour arrangements with organisations to respond to issues arising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2132856"/>
            <a:ext cx="7467600" cy="3949899"/>
          </a:xfrm>
        </p:spPr>
        <p:txBody>
          <a:bodyPr>
            <a:normAutofit/>
          </a:bodyPr>
          <a:lstStyle/>
          <a:p>
            <a:pPr marL="360000" indent="-360000">
              <a:spcBef>
                <a:spcPts val="600"/>
              </a:spcBef>
              <a:spcAft>
                <a:spcPts val="1200"/>
              </a:spcAft>
              <a:buNone/>
            </a:pPr>
            <a:r>
              <a:rPr lang="en-US" sz="2200" b="1" i="1" dirty="0" smtClean="0">
                <a:latin typeface="Helvetica" pitchFamily="34" charset="0"/>
              </a:rPr>
              <a:t>What is an issue? 	</a:t>
            </a:r>
          </a:p>
          <a:p>
            <a:pPr marL="360000" indent="-360000">
              <a:spcBef>
                <a:spcPts val="600"/>
              </a:spcBef>
              <a:spcAft>
                <a:spcPts val="1200"/>
              </a:spcAft>
              <a:buNone/>
            </a:pPr>
            <a:r>
              <a:rPr lang="en-US" sz="2200" dirty="0" smtClean="0">
                <a:latin typeface="Helvetica" pitchFamily="34" charset="0"/>
              </a:rPr>
              <a:t>Different issues demand different arrangements:</a:t>
            </a:r>
          </a:p>
          <a:p>
            <a:pPr marL="360000" indent="-360000">
              <a:spcBef>
                <a:spcPts val="600"/>
              </a:spcBef>
              <a:spcAft>
                <a:spcPts val="1200"/>
              </a:spcAft>
            </a:pPr>
            <a:r>
              <a:rPr lang="en-US" sz="2200" dirty="0" smtClean="0">
                <a:latin typeface="Helvetica" pitchFamily="34" charset="0"/>
              </a:rPr>
              <a:t>Re-negotiation of contractual agreements</a:t>
            </a:r>
          </a:p>
          <a:p>
            <a:pPr marL="360000" indent="-360000">
              <a:spcBef>
                <a:spcPts val="600"/>
              </a:spcBef>
              <a:spcAft>
                <a:spcPts val="1200"/>
              </a:spcAft>
            </a:pPr>
            <a:r>
              <a:rPr lang="en-US" sz="2200" dirty="0" smtClean="0">
                <a:latin typeface="Helvetica" pitchFamily="34" charset="0"/>
              </a:rPr>
              <a:t>New contractual agreements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0191" y="3140968"/>
            <a:ext cx="1932575" cy="1956048"/>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24136"/>
          </a:xfrm>
        </p:spPr>
        <p:txBody>
          <a:bodyPr>
            <a:normAutofit/>
          </a:bodyPr>
          <a:lstStyle/>
          <a:p>
            <a:r>
              <a:rPr lang="en-US" sz="3400" b="1" dirty="0" smtClean="0">
                <a:solidFill>
                  <a:srgbClr val="FF6600"/>
                </a:solidFill>
                <a:latin typeface="Helvetica" pitchFamily="34" charset="0"/>
              </a:rPr>
              <a:t>Element 5:</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Manage on tour itinerary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608512"/>
          </a:xfrm>
        </p:spPr>
        <p:txBody>
          <a:bodyPr>
            <a:normAutofit/>
          </a:bodyPr>
          <a:lstStyle/>
          <a:p>
            <a:pPr marL="360000" indent="-360000">
              <a:spcBef>
                <a:spcPts val="600"/>
              </a:spcBef>
              <a:spcAft>
                <a:spcPts val="1200"/>
              </a:spcAft>
            </a:pPr>
            <a:r>
              <a:rPr lang="en-US" sz="2000" dirty="0" smtClean="0">
                <a:latin typeface="Helvetica" pitchFamily="34" charset="0"/>
              </a:rPr>
              <a:t>Facilitate conduct of the tour schedule</a:t>
            </a:r>
          </a:p>
          <a:p>
            <a:pPr marL="360000" indent="-360000">
              <a:spcBef>
                <a:spcPts val="600"/>
              </a:spcBef>
              <a:spcAft>
                <a:spcPts val="1200"/>
              </a:spcAft>
            </a:pPr>
            <a:r>
              <a:rPr lang="en-US" sz="2000" dirty="0" smtClean="0">
                <a:latin typeface="Helvetica" pitchFamily="34" charset="0"/>
              </a:rPr>
              <a:t>Advise tour staff regarding issues arising</a:t>
            </a:r>
          </a:p>
          <a:p>
            <a:pPr marL="360000" indent="-360000">
              <a:spcBef>
                <a:spcPts val="600"/>
              </a:spcBef>
              <a:spcAft>
                <a:spcPts val="1200"/>
              </a:spcAft>
            </a:pPr>
            <a:r>
              <a:rPr lang="en-US" sz="2000" dirty="0" smtClean="0">
                <a:latin typeface="Helvetica" pitchFamily="34" charset="0"/>
              </a:rPr>
              <a:t>Re-plan itinerary as required</a:t>
            </a:r>
          </a:p>
          <a:p>
            <a:pPr marL="360000" indent="-360000">
              <a:spcBef>
                <a:spcPts val="600"/>
              </a:spcBef>
              <a:spcAft>
                <a:spcPts val="1200"/>
              </a:spcAft>
            </a:pPr>
            <a:r>
              <a:rPr lang="en-US" sz="2000" dirty="0" smtClean="0">
                <a:latin typeface="Helvetica" pitchFamily="34" charset="0"/>
              </a:rPr>
              <a:t>Maintain contact with those responsible for those responsible for resolving on tour issues</a:t>
            </a:r>
          </a:p>
          <a:p>
            <a:pPr marL="360000" indent="-360000">
              <a:spcBef>
                <a:spcPts val="600"/>
              </a:spcBef>
              <a:spcAft>
                <a:spcPts val="1200"/>
              </a:spcAft>
            </a:pPr>
            <a:r>
              <a:rPr lang="en-US" sz="2000" dirty="0" smtClean="0">
                <a:latin typeface="Helvetica" pitchFamily="34" charset="0"/>
              </a:rPr>
              <a:t>Advise industry colleagues regarding </a:t>
            </a:r>
            <a:br>
              <a:rPr lang="en-US" sz="2000" dirty="0" smtClean="0">
                <a:latin typeface="Helvetica" pitchFamily="34" charset="0"/>
              </a:rPr>
            </a:br>
            <a:r>
              <a:rPr lang="en-US" sz="2000" dirty="0" smtClean="0">
                <a:latin typeface="Helvetica" pitchFamily="34" charset="0"/>
              </a:rPr>
              <a:t>tour changes</a:t>
            </a:r>
          </a:p>
          <a:p>
            <a:pPr marL="360000" indent="-360000">
              <a:spcBef>
                <a:spcPts val="600"/>
              </a:spcBef>
              <a:spcAft>
                <a:spcPts val="1200"/>
              </a:spcAft>
            </a:pPr>
            <a:r>
              <a:rPr lang="en-US" sz="2000" dirty="0" smtClean="0">
                <a:latin typeface="Helvetica" pitchFamily="34" charset="0"/>
              </a:rPr>
              <a:t>Monitor the tour area </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6136" y="4077072"/>
            <a:ext cx="2616168" cy="1744984"/>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467600" cy="1224136"/>
          </a:xfrm>
        </p:spPr>
        <p:txBody>
          <a:bodyPr>
            <a:normAutofit/>
          </a:bodyPr>
          <a:lstStyle/>
          <a:p>
            <a:pPr marL="714375" indent="-714375"/>
            <a:r>
              <a:rPr lang="en-US" sz="3400" b="1" dirty="0" smtClean="0">
                <a:solidFill>
                  <a:srgbClr val="FF6600"/>
                </a:solidFill>
                <a:latin typeface="Helvetica" pitchFamily="34" charset="0"/>
              </a:rPr>
              <a:t>5.1	Facilitate conduct of the tour schedule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buNone/>
            </a:pPr>
            <a:r>
              <a:rPr lang="en-US" sz="2200" dirty="0" smtClean="0">
                <a:latin typeface="Helvetica" pitchFamily="34" charset="0"/>
              </a:rPr>
              <a:t>The facilitation can take place in various forms:</a:t>
            </a:r>
          </a:p>
          <a:p>
            <a:pPr marL="360000" indent="-360000">
              <a:spcBef>
                <a:spcPts val="600"/>
              </a:spcBef>
              <a:spcAft>
                <a:spcPts val="1200"/>
              </a:spcAft>
            </a:pPr>
            <a:r>
              <a:rPr lang="en-US" sz="2200" dirty="0" smtClean="0">
                <a:latin typeface="Helvetica" pitchFamily="34" charset="0"/>
              </a:rPr>
              <a:t>Office based assistance</a:t>
            </a:r>
          </a:p>
          <a:p>
            <a:pPr marL="360000" indent="-360000">
              <a:spcBef>
                <a:spcPts val="600"/>
              </a:spcBef>
              <a:spcAft>
                <a:spcPts val="1200"/>
              </a:spcAft>
            </a:pPr>
            <a:r>
              <a:rPr lang="en-US" sz="2200" dirty="0" smtClean="0">
                <a:latin typeface="Helvetica" pitchFamily="34" charset="0"/>
              </a:rPr>
              <a:t>Communication and </a:t>
            </a:r>
            <a:br>
              <a:rPr lang="en-US" sz="2200" dirty="0" smtClean="0">
                <a:latin typeface="Helvetica" pitchFamily="34" charset="0"/>
              </a:rPr>
            </a:br>
            <a:r>
              <a:rPr lang="en-US" sz="2200" dirty="0" smtClean="0">
                <a:latin typeface="Helvetica" pitchFamily="34" charset="0"/>
              </a:rPr>
              <a:t>information management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4048" y="2420888"/>
            <a:ext cx="2564531" cy="255714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844824"/>
            <a:ext cx="7467600" cy="4392488"/>
          </a:xfrm>
        </p:spPr>
        <p:txBody>
          <a:bodyPr>
            <a:normAutofit/>
          </a:bodyPr>
          <a:lstStyle/>
          <a:p>
            <a:pPr marL="360000" indent="-360000">
              <a:spcBef>
                <a:spcPts val="600"/>
              </a:spcBef>
              <a:spcAft>
                <a:spcPts val="1200"/>
              </a:spcAft>
              <a:buNone/>
            </a:pPr>
            <a:r>
              <a:rPr lang="en-US" sz="2200" dirty="0" smtClean="0">
                <a:latin typeface="Helvetica" pitchFamily="34" charset="0"/>
              </a:rPr>
              <a:t>The facilitation can take place in various forms:</a:t>
            </a:r>
          </a:p>
          <a:p>
            <a:pPr marL="360000" indent="-360000">
              <a:spcBef>
                <a:spcPts val="600"/>
              </a:spcBef>
              <a:spcAft>
                <a:spcPts val="1200"/>
              </a:spcAft>
            </a:pPr>
            <a:r>
              <a:rPr lang="en-US" sz="2200" dirty="0" smtClean="0">
                <a:latin typeface="Helvetica" pitchFamily="34" charset="0"/>
              </a:rPr>
              <a:t>Office based assistance:</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Inclusion of all features</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Adherence to schedule</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Complaints resolution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sp>
        <p:nvSpPr>
          <p:cNvPr id="7" name="Title 1"/>
          <p:cNvSpPr>
            <a:spLocks noGrp="1"/>
          </p:cNvSpPr>
          <p:nvPr>
            <p:ph type="title"/>
          </p:nvPr>
        </p:nvSpPr>
        <p:spPr>
          <a:xfrm>
            <a:off x="611560" y="404664"/>
            <a:ext cx="7467600" cy="1224136"/>
          </a:xfrm>
        </p:spPr>
        <p:txBody>
          <a:bodyPr>
            <a:normAutofit/>
          </a:bodyPr>
          <a:lstStyle/>
          <a:p>
            <a:pPr marL="714375" indent="-714375"/>
            <a:r>
              <a:rPr lang="en-US" sz="3400" b="1" dirty="0" smtClean="0">
                <a:solidFill>
                  <a:srgbClr val="FF6600"/>
                </a:solidFill>
                <a:latin typeface="Helvetica" pitchFamily="34" charset="0"/>
              </a:rPr>
              <a:t>5.1	Facilitate conduct of the tour schedule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03415" y="2420888"/>
            <a:ext cx="2611588" cy="2154560"/>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72816"/>
            <a:ext cx="7467600" cy="4680520"/>
          </a:xfrm>
        </p:spPr>
        <p:txBody>
          <a:bodyPr>
            <a:normAutofit/>
          </a:bodyPr>
          <a:lstStyle/>
          <a:p>
            <a:pPr marL="360000" indent="-360000">
              <a:spcBef>
                <a:spcPts val="600"/>
              </a:spcBef>
              <a:spcAft>
                <a:spcPts val="1200"/>
              </a:spcAft>
              <a:buNone/>
            </a:pPr>
            <a:r>
              <a:rPr lang="en-US" sz="2200" dirty="0" smtClean="0">
                <a:latin typeface="Helvetica" pitchFamily="34" charset="0"/>
              </a:rPr>
              <a:t>The facilitation can take place in various forms:</a:t>
            </a:r>
          </a:p>
          <a:p>
            <a:pPr marL="360000" indent="-360000">
              <a:spcBef>
                <a:spcPts val="600"/>
              </a:spcBef>
              <a:spcAft>
                <a:spcPts val="1200"/>
              </a:spcAft>
            </a:pPr>
            <a:r>
              <a:rPr lang="en-US" sz="2200" dirty="0" smtClean="0">
                <a:latin typeface="Helvetica" pitchFamily="34" charset="0"/>
              </a:rPr>
              <a:t>Communication and information management:</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Acting on behalf of tour leaders/guides</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Supplying requested information</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Making payments if required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sp>
        <p:nvSpPr>
          <p:cNvPr id="7" name="Title 1"/>
          <p:cNvSpPr>
            <a:spLocks noGrp="1"/>
          </p:cNvSpPr>
          <p:nvPr>
            <p:ph type="title"/>
          </p:nvPr>
        </p:nvSpPr>
        <p:spPr>
          <a:xfrm>
            <a:off x="611560" y="404664"/>
            <a:ext cx="7467600" cy="1224136"/>
          </a:xfrm>
        </p:spPr>
        <p:txBody>
          <a:bodyPr>
            <a:normAutofit/>
          </a:bodyPr>
          <a:lstStyle/>
          <a:p>
            <a:pPr marL="714375" indent="-714375"/>
            <a:r>
              <a:rPr lang="en-US" sz="3400" b="1" dirty="0" smtClean="0">
                <a:solidFill>
                  <a:srgbClr val="FF6600"/>
                </a:solidFill>
                <a:latin typeface="Helvetica" pitchFamily="34" charset="0"/>
              </a:rPr>
              <a:t>5.1	Facilitate conduct of the tour schedule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3717032"/>
            <a:ext cx="2313224" cy="1586872"/>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5.2	Advise tour staff regarding issues arising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056784" cy="4237931"/>
          </a:xfrm>
        </p:spPr>
        <p:txBody>
          <a:bodyPr>
            <a:normAutofit/>
          </a:bodyPr>
          <a:lstStyle/>
          <a:p>
            <a:pPr marL="0" indent="0">
              <a:spcBef>
                <a:spcPts val="600"/>
              </a:spcBef>
              <a:spcAft>
                <a:spcPts val="1200"/>
              </a:spcAft>
              <a:buNone/>
            </a:pPr>
            <a:r>
              <a:rPr lang="en-US" sz="2200" dirty="0" smtClean="0">
                <a:latin typeface="Helvetica" pitchFamily="34" charset="0"/>
              </a:rPr>
              <a:t>Tour staff must be informed of any issues arising as soon as possible.</a:t>
            </a:r>
          </a:p>
          <a:p>
            <a:pPr marL="0" indent="0">
              <a:spcBef>
                <a:spcPts val="600"/>
              </a:spcBef>
              <a:spcAft>
                <a:spcPts val="1200"/>
              </a:spcAft>
              <a:buNone/>
            </a:pPr>
            <a:r>
              <a:rPr lang="en-US" sz="2200" dirty="0" smtClean="0">
                <a:latin typeface="Helvetica" pitchFamily="34" charset="0"/>
              </a:rPr>
              <a:t>Depending on the tour location, the host enterprise, office might be aware of issues arising before the tour staff.</a:t>
            </a: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3912" y="3933056"/>
            <a:ext cx="2616168" cy="1744984"/>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844824"/>
            <a:ext cx="7056784" cy="4237931"/>
          </a:xfrm>
        </p:spPr>
        <p:txBody>
          <a:bodyPr>
            <a:normAutofit/>
          </a:bodyPr>
          <a:lstStyle/>
          <a:p>
            <a:pPr marL="0" indent="0">
              <a:spcBef>
                <a:spcPts val="600"/>
              </a:spcBef>
              <a:spcAft>
                <a:spcPts val="1200"/>
              </a:spcAft>
              <a:buNone/>
            </a:pPr>
            <a:r>
              <a:rPr lang="en-US" sz="2200" dirty="0" smtClean="0">
                <a:latin typeface="Helvetica" pitchFamily="34" charset="0"/>
              </a:rPr>
              <a:t>The most efficient way to deal with the situation is to:</a:t>
            </a:r>
          </a:p>
          <a:p>
            <a:pPr marL="360000" indent="-360000">
              <a:spcBef>
                <a:spcPts val="600"/>
              </a:spcBef>
              <a:spcAft>
                <a:spcPts val="1200"/>
              </a:spcAft>
            </a:pPr>
            <a:r>
              <a:rPr lang="en-US" sz="2200" dirty="0" smtClean="0">
                <a:latin typeface="Helvetica" pitchFamily="34" charset="0"/>
              </a:rPr>
              <a:t>Deal with issue from the office</a:t>
            </a:r>
          </a:p>
          <a:p>
            <a:pPr marL="360000" indent="-360000">
              <a:spcBef>
                <a:spcPts val="600"/>
              </a:spcBef>
              <a:spcAft>
                <a:spcPts val="1200"/>
              </a:spcAft>
            </a:pPr>
            <a:r>
              <a:rPr lang="en-US" sz="2200" dirty="0" smtClean="0">
                <a:latin typeface="Helvetica" pitchFamily="34" charset="0"/>
              </a:rPr>
              <a:t>Brief the tour staff of:</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Issue</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Proposed or organised action </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5.2	Advise tour staff regarding issues arising</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4005064"/>
            <a:ext cx="2231740" cy="1487827"/>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5.2	Advise tour staff regarding issues arising</a:t>
            </a:r>
            <a:endParaRPr lang="en-US" sz="3400" b="1" dirty="0">
              <a:solidFill>
                <a:srgbClr val="FF6600"/>
              </a:solidFill>
              <a:latin typeface="Helvetica" pitchFamily="34" charset="0"/>
            </a:endParaRPr>
          </a:p>
        </p:txBody>
      </p:sp>
      <p:grpSp>
        <p:nvGrpSpPr>
          <p:cNvPr id="8" name="Group 7"/>
          <p:cNvGrpSpPr/>
          <p:nvPr/>
        </p:nvGrpSpPr>
        <p:grpSpPr>
          <a:xfrm>
            <a:off x="616496" y="2060848"/>
            <a:ext cx="6096000" cy="3657600"/>
            <a:chOff x="1835696" y="2696095"/>
            <a:chExt cx="6096000" cy="3657600"/>
          </a:xfrm>
        </p:grpSpPr>
        <p:sp>
          <p:nvSpPr>
            <p:cNvPr id="9" name="Pie 8"/>
            <p:cNvSpPr/>
            <p:nvPr/>
          </p:nvSpPr>
          <p:spPr>
            <a:xfrm>
              <a:off x="1835696" y="2696095"/>
              <a:ext cx="3657600" cy="3657600"/>
            </a:xfrm>
            <a:prstGeom prst="pie">
              <a:avLst>
                <a:gd name="adj1" fmla="val 5400000"/>
                <a:gd name="adj2" fmla="val 16200000"/>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10" name="Freeform 9"/>
            <p:cNvSpPr/>
            <p:nvPr/>
          </p:nvSpPr>
          <p:spPr>
            <a:xfrm>
              <a:off x="3664496" y="2696095"/>
              <a:ext cx="4267200" cy="3657600"/>
            </a:xfrm>
            <a:custGeom>
              <a:avLst/>
              <a:gdLst>
                <a:gd name="connsiteX0" fmla="*/ 0 w 4267200"/>
                <a:gd name="connsiteY0" fmla="*/ 0 h 3657600"/>
                <a:gd name="connsiteX1" fmla="*/ 4267200 w 4267200"/>
                <a:gd name="connsiteY1" fmla="*/ 0 h 3657600"/>
                <a:gd name="connsiteX2" fmla="*/ 4267200 w 4267200"/>
                <a:gd name="connsiteY2" fmla="*/ 3657600 h 3657600"/>
                <a:gd name="connsiteX3" fmla="*/ 0 w 4267200"/>
                <a:gd name="connsiteY3" fmla="*/ 3657600 h 3657600"/>
                <a:gd name="connsiteX4" fmla="*/ 0 w 4267200"/>
                <a:gd name="connsiteY4" fmla="*/ 0 h 365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7200" h="3657600">
                  <a:moveTo>
                    <a:pt x="0" y="0"/>
                  </a:moveTo>
                  <a:lnTo>
                    <a:pt x="4267200" y="0"/>
                  </a:lnTo>
                  <a:lnTo>
                    <a:pt x="4267200" y="3657600"/>
                  </a:lnTo>
                  <a:lnTo>
                    <a:pt x="0" y="3657600"/>
                  </a:lnTo>
                  <a:lnTo>
                    <a:pt x="0" y="0"/>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98120" tIns="198120" rIns="2331720" bIns="2758438" numCol="1" spcCol="1270" anchor="ctr" anchorCtr="0">
              <a:noAutofit/>
            </a:bodyPr>
            <a:lstStyle/>
            <a:p>
              <a:pPr algn="ctr" defTabSz="2311400">
                <a:lnSpc>
                  <a:spcPct val="90000"/>
                </a:lnSpc>
                <a:spcBef>
                  <a:spcPct val="0"/>
                </a:spcBef>
                <a:spcAft>
                  <a:spcPct val="35000"/>
                </a:spcAft>
              </a:pPr>
              <a:endParaRPr lang="en-AU" sz="2200" kern="1200" dirty="0"/>
            </a:p>
          </p:txBody>
        </p:sp>
        <p:sp>
          <p:nvSpPr>
            <p:cNvPr id="11" name="Pie 10"/>
            <p:cNvSpPr/>
            <p:nvPr/>
          </p:nvSpPr>
          <p:spPr>
            <a:xfrm>
              <a:off x="2475777" y="3793378"/>
              <a:ext cx="2377437" cy="2377437"/>
            </a:xfrm>
            <a:prstGeom prst="pie">
              <a:avLst>
                <a:gd name="adj1" fmla="val 5400000"/>
                <a:gd name="adj2" fmla="val 16200000"/>
              </a:avLst>
            </a:prstGeom>
          </p:spPr>
          <p:style>
            <a:lnRef idx="2">
              <a:schemeClr val="lt1">
                <a:hueOff val="0"/>
                <a:satOff val="0"/>
                <a:lumOff val="0"/>
                <a:alphaOff val="0"/>
              </a:schemeClr>
            </a:lnRef>
            <a:fillRef idx="1">
              <a:schemeClr val="accent5">
                <a:hueOff val="-1548258"/>
                <a:satOff val="15522"/>
                <a:lumOff val="-10784"/>
                <a:alphaOff val="0"/>
              </a:schemeClr>
            </a:fillRef>
            <a:effectRef idx="0">
              <a:schemeClr val="accent5">
                <a:hueOff val="-1548258"/>
                <a:satOff val="15522"/>
                <a:lumOff val="-10784"/>
                <a:alphaOff val="0"/>
              </a:schemeClr>
            </a:effectRef>
            <a:fontRef idx="minor">
              <a:schemeClr val="lt1"/>
            </a:fontRef>
          </p:style>
        </p:sp>
        <p:sp>
          <p:nvSpPr>
            <p:cNvPr id="12" name="Freeform 11"/>
            <p:cNvSpPr/>
            <p:nvPr/>
          </p:nvSpPr>
          <p:spPr>
            <a:xfrm>
              <a:off x="3664496" y="3793378"/>
              <a:ext cx="4267200" cy="2377437"/>
            </a:xfrm>
            <a:custGeom>
              <a:avLst/>
              <a:gdLst>
                <a:gd name="connsiteX0" fmla="*/ 0 w 4267200"/>
                <a:gd name="connsiteY0" fmla="*/ 0 h 2377437"/>
                <a:gd name="connsiteX1" fmla="*/ 4267200 w 4267200"/>
                <a:gd name="connsiteY1" fmla="*/ 0 h 2377437"/>
                <a:gd name="connsiteX2" fmla="*/ 4267200 w 4267200"/>
                <a:gd name="connsiteY2" fmla="*/ 2377437 h 2377437"/>
                <a:gd name="connsiteX3" fmla="*/ 0 w 4267200"/>
                <a:gd name="connsiteY3" fmla="*/ 2377437 h 2377437"/>
                <a:gd name="connsiteX4" fmla="*/ 0 w 4267200"/>
                <a:gd name="connsiteY4" fmla="*/ 0 h 2377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7200" h="2377437">
                  <a:moveTo>
                    <a:pt x="0" y="0"/>
                  </a:moveTo>
                  <a:lnTo>
                    <a:pt x="4267200" y="0"/>
                  </a:lnTo>
                  <a:lnTo>
                    <a:pt x="4267200" y="2377437"/>
                  </a:lnTo>
                  <a:lnTo>
                    <a:pt x="0" y="2377437"/>
                  </a:lnTo>
                  <a:lnTo>
                    <a:pt x="0" y="0"/>
                  </a:lnTo>
                  <a:close/>
                </a:path>
              </a:pathLst>
            </a:custGeom>
          </p:spPr>
          <p:style>
            <a:lnRef idx="2">
              <a:schemeClr val="accent5">
                <a:hueOff val="-1548258"/>
                <a:satOff val="15522"/>
                <a:lumOff val="-10784"/>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98120" tIns="198120" rIns="2331720" bIns="1478279" numCol="1" spcCol="1270" anchor="ctr" anchorCtr="0">
              <a:noAutofit/>
            </a:bodyPr>
            <a:lstStyle/>
            <a:p>
              <a:pPr lvl="0" defTabSz="2311400">
                <a:lnSpc>
                  <a:spcPct val="90000"/>
                </a:lnSpc>
                <a:spcBef>
                  <a:spcPct val="0"/>
                </a:spcBef>
                <a:spcAft>
                  <a:spcPct val="35000"/>
                </a:spcAft>
              </a:pPr>
              <a:r>
                <a:rPr lang="en-US" sz="2000" b="1" dirty="0" smtClean="0">
                  <a:latin typeface="Helvetica" pitchFamily="34" charset="0"/>
                </a:rPr>
                <a:t>Clear</a:t>
              </a:r>
              <a:endParaRPr lang="en-AU" sz="2000" b="1" kern="1200" dirty="0"/>
            </a:p>
          </p:txBody>
        </p:sp>
        <p:sp>
          <p:nvSpPr>
            <p:cNvPr id="13" name="Pie 12"/>
            <p:cNvSpPr/>
            <p:nvPr/>
          </p:nvSpPr>
          <p:spPr>
            <a:xfrm>
              <a:off x="3115856" y="4890657"/>
              <a:ext cx="1097278" cy="1097278"/>
            </a:xfrm>
            <a:prstGeom prst="pie">
              <a:avLst>
                <a:gd name="adj1" fmla="val 5400000"/>
                <a:gd name="adj2" fmla="val 16200000"/>
              </a:avLst>
            </a:pr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sp>
        <p:sp>
          <p:nvSpPr>
            <p:cNvPr id="14" name="Freeform 13"/>
            <p:cNvSpPr/>
            <p:nvPr/>
          </p:nvSpPr>
          <p:spPr>
            <a:xfrm>
              <a:off x="3664496" y="4890657"/>
              <a:ext cx="4267200" cy="1097278"/>
            </a:xfrm>
            <a:custGeom>
              <a:avLst/>
              <a:gdLst>
                <a:gd name="connsiteX0" fmla="*/ 0 w 4267200"/>
                <a:gd name="connsiteY0" fmla="*/ 0 h 1097278"/>
                <a:gd name="connsiteX1" fmla="*/ 4267200 w 4267200"/>
                <a:gd name="connsiteY1" fmla="*/ 0 h 1097278"/>
                <a:gd name="connsiteX2" fmla="*/ 4267200 w 4267200"/>
                <a:gd name="connsiteY2" fmla="*/ 1097278 h 1097278"/>
                <a:gd name="connsiteX3" fmla="*/ 0 w 4267200"/>
                <a:gd name="connsiteY3" fmla="*/ 1097278 h 1097278"/>
                <a:gd name="connsiteX4" fmla="*/ 0 w 4267200"/>
                <a:gd name="connsiteY4" fmla="*/ 0 h 1097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7200" h="1097278">
                  <a:moveTo>
                    <a:pt x="0" y="0"/>
                  </a:moveTo>
                  <a:lnTo>
                    <a:pt x="4267200" y="0"/>
                  </a:lnTo>
                  <a:lnTo>
                    <a:pt x="4267200" y="1097278"/>
                  </a:lnTo>
                  <a:lnTo>
                    <a:pt x="0" y="1097278"/>
                  </a:lnTo>
                  <a:lnTo>
                    <a:pt x="0" y="0"/>
                  </a:lnTo>
                  <a:close/>
                </a:path>
              </a:pathLst>
            </a:custGeom>
          </p:spPr>
          <p:style>
            <a:lnRef idx="2">
              <a:schemeClr val="accent5">
                <a:hueOff val="-3096517"/>
                <a:satOff val="31044"/>
                <a:lumOff val="-21569"/>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98120" tIns="198120" rIns="2331720" bIns="198120" numCol="1" spcCol="1270" anchor="ctr" anchorCtr="0">
              <a:noAutofit/>
            </a:bodyPr>
            <a:lstStyle/>
            <a:p>
              <a:pPr defTabSz="2311400">
                <a:lnSpc>
                  <a:spcPct val="90000"/>
                </a:lnSpc>
                <a:spcBef>
                  <a:spcPct val="0"/>
                </a:spcBef>
                <a:spcAft>
                  <a:spcPct val="35000"/>
                </a:spcAft>
              </a:pPr>
              <a:r>
                <a:rPr lang="en-US" sz="2000" b="1" dirty="0" smtClean="0">
                  <a:latin typeface="Helvetica" pitchFamily="34" charset="0"/>
                </a:rPr>
                <a:t>Precise</a:t>
              </a:r>
              <a:endParaRPr lang="en-AU" sz="2000" b="1" kern="1200" dirty="0"/>
            </a:p>
          </p:txBody>
        </p:sp>
        <p:sp>
          <p:nvSpPr>
            <p:cNvPr id="16" name="Freeform 15"/>
            <p:cNvSpPr/>
            <p:nvPr/>
          </p:nvSpPr>
          <p:spPr>
            <a:xfrm>
              <a:off x="5798096" y="3793378"/>
              <a:ext cx="2133600" cy="1097278"/>
            </a:xfrm>
            <a:custGeom>
              <a:avLst/>
              <a:gdLst>
                <a:gd name="connsiteX0" fmla="*/ 0 w 2133600"/>
                <a:gd name="connsiteY0" fmla="*/ 0 h 1097278"/>
                <a:gd name="connsiteX1" fmla="*/ 2133600 w 2133600"/>
                <a:gd name="connsiteY1" fmla="*/ 0 h 1097278"/>
                <a:gd name="connsiteX2" fmla="*/ 2133600 w 2133600"/>
                <a:gd name="connsiteY2" fmla="*/ 1097278 h 1097278"/>
                <a:gd name="connsiteX3" fmla="*/ 0 w 2133600"/>
                <a:gd name="connsiteY3" fmla="*/ 1097278 h 1097278"/>
                <a:gd name="connsiteX4" fmla="*/ 0 w 2133600"/>
                <a:gd name="connsiteY4" fmla="*/ 0 h 1097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3600" h="1097278">
                  <a:moveTo>
                    <a:pt x="0" y="0"/>
                  </a:moveTo>
                  <a:lnTo>
                    <a:pt x="2133600" y="0"/>
                  </a:lnTo>
                  <a:lnTo>
                    <a:pt x="2133600" y="1097278"/>
                  </a:lnTo>
                  <a:lnTo>
                    <a:pt x="0" y="1097278"/>
                  </a:lnTo>
                  <a:lnTo>
                    <a:pt x="0" y="0"/>
                  </a:lnTo>
                  <a:close/>
                </a:path>
              </a:pathLst>
            </a:custGeom>
            <a:noFill/>
            <a:ln>
              <a:no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4300" tIns="114300" rIns="114300" bIns="114300" numCol="1" spcCol="1270" anchor="ctr" anchorCtr="0">
              <a:noAutofit/>
            </a:bodyPr>
            <a:lstStyle/>
            <a:p>
              <a:pPr marL="285750" lvl="1" indent="-285750" algn="l" defTabSz="1333500">
                <a:lnSpc>
                  <a:spcPct val="90000"/>
                </a:lnSpc>
                <a:spcBef>
                  <a:spcPct val="0"/>
                </a:spcBef>
                <a:spcAft>
                  <a:spcPct val="15000"/>
                </a:spcAft>
                <a:buChar char="••"/>
              </a:pPr>
              <a:endParaRPr lang="en-AU" sz="3000" kern="1200" dirty="0"/>
            </a:p>
            <a:p>
              <a:pPr marL="285750" lvl="1" indent="-285750" algn="l" defTabSz="1333500">
                <a:lnSpc>
                  <a:spcPct val="90000"/>
                </a:lnSpc>
                <a:spcBef>
                  <a:spcPct val="0"/>
                </a:spcBef>
                <a:spcAft>
                  <a:spcPct val="15000"/>
                </a:spcAft>
                <a:buChar char="••"/>
              </a:pPr>
              <a:endParaRPr lang="en-AU" sz="3000" kern="1200" dirty="0"/>
            </a:p>
          </p:txBody>
        </p:sp>
        <p:sp>
          <p:nvSpPr>
            <p:cNvPr id="17" name="Freeform 16"/>
            <p:cNvSpPr/>
            <p:nvPr/>
          </p:nvSpPr>
          <p:spPr>
            <a:xfrm>
              <a:off x="5798096" y="4890657"/>
              <a:ext cx="2133600" cy="1097278"/>
            </a:xfrm>
            <a:custGeom>
              <a:avLst/>
              <a:gdLst>
                <a:gd name="connsiteX0" fmla="*/ 0 w 2133600"/>
                <a:gd name="connsiteY0" fmla="*/ 0 h 1097278"/>
                <a:gd name="connsiteX1" fmla="*/ 2133600 w 2133600"/>
                <a:gd name="connsiteY1" fmla="*/ 0 h 1097278"/>
                <a:gd name="connsiteX2" fmla="*/ 2133600 w 2133600"/>
                <a:gd name="connsiteY2" fmla="*/ 1097278 h 1097278"/>
                <a:gd name="connsiteX3" fmla="*/ 0 w 2133600"/>
                <a:gd name="connsiteY3" fmla="*/ 1097278 h 1097278"/>
                <a:gd name="connsiteX4" fmla="*/ 0 w 2133600"/>
                <a:gd name="connsiteY4" fmla="*/ 0 h 1097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3600" h="1097278">
                  <a:moveTo>
                    <a:pt x="0" y="0"/>
                  </a:moveTo>
                  <a:lnTo>
                    <a:pt x="2133600" y="0"/>
                  </a:lnTo>
                  <a:lnTo>
                    <a:pt x="2133600" y="1097278"/>
                  </a:lnTo>
                  <a:lnTo>
                    <a:pt x="0" y="1097278"/>
                  </a:lnTo>
                  <a:lnTo>
                    <a:pt x="0" y="0"/>
                  </a:lnTo>
                  <a:close/>
                </a:path>
              </a:pathLst>
            </a:custGeom>
            <a:noFill/>
            <a:ln>
              <a:noFill/>
            </a:ln>
            <a:sp3d/>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14300" tIns="114300" rIns="114300" bIns="114300" numCol="1" spcCol="1270" anchor="ctr" anchorCtr="0">
              <a:noAutofit/>
            </a:bodyPr>
            <a:lstStyle/>
            <a:p>
              <a:pPr marL="285750" lvl="1" indent="-285750" algn="l" defTabSz="1333500">
                <a:lnSpc>
                  <a:spcPct val="90000"/>
                </a:lnSpc>
                <a:spcBef>
                  <a:spcPct val="0"/>
                </a:spcBef>
                <a:spcAft>
                  <a:spcPct val="15000"/>
                </a:spcAft>
                <a:buChar char="••"/>
              </a:pPr>
              <a:endParaRPr lang="en-AU" sz="3000" kern="1200" dirty="0"/>
            </a:p>
            <a:p>
              <a:pPr marL="285750" lvl="1" indent="-285750" algn="l" defTabSz="1333500">
                <a:lnSpc>
                  <a:spcPct val="90000"/>
                </a:lnSpc>
                <a:spcBef>
                  <a:spcPct val="0"/>
                </a:spcBef>
                <a:spcAft>
                  <a:spcPct val="15000"/>
                </a:spcAft>
                <a:buChar char="••"/>
              </a:pPr>
              <a:endParaRPr lang="en-AU" sz="3000" kern="1200" dirty="0"/>
            </a:p>
          </p:txBody>
        </p:sp>
      </p:grpSp>
      <p:sp>
        <p:nvSpPr>
          <p:cNvPr id="19" name="TextBox 18"/>
          <p:cNvSpPr txBox="1"/>
          <p:nvPr/>
        </p:nvSpPr>
        <p:spPr>
          <a:xfrm>
            <a:off x="2555776" y="2430180"/>
            <a:ext cx="4156720" cy="430887"/>
          </a:xfrm>
          <a:prstGeom prst="rect">
            <a:avLst/>
          </a:prstGeom>
          <a:noFill/>
        </p:spPr>
        <p:txBody>
          <a:bodyPr wrap="square" rtlCol="0">
            <a:spAutoFit/>
          </a:bodyPr>
          <a:lstStyle/>
          <a:p>
            <a:r>
              <a:rPr lang="en-US" sz="2200" b="1" i="1" dirty="0">
                <a:latin typeface="Helvetica" pitchFamily="34" charset="0"/>
              </a:rPr>
              <a:t>Briefing information must be: </a:t>
            </a:r>
            <a:endParaRPr lang="en-AU" sz="2200" b="1" i="1"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5.3	Re-plan itinerary as required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056784" cy="4381947"/>
          </a:xfrm>
        </p:spPr>
        <p:txBody>
          <a:bodyPr>
            <a:normAutofit/>
          </a:bodyPr>
          <a:lstStyle/>
          <a:p>
            <a:pPr marL="0" indent="0">
              <a:spcBef>
                <a:spcPts val="600"/>
              </a:spcBef>
              <a:spcAft>
                <a:spcPts val="1200"/>
              </a:spcAft>
              <a:buNone/>
            </a:pPr>
            <a:r>
              <a:rPr lang="en-US" sz="2200" dirty="0" smtClean="0">
                <a:latin typeface="Helvetica" pitchFamily="34" charset="0"/>
              </a:rPr>
              <a:t>The issues to consider are :</a:t>
            </a:r>
          </a:p>
          <a:p>
            <a:pPr marL="360000" indent="-360000">
              <a:spcBef>
                <a:spcPts val="600"/>
              </a:spcBef>
              <a:spcAft>
                <a:spcPts val="1200"/>
              </a:spcAft>
            </a:pPr>
            <a:r>
              <a:rPr lang="en-US" sz="2200" dirty="0" smtClean="0">
                <a:latin typeface="Helvetica" pitchFamily="34" charset="0"/>
              </a:rPr>
              <a:t>On the ground response </a:t>
            </a:r>
          </a:p>
          <a:p>
            <a:pPr marL="360000" indent="-360000">
              <a:spcBef>
                <a:spcPts val="600"/>
              </a:spcBef>
              <a:spcAft>
                <a:spcPts val="1200"/>
              </a:spcAft>
            </a:pPr>
            <a:r>
              <a:rPr lang="en-US" sz="2200" dirty="0" smtClean="0">
                <a:latin typeface="Helvetica" pitchFamily="34" charset="0"/>
              </a:rPr>
              <a:t>Legislation and liabilities</a:t>
            </a:r>
          </a:p>
          <a:p>
            <a:pPr marL="360000" indent="-360000">
              <a:spcBef>
                <a:spcPts val="600"/>
              </a:spcBef>
              <a:spcAft>
                <a:spcPts val="1200"/>
              </a:spcAft>
            </a:pPr>
            <a:r>
              <a:rPr lang="en-US" sz="2200" dirty="0" smtClean="0">
                <a:latin typeface="Helvetica" pitchFamily="34" charset="0"/>
              </a:rPr>
              <a:t>Confirmation and communication</a:t>
            </a:r>
          </a:p>
          <a:p>
            <a:pPr marL="360000" indent="-360000">
              <a:spcBef>
                <a:spcPts val="600"/>
              </a:spcBef>
              <a:spcAft>
                <a:spcPts val="1200"/>
              </a:spcAft>
            </a:pPr>
            <a:r>
              <a:rPr lang="en-US" sz="2200" dirty="0" smtClean="0">
                <a:latin typeface="Helvetica" pitchFamily="34" charset="0"/>
              </a:rPr>
              <a:t>Customer service </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44208" y="3861048"/>
            <a:ext cx="1945283" cy="1600968"/>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056784" cy="4381947"/>
          </a:xfrm>
        </p:spPr>
        <p:txBody>
          <a:bodyPr>
            <a:normAutofit/>
          </a:bodyPr>
          <a:lstStyle/>
          <a:p>
            <a:pPr marL="360000" indent="-360000">
              <a:spcBef>
                <a:spcPts val="600"/>
              </a:spcBef>
              <a:spcAft>
                <a:spcPts val="1200"/>
              </a:spcAft>
            </a:pPr>
            <a:r>
              <a:rPr lang="en-US" sz="2200" dirty="0" smtClean="0">
                <a:latin typeface="Helvetica" pitchFamily="34" charset="0"/>
              </a:rPr>
              <a:t>On the ground response involves: 	</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Tour group members and tour staff</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Suppliers, providers of products and services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5.3	Re-plan itinerary as required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3933056"/>
            <a:ext cx="2417358" cy="1612378"/>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88224" y="2708920"/>
            <a:ext cx="1667119" cy="2255912"/>
          </a:xfrm>
          <a:prstGeom prst="rect">
            <a:avLst/>
          </a:prstGeom>
        </p:spPr>
      </p:pic>
      <p:sp>
        <p:nvSpPr>
          <p:cNvPr id="3" name="Content Placeholder 2"/>
          <p:cNvSpPr>
            <a:spLocks noGrp="1"/>
          </p:cNvSpPr>
          <p:nvPr>
            <p:ph idx="1"/>
          </p:nvPr>
        </p:nvSpPr>
        <p:spPr>
          <a:xfrm>
            <a:off x="611560" y="1700808"/>
            <a:ext cx="7056784" cy="4381947"/>
          </a:xfrm>
        </p:spPr>
        <p:txBody>
          <a:bodyPr>
            <a:normAutofit/>
          </a:bodyPr>
          <a:lstStyle/>
          <a:p>
            <a:pPr marL="360000" indent="-360000">
              <a:spcBef>
                <a:spcPts val="600"/>
              </a:spcBef>
              <a:spcAft>
                <a:spcPts val="1200"/>
              </a:spcAft>
            </a:pPr>
            <a:r>
              <a:rPr lang="en-US" sz="2200" dirty="0" smtClean="0">
                <a:latin typeface="Helvetica" pitchFamily="34" charset="0"/>
              </a:rPr>
              <a:t>Legislation and liabilities: 	</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Importance of being compliant not only with host enterprise country legislation and liabilities</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And where the tour is taking place </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5.3	Re-plan itinerary as required </a:t>
            </a:r>
            <a:endParaRPr lang="en-US" sz="3400" b="1" dirty="0">
              <a:solidFill>
                <a:srgbClr val="FF6600"/>
              </a:solidFill>
              <a:latin typeface="Helvetica" pitchFamily="34" charset="0"/>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5.3	Re-plan itinerary as required </a:t>
            </a:r>
            <a:endParaRPr lang="en-US" sz="3400" b="1" dirty="0">
              <a:solidFill>
                <a:srgbClr val="FF6600"/>
              </a:solidFill>
              <a:latin typeface="Helvetica" pitchFamily="34" charset="0"/>
            </a:endParaRPr>
          </a:p>
        </p:txBody>
      </p:sp>
      <p:grpSp>
        <p:nvGrpSpPr>
          <p:cNvPr id="9" name="Group 8"/>
          <p:cNvGrpSpPr/>
          <p:nvPr/>
        </p:nvGrpSpPr>
        <p:grpSpPr>
          <a:xfrm>
            <a:off x="1475656" y="1971605"/>
            <a:ext cx="5138414" cy="2735896"/>
            <a:chOff x="1665434" y="2133264"/>
            <a:chExt cx="5138414" cy="2735896"/>
          </a:xfrm>
        </p:grpSpPr>
        <p:sp>
          <p:nvSpPr>
            <p:cNvPr id="10" name="Bent-Up Arrow 9"/>
            <p:cNvSpPr/>
            <p:nvPr/>
          </p:nvSpPr>
          <p:spPr>
            <a:xfrm rot="5400000">
              <a:off x="1978981" y="3312164"/>
              <a:ext cx="1183469" cy="1347338"/>
            </a:xfrm>
            <a:prstGeom prst="bentUpArrow">
              <a:avLst>
                <a:gd name="adj1" fmla="val 32840"/>
                <a:gd name="adj2" fmla="val 25000"/>
                <a:gd name="adj3" fmla="val 35780"/>
              </a:avLst>
            </a:prstGeom>
          </p:spPr>
          <p:style>
            <a:lnRef idx="2">
              <a:schemeClr val="lt1">
                <a:hueOff val="0"/>
                <a:satOff val="0"/>
                <a:lumOff val="0"/>
                <a:alphaOff val="0"/>
              </a:schemeClr>
            </a:lnRef>
            <a:fillRef idx="1">
              <a:schemeClr val="accent5">
                <a:tint val="50000"/>
                <a:hueOff val="0"/>
                <a:satOff val="0"/>
                <a:lumOff val="0"/>
                <a:alphaOff val="0"/>
              </a:schemeClr>
            </a:fillRef>
            <a:effectRef idx="0">
              <a:schemeClr val="accent5">
                <a:tint val="50000"/>
                <a:hueOff val="0"/>
                <a:satOff val="0"/>
                <a:lumOff val="0"/>
                <a:alphaOff val="0"/>
              </a:schemeClr>
            </a:effectRef>
            <a:fontRef idx="minor">
              <a:schemeClr val="lt1">
                <a:hueOff val="0"/>
                <a:satOff val="0"/>
                <a:lumOff val="0"/>
                <a:alphaOff val="0"/>
              </a:schemeClr>
            </a:fontRef>
          </p:style>
        </p:sp>
        <p:sp>
          <p:nvSpPr>
            <p:cNvPr id="11" name="Freeform 10"/>
            <p:cNvSpPr/>
            <p:nvPr/>
          </p:nvSpPr>
          <p:spPr>
            <a:xfrm>
              <a:off x="1665434" y="2366667"/>
              <a:ext cx="3600000" cy="1080000"/>
            </a:xfrm>
            <a:custGeom>
              <a:avLst/>
              <a:gdLst>
                <a:gd name="connsiteX0" fmla="*/ 0 w 1992266"/>
                <a:gd name="connsiteY0" fmla="*/ 232467 h 1394521"/>
                <a:gd name="connsiteX1" fmla="*/ 232467 w 1992266"/>
                <a:gd name="connsiteY1" fmla="*/ 0 h 1394521"/>
                <a:gd name="connsiteX2" fmla="*/ 1759799 w 1992266"/>
                <a:gd name="connsiteY2" fmla="*/ 0 h 1394521"/>
                <a:gd name="connsiteX3" fmla="*/ 1992266 w 1992266"/>
                <a:gd name="connsiteY3" fmla="*/ 232467 h 1394521"/>
                <a:gd name="connsiteX4" fmla="*/ 1992266 w 1992266"/>
                <a:gd name="connsiteY4" fmla="*/ 1162054 h 1394521"/>
                <a:gd name="connsiteX5" fmla="*/ 1759799 w 1992266"/>
                <a:gd name="connsiteY5" fmla="*/ 1394521 h 1394521"/>
                <a:gd name="connsiteX6" fmla="*/ 232467 w 1992266"/>
                <a:gd name="connsiteY6" fmla="*/ 1394521 h 1394521"/>
                <a:gd name="connsiteX7" fmla="*/ 0 w 1992266"/>
                <a:gd name="connsiteY7" fmla="*/ 1162054 h 1394521"/>
                <a:gd name="connsiteX8" fmla="*/ 0 w 1992266"/>
                <a:gd name="connsiteY8" fmla="*/ 232467 h 1394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2266" h="1394521">
                  <a:moveTo>
                    <a:pt x="0" y="232467"/>
                  </a:moveTo>
                  <a:cubicBezTo>
                    <a:pt x="0" y="104079"/>
                    <a:pt x="104079" y="0"/>
                    <a:pt x="232467" y="0"/>
                  </a:cubicBezTo>
                  <a:lnTo>
                    <a:pt x="1759799" y="0"/>
                  </a:lnTo>
                  <a:cubicBezTo>
                    <a:pt x="1888187" y="0"/>
                    <a:pt x="1992266" y="104079"/>
                    <a:pt x="1992266" y="232467"/>
                  </a:cubicBezTo>
                  <a:lnTo>
                    <a:pt x="1992266" y="1162054"/>
                  </a:lnTo>
                  <a:cubicBezTo>
                    <a:pt x="1992266" y="1290442"/>
                    <a:pt x="1888187" y="1394521"/>
                    <a:pt x="1759799" y="1394521"/>
                  </a:cubicBezTo>
                  <a:lnTo>
                    <a:pt x="232467" y="1394521"/>
                  </a:lnTo>
                  <a:cubicBezTo>
                    <a:pt x="104079" y="1394521"/>
                    <a:pt x="0" y="1290442"/>
                    <a:pt x="0" y="1162054"/>
                  </a:cubicBezTo>
                  <a:lnTo>
                    <a:pt x="0" y="232467"/>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40477" tIns="140477" rIns="140477" bIns="140477" numCol="1" spcCol="1270" anchor="ctr" anchorCtr="0">
              <a:noAutofit/>
            </a:bodyPr>
            <a:lstStyle/>
            <a:p>
              <a:pPr lvl="0" algn="ctr" defTabSz="844550">
                <a:lnSpc>
                  <a:spcPct val="90000"/>
                </a:lnSpc>
                <a:spcBef>
                  <a:spcPct val="0"/>
                </a:spcBef>
                <a:spcAft>
                  <a:spcPct val="35000"/>
                </a:spcAft>
              </a:pPr>
              <a:r>
                <a:rPr lang="en-US" sz="1900" b="1" i="1" kern="1200" dirty="0" smtClean="0">
                  <a:latin typeface="Helvetica" pitchFamily="34" charset="0"/>
                </a:rPr>
                <a:t>Confirmation and communication:</a:t>
              </a:r>
              <a:endParaRPr lang="en-AU" sz="1900" b="1" i="1" kern="1200" dirty="0"/>
            </a:p>
          </p:txBody>
        </p:sp>
        <p:sp>
          <p:nvSpPr>
            <p:cNvPr id="12" name="Freeform 11"/>
            <p:cNvSpPr/>
            <p:nvPr/>
          </p:nvSpPr>
          <p:spPr>
            <a:xfrm>
              <a:off x="3657700" y="2133264"/>
              <a:ext cx="1448984" cy="1127114"/>
            </a:xfrm>
            <a:custGeom>
              <a:avLst/>
              <a:gdLst>
                <a:gd name="connsiteX0" fmla="*/ 0 w 1448984"/>
                <a:gd name="connsiteY0" fmla="*/ 0 h 1127114"/>
                <a:gd name="connsiteX1" fmla="*/ 1448984 w 1448984"/>
                <a:gd name="connsiteY1" fmla="*/ 0 h 1127114"/>
                <a:gd name="connsiteX2" fmla="*/ 1448984 w 1448984"/>
                <a:gd name="connsiteY2" fmla="*/ 1127114 h 1127114"/>
                <a:gd name="connsiteX3" fmla="*/ 0 w 1448984"/>
                <a:gd name="connsiteY3" fmla="*/ 1127114 h 1127114"/>
                <a:gd name="connsiteX4" fmla="*/ 0 w 1448984"/>
                <a:gd name="connsiteY4" fmla="*/ 0 h 1127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8984" h="1127114">
                  <a:moveTo>
                    <a:pt x="0" y="0"/>
                  </a:moveTo>
                  <a:lnTo>
                    <a:pt x="1448984" y="0"/>
                  </a:lnTo>
                  <a:lnTo>
                    <a:pt x="1448984" y="1127114"/>
                  </a:lnTo>
                  <a:lnTo>
                    <a:pt x="0" y="112711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2390" tIns="72390" rIns="72390" bIns="72390" numCol="1" spcCol="1270" anchor="ctr" anchorCtr="0">
              <a:noAutofit/>
            </a:bodyPr>
            <a:lstStyle/>
            <a:p>
              <a:pPr marL="114300" lvl="1" indent="-114300" algn="l" defTabSz="666750">
                <a:lnSpc>
                  <a:spcPct val="90000"/>
                </a:lnSpc>
                <a:spcBef>
                  <a:spcPct val="0"/>
                </a:spcBef>
                <a:spcAft>
                  <a:spcPct val="15000"/>
                </a:spcAft>
                <a:buChar char="••"/>
              </a:pPr>
              <a:endParaRPr lang="en-AU" sz="1500" b="1" i="1" kern="1200" dirty="0"/>
            </a:p>
          </p:txBody>
        </p:sp>
        <p:sp>
          <p:nvSpPr>
            <p:cNvPr id="13" name="Freeform 12"/>
            <p:cNvSpPr/>
            <p:nvPr/>
          </p:nvSpPr>
          <p:spPr>
            <a:xfrm>
              <a:off x="3203848" y="3789160"/>
              <a:ext cx="3600000" cy="1080000"/>
            </a:xfrm>
            <a:custGeom>
              <a:avLst/>
              <a:gdLst>
                <a:gd name="connsiteX0" fmla="*/ 0 w 1992266"/>
                <a:gd name="connsiteY0" fmla="*/ 232467 h 1394521"/>
                <a:gd name="connsiteX1" fmla="*/ 232467 w 1992266"/>
                <a:gd name="connsiteY1" fmla="*/ 0 h 1394521"/>
                <a:gd name="connsiteX2" fmla="*/ 1759799 w 1992266"/>
                <a:gd name="connsiteY2" fmla="*/ 0 h 1394521"/>
                <a:gd name="connsiteX3" fmla="*/ 1992266 w 1992266"/>
                <a:gd name="connsiteY3" fmla="*/ 232467 h 1394521"/>
                <a:gd name="connsiteX4" fmla="*/ 1992266 w 1992266"/>
                <a:gd name="connsiteY4" fmla="*/ 1162054 h 1394521"/>
                <a:gd name="connsiteX5" fmla="*/ 1759799 w 1992266"/>
                <a:gd name="connsiteY5" fmla="*/ 1394521 h 1394521"/>
                <a:gd name="connsiteX6" fmla="*/ 232467 w 1992266"/>
                <a:gd name="connsiteY6" fmla="*/ 1394521 h 1394521"/>
                <a:gd name="connsiteX7" fmla="*/ 0 w 1992266"/>
                <a:gd name="connsiteY7" fmla="*/ 1162054 h 1394521"/>
                <a:gd name="connsiteX8" fmla="*/ 0 w 1992266"/>
                <a:gd name="connsiteY8" fmla="*/ 232467 h 1394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2266" h="1394521">
                  <a:moveTo>
                    <a:pt x="0" y="232467"/>
                  </a:moveTo>
                  <a:cubicBezTo>
                    <a:pt x="0" y="104079"/>
                    <a:pt x="104079" y="0"/>
                    <a:pt x="232467" y="0"/>
                  </a:cubicBezTo>
                  <a:lnTo>
                    <a:pt x="1759799" y="0"/>
                  </a:lnTo>
                  <a:cubicBezTo>
                    <a:pt x="1888187" y="0"/>
                    <a:pt x="1992266" y="104079"/>
                    <a:pt x="1992266" y="232467"/>
                  </a:cubicBezTo>
                  <a:lnTo>
                    <a:pt x="1992266" y="1162054"/>
                  </a:lnTo>
                  <a:cubicBezTo>
                    <a:pt x="1992266" y="1290442"/>
                    <a:pt x="1888187" y="1394521"/>
                    <a:pt x="1759799" y="1394521"/>
                  </a:cubicBezTo>
                  <a:lnTo>
                    <a:pt x="232467" y="1394521"/>
                  </a:lnTo>
                  <a:cubicBezTo>
                    <a:pt x="104079" y="1394521"/>
                    <a:pt x="0" y="1290442"/>
                    <a:pt x="0" y="1162054"/>
                  </a:cubicBezTo>
                  <a:lnTo>
                    <a:pt x="0" y="232467"/>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140477" tIns="140477" rIns="140477" bIns="140477" numCol="1" spcCol="1270" anchor="ctr" anchorCtr="0">
              <a:noAutofit/>
            </a:bodyPr>
            <a:lstStyle/>
            <a:p>
              <a:pPr lvl="0" algn="ctr" defTabSz="844550">
                <a:lnSpc>
                  <a:spcPct val="90000"/>
                </a:lnSpc>
                <a:spcBef>
                  <a:spcPct val="0"/>
                </a:spcBef>
                <a:spcAft>
                  <a:spcPct val="35000"/>
                </a:spcAft>
              </a:pPr>
              <a:r>
                <a:rPr lang="en-US" sz="1900" b="1" i="1" kern="1200" dirty="0" smtClean="0">
                  <a:latin typeface="Helvetica" pitchFamily="34" charset="0"/>
                </a:rPr>
                <a:t>All alternative arrangements must be confirmed </a:t>
              </a:r>
              <a:endParaRPr lang="en-AU" sz="1900" b="1" i="1" kern="1200" dirty="0"/>
            </a:p>
          </p:txBody>
        </p:sp>
        <p:sp>
          <p:nvSpPr>
            <p:cNvPr id="14" name="Freeform 13"/>
            <p:cNvSpPr/>
            <p:nvPr/>
          </p:nvSpPr>
          <p:spPr>
            <a:xfrm>
              <a:off x="5309501" y="3699772"/>
              <a:ext cx="1448984" cy="1127114"/>
            </a:xfrm>
            <a:custGeom>
              <a:avLst/>
              <a:gdLst>
                <a:gd name="connsiteX0" fmla="*/ 0 w 1448984"/>
                <a:gd name="connsiteY0" fmla="*/ 0 h 1127114"/>
                <a:gd name="connsiteX1" fmla="*/ 1448984 w 1448984"/>
                <a:gd name="connsiteY1" fmla="*/ 0 h 1127114"/>
                <a:gd name="connsiteX2" fmla="*/ 1448984 w 1448984"/>
                <a:gd name="connsiteY2" fmla="*/ 1127114 h 1127114"/>
                <a:gd name="connsiteX3" fmla="*/ 0 w 1448984"/>
                <a:gd name="connsiteY3" fmla="*/ 1127114 h 1127114"/>
                <a:gd name="connsiteX4" fmla="*/ 0 w 1448984"/>
                <a:gd name="connsiteY4" fmla="*/ 0 h 1127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8984" h="1127114">
                  <a:moveTo>
                    <a:pt x="0" y="0"/>
                  </a:moveTo>
                  <a:lnTo>
                    <a:pt x="1448984" y="0"/>
                  </a:lnTo>
                  <a:lnTo>
                    <a:pt x="1448984" y="1127114"/>
                  </a:lnTo>
                  <a:lnTo>
                    <a:pt x="0" y="112711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7160" tIns="137160" rIns="137160" bIns="137160" numCol="1" spcCol="1270" anchor="ctr" anchorCtr="0">
              <a:noAutofit/>
            </a:bodyPr>
            <a:lstStyle/>
            <a:p>
              <a:pPr marL="285750" lvl="1" indent="-285750" algn="l" defTabSz="1244600">
                <a:lnSpc>
                  <a:spcPct val="90000"/>
                </a:lnSpc>
                <a:spcBef>
                  <a:spcPct val="0"/>
                </a:spcBef>
                <a:spcAft>
                  <a:spcPct val="15000"/>
                </a:spcAft>
                <a:buChar char="••"/>
              </a:pPr>
              <a:endParaRPr lang="en-AU" sz="2800" b="1" i="1" kern="1200" dirty="0"/>
            </a:p>
          </p:txBody>
        </p:sp>
      </p:gr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056784" cy="4381947"/>
          </a:xfrm>
        </p:spPr>
        <p:txBody>
          <a:bodyPr>
            <a:normAutofit/>
          </a:bodyPr>
          <a:lstStyle/>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rmAutofit/>
          </a:bodyPr>
          <a:lstStyle/>
          <a:p>
            <a:pPr marL="714375" indent="-714375"/>
            <a:r>
              <a:rPr lang="en-US" sz="3400" b="1" dirty="0" smtClean="0">
                <a:solidFill>
                  <a:srgbClr val="FF6600"/>
                </a:solidFill>
                <a:latin typeface="Helvetica" pitchFamily="34" charset="0"/>
              </a:rPr>
              <a:t>5.3	Re-plan itinerary as required </a:t>
            </a:r>
            <a:endParaRPr lang="en-US" sz="3400" b="1" dirty="0">
              <a:solidFill>
                <a:srgbClr val="FF6600"/>
              </a:solidFill>
              <a:latin typeface="Helvetica" pitchFamily="34" charset="0"/>
            </a:endParaRPr>
          </a:p>
        </p:txBody>
      </p:sp>
      <p:grpSp>
        <p:nvGrpSpPr>
          <p:cNvPr id="8" name="Group 7"/>
          <p:cNvGrpSpPr/>
          <p:nvPr/>
        </p:nvGrpSpPr>
        <p:grpSpPr>
          <a:xfrm>
            <a:off x="1275220" y="1941602"/>
            <a:ext cx="5138414" cy="2735896"/>
            <a:chOff x="1665434" y="2133264"/>
            <a:chExt cx="5138414" cy="2735896"/>
          </a:xfrm>
        </p:grpSpPr>
        <p:sp>
          <p:nvSpPr>
            <p:cNvPr id="9" name="Bent-Up Arrow 8"/>
            <p:cNvSpPr/>
            <p:nvPr/>
          </p:nvSpPr>
          <p:spPr>
            <a:xfrm rot="5400000">
              <a:off x="1978981" y="3312164"/>
              <a:ext cx="1183469" cy="1347338"/>
            </a:xfrm>
            <a:prstGeom prst="bentUpArrow">
              <a:avLst>
                <a:gd name="adj1" fmla="val 32840"/>
                <a:gd name="adj2" fmla="val 25000"/>
                <a:gd name="adj3" fmla="val 35780"/>
              </a:avLst>
            </a:prstGeom>
          </p:spPr>
          <p:style>
            <a:lnRef idx="2">
              <a:schemeClr val="lt1">
                <a:hueOff val="0"/>
                <a:satOff val="0"/>
                <a:lumOff val="0"/>
                <a:alphaOff val="0"/>
              </a:schemeClr>
            </a:lnRef>
            <a:fillRef idx="1">
              <a:schemeClr val="accent5">
                <a:tint val="50000"/>
                <a:hueOff val="0"/>
                <a:satOff val="0"/>
                <a:lumOff val="0"/>
                <a:alphaOff val="0"/>
              </a:schemeClr>
            </a:fillRef>
            <a:effectRef idx="0">
              <a:schemeClr val="accent5">
                <a:tint val="50000"/>
                <a:hueOff val="0"/>
                <a:satOff val="0"/>
                <a:lumOff val="0"/>
                <a:alphaOff val="0"/>
              </a:schemeClr>
            </a:effectRef>
            <a:fontRef idx="minor">
              <a:schemeClr val="lt1">
                <a:hueOff val="0"/>
                <a:satOff val="0"/>
                <a:lumOff val="0"/>
                <a:alphaOff val="0"/>
              </a:schemeClr>
            </a:fontRef>
          </p:style>
        </p:sp>
        <p:sp>
          <p:nvSpPr>
            <p:cNvPr id="10" name="Freeform 9"/>
            <p:cNvSpPr/>
            <p:nvPr/>
          </p:nvSpPr>
          <p:spPr>
            <a:xfrm>
              <a:off x="1665434" y="2366667"/>
              <a:ext cx="3600000" cy="1080000"/>
            </a:xfrm>
            <a:custGeom>
              <a:avLst/>
              <a:gdLst>
                <a:gd name="connsiteX0" fmla="*/ 0 w 1992266"/>
                <a:gd name="connsiteY0" fmla="*/ 232467 h 1394521"/>
                <a:gd name="connsiteX1" fmla="*/ 232467 w 1992266"/>
                <a:gd name="connsiteY1" fmla="*/ 0 h 1394521"/>
                <a:gd name="connsiteX2" fmla="*/ 1759799 w 1992266"/>
                <a:gd name="connsiteY2" fmla="*/ 0 h 1394521"/>
                <a:gd name="connsiteX3" fmla="*/ 1992266 w 1992266"/>
                <a:gd name="connsiteY3" fmla="*/ 232467 h 1394521"/>
                <a:gd name="connsiteX4" fmla="*/ 1992266 w 1992266"/>
                <a:gd name="connsiteY4" fmla="*/ 1162054 h 1394521"/>
                <a:gd name="connsiteX5" fmla="*/ 1759799 w 1992266"/>
                <a:gd name="connsiteY5" fmla="*/ 1394521 h 1394521"/>
                <a:gd name="connsiteX6" fmla="*/ 232467 w 1992266"/>
                <a:gd name="connsiteY6" fmla="*/ 1394521 h 1394521"/>
                <a:gd name="connsiteX7" fmla="*/ 0 w 1992266"/>
                <a:gd name="connsiteY7" fmla="*/ 1162054 h 1394521"/>
                <a:gd name="connsiteX8" fmla="*/ 0 w 1992266"/>
                <a:gd name="connsiteY8" fmla="*/ 232467 h 1394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2266" h="1394521">
                  <a:moveTo>
                    <a:pt x="0" y="232467"/>
                  </a:moveTo>
                  <a:cubicBezTo>
                    <a:pt x="0" y="104079"/>
                    <a:pt x="104079" y="0"/>
                    <a:pt x="232467" y="0"/>
                  </a:cubicBezTo>
                  <a:lnTo>
                    <a:pt x="1759799" y="0"/>
                  </a:lnTo>
                  <a:cubicBezTo>
                    <a:pt x="1888187" y="0"/>
                    <a:pt x="1992266" y="104079"/>
                    <a:pt x="1992266" y="232467"/>
                  </a:cubicBezTo>
                  <a:lnTo>
                    <a:pt x="1992266" y="1162054"/>
                  </a:lnTo>
                  <a:cubicBezTo>
                    <a:pt x="1992266" y="1290442"/>
                    <a:pt x="1888187" y="1394521"/>
                    <a:pt x="1759799" y="1394521"/>
                  </a:cubicBezTo>
                  <a:lnTo>
                    <a:pt x="232467" y="1394521"/>
                  </a:lnTo>
                  <a:cubicBezTo>
                    <a:pt x="104079" y="1394521"/>
                    <a:pt x="0" y="1290442"/>
                    <a:pt x="0" y="1162054"/>
                  </a:cubicBezTo>
                  <a:lnTo>
                    <a:pt x="0" y="232467"/>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40477" tIns="140477" rIns="140477" bIns="140477" numCol="1" spcCol="1270" anchor="ctr" anchorCtr="0">
              <a:noAutofit/>
            </a:bodyPr>
            <a:lstStyle/>
            <a:p>
              <a:pPr marL="360000" indent="-360000">
                <a:spcBef>
                  <a:spcPts val="600"/>
                </a:spcBef>
                <a:spcAft>
                  <a:spcPts val="1200"/>
                </a:spcAft>
              </a:pPr>
              <a:r>
                <a:rPr lang="en-AU" b="1" i="1" dirty="0" smtClean="0">
                  <a:latin typeface="Helvetica" pitchFamily="34" charset="0"/>
                </a:rPr>
                <a:t>Customer service:</a:t>
              </a:r>
              <a:endParaRPr lang="en-AU" b="1" i="1" dirty="0">
                <a:latin typeface="Helvetica" pitchFamily="34" charset="0"/>
              </a:endParaRPr>
            </a:p>
          </p:txBody>
        </p:sp>
        <p:sp>
          <p:nvSpPr>
            <p:cNvPr id="11" name="Freeform 10"/>
            <p:cNvSpPr/>
            <p:nvPr/>
          </p:nvSpPr>
          <p:spPr>
            <a:xfrm>
              <a:off x="3657700" y="2133264"/>
              <a:ext cx="1448984" cy="1127114"/>
            </a:xfrm>
            <a:custGeom>
              <a:avLst/>
              <a:gdLst>
                <a:gd name="connsiteX0" fmla="*/ 0 w 1448984"/>
                <a:gd name="connsiteY0" fmla="*/ 0 h 1127114"/>
                <a:gd name="connsiteX1" fmla="*/ 1448984 w 1448984"/>
                <a:gd name="connsiteY1" fmla="*/ 0 h 1127114"/>
                <a:gd name="connsiteX2" fmla="*/ 1448984 w 1448984"/>
                <a:gd name="connsiteY2" fmla="*/ 1127114 h 1127114"/>
                <a:gd name="connsiteX3" fmla="*/ 0 w 1448984"/>
                <a:gd name="connsiteY3" fmla="*/ 1127114 h 1127114"/>
                <a:gd name="connsiteX4" fmla="*/ 0 w 1448984"/>
                <a:gd name="connsiteY4" fmla="*/ 0 h 1127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8984" h="1127114">
                  <a:moveTo>
                    <a:pt x="0" y="0"/>
                  </a:moveTo>
                  <a:lnTo>
                    <a:pt x="1448984" y="0"/>
                  </a:lnTo>
                  <a:lnTo>
                    <a:pt x="1448984" y="1127114"/>
                  </a:lnTo>
                  <a:lnTo>
                    <a:pt x="0" y="112711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2390" tIns="72390" rIns="72390" bIns="72390" numCol="1" spcCol="1270" anchor="ctr" anchorCtr="0">
              <a:noAutofit/>
            </a:bodyPr>
            <a:lstStyle/>
            <a:p>
              <a:pPr marL="114300" lvl="1" indent="-114300" algn="l" defTabSz="666750">
                <a:lnSpc>
                  <a:spcPct val="90000"/>
                </a:lnSpc>
                <a:spcBef>
                  <a:spcPct val="0"/>
                </a:spcBef>
                <a:spcAft>
                  <a:spcPct val="15000"/>
                </a:spcAft>
                <a:buChar char="••"/>
              </a:pPr>
              <a:endParaRPr lang="en-AU" sz="1500" kern="1200" dirty="0"/>
            </a:p>
          </p:txBody>
        </p:sp>
        <p:sp>
          <p:nvSpPr>
            <p:cNvPr id="12" name="Freeform 11"/>
            <p:cNvSpPr/>
            <p:nvPr/>
          </p:nvSpPr>
          <p:spPr>
            <a:xfrm>
              <a:off x="3203848" y="3789160"/>
              <a:ext cx="3600000" cy="1080000"/>
            </a:xfrm>
            <a:custGeom>
              <a:avLst/>
              <a:gdLst>
                <a:gd name="connsiteX0" fmla="*/ 0 w 1992266"/>
                <a:gd name="connsiteY0" fmla="*/ 232467 h 1394521"/>
                <a:gd name="connsiteX1" fmla="*/ 232467 w 1992266"/>
                <a:gd name="connsiteY1" fmla="*/ 0 h 1394521"/>
                <a:gd name="connsiteX2" fmla="*/ 1759799 w 1992266"/>
                <a:gd name="connsiteY2" fmla="*/ 0 h 1394521"/>
                <a:gd name="connsiteX3" fmla="*/ 1992266 w 1992266"/>
                <a:gd name="connsiteY3" fmla="*/ 232467 h 1394521"/>
                <a:gd name="connsiteX4" fmla="*/ 1992266 w 1992266"/>
                <a:gd name="connsiteY4" fmla="*/ 1162054 h 1394521"/>
                <a:gd name="connsiteX5" fmla="*/ 1759799 w 1992266"/>
                <a:gd name="connsiteY5" fmla="*/ 1394521 h 1394521"/>
                <a:gd name="connsiteX6" fmla="*/ 232467 w 1992266"/>
                <a:gd name="connsiteY6" fmla="*/ 1394521 h 1394521"/>
                <a:gd name="connsiteX7" fmla="*/ 0 w 1992266"/>
                <a:gd name="connsiteY7" fmla="*/ 1162054 h 1394521"/>
                <a:gd name="connsiteX8" fmla="*/ 0 w 1992266"/>
                <a:gd name="connsiteY8" fmla="*/ 232467 h 1394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2266" h="1394521">
                  <a:moveTo>
                    <a:pt x="0" y="232467"/>
                  </a:moveTo>
                  <a:cubicBezTo>
                    <a:pt x="0" y="104079"/>
                    <a:pt x="104079" y="0"/>
                    <a:pt x="232467" y="0"/>
                  </a:cubicBezTo>
                  <a:lnTo>
                    <a:pt x="1759799" y="0"/>
                  </a:lnTo>
                  <a:cubicBezTo>
                    <a:pt x="1888187" y="0"/>
                    <a:pt x="1992266" y="104079"/>
                    <a:pt x="1992266" y="232467"/>
                  </a:cubicBezTo>
                  <a:lnTo>
                    <a:pt x="1992266" y="1162054"/>
                  </a:lnTo>
                  <a:cubicBezTo>
                    <a:pt x="1992266" y="1290442"/>
                    <a:pt x="1888187" y="1394521"/>
                    <a:pt x="1759799" y="1394521"/>
                  </a:cubicBezTo>
                  <a:lnTo>
                    <a:pt x="232467" y="1394521"/>
                  </a:lnTo>
                  <a:cubicBezTo>
                    <a:pt x="104079" y="1394521"/>
                    <a:pt x="0" y="1290442"/>
                    <a:pt x="0" y="1162054"/>
                  </a:cubicBezTo>
                  <a:lnTo>
                    <a:pt x="0" y="232467"/>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140477" tIns="140477" rIns="140477" bIns="140477" numCol="1" spcCol="1270" anchor="ctr" anchorCtr="0">
              <a:noAutofit/>
            </a:bodyPr>
            <a:lstStyle/>
            <a:p>
              <a:pPr marL="352425">
                <a:spcBef>
                  <a:spcPts val="600"/>
                </a:spcBef>
                <a:spcAft>
                  <a:spcPts val="1200"/>
                </a:spcAft>
              </a:pPr>
              <a:r>
                <a:rPr lang="en-AU" b="1" i="1" dirty="0" smtClean="0">
                  <a:latin typeface="Helvetica" pitchFamily="34" charset="0"/>
                </a:rPr>
                <a:t>How to minimise disruption to tour group members</a:t>
              </a:r>
              <a:endParaRPr lang="en-AU" b="1" i="1" dirty="0">
                <a:latin typeface="Helvetica" pitchFamily="34" charset="0"/>
              </a:endParaRPr>
            </a:p>
          </p:txBody>
        </p:sp>
        <p:sp>
          <p:nvSpPr>
            <p:cNvPr id="13" name="Freeform 12"/>
            <p:cNvSpPr/>
            <p:nvPr/>
          </p:nvSpPr>
          <p:spPr>
            <a:xfrm>
              <a:off x="5309501" y="3699772"/>
              <a:ext cx="1448984" cy="1127114"/>
            </a:xfrm>
            <a:custGeom>
              <a:avLst/>
              <a:gdLst>
                <a:gd name="connsiteX0" fmla="*/ 0 w 1448984"/>
                <a:gd name="connsiteY0" fmla="*/ 0 h 1127114"/>
                <a:gd name="connsiteX1" fmla="*/ 1448984 w 1448984"/>
                <a:gd name="connsiteY1" fmla="*/ 0 h 1127114"/>
                <a:gd name="connsiteX2" fmla="*/ 1448984 w 1448984"/>
                <a:gd name="connsiteY2" fmla="*/ 1127114 h 1127114"/>
                <a:gd name="connsiteX3" fmla="*/ 0 w 1448984"/>
                <a:gd name="connsiteY3" fmla="*/ 1127114 h 1127114"/>
                <a:gd name="connsiteX4" fmla="*/ 0 w 1448984"/>
                <a:gd name="connsiteY4" fmla="*/ 0 h 1127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8984" h="1127114">
                  <a:moveTo>
                    <a:pt x="0" y="0"/>
                  </a:moveTo>
                  <a:lnTo>
                    <a:pt x="1448984" y="0"/>
                  </a:lnTo>
                  <a:lnTo>
                    <a:pt x="1448984" y="1127114"/>
                  </a:lnTo>
                  <a:lnTo>
                    <a:pt x="0" y="112711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7160" tIns="137160" rIns="137160" bIns="137160" numCol="1" spcCol="1270" anchor="ctr" anchorCtr="0">
              <a:noAutofit/>
            </a:bodyPr>
            <a:lstStyle/>
            <a:p>
              <a:pPr marL="285750" lvl="1" indent="-285750" algn="l" defTabSz="1244600">
                <a:lnSpc>
                  <a:spcPct val="90000"/>
                </a:lnSpc>
                <a:spcBef>
                  <a:spcPct val="0"/>
                </a:spcBef>
                <a:spcAft>
                  <a:spcPct val="15000"/>
                </a:spcAft>
                <a:buChar char="••"/>
              </a:pPr>
              <a:endParaRPr lang="en-AU" sz="2800" kern="1200" dirty="0"/>
            </a:p>
          </p:txBody>
        </p:sp>
      </p:gr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Autofit/>
          </a:bodyPr>
          <a:lstStyle/>
          <a:p>
            <a:pPr marL="714375" indent="-714375"/>
            <a:r>
              <a:rPr lang="en-US" sz="2800" b="1" dirty="0" smtClean="0">
                <a:solidFill>
                  <a:srgbClr val="FF6600"/>
                </a:solidFill>
                <a:latin typeface="Helvetica" pitchFamily="34" charset="0"/>
              </a:rPr>
              <a:t>5.4	Maintain contact with those responsible for resolving on tour issues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056784" cy="4165923"/>
          </a:xfrm>
        </p:spPr>
        <p:txBody>
          <a:bodyPr>
            <a:normAutofit/>
          </a:bodyPr>
          <a:lstStyle/>
          <a:p>
            <a:pPr marL="0" indent="0">
              <a:spcBef>
                <a:spcPts val="600"/>
              </a:spcBef>
              <a:spcAft>
                <a:spcPts val="1200"/>
              </a:spcAft>
              <a:buNone/>
            </a:pPr>
            <a:r>
              <a:rPr lang="en-US" sz="2200" dirty="0" smtClean="0">
                <a:latin typeface="Helvetica" pitchFamily="34" charset="0"/>
              </a:rPr>
              <a:t>Several parties will be involved in resolving tour issues and a clear strategy needs to be implemented including the following steps:  </a:t>
            </a:r>
          </a:p>
          <a:p>
            <a:pPr marL="360000" indent="-360000">
              <a:spcBef>
                <a:spcPts val="600"/>
              </a:spcBef>
              <a:spcAft>
                <a:spcPts val="1200"/>
              </a:spcAft>
            </a:pPr>
            <a:r>
              <a:rPr lang="en-US" sz="2200" dirty="0" smtClean="0">
                <a:latin typeface="Helvetica" pitchFamily="34" charset="0"/>
              </a:rPr>
              <a:t>Central contact point</a:t>
            </a:r>
          </a:p>
          <a:p>
            <a:pPr marL="360000" indent="-360000">
              <a:spcBef>
                <a:spcPts val="600"/>
              </a:spcBef>
              <a:spcAft>
                <a:spcPts val="1200"/>
              </a:spcAft>
            </a:pPr>
            <a:r>
              <a:rPr lang="en-US" sz="2200" dirty="0" smtClean="0">
                <a:latin typeface="Helvetica" pitchFamily="34" charset="0"/>
              </a:rPr>
              <a:t>Progress report </a:t>
            </a:r>
          </a:p>
          <a:p>
            <a:pPr marL="360000" indent="-360000">
              <a:spcBef>
                <a:spcPts val="600"/>
              </a:spcBef>
              <a:spcAft>
                <a:spcPts val="1200"/>
              </a:spcAft>
            </a:pPr>
            <a:r>
              <a:rPr lang="en-US" sz="2200" dirty="0" smtClean="0">
                <a:latin typeface="Helvetica" pitchFamily="34" charset="0"/>
              </a:rPr>
              <a:t>Financial settlement </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3229" y="2847205"/>
            <a:ext cx="1368152" cy="2498365"/>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Autofit/>
          </a:bodyPr>
          <a:lstStyle/>
          <a:p>
            <a:pPr marL="714375" indent="-714375"/>
            <a:r>
              <a:rPr lang="en-US" sz="2800" b="1" dirty="0" smtClean="0">
                <a:solidFill>
                  <a:srgbClr val="FF6600"/>
                </a:solidFill>
                <a:latin typeface="Helvetica" pitchFamily="34" charset="0"/>
              </a:rPr>
              <a:t>5.5	Advise industry colleagues regarding tour changes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056784" cy="4381947"/>
          </a:xfrm>
        </p:spPr>
        <p:txBody>
          <a:bodyPr>
            <a:normAutofit/>
          </a:bodyPr>
          <a:lstStyle/>
          <a:p>
            <a:pPr marL="0" indent="0">
              <a:spcBef>
                <a:spcPts val="600"/>
              </a:spcBef>
              <a:spcAft>
                <a:spcPts val="1200"/>
              </a:spcAft>
              <a:buNone/>
            </a:pPr>
            <a:r>
              <a:rPr lang="en-US" sz="2200" dirty="0" smtClean="0">
                <a:latin typeface="Helvetica" pitchFamily="34" charset="0"/>
              </a:rPr>
              <a:t>Any change, issue will have a flow on effect and some changes might have to be communicated to the products and service suppliers such as:  </a:t>
            </a:r>
          </a:p>
          <a:p>
            <a:pPr marL="360000" indent="-360000">
              <a:spcBef>
                <a:spcPts val="600"/>
              </a:spcBef>
              <a:spcAft>
                <a:spcPts val="1200"/>
              </a:spcAft>
            </a:pPr>
            <a:r>
              <a:rPr lang="en-US" sz="2200" dirty="0" smtClean="0">
                <a:latin typeface="Helvetica" pitchFamily="34" charset="0"/>
              </a:rPr>
              <a:t>Transport</a:t>
            </a:r>
          </a:p>
          <a:p>
            <a:pPr marL="360000" indent="-360000">
              <a:spcBef>
                <a:spcPts val="600"/>
              </a:spcBef>
              <a:spcAft>
                <a:spcPts val="1200"/>
              </a:spcAft>
            </a:pPr>
            <a:r>
              <a:rPr lang="en-US" sz="2200" dirty="0" smtClean="0">
                <a:latin typeface="Helvetica" pitchFamily="34" charset="0"/>
              </a:rPr>
              <a:t>Accommodation and catering</a:t>
            </a:r>
          </a:p>
          <a:p>
            <a:pPr marL="360000" indent="-360000">
              <a:spcBef>
                <a:spcPts val="600"/>
              </a:spcBef>
              <a:spcAft>
                <a:spcPts val="1200"/>
              </a:spcAft>
            </a:pPr>
            <a:r>
              <a:rPr lang="en-US" sz="2200" dirty="0" smtClean="0">
                <a:latin typeface="Helvetica" pitchFamily="34" charset="0"/>
              </a:rPr>
              <a:t>Venues</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5556" y="2962647"/>
            <a:ext cx="3048000" cy="1868424"/>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Autofit/>
          </a:bodyPr>
          <a:lstStyle/>
          <a:p>
            <a:pPr marL="714375" indent="-714375"/>
            <a:r>
              <a:rPr lang="en-US" sz="2800" b="1" dirty="0" smtClean="0">
                <a:solidFill>
                  <a:srgbClr val="FF6600"/>
                </a:solidFill>
                <a:latin typeface="Helvetica" pitchFamily="34" charset="0"/>
              </a:rPr>
              <a:t>5.6	Maintain regular contact with group</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056784" cy="4381947"/>
          </a:xfrm>
        </p:spPr>
        <p:txBody>
          <a:bodyPr>
            <a:normAutofit/>
          </a:bodyPr>
          <a:lstStyle/>
          <a:p>
            <a:pPr marL="360000" indent="-360000">
              <a:spcBef>
                <a:spcPts val="600"/>
              </a:spcBef>
              <a:spcAft>
                <a:spcPts val="1200"/>
              </a:spcAft>
            </a:pPr>
            <a:r>
              <a:rPr lang="en-US" sz="2200" dirty="0" smtClean="0">
                <a:latin typeface="Helvetica" pitchFamily="34" charset="0"/>
              </a:rPr>
              <a:t>Why?</a:t>
            </a:r>
          </a:p>
          <a:p>
            <a:pPr marL="711200" indent="-358775">
              <a:spcBef>
                <a:spcPts val="600"/>
              </a:spcBef>
              <a:spcAft>
                <a:spcPts val="1200"/>
              </a:spcAft>
              <a:buFont typeface="Arial" panose="020B0604020202020204" pitchFamily="34" charset="0"/>
              <a:buChar char="•"/>
            </a:pPr>
            <a:r>
              <a:rPr lang="en-US" sz="2200" dirty="0" smtClean="0">
                <a:latin typeface="Helvetica" pitchFamily="34" charset="0"/>
              </a:rPr>
              <a:t>To ensure the tour is running according to plan, schedule and in a safe manner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056784" cy="4381947"/>
          </a:xfrm>
        </p:spPr>
        <p:txBody>
          <a:bodyPr>
            <a:normAutofit/>
          </a:bodyPr>
          <a:lstStyle/>
          <a:p>
            <a:pPr marL="360000" indent="-360000">
              <a:spcBef>
                <a:spcPts val="600"/>
              </a:spcBef>
              <a:spcAft>
                <a:spcPts val="1200"/>
              </a:spcAft>
            </a:pPr>
            <a:r>
              <a:rPr lang="en-US" sz="2200" dirty="0" smtClean="0">
                <a:latin typeface="Helvetica" pitchFamily="34" charset="0"/>
              </a:rPr>
              <a:t>How?</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Establish most efficient method of contact</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Have all correct contacts names, details available at all times  </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Establish regular contact schedule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Autofit/>
          </a:bodyPr>
          <a:lstStyle/>
          <a:p>
            <a:pPr marL="714375" indent="-714375"/>
            <a:r>
              <a:rPr lang="en-US" sz="2800" b="1" dirty="0" smtClean="0">
                <a:solidFill>
                  <a:srgbClr val="FF6600"/>
                </a:solidFill>
                <a:latin typeface="Helvetica" pitchFamily="34" charset="0"/>
              </a:rPr>
              <a:t>5.6	Maintain regular contact with group</a:t>
            </a:r>
            <a:endParaRPr lang="en-US" sz="28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3233539"/>
            <a:ext cx="2082039" cy="1707272"/>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Autofit/>
          </a:bodyPr>
          <a:lstStyle/>
          <a:p>
            <a:pPr marL="714375" indent="-714375"/>
            <a:r>
              <a:rPr lang="en-US" sz="2800" b="1" dirty="0" smtClean="0">
                <a:solidFill>
                  <a:srgbClr val="FF6600"/>
                </a:solidFill>
                <a:latin typeface="Helvetica" pitchFamily="34" charset="0"/>
              </a:rPr>
              <a:t>5.7	Monitor the tour area</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056784" cy="4381947"/>
          </a:xfrm>
        </p:spPr>
        <p:txBody>
          <a:bodyPr>
            <a:normAutofit/>
          </a:bodyPr>
          <a:lstStyle/>
          <a:p>
            <a:pPr marL="360000" indent="-360000">
              <a:spcBef>
                <a:spcPts val="600"/>
              </a:spcBef>
              <a:spcAft>
                <a:spcPts val="1200"/>
              </a:spcAft>
            </a:pPr>
            <a:r>
              <a:rPr lang="en-US" sz="2200" dirty="0" smtClean="0">
                <a:latin typeface="Helvetica" pitchFamily="34" charset="0"/>
              </a:rPr>
              <a:t>Why? 	</a:t>
            </a:r>
          </a:p>
          <a:p>
            <a:pPr marL="711200" indent="-358775">
              <a:spcBef>
                <a:spcPts val="600"/>
              </a:spcBef>
              <a:spcAft>
                <a:spcPts val="1200"/>
              </a:spcAft>
              <a:buFont typeface="Arial" panose="020B0604020202020204" pitchFamily="34" charset="0"/>
              <a:buChar char="•"/>
            </a:pPr>
            <a:r>
              <a:rPr lang="en-US" sz="2200" dirty="0" smtClean="0">
                <a:latin typeface="Helvetica" pitchFamily="34" charset="0"/>
              </a:rPr>
              <a:t>Again, to ensure that, as much as possible, the tour is free of problems and risks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3768" y="3212976"/>
            <a:ext cx="3048000" cy="2642616"/>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056784" cy="4680520"/>
          </a:xfrm>
        </p:spPr>
        <p:txBody>
          <a:bodyPr>
            <a:normAutofit/>
          </a:bodyPr>
          <a:lstStyle/>
          <a:p>
            <a:pPr marL="360000" indent="-360000">
              <a:spcBef>
                <a:spcPts val="600"/>
              </a:spcBef>
              <a:spcAft>
                <a:spcPts val="1200"/>
              </a:spcAft>
            </a:pPr>
            <a:r>
              <a:rPr lang="en-US" sz="2200" dirty="0" smtClean="0">
                <a:latin typeface="Helvetica" pitchFamily="34" charset="0"/>
              </a:rPr>
              <a:t>How? 	</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Monitor countries, regions scheduled on the itinerary on a regular basis</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 Consult dedicated websites such as official government ones</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Maintain industry contacts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sp>
        <p:nvSpPr>
          <p:cNvPr id="7" name="Title 1"/>
          <p:cNvSpPr>
            <a:spLocks noGrp="1"/>
          </p:cNvSpPr>
          <p:nvPr>
            <p:ph type="title"/>
          </p:nvPr>
        </p:nvSpPr>
        <p:spPr>
          <a:xfrm>
            <a:off x="611560" y="332656"/>
            <a:ext cx="7467600" cy="1368152"/>
          </a:xfrm>
        </p:spPr>
        <p:txBody>
          <a:bodyPr>
            <a:noAutofit/>
          </a:bodyPr>
          <a:lstStyle/>
          <a:p>
            <a:pPr marL="714375" indent="-714375"/>
            <a:r>
              <a:rPr lang="en-US" sz="2800" b="1" dirty="0" smtClean="0">
                <a:solidFill>
                  <a:srgbClr val="FF6600"/>
                </a:solidFill>
                <a:latin typeface="Helvetica" pitchFamily="34" charset="0"/>
              </a:rPr>
              <a:t>5.7	Monitor the tour area</a:t>
            </a:r>
            <a:endParaRPr lang="en-US" sz="28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3589759"/>
            <a:ext cx="2000611" cy="1650504"/>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6 Deal with unexpected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360000" indent="-360000">
              <a:spcBef>
                <a:spcPts val="600"/>
              </a:spcBef>
              <a:spcAft>
                <a:spcPts val="1200"/>
              </a:spcAft>
            </a:pPr>
            <a:r>
              <a:rPr lang="en-US" sz="2200" dirty="0" smtClean="0">
                <a:latin typeface="Helvetica" pitchFamily="34" charset="0"/>
              </a:rPr>
              <a:t>Initiate contingency planning actions</a:t>
            </a:r>
          </a:p>
          <a:p>
            <a:pPr marL="360000" indent="-360000">
              <a:spcBef>
                <a:spcPts val="600"/>
              </a:spcBef>
              <a:spcAft>
                <a:spcPts val="1200"/>
              </a:spcAft>
            </a:pPr>
            <a:r>
              <a:rPr lang="en-US" sz="2200" dirty="0" smtClean="0">
                <a:latin typeface="Helvetica" pitchFamily="34" charset="0"/>
              </a:rPr>
              <a:t>Support tour group leaders/guides</a:t>
            </a:r>
          </a:p>
          <a:p>
            <a:pPr marL="360000" indent="-360000">
              <a:spcBef>
                <a:spcPts val="600"/>
              </a:spcBef>
              <a:spcAft>
                <a:spcPts val="1200"/>
              </a:spcAft>
            </a:pPr>
            <a:r>
              <a:rPr lang="en-US" sz="2200" dirty="0" smtClean="0">
                <a:latin typeface="Helvetica" pitchFamily="34" charset="0"/>
              </a:rPr>
              <a:t>Research and suggest additional action to be taken</a:t>
            </a:r>
          </a:p>
          <a:p>
            <a:pPr marL="360000" indent="-360000">
              <a:spcBef>
                <a:spcPts val="600"/>
              </a:spcBef>
              <a:spcAft>
                <a:spcPts val="1200"/>
              </a:spcAft>
            </a:pPr>
            <a:r>
              <a:rPr lang="en-US" sz="2200" dirty="0" smtClean="0">
                <a:latin typeface="Helvetica" pitchFamily="34" charset="0"/>
              </a:rPr>
              <a:t>Make arrangements in response to identified emergencies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4149080"/>
            <a:ext cx="2292294" cy="1528960"/>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6:</a:t>
            </a:r>
            <a:br>
              <a:rPr lang="en-US" sz="3400" b="1" dirty="0" smtClean="0">
                <a:solidFill>
                  <a:srgbClr val="FF6600"/>
                </a:solidFill>
                <a:latin typeface="Helvetica" pitchFamily="34" charset="0"/>
              </a:rPr>
            </a:br>
            <a:r>
              <a:rPr lang="en-US" sz="3400" b="1" dirty="0" smtClean="0">
                <a:solidFill>
                  <a:srgbClr val="FF6600"/>
                </a:solidFill>
                <a:latin typeface="Helvetica" pitchFamily="34" charset="0"/>
              </a:rPr>
              <a:t>Deal with unexpected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360000" indent="-360000">
              <a:spcBef>
                <a:spcPts val="600"/>
              </a:spcBef>
              <a:spcAft>
                <a:spcPts val="1200"/>
              </a:spcAft>
            </a:pPr>
            <a:r>
              <a:rPr lang="en-US" sz="2200" dirty="0" smtClean="0">
                <a:latin typeface="Helvetica" pitchFamily="34" charset="0"/>
              </a:rPr>
              <a:t>Handle media interest</a:t>
            </a:r>
          </a:p>
          <a:p>
            <a:pPr marL="360000" indent="-360000">
              <a:spcBef>
                <a:spcPts val="600"/>
              </a:spcBef>
              <a:spcAft>
                <a:spcPts val="1200"/>
              </a:spcAft>
            </a:pPr>
            <a:r>
              <a:rPr lang="en-US" sz="2200" dirty="0" smtClean="0">
                <a:latin typeface="Helvetica" pitchFamily="34" charset="0"/>
              </a:rPr>
              <a:t>Amend tour itinerary as required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35696" y="3212976"/>
            <a:ext cx="2255912" cy="1504693"/>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714375" indent="-714375"/>
            <a:r>
              <a:rPr lang="en-US" sz="3400" b="1" dirty="0" smtClean="0">
                <a:solidFill>
                  <a:srgbClr val="FF6600"/>
                </a:solidFill>
                <a:latin typeface="Helvetica" pitchFamily="34" charset="0"/>
              </a:rPr>
              <a:t>6.1	Initiate contingency planning actions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844824"/>
            <a:ext cx="7467600" cy="4165923"/>
          </a:xfrm>
        </p:spPr>
        <p:txBody>
          <a:bodyPr>
            <a:normAutofit/>
          </a:bodyPr>
          <a:lstStyle/>
          <a:p>
            <a:pPr marL="0" indent="0">
              <a:spcBef>
                <a:spcPts val="600"/>
              </a:spcBef>
              <a:spcAft>
                <a:spcPts val="1200"/>
              </a:spcAft>
              <a:buNone/>
            </a:pPr>
            <a:r>
              <a:rPr lang="en-US" sz="2200" dirty="0" smtClean="0">
                <a:latin typeface="Helvetica" pitchFamily="34" charset="0"/>
              </a:rPr>
              <a:t>An efficient organisation and its staff need to be prepared for unexpected events that can impact on the tour delivery. They must be managed in order to minimise disruption to tour group members.</a:t>
            </a:r>
          </a:p>
          <a:p>
            <a:pPr marL="360000" indent="-3600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3768" y="3573016"/>
            <a:ext cx="2007865" cy="2007865"/>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484784"/>
            <a:ext cx="7467600" cy="4525963"/>
          </a:xfrm>
        </p:spPr>
        <p:txBody>
          <a:bodyPr>
            <a:normAutofit/>
          </a:bodyPr>
          <a:lstStyle/>
          <a:p>
            <a:pPr marL="0" indent="0">
              <a:spcBef>
                <a:spcPts val="600"/>
              </a:spcBef>
              <a:spcAft>
                <a:spcPts val="1200"/>
              </a:spcAft>
              <a:buNone/>
            </a:pPr>
            <a:r>
              <a:rPr lang="en-US" sz="2200" dirty="0" smtClean="0">
                <a:latin typeface="Helvetica" pitchFamily="34" charset="0"/>
              </a:rPr>
              <a:t>Unexpected events that can impact on the tour delivery can be:</a:t>
            </a:r>
          </a:p>
          <a:p>
            <a:pPr marL="360000" indent="-360000">
              <a:spcBef>
                <a:spcPts val="600"/>
              </a:spcBef>
              <a:spcAft>
                <a:spcPts val="1200"/>
              </a:spcAft>
            </a:pPr>
            <a:r>
              <a:rPr lang="en-US" sz="2200" dirty="0" smtClean="0">
                <a:latin typeface="Helvetica" pitchFamily="34" charset="0"/>
              </a:rPr>
              <a:t>Traffic accident</a:t>
            </a:r>
          </a:p>
          <a:p>
            <a:pPr marL="360000" indent="-360000">
              <a:spcBef>
                <a:spcPts val="600"/>
              </a:spcBef>
              <a:spcAft>
                <a:spcPts val="1200"/>
              </a:spcAft>
            </a:pPr>
            <a:r>
              <a:rPr lang="en-US" sz="2200" dirty="0" smtClean="0">
                <a:latin typeface="Helvetica" pitchFamily="34" charset="0"/>
              </a:rPr>
              <a:t>Airline strike</a:t>
            </a:r>
          </a:p>
          <a:p>
            <a:pPr marL="360000" indent="-360000">
              <a:spcBef>
                <a:spcPts val="600"/>
              </a:spcBef>
              <a:spcAft>
                <a:spcPts val="1200"/>
              </a:spcAft>
            </a:pPr>
            <a:r>
              <a:rPr lang="en-US" sz="2200" dirty="0" smtClean="0">
                <a:latin typeface="Helvetica" pitchFamily="34" charset="0"/>
              </a:rPr>
              <a:t>Venue suddenly unavailable </a:t>
            </a:r>
          </a:p>
          <a:p>
            <a:pPr marL="360000" indent="-360000">
              <a:spcBef>
                <a:spcPts val="600"/>
              </a:spcBef>
              <a:spcAft>
                <a:spcPts val="1200"/>
              </a:spcAft>
            </a:pPr>
            <a:r>
              <a:rPr lang="en-US" sz="2200" dirty="0" smtClean="0">
                <a:latin typeface="Helvetica" pitchFamily="34" charset="0"/>
              </a:rPr>
              <a:t>Medical emergency</a:t>
            </a:r>
          </a:p>
          <a:p>
            <a:pPr marL="360000" indent="-360000">
              <a:spcBef>
                <a:spcPts val="600"/>
              </a:spcBef>
              <a:spcAft>
                <a:spcPts val="1200"/>
              </a:spcAft>
            </a:pPr>
            <a:r>
              <a:rPr lang="en-US" sz="2200" dirty="0" smtClean="0">
                <a:latin typeface="Helvetica" pitchFamily="34" charset="0"/>
              </a:rPr>
              <a:t>Natural disaster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a:bodyPr>
          <a:lstStyle/>
          <a:p>
            <a:pPr marL="714375" indent="-714375"/>
            <a:r>
              <a:rPr lang="en-US" sz="3400" b="1" dirty="0" smtClean="0">
                <a:solidFill>
                  <a:srgbClr val="FF6600"/>
                </a:solidFill>
                <a:latin typeface="Helvetica" pitchFamily="34" charset="0"/>
              </a:rPr>
              <a:t>6.1	Initiate contingency planning actions</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8024" y="2420888"/>
            <a:ext cx="1656184" cy="2484276"/>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556792"/>
            <a:ext cx="7467600" cy="4453955"/>
          </a:xfrm>
        </p:spPr>
        <p:txBody>
          <a:bodyPr>
            <a:normAutofit/>
          </a:bodyPr>
          <a:lstStyle/>
          <a:p>
            <a:pPr marL="0" indent="0">
              <a:spcBef>
                <a:spcPts val="600"/>
              </a:spcBef>
              <a:spcAft>
                <a:spcPts val="1200"/>
              </a:spcAft>
              <a:buNone/>
            </a:pPr>
            <a:r>
              <a:rPr lang="en-US" sz="2200" dirty="0" smtClean="0">
                <a:latin typeface="Helvetica" pitchFamily="34" charset="0"/>
              </a:rPr>
              <a:t>Contingency plans must be actioned according to the following sequence:</a:t>
            </a:r>
          </a:p>
          <a:p>
            <a:pPr marL="457200" indent="-457200">
              <a:spcBef>
                <a:spcPts val="600"/>
              </a:spcBef>
              <a:spcAft>
                <a:spcPts val="1200"/>
              </a:spcAft>
              <a:buFont typeface="+mj-lt"/>
              <a:buAutoNum type="arabicPeriod"/>
            </a:pPr>
            <a:r>
              <a:rPr lang="en-US" sz="2200" dirty="0" smtClean="0">
                <a:latin typeface="Helvetica" pitchFamily="34" charset="0"/>
              </a:rPr>
              <a:t>Identify the most appropriate contingency plan</a:t>
            </a:r>
          </a:p>
          <a:p>
            <a:pPr marL="457200" indent="-457200">
              <a:spcBef>
                <a:spcPts val="600"/>
              </a:spcBef>
              <a:spcAft>
                <a:spcPts val="1200"/>
              </a:spcAft>
              <a:buFont typeface="+mj-lt"/>
              <a:buAutoNum type="arabicPeriod"/>
            </a:pPr>
            <a:r>
              <a:rPr lang="en-US" sz="2200" dirty="0" smtClean="0">
                <a:latin typeface="Helvetica" pitchFamily="34" charset="0"/>
              </a:rPr>
              <a:t>Proceed with plan if appropriate, if not modify plan </a:t>
            </a:r>
          </a:p>
          <a:p>
            <a:pPr marL="457200" indent="-457200">
              <a:spcBef>
                <a:spcPts val="600"/>
              </a:spcBef>
              <a:spcAft>
                <a:spcPts val="1200"/>
              </a:spcAft>
              <a:buFont typeface="+mj-lt"/>
              <a:buAutoNum type="arabicPeriod"/>
            </a:pPr>
            <a:r>
              <a:rPr lang="en-US" sz="2200" dirty="0" smtClean="0">
                <a:latin typeface="Helvetica" pitchFamily="34" charset="0"/>
              </a:rPr>
              <a:t>If required, possible and applicable, organise third party support</a:t>
            </a:r>
          </a:p>
          <a:p>
            <a:pPr marL="457200" indent="-457200">
              <a:spcBef>
                <a:spcPts val="600"/>
              </a:spcBef>
              <a:spcAft>
                <a:spcPts val="1200"/>
              </a:spcAft>
              <a:buFont typeface="+mj-lt"/>
              <a:buAutoNum type="arabicPeriod"/>
            </a:pPr>
            <a:r>
              <a:rPr lang="en-US" sz="2200" dirty="0" smtClean="0">
                <a:latin typeface="Helvetica" pitchFamily="34" charset="0"/>
              </a:rPr>
              <a:t>Make it happen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sp>
        <p:nvSpPr>
          <p:cNvPr id="6" name="Title 1"/>
          <p:cNvSpPr>
            <a:spLocks noGrp="1"/>
          </p:cNvSpPr>
          <p:nvPr>
            <p:ph type="title"/>
          </p:nvPr>
        </p:nvSpPr>
        <p:spPr>
          <a:xfrm>
            <a:off x="611560" y="332656"/>
            <a:ext cx="7467600" cy="1143000"/>
          </a:xfrm>
        </p:spPr>
        <p:txBody>
          <a:bodyPr>
            <a:normAutofit/>
          </a:bodyPr>
          <a:lstStyle/>
          <a:p>
            <a:pPr marL="714375" indent="-714375"/>
            <a:r>
              <a:rPr lang="en-US" sz="3400" b="1" dirty="0" smtClean="0">
                <a:solidFill>
                  <a:srgbClr val="FF6600"/>
                </a:solidFill>
                <a:latin typeface="Helvetica" pitchFamily="34" charset="0"/>
              </a:rPr>
              <a:t>6.1	Initiate contingency planning actions</a:t>
            </a:r>
            <a:endParaRPr lang="en-US" sz="3400" b="1" dirty="0">
              <a:solidFill>
                <a:srgbClr val="FF6600"/>
              </a:solidFill>
              <a:latin typeface="Helvetic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68212" y="4221088"/>
            <a:ext cx="1979712" cy="1484784"/>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2636912"/>
            <a:ext cx="1812032" cy="1790288"/>
          </a:xfrm>
          <a:prstGeom prst="rect">
            <a:avLst/>
          </a:prstGeom>
        </p:spPr>
      </p:pic>
      <p:sp>
        <p:nvSpPr>
          <p:cNvPr id="2" name="Title 1"/>
          <p:cNvSpPr>
            <a:spLocks noGrp="1"/>
          </p:cNvSpPr>
          <p:nvPr>
            <p:ph type="title"/>
          </p:nvPr>
        </p:nvSpPr>
        <p:spPr>
          <a:xfrm>
            <a:off x="611560" y="332656"/>
            <a:ext cx="7467600" cy="1143000"/>
          </a:xfrm>
        </p:spPr>
        <p:txBody>
          <a:bodyPr>
            <a:normAutofit/>
          </a:bodyPr>
          <a:lstStyle/>
          <a:p>
            <a:pPr marL="714375" indent="-714375"/>
            <a:r>
              <a:rPr lang="en-US" sz="3400" b="1" dirty="0" smtClean="0">
                <a:solidFill>
                  <a:srgbClr val="FF6600"/>
                </a:solidFill>
                <a:latin typeface="Helvetica" pitchFamily="34" charset="0"/>
              </a:rPr>
              <a:t>6.2	Support tour leaders/guides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84784"/>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support can be provided in different manners depending on the type of unexpected events and the tour location:</a:t>
            </a:r>
          </a:p>
          <a:p>
            <a:pPr marL="360000" indent="-360000">
              <a:spcBef>
                <a:spcPts val="600"/>
              </a:spcBef>
              <a:spcAft>
                <a:spcPts val="1200"/>
              </a:spcAft>
            </a:pPr>
            <a:r>
              <a:rPr lang="en-US" sz="2200" dirty="0" smtClean="0">
                <a:latin typeface="Helvetica" pitchFamily="34" charset="0"/>
              </a:rPr>
              <a:t>Communication: suggestions and dialogue</a:t>
            </a:r>
          </a:p>
          <a:p>
            <a:pPr marL="360000" indent="-360000">
              <a:spcBef>
                <a:spcPts val="600"/>
              </a:spcBef>
              <a:spcAft>
                <a:spcPts val="1200"/>
              </a:spcAft>
            </a:pPr>
            <a:r>
              <a:rPr lang="en-US" sz="2200" dirty="0" smtClean="0">
                <a:latin typeface="Helvetica" pitchFamily="34" charset="0"/>
              </a:rPr>
              <a:t>On the ground support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484784"/>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support is essential to deal with any unexpected event in a quick and efficient manner:</a:t>
            </a:r>
          </a:p>
          <a:p>
            <a:pPr marL="360000" indent="-360000">
              <a:spcBef>
                <a:spcPts val="600"/>
              </a:spcBef>
              <a:spcAft>
                <a:spcPts val="1200"/>
              </a:spcAft>
            </a:pPr>
            <a:r>
              <a:rPr lang="en-US" sz="2200" dirty="0" smtClean="0">
                <a:latin typeface="Helvetica" pitchFamily="34" charset="0"/>
              </a:rPr>
              <a:t>Communication: suggestions and dialogue:</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Engage in open dialogue to make sure all parties can express their own suggestion </a:t>
            </a:r>
          </a:p>
          <a:p>
            <a:pPr marL="360000" indent="-360000">
              <a:spcBef>
                <a:spcPts val="600"/>
              </a:spcBef>
              <a:spcAft>
                <a:spcPts val="1200"/>
              </a:spcAft>
              <a:buNone/>
            </a:pPr>
            <a:r>
              <a:rPr lang="en-US" sz="2200" dirty="0" smtClean="0">
                <a:latin typeface="Helvetica"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a:bodyPr>
          <a:lstStyle/>
          <a:p>
            <a:pPr marL="714375" indent="-714375"/>
            <a:r>
              <a:rPr lang="en-US" sz="3400" b="1" dirty="0" smtClean="0">
                <a:solidFill>
                  <a:srgbClr val="FF6600"/>
                </a:solidFill>
                <a:latin typeface="Helvetica" pitchFamily="34" charset="0"/>
              </a:rPr>
              <a:t>6.2	Support tour leaders/guides</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3768" y="4077072"/>
            <a:ext cx="2544768" cy="1697360"/>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484784"/>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support is essential to deal with any unexpected event in a quick and efficient manner:</a:t>
            </a:r>
          </a:p>
          <a:p>
            <a:pPr marL="360000" indent="-360000">
              <a:spcBef>
                <a:spcPts val="600"/>
              </a:spcBef>
              <a:spcAft>
                <a:spcPts val="1200"/>
              </a:spcAft>
            </a:pPr>
            <a:r>
              <a:rPr lang="en-US" sz="2200" dirty="0" smtClean="0">
                <a:latin typeface="Helvetica" pitchFamily="34" charset="0"/>
              </a:rPr>
              <a:t>On the ground support:</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Decision might be taken to send dedicated staff members to support the staff on the ground </a:t>
            </a:r>
          </a:p>
          <a:p>
            <a:pPr marL="360000" indent="-360000">
              <a:spcBef>
                <a:spcPts val="600"/>
              </a:spcBef>
              <a:spcAft>
                <a:spcPts val="1200"/>
              </a:spcAft>
              <a:buNone/>
            </a:pPr>
            <a:r>
              <a:rPr lang="en-US" sz="2200" dirty="0" smtClean="0">
                <a:latin typeface="Helvetica"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a:bodyPr>
          <a:lstStyle/>
          <a:p>
            <a:pPr marL="714375" indent="-714375"/>
            <a:r>
              <a:rPr lang="en-US" sz="3400" b="1" dirty="0" smtClean="0">
                <a:solidFill>
                  <a:srgbClr val="FF6600"/>
                </a:solidFill>
                <a:latin typeface="Helvetica" pitchFamily="34" charset="0"/>
              </a:rPr>
              <a:t>6.2	Support tour leaders/guides</a:t>
            </a:r>
            <a:endParaRPr lang="en-US" sz="3400" b="1" dirty="0">
              <a:solidFill>
                <a:srgbClr val="FF6600"/>
              </a:solidFill>
              <a:latin typeface="Helvetica" pitchFamily="34" charset="0"/>
            </a:endParaRP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3848" y="4005064"/>
            <a:ext cx="1823864" cy="1823864"/>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4375" indent="-714375"/>
            <a:r>
              <a:rPr lang="en-US" sz="2800" b="1" dirty="0" smtClean="0">
                <a:solidFill>
                  <a:srgbClr val="FF6600"/>
                </a:solidFill>
                <a:latin typeface="Helvetica" pitchFamily="34" charset="0"/>
              </a:rPr>
              <a:t>6. 3	Research and suggest additional action to be taken</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539552" y="1628800"/>
            <a:ext cx="7467600" cy="5040560"/>
          </a:xfrm>
        </p:spPr>
        <p:txBody>
          <a:bodyPr>
            <a:normAutofit/>
          </a:bodyPr>
          <a:lstStyle/>
          <a:p>
            <a:pPr marL="0" indent="0">
              <a:spcBef>
                <a:spcPts val="600"/>
              </a:spcBef>
              <a:spcAft>
                <a:spcPts val="1200"/>
              </a:spcAft>
              <a:buNone/>
            </a:pPr>
            <a:r>
              <a:rPr lang="en-US" sz="2200" dirty="0" smtClean="0">
                <a:latin typeface="Helvetica" pitchFamily="34" charset="0"/>
              </a:rPr>
              <a:t>Additional information might be a way of supporting the staff and can be gathered:</a:t>
            </a:r>
          </a:p>
          <a:p>
            <a:pPr marL="360000" indent="-360000">
              <a:spcBef>
                <a:spcPts val="600"/>
              </a:spcBef>
              <a:spcAft>
                <a:spcPts val="1200"/>
              </a:spcAft>
            </a:pPr>
            <a:r>
              <a:rPr lang="en-US" sz="2200" dirty="0" smtClean="0">
                <a:latin typeface="Helvetica" pitchFamily="34" charset="0"/>
              </a:rPr>
              <a:t>Via internet, social media to get the very latest information</a:t>
            </a:r>
          </a:p>
          <a:p>
            <a:pPr marL="360000" indent="-360000">
              <a:spcBef>
                <a:spcPts val="600"/>
              </a:spcBef>
              <a:spcAft>
                <a:spcPts val="1200"/>
              </a:spcAft>
            </a:pPr>
            <a:r>
              <a:rPr lang="en-US" sz="2200" dirty="0" smtClean="0">
                <a:latin typeface="Helvetica" pitchFamily="34" charset="0"/>
              </a:rPr>
              <a:t>Using all available contacts and authorities:</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Local authorities</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Local agencies</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Local networks and contact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47767" y="3703687"/>
            <a:ext cx="1916832" cy="1916832"/>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4375" indent="-714375"/>
            <a:r>
              <a:rPr lang="en-US" sz="2800" b="1" dirty="0" smtClean="0">
                <a:solidFill>
                  <a:srgbClr val="FF6600"/>
                </a:solidFill>
                <a:latin typeface="Helvetica" pitchFamily="34" charset="0"/>
              </a:rPr>
              <a:t>6.4	Make arrangements in response to identified emergencies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539552" y="1628800"/>
            <a:ext cx="7467600" cy="4381947"/>
          </a:xfrm>
        </p:spPr>
        <p:txBody>
          <a:bodyPr>
            <a:normAutofit/>
          </a:bodyPr>
          <a:lstStyle/>
          <a:p>
            <a:pPr marL="0" indent="0">
              <a:spcBef>
                <a:spcPts val="1200"/>
              </a:spcBef>
              <a:spcAft>
                <a:spcPts val="600"/>
              </a:spcAft>
              <a:buNone/>
            </a:pPr>
            <a:r>
              <a:rPr lang="en-AU" sz="2200" dirty="0" smtClean="0">
                <a:latin typeface="Helvetica" pitchFamily="34" charset="0"/>
                <a:cs typeface="Helvetica" pitchFamily="34" charset="0"/>
              </a:rPr>
              <a:t>There are  many types of emergencies that may arise during a tour, and an emergency might result in a significant disruption or even the cancellation of the tour. </a:t>
            </a:r>
          </a:p>
          <a:p>
            <a:pPr marL="0" indent="0">
              <a:spcBef>
                <a:spcPts val="1200"/>
              </a:spcBef>
              <a:spcAft>
                <a:spcPts val="600"/>
              </a:spcAft>
              <a:buNone/>
            </a:pPr>
            <a:r>
              <a:rPr lang="en-AU" sz="2200" dirty="0" smtClean="0">
                <a:latin typeface="Helvetica" pitchFamily="34" charset="0"/>
                <a:cs typeface="Helvetica" pitchFamily="34" charset="0"/>
              </a:rPr>
              <a:t>Protocols for individual businesses will vary in respect of their procedures for providing support during an emergency and may include.</a:t>
            </a:r>
          </a:p>
          <a:p>
            <a:pPr marL="360000" indent="-360000">
              <a:spcBef>
                <a:spcPts val="12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71800" y="4293096"/>
            <a:ext cx="2279915" cy="1709936"/>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772816"/>
            <a:ext cx="7467600" cy="4237931"/>
          </a:xfrm>
        </p:spPr>
        <p:txBody>
          <a:bodyPr>
            <a:normAutofit/>
          </a:bodyPr>
          <a:lstStyle/>
          <a:p>
            <a:pPr marL="0" indent="0">
              <a:spcBef>
                <a:spcPts val="600"/>
              </a:spcBef>
              <a:spcAft>
                <a:spcPts val="1200"/>
              </a:spcAft>
              <a:buNone/>
            </a:pPr>
            <a:r>
              <a:rPr lang="en-US" sz="2200" dirty="0" smtClean="0">
                <a:latin typeface="Helvetica" pitchFamily="34" charset="0"/>
              </a:rPr>
              <a:t>Tour changes ranging from a tour change ranging from: </a:t>
            </a:r>
          </a:p>
          <a:p>
            <a:pPr marL="360000" indent="-360000">
              <a:spcBef>
                <a:spcPts val="600"/>
              </a:spcBef>
              <a:spcAft>
                <a:spcPts val="1200"/>
              </a:spcAft>
            </a:pPr>
            <a:r>
              <a:rPr lang="en-US" sz="2200" dirty="0" smtClean="0">
                <a:latin typeface="Helvetica" pitchFamily="34" charset="0"/>
              </a:rPr>
              <a:t>A change in the schedule</a:t>
            </a:r>
          </a:p>
          <a:p>
            <a:pPr marL="360000" indent="-360000">
              <a:spcBef>
                <a:spcPts val="600"/>
              </a:spcBef>
              <a:spcAft>
                <a:spcPts val="1200"/>
              </a:spcAft>
            </a:pPr>
            <a:r>
              <a:rPr lang="en-US" sz="2200" dirty="0" smtClean="0">
                <a:latin typeface="Helvetica" pitchFamily="34" charset="0"/>
              </a:rPr>
              <a:t>A change of accommodation, restaurant</a:t>
            </a:r>
          </a:p>
          <a:p>
            <a:pPr marL="360000" indent="-360000">
              <a:spcBef>
                <a:spcPts val="600"/>
              </a:spcBef>
              <a:spcAft>
                <a:spcPts val="1200"/>
              </a:spcAft>
            </a:pPr>
            <a:r>
              <a:rPr lang="en-US" sz="2200" dirty="0" smtClean="0">
                <a:latin typeface="Helvetica" pitchFamily="34" charset="0"/>
              </a:rPr>
              <a:t>An alternative venue, option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Autofit/>
          </a:bodyPr>
          <a:lstStyle/>
          <a:p>
            <a:pPr marL="714375" indent="-714375"/>
            <a:r>
              <a:rPr lang="en-US" sz="2800" b="1" dirty="0" smtClean="0">
                <a:solidFill>
                  <a:srgbClr val="FF6600"/>
                </a:solidFill>
                <a:latin typeface="Helvetica" pitchFamily="34" charset="0"/>
              </a:rPr>
              <a:t>6.4	Make arrangements in response to identified emergencies</a:t>
            </a:r>
            <a:endParaRPr lang="en-US" sz="28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2" y="3861048"/>
            <a:ext cx="2447543" cy="1638688"/>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628800"/>
            <a:ext cx="7467600" cy="4381947"/>
          </a:xfrm>
        </p:spPr>
        <p:txBody>
          <a:bodyPr>
            <a:normAutofit/>
          </a:bodyPr>
          <a:lstStyle/>
          <a:p>
            <a:pPr marL="0" indent="0">
              <a:spcBef>
                <a:spcPts val="600"/>
              </a:spcBef>
              <a:spcAft>
                <a:spcPts val="1200"/>
              </a:spcAft>
              <a:buNone/>
            </a:pPr>
            <a:r>
              <a:rPr lang="en-US" sz="2200" dirty="0" smtClean="0">
                <a:latin typeface="Helvetica" pitchFamily="34" charset="0"/>
              </a:rPr>
              <a:t>Cancelling tour will be a decision taken as a ‘last resort’ after all other avenue have been explored and will involve:</a:t>
            </a:r>
          </a:p>
          <a:p>
            <a:pPr marL="360000" indent="-360000">
              <a:spcBef>
                <a:spcPts val="600"/>
              </a:spcBef>
              <a:spcAft>
                <a:spcPts val="1200"/>
              </a:spcAft>
            </a:pPr>
            <a:r>
              <a:rPr lang="en-US" sz="2200" dirty="0" smtClean="0">
                <a:latin typeface="Helvetica" pitchFamily="34" charset="0"/>
              </a:rPr>
              <a:t>Repatriation</a:t>
            </a:r>
          </a:p>
          <a:p>
            <a:pPr marL="360000" indent="-360000">
              <a:spcBef>
                <a:spcPts val="600"/>
              </a:spcBef>
              <a:spcAft>
                <a:spcPts val="1200"/>
              </a:spcAft>
            </a:pPr>
            <a:r>
              <a:rPr lang="en-US" sz="2200" dirty="0" smtClean="0">
                <a:latin typeface="Helvetica" pitchFamily="34" charset="0"/>
              </a:rPr>
              <a:t>Liaising with suppliers(if possible) to cancel the  products and services booked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Autofit/>
          </a:bodyPr>
          <a:lstStyle/>
          <a:p>
            <a:pPr marL="714375" indent="-714375"/>
            <a:r>
              <a:rPr lang="en-US" sz="2800" b="1" dirty="0" smtClean="0">
                <a:solidFill>
                  <a:srgbClr val="FF6600"/>
                </a:solidFill>
                <a:latin typeface="Helvetica" pitchFamily="34" charset="0"/>
              </a:rPr>
              <a:t>6.4	Make arrangements in response to identified emergencies</a:t>
            </a:r>
            <a:endParaRPr lang="en-US" sz="28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3933056"/>
            <a:ext cx="2016224" cy="1512168"/>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628800"/>
            <a:ext cx="7467600" cy="4680520"/>
          </a:xfrm>
        </p:spPr>
        <p:txBody>
          <a:bodyPr>
            <a:normAutofit/>
          </a:bodyPr>
          <a:lstStyle/>
          <a:p>
            <a:pPr marL="0" indent="0">
              <a:spcBef>
                <a:spcPts val="600"/>
              </a:spcBef>
              <a:spcAft>
                <a:spcPts val="1200"/>
              </a:spcAft>
              <a:buNone/>
            </a:pPr>
            <a:r>
              <a:rPr lang="en-US" sz="2200" dirty="0" smtClean="0">
                <a:latin typeface="Helvetica" pitchFamily="34" charset="0"/>
              </a:rPr>
              <a:t>When managing an emergency, communication with tour group members families needs to:  </a:t>
            </a:r>
          </a:p>
          <a:p>
            <a:pPr marL="360000" indent="-360000">
              <a:spcBef>
                <a:spcPts val="600"/>
              </a:spcBef>
              <a:spcAft>
                <a:spcPts val="1200"/>
              </a:spcAft>
            </a:pPr>
            <a:r>
              <a:rPr lang="en-US" sz="2200" dirty="0" smtClean="0">
                <a:latin typeface="Helvetica" pitchFamily="34" charset="0"/>
              </a:rPr>
              <a:t>Take place on a regular basis </a:t>
            </a:r>
          </a:p>
          <a:p>
            <a:pPr marL="360000" indent="-360000">
              <a:spcBef>
                <a:spcPts val="600"/>
              </a:spcBef>
              <a:spcAft>
                <a:spcPts val="1200"/>
              </a:spcAft>
            </a:pPr>
            <a:r>
              <a:rPr lang="en-US" sz="2200" dirty="0" smtClean="0">
                <a:latin typeface="Helvetica" pitchFamily="34" charset="0"/>
              </a:rPr>
              <a:t>Be timely so the families DO NOT hear the latest news via the media</a:t>
            </a:r>
          </a:p>
          <a:p>
            <a:pPr marL="360000" indent="-360000">
              <a:spcBef>
                <a:spcPts val="600"/>
              </a:spcBef>
              <a:spcAft>
                <a:spcPts val="1200"/>
              </a:spcAft>
            </a:pPr>
            <a:r>
              <a:rPr lang="en-US" sz="2200" dirty="0" smtClean="0">
                <a:latin typeface="Helvetica" pitchFamily="34" charset="0"/>
              </a:rPr>
              <a:t>Families must be dealt with respect, </a:t>
            </a:r>
            <a:br>
              <a:rPr lang="en-US" sz="2200" dirty="0" smtClean="0">
                <a:latin typeface="Helvetica" pitchFamily="34" charset="0"/>
              </a:rPr>
            </a:br>
            <a:r>
              <a:rPr lang="en-US" sz="2200" dirty="0" smtClean="0">
                <a:latin typeface="Helvetica" pitchFamily="34" charset="0"/>
              </a:rPr>
              <a:t>dignity and sensitivity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Autofit/>
          </a:bodyPr>
          <a:lstStyle/>
          <a:p>
            <a:pPr marL="714375" indent="-714375"/>
            <a:r>
              <a:rPr lang="en-US" sz="2800" b="1" dirty="0" smtClean="0">
                <a:solidFill>
                  <a:srgbClr val="FF6600"/>
                </a:solidFill>
                <a:latin typeface="Helvetica" pitchFamily="34" charset="0"/>
              </a:rPr>
              <a:t>6.4	Make arrangements in response to identified emergencies</a:t>
            </a:r>
            <a:endParaRPr lang="en-US" sz="28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26943" y="3933056"/>
            <a:ext cx="2351923" cy="1763942"/>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4375" indent="-714375"/>
            <a:r>
              <a:rPr lang="en-US" sz="3400" b="1" dirty="0" smtClean="0">
                <a:solidFill>
                  <a:srgbClr val="FF6600"/>
                </a:solidFill>
                <a:latin typeface="Helvetica" pitchFamily="34" charset="0"/>
              </a:rPr>
              <a:t>6.5	Handle media interest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84784"/>
            <a:ext cx="7416824" cy="4525963"/>
          </a:xfrm>
        </p:spPr>
        <p:txBody>
          <a:bodyPr>
            <a:normAutofit/>
          </a:bodyPr>
          <a:lstStyle/>
          <a:p>
            <a:pPr marL="0" indent="0">
              <a:spcBef>
                <a:spcPts val="600"/>
              </a:spcBef>
              <a:spcAft>
                <a:spcPts val="1200"/>
              </a:spcAft>
              <a:buNone/>
            </a:pPr>
            <a:r>
              <a:rPr lang="en-US" sz="2200" dirty="0" smtClean="0">
                <a:latin typeface="Helvetica" pitchFamily="34" charset="0"/>
              </a:rPr>
              <a:t>When the media becomes involved, the organisation needs to: </a:t>
            </a:r>
          </a:p>
          <a:p>
            <a:pPr marL="360000" indent="-360000">
              <a:spcBef>
                <a:spcPts val="600"/>
              </a:spcBef>
              <a:spcAft>
                <a:spcPts val="1200"/>
              </a:spcAft>
            </a:pPr>
            <a:r>
              <a:rPr lang="en-US" sz="2200" dirty="0" smtClean="0">
                <a:latin typeface="Helvetica" pitchFamily="34" charset="0"/>
              </a:rPr>
              <a:t>Nominate one person to be act as the liaison between the organisation and the media  </a:t>
            </a:r>
          </a:p>
          <a:p>
            <a:pPr marL="360000" indent="-360000">
              <a:spcBef>
                <a:spcPts val="600"/>
              </a:spcBef>
              <a:spcAft>
                <a:spcPts val="1200"/>
              </a:spcAft>
            </a:pPr>
            <a:r>
              <a:rPr lang="en-US" sz="2200" dirty="0" smtClean="0">
                <a:latin typeface="Helvetica" pitchFamily="34" charset="0"/>
              </a:rPr>
              <a:t>Ensure the information they issue is </a:t>
            </a:r>
            <a:br>
              <a:rPr lang="en-US" sz="2200" dirty="0" smtClean="0">
                <a:latin typeface="Helvetica" pitchFamily="34" charset="0"/>
              </a:rPr>
            </a:br>
            <a:r>
              <a:rPr lang="en-US" sz="2200" dirty="0" smtClean="0">
                <a:latin typeface="Helvetica" pitchFamily="34" charset="0"/>
              </a:rPr>
              <a:t>truthful and accurate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2" y="2924944"/>
            <a:ext cx="2015409" cy="2039888"/>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4375" indent="-714375"/>
            <a:r>
              <a:rPr lang="en-US" sz="3400" b="1" dirty="0" smtClean="0">
                <a:solidFill>
                  <a:srgbClr val="FF6600"/>
                </a:solidFill>
                <a:latin typeface="Helvetica" pitchFamily="34" charset="0"/>
              </a:rPr>
              <a:t>6.6	Amend tour itinerary as required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628800"/>
            <a:ext cx="7467600" cy="4381947"/>
          </a:xfrm>
        </p:spPr>
        <p:txBody>
          <a:bodyPr>
            <a:normAutofit/>
          </a:bodyPr>
          <a:lstStyle/>
          <a:p>
            <a:pPr marL="0" indent="0">
              <a:spcBef>
                <a:spcPts val="600"/>
              </a:spcBef>
              <a:spcAft>
                <a:spcPts val="1200"/>
              </a:spcAft>
              <a:buNone/>
            </a:pPr>
            <a:r>
              <a:rPr lang="en-US" sz="2200" dirty="0" smtClean="0">
                <a:latin typeface="Helvetica" pitchFamily="34" charset="0"/>
              </a:rPr>
              <a:t>The recommended procedure was covered under element 5 and include considering the following issues:</a:t>
            </a:r>
          </a:p>
          <a:p>
            <a:pPr marL="360000" indent="-360000">
              <a:spcBef>
                <a:spcPts val="600"/>
              </a:spcBef>
              <a:spcAft>
                <a:spcPts val="1200"/>
              </a:spcAft>
            </a:pPr>
            <a:r>
              <a:rPr lang="en-US" sz="2200" dirty="0" smtClean="0">
                <a:latin typeface="Helvetica" pitchFamily="34" charset="0"/>
              </a:rPr>
              <a:t>On the ground response </a:t>
            </a:r>
          </a:p>
          <a:p>
            <a:pPr marL="360000" indent="-360000">
              <a:spcBef>
                <a:spcPts val="600"/>
              </a:spcBef>
              <a:spcAft>
                <a:spcPts val="1200"/>
              </a:spcAft>
            </a:pPr>
            <a:r>
              <a:rPr lang="en-US" sz="2200" dirty="0" smtClean="0">
                <a:latin typeface="Helvetica" pitchFamily="34" charset="0"/>
              </a:rPr>
              <a:t>Legislation and liabilities</a:t>
            </a:r>
          </a:p>
          <a:p>
            <a:pPr marL="360000" indent="-360000">
              <a:spcBef>
                <a:spcPts val="600"/>
              </a:spcBef>
              <a:spcAft>
                <a:spcPts val="1200"/>
              </a:spcAft>
            </a:pPr>
            <a:r>
              <a:rPr lang="en-US" sz="2200" dirty="0" smtClean="0">
                <a:latin typeface="Helvetica" pitchFamily="34" charset="0"/>
              </a:rPr>
              <a:t>Confirmation and communication</a:t>
            </a:r>
          </a:p>
          <a:p>
            <a:pPr marL="360000" indent="-360000">
              <a:spcBef>
                <a:spcPts val="600"/>
              </a:spcBef>
              <a:spcAft>
                <a:spcPts val="1200"/>
              </a:spcAft>
            </a:pPr>
            <a:r>
              <a:rPr lang="en-US" sz="2200" dirty="0" smtClean="0">
                <a:latin typeface="Helvetica" pitchFamily="34" charset="0"/>
              </a:rPr>
              <a:t>Customer service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84651" y="2708920"/>
            <a:ext cx="2344885" cy="2033016"/>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Element 7:</a:t>
            </a:r>
            <a:br>
              <a:rPr lang="en-AU" sz="3400" b="1" dirty="0" smtClean="0">
                <a:solidFill>
                  <a:srgbClr val="FF6600"/>
                </a:solidFill>
                <a:latin typeface="Helvetica" pitchFamily="34" charset="0"/>
              </a:rPr>
            </a:br>
            <a:r>
              <a:rPr lang="en-AU" sz="3400" b="1" dirty="0" smtClean="0">
                <a:solidFill>
                  <a:srgbClr val="FF6600"/>
                </a:solidFill>
                <a:latin typeface="Helvetica" pitchFamily="34" charset="0"/>
              </a:rPr>
              <a:t>Finalise the tour</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39552" y="1772816"/>
            <a:ext cx="7467600" cy="4237931"/>
          </a:xfrm>
        </p:spPr>
        <p:txBody>
          <a:bodyPr>
            <a:normAutofit/>
          </a:bodyPr>
          <a:lstStyle/>
          <a:p>
            <a:pPr marL="360000" indent="-360000">
              <a:spcBef>
                <a:spcPts val="600"/>
              </a:spcBef>
              <a:spcAft>
                <a:spcPts val="1200"/>
              </a:spcAft>
            </a:pPr>
            <a:r>
              <a:rPr lang="en-US" sz="2200" dirty="0" smtClean="0">
                <a:latin typeface="Helvetica" pitchFamily="34" charset="0"/>
              </a:rPr>
              <a:t>Solicit feedback from tour group members</a:t>
            </a:r>
          </a:p>
          <a:p>
            <a:pPr marL="360000" indent="-360000">
              <a:spcBef>
                <a:spcPts val="600"/>
              </a:spcBef>
              <a:spcAft>
                <a:spcPts val="1200"/>
              </a:spcAft>
            </a:pPr>
            <a:r>
              <a:rPr lang="en-US" sz="2200" dirty="0" smtClean="0">
                <a:latin typeface="Helvetica" pitchFamily="34" charset="0"/>
              </a:rPr>
              <a:t>Solicit feedback from suppliers, providers and carriers</a:t>
            </a:r>
          </a:p>
          <a:p>
            <a:pPr marL="360000" indent="-360000">
              <a:spcBef>
                <a:spcPts val="600"/>
              </a:spcBef>
              <a:spcAft>
                <a:spcPts val="1200"/>
              </a:spcAft>
            </a:pPr>
            <a:r>
              <a:rPr lang="en-US" sz="2200" dirty="0" smtClean="0">
                <a:latin typeface="Helvetica" pitchFamily="34" charset="0"/>
              </a:rPr>
              <a:t>Debrief tour staff</a:t>
            </a:r>
          </a:p>
          <a:p>
            <a:pPr marL="360000" indent="-360000">
              <a:spcBef>
                <a:spcPts val="600"/>
              </a:spcBef>
              <a:spcAft>
                <a:spcPts val="1200"/>
              </a:spcAft>
            </a:pPr>
            <a:r>
              <a:rPr lang="en-US" sz="2200" dirty="0" smtClean="0">
                <a:latin typeface="Helvetica" pitchFamily="34" charset="0"/>
              </a:rPr>
              <a:t>Prepare report</a:t>
            </a:r>
          </a:p>
          <a:p>
            <a:pPr marL="360000" indent="-360000">
              <a:spcBef>
                <a:spcPts val="600"/>
              </a:spcBef>
              <a:spcAft>
                <a:spcPts val="1200"/>
              </a:spcAft>
            </a:pPr>
            <a:r>
              <a:rPr lang="en-US" sz="2200" dirty="0" smtClean="0">
                <a:latin typeface="Helvetica" pitchFamily="34" charset="0"/>
              </a:rPr>
              <a:t>Share </a:t>
            </a:r>
            <a:r>
              <a:rPr lang="en-US" sz="2200" dirty="0">
                <a:latin typeface="Helvetica" pitchFamily="34" charset="0"/>
              </a:rPr>
              <a:t>information with suppliers, </a:t>
            </a:r>
            <a:r>
              <a:rPr lang="en-US" sz="2200" dirty="0" smtClean="0">
                <a:latin typeface="Helvetica" pitchFamily="34" charset="0"/>
              </a:rPr>
              <a:t/>
            </a:r>
            <a:br>
              <a:rPr lang="en-US" sz="2200" dirty="0" smtClean="0">
                <a:latin typeface="Helvetica" pitchFamily="34" charset="0"/>
              </a:rPr>
            </a:br>
            <a:r>
              <a:rPr lang="en-US" sz="2200" dirty="0" smtClean="0">
                <a:latin typeface="Helvetica" pitchFamily="34" charset="0"/>
              </a:rPr>
              <a:t>providers </a:t>
            </a:r>
            <a:r>
              <a:rPr lang="en-US" sz="2200" dirty="0">
                <a:latin typeface="Helvetica" pitchFamily="34" charset="0"/>
              </a:rPr>
              <a:t>and carriers</a:t>
            </a:r>
          </a:p>
          <a:p>
            <a:pPr marL="360000" indent="-360000">
              <a:spcBef>
                <a:spcPts val="600"/>
              </a:spcBef>
              <a:spcAft>
                <a:spcPts val="1200"/>
              </a:spcAft>
            </a:pPr>
            <a:r>
              <a:rPr lang="en-US" sz="2200" dirty="0">
                <a:latin typeface="Helvetica" pitchFamily="34" charset="0"/>
              </a:rPr>
              <a:t>Archive information for future reference</a:t>
            </a:r>
          </a:p>
          <a:p>
            <a:pPr marL="360000" indent="-3600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00192" y="2924944"/>
            <a:ext cx="2064697" cy="1965592"/>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4375" indent="-714375"/>
            <a:r>
              <a:rPr lang="en-US" sz="2800" b="1" dirty="0" smtClean="0">
                <a:solidFill>
                  <a:srgbClr val="FF6600"/>
                </a:solidFill>
                <a:latin typeface="Helvetica" pitchFamily="34" charset="0"/>
              </a:rPr>
              <a:t>7.1	Solicit feedback from tour group members</a:t>
            </a:r>
            <a:endParaRPr lang="en-US" sz="28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grpSp>
        <p:nvGrpSpPr>
          <p:cNvPr id="1038" name="Group 1037"/>
          <p:cNvGrpSpPr/>
          <p:nvPr/>
        </p:nvGrpSpPr>
        <p:grpSpPr>
          <a:xfrm>
            <a:off x="1043608" y="2152426"/>
            <a:ext cx="5146852" cy="3048001"/>
            <a:chOff x="2382277" y="2640855"/>
            <a:chExt cx="5146852" cy="3048001"/>
          </a:xfrm>
        </p:grpSpPr>
        <p:grpSp>
          <p:nvGrpSpPr>
            <p:cNvPr id="31" name="Group 30"/>
            <p:cNvGrpSpPr/>
            <p:nvPr/>
          </p:nvGrpSpPr>
          <p:grpSpPr>
            <a:xfrm>
              <a:off x="2382277" y="2640855"/>
              <a:ext cx="5146852" cy="3048001"/>
              <a:chOff x="2382277" y="2640855"/>
              <a:chExt cx="5146852" cy="3048001"/>
            </a:xfrm>
          </p:grpSpPr>
          <p:sp>
            <p:nvSpPr>
              <p:cNvPr id="1024" name="Straight Connector 1023"/>
              <p:cNvSpPr/>
              <p:nvPr/>
            </p:nvSpPr>
            <p:spPr>
              <a:xfrm>
                <a:off x="3906277" y="5231656"/>
                <a:ext cx="3060192" cy="0"/>
              </a:xfrm>
              <a:prstGeom prst="line">
                <a:avLst/>
              </a:prstGeom>
              <a:scene3d>
                <a:camera prst="orthographicFront"/>
                <a:lightRig rig="threePt" dir="t">
                  <a:rot lat="0" lon="0" rev="7500000"/>
                </a:lightRig>
              </a:scene3d>
              <a:sp3d z="-40000" prstMaterial="matte"/>
            </p:spPr>
            <p:style>
              <a:lnRef idx="2">
                <a:schemeClr val="accent4">
                  <a:hueOff val="0"/>
                  <a:satOff val="0"/>
                  <a:lumOff val="0"/>
                  <a:alphaOff val="0"/>
                </a:schemeClr>
              </a:lnRef>
              <a:fillRef idx="0">
                <a:schemeClr val="accent4">
                  <a:hueOff val="0"/>
                  <a:satOff val="0"/>
                  <a:lumOff val="0"/>
                  <a:alphaOff val="0"/>
                </a:schemeClr>
              </a:fillRef>
              <a:effectRef idx="0">
                <a:schemeClr val="accent4">
                  <a:hueOff val="0"/>
                  <a:satOff val="0"/>
                  <a:lumOff val="0"/>
                  <a:alphaOff val="0"/>
                </a:schemeClr>
              </a:effectRef>
              <a:fontRef idx="minor">
                <a:schemeClr val="tx1">
                  <a:hueOff val="0"/>
                  <a:satOff val="0"/>
                  <a:lumOff val="0"/>
                  <a:alphaOff val="0"/>
                </a:schemeClr>
              </a:fontRef>
            </p:style>
          </p:sp>
          <p:sp>
            <p:nvSpPr>
              <p:cNvPr id="1025" name="Straight Connector 1024"/>
              <p:cNvSpPr/>
              <p:nvPr/>
            </p:nvSpPr>
            <p:spPr>
              <a:xfrm>
                <a:off x="3906277" y="4164855"/>
                <a:ext cx="2621280" cy="0"/>
              </a:xfrm>
              <a:prstGeom prst="line">
                <a:avLst/>
              </a:prstGeom>
              <a:scene3d>
                <a:camera prst="orthographicFront"/>
                <a:lightRig rig="threePt" dir="t">
                  <a:rot lat="0" lon="0" rev="7500000"/>
                </a:lightRig>
              </a:scene3d>
              <a:sp3d z="-40000" prstMaterial="matte"/>
            </p:spPr>
            <p:style>
              <a:lnRef idx="2">
                <a:schemeClr val="accent4">
                  <a:hueOff val="0"/>
                  <a:satOff val="0"/>
                  <a:lumOff val="0"/>
                  <a:alphaOff val="0"/>
                </a:schemeClr>
              </a:lnRef>
              <a:fillRef idx="0">
                <a:schemeClr val="accent4">
                  <a:hueOff val="0"/>
                  <a:satOff val="0"/>
                  <a:lumOff val="0"/>
                  <a:alphaOff val="0"/>
                </a:schemeClr>
              </a:fillRef>
              <a:effectRef idx="0">
                <a:schemeClr val="accent4">
                  <a:hueOff val="0"/>
                  <a:satOff val="0"/>
                  <a:lumOff val="0"/>
                  <a:alphaOff val="0"/>
                </a:schemeClr>
              </a:effectRef>
              <a:fontRef idx="minor">
                <a:schemeClr val="tx1">
                  <a:hueOff val="0"/>
                  <a:satOff val="0"/>
                  <a:lumOff val="0"/>
                  <a:alphaOff val="0"/>
                </a:schemeClr>
              </a:fontRef>
            </p:style>
          </p:sp>
          <p:sp>
            <p:nvSpPr>
              <p:cNvPr id="1027" name="Straight Connector 1026"/>
              <p:cNvSpPr/>
              <p:nvPr/>
            </p:nvSpPr>
            <p:spPr>
              <a:xfrm>
                <a:off x="3906277" y="3098055"/>
                <a:ext cx="3060192" cy="0"/>
              </a:xfrm>
              <a:prstGeom prst="line">
                <a:avLst/>
              </a:prstGeom>
              <a:scene3d>
                <a:camera prst="orthographicFront"/>
                <a:lightRig rig="threePt" dir="t">
                  <a:rot lat="0" lon="0" rev="7500000"/>
                </a:lightRig>
              </a:scene3d>
              <a:sp3d z="-40000" prstMaterial="matte"/>
            </p:spPr>
            <p:style>
              <a:lnRef idx="2">
                <a:schemeClr val="accent4">
                  <a:hueOff val="0"/>
                  <a:satOff val="0"/>
                  <a:lumOff val="0"/>
                  <a:alphaOff val="0"/>
                </a:schemeClr>
              </a:lnRef>
              <a:fillRef idx="0">
                <a:schemeClr val="accent4">
                  <a:hueOff val="0"/>
                  <a:satOff val="0"/>
                  <a:lumOff val="0"/>
                  <a:alphaOff val="0"/>
                </a:schemeClr>
              </a:fillRef>
              <a:effectRef idx="0">
                <a:schemeClr val="accent4">
                  <a:hueOff val="0"/>
                  <a:satOff val="0"/>
                  <a:lumOff val="0"/>
                  <a:alphaOff val="0"/>
                </a:schemeClr>
              </a:effectRef>
              <a:fontRef idx="minor">
                <a:schemeClr val="tx1">
                  <a:hueOff val="0"/>
                  <a:satOff val="0"/>
                  <a:lumOff val="0"/>
                  <a:alphaOff val="0"/>
                </a:schemeClr>
              </a:fontRef>
            </p:style>
          </p:sp>
          <p:sp>
            <p:nvSpPr>
              <p:cNvPr id="1028" name="Oval 1027"/>
              <p:cNvSpPr/>
              <p:nvPr/>
            </p:nvSpPr>
            <p:spPr>
              <a:xfrm>
                <a:off x="2382277" y="2640855"/>
                <a:ext cx="3048000" cy="3048000"/>
              </a:xfrm>
              <a:prstGeom prst="ellipse">
                <a:avLst/>
              </a:prstGeom>
              <a:blipFill>
                <a:blip r:embed="rId3">
                  <a:extLst>
                    <a:ext uri="{28A0092B-C50C-407E-A947-70E740481C1C}">
                      <a14:useLocalDpi xmlns:a14="http://schemas.microsoft.com/office/drawing/2010/main" val="0"/>
                    </a:ext>
                  </a:extLst>
                </a:blip>
                <a:srcRect/>
                <a:stretch>
                  <a:fillRect l="-25000" r="-25000"/>
                </a:stretch>
              </a:blipFill>
              <a:ln>
                <a:solidFill>
                  <a:schemeClr val="bg1">
                    <a:lumMod val="50000"/>
                  </a:schemeClr>
                </a:solidFill>
              </a:ln>
              <a:scene3d>
                <a:camera prst="orthographicFront"/>
                <a:lightRig rig="threePt" dir="t">
                  <a:rot lat="0" lon="0" rev="7500000"/>
                </a:lightRig>
              </a:scene3d>
              <a:sp3d z="254000" extrusionH="63500" contourW="12700" prstMaterial="matte">
                <a:contourClr>
                  <a:schemeClr val="lt1"/>
                </a:contourClr>
              </a:sp3d>
            </p:spPr>
            <p:style>
              <a:lnRef idx="0">
                <a:scrgbClr r="0" g="0" b="0"/>
              </a:lnRef>
              <a:fillRef idx="1">
                <a:scrgbClr r="0" g="0" b="0"/>
              </a:fillRef>
              <a:effectRef idx="0">
                <a:schemeClr val="accent4">
                  <a:tint val="50000"/>
                  <a:hueOff val="0"/>
                  <a:satOff val="0"/>
                  <a:lumOff val="0"/>
                  <a:alphaOff val="0"/>
                </a:schemeClr>
              </a:effectRef>
              <a:fontRef idx="minor">
                <a:schemeClr val="lt1">
                  <a:hueOff val="0"/>
                  <a:satOff val="0"/>
                  <a:lumOff val="0"/>
                  <a:alphaOff val="0"/>
                </a:schemeClr>
              </a:fontRef>
            </p:style>
          </p:sp>
          <p:sp>
            <p:nvSpPr>
              <p:cNvPr id="1029" name="Freeform 1028"/>
              <p:cNvSpPr/>
              <p:nvPr/>
            </p:nvSpPr>
            <p:spPr>
              <a:xfrm>
                <a:off x="2930917" y="4259343"/>
                <a:ext cx="1950720" cy="1005840"/>
              </a:xfrm>
              <a:custGeom>
                <a:avLst/>
                <a:gdLst>
                  <a:gd name="connsiteX0" fmla="*/ 0 w 1950720"/>
                  <a:gd name="connsiteY0" fmla="*/ 0 h 1005840"/>
                  <a:gd name="connsiteX1" fmla="*/ 1950720 w 1950720"/>
                  <a:gd name="connsiteY1" fmla="*/ 0 h 1005840"/>
                  <a:gd name="connsiteX2" fmla="*/ 1950720 w 1950720"/>
                  <a:gd name="connsiteY2" fmla="*/ 1005840 h 1005840"/>
                  <a:gd name="connsiteX3" fmla="*/ 0 w 1950720"/>
                  <a:gd name="connsiteY3" fmla="*/ 1005840 h 1005840"/>
                  <a:gd name="connsiteX4" fmla="*/ 0 w 1950720"/>
                  <a:gd name="connsiteY4" fmla="*/ 0 h 100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0720" h="1005840">
                    <a:moveTo>
                      <a:pt x="0" y="0"/>
                    </a:moveTo>
                    <a:lnTo>
                      <a:pt x="1950720" y="0"/>
                    </a:lnTo>
                    <a:lnTo>
                      <a:pt x="1950720" y="1005840"/>
                    </a:lnTo>
                    <a:lnTo>
                      <a:pt x="0" y="1005840"/>
                    </a:lnTo>
                    <a:lnTo>
                      <a:pt x="0" y="0"/>
                    </a:lnTo>
                    <a:close/>
                  </a:path>
                </a:pathLst>
              </a:custGeom>
              <a:noFill/>
              <a:ln>
                <a:noFill/>
              </a:ln>
              <a:scene3d>
                <a:camera prst="orthographicFront"/>
                <a:lightRig rig="threePt" dir="t">
                  <a:rot lat="0" lon="0" rev="7500000"/>
                </a:lightRig>
              </a:scene3d>
              <a:sp3d/>
            </p:spPr>
            <p:style>
              <a:lnRef idx="0">
                <a:scrgbClr r="0" g="0" b="0"/>
              </a:lnRef>
              <a:fillRef idx="3">
                <a:scrgbClr r="0" g="0" b="0"/>
              </a:fillRef>
              <a:effectRef idx="2">
                <a:schemeClr val="accent4">
                  <a:hueOff val="0"/>
                  <a:satOff val="0"/>
                  <a:lumOff val="0"/>
                  <a:alphaOff val="0"/>
                </a:schemeClr>
              </a:effectRef>
              <a:fontRef idx="minor">
                <a:schemeClr val="lt1"/>
              </a:fontRef>
            </p:style>
            <p:txBody>
              <a:bodyPr spcFirstLastPara="0" vert="horz" wrap="square" lIns="0" tIns="0" rIns="0" bIns="0" numCol="1" spcCol="1270" anchor="b" anchorCtr="0">
                <a:noAutofit/>
              </a:bodyPr>
              <a:lstStyle/>
              <a:p>
                <a:pPr lvl="0" algn="ctr" defTabSz="2889250">
                  <a:lnSpc>
                    <a:spcPct val="90000"/>
                  </a:lnSpc>
                  <a:spcBef>
                    <a:spcPct val="0"/>
                  </a:spcBef>
                  <a:spcAft>
                    <a:spcPct val="35000"/>
                  </a:spcAft>
                </a:pPr>
                <a:endParaRPr lang="en-AU" sz="6500" kern="1200" dirty="0"/>
              </a:p>
            </p:txBody>
          </p:sp>
          <p:sp>
            <p:nvSpPr>
              <p:cNvPr id="1030" name="Oval 1029"/>
              <p:cNvSpPr/>
              <p:nvPr/>
            </p:nvSpPr>
            <p:spPr>
              <a:xfrm>
                <a:off x="6509269" y="2640855"/>
                <a:ext cx="914400" cy="914400"/>
              </a:xfrm>
              <a:prstGeom prst="ellipse">
                <a:avLst/>
              </a:prstGeom>
              <a:scene3d>
                <a:camera prst="orthographicFront"/>
                <a:lightRig rig="threePt" dir="t">
                  <a:rot lat="0" lon="0" rev="7500000"/>
                </a:lightRig>
              </a:scene3d>
              <a:sp3d z="254000" extrusionH="63500" contourW="12700" prstMaterial="matte">
                <a:contourClr>
                  <a:schemeClr val="lt1"/>
                </a:contourClr>
              </a:sp3d>
            </p:spPr>
            <p:style>
              <a:lnRef idx="0">
                <a:schemeClr val="lt1">
                  <a:hueOff val="0"/>
                  <a:satOff val="0"/>
                  <a:lumOff val="0"/>
                  <a:alphaOff val="0"/>
                </a:schemeClr>
              </a:lnRef>
              <a:fillRef idx="1">
                <a:schemeClr val="accent4">
                  <a:tint val="50000"/>
                  <a:hueOff val="495374"/>
                  <a:satOff val="-8928"/>
                  <a:lumOff val="3586"/>
                  <a:alphaOff val="0"/>
                </a:schemeClr>
              </a:fillRef>
              <a:effectRef idx="0">
                <a:schemeClr val="accent4">
                  <a:tint val="50000"/>
                  <a:hueOff val="495374"/>
                  <a:satOff val="-8928"/>
                  <a:lumOff val="3586"/>
                  <a:alphaOff val="0"/>
                </a:schemeClr>
              </a:effectRef>
              <a:fontRef idx="minor">
                <a:schemeClr val="lt1">
                  <a:hueOff val="0"/>
                  <a:satOff val="0"/>
                  <a:lumOff val="0"/>
                  <a:alphaOff val="0"/>
                </a:schemeClr>
              </a:fontRef>
            </p:style>
          </p:sp>
          <p:sp>
            <p:nvSpPr>
              <p:cNvPr id="1031" name="Freeform 1030"/>
              <p:cNvSpPr/>
              <p:nvPr/>
            </p:nvSpPr>
            <p:spPr>
              <a:xfrm>
                <a:off x="7423669" y="2640855"/>
                <a:ext cx="105460" cy="914400"/>
              </a:xfrm>
              <a:custGeom>
                <a:avLst/>
                <a:gdLst>
                  <a:gd name="connsiteX0" fmla="*/ 0 w 105460"/>
                  <a:gd name="connsiteY0" fmla="*/ 0 h 914400"/>
                  <a:gd name="connsiteX1" fmla="*/ 105460 w 105460"/>
                  <a:gd name="connsiteY1" fmla="*/ 0 h 914400"/>
                  <a:gd name="connsiteX2" fmla="*/ 105460 w 105460"/>
                  <a:gd name="connsiteY2" fmla="*/ 914400 h 914400"/>
                  <a:gd name="connsiteX3" fmla="*/ 0 w 105460"/>
                  <a:gd name="connsiteY3" fmla="*/ 914400 h 914400"/>
                  <a:gd name="connsiteX4" fmla="*/ 0 w 105460"/>
                  <a:gd name="connsiteY4" fmla="*/ 0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460" h="914400">
                    <a:moveTo>
                      <a:pt x="0" y="0"/>
                    </a:moveTo>
                    <a:lnTo>
                      <a:pt x="105460" y="0"/>
                    </a:lnTo>
                    <a:lnTo>
                      <a:pt x="105460" y="914400"/>
                    </a:lnTo>
                    <a:lnTo>
                      <a:pt x="0" y="9144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 tIns="0" rIns="19050" bIns="0" numCol="1" spcCol="1270" anchor="ctr" anchorCtr="0">
                <a:noAutofit/>
              </a:bodyPr>
              <a:lstStyle/>
              <a:p>
                <a:pPr lvl="0" algn="l" defTabSz="222250">
                  <a:lnSpc>
                    <a:spcPct val="90000"/>
                  </a:lnSpc>
                  <a:spcBef>
                    <a:spcPct val="0"/>
                  </a:spcBef>
                  <a:spcAft>
                    <a:spcPct val="35000"/>
                  </a:spcAft>
                </a:pPr>
                <a:endParaRPr lang="en-AU" sz="500" kern="1200" dirty="0"/>
              </a:p>
            </p:txBody>
          </p:sp>
          <p:sp>
            <p:nvSpPr>
              <p:cNvPr id="1032" name="Oval 1031"/>
              <p:cNvSpPr/>
              <p:nvPr/>
            </p:nvSpPr>
            <p:spPr>
              <a:xfrm>
                <a:off x="6070357" y="3707655"/>
                <a:ext cx="914400" cy="914400"/>
              </a:xfrm>
              <a:prstGeom prst="ellipse">
                <a:avLst/>
              </a:prstGeom>
              <a:blipFill>
                <a:blip r:embed="rId4" cstate="print">
                  <a:extLst>
                    <a:ext uri="{28A0092B-C50C-407E-A947-70E740481C1C}">
                      <a14:useLocalDpi xmlns:a14="http://schemas.microsoft.com/office/drawing/2010/main" val="0"/>
                    </a:ext>
                  </a:extLst>
                </a:blip>
                <a:srcRect/>
                <a:stretch>
                  <a:fillRect/>
                </a:stretch>
              </a:blipFill>
              <a:ln>
                <a:solidFill>
                  <a:schemeClr val="bg1">
                    <a:lumMod val="50000"/>
                  </a:schemeClr>
                </a:solidFill>
              </a:ln>
              <a:scene3d>
                <a:camera prst="orthographicFront"/>
                <a:lightRig rig="threePt" dir="t">
                  <a:rot lat="0" lon="0" rev="7500000"/>
                </a:lightRig>
              </a:scene3d>
              <a:sp3d z="254000" extrusionH="63500" contourW="12700" prstMaterial="matte">
                <a:contourClr>
                  <a:schemeClr val="lt1"/>
                </a:contourClr>
              </a:sp3d>
            </p:spPr>
            <p:style>
              <a:lnRef idx="0">
                <a:scrgbClr r="0" g="0" b="0"/>
              </a:lnRef>
              <a:fillRef idx="1">
                <a:scrgbClr r="0" g="0" b="0"/>
              </a:fillRef>
              <a:effectRef idx="0">
                <a:schemeClr val="accent4">
                  <a:tint val="50000"/>
                  <a:hueOff val="990749"/>
                  <a:satOff val="-17857"/>
                  <a:lumOff val="7171"/>
                  <a:alphaOff val="0"/>
                </a:schemeClr>
              </a:effectRef>
              <a:fontRef idx="minor">
                <a:schemeClr val="lt1">
                  <a:hueOff val="0"/>
                  <a:satOff val="0"/>
                  <a:lumOff val="0"/>
                  <a:alphaOff val="0"/>
                </a:schemeClr>
              </a:fontRef>
            </p:style>
          </p:sp>
          <p:sp>
            <p:nvSpPr>
              <p:cNvPr id="1033" name="Freeform 1032"/>
              <p:cNvSpPr/>
              <p:nvPr/>
            </p:nvSpPr>
            <p:spPr>
              <a:xfrm>
                <a:off x="6984757" y="3707655"/>
                <a:ext cx="149351" cy="914400"/>
              </a:xfrm>
              <a:custGeom>
                <a:avLst/>
                <a:gdLst>
                  <a:gd name="connsiteX0" fmla="*/ 0 w 149351"/>
                  <a:gd name="connsiteY0" fmla="*/ 0 h 914400"/>
                  <a:gd name="connsiteX1" fmla="*/ 149351 w 149351"/>
                  <a:gd name="connsiteY1" fmla="*/ 0 h 914400"/>
                  <a:gd name="connsiteX2" fmla="*/ 149351 w 149351"/>
                  <a:gd name="connsiteY2" fmla="*/ 914400 h 914400"/>
                  <a:gd name="connsiteX3" fmla="*/ 0 w 149351"/>
                  <a:gd name="connsiteY3" fmla="*/ 914400 h 914400"/>
                  <a:gd name="connsiteX4" fmla="*/ 0 w 149351"/>
                  <a:gd name="connsiteY4" fmla="*/ 0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351" h="914400">
                    <a:moveTo>
                      <a:pt x="0" y="0"/>
                    </a:moveTo>
                    <a:lnTo>
                      <a:pt x="149351" y="0"/>
                    </a:lnTo>
                    <a:lnTo>
                      <a:pt x="149351" y="914400"/>
                    </a:lnTo>
                    <a:lnTo>
                      <a:pt x="0" y="9144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 tIns="0" rIns="19050" bIns="0" numCol="1" spcCol="1270" anchor="ctr" anchorCtr="0">
                <a:noAutofit/>
              </a:bodyPr>
              <a:lstStyle/>
              <a:p>
                <a:pPr lvl="0" algn="l" defTabSz="222250">
                  <a:lnSpc>
                    <a:spcPct val="90000"/>
                  </a:lnSpc>
                  <a:spcBef>
                    <a:spcPct val="0"/>
                  </a:spcBef>
                  <a:spcAft>
                    <a:spcPct val="35000"/>
                  </a:spcAft>
                </a:pPr>
                <a:endParaRPr lang="en-AU" sz="500" kern="1200" dirty="0"/>
              </a:p>
            </p:txBody>
          </p:sp>
          <p:sp>
            <p:nvSpPr>
              <p:cNvPr id="1034" name="Oval 1033"/>
              <p:cNvSpPr/>
              <p:nvPr/>
            </p:nvSpPr>
            <p:spPr>
              <a:xfrm>
                <a:off x="6509269" y="4774456"/>
                <a:ext cx="914400" cy="914400"/>
              </a:xfrm>
              <a:prstGeom prst="ellipse">
                <a:avLst/>
              </a:prstGeom>
              <a:scene3d>
                <a:camera prst="orthographicFront"/>
                <a:lightRig rig="threePt" dir="t">
                  <a:rot lat="0" lon="0" rev="7500000"/>
                </a:lightRig>
              </a:scene3d>
              <a:sp3d z="254000" extrusionH="63500" contourW="12700" prstMaterial="matte">
                <a:contourClr>
                  <a:schemeClr val="lt1"/>
                </a:contourClr>
              </a:sp3d>
            </p:spPr>
            <p:style>
              <a:lnRef idx="0">
                <a:schemeClr val="lt1">
                  <a:hueOff val="0"/>
                  <a:satOff val="0"/>
                  <a:lumOff val="0"/>
                  <a:alphaOff val="0"/>
                </a:schemeClr>
              </a:lnRef>
              <a:fillRef idx="1">
                <a:schemeClr val="accent4">
                  <a:tint val="50000"/>
                  <a:hueOff val="1486123"/>
                  <a:satOff val="-26785"/>
                  <a:lumOff val="10757"/>
                  <a:alphaOff val="0"/>
                </a:schemeClr>
              </a:fillRef>
              <a:effectRef idx="0">
                <a:schemeClr val="accent4">
                  <a:tint val="50000"/>
                  <a:hueOff val="1486123"/>
                  <a:satOff val="-26785"/>
                  <a:lumOff val="10757"/>
                  <a:alphaOff val="0"/>
                </a:schemeClr>
              </a:effectRef>
              <a:fontRef idx="minor">
                <a:schemeClr val="lt1">
                  <a:hueOff val="0"/>
                  <a:satOff val="0"/>
                  <a:lumOff val="0"/>
                  <a:alphaOff val="0"/>
                </a:schemeClr>
              </a:fontRef>
            </p:style>
          </p:sp>
          <p:sp>
            <p:nvSpPr>
              <p:cNvPr id="1035" name="Freeform 1034"/>
              <p:cNvSpPr/>
              <p:nvPr/>
            </p:nvSpPr>
            <p:spPr>
              <a:xfrm>
                <a:off x="7423669" y="4774456"/>
                <a:ext cx="105460" cy="914400"/>
              </a:xfrm>
              <a:custGeom>
                <a:avLst/>
                <a:gdLst>
                  <a:gd name="connsiteX0" fmla="*/ 0 w 105460"/>
                  <a:gd name="connsiteY0" fmla="*/ 0 h 914400"/>
                  <a:gd name="connsiteX1" fmla="*/ 105460 w 105460"/>
                  <a:gd name="connsiteY1" fmla="*/ 0 h 914400"/>
                  <a:gd name="connsiteX2" fmla="*/ 105460 w 105460"/>
                  <a:gd name="connsiteY2" fmla="*/ 914400 h 914400"/>
                  <a:gd name="connsiteX3" fmla="*/ 0 w 105460"/>
                  <a:gd name="connsiteY3" fmla="*/ 914400 h 914400"/>
                  <a:gd name="connsiteX4" fmla="*/ 0 w 105460"/>
                  <a:gd name="connsiteY4" fmla="*/ 0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460" h="914400">
                    <a:moveTo>
                      <a:pt x="0" y="0"/>
                    </a:moveTo>
                    <a:lnTo>
                      <a:pt x="105460" y="0"/>
                    </a:lnTo>
                    <a:lnTo>
                      <a:pt x="105460" y="914400"/>
                    </a:lnTo>
                    <a:lnTo>
                      <a:pt x="0" y="9144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9050" tIns="0" rIns="19050" bIns="0" numCol="1" spcCol="1270" anchor="ctr" anchorCtr="0">
                <a:noAutofit/>
              </a:bodyPr>
              <a:lstStyle/>
              <a:p>
                <a:pPr lvl="0" algn="l" defTabSz="222250">
                  <a:lnSpc>
                    <a:spcPct val="90000"/>
                  </a:lnSpc>
                  <a:spcBef>
                    <a:spcPct val="0"/>
                  </a:spcBef>
                  <a:spcAft>
                    <a:spcPct val="35000"/>
                  </a:spcAft>
                </a:pPr>
                <a:endParaRPr lang="en-AU" sz="500" kern="1200" dirty="0"/>
              </a:p>
            </p:txBody>
          </p:sp>
        </p:grpSp>
        <p:sp>
          <p:nvSpPr>
            <p:cNvPr id="1036" name="TextBox 1035"/>
            <p:cNvSpPr txBox="1"/>
            <p:nvPr/>
          </p:nvSpPr>
          <p:spPr>
            <a:xfrm>
              <a:off x="6584806" y="5095906"/>
              <a:ext cx="763326" cy="338554"/>
            </a:xfrm>
            <a:prstGeom prst="rect">
              <a:avLst/>
            </a:prstGeom>
            <a:noFill/>
          </p:spPr>
          <p:txBody>
            <a:bodyPr wrap="square" rtlCol="0">
              <a:spAutoFit/>
            </a:bodyPr>
            <a:lstStyle/>
            <a:p>
              <a:r>
                <a:rPr lang="en-US" sz="1600" b="1" i="1" dirty="0" smtClean="0">
                  <a:latin typeface="Helvetica" pitchFamily="34" charset="0"/>
                </a:rPr>
                <a:t>How?</a:t>
              </a:r>
              <a:endParaRPr lang="en-AU" sz="1600" b="1" i="1" dirty="0"/>
            </a:p>
          </p:txBody>
        </p:sp>
        <p:sp>
          <p:nvSpPr>
            <p:cNvPr id="45" name="TextBox 44"/>
            <p:cNvSpPr txBox="1"/>
            <p:nvPr/>
          </p:nvSpPr>
          <p:spPr>
            <a:xfrm>
              <a:off x="6572577" y="2935554"/>
              <a:ext cx="763326" cy="338554"/>
            </a:xfrm>
            <a:prstGeom prst="rect">
              <a:avLst/>
            </a:prstGeom>
            <a:noFill/>
          </p:spPr>
          <p:txBody>
            <a:bodyPr wrap="square" rtlCol="0">
              <a:spAutoFit/>
            </a:bodyPr>
            <a:lstStyle/>
            <a:p>
              <a:r>
                <a:rPr lang="en-US" sz="1600" b="1" i="1" dirty="0">
                  <a:latin typeface="Helvetica" pitchFamily="34" charset="0"/>
                </a:rPr>
                <a:t>Why</a:t>
              </a:r>
              <a:r>
                <a:rPr lang="en-US" sz="1600" b="1" i="1" dirty="0" smtClean="0">
                  <a:latin typeface="Helvetica" pitchFamily="34" charset="0"/>
                </a:rPr>
                <a:t>?</a:t>
              </a:r>
              <a:endParaRPr lang="en-AU" sz="1600" b="1" i="1" dirty="0"/>
            </a:p>
          </p:txBody>
        </p:sp>
      </p:gr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4375" indent="-714375"/>
            <a:r>
              <a:rPr lang="en-US" sz="2800" b="1" dirty="0" smtClean="0">
                <a:solidFill>
                  <a:srgbClr val="FF6600"/>
                </a:solidFill>
                <a:latin typeface="Helvetica" pitchFamily="34" charset="0"/>
              </a:rPr>
              <a:t>7.2	Solicit feedback from suppliers, providers and carriers</a:t>
            </a:r>
            <a:endParaRPr lang="en-US" sz="28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graphicFrame>
        <p:nvGraphicFramePr>
          <p:cNvPr id="5" name="Diagram 4"/>
          <p:cNvGraphicFramePr/>
          <p:nvPr>
            <p:extLst>
              <p:ext uri="{D42A27DB-BD31-4B8C-83A1-F6EECF244321}">
                <p14:modId xmlns:p14="http://schemas.microsoft.com/office/powerpoint/2010/main" val="3060522635"/>
              </p:ext>
            </p:extLst>
          </p:nvPr>
        </p:nvGraphicFramePr>
        <p:xfrm>
          <a:off x="467544" y="1844824"/>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4375" indent="-714375"/>
            <a:r>
              <a:rPr lang="en-US" sz="3400" b="1" dirty="0" smtClean="0">
                <a:solidFill>
                  <a:srgbClr val="FF6600"/>
                </a:solidFill>
                <a:latin typeface="Helvetica" pitchFamily="34" charset="0"/>
              </a:rPr>
              <a:t>7.3	Debrief tour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484784"/>
            <a:ext cx="7848872" cy="4824536"/>
          </a:xfrm>
        </p:spPr>
        <p:txBody>
          <a:bodyPr>
            <a:normAutofit/>
          </a:bodyPr>
          <a:lstStyle/>
          <a:p>
            <a:pPr marL="0" indent="0">
              <a:spcBef>
                <a:spcPts val="600"/>
              </a:spcBef>
              <a:spcAft>
                <a:spcPts val="1200"/>
              </a:spcAft>
              <a:buNone/>
            </a:pPr>
            <a:r>
              <a:rPr lang="en-US" sz="2000" dirty="0" smtClean="0">
                <a:latin typeface="Helvetica" pitchFamily="34" charset="0"/>
              </a:rPr>
              <a:t>Debriefing is an important component of continuous improvement and quality control. The debriefing needs to take place soon after the tour completion and cover the following:</a:t>
            </a:r>
          </a:p>
          <a:p>
            <a:pPr marL="360000" indent="-360000">
              <a:spcBef>
                <a:spcPts val="600"/>
              </a:spcBef>
              <a:spcAft>
                <a:spcPts val="1200"/>
              </a:spcAft>
            </a:pPr>
            <a:r>
              <a:rPr lang="en-US" sz="2000" dirty="0" smtClean="0">
                <a:latin typeface="Helvetica" pitchFamily="34" charset="0"/>
              </a:rPr>
              <a:t>How did the tour go?</a:t>
            </a:r>
          </a:p>
          <a:p>
            <a:pPr marL="720000" indent="-360000">
              <a:spcBef>
                <a:spcPts val="600"/>
              </a:spcBef>
              <a:spcAft>
                <a:spcPts val="1200"/>
              </a:spcAft>
              <a:buSzPct val="100000"/>
              <a:buFont typeface="Arial" pitchFamily="34" charset="0"/>
              <a:buChar char="•"/>
            </a:pPr>
            <a:r>
              <a:rPr lang="en-US" sz="2000" dirty="0" smtClean="0">
                <a:latin typeface="Helvetica" pitchFamily="34" charset="0"/>
              </a:rPr>
              <a:t>What worked and did not work</a:t>
            </a:r>
          </a:p>
          <a:p>
            <a:pPr marL="720000" indent="-360000">
              <a:spcBef>
                <a:spcPts val="600"/>
              </a:spcBef>
              <a:spcAft>
                <a:spcPts val="1200"/>
              </a:spcAft>
              <a:buSzPct val="100000"/>
              <a:buFont typeface="Arial" pitchFamily="34" charset="0"/>
              <a:buChar char="•"/>
            </a:pPr>
            <a:r>
              <a:rPr lang="en-US" sz="2000" dirty="0" smtClean="0">
                <a:latin typeface="Helvetica" pitchFamily="34" charset="0"/>
              </a:rPr>
              <a:t>Problems encountered and </a:t>
            </a:r>
            <a:br>
              <a:rPr lang="en-US" sz="2000" dirty="0" smtClean="0">
                <a:latin typeface="Helvetica" pitchFamily="34" charset="0"/>
              </a:rPr>
            </a:br>
            <a:r>
              <a:rPr lang="en-US" sz="2000" dirty="0" smtClean="0">
                <a:latin typeface="Helvetica" pitchFamily="34" charset="0"/>
              </a:rPr>
              <a:t>how they were dealt with</a:t>
            </a:r>
          </a:p>
          <a:p>
            <a:pPr marL="720000" indent="-360000">
              <a:spcBef>
                <a:spcPts val="600"/>
              </a:spcBef>
              <a:spcAft>
                <a:spcPts val="1200"/>
              </a:spcAft>
              <a:buSzPct val="100000"/>
              <a:buFont typeface="Arial" pitchFamily="34" charset="0"/>
              <a:buChar char="•"/>
            </a:pPr>
            <a:r>
              <a:rPr lang="en-US" sz="2000" dirty="0" smtClean="0">
                <a:latin typeface="Helvetica" pitchFamily="34" charset="0"/>
              </a:rPr>
              <a:t>What products and services to </a:t>
            </a:r>
            <a:br>
              <a:rPr lang="en-US" sz="2000" dirty="0" smtClean="0">
                <a:latin typeface="Helvetica" pitchFamily="34" charset="0"/>
              </a:rPr>
            </a:br>
            <a:r>
              <a:rPr lang="en-US" sz="2000" dirty="0" smtClean="0">
                <a:latin typeface="Helvetica" pitchFamily="34" charset="0"/>
              </a:rPr>
              <a:t>included for the next tour</a:t>
            </a:r>
          </a:p>
          <a:p>
            <a:pPr marL="360000" indent="-360000">
              <a:spcBef>
                <a:spcPts val="600"/>
              </a:spcBef>
              <a:spcAft>
                <a:spcPts val="1200"/>
              </a:spcAft>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3284984"/>
            <a:ext cx="2363762" cy="1576629"/>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484784"/>
            <a:ext cx="7467600" cy="4824536"/>
          </a:xfrm>
        </p:spPr>
        <p:txBody>
          <a:bodyPr>
            <a:normAutofit/>
          </a:bodyPr>
          <a:lstStyle/>
          <a:p>
            <a:pPr marL="0" indent="0">
              <a:spcBef>
                <a:spcPts val="600"/>
              </a:spcBef>
              <a:spcAft>
                <a:spcPts val="1200"/>
              </a:spcAft>
              <a:buNone/>
            </a:pPr>
            <a:r>
              <a:rPr lang="en-US" sz="2200" dirty="0" smtClean="0">
                <a:latin typeface="Helvetica" pitchFamily="34" charset="0"/>
              </a:rPr>
              <a:t>Debriefing is an important component of continuous improvement and quality control. The debriefing needs to take place soon after the tour completion and cover the following:</a:t>
            </a:r>
          </a:p>
          <a:p>
            <a:pPr marL="360000" indent="-360000">
              <a:spcBef>
                <a:spcPts val="600"/>
              </a:spcBef>
              <a:spcAft>
                <a:spcPts val="1200"/>
              </a:spcAft>
            </a:pPr>
            <a:r>
              <a:rPr lang="en-US" sz="2200" dirty="0" smtClean="0">
                <a:latin typeface="Helvetica" pitchFamily="34" charset="0"/>
              </a:rPr>
              <a:t>Quality control checks in regards to: </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Timetable respected?</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Products and services matching </a:t>
            </a:r>
            <a:br>
              <a:rPr lang="en-US" sz="2200" dirty="0" smtClean="0">
                <a:latin typeface="Helvetica" pitchFamily="34" charset="0"/>
              </a:rPr>
            </a:br>
            <a:r>
              <a:rPr lang="en-US" sz="2200" dirty="0" smtClean="0">
                <a:latin typeface="Helvetica" pitchFamily="34" charset="0"/>
              </a:rPr>
              <a:t>expected standards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Autofit/>
          </a:bodyPr>
          <a:lstStyle/>
          <a:p>
            <a:pPr marL="714375" indent="-714375"/>
            <a:r>
              <a:rPr lang="en-US" sz="3400" b="1" dirty="0" smtClean="0">
                <a:solidFill>
                  <a:srgbClr val="FF6600"/>
                </a:solidFill>
                <a:latin typeface="Helvetica" pitchFamily="34" charset="0"/>
              </a:rPr>
              <a:t>7.3	Debrief tour staff</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176" y="3124572"/>
            <a:ext cx="1872208" cy="1872208"/>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412776"/>
            <a:ext cx="7632848" cy="5256584"/>
          </a:xfrm>
        </p:spPr>
        <p:txBody>
          <a:bodyPr>
            <a:normAutofit/>
          </a:bodyPr>
          <a:lstStyle/>
          <a:p>
            <a:pPr marL="0" indent="0">
              <a:spcBef>
                <a:spcPts val="600"/>
              </a:spcBef>
              <a:spcAft>
                <a:spcPts val="1200"/>
              </a:spcAft>
              <a:buNone/>
            </a:pPr>
            <a:r>
              <a:rPr lang="en-US" sz="2200" dirty="0" smtClean="0">
                <a:latin typeface="Helvetica" pitchFamily="34" charset="0"/>
              </a:rPr>
              <a:t>Debriefing is an important component of continuous improvement and quality control. The debriefing needs to take place soon after the tour completion and cover the following:</a:t>
            </a:r>
          </a:p>
          <a:p>
            <a:pPr marL="360000" indent="-360000">
              <a:spcBef>
                <a:spcPts val="600"/>
              </a:spcBef>
              <a:spcAft>
                <a:spcPts val="1200"/>
              </a:spcAft>
            </a:pPr>
            <a:r>
              <a:rPr lang="en-US" sz="2200" dirty="0" smtClean="0">
                <a:latin typeface="Helvetica" pitchFamily="34" charset="0"/>
              </a:rPr>
              <a:t>Potential changes covering:</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Policies and procedures</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Timeline for confirmation of final </a:t>
            </a:r>
            <a:br>
              <a:rPr lang="en-US" sz="2200" dirty="0" smtClean="0">
                <a:latin typeface="Helvetica" pitchFamily="34" charset="0"/>
              </a:rPr>
            </a:br>
            <a:r>
              <a:rPr lang="en-US" sz="2200" dirty="0" smtClean="0">
                <a:latin typeface="Helvetica" pitchFamily="34" charset="0"/>
              </a:rPr>
              <a:t>numbers to all suppliers</a:t>
            </a:r>
          </a:p>
          <a:p>
            <a:pPr marL="720000" indent="-360000">
              <a:spcBef>
                <a:spcPts val="600"/>
              </a:spcBef>
              <a:spcAft>
                <a:spcPts val="1200"/>
              </a:spcAft>
              <a:buSzPct val="100000"/>
              <a:buFont typeface="Arial" pitchFamily="34" charset="0"/>
              <a:buChar char="•"/>
            </a:pPr>
            <a:r>
              <a:rPr lang="en-US" sz="2200" dirty="0" smtClean="0">
                <a:latin typeface="Helvetica" pitchFamily="34" charset="0"/>
              </a:rPr>
              <a:t>Schedule: too tight?  </a:t>
            </a:r>
          </a:p>
          <a:p>
            <a:pPr marL="720000" indent="-360000">
              <a:spcBef>
                <a:spcPts val="600"/>
              </a:spcBef>
              <a:spcAft>
                <a:spcPts val="1200"/>
              </a:spcAft>
              <a:buSzPct val="100000"/>
              <a:buFont typeface="Arial" pitchFamily="34" charset="0"/>
              <a:buChar char="•"/>
            </a:pPr>
            <a:endParaRPr lang="en-US" sz="1200" dirty="0" smtClean="0">
              <a:latin typeface="Helvetica" pitchFamily="34" charset="0"/>
            </a:endParaRPr>
          </a:p>
          <a:p>
            <a:pPr marL="0" indent="0">
              <a:spcBef>
                <a:spcPts val="600"/>
              </a:spcBef>
              <a:spcAft>
                <a:spcPts val="1200"/>
              </a:spcAft>
              <a:buSzPct val="100000"/>
              <a:buNone/>
            </a:pPr>
            <a:r>
              <a:rPr lang="en-US" sz="2200" b="1" i="1" dirty="0" smtClean="0">
                <a:latin typeface="Helvetica" pitchFamily="34" charset="0"/>
              </a:rPr>
              <a:t>continued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sp>
        <p:nvSpPr>
          <p:cNvPr id="6" name="Title 1"/>
          <p:cNvSpPr>
            <a:spLocks noGrp="1"/>
          </p:cNvSpPr>
          <p:nvPr>
            <p:ph type="title"/>
          </p:nvPr>
        </p:nvSpPr>
        <p:spPr>
          <a:xfrm>
            <a:off x="611560" y="332656"/>
            <a:ext cx="7467600" cy="1143000"/>
          </a:xfrm>
        </p:spPr>
        <p:txBody>
          <a:bodyPr>
            <a:noAutofit/>
          </a:bodyPr>
          <a:lstStyle/>
          <a:p>
            <a:pPr marL="714375" indent="-714375"/>
            <a:r>
              <a:rPr lang="en-US" sz="3400" b="1" dirty="0" smtClean="0">
                <a:solidFill>
                  <a:srgbClr val="FF6600"/>
                </a:solidFill>
                <a:latin typeface="Helvetica" pitchFamily="34" charset="0"/>
              </a:rPr>
              <a:t>7.3	Debrief tour staff</a:t>
            </a:r>
            <a:endParaRPr lang="en-US" sz="3400" b="1" dirty="0">
              <a:solidFill>
                <a:srgbClr val="FF6600"/>
              </a:solidFill>
              <a:latin typeface="Helvetica" pitchFamily="34" charset="0"/>
            </a:endParaRP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85048" y="2833328"/>
            <a:ext cx="2185979" cy="2255912"/>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484784"/>
            <a:ext cx="7467600" cy="4525963"/>
          </a:xfrm>
        </p:spPr>
        <p:txBody>
          <a:bodyPr>
            <a:normAutofit/>
          </a:bodyPr>
          <a:lstStyle/>
          <a:p>
            <a:pPr marL="360000" indent="-360000">
              <a:spcBef>
                <a:spcPts val="600"/>
              </a:spcBef>
              <a:spcAft>
                <a:spcPts val="1200"/>
              </a:spcAft>
            </a:pPr>
            <a:r>
              <a:rPr lang="en-AU" sz="2200" dirty="0" smtClean="0">
                <a:latin typeface="Helvetica" pitchFamily="34" charset="0"/>
              </a:rPr>
              <a:t>Potential changes covering:</a:t>
            </a:r>
          </a:p>
          <a:p>
            <a:pPr marL="720000" indent="-360000">
              <a:spcBef>
                <a:spcPts val="600"/>
              </a:spcBef>
              <a:spcAft>
                <a:spcPts val="1200"/>
              </a:spcAft>
              <a:buSzPct val="100000"/>
              <a:buFont typeface="Arial" pitchFamily="34" charset="0"/>
              <a:buChar char="•"/>
            </a:pPr>
            <a:r>
              <a:rPr lang="en-AU" sz="2200" dirty="0" smtClean="0">
                <a:latin typeface="Helvetica" pitchFamily="34" charset="0"/>
              </a:rPr>
              <a:t>Number of activities</a:t>
            </a:r>
          </a:p>
          <a:p>
            <a:pPr marL="720000" indent="-360000">
              <a:spcBef>
                <a:spcPts val="600"/>
              </a:spcBef>
              <a:spcAft>
                <a:spcPts val="1200"/>
              </a:spcAft>
              <a:buSzPct val="100000"/>
              <a:buFont typeface="Arial" pitchFamily="34" charset="0"/>
              <a:buChar char="•"/>
            </a:pPr>
            <a:r>
              <a:rPr lang="en-AU" sz="2200" dirty="0" smtClean="0">
                <a:latin typeface="Helvetica" pitchFamily="34" charset="0"/>
              </a:rPr>
              <a:t>Timing of the activities: time of day, day of the week</a:t>
            </a:r>
          </a:p>
          <a:p>
            <a:pPr marL="720000" indent="-360000">
              <a:spcBef>
                <a:spcPts val="600"/>
              </a:spcBef>
              <a:spcAft>
                <a:spcPts val="1200"/>
              </a:spcAft>
              <a:buSzPct val="100000"/>
              <a:buFont typeface="Arial" pitchFamily="34" charset="0"/>
              <a:buChar char="•"/>
            </a:pPr>
            <a:r>
              <a:rPr lang="en-AU" sz="2200" dirty="0" smtClean="0">
                <a:latin typeface="Helvetica" pitchFamily="34" charset="0"/>
              </a:rPr>
              <a:t>Equipment used    </a:t>
            </a:r>
          </a:p>
          <a:p>
            <a:pPr marL="720000" indent="-360000">
              <a:spcBef>
                <a:spcPts val="600"/>
              </a:spcBef>
              <a:spcAft>
                <a:spcPts val="1200"/>
              </a:spcAft>
              <a:buSzPct val="100000"/>
              <a:buFont typeface="Arial" pitchFamily="34" charset="0"/>
              <a:buChar char="•"/>
            </a:pPr>
            <a:r>
              <a:rPr lang="en-AU" sz="2200" dirty="0" smtClean="0">
                <a:latin typeface="Helvetica" pitchFamily="34" charset="0"/>
              </a:rPr>
              <a:t>Tour group members feedback</a:t>
            </a: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89</a:t>
            </a:fld>
            <a:endParaRPr lang="en-AU" dirty="0">
              <a:latin typeface="Helvetica" pitchFamily="34" charset="0"/>
            </a:endParaRPr>
          </a:p>
        </p:txBody>
      </p:sp>
      <p:sp>
        <p:nvSpPr>
          <p:cNvPr id="6" name="Title 1"/>
          <p:cNvSpPr>
            <a:spLocks noGrp="1"/>
          </p:cNvSpPr>
          <p:nvPr>
            <p:ph type="title"/>
          </p:nvPr>
        </p:nvSpPr>
        <p:spPr>
          <a:xfrm>
            <a:off x="611560" y="332656"/>
            <a:ext cx="7467600" cy="1143000"/>
          </a:xfrm>
        </p:spPr>
        <p:txBody>
          <a:bodyPr>
            <a:noAutofit/>
          </a:bodyPr>
          <a:lstStyle/>
          <a:p>
            <a:pPr marL="714375" indent="-714375"/>
            <a:r>
              <a:rPr lang="en-AU" sz="3400" b="1" dirty="0" smtClean="0">
                <a:solidFill>
                  <a:srgbClr val="FF6600"/>
                </a:solidFill>
                <a:latin typeface="Helvetica" pitchFamily="34" charset="0"/>
              </a:rPr>
              <a:t>7.3	Debrief tour staff</a:t>
            </a:r>
            <a:endParaRPr lang="en-AU" sz="3400" b="1" dirty="0">
              <a:solidFill>
                <a:srgbClr val="FF6600"/>
              </a:solidFill>
              <a:latin typeface="Helvetica"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6136" y="3212976"/>
            <a:ext cx="2376264" cy="1577839"/>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4375" indent="-714375"/>
            <a:r>
              <a:rPr lang="en-US" sz="3400" b="1" dirty="0" smtClean="0">
                <a:solidFill>
                  <a:srgbClr val="FF6600"/>
                </a:solidFill>
                <a:latin typeface="Helvetica" pitchFamily="34" charset="0"/>
              </a:rPr>
              <a:t>7.4	Prepare tour report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628800"/>
            <a:ext cx="7467600" cy="4381947"/>
          </a:xfrm>
        </p:spPr>
        <p:txBody>
          <a:bodyPr>
            <a:normAutofit/>
          </a:bodyPr>
          <a:lstStyle/>
          <a:p>
            <a:pPr marL="0" indent="0">
              <a:spcBef>
                <a:spcPts val="600"/>
              </a:spcBef>
              <a:spcAft>
                <a:spcPts val="1200"/>
              </a:spcAft>
              <a:buNone/>
            </a:pPr>
            <a:r>
              <a:rPr lang="en-US" sz="2200" dirty="0" smtClean="0">
                <a:latin typeface="Helvetica" pitchFamily="34" charset="0"/>
              </a:rPr>
              <a:t>The tour report is a summary of the what happened during the tour and should include thoughts and ideas for modifications and improvements. </a:t>
            </a:r>
          </a:p>
          <a:p>
            <a:pPr marL="0" indent="0">
              <a:spcBef>
                <a:spcPts val="600"/>
              </a:spcBef>
              <a:spcAft>
                <a:spcPts val="1200"/>
              </a:spcAft>
              <a:buNone/>
            </a:pPr>
            <a:r>
              <a:rPr lang="en-US" sz="2200" dirty="0" smtClean="0">
                <a:latin typeface="Helvetica" pitchFamily="34" charset="0"/>
              </a:rPr>
              <a:t>It can be delivered in a written format, </a:t>
            </a:r>
            <a:br>
              <a:rPr lang="en-US" sz="2200" dirty="0" smtClean="0">
                <a:latin typeface="Helvetica" pitchFamily="34" charset="0"/>
              </a:rPr>
            </a:br>
            <a:r>
              <a:rPr lang="en-US" sz="2200" dirty="0" smtClean="0">
                <a:latin typeface="Helvetica" pitchFamily="34" charset="0"/>
              </a:rPr>
              <a:t>set template, written for, or verbal report.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37126" y="2492896"/>
            <a:ext cx="1648781" cy="2471936"/>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484784"/>
            <a:ext cx="7467600" cy="4525963"/>
          </a:xfrm>
        </p:spPr>
        <p:txBody>
          <a:bodyPr>
            <a:normAutofit/>
          </a:bodyPr>
          <a:lstStyle/>
          <a:p>
            <a:pPr marL="360000" indent="-360000">
              <a:spcBef>
                <a:spcPts val="600"/>
              </a:spcBef>
              <a:spcAft>
                <a:spcPts val="1200"/>
              </a:spcAft>
              <a:buNone/>
            </a:pPr>
            <a:r>
              <a:rPr lang="en-US" sz="2200" dirty="0" smtClean="0">
                <a:latin typeface="Helvetica" pitchFamily="34" charset="0"/>
              </a:rPr>
              <a:t>It will cover:</a:t>
            </a:r>
          </a:p>
          <a:p>
            <a:pPr marL="360000" indent="-360000">
              <a:spcBef>
                <a:spcPts val="600"/>
              </a:spcBef>
              <a:spcAft>
                <a:spcPts val="1200"/>
              </a:spcAft>
            </a:pPr>
            <a:r>
              <a:rPr lang="en-US" sz="2200" dirty="0" smtClean="0">
                <a:latin typeface="Helvetica" pitchFamily="34" charset="0"/>
              </a:rPr>
              <a:t>Itinerary</a:t>
            </a:r>
          </a:p>
          <a:p>
            <a:pPr marL="360000" indent="-360000">
              <a:spcBef>
                <a:spcPts val="600"/>
              </a:spcBef>
              <a:spcAft>
                <a:spcPts val="1200"/>
              </a:spcAft>
            </a:pPr>
            <a:r>
              <a:rPr lang="en-US" sz="2200" dirty="0" smtClean="0">
                <a:latin typeface="Helvetica" pitchFamily="34" charset="0"/>
              </a:rPr>
              <a:t>Transport</a:t>
            </a:r>
          </a:p>
          <a:p>
            <a:pPr marL="360000" indent="-360000">
              <a:spcBef>
                <a:spcPts val="600"/>
              </a:spcBef>
              <a:spcAft>
                <a:spcPts val="1200"/>
              </a:spcAft>
            </a:pPr>
            <a:r>
              <a:rPr lang="en-US" sz="2200" dirty="0" smtClean="0">
                <a:latin typeface="Helvetica" pitchFamily="34" charset="0"/>
              </a:rPr>
              <a:t>Activities</a:t>
            </a:r>
          </a:p>
          <a:p>
            <a:pPr marL="360000" indent="-360000">
              <a:spcBef>
                <a:spcPts val="600"/>
              </a:spcBef>
              <a:spcAft>
                <a:spcPts val="1200"/>
              </a:spcAft>
            </a:pPr>
            <a:r>
              <a:rPr lang="en-US" sz="2200" dirty="0" smtClean="0">
                <a:latin typeface="Helvetica" pitchFamily="34" charset="0"/>
              </a:rPr>
              <a:t>Commentary</a:t>
            </a:r>
          </a:p>
          <a:p>
            <a:pPr marL="360000" indent="-360000">
              <a:spcBef>
                <a:spcPts val="600"/>
              </a:spcBef>
              <a:spcAft>
                <a:spcPts val="1200"/>
              </a:spcAft>
            </a:pPr>
            <a:endParaRPr lang="en-US" sz="2200" dirty="0">
              <a:latin typeface="Helvetica" pitchFamily="34" charset="0"/>
            </a:endParaRPr>
          </a:p>
          <a:p>
            <a:pPr marL="0" indent="0">
              <a:spcBef>
                <a:spcPts val="600"/>
              </a:spcBef>
              <a:spcAft>
                <a:spcPts val="1200"/>
              </a:spcAft>
              <a:buNone/>
            </a:pPr>
            <a:r>
              <a:rPr lang="en-US" sz="2200" b="1" i="1" dirty="0">
                <a:latin typeface="Helvetica" pitchFamily="34" charset="0"/>
              </a:rPr>
              <a:t>continued</a:t>
            </a:r>
          </a:p>
          <a:p>
            <a:pPr marL="360000" indent="-3600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Autofit/>
          </a:bodyPr>
          <a:lstStyle/>
          <a:p>
            <a:pPr marL="714375" indent="-714375"/>
            <a:r>
              <a:rPr lang="en-US" sz="3400" b="1" dirty="0" smtClean="0">
                <a:solidFill>
                  <a:srgbClr val="FF6600"/>
                </a:solidFill>
                <a:latin typeface="Helvetica" pitchFamily="34" charset="0"/>
              </a:rPr>
              <a:t>7.4	Prepare tour report </a:t>
            </a:r>
            <a:endParaRPr lang="en-US" sz="34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92940" y="1700808"/>
            <a:ext cx="1636058" cy="2452861"/>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556792"/>
            <a:ext cx="7467600" cy="4453955"/>
          </a:xfrm>
        </p:spPr>
        <p:txBody>
          <a:bodyPr>
            <a:normAutofit/>
          </a:bodyPr>
          <a:lstStyle/>
          <a:p>
            <a:pPr marL="360000" indent="-360000">
              <a:spcBef>
                <a:spcPts val="600"/>
              </a:spcBef>
              <a:spcAft>
                <a:spcPts val="1200"/>
              </a:spcAft>
            </a:pPr>
            <a:r>
              <a:rPr lang="en-US" sz="2200" dirty="0" smtClean="0">
                <a:latin typeface="Helvetica" pitchFamily="34" charset="0"/>
              </a:rPr>
              <a:t>Delays</a:t>
            </a:r>
          </a:p>
          <a:p>
            <a:pPr marL="360000" indent="-360000">
              <a:spcBef>
                <a:spcPts val="600"/>
              </a:spcBef>
              <a:spcAft>
                <a:spcPts val="1200"/>
              </a:spcAft>
            </a:pPr>
            <a:r>
              <a:rPr lang="en-US" sz="2200" dirty="0" smtClean="0">
                <a:latin typeface="Helvetica" pitchFamily="34" charset="0"/>
              </a:rPr>
              <a:t>Problems</a:t>
            </a:r>
          </a:p>
          <a:p>
            <a:pPr marL="360000" indent="-360000">
              <a:spcBef>
                <a:spcPts val="600"/>
              </a:spcBef>
              <a:spcAft>
                <a:spcPts val="1200"/>
              </a:spcAft>
            </a:pPr>
            <a:r>
              <a:rPr lang="en-US" sz="2200" dirty="0" smtClean="0">
                <a:latin typeface="Helvetica" pitchFamily="34" charset="0"/>
              </a:rPr>
              <a:t>Complaints</a:t>
            </a:r>
          </a:p>
          <a:p>
            <a:pPr marL="360000" indent="-360000">
              <a:spcBef>
                <a:spcPts val="600"/>
              </a:spcBef>
              <a:spcAft>
                <a:spcPts val="1200"/>
              </a:spcAft>
            </a:pPr>
            <a:r>
              <a:rPr lang="en-US" sz="2200" dirty="0" smtClean="0">
                <a:latin typeface="Helvetica" pitchFamily="34" charset="0"/>
              </a:rPr>
              <a:t>Feedback</a:t>
            </a:r>
          </a:p>
          <a:p>
            <a:pPr marL="360000" indent="-360000">
              <a:spcBef>
                <a:spcPts val="600"/>
              </a:spcBef>
              <a:spcAft>
                <a:spcPts val="1200"/>
              </a:spcAft>
            </a:pPr>
            <a:endParaRPr lang="en-US" sz="2200" dirty="0" smtClean="0">
              <a:latin typeface="Helvetica" pitchFamily="34" charset="0"/>
            </a:endParaRPr>
          </a:p>
          <a:p>
            <a:pPr marL="0" indent="0" algn="ctr">
              <a:spcBef>
                <a:spcPts val="600"/>
              </a:spcBef>
              <a:spcAft>
                <a:spcPts val="1200"/>
              </a:spcAft>
              <a:buNone/>
            </a:pPr>
            <a:r>
              <a:rPr lang="en-US" sz="2200" i="1" dirty="0" smtClean="0">
                <a:latin typeface="Helvetica" pitchFamily="34" charset="0"/>
              </a:rPr>
              <a:t>BOTH negative and positive aspects of the tour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Autofit/>
          </a:bodyPr>
          <a:lstStyle/>
          <a:p>
            <a:pPr marL="714375" indent="-714375"/>
            <a:r>
              <a:rPr lang="en-US" sz="3400" b="1" dirty="0" smtClean="0">
                <a:solidFill>
                  <a:srgbClr val="FF6600"/>
                </a:solidFill>
                <a:latin typeface="Helvetica" pitchFamily="34" charset="0"/>
              </a:rPr>
              <a:t>7.4	Prepare tour report </a:t>
            </a:r>
            <a:endParaRPr lang="en-US" sz="3400" b="1" dirty="0">
              <a:solidFill>
                <a:srgbClr val="FF6600"/>
              </a:solidFill>
              <a:latin typeface="Helvetica" pitchFamily="34"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1628800"/>
            <a:ext cx="1254790" cy="2281436"/>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4375" indent="-714375"/>
            <a:r>
              <a:rPr lang="en-US" sz="2800" b="1" dirty="0" smtClean="0">
                <a:solidFill>
                  <a:srgbClr val="FF6600"/>
                </a:solidFill>
                <a:latin typeface="Helvetica" pitchFamily="34" charset="0"/>
              </a:rPr>
              <a:t>7.5	Share information with suppliers, providers and carriers </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539552" y="1700808"/>
            <a:ext cx="7467600" cy="4309939"/>
          </a:xfrm>
        </p:spPr>
        <p:txBody>
          <a:bodyPr>
            <a:normAutofit/>
          </a:bodyPr>
          <a:lstStyle/>
          <a:p>
            <a:pPr marL="360000" indent="-360000">
              <a:spcBef>
                <a:spcPts val="600"/>
              </a:spcBef>
              <a:spcAft>
                <a:spcPts val="1200"/>
              </a:spcAft>
              <a:buNone/>
            </a:pPr>
            <a:r>
              <a:rPr lang="en-US" sz="2200" dirty="0" smtClean="0">
                <a:latin typeface="Helvetica" pitchFamily="34" charset="0"/>
              </a:rPr>
              <a:t>The shared information will comes from different sources:</a:t>
            </a:r>
          </a:p>
          <a:p>
            <a:pPr marL="360000" indent="-360000">
              <a:spcBef>
                <a:spcPts val="600"/>
              </a:spcBef>
              <a:spcAft>
                <a:spcPts val="1200"/>
              </a:spcAft>
            </a:pPr>
            <a:r>
              <a:rPr lang="en-US" sz="2200" dirty="0" smtClean="0">
                <a:latin typeface="Helvetica" pitchFamily="34" charset="0"/>
              </a:rPr>
              <a:t>Group tour members’ feedback</a:t>
            </a:r>
          </a:p>
          <a:p>
            <a:pPr marL="360000" indent="-360000">
              <a:spcBef>
                <a:spcPts val="600"/>
              </a:spcBef>
              <a:spcAft>
                <a:spcPts val="1200"/>
              </a:spcAft>
            </a:pPr>
            <a:r>
              <a:rPr lang="en-US" sz="2200" dirty="0" smtClean="0">
                <a:latin typeface="Helvetica" pitchFamily="34" charset="0"/>
              </a:rPr>
              <a:t>Tour debrief</a:t>
            </a:r>
          </a:p>
          <a:p>
            <a:pPr marL="360000" indent="-360000">
              <a:spcBef>
                <a:spcPts val="600"/>
              </a:spcBef>
              <a:spcAft>
                <a:spcPts val="1200"/>
              </a:spcAft>
            </a:pPr>
            <a:r>
              <a:rPr lang="en-US" sz="2200" dirty="0" smtClean="0">
                <a:latin typeface="Helvetica" pitchFamily="34" charset="0"/>
              </a:rPr>
              <a:t>Tour report</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r>
              <a:rPr lang="en-US" sz="2200" dirty="0" smtClean="0">
                <a:latin typeface="Helvetica"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80112" y="2420888"/>
            <a:ext cx="1693981" cy="2547748"/>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714375" indent="-714375"/>
            <a:r>
              <a:rPr lang="en-US" sz="2800" b="1" dirty="0" smtClean="0">
                <a:solidFill>
                  <a:srgbClr val="FF6600"/>
                </a:solidFill>
                <a:latin typeface="Helvetica" pitchFamily="34" charset="0"/>
              </a:rPr>
              <a:t>7. 6	Archive information for future reference </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539552" y="1628800"/>
            <a:ext cx="7467600" cy="4381947"/>
          </a:xfrm>
        </p:spPr>
        <p:txBody>
          <a:bodyPr>
            <a:normAutofit/>
          </a:bodyPr>
          <a:lstStyle/>
          <a:p>
            <a:pPr marL="0" indent="0">
              <a:spcBef>
                <a:spcPts val="600"/>
              </a:spcBef>
              <a:spcAft>
                <a:spcPts val="1200"/>
              </a:spcAft>
              <a:buNone/>
            </a:pPr>
            <a:r>
              <a:rPr lang="en-US" sz="2200" dirty="0" smtClean="0">
                <a:latin typeface="Helvetica" pitchFamily="34" charset="0"/>
              </a:rPr>
              <a:t>All documentation must be filed and archived as per the organisation and management requirements. The system can be: </a:t>
            </a:r>
          </a:p>
          <a:p>
            <a:pPr marL="360000" indent="-360000">
              <a:spcBef>
                <a:spcPts val="600"/>
              </a:spcBef>
              <a:spcAft>
                <a:spcPts val="1200"/>
              </a:spcAft>
            </a:pPr>
            <a:r>
              <a:rPr lang="en-US" sz="2200" dirty="0" smtClean="0">
                <a:latin typeface="Helvetica" pitchFamily="34" charset="0"/>
              </a:rPr>
              <a:t>Filing cabinet</a:t>
            </a:r>
          </a:p>
          <a:p>
            <a:pPr marL="360000" indent="-360000">
              <a:spcBef>
                <a:spcPts val="600"/>
              </a:spcBef>
              <a:spcAft>
                <a:spcPts val="1200"/>
              </a:spcAft>
            </a:pPr>
            <a:r>
              <a:rPr lang="en-US" sz="2200" dirty="0" smtClean="0">
                <a:latin typeface="Helvetica" pitchFamily="34" charset="0"/>
              </a:rPr>
              <a:t>Drawer system</a:t>
            </a:r>
          </a:p>
          <a:p>
            <a:pPr marL="360000" indent="-360000">
              <a:spcBef>
                <a:spcPts val="600"/>
              </a:spcBef>
              <a:spcAft>
                <a:spcPts val="1200"/>
              </a:spcAft>
            </a:pPr>
            <a:r>
              <a:rPr lang="en-US" sz="2200" dirty="0" smtClean="0">
                <a:latin typeface="Helvetica" pitchFamily="34" charset="0"/>
              </a:rPr>
              <a:t>Electronic filing</a:t>
            </a:r>
          </a:p>
          <a:p>
            <a:pPr marL="360000" indent="-360000">
              <a:spcBef>
                <a:spcPts val="600"/>
              </a:spcBef>
              <a:spcAft>
                <a:spcPts val="1200"/>
              </a:spcAft>
              <a:buNone/>
            </a:pPr>
            <a:r>
              <a:rPr lang="en-US" sz="2200" dirty="0" smtClean="0">
                <a:latin typeface="Helvetica"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7944" y="2636912"/>
            <a:ext cx="1601356" cy="2657748"/>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844824"/>
            <a:ext cx="7467600" cy="4165923"/>
          </a:xfrm>
        </p:spPr>
        <p:txBody>
          <a:bodyPr>
            <a:normAutofit/>
          </a:bodyPr>
          <a:lstStyle/>
          <a:p>
            <a:pPr marL="0" indent="0">
              <a:spcBef>
                <a:spcPts val="600"/>
              </a:spcBef>
              <a:spcAft>
                <a:spcPts val="1200"/>
              </a:spcAft>
              <a:buNone/>
            </a:pPr>
            <a:r>
              <a:rPr lang="en-US" sz="2200" dirty="0" smtClean="0">
                <a:latin typeface="Helvetica" pitchFamily="34" charset="0"/>
              </a:rPr>
              <a:t>All documentation must be filed and archived as per the organisation and management requirements. The system can be: </a:t>
            </a:r>
          </a:p>
          <a:p>
            <a:pPr marL="360000" indent="-360000">
              <a:spcBef>
                <a:spcPts val="600"/>
              </a:spcBef>
              <a:spcAft>
                <a:spcPts val="1200"/>
              </a:spcAft>
            </a:pPr>
            <a:r>
              <a:rPr lang="en-US" sz="2200" dirty="0" smtClean="0">
                <a:latin typeface="Helvetica" pitchFamily="34" charset="0"/>
              </a:rPr>
              <a:t>Future reference</a:t>
            </a:r>
          </a:p>
          <a:p>
            <a:pPr marL="360000" indent="-360000">
              <a:spcBef>
                <a:spcPts val="600"/>
              </a:spcBef>
              <a:spcAft>
                <a:spcPts val="1200"/>
              </a:spcAft>
            </a:pPr>
            <a:r>
              <a:rPr lang="en-US" sz="2200" dirty="0" smtClean="0">
                <a:latin typeface="Helvetica" pitchFamily="34" charset="0"/>
              </a:rPr>
              <a:t>How long for?  </a:t>
            </a:r>
          </a:p>
          <a:p>
            <a:pPr marL="360000" indent="-360000">
              <a:spcBef>
                <a:spcPts val="600"/>
              </a:spcBef>
              <a:spcAft>
                <a:spcPts val="1200"/>
              </a:spcAft>
              <a:buNone/>
            </a:pPr>
            <a:r>
              <a:rPr lang="en-US" sz="2200" dirty="0" smtClean="0">
                <a:latin typeface="Helvetica"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Autofit/>
          </a:bodyPr>
          <a:lstStyle/>
          <a:p>
            <a:pPr marL="714375" indent="-714375"/>
            <a:r>
              <a:rPr lang="en-US" sz="2800" b="1" dirty="0" smtClean="0">
                <a:solidFill>
                  <a:srgbClr val="FF6600"/>
                </a:solidFill>
                <a:latin typeface="Helvetica" pitchFamily="34" charset="0"/>
              </a:rPr>
              <a:t>7. 6	Archive information for future reference </a:t>
            </a:r>
            <a:endParaRPr lang="en-US" sz="2800" b="1" dirty="0">
              <a:solidFill>
                <a:srgbClr val="FF6600"/>
              </a:solidFill>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51920" y="2852936"/>
            <a:ext cx="1677950" cy="251396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PPT_Tour_operation_templates_130214</Template>
  <TotalTime>2119</TotalTime>
  <Words>7111</Words>
  <Application>Microsoft Office PowerPoint</Application>
  <PresentationFormat>On-screen Show (4:3)</PresentationFormat>
  <Paragraphs>935</Paragraphs>
  <Slides>95</Slides>
  <Notes>95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95</vt:i4>
      </vt:variant>
    </vt:vector>
  </HeadingPairs>
  <TitlesOfParts>
    <vt:vector size="102" baseType="lpstr">
      <vt:lpstr>Arial</vt:lpstr>
      <vt:lpstr>Calibri</vt:lpstr>
      <vt:lpstr>Franklin Gothic Book</vt:lpstr>
      <vt:lpstr>Helvetica</vt:lpstr>
      <vt:lpstr>Wingdings</vt:lpstr>
      <vt:lpstr>Wingdings 2</vt:lpstr>
      <vt:lpstr>PPT_Tour_operation_templates_130214</vt:lpstr>
      <vt:lpstr>Manage and execute a detailed tour itinerary</vt:lpstr>
      <vt:lpstr>Manage and execute a detailed tour itinerary</vt:lpstr>
      <vt:lpstr>Manage and execute a detailed tour itinerary</vt:lpstr>
      <vt:lpstr>Manage and execute a detailed tour itinerary</vt:lpstr>
      <vt:lpstr>Element 1 Prepare for tour itinerary</vt:lpstr>
      <vt:lpstr>1.1 Identify the requirements in the itinerary</vt:lpstr>
      <vt:lpstr>1.1 Identify the requirements in the itinerary</vt:lpstr>
      <vt:lpstr>1.1 Identify the requirements in the itinerary</vt:lpstr>
      <vt:lpstr>1.1 Identify the requirements in the itinerary</vt:lpstr>
      <vt:lpstr>1.2 Clarify requirements relating to the itinerary</vt:lpstr>
      <vt:lpstr>1.2 Clarify requirements relating to the itinerary</vt:lpstr>
      <vt:lpstr>1.3 Plan in accordance with briefing information </vt:lpstr>
      <vt:lpstr>1.3 Plan in accordance with briefing information </vt:lpstr>
      <vt:lpstr>1.3 Plan in accordance with briefing information </vt:lpstr>
      <vt:lpstr>1.3 Plan in accordance with briefing information </vt:lpstr>
      <vt:lpstr>1.3 Plan in accordance with briefing information </vt:lpstr>
      <vt:lpstr>1.3 Plan in accordance with briefing information </vt:lpstr>
      <vt:lpstr>1.4 Identify tour-related risks</vt:lpstr>
      <vt:lpstr>1.4 Identify tour-related risks</vt:lpstr>
      <vt:lpstr>1.4 Identify tour-related risks</vt:lpstr>
      <vt:lpstr>1.4 Identify tour-related risks</vt:lpstr>
      <vt:lpstr>1.4 Identify tour-related risks</vt:lpstr>
      <vt:lpstr>1.5 Develop contingency plans for risks </vt:lpstr>
      <vt:lpstr>1.5 Develop contingency plans for risks </vt:lpstr>
      <vt:lpstr>1.5 Develop contingency plans for risks </vt:lpstr>
      <vt:lpstr>1.6 Confirm reserved tour components </vt:lpstr>
      <vt:lpstr>1.6 Confirm reserved tour components </vt:lpstr>
      <vt:lpstr>1.6 Confirm reserved tour components </vt:lpstr>
      <vt:lpstr>Element 2 Conduct departure-related activities</vt:lpstr>
      <vt:lpstr>2.1 Greet tour group members</vt:lpstr>
      <vt:lpstr>2.4 Provide tour briefing </vt:lpstr>
      <vt:lpstr>2.2 Complete outstanding customers details</vt:lpstr>
      <vt:lpstr>2.2 Complete outstanding customers details</vt:lpstr>
      <vt:lpstr>2.3 Distribute tour-related information</vt:lpstr>
      <vt:lpstr>2.3 Distribute tour-related information</vt:lpstr>
      <vt:lpstr>2.5 Provide last-minute details to suppliers, providers and carriers </vt:lpstr>
      <vt:lpstr>2.5 Provide last-minute details to suppliers, providers and carriers </vt:lpstr>
      <vt:lpstr>Element 3: Brief tour staff </vt:lpstr>
      <vt:lpstr>3.1 Provide tour details to support staff </vt:lpstr>
      <vt:lpstr>3.1 Provide tour details to support staff </vt:lpstr>
      <vt:lpstr>3.1 Provide tour details to support staff </vt:lpstr>
      <vt:lpstr>3.1 Provide tour details to support staff </vt:lpstr>
      <vt:lpstr>3.1 Provide tour details to support staff </vt:lpstr>
      <vt:lpstr>3.2 Provide resources to support tour</vt:lpstr>
      <vt:lpstr>3.2 Provide resources to support tour</vt:lpstr>
      <vt:lpstr>Element 4: Liaise with external industry colleagues throughout the tour</vt:lpstr>
      <vt:lpstr>4.1 Liaise with industry personnel to facilitate tour implementation</vt:lpstr>
      <vt:lpstr>4.2 Request assistance, where appropriate</vt:lpstr>
      <vt:lpstr>4.3 Make on tour arrangements with organisations to respond to issues arising </vt:lpstr>
      <vt:lpstr>Element 5: Manage on tour itinerary</vt:lpstr>
      <vt:lpstr>5.1 Facilitate conduct of the tour schedule </vt:lpstr>
      <vt:lpstr>5.1 Facilitate conduct of the tour schedule </vt:lpstr>
      <vt:lpstr>5.1 Facilitate conduct of the tour schedule </vt:lpstr>
      <vt:lpstr>5.2 Advise tour staff regarding issues arising</vt:lpstr>
      <vt:lpstr>5.2 Advise tour staff regarding issues arising</vt:lpstr>
      <vt:lpstr>5.2 Advise tour staff regarding issues arising</vt:lpstr>
      <vt:lpstr>5.3 Re-plan itinerary as required </vt:lpstr>
      <vt:lpstr>5.3 Re-plan itinerary as required </vt:lpstr>
      <vt:lpstr>5.3 Re-plan itinerary as required </vt:lpstr>
      <vt:lpstr>5.3 Re-plan itinerary as required </vt:lpstr>
      <vt:lpstr>5.3 Re-plan itinerary as required </vt:lpstr>
      <vt:lpstr>5.4 Maintain contact with those responsible for resolving on tour issues</vt:lpstr>
      <vt:lpstr>5.5 Advise industry colleagues regarding tour changes</vt:lpstr>
      <vt:lpstr>5.6 Maintain regular contact with group</vt:lpstr>
      <vt:lpstr>5.6 Maintain regular contact with group</vt:lpstr>
      <vt:lpstr>5.7 Monitor the tour area</vt:lpstr>
      <vt:lpstr>5.7 Monitor the tour area</vt:lpstr>
      <vt:lpstr>Element 6 Deal with unexpected events</vt:lpstr>
      <vt:lpstr>Element 6: Deal with unexpected events</vt:lpstr>
      <vt:lpstr>6.1 Initiate contingency planning actions</vt:lpstr>
      <vt:lpstr>6.1 Initiate contingency planning actions</vt:lpstr>
      <vt:lpstr>6.1 Initiate contingency planning actions</vt:lpstr>
      <vt:lpstr>6.2 Support tour leaders/guides</vt:lpstr>
      <vt:lpstr>6.2 Support tour leaders/guides</vt:lpstr>
      <vt:lpstr>6.2 Support tour leaders/guides</vt:lpstr>
      <vt:lpstr>6. 3 Research and suggest additional action to be taken</vt:lpstr>
      <vt:lpstr>6.4 Make arrangements in response to identified emergencies</vt:lpstr>
      <vt:lpstr>6.4 Make arrangements in response to identified emergencies</vt:lpstr>
      <vt:lpstr>6.4 Make arrangements in response to identified emergencies</vt:lpstr>
      <vt:lpstr>6.4 Make arrangements in response to identified emergencies</vt:lpstr>
      <vt:lpstr>6.5 Handle media interest</vt:lpstr>
      <vt:lpstr>6.6 Amend tour itinerary as required </vt:lpstr>
      <vt:lpstr>Element 7: Finalise the tour</vt:lpstr>
      <vt:lpstr>7.1 Solicit feedback from tour group members</vt:lpstr>
      <vt:lpstr>7.2 Solicit feedback from suppliers, providers and carriers</vt:lpstr>
      <vt:lpstr>7.3 Debrief tour staff</vt:lpstr>
      <vt:lpstr>7.3 Debrief tour staff</vt:lpstr>
      <vt:lpstr>7.3 Debrief tour staff</vt:lpstr>
      <vt:lpstr>7.3 Debrief tour staff</vt:lpstr>
      <vt:lpstr>7.4 Prepare tour report </vt:lpstr>
      <vt:lpstr>7.4 Prepare tour report </vt:lpstr>
      <vt:lpstr>7.4 Prepare tour report </vt:lpstr>
      <vt:lpstr>7.5 Share information with suppliers, providers and carriers </vt:lpstr>
      <vt:lpstr>7. 6 Archive information for future reference </vt:lpstr>
      <vt:lpstr>7. 6 Archive information for future reference </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Kaly Quach</dc:creator>
  <cp:lastModifiedBy>Carla Angelica Co</cp:lastModifiedBy>
  <cp:revision>198</cp:revision>
  <dcterms:created xsi:type="dcterms:W3CDTF">2014-06-23T06:57:28Z</dcterms:created>
  <dcterms:modified xsi:type="dcterms:W3CDTF">2016-07-14T09:53:18Z</dcterms:modified>
</cp:coreProperties>
</file>