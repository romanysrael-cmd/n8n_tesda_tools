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68"/>
  </p:notesMasterIdLst>
  <p:handoutMasterIdLst>
    <p:handoutMasterId r:id="rId69"/>
  </p:handoutMasterIdLst>
  <p:sldIdLst>
    <p:sldId id="256" r:id="rId2"/>
    <p:sldId id="296" r:id="rId3"/>
    <p:sldId id="297" r:id="rId4"/>
    <p:sldId id="299" r:id="rId5"/>
    <p:sldId id="257" r:id="rId6"/>
    <p:sldId id="301" r:id="rId7"/>
    <p:sldId id="330" r:id="rId8"/>
    <p:sldId id="331" r:id="rId9"/>
    <p:sldId id="332" r:id="rId10"/>
    <p:sldId id="302" r:id="rId11"/>
    <p:sldId id="303" r:id="rId12"/>
    <p:sldId id="258" r:id="rId13"/>
    <p:sldId id="304" r:id="rId14"/>
    <p:sldId id="306" r:id="rId15"/>
    <p:sldId id="307" r:id="rId16"/>
    <p:sldId id="308" r:id="rId17"/>
    <p:sldId id="334" r:id="rId18"/>
    <p:sldId id="309" r:id="rId19"/>
    <p:sldId id="259" r:id="rId20"/>
    <p:sldId id="310" r:id="rId21"/>
    <p:sldId id="335" r:id="rId22"/>
    <p:sldId id="311" r:id="rId23"/>
    <p:sldId id="336" r:id="rId24"/>
    <p:sldId id="260" r:id="rId25"/>
    <p:sldId id="337" r:id="rId26"/>
    <p:sldId id="339" r:id="rId27"/>
    <p:sldId id="318" r:id="rId28"/>
    <p:sldId id="319" r:id="rId29"/>
    <p:sldId id="320" r:id="rId30"/>
    <p:sldId id="321" r:id="rId31"/>
    <p:sldId id="342" r:id="rId32"/>
    <p:sldId id="343" r:id="rId33"/>
    <p:sldId id="344" r:id="rId34"/>
    <p:sldId id="353" r:id="rId35"/>
    <p:sldId id="345" r:id="rId36"/>
    <p:sldId id="346" r:id="rId37"/>
    <p:sldId id="352" r:id="rId38"/>
    <p:sldId id="354" r:id="rId39"/>
    <p:sldId id="347" r:id="rId40"/>
    <p:sldId id="351" r:id="rId41"/>
    <p:sldId id="350" r:id="rId42"/>
    <p:sldId id="349" r:id="rId43"/>
    <p:sldId id="348" r:id="rId44"/>
    <p:sldId id="355" r:id="rId45"/>
    <p:sldId id="356" r:id="rId46"/>
    <p:sldId id="359" r:id="rId47"/>
    <p:sldId id="358" r:id="rId48"/>
    <p:sldId id="357" r:id="rId49"/>
    <p:sldId id="261" r:id="rId50"/>
    <p:sldId id="323" r:id="rId51"/>
    <p:sldId id="324" r:id="rId52"/>
    <p:sldId id="262" r:id="rId53"/>
    <p:sldId id="265" r:id="rId54"/>
    <p:sldId id="267" r:id="rId55"/>
    <p:sldId id="300" r:id="rId56"/>
    <p:sldId id="263" r:id="rId57"/>
    <p:sldId id="266" r:id="rId58"/>
    <p:sldId id="268" r:id="rId59"/>
    <p:sldId id="269" r:id="rId60"/>
    <p:sldId id="325" r:id="rId61"/>
    <p:sldId id="326" r:id="rId62"/>
    <p:sldId id="327" r:id="rId63"/>
    <p:sldId id="328" r:id="rId64"/>
    <p:sldId id="329" r:id="rId65"/>
    <p:sldId id="264" r:id="rId66"/>
    <p:sldId id="360" r:id="rId67"/>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545" autoAdjust="0"/>
    <p:restoredTop sz="63680" autoAdjust="0"/>
  </p:normalViewPr>
  <p:slideViewPr>
    <p:cSldViewPr>
      <p:cViewPr varScale="1">
        <p:scale>
          <a:sx n="59" d="100"/>
          <a:sy n="59" d="100"/>
        </p:scale>
        <p:origin x="234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40" d="100"/>
        <a:sy n="14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5659" cy="495927"/>
          </a:xfrm>
          <a:prstGeom prst="rect">
            <a:avLst/>
          </a:prstGeom>
        </p:spPr>
        <p:txBody>
          <a:bodyPr vert="horz" lIns="91423" tIns="45712" rIns="91423" bIns="45712"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3850444" y="1"/>
            <a:ext cx="2945659" cy="495927"/>
          </a:xfrm>
          <a:prstGeom prst="rect">
            <a:avLst/>
          </a:prstGeom>
        </p:spPr>
        <p:txBody>
          <a:bodyPr vert="horz" lIns="91423" tIns="45712" rIns="91423" bIns="45712" rtlCol="0"/>
          <a:lstStyle>
            <a:lvl1pPr algn="r">
              <a:defRPr sz="1200"/>
            </a:lvl1pPr>
          </a:lstStyle>
          <a:p>
            <a:fld id="{E6916107-BD3A-45E2-B124-A5ED60630F4B}" type="datetimeFigureOut">
              <a:rPr lang="en-US" smtClean="0">
                <a:latin typeface="Helvetica" pitchFamily="34" charset="0"/>
              </a:rPr>
              <a:pPr/>
              <a:t>7/1/2016</a:t>
            </a:fld>
            <a:endParaRPr lang="en-GB" dirty="0">
              <a:latin typeface="Helvetica" pitchFamily="34" charset="0"/>
            </a:endParaRPr>
          </a:p>
        </p:txBody>
      </p:sp>
      <p:sp>
        <p:nvSpPr>
          <p:cNvPr id="4" name="Footer Placeholder 3"/>
          <p:cNvSpPr>
            <a:spLocks noGrp="1"/>
          </p:cNvSpPr>
          <p:nvPr>
            <p:ph type="ftr" sz="quarter" idx="2"/>
          </p:nvPr>
        </p:nvSpPr>
        <p:spPr>
          <a:xfrm>
            <a:off x="1" y="9429091"/>
            <a:ext cx="2945659" cy="495927"/>
          </a:xfrm>
          <a:prstGeom prst="rect">
            <a:avLst/>
          </a:prstGeom>
        </p:spPr>
        <p:txBody>
          <a:bodyPr vert="horz" lIns="91423" tIns="45712" rIns="91423" bIns="45712"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3850444" y="9429091"/>
            <a:ext cx="2945659" cy="495927"/>
          </a:xfrm>
          <a:prstGeom prst="rect">
            <a:avLst/>
          </a:prstGeom>
        </p:spPr>
        <p:txBody>
          <a:bodyPr vert="horz" lIns="91423" tIns="45712" rIns="91423" bIns="45712"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5659" cy="496331"/>
          </a:xfrm>
          <a:prstGeom prst="rect">
            <a:avLst/>
          </a:prstGeom>
        </p:spPr>
        <p:txBody>
          <a:bodyPr vert="horz" lIns="91423" tIns="45712" rIns="91423" bIns="45712"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3850444" y="1"/>
            <a:ext cx="2945659" cy="496331"/>
          </a:xfrm>
          <a:prstGeom prst="rect">
            <a:avLst/>
          </a:prstGeom>
        </p:spPr>
        <p:txBody>
          <a:bodyPr vert="horz" lIns="91423" tIns="45712" rIns="91423" bIns="45712" rtlCol="0"/>
          <a:lstStyle>
            <a:lvl1pPr algn="r">
              <a:defRPr sz="1200">
                <a:latin typeface="Helvetica" pitchFamily="34" charset="0"/>
              </a:defRPr>
            </a:lvl1pPr>
          </a:lstStyle>
          <a:p>
            <a:fld id="{BC34F173-2430-41D6-9CA5-C9CD3BDF7E96}" type="datetimeFigureOut">
              <a:rPr lang="en-US" smtClean="0"/>
              <a:pPr/>
              <a:t>7/1/2016</a:t>
            </a:fld>
            <a:endParaRPr lang="en-US" dirty="0"/>
          </a:p>
        </p:txBody>
      </p:sp>
      <p:sp>
        <p:nvSpPr>
          <p:cNvPr id="4" name="Slide Image Placeholder 3"/>
          <p:cNvSpPr>
            <a:spLocks noGrp="1" noRot="1" noChangeAspect="1"/>
          </p:cNvSpPr>
          <p:nvPr>
            <p:ph type="sldImg" idx="2"/>
          </p:nvPr>
        </p:nvSpPr>
        <p:spPr>
          <a:xfrm>
            <a:off x="915988" y="742950"/>
            <a:ext cx="4965700" cy="3724275"/>
          </a:xfrm>
          <a:prstGeom prst="rect">
            <a:avLst/>
          </a:prstGeom>
          <a:noFill/>
          <a:ln w="12700">
            <a:solidFill>
              <a:prstClr val="black"/>
            </a:solidFill>
          </a:ln>
        </p:spPr>
        <p:txBody>
          <a:bodyPr vert="horz" lIns="91423" tIns="45712" rIns="91423" bIns="45712" rtlCol="0" anchor="ctr"/>
          <a:lstStyle/>
          <a:p>
            <a:endParaRPr lang="en-US" dirty="0"/>
          </a:p>
        </p:txBody>
      </p:sp>
      <p:sp>
        <p:nvSpPr>
          <p:cNvPr id="5" name="Notes Placeholder 4"/>
          <p:cNvSpPr>
            <a:spLocks noGrp="1"/>
          </p:cNvSpPr>
          <p:nvPr>
            <p:ph type="body" sz="quarter" idx="3"/>
          </p:nvPr>
        </p:nvSpPr>
        <p:spPr>
          <a:xfrm>
            <a:off x="679768" y="4715154"/>
            <a:ext cx="5438140" cy="4466987"/>
          </a:xfrm>
          <a:prstGeom prst="rect">
            <a:avLst/>
          </a:prstGeom>
        </p:spPr>
        <p:txBody>
          <a:bodyPr vert="horz" lIns="91423" tIns="45712" rIns="91423" bIns="45712"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428583"/>
            <a:ext cx="2945659" cy="496331"/>
          </a:xfrm>
          <a:prstGeom prst="rect">
            <a:avLst/>
          </a:prstGeom>
        </p:spPr>
        <p:txBody>
          <a:bodyPr vert="horz" lIns="91423" tIns="45712" rIns="91423" bIns="45712"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3850444" y="9428583"/>
            <a:ext cx="2945659" cy="496331"/>
          </a:xfrm>
          <a:prstGeom prst="rect">
            <a:avLst/>
          </a:prstGeom>
        </p:spPr>
        <p:txBody>
          <a:bodyPr vert="horz" lIns="91423" tIns="45712" rIns="91423" bIns="45712"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welcomes students to class.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1480778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Trainer advises this Unit comprises two Elements, as listed on the slide explaining:</a:t>
            </a:r>
          </a:p>
          <a:p>
            <a:r>
              <a:rPr lang="en-AU" dirty="0"/>
              <a:t>• Each Element comprises a number of Performance Criteria which will be identified throughout the class and explained in detail</a:t>
            </a:r>
          </a:p>
          <a:p>
            <a:r>
              <a:rPr lang="en-AU" dirty="0"/>
              <a:t>• Trainees can obtain more detail from their Trainee Manual(TM)</a:t>
            </a:r>
          </a:p>
          <a:p>
            <a:r>
              <a:rPr lang="en-AU" dirty="0"/>
              <a:t>• At times the course presents advice and information about various protocols but where their workplace requirements differ to what is presented, the workplace practices and standards, as well as policies and procedures must be observed.</a:t>
            </a:r>
            <a:endParaRPr lang="en-US" dirty="0"/>
          </a:p>
          <a:p>
            <a:endParaRPr lang="en-US" dirty="0"/>
          </a:p>
          <a:p>
            <a:pPr marL="165415" indent="-165415">
              <a:buFont typeface="Arial" panose="020B0604020202020204" pitchFamily="34" charset="0"/>
              <a:buChar char="•"/>
            </a:pPr>
            <a:r>
              <a:rPr lang="en-US" dirty="0">
                <a:solidFill>
                  <a:prstClr val="black"/>
                </a:solidFill>
              </a:rPr>
              <a:t>Discuss housekeeping issues such as times of attendance, expected classroom behavior, contact details, any resources required such as a calculator.</a:t>
            </a:r>
          </a:p>
          <a:p>
            <a:pPr marL="165415" indent="-165415" defTabSz="882213">
              <a:buFont typeface="Arial" pitchFamily="34" charset="0"/>
              <a:buChar char="•"/>
              <a:defRPr/>
            </a:pPr>
            <a:r>
              <a:rPr lang="en-US" dirty="0">
                <a:solidFill>
                  <a:prstClr val="black"/>
                </a:solidFill>
              </a:rPr>
              <a:t>Explain that the trainees will be assessed and the requirements of those assessments.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2</a:t>
            </a:fld>
            <a:endParaRPr lang="en-US" dirty="0">
              <a:solidFill>
                <a:prstClr val="black"/>
              </a:solidFill>
            </a:endParaRPr>
          </a:p>
        </p:txBody>
      </p:sp>
    </p:spTree>
    <p:extLst>
      <p:ext uri="{BB962C8B-B14F-4D97-AF65-F5344CB8AC3E}">
        <p14:creationId xmlns:p14="http://schemas.microsoft.com/office/powerpoint/2010/main" val="7102824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Trainer advises that assessment for this Unit may take several forms all of which are aimed at verifying they have achieved competency for the Unit as required.</a:t>
            </a:r>
          </a:p>
          <a:p>
            <a:endParaRPr lang="en-AU" dirty="0"/>
          </a:p>
          <a:p>
            <a:r>
              <a:rPr lang="en-AU" dirty="0"/>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3</a:t>
            </a:fld>
            <a:endParaRPr lang="en-US" dirty="0">
              <a:solidFill>
                <a:prstClr val="black"/>
              </a:solidFill>
            </a:endParaRPr>
          </a:p>
        </p:txBody>
      </p:sp>
    </p:spTree>
    <p:extLst>
      <p:ext uri="{BB962C8B-B14F-4D97-AF65-F5344CB8AC3E}">
        <p14:creationId xmlns:p14="http://schemas.microsoft.com/office/powerpoint/2010/main" val="1975527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Trainer advises trainees this Element is comprised of six Performance Criteria which will be identified throughout the class and explained in detail</a:t>
            </a:r>
          </a:p>
          <a:p>
            <a:pPr>
              <a:buFont typeface="Arial" pitchFamily="34" charset="0"/>
              <a:buChar char="•"/>
            </a:pPr>
            <a:r>
              <a:rPr lang="en-AU" noProof="0" dirty="0" smtClean="0"/>
              <a:t>Trainees can obtain more detail from their Trainee Manual</a:t>
            </a:r>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4</a:t>
            </a:fld>
            <a:endParaRPr lang="en-US" dirty="0">
              <a:solidFill>
                <a:prstClr val="black"/>
              </a:solidFill>
            </a:endParaRPr>
          </a:p>
        </p:txBody>
      </p:sp>
    </p:spTree>
    <p:extLst>
      <p:ext uri="{BB962C8B-B14F-4D97-AF65-F5344CB8AC3E}">
        <p14:creationId xmlns:p14="http://schemas.microsoft.com/office/powerpoint/2010/main" val="29146395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Discuss this topic and brainstorm ideas</a:t>
            </a:r>
            <a:r>
              <a:rPr lang="en-AU" baseline="0" noProof="0" dirty="0" smtClean="0"/>
              <a:t> completing Activity 1 as the summary.</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613826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Discuss and clarify as necessary</a:t>
            </a:r>
            <a:endParaRPr lang="en-AU" baseline="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6</a:t>
            </a:fld>
            <a:endParaRPr lang="en-US" dirty="0">
              <a:solidFill>
                <a:prstClr val="black"/>
              </a:solidFill>
            </a:endParaRPr>
          </a:p>
        </p:txBody>
      </p:sp>
    </p:spTree>
    <p:extLst>
      <p:ext uri="{BB962C8B-B14F-4D97-AF65-F5344CB8AC3E}">
        <p14:creationId xmlns:p14="http://schemas.microsoft.com/office/powerpoint/2010/main" val="6891876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Ask trainees to close their manuals.</a:t>
            </a:r>
          </a:p>
          <a:p>
            <a:r>
              <a:rPr lang="en-AU" dirty="0" smtClean="0"/>
              <a:t>Ask each trainee to write a definition on their understanding of auditing.</a:t>
            </a:r>
          </a:p>
          <a:p>
            <a:r>
              <a:rPr lang="en-AU" dirty="0" smtClean="0"/>
              <a:t>Quickly have each person read their definition.</a:t>
            </a:r>
          </a:p>
          <a:p>
            <a:r>
              <a:rPr lang="en-AU" dirty="0" smtClean="0"/>
              <a:t>Brainstorm auditing and </a:t>
            </a:r>
            <a:r>
              <a:rPr lang="en-AU" u="sng" dirty="0" smtClean="0"/>
              <a:t>it’s purpose</a:t>
            </a:r>
          </a:p>
          <a:p>
            <a:endParaRPr lang="en-AU" dirty="0" smtClean="0"/>
          </a:p>
          <a:p>
            <a:r>
              <a:rPr lang="en-AU" dirty="0" smtClean="0"/>
              <a:t>When</a:t>
            </a:r>
            <a:r>
              <a:rPr lang="en-AU" baseline="0" dirty="0" smtClean="0"/>
              <a:t> complete, highlight key points in TM including auditing definition.</a:t>
            </a:r>
          </a:p>
          <a:p>
            <a:r>
              <a:rPr lang="en-AU" baseline="0" dirty="0" smtClean="0"/>
              <a:t>Review the bullet points and compare against what was brainstormed. </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4135879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Discuss each point explaining with some detail what activities</a:t>
            </a:r>
            <a:r>
              <a:rPr lang="en-AU" baseline="0" dirty="0" smtClean="0"/>
              <a:t> are involved and its importance in the cycle</a:t>
            </a:r>
            <a:endParaRPr lang="en-AU" dirty="0" smtClean="0"/>
          </a:p>
          <a:p>
            <a:r>
              <a:rPr lang="en-AU" dirty="0" smtClean="0"/>
              <a:t>Have  a sample, ledger, journal</a:t>
            </a:r>
            <a:r>
              <a:rPr lang="en-AU" baseline="0" dirty="0" smtClean="0"/>
              <a:t> and </a:t>
            </a:r>
            <a:r>
              <a:rPr lang="en-AU" dirty="0" smtClean="0"/>
              <a:t>financial report as examples for trainees to view.</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15239981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Remind trainees that the exchange of money or credit cards is not always involved.</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264029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buFont typeface="Arial" pitchFamily="34" charset="0"/>
              <a:buChar char="•"/>
              <a:defRPr/>
            </a:pPr>
            <a:r>
              <a:rPr lang="en-AU" dirty="0">
                <a:solidFill>
                  <a:prstClr val="black"/>
                </a:solidFill>
              </a:rPr>
              <a:t>The remainder of this performance criteria has many points to cover (on this slide and the next) which may not maintain the interest of trainees. </a:t>
            </a:r>
            <a:r>
              <a:rPr lang="en-US" dirty="0">
                <a:solidFill>
                  <a:prstClr val="black"/>
                </a:solidFill>
              </a:rPr>
              <a:t>Engage trainees by having them deliver the training.</a:t>
            </a:r>
          </a:p>
          <a:p>
            <a:pPr defTabSz="882213">
              <a:buFont typeface="Arial" pitchFamily="34" charset="0"/>
              <a:buChar char="•"/>
              <a:defRPr/>
            </a:pPr>
            <a:endParaRPr lang="en-US" dirty="0">
              <a:solidFill>
                <a:prstClr val="black"/>
              </a:solidFill>
            </a:endParaRPr>
          </a:p>
          <a:p>
            <a:pPr defTabSz="882213">
              <a:buFont typeface="Arial" pitchFamily="34" charset="0"/>
              <a:buChar char="•"/>
              <a:defRPr/>
            </a:pPr>
            <a:r>
              <a:rPr lang="en-US" dirty="0">
                <a:solidFill>
                  <a:prstClr val="black"/>
                </a:solidFill>
              </a:rPr>
              <a:t>Divide the group into groups of 2-3. Allocate topics. Ask trainees to read the associated information and prepare a short training session for the group. Any Activities in the TM (available for individual printing from Trainer guide if needed)  are to be included with the topic . Allocate an appropriate time allowance for delivery based on the number and size of topic/s. </a:t>
            </a:r>
          </a:p>
          <a:p>
            <a:pPr defTabSz="882213">
              <a:buFont typeface="Arial" pitchFamily="34" charset="0"/>
              <a:buChar char="•"/>
              <a:defRPr/>
            </a:pPr>
            <a:r>
              <a:rPr lang="en-US" dirty="0">
                <a:solidFill>
                  <a:prstClr val="black"/>
                </a:solidFill>
              </a:rPr>
              <a:t>Provide a time frame for preparation and any other research.</a:t>
            </a:r>
          </a:p>
          <a:p>
            <a:pPr defTabSz="882213">
              <a:buFont typeface="Arial" pitchFamily="34" charset="0"/>
              <a:buChar char="•"/>
              <a:defRPr/>
            </a:pPr>
            <a:r>
              <a:rPr lang="en-US" dirty="0">
                <a:solidFill>
                  <a:prstClr val="black"/>
                </a:solidFill>
              </a:rPr>
              <a:t>During this time trainer must circulate groups to ensure they understand their topics and are including adequate and necessary information. Trainer can advise trainees on presentation methods that could be included. (power point, handout, quiz, activity and so on)</a:t>
            </a:r>
          </a:p>
          <a:p>
            <a:pPr defTabSz="882213">
              <a:buFont typeface="Arial" pitchFamily="34" charset="0"/>
              <a:buChar char="•"/>
              <a:defRPr/>
            </a:pPr>
            <a:r>
              <a:rPr lang="en-US" dirty="0">
                <a:solidFill>
                  <a:prstClr val="black"/>
                </a:solidFill>
              </a:rPr>
              <a:t>After each presentation have question time. Trainer can cover any key points missed or clarify as necessary information.</a:t>
            </a:r>
          </a:p>
          <a:p>
            <a:pPr defTabSz="882213">
              <a:buFont typeface="Arial" pitchFamily="34" charset="0"/>
              <a:buChar char="•"/>
              <a:defRPr/>
            </a:pPr>
            <a:r>
              <a:rPr lang="en-US" dirty="0">
                <a:solidFill>
                  <a:prstClr val="black"/>
                </a:solidFill>
              </a:rPr>
              <a:t>If possible have some reward to thank trainees for their efforts.</a:t>
            </a:r>
          </a:p>
          <a:p>
            <a:pPr>
              <a:buFont typeface="Arial" pitchFamily="34" charset="0"/>
              <a:buChar char="•"/>
            </a:pPr>
            <a:endParaRPr lang="en-AU" baseline="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10</a:t>
            </a:fld>
            <a:endParaRPr lang="en-US" dirty="0">
              <a:solidFill>
                <a:prstClr val="black"/>
              </a:solidFill>
            </a:endParaRPr>
          </a:p>
        </p:txBody>
      </p:sp>
    </p:spTree>
    <p:extLst>
      <p:ext uri="{BB962C8B-B14F-4D97-AF65-F5344CB8AC3E}">
        <p14:creationId xmlns:p14="http://schemas.microsoft.com/office/powerpoint/2010/main" val="27028097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See notes on previous slide</a:t>
            </a:r>
          </a:p>
          <a:p>
            <a:endParaRPr lang="en-AU" dirty="0" smtClean="0"/>
          </a:p>
          <a:p>
            <a:endParaRPr lang="en-AU" dirty="0" smtClean="0"/>
          </a:p>
          <a:p>
            <a:pPr marL="0" marR="0" lvl="0" indent="0" algn="l" defTabSz="882213"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latin typeface="Helvetica" pitchFamily="34" charset="0"/>
              </a:rPr>
              <a:t>After each presentation have question time. Trainer can cover any key points missed or clarify as necessary information.</a:t>
            </a:r>
          </a:p>
          <a:p>
            <a:pPr marL="0" marR="0" lvl="0" indent="0" algn="l" defTabSz="882213"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latin typeface="Helvetica" pitchFamily="34" charset="0"/>
              </a:rPr>
              <a:t>If possible have some reward to thank trainees for their efforts.</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2087669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Discuss as necessary.</a:t>
            </a:r>
          </a:p>
          <a:p>
            <a:pPr>
              <a:buFont typeface="Arial" pitchFamily="34" charset="0"/>
              <a:buChar char="•"/>
            </a:pPr>
            <a:r>
              <a:rPr lang="en-AU" noProof="0" dirty="0" smtClean="0"/>
              <a:t>Brainstorm any well known ‘of the shelf’ book keeping systems. </a:t>
            </a:r>
          </a:p>
          <a:p>
            <a:pPr>
              <a:buFont typeface="Arial" pitchFamily="34" charset="0"/>
              <a:buChar char="•"/>
            </a:pPr>
            <a:r>
              <a:rPr lang="en-AU" noProof="0" dirty="0" smtClean="0"/>
              <a:t>Have trainees share any</a:t>
            </a:r>
            <a:r>
              <a:rPr lang="en-AU" baseline="0" noProof="0" dirty="0" smtClean="0"/>
              <a:t> relevant skills and knowledge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16204334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Discuss as necessary.</a:t>
            </a:r>
          </a:p>
          <a:p>
            <a:pPr>
              <a:buFont typeface="Arial" pitchFamily="34" charset="0"/>
              <a:buChar char="•"/>
            </a:pPr>
            <a:r>
              <a:rPr lang="en-AU" noProof="0" dirty="0" smtClean="0"/>
              <a:t>Ensure knowledge of terms used</a:t>
            </a:r>
          </a:p>
          <a:p>
            <a:pPr>
              <a:buFont typeface="Arial" pitchFamily="34" charset="0"/>
              <a:buChar char="•"/>
            </a:pPr>
            <a:r>
              <a:rPr lang="en-AU" noProof="0" dirty="0" smtClean="0"/>
              <a:t>Show</a:t>
            </a:r>
            <a:r>
              <a:rPr lang="en-AU" baseline="0" noProof="0" dirty="0" smtClean="0"/>
              <a:t> samples of each type of document if available</a:t>
            </a:r>
          </a:p>
          <a:p>
            <a:pPr>
              <a:buFont typeface="Arial" pitchFamily="34" charset="0"/>
              <a:buChar char="•"/>
            </a:pPr>
            <a:r>
              <a:rPr lang="en-AU" baseline="0" noProof="0" dirty="0" smtClean="0"/>
              <a:t>Explain the use of Subsidiary ledgers to support General ledger.</a:t>
            </a: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13</a:t>
            </a:fld>
            <a:endParaRPr lang="en-US" dirty="0">
              <a:solidFill>
                <a:prstClr val="black"/>
              </a:solidFill>
            </a:endParaRPr>
          </a:p>
        </p:txBody>
      </p:sp>
    </p:spTree>
    <p:extLst>
      <p:ext uri="{BB962C8B-B14F-4D97-AF65-F5344CB8AC3E}">
        <p14:creationId xmlns:p14="http://schemas.microsoft.com/office/powerpoint/2010/main" val="31088976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Discuss each point as necessary</a:t>
            </a:r>
            <a:r>
              <a:rPr lang="en-AU" baseline="0" noProof="0" dirty="0" smtClean="0"/>
              <a:t> and ensure trainees have a clear understanding of each.</a:t>
            </a:r>
            <a:endParaRPr lang="en-AU" noProof="0" dirty="0" smtClean="0"/>
          </a:p>
          <a:p>
            <a:pPr>
              <a:buFont typeface="Arial" pitchFamily="34" charset="0"/>
              <a:buChar char="•"/>
            </a:pPr>
            <a:r>
              <a:rPr lang="en-AU" noProof="0" dirty="0" smtClean="0"/>
              <a:t>Show</a:t>
            </a:r>
            <a:r>
              <a:rPr lang="en-AU" baseline="0" noProof="0" dirty="0" smtClean="0"/>
              <a:t> samples if available</a:t>
            </a: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14</a:t>
            </a:fld>
            <a:endParaRPr lang="en-US" dirty="0">
              <a:solidFill>
                <a:prstClr val="black"/>
              </a:solidFill>
            </a:endParaRPr>
          </a:p>
        </p:txBody>
      </p:sp>
    </p:spTree>
    <p:extLst>
      <p:ext uri="{BB962C8B-B14F-4D97-AF65-F5344CB8AC3E}">
        <p14:creationId xmlns:p14="http://schemas.microsoft.com/office/powerpoint/2010/main" val="5366053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Discuss each point as necessary</a:t>
            </a:r>
            <a:r>
              <a:rPr lang="en-AU" baseline="0" noProof="0" dirty="0" smtClean="0"/>
              <a:t> and ensure trainees have a clear understanding of each.</a:t>
            </a:r>
            <a:endParaRPr lang="en-AU" noProof="0" dirty="0" smtClean="0"/>
          </a:p>
          <a:p>
            <a:pPr>
              <a:buFont typeface="Arial" pitchFamily="34" charset="0"/>
              <a:buChar char="•"/>
            </a:pPr>
            <a:r>
              <a:rPr lang="en-AU" noProof="0" dirty="0" smtClean="0"/>
              <a:t>Show</a:t>
            </a:r>
            <a:r>
              <a:rPr lang="en-AU" baseline="0" noProof="0" dirty="0" smtClean="0"/>
              <a:t> samples if available or search bank reconciliation templates on Google Images</a:t>
            </a:r>
          </a:p>
          <a:p>
            <a:pPr>
              <a:buFont typeface="Arial" pitchFamily="34" charset="0"/>
              <a:buChar char="•"/>
            </a:pPr>
            <a:r>
              <a:rPr lang="en-AU" baseline="0" noProof="0" dirty="0" smtClean="0"/>
              <a:t>Review the steps for preparing a bank rec. and complete exercise 1 and 2. Review and discuss as needed.</a:t>
            </a: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15</a:t>
            </a:fld>
            <a:endParaRPr lang="en-US" dirty="0">
              <a:solidFill>
                <a:prstClr val="black"/>
              </a:solidFill>
            </a:endParaRPr>
          </a:p>
        </p:txBody>
      </p:sp>
    </p:spTree>
    <p:extLst>
      <p:ext uri="{BB962C8B-B14F-4D97-AF65-F5344CB8AC3E}">
        <p14:creationId xmlns:p14="http://schemas.microsoft.com/office/powerpoint/2010/main" val="1921447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Discuss each point as necessary</a:t>
            </a:r>
            <a:r>
              <a:rPr lang="en-AU" baseline="0" noProof="0" dirty="0" smtClean="0"/>
              <a:t> and ensure trainees have a clear understanding of each.</a:t>
            </a: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16</a:t>
            </a:fld>
            <a:endParaRPr lang="en-US" dirty="0">
              <a:solidFill>
                <a:prstClr val="black"/>
              </a:solidFill>
            </a:endParaRPr>
          </a:p>
        </p:txBody>
      </p:sp>
    </p:spTree>
    <p:extLst>
      <p:ext uri="{BB962C8B-B14F-4D97-AF65-F5344CB8AC3E}">
        <p14:creationId xmlns:p14="http://schemas.microsoft.com/office/powerpoint/2010/main" val="2818493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Explain Trial Balance image. Quiz trainees on their understanding to determine if further explanation is required</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5083614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Discuss each point as necessary.</a:t>
            </a:r>
          </a:p>
          <a:p>
            <a:pPr>
              <a:buFont typeface="Arial" pitchFamily="34" charset="0"/>
              <a:buChar char="•"/>
            </a:pPr>
            <a:r>
              <a:rPr lang="en-AU" noProof="0" dirty="0" smtClean="0"/>
              <a:t>Providing information will be covered again later.</a:t>
            </a:r>
          </a:p>
          <a:p>
            <a:pPr>
              <a:buFont typeface="Arial" pitchFamily="34" charset="0"/>
              <a:buChar char="•"/>
            </a:pPr>
            <a:r>
              <a:rPr lang="en-AU" noProof="0" dirty="0" smtClean="0"/>
              <a:t>Complete Activity 8 and have trainees share their answers</a:t>
            </a:r>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18</a:t>
            </a:fld>
            <a:endParaRPr lang="en-US" dirty="0">
              <a:solidFill>
                <a:prstClr val="black"/>
              </a:solidFill>
            </a:endParaRPr>
          </a:p>
        </p:txBody>
      </p:sp>
    </p:spTree>
    <p:extLst>
      <p:ext uri="{BB962C8B-B14F-4D97-AF65-F5344CB8AC3E}">
        <p14:creationId xmlns:p14="http://schemas.microsoft.com/office/powerpoint/2010/main" val="1485416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In</a:t>
            </a:r>
            <a:r>
              <a:rPr lang="en-AU" baseline="0" noProof="0" dirty="0" smtClean="0"/>
              <a:t> accounting circles there is a saying ‘who is checking the checker?’</a:t>
            </a:r>
          </a:p>
          <a:p>
            <a:pPr>
              <a:buFont typeface="Arial" pitchFamily="34" charset="0"/>
              <a:buChar char="•"/>
            </a:pPr>
            <a:r>
              <a:rPr lang="en-AU" baseline="0" noProof="0" dirty="0" smtClean="0"/>
              <a:t>Everyone must be accountable to avoid the possibility of embezzlement or fraud.</a:t>
            </a:r>
          </a:p>
          <a:p>
            <a:pPr>
              <a:buFont typeface="Arial" pitchFamily="34" charset="0"/>
              <a:buChar char="•"/>
            </a:pPr>
            <a:r>
              <a:rPr lang="en-AU" baseline="0" noProof="0" dirty="0" smtClean="0"/>
              <a:t>Share any knowledge or experience that may be relevant to this.</a:t>
            </a:r>
          </a:p>
          <a:p>
            <a:pPr>
              <a:buFont typeface="Arial" pitchFamily="34" charset="0"/>
              <a:buChar char="•"/>
            </a:pPr>
            <a:r>
              <a:rPr lang="en-AU" baseline="0" noProof="0" dirty="0" smtClean="0"/>
              <a:t>Complete Activity 9</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3265310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Highlight key points and share relevant knowledge and experience</a:t>
            </a:r>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20</a:t>
            </a:fld>
            <a:endParaRPr lang="en-US" dirty="0">
              <a:solidFill>
                <a:prstClr val="black"/>
              </a:solidFill>
            </a:endParaRPr>
          </a:p>
        </p:txBody>
      </p:sp>
    </p:spTree>
    <p:extLst>
      <p:ext uri="{BB962C8B-B14F-4D97-AF65-F5344CB8AC3E}">
        <p14:creationId xmlns:p14="http://schemas.microsoft.com/office/powerpoint/2010/main" val="5355901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Highlight key points and complete Activities 10 and 11</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21</a:t>
            </a:fld>
            <a:endParaRPr lang="en-US" dirty="0">
              <a:solidFill>
                <a:prstClr val="black"/>
              </a:solidFill>
            </a:endParaRPr>
          </a:p>
        </p:txBody>
      </p:sp>
    </p:spTree>
    <p:extLst>
      <p:ext uri="{BB962C8B-B14F-4D97-AF65-F5344CB8AC3E}">
        <p14:creationId xmlns:p14="http://schemas.microsoft.com/office/powerpoint/2010/main" val="26890471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Discuss possible</a:t>
            </a:r>
            <a:r>
              <a:rPr lang="en-AU" baseline="0" noProof="0" dirty="0" smtClean="0"/>
              <a:t> scenarios this may relate to. Ask trainees if they have any knowledge or experience in this area.</a:t>
            </a:r>
          </a:p>
          <a:p>
            <a:pPr>
              <a:buFont typeface="Arial" pitchFamily="34" charset="0"/>
              <a:buChar char="•"/>
            </a:pPr>
            <a:r>
              <a:rPr lang="en-AU" baseline="0" noProof="0" dirty="0" smtClean="0"/>
              <a:t>Discuss who appropriate colleagues may be to help resolve such situations.</a:t>
            </a:r>
          </a:p>
          <a:p>
            <a:pPr>
              <a:buFont typeface="Arial" pitchFamily="34" charset="0"/>
              <a:buChar char="•"/>
            </a:pPr>
            <a:r>
              <a:rPr lang="en-AU" baseline="0" noProof="0" dirty="0" smtClean="0"/>
              <a:t>Complete Activity 12 and share answers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22</a:t>
            </a:fld>
            <a:endParaRPr lang="en-US" dirty="0">
              <a:solidFill>
                <a:prstClr val="black"/>
              </a:solidFill>
            </a:endParaRPr>
          </a:p>
        </p:txBody>
      </p:sp>
    </p:spTree>
    <p:extLst>
      <p:ext uri="{BB962C8B-B14F-4D97-AF65-F5344CB8AC3E}">
        <p14:creationId xmlns:p14="http://schemas.microsoft.com/office/powerpoint/2010/main" val="5762234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Have discussion about outstanding entries or accounts. Does anyone have any experience with this?</a:t>
            </a:r>
          </a:p>
          <a:p>
            <a:r>
              <a:rPr lang="en-AU" dirty="0" smtClean="0"/>
              <a:t>Outstanding entries may reflect back</a:t>
            </a:r>
            <a:r>
              <a:rPr lang="en-AU" baseline="0" dirty="0" smtClean="0"/>
              <a:t> on employees not following procedure properly which would result in staff memos or re-training.</a:t>
            </a:r>
          </a:p>
          <a:p>
            <a:endParaRPr lang="en-AU" dirty="0" smtClean="0"/>
          </a:p>
          <a:p>
            <a:r>
              <a:rPr lang="en-AU" dirty="0" smtClean="0"/>
              <a:t>Consider what might happen in the</a:t>
            </a:r>
            <a:r>
              <a:rPr lang="en-AU" baseline="0" dirty="0" smtClean="0"/>
              <a:t> workplace regarding larger outstanding entries.</a:t>
            </a:r>
          </a:p>
          <a:p>
            <a:endParaRPr lang="en-AU" baseline="0"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1231909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defTabSz="882213">
              <a:buFont typeface="Arial" pitchFamily="34" charset="0"/>
              <a:buChar char="•"/>
              <a:defRPr/>
            </a:pPr>
            <a:r>
              <a:rPr lang="en-AU" dirty="0" smtClean="0">
                <a:solidFill>
                  <a:prstClr val="black"/>
                </a:solidFill>
              </a:rPr>
              <a:t>Highlight the types of documents required to source information. Brainstorm</a:t>
            </a:r>
            <a:r>
              <a:rPr lang="en-AU" baseline="0" dirty="0" smtClean="0">
                <a:solidFill>
                  <a:prstClr val="black"/>
                </a:solidFill>
              </a:rPr>
              <a:t> this.</a:t>
            </a:r>
            <a:endParaRPr lang="en-AU" dirty="0">
              <a:solidFill>
                <a:prstClr val="black"/>
              </a:solidFill>
            </a:endParaRPr>
          </a:p>
          <a:p>
            <a:pPr defTabSz="882213">
              <a:buFont typeface="Arial" pitchFamily="34" charset="0"/>
              <a:buChar char="•"/>
              <a:defRPr/>
            </a:pPr>
            <a:endParaRPr lang="en-US" dirty="0">
              <a:solidFill>
                <a:prstClr val="black"/>
              </a:solidFill>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2183146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Confirm with trainees if they know any other terms that may be used.</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36852712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Consider which of these units may be found in small and large organisations. Can anyone thinks of any others?</a:t>
            </a:r>
          </a:p>
          <a:p>
            <a:r>
              <a:rPr lang="en-AU" dirty="0" smtClean="0"/>
              <a:t>Have some discussion about the financial responsibility of these units as this is the requirement of the activity.</a:t>
            </a:r>
          </a:p>
          <a:p>
            <a:endParaRPr lang="en-AU" dirty="0" smtClean="0"/>
          </a:p>
          <a:p>
            <a:r>
              <a:rPr lang="en-AU" dirty="0" smtClean="0"/>
              <a:t>Complete Activity 13</a:t>
            </a:r>
            <a:r>
              <a:rPr lang="en-AU" baseline="0" dirty="0" smtClean="0"/>
              <a:t> and review answers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38330797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0000" marR="0" lvl="0" indent="-360000" algn="l" defTabSz="914400" rtl="0" eaLnBrk="1" fontAlgn="auto" latinLnBrk="0" hangingPunct="1">
              <a:lnSpc>
                <a:spcPct val="100000"/>
              </a:lnSpc>
              <a:spcBef>
                <a:spcPts val="600"/>
              </a:spcBef>
              <a:spcAft>
                <a:spcPts val="1200"/>
              </a:spcAft>
              <a:buClr>
                <a:srgbClr val="7FD13B"/>
              </a:buClr>
              <a:buSzPct val="80000"/>
              <a:buFont typeface="Wingdings 2"/>
              <a:buChar char=""/>
              <a:tabLst/>
              <a:defRPr/>
            </a:pPr>
            <a:r>
              <a:rPr kumimoji="0" lang="en-US" sz="2400" b="0" i="0" u="none" strike="noStrike" kern="1200" cap="none" spc="0" normalizeH="0" baseline="0" noProof="0" dirty="0" smtClean="0">
                <a:ln>
                  <a:noFill/>
                </a:ln>
                <a:solidFill>
                  <a:prstClr val="black"/>
                </a:solidFill>
                <a:effectLst/>
                <a:uLnTx/>
                <a:uFillTx/>
                <a:latin typeface="Helvetica" pitchFamily="34" charset="0"/>
              </a:rPr>
              <a:t>Activity</a:t>
            </a:r>
          </a:p>
          <a:p>
            <a:endParaRPr lang="en-AU" dirty="0" smtClean="0"/>
          </a:p>
          <a:p>
            <a:pPr marL="0" marR="0" lvl="0" indent="0" algn="l" defTabSz="882213"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latin typeface="Helvetica" pitchFamily="34" charset="0"/>
              </a:rPr>
              <a:t>This performance criteria is very large and relates to the many controls in place with financial procedures. As with Performance Criteria(PC) 1.1 this PC will be more engaging for trainees if they are required to read, research and present the information with trainer support.</a:t>
            </a:r>
          </a:p>
          <a:p>
            <a:pPr marL="0" marR="0" lvl="0" indent="0" algn="l" defTabSz="882213" rtl="0" eaLnBrk="1" fontAlgn="auto" latinLnBrk="0" hangingPunct="1">
              <a:lnSpc>
                <a:spcPct val="100000"/>
              </a:lnSpc>
              <a:spcBef>
                <a:spcPts val="0"/>
              </a:spcBef>
              <a:spcAft>
                <a:spcPts val="0"/>
              </a:spcAft>
              <a:buClrTx/>
              <a:buSzTx/>
              <a:buFont typeface="Arial" pitchFamily="34" charset="0"/>
              <a:buChar char="•"/>
              <a:tabLst/>
              <a:defRPr/>
            </a:pPr>
            <a:endParaRPr kumimoji="0" lang="en-US" sz="1200" b="0" i="0" u="none" strike="noStrike" kern="1200" cap="none" spc="0" normalizeH="0" baseline="0" noProof="0" dirty="0" smtClean="0">
              <a:ln>
                <a:noFill/>
              </a:ln>
              <a:solidFill>
                <a:prstClr val="black"/>
              </a:solidFill>
              <a:effectLst/>
              <a:uLnTx/>
              <a:uFillTx/>
              <a:latin typeface="Helvetica" pitchFamily="34" charset="0"/>
            </a:endParaRPr>
          </a:p>
          <a:p>
            <a:pPr marL="0" marR="0" lvl="0" indent="0" algn="l" defTabSz="882213"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latin typeface="Helvetica" pitchFamily="34" charset="0"/>
              </a:rPr>
              <a:t>Divide the group into small groups (consider if the groups should be different to last time).</a:t>
            </a:r>
          </a:p>
          <a:p>
            <a:pPr marL="0" marR="0" lvl="0" indent="0" algn="l" defTabSz="882213"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latin typeface="Helvetica" pitchFamily="34" charset="0"/>
              </a:rPr>
              <a:t>Allocate topics.</a:t>
            </a:r>
          </a:p>
          <a:p>
            <a:pPr marL="0" marR="0" lvl="0" indent="0" algn="l" defTabSz="882213"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latin typeface="Helvetica" pitchFamily="34" charset="0"/>
              </a:rPr>
              <a:t>Ask trainees to read the associated information and prepare a short training session for the group. Any Activities in the TM (available for individual printing from Trainer guide if needed) are to be included with the topic . Allocate an appropriate time allowance for delivery based on the number and size of topic/s.  Remind trainees information falls into three categories </a:t>
            </a:r>
          </a:p>
          <a:p>
            <a:pPr marL="165415" marR="0" lvl="0" indent="-165415" algn="l" defTabSz="882213"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200" b="1" i="0" u="none" strike="noStrike" kern="1200" cap="none" spc="0" normalizeH="0" baseline="0" noProof="0" dirty="0" smtClean="0">
                <a:ln>
                  <a:noFill/>
                </a:ln>
                <a:solidFill>
                  <a:prstClr val="black"/>
                </a:solidFill>
                <a:effectLst/>
                <a:uLnTx/>
                <a:uFillTx/>
                <a:latin typeface="Helvetica" pitchFamily="34" charset="0"/>
              </a:rPr>
              <a:t>Must know</a:t>
            </a:r>
          </a:p>
          <a:p>
            <a:pPr marL="165415" marR="0" lvl="0" indent="-165415" algn="l" defTabSz="882213"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200" b="1" i="0" u="none" strike="noStrike" kern="1200" cap="none" spc="0" normalizeH="0" baseline="0" noProof="0" dirty="0" smtClean="0">
                <a:ln>
                  <a:noFill/>
                </a:ln>
                <a:solidFill>
                  <a:prstClr val="black"/>
                </a:solidFill>
                <a:effectLst/>
                <a:uLnTx/>
                <a:uFillTx/>
                <a:latin typeface="Helvetica" pitchFamily="34" charset="0"/>
              </a:rPr>
              <a:t>Need to know </a:t>
            </a:r>
          </a:p>
          <a:p>
            <a:pPr marL="165415" marR="0" lvl="0" indent="-165415" algn="l" defTabSz="882213"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200" b="1" i="0" u="none" strike="noStrike" kern="1200" cap="none" spc="0" normalizeH="0" baseline="0" noProof="0" dirty="0" smtClean="0">
                <a:ln>
                  <a:noFill/>
                </a:ln>
                <a:solidFill>
                  <a:prstClr val="black"/>
                </a:solidFill>
                <a:effectLst/>
                <a:uLnTx/>
                <a:uFillTx/>
                <a:latin typeface="Helvetica" pitchFamily="34" charset="0"/>
              </a:rPr>
              <a:t>Nice to know</a:t>
            </a:r>
          </a:p>
          <a:p>
            <a:pPr marL="0" marR="0" lvl="0" indent="0" algn="l" defTabSz="882213"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Helvetica" pitchFamily="34" charset="0"/>
              </a:rPr>
              <a:t>and it is the ‘must know’ that is essential when working to a time frame.</a:t>
            </a:r>
            <a:endParaRPr kumimoji="0" lang="en-US" sz="1200" b="1" i="0" u="none" strike="noStrike" kern="1200" cap="none" spc="0" normalizeH="0" baseline="0" noProof="0" dirty="0" smtClean="0">
              <a:ln>
                <a:noFill/>
              </a:ln>
              <a:solidFill>
                <a:prstClr val="black"/>
              </a:solidFill>
              <a:effectLst/>
              <a:uLnTx/>
              <a:uFillTx/>
              <a:latin typeface="Helvetica" pitchFamily="34" charset="0"/>
            </a:endParaRPr>
          </a:p>
          <a:p>
            <a:pPr marL="0" marR="0" lvl="0" indent="0" algn="l" defTabSz="882213"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latin typeface="Helvetica" pitchFamily="34" charset="0"/>
              </a:rPr>
              <a:t>Provide a time frame for preparation and any other research.</a:t>
            </a:r>
          </a:p>
          <a:p>
            <a:pPr marL="0" marR="0" lvl="0" indent="0" algn="l" defTabSz="882213"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latin typeface="Helvetica" pitchFamily="34" charset="0"/>
              </a:rPr>
              <a:t>During this time trainer must circulate groups to ensure they understand their topics and are including adequate and necessary information. Trainer can advise trainees on presentation methods that could be included. (you tube clips, internet links, power point, handout, quiz, activities and so on)</a:t>
            </a:r>
          </a:p>
          <a:p>
            <a:pPr marL="0" marR="0" lvl="0" indent="0" algn="l" defTabSz="882213"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latin typeface="Helvetica" pitchFamily="34" charset="0"/>
              </a:rPr>
              <a:t>After each presentation have question time. Trainer can cover any key points missed or clarify as necessary information. Trainer must quiz or question trainees to ensure they have learned key information</a:t>
            </a:r>
          </a:p>
          <a:p>
            <a:pPr marL="0" marR="0" lvl="0" indent="0" algn="l" defTabSz="882213"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latin typeface="Helvetica" pitchFamily="34" charset="0"/>
              </a:rPr>
              <a:t>If possible have some reward to thank trainees for their efforts.</a:t>
            </a:r>
            <a:endParaRPr kumimoji="0" lang="en-US" sz="1200" b="0" i="0" u="none" strike="noStrike" kern="1200" cap="none" spc="0" normalizeH="0" baseline="0" noProof="0" dirty="0">
              <a:ln>
                <a:noFill/>
              </a:ln>
              <a:solidFill>
                <a:prstClr val="black"/>
              </a:solidFill>
              <a:effectLst/>
              <a:uLnTx/>
              <a:uFillTx/>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4427543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82213">
              <a:defRPr/>
            </a:pPr>
            <a:r>
              <a:rPr lang="en-AU" dirty="0">
                <a:solidFill>
                  <a:prstClr val="black"/>
                </a:solidFill>
              </a:rPr>
              <a:t>See notes slide </a:t>
            </a:r>
            <a:r>
              <a:rPr lang="en-AU" dirty="0" smtClean="0">
                <a:solidFill>
                  <a:prstClr val="black"/>
                </a:solidFill>
              </a:rPr>
              <a:t>27</a:t>
            </a:r>
            <a:endParaRPr lang="en-AU" dirty="0">
              <a:solidFill>
                <a:prstClr val="black"/>
              </a:solidFill>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22277397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82213">
              <a:defRPr/>
            </a:pPr>
            <a:r>
              <a:rPr lang="en-AU" dirty="0">
                <a:solidFill>
                  <a:prstClr val="black"/>
                </a:solidFill>
              </a:rPr>
              <a:t>See notes slide </a:t>
            </a:r>
            <a:r>
              <a:rPr lang="en-AU" dirty="0" smtClean="0">
                <a:solidFill>
                  <a:prstClr val="black"/>
                </a:solidFill>
              </a:rPr>
              <a:t>27</a:t>
            </a:r>
            <a:endParaRPr lang="en-AU" dirty="0">
              <a:solidFill>
                <a:prstClr val="black"/>
              </a:solidFill>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5540714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82213">
              <a:defRPr/>
            </a:pPr>
            <a:r>
              <a:rPr lang="en-AU" dirty="0">
                <a:solidFill>
                  <a:prstClr val="black"/>
                </a:solidFill>
              </a:rPr>
              <a:t>See notes slide </a:t>
            </a:r>
            <a:r>
              <a:rPr lang="en-AU" dirty="0" smtClean="0">
                <a:solidFill>
                  <a:prstClr val="black"/>
                </a:solidFill>
              </a:rPr>
              <a:t>27</a:t>
            </a:r>
            <a:endParaRPr lang="en-AU" dirty="0">
              <a:solidFill>
                <a:prstClr val="black"/>
              </a:solidFill>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20789708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ts val="400"/>
              </a:spcBef>
              <a:spcAft>
                <a:spcPts val="600"/>
              </a:spcAft>
              <a:tabLst>
                <a:tab pos="457200" algn="l"/>
              </a:tabLst>
            </a:pPr>
            <a:r>
              <a:rPr lang="en-AU" sz="1200" dirty="0" smtClean="0">
                <a:effectLst/>
                <a:latin typeface="Helvetica"/>
                <a:ea typeface="SimSun"/>
                <a:cs typeface="Times New Roman"/>
              </a:rPr>
              <a:t>The 3 common analysis methods are as follows:</a:t>
            </a:r>
            <a:endParaRPr lang="en-AU" sz="1200" dirty="0" smtClean="0">
              <a:effectLst/>
              <a:ea typeface="Times New Roman"/>
              <a:cs typeface="Times New Roman"/>
            </a:endParaRPr>
          </a:p>
          <a:p>
            <a:pPr marL="342900" lvl="0" indent="-342900">
              <a:lnSpc>
                <a:spcPct val="115000"/>
              </a:lnSpc>
              <a:spcBef>
                <a:spcPts val="400"/>
              </a:spcBef>
              <a:spcAft>
                <a:spcPts val="600"/>
              </a:spcAft>
              <a:buFont typeface="Symbol"/>
              <a:buChar char=""/>
            </a:pPr>
            <a:r>
              <a:rPr lang="en-AU" sz="1200" dirty="0" smtClean="0">
                <a:effectLst/>
                <a:latin typeface="Helvetica"/>
                <a:ea typeface="SimSun"/>
                <a:cs typeface="Times New Roman"/>
              </a:rPr>
              <a:t>Horizontal </a:t>
            </a:r>
            <a:endParaRPr lang="en-AU" sz="1200" dirty="0" smtClean="0">
              <a:effectLst/>
              <a:ea typeface="Times New Roman"/>
              <a:cs typeface="Times New Roman"/>
            </a:endParaRPr>
          </a:p>
          <a:p>
            <a:pPr marL="342900" lvl="0" indent="-342900">
              <a:lnSpc>
                <a:spcPct val="115000"/>
              </a:lnSpc>
              <a:spcBef>
                <a:spcPts val="400"/>
              </a:spcBef>
              <a:spcAft>
                <a:spcPts val="600"/>
              </a:spcAft>
              <a:buFont typeface="Symbol"/>
              <a:buChar char=""/>
            </a:pPr>
            <a:r>
              <a:rPr lang="en-AU" sz="1200" dirty="0" smtClean="0">
                <a:effectLst/>
                <a:latin typeface="Helvetica"/>
                <a:ea typeface="SimSun"/>
                <a:cs typeface="Times New Roman"/>
              </a:rPr>
              <a:t>Vertical </a:t>
            </a:r>
            <a:endParaRPr lang="en-AU" sz="1200" dirty="0" smtClean="0">
              <a:effectLst/>
              <a:ea typeface="Times New Roman"/>
              <a:cs typeface="Times New Roman"/>
            </a:endParaRPr>
          </a:p>
          <a:p>
            <a:pPr marL="342900" lvl="0" indent="-342900">
              <a:lnSpc>
                <a:spcPct val="115000"/>
              </a:lnSpc>
              <a:spcBef>
                <a:spcPts val="400"/>
              </a:spcBef>
              <a:spcAft>
                <a:spcPts val="600"/>
              </a:spcAft>
              <a:buFont typeface="Symbol"/>
              <a:buChar char=""/>
            </a:pPr>
            <a:r>
              <a:rPr lang="en-AU" sz="1200" dirty="0" smtClean="0">
                <a:effectLst/>
                <a:latin typeface="Helvetica"/>
                <a:ea typeface="SimSun"/>
                <a:cs typeface="Times New Roman"/>
              </a:rPr>
              <a:t>Ratio </a:t>
            </a:r>
            <a:endParaRPr lang="en-AU" sz="1200" dirty="0" smtClean="0">
              <a:effectLst/>
              <a:ea typeface="Times New Roman"/>
              <a:cs typeface="Times New Roman"/>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482475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00"/>
              </a:spcBef>
              <a:spcAft>
                <a:spcPts val="600"/>
              </a:spcAft>
            </a:pPr>
            <a:r>
              <a:rPr lang="en-US" sz="1200" dirty="0" smtClean="0">
                <a:effectLst/>
                <a:latin typeface="Helvetica"/>
                <a:ea typeface="SimSun"/>
                <a:cs typeface="Times New Roman"/>
              </a:rPr>
              <a:t>Methods of financial statement analysis generally involve comparing certain information: </a:t>
            </a:r>
            <a:endParaRPr lang="en-AU" sz="1200" dirty="0" smtClean="0">
              <a:effectLst/>
              <a:ea typeface="Times New Roman"/>
              <a:cs typeface="Times New Roman"/>
            </a:endParaRPr>
          </a:p>
          <a:p>
            <a:pPr marL="342900" lvl="0" indent="-342900">
              <a:spcBef>
                <a:spcPts val="400"/>
              </a:spcBef>
              <a:spcAft>
                <a:spcPts val="600"/>
              </a:spcAft>
              <a:buFont typeface="Symbol"/>
              <a:buChar char=""/>
            </a:pPr>
            <a:r>
              <a:rPr lang="en-US" sz="1200" dirty="0" smtClean="0">
                <a:effectLst/>
                <a:latin typeface="Helvetica"/>
                <a:ea typeface="SimSun"/>
                <a:cs typeface="Times New Roman"/>
              </a:rPr>
              <a:t>Across periods</a:t>
            </a:r>
            <a:endParaRPr lang="en-AU" sz="1200" dirty="0" smtClean="0">
              <a:effectLst/>
              <a:ea typeface="Times New Roman"/>
              <a:cs typeface="Times New Roman"/>
            </a:endParaRPr>
          </a:p>
          <a:p>
            <a:pPr marL="342900" lvl="0" indent="-342900">
              <a:spcBef>
                <a:spcPts val="400"/>
              </a:spcBef>
              <a:spcAft>
                <a:spcPts val="600"/>
              </a:spcAft>
              <a:buFont typeface="Symbol"/>
              <a:buChar char=""/>
            </a:pPr>
            <a:r>
              <a:rPr lang="en-US" sz="1200" dirty="0" smtClean="0">
                <a:effectLst/>
                <a:latin typeface="Helvetica"/>
                <a:ea typeface="SimSun"/>
                <a:cs typeface="Times New Roman"/>
              </a:rPr>
              <a:t>Across companies</a:t>
            </a:r>
            <a:endParaRPr lang="en-AU" sz="1200" dirty="0" smtClean="0">
              <a:effectLst/>
              <a:ea typeface="Times New Roman"/>
              <a:cs typeface="Times New Roman"/>
            </a:endParaRPr>
          </a:p>
          <a:p>
            <a:pPr marL="342900" lvl="0" indent="-342900">
              <a:spcBef>
                <a:spcPts val="400"/>
              </a:spcBef>
              <a:spcAft>
                <a:spcPts val="600"/>
              </a:spcAft>
              <a:buFont typeface="Symbol"/>
              <a:buChar char=""/>
            </a:pPr>
            <a:r>
              <a:rPr lang="en-US" sz="1200" dirty="0" smtClean="0">
                <a:effectLst/>
                <a:latin typeface="Helvetica"/>
                <a:ea typeface="SimSun"/>
                <a:cs typeface="Times New Roman"/>
              </a:rPr>
              <a:t>Against benchmarks</a:t>
            </a:r>
            <a:endParaRPr lang="en-AU" sz="1200" dirty="0" smtClean="0">
              <a:effectLst/>
              <a:ea typeface="Times New Roman"/>
              <a:cs typeface="Times New Roman"/>
            </a:endParaRPr>
          </a:p>
          <a:p>
            <a:endParaRPr lang="en-AU" dirty="0" smtClean="0"/>
          </a:p>
          <a:p>
            <a:r>
              <a:rPr lang="en-AU" dirty="0" smtClean="0"/>
              <a:t>Enquire if any trainees have knowledge or experience in this area.</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16522891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Bef>
                <a:spcPts val="400"/>
              </a:spcBef>
              <a:spcAft>
                <a:spcPts val="600"/>
              </a:spcAft>
            </a:pPr>
            <a:r>
              <a:rPr lang="en-US" sz="1200" dirty="0" smtClean="0">
                <a:effectLst/>
                <a:latin typeface="Helvetica"/>
                <a:ea typeface="SimSun"/>
                <a:cs typeface="Times New Roman"/>
              </a:rPr>
              <a:t>Discuss the following.</a:t>
            </a:r>
          </a:p>
          <a:p>
            <a:pPr algn="just">
              <a:spcBef>
                <a:spcPts val="400"/>
              </a:spcBef>
              <a:spcAft>
                <a:spcPts val="600"/>
              </a:spcAft>
            </a:pPr>
            <a:r>
              <a:rPr lang="en-US" sz="1200" dirty="0" smtClean="0">
                <a:effectLst/>
                <a:latin typeface="Helvetica"/>
                <a:ea typeface="SimSun"/>
                <a:cs typeface="Times New Roman"/>
              </a:rPr>
              <a:t>In the following example, we noted the following:</a:t>
            </a:r>
            <a:endParaRPr lang="en-AU" sz="1200" dirty="0" smtClean="0">
              <a:effectLst/>
              <a:ea typeface="Times New Roman"/>
              <a:cs typeface="Times New Roman"/>
            </a:endParaRPr>
          </a:p>
          <a:p>
            <a:pPr marL="342900" lvl="0" indent="-342900" algn="just">
              <a:spcBef>
                <a:spcPts val="400"/>
              </a:spcBef>
              <a:spcAft>
                <a:spcPts val="600"/>
              </a:spcAft>
              <a:buFont typeface="Symbol"/>
              <a:buChar char=""/>
            </a:pPr>
            <a:r>
              <a:rPr lang="en-US" sz="1200" dirty="0" smtClean="0">
                <a:effectLst/>
                <a:latin typeface="Helvetica"/>
                <a:ea typeface="SimSun"/>
                <a:cs typeface="Times New Roman"/>
              </a:rPr>
              <a:t>Sales in Year 2 is better than Year 1</a:t>
            </a:r>
            <a:endParaRPr lang="en-AU" sz="1200" dirty="0" smtClean="0">
              <a:effectLst/>
              <a:ea typeface="Times New Roman"/>
              <a:cs typeface="Times New Roman"/>
            </a:endParaRPr>
          </a:p>
          <a:p>
            <a:pPr marL="342900" lvl="0" indent="-342900" algn="just">
              <a:spcBef>
                <a:spcPts val="400"/>
              </a:spcBef>
              <a:spcAft>
                <a:spcPts val="600"/>
              </a:spcAft>
              <a:buFont typeface="Symbol"/>
              <a:buChar char=""/>
            </a:pPr>
            <a:r>
              <a:rPr lang="en-US" sz="1200" dirty="0" smtClean="0">
                <a:effectLst/>
                <a:latin typeface="Helvetica"/>
                <a:ea typeface="SimSun"/>
                <a:cs typeface="Times New Roman"/>
              </a:rPr>
              <a:t>Expenses in Year 2 is higher than Year 1</a:t>
            </a:r>
            <a:endParaRPr lang="en-AU" sz="1200" dirty="0" smtClean="0">
              <a:effectLst/>
              <a:ea typeface="Times New Roman"/>
              <a:cs typeface="Times New Roman"/>
            </a:endParaRPr>
          </a:p>
          <a:p>
            <a:pPr marL="342900" lvl="0" indent="-342900" algn="just">
              <a:spcBef>
                <a:spcPts val="400"/>
              </a:spcBef>
              <a:spcAft>
                <a:spcPts val="600"/>
              </a:spcAft>
              <a:buFont typeface="Symbol"/>
              <a:buChar char=""/>
            </a:pPr>
            <a:r>
              <a:rPr lang="en-US" sz="1200" dirty="0" smtClean="0">
                <a:effectLst/>
                <a:latin typeface="Helvetica"/>
                <a:ea typeface="SimSun"/>
                <a:cs typeface="Times New Roman"/>
              </a:rPr>
              <a:t>Profit in Year 2 is higher than Year 1 </a:t>
            </a:r>
            <a:endParaRPr lang="en-AU" sz="1200" dirty="0" smtClean="0">
              <a:effectLst/>
              <a:ea typeface="Times New Roman"/>
              <a:cs typeface="Times New Roman"/>
            </a:endParaRPr>
          </a:p>
          <a:p>
            <a:pPr>
              <a:spcBef>
                <a:spcPts val="400"/>
              </a:spcBef>
              <a:spcAft>
                <a:spcPts val="600"/>
              </a:spcAft>
            </a:pPr>
            <a:r>
              <a:rPr lang="en-US" sz="1200" dirty="0" smtClean="0">
                <a:effectLst/>
                <a:latin typeface="Helvetica"/>
                <a:ea typeface="SimSun"/>
                <a:cs typeface="Times New Roman"/>
              </a:rPr>
              <a:t>Question: Is Year 2 doing better than year 1?</a:t>
            </a:r>
          </a:p>
          <a:p>
            <a:pPr>
              <a:spcBef>
                <a:spcPts val="400"/>
              </a:spcBef>
              <a:spcAft>
                <a:spcPts val="600"/>
              </a:spcAft>
            </a:pPr>
            <a:endParaRPr lang="en-AU" sz="1200" dirty="0" smtClean="0">
              <a:effectLst/>
              <a:ea typeface="Times New Roman"/>
              <a:cs typeface="Times New Roman"/>
            </a:endParaRPr>
          </a:p>
          <a:p>
            <a:pPr>
              <a:spcBef>
                <a:spcPts val="400"/>
              </a:spcBef>
              <a:spcAft>
                <a:spcPts val="600"/>
              </a:spcAft>
            </a:pPr>
            <a:r>
              <a:rPr lang="en-US" sz="1200" dirty="0" smtClean="0">
                <a:effectLst/>
                <a:latin typeface="Helvetica"/>
                <a:ea typeface="SimSun"/>
                <a:cs typeface="Times New Roman"/>
              </a:rPr>
              <a:t>If we are to express sales as a base for both years, the following points are noted:</a:t>
            </a:r>
            <a:endParaRPr lang="en-AU" sz="1200" dirty="0" smtClean="0">
              <a:effectLst/>
              <a:ea typeface="Times New Roman"/>
              <a:cs typeface="Times New Roman"/>
            </a:endParaRPr>
          </a:p>
          <a:p>
            <a:pPr marL="342900" lvl="0" indent="-342900">
              <a:spcBef>
                <a:spcPts val="400"/>
              </a:spcBef>
              <a:spcAft>
                <a:spcPts val="600"/>
              </a:spcAft>
              <a:buFont typeface="Symbol"/>
              <a:buChar char=""/>
            </a:pPr>
            <a:r>
              <a:rPr lang="en-US" sz="1200" dirty="0" smtClean="0">
                <a:effectLst/>
                <a:latin typeface="Helvetica"/>
                <a:ea typeface="SimSun"/>
                <a:cs typeface="Times New Roman"/>
              </a:rPr>
              <a:t>Out of $100 sales made in Year 2, $53 is spent leaving a profit of $47</a:t>
            </a:r>
            <a:endParaRPr lang="en-AU" sz="1200" dirty="0" smtClean="0">
              <a:effectLst/>
              <a:ea typeface="Times New Roman"/>
              <a:cs typeface="Times New Roman"/>
            </a:endParaRPr>
          </a:p>
          <a:p>
            <a:pPr marL="342900" lvl="0" indent="-342900">
              <a:spcBef>
                <a:spcPts val="400"/>
              </a:spcBef>
              <a:spcAft>
                <a:spcPts val="600"/>
              </a:spcAft>
              <a:buFont typeface="Symbol"/>
              <a:buChar char=""/>
            </a:pPr>
            <a:r>
              <a:rPr lang="en-US" sz="1200" dirty="0" smtClean="0">
                <a:effectLst/>
                <a:latin typeface="Helvetica"/>
                <a:ea typeface="SimSun"/>
                <a:cs typeface="Times New Roman"/>
              </a:rPr>
              <a:t>Out of $100 sales made in Year 2, $40 is spent leaving a profit of $60</a:t>
            </a:r>
            <a:endParaRPr lang="en-AU" sz="1200" dirty="0" smtClean="0">
              <a:effectLst/>
              <a:ea typeface="Times New Roman"/>
              <a:cs typeface="Times New Roman"/>
            </a:endParaRPr>
          </a:p>
          <a:p>
            <a:pPr algn="just">
              <a:spcBef>
                <a:spcPts val="400"/>
              </a:spcBef>
              <a:spcAft>
                <a:spcPts val="600"/>
              </a:spcAft>
            </a:pPr>
            <a:r>
              <a:rPr lang="en-US" sz="1200" dirty="0" smtClean="0">
                <a:effectLst/>
                <a:latin typeface="Helvetica"/>
                <a:ea typeface="SimSun"/>
                <a:cs typeface="Times New Roman"/>
              </a:rPr>
              <a:t>The size of the financial statements in the above example has been made to be of common size for meaningful comparison.</a:t>
            </a:r>
            <a:endParaRPr lang="en-AU" sz="1200" dirty="0" smtClean="0">
              <a:effectLst/>
              <a:ea typeface="Times New Roman"/>
              <a:cs typeface="Times New Roman"/>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7909982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Bef>
                <a:spcPts val="400"/>
              </a:spcBef>
              <a:spcAft>
                <a:spcPts val="600"/>
              </a:spcAft>
            </a:pPr>
            <a:r>
              <a:rPr lang="en-US" sz="1200" dirty="0" smtClean="0">
                <a:effectLst/>
                <a:latin typeface="Helvetica"/>
                <a:ea typeface="SimSun"/>
                <a:cs typeface="Times New Roman"/>
              </a:rPr>
              <a:t>Review this balance sheet from the</a:t>
            </a:r>
            <a:r>
              <a:rPr lang="en-US" sz="1200" baseline="0" dirty="0" smtClean="0">
                <a:effectLst/>
                <a:latin typeface="Helvetica"/>
                <a:ea typeface="SimSun"/>
                <a:cs typeface="Times New Roman"/>
              </a:rPr>
              <a:t> TM.</a:t>
            </a:r>
            <a:endParaRPr lang="en-US" sz="1200" dirty="0" smtClean="0">
              <a:effectLst/>
              <a:latin typeface="Helvetica"/>
              <a:ea typeface="SimSun"/>
              <a:cs typeface="Times New Roman"/>
            </a:endParaRPr>
          </a:p>
          <a:p>
            <a:pPr algn="just">
              <a:spcBef>
                <a:spcPts val="400"/>
              </a:spcBef>
              <a:spcAft>
                <a:spcPts val="600"/>
              </a:spcAft>
            </a:pPr>
            <a:r>
              <a:rPr lang="en-US" sz="1200" dirty="0" smtClean="0">
                <a:effectLst/>
                <a:latin typeface="Helvetica"/>
                <a:ea typeface="SimSun"/>
                <a:cs typeface="Times New Roman"/>
              </a:rPr>
              <a:t>Balance sheet can be analysed using vertical financial analysis. Each item of the balance sheet can be compared to the total assets calculated. </a:t>
            </a:r>
          </a:p>
          <a:p>
            <a:pPr algn="just">
              <a:spcBef>
                <a:spcPts val="400"/>
              </a:spcBef>
              <a:spcAft>
                <a:spcPts val="600"/>
              </a:spcAft>
            </a:pPr>
            <a:endParaRPr lang="en-US" sz="1200" dirty="0" smtClean="0">
              <a:effectLst/>
              <a:latin typeface="Helvetica"/>
              <a:ea typeface="SimSun"/>
              <a:cs typeface="Times New Roman"/>
            </a:endParaRPr>
          </a:p>
          <a:p>
            <a:pPr>
              <a:spcBef>
                <a:spcPts val="400"/>
              </a:spcBef>
              <a:spcAft>
                <a:spcPts val="600"/>
              </a:spcAft>
            </a:pPr>
            <a:r>
              <a:rPr lang="en-US" sz="1200" dirty="0" smtClean="0">
                <a:effectLst/>
                <a:latin typeface="Helvetica"/>
                <a:ea typeface="SimSun"/>
                <a:cs typeface="Times New Roman"/>
              </a:rPr>
              <a:t>Vertical analysis is useful for answering the queries relating to company’s assets, liabilities and equity. Vertical analysis is also referred to as common-size analysis.</a:t>
            </a:r>
            <a:endParaRPr lang="en-AU" sz="1200" dirty="0" smtClean="0">
              <a:effectLst/>
              <a:ea typeface="Times New Roman"/>
              <a:cs typeface="Times New Roman"/>
            </a:endParaRPr>
          </a:p>
          <a:p>
            <a:pPr algn="just">
              <a:spcBef>
                <a:spcPts val="400"/>
              </a:spcBef>
              <a:spcAft>
                <a:spcPts val="600"/>
              </a:spcAft>
            </a:pPr>
            <a:endParaRPr lang="en-AU" sz="1200" dirty="0" smtClean="0">
              <a:effectLst/>
              <a:ea typeface="Times New Roman"/>
              <a:cs typeface="Times New Roman"/>
            </a:endParaRPr>
          </a:p>
          <a:p>
            <a:pPr algn="just">
              <a:spcBef>
                <a:spcPts val="400"/>
              </a:spcBef>
              <a:spcAft>
                <a:spcPts val="600"/>
              </a:spcAft>
            </a:pPr>
            <a:r>
              <a:rPr lang="en-AU" sz="1200" dirty="0" smtClean="0">
                <a:effectLst/>
                <a:ea typeface="Times New Roman"/>
                <a:cs typeface="Times New Roman"/>
              </a:rPr>
              <a:t>Discuss the advantages of comparison over two or more years to see financial performance.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36873605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smtClean="0">
                <a:effectLst/>
                <a:latin typeface="Helvetica"/>
                <a:ea typeface="SimSun"/>
                <a:cs typeface="Times New Roman"/>
              </a:rPr>
              <a:t>Financial ratio refers to ratios used in analysis of financial numbers.  It is a way of assessing a company’s </a:t>
            </a:r>
            <a:r>
              <a:rPr kumimoji="0" lang="en-AU" sz="1200" b="0" i="0" u="none" strike="noStrike" kern="1200" cap="none" spc="0" normalizeH="0" baseline="0" noProof="0" dirty="0" smtClean="0">
                <a:ln>
                  <a:noFill/>
                </a:ln>
                <a:solidFill>
                  <a:prstClr val="black"/>
                </a:solidFill>
                <a:effectLst/>
                <a:uLnTx/>
                <a:uFillTx/>
                <a:latin typeface="Helvetica"/>
                <a:ea typeface="SimSun"/>
                <a:cs typeface="Times New Roman"/>
              </a:rPr>
              <a:t>performance</a:t>
            </a:r>
            <a:endParaRPr kumimoji="0" lang="en-AU" sz="1200" b="0" i="0" u="none" strike="noStrike" kern="1200" cap="none" spc="0" normalizeH="0" baseline="0" noProof="0" dirty="0" smtClean="0">
              <a:ln>
                <a:noFill/>
              </a:ln>
              <a:solidFill>
                <a:prstClr val="black"/>
              </a:solidFill>
              <a:effectLst/>
              <a:uLnTx/>
              <a:uFillTx/>
              <a:latin typeface="Helvetica" pitchFamily="34" charset="0"/>
            </a:endParaRPr>
          </a:p>
          <a:p>
            <a:endParaRPr lang="en-AU" sz="1200" dirty="0" smtClean="0">
              <a:effectLst/>
              <a:latin typeface="Helvetica"/>
              <a:ea typeface="SimSun"/>
              <a:cs typeface="Times New Roman"/>
            </a:endParaRPr>
          </a:p>
          <a:p>
            <a:r>
              <a:rPr lang="en-AU" sz="1200" dirty="0" smtClean="0">
                <a:effectLst/>
                <a:latin typeface="Helvetica"/>
                <a:ea typeface="SimSun"/>
                <a:cs typeface="Times New Roman"/>
              </a:rPr>
              <a:t>Discuss further as needed. </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2113868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ts val="400"/>
              </a:spcBef>
              <a:spcAft>
                <a:spcPts val="600"/>
              </a:spcAft>
            </a:pPr>
            <a:r>
              <a:rPr lang="en-AU" sz="1200" dirty="0" smtClean="0">
                <a:effectLst/>
                <a:latin typeface="Helvetica"/>
                <a:ea typeface="Times New Roman"/>
                <a:cs typeface="HelveticaNeueLTStd-Lt"/>
              </a:rPr>
              <a:t>Take time to explain the formula and ensure all trainees understand how to use it effectively.</a:t>
            </a:r>
          </a:p>
          <a:p>
            <a:pPr>
              <a:lnSpc>
                <a:spcPct val="115000"/>
              </a:lnSpc>
              <a:spcBef>
                <a:spcPts val="400"/>
              </a:spcBef>
              <a:spcAft>
                <a:spcPts val="600"/>
              </a:spcAft>
            </a:pPr>
            <a:endParaRPr lang="en-AU" sz="1200" dirty="0" smtClean="0">
              <a:effectLst/>
              <a:latin typeface="Helvetica"/>
              <a:ea typeface="Times New Roman"/>
              <a:cs typeface="HelveticaNeueLTStd-Lt"/>
            </a:endParaRPr>
          </a:p>
          <a:p>
            <a:pPr>
              <a:lnSpc>
                <a:spcPct val="115000"/>
              </a:lnSpc>
              <a:spcBef>
                <a:spcPts val="400"/>
              </a:spcBef>
              <a:spcAft>
                <a:spcPts val="600"/>
              </a:spcAft>
            </a:pPr>
            <a:r>
              <a:rPr lang="en-AU" sz="1200" dirty="0" smtClean="0">
                <a:effectLst/>
                <a:latin typeface="Helvetica"/>
                <a:ea typeface="Times New Roman"/>
                <a:cs typeface="HelveticaNeueLTStd-Lt"/>
              </a:rPr>
              <a:t>Ratio analysis is the technique of manipulating information contained in financial reports to produce measures of performance.</a:t>
            </a:r>
            <a:endParaRPr lang="en-AU" sz="1200" dirty="0" smtClean="0">
              <a:effectLst/>
              <a:ea typeface="Times New Roman"/>
              <a:cs typeface="Times New Roman"/>
            </a:endParaRPr>
          </a:p>
          <a:p>
            <a:endParaRPr lang="en-AU" dirty="0" smtClean="0"/>
          </a:p>
          <a:p>
            <a:r>
              <a:rPr lang="en-AU" dirty="0" smtClean="0"/>
              <a:t>All the above are common examples of industry ratios used to describe the financial situation, and performance of, the business.</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8575694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00"/>
              </a:spcBef>
              <a:spcAft>
                <a:spcPts val="600"/>
              </a:spcAft>
            </a:pPr>
            <a:endParaRPr lang="en-US" sz="1200" dirty="0" smtClean="0">
              <a:effectLst/>
              <a:latin typeface="Helvetica"/>
              <a:ea typeface="SimSun"/>
              <a:cs typeface="Times New Roman"/>
            </a:endParaRPr>
          </a:p>
          <a:p>
            <a:pPr>
              <a:spcBef>
                <a:spcPts val="400"/>
              </a:spcBef>
              <a:spcAft>
                <a:spcPts val="600"/>
              </a:spcAft>
            </a:pPr>
            <a:r>
              <a:rPr lang="en-US" sz="1200" dirty="0" smtClean="0">
                <a:effectLst/>
                <a:latin typeface="Helvetica"/>
                <a:ea typeface="SimSun"/>
                <a:cs typeface="Times New Roman"/>
              </a:rPr>
              <a:t>Understanding and interpreting financial ratios is a key business skill for users of the financial statements.  Financial ratios illustrate the company’s strengths and  weaknesses.  </a:t>
            </a:r>
            <a:endParaRPr lang="en-AU" sz="1200" dirty="0" smtClean="0">
              <a:effectLst/>
              <a:ea typeface="Times New Roman"/>
              <a:cs typeface="Times New Roman"/>
            </a:endParaRPr>
          </a:p>
          <a:p>
            <a:endParaRPr lang="en-AU" dirty="0" smtClean="0"/>
          </a:p>
          <a:p>
            <a:r>
              <a:rPr lang="en-AU" sz="1200" dirty="0" smtClean="0">
                <a:effectLst/>
                <a:latin typeface="Helvetica"/>
                <a:ea typeface="SimSun"/>
                <a:cs typeface="Times New Roman"/>
              </a:rPr>
              <a:t>There are many financial ratios available.  Some are generic to all companies and some are industry-specific. Too many ratios used may cause confusion</a:t>
            </a:r>
          </a:p>
          <a:p>
            <a:endParaRPr lang="en-AU" sz="1200" dirty="0" smtClean="0">
              <a:effectLst/>
              <a:latin typeface="Helvetica"/>
              <a:ea typeface="SimSun"/>
              <a:cs typeface="Times New Roman"/>
            </a:endParaRPr>
          </a:p>
          <a:p>
            <a:r>
              <a:rPr lang="en-AU" sz="1200" dirty="0" smtClean="0">
                <a:effectLst/>
                <a:latin typeface="Helvetica"/>
                <a:ea typeface="SimSun"/>
                <a:cs typeface="Times New Roman"/>
              </a:rPr>
              <a:t>It is even more unproductive when numerous ratios are just calculated without interpretation and analysis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4332224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Provide sample scenarios</a:t>
            </a:r>
            <a:r>
              <a:rPr lang="en-AU" baseline="0" dirty="0" smtClean="0"/>
              <a:t> with figures and ask students to calculate ratios.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13085813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Provide sample scenarios and have students calculate working capital.</a:t>
            </a:r>
          </a:p>
          <a:p>
            <a:r>
              <a:rPr lang="en-AU" dirty="0" smtClean="0"/>
              <a:t>This exercise may</a:t>
            </a:r>
            <a:r>
              <a:rPr lang="en-AU" baseline="0" dirty="0" smtClean="0"/>
              <a:t> be done using the personal example of mature age students, provided they are comfortable to do so.</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32234221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ts val="400"/>
              </a:spcBef>
              <a:spcAft>
                <a:spcPts val="600"/>
              </a:spcAft>
            </a:pPr>
            <a:r>
              <a:rPr lang="en-AU" sz="1200" dirty="0" smtClean="0">
                <a:solidFill>
                  <a:srgbClr val="000000"/>
                </a:solidFill>
                <a:effectLst/>
                <a:latin typeface="Helvetica"/>
                <a:ea typeface="Times New Roman"/>
                <a:cs typeface="HelveticaNeueLTStd-Lt"/>
              </a:rPr>
              <a:t>This ratio tells us how efficiently we use our assets to provide us with income.</a:t>
            </a:r>
          </a:p>
          <a:p>
            <a:pPr>
              <a:lnSpc>
                <a:spcPct val="115000"/>
              </a:lnSpc>
              <a:spcBef>
                <a:spcPts val="400"/>
              </a:spcBef>
              <a:spcAft>
                <a:spcPts val="600"/>
              </a:spcAft>
            </a:pPr>
            <a:endParaRPr lang="en-AU" sz="1200" dirty="0" smtClean="0">
              <a:solidFill>
                <a:srgbClr val="000000"/>
              </a:solidFill>
              <a:effectLst/>
              <a:latin typeface="Helvetica"/>
              <a:ea typeface="Times New Roman"/>
              <a:cs typeface="HelveticaNeueLTStd-Lt"/>
            </a:endParaRPr>
          </a:p>
          <a:p>
            <a:pPr>
              <a:lnSpc>
                <a:spcPct val="115000"/>
              </a:lnSpc>
              <a:spcBef>
                <a:spcPts val="400"/>
              </a:spcBef>
              <a:spcAft>
                <a:spcPts val="600"/>
              </a:spcAft>
            </a:pPr>
            <a:r>
              <a:rPr lang="en-AU" sz="1200" dirty="0" smtClean="0">
                <a:solidFill>
                  <a:srgbClr val="000000"/>
                </a:solidFill>
                <a:effectLst/>
                <a:latin typeface="Helvetica"/>
                <a:ea typeface="Times New Roman"/>
                <a:cs typeface="HelveticaNeueLTStd-Lt"/>
              </a:rPr>
              <a:t>When interpreting this ratio we try to see a trend emerging.</a:t>
            </a:r>
          </a:p>
          <a:p>
            <a:pPr>
              <a:lnSpc>
                <a:spcPct val="115000"/>
              </a:lnSpc>
              <a:spcBef>
                <a:spcPts val="400"/>
              </a:spcBef>
              <a:spcAft>
                <a:spcPts val="600"/>
              </a:spcAft>
            </a:pPr>
            <a:endParaRPr lang="en-AU" sz="1200" dirty="0" smtClean="0">
              <a:solidFill>
                <a:srgbClr val="000000"/>
              </a:solidFill>
              <a:effectLst/>
              <a:latin typeface="Helvetica"/>
              <a:ea typeface="Times New Roman"/>
              <a:cs typeface="HelveticaNeueLTStd-Lt"/>
            </a:endParaRPr>
          </a:p>
          <a:p>
            <a:pPr>
              <a:lnSpc>
                <a:spcPct val="115000"/>
              </a:lnSpc>
              <a:spcBef>
                <a:spcPts val="400"/>
              </a:spcBef>
              <a:spcAft>
                <a:spcPts val="600"/>
              </a:spcAft>
            </a:pPr>
            <a:r>
              <a:rPr lang="en-AU" sz="1200" dirty="0" smtClean="0">
                <a:solidFill>
                  <a:srgbClr val="000000"/>
                </a:solidFill>
                <a:effectLst/>
                <a:latin typeface="Helvetica"/>
                <a:ea typeface="Times New Roman"/>
                <a:cs typeface="HelveticaNeueLTStd-Lt"/>
              </a:rPr>
              <a:t>We want our ratio to be steadily increasing. This would mean that we are getting better at what we do.</a:t>
            </a:r>
            <a:endParaRPr lang="en-AU" sz="1200" dirty="0" smtClean="0">
              <a:effectLst/>
              <a:ea typeface="Times New Roman"/>
              <a:cs typeface="Times New Roman"/>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1999398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ts val="400"/>
              </a:spcBef>
              <a:spcAft>
                <a:spcPts val="600"/>
              </a:spcAft>
            </a:pPr>
            <a:r>
              <a:rPr lang="en-AU" sz="1200" dirty="0" smtClean="0">
                <a:solidFill>
                  <a:srgbClr val="000000"/>
                </a:solidFill>
                <a:effectLst/>
                <a:latin typeface="Helvetica"/>
                <a:ea typeface="Times New Roman"/>
                <a:cs typeface="HelveticaNeueLTStd-Lt"/>
              </a:rPr>
              <a:t>This calculation shows how long it takes to “turnover” or sell the inventory of the organi</a:t>
            </a:r>
            <a:r>
              <a:rPr lang="en-US" sz="1200" dirty="0" smtClean="0">
                <a:solidFill>
                  <a:srgbClr val="000000"/>
                </a:solidFill>
                <a:effectLst/>
                <a:latin typeface="Helvetica"/>
                <a:ea typeface="Times New Roman"/>
                <a:cs typeface="HelveticaNeueLTStd-Lt"/>
              </a:rPr>
              <a:t>s</a:t>
            </a:r>
            <a:r>
              <a:rPr lang="en-AU" sz="1200" dirty="0" smtClean="0">
                <a:solidFill>
                  <a:srgbClr val="000000"/>
                </a:solidFill>
                <a:effectLst/>
                <a:latin typeface="Helvetica"/>
                <a:ea typeface="Times New Roman"/>
                <a:cs typeface="HelveticaNeueLTStd-Lt"/>
              </a:rPr>
              <a:t>ation</a:t>
            </a:r>
            <a:r>
              <a:rPr lang="en-US" sz="1200" dirty="0" smtClean="0">
                <a:solidFill>
                  <a:srgbClr val="000000"/>
                </a:solidFill>
                <a:effectLst/>
                <a:latin typeface="Helvetica"/>
                <a:ea typeface="Times New Roman"/>
                <a:cs typeface="HelveticaNeueLTStd-Lt"/>
              </a:rPr>
              <a:t>. T</a:t>
            </a:r>
            <a:r>
              <a:rPr lang="en-AU" sz="1200" dirty="0" smtClean="0">
                <a:solidFill>
                  <a:srgbClr val="000000"/>
                </a:solidFill>
                <a:effectLst/>
                <a:latin typeface="Helvetica"/>
                <a:ea typeface="Times New Roman"/>
                <a:cs typeface="HelveticaNeueLTStd-Lt"/>
              </a:rPr>
              <a:t>he longer it takes, the less efficient the organi</a:t>
            </a:r>
            <a:r>
              <a:rPr lang="en-US" sz="1200" dirty="0" smtClean="0">
                <a:solidFill>
                  <a:srgbClr val="000000"/>
                </a:solidFill>
                <a:effectLst/>
                <a:latin typeface="Helvetica"/>
                <a:ea typeface="Times New Roman"/>
                <a:cs typeface="HelveticaNeueLTStd-Lt"/>
              </a:rPr>
              <a:t>s</a:t>
            </a:r>
            <a:r>
              <a:rPr lang="en-AU" sz="1200" dirty="0" smtClean="0">
                <a:solidFill>
                  <a:srgbClr val="000000"/>
                </a:solidFill>
                <a:effectLst/>
                <a:latin typeface="Helvetica"/>
                <a:ea typeface="Times New Roman"/>
                <a:cs typeface="HelveticaNeueLTStd-Lt"/>
              </a:rPr>
              <a:t>ation. </a:t>
            </a:r>
            <a:endParaRPr lang="en-AU" sz="1200" dirty="0" smtClean="0">
              <a:effectLst/>
              <a:ea typeface="Times New Roman"/>
              <a:cs typeface="Times New Roman"/>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19438381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Discuss and</a:t>
            </a:r>
            <a:r>
              <a:rPr lang="en-AU" baseline="0" dirty="0" smtClean="0"/>
              <a:t> provide examples to the group.</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25473184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ts val="400"/>
              </a:spcBef>
              <a:spcAft>
                <a:spcPts val="600"/>
              </a:spcAft>
            </a:pPr>
            <a:r>
              <a:rPr lang="en-AU" sz="1200" dirty="0" smtClean="0">
                <a:solidFill>
                  <a:srgbClr val="000000"/>
                </a:solidFill>
                <a:effectLst/>
                <a:latin typeface="Helvetica"/>
                <a:ea typeface="Times New Roman"/>
                <a:cs typeface="HelveticaNeueLTStd-Lt"/>
              </a:rPr>
              <a:t>Most retail organisations operate a 30 day credit cycle with an expectation that they will receive payment within 45 days. However in </a:t>
            </a:r>
            <a:r>
              <a:rPr lang="en-US" sz="1200" dirty="0" smtClean="0">
                <a:solidFill>
                  <a:srgbClr val="000000"/>
                </a:solidFill>
                <a:effectLst/>
                <a:latin typeface="Helvetica"/>
                <a:ea typeface="Times New Roman"/>
                <a:cs typeface="HelveticaNeueLTStd-Lt"/>
              </a:rPr>
              <a:t>travel and tourism</a:t>
            </a:r>
            <a:r>
              <a:rPr lang="en-AU" sz="1200" dirty="0" smtClean="0">
                <a:solidFill>
                  <a:srgbClr val="000000"/>
                </a:solidFill>
                <a:effectLst/>
                <a:latin typeface="Helvetica"/>
                <a:ea typeface="Times New Roman"/>
                <a:cs typeface="HelveticaNeueLTStd-Lt"/>
              </a:rPr>
              <a:t> credit is usually desirable at 7-14 days. </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27243404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ts val="400"/>
              </a:spcBef>
              <a:spcAft>
                <a:spcPts val="600"/>
              </a:spcAft>
            </a:pPr>
            <a:r>
              <a:rPr lang="en-AU" sz="1200" dirty="0" smtClean="0">
                <a:solidFill>
                  <a:srgbClr val="000000"/>
                </a:solidFill>
                <a:effectLst/>
                <a:latin typeface="Helvetica"/>
                <a:ea typeface="Times New Roman"/>
                <a:cs typeface="HelveticaNeueLTStd-Lt"/>
              </a:rPr>
              <a:t>These ratios tell us about our profit margins and how profitable our business is. Changes in ratios for a business over several years can indicate favourable or unfavourable trends.</a:t>
            </a:r>
            <a:endParaRPr lang="en-AU" sz="1200" dirty="0" smtClean="0">
              <a:effectLst/>
              <a:ea typeface="Times New Roman"/>
              <a:cs typeface="Times New Roman"/>
            </a:endParaRPr>
          </a:p>
          <a:p>
            <a:pPr>
              <a:lnSpc>
                <a:spcPct val="115000"/>
              </a:lnSpc>
              <a:spcBef>
                <a:spcPts val="400"/>
              </a:spcBef>
              <a:spcAft>
                <a:spcPts val="600"/>
              </a:spcAft>
            </a:pPr>
            <a:endParaRPr lang="en-AU" sz="1200" dirty="0" smtClean="0">
              <a:solidFill>
                <a:srgbClr val="000000"/>
              </a:solidFill>
              <a:effectLst/>
              <a:latin typeface="Helvetica"/>
              <a:ea typeface="Times New Roman"/>
              <a:cs typeface="HelveticaNeueLTStd-Bd"/>
            </a:endParaRPr>
          </a:p>
          <a:p>
            <a:pPr>
              <a:lnSpc>
                <a:spcPct val="115000"/>
              </a:lnSpc>
              <a:spcBef>
                <a:spcPts val="400"/>
              </a:spcBef>
              <a:spcAft>
                <a:spcPts val="600"/>
              </a:spcAft>
            </a:pPr>
            <a:r>
              <a:rPr lang="en-AU" sz="1200" dirty="0" smtClean="0">
                <a:solidFill>
                  <a:srgbClr val="000000"/>
                </a:solidFill>
                <a:effectLst/>
                <a:latin typeface="Helvetica"/>
                <a:ea typeface="Times New Roman"/>
                <a:cs typeface="HelveticaNeueLTStd-Bd"/>
              </a:rPr>
              <a:t>Gross profit ratio </a:t>
            </a:r>
            <a:r>
              <a:rPr lang="en-AU" sz="1200" dirty="0" smtClean="0">
                <a:solidFill>
                  <a:srgbClr val="000000"/>
                </a:solidFill>
                <a:effectLst/>
                <a:latin typeface="Helvetica"/>
                <a:ea typeface="Times New Roman"/>
                <a:cs typeface="HelveticaNeueLTStd-Lt"/>
              </a:rPr>
              <a:t>demonstrates the direct relationship between Sales and the Cost of Goods Sold. If the mark up on stock is not high enough, then the business will not be profitable. </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44</a:t>
            </a:fld>
            <a:endParaRPr lang="en-US" dirty="0">
              <a:solidFill>
                <a:prstClr val="black"/>
              </a:solidFill>
            </a:endParaRPr>
          </a:p>
        </p:txBody>
      </p:sp>
    </p:spTree>
    <p:extLst>
      <p:ext uri="{BB962C8B-B14F-4D97-AF65-F5344CB8AC3E}">
        <p14:creationId xmlns:p14="http://schemas.microsoft.com/office/powerpoint/2010/main" val="27243404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Explain as necessary</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233730908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0"/>
              </a:spcAft>
            </a:pPr>
            <a:r>
              <a:rPr lang="en-AU" sz="1200" dirty="0" smtClean="0">
                <a:solidFill>
                  <a:srgbClr val="000000"/>
                </a:solidFill>
                <a:effectLst/>
                <a:latin typeface="Helvetica"/>
                <a:ea typeface="Times New Roman"/>
                <a:cs typeface="HelveticaNeueLTStd-Lt"/>
              </a:rPr>
              <a:t>ROI indicates the efficiency of management’s decisions regarding the purchase and use of</a:t>
            </a:r>
            <a:endParaRPr lang="en-AU" sz="1200" dirty="0" smtClean="0">
              <a:effectLst/>
              <a:ea typeface="Times New Roman"/>
              <a:cs typeface="Times New Roman"/>
            </a:endParaRPr>
          </a:p>
          <a:p>
            <a:pPr>
              <a:lnSpc>
                <a:spcPct val="115000"/>
              </a:lnSpc>
              <a:spcAft>
                <a:spcPts val="0"/>
              </a:spcAft>
            </a:pPr>
            <a:r>
              <a:rPr lang="en-AU" sz="1200" dirty="0" smtClean="0">
                <a:solidFill>
                  <a:srgbClr val="000000"/>
                </a:solidFill>
                <a:effectLst/>
                <a:latin typeface="Helvetica"/>
                <a:ea typeface="Times New Roman"/>
                <a:cs typeface="HelveticaNeueLTStd-Lt"/>
              </a:rPr>
              <a:t>Assets</a:t>
            </a:r>
            <a:r>
              <a:rPr lang="en-AU" sz="1200" u="sng" dirty="0" smtClean="0">
                <a:solidFill>
                  <a:srgbClr val="000000"/>
                </a:solidFill>
                <a:effectLst/>
                <a:latin typeface="Helvetica"/>
                <a:ea typeface="Times New Roman"/>
                <a:cs typeface="HelveticaNeueLTStd-Lt"/>
              </a:rPr>
              <a:t>.</a:t>
            </a:r>
          </a:p>
          <a:p>
            <a:pPr>
              <a:lnSpc>
                <a:spcPct val="115000"/>
              </a:lnSpc>
              <a:spcAft>
                <a:spcPts val="0"/>
              </a:spcAft>
            </a:pPr>
            <a:r>
              <a:rPr lang="en-AU" sz="1200" u="sng" dirty="0" smtClean="0">
                <a:solidFill>
                  <a:srgbClr val="000000"/>
                </a:solidFill>
                <a:effectLst/>
                <a:latin typeface="Helvetica"/>
                <a:ea typeface="Times New Roman"/>
                <a:cs typeface="HelveticaNeueLTStd-Lt"/>
              </a:rPr>
              <a:t>Operating profit has tax and interest added back</a:t>
            </a:r>
            <a:r>
              <a:rPr lang="en-AU" sz="1200" dirty="0" smtClean="0">
                <a:solidFill>
                  <a:srgbClr val="000000"/>
                </a:solidFill>
                <a:effectLst/>
                <a:latin typeface="Helvetica"/>
                <a:ea typeface="Times New Roman"/>
                <a:cs typeface="HelveticaNeueLTStd-Lt"/>
              </a:rPr>
              <a:t> to enable the business to compare</a:t>
            </a:r>
            <a:endParaRPr lang="en-AU" sz="1200" dirty="0" smtClean="0">
              <a:effectLst/>
              <a:ea typeface="Times New Roman"/>
              <a:cs typeface="Times New Roman"/>
            </a:endParaRPr>
          </a:p>
          <a:p>
            <a:pPr>
              <a:lnSpc>
                <a:spcPct val="115000"/>
              </a:lnSpc>
              <a:spcAft>
                <a:spcPts val="0"/>
              </a:spcAft>
            </a:pPr>
            <a:r>
              <a:rPr lang="en-AU" sz="1200" dirty="0" smtClean="0">
                <a:solidFill>
                  <a:srgbClr val="000000"/>
                </a:solidFill>
                <a:effectLst/>
                <a:latin typeface="Helvetica"/>
                <a:ea typeface="Times New Roman"/>
                <a:cs typeface="HelveticaNeueLTStd-Lt"/>
              </a:rPr>
              <a:t>its results with other organi</a:t>
            </a:r>
            <a:r>
              <a:rPr lang="en-US" sz="1200" dirty="0" smtClean="0">
                <a:solidFill>
                  <a:srgbClr val="000000"/>
                </a:solidFill>
                <a:effectLst/>
                <a:latin typeface="Helvetica"/>
                <a:ea typeface="Times New Roman"/>
                <a:cs typeface="HelveticaNeueLTStd-Lt"/>
              </a:rPr>
              <a:t>s</a:t>
            </a:r>
            <a:r>
              <a:rPr lang="en-AU" sz="1200" dirty="0" smtClean="0">
                <a:solidFill>
                  <a:srgbClr val="000000"/>
                </a:solidFill>
                <a:effectLst/>
                <a:latin typeface="Helvetica"/>
                <a:ea typeface="Times New Roman"/>
                <a:cs typeface="HelveticaNeueLTStd-Lt"/>
              </a:rPr>
              <a:t>ations.</a:t>
            </a:r>
            <a:endParaRPr lang="en-AU" sz="1200" dirty="0" smtClean="0">
              <a:effectLst/>
              <a:ea typeface="Times New Roman"/>
              <a:cs typeface="Times New Roman"/>
            </a:endParaRPr>
          </a:p>
          <a:p>
            <a:endParaRPr lang="en-AU" dirty="0" smtClean="0"/>
          </a:p>
          <a:p>
            <a:r>
              <a:rPr lang="en-AU" sz="1200" dirty="0" smtClean="0">
                <a:solidFill>
                  <a:srgbClr val="000000"/>
                </a:solidFill>
                <a:effectLst/>
                <a:latin typeface="Helvetica"/>
                <a:ea typeface="Times New Roman"/>
                <a:cs typeface="HelveticaNeueLTStd-Lt"/>
              </a:rPr>
              <a:t>This ratio shows us how much our assets are earning. The higher this ratio is, the more desirable the business is as an investment for the owners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435063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Explain further as needed and review  formula on next slide.</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54596456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0"/>
              </a:spcAft>
            </a:pPr>
            <a:r>
              <a:rPr lang="en-AU" sz="1200" dirty="0" smtClean="0">
                <a:solidFill>
                  <a:srgbClr val="000000"/>
                </a:solidFill>
                <a:effectLst/>
                <a:latin typeface="Helvetica"/>
                <a:ea typeface="Times New Roman"/>
                <a:cs typeface="HelveticaNeueLTStd-Lt"/>
              </a:rPr>
              <a:t>The Proprietorship ratio shows the percentage of assets that have been funded by the</a:t>
            </a:r>
            <a:endParaRPr lang="en-AU" sz="1200" dirty="0" smtClean="0">
              <a:effectLst/>
              <a:ea typeface="Times New Roman"/>
              <a:cs typeface="Times New Roman"/>
            </a:endParaRPr>
          </a:p>
          <a:p>
            <a:pPr>
              <a:lnSpc>
                <a:spcPct val="115000"/>
              </a:lnSpc>
              <a:spcAft>
                <a:spcPts val="0"/>
              </a:spcAft>
            </a:pPr>
            <a:r>
              <a:rPr lang="en-AU" sz="1200" dirty="0" smtClean="0">
                <a:solidFill>
                  <a:srgbClr val="000000"/>
                </a:solidFill>
                <a:effectLst/>
                <a:latin typeface="Helvetica"/>
                <a:ea typeface="Times New Roman"/>
                <a:cs typeface="HelveticaNeueLTStd-Lt"/>
              </a:rPr>
              <a:t>owners of the business. </a:t>
            </a:r>
            <a:endParaRPr lang="en-AU" sz="1200" dirty="0" smtClean="0">
              <a:effectLst/>
              <a:ea typeface="Times New Roman"/>
              <a:cs typeface="Times New Roman"/>
            </a:endParaRPr>
          </a:p>
          <a:p>
            <a:pPr>
              <a:lnSpc>
                <a:spcPct val="115000"/>
              </a:lnSpc>
              <a:spcBef>
                <a:spcPts val="400"/>
              </a:spcBef>
              <a:spcAft>
                <a:spcPts val="600"/>
              </a:spcAft>
            </a:pPr>
            <a:r>
              <a:rPr lang="en-AU" sz="1200" dirty="0" smtClean="0">
                <a:solidFill>
                  <a:srgbClr val="000000"/>
                </a:solidFill>
                <a:effectLst/>
                <a:latin typeface="Helvetica"/>
                <a:ea typeface="Times New Roman"/>
                <a:cs typeface="HelveticaNeueLTStd-Lt"/>
              </a:rPr>
              <a:t>It is important </a:t>
            </a:r>
            <a:r>
              <a:rPr lang="en-AU" sz="1200" b="1" u="sng" dirty="0" smtClean="0">
                <a:solidFill>
                  <a:srgbClr val="000000"/>
                </a:solidFill>
                <a:effectLst/>
                <a:latin typeface="Helvetica"/>
                <a:ea typeface="Times New Roman"/>
                <a:cs typeface="HelveticaNeueLTStd-Lt"/>
              </a:rPr>
              <a:t>not</a:t>
            </a:r>
            <a:r>
              <a:rPr lang="en-AU" sz="1200" dirty="0" smtClean="0">
                <a:solidFill>
                  <a:srgbClr val="000000"/>
                </a:solidFill>
                <a:effectLst/>
                <a:latin typeface="Helvetica"/>
                <a:ea typeface="Times New Roman"/>
                <a:cs typeface="HelveticaNeueLTStd-Lt"/>
              </a:rPr>
              <a:t> to look at the ratios in isolation. To get a true picture of how a company is performing you need to examine the:</a:t>
            </a:r>
            <a:endParaRPr lang="en-AU" sz="1200" dirty="0" smtClean="0">
              <a:effectLst/>
              <a:ea typeface="Times New Roman"/>
              <a:cs typeface="Times New Roman"/>
            </a:endParaRPr>
          </a:p>
          <a:p>
            <a:pPr marL="342900" lvl="0" indent="-342900">
              <a:lnSpc>
                <a:spcPct val="115000"/>
              </a:lnSpc>
              <a:spcBef>
                <a:spcPts val="400"/>
              </a:spcBef>
              <a:spcAft>
                <a:spcPts val="600"/>
              </a:spcAft>
              <a:buFont typeface="Symbol"/>
              <a:buChar char=""/>
            </a:pPr>
            <a:r>
              <a:rPr lang="en-US" sz="1200" dirty="0" smtClean="0">
                <a:solidFill>
                  <a:srgbClr val="000000"/>
                </a:solidFill>
                <a:effectLst/>
                <a:latin typeface="Helvetica"/>
                <a:ea typeface="Times New Roman"/>
                <a:cs typeface="HelveticaNeueLTStd-Lt"/>
              </a:rPr>
              <a:t>C</a:t>
            </a:r>
            <a:r>
              <a:rPr lang="en-AU" sz="1200" dirty="0" smtClean="0">
                <a:solidFill>
                  <a:srgbClr val="000000"/>
                </a:solidFill>
                <a:effectLst/>
                <a:latin typeface="Helvetica"/>
                <a:ea typeface="Times New Roman"/>
                <a:cs typeface="HelveticaNeueLTStd-Lt"/>
              </a:rPr>
              <a:t>ombined effects of the ratios</a:t>
            </a:r>
            <a:endParaRPr lang="en-AU" sz="1200" dirty="0" smtClean="0">
              <a:effectLst/>
              <a:ea typeface="Times New Roman"/>
              <a:cs typeface="Times New Roman"/>
            </a:endParaRPr>
          </a:p>
          <a:p>
            <a:pPr marL="342900" lvl="0" indent="-342900">
              <a:lnSpc>
                <a:spcPct val="115000"/>
              </a:lnSpc>
              <a:spcBef>
                <a:spcPts val="400"/>
              </a:spcBef>
              <a:spcAft>
                <a:spcPts val="600"/>
              </a:spcAft>
              <a:buFont typeface="Symbol"/>
              <a:buChar char=""/>
            </a:pPr>
            <a:r>
              <a:rPr lang="en-US" sz="1200" dirty="0" smtClean="0">
                <a:solidFill>
                  <a:srgbClr val="000000"/>
                </a:solidFill>
                <a:effectLst/>
                <a:latin typeface="Helvetica"/>
                <a:ea typeface="Times New Roman"/>
                <a:cs typeface="HelveticaNeueLTStd-Lt"/>
              </a:rPr>
              <a:t>T</a:t>
            </a:r>
            <a:r>
              <a:rPr lang="en-AU" sz="1200" dirty="0" smtClean="0">
                <a:solidFill>
                  <a:srgbClr val="000000"/>
                </a:solidFill>
                <a:effectLst/>
                <a:latin typeface="Helvetica"/>
                <a:ea typeface="Times New Roman"/>
                <a:cs typeface="HelveticaNeueLTStd-Lt"/>
              </a:rPr>
              <a:t>rends found by comparing several years ratios and percentages (a minimum of three consecutive years is desirable).</a:t>
            </a:r>
            <a:endParaRPr lang="en-AU" sz="1200" dirty="0" smtClean="0">
              <a:effectLst/>
              <a:ea typeface="Times New Roman"/>
              <a:cs typeface="Times New Roman"/>
            </a:endParaRPr>
          </a:p>
          <a:p>
            <a:pPr marL="342900" lvl="0" indent="-342900">
              <a:lnSpc>
                <a:spcPct val="115000"/>
              </a:lnSpc>
              <a:spcBef>
                <a:spcPts val="400"/>
              </a:spcBef>
              <a:spcAft>
                <a:spcPts val="600"/>
              </a:spcAft>
              <a:buFont typeface="Symbol"/>
              <a:buChar char=""/>
            </a:pPr>
            <a:r>
              <a:rPr lang="en-US" sz="1200" dirty="0" smtClean="0">
                <a:solidFill>
                  <a:srgbClr val="000000"/>
                </a:solidFill>
                <a:effectLst/>
                <a:latin typeface="Helvetica"/>
                <a:ea typeface="Times New Roman"/>
                <a:cs typeface="HelveticaNeueLTStd-Lt"/>
              </a:rPr>
              <a:t>C</a:t>
            </a:r>
            <a:r>
              <a:rPr lang="en-AU" sz="1200" dirty="0" smtClean="0">
                <a:solidFill>
                  <a:srgbClr val="000000"/>
                </a:solidFill>
                <a:effectLst/>
                <a:latin typeface="Helvetica"/>
                <a:ea typeface="Times New Roman"/>
                <a:cs typeface="HelveticaNeueLTStd-Lt"/>
              </a:rPr>
              <a:t>omparisons across an industry</a:t>
            </a:r>
          </a:p>
          <a:p>
            <a:pPr marL="342900" lvl="0" indent="-342900">
              <a:lnSpc>
                <a:spcPct val="115000"/>
              </a:lnSpc>
              <a:spcBef>
                <a:spcPts val="400"/>
              </a:spcBef>
              <a:spcAft>
                <a:spcPts val="600"/>
              </a:spcAft>
              <a:buFont typeface="Symbol"/>
              <a:buChar char=""/>
            </a:pPr>
            <a:endParaRPr lang="en-AU" sz="1200" dirty="0" smtClean="0">
              <a:solidFill>
                <a:srgbClr val="000000"/>
              </a:solidFill>
              <a:effectLst/>
              <a:latin typeface="Helvetica"/>
              <a:ea typeface="Times New Roman"/>
              <a:cs typeface="Times New Roman"/>
            </a:endParaRPr>
          </a:p>
          <a:p>
            <a:pPr marL="342900" lvl="0" indent="-342900">
              <a:lnSpc>
                <a:spcPct val="115000"/>
              </a:lnSpc>
              <a:spcBef>
                <a:spcPts val="400"/>
              </a:spcBef>
              <a:spcAft>
                <a:spcPts val="600"/>
              </a:spcAft>
              <a:buFont typeface="Symbol"/>
              <a:buChar char=""/>
            </a:pPr>
            <a:r>
              <a:rPr lang="en-AU" sz="1200" dirty="0" smtClean="0">
                <a:solidFill>
                  <a:srgbClr val="000000"/>
                </a:solidFill>
                <a:effectLst/>
                <a:latin typeface="Helvetica"/>
                <a:ea typeface="Times New Roman"/>
                <a:cs typeface="Times New Roman"/>
              </a:rPr>
              <a:t>Complete exercise</a:t>
            </a:r>
            <a:r>
              <a:rPr lang="en-AU" sz="1200" baseline="0" dirty="0" smtClean="0">
                <a:solidFill>
                  <a:srgbClr val="000000"/>
                </a:solidFill>
                <a:effectLst/>
                <a:latin typeface="Helvetica"/>
                <a:ea typeface="Times New Roman"/>
                <a:cs typeface="Times New Roman"/>
              </a:rPr>
              <a:t> 3</a:t>
            </a:r>
            <a:endParaRPr lang="en-AU" sz="1200" dirty="0" smtClean="0">
              <a:effectLst/>
              <a:ea typeface="Times New Roman"/>
              <a:cs typeface="Times New Roman"/>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101702575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Discuss the role of supervisors and managers in monitoring financial controls.</a:t>
            </a:r>
          </a:p>
          <a:p>
            <a:pPr>
              <a:buFont typeface="Arial" pitchFamily="34" charset="0"/>
              <a:buChar char="•"/>
            </a:pPr>
            <a:r>
              <a:rPr lang="en-US" dirty="0" smtClean="0"/>
              <a:t>Discuss these points as necessary</a:t>
            </a:r>
          </a:p>
          <a:p>
            <a:pPr>
              <a:buFont typeface="Arial" pitchFamily="34" charset="0"/>
              <a:buChar char="•"/>
            </a:pPr>
            <a:r>
              <a:rPr lang="en-US" dirty="0" smtClean="0"/>
              <a:t>Complete</a:t>
            </a:r>
            <a:r>
              <a:rPr lang="en-US" baseline="0" dirty="0" smtClean="0"/>
              <a:t> Activity 27</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101271949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Discuss knowledge and experience in the room regarding audits</a:t>
            </a:r>
            <a:r>
              <a:rPr lang="en-US" baseline="0" dirty="0" smtClean="0"/>
              <a:t> and internal audits. Remind trainees that large organisations may choose to employ an external company to do this.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50</a:t>
            </a:fld>
            <a:endParaRPr lang="en-US" dirty="0">
              <a:solidFill>
                <a:prstClr val="black"/>
              </a:solidFill>
            </a:endParaRPr>
          </a:p>
        </p:txBody>
      </p:sp>
    </p:spTree>
    <p:extLst>
      <p:ext uri="{BB962C8B-B14F-4D97-AF65-F5344CB8AC3E}">
        <p14:creationId xmlns:p14="http://schemas.microsoft.com/office/powerpoint/2010/main" val="13553256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Continued from previous slide.</a:t>
            </a:r>
          </a:p>
          <a:p>
            <a:pPr>
              <a:buFont typeface="Arial" pitchFamily="34" charset="0"/>
              <a:buChar char="•"/>
            </a:pPr>
            <a:r>
              <a:rPr lang="en-US" baseline="0" dirty="0" smtClean="0"/>
              <a:t>Discuss in particular notes for Assess outcomes. It is not unusual for staff to decide they have a better way of doing things and alter procedures without informing management.</a:t>
            </a:r>
          </a:p>
          <a:p>
            <a:pPr>
              <a:buFont typeface="Arial" pitchFamily="34" charset="0"/>
              <a:buChar char="•"/>
            </a:pPr>
            <a:r>
              <a:rPr lang="en-US" baseline="0" dirty="0" smtClean="0"/>
              <a:t>Discuss the possibilities of staff undermining the system and looking for or discovering ways to steal from the business.</a:t>
            </a:r>
          </a:p>
          <a:p>
            <a:pPr>
              <a:buFont typeface="Arial" pitchFamily="34" charset="0"/>
              <a:buChar char="•"/>
            </a:pPr>
            <a:r>
              <a:rPr lang="en-US" baseline="0" dirty="0" smtClean="0"/>
              <a:t>Complete Activity 28</a:t>
            </a:r>
          </a:p>
          <a:p>
            <a:pPr>
              <a:buFont typeface="Arial" pitchFamily="34" charset="0"/>
              <a:buChar char="•"/>
            </a:pPr>
            <a:endParaRPr lang="en-US" baseline="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51</a:t>
            </a:fld>
            <a:endParaRPr lang="en-US" dirty="0">
              <a:solidFill>
                <a:prstClr val="black"/>
              </a:solidFill>
            </a:endParaRPr>
          </a:p>
        </p:txBody>
      </p:sp>
    </p:spTree>
    <p:extLst>
      <p:ext uri="{BB962C8B-B14F-4D97-AF65-F5344CB8AC3E}">
        <p14:creationId xmlns:p14="http://schemas.microsoft.com/office/powerpoint/2010/main" val="136650886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Consider who would be involved in a small,</a:t>
            </a:r>
            <a:r>
              <a:rPr lang="en-US" baseline="0" dirty="0" smtClean="0"/>
              <a:t> medium and large organisation. Have trainees draft a list for each.</a:t>
            </a:r>
          </a:p>
          <a:p>
            <a:pPr>
              <a:buFont typeface="Arial" pitchFamily="34" charset="0"/>
              <a:buChar char="•"/>
            </a:pPr>
            <a:endParaRPr lang="en-US" baseline="0" dirty="0" smtClean="0"/>
          </a:p>
          <a:p>
            <a:pPr>
              <a:buFont typeface="Arial" pitchFamily="34" charset="0"/>
              <a:buChar char="•"/>
            </a:pPr>
            <a:r>
              <a:rPr lang="en-US" baseline="0" dirty="0" smtClean="0"/>
              <a:t>Ask trainees to close their Trainee manual now (in preparation for next task on the next slide)</a:t>
            </a:r>
          </a:p>
          <a:p>
            <a:pPr>
              <a:buFont typeface="Arial" pitchFamily="34" charset="0"/>
              <a:buChar char="•"/>
            </a:pPr>
            <a:r>
              <a:rPr lang="en-US" dirty="0" smtClean="0"/>
              <a:t>Trainer to read notes on the next slide and instruct trainees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145196755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In groups have trainees list the three causes for discrepancies and identify</a:t>
            </a:r>
            <a:r>
              <a:rPr lang="en-US" baseline="0" dirty="0" smtClean="0"/>
              <a:t> as many reasons as they can think of. Give a time allowance. No looking at manuals. Work from knowledge only at this point. Have each group share answers and allow groups to extend lists as you go. Once all groups have shared answers refer back to TM for any other reasons listed that were missed.</a:t>
            </a:r>
          </a:p>
          <a:p>
            <a:pPr>
              <a:buFont typeface="Arial" pitchFamily="34" charset="0"/>
              <a:buChar char="•"/>
            </a:pPr>
            <a:endParaRPr lang="en-US" baseline="0" dirty="0" smtClean="0"/>
          </a:p>
          <a:p>
            <a:pPr marL="165415" indent="-165415" defTabSz="882213">
              <a:buFont typeface="Arial" pitchFamily="34" charset="0"/>
              <a:buChar char="•"/>
              <a:defRPr/>
            </a:pPr>
            <a:r>
              <a:rPr lang="en-US" dirty="0">
                <a:solidFill>
                  <a:prstClr val="black"/>
                </a:solidFill>
              </a:rPr>
              <a:t>Discuss possible actions to resolve these discrepancies</a:t>
            </a:r>
          </a:p>
          <a:p>
            <a:pPr defTabSz="882213">
              <a:defRPr/>
            </a:pPr>
            <a:endParaRPr lang="en-US" dirty="0">
              <a:solidFill>
                <a:prstClr val="black"/>
              </a:solidFill>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169566027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Refer to TM and discuss each point as necessary. Many of these points are simple errors</a:t>
            </a:r>
            <a:r>
              <a:rPr lang="en-US" baseline="0" dirty="0" smtClean="0"/>
              <a:t> that shouldn’t occur but do, generally because employees are rushing, not concentrating, have not been properly trained or are simply cutting corners.</a:t>
            </a:r>
          </a:p>
          <a:p>
            <a:pPr>
              <a:buFont typeface="Arial" pitchFamily="34" charset="0"/>
              <a:buChar char="•"/>
            </a:pPr>
            <a:endParaRPr lang="en-US" baseline="0" dirty="0" smtClean="0"/>
          </a:p>
          <a:p>
            <a:pPr>
              <a:buFont typeface="Arial" pitchFamily="34" charset="0"/>
              <a:buChar char="•"/>
            </a:pPr>
            <a:r>
              <a:rPr lang="en-US" baseline="0" dirty="0" smtClean="0"/>
              <a:t>Discuss ‘Adjusting entries’ and ensure trainees understand point numbers  1-4. and it’s associated explanation over the page. Trainer to provide verbal examples.</a:t>
            </a:r>
          </a:p>
          <a:p>
            <a:pPr>
              <a:buFont typeface="Arial" pitchFamily="34" charset="0"/>
              <a:buChar char="•"/>
            </a:pPr>
            <a:endParaRPr lang="en-US" baseline="0" dirty="0" smtClean="0"/>
          </a:p>
          <a:p>
            <a:pPr>
              <a:buFont typeface="Arial" pitchFamily="34" charset="0"/>
              <a:buChar char="•"/>
            </a:pPr>
            <a:r>
              <a:rPr lang="en-US" baseline="0" dirty="0" smtClean="0"/>
              <a:t>Have a sample completed worksheet to  show Trainees</a:t>
            </a:r>
          </a:p>
          <a:p>
            <a:pPr>
              <a:buFont typeface="Arial" pitchFamily="34" charset="0"/>
              <a:buChar char="•"/>
            </a:pPr>
            <a:r>
              <a:rPr lang="en-US" baseline="0" dirty="0" smtClean="0"/>
              <a:t>Complete Activity 29</a:t>
            </a:r>
          </a:p>
          <a:p>
            <a:pPr>
              <a:buFont typeface="Arial" pitchFamily="34" charset="0"/>
              <a:buChar char="•"/>
            </a:pPr>
            <a:endParaRPr lang="en-US" baseline="0" dirty="0" smtClean="0"/>
          </a:p>
          <a:p>
            <a:pPr defTabSz="882213">
              <a:buFont typeface="Arial" pitchFamily="34" charset="0"/>
              <a:buChar char="•"/>
              <a:defRPr/>
            </a:pPr>
            <a:r>
              <a:rPr lang="en-AU" dirty="0">
                <a:solidFill>
                  <a:prstClr val="black"/>
                </a:solidFill>
              </a:rPr>
              <a:t>Ensure all work projects have been completed and handed into trainer ensuring cover page details are attached for assessment tracking.</a:t>
            </a:r>
          </a:p>
          <a:p>
            <a:pPr defTabSz="882213">
              <a:buFont typeface="Arial" pitchFamily="34" charset="0"/>
              <a:buChar char="•"/>
              <a:defRPr/>
            </a:pPr>
            <a:r>
              <a:rPr lang="en-AU" dirty="0">
                <a:solidFill>
                  <a:prstClr val="black"/>
                </a:solidFill>
              </a:rPr>
              <a:t>Review the summary page for Element 1 to confirm what has been completed for this element.</a:t>
            </a:r>
          </a:p>
          <a:p>
            <a:pPr>
              <a:buFont typeface="Arial" pitchFamily="34" charset="0"/>
              <a:buChar char="•"/>
            </a:pPr>
            <a:endParaRPr lang="en-US" baseline="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44979492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Trainer advises trainees this Element is comprised of two Performance Criteria which will be identified throughout the class and explained in detail</a:t>
            </a:r>
          </a:p>
          <a:p>
            <a:pPr>
              <a:buFont typeface="Arial" pitchFamily="34" charset="0"/>
              <a:buChar char="•"/>
            </a:pPr>
            <a:r>
              <a:rPr lang="en-AU" noProof="0" dirty="0" smtClean="0"/>
              <a:t>Trainees can obtain more detail from their Trainee Manual</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55</a:t>
            </a:fld>
            <a:endParaRPr lang="en-US" dirty="0">
              <a:solidFill>
                <a:prstClr val="black"/>
              </a:solidFill>
            </a:endParaRPr>
          </a:p>
        </p:txBody>
      </p:sp>
    </p:spTree>
    <p:extLst>
      <p:ext uri="{BB962C8B-B14F-4D97-AF65-F5344CB8AC3E}">
        <p14:creationId xmlns:p14="http://schemas.microsoft.com/office/powerpoint/2010/main" val="22878437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Discuss notes as needed. Highlight the importance of confidentiality with reports.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36912799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Refer</a:t>
            </a:r>
            <a:r>
              <a:rPr lang="en-US" baseline="0" dirty="0" smtClean="0"/>
              <a:t> to TM notes and discuss as necessary.</a:t>
            </a:r>
          </a:p>
          <a:p>
            <a:pPr>
              <a:buFont typeface="Arial" pitchFamily="34" charset="0"/>
              <a:buChar char="•"/>
            </a:pPr>
            <a:r>
              <a:rPr lang="en-US" baseline="0" dirty="0" smtClean="0"/>
              <a:t>Also discuss the accounting period. Why would businesses of different sizes have different accounting periods?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50101460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Discuss points as necessary. Have trainees highlight key points and identify any requirements that are</a:t>
            </a:r>
            <a:r>
              <a:rPr lang="en-US" baseline="0" dirty="0" smtClean="0"/>
              <a:t> specific to your country business laws.</a:t>
            </a:r>
          </a:p>
          <a:p>
            <a:pPr>
              <a:buFont typeface="Arial" pitchFamily="34" charset="0"/>
              <a:buChar char="•"/>
            </a:pPr>
            <a:r>
              <a:rPr lang="en-US" baseline="0" dirty="0" smtClean="0"/>
              <a:t>Complete Activity 30</a:t>
            </a:r>
          </a:p>
          <a:p>
            <a:pPr>
              <a:buFont typeface="Arial" pitchFamily="34" charset="0"/>
              <a:buChar char="•"/>
            </a:pPr>
            <a:endParaRPr lang="en-US" baseline="0" dirty="0" smtClean="0"/>
          </a:p>
          <a:p>
            <a:pPr defTabSz="882213">
              <a:buFont typeface="Arial" pitchFamily="34" charset="0"/>
              <a:buChar char="•"/>
              <a:defRPr/>
            </a:pPr>
            <a:r>
              <a:rPr lang="en-US" dirty="0">
                <a:solidFill>
                  <a:prstClr val="black"/>
                </a:solidFill>
              </a:rPr>
              <a:t>Ask trainees to close their Trainee manual now (in preparation for next task on the next slide)</a:t>
            </a:r>
          </a:p>
          <a:p>
            <a:pPr defTabSz="882213">
              <a:buFont typeface="Arial" pitchFamily="34" charset="0"/>
              <a:buChar char="•"/>
              <a:defRPr/>
            </a:pPr>
            <a:r>
              <a:rPr lang="en-US" dirty="0">
                <a:solidFill>
                  <a:prstClr val="black"/>
                </a:solidFill>
              </a:rPr>
              <a:t>Trainer to read notes on the next slide and instruct trainees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251078965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Trainee manuals should already be closed. </a:t>
            </a:r>
          </a:p>
          <a:p>
            <a:pPr>
              <a:buFont typeface="Arial" pitchFamily="34" charset="0"/>
              <a:buChar char="•"/>
            </a:pPr>
            <a:r>
              <a:rPr lang="en-US" dirty="0" smtClean="0"/>
              <a:t>In groups brainstorm a list of users who would use financial information regarding a</a:t>
            </a:r>
            <a:r>
              <a:rPr lang="en-US" baseline="0" dirty="0" smtClean="0"/>
              <a:t> business. company or organisation. Think broadly and list anyone and everyone who would consider the financial position before doing business.</a:t>
            </a:r>
          </a:p>
          <a:p>
            <a:pPr>
              <a:buFont typeface="Arial" pitchFamily="34" charset="0"/>
              <a:buChar char="•"/>
            </a:pPr>
            <a:r>
              <a:rPr lang="en-US" baseline="0" dirty="0" smtClean="0"/>
              <a:t>Give a time allowance. After a short period ask each group to share their first 1-2 suggestion to help push everyone along. At the end of the time allowance brainstorm answers onto board and discuss each as needed. Once discussion and sharing is completed TM can be used for further information.</a:t>
            </a:r>
          </a:p>
          <a:p>
            <a:pPr>
              <a:buFont typeface="Arial" pitchFamily="34" charset="0"/>
              <a:buChar char="•"/>
            </a:pPr>
            <a:r>
              <a:rPr lang="en-US" baseline="0" dirty="0" smtClean="0"/>
              <a:t>Complete Activity 31</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175536526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Review the notes in TM and have trainees highlight key points.</a:t>
            </a:r>
          </a:p>
          <a:p>
            <a:r>
              <a:rPr lang="en-AU" dirty="0" smtClean="0"/>
              <a:t>Review the</a:t>
            </a:r>
            <a:r>
              <a:rPr lang="en-AU" baseline="0" dirty="0" smtClean="0"/>
              <a:t> Statement of financial position </a:t>
            </a:r>
            <a:r>
              <a:rPr lang="en-AU" b="1" baseline="0" dirty="0" smtClean="0"/>
              <a:t>Profit &amp; Loss </a:t>
            </a:r>
            <a:r>
              <a:rPr lang="en-AU" baseline="0" dirty="0" smtClean="0"/>
              <a:t>table and explain as needed</a:t>
            </a:r>
          </a:p>
          <a:p>
            <a:endParaRPr lang="en-AU" baseline="0" dirty="0" smtClean="0"/>
          </a:p>
          <a:p>
            <a:r>
              <a:rPr lang="en-AU" baseline="0" dirty="0" smtClean="0"/>
              <a:t>Trainees will be required to  complete an exercise</a:t>
            </a: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104253544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Review the notes in TM and have trainees highlight key points.</a:t>
            </a:r>
          </a:p>
          <a:p>
            <a:r>
              <a:rPr lang="en-AU" dirty="0" smtClean="0"/>
              <a:t>Review the</a:t>
            </a:r>
            <a:r>
              <a:rPr lang="en-AU" baseline="0" dirty="0" smtClean="0"/>
              <a:t> Statement of financial performance </a:t>
            </a:r>
            <a:r>
              <a:rPr lang="en-AU" b="1" baseline="0" dirty="0" smtClean="0"/>
              <a:t>Balance sheet </a:t>
            </a:r>
            <a:r>
              <a:rPr lang="en-AU" baseline="0" dirty="0" smtClean="0"/>
              <a:t>table and explain as needed</a:t>
            </a:r>
          </a:p>
          <a:p>
            <a:r>
              <a:rPr lang="en-AU" baseline="0" dirty="0" smtClean="0"/>
              <a:t>Complete Exercise 4 and 5 as directed by trainer</a:t>
            </a: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61</a:t>
            </a:fld>
            <a:endParaRPr lang="en-US" dirty="0">
              <a:solidFill>
                <a:prstClr val="black"/>
              </a:solidFill>
            </a:endParaRPr>
          </a:p>
        </p:txBody>
      </p:sp>
    </p:spTree>
    <p:extLst>
      <p:ext uri="{BB962C8B-B14F-4D97-AF65-F5344CB8AC3E}">
        <p14:creationId xmlns:p14="http://schemas.microsoft.com/office/powerpoint/2010/main" val="104253544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Discuss points</a:t>
            </a:r>
            <a:r>
              <a:rPr lang="en-AU" baseline="0" dirty="0" smtClean="0"/>
              <a:t> as necessary. Ask trainees about any knowledge or experience in this area.</a:t>
            </a:r>
          </a:p>
          <a:p>
            <a:r>
              <a:rPr lang="en-AU" baseline="0" dirty="0" smtClean="0"/>
              <a:t>Review the Cash flow table</a:t>
            </a:r>
          </a:p>
          <a:p>
            <a:r>
              <a:rPr lang="en-AU" baseline="0" dirty="0" smtClean="0"/>
              <a:t>Complete Exercises 3 and 4 as directed by trainer </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62</a:t>
            </a:fld>
            <a:endParaRPr lang="en-US" dirty="0">
              <a:solidFill>
                <a:prstClr val="black"/>
              </a:solidFill>
            </a:endParaRPr>
          </a:p>
        </p:txBody>
      </p:sp>
    </p:spTree>
    <p:extLst>
      <p:ext uri="{BB962C8B-B14F-4D97-AF65-F5344CB8AC3E}">
        <p14:creationId xmlns:p14="http://schemas.microsoft.com/office/powerpoint/2010/main" val="104253544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AU" dirty="0" smtClean="0"/>
              <a:t>Consider the budgets listed in the TM. Brainstorm other budgets.</a:t>
            </a:r>
          </a:p>
          <a:p>
            <a:pPr marL="165415" indent="-165415">
              <a:spcBef>
                <a:spcPts val="1158"/>
              </a:spcBef>
              <a:spcAft>
                <a:spcPts val="1158"/>
              </a:spcAft>
              <a:buFont typeface="Arial" panose="020B0604020202020204" pitchFamily="34" charset="0"/>
              <a:buChar char="•"/>
            </a:pPr>
            <a:r>
              <a:rPr lang="en-AU" dirty="0">
                <a:solidFill>
                  <a:srgbClr val="45545F"/>
                </a:solidFill>
                <a:latin typeface="Helvetica"/>
                <a:ea typeface="Calibri"/>
                <a:cs typeface="Arial"/>
              </a:rPr>
              <a:t>Expenditure budget</a:t>
            </a:r>
            <a:endParaRPr lang="en-AU" sz="1000" dirty="0">
              <a:latin typeface="Helvetica"/>
              <a:ea typeface="Calibri"/>
              <a:cs typeface="Calibri"/>
            </a:endParaRPr>
          </a:p>
          <a:p>
            <a:pPr marL="165415" indent="-165415">
              <a:spcBef>
                <a:spcPts val="386"/>
              </a:spcBef>
              <a:spcAft>
                <a:spcPts val="579"/>
              </a:spcAft>
              <a:buFont typeface="Arial" panose="020B0604020202020204" pitchFamily="34" charset="0"/>
              <a:buChar char="•"/>
            </a:pPr>
            <a:r>
              <a:rPr lang="en-AU" dirty="0">
                <a:solidFill>
                  <a:srgbClr val="45545F"/>
                </a:solidFill>
                <a:latin typeface="Helvetica"/>
                <a:ea typeface="Times New Roman"/>
                <a:cs typeface="Times New Roman"/>
              </a:rPr>
              <a:t>Departmental budget</a:t>
            </a:r>
            <a:endParaRPr lang="en-AU" sz="1100" i="1" dirty="0">
              <a:latin typeface="Helvetica"/>
              <a:ea typeface="Times New Roman"/>
              <a:cs typeface="Times New Roman"/>
            </a:endParaRPr>
          </a:p>
          <a:p>
            <a:pPr marL="165415" indent="-165415">
              <a:spcBef>
                <a:spcPts val="1158"/>
              </a:spcBef>
              <a:spcAft>
                <a:spcPts val="1158"/>
              </a:spcAft>
              <a:buFont typeface="Arial" panose="020B0604020202020204" pitchFamily="34" charset="0"/>
              <a:buChar char="•"/>
            </a:pPr>
            <a:r>
              <a:rPr lang="en-AU" dirty="0">
                <a:solidFill>
                  <a:srgbClr val="45545F"/>
                </a:solidFill>
                <a:latin typeface="Helvetica"/>
                <a:ea typeface="Times New Roman"/>
                <a:cs typeface="Times New Roman"/>
              </a:rPr>
              <a:t>Fixed budget</a:t>
            </a:r>
            <a:endParaRPr lang="en-AU" sz="1100" i="1" dirty="0">
              <a:latin typeface="Helvetica"/>
              <a:ea typeface="Times New Roman"/>
              <a:cs typeface="Times New Roman"/>
            </a:endParaRPr>
          </a:p>
          <a:p>
            <a:pPr marL="165415" indent="-165415">
              <a:spcBef>
                <a:spcPts val="1158"/>
              </a:spcBef>
              <a:spcAft>
                <a:spcPts val="1158"/>
              </a:spcAft>
              <a:buFont typeface="Arial" panose="020B0604020202020204" pitchFamily="34" charset="0"/>
              <a:buChar char="•"/>
            </a:pPr>
            <a:r>
              <a:rPr lang="en-AU" dirty="0">
                <a:solidFill>
                  <a:srgbClr val="45545F"/>
                </a:solidFill>
                <a:latin typeface="Helvetica"/>
                <a:ea typeface="Times New Roman"/>
                <a:cs typeface="Times New Roman"/>
              </a:rPr>
              <a:t>Flexible budget</a:t>
            </a:r>
          </a:p>
          <a:p>
            <a:pPr marL="165415" indent="-165415">
              <a:spcBef>
                <a:spcPts val="1158"/>
              </a:spcBef>
              <a:spcAft>
                <a:spcPts val="1158"/>
              </a:spcAft>
              <a:buFont typeface="Arial" panose="020B0604020202020204" pitchFamily="34" charset="0"/>
              <a:buChar char="•"/>
            </a:pPr>
            <a:r>
              <a:rPr lang="en-AU" dirty="0">
                <a:solidFill>
                  <a:srgbClr val="45545F"/>
                </a:solidFill>
                <a:latin typeface="Helvetica"/>
                <a:ea typeface="Times New Roman"/>
                <a:cs typeface="Times New Roman"/>
              </a:rPr>
              <a:t>Operating budgets</a:t>
            </a:r>
          </a:p>
          <a:p>
            <a:pPr marL="165415" indent="-165415">
              <a:spcBef>
                <a:spcPts val="1158"/>
              </a:spcBef>
              <a:spcAft>
                <a:spcPts val="1158"/>
              </a:spcAft>
              <a:buFont typeface="Arial" panose="020B0604020202020204" pitchFamily="34" charset="0"/>
              <a:buChar char="•"/>
            </a:pPr>
            <a:r>
              <a:rPr lang="en-AU" dirty="0">
                <a:solidFill>
                  <a:srgbClr val="45545F"/>
                </a:solidFill>
                <a:latin typeface="Helvetica"/>
                <a:ea typeface="Times New Roman"/>
                <a:cs typeface="Times New Roman"/>
              </a:rPr>
              <a:t>Sales budget</a:t>
            </a:r>
            <a:endParaRPr lang="en-AU" sz="1100" i="1" dirty="0">
              <a:latin typeface="Helvetica"/>
              <a:ea typeface="Times New Roman"/>
              <a:cs typeface="Times New Roman"/>
            </a:endParaRPr>
          </a:p>
          <a:p>
            <a:pPr marL="165415" indent="-165415">
              <a:spcBef>
                <a:spcPts val="1158"/>
              </a:spcBef>
              <a:spcAft>
                <a:spcPts val="1158"/>
              </a:spcAft>
              <a:buFont typeface="Arial" panose="020B0604020202020204" pitchFamily="34" charset="0"/>
              <a:buChar char="•"/>
            </a:pPr>
            <a:r>
              <a:rPr lang="en-AU" dirty="0">
                <a:solidFill>
                  <a:srgbClr val="45545F"/>
                </a:solidFill>
                <a:latin typeface="Helvetica"/>
                <a:ea typeface="Times New Roman"/>
                <a:cs typeface="Times New Roman"/>
              </a:rPr>
              <a:t>Project budget</a:t>
            </a:r>
            <a:endParaRPr lang="en-AU" sz="1100" i="1" dirty="0">
              <a:latin typeface="Helvetica"/>
              <a:ea typeface="Times New Roman"/>
              <a:cs typeface="Times New Roman"/>
            </a:endParaRPr>
          </a:p>
          <a:p>
            <a:pPr marL="165415" indent="-165415">
              <a:spcBef>
                <a:spcPts val="1158"/>
              </a:spcBef>
              <a:spcAft>
                <a:spcPts val="1158"/>
              </a:spcAft>
              <a:buFont typeface="Arial" panose="020B0604020202020204" pitchFamily="34" charset="0"/>
              <a:buChar char="•"/>
            </a:pPr>
            <a:r>
              <a:rPr lang="en-AU" dirty="0">
                <a:solidFill>
                  <a:srgbClr val="45545F"/>
                </a:solidFill>
                <a:latin typeface="Helvetica"/>
                <a:ea typeface="Times New Roman"/>
                <a:cs typeface="Times New Roman"/>
              </a:rPr>
              <a:t>Purchases budget</a:t>
            </a:r>
            <a:endParaRPr lang="en-AU" sz="1100" i="1" dirty="0">
              <a:latin typeface="Helvetica"/>
              <a:ea typeface="Times New Roman"/>
              <a:cs typeface="Times New Roman"/>
            </a:endParaRPr>
          </a:p>
          <a:p>
            <a:pPr marL="165415" indent="-165415">
              <a:spcBef>
                <a:spcPts val="1158"/>
              </a:spcBef>
              <a:spcAft>
                <a:spcPts val="1158"/>
              </a:spcAft>
              <a:buFont typeface="Arial" panose="020B0604020202020204" pitchFamily="34" charset="0"/>
              <a:buChar char="•"/>
            </a:pPr>
            <a:r>
              <a:rPr lang="en-AU" dirty="0">
                <a:solidFill>
                  <a:srgbClr val="45545F"/>
                </a:solidFill>
                <a:latin typeface="Helvetica"/>
                <a:ea typeface="Times New Roman"/>
                <a:cs typeface="Times New Roman"/>
              </a:rPr>
              <a:t>Master budgets</a:t>
            </a:r>
            <a:endParaRPr lang="en-AU" sz="1100" i="1" dirty="0">
              <a:latin typeface="Helvetica"/>
              <a:ea typeface="Times New Roman"/>
              <a:cs typeface="Times New Roman"/>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27486781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Discuss each of the types of reports</a:t>
            </a:r>
          </a:p>
          <a:p>
            <a:r>
              <a:rPr lang="en-AU" dirty="0" smtClean="0"/>
              <a:t>With</a:t>
            </a:r>
            <a:r>
              <a:rPr lang="en-AU" baseline="0" dirty="0" smtClean="0"/>
              <a:t> access to the internet these reports can be searched on Google images to demonstrate the varying ways they can be presented.</a:t>
            </a:r>
          </a:p>
          <a:p>
            <a:r>
              <a:rPr lang="en-AU" baseline="0" dirty="0" smtClean="0"/>
              <a:t>Complete Activity 32</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209899299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endParaRPr lang="en-US" dirty="0" smtClean="0"/>
          </a:p>
          <a:p>
            <a:pPr>
              <a:buFont typeface="Arial" pitchFamily="34" charset="0"/>
              <a:buChar char="•"/>
            </a:pPr>
            <a:r>
              <a:rPr lang="en-US" dirty="0" smtClean="0"/>
              <a:t>Discuss as necessary and have trainees highlight key points.</a:t>
            </a:r>
          </a:p>
          <a:p>
            <a:pPr>
              <a:buFont typeface="Arial" pitchFamily="34" charset="0"/>
              <a:buChar char="•"/>
            </a:pPr>
            <a:r>
              <a:rPr lang="en-US" dirty="0" smtClean="0"/>
              <a:t>Complete Activity 33</a:t>
            </a:r>
          </a:p>
          <a:p>
            <a:pPr>
              <a:buFont typeface="Arial" pitchFamily="34" charset="0"/>
              <a:buNone/>
            </a:pPr>
            <a:endParaRPr lang="en-US" dirty="0" smtClean="0"/>
          </a:p>
          <a:p>
            <a:pPr>
              <a:buFont typeface="Arial" pitchFamily="34" charset="0"/>
              <a:buChar char="•"/>
            </a:pPr>
            <a:r>
              <a:rPr lang="en-AU" dirty="0" smtClean="0"/>
              <a:t>Ensure all work projects have been completed and handed into trainer ensuring cover page details are attached for assessment tracking.</a:t>
            </a:r>
          </a:p>
          <a:p>
            <a:pPr>
              <a:buFont typeface="Arial" pitchFamily="34" charset="0"/>
              <a:buChar char="•"/>
            </a:pPr>
            <a:r>
              <a:rPr lang="en-AU" dirty="0" smtClean="0"/>
              <a:t>Review the summary page for Element 2 to confirm what has been completed for this element.</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416042642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Trainer advises learners on what assessment is required and how it is to be conducted.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66</a:t>
            </a:fld>
            <a:endParaRPr lang="en-US" dirty="0">
              <a:solidFill>
                <a:prstClr val="black"/>
              </a:solidFill>
            </a:endParaRPr>
          </a:p>
        </p:txBody>
      </p:sp>
    </p:spTree>
    <p:extLst>
      <p:ext uri="{BB962C8B-B14F-4D97-AF65-F5344CB8AC3E}">
        <p14:creationId xmlns:p14="http://schemas.microsoft.com/office/powerpoint/2010/main" val="845035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7/1/2016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7/1/2016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7/1/2016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7/1/2016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7/1/2016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7/1/2016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7/1/2016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7/1/2016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7/1/2016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9592" y="511696"/>
            <a:ext cx="7488160" cy="936104"/>
          </a:xfrm>
        </p:spPr>
        <p:txBody>
          <a:bodyPr>
            <a:normAutofit fontScale="90000"/>
          </a:bodyPr>
          <a:lstStyle/>
          <a:p>
            <a:r>
              <a:rPr lang="en-AU" sz="4000" dirty="0" smtClean="0">
                <a:ln w="5000" cmpd="sng">
                  <a:noFill/>
                  <a:prstDash val="solid"/>
                </a:ln>
                <a:solidFill>
                  <a:srgbClr val="FF6600"/>
                </a:solidFill>
                <a:latin typeface="Helvetica" pitchFamily="34" charset="0"/>
              </a:rPr>
              <a:t>AUDIT FINANCIAL PROCEDURES</a:t>
            </a:r>
            <a:endParaRPr lang="en-AU" sz="4000" dirty="0">
              <a:ln w="5000" cmpd="sng">
                <a:noFill/>
                <a:prstDash val="solid"/>
              </a:ln>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1" name="Group 20"/>
          <p:cNvGrpSpPr/>
          <p:nvPr/>
        </p:nvGrpSpPr>
        <p:grpSpPr>
          <a:xfrm>
            <a:off x="662584" y="1484784"/>
            <a:ext cx="5709616" cy="4176464"/>
            <a:chOff x="0" y="0"/>
            <a:chExt cx="7585544" cy="6098650"/>
          </a:xfrm>
        </p:grpSpPr>
        <p:pic>
          <p:nvPicPr>
            <p:cNvPr id="22" name="Picture 21"/>
            <p:cNvPicPr>
              <a:picLocks noChangeAspect="1"/>
            </p:cNvPicPr>
            <p:nvPr/>
          </p:nvPicPr>
          <p:blipFill rotWithShape="1">
            <a:blip r:embed="rId3" cstate="print">
              <a:extLst>
                <a:ext uri="{28A0092B-C50C-407E-A947-70E740481C1C}">
                  <a14:useLocalDpi xmlns:a14="http://schemas.microsoft.com/office/drawing/2010/main" val="0"/>
                </a:ext>
              </a:extLst>
            </a:blip>
            <a:srcRect l="23382" t="8066" r="23964" b="10443"/>
            <a:stretch/>
          </p:blipFill>
          <p:spPr bwMode="auto">
            <a:xfrm>
              <a:off x="4468633" y="1502797"/>
              <a:ext cx="3069203" cy="3053300"/>
            </a:xfrm>
            <a:prstGeom prst="rect">
              <a:avLst/>
            </a:prstGeom>
            <a:ln>
              <a:noFill/>
            </a:ln>
            <a:extLst>
              <a:ext uri="{53640926-AAD7-44D8-BBD7-CCE9431645EC}">
                <a14:shadowObscured xmlns:a14="http://schemas.microsoft.com/office/drawing/2010/main"/>
              </a:ext>
            </a:extLst>
          </p:spPr>
        </p:pic>
        <p:pic>
          <p:nvPicPr>
            <p:cNvPr id="23" name="Picture 22"/>
            <p:cNvPicPr>
              <a:picLocks noChangeAspect="1"/>
            </p:cNvPicPr>
            <p:nvPr/>
          </p:nvPicPr>
          <p:blipFill rotWithShape="1">
            <a:blip r:embed="rId4" cstate="print">
              <a:extLst>
                <a:ext uri="{28A0092B-C50C-407E-A947-70E740481C1C}">
                  <a14:useLocalDpi xmlns:a14="http://schemas.microsoft.com/office/drawing/2010/main" val="0"/>
                </a:ext>
              </a:extLst>
            </a:blip>
            <a:srcRect l="2066" r="11983" b="19666"/>
            <a:stretch/>
          </p:blipFill>
          <p:spPr bwMode="auto">
            <a:xfrm>
              <a:off x="4643562" y="4269850"/>
              <a:ext cx="2910177" cy="1812898"/>
            </a:xfrm>
            <a:prstGeom prst="rect">
              <a:avLst/>
            </a:prstGeom>
            <a:ln>
              <a:noFill/>
            </a:ln>
            <a:extLst>
              <a:ext uri="{53640926-AAD7-44D8-BBD7-CCE9431645EC}">
                <a14:shadowObscured xmlns:a14="http://schemas.microsoft.com/office/drawing/2010/main"/>
              </a:ext>
            </a:extLst>
          </p:spPr>
        </p:pic>
        <p:pic>
          <p:nvPicPr>
            <p:cNvPr id="24" name="Picture 23"/>
            <p:cNvPicPr>
              <a:picLocks noChangeAspect="1"/>
            </p:cNvPicPr>
            <p:nvPr/>
          </p:nvPicPr>
          <p:blipFill rotWithShape="1">
            <a:blip r:embed="rId5" cstate="print">
              <a:extLst>
                <a:ext uri="{28A0092B-C50C-407E-A947-70E740481C1C}">
                  <a14:useLocalDpi xmlns:a14="http://schemas.microsoft.com/office/drawing/2010/main" val="0"/>
                </a:ext>
              </a:extLst>
            </a:blip>
            <a:srcRect t="3460" r="19030" b="26513"/>
            <a:stretch/>
          </p:blipFill>
          <p:spPr bwMode="auto">
            <a:xfrm>
              <a:off x="4643562" y="0"/>
              <a:ext cx="2941982" cy="1828800"/>
            </a:xfrm>
            <a:prstGeom prst="rect">
              <a:avLst/>
            </a:prstGeom>
            <a:ln>
              <a:noFill/>
            </a:ln>
            <a:extLst>
              <a:ext uri="{53640926-AAD7-44D8-BBD7-CCE9431645EC}">
                <a14:shadowObscured xmlns:a14="http://schemas.microsoft.com/office/drawing/2010/main"/>
              </a:ext>
            </a:extLst>
          </p:spPr>
        </p:pic>
        <p:pic>
          <p:nvPicPr>
            <p:cNvPr id="25" name="Picture 24"/>
            <p:cNvPicPr>
              <a:picLocks noChangeAspect="1"/>
            </p:cNvPicPr>
            <p:nvPr/>
          </p:nvPicPr>
          <p:blipFill rotWithShape="1">
            <a:blip r:embed="rId6" cstate="print">
              <a:extLst>
                <a:ext uri="{28A0092B-C50C-407E-A947-70E740481C1C}">
                  <a14:useLocalDpi xmlns:a14="http://schemas.microsoft.com/office/drawing/2010/main" val="0"/>
                </a:ext>
              </a:extLst>
            </a:blip>
            <a:srcRect l="1890" t="1444" r="5459" b="7583"/>
            <a:stretch/>
          </p:blipFill>
          <p:spPr bwMode="auto">
            <a:xfrm>
              <a:off x="0" y="0"/>
              <a:ext cx="4651513" cy="6098650"/>
            </a:xfrm>
            <a:prstGeom prst="rect">
              <a:avLst/>
            </a:prstGeom>
            <a:noFill/>
            <a:ln>
              <a:noFill/>
            </a:ln>
            <a:extLst>
              <a:ext uri="{53640926-AAD7-44D8-BBD7-CCE9431645EC}">
                <a14:shadowObscured xmlns:a14="http://schemas.microsoft.com/office/drawing/2010/main"/>
              </a:ext>
            </a:extLst>
          </p:spPr>
        </p:pic>
      </p:grpSp>
      <p:sp>
        <p:nvSpPr>
          <p:cNvPr id="3" name="Subtitle 2"/>
          <p:cNvSpPr>
            <a:spLocks noGrp="1"/>
          </p:cNvSpPr>
          <p:nvPr>
            <p:ph type="subTitle" idx="1"/>
          </p:nvPr>
        </p:nvSpPr>
        <p:spPr>
          <a:xfrm>
            <a:off x="5847156" y="1711674"/>
            <a:ext cx="2541268" cy="879126"/>
          </a:xfrm>
        </p:spPr>
        <p:txBody>
          <a:bodyPr>
            <a:noAutofit/>
          </a:bodyPr>
          <a:lstStyle/>
          <a:p>
            <a:r>
              <a:rPr lang="en-AU" b="1" dirty="0" smtClean="0">
                <a:latin typeface="Helvetica" pitchFamily="34" charset="0"/>
              </a:rPr>
              <a:t>D1.HFI.CL8.01</a:t>
            </a:r>
            <a:br>
              <a:rPr lang="en-AU" b="1" dirty="0" smtClean="0">
                <a:latin typeface="Helvetica" pitchFamily="34" charset="0"/>
              </a:rPr>
            </a:br>
            <a:r>
              <a:rPr lang="en-AU" b="1" dirty="0" smtClean="0">
                <a:latin typeface="Helvetica" pitchFamily="34" charset="0"/>
              </a:rPr>
              <a:t>D1.HFA.CL7.05</a:t>
            </a:r>
            <a:br>
              <a:rPr lang="en-AU" b="1" dirty="0" smtClean="0">
                <a:latin typeface="Helvetica" pitchFamily="34" charset="0"/>
              </a:rPr>
            </a:br>
            <a:r>
              <a:rPr lang="en-AU" b="1" dirty="0" smtClean="0">
                <a:latin typeface="Helvetica" pitchFamily="34" charset="0"/>
              </a:rPr>
              <a:t>D2.TFA.CL7.01</a:t>
            </a:r>
            <a:br>
              <a:rPr lang="en-AU" b="1" dirty="0" smtClean="0">
                <a:latin typeface="Helvetica" pitchFamily="34" charset="0"/>
              </a:rPr>
            </a:br>
            <a:endParaRPr lang="en-AU" b="1" dirty="0">
              <a:latin typeface="Helvetica"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04392"/>
            <a:ext cx="7467600" cy="5301208"/>
          </a:xfrm>
        </p:spPr>
        <p:txBody>
          <a:bodyPr>
            <a:normAutofit/>
          </a:bodyPr>
          <a:lstStyle/>
          <a:p>
            <a:pPr marL="0" indent="0">
              <a:spcBef>
                <a:spcPts val="600"/>
              </a:spcBef>
              <a:spcAft>
                <a:spcPts val="1200"/>
              </a:spcAft>
              <a:buNone/>
            </a:pPr>
            <a:r>
              <a:rPr lang="en-AU" sz="2400" dirty="0" smtClean="0">
                <a:latin typeface="Helvetica" pitchFamily="34" charset="0"/>
              </a:rPr>
              <a:t>This unit comprises </a:t>
            </a:r>
            <a:r>
              <a:rPr lang="en-AU" sz="2400" b="1" dirty="0" smtClean="0">
                <a:latin typeface="Helvetica" pitchFamily="34" charset="0"/>
              </a:rPr>
              <a:t>two</a:t>
            </a:r>
            <a:r>
              <a:rPr lang="en-AU" sz="2400" dirty="0" smtClean="0">
                <a:latin typeface="Helvetica" pitchFamily="34" charset="0"/>
              </a:rPr>
              <a:t> Elements:</a:t>
            </a:r>
          </a:p>
          <a:p>
            <a:pPr>
              <a:spcBef>
                <a:spcPts val="600"/>
              </a:spcBef>
              <a:spcAft>
                <a:spcPts val="1200"/>
              </a:spcAft>
            </a:pPr>
            <a:r>
              <a:rPr lang="en-AU" sz="2400" dirty="0"/>
              <a:t>Element 1: </a:t>
            </a:r>
            <a:r>
              <a:rPr lang="en-AU" sz="2400" dirty="0" smtClean="0"/>
              <a:t>Monitor financial procedures</a:t>
            </a:r>
            <a:endParaRPr lang="en-AU" sz="2400" dirty="0"/>
          </a:p>
          <a:p>
            <a:pPr>
              <a:spcBef>
                <a:spcPts val="600"/>
              </a:spcBef>
              <a:spcAft>
                <a:spcPts val="1200"/>
              </a:spcAft>
            </a:pPr>
            <a:r>
              <a:rPr lang="en-AU" sz="2400" dirty="0"/>
              <a:t>Element 2: </a:t>
            </a:r>
            <a:r>
              <a:rPr lang="en-AU" sz="2400" dirty="0" smtClean="0"/>
              <a:t>Complete financial reports</a:t>
            </a:r>
            <a:endParaRPr lang="en-AU" sz="2400" dirty="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a:t>
            </a:fld>
            <a:endParaRPr lang="en-US" dirty="0">
              <a:solidFill>
                <a:srgbClr val="4E5B6F">
                  <a:shade val="50000"/>
                </a:srgbClr>
              </a:solidFill>
              <a:latin typeface="Helvetica" pitchFamily="34" charset="0"/>
            </a:endParaRPr>
          </a:p>
        </p:txBody>
      </p:sp>
      <p:pic>
        <p:nvPicPr>
          <p:cNvPr id="5" name="Picture 2" descr="C:\Documents and Settings\Godaishu\Desktop\PHOTOS\2014\Shutterstock 25-a-day\shutterstock_165728654.jpg"/>
          <p:cNvPicPr>
            <a:picLocks noChangeAspect="1" noChangeArrowheads="1"/>
          </p:cNvPicPr>
          <p:nvPr/>
        </p:nvPicPr>
        <p:blipFill>
          <a:blip r:embed="rId3" cstate="print"/>
          <a:srcRect/>
          <a:stretch>
            <a:fillRect/>
          </a:stretch>
        </p:blipFill>
        <p:spPr bwMode="auto">
          <a:xfrm>
            <a:off x="6248400" y="3447729"/>
            <a:ext cx="2098777" cy="1400277"/>
          </a:xfrm>
          <a:prstGeom prst="rect">
            <a:avLst/>
          </a:prstGeom>
          <a:noFill/>
        </p:spPr>
      </p:pic>
    </p:spTree>
    <p:extLst>
      <p:ext uri="{BB962C8B-B14F-4D97-AF65-F5344CB8AC3E}">
        <p14:creationId xmlns:p14="http://schemas.microsoft.com/office/powerpoint/2010/main" val="33653268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Assessment for this unit may include:</a:t>
            </a:r>
          </a:p>
          <a:p>
            <a:pPr marL="360000" indent="-360000">
              <a:spcBef>
                <a:spcPts val="600"/>
              </a:spcBef>
              <a:spcAft>
                <a:spcPts val="1200"/>
              </a:spcAft>
            </a:pPr>
            <a:r>
              <a:rPr lang="en-AU" sz="2200" dirty="0" smtClean="0">
                <a:latin typeface="Helvetica" pitchFamily="34" charset="0"/>
              </a:rPr>
              <a:t>Oral questions</a:t>
            </a:r>
          </a:p>
          <a:p>
            <a:pPr marL="360000" indent="-360000">
              <a:spcBef>
                <a:spcPts val="600"/>
              </a:spcBef>
              <a:spcAft>
                <a:spcPts val="1200"/>
              </a:spcAft>
            </a:pPr>
            <a:r>
              <a:rPr lang="en-AU" sz="2200" dirty="0" smtClean="0">
                <a:latin typeface="Helvetica" pitchFamily="34" charset="0"/>
              </a:rPr>
              <a:t>Written questions</a:t>
            </a:r>
          </a:p>
          <a:p>
            <a:pPr marL="360000" indent="-360000">
              <a:spcBef>
                <a:spcPts val="600"/>
              </a:spcBef>
              <a:spcAft>
                <a:spcPts val="1200"/>
              </a:spcAft>
            </a:pPr>
            <a:r>
              <a:rPr lang="en-AU" sz="2200" dirty="0" smtClean="0">
                <a:latin typeface="Helvetica" pitchFamily="34" charset="0"/>
              </a:rPr>
              <a:t>Work projects</a:t>
            </a:r>
          </a:p>
          <a:p>
            <a:pPr marL="360000" indent="-360000">
              <a:spcBef>
                <a:spcPts val="600"/>
              </a:spcBef>
              <a:spcAft>
                <a:spcPts val="1200"/>
              </a:spcAft>
            </a:pPr>
            <a:r>
              <a:rPr lang="en-AU" sz="2200" dirty="0" smtClean="0">
                <a:latin typeface="Helvetica" pitchFamily="34" charset="0"/>
              </a:rPr>
              <a:t>Workplace observation of practical skills</a:t>
            </a:r>
          </a:p>
          <a:p>
            <a:pPr marL="360000" indent="-360000">
              <a:spcBef>
                <a:spcPts val="600"/>
              </a:spcBef>
              <a:spcAft>
                <a:spcPts val="1200"/>
              </a:spcAft>
            </a:pPr>
            <a:r>
              <a:rPr lang="en-AU" sz="2200" dirty="0" smtClean="0">
                <a:latin typeface="Helvetica" pitchFamily="34" charset="0"/>
              </a:rPr>
              <a:t>Practical exercises</a:t>
            </a:r>
          </a:p>
          <a:p>
            <a:pPr marL="360000" indent="-360000">
              <a:spcBef>
                <a:spcPts val="600"/>
              </a:spcBef>
              <a:spcAft>
                <a:spcPts val="1200"/>
              </a:spcAft>
            </a:pPr>
            <a:r>
              <a:rPr lang="en-AU" sz="2200" dirty="0" smtClean="0">
                <a:latin typeface="Helvetica" pitchFamily="34" charset="0"/>
              </a:rPr>
              <a:t>Formal report from supervisor</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a:t>
            </a:fld>
            <a:endParaRPr lang="en-US" dirty="0">
              <a:solidFill>
                <a:srgbClr val="4E5B6F">
                  <a:shade val="50000"/>
                </a:srgbClr>
              </a:solidFill>
              <a:latin typeface="Helvetica" pitchFamily="34" charset="0"/>
            </a:endParaRPr>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6553200" y="2743200"/>
            <a:ext cx="2272288" cy="1512695"/>
          </a:xfrm>
          <a:prstGeom prst="rect">
            <a:avLst/>
          </a:prstGeom>
          <a:noFill/>
        </p:spPr>
      </p:pic>
    </p:spTree>
    <p:extLst>
      <p:ext uri="{BB962C8B-B14F-4D97-AF65-F5344CB8AC3E}">
        <p14:creationId xmlns:p14="http://schemas.microsoft.com/office/powerpoint/2010/main" val="21111664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7770440" cy="1247056"/>
          </a:xfrm>
        </p:spPr>
        <p:txBody>
          <a:bodyPr>
            <a:normAutofit/>
          </a:bodyPr>
          <a:lstStyle/>
          <a:p>
            <a:r>
              <a:rPr lang="en-AU" sz="3400" b="1" dirty="0">
                <a:solidFill>
                  <a:srgbClr val="FF6600"/>
                </a:solidFill>
                <a:latin typeface="Helvetica" pitchFamily="34" charset="0"/>
              </a:rPr>
              <a:t>Element 1: </a:t>
            </a:r>
            <a:r>
              <a:rPr lang="en-AU" sz="3400" b="1" dirty="0" smtClean="0">
                <a:solidFill>
                  <a:srgbClr val="FF6600"/>
                </a:solidFill>
                <a:latin typeface="Helvetica" pitchFamily="34" charset="0"/>
              </a:rPr>
              <a:t>Monitor financial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9192"/>
            <a:ext cx="7694240" cy="4844008"/>
          </a:xfrm>
        </p:spPr>
        <p:txBody>
          <a:bodyPr>
            <a:normAutofit fontScale="85000" lnSpcReduction="20000"/>
          </a:bodyPr>
          <a:lstStyle/>
          <a:p>
            <a:pPr marL="0" indent="-457200">
              <a:lnSpc>
                <a:spcPct val="120000"/>
              </a:lnSpc>
              <a:spcBef>
                <a:spcPts val="600"/>
              </a:spcBef>
              <a:spcAft>
                <a:spcPts val="1200"/>
              </a:spcAft>
              <a:buNone/>
            </a:pPr>
            <a:r>
              <a:rPr lang="en-AU" sz="2400" dirty="0" smtClean="0">
                <a:solidFill>
                  <a:srgbClr val="92D050"/>
                </a:solidFill>
              </a:rPr>
              <a:t>1.1	</a:t>
            </a:r>
            <a:r>
              <a:rPr lang="en-AU" sz="2400" dirty="0" smtClean="0"/>
              <a:t>Check </a:t>
            </a:r>
            <a:r>
              <a:rPr lang="en-AU" sz="2400" dirty="0"/>
              <a:t>transactions accord with enterprise </a:t>
            </a:r>
            <a:r>
              <a:rPr lang="en-AU" sz="2400" dirty="0" smtClean="0"/>
              <a:t>procedures</a:t>
            </a:r>
          </a:p>
          <a:p>
            <a:pPr marL="0" indent="-457200">
              <a:lnSpc>
                <a:spcPct val="120000"/>
              </a:lnSpc>
              <a:spcBef>
                <a:spcPts val="600"/>
              </a:spcBef>
              <a:spcAft>
                <a:spcPts val="1200"/>
              </a:spcAft>
              <a:buNone/>
            </a:pPr>
            <a:r>
              <a:rPr lang="en-AU" sz="2400" dirty="0" smtClean="0">
                <a:solidFill>
                  <a:srgbClr val="92D050"/>
                </a:solidFill>
              </a:rPr>
              <a:t>1.2</a:t>
            </a:r>
            <a:r>
              <a:rPr lang="en-AU" sz="2400" dirty="0">
                <a:solidFill>
                  <a:srgbClr val="92D050"/>
                </a:solidFill>
              </a:rPr>
              <a:t>	</a:t>
            </a:r>
            <a:r>
              <a:rPr lang="en-AU" sz="2400" dirty="0"/>
              <a:t>Balance transactions </a:t>
            </a:r>
            <a:r>
              <a:rPr lang="en-AU" sz="2400" dirty="0" smtClean="0"/>
              <a:t>accurately</a:t>
            </a:r>
          </a:p>
          <a:p>
            <a:pPr marL="0" indent="-457200">
              <a:lnSpc>
                <a:spcPct val="120000"/>
              </a:lnSpc>
              <a:spcBef>
                <a:spcPts val="600"/>
              </a:spcBef>
              <a:spcAft>
                <a:spcPts val="1200"/>
              </a:spcAft>
              <a:buNone/>
            </a:pPr>
            <a:r>
              <a:rPr lang="en-AU" sz="2400" dirty="0" smtClean="0">
                <a:solidFill>
                  <a:srgbClr val="92D050"/>
                </a:solidFill>
              </a:rPr>
              <a:t>1.3</a:t>
            </a:r>
            <a:r>
              <a:rPr lang="en-AU" sz="2400" dirty="0">
                <a:solidFill>
                  <a:srgbClr val="92D050"/>
                </a:solidFill>
              </a:rPr>
              <a:t>	</a:t>
            </a:r>
            <a:r>
              <a:rPr lang="en-AU" sz="2400" dirty="0"/>
              <a:t>Check balances prepared by others are in accordance </a:t>
            </a:r>
            <a:r>
              <a:rPr lang="en-AU" sz="2400" dirty="0" smtClean="0"/>
              <a:t>	with </a:t>
            </a:r>
            <a:r>
              <a:rPr lang="en-AU" sz="2400" dirty="0"/>
              <a:t>enterprise </a:t>
            </a:r>
            <a:r>
              <a:rPr lang="en-AU" sz="2400" dirty="0" smtClean="0"/>
              <a:t>procedures</a:t>
            </a:r>
          </a:p>
          <a:p>
            <a:pPr marL="0" indent="-457200">
              <a:lnSpc>
                <a:spcPct val="120000"/>
              </a:lnSpc>
              <a:spcBef>
                <a:spcPts val="600"/>
              </a:spcBef>
              <a:spcAft>
                <a:spcPts val="1200"/>
              </a:spcAft>
              <a:buNone/>
            </a:pPr>
            <a:r>
              <a:rPr lang="en-AU" sz="2400" dirty="0" smtClean="0">
                <a:solidFill>
                  <a:srgbClr val="92D050"/>
                </a:solidFill>
              </a:rPr>
              <a:t>1.4</a:t>
            </a:r>
            <a:r>
              <a:rPr lang="en-AU" sz="2400" dirty="0">
                <a:solidFill>
                  <a:srgbClr val="92D050"/>
                </a:solidFill>
              </a:rPr>
              <a:t>	</a:t>
            </a:r>
            <a:r>
              <a:rPr lang="en-AU" sz="2400" dirty="0"/>
              <a:t>Implement and control financial systems in accordance </a:t>
            </a:r>
            <a:r>
              <a:rPr lang="en-AU" sz="2400" dirty="0" smtClean="0"/>
              <a:t>	with </a:t>
            </a:r>
            <a:r>
              <a:rPr lang="en-AU" sz="2400" dirty="0"/>
              <a:t>enterprise </a:t>
            </a:r>
            <a:r>
              <a:rPr lang="en-AU" sz="2400" dirty="0" smtClean="0"/>
              <a:t>procedures</a:t>
            </a:r>
          </a:p>
          <a:p>
            <a:pPr marL="0" indent="-457200">
              <a:lnSpc>
                <a:spcPct val="120000"/>
              </a:lnSpc>
              <a:spcBef>
                <a:spcPts val="600"/>
              </a:spcBef>
              <a:spcAft>
                <a:spcPts val="1200"/>
              </a:spcAft>
              <a:buNone/>
            </a:pPr>
            <a:r>
              <a:rPr lang="en-AU" sz="2400" dirty="0" smtClean="0">
                <a:solidFill>
                  <a:srgbClr val="92D050"/>
                </a:solidFill>
              </a:rPr>
              <a:t>1.5</a:t>
            </a:r>
            <a:r>
              <a:rPr lang="en-AU" sz="2400" dirty="0">
                <a:solidFill>
                  <a:srgbClr val="92D050"/>
                </a:solidFill>
              </a:rPr>
              <a:t>	</a:t>
            </a:r>
            <a:r>
              <a:rPr lang="en-AU" sz="2400" dirty="0"/>
              <a:t>Monitor financial systems and provide input on possible </a:t>
            </a:r>
            <a:r>
              <a:rPr lang="en-AU" sz="2400" dirty="0" smtClean="0"/>
              <a:t>	improvements </a:t>
            </a:r>
            <a:r>
              <a:rPr lang="en-AU" sz="2400" dirty="0"/>
              <a:t>to appropriate </a:t>
            </a:r>
            <a:r>
              <a:rPr lang="en-AU" sz="2400" dirty="0" smtClean="0"/>
              <a:t>personnel</a:t>
            </a:r>
          </a:p>
          <a:p>
            <a:pPr marL="0" indent="-457200">
              <a:lnSpc>
                <a:spcPct val="120000"/>
              </a:lnSpc>
              <a:spcBef>
                <a:spcPts val="600"/>
              </a:spcBef>
              <a:spcAft>
                <a:spcPts val="1000"/>
              </a:spcAft>
              <a:buNone/>
            </a:pPr>
            <a:r>
              <a:rPr lang="en-AU" sz="2500" dirty="0" smtClean="0">
                <a:solidFill>
                  <a:srgbClr val="92D050"/>
                </a:solidFill>
              </a:rPr>
              <a:t>1.6	</a:t>
            </a:r>
            <a:r>
              <a:rPr lang="en-AU" sz="2500" dirty="0" smtClean="0"/>
              <a:t>Identify </a:t>
            </a:r>
            <a:r>
              <a:rPr lang="en-AU" sz="2500" dirty="0"/>
              <a:t>and resolve discrepancies or errors according </a:t>
            </a:r>
            <a:r>
              <a:rPr lang="en-AU" sz="2500" dirty="0" smtClean="0"/>
              <a:t>	to level </a:t>
            </a:r>
            <a:r>
              <a:rPr lang="en-AU" sz="2500" dirty="0"/>
              <a:t>of responsibility and in consultation with </a:t>
            </a:r>
            <a:r>
              <a:rPr lang="en-AU" sz="2500" dirty="0" smtClean="0"/>
              <a:t>	designated </a:t>
            </a:r>
            <a:r>
              <a:rPr lang="en-AU" sz="2500" dirty="0"/>
              <a:t>persons</a:t>
            </a:r>
            <a:endParaRPr lang="en-US" sz="2500"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7013763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indent="-457200"/>
            <a:r>
              <a:rPr lang="en-AU" sz="2900" b="1" dirty="0" smtClean="0">
                <a:solidFill>
                  <a:srgbClr val="FF6600"/>
                </a:solidFill>
                <a:latin typeface="Helvetica" pitchFamily="34" charset="0"/>
              </a:rPr>
              <a:t>1.1	Check </a:t>
            </a:r>
            <a:r>
              <a:rPr lang="en-AU" sz="2900" b="1" dirty="0">
                <a:solidFill>
                  <a:srgbClr val="FF6600"/>
                </a:solidFill>
                <a:latin typeface="Helvetica" pitchFamily="34" charset="0"/>
              </a:rPr>
              <a:t>transactions </a:t>
            </a:r>
            <a:r>
              <a:rPr lang="en-AU" sz="2900" b="1" dirty="0" smtClean="0">
                <a:solidFill>
                  <a:srgbClr val="FF6600"/>
                </a:solidFill>
                <a:latin typeface="Helvetica" pitchFamily="34" charset="0"/>
              </a:rPr>
              <a:t>accord with 	enterprise </a:t>
            </a:r>
            <a:r>
              <a:rPr lang="en-AU" sz="2900" b="1" dirty="0">
                <a:solidFill>
                  <a:srgbClr val="FF6600"/>
                </a:solidFill>
                <a:latin typeface="Helvetica" pitchFamily="34" charset="0"/>
              </a:rPr>
              <a:t>procedures</a:t>
            </a:r>
            <a:endParaRPr lang="en-US" sz="2900" b="1" dirty="0">
              <a:solidFill>
                <a:srgbClr val="FF6600"/>
              </a:solidFill>
              <a:latin typeface="Helvetica" pitchFamily="34" charset="0"/>
            </a:endParaRPr>
          </a:p>
        </p:txBody>
      </p:sp>
      <p:sp>
        <p:nvSpPr>
          <p:cNvPr id="3" name="Content Placeholder 2"/>
          <p:cNvSpPr>
            <a:spLocks noGrp="1"/>
          </p:cNvSpPr>
          <p:nvPr>
            <p:ph idx="1"/>
          </p:nvPr>
        </p:nvSpPr>
        <p:spPr>
          <a:xfrm>
            <a:off x="611560" y="1752600"/>
            <a:ext cx="7541840" cy="4525963"/>
          </a:xfrm>
        </p:spPr>
        <p:txBody>
          <a:bodyPr>
            <a:normAutofit/>
          </a:bodyPr>
          <a:lstStyle/>
          <a:p>
            <a:pPr marL="36576" indent="0">
              <a:spcBef>
                <a:spcPts val="600"/>
              </a:spcBef>
              <a:spcAft>
                <a:spcPts val="1200"/>
              </a:spcAft>
              <a:buNone/>
            </a:pPr>
            <a:r>
              <a:rPr lang="en-AU" sz="2200" dirty="0">
                <a:latin typeface="Helvetica"/>
                <a:ea typeface="Times New Roman"/>
                <a:cs typeface="HelveticaNeueLTStd-Lt"/>
              </a:rPr>
              <a:t>From a management perspective there is a need for you to identify the range of financial information and reports required to effectively monitor business performance at a day-to-day management level</a:t>
            </a:r>
            <a:r>
              <a:rPr lang="en-US" sz="2200" dirty="0" smtClean="0">
                <a:latin typeface="Helvetica"/>
                <a:ea typeface="Times New Roman"/>
                <a:cs typeface="HelveticaNeueLTStd-Lt"/>
              </a:rPr>
              <a:t>.</a:t>
            </a:r>
            <a:endParaRPr lang="en-AU" sz="2200" dirty="0">
              <a:ea typeface="Times New Roman"/>
              <a:cs typeface="Times New Roman"/>
            </a:endParaRPr>
          </a:p>
          <a:p>
            <a:pPr>
              <a:spcBef>
                <a:spcPts val="600"/>
              </a:spcBef>
              <a:spcAft>
                <a:spcPts val="1200"/>
              </a:spcAft>
            </a:pPr>
            <a:r>
              <a:rPr lang="en-AU" sz="2200" b="1" dirty="0">
                <a:latin typeface="Helvetica"/>
                <a:ea typeface="Times New Roman"/>
                <a:cs typeface="HelveticaNeueLTStd-MdCn"/>
              </a:rPr>
              <a:t>Who is responsible</a:t>
            </a:r>
            <a:r>
              <a:rPr lang="en-US" sz="2200" b="1" dirty="0">
                <a:latin typeface="Helvetica"/>
                <a:ea typeface="Times New Roman"/>
                <a:cs typeface="HelveticaNeueLTStd-MdCn"/>
              </a:rPr>
              <a:t> for managing financial records?</a:t>
            </a:r>
            <a:endParaRPr lang="en-AU" sz="2200" dirty="0">
              <a:ea typeface="Times New Roman"/>
              <a:cs typeface="Times New Roman"/>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6" name="Picture 5" descr="kq.jpg"/>
          <p:cNvPicPr/>
          <p:nvPr/>
        </p:nvPicPr>
        <p:blipFill>
          <a:blip r:embed="rId3" cstate="print"/>
          <a:stretch>
            <a:fillRect/>
          </a:stretch>
        </p:blipFill>
        <p:spPr>
          <a:xfrm>
            <a:off x="3352800" y="4343400"/>
            <a:ext cx="2438400" cy="1974204"/>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313240" cy="4525963"/>
          </a:xfrm>
        </p:spPr>
        <p:txBody>
          <a:bodyPr>
            <a:normAutofit/>
          </a:bodyPr>
          <a:lstStyle/>
          <a:p>
            <a:pPr marL="36576" indent="0">
              <a:spcBef>
                <a:spcPts val="600"/>
              </a:spcBef>
              <a:spcAft>
                <a:spcPts val="1200"/>
              </a:spcAft>
              <a:buNone/>
            </a:pPr>
            <a:r>
              <a:rPr lang="en-AU" sz="2200" b="1" dirty="0">
                <a:latin typeface="Helvetica"/>
                <a:ea typeface="Times New Roman"/>
                <a:cs typeface="Times New Roman"/>
              </a:rPr>
              <a:t>Importance of maintaining accurate financial </a:t>
            </a:r>
            <a:r>
              <a:rPr lang="en-AU" sz="2200" b="1" dirty="0" smtClean="0">
                <a:latin typeface="Helvetica"/>
                <a:ea typeface="Times New Roman"/>
                <a:cs typeface="Times New Roman"/>
              </a:rPr>
              <a:t>records</a:t>
            </a:r>
          </a:p>
          <a:p>
            <a:pPr marL="36576" indent="0">
              <a:spcBef>
                <a:spcPts val="600"/>
              </a:spcBef>
              <a:spcAft>
                <a:spcPts val="1200"/>
              </a:spcAft>
              <a:buNone/>
            </a:pPr>
            <a:r>
              <a:rPr lang="en-AU" sz="2200" dirty="0">
                <a:latin typeface="Helvetica" pitchFamily="34" charset="0"/>
                <a:ea typeface="Times New Roman"/>
                <a:cs typeface="HelveticaNeueLTStd-Lt"/>
              </a:rPr>
              <a:t>Maintaining accurate financial records is important in business </a:t>
            </a:r>
            <a:r>
              <a:rPr lang="en-AU" sz="2200" dirty="0" smtClean="0">
                <a:latin typeface="Helvetica" pitchFamily="34" charset="0"/>
                <a:ea typeface="Times New Roman"/>
                <a:cs typeface="HelveticaNeueLTStd-Lt"/>
              </a:rPr>
              <a:t>to:</a:t>
            </a:r>
            <a:endParaRPr lang="en-AU" sz="2200" dirty="0" smtClean="0">
              <a:latin typeface="Helvetica" pitchFamily="34" charset="0"/>
              <a:ea typeface="Times New Roman"/>
              <a:cs typeface="Times New Roman"/>
            </a:endParaRPr>
          </a:p>
          <a:p>
            <a:pPr>
              <a:spcBef>
                <a:spcPts val="600"/>
              </a:spcBef>
              <a:spcAft>
                <a:spcPts val="1200"/>
              </a:spcAft>
            </a:pPr>
            <a:r>
              <a:rPr lang="en-AU" sz="2200" dirty="0" smtClean="0">
                <a:latin typeface="Helvetica" pitchFamily="34" charset="0"/>
                <a:ea typeface="Times New Roman"/>
                <a:cs typeface="HelveticaNeueLTStd-Lt"/>
              </a:rPr>
              <a:t>Provide </a:t>
            </a:r>
            <a:r>
              <a:rPr lang="en-AU" sz="2200" dirty="0">
                <a:latin typeface="Helvetica" pitchFamily="34" charset="0"/>
                <a:ea typeface="Times New Roman"/>
                <a:cs typeface="HelveticaNeueLTStd-Lt"/>
              </a:rPr>
              <a:t>information to </a:t>
            </a:r>
            <a:r>
              <a:rPr lang="en-AU" sz="2200" dirty="0" smtClean="0">
                <a:latin typeface="Helvetica" pitchFamily="34" charset="0"/>
                <a:ea typeface="Times New Roman"/>
                <a:cs typeface="HelveticaNeueLTStd-Lt"/>
              </a:rPr>
              <a:t>management</a:t>
            </a:r>
          </a:p>
          <a:p>
            <a:pPr>
              <a:spcBef>
                <a:spcPts val="600"/>
              </a:spcBef>
              <a:spcAft>
                <a:spcPts val="1200"/>
              </a:spcAft>
            </a:pPr>
            <a:r>
              <a:rPr lang="en-AU" sz="2200" dirty="0" smtClean="0">
                <a:latin typeface="Helvetica" pitchFamily="34" charset="0"/>
                <a:ea typeface="Times New Roman"/>
                <a:cs typeface="HelveticaNeueLTStd-Lt"/>
              </a:rPr>
              <a:t>Track </a:t>
            </a:r>
            <a:r>
              <a:rPr lang="en-AU" sz="2200" dirty="0">
                <a:latin typeface="Helvetica" pitchFamily="34" charset="0"/>
                <a:ea typeface="Times New Roman"/>
                <a:cs typeface="HelveticaNeueLTStd-Lt"/>
              </a:rPr>
              <a:t>the performance of the operation </a:t>
            </a:r>
            <a:r>
              <a:rPr lang="en-AU" sz="2200" dirty="0" smtClean="0">
                <a:latin typeface="Helvetica" pitchFamily="34" charset="0"/>
                <a:ea typeface="Times New Roman"/>
                <a:cs typeface="HelveticaNeueLTStd-Lt"/>
              </a:rPr>
              <a:t/>
            </a:r>
            <a:br>
              <a:rPr lang="en-AU" sz="2200" dirty="0" smtClean="0">
                <a:latin typeface="Helvetica" pitchFamily="34" charset="0"/>
                <a:ea typeface="Times New Roman"/>
                <a:cs typeface="HelveticaNeueLTStd-Lt"/>
              </a:rPr>
            </a:br>
            <a:r>
              <a:rPr lang="en-AU" sz="2200" dirty="0" smtClean="0">
                <a:latin typeface="Helvetica" pitchFamily="34" charset="0"/>
                <a:ea typeface="Times New Roman"/>
                <a:cs typeface="HelveticaNeueLTStd-Lt"/>
              </a:rPr>
              <a:t>against projections</a:t>
            </a:r>
          </a:p>
          <a:p>
            <a:pPr>
              <a:spcBef>
                <a:spcPts val="600"/>
              </a:spcBef>
              <a:spcAft>
                <a:spcPts val="1200"/>
              </a:spcAft>
            </a:pPr>
            <a:r>
              <a:rPr lang="en-AU" sz="2200" dirty="0" smtClean="0">
                <a:latin typeface="Helvetica" pitchFamily="34" charset="0"/>
                <a:ea typeface="Times New Roman"/>
                <a:cs typeface="HelveticaNeueLTStd-Lt"/>
              </a:rPr>
              <a:t>Demonstrate </a:t>
            </a:r>
            <a:r>
              <a:rPr lang="en-AU" sz="2200" dirty="0">
                <a:latin typeface="Helvetica" pitchFamily="34" charset="0"/>
                <a:ea typeface="Times New Roman"/>
                <a:cs typeface="HelveticaNeueLTStd-Lt"/>
              </a:rPr>
              <a:t>business </a:t>
            </a:r>
            <a:r>
              <a:rPr lang="en-AU" sz="2200" dirty="0" smtClean="0">
                <a:latin typeface="Helvetica" pitchFamily="34" charset="0"/>
                <a:ea typeface="Times New Roman"/>
                <a:cs typeface="HelveticaNeueLTStd-Lt"/>
              </a:rPr>
              <a:t>results </a:t>
            </a:r>
          </a:p>
          <a:p>
            <a:pPr marL="448056" lvl="1" indent="0">
              <a:spcBef>
                <a:spcPts val="600"/>
              </a:spcBef>
              <a:spcAft>
                <a:spcPts val="1200"/>
              </a:spcAft>
              <a:buNone/>
            </a:pPr>
            <a:r>
              <a:rPr lang="en-AU" sz="2200" b="1" dirty="0" smtClean="0">
                <a:latin typeface="Helvetica" pitchFamily="34" charset="0"/>
                <a:ea typeface="Times New Roman"/>
                <a:cs typeface="Times New Roman"/>
              </a:rPr>
              <a:t>Refer to TM for additional notes on these points</a:t>
            </a:r>
            <a:endParaRPr lang="en-AU" sz="2200" b="1" dirty="0">
              <a:latin typeface="Helvetica" pitchFamily="34" charset="0"/>
              <a:ea typeface="Times New Roman"/>
              <a:cs typeface="Times New Roman"/>
            </a:endParaRPr>
          </a:p>
          <a:p>
            <a:pPr marL="36576" indent="0">
              <a:spcBef>
                <a:spcPts val="600"/>
              </a:spcBef>
              <a:spcAft>
                <a:spcPts val="1200"/>
              </a:spcAft>
              <a:buNone/>
            </a:pPr>
            <a:endParaRPr lang="en-AU" sz="2200" dirty="0">
              <a:ea typeface="Times New Roman"/>
              <a:cs typeface="Times New Roman"/>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a:t>
            </a:fld>
            <a:endParaRPr lang="en-US" dirty="0">
              <a:solidFill>
                <a:srgbClr val="4E5B6F">
                  <a:shade val="50000"/>
                </a:srgbClr>
              </a:solidFill>
              <a:latin typeface="Helvetica" pitchFamily="34" charset="0"/>
            </a:endParaRPr>
          </a:p>
        </p:txBody>
      </p:sp>
      <p:sp>
        <p:nvSpPr>
          <p:cNvPr id="7" name="Title 1"/>
          <p:cNvSpPr>
            <a:spLocks noGrp="1"/>
          </p:cNvSpPr>
          <p:nvPr>
            <p:ph type="title"/>
          </p:nvPr>
        </p:nvSpPr>
        <p:spPr>
          <a:xfrm>
            <a:off x="611560" y="332656"/>
            <a:ext cx="7467600" cy="1143000"/>
          </a:xfrm>
        </p:spPr>
        <p:txBody>
          <a:bodyPr>
            <a:normAutofit/>
          </a:bodyPr>
          <a:lstStyle/>
          <a:p>
            <a:pPr indent="-457200"/>
            <a:r>
              <a:rPr lang="en-AU" sz="2900" b="1" dirty="0" smtClean="0">
                <a:solidFill>
                  <a:srgbClr val="FF6600"/>
                </a:solidFill>
                <a:latin typeface="Helvetica" pitchFamily="34" charset="0"/>
              </a:rPr>
              <a:t>1.1	Check </a:t>
            </a:r>
            <a:r>
              <a:rPr lang="en-AU" sz="2900" b="1" dirty="0">
                <a:solidFill>
                  <a:srgbClr val="FF6600"/>
                </a:solidFill>
                <a:latin typeface="Helvetica" pitchFamily="34" charset="0"/>
              </a:rPr>
              <a:t>transactions </a:t>
            </a:r>
            <a:r>
              <a:rPr lang="en-AU" sz="2900" b="1" dirty="0" smtClean="0">
                <a:solidFill>
                  <a:srgbClr val="FF6600"/>
                </a:solidFill>
                <a:latin typeface="Helvetica" pitchFamily="34" charset="0"/>
              </a:rPr>
              <a:t>accord with 	enterprise </a:t>
            </a:r>
            <a:r>
              <a:rPr lang="en-AU" sz="2900" b="1" dirty="0">
                <a:solidFill>
                  <a:srgbClr val="FF6600"/>
                </a:solidFill>
                <a:latin typeface="Helvetica" pitchFamily="34" charset="0"/>
              </a:rPr>
              <a:t>procedures</a:t>
            </a:r>
            <a:endParaRPr lang="en-US" sz="2900" b="1" dirty="0">
              <a:solidFill>
                <a:srgbClr val="FF6600"/>
              </a:solidFill>
              <a:latin typeface="Helvetica" pitchFamily="34" charset="0"/>
            </a:endParaRPr>
          </a:p>
        </p:txBody>
      </p:sp>
      <p:pic>
        <p:nvPicPr>
          <p:cNvPr id="9" name="Picture 8" descr="ld.jpg"/>
          <p:cNvPicPr/>
          <p:nvPr/>
        </p:nvPicPr>
        <p:blipFill>
          <a:blip r:embed="rId3" cstate="print"/>
          <a:stretch>
            <a:fillRect/>
          </a:stretch>
        </p:blipFill>
        <p:spPr>
          <a:xfrm>
            <a:off x="6553200" y="3048000"/>
            <a:ext cx="1615786" cy="1357745"/>
          </a:xfrm>
          <a:prstGeom prst="rect">
            <a:avLst/>
          </a:prstGeom>
        </p:spPr>
      </p:pic>
    </p:spTree>
    <p:extLst>
      <p:ext uri="{BB962C8B-B14F-4D97-AF65-F5344CB8AC3E}">
        <p14:creationId xmlns:p14="http://schemas.microsoft.com/office/powerpoint/2010/main" val="24050620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2900" b="1" dirty="0">
                <a:solidFill>
                  <a:srgbClr val="FF6600"/>
                </a:solidFill>
              </a:rPr>
              <a:t>1.1	Check transactions accord with 	enterprise procedures</a:t>
            </a:r>
            <a:endParaRPr lang="en-AU" dirty="0"/>
          </a:p>
        </p:txBody>
      </p:sp>
      <p:sp>
        <p:nvSpPr>
          <p:cNvPr id="3" name="Content Placeholder 2"/>
          <p:cNvSpPr>
            <a:spLocks noGrp="1"/>
          </p:cNvSpPr>
          <p:nvPr>
            <p:ph idx="1"/>
          </p:nvPr>
        </p:nvSpPr>
        <p:spPr>
          <a:xfrm>
            <a:off x="457200" y="2027237"/>
            <a:ext cx="7467600" cy="4525963"/>
          </a:xfrm>
        </p:spPr>
        <p:txBody>
          <a:bodyPr>
            <a:normAutofit/>
          </a:bodyPr>
          <a:lstStyle/>
          <a:p>
            <a:pPr marL="935990" indent="-935990">
              <a:spcBef>
                <a:spcPts val="1200"/>
              </a:spcBef>
              <a:spcAft>
                <a:spcPts val="1200"/>
              </a:spcAft>
            </a:pPr>
            <a:r>
              <a:rPr lang="en-AU" sz="2400" b="1" dirty="0" smtClean="0">
                <a:latin typeface="Helvetica"/>
                <a:ea typeface="Times New Roman"/>
                <a:cs typeface="Times New Roman"/>
              </a:rPr>
              <a:t>Definition </a:t>
            </a:r>
            <a:r>
              <a:rPr lang="en-AU" sz="2400" b="1" dirty="0">
                <a:latin typeface="Helvetica"/>
                <a:ea typeface="Times New Roman"/>
                <a:cs typeface="Times New Roman"/>
              </a:rPr>
              <a:t>of 'auditing'</a:t>
            </a:r>
          </a:p>
          <a:p>
            <a:endParaRPr lang="en-AU" sz="2400" dirty="0"/>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2200" y="2743200"/>
            <a:ext cx="19812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3"/>
          <p:cNvSpPr>
            <a:spLocks noGrp="1"/>
          </p:cNvSpPr>
          <p:nvPr>
            <p:ph type="sldNum" sz="quarter" idx="12"/>
          </p:nvPr>
        </p:nvSpPr>
        <p:spPr>
          <a:xfrm>
            <a:off x="8153400" y="6422064"/>
            <a:ext cx="762000" cy="365125"/>
          </a:xfrm>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7</a:t>
            </a:fld>
            <a:endParaRPr lang="en-AU" dirty="0">
              <a:latin typeface="Helvetica" pitchFamily="34" charset="0"/>
            </a:endParaRPr>
          </a:p>
        </p:txBody>
      </p:sp>
    </p:spTree>
    <p:extLst>
      <p:ext uri="{BB962C8B-B14F-4D97-AF65-F5344CB8AC3E}">
        <p14:creationId xmlns:p14="http://schemas.microsoft.com/office/powerpoint/2010/main" val="12073460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1143000"/>
          </a:xfrm>
        </p:spPr>
        <p:txBody>
          <a:bodyPr/>
          <a:lstStyle/>
          <a:p>
            <a:r>
              <a:rPr lang="en-AU" sz="2900" b="1" dirty="0">
                <a:solidFill>
                  <a:srgbClr val="FF6600"/>
                </a:solidFill>
              </a:rPr>
              <a:t>1.1	Check transactions accord with 	enterprise procedures</a:t>
            </a:r>
            <a:endParaRPr lang="en-AU" dirty="0"/>
          </a:p>
        </p:txBody>
      </p:sp>
      <p:sp>
        <p:nvSpPr>
          <p:cNvPr id="3" name="Content Placeholder 2"/>
          <p:cNvSpPr>
            <a:spLocks noGrp="1"/>
          </p:cNvSpPr>
          <p:nvPr>
            <p:ph idx="1"/>
          </p:nvPr>
        </p:nvSpPr>
        <p:spPr>
          <a:xfrm>
            <a:off x="457200" y="1447800"/>
            <a:ext cx="8077200" cy="5257800"/>
          </a:xfrm>
        </p:spPr>
        <p:txBody>
          <a:bodyPr>
            <a:normAutofit/>
          </a:bodyPr>
          <a:lstStyle/>
          <a:p>
            <a:pPr marL="36576" indent="0">
              <a:lnSpc>
                <a:spcPct val="115000"/>
              </a:lnSpc>
              <a:spcBef>
                <a:spcPts val="1200"/>
              </a:spcBef>
              <a:spcAft>
                <a:spcPts val="1200"/>
              </a:spcAft>
              <a:buNone/>
            </a:pPr>
            <a:r>
              <a:rPr lang="en-US" sz="2200" b="1" dirty="0">
                <a:latin typeface="Helvetica"/>
                <a:ea typeface="Times New Roman"/>
                <a:cs typeface="HelveticaNeueLTStd-Cn"/>
              </a:rPr>
              <a:t>Understand the</a:t>
            </a:r>
            <a:r>
              <a:rPr lang="en-AU" sz="2200" b="1" dirty="0">
                <a:latin typeface="Helvetica"/>
                <a:ea typeface="Times New Roman"/>
                <a:cs typeface="HelveticaNeueLTStd-Cn"/>
              </a:rPr>
              <a:t> bookkeeping and accounting cycle </a:t>
            </a:r>
            <a:endParaRPr lang="en-AU" sz="2200" dirty="0">
              <a:ea typeface="Times New Roman"/>
              <a:cs typeface="Times New Roman"/>
            </a:endParaRPr>
          </a:p>
          <a:p>
            <a:pPr marL="644652" lvl="1" indent="-342900">
              <a:spcBef>
                <a:spcPts val="400"/>
              </a:spcBef>
              <a:spcAft>
                <a:spcPts val="800"/>
              </a:spcAft>
              <a:buFont typeface="+mj-lt"/>
              <a:buAutoNum type="arabicParenR"/>
            </a:pPr>
            <a:r>
              <a:rPr lang="en-AU" sz="2200" dirty="0">
                <a:latin typeface="Helvetica"/>
                <a:ea typeface="Calibri"/>
                <a:cs typeface="Calibri"/>
              </a:rPr>
              <a:t>Perform transaction analysis</a:t>
            </a:r>
          </a:p>
          <a:p>
            <a:pPr marL="644652" lvl="1" indent="-342900">
              <a:spcBef>
                <a:spcPts val="400"/>
              </a:spcBef>
              <a:spcAft>
                <a:spcPts val="800"/>
              </a:spcAft>
              <a:buFont typeface="+mj-lt"/>
              <a:buAutoNum type="arabicParenR"/>
            </a:pPr>
            <a:r>
              <a:rPr lang="en-AU" sz="2200" dirty="0">
                <a:latin typeface="Helvetica"/>
                <a:ea typeface="Calibri"/>
                <a:cs typeface="Calibri"/>
              </a:rPr>
              <a:t>Record transactions in journals</a:t>
            </a:r>
          </a:p>
          <a:p>
            <a:pPr marL="644652" lvl="1" indent="-342900">
              <a:spcBef>
                <a:spcPts val="400"/>
              </a:spcBef>
              <a:spcAft>
                <a:spcPts val="800"/>
              </a:spcAft>
              <a:buFont typeface="+mj-lt"/>
              <a:buAutoNum type="arabicParenR"/>
            </a:pPr>
            <a:r>
              <a:rPr lang="en-AU" sz="2200" dirty="0">
                <a:latin typeface="Helvetica"/>
                <a:ea typeface="Calibri"/>
                <a:cs typeface="Calibri"/>
              </a:rPr>
              <a:t>Post journal entries to ledger accounts</a:t>
            </a:r>
          </a:p>
          <a:p>
            <a:pPr marL="644652" lvl="1" indent="-342900">
              <a:spcBef>
                <a:spcPts val="400"/>
              </a:spcBef>
              <a:spcAft>
                <a:spcPts val="800"/>
              </a:spcAft>
              <a:buFont typeface="+mj-lt"/>
              <a:buAutoNum type="arabicParenR"/>
            </a:pPr>
            <a:r>
              <a:rPr lang="en-AU" sz="2200" dirty="0">
                <a:latin typeface="Helvetica"/>
                <a:ea typeface="Calibri"/>
                <a:cs typeface="Calibri"/>
              </a:rPr>
              <a:t>Prepare an unadjusted trial balance</a:t>
            </a:r>
          </a:p>
          <a:p>
            <a:pPr marL="644652" lvl="1" indent="-342900">
              <a:spcBef>
                <a:spcPts val="400"/>
              </a:spcBef>
              <a:spcAft>
                <a:spcPts val="800"/>
              </a:spcAft>
              <a:buFont typeface="+mj-lt"/>
              <a:buAutoNum type="arabicParenR"/>
            </a:pPr>
            <a:r>
              <a:rPr lang="en-AU" sz="2200" dirty="0">
                <a:latin typeface="Helvetica"/>
                <a:ea typeface="Calibri"/>
                <a:cs typeface="Calibri"/>
              </a:rPr>
              <a:t>Process adjusting entries</a:t>
            </a:r>
          </a:p>
          <a:p>
            <a:pPr marL="644652" lvl="1" indent="-342900">
              <a:spcBef>
                <a:spcPts val="400"/>
              </a:spcBef>
              <a:spcAft>
                <a:spcPts val="800"/>
              </a:spcAft>
              <a:buFont typeface="+mj-lt"/>
              <a:buAutoNum type="arabicParenR"/>
            </a:pPr>
            <a:r>
              <a:rPr lang="en-AU" sz="2200" dirty="0">
                <a:latin typeface="Helvetica"/>
                <a:ea typeface="Calibri"/>
                <a:cs typeface="Calibri"/>
              </a:rPr>
              <a:t>Prepare a final trial balance</a:t>
            </a:r>
          </a:p>
          <a:p>
            <a:pPr marL="644652" lvl="1" indent="-342900">
              <a:spcBef>
                <a:spcPts val="400"/>
              </a:spcBef>
              <a:spcAft>
                <a:spcPts val="800"/>
              </a:spcAft>
              <a:buFont typeface="+mj-lt"/>
              <a:buAutoNum type="arabicParenR"/>
            </a:pPr>
            <a:r>
              <a:rPr lang="en-AU" sz="2200" dirty="0">
                <a:latin typeface="Helvetica"/>
                <a:ea typeface="Calibri"/>
                <a:cs typeface="Calibri"/>
              </a:rPr>
              <a:t>Prepare financial reports</a:t>
            </a:r>
          </a:p>
          <a:p>
            <a:endParaRPr lang="en-AU" sz="2200" dirty="0"/>
          </a:p>
        </p:txBody>
      </p:sp>
      <p:sp>
        <p:nvSpPr>
          <p:cNvPr id="5" name="Slide Number Placeholder 3"/>
          <p:cNvSpPr>
            <a:spLocks noGrp="1"/>
          </p:cNvSpPr>
          <p:nvPr>
            <p:ph type="sldNum" sz="quarter" idx="12"/>
          </p:nvPr>
        </p:nvSpPr>
        <p:spPr>
          <a:xfrm>
            <a:off x="8153400" y="6422064"/>
            <a:ext cx="762000" cy="365125"/>
          </a:xfrm>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8</a:t>
            </a:fld>
            <a:endParaRPr lang="en-AU" dirty="0">
              <a:latin typeface="Helvetica" pitchFamily="34" charset="0"/>
            </a:endParaRPr>
          </a:p>
        </p:txBody>
      </p:sp>
    </p:spTree>
    <p:extLst>
      <p:ext uri="{BB962C8B-B14F-4D97-AF65-F5344CB8AC3E}">
        <p14:creationId xmlns:p14="http://schemas.microsoft.com/office/powerpoint/2010/main" val="16838339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2900" b="1" dirty="0">
                <a:solidFill>
                  <a:srgbClr val="FF6600"/>
                </a:solidFill>
              </a:rPr>
              <a:t>1.1	Check transactions accord with 	enterprise procedures</a:t>
            </a:r>
            <a:endParaRPr lang="en-AU" dirty="0"/>
          </a:p>
        </p:txBody>
      </p:sp>
      <p:sp>
        <p:nvSpPr>
          <p:cNvPr id="3" name="Content Placeholder 2"/>
          <p:cNvSpPr>
            <a:spLocks noGrp="1"/>
          </p:cNvSpPr>
          <p:nvPr>
            <p:ph idx="1"/>
          </p:nvPr>
        </p:nvSpPr>
        <p:spPr>
          <a:xfrm>
            <a:off x="457200" y="1752600"/>
            <a:ext cx="7772400" cy="4373563"/>
          </a:xfrm>
        </p:spPr>
        <p:txBody>
          <a:bodyPr>
            <a:normAutofit/>
          </a:bodyPr>
          <a:lstStyle/>
          <a:p>
            <a:pPr marL="453600" indent="-453600">
              <a:spcBef>
                <a:spcPts val="600"/>
              </a:spcBef>
              <a:spcAft>
                <a:spcPts val="1200"/>
              </a:spcAft>
            </a:pPr>
            <a:r>
              <a:rPr lang="en-AU" sz="2400" b="1" dirty="0">
                <a:latin typeface="Helvetica"/>
                <a:ea typeface="Times New Roman"/>
                <a:cs typeface="Times New Roman"/>
              </a:rPr>
              <a:t>Definition of transaction</a:t>
            </a:r>
          </a:p>
          <a:p>
            <a:pPr marL="338328" lvl="1" indent="0">
              <a:spcBef>
                <a:spcPts val="400"/>
              </a:spcBef>
              <a:spcAft>
                <a:spcPts val="800"/>
              </a:spcAft>
              <a:buNone/>
            </a:pPr>
            <a:r>
              <a:rPr lang="en-AU" sz="2400" dirty="0" smtClean="0">
                <a:latin typeface="Helvetica"/>
                <a:ea typeface="Calibri"/>
                <a:cs typeface="Calibri"/>
              </a:rPr>
              <a:t>The </a:t>
            </a:r>
            <a:r>
              <a:rPr lang="en-AU" sz="2400" dirty="0">
                <a:latin typeface="Helvetica"/>
                <a:ea typeface="Calibri"/>
                <a:cs typeface="Calibri"/>
              </a:rPr>
              <a:t>term transaction is often used to collectively refer to all activities and events that are recorded in the accounting system. </a:t>
            </a:r>
          </a:p>
          <a:p>
            <a:endParaRPr lang="en-AU" sz="2400" dirty="0"/>
          </a:p>
        </p:txBody>
      </p:sp>
      <p:sp>
        <p:nvSpPr>
          <p:cNvPr id="5" name="Slide Number Placeholder 3"/>
          <p:cNvSpPr>
            <a:spLocks noGrp="1"/>
          </p:cNvSpPr>
          <p:nvPr>
            <p:ph type="sldNum" sz="quarter" idx="12"/>
          </p:nvPr>
        </p:nvSpPr>
        <p:spPr>
          <a:xfrm>
            <a:off x="8153400" y="6422064"/>
            <a:ext cx="762000" cy="365125"/>
          </a:xfrm>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9</a:t>
            </a:fld>
            <a:endParaRPr lang="en-AU" dirty="0">
              <a:latin typeface="Helvetica" pitchFamily="34" charset="0"/>
            </a:endParaRPr>
          </a:p>
        </p:txBody>
      </p:sp>
    </p:spTree>
    <p:extLst>
      <p:ext uri="{BB962C8B-B14F-4D97-AF65-F5344CB8AC3E}">
        <p14:creationId xmlns:p14="http://schemas.microsoft.com/office/powerpoint/2010/main" val="1947984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52600"/>
            <a:ext cx="8075240" cy="5105400"/>
          </a:xfrm>
        </p:spPr>
        <p:txBody>
          <a:bodyPr>
            <a:noAutofit/>
          </a:bodyPr>
          <a:lstStyle/>
          <a:p>
            <a:pPr marL="396000" indent="-396000">
              <a:spcBef>
                <a:spcPts val="600"/>
              </a:spcBef>
              <a:spcAft>
                <a:spcPts val="1200"/>
              </a:spcAft>
            </a:pPr>
            <a:r>
              <a:rPr lang="en-AU" sz="2200" dirty="0" smtClean="0">
                <a:latin typeface="Helvetica"/>
                <a:ea typeface="Times New Roman"/>
                <a:cs typeface="Times New Roman"/>
              </a:rPr>
              <a:t>Understanding </a:t>
            </a:r>
            <a:r>
              <a:rPr lang="en-AU" sz="2200" dirty="0">
                <a:latin typeface="Helvetica"/>
                <a:ea typeface="Times New Roman"/>
                <a:cs typeface="Times New Roman"/>
              </a:rPr>
              <a:t>transaction </a:t>
            </a:r>
            <a:r>
              <a:rPr lang="en-AU" sz="2200" dirty="0" smtClean="0">
                <a:latin typeface="Helvetica"/>
                <a:ea typeface="Times New Roman"/>
                <a:cs typeface="Times New Roman"/>
              </a:rPr>
              <a:t>principles</a:t>
            </a:r>
          </a:p>
          <a:p>
            <a:pPr marL="396000" indent="-396000">
              <a:spcBef>
                <a:spcPts val="600"/>
              </a:spcBef>
              <a:spcAft>
                <a:spcPts val="1200"/>
              </a:spcAft>
            </a:pPr>
            <a:r>
              <a:rPr lang="en-AU" sz="2200" dirty="0">
                <a:latin typeface="Helvetica"/>
                <a:ea typeface="Times New Roman"/>
                <a:cs typeface="Times New Roman"/>
              </a:rPr>
              <a:t>Categories of business </a:t>
            </a:r>
            <a:r>
              <a:rPr lang="en-AU" sz="2200" dirty="0" smtClean="0">
                <a:latin typeface="Helvetica"/>
                <a:ea typeface="Times New Roman"/>
                <a:cs typeface="Times New Roman"/>
              </a:rPr>
              <a:t>transactions (Activity)</a:t>
            </a:r>
          </a:p>
          <a:p>
            <a:pPr>
              <a:spcBef>
                <a:spcPts val="600"/>
              </a:spcBef>
              <a:spcAft>
                <a:spcPts val="1200"/>
              </a:spcAft>
            </a:pPr>
            <a:r>
              <a:rPr lang="en-US" sz="2200" dirty="0">
                <a:latin typeface="Helvetica"/>
                <a:ea typeface="Times New Roman"/>
                <a:cs typeface="HelveticaNeueLTStd-MdCn"/>
              </a:rPr>
              <a:t>Understand </a:t>
            </a:r>
            <a:r>
              <a:rPr lang="en-AU" sz="2200" dirty="0" smtClean="0">
                <a:latin typeface="Helvetica"/>
                <a:ea typeface="Times New Roman"/>
                <a:cs typeface="HelveticaNeueLTStd-MdCn"/>
              </a:rPr>
              <a:t>types </a:t>
            </a:r>
            <a:r>
              <a:rPr lang="en-AU" sz="2200" dirty="0">
                <a:latin typeface="Helvetica"/>
                <a:ea typeface="Times New Roman"/>
                <a:cs typeface="HelveticaNeueLTStd-MdCn"/>
              </a:rPr>
              <a:t>of transactions</a:t>
            </a:r>
            <a:endParaRPr lang="en-AU" sz="2200" dirty="0">
              <a:ea typeface="Times New Roman"/>
              <a:cs typeface="Times New Roman"/>
            </a:endParaRPr>
          </a:p>
          <a:p>
            <a:pPr>
              <a:spcBef>
                <a:spcPts val="600"/>
              </a:spcBef>
              <a:spcAft>
                <a:spcPts val="1200"/>
              </a:spcAft>
            </a:pPr>
            <a:r>
              <a:rPr lang="en-AU" sz="2200" dirty="0">
                <a:latin typeface="Helvetica"/>
                <a:ea typeface="Times New Roman"/>
                <a:cs typeface="Times New Roman"/>
              </a:rPr>
              <a:t>Activities associated with checking </a:t>
            </a:r>
            <a:r>
              <a:rPr lang="en-AU" sz="2200" dirty="0" smtClean="0">
                <a:latin typeface="Helvetica"/>
                <a:ea typeface="Times New Roman"/>
                <a:cs typeface="Times New Roman"/>
              </a:rPr>
              <a:t>transactions</a:t>
            </a:r>
          </a:p>
          <a:p>
            <a:pPr marL="396000" lvl="0" indent="-396000">
              <a:spcBef>
                <a:spcPts val="600"/>
              </a:spcBef>
              <a:spcAft>
                <a:spcPts val="1200"/>
              </a:spcAft>
              <a:buClr>
                <a:srgbClr val="7FD13B"/>
              </a:buClr>
            </a:pPr>
            <a:r>
              <a:rPr lang="en-US" sz="2200" dirty="0" smtClean="0">
                <a:solidFill>
                  <a:prstClr val="black"/>
                </a:solidFill>
                <a:latin typeface="Helvetica"/>
                <a:ea typeface="Times New Roman"/>
                <a:cs typeface="HelveticaNeueLTStd-Lt"/>
              </a:rPr>
              <a:t>Understand </a:t>
            </a:r>
            <a:r>
              <a:rPr lang="en-US" sz="2200" dirty="0">
                <a:solidFill>
                  <a:prstClr val="black"/>
                </a:solidFill>
                <a:latin typeface="Helvetica"/>
                <a:ea typeface="Times New Roman"/>
                <a:cs typeface="HelveticaNeueLTStd-Lt"/>
              </a:rPr>
              <a:t>types of ledger accounts </a:t>
            </a:r>
            <a:r>
              <a:rPr lang="en-AU" sz="2200" dirty="0">
                <a:solidFill>
                  <a:prstClr val="black"/>
                </a:solidFill>
                <a:latin typeface="Helvetica"/>
                <a:ea typeface="Times New Roman"/>
                <a:cs typeface="Times New Roman"/>
              </a:rPr>
              <a:t>(Activity)</a:t>
            </a:r>
            <a:endParaRPr lang="en-AU" sz="2200" dirty="0">
              <a:solidFill>
                <a:prstClr val="black"/>
              </a:solidFill>
              <a:latin typeface="Helvetica"/>
              <a:ea typeface="Times New Roman"/>
              <a:cs typeface="HelveticaNeueLTStd-Cn"/>
            </a:endParaRPr>
          </a:p>
          <a:p>
            <a:pPr lvl="0">
              <a:spcBef>
                <a:spcPts val="600"/>
              </a:spcBef>
              <a:spcAft>
                <a:spcPts val="1200"/>
              </a:spcAft>
              <a:buClr>
                <a:srgbClr val="7FD13B"/>
              </a:buClr>
            </a:pPr>
            <a:r>
              <a:rPr lang="en-AU" sz="2200" dirty="0">
                <a:solidFill>
                  <a:prstClr val="black"/>
                </a:solidFill>
                <a:latin typeface="Helvetica"/>
                <a:ea typeface="Times New Roman"/>
                <a:cs typeface="HelveticaNeueLTStd-Cn"/>
              </a:rPr>
              <a:t>Obtaining and checking source documents</a:t>
            </a:r>
            <a:r>
              <a:rPr lang="en-AU" sz="2200" dirty="0">
                <a:solidFill>
                  <a:prstClr val="black"/>
                </a:solidFill>
                <a:ea typeface="Times New Roman"/>
                <a:cs typeface="Times New Roman"/>
              </a:rPr>
              <a:t> </a:t>
            </a:r>
            <a:r>
              <a:rPr lang="en-AU" sz="2200" dirty="0">
                <a:solidFill>
                  <a:prstClr val="black"/>
                </a:solidFill>
                <a:latin typeface="Helvetica"/>
                <a:ea typeface="Times New Roman"/>
                <a:cs typeface="Times New Roman"/>
              </a:rPr>
              <a:t>(Activity</a:t>
            </a:r>
            <a:r>
              <a:rPr lang="en-AU" sz="2200" dirty="0" smtClean="0">
                <a:solidFill>
                  <a:prstClr val="black"/>
                </a:solidFill>
                <a:latin typeface="Helvetica"/>
                <a:ea typeface="Times New Roman"/>
                <a:cs typeface="Times New Roman"/>
              </a:rPr>
              <a:t>)</a:t>
            </a:r>
            <a:endParaRPr lang="en-AU" sz="2200" dirty="0" smtClean="0">
              <a:latin typeface="Helvetica"/>
              <a:ea typeface="Times New Roman"/>
              <a:cs typeface="Times New Roman"/>
            </a:endParaRPr>
          </a:p>
          <a:p>
            <a:pPr>
              <a:spcBef>
                <a:spcPts val="600"/>
              </a:spcBef>
              <a:spcAft>
                <a:spcPts val="1200"/>
              </a:spcAft>
            </a:pPr>
            <a:r>
              <a:rPr lang="en-AU" sz="2200" dirty="0" smtClean="0">
                <a:latin typeface="Helvetica"/>
                <a:ea typeface="Times New Roman"/>
                <a:cs typeface="Times New Roman"/>
              </a:rPr>
              <a:t>continued next slide……………</a:t>
            </a:r>
            <a:endParaRPr lang="en-AU" sz="2200" dirty="0">
              <a:ea typeface="Times New Roman"/>
              <a:cs typeface="Times New Roman"/>
            </a:endParaRPr>
          </a:p>
          <a:p>
            <a:pPr>
              <a:spcBef>
                <a:spcPts val="600"/>
              </a:spcBef>
              <a:spcAft>
                <a:spcPts val="1200"/>
              </a:spcAft>
            </a:pPr>
            <a:endParaRPr lang="en-AU" sz="2200" dirty="0" smtClean="0">
              <a:ea typeface="Times New Roman"/>
              <a:cs typeface="Times New Roman"/>
            </a:endParaRPr>
          </a:p>
          <a:p>
            <a:pPr>
              <a:spcBef>
                <a:spcPts val="600"/>
              </a:spcBef>
              <a:spcAft>
                <a:spcPts val="1200"/>
              </a:spcAft>
            </a:pPr>
            <a:endParaRPr lang="en-AU" sz="2200" dirty="0">
              <a:ea typeface="Times New Roman"/>
              <a:cs typeface="Times New Roman"/>
            </a:endParaRPr>
          </a:p>
          <a:p>
            <a:pPr>
              <a:spcBef>
                <a:spcPts val="600"/>
              </a:spcBef>
              <a:spcAft>
                <a:spcPts val="1200"/>
              </a:spcAft>
            </a:pPr>
            <a:endParaRPr lang="en-AU" sz="2200" dirty="0">
              <a:latin typeface="Helvetica"/>
              <a:ea typeface="Times New Roman"/>
              <a:cs typeface="Times New Roman"/>
            </a:endParaRPr>
          </a:p>
          <a:p>
            <a:pPr marL="396000" lvl="0" indent="-396000">
              <a:spcBef>
                <a:spcPts val="600"/>
              </a:spcBef>
              <a:spcAft>
                <a:spcPts val="1200"/>
              </a:spcAft>
              <a:buClr>
                <a:srgbClr val="7FD13B"/>
              </a:buClr>
            </a:pPr>
            <a:endParaRPr lang="en-AU" sz="2200" dirty="0" smtClean="0">
              <a:latin typeface="Helvetica"/>
              <a:ea typeface="Times New Roman"/>
              <a:cs typeface="Times New Roman"/>
            </a:endParaRPr>
          </a:p>
          <a:p>
            <a:pPr marL="396000" lvl="0" indent="-396000">
              <a:spcBef>
                <a:spcPts val="600"/>
              </a:spcBef>
              <a:spcAft>
                <a:spcPts val="1200"/>
              </a:spcAft>
              <a:buClr>
                <a:srgbClr val="7FD13B"/>
              </a:buClr>
            </a:pPr>
            <a:endParaRPr lang="en-AU" sz="2200" dirty="0">
              <a:latin typeface="Helvetica"/>
              <a:ea typeface="Times New Roman"/>
              <a:cs typeface="Times New Roman"/>
            </a:endParaRPr>
          </a:p>
          <a:p>
            <a:pPr>
              <a:spcBef>
                <a:spcPts val="600"/>
              </a:spcBef>
              <a:spcAft>
                <a:spcPts val="1200"/>
              </a:spcAft>
            </a:pPr>
            <a:endParaRPr lang="en-AU" sz="2200" dirty="0">
              <a:ea typeface="Times New Roman"/>
              <a:cs typeface="Times New Roman"/>
            </a:endParaRPr>
          </a:p>
          <a:p>
            <a:pPr marL="396000" indent="-396000">
              <a:spcBef>
                <a:spcPts val="600"/>
              </a:spcBef>
              <a:spcAft>
                <a:spcPts val="1200"/>
              </a:spcAft>
            </a:pPr>
            <a:endParaRPr lang="en-AU" sz="2200" dirty="0" smtClean="0">
              <a:latin typeface="Helvetica"/>
              <a:ea typeface="Times New Roman"/>
              <a:cs typeface="Times New Roman"/>
            </a:endParaRPr>
          </a:p>
          <a:p>
            <a:pPr marL="396000" indent="-396000">
              <a:spcBef>
                <a:spcPts val="600"/>
              </a:spcBef>
              <a:spcAft>
                <a:spcPts val="1200"/>
              </a:spcAft>
            </a:pPr>
            <a:endParaRPr lang="en-AU" sz="2200" dirty="0">
              <a:latin typeface="Helvetica"/>
              <a:ea typeface="Times New Roman"/>
              <a:cs typeface="Times New Roman"/>
            </a:endParaRPr>
          </a:p>
          <a:p>
            <a:pPr marL="935990" indent="-935990">
              <a:spcBef>
                <a:spcPts val="600"/>
              </a:spcBef>
              <a:spcAft>
                <a:spcPts val="1200"/>
              </a:spcAft>
            </a:pPr>
            <a:endParaRPr lang="en-AU" sz="2200" dirty="0" smtClean="0">
              <a:latin typeface="Helvetica"/>
              <a:ea typeface="Times New Roman"/>
              <a:cs typeface="Times New Roman"/>
            </a:endParaRPr>
          </a:p>
          <a:p>
            <a:pPr marL="935990" indent="-935990">
              <a:spcBef>
                <a:spcPts val="600"/>
              </a:spcBef>
              <a:spcAft>
                <a:spcPts val="1200"/>
              </a:spcAft>
            </a:pPr>
            <a:endParaRPr lang="en-AU" sz="2200" dirty="0">
              <a:latin typeface="Helvetica"/>
              <a:ea typeface="Times New Roman"/>
              <a:cs typeface="Times New Roman"/>
            </a:endParaRPr>
          </a:p>
          <a:p>
            <a:pPr marL="935990" indent="-935990">
              <a:spcBef>
                <a:spcPts val="600"/>
              </a:spcBef>
              <a:spcAft>
                <a:spcPts val="1200"/>
              </a:spcAft>
            </a:pPr>
            <a:endParaRPr lang="en-AU" sz="2200" dirty="0">
              <a:latin typeface="Helvetica"/>
              <a:ea typeface="Times New Roman"/>
              <a:cs typeface="Times New Roman"/>
            </a:endParaRPr>
          </a:p>
          <a:p>
            <a:pPr marL="36576" indent="0">
              <a:spcBef>
                <a:spcPts val="600"/>
              </a:spcBef>
              <a:spcAft>
                <a:spcPts val="1200"/>
              </a:spcAft>
              <a:buNone/>
            </a:pPr>
            <a:endParaRPr lang="en-AU" sz="2200" dirty="0">
              <a:ea typeface="Times New Roman"/>
              <a:cs typeface="Times New Roman"/>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10</a:t>
            </a:fld>
            <a:endParaRPr lang="en-US" dirty="0">
              <a:solidFill>
                <a:srgbClr val="4E5B6F">
                  <a:shade val="50000"/>
                </a:srgbClr>
              </a:solidFill>
              <a:latin typeface="Helvetica" pitchFamily="34" charset="0"/>
            </a:endParaRPr>
          </a:p>
        </p:txBody>
      </p:sp>
      <p:sp>
        <p:nvSpPr>
          <p:cNvPr id="8" name="Title 1"/>
          <p:cNvSpPr>
            <a:spLocks noGrp="1"/>
          </p:cNvSpPr>
          <p:nvPr>
            <p:ph type="title"/>
          </p:nvPr>
        </p:nvSpPr>
        <p:spPr>
          <a:xfrm>
            <a:off x="611560" y="332656"/>
            <a:ext cx="7467600" cy="1143000"/>
          </a:xfrm>
        </p:spPr>
        <p:txBody>
          <a:bodyPr>
            <a:normAutofit/>
          </a:bodyPr>
          <a:lstStyle/>
          <a:p>
            <a:pPr indent="-457200"/>
            <a:r>
              <a:rPr lang="en-AU" sz="2900" b="1" dirty="0" smtClean="0">
                <a:solidFill>
                  <a:srgbClr val="FF6600"/>
                </a:solidFill>
                <a:latin typeface="Helvetica" pitchFamily="34" charset="0"/>
              </a:rPr>
              <a:t>1.1	Check </a:t>
            </a:r>
            <a:r>
              <a:rPr lang="en-AU" sz="2900" b="1" dirty="0">
                <a:solidFill>
                  <a:srgbClr val="FF6600"/>
                </a:solidFill>
                <a:latin typeface="Helvetica" pitchFamily="34" charset="0"/>
              </a:rPr>
              <a:t>transactions </a:t>
            </a:r>
            <a:r>
              <a:rPr lang="en-AU" sz="2900" b="1" dirty="0" smtClean="0">
                <a:solidFill>
                  <a:srgbClr val="FF6600"/>
                </a:solidFill>
                <a:latin typeface="Helvetica" pitchFamily="34" charset="0"/>
              </a:rPr>
              <a:t>accord with 	enterprise </a:t>
            </a:r>
            <a:r>
              <a:rPr lang="en-AU" sz="2900" b="1" dirty="0">
                <a:solidFill>
                  <a:srgbClr val="FF6600"/>
                </a:solidFill>
                <a:latin typeface="Helvetica" pitchFamily="34" charset="0"/>
              </a:rPr>
              <a:t>procedures</a:t>
            </a:r>
            <a:endParaRPr lang="en-US" sz="2900" b="1" dirty="0">
              <a:solidFill>
                <a:srgbClr val="FF6600"/>
              </a:solidFill>
              <a:latin typeface="Helvetica" pitchFamily="34" charset="0"/>
            </a:endParaRPr>
          </a:p>
        </p:txBody>
      </p:sp>
      <p:pic>
        <p:nvPicPr>
          <p:cNvPr id="10" name="Picture 9" descr="I:\Overseas Projects\PHOTOS\2012\Front office 2012\shutterstock_104399909.jpg"/>
          <p:cNvPicPr/>
          <p:nvPr/>
        </p:nvPicPr>
        <p:blipFill>
          <a:blip r:embed="rId3" cstate="print"/>
          <a:srcRect/>
          <a:stretch>
            <a:fillRect/>
          </a:stretch>
        </p:blipFill>
        <p:spPr bwMode="auto">
          <a:xfrm>
            <a:off x="6858000" y="2895600"/>
            <a:ext cx="1578553" cy="1565564"/>
          </a:xfrm>
          <a:prstGeom prst="rect">
            <a:avLst/>
          </a:prstGeom>
          <a:noFill/>
          <a:ln w="9525">
            <a:noFill/>
            <a:miter lim="800000"/>
            <a:headEnd/>
            <a:tailEnd/>
          </a:ln>
        </p:spPr>
      </p:pic>
    </p:spTree>
    <p:extLst>
      <p:ext uri="{BB962C8B-B14F-4D97-AF65-F5344CB8AC3E}">
        <p14:creationId xmlns:p14="http://schemas.microsoft.com/office/powerpoint/2010/main" val="7554924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752600"/>
            <a:ext cx="6553200" cy="5029200"/>
          </a:xfrm>
        </p:spPr>
        <p:txBody>
          <a:bodyPr>
            <a:noAutofit/>
          </a:bodyPr>
          <a:lstStyle/>
          <a:p>
            <a:pPr marL="396000" lvl="0" indent="-396000">
              <a:lnSpc>
                <a:spcPct val="150000"/>
              </a:lnSpc>
              <a:spcBef>
                <a:spcPts val="600"/>
              </a:spcBef>
              <a:spcAft>
                <a:spcPts val="1000"/>
              </a:spcAft>
              <a:buClr>
                <a:srgbClr val="7FD13B"/>
              </a:buClr>
            </a:pPr>
            <a:r>
              <a:rPr lang="en-US" sz="2200" dirty="0" smtClean="0">
                <a:latin typeface="Helvetica"/>
                <a:ea typeface="Times New Roman"/>
                <a:cs typeface="HelveticaNeueLTStd-Lt"/>
              </a:rPr>
              <a:t>…….continued</a:t>
            </a:r>
          </a:p>
          <a:p>
            <a:pPr lvl="0">
              <a:lnSpc>
                <a:spcPct val="150000"/>
              </a:lnSpc>
              <a:spcBef>
                <a:spcPts val="600"/>
              </a:spcBef>
              <a:spcAft>
                <a:spcPts val="1000"/>
              </a:spcAft>
              <a:buClr>
                <a:srgbClr val="7FD13B"/>
              </a:buClr>
            </a:pPr>
            <a:r>
              <a:rPr lang="en-AU" sz="2200" dirty="0" smtClean="0">
                <a:latin typeface="Helvetica"/>
                <a:ea typeface="Times New Roman"/>
                <a:cs typeface="HelveticaNeueLTStd-Cn"/>
              </a:rPr>
              <a:t>Obtaining </a:t>
            </a:r>
            <a:r>
              <a:rPr lang="en-AU" sz="2200" dirty="0">
                <a:latin typeface="Helvetica"/>
                <a:ea typeface="Times New Roman"/>
                <a:cs typeface="HelveticaNeueLTStd-Cn"/>
              </a:rPr>
              <a:t>and checking source documents</a:t>
            </a:r>
          </a:p>
          <a:p>
            <a:pPr lvl="0">
              <a:lnSpc>
                <a:spcPct val="150000"/>
              </a:lnSpc>
              <a:spcBef>
                <a:spcPts val="600"/>
              </a:spcBef>
              <a:spcAft>
                <a:spcPts val="1000"/>
              </a:spcAft>
              <a:buClr>
                <a:srgbClr val="7FD13B"/>
              </a:buClr>
            </a:pPr>
            <a:r>
              <a:rPr lang="en-US" sz="2200" dirty="0">
                <a:latin typeface="Helvetica"/>
                <a:ea typeface="Times New Roman"/>
                <a:cs typeface="HelveticaNeueLTStd-Lt"/>
              </a:rPr>
              <a:t>Checking</a:t>
            </a:r>
            <a:r>
              <a:rPr lang="en-AU" sz="2200" dirty="0">
                <a:latin typeface="Helvetica"/>
                <a:ea typeface="Times New Roman"/>
                <a:cs typeface="HelveticaNeueLTStd-Lt"/>
              </a:rPr>
              <a:t> journal entries (Activity)</a:t>
            </a:r>
          </a:p>
          <a:p>
            <a:pPr lvl="0">
              <a:lnSpc>
                <a:spcPct val="150000"/>
              </a:lnSpc>
              <a:spcBef>
                <a:spcPts val="600"/>
              </a:spcBef>
              <a:spcAft>
                <a:spcPts val="1000"/>
              </a:spcAft>
              <a:buClr>
                <a:srgbClr val="7FD13B"/>
              </a:buClr>
            </a:pPr>
            <a:r>
              <a:rPr lang="en-AU" sz="2200" dirty="0" smtClean="0">
                <a:latin typeface="Helvetica"/>
                <a:ea typeface="Times New Roman"/>
                <a:cs typeface="HelveticaNeueLTStd-Cn"/>
              </a:rPr>
              <a:t>Cross-check </a:t>
            </a:r>
            <a:r>
              <a:rPr lang="en-AU" sz="2200" dirty="0">
                <a:latin typeface="Helvetica"/>
                <a:ea typeface="Times New Roman"/>
                <a:cs typeface="HelveticaNeueLTStd-Cn"/>
              </a:rPr>
              <a:t>source documentation with entered transaction to ensure </a:t>
            </a:r>
            <a:r>
              <a:rPr lang="en-AU" sz="2200" dirty="0" smtClean="0">
                <a:latin typeface="Helvetica"/>
                <a:ea typeface="Times New Roman"/>
                <a:cs typeface="HelveticaNeueLTStd-Cn"/>
              </a:rPr>
              <a:t>matching</a:t>
            </a:r>
            <a:endParaRPr lang="en-AU" sz="2200" dirty="0" smtClean="0">
              <a:latin typeface="Helvetica"/>
              <a:ea typeface="Times New Roman"/>
              <a:cs typeface="HelveticaNeueLTStd-Lt"/>
            </a:endParaRPr>
          </a:p>
          <a:p>
            <a:pPr>
              <a:lnSpc>
                <a:spcPct val="150000"/>
              </a:lnSpc>
              <a:spcBef>
                <a:spcPts val="600"/>
              </a:spcBef>
              <a:spcAft>
                <a:spcPts val="1000"/>
              </a:spcAft>
            </a:pPr>
            <a:r>
              <a:rPr lang="en-US" sz="2200" dirty="0">
                <a:latin typeface="Helvetica"/>
                <a:ea typeface="Times New Roman"/>
                <a:cs typeface="HelveticaNeueLTStd-Lt"/>
              </a:rPr>
              <a:t>Checking accuracy and completeness of </a:t>
            </a:r>
            <a:r>
              <a:rPr lang="en-US" sz="2200" dirty="0" smtClean="0">
                <a:latin typeface="Helvetica"/>
                <a:ea typeface="Times New Roman"/>
                <a:cs typeface="HelveticaNeueLTStd-Lt"/>
              </a:rPr>
              <a:t>transactions (Activity)</a:t>
            </a:r>
            <a:endParaRPr lang="en-AU" sz="2200" dirty="0">
              <a:ea typeface="Times New Roman"/>
              <a:cs typeface="Times New Roman"/>
            </a:endParaRPr>
          </a:p>
          <a:p>
            <a:pPr>
              <a:spcBef>
                <a:spcPts val="600"/>
              </a:spcBef>
              <a:spcAft>
                <a:spcPts val="1000"/>
              </a:spcAft>
            </a:pPr>
            <a:endParaRPr lang="en-AU" sz="2200" dirty="0">
              <a:ea typeface="Times New Roman"/>
              <a:cs typeface="Times New Roman"/>
            </a:endParaRPr>
          </a:p>
          <a:p>
            <a:pPr>
              <a:spcBef>
                <a:spcPts val="600"/>
              </a:spcBef>
              <a:spcAft>
                <a:spcPts val="1000"/>
              </a:spcAft>
            </a:pPr>
            <a:endParaRPr lang="en-AU" sz="2200" dirty="0"/>
          </a:p>
        </p:txBody>
      </p:sp>
      <p:sp>
        <p:nvSpPr>
          <p:cNvPr id="6" name="Title 1"/>
          <p:cNvSpPr>
            <a:spLocks noGrp="1"/>
          </p:cNvSpPr>
          <p:nvPr>
            <p:ph type="title"/>
          </p:nvPr>
        </p:nvSpPr>
        <p:spPr>
          <a:xfrm>
            <a:off x="611560" y="332656"/>
            <a:ext cx="7467600" cy="1143000"/>
          </a:xfrm>
        </p:spPr>
        <p:txBody>
          <a:bodyPr>
            <a:normAutofit/>
          </a:bodyPr>
          <a:lstStyle/>
          <a:p>
            <a:pPr indent="-457200"/>
            <a:r>
              <a:rPr lang="en-AU" sz="2900" b="1" dirty="0" smtClean="0">
                <a:solidFill>
                  <a:srgbClr val="FF6600"/>
                </a:solidFill>
                <a:latin typeface="Helvetica" pitchFamily="34" charset="0"/>
              </a:rPr>
              <a:t>1.1	Check </a:t>
            </a:r>
            <a:r>
              <a:rPr lang="en-AU" sz="2900" b="1" dirty="0">
                <a:solidFill>
                  <a:srgbClr val="FF6600"/>
                </a:solidFill>
                <a:latin typeface="Helvetica" pitchFamily="34" charset="0"/>
              </a:rPr>
              <a:t>transactions </a:t>
            </a:r>
            <a:r>
              <a:rPr lang="en-AU" sz="2900" b="1" dirty="0" smtClean="0">
                <a:solidFill>
                  <a:srgbClr val="FF6600"/>
                </a:solidFill>
                <a:latin typeface="Helvetica" pitchFamily="34" charset="0"/>
              </a:rPr>
              <a:t>accord with 	enterprise </a:t>
            </a:r>
            <a:r>
              <a:rPr lang="en-AU" sz="2900" b="1" dirty="0">
                <a:solidFill>
                  <a:srgbClr val="FF6600"/>
                </a:solidFill>
                <a:latin typeface="Helvetica" pitchFamily="34" charset="0"/>
              </a:rPr>
              <a:t>procedures</a:t>
            </a:r>
            <a:endParaRPr lang="en-US" sz="2900" b="1" dirty="0">
              <a:solidFill>
                <a:srgbClr val="FF6600"/>
              </a:solidFill>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8" name="Picture 7" descr="kr.jpg"/>
          <p:cNvPicPr/>
          <p:nvPr/>
        </p:nvPicPr>
        <p:blipFill>
          <a:blip r:embed="rId3" cstate="print"/>
          <a:stretch>
            <a:fillRect/>
          </a:stretch>
        </p:blipFill>
        <p:spPr>
          <a:xfrm>
            <a:off x="6934200" y="3048000"/>
            <a:ext cx="1957705" cy="1371600"/>
          </a:xfrm>
          <a:prstGeom prst="rect">
            <a:avLst/>
          </a:prstGeom>
        </p:spPr>
      </p:pic>
    </p:spTree>
    <p:extLst>
      <p:ext uri="{BB962C8B-B14F-4D97-AF65-F5344CB8AC3E}">
        <p14:creationId xmlns:p14="http://schemas.microsoft.com/office/powerpoint/2010/main" val="17209153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70440" cy="962744"/>
          </a:xfrm>
        </p:spPr>
        <p:txBody>
          <a:bodyPr>
            <a:normAutofit/>
          </a:bodyPr>
          <a:lstStyle/>
          <a:p>
            <a:r>
              <a:rPr lang="en-US" sz="3000" b="1" dirty="0">
                <a:solidFill>
                  <a:srgbClr val="FF6600"/>
                </a:solidFill>
                <a:latin typeface="Helvetica" pitchFamily="34" charset="0"/>
              </a:rPr>
              <a:t>1.2	Balance transactions accurately</a:t>
            </a:r>
          </a:p>
        </p:txBody>
      </p:sp>
      <p:sp>
        <p:nvSpPr>
          <p:cNvPr id="3" name="Content Placeholder 2"/>
          <p:cNvSpPr>
            <a:spLocks noGrp="1"/>
          </p:cNvSpPr>
          <p:nvPr>
            <p:ph idx="1"/>
          </p:nvPr>
        </p:nvSpPr>
        <p:spPr>
          <a:xfrm>
            <a:off x="611560" y="1417637"/>
            <a:ext cx="7084640" cy="4525963"/>
          </a:xfrm>
        </p:spPr>
        <p:txBody>
          <a:bodyPr>
            <a:noAutofit/>
          </a:bodyPr>
          <a:lstStyle/>
          <a:p>
            <a:pPr marL="36576" indent="0">
              <a:spcBef>
                <a:spcPts val="600"/>
              </a:spcBef>
              <a:spcAft>
                <a:spcPts val="600"/>
              </a:spcAft>
              <a:buNone/>
            </a:pPr>
            <a:r>
              <a:rPr lang="en-AU" sz="2100" dirty="0">
                <a:latin typeface="Helvetica"/>
                <a:ea typeface="Times New Roman"/>
                <a:cs typeface="Helvetica"/>
              </a:rPr>
              <a:t>After each source document has been posted to the appropriate journals, all accounts must be reconciled.</a:t>
            </a:r>
            <a:endParaRPr lang="en-AU" sz="2100" dirty="0">
              <a:ea typeface="Times New Roman"/>
              <a:cs typeface="Times New Roman"/>
            </a:endParaRPr>
          </a:p>
          <a:p>
            <a:pPr>
              <a:spcBef>
                <a:spcPts val="600"/>
              </a:spcBef>
              <a:spcAft>
                <a:spcPts val="600"/>
              </a:spcAft>
            </a:pPr>
            <a:r>
              <a:rPr lang="en-US" sz="2100" b="1" dirty="0">
                <a:latin typeface="Helvetica"/>
                <a:ea typeface="Times New Roman"/>
                <a:cs typeface="Helvetica"/>
              </a:rPr>
              <a:t>U</a:t>
            </a:r>
            <a:r>
              <a:rPr lang="en-AU" sz="2100" b="1" dirty="0">
                <a:latin typeface="Helvetica"/>
                <a:ea typeface="Times New Roman"/>
                <a:cs typeface="Helvetica"/>
              </a:rPr>
              <a:t>se reconciliation features of computerised systems correctly to assist the reconciliation process</a:t>
            </a:r>
            <a:endParaRPr lang="en-AU" sz="2100" dirty="0">
              <a:ea typeface="Times New Roman"/>
              <a:cs typeface="Times New Roman"/>
            </a:endParaRPr>
          </a:p>
          <a:p>
            <a:pPr marL="644652" lvl="1" indent="-342900">
              <a:spcBef>
                <a:spcPts val="600"/>
              </a:spcBef>
              <a:spcAft>
                <a:spcPts val="600"/>
              </a:spcAft>
              <a:buFont typeface="Symbol"/>
              <a:buChar char=""/>
            </a:pPr>
            <a:r>
              <a:rPr lang="en-AU" sz="2100" dirty="0">
                <a:latin typeface="Helvetica"/>
                <a:ea typeface="Times New Roman"/>
                <a:cs typeface="Helvetica"/>
              </a:rPr>
              <a:t>Establish, open. close and modify individual accounts</a:t>
            </a:r>
            <a:endParaRPr lang="en-AU" sz="2100" dirty="0">
              <a:ea typeface="Times New Roman"/>
              <a:cs typeface="Times New Roman"/>
            </a:endParaRPr>
          </a:p>
          <a:p>
            <a:pPr marL="644652" lvl="1" indent="-342900">
              <a:spcBef>
                <a:spcPts val="600"/>
              </a:spcBef>
              <a:spcAft>
                <a:spcPts val="600"/>
              </a:spcAft>
              <a:buFont typeface="Symbol"/>
              <a:buChar char=""/>
            </a:pPr>
            <a:r>
              <a:rPr lang="en-AU" sz="2100" dirty="0">
                <a:latin typeface="Helvetica"/>
                <a:ea typeface="Times New Roman"/>
                <a:cs typeface="Helvetica"/>
              </a:rPr>
              <a:t>Establish, open, close and modify journals</a:t>
            </a:r>
            <a:endParaRPr lang="en-AU" sz="2100" dirty="0">
              <a:ea typeface="Times New Roman"/>
              <a:cs typeface="Times New Roman"/>
            </a:endParaRPr>
          </a:p>
          <a:p>
            <a:pPr marL="644652" lvl="1" indent="-342900">
              <a:spcBef>
                <a:spcPts val="600"/>
              </a:spcBef>
              <a:spcAft>
                <a:spcPts val="600"/>
              </a:spcAft>
              <a:buFont typeface="Symbol"/>
              <a:buChar char=""/>
            </a:pPr>
            <a:r>
              <a:rPr lang="en-AU" sz="2100" dirty="0">
                <a:latin typeface="Helvetica"/>
                <a:ea typeface="Times New Roman"/>
                <a:cs typeface="Helvetica"/>
              </a:rPr>
              <a:t>Make entries – debits and credits, dates, details etc.</a:t>
            </a:r>
            <a:endParaRPr lang="en-AU" sz="2100" dirty="0">
              <a:ea typeface="Times New Roman"/>
              <a:cs typeface="Times New Roman"/>
            </a:endParaRPr>
          </a:p>
          <a:p>
            <a:pPr marL="644652" lvl="1" indent="-342900">
              <a:spcBef>
                <a:spcPts val="600"/>
              </a:spcBef>
              <a:spcAft>
                <a:spcPts val="600"/>
              </a:spcAft>
              <a:buFont typeface="Symbol"/>
              <a:buChar char=""/>
            </a:pPr>
            <a:r>
              <a:rPr lang="en-AU" sz="2100" dirty="0">
                <a:latin typeface="Helvetica"/>
                <a:ea typeface="Times New Roman"/>
                <a:cs typeface="Helvetica"/>
              </a:rPr>
              <a:t>Calculate balances including totals and cumulative (or ‘to-date’) </a:t>
            </a:r>
            <a:r>
              <a:rPr lang="en-AU" sz="2100" dirty="0" smtClean="0">
                <a:latin typeface="Helvetica"/>
                <a:ea typeface="Times New Roman"/>
                <a:cs typeface="Helvetica"/>
              </a:rPr>
              <a:t>totals</a:t>
            </a:r>
          </a:p>
          <a:p>
            <a:pPr marL="644652" lvl="1" indent="-342900">
              <a:spcBef>
                <a:spcPts val="600"/>
              </a:spcBef>
              <a:spcAft>
                <a:spcPts val="600"/>
              </a:spcAft>
              <a:buFont typeface="Symbol"/>
              <a:buChar char=""/>
            </a:pPr>
            <a:r>
              <a:rPr lang="en-AU" sz="2100" dirty="0" smtClean="0">
                <a:latin typeface="Helvetica"/>
                <a:ea typeface="Times New Roman"/>
                <a:cs typeface="Times New Roman"/>
              </a:rPr>
              <a:t>Continued…..see Trainee manual</a:t>
            </a:r>
            <a:endParaRPr lang="en-AU" sz="2100" dirty="0">
              <a:ea typeface="Times New Roman"/>
              <a:cs typeface="Times New Roman"/>
            </a:endParaRPr>
          </a:p>
          <a:p>
            <a:pPr marL="360000" indent="-360000">
              <a:spcBef>
                <a:spcPts val="600"/>
              </a:spcBef>
              <a:spcAft>
                <a:spcPts val="6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6" name="Picture 5" descr="shutterstock_108296237.jpg"/>
          <p:cNvPicPr/>
          <p:nvPr/>
        </p:nvPicPr>
        <p:blipFill>
          <a:blip r:embed="rId3" cstate="print"/>
          <a:stretch>
            <a:fillRect/>
          </a:stretch>
        </p:blipFill>
        <p:spPr>
          <a:xfrm>
            <a:off x="7086600" y="2895600"/>
            <a:ext cx="1842654" cy="121920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70440" cy="962744"/>
          </a:xfrm>
        </p:spPr>
        <p:txBody>
          <a:bodyPr>
            <a:normAutofit/>
          </a:bodyPr>
          <a:lstStyle/>
          <a:p>
            <a:r>
              <a:rPr lang="en-US" sz="3000" b="1" dirty="0">
                <a:solidFill>
                  <a:srgbClr val="FF6600"/>
                </a:solidFill>
                <a:latin typeface="Helvetica" pitchFamily="34" charset="0"/>
              </a:rPr>
              <a:t>1.2	Balance transactions accurately</a:t>
            </a:r>
          </a:p>
        </p:txBody>
      </p:sp>
      <p:sp>
        <p:nvSpPr>
          <p:cNvPr id="3" name="Content Placeholder 2"/>
          <p:cNvSpPr>
            <a:spLocks noGrp="1"/>
          </p:cNvSpPr>
          <p:nvPr>
            <p:ph idx="1"/>
          </p:nvPr>
        </p:nvSpPr>
        <p:spPr>
          <a:xfrm>
            <a:off x="611560" y="1556792"/>
            <a:ext cx="7467600" cy="4525963"/>
          </a:xfrm>
        </p:spPr>
        <p:txBody>
          <a:bodyPr>
            <a:noAutofit/>
          </a:bodyPr>
          <a:lstStyle/>
          <a:p>
            <a:pPr marL="396000" indent="-396000">
              <a:spcBef>
                <a:spcPts val="1200"/>
              </a:spcBef>
              <a:spcAft>
                <a:spcPts val="1200"/>
              </a:spcAft>
            </a:pPr>
            <a:r>
              <a:rPr lang="en-AU" sz="2200" b="1" dirty="0" smtClean="0">
                <a:latin typeface="Helvetica"/>
                <a:ea typeface="Times New Roman"/>
                <a:cs typeface="Times New Roman"/>
              </a:rPr>
              <a:t>Types </a:t>
            </a:r>
            <a:r>
              <a:rPr lang="en-AU" sz="2200" b="1" dirty="0">
                <a:latin typeface="Helvetica"/>
                <a:ea typeface="Times New Roman"/>
                <a:cs typeface="Times New Roman"/>
              </a:rPr>
              <a:t>of </a:t>
            </a:r>
            <a:r>
              <a:rPr lang="en-AU" sz="2200" b="1" dirty="0" smtClean="0">
                <a:latin typeface="Helvetica"/>
                <a:ea typeface="Times New Roman"/>
                <a:cs typeface="Times New Roman"/>
              </a:rPr>
              <a:t>reconciliations</a:t>
            </a:r>
          </a:p>
          <a:p>
            <a:pPr marL="396000" indent="-396000">
              <a:spcBef>
                <a:spcPts val="1200"/>
              </a:spcBef>
              <a:spcAft>
                <a:spcPts val="1200"/>
              </a:spcAft>
              <a:buNone/>
            </a:pPr>
            <a:r>
              <a:rPr lang="en-AU" sz="2200" b="1" dirty="0" smtClean="0">
                <a:latin typeface="Helvetica"/>
                <a:ea typeface="Times New Roman"/>
                <a:cs typeface="Times New Roman"/>
              </a:rPr>
              <a:t>	</a:t>
            </a:r>
            <a:r>
              <a:rPr lang="en-AU" sz="2200" dirty="0" smtClean="0">
                <a:latin typeface="Helvetica"/>
                <a:ea typeface="Times New Roman"/>
                <a:cs typeface="Helvetica"/>
              </a:rPr>
              <a:t>Examples </a:t>
            </a:r>
            <a:r>
              <a:rPr lang="en-AU" sz="2200" dirty="0">
                <a:latin typeface="Helvetica"/>
                <a:ea typeface="Times New Roman"/>
                <a:cs typeface="Helvetica"/>
              </a:rPr>
              <a:t>of reconciliations can include:</a:t>
            </a:r>
            <a:endParaRPr lang="en-AU" sz="2200" dirty="0">
              <a:ea typeface="Times New Roman"/>
              <a:cs typeface="Times New Roman"/>
            </a:endParaRPr>
          </a:p>
          <a:p>
            <a:pPr marL="731520" lvl="1" indent="-342900">
              <a:lnSpc>
                <a:spcPct val="115000"/>
              </a:lnSpc>
              <a:spcBef>
                <a:spcPts val="400"/>
              </a:spcBef>
              <a:spcAft>
                <a:spcPts val="600"/>
              </a:spcAft>
              <a:buFont typeface="Symbol"/>
              <a:buChar char=""/>
            </a:pPr>
            <a:r>
              <a:rPr lang="en-AU" sz="2200" dirty="0">
                <a:latin typeface="Helvetica"/>
                <a:ea typeface="Times New Roman"/>
                <a:cs typeface="Helvetica"/>
              </a:rPr>
              <a:t>Creditor statements</a:t>
            </a:r>
            <a:endParaRPr lang="en-AU" sz="2200" dirty="0">
              <a:ea typeface="Times New Roman"/>
              <a:cs typeface="Times New Roman"/>
            </a:endParaRPr>
          </a:p>
          <a:p>
            <a:pPr marL="731520" lvl="1" indent="-342900">
              <a:lnSpc>
                <a:spcPct val="115000"/>
              </a:lnSpc>
              <a:spcBef>
                <a:spcPts val="400"/>
              </a:spcBef>
              <a:spcAft>
                <a:spcPts val="600"/>
              </a:spcAft>
              <a:buFont typeface="Symbol"/>
              <a:buChar char=""/>
            </a:pPr>
            <a:r>
              <a:rPr lang="en-AU" sz="2200" dirty="0">
                <a:latin typeface="Helvetica"/>
                <a:ea typeface="Times New Roman"/>
                <a:cs typeface="Helvetica"/>
              </a:rPr>
              <a:t>Petty cash</a:t>
            </a:r>
            <a:endParaRPr lang="en-AU" sz="2200" dirty="0">
              <a:ea typeface="Times New Roman"/>
              <a:cs typeface="Times New Roman"/>
            </a:endParaRPr>
          </a:p>
          <a:p>
            <a:pPr marL="731520" lvl="1" indent="-342900">
              <a:lnSpc>
                <a:spcPct val="115000"/>
              </a:lnSpc>
              <a:spcBef>
                <a:spcPts val="400"/>
              </a:spcBef>
              <a:spcAft>
                <a:spcPts val="600"/>
              </a:spcAft>
              <a:buFont typeface="Symbol"/>
              <a:buChar char=""/>
            </a:pPr>
            <a:r>
              <a:rPr lang="en-AU" sz="2200" dirty="0">
                <a:latin typeface="Helvetica"/>
                <a:ea typeface="Times New Roman"/>
                <a:cs typeface="Helvetica"/>
              </a:rPr>
              <a:t>Foreign currency</a:t>
            </a:r>
            <a:endParaRPr lang="en-AU" sz="2200" dirty="0">
              <a:ea typeface="Times New Roman"/>
              <a:cs typeface="Times New Roman"/>
            </a:endParaRPr>
          </a:p>
          <a:p>
            <a:pPr marL="731520" lvl="1" indent="-342900">
              <a:lnSpc>
                <a:spcPct val="115000"/>
              </a:lnSpc>
              <a:spcBef>
                <a:spcPts val="400"/>
              </a:spcBef>
              <a:spcAft>
                <a:spcPts val="600"/>
              </a:spcAft>
              <a:buFont typeface="Symbol"/>
              <a:buChar char=""/>
            </a:pPr>
            <a:r>
              <a:rPr lang="en-AU" sz="2200" dirty="0">
                <a:latin typeface="Helvetica"/>
                <a:ea typeface="Times New Roman"/>
                <a:cs typeface="Helvetica"/>
              </a:rPr>
              <a:t>Bank reconciliations</a:t>
            </a:r>
            <a:endParaRPr lang="en-AU" sz="2200" dirty="0">
              <a:ea typeface="Times New Roman"/>
              <a:cs typeface="Times New Roman"/>
            </a:endParaRPr>
          </a:p>
          <a:p>
            <a:pPr marL="731520" lvl="1" indent="-342900">
              <a:lnSpc>
                <a:spcPct val="115000"/>
              </a:lnSpc>
              <a:spcBef>
                <a:spcPts val="400"/>
              </a:spcBef>
              <a:spcAft>
                <a:spcPts val="600"/>
              </a:spcAft>
              <a:buFont typeface="Symbol"/>
              <a:buChar char=""/>
            </a:pPr>
            <a:r>
              <a:rPr lang="en-AU" sz="2200" dirty="0">
                <a:latin typeface="Helvetica"/>
                <a:ea typeface="Times New Roman"/>
                <a:cs typeface="Helvetica"/>
              </a:rPr>
              <a:t>Guest accounts/folios</a:t>
            </a:r>
            <a:endParaRPr lang="en-AU" sz="2200" dirty="0">
              <a:ea typeface="Times New Roman"/>
              <a:cs typeface="Times New Roman"/>
            </a:endParaRPr>
          </a:p>
          <a:p>
            <a:pPr marL="731520" lvl="1" indent="-342900">
              <a:lnSpc>
                <a:spcPct val="115000"/>
              </a:lnSpc>
              <a:spcBef>
                <a:spcPts val="400"/>
              </a:spcBef>
              <a:spcAft>
                <a:spcPts val="600"/>
              </a:spcAft>
              <a:buFont typeface="Symbol"/>
              <a:buChar char=""/>
            </a:pPr>
            <a:r>
              <a:rPr lang="en-AU" sz="2200" dirty="0">
                <a:latin typeface="Helvetica"/>
                <a:ea typeface="Times New Roman"/>
                <a:cs typeface="Helvetica"/>
              </a:rPr>
              <a:t>Travel files</a:t>
            </a:r>
            <a:endParaRPr lang="en-AU" sz="2200" dirty="0">
              <a:ea typeface="Times New Roman"/>
              <a:cs typeface="Times New Roman"/>
            </a:endParaRPr>
          </a:p>
          <a:p>
            <a:pPr marL="731520" lvl="1" indent="-342900">
              <a:lnSpc>
                <a:spcPct val="115000"/>
              </a:lnSpc>
              <a:spcBef>
                <a:spcPts val="400"/>
              </a:spcBef>
              <a:spcAft>
                <a:spcPts val="600"/>
              </a:spcAft>
              <a:buFont typeface="Symbol"/>
              <a:buChar char=""/>
            </a:pPr>
            <a:r>
              <a:rPr lang="en-AU" sz="2200" dirty="0" smtClean="0">
                <a:latin typeface="Helvetica"/>
                <a:ea typeface="Times New Roman"/>
                <a:cs typeface="Helvetica"/>
              </a:rPr>
              <a:t>Taxation</a:t>
            </a:r>
            <a:endParaRPr lang="en-AU" sz="2200" dirty="0">
              <a:ea typeface="Times New Roman"/>
              <a:cs typeface="Times New Roman"/>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13</a:t>
            </a:fld>
            <a:endParaRPr lang="en-US" dirty="0">
              <a:solidFill>
                <a:srgbClr val="4E5B6F">
                  <a:shade val="50000"/>
                </a:srgbClr>
              </a:solidFill>
              <a:latin typeface="Helvetica" pitchFamily="34" charset="0"/>
            </a:endParaRPr>
          </a:p>
        </p:txBody>
      </p:sp>
      <p:pic>
        <p:nvPicPr>
          <p:cNvPr id="6" name="Picture 5" descr="fo.jpg"/>
          <p:cNvPicPr/>
          <p:nvPr/>
        </p:nvPicPr>
        <p:blipFill>
          <a:blip r:embed="rId3" cstate="print"/>
          <a:stretch>
            <a:fillRect/>
          </a:stretch>
        </p:blipFill>
        <p:spPr>
          <a:xfrm>
            <a:off x="5867400" y="2743200"/>
            <a:ext cx="2279030" cy="1524000"/>
          </a:xfrm>
          <a:prstGeom prst="rect">
            <a:avLst/>
          </a:prstGeom>
        </p:spPr>
      </p:pic>
    </p:spTree>
    <p:extLst>
      <p:ext uri="{BB962C8B-B14F-4D97-AF65-F5344CB8AC3E}">
        <p14:creationId xmlns:p14="http://schemas.microsoft.com/office/powerpoint/2010/main" val="21308297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70440" cy="962744"/>
          </a:xfrm>
        </p:spPr>
        <p:txBody>
          <a:bodyPr>
            <a:normAutofit/>
          </a:bodyPr>
          <a:lstStyle/>
          <a:p>
            <a:r>
              <a:rPr lang="en-US" sz="3000" b="1" dirty="0">
                <a:solidFill>
                  <a:srgbClr val="FF6600"/>
                </a:solidFill>
                <a:latin typeface="Helvetica" pitchFamily="34" charset="0"/>
              </a:rPr>
              <a:t>1.2	Balance transactions accurately</a:t>
            </a:r>
          </a:p>
        </p:txBody>
      </p:sp>
      <p:sp>
        <p:nvSpPr>
          <p:cNvPr id="3" name="Content Placeholder 2"/>
          <p:cNvSpPr>
            <a:spLocks noGrp="1"/>
          </p:cNvSpPr>
          <p:nvPr>
            <p:ph idx="1"/>
          </p:nvPr>
        </p:nvSpPr>
        <p:spPr>
          <a:xfrm>
            <a:off x="611560" y="1556792"/>
            <a:ext cx="7467600" cy="4525963"/>
          </a:xfrm>
        </p:spPr>
        <p:txBody>
          <a:bodyPr>
            <a:normAutofit/>
          </a:bodyPr>
          <a:lstStyle/>
          <a:p>
            <a:pPr indent="-457200">
              <a:spcBef>
                <a:spcPts val="600"/>
              </a:spcBef>
              <a:spcAft>
                <a:spcPts val="1200"/>
              </a:spcAft>
            </a:pPr>
            <a:r>
              <a:rPr lang="en-AU" sz="2200" b="1" dirty="0" smtClean="0">
                <a:latin typeface="Helvetica"/>
                <a:ea typeface="Times New Roman"/>
                <a:cs typeface="HelveticaNeueLTStd-Cn"/>
              </a:rPr>
              <a:t>Account </a:t>
            </a:r>
            <a:r>
              <a:rPr lang="en-AU" sz="2200" b="1" dirty="0">
                <a:latin typeface="Helvetica"/>
                <a:ea typeface="Times New Roman"/>
                <a:cs typeface="HelveticaNeueLTStd-Cn"/>
              </a:rPr>
              <a:t>summaries/balances</a:t>
            </a:r>
            <a:endParaRPr lang="en-AU" sz="2200" dirty="0">
              <a:ea typeface="Times New Roman"/>
              <a:cs typeface="Times New Roman"/>
            </a:endParaRPr>
          </a:p>
          <a:p>
            <a:pPr marL="396000" indent="-457200">
              <a:spcBef>
                <a:spcPts val="600"/>
              </a:spcBef>
              <a:spcAft>
                <a:spcPts val="1200"/>
              </a:spcAft>
            </a:pPr>
            <a:r>
              <a:rPr lang="en-AU" sz="2200" b="1" dirty="0">
                <a:latin typeface="Helvetica"/>
                <a:ea typeface="Times New Roman"/>
                <a:cs typeface="Times New Roman"/>
              </a:rPr>
              <a:t>Perform </a:t>
            </a:r>
            <a:r>
              <a:rPr lang="en-AU" sz="2200" b="1" dirty="0" smtClean="0">
                <a:latin typeface="Helvetica"/>
                <a:ea typeface="Times New Roman"/>
                <a:cs typeface="Times New Roman"/>
              </a:rPr>
              <a:t>reconciliations</a:t>
            </a:r>
          </a:p>
          <a:p>
            <a:pPr lvl="1">
              <a:spcBef>
                <a:spcPts val="600"/>
              </a:spcBef>
              <a:spcAft>
                <a:spcPts val="1200"/>
              </a:spcAft>
            </a:pPr>
            <a:r>
              <a:rPr lang="en-AU" sz="2200" dirty="0">
                <a:latin typeface="Helvetica"/>
                <a:ea typeface="Times New Roman"/>
                <a:cs typeface="Times New Roman"/>
              </a:rPr>
              <a:t>Account Receivable</a:t>
            </a:r>
            <a:endParaRPr lang="en-AU" sz="2200" i="1" dirty="0">
              <a:latin typeface="Helvetica"/>
              <a:ea typeface="Times New Roman"/>
              <a:cs typeface="Times New Roman"/>
            </a:endParaRPr>
          </a:p>
          <a:p>
            <a:pPr lvl="1">
              <a:spcBef>
                <a:spcPts val="600"/>
              </a:spcBef>
              <a:spcAft>
                <a:spcPts val="1200"/>
              </a:spcAft>
            </a:pPr>
            <a:r>
              <a:rPr lang="en-AU" sz="2200" dirty="0">
                <a:latin typeface="Helvetica"/>
                <a:ea typeface="Times New Roman"/>
                <a:cs typeface="Times New Roman"/>
              </a:rPr>
              <a:t>Accounts Payable</a:t>
            </a:r>
            <a:endParaRPr lang="en-AU" sz="2200" i="1" dirty="0">
              <a:latin typeface="Helvetica"/>
              <a:ea typeface="Times New Roman"/>
              <a:cs typeface="Times New Roman"/>
            </a:endParaRPr>
          </a:p>
          <a:p>
            <a:pPr lvl="1">
              <a:spcBef>
                <a:spcPts val="600"/>
              </a:spcBef>
              <a:spcAft>
                <a:spcPts val="1200"/>
              </a:spcAft>
            </a:pPr>
            <a:r>
              <a:rPr lang="en-AU" sz="2200" dirty="0">
                <a:latin typeface="Helvetica"/>
                <a:ea typeface="Times New Roman"/>
                <a:cs typeface="Times New Roman"/>
              </a:rPr>
              <a:t>Inventory</a:t>
            </a:r>
            <a:endParaRPr lang="en-AU" sz="2200" i="1" dirty="0">
              <a:latin typeface="Helvetica"/>
              <a:ea typeface="Times New Roman"/>
              <a:cs typeface="Times New Roman"/>
            </a:endParaRPr>
          </a:p>
          <a:p>
            <a:pPr lvl="1">
              <a:spcBef>
                <a:spcPts val="600"/>
              </a:spcBef>
              <a:spcAft>
                <a:spcPts val="1200"/>
              </a:spcAft>
            </a:pPr>
            <a:r>
              <a:rPr lang="en-AU" sz="2200" dirty="0">
                <a:latin typeface="Helvetica"/>
                <a:ea typeface="Times New Roman"/>
                <a:cs typeface="Times New Roman"/>
              </a:rPr>
              <a:t>Fixed assets</a:t>
            </a:r>
            <a:endParaRPr lang="en-AU" sz="2200" i="1" dirty="0">
              <a:latin typeface="Helvetica"/>
              <a:ea typeface="Times New Roman"/>
              <a:cs typeface="Times New Roman"/>
            </a:endParaRPr>
          </a:p>
          <a:p>
            <a:pPr marL="935990" indent="-935990">
              <a:spcBef>
                <a:spcPts val="600"/>
              </a:spcBef>
              <a:spcAft>
                <a:spcPts val="1200"/>
              </a:spcAft>
            </a:pPr>
            <a:endParaRPr lang="en-AU" sz="2200" b="1" dirty="0">
              <a:latin typeface="Helvetica"/>
              <a:ea typeface="Times New Roman"/>
              <a:cs typeface="Times New Roman"/>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14</a:t>
            </a:fld>
            <a:endParaRPr lang="en-US" dirty="0">
              <a:solidFill>
                <a:srgbClr val="4E5B6F">
                  <a:shade val="50000"/>
                </a:srgbClr>
              </a:solidFill>
              <a:latin typeface="Helvetica" pitchFamily="34" charset="0"/>
            </a:endParaRPr>
          </a:p>
        </p:txBody>
      </p:sp>
      <p:pic>
        <p:nvPicPr>
          <p:cNvPr id="6" name="Picture 5" descr="W553_men_checking_file_51616180 NH.jpg"/>
          <p:cNvPicPr/>
          <p:nvPr/>
        </p:nvPicPr>
        <p:blipFill>
          <a:blip r:embed="rId3" cstate="print"/>
          <a:stretch>
            <a:fillRect/>
          </a:stretch>
        </p:blipFill>
        <p:spPr>
          <a:xfrm>
            <a:off x="6172200" y="2590800"/>
            <a:ext cx="2062103" cy="1371600"/>
          </a:xfrm>
          <a:prstGeom prst="rect">
            <a:avLst/>
          </a:prstGeom>
        </p:spPr>
      </p:pic>
    </p:spTree>
    <p:extLst>
      <p:ext uri="{BB962C8B-B14F-4D97-AF65-F5344CB8AC3E}">
        <p14:creationId xmlns:p14="http://schemas.microsoft.com/office/powerpoint/2010/main" val="282360130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70440" cy="962744"/>
          </a:xfrm>
        </p:spPr>
        <p:txBody>
          <a:bodyPr>
            <a:normAutofit/>
          </a:bodyPr>
          <a:lstStyle/>
          <a:p>
            <a:r>
              <a:rPr lang="en-US" sz="3000" b="1" dirty="0">
                <a:solidFill>
                  <a:srgbClr val="FF6600"/>
                </a:solidFill>
                <a:latin typeface="Helvetica" pitchFamily="34" charset="0"/>
              </a:rPr>
              <a:t>1.2	Balance transactions accurately</a:t>
            </a:r>
          </a:p>
        </p:txBody>
      </p:sp>
      <p:sp>
        <p:nvSpPr>
          <p:cNvPr id="3" name="Content Placeholder 2"/>
          <p:cNvSpPr>
            <a:spLocks noGrp="1"/>
          </p:cNvSpPr>
          <p:nvPr>
            <p:ph idx="1"/>
          </p:nvPr>
        </p:nvSpPr>
        <p:spPr>
          <a:xfrm>
            <a:off x="611560" y="1556792"/>
            <a:ext cx="7467600" cy="4525963"/>
          </a:xfrm>
        </p:spPr>
        <p:txBody>
          <a:bodyPr>
            <a:normAutofit/>
          </a:bodyPr>
          <a:lstStyle/>
          <a:p>
            <a:pPr marL="396000" lvl="0" indent="-457200">
              <a:spcBef>
                <a:spcPts val="600"/>
              </a:spcBef>
              <a:spcAft>
                <a:spcPts val="1200"/>
              </a:spcAft>
              <a:buClr>
                <a:srgbClr val="7FD13B"/>
              </a:buClr>
            </a:pPr>
            <a:r>
              <a:rPr lang="en-AU" sz="2200" b="1" dirty="0" smtClean="0">
                <a:solidFill>
                  <a:prstClr val="black"/>
                </a:solidFill>
                <a:latin typeface="Helvetica"/>
                <a:ea typeface="Times New Roman"/>
                <a:cs typeface="Times New Roman"/>
              </a:rPr>
              <a:t>Perform bank reconciliations</a:t>
            </a:r>
            <a:endParaRPr lang="en-AU" sz="2200" b="1" dirty="0" smtClean="0">
              <a:latin typeface="Helvetica"/>
              <a:ea typeface="Times New Roman"/>
              <a:cs typeface="Times New Roman"/>
            </a:endParaRPr>
          </a:p>
          <a:p>
            <a:pPr marL="0" indent="0">
              <a:spcBef>
                <a:spcPts val="600"/>
              </a:spcBef>
              <a:spcAft>
                <a:spcPts val="1200"/>
              </a:spcAft>
              <a:buClr>
                <a:srgbClr val="7FD13B"/>
              </a:buClr>
              <a:buNone/>
            </a:pPr>
            <a:r>
              <a:rPr lang="en-AU" sz="2200" dirty="0" smtClean="0">
                <a:latin typeface="Helvetica"/>
                <a:ea typeface="Calibri"/>
                <a:cs typeface="Calibri"/>
              </a:rPr>
              <a:t>The </a:t>
            </a:r>
            <a:r>
              <a:rPr lang="en-AU" sz="2200" dirty="0">
                <a:latin typeface="Helvetica"/>
                <a:ea typeface="Calibri"/>
                <a:cs typeface="Calibri"/>
              </a:rPr>
              <a:t>balance in the bank account and the ledger account should be the same. However, in practice, at any particular point in time, this rarely occurs.</a:t>
            </a:r>
          </a:p>
          <a:p>
            <a:pPr marL="36576" indent="0">
              <a:spcBef>
                <a:spcPts val="600"/>
              </a:spcBef>
              <a:spcAft>
                <a:spcPts val="1200"/>
              </a:spcAft>
              <a:buNone/>
            </a:pPr>
            <a:r>
              <a:rPr lang="en-AU" sz="2200" dirty="0">
                <a:latin typeface="Helvetica"/>
                <a:ea typeface="Calibri"/>
                <a:cs typeface="Calibri"/>
              </a:rPr>
              <a:t>Some of the possible reasons for this difference may be:</a:t>
            </a:r>
          </a:p>
          <a:p>
            <a:pPr marL="396000" lvl="1" indent="-396000">
              <a:spcBef>
                <a:spcPts val="600"/>
              </a:spcBef>
              <a:spcAft>
                <a:spcPts val="900"/>
              </a:spcAft>
              <a:buSzPct val="80000"/>
              <a:buFont typeface="Wingdings 2"/>
              <a:buChar char=""/>
            </a:pPr>
            <a:r>
              <a:rPr lang="en-AU" sz="2200" dirty="0">
                <a:latin typeface="Helvetica"/>
                <a:ea typeface="Times New Roman"/>
                <a:cs typeface="Times New Roman"/>
              </a:rPr>
              <a:t>Timing differences </a:t>
            </a:r>
          </a:p>
          <a:p>
            <a:pPr marL="396000" lvl="1" indent="-396000">
              <a:spcBef>
                <a:spcPts val="600"/>
              </a:spcBef>
              <a:spcAft>
                <a:spcPts val="900"/>
              </a:spcAft>
              <a:buSzPct val="80000"/>
              <a:buFont typeface="Wingdings 2"/>
              <a:buChar char=""/>
            </a:pPr>
            <a:r>
              <a:rPr lang="en-AU" sz="2200" dirty="0" smtClean="0">
                <a:latin typeface="Helvetica"/>
                <a:ea typeface="Times New Roman"/>
                <a:cs typeface="Times New Roman"/>
              </a:rPr>
              <a:t>Errors </a:t>
            </a:r>
            <a:endParaRPr lang="en-AU" sz="2200" dirty="0">
              <a:latin typeface="Helvetica"/>
              <a:ea typeface="Times New Roman"/>
              <a:cs typeface="Times New Roman"/>
            </a:endParaRPr>
          </a:p>
          <a:p>
            <a:pPr marL="396000" lvl="1" indent="-396000">
              <a:spcBef>
                <a:spcPts val="600"/>
              </a:spcBef>
              <a:spcAft>
                <a:spcPts val="900"/>
              </a:spcAft>
              <a:buSzPct val="80000"/>
              <a:buFont typeface="Wingdings 2"/>
              <a:buChar char=""/>
            </a:pPr>
            <a:r>
              <a:rPr lang="en-AU" sz="2200" dirty="0" smtClean="0">
                <a:latin typeface="Helvetica"/>
                <a:ea typeface="Times New Roman"/>
                <a:cs typeface="Times New Roman"/>
              </a:rPr>
              <a:t>Dishonoured </a:t>
            </a:r>
            <a:r>
              <a:rPr lang="en-AU" sz="2200" dirty="0">
                <a:latin typeface="Helvetica"/>
                <a:ea typeface="Times New Roman"/>
                <a:cs typeface="Times New Roman"/>
              </a:rPr>
              <a:t>payment </a:t>
            </a:r>
            <a:endParaRPr lang="en-AU" sz="2200" dirty="0" smtClean="0">
              <a:latin typeface="Helvetica"/>
              <a:ea typeface="Times New Roman"/>
              <a:cs typeface="Times New Roman"/>
            </a:endParaRPr>
          </a:p>
          <a:p>
            <a:pPr marL="396000" lvl="1" indent="-396000">
              <a:spcBef>
                <a:spcPts val="600"/>
              </a:spcBef>
              <a:spcAft>
                <a:spcPts val="900"/>
              </a:spcAft>
              <a:buSzPct val="80000"/>
              <a:buFont typeface="Wingdings 2"/>
              <a:buChar char=""/>
            </a:pPr>
            <a:r>
              <a:rPr lang="en-AU" sz="2200" dirty="0" smtClean="0">
                <a:latin typeface="Helvetica"/>
                <a:ea typeface="Times New Roman"/>
                <a:cs typeface="Times New Roman"/>
              </a:rPr>
              <a:t>Other </a:t>
            </a:r>
            <a:r>
              <a:rPr lang="en-AU" sz="2200" dirty="0">
                <a:latin typeface="Helvetica"/>
                <a:ea typeface="Times New Roman"/>
                <a:cs typeface="Times New Roman"/>
              </a:rPr>
              <a:t>differences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15</a:t>
            </a:fld>
            <a:endParaRPr lang="en-US" dirty="0">
              <a:solidFill>
                <a:srgbClr val="4E5B6F">
                  <a:shade val="50000"/>
                </a:srgbClr>
              </a:solidFill>
              <a:latin typeface="Helvetica" pitchFamily="34" charset="0"/>
            </a:endParaRPr>
          </a:p>
        </p:txBody>
      </p:sp>
      <p:pic>
        <p:nvPicPr>
          <p:cNvPr id="6" name="Picture 5" descr="shutterstock_140073586.jpg"/>
          <p:cNvPicPr/>
          <p:nvPr/>
        </p:nvPicPr>
        <p:blipFill>
          <a:blip r:embed="rId3" cstate="print"/>
          <a:stretch>
            <a:fillRect/>
          </a:stretch>
        </p:blipFill>
        <p:spPr>
          <a:xfrm>
            <a:off x="5715000" y="4114800"/>
            <a:ext cx="2181101" cy="1447800"/>
          </a:xfrm>
          <a:prstGeom prst="rect">
            <a:avLst/>
          </a:prstGeom>
        </p:spPr>
      </p:pic>
    </p:spTree>
    <p:extLst>
      <p:ext uri="{BB962C8B-B14F-4D97-AF65-F5344CB8AC3E}">
        <p14:creationId xmlns:p14="http://schemas.microsoft.com/office/powerpoint/2010/main" val="70957033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70440" cy="962744"/>
          </a:xfrm>
        </p:spPr>
        <p:txBody>
          <a:bodyPr>
            <a:normAutofit/>
          </a:bodyPr>
          <a:lstStyle/>
          <a:p>
            <a:r>
              <a:rPr lang="en-US" sz="3000" b="1" dirty="0">
                <a:solidFill>
                  <a:srgbClr val="FF6600"/>
                </a:solidFill>
                <a:latin typeface="Helvetica" pitchFamily="34" charset="0"/>
              </a:rPr>
              <a:t>1.2	Balance transactions accurately</a:t>
            </a:r>
          </a:p>
        </p:txBody>
      </p:sp>
      <p:sp>
        <p:nvSpPr>
          <p:cNvPr id="3" name="Content Placeholder 2"/>
          <p:cNvSpPr>
            <a:spLocks noGrp="1"/>
          </p:cNvSpPr>
          <p:nvPr>
            <p:ph idx="1"/>
          </p:nvPr>
        </p:nvSpPr>
        <p:spPr>
          <a:xfrm>
            <a:off x="611560" y="1308645"/>
            <a:ext cx="7846640" cy="4939755"/>
          </a:xfrm>
        </p:spPr>
        <p:txBody>
          <a:bodyPr>
            <a:noAutofit/>
          </a:bodyPr>
          <a:lstStyle/>
          <a:p>
            <a:pPr marL="0" indent="0">
              <a:spcBef>
                <a:spcPts val="600"/>
              </a:spcBef>
              <a:spcAft>
                <a:spcPts val="1200"/>
              </a:spcAft>
              <a:buNone/>
            </a:pPr>
            <a:r>
              <a:rPr lang="en-AU" sz="2400" b="1" dirty="0" smtClean="0">
                <a:ea typeface="Times New Roman"/>
                <a:cs typeface="Times New Roman"/>
              </a:rPr>
              <a:t>Trial balance</a:t>
            </a:r>
          </a:p>
          <a:p>
            <a:pPr marL="36576" indent="0">
              <a:spcBef>
                <a:spcPts val="600"/>
              </a:spcBef>
              <a:spcAft>
                <a:spcPts val="1200"/>
              </a:spcAft>
              <a:buNone/>
            </a:pPr>
            <a:r>
              <a:rPr lang="en-AU" sz="2000" dirty="0">
                <a:ea typeface="Times New Roman"/>
                <a:cs typeface="Times New Roman"/>
              </a:rPr>
              <a:t>The double entry accounting system requires that for every transaction, equal amounts of debits and credits be recorded in the ledger accounts. This is verified by preparing a document called a trial </a:t>
            </a:r>
            <a:r>
              <a:rPr lang="en-AU" sz="2000" dirty="0" smtClean="0">
                <a:ea typeface="Times New Roman"/>
                <a:cs typeface="Times New Roman"/>
              </a:rPr>
              <a:t>balance which </a:t>
            </a:r>
            <a:r>
              <a:rPr lang="en-AU" sz="2000" dirty="0" smtClean="0">
                <a:ea typeface="Calibri"/>
                <a:cs typeface="Calibri"/>
              </a:rPr>
              <a:t>lists </a:t>
            </a:r>
            <a:r>
              <a:rPr lang="en-AU" sz="2000" dirty="0">
                <a:ea typeface="Calibri"/>
                <a:cs typeface="Calibri"/>
              </a:rPr>
              <a:t>all the ledger accounts in the following order with their current balances:</a:t>
            </a:r>
          </a:p>
          <a:p>
            <a:pPr marL="396000" lvl="1" indent="-396000">
              <a:spcBef>
                <a:spcPts val="600"/>
              </a:spcBef>
              <a:spcAft>
                <a:spcPts val="1200"/>
              </a:spcAft>
              <a:buSzPct val="80000"/>
              <a:buFont typeface="Wingdings 2"/>
              <a:buChar char=""/>
            </a:pPr>
            <a:r>
              <a:rPr lang="en-AU" sz="2000" dirty="0" smtClean="0">
                <a:ea typeface="Times New Roman"/>
                <a:cs typeface="Times New Roman"/>
              </a:rPr>
              <a:t>Assets </a:t>
            </a:r>
            <a:r>
              <a:rPr lang="en-AU" sz="2000" dirty="0">
                <a:ea typeface="Times New Roman"/>
                <a:cs typeface="Times New Roman"/>
              </a:rPr>
              <a:t>- current and non-current</a:t>
            </a:r>
          </a:p>
          <a:p>
            <a:pPr marL="396000" lvl="1" indent="-396000">
              <a:spcBef>
                <a:spcPts val="600"/>
              </a:spcBef>
              <a:spcAft>
                <a:spcPts val="1200"/>
              </a:spcAft>
              <a:buSzPct val="80000"/>
              <a:buFont typeface="Wingdings 2"/>
              <a:buChar char=""/>
            </a:pPr>
            <a:r>
              <a:rPr lang="en-AU" sz="2000" dirty="0" smtClean="0">
                <a:ea typeface="Times New Roman"/>
                <a:cs typeface="Times New Roman"/>
              </a:rPr>
              <a:t>Liabilities </a:t>
            </a:r>
            <a:r>
              <a:rPr lang="en-AU" sz="2000" dirty="0">
                <a:ea typeface="Times New Roman"/>
                <a:cs typeface="Times New Roman"/>
              </a:rPr>
              <a:t>- current and non-current</a:t>
            </a:r>
          </a:p>
          <a:p>
            <a:pPr marL="396000" lvl="1" indent="-396000">
              <a:spcBef>
                <a:spcPts val="600"/>
              </a:spcBef>
              <a:spcAft>
                <a:spcPts val="1200"/>
              </a:spcAft>
              <a:buSzPct val="80000"/>
              <a:buFont typeface="Wingdings 2"/>
              <a:buChar char=""/>
            </a:pPr>
            <a:r>
              <a:rPr lang="en-AU" sz="2000" dirty="0" smtClean="0">
                <a:ea typeface="Times New Roman"/>
                <a:cs typeface="Times New Roman"/>
              </a:rPr>
              <a:t>Owners </a:t>
            </a:r>
            <a:r>
              <a:rPr lang="en-AU" sz="2000" dirty="0">
                <a:ea typeface="Times New Roman"/>
                <a:cs typeface="Times New Roman"/>
              </a:rPr>
              <a:t>Equity</a:t>
            </a:r>
          </a:p>
          <a:p>
            <a:pPr marL="396000" lvl="1" indent="-396000">
              <a:spcBef>
                <a:spcPts val="600"/>
              </a:spcBef>
              <a:spcAft>
                <a:spcPts val="1200"/>
              </a:spcAft>
              <a:buSzPct val="80000"/>
              <a:buFont typeface="Wingdings 2"/>
              <a:buChar char=""/>
            </a:pPr>
            <a:r>
              <a:rPr lang="en-AU" sz="2000" dirty="0" smtClean="0">
                <a:ea typeface="Times New Roman"/>
                <a:cs typeface="Times New Roman"/>
              </a:rPr>
              <a:t>Revenue</a:t>
            </a:r>
            <a:endParaRPr lang="en-AU" sz="2000" dirty="0">
              <a:ea typeface="Times New Roman"/>
              <a:cs typeface="Times New Roman"/>
            </a:endParaRPr>
          </a:p>
          <a:p>
            <a:pPr marL="396000" lvl="1" indent="-396000">
              <a:spcBef>
                <a:spcPts val="600"/>
              </a:spcBef>
              <a:spcAft>
                <a:spcPts val="1200"/>
              </a:spcAft>
              <a:buSzPct val="80000"/>
              <a:buFont typeface="Wingdings 2"/>
              <a:buChar char=""/>
            </a:pPr>
            <a:r>
              <a:rPr lang="en-AU" sz="2000" dirty="0" smtClean="0">
                <a:ea typeface="Times New Roman"/>
                <a:cs typeface="Times New Roman"/>
              </a:rPr>
              <a:t>Expenses</a:t>
            </a:r>
            <a:endParaRPr lang="en-AU" sz="2000" dirty="0">
              <a:ea typeface="Times New Roman"/>
              <a:cs typeface="Times New Roman"/>
            </a:endParaRPr>
          </a:p>
          <a:p>
            <a:pPr marL="360000" indent="-360000">
              <a:spcBef>
                <a:spcPts val="600"/>
              </a:spcBef>
              <a:spcAft>
                <a:spcPts val="1200"/>
              </a:spcAft>
              <a:buNone/>
            </a:pPr>
            <a:endParaRPr lang="en-US" sz="2400"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16</a:t>
            </a:fld>
            <a:endParaRPr lang="en-US" dirty="0">
              <a:solidFill>
                <a:srgbClr val="4E5B6F">
                  <a:shade val="50000"/>
                </a:srgbClr>
              </a:solidFill>
              <a:latin typeface="Helvetica" pitchFamily="34" charset="0"/>
            </a:endParaRPr>
          </a:p>
        </p:txBody>
      </p:sp>
      <p:pic>
        <p:nvPicPr>
          <p:cNvPr id="6" name="Picture 5" descr="hl.jpg"/>
          <p:cNvPicPr/>
          <p:nvPr/>
        </p:nvPicPr>
        <p:blipFill>
          <a:blip r:embed="rId3" cstate="print"/>
          <a:stretch>
            <a:fillRect/>
          </a:stretch>
        </p:blipFill>
        <p:spPr>
          <a:xfrm>
            <a:off x="5943600" y="3810000"/>
            <a:ext cx="2165081" cy="1447800"/>
          </a:xfrm>
          <a:prstGeom prst="rect">
            <a:avLst/>
          </a:prstGeom>
        </p:spPr>
      </p:pic>
    </p:spTree>
    <p:extLst>
      <p:ext uri="{BB962C8B-B14F-4D97-AF65-F5344CB8AC3E}">
        <p14:creationId xmlns:p14="http://schemas.microsoft.com/office/powerpoint/2010/main" val="23783008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b="1" dirty="0">
                <a:solidFill>
                  <a:srgbClr val="FF6600"/>
                </a:solidFill>
              </a:rPr>
              <a:t>1.2	Balance transactions accurately</a:t>
            </a:r>
            <a:endParaRPr lang="en-AU" dirty="0"/>
          </a:p>
        </p:txBody>
      </p:sp>
      <p:sp>
        <p:nvSpPr>
          <p:cNvPr id="3" name="Content Placeholder 2"/>
          <p:cNvSpPr>
            <a:spLocks noGrp="1"/>
          </p:cNvSpPr>
          <p:nvPr>
            <p:ph sz="half" idx="1"/>
          </p:nvPr>
        </p:nvSpPr>
        <p:spPr/>
        <p:txBody>
          <a:bodyPr>
            <a:normAutofit/>
          </a:bodyPr>
          <a:lstStyle/>
          <a:p>
            <a:pPr marL="36576" indent="0">
              <a:spcBef>
                <a:spcPts val="600"/>
              </a:spcBef>
              <a:spcAft>
                <a:spcPts val="1200"/>
              </a:spcAft>
              <a:buNone/>
            </a:pPr>
            <a:r>
              <a:rPr lang="en-AU" sz="2400" dirty="0" smtClean="0">
                <a:ea typeface="Times New Roman"/>
                <a:cs typeface="Times New Roman"/>
              </a:rPr>
              <a:t>A trial </a:t>
            </a:r>
            <a:r>
              <a:rPr lang="en-AU" sz="2400" dirty="0">
                <a:ea typeface="Times New Roman"/>
                <a:cs typeface="Times New Roman"/>
              </a:rPr>
              <a:t>balance is always prepared at the end of an accounting period so that financial reports can be produced but can be prepared at any time to test that transactions balance accurately</a:t>
            </a:r>
            <a:endParaRPr lang="en-AU" sz="2400" dirty="0"/>
          </a:p>
        </p:txBody>
      </p:sp>
      <p:graphicFrame>
        <p:nvGraphicFramePr>
          <p:cNvPr id="7" name="Content Placeholder 6"/>
          <p:cNvGraphicFramePr>
            <a:graphicFrameLocks noGrp="1"/>
          </p:cNvGraphicFramePr>
          <p:nvPr>
            <p:ph sz="half" idx="2"/>
            <p:extLst>
              <p:ext uri="{D42A27DB-BD31-4B8C-83A1-F6EECF244321}">
                <p14:modId xmlns:p14="http://schemas.microsoft.com/office/powerpoint/2010/main" val="3470485932"/>
              </p:ext>
            </p:extLst>
          </p:nvPr>
        </p:nvGraphicFramePr>
        <p:xfrm>
          <a:off x="4648200" y="1600200"/>
          <a:ext cx="3886200" cy="4572003"/>
        </p:xfrm>
        <a:graphic>
          <a:graphicData uri="http://schemas.openxmlformats.org/drawingml/2006/table">
            <a:tbl>
              <a:tblPr firstRow="1" firstCol="1" bandRow="1">
                <a:tableStyleId>{5C22544A-7EE6-4342-B048-85BDC9FD1C3A}</a:tableStyleId>
              </a:tblPr>
              <a:tblGrid>
                <a:gridCol w="1799617"/>
                <a:gridCol w="1095983"/>
                <a:gridCol w="990600"/>
              </a:tblGrid>
              <a:tr h="337738">
                <a:tc gridSpan="3">
                  <a:txBody>
                    <a:bodyPr/>
                    <a:lstStyle/>
                    <a:p>
                      <a:pPr>
                        <a:lnSpc>
                          <a:spcPct val="115000"/>
                        </a:lnSpc>
                        <a:spcBef>
                          <a:spcPts val="600"/>
                        </a:spcBef>
                        <a:spcAft>
                          <a:spcPts val="600"/>
                        </a:spcAft>
                      </a:pPr>
                      <a:r>
                        <a:rPr lang="en-AU" sz="1400" dirty="0">
                          <a:effectLst/>
                          <a:latin typeface="Helvetica" pitchFamily="34" charset="0"/>
                        </a:rPr>
                        <a:t>Trial Balance</a:t>
                      </a:r>
                      <a:endParaRPr lang="en-AU" sz="1400" b="1" dirty="0">
                        <a:solidFill>
                          <a:srgbClr val="000000"/>
                        </a:solidFill>
                        <a:effectLst/>
                        <a:latin typeface="Helvetica" pitchFamily="34" charset="0"/>
                        <a:ea typeface="Calibri"/>
                        <a:cs typeface="Calibri"/>
                      </a:endParaRPr>
                    </a:p>
                  </a:txBody>
                  <a:tcPr marL="66279" marR="66279" marT="0" marB="0" anchor="ctr"/>
                </a:tc>
                <a:tc hMerge="1">
                  <a:txBody>
                    <a:bodyPr/>
                    <a:lstStyle/>
                    <a:p>
                      <a:endParaRPr lang="en-AU"/>
                    </a:p>
                  </a:txBody>
                  <a:tcPr/>
                </a:tc>
                <a:tc hMerge="1">
                  <a:txBody>
                    <a:bodyPr/>
                    <a:lstStyle/>
                    <a:p>
                      <a:endParaRPr lang="en-AU"/>
                    </a:p>
                  </a:txBody>
                  <a:tcPr/>
                </a:tc>
              </a:tr>
              <a:tr h="337734">
                <a:tc>
                  <a:txBody>
                    <a:bodyPr/>
                    <a:lstStyle/>
                    <a:p>
                      <a:pPr>
                        <a:lnSpc>
                          <a:spcPct val="115000"/>
                        </a:lnSpc>
                        <a:spcBef>
                          <a:spcPts val="600"/>
                        </a:spcBef>
                        <a:spcAft>
                          <a:spcPts val="600"/>
                        </a:spcAft>
                      </a:pPr>
                      <a:r>
                        <a:rPr lang="en-AU" sz="1400" dirty="0">
                          <a:effectLst/>
                          <a:latin typeface="Helvetica" pitchFamily="34" charset="0"/>
                        </a:rPr>
                        <a:t>Account name</a:t>
                      </a:r>
                      <a:endParaRPr lang="en-AU" sz="1400" b="1" dirty="0">
                        <a:solidFill>
                          <a:srgbClr val="000000"/>
                        </a:solidFill>
                        <a:effectLst/>
                        <a:latin typeface="Helvetica" pitchFamily="34" charset="0"/>
                        <a:ea typeface="Calibri"/>
                        <a:cs typeface="Calibri"/>
                      </a:endParaRPr>
                    </a:p>
                  </a:txBody>
                  <a:tcPr marL="66279" marR="66279" marT="0" marB="0" anchor="ctr"/>
                </a:tc>
                <a:tc>
                  <a:txBody>
                    <a:bodyPr/>
                    <a:lstStyle/>
                    <a:p>
                      <a:pPr algn="ctr">
                        <a:lnSpc>
                          <a:spcPct val="115000"/>
                        </a:lnSpc>
                        <a:spcBef>
                          <a:spcPts val="600"/>
                        </a:spcBef>
                        <a:spcAft>
                          <a:spcPts val="600"/>
                        </a:spcAft>
                      </a:pPr>
                      <a:r>
                        <a:rPr lang="en-AU" sz="1400" dirty="0">
                          <a:effectLst/>
                          <a:latin typeface="Helvetica" pitchFamily="34" charset="0"/>
                        </a:rPr>
                        <a:t>Debit</a:t>
                      </a:r>
                      <a:endParaRPr lang="en-AU" sz="1400" b="1" dirty="0">
                        <a:solidFill>
                          <a:srgbClr val="000000"/>
                        </a:solidFill>
                        <a:effectLst/>
                        <a:latin typeface="Helvetica" pitchFamily="34" charset="0"/>
                        <a:ea typeface="Calibri"/>
                        <a:cs typeface="Calibri"/>
                      </a:endParaRPr>
                    </a:p>
                  </a:txBody>
                  <a:tcPr marL="66279" marR="66279" marT="0" marB="0" anchor="ctr"/>
                </a:tc>
                <a:tc>
                  <a:txBody>
                    <a:bodyPr/>
                    <a:lstStyle/>
                    <a:p>
                      <a:pPr algn="ctr">
                        <a:lnSpc>
                          <a:spcPct val="115000"/>
                        </a:lnSpc>
                        <a:spcBef>
                          <a:spcPts val="600"/>
                        </a:spcBef>
                        <a:spcAft>
                          <a:spcPts val="600"/>
                        </a:spcAft>
                      </a:pPr>
                      <a:r>
                        <a:rPr lang="en-AU" sz="1400" dirty="0">
                          <a:effectLst/>
                          <a:latin typeface="Helvetica" pitchFamily="34" charset="0"/>
                        </a:rPr>
                        <a:t>Credit</a:t>
                      </a:r>
                      <a:endParaRPr lang="en-AU" sz="1400" b="1" dirty="0">
                        <a:solidFill>
                          <a:srgbClr val="000000"/>
                        </a:solidFill>
                        <a:effectLst/>
                        <a:latin typeface="Helvetica" pitchFamily="34" charset="0"/>
                        <a:ea typeface="Calibri"/>
                        <a:cs typeface="Calibri"/>
                      </a:endParaRPr>
                    </a:p>
                  </a:txBody>
                  <a:tcPr marL="66279" marR="66279" marT="0" marB="0" anchor="ctr"/>
                </a:tc>
              </a:tr>
              <a:tr h="337734">
                <a:tc>
                  <a:txBody>
                    <a:bodyPr/>
                    <a:lstStyle/>
                    <a:p>
                      <a:pPr>
                        <a:lnSpc>
                          <a:spcPct val="115000"/>
                        </a:lnSpc>
                        <a:spcBef>
                          <a:spcPts val="600"/>
                        </a:spcBef>
                        <a:spcAft>
                          <a:spcPts val="600"/>
                        </a:spcAft>
                      </a:pPr>
                      <a:r>
                        <a:rPr lang="en-AU" sz="1400" dirty="0">
                          <a:effectLst/>
                          <a:latin typeface="Helvetica" pitchFamily="34" charset="0"/>
                        </a:rPr>
                        <a:t>Cash at Bank</a:t>
                      </a:r>
                      <a:endParaRPr lang="en-AU" sz="1400" dirty="0">
                        <a:effectLst/>
                        <a:latin typeface="Helvetica" pitchFamily="34" charset="0"/>
                        <a:ea typeface="Calibri"/>
                        <a:cs typeface="Calibri"/>
                      </a:endParaRPr>
                    </a:p>
                  </a:txBody>
                  <a:tcPr marL="66279" marR="66279" marT="0" marB="0" anchor="ctr"/>
                </a:tc>
                <a:tc>
                  <a:txBody>
                    <a:bodyPr/>
                    <a:lstStyle/>
                    <a:p>
                      <a:pPr algn="ctr">
                        <a:lnSpc>
                          <a:spcPct val="115000"/>
                        </a:lnSpc>
                        <a:spcBef>
                          <a:spcPts val="600"/>
                        </a:spcBef>
                        <a:spcAft>
                          <a:spcPts val="600"/>
                        </a:spcAft>
                      </a:pPr>
                      <a:r>
                        <a:rPr lang="en-AU" sz="1400" dirty="0">
                          <a:effectLst/>
                          <a:latin typeface="Helvetica" pitchFamily="34" charset="0"/>
                        </a:rPr>
                        <a:t>24800 </a:t>
                      </a:r>
                      <a:endParaRPr lang="en-AU" sz="1400" dirty="0">
                        <a:effectLst/>
                        <a:latin typeface="Helvetica" pitchFamily="34" charset="0"/>
                        <a:ea typeface="Calibri"/>
                        <a:cs typeface="Calibri"/>
                      </a:endParaRPr>
                    </a:p>
                  </a:txBody>
                  <a:tcPr marL="66279" marR="66279" marT="0" marB="0" anchor="ctr"/>
                </a:tc>
                <a:tc>
                  <a:txBody>
                    <a:bodyPr/>
                    <a:lstStyle/>
                    <a:p>
                      <a:pPr algn="ctr">
                        <a:lnSpc>
                          <a:spcPct val="115000"/>
                        </a:lnSpc>
                      </a:pPr>
                      <a:endParaRPr lang="en-AU" sz="1400" dirty="0">
                        <a:effectLst/>
                        <a:latin typeface="Helvetica" pitchFamily="34" charset="0"/>
                      </a:endParaRPr>
                    </a:p>
                  </a:txBody>
                  <a:tcPr marL="66279" marR="66279" marT="0" marB="0" anchor="ctr"/>
                </a:tc>
              </a:tr>
              <a:tr h="519191">
                <a:tc>
                  <a:txBody>
                    <a:bodyPr/>
                    <a:lstStyle/>
                    <a:p>
                      <a:pPr>
                        <a:lnSpc>
                          <a:spcPct val="115000"/>
                        </a:lnSpc>
                        <a:spcBef>
                          <a:spcPts val="600"/>
                        </a:spcBef>
                        <a:spcAft>
                          <a:spcPts val="600"/>
                        </a:spcAft>
                      </a:pPr>
                      <a:r>
                        <a:rPr lang="en-AU" sz="1400" dirty="0">
                          <a:effectLst/>
                          <a:latin typeface="Helvetica" pitchFamily="34" charset="0"/>
                        </a:rPr>
                        <a:t>Accounts Receivable</a:t>
                      </a:r>
                      <a:endParaRPr lang="en-AU" sz="1400" dirty="0">
                        <a:effectLst/>
                        <a:latin typeface="Helvetica" pitchFamily="34" charset="0"/>
                        <a:ea typeface="Calibri"/>
                        <a:cs typeface="Calibri"/>
                      </a:endParaRPr>
                    </a:p>
                  </a:txBody>
                  <a:tcPr marL="66279" marR="66279" marT="0" marB="0" anchor="ctr"/>
                </a:tc>
                <a:tc>
                  <a:txBody>
                    <a:bodyPr/>
                    <a:lstStyle/>
                    <a:p>
                      <a:pPr algn="ctr">
                        <a:lnSpc>
                          <a:spcPct val="115000"/>
                        </a:lnSpc>
                        <a:spcBef>
                          <a:spcPts val="600"/>
                        </a:spcBef>
                        <a:spcAft>
                          <a:spcPts val="600"/>
                        </a:spcAft>
                      </a:pPr>
                      <a:r>
                        <a:rPr lang="en-AU" sz="1400" dirty="0">
                          <a:effectLst/>
                          <a:latin typeface="Helvetica" pitchFamily="34" charset="0"/>
                        </a:rPr>
                        <a:t>2950 </a:t>
                      </a:r>
                      <a:endParaRPr lang="en-AU" sz="1400" dirty="0">
                        <a:effectLst/>
                        <a:latin typeface="Helvetica" pitchFamily="34" charset="0"/>
                        <a:ea typeface="Calibri"/>
                        <a:cs typeface="Calibri"/>
                      </a:endParaRPr>
                    </a:p>
                  </a:txBody>
                  <a:tcPr marL="66279" marR="66279" marT="0" marB="0" anchor="ctr"/>
                </a:tc>
                <a:tc>
                  <a:txBody>
                    <a:bodyPr/>
                    <a:lstStyle/>
                    <a:p>
                      <a:pPr algn="ctr">
                        <a:lnSpc>
                          <a:spcPct val="115000"/>
                        </a:lnSpc>
                      </a:pPr>
                      <a:endParaRPr lang="en-AU" sz="1400" dirty="0">
                        <a:effectLst/>
                        <a:latin typeface="Helvetica" pitchFamily="34" charset="0"/>
                      </a:endParaRPr>
                    </a:p>
                  </a:txBody>
                  <a:tcPr marL="66279" marR="66279" marT="0" marB="0" anchor="ctr"/>
                </a:tc>
              </a:tr>
              <a:tr h="337734">
                <a:tc>
                  <a:txBody>
                    <a:bodyPr/>
                    <a:lstStyle/>
                    <a:p>
                      <a:pPr>
                        <a:lnSpc>
                          <a:spcPct val="115000"/>
                        </a:lnSpc>
                        <a:spcBef>
                          <a:spcPts val="600"/>
                        </a:spcBef>
                        <a:spcAft>
                          <a:spcPts val="600"/>
                        </a:spcAft>
                      </a:pPr>
                      <a:r>
                        <a:rPr lang="en-AU" sz="1400" dirty="0">
                          <a:effectLst/>
                          <a:latin typeface="Helvetica" pitchFamily="34" charset="0"/>
                        </a:rPr>
                        <a:t>Prepaid Rent</a:t>
                      </a:r>
                      <a:endParaRPr lang="en-AU" sz="1400" dirty="0">
                        <a:effectLst/>
                        <a:latin typeface="Helvetica" pitchFamily="34" charset="0"/>
                        <a:ea typeface="Calibri"/>
                        <a:cs typeface="Calibri"/>
                      </a:endParaRPr>
                    </a:p>
                  </a:txBody>
                  <a:tcPr marL="66279" marR="66279" marT="0" marB="0" anchor="ctr"/>
                </a:tc>
                <a:tc>
                  <a:txBody>
                    <a:bodyPr/>
                    <a:lstStyle/>
                    <a:p>
                      <a:pPr algn="ctr">
                        <a:lnSpc>
                          <a:spcPct val="115000"/>
                        </a:lnSpc>
                        <a:spcBef>
                          <a:spcPts val="600"/>
                        </a:spcBef>
                        <a:spcAft>
                          <a:spcPts val="600"/>
                        </a:spcAft>
                      </a:pPr>
                      <a:r>
                        <a:rPr lang="en-AU" sz="1400" dirty="0">
                          <a:effectLst/>
                          <a:latin typeface="Helvetica" pitchFamily="34" charset="0"/>
                        </a:rPr>
                        <a:t>3,000</a:t>
                      </a:r>
                      <a:endParaRPr lang="en-AU" sz="1400" dirty="0">
                        <a:effectLst/>
                        <a:latin typeface="Helvetica" pitchFamily="34" charset="0"/>
                        <a:ea typeface="Calibri"/>
                        <a:cs typeface="Calibri"/>
                      </a:endParaRPr>
                    </a:p>
                  </a:txBody>
                  <a:tcPr marL="66279" marR="66279" marT="0" marB="0" anchor="ctr"/>
                </a:tc>
                <a:tc>
                  <a:txBody>
                    <a:bodyPr/>
                    <a:lstStyle/>
                    <a:p>
                      <a:pPr algn="ctr">
                        <a:lnSpc>
                          <a:spcPct val="115000"/>
                        </a:lnSpc>
                        <a:spcBef>
                          <a:spcPts val="600"/>
                        </a:spcBef>
                        <a:spcAft>
                          <a:spcPts val="600"/>
                        </a:spcAft>
                      </a:pPr>
                      <a:r>
                        <a:rPr lang="en-AU" sz="1400" dirty="0">
                          <a:effectLst/>
                          <a:latin typeface="Helvetica" pitchFamily="34" charset="0"/>
                        </a:rPr>
                        <a:t> </a:t>
                      </a:r>
                      <a:endParaRPr lang="en-AU" sz="1400" dirty="0">
                        <a:effectLst/>
                        <a:latin typeface="Helvetica" pitchFamily="34" charset="0"/>
                        <a:ea typeface="Calibri"/>
                        <a:cs typeface="Calibri"/>
                      </a:endParaRPr>
                    </a:p>
                  </a:txBody>
                  <a:tcPr marL="66279" marR="66279" marT="0" marB="0" anchor="ctr"/>
                </a:tc>
              </a:tr>
              <a:tr h="337734">
                <a:tc>
                  <a:txBody>
                    <a:bodyPr/>
                    <a:lstStyle/>
                    <a:p>
                      <a:pPr>
                        <a:lnSpc>
                          <a:spcPct val="115000"/>
                        </a:lnSpc>
                        <a:spcBef>
                          <a:spcPts val="600"/>
                        </a:spcBef>
                        <a:spcAft>
                          <a:spcPts val="600"/>
                        </a:spcAft>
                      </a:pPr>
                      <a:r>
                        <a:rPr lang="en-AU" sz="1400" dirty="0">
                          <a:effectLst/>
                          <a:latin typeface="Helvetica" pitchFamily="34" charset="0"/>
                        </a:rPr>
                        <a:t>Furniture</a:t>
                      </a:r>
                      <a:endParaRPr lang="en-AU" sz="1400" dirty="0">
                        <a:effectLst/>
                        <a:latin typeface="Helvetica" pitchFamily="34" charset="0"/>
                        <a:ea typeface="Calibri"/>
                        <a:cs typeface="Calibri"/>
                      </a:endParaRPr>
                    </a:p>
                  </a:txBody>
                  <a:tcPr marL="66279" marR="66279" marT="0" marB="0" anchor="ctr"/>
                </a:tc>
                <a:tc>
                  <a:txBody>
                    <a:bodyPr/>
                    <a:lstStyle/>
                    <a:p>
                      <a:pPr algn="ctr">
                        <a:lnSpc>
                          <a:spcPct val="115000"/>
                        </a:lnSpc>
                        <a:spcBef>
                          <a:spcPts val="600"/>
                        </a:spcBef>
                        <a:spcAft>
                          <a:spcPts val="600"/>
                        </a:spcAft>
                      </a:pPr>
                      <a:r>
                        <a:rPr lang="en-AU" sz="1400" dirty="0">
                          <a:effectLst/>
                          <a:latin typeface="Helvetica" pitchFamily="34" charset="0"/>
                        </a:rPr>
                        <a:t>16500</a:t>
                      </a:r>
                      <a:endParaRPr lang="en-AU" sz="1400" dirty="0">
                        <a:effectLst/>
                        <a:latin typeface="Helvetica" pitchFamily="34" charset="0"/>
                        <a:ea typeface="Calibri"/>
                        <a:cs typeface="Calibri"/>
                      </a:endParaRPr>
                    </a:p>
                  </a:txBody>
                  <a:tcPr marL="66279" marR="66279" marT="0" marB="0" anchor="ctr"/>
                </a:tc>
                <a:tc>
                  <a:txBody>
                    <a:bodyPr/>
                    <a:lstStyle/>
                    <a:p>
                      <a:pPr algn="ctr">
                        <a:lnSpc>
                          <a:spcPct val="115000"/>
                        </a:lnSpc>
                      </a:pPr>
                      <a:endParaRPr lang="en-AU" sz="1400" dirty="0">
                        <a:effectLst/>
                        <a:latin typeface="Helvetica" pitchFamily="34" charset="0"/>
                      </a:endParaRPr>
                    </a:p>
                  </a:txBody>
                  <a:tcPr marL="66279" marR="66279" marT="0" marB="0" anchor="ctr"/>
                </a:tc>
              </a:tr>
              <a:tr h="337734">
                <a:tc>
                  <a:txBody>
                    <a:bodyPr/>
                    <a:lstStyle/>
                    <a:p>
                      <a:pPr>
                        <a:lnSpc>
                          <a:spcPct val="115000"/>
                        </a:lnSpc>
                        <a:spcBef>
                          <a:spcPts val="600"/>
                        </a:spcBef>
                        <a:spcAft>
                          <a:spcPts val="600"/>
                        </a:spcAft>
                      </a:pPr>
                      <a:r>
                        <a:rPr lang="en-AU" sz="1400" dirty="0">
                          <a:effectLst/>
                          <a:latin typeface="Helvetica" pitchFamily="34" charset="0"/>
                        </a:rPr>
                        <a:t>Accounts Payable</a:t>
                      </a:r>
                      <a:endParaRPr lang="en-AU" sz="1400" dirty="0">
                        <a:effectLst/>
                        <a:latin typeface="Helvetica" pitchFamily="34" charset="0"/>
                        <a:ea typeface="Calibri"/>
                        <a:cs typeface="Calibri"/>
                      </a:endParaRPr>
                    </a:p>
                  </a:txBody>
                  <a:tcPr marL="66279" marR="66279" marT="0" marB="0" anchor="ctr"/>
                </a:tc>
                <a:tc>
                  <a:txBody>
                    <a:bodyPr/>
                    <a:lstStyle/>
                    <a:p>
                      <a:pPr algn="ctr">
                        <a:lnSpc>
                          <a:spcPct val="115000"/>
                        </a:lnSpc>
                      </a:pPr>
                      <a:endParaRPr lang="en-AU" sz="1400" dirty="0">
                        <a:effectLst/>
                        <a:latin typeface="Helvetica" pitchFamily="34" charset="0"/>
                      </a:endParaRPr>
                    </a:p>
                  </a:txBody>
                  <a:tcPr marL="66279" marR="66279" marT="0" marB="0" anchor="ctr"/>
                </a:tc>
                <a:tc>
                  <a:txBody>
                    <a:bodyPr/>
                    <a:lstStyle/>
                    <a:p>
                      <a:pPr algn="ctr">
                        <a:lnSpc>
                          <a:spcPct val="115000"/>
                        </a:lnSpc>
                        <a:spcBef>
                          <a:spcPts val="600"/>
                        </a:spcBef>
                        <a:spcAft>
                          <a:spcPts val="600"/>
                        </a:spcAft>
                      </a:pPr>
                      <a:r>
                        <a:rPr lang="en-AU" sz="1400" dirty="0">
                          <a:effectLst/>
                          <a:latin typeface="Helvetica" pitchFamily="34" charset="0"/>
                        </a:rPr>
                        <a:t>13100</a:t>
                      </a:r>
                      <a:endParaRPr lang="en-AU" sz="1400" dirty="0">
                        <a:effectLst/>
                        <a:latin typeface="Helvetica" pitchFamily="34" charset="0"/>
                        <a:ea typeface="Calibri"/>
                        <a:cs typeface="Calibri"/>
                      </a:endParaRPr>
                    </a:p>
                  </a:txBody>
                  <a:tcPr marL="66279" marR="66279" marT="0" marB="0" anchor="ctr"/>
                </a:tc>
              </a:tr>
              <a:tr h="337734">
                <a:tc>
                  <a:txBody>
                    <a:bodyPr/>
                    <a:lstStyle/>
                    <a:p>
                      <a:pPr>
                        <a:lnSpc>
                          <a:spcPct val="115000"/>
                        </a:lnSpc>
                        <a:spcBef>
                          <a:spcPts val="600"/>
                        </a:spcBef>
                        <a:spcAft>
                          <a:spcPts val="600"/>
                        </a:spcAft>
                      </a:pPr>
                      <a:r>
                        <a:rPr lang="en-AU" sz="1400" dirty="0">
                          <a:effectLst/>
                          <a:latin typeface="Helvetica" pitchFamily="34" charset="0"/>
                        </a:rPr>
                        <a:t>Capital</a:t>
                      </a:r>
                      <a:endParaRPr lang="en-AU" sz="1400" dirty="0">
                        <a:effectLst/>
                        <a:latin typeface="Helvetica" pitchFamily="34" charset="0"/>
                        <a:ea typeface="Calibri"/>
                        <a:cs typeface="Calibri"/>
                      </a:endParaRPr>
                    </a:p>
                  </a:txBody>
                  <a:tcPr marL="66279" marR="66279" marT="0" marB="0" anchor="ctr"/>
                </a:tc>
                <a:tc>
                  <a:txBody>
                    <a:bodyPr/>
                    <a:lstStyle/>
                    <a:p>
                      <a:pPr algn="ctr">
                        <a:lnSpc>
                          <a:spcPct val="115000"/>
                        </a:lnSpc>
                      </a:pPr>
                      <a:endParaRPr lang="en-AU" sz="1400" dirty="0">
                        <a:effectLst/>
                        <a:latin typeface="Helvetica" pitchFamily="34" charset="0"/>
                      </a:endParaRPr>
                    </a:p>
                  </a:txBody>
                  <a:tcPr marL="66279" marR="66279" marT="0" marB="0" anchor="ctr"/>
                </a:tc>
                <a:tc>
                  <a:txBody>
                    <a:bodyPr/>
                    <a:lstStyle/>
                    <a:p>
                      <a:pPr algn="ctr">
                        <a:lnSpc>
                          <a:spcPct val="115000"/>
                        </a:lnSpc>
                        <a:spcBef>
                          <a:spcPts val="600"/>
                        </a:spcBef>
                        <a:spcAft>
                          <a:spcPts val="600"/>
                        </a:spcAft>
                      </a:pPr>
                      <a:r>
                        <a:rPr lang="en-AU" sz="1400" dirty="0">
                          <a:effectLst/>
                          <a:latin typeface="Helvetica" pitchFamily="34" charset="0"/>
                        </a:rPr>
                        <a:t>31250 </a:t>
                      </a:r>
                      <a:endParaRPr lang="en-AU" sz="1400" dirty="0">
                        <a:effectLst/>
                        <a:latin typeface="Helvetica" pitchFamily="34" charset="0"/>
                        <a:ea typeface="Calibri"/>
                        <a:cs typeface="Calibri"/>
                      </a:endParaRPr>
                    </a:p>
                  </a:txBody>
                  <a:tcPr marL="66279" marR="66279" marT="0" marB="0" anchor="ctr"/>
                </a:tc>
              </a:tr>
              <a:tr h="337734">
                <a:tc>
                  <a:txBody>
                    <a:bodyPr/>
                    <a:lstStyle/>
                    <a:p>
                      <a:pPr>
                        <a:lnSpc>
                          <a:spcPct val="115000"/>
                        </a:lnSpc>
                        <a:spcBef>
                          <a:spcPts val="600"/>
                        </a:spcBef>
                        <a:spcAft>
                          <a:spcPts val="600"/>
                        </a:spcAft>
                      </a:pPr>
                      <a:r>
                        <a:rPr lang="en-AU" sz="1400" dirty="0">
                          <a:effectLst/>
                          <a:latin typeface="Helvetica" pitchFamily="34" charset="0"/>
                        </a:rPr>
                        <a:t>Drawings</a:t>
                      </a:r>
                      <a:endParaRPr lang="en-AU" sz="1400" dirty="0">
                        <a:effectLst/>
                        <a:latin typeface="Helvetica" pitchFamily="34" charset="0"/>
                        <a:ea typeface="Calibri"/>
                        <a:cs typeface="Calibri"/>
                      </a:endParaRPr>
                    </a:p>
                  </a:txBody>
                  <a:tcPr marL="66279" marR="66279" marT="0" marB="0" anchor="ctr"/>
                </a:tc>
                <a:tc>
                  <a:txBody>
                    <a:bodyPr/>
                    <a:lstStyle/>
                    <a:p>
                      <a:pPr algn="ctr">
                        <a:lnSpc>
                          <a:spcPct val="115000"/>
                        </a:lnSpc>
                        <a:spcBef>
                          <a:spcPts val="600"/>
                        </a:spcBef>
                        <a:spcAft>
                          <a:spcPts val="600"/>
                        </a:spcAft>
                      </a:pPr>
                      <a:r>
                        <a:rPr lang="en-AU" sz="1400" dirty="0">
                          <a:effectLst/>
                          <a:latin typeface="Helvetica" pitchFamily="34" charset="0"/>
                        </a:rPr>
                        <a:t>3200</a:t>
                      </a:r>
                      <a:endParaRPr lang="en-AU" sz="1400" dirty="0">
                        <a:effectLst/>
                        <a:latin typeface="Helvetica" pitchFamily="34" charset="0"/>
                        <a:ea typeface="Calibri"/>
                        <a:cs typeface="Calibri"/>
                      </a:endParaRPr>
                    </a:p>
                  </a:txBody>
                  <a:tcPr marL="66279" marR="66279" marT="0" marB="0" anchor="ctr"/>
                </a:tc>
                <a:tc>
                  <a:txBody>
                    <a:bodyPr/>
                    <a:lstStyle/>
                    <a:p>
                      <a:pPr algn="ctr">
                        <a:lnSpc>
                          <a:spcPct val="115000"/>
                        </a:lnSpc>
                      </a:pPr>
                      <a:endParaRPr lang="en-AU" sz="1400" dirty="0">
                        <a:effectLst/>
                        <a:latin typeface="Helvetica" pitchFamily="34" charset="0"/>
                      </a:endParaRPr>
                    </a:p>
                  </a:txBody>
                  <a:tcPr marL="66279" marR="66279" marT="0" marB="0" anchor="ctr"/>
                </a:tc>
              </a:tr>
              <a:tr h="337734">
                <a:tc>
                  <a:txBody>
                    <a:bodyPr/>
                    <a:lstStyle/>
                    <a:p>
                      <a:pPr>
                        <a:lnSpc>
                          <a:spcPct val="115000"/>
                        </a:lnSpc>
                        <a:spcBef>
                          <a:spcPts val="600"/>
                        </a:spcBef>
                        <a:spcAft>
                          <a:spcPts val="600"/>
                        </a:spcAft>
                      </a:pPr>
                      <a:r>
                        <a:rPr lang="en-AU" sz="1400" dirty="0">
                          <a:effectLst/>
                          <a:latin typeface="Helvetica" pitchFamily="34" charset="0"/>
                        </a:rPr>
                        <a:t>Revenue</a:t>
                      </a:r>
                      <a:endParaRPr lang="en-AU" sz="1400" dirty="0">
                        <a:effectLst/>
                        <a:latin typeface="Helvetica" pitchFamily="34" charset="0"/>
                        <a:ea typeface="Calibri"/>
                        <a:cs typeface="Calibri"/>
                      </a:endParaRPr>
                    </a:p>
                  </a:txBody>
                  <a:tcPr marL="66279" marR="66279" marT="0" marB="0" anchor="ctr"/>
                </a:tc>
                <a:tc>
                  <a:txBody>
                    <a:bodyPr/>
                    <a:lstStyle/>
                    <a:p>
                      <a:pPr algn="ctr">
                        <a:lnSpc>
                          <a:spcPct val="115000"/>
                        </a:lnSpc>
                      </a:pPr>
                      <a:endParaRPr lang="en-AU" sz="1400" dirty="0">
                        <a:effectLst/>
                        <a:latin typeface="Helvetica" pitchFamily="34" charset="0"/>
                      </a:endParaRPr>
                    </a:p>
                  </a:txBody>
                  <a:tcPr marL="66279" marR="66279" marT="0" marB="0" anchor="ctr"/>
                </a:tc>
                <a:tc>
                  <a:txBody>
                    <a:bodyPr/>
                    <a:lstStyle/>
                    <a:p>
                      <a:pPr algn="ctr">
                        <a:lnSpc>
                          <a:spcPct val="115000"/>
                        </a:lnSpc>
                        <a:spcBef>
                          <a:spcPts val="600"/>
                        </a:spcBef>
                        <a:spcAft>
                          <a:spcPts val="600"/>
                        </a:spcAft>
                      </a:pPr>
                      <a:r>
                        <a:rPr lang="en-AU" sz="1400" dirty="0">
                          <a:effectLst/>
                          <a:latin typeface="Helvetica" pitchFamily="34" charset="0"/>
                        </a:rPr>
                        <a:t>7450</a:t>
                      </a:r>
                      <a:endParaRPr lang="en-AU" sz="1400" dirty="0">
                        <a:effectLst/>
                        <a:latin typeface="Helvetica" pitchFamily="34" charset="0"/>
                        <a:ea typeface="Calibri"/>
                        <a:cs typeface="Calibri"/>
                      </a:endParaRPr>
                    </a:p>
                  </a:txBody>
                  <a:tcPr marL="66279" marR="66279" marT="0" marB="0" anchor="ctr"/>
                </a:tc>
              </a:tr>
              <a:tr h="337734">
                <a:tc>
                  <a:txBody>
                    <a:bodyPr/>
                    <a:lstStyle/>
                    <a:p>
                      <a:pPr>
                        <a:lnSpc>
                          <a:spcPct val="115000"/>
                        </a:lnSpc>
                        <a:spcBef>
                          <a:spcPts val="600"/>
                        </a:spcBef>
                        <a:spcAft>
                          <a:spcPts val="600"/>
                        </a:spcAft>
                      </a:pPr>
                      <a:r>
                        <a:rPr lang="en-AU" sz="1400" dirty="0">
                          <a:effectLst/>
                          <a:latin typeface="Helvetica" pitchFamily="34" charset="0"/>
                        </a:rPr>
                        <a:t>Salary expense</a:t>
                      </a:r>
                      <a:endParaRPr lang="en-AU" sz="1400" dirty="0">
                        <a:effectLst/>
                        <a:latin typeface="Helvetica" pitchFamily="34" charset="0"/>
                        <a:ea typeface="Calibri"/>
                        <a:cs typeface="Calibri"/>
                      </a:endParaRPr>
                    </a:p>
                  </a:txBody>
                  <a:tcPr marL="66279" marR="66279" marT="0" marB="0" anchor="ctr"/>
                </a:tc>
                <a:tc>
                  <a:txBody>
                    <a:bodyPr/>
                    <a:lstStyle/>
                    <a:p>
                      <a:pPr algn="ctr">
                        <a:lnSpc>
                          <a:spcPct val="115000"/>
                        </a:lnSpc>
                        <a:spcBef>
                          <a:spcPts val="600"/>
                        </a:spcBef>
                        <a:spcAft>
                          <a:spcPts val="600"/>
                        </a:spcAft>
                      </a:pPr>
                      <a:r>
                        <a:rPr lang="en-AU" sz="1400" dirty="0">
                          <a:effectLst/>
                          <a:latin typeface="Helvetica" pitchFamily="34" charset="0"/>
                        </a:rPr>
                        <a:t>950</a:t>
                      </a:r>
                      <a:endParaRPr lang="en-AU" sz="1400" dirty="0">
                        <a:effectLst/>
                        <a:latin typeface="Helvetica" pitchFamily="34" charset="0"/>
                        <a:ea typeface="Calibri"/>
                        <a:cs typeface="Calibri"/>
                      </a:endParaRPr>
                    </a:p>
                  </a:txBody>
                  <a:tcPr marL="66279" marR="66279" marT="0" marB="0" anchor="ctr"/>
                </a:tc>
                <a:tc>
                  <a:txBody>
                    <a:bodyPr/>
                    <a:lstStyle/>
                    <a:p>
                      <a:pPr algn="ctr">
                        <a:lnSpc>
                          <a:spcPct val="115000"/>
                        </a:lnSpc>
                        <a:spcBef>
                          <a:spcPts val="600"/>
                        </a:spcBef>
                        <a:spcAft>
                          <a:spcPts val="600"/>
                        </a:spcAft>
                      </a:pPr>
                      <a:r>
                        <a:rPr lang="en-AU" sz="1400" dirty="0">
                          <a:effectLst/>
                          <a:latin typeface="Helvetica" pitchFamily="34" charset="0"/>
                        </a:rPr>
                        <a:t> </a:t>
                      </a:r>
                      <a:endParaRPr lang="en-AU" sz="1400" dirty="0">
                        <a:effectLst/>
                        <a:latin typeface="Helvetica" pitchFamily="34" charset="0"/>
                        <a:ea typeface="Calibri"/>
                        <a:cs typeface="Calibri"/>
                      </a:endParaRPr>
                    </a:p>
                  </a:txBody>
                  <a:tcPr marL="66279" marR="66279" marT="0" marB="0" anchor="ctr"/>
                </a:tc>
              </a:tr>
              <a:tr h="337734">
                <a:tc>
                  <a:txBody>
                    <a:bodyPr/>
                    <a:lstStyle/>
                    <a:p>
                      <a:pPr>
                        <a:lnSpc>
                          <a:spcPct val="115000"/>
                        </a:lnSpc>
                        <a:spcBef>
                          <a:spcPts val="600"/>
                        </a:spcBef>
                        <a:spcAft>
                          <a:spcPts val="600"/>
                        </a:spcAft>
                      </a:pPr>
                      <a:r>
                        <a:rPr lang="en-AU" sz="1400" dirty="0">
                          <a:effectLst/>
                          <a:latin typeface="Helvetica" pitchFamily="34" charset="0"/>
                        </a:rPr>
                        <a:t>Electricity &amp; Gas</a:t>
                      </a:r>
                      <a:endParaRPr lang="en-AU" sz="1400" dirty="0">
                        <a:effectLst/>
                        <a:latin typeface="Helvetica" pitchFamily="34" charset="0"/>
                        <a:ea typeface="Calibri"/>
                        <a:cs typeface="Calibri"/>
                      </a:endParaRPr>
                    </a:p>
                  </a:txBody>
                  <a:tcPr marL="66279" marR="66279" marT="0" marB="0" anchor="ctr"/>
                </a:tc>
                <a:tc>
                  <a:txBody>
                    <a:bodyPr/>
                    <a:lstStyle/>
                    <a:p>
                      <a:pPr algn="ctr">
                        <a:lnSpc>
                          <a:spcPct val="115000"/>
                        </a:lnSpc>
                        <a:spcBef>
                          <a:spcPts val="600"/>
                        </a:spcBef>
                        <a:spcAft>
                          <a:spcPts val="600"/>
                        </a:spcAft>
                      </a:pPr>
                      <a:r>
                        <a:rPr lang="en-AU" sz="1400" dirty="0">
                          <a:effectLst/>
                          <a:latin typeface="Helvetica" pitchFamily="34" charset="0"/>
                        </a:rPr>
                        <a:t>400</a:t>
                      </a:r>
                      <a:endParaRPr lang="en-AU" sz="1400" dirty="0">
                        <a:effectLst/>
                        <a:latin typeface="Helvetica" pitchFamily="34" charset="0"/>
                        <a:ea typeface="Calibri"/>
                        <a:cs typeface="Calibri"/>
                      </a:endParaRPr>
                    </a:p>
                  </a:txBody>
                  <a:tcPr marL="66279" marR="66279" marT="0" marB="0" anchor="ctr"/>
                </a:tc>
                <a:tc>
                  <a:txBody>
                    <a:bodyPr/>
                    <a:lstStyle/>
                    <a:p>
                      <a:pPr algn="ctr">
                        <a:lnSpc>
                          <a:spcPct val="115000"/>
                        </a:lnSpc>
                        <a:spcBef>
                          <a:spcPts val="600"/>
                        </a:spcBef>
                        <a:spcAft>
                          <a:spcPts val="600"/>
                        </a:spcAft>
                      </a:pPr>
                      <a:r>
                        <a:rPr lang="en-AU" sz="1400" dirty="0">
                          <a:effectLst/>
                          <a:latin typeface="Helvetica" pitchFamily="34" charset="0"/>
                        </a:rPr>
                        <a:t> </a:t>
                      </a:r>
                      <a:endParaRPr lang="en-AU" sz="1400" dirty="0">
                        <a:effectLst/>
                        <a:latin typeface="Helvetica" pitchFamily="34" charset="0"/>
                        <a:ea typeface="Calibri"/>
                        <a:cs typeface="Calibri"/>
                      </a:endParaRPr>
                    </a:p>
                  </a:txBody>
                  <a:tcPr marL="66279" marR="66279" marT="0" marB="0" anchor="ctr"/>
                </a:tc>
              </a:tr>
              <a:tr h="337734">
                <a:tc>
                  <a:txBody>
                    <a:bodyPr/>
                    <a:lstStyle/>
                    <a:p>
                      <a:pPr>
                        <a:lnSpc>
                          <a:spcPct val="115000"/>
                        </a:lnSpc>
                      </a:pPr>
                      <a:endParaRPr lang="en-AU" sz="1400" dirty="0">
                        <a:effectLst/>
                        <a:latin typeface="Helvetica" pitchFamily="34" charset="0"/>
                      </a:endParaRPr>
                    </a:p>
                  </a:txBody>
                  <a:tcPr marL="66279" marR="66279" marT="0" marB="0" anchor="ctr"/>
                </a:tc>
                <a:tc>
                  <a:txBody>
                    <a:bodyPr/>
                    <a:lstStyle/>
                    <a:p>
                      <a:pPr algn="ctr">
                        <a:lnSpc>
                          <a:spcPct val="115000"/>
                        </a:lnSpc>
                        <a:spcBef>
                          <a:spcPts val="600"/>
                        </a:spcBef>
                        <a:spcAft>
                          <a:spcPts val="600"/>
                        </a:spcAft>
                      </a:pPr>
                      <a:r>
                        <a:rPr lang="en-AU" sz="1400" dirty="0">
                          <a:effectLst/>
                          <a:latin typeface="Helvetica" pitchFamily="34" charset="0"/>
                        </a:rPr>
                        <a:t>51800</a:t>
                      </a:r>
                      <a:endParaRPr lang="en-AU" sz="1400" dirty="0">
                        <a:effectLst/>
                        <a:latin typeface="Helvetica" pitchFamily="34" charset="0"/>
                        <a:ea typeface="Calibri"/>
                        <a:cs typeface="Calibri"/>
                      </a:endParaRPr>
                    </a:p>
                  </a:txBody>
                  <a:tcPr marL="66279" marR="66279" marT="0" marB="0" anchor="ctr"/>
                </a:tc>
                <a:tc>
                  <a:txBody>
                    <a:bodyPr/>
                    <a:lstStyle/>
                    <a:p>
                      <a:pPr algn="ctr">
                        <a:lnSpc>
                          <a:spcPct val="115000"/>
                        </a:lnSpc>
                        <a:spcBef>
                          <a:spcPts val="600"/>
                        </a:spcBef>
                        <a:spcAft>
                          <a:spcPts val="600"/>
                        </a:spcAft>
                      </a:pPr>
                      <a:r>
                        <a:rPr lang="en-AU" sz="1400" dirty="0">
                          <a:effectLst/>
                          <a:latin typeface="Helvetica" pitchFamily="34" charset="0"/>
                        </a:rPr>
                        <a:t>51800</a:t>
                      </a:r>
                      <a:endParaRPr lang="en-AU" sz="1400" dirty="0">
                        <a:effectLst/>
                        <a:latin typeface="Helvetica" pitchFamily="34" charset="0"/>
                        <a:ea typeface="Calibri"/>
                        <a:cs typeface="Calibri"/>
                      </a:endParaRPr>
                    </a:p>
                  </a:txBody>
                  <a:tcPr marL="66279" marR="66279" marT="0" marB="0" anchor="ctr"/>
                </a:tc>
              </a:tr>
            </a:tbl>
          </a:graphicData>
        </a:graphic>
      </p:graphicFrame>
      <p:sp>
        <p:nvSpPr>
          <p:cNvPr id="6" name="Slide Number Placeholder 3"/>
          <p:cNvSpPr>
            <a:spLocks noGrp="1"/>
          </p:cNvSpPr>
          <p:nvPr>
            <p:ph type="sldNum" sz="quarter" idx="12"/>
          </p:nvPr>
        </p:nvSpPr>
        <p:spPr>
          <a:xfrm>
            <a:off x="8153400" y="6422064"/>
            <a:ext cx="762000" cy="365125"/>
          </a:xfrm>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17</a:t>
            </a:fld>
            <a:endParaRPr lang="en-AU" dirty="0">
              <a:latin typeface="Helvetica" pitchFamily="34" charset="0"/>
            </a:endParaRPr>
          </a:p>
        </p:txBody>
      </p:sp>
    </p:spTree>
    <p:extLst>
      <p:ext uri="{BB962C8B-B14F-4D97-AF65-F5344CB8AC3E}">
        <p14:creationId xmlns:p14="http://schemas.microsoft.com/office/powerpoint/2010/main" val="325608054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70440" cy="962744"/>
          </a:xfrm>
        </p:spPr>
        <p:txBody>
          <a:bodyPr>
            <a:normAutofit/>
          </a:bodyPr>
          <a:lstStyle/>
          <a:p>
            <a:r>
              <a:rPr lang="en-US" sz="3000" b="1" dirty="0">
                <a:solidFill>
                  <a:srgbClr val="FF6600"/>
                </a:solidFill>
                <a:latin typeface="Helvetica" pitchFamily="34" charset="0"/>
              </a:rPr>
              <a:t>1.2	Balance transactions accurately</a:t>
            </a:r>
          </a:p>
        </p:txBody>
      </p:sp>
      <p:sp>
        <p:nvSpPr>
          <p:cNvPr id="3" name="Content Placeholder 2"/>
          <p:cNvSpPr>
            <a:spLocks noGrp="1"/>
          </p:cNvSpPr>
          <p:nvPr>
            <p:ph idx="1"/>
          </p:nvPr>
        </p:nvSpPr>
        <p:spPr>
          <a:xfrm>
            <a:off x="611560" y="1556792"/>
            <a:ext cx="7237040" cy="4525963"/>
          </a:xfrm>
        </p:spPr>
        <p:txBody>
          <a:bodyPr>
            <a:normAutofit/>
          </a:bodyPr>
          <a:lstStyle/>
          <a:p>
            <a:pPr marL="36576" indent="0">
              <a:spcBef>
                <a:spcPts val="600"/>
              </a:spcBef>
              <a:spcAft>
                <a:spcPts val="1200"/>
              </a:spcAft>
              <a:buNone/>
            </a:pPr>
            <a:r>
              <a:rPr lang="en-AU" sz="2200" b="1" dirty="0">
                <a:latin typeface="Helvetica"/>
                <a:ea typeface="Times New Roman"/>
                <a:cs typeface="HelveticaNeueLTStd-Cn"/>
              </a:rPr>
              <a:t>Finalise reconciliations within designated timelines</a:t>
            </a:r>
            <a:endParaRPr lang="en-AU" sz="2200" dirty="0">
              <a:ea typeface="Times New Roman"/>
              <a:cs typeface="Times New Roman"/>
            </a:endParaRPr>
          </a:p>
          <a:p>
            <a:pPr>
              <a:spcBef>
                <a:spcPts val="600"/>
              </a:spcBef>
              <a:spcAft>
                <a:spcPts val="1200"/>
              </a:spcAft>
            </a:pPr>
            <a:r>
              <a:rPr lang="en-AU" sz="2200" b="1" dirty="0" smtClean="0">
                <a:latin typeface="Helvetica"/>
                <a:ea typeface="Times New Roman"/>
                <a:cs typeface="HelveticaNeueLTStd-MdCn"/>
              </a:rPr>
              <a:t>Timelines</a:t>
            </a:r>
          </a:p>
          <a:p>
            <a:pPr lvl="1">
              <a:spcBef>
                <a:spcPts val="600"/>
              </a:spcBef>
              <a:spcAft>
                <a:spcPts val="1200"/>
              </a:spcAft>
            </a:pPr>
            <a:r>
              <a:rPr lang="en-AU" sz="2200" dirty="0" smtClean="0">
                <a:latin typeface="Helvetica"/>
                <a:ea typeface="Times New Roman"/>
                <a:cs typeface="Times New Roman"/>
              </a:rPr>
              <a:t>Why is this important?</a:t>
            </a:r>
            <a:endParaRPr lang="en-AU" sz="2200" dirty="0">
              <a:ea typeface="Times New Roman"/>
              <a:cs typeface="Times New Roman"/>
            </a:endParaRPr>
          </a:p>
          <a:p>
            <a:pPr>
              <a:spcBef>
                <a:spcPts val="600"/>
              </a:spcBef>
              <a:spcAft>
                <a:spcPts val="1200"/>
              </a:spcAft>
            </a:pPr>
            <a:r>
              <a:rPr lang="en-AU" sz="2200" b="1" dirty="0">
                <a:latin typeface="Helvetica"/>
                <a:ea typeface="Times New Roman"/>
                <a:cs typeface="HelveticaNeueLTStd-MdCn"/>
              </a:rPr>
              <a:t>Providing </a:t>
            </a:r>
            <a:r>
              <a:rPr lang="en-AU" sz="2200" b="1" dirty="0" smtClean="0">
                <a:latin typeface="Helvetica"/>
                <a:ea typeface="Times New Roman"/>
                <a:cs typeface="HelveticaNeueLTStd-MdCn"/>
              </a:rPr>
              <a:t>information</a:t>
            </a:r>
          </a:p>
          <a:p>
            <a:pPr lvl="1">
              <a:spcBef>
                <a:spcPts val="600"/>
              </a:spcBef>
              <a:spcAft>
                <a:spcPts val="1200"/>
              </a:spcAft>
            </a:pPr>
            <a:r>
              <a:rPr lang="en-AU" sz="2200" dirty="0">
                <a:latin typeface="Helvetica"/>
                <a:ea typeface="Times New Roman"/>
                <a:cs typeface="HelveticaNeueLTStd-Lt"/>
              </a:rPr>
              <a:t>Distribution of the information will be limited to specified persons as determined by the </a:t>
            </a:r>
            <a:r>
              <a:rPr lang="en-AU" sz="2200" dirty="0" smtClean="0">
                <a:latin typeface="Helvetica"/>
                <a:ea typeface="Times New Roman"/>
                <a:cs typeface="HelveticaNeueLTStd-Lt"/>
              </a:rPr>
              <a:t>venue</a:t>
            </a:r>
            <a:endParaRPr lang="en-AU" sz="2200" dirty="0">
              <a:ea typeface="Times New Roman"/>
              <a:cs typeface="Times New Roman"/>
            </a:endParaRPr>
          </a:p>
          <a:p>
            <a:pPr>
              <a:spcBef>
                <a:spcPts val="600"/>
              </a:spcBef>
              <a:spcAft>
                <a:spcPts val="1200"/>
              </a:spcAft>
            </a:pPr>
            <a:endParaRPr lang="en-AU" sz="2200" dirty="0">
              <a:ea typeface="Times New Roman"/>
              <a:cs typeface="Times New Roman"/>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18</a:t>
            </a:fld>
            <a:endParaRPr lang="en-US" dirty="0">
              <a:solidFill>
                <a:srgbClr val="4E5B6F">
                  <a:shade val="50000"/>
                </a:srgbClr>
              </a:solidFill>
              <a:latin typeface="Helvetica" pitchFamily="34" charset="0"/>
            </a:endParaRPr>
          </a:p>
        </p:txBody>
      </p:sp>
      <p:pic>
        <p:nvPicPr>
          <p:cNvPr id="6" name="Picture 5" descr="50.jpg"/>
          <p:cNvPicPr/>
          <p:nvPr/>
        </p:nvPicPr>
        <p:blipFill>
          <a:blip r:embed="rId3" cstate="print"/>
          <a:stretch>
            <a:fillRect/>
          </a:stretch>
        </p:blipFill>
        <p:spPr>
          <a:xfrm>
            <a:off x="6400800" y="2286000"/>
            <a:ext cx="1746913" cy="1337481"/>
          </a:xfrm>
          <a:prstGeom prst="rect">
            <a:avLst/>
          </a:prstGeom>
        </p:spPr>
      </p:pic>
    </p:spTree>
    <p:extLst>
      <p:ext uri="{BB962C8B-B14F-4D97-AF65-F5344CB8AC3E}">
        <p14:creationId xmlns:p14="http://schemas.microsoft.com/office/powerpoint/2010/main" val="20817272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82000" cy="1267544"/>
          </a:xfrm>
        </p:spPr>
        <p:txBody>
          <a:bodyPr>
            <a:normAutofit/>
          </a:bodyPr>
          <a:lstStyle/>
          <a:p>
            <a:pPr indent="-457200"/>
            <a:r>
              <a:rPr lang="en-AU" sz="2900" b="1" dirty="0">
                <a:solidFill>
                  <a:srgbClr val="FF6600"/>
                </a:solidFill>
              </a:rPr>
              <a:t>1.3	Check balances prepared by others are in </a:t>
            </a:r>
            <a:r>
              <a:rPr lang="en-AU" sz="2900" b="1" dirty="0" smtClean="0">
                <a:solidFill>
                  <a:srgbClr val="FF6600"/>
                </a:solidFill>
              </a:rPr>
              <a:t>	accordance </a:t>
            </a:r>
            <a:r>
              <a:rPr lang="en-AU" sz="2900" b="1" dirty="0">
                <a:solidFill>
                  <a:srgbClr val="FF6600"/>
                </a:solidFill>
              </a:rPr>
              <a:t>with enterprise procedures</a:t>
            </a:r>
            <a:endParaRPr lang="en-US" sz="2900" b="1" dirty="0">
              <a:solidFill>
                <a:srgbClr val="FF6600"/>
              </a:solidFill>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b="1" dirty="0">
                <a:latin typeface="Helvetica"/>
                <a:ea typeface="Times New Roman"/>
                <a:cs typeface="Times New Roman"/>
              </a:rPr>
              <a:t>Importance of separating areas of financial </a:t>
            </a:r>
            <a:r>
              <a:rPr lang="en-AU" sz="2200" b="1" dirty="0" smtClean="0">
                <a:latin typeface="Helvetica"/>
                <a:ea typeface="Times New Roman"/>
                <a:cs typeface="Times New Roman"/>
              </a:rPr>
              <a:t>responsibility</a:t>
            </a:r>
            <a:endParaRPr lang="en-AU" sz="2200" dirty="0" smtClean="0">
              <a:latin typeface="Helvetica"/>
              <a:ea typeface="Calibri"/>
              <a:cs typeface="Calibri"/>
            </a:endParaRPr>
          </a:p>
          <a:p>
            <a:pPr>
              <a:spcBef>
                <a:spcPts val="600"/>
              </a:spcBef>
              <a:spcAft>
                <a:spcPts val="1200"/>
              </a:spcAft>
            </a:pPr>
            <a:r>
              <a:rPr lang="en-AU" sz="2200" dirty="0" smtClean="0">
                <a:latin typeface="Helvetica"/>
                <a:ea typeface="Calibri"/>
                <a:cs typeface="Calibri"/>
              </a:rPr>
              <a:t>To </a:t>
            </a:r>
            <a:r>
              <a:rPr lang="en-AU" sz="2200" dirty="0">
                <a:latin typeface="Helvetica"/>
                <a:ea typeface="Calibri"/>
                <a:cs typeface="Calibri"/>
              </a:rPr>
              <a:t>maintain an effective internal control system, management implement processes and procedures to safeguard the assets of the business and ensure the reliability of accounting </a:t>
            </a:r>
            <a:r>
              <a:rPr lang="en-AU" sz="2200" dirty="0" smtClean="0">
                <a:latin typeface="Helvetica"/>
                <a:ea typeface="Calibri"/>
                <a:cs typeface="Calibri"/>
              </a:rPr>
              <a:t>information</a:t>
            </a:r>
            <a:endParaRPr lang="en-AU" sz="2200" dirty="0">
              <a:latin typeface="Helvetica"/>
              <a:ea typeface="Calibri"/>
              <a:cs typeface="Calibri"/>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6" name="Picture 5" descr="Finance_Ch3_Pt3.jpg"/>
          <p:cNvPicPr/>
          <p:nvPr/>
        </p:nvPicPr>
        <p:blipFill>
          <a:blip r:embed="rId3" cstate="print"/>
          <a:stretch>
            <a:fillRect/>
          </a:stretch>
        </p:blipFill>
        <p:spPr>
          <a:xfrm>
            <a:off x="5715000" y="4114800"/>
            <a:ext cx="2000819" cy="1310185"/>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6932240" cy="4767808"/>
          </a:xfrm>
        </p:spPr>
        <p:txBody>
          <a:bodyPr>
            <a:noAutofit/>
          </a:bodyPr>
          <a:lstStyle/>
          <a:p>
            <a:pPr indent="-420624">
              <a:spcBef>
                <a:spcPts val="600"/>
              </a:spcBef>
              <a:spcAft>
                <a:spcPts val="600"/>
              </a:spcAft>
              <a:buNone/>
            </a:pPr>
            <a:r>
              <a:rPr lang="en-AU" sz="2400" b="1" dirty="0">
                <a:latin typeface="Helvetica"/>
                <a:ea typeface="Calibri"/>
                <a:cs typeface="Calibri"/>
              </a:rPr>
              <a:t>Reviewing transactions recorded by </a:t>
            </a:r>
            <a:r>
              <a:rPr lang="en-AU" sz="2400" b="1" dirty="0" smtClean="0">
                <a:latin typeface="Helvetica"/>
                <a:ea typeface="Calibri"/>
                <a:cs typeface="Calibri"/>
              </a:rPr>
              <a:t>others</a:t>
            </a:r>
          </a:p>
          <a:p>
            <a:pPr indent="-420624">
              <a:spcBef>
                <a:spcPts val="600"/>
              </a:spcBef>
              <a:spcAft>
                <a:spcPts val="600"/>
              </a:spcAft>
            </a:pPr>
            <a:r>
              <a:rPr lang="en-AU" sz="2400" dirty="0" smtClean="0">
                <a:latin typeface="Helvetica"/>
                <a:ea typeface="Calibri"/>
                <a:cs typeface="Calibri"/>
              </a:rPr>
              <a:t>Before </a:t>
            </a:r>
            <a:r>
              <a:rPr lang="en-AU" sz="2400" dirty="0">
                <a:latin typeface="Helvetica"/>
                <a:ea typeface="Calibri"/>
                <a:cs typeface="Calibri"/>
              </a:rPr>
              <a:t>the journals are posted, each journal is reviewed to ensure:</a:t>
            </a:r>
          </a:p>
          <a:p>
            <a:pPr marL="644652" lvl="1" indent="-342900">
              <a:spcBef>
                <a:spcPts val="600"/>
              </a:spcBef>
              <a:spcAft>
                <a:spcPts val="600"/>
              </a:spcAft>
              <a:buFont typeface="Symbol"/>
              <a:buChar char=""/>
            </a:pPr>
            <a:r>
              <a:rPr lang="en-AU" sz="2400" dirty="0">
                <a:latin typeface="Helvetica"/>
                <a:ea typeface="Calibri"/>
                <a:cs typeface="Times New Roman"/>
              </a:rPr>
              <a:t>Transactions are in the correct column</a:t>
            </a:r>
          </a:p>
          <a:p>
            <a:pPr marL="644652" lvl="1" indent="-342900">
              <a:spcBef>
                <a:spcPts val="600"/>
              </a:spcBef>
              <a:spcAft>
                <a:spcPts val="600"/>
              </a:spcAft>
              <a:buFont typeface="Symbol"/>
              <a:buChar char=""/>
            </a:pPr>
            <a:r>
              <a:rPr lang="en-AU" sz="2400" dirty="0">
                <a:latin typeface="Helvetica"/>
                <a:ea typeface="Calibri"/>
                <a:cs typeface="Times New Roman"/>
              </a:rPr>
              <a:t>The calculations are correct</a:t>
            </a:r>
          </a:p>
          <a:p>
            <a:pPr marL="644652" lvl="1" indent="-342900">
              <a:spcBef>
                <a:spcPts val="600"/>
              </a:spcBef>
              <a:spcAft>
                <a:spcPts val="600"/>
              </a:spcAft>
              <a:buFont typeface="Symbol"/>
              <a:buChar char=""/>
            </a:pPr>
            <a:r>
              <a:rPr lang="en-AU" sz="2400" dirty="0">
                <a:latin typeface="Helvetica"/>
                <a:ea typeface="Calibri"/>
                <a:cs typeface="Times New Roman"/>
              </a:rPr>
              <a:t>Any unusual amounts are confirmed by source </a:t>
            </a:r>
            <a:r>
              <a:rPr lang="en-AU" sz="2400" dirty="0" smtClean="0">
                <a:latin typeface="Helvetica"/>
                <a:ea typeface="Calibri"/>
                <a:cs typeface="Times New Roman"/>
              </a:rPr>
              <a:t>documentation</a:t>
            </a: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20</a:t>
            </a:fld>
            <a:endParaRPr lang="en-US" dirty="0">
              <a:solidFill>
                <a:srgbClr val="4E5B6F">
                  <a:shade val="50000"/>
                </a:srgbClr>
              </a:solidFill>
              <a:latin typeface="Helvetica" pitchFamily="34" charset="0"/>
            </a:endParaRPr>
          </a:p>
        </p:txBody>
      </p:sp>
      <p:sp>
        <p:nvSpPr>
          <p:cNvPr id="7" name="Title 1"/>
          <p:cNvSpPr>
            <a:spLocks noGrp="1"/>
          </p:cNvSpPr>
          <p:nvPr>
            <p:ph type="title"/>
          </p:nvPr>
        </p:nvSpPr>
        <p:spPr>
          <a:xfrm>
            <a:off x="381000" y="228600"/>
            <a:ext cx="8382000" cy="1267544"/>
          </a:xfrm>
        </p:spPr>
        <p:txBody>
          <a:bodyPr>
            <a:normAutofit/>
          </a:bodyPr>
          <a:lstStyle/>
          <a:p>
            <a:pPr indent="-457200"/>
            <a:r>
              <a:rPr lang="en-AU" sz="2900" b="1" dirty="0">
                <a:solidFill>
                  <a:srgbClr val="FF6600"/>
                </a:solidFill>
              </a:rPr>
              <a:t>1.3	Check balances prepared by others are in </a:t>
            </a:r>
            <a:r>
              <a:rPr lang="en-AU" sz="2900" b="1" dirty="0" smtClean="0">
                <a:solidFill>
                  <a:srgbClr val="FF6600"/>
                </a:solidFill>
              </a:rPr>
              <a:t>	accordance </a:t>
            </a:r>
            <a:r>
              <a:rPr lang="en-AU" sz="2900" b="1" dirty="0">
                <a:solidFill>
                  <a:srgbClr val="FF6600"/>
                </a:solidFill>
              </a:rPr>
              <a:t>with enterprise procedures</a:t>
            </a:r>
            <a:endParaRPr lang="en-US" sz="2900" b="1" dirty="0">
              <a:solidFill>
                <a:srgbClr val="FF6600"/>
              </a:solidFill>
            </a:endParaRPr>
          </a:p>
        </p:txBody>
      </p:sp>
      <p:pic>
        <p:nvPicPr>
          <p:cNvPr id="8" name="Picture 7" descr="45.jpg"/>
          <p:cNvPicPr/>
          <p:nvPr/>
        </p:nvPicPr>
        <p:blipFill>
          <a:blip r:embed="rId3" cstate="print"/>
          <a:stretch>
            <a:fillRect/>
          </a:stretch>
        </p:blipFill>
        <p:spPr>
          <a:xfrm>
            <a:off x="7086600" y="2514600"/>
            <a:ext cx="1175603" cy="1746913"/>
          </a:xfrm>
          <a:prstGeom prst="rect">
            <a:avLst/>
          </a:prstGeom>
        </p:spPr>
      </p:pic>
    </p:spTree>
    <p:extLst>
      <p:ext uri="{BB962C8B-B14F-4D97-AF65-F5344CB8AC3E}">
        <p14:creationId xmlns:p14="http://schemas.microsoft.com/office/powerpoint/2010/main" val="21060547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6932240" cy="4767808"/>
          </a:xfrm>
        </p:spPr>
        <p:txBody>
          <a:bodyPr>
            <a:noAutofit/>
          </a:bodyPr>
          <a:lstStyle/>
          <a:p>
            <a:pPr indent="-420624">
              <a:spcBef>
                <a:spcPts val="600"/>
              </a:spcBef>
              <a:spcAft>
                <a:spcPts val="600"/>
              </a:spcAft>
              <a:buNone/>
            </a:pPr>
            <a:r>
              <a:rPr lang="en-AU" sz="2400" b="1" dirty="0">
                <a:latin typeface="Helvetica"/>
                <a:ea typeface="Calibri"/>
                <a:cs typeface="Calibri"/>
              </a:rPr>
              <a:t>Reviewing transactions recorded by </a:t>
            </a:r>
            <a:r>
              <a:rPr lang="en-AU" sz="2400" b="1" dirty="0" smtClean="0">
                <a:latin typeface="Helvetica"/>
                <a:ea typeface="Calibri"/>
                <a:cs typeface="Calibri"/>
              </a:rPr>
              <a:t>others</a:t>
            </a:r>
          </a:p>
          <a:p>
            <a:pPr>
              <a:spcBef>
                <a:spcPts val="600"/>
              </a:spcBef>
              <a:spcAft>
                <a:spcPts val="600"/>
              </a:spcAft>
            </a:pPr>
            <a:r>
              <a:rPr lang="en-AU" sz="2400" dirty="0" smtClean="0">
                <a:latin typeface="Helvetica"/>
                <a:ea typeface="Calibri"/>
                <a:cs typeface="Calibri"/>
              </a:rPr>
              <a:t>Activities </a:t>
            </a:r>
            <a:r>
              <a:rPr lang="en-AU" sz="2400" dirty="0">
                <a:latin typeface="Helvetica"/>
                <a:ea typeface="Calibri"/>
                <a:cs typeface="Calibri"/>
              </a:rPr>
              <a:t>associated with checking balances </a:t>
            </a:r>
            <a:r>
              <a:rPr lang="en-AU" sz="2400" dirty="0" smtClean="0">
                <a:latin typeface="Helvetica"/>
                <a:ea typeface="Calibri"/>
                <a:cs typeface="Calibri"/>
              </a:rPr>
              <a:t>performed </a:t>
            </a:r>
            <a:r>
              <a:rPr lang="en-AU" sz="2400" dirty="0">
                <a:latin typeface="Helvetica"/>
                <a:ea typeface="Calibri"/>
                <a:cs typeface="Calibri"/>
              </a:rPr>
              <a:t>by others</a:t>
            </a:r>
          </a:p>
          <a:p>
            <a:pPr marL="644652" lvl="1" indent="-342900">
              <a:spcBef>
                <a:spcPts val="600"/>
              </a:spcBef>
              <a:spcAft>
                <a:spcPts val="600"/>
              </a:spcAft>
              <a:buFont typeface="Symbol"/>
              <a:buChar char=""/>
            </a:pPr>
            <a:r>
              <a:rPr lang="en-AU" sz="2400" dirty="0">
                <a:latin typeface="Helvetica"/>
                <a:ea typeface="Calibri"/>
                <a:cs typeface="Calibri"/>
              </a:rPr>
              <a:t>Checking accuracy of </a:t>
            </a:r>
            <a:r>
              <a:rPr lang="en-AU" sz="2400" dirty="0" smtClean="0">
                <a:latin typeface="Helvetica"/>
                <a:ea typeface="Calibri"/>
                <a:cs typeface="Calibri"/>
              </a:rPr>
              <a:t>debtor and creditor </a:t>
            </a:r>
            <a:r>
              <a:rPr lang="en-AU" sz="2400" dirty="0">
                <a:latin typeface="Helvetica"/>
                <a:ea typeface="Calibri"/>
                <a:cs typeface="Calibri"/>
              </a:rPr>
              <a:t>account </a:t>
            </a:r>
            <a:r>
              <a:rPr lang="en-AU" sz="2400" dirty="0" smtClean="0">
                <a:latin typeface="Helvetica"/>
                <a:ea typeface="Calibri"/>
                <a:cs typeface="Calibri"/>
              </a:rPr>
              <a:t>balances</a:t>
            </a:r>
          </a:p>
          <a:p>
            <a:pPr marL="644652" lvl="1" indent="-342900">
              <a:spcBef>
                <a:spcPts val="600"/>
              </a:spcBef>
              <a:spcAft>
                <a:spcPts val="600"/>
              </a:spcAft>
              <a:buFont typeface="Symbol"/>
              <a:buChar char=""/>
            </a:pPr>
            <a:r>
              <a:rPr lang="en-AU" sz="2400" dirty="0" smtClean="0">
                <a:latin typeface="Helvetica"/>
                <a:ea typeface="Calibri"/>
                <a:cs typeface="Calibri"/>
              </a:rPr>
              <a:t>Checking </a:t>
            </a:r>
            <a:r>
              <a:rPr lang="en-AU" sz="2400" dirty="0">
                <a:latin typeface="Helvetica"/>
                <a:ea typeface="Calibri"/>
                <a:cs typeface="Calibri"/>
              </a:rPr>
              <a:t>the total of the debtor's </a:t>
            </a:r>
            <a:r>
              <a:rPr lang="en-AU" sz="2400" dirty="0" smtClean="0">
                <a:latin typeface="Helvetica"/>
                <a:ea typeface="Calibri"/>
                <a:cs typeface="Calibri"/>
              </a:rPr>
              <a:t>and creditor’s schedule </a:t>
            </a: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Slide </a:t>
            </a:r>
            <a:fld id="{90BDF71C-F485-43AE-8825-5070AF1EA8C9}" type="slidenum">
              <a:rPr lang="en-US" smtClean="0">
                <a:solidFill>
                  <a:srgbClr val="4E5B6F">
                    <a:shade val="50000"/>
                  </a:srgbClr>
                </a:solidFill>
              </a:rPr>
              <a:pPr/>
              <a:t>21</a:t>
            </a:fld>
            <a:endParaRPr lang="en-US" dirty="0">
              <a:solidFill>
                <a:srgbClr val="4E5B6F">
                  <a:shade val="50000"/>
                </a:srgbClr>
              </a:solidFill>
            </a:endParaRPr>
          </a:p>
        </p:txBody>
      </p:sp>
      <p:sp>
        <p:nvSpPr>
          <p:cNvPr id="7" name="Title 1"/>
          <p:cNvSpPr>
            <a:spLocks noGrp="1"/>
          </p:cNvSpPr>
          <p:nvPr>
            <p:ph type="title"/>
          </p:nvPr>
        </p:nvSpPr>
        <p:spPr>
          <a:xfrm>
            <a:off x="381000" y="228600"/>
            <a:ext cx="8382000" cy="1267544"/>
          </a:xfrm>
        </p:spPr>
        <p:txBody>
          <a:bodyPr>
            <a:normAutofit/>
          </a:bodyPr>
          <a:lstStyle/>
          <a:p>
            <a:pPr indent="-457200"/>
            <a:r>
              <a:rPr lang="en-AU" sz="2900" b="1" dirty="0">
                <a:solidFill>
                  <a:srgbClr val="FF6600"/>
                </a:solidFill>
              </a:rPr>
              <a:t>1.3	Check balances prepared by others are in </a:t>
            </a:r>
            <a:r>
              <a:rPr lang="en-AU" sz="2900" b="1" dirty="0" smtClean="0">
                <a:solidFill>
                  <a:srgbClr val="FF6600"/>
                </a:solidFill>
              </a:rPr>
              <a:t>	accordance </a:t>
            </a:r>
            <a:r>
              <a:rPr lang="en-AU" sz="2900" b="1" dirty="0">
                <a:solidFill>
                  <a:srgbClr val="FF6600"/>
                </a:solidFill>
              </a:rPr>
              <a:t>with enterprise procedures</a:t>
            </a:r>
            <a:endParaRPr lang="en-US" sz="2900" b="1" dirty="0">
              <a:solidFill>
                <a:srgbClr val="FF6600"/>
              </a:solidFill>
            </a:endParaRPr>
          </a:p>
        </p:txBody>
      </p:sp>
      <p:pic>
        <p:nvPicPr>
          <p:cNvPr id="8" name="Picture 7" descr="45.jpg"/>
          <p:cNvPicPr/>
          <p:nvPr/>
        </p:nvPicPr>
        <p:blipFill>
          <a:blip r:embed="rId3" cstate="print"/>
          <a:stretch>
            <a:fillRect/>
          </a:stretch>
        </p:blipFill>
        <p:spPr>
          <a:xfrm>
            <a:off x="7086600" y="2514600"/>
            <a:ext cx="1175603" cy="1746913"/>
          </a:xfrm>
          <a:prstGeom prst="rect">
            <a:avLst/>
          </a:prstGeom>
        </p:spPr>
      </p:pic>
    </p:spTree>
    <p:extLst>
      <p:ext uri="{BB962C8B-B14F-4D97-AF65-F5344CB8AC3E}">
        <p14:creationId xmlns:p14="http://schemas.microsoft.com/office/powerpoint/2010/main" val="1779225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82000" cy="1267544"/>
          </a:xfrm>
        </p:spPr>
        <p:txBody>
          <a:bodyPr>
            <a:normAutofit/>
          </a:bodyPr>
          <a:lstStyle/>
          <a:p>
            <a:pPr indent="-457200"/>
            <a:r>
              <a:rPr lang="en-AU" sz="2900" b="1" dirty="0" smtClean="0">
                <a:solidFill>
                  <a:srgbClr val="FF6600"/>
                </a:solidFill>
              </a:rPr>
              <a:t>1.3	Check balances prepared by others are in 	accordance with enterprise procedures</a:t>
            </a:r>
            <a:endParaRPr lang="en-US" sz="2900" b="1" dirty="0">
              <a:solidFill>
                <a:srgbClr val="FF6600"/>
              </a:solidFill>
            </a:endParaRPr>
          </a:p>
        </p:txBody>
      </p:sp>
      <p:sp>
        <p:nvSpPr>
          <p:cNvPr id="3" name="Content Placeholder 2"/>
          <p:cNvSpPr>
            <a:spLocks noGrp="1"/>
          </p:cNvSpPr>
          <p:nvPr>
            <p:ph idx="1"/>
          </p:nvPr>
        </p:nvSpPr>
        <p:spPr>
          <a:xfrm>
            <a:off x="611560" y="1556792"/>
            <a:ext cx="7860450" cy="4767808"/>
          </a:xfrm>
        </p:spPr>
        <p:txBody>
          <a:bodyPr>
            <a:normAutofit/>
          </a:bodyPr>
          <a:lstStyle/>
          <a:p>
            <a:pPr marL="36576" indent="0">
              <a:lnSpc>
                <a:spcPct val="115000"/>
              </a:lnSpc>
              <a:spcBef>
                <a:spcPts val="1200"/>
              </a:spcBef>
              <a:spcAft>
                <a:spcPts val="1200"/>
              </a:spcAft>
              <a:buNone/>
            </a:pPr>
            <a:r>
              <a:rPr lang="en-AU" sz="2200" b="1" dirty="0">
                <a:latin typeface="Helvetica"/>
                <a:ea typeface="Times New Roman"/>
                <a:cs typeface="HelveticaNeueLTStd-Cn"/>
              </a:rPr>
              <a:t>Investigate and clear outstanding entries </a:t>
            </a:r>
            <a:endParaRPr lang="en-AU" sz="2200" b="1" dirty="0" smtClean="0">
              <a:latin typeface="Helvetica"/>
              <a:ea typeface="Times New Roman"/>
              <a:cs typeface="HelveticaNeueLTStd-Cn"/>
            </a:endParaRPr>
          </a:p>
          <a:p>
            <a:pPr>
              <a:lnSpc>
                <a:spcPct val="115000"/>
              </a:lnSpc>
              <a:spcBef>
                <a:spcPts val="400"/>
              </a:spcBef>
              <a:spcAft>
                <a:spcPts val="600"/>
              </a:spcAft>
            </a:pPr>
            <a:r>
              <a:rPr lang="en-AU" sz="2200" dirty="0">
                <a:latin typeface="Helvetica"/>
                <a:ea typeface="Times New Roman"/>
                <a:cs typeface="HelveticaNeueLTStd-Lt"/>
              </a:rPr>
              <a:t>These are simply accounts that cannot be resolved in terms of what they are, where they should go or whether or not they will be </a:t>
            </a:r>
            <a:r>
              <a:rPr lang="en-AU" sz="2200" dirty="0" smtClean="0">
                <a:latin typeface="Helvetica"/>
                <a:ea typeface="Times New Roman"/>
                <a:cs typeface="HelveticaNeueLTStd-Lt"/>
              </a:rPr>
              <a:t>paid</a:t>
            </a:r>
            <a:endParaRPr lang="en-AU" sz="2200" dirty="0">
              <a:ea typeface="Times New Roman"/>
              <a:cs typeface="Times New Roman"/>
            </a:endParaRPr>
          </a:p>
          <a:p>
            <a:pPr>
              <a:lnSpc>
                <a:spcPct val="115000"/>
              </a:lnSpc>
              <a:spcBef>
                <a:spcPts val="1200"/>
              </a:spcBef>
              <a:spcAft>
                <a:spcPts val="1200"/>
              </a:spcAft>
            </a:pPr>
            <a:endParaRPr lang="en-AU" sz="2200" b="1" dirty="0">
              <a:latin typeface="Helvetica"/>
              <a:ea typeface="Times New Roman"/>
              <a:cs typeface="Times New Roman"/>
            </a:endParaRPr>
          </a:p>
          <a:p>
            <a:pPr>
              <a:lnSpc>
                <a:spcPct val="115000"/>
              </a:lnSpc>
              <a:spcBef>
                <a:spcPts val="1200"/>
              </a:spcBef>
              <a:spcAft>
                <a:spcPts val="1200"/>
              </a:spcAft>
            </a:pPr>
            <a:endParaRPr lang="en-AU" sz="2200" dirty="0">
              <a:ea typeface="Times New Roman"/>
              <a:cs typeface="Times New Roman"/>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22</a:t>
            </a:fld>
            <a:endParaRPr lang="en-US" dirty="0">
              <a:solidFill>
                <a:srgbClr val="4E5B6F">
                  <a:shade val="50000"/>
                </a:srgbClr>
              </a:solidFill>
              <a:latin typeface="Helvetica" pitchFamily="34" charset="0"/>
            </a:endParaRPr>
          </a:p>
        </p:txBody>
      </p:sp>
      <p:pic>
        <p:nvPicPr>
          <p:cNvPr id="6" name="Picture 5" descr="hv.jpg"/>
          <p:cNvPicPr/>
          <p:nvPr/>
        </p:nvPicPr>
        <p:blipFill>
          <a:blip r:embed="rId3" cstate="print"/>
          <a:stretch>
            <a:fillRect/>
          </a:stretch>
        </p:blipFill>
        <p:spPr>
          <a:xfrm>
            <a:off x="6324600" y="3200400"/>
            <a:ext cx="1765110" cy="1752600"/>
          </a:xfrm>
          <a:prstGeom prst="rect">
            <a:avLst/>
          </a:prstGeom>
        </p:spPr>
      </p:pic>
    </p:spTree>
    <p:extLst>
      <p:ext uri="{BB962C8B-B14F-4D97-AF65-F5344CB8AC3E}">
        <p14:creationId xmlns:p14="http://schemas.microsoft.com/office/powerpoint/2010/main" val="355725638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05800" cy="1143000"/>
          </a:xfrm>
        </p:spPr>
        <p:txBody>
          <a:bodyPr>
            <a:noAutofit/>
          </a:bodyPr>
          <a:lstStyle/>
          <a:p>
            <a:r>
              <a:rPr lang="en-AU" sz="2900" b="1" dirty="0">
                <a:solidFill>
                  <a:srgbClr val="FF6600"/>
                </a:solidFill>
              </a:rPr>
              <a:t>1.3	Check balances prepared by others are in 	accordance with enterprise procedures</a:t>
            </a:r>
            <a:endParaRPr lang="en-AU" sz="2900" dirty="0"/>
          </a:p>
        </p:txBody>
      </p:sp>
      <p:sp>
        <p:nvSpPr>
          <p:cNvPr id="3" name="Content Placeholder 2"/>
          <p:cNvSpPr>
            <a:spLocks noGrp="1"/>
          </p:cNvSpPr>
          <p:nvPr>
            <p:ph idx="1"/>
          </p:nvPr>
        </p:nvSpPr>
        <p:spPr/>
        <p:txBody>
          <a:bodyPr>
            <a:normAutofit/>
          </a:bodyPr>
          <a:lstStyle/>
          <a:p>
            <a:pPr marL="36576" indent="0">
              <a:buNone/>
            </a:pPr>
            <a:r>
              <a:rPr lang="en-AU" sz="2200" b="1" dirty="0" smtClean="0"/>
              <a:t>Outstanding entries</a:t>
            </a:r>
          </a:p>
          <a:p>
            <a:pPr marL="36576" indent="0">
              <a:lnSpc>
                <a:spcPct val="115000"/>
              </a:lnSpc>
              <a:spcBef>
                <a:spcPts val="400"/>
              </a:spcBef>
              <a:spcAft>
                <a:spcPts val="600"/>
              </a:spcAft>
              <a:buNone/>
            </a:pPr>
            <a:r>
              <a:rPr lang="en-AU" sz="2200" dirty="0">
                <a:solidFill>
                  <a:srgbClr val="000000"/>
                </a:solidFill>
                <a:ea typeface="Times New Roman"/>
                <a:cs typeface="HelveticaNeueLTStd-MdCn"/>
              </a:rPr>
              <a:t>Discussing with appropriate colleagues</a:t>
            </a:r>
            <a:endParaRPr lang="en-AU" sz="2200" dirty="0">
              <a:ea typeface="Times New Roman"/>
              <a:cs typeface="Times New Roman"/>
            </a:endParaRPr>
          </a:p>
          <a:p>
            <a:pPr>
              <a:lnSpc>
                <a:spcPct val="115000"/>
              </a:lnSpc>
              <a:spcBef>
                <a:spcPts val="400"/>
              </a:spcBef>
              <a:spcAft>
                <a:spcPts val="600"/>
              </a:spcAft>
            </a:pPr>
            <a:r>
              <a:rPr lang="en-AU" sz="2200" dirty="0">
                <a:solidFill>
                  <a:srgbClr val="000000"/>
                </a:solidFill>
                <a:ea typeface="Times New Roman"/>
                <a:cs typeface="HelveticaNeueLTStd-Lt"/>
              </a:rPr>
              <a:t>The appropriate colleague is initially the person who was responsible for raising the source </a:t>
            </a:r>
            <a:r>
              <a:rPr lang="en-AU" sz="2200" dirty="0" smtClean="0">
                <a:solidFill>
                  <a:srgbClr val="000000"/>
                </a:solidFill>
                <a:ea typeface="Times New Roman"/>
                <a:cs typeface="HelveticaNeueLTStd-Lt"/>
              </a:rPr>
              <a:t>document</a:t>
            </a:r>
            <a:endParaRPr lang="en-AU" sz="2200" dirty="0">
              <a:ea typeface="Times New Roman"/>
              <a:cs typeface="Times New Roman"/>
            </a:endParaRPr>
          </a:p>
          <a:p>
            <a:pPr>
              <a:lnSpc>
                <a:spcPct val="115000"/>
              </a:lnSpc>
              <a:spcBef>
                <a:spcPts val="400"/>
              </a:spcBef>
              <a:spcAft>
                <a:spcPts val="600"/>
              </a:spcAft>
            </a:pPr>
            <a:r>
              <a:rPr lang="en-AU" sz="2200" dirty="0" smtClean="0">
                <a:solidFill>
                  <a:srgbClr val="000000"/>
                </a:solidFill>
                <a:ea typeface="Times New Roman"/>
                <a:cs typeface="HelveticaNeueLTStd-Lt"/>
              </a:rPr>
              <a:t>Where </a:t>
            </a:r>
            <a:r>
              <a:rPr lang="en-AU" sz="2200" dirty="0">
                <a:solidFill>
                  <a:srgbClr val="000000"/>
                </a:solidFill>
                <a:ea typeface="Times New Roman"/>
                <a:cs typeface="HelveticaNeueLTStd-Lt"/>
              </a:rPr>
              <a:t>this person is unable to help:</a:t>
            </a:r>
            <a:endParaRPr lang="en-AU" sz="2200" dirty="0">
              <a:ea typeface="Times New Roman"/>
              <a:cs typeface="Times New Roman"/>
            </a:endParaRPr>
          </a:p>
          <a:p>
            <a:pPr marL="644652" lvl="1" indent="-342900">
              <a:spcBef>
                <a:spcPts val="600"/>
              </a:spcBef>
              <a:spcAft>
                <a:spcPts val="1200"/>
              </a:spcAft>
              <a:buFont typeface="Symbol"/>
              <a:buChar char=""/>
            </a:pPr>
            <a:r>
              <a:rPr lang="en-AU" sz="2200" dirty="0">
                <a:solidFill>
                  <a:srgbClr val="000000"/>
                </a:solidFill>
                <a:ea typeface="Times New Roman"/>
                <a:cs typeface="HelveticaNeueLTStd-Lt"/>
              </a:rPr>
              <a:t>Seek advice from management</a:t>
            </a:r>
            <a:endParaRPr lang="en-AU" sz="2200" dirty="0">
              <a:ea typeface="Times New Roman"/>
              <a:cs typeface="Times New Roman"/>
            </a:endParaRPr>
          </a:p>
          <a:p>
            <a:pPr marL="644652" lvl="1" indent="-342900">
              <a:lnSpc>
                <a:spcPct val="115000"/>
              </a:lnSpc>
              <a:spcBef>
                <a:spcPts val="400"/>
              </a:spcBef>
              <a:spcAft>
                <a:spcPts val="600"/>
              </a:spcAft>
              <a:buFont typeface="Symbol"/>
              <a:buChar char=""/>
            </a:pPr>
            <a:r>
              <a:rPr lang="en-AU" sz="2200" dirty="0">
                <a:solidFill>
                  <a:srgbClr val="000000"/>
                </a:solidFill>
                <a:ea typeface="Times New Roman"/>
                <a:cs typeface="HelveticaNeueLTStd-Lt"/>
              </a:rPr>
              <a:t>Follow in-house standard operating </a:t>
            </a:r>
            <a:r>
              <a:rPr lang="en-AU" sz="2200" dirty="0" smtClean="0">
                <a:solidFill>
                  <a:srgbClr val="000000"/>
                </a:solidFill>
                <a:ea typeface="Times New Roman"/>
                <a:cs typeface="HelveticaNeueLTStd-Lt"/>
              </a:rPr>
              <a:t>procedures</a:t>
            </a:r>
            <a:endParaRPr lang="en-AU" sz="2200" dirty="0">
              <a:ea typeface="Times New Roman"/>
              <a:cs typeface="Times New Roman"/>
            </a:endParaRPr>
          </a:p>
          <a:p>
            <a:endParaRPr lang="en-AU" dirty="0"/>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23</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69093721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905000"/>
            <a:ext cx="7694240" cy="4876800"/>
          </a:xfrm>
        </p:spPr>
        <p:txBody>
          <a:bodyPr>
            <a:normAutofit/>
          </a:bodyPr>
          <a:lstStyle/>
          <a:p>
            <a:pPr>
              <a:spcBef>
                <a:spcPts val="600"/>
              </a:spcBef>
              <a:spcAft>
                <a:spcPts val="1200"/>
              </a:spcAft>
            </a:pPr>
            <a:r>
              <a:rPr lang="en-AU" sz="2400" dirty="0">
                <a:latin typeface="Helvetica"/>
                <a:ea typeface="Calibri"/>
                <a:cs typeface="Calibri"/>
              </a:rPr>
              <a:t>The accounting or financial system involves the collection of </a:t>
            </a:r>
            <a:r>
              <a:rPr lang="en-AU" sz="2400" b="1" dirty="0">
                <a:latin typeface="Helvetica"/>
                <a:ea typeface="Calibri"/>
                <a:cs typeface="Calibri"/>
              </a:rPr>
              <a:t>source documents</a:t>
            </a:r>
            <a:r>
              <a:rPr lang="en-AU" sz="2400" dirty="0">
                <a:latin typeface="Helvetica"/>
                <a:ea typeface="Calibri"/>
                <a:cs typeface="Calibri"/>
              </a:rPr>
              <a:t>, </a:t>
            </a:r>
            <a:r>
              <a:rPr lang="en-AU" sz="2400" b="1" dirty="0">
                <a:latin typeface="Helvetica"/>
                <a:ea typeface="Calibri"/>
                <a:cs typeface="Calibri"/>
              </a:rPr>
              <a:t>records</a:t>
            </a:r>
            <a:r>
              <a:rPr lang="en-AU" sz="2400" dirty="0">
                <a:latin typeface="Helvetica"/>
                <a:ea typeface="Calibri"/>
                <a:cs typeface="Calibri"/>
              </a:rPr>
              <a:t>, </a:t>
            </a:r>
            <a:r>
              <a:rPr lang="en-AU" sz="2400" b="1" dirty="0">
                <a:latin typeface="Helvetica"/>
                <a:ea typeface="Calibri"/>
                <a:cs typeface="Calibri"/>
              </a:rPr>
              <a:t>procedures</a:t>
            </a:r>
            <a:r>
              <a:rPr lang="en-AU" sz="2400" dirty="0">
                <a:latin typeface="Helvetica"/>
                <a:ea typeface="Calibri"/>
                <a:cs typeface="Calibri"/>
              </a:rPr>
              <a:t>, </a:t>
            </a:r>
            <a:r>
              <a:rPr lang="en-AU" sz="2400" b="1" dirty="0">
                <a:latin typeface="Helvetica"/>
                <a:ea typeface="Calibri"/>
                <a:cs typeface="Calibri"/>
              </a:rPr>
              <a:t>management policies </a:t>
            </a:r>
            <a:r>
              <a:rPr lang="en-AU" sz="2400" dirty="0">
                <a:latin typeface="Helvetica"/>
                <a:ea typeface="Calibri"/>
                <a:cs typeface="Calibri"/>
              </a:rPr>
              <a:t>and </a:t>
            </a:r>
            <a:r>
              <a:rPr lang="en-AU" sz="2400" b="1" dirty="0">
                <a:latin typeface="Helvetica"/>
                <a:ea typeface="Calibri"/>
                <a:cs typeface="Calibri"/>
              </a:rPr>
              <a:t>data processing methods </a:t>
            </a:r>
            <a:r>
              <a:rPr lang="en-AU" sz="2400" dirty="0">
                <a:latin typeface="Helvetica"/>
                <a:ea typeface="Calibri"/>
                <a:cs typeface="Calibri"/>
              </a:rPr>
              <a:t>used to transform data from activities and events into financial information that can be relied upon for management </a:t>
            </a:r>
            <a:r>
              <a:rPr lang="en-AU" sz="2400" dirty="0" smtClean="0">
                <a:latin typeface="Helvetica"/>
                <a:ea typeface="Calibri"/>
                <a:cs typeface="Calibri"/>
              </a:rPr>
              <a:t>decision-making</a:t>
            </a:r>
            <a:endParaRPr lang="en-AU" sz="2400" dirty="0">
              <a:latin typeface="Helvetica"/>
              <a:ea typeface="Calibri"/>
              <a:cs typeface="Calibri"/>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6" name="Picture 5" descr="21.jpg"/>
          <p:cNvPicPr/>
          <p:nvPr/>
        </p:nvPicPr>
        <p:blipFill>
          <a:blip r:embed="rId3" cstate="print"/>
          <a:stretch>
            <a:fillRect/>
          </a:stretch>
        </p:blipFill>
        <p:spPr>
          <a:xfrm>
            <a:off x="3733800" y="4495800"/>
            <a:ext cx="2577153" cy="1524000"/>
          </a:xfrm>
          <a:prstGeom prst="rect">
            <a:avLst/>
          </a:prstGeom>
        </p:spPr>
      </p:pic>
      <p:sp>
        <p:nvSpPr>
          <p:cNvPr id="8"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798637"/>
            <a:ext cx="7467600" cy="4525963"/>
          </a:xfrm>
        </p:spPr>
        <p:txBody>
          <a:bodyPr>
            <a:noAutofit/>
          </a:bodyPr>
          <a:lstStyle/>
          <a:p>
            <a:pPr marL="36576" indent="0">
              <a:spcBef>
                <a:spcPts val="600"/>
              </a:spcBef>
              <a:spcAft>
                <a:spcPts val="600"/>
              </a:spcAft>
              <a:buNone/>
            </a:pPr>
            <a:r>
              <a:rPr lang="en-AU" sz="2200" b="1" dirty="0"/>
              <a:t>Operational areas requiring financial systems</a:t>
            </a:r>
          </a:p>
          <a:p>
            <a:pPr>
              <a:spcBef>
                <a:spcPts val="600"/>
              </a:spcBef>
              <a:spcAft>
                <a:spcPts val="600"/>
              </a:spcAft>
            </a:pPr>
            <a:r>
              <a:rPr lang="en-AU" sz="2200" dirty="0">
                <a:ea typeface="SimSun"/>
                <a:cs typeface="Times New Roman"/>
              </a:rPr>
              <a:t>Segments of an organisation</a:t>
            </a:r>
            <a:endParaRPr lang="en-AU" sz="2200" dirty="0">
              <a:ea typeface="Times New Roman"/>
              <a:cs typeface="Times New Roman"/>
            </a:endParaRPr>
          </a:p>
          <a:p>
            <a:pPr marL="36576" indent="0">
              <a:spcBef>
                <a:spcPts val="600"/>
              </a:spcBef>
              <a:spcAft>
                <a:spcPts val="600"/>
              </a:spcAft>
              <a:buNone/>
            </a:pPr>
            <a:r>
              <a:rPr lang="en-AU" sz="2200" dirty="0">
                <a:ea typeface="SimSun"/>
                <a:cs typeface="Times New Roman"/>
              </a:rPr>
              <a:t>Financial systems are required to record and monitor the actions </a:t>
            </a:r>
            <a:r>
              <a:rPr lang="en-AU" sz="2200" dirty="0" smtClean="0">
                <a:ea typeface="SimSun"/>
                <a:cs typeface="Times New Roman"/>
              </a:rPr>
              <a:t>of all </a:t>
            </a:r>
            <a:r>
              <a:rPr lang="en-AU" sz="2200" dirty="0">
                <a:ea typeface="SimSun"/>
                <a:cs typeface="Times New Roman"/>
              </a:rPr>
              <a:t>business units.  </a:t>
            </a:r>
            <a:r>
              <a:rPr lang="en-AU" sz="2200" dirty="0" smtClean="0">
                <a:ea typeface="SimSun"/>
                <a:cs typeface="Times New Roman"/>
              </a:rPr>
              <a:t>Logical segments of a company are called:</a:t>
            </a:r>
            <a:endParaRPr lang="en-AU" sz="2200" dirty="0">
              <a:ea typeface="Times New Roman"/>
              <a:cs typeface="Times New Roman"/>
            </a:endParaRPr>
          </a:p>
          <a:p>
            <a:pPr marL="342900" lvl="0" indent="-342900">
              <a:spcBef>
                <a:spcPts val="600"/>
              </a:spcBef>
              <a:spcAft>
                <a:spcPts val="600"/>
              </a:spcAft>
              <a:buFont typeface="Symbol"/>
              <a:buChar char=""/>
            </a:pPr>
            <a:r>
              <a:rPr lang="en-AU" sz="2200" dirty="0">
                <a:ea typeface="SimSun"/>
                <a:cs typeface="Times New Roman"/>
              </a:rPr>
              <a:t>Business units</a:t>
            </a:r>
            <a:endParaRPr lang="en-AU" sz="2200" dirty="0">
              <a:ea typeface="Times New Roman"/>
              <a:cs typeface="Times New Roman"/>
            </a:endParaRPr>
          </a:p>
          <a:p>
            <a:pPr marL="342900" lvl="0" indent="-342900">
              <a:spcBef>
                <a:spcPts val="600"/>
              </a:spcBef>
              <a:spcAft>
                <a:spcPts val="600"/>
              </a:spcAft>
              <a:buFont typeface="Symbol"/>
              <a:buChar char=""/>
            </a:pPr>
            <a:r>
              <a:rPr lang="en-AU" sz="2200" dirty="0">
                <a:ea typeface="SimSun"/>
                <a:cs typeface="Times New Roman"/>
              </a:rPr>
              <a:t>Departments</a:t>
            </a:r>
            <a:endParaRPr lang="en-AU" sz="2200" dirty="0">
              <a:ea typeface="Times New Roman"/>
              <a:cs typeface="Times New Roman"/>
            </a:endParaRPr>
          </a:p>
          <a:p>
            <a:pPr marL="342900" lvl="0" indent="-342900">
              <a:spcBef>
                <a:spcPts val="600"/>
              </a:spcBef>
              <a:spcAft>
                <a:spcPts val="600"/>
              </a:spcAft>
              <a:buFont typeface="Symbol"/>
              <a:buChar char=""/>
            </a:pPr>
            <a:r>
              <a:rPr lang="en-AU" sz="2200" dirty="0">
                <a:ea typeface="SimSun"/>
                <a:cs typeface="Times New Roman"/>
              </a:rPr>
              <a:t>Divisions</a:t>
            </a:r>
            <a:endParaRPr lang="en-AU" sz="2200" dirty="0">
              <a:ea typeface="Times New Roman"/>
              <a:cs typeface="Times New Roman"/>
            </a:endParaRPr>
          </a:p>
          <a:p>
            <a:pPr marL="342900" lvl="0" indent="-342900">
              <a:spcBef>
                <a:spcPts val="600"/>
              </a:spcBef>
              <a:spcAft>
                <a:spcPts val="600"/>
              </a:spcAft>
              <a:buFont typeface="Symbol"/>
              <a:buChar char=""/>
            </a:pPr>
            <a:r>
              <a:rPr lang="en-AU" sz="2200" dirty="0">
                <a:ea typeface="SimSun"/>
                <a:cs typeface="Times New Roman"/>
              </a:rPr>
              <a:t>Cost centres</a:t>
            </a:r>
            <a:endParaRPr lang="en-AU" sz="2200" dirty="0">
              <a:ea typeface="Times New Roman"/>
              <a:cs typeface="Times New Roman"/>
            </a:endParaRPr>
          </a:p>
          <a:p>
            <a:pPr>
              <a:spcBef>
                <a:spcPts val="600"/>
              </a:spcBef>
              <a:spcAft>
                <a:spcPts val="600"/>
              </a:spcAft>
            </a:pPr>
            <a:endParaRPr lang="en-AU" sz="2200" dirty="0"/>
          </a:p>
        </p:txBody>
      </p:sp>
      <p:sp>
        <p:nvSpPr>
          <p:cNvPr id="6"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25</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7840633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951037"/>
            <a:ext cx="3886200" cy="4373563"/>
          </a:xfrm>
        </p:spPr>
        <p:txBody>
          <a:bodyPr>
            <a:noAutofit/>
          </a:bodyPr>
          <a:lstStyle/>
          <a:p>
            <a:pPr marL="36576" indent="0">
              <a:lnSpc>
                <a:spcPct val="110000"/>
              </a:lnSpc>
              <a:spcBef>
                <a:spcPts val="600"/>
              </a:spcBef>
              <a:spcAft>
                <a:spcPts val="1200"/>
              </a:spcAft>
              <a:buNone/>
            </a:pPr>
            <a:r>
              <a:rPr lang="en-US" sz="2200" b="1" dirty="0"/>
              <a:t>Types of business units</a:t>
            </a:r>
            <a:endParaRPr lang="en-AU" sz="2200" dirty="0"/>
          </a:p>
          <a:p>
            <a:pPr marL="36576" indent="0">
              <a:lnSpc>
                <a:spcPct val="110000"/>
              </a:lnSpc>
              <a:spcBef>
                <a:spcPts val="600"/>
              </a:spcBef>
              <a:spcAft>
                <a:spcPts val="1200"/>
              </a:spcAft>
              <a:buNone/>
            </a:pPr>
            <a:r>
              <a:rPr lang="en-US" sz="2200" dirty="0"/>
              <a:t>Examples of such business units may be related to</a:t>
            </a:r>
            <a:r>
              <a:rPr lang="en-US" sz="2200" dirty="0" smtClean="0"/>
              <a:t>:</a:t>
            </a:r>
          </a:p>
          <a:p>
            <a:pPr lvl="0">
              <a:lnSpc>
                <a:spcPct val="110000"/>
              </a:lnSpc>
              <a:spcBef>
                <a:spcPts val="600"/>
              </a:spcBef>
              <a:spcAft>
                <a:spcPts val="1200"/>
              </a:spcAft>
            </a:pPr>
            <a:r>
              <a:rPr lang="en-US" sz="2200" dirty="0" smtClean="0"/>
              <a:t>Outlets</a:t>
            </a:r>
            <a:endParaRPr lang="en-AU" sz="2200" dirty="0"/>
          </a:p>
          <a:p>
            <a:pPr lvl="0">
              <a:lnSpc>
                <a:spcPct val="110000"/>
              </a:lnSpc>
              <a:spcBef>
                <a:spcPts val="600"/>
              </a:spcBef>
              <a:spcAft>
                <a:spcPts val="1200"/>
              </a:spcAft>
            </a:pPr>
            <a:r>
              <a:rPr lang="en-US" sz="2200" dirty="0"/>
              <a:t>Geographical offices</a:t>
            </a:r>
            <a:endParaRPr lang="en-AU" sz="2200" dirty="0"/>
          </a:p>
          <a:p>
            <a:pPr lvl="0">
              <a:lnSpc>
                <a:spcPct val="110000"/>
              </a:lnSpc>
              <a:spcBef>
                <a:spcPts val="600"/>
              </a:spcBef>
              <a:spcAft>
                <a:spcPts val="1200"/>
              </a:spcAft>
            </a:pPr>
            <a:r>
              <a:rPr lang="en-US" sz="2200" dirty="0"/>
              <a:t>Specific sales related </a:t>
            </a:r>
            <a:r>
              <a:rPr lang="en-US" sz="2200" dirty="0" smtClean="0"/>
              <a:t>areas</a:t>
            </a:r>
          </a:p>
          <a:p>
            <a:pPr>
              <a:lnSpc>
                <a:spcPct val="110000"/>
              </a:lnSpc>
              <a:spcBef>
                <a:spcPts val="600"/>
              </a:spcBef>
              <a:spcAft>
                <a:spcPts val="1200"/>
              </a:spcAft>
            </a:pPr>
            <a:r>
              <a:rPr lang="en-US" sz="2200" dirty="0">
                <a:solidFill>
                  <a:prstClr val="black"/>
                </a:solidFill>
              </a:rPr>
              <a:t>Types of customers / market segments</a:t>
            </a:r>
            <a:endParaRPr lang="en-AU" sz="2200" dirty="0">
              <a:solidFill>
                <a:prstClr val="black"/>
              </a:solidFill>
            </a:endParaRPr>
          </a:p>
          <a:p>
            <a:pPr lvl="0">
              <a:lnSpc>
                <a:spcPct val="110000"/>
              </a:lnSpc>
              <a:spcBef>
                <a:spcPts val="600"/>
              </a:spcBef>
              <a:spcAft>
                <a:spcPts val="1200"/>
              </a:spcAft>
            </a:pPr>
            <a:endParaRPr lang="en-AU" sz="2200" dirty="0"/>
          </a:p>
          <a:p>
            <a:pPr>
              <a:lnSpc>
                <a:spcPct val="110000"/>
              </a:lnSpc>
              <a:spcBef>
                <a:spcPts val="600"/>
              </a:spcBef>
              <a:spcAft>
                <a:spcPts val="1200"/>
              </a:spcAft>
            </a:pPr>
            <a:endParaRPr lang="en-AU" sz="2200" dirty="0"/>
          </a:p>
        </p:txBody>
      </p:sp>
      <p:sp>
        <p:nvSpPr>
          <p:cNvPr id="4" name="Content Placeholder 3"/>
          <p:cNvSpPr>
            <a:spLocks noGrp="1"/>
          </p:cNvSpPr>
          <p:nvPr>
            <p:ph sz="half" idx="2"/>
          </p:nvPr>
        </p:nvSpPr>
        <p:spPr>
          <a:xfrm>
            <a:off x="4648200" y="1981200"/>
            <a:ext cx="3962400" cy="4876800"/>
          </a:xfrm>
        </p:spPr>
        <p:txBody>
          <a:bodyPr>
            <a:normAutofit/>
          </a:bodyPr>
          <a:lstStyle/>
          <a:p>
            <a:pPr lvl="0">
              <a:spcBef>
                <a:spcPts val="600"/>
              </a:spcBef>
              <a:spcAft>
                <a:spcPts val="1200"/>
              </a:spcAft>
              <a:buClr>
                <a:srgbClr val="7FD13B"/>
              </a:buClr>
            </a:pPr>
            <a:r>
              <a:rPr lang="en-US" sz="2200" dirty="0" smtClean="0">
                <a:solidFill>
                  <a:prstClr val="black"/>
                </a:solidFill>
              </a:rPr>
              <a:t>Accounting</a:t>
            </a:r>
            <a:endParaRPr lang="en-US" sz="2200" dirty="0" smtClean="0"/>
          </a:p>
          <a:p>
            <a:pPr lvl="0">
              <a:spcBef>
                <a:spcPts val="600"/>
              </a:spcBef>
              <a:spcAft>
                <a:spcPts val="1200"/>
              </a:spcAft>
            </a:pPr>
            <a:r>
              <a:rPr lang="en-US" sz="2200" dirty="0" smtClean="0"/>
              <a:t>Production</a:t>
            </a:r>
            <a:endParaRPr lang="en-AU" sz="2200" dirty="0"/>
          </a:p>
          <a:p>
            <a:pPr lvl="0">
              <a:spcBef>
                <a:spcPts val="600"/>
              </a:spcBef>
              <a:spcAft>
                <a:spcPts val="1200"/>
              </a:spcAft>
            </a:pPr>
            <a:r>
              <a:rPr lang="en-US" sz="2200" dirty="0"/>
              <a:t>Marketing</a:t>
            </a:r>
            <a:endParaRPr lang="en-AU" sz="2200" dirty="0"/>
          </a:p>
          <a:p>
            <a:pPr lvl="0">
              <a:spcBef>
                <a:spcPts val="600"/>
              </a:spcBef>
              <a:spcAft>
                <a:spcPts val="1200"/>
              </a:spcAft>
            </a:pPr>
            <a:r>
              <a:rPr lang="en-US" sz="2200" dirty="0"/>
              <a:t>Research &amp; development</a:t>
            </a:r>
            <a:endParaRPr lang="en-AU" sz="2200" dirty="0"/>
          </a:p>
          <a:p>
            <a:pPr lvl="0">
              <a:spcBef>
                <a:spcPts val="600"/>
              </a:spcBef>
              <a:spcAft>
                <a:spcPts val="1200"/>
              </a:spcAft>
            </a:pPr>
            <a:r>
              <a:rPr lang="en-US" sz="2200" dirty="0"/>
              <a:t>Human resources</a:t>
            </a:r>
            <a:endParaRPr lang="en-AU" sz="2200" dirty="0"/>
          </a:p>
          <a:p>
            <a:pPr lvl="0">
              <a:spcBef>
                <a:spcPts val="600"/>
              </a:spcBef>
              <a:spcAft>
                <a:spcPts val="1200"/>
              </a:spcAft>
            </a:pPr>
            <a:r>
              <a:rPr lang="en-US" sz="2200" dirty="0"/>
              <a:t>Sales and marketing</a:t>
            </a:r>
            <a:endParaRPr lang="en-AU" sz="2200" dirty="0"/>
          </a:p>
          <a:p>
            <a:pPr>
              <a:spcBef>
                <a:spcPts val="600"/>
              </a:spcBef>
              <a:spcAft>
                <a:spcPts val="1200"/>
              </a:spcAft>
            </a:pPr>
            <a:endParaRPr lang="en-AU" sz="2200" dirty="0"/>
          </a:p>
        </p:txBody>
      </p:sp>
      <p:sp>
        <p:nvSpPr>
          <p:cNvPr id="7"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8"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26</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40716135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51037"/>
            <a:ext cx="7315200" cy="4525963"/>
          </a:xfrm>
        </p:spPr>
        <p:txBody>
          <a:bodyPr>
            <a:normAutofit/>
          </a:bodyPr>
          <a:lstStyle/>
          <a:p>
            <a:pPr marL="457200" indent="-457200">
              <a:spcBef>
                <a:spcPts val="600"/>
              </a:spcBef>
              <a:spcAft>
                <a:spcPts val="1200"/>
              </a:spcAft>
              <a:buSzPct val="100000"/>
              <a:buFont typeface="+mj-lt"/>
              <a:buAutoNum type="arabicPeriod"/>
            </a:pPr>
            <a:r>
              <a:rPr lang="en-AU" sz="2400" dirty="0" smtClean="0">
                <a:latin typeface="Helvetica"/>
                <a:ea typeface="Times New Roman"/>
                <a:cs typeface="Times New Roman"/>
              </a:rPr>
              <a:t>Focus </a:t>
            </a:r>
            <a:r>
              <a:rPr lang="en-AU" sz="2400" dirty="0">
                <a:latin typeface="Helvetica"/>
                <a:ea typeface="Times New Roman"/>
                <a:cs typeface="Times New Roman"/>
              </a:rPr>
              <a:t>of financial systems</a:t>
            </a:r>
          </a:p>
          <a:p>
            <a:pPr marL="457200" indent="-457200">
              <a:spcBef>
                <a:spcPts val="600"/>
              </a:spcBef>
              <a:spcAft>
                <a:spcPts val="1200"/>
              </a:spcAft>
              <a:buSzPct val="100000"/>
              <a:buFont typeface="+mj-lt"/>
              <a:buAutoNum type="arabicPeriod"/>
            </a:pPr>
            <a:r>
              <a:rPr lang="en-AU" sz="2400" dirty="0">
                <a:latin typeface="Helvetica"/>
                <a:ea typeface="Times New Roman"/>
                <a:cs typeface="Times New Roman"/>
              </a:rPr>
              <a:t>Structure of financial systems</a:t>
            </a:r>
          </a:p>
          <a:p>
            <a:pPr marL="457200" indent="-457200">
              <a:spcBef>
                <a:spcPts val="600"/>
              </a:spcBef>
              <a:spcAft>
                <a:spcPts val="1200"/>
              </a:spcAft>
              <a:buSzPct val="100000"/>
              <a:buFont typeface="+mj-lt"/>
              <a:buAutoNum type="arabicPeriod"/>
            </a:pPr>
            <a:r>
              <a:rPr lang="en-AU" sz="2400" dirty="0">
                <a:latin typeface="Helvetica"/>
                <a:ea typeface="Times New Roman"/>
                <a:cs typeface="Times New Roman"/>
              </a:rPr>
              <a:t>Key considerations when developing a financial system</a:t>
            </a:r>
          </a:p>
          <a:p>
            <a:pPr marL="457200" indent="-457200">
              <a:spcBef>
                <a:spcPts val="600"/>
              </a:spcBef>
              <a:spcAft>
                <a:spcPts val="1200"/>
              </a:spcAft>
              <a:buSzPct val="100000"/>
              <a:buFont typeface="+mj-lt"/>
              <a:buAutoNum type="arabicPeriod"/>
            </a:pPr>
            <a:r>
              <a:rPr lang="en-AU" sz="2400" dirty="0">
                <a:latin typeface="Helvetica"/>
                <a:ea typeface="Times New Roman"/>
                <a:cs typeface="Times New Roman"/>
              </a:rPr>
              <a:t>Internal control systems </a:t>
            </a:r>
            <a:endParaRPr lang="en-AU" sz="2400" dirty="0" smtClean="0">
              <a:latin typeface="Helvetica"/>
              <a:ea typeface="Times New Roman"/>
              <a:cs typeface="Times New Roman"/>
            </a:endParaRPr>
          </a:p>
          <a:p>
            <a:pPr marL="457200" indent="-457200">
              <a:spcBef>
                <a:spcPts val="600"/>
              </a:spcBef>
              <a:spcAft>
                <a:spcPts val="1200"/>
              </a:spcAft>
              <a:buSzPct val="100000"/>
              <a:buFont typeface="+mj-lt"/>
              <a:buAutoNum type="arabicPeriod"/>
            </a:pPr>
            <a:r>
              <a:rPr lang="en-AU" sz="2400" dirty="0">
                <a:latin typeface="Helvetica"/>
                <a:ea typeface="Times New Roman"/>
                <a:cs typeface="Times New Roman"/>
              </a:rPr>
              <a:t>Structure of the internal control </a:t>
            </a:r>
            <a:r>
              <a:rPr lang="en-AU" sz="2400" dirty="0" smtClean="0">
                <a:latin typeface="Helvetica"/>
                <a:ea typeface="Times New Roman"/>
                <a:cs typeface="Times New Roman"/>
              </a:rPr>
              <a:t>system (Activity)</a:t>
            </a:r>
          </a:p>
          <a:p>
            <a:pPr marL="457200" indent="-457200">
              <a:spcBef>
                <a:spcPts val="600"/>
              </a:spcBef>
              <a:spcAft>
                <a:spcPts val="1200"/>
              </a:spcAft>
              <a:buSzPct val="100000"/>
              <a:buFont typeface="+mj-lt"/>
              <a:buAutoNum type="arabicPeriod"/>
            </a:pPr>
            <a:r>
              <a:rPr lang="en-AU" sz="2400" dirty="0">
                <a:latin typeface="Helvetica"/>
                <a:ea typeface="Times New Roman"/>
                <a:cs typeface="Times New Roman"/>
              </a:rPr>
              <a:t>Principles of internal control </a:t>
            </a:r>
            <a:r>
              <a:rPr lang="en-AU" sz="2400" dirty="0" smtClean="0">
                <a:latin typeface="Helvetica"/>
                <a:ea typeface="Times New Roman"/>
                <a:cs typeface="Times New Roman"/>
              </a:rPr>
              <a:t>systems (Activity)</a:t>
            </a:r>
            <a:endParaRPr lang="en-AU" sz="2400" dirty="0">
              <a:latin typeface="Helvetica"/>
              <a:ea typeface="Times New Roman"/>
              <a:cs typeface="Times New Roman"/>
            </a:endParaRPr>
          </a:p>
          <a:p>
            <a:pPr marL="935990" indent="-935990">
              <a:spcBef>
                <a:spcPts val="1200"/>
              </a:spcBef>
              <a:spcAft>
                <a:spcPts val="1200"/>
              </a:spcAft>
            </a:pPr>
            <a:endParaRPr lang="en-AU" sz="2400" dirty="0">
              <a:latin typeface="Helvetica"/>
              <a:ea typeface="Times New Roman"/>
              <a:cs typeface="Times New Roman"/>
            </a:endParaRPr>
          </a:p>
          <a:p>
            <a:pPr marL="935990" indent="-935990">
              <a:spcBef>
                <a:spcPts val="1200"/>
              </a:spcBef>
              <a:spcAft>
                <a:spcPts val="1200"/>
              </a:spcAft>
            </a:pPr>
            <a:endParaRPr lang="en-AU" sz="2400" dirty="0">
              <a:latin typeface="Helvetica"/>
              <a:ea typeface="Times New Roman"/>
              <a:cs typeface="Times New Roman"/>
            </a:endParaRPr>
          </a:p>
          <a:p>
            <a:pPr marL="935990" lvl="0" indent="-935990">
              <a:spcBef>
                <a:spcPts val="1200"/>
              </a:spcBef>
              <a:spcAft>
                <a:spcPts val="1200"/>
              </a:spcAft>
              <a:buClr>
                <a:srgbClr val="7FD13B"/>
              </a:buClr>
            </a:pPr>
            <a:endParaRPr lang="en-AU" sz="2400" dirty="0">
              <a:latin typeface="Helvetica"/>
              <a:ea typeface="Times New Roman"/>
              <a:cs typeface="Times New Roman"/>
            </a:endParaRPr>
          </a:p>
          <a:p>
            <a:endParaRPr lang="en-AU" dirty="0"/>
          </a:p>
        </p:txBody>
      </p:sp>
      <p:sp>
        <p:nvSpPr>
          <p:cNvPr id="6"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8" name="Picture 7" descr="Keyboard.jpg"/>
          <p:cNvPicPr/>
          <p:nvPr/>
        </p:nvPicPr>
        <p:blipFill>
          <a:blip r:embed="rId3" cstate="print"/>
          <a:stretch>
            <a:fillRect/>
          </a:stretch>
        </p:blipFill>
        <p:spPr>
          <a:xfrm>
            <a:off x="6248400" y="1885666"/>
            <a:ext cx="1658990" cy="1105468"/>
          </a:xfrm>
          <a:prstGeom prst="rect">
            <a:avLst/>
          </a:prstGeom>
        </p:spPr>
      </p:pic>
    </p:spTree>
    <p:extLst>
      <p:ext uri="{BB962C8B-B14F-4D97-AF65-F5344CB8AC3E}">
        <p14:creationId xmlns:p14="http://schemas.microsoft.com/office/powerpoint/2010/main" val="304926018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798637"/>
            <a:ext cx="7467600" cy="4525963"/>
          </a:xfrm>
        </p:spPr>
        <p:txBody>
          <a:bodyPr>
            <a:normAutofit/>
          </a:bodyPr>
          <a:lstStyle/>
          <a:p>
            <a:pPr marL="457200" indent="-457200">
              <a:spcBef>
                <a:spcPts val="1200"/>
              </a:spcBef>
              <a:spcAft>
                <a:spcPts val="1200"/>
              </a:spcAft>
              <a:buNone/>
            </a:pPr>
            <a:r>
              <a:rPr lang="en-AU" sz="2200" b="1" dirty="0">
                <a:latin typeface="Helvetica"/>
                <a:ea typeface="Times New Roman"/>
                <a:cs typeface="Times New Roman"/>
              </a:rPr>
              <a:t>Limitations of internal control systems</a:t>
            </a:r>
          </a:p>
          <a:p>
            <a:pPr marL="457200" indent="-457200">
              <a:spcBef>
                <a:spcPts val="600"/>
              </a:spcBef>
              <a:spcAft>
                <a:spcPts val="1200"/>
              </a:spcAft>
              <a:buSzPct val="100000"/>
              <a:buFont typeface="+mj-lt"/>
              <a:buAutoNum type="arabicPeriod" startAt="7"/>
            </a:pPr>
            <a:r>
              <a:rPr lang="en-AU" sz="2400" dirty="0">
                <a:latin typeface="Helvetica"/>
                <a:ea typeface="Times New Roman"/>
                <a:cs typeface="Times New Roman"/>
              </a:rPr>
              <a:t>Internal control challenges in the tourism industry</a:t>
            </a:r>
          </a:p>
          <a:p>
            <a:pPr marL="457200" indent="-457200">
              <a:spcBef>
                <a:spcPts val="600"/>
              </a:spcBef>
              <a:spcAft>
                <a:spcPts val="1200"/>
              </a:spcAft>
              <a:buSzPct val="100000"/>
              <a:buFont typeface="+mj-lt"/>
              <a:buAutoNum type="arabicPeriod" startAt="7"/>
            </a:pPr>
            <a:r>
              <a:rPr lang="en-AU" sz="2400" dirty="0">
                <a:latin typeface="Helvetica"/>
                <a:ea typeface="Times New Roman"/>
                <a:cs typeface="Times New Roman"/>
              </a:rPr>
              <a:t>Implementing internal controls </a:t>
            </a:r>
          </a:p>
          <a:p>
            <a:pPr marL="457200" indent="-457200">
              <a:spcBef>
                <a:spcPts val="600"/>
              </a:spcBef>
              <a:spcAft>
                <a:spcPts val="1200"/>
              </a:spcAft>
              <a:buSzPct val="100000"/>
              <a:buFont typeface="+mj-lt"/>
              <a:buAutoNum type="arabicPeriod" startAt="7"/>
            </a:pPr>
            <a:r>
              <a:rPr lang="en-AU" sz="2400" dirty="0">
                <a:latin typeface="Helvetica"/>
                <a:ea typeface="Times New Roman"/>
                <a:cs typeface="Times New Roman"/>
              </a:rPr>
              <a:t>Control of </a:t>
            </a:r>
            <a:r>
              <a:rPr lang="en-AU" sz="2400" dirty="0" smtClean="0">
                <a:latin typeface="Helvetica"/>
                <a:ea typeface="Times New Roman"/>
                <a:cs typeface="Times New Roman"/>
              </a:rPr>
              <a:t>cash</a:t>
            </a:r>
          </a:p>
          <a:p>
            <a:pPr marL="457200" indent="-457200">
              <a:spcBef>
                <a:spcPts val="600"/>
              </a:spcBef>
              <a:spcAft>
                <a:spcPts val="1200"/>
              </a:spcAft>
              <a:buSzPct val="100000"/>
              <a:buFont typeface="+mj-lt"/>
              <a:buAutoNum type="arabicPeriod" startAt="7"/>
            </a:pPr>
            <a:r>
              <a:rPr lang="en-AU" sz="2400" dirty="0">
                <a:latin typeface="Helvetica"/>
                <a:ea typeface="Times New Roman"/>
                <a:cs typeface="Times New Roman"/>
              </a:rPr>
              <a:t>Control of cash </a:t>
            </a:r>
            <a:r>
              <a:rPr lang="en-AU" sz="2400" dirty="0" smtClean="0">
                <a:latin typeface="Helvetica"/>
                <a:ea typeface="Times New Roman"/>
                <a:cs typeface="Times New Roman"/>
              </a:rPr>
              <a:t>receipts (Activity)</a:t>
            </a:r>
          </a:p>
          <a:p>
            <a:pPr marL="457200" indent="-457200">
              <a:spcBef>
                <a:spcPts val="600"/>
              </a:spcBef>
              <a:spcAft>
                <a:spcPts val="1200"/>
              </a:spcAft>
              <a:buSzPct val="100000"/>
              <a:buFont typeface="+mj-lt"/>
              <a:buAutoNum type="arabicPeriod" startAt="7"/>
            </a:pPr>
            <a:r>
              <a:rPr lang="en-AU" sz="2400" dirty="0">
                <a:latin typeface="Helvetica"/>
                <a:ea typeface="Times New Roman"/>
                <a:cs typeface="Times New Roman"/>
              </a:rPr>
              <a:t>Control of cash payments </a:t>
            </a:r>
            <a:r>
              <a:rPr lang="en-AU" sz="2400" dirty="0" smtClean="0">
                <a:latin typeface="Helvetica"/>
                <a:ea typeface="Times New Roman"/>
                <a:cs typeface="Times New Roman"/>
              </a:rPr>
              <a:t>(Activity)</a:t>
            </a:r>
          </a:p>
          <a:p>
            <a:pPr marL="457200" indent="-457200">
              <a:spcBef>
                <a:spcPts val="600"/>
              </a:spcBef>
              <a:spcAft>
                <a:spcPts val="1200"/>
              </a:spcAft>
              <a:buSzPct val="100000"/>
              <a:buFont typeface="+mj-lt"/>
              <a:buAutoNum type="arabicPeriod" startAt="7"/>
            </a:pPr>
            <a:r>
              <a:rPr lang="en-AU" sz="2400" dirty="0">
                <a:latin typeface="Helvetica"/>
                <a:ea typeface="Times New Roman"/>
                <a:cs typeface="Times New Roman"/>
              </a:rPr>
              <a:t>Control of petty cash </a:t>
            </a:r>
            <a:r>
              <a:rPr lang="en-AU" sz="2400" dirty="0" smtClean="0">
                <a:latin typeface="Helvetica"/>
                <a:ea typeface="Times New Roman"/>
                <a:cs typeface="Times New Roman"/>
              </a:rPr>
              <a:t>payments (Activity)</a:t>
            </a:r>
            <a:endParaRPr lang="en-AU" sz="2400" dirty="0">
              <a:latin typeface="Helvetica"/>
              <a:ea typeface="Times New Roman"/>
              <a:cs typeface="Times New Roman"/>
            </a:endParaRPr>
          </a:p>
          <a:p>
            <a:pPr marL="935990" indent="-935990">
              <a:spcBef>
                <a:spcPts val="1200"/>
              </a:spcBef>
              <a:spcAft>
                <a:spcPts val="1200"/>
              </a:spcAft>
            </a:pPr>
            <a:endParaRPr lang="en-AU" sz="2200" dirty="0" smtClean="0">
              <a:latin typeface="Helvetica"/>
              <a:ea typeface="Times New Roman"/>
              <a:cs typeface="Times New Roman"/>
            </a:endParaRPr>
          </a:p>
          <a:p>
            <a:pPr marL="935990" indent="-935990">
              <a:spcBef>
                <a:spcPts val="1200"/>
              </a:spcBef>
              <a:spcAft>
                <a:spcPts val="1200"/>
              </a:spcAft>
            </a:pPr>
            <a:endParaRPr lang="en-AU" sz="2200" dirty="0">
              <a:latin typeface="Helvetica"/>
              <a:ea typeface="Times New Roman"/>
              <a:cs typeface="Times New Roman"/>
            </a:endParaRPr>
          </a:p>
          <a:p>
            <a:pPr marL="935990" indent="-935990">
              <a:spcBef>
                <a:spcPts val="1200"/>
              </a:spcBef>
              <a:spcAft>
                <a:spcPts val="1200"/>
              </a:spcAft>
            </a:pPr>
            <a:endParaRPr lang="en-AU" sz="2200" dirty="0">
              <a:latin typeface="Helvetica"/>
              <a:ea typeface="Times New Roman"/>
              <a:cs typeface="Times New Roman"/>
            </a:endParaRPr>
          </a:p>
          <a:p>
            <a:pPr marL="935990" indent="-935990">
              <a:spcBef>
                <a:spcPts val="1200"/>
              </a:spcBef>
              <a:spcAft>
                <a:spcPts val="1200"/>
              </a:spcAft>
            </a:pPr>
            <a:endParaRPr lang="en-AU" sz="2200" dirty="0">
              <a:latin typeface="Helvetica"/>
              <a:ea typeface="Times New Roman"/>
              <a:cs typeface="Times New Roman"/>
            </a:endParaRPr>
          </a:p>
          <a:p>
            <a:endParaRPr lang="en-AU" sz="2200" dirty="0"/>
          </a:p>
        </p:txBody>
      </p:sp>
      <p:sp>
        <p:nvSpPr>
          <p:cNvPr id="6"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pic>
        <p:nvPicPr>
          <p:cNvPr id="7" name="Picture 6" descr="ao.png"/>
          <p:cNvPicPr/>
          <p:nvPr/>
        </p:nvPicPr>
        <p:blipFill>
          <a:blip r:embed="rId3" cstate="print"/>
          <a:stretch>
            <a:fillRect/>
          </a:stretch>
        </p:blipFill>
        <p:spPr>
          <a:xfrm>
            <a:off x="6858000" y="2971799"/>
            <a:ext cx="1445525" cy="2186821"/>
          </a:xfrm>
          <a:prstGeom prst="rect">
            <a:avLst/>
          </a:prstGeom>
        </p:spPr>
      </p:pic>
      <p:sp>
        <p:nvSpPr>
          <p:cNvPr id="8"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28</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65877628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874837"/>
            <a:ext cx="7467600" cy="4525963"/>
          </a:xfrm>
        </p:spPr>
        <p:txBody>
          <a:bodyPr>
            <a:normAutofit/>
          </a:bodyPr>
          <a:lstStyle/>
          <a:p>
            <a:pPr marL="457200" indent="-457200">
              <a:spcBef>
                <a:spcPts val="600"/>
              </a:spcBef>
              <a:spcAft>
                <a:spcPts val="1200"/>
              </a:spcAft>
              <a:buSzPct val="100000"/>
              <a:buFont typeface="+mj-lt"/>
              <a:buAutoNum type="arabicPeriod" startAt="13"/>
            </a:pPr>
            <a:r>
              <a:rPr lang="en-AU" sz="2400" dirty="0">
                <a:latin typeface="Helvetica"/>
                <a:ea typeface="Times New Roman"/>
                <a:cs typeface="Times New Roman"/>
              </a:rPr>
              <a:t>Control of cash budgets </a:t>
            </a:r>
          </a:p>
          <a:p>
            <a:pPr marL="457200" indent="-457200">
              <a:spcBef>
                <a:spcPts val="600"/>
              </a:spcBef>
              <a:spcAft>
                <a:spcPts val="1200"/>
              </a:spcAft>
              <a:buSzPct val="100000"/>
              <a:buFont typeface="+mj-lt"/>
              <a:buAutoNum type="arabicPeriod" startAt="13"/>
            </a:pPr>
            <a:r>
              <a:rPr lang="en-AU" sz="2400" dirty="0">
                <a:latin typeface="Helvetica"/>
                <a:ea typeface="Times New Roman"/>
                <a:cs typeface="Times New Roman"/>
              </a:rPr>
              <a:t>Control of accounts receivable</a:t>
            </a:r>
          </a:p>
          <a:p>
            <a:pPr marL="457200" indent="-457200">
              <a:spcBef>
                <a:spcPts val="600"/>
              </a:spcBef>
              <a:spcAft>
                <a:spcPts val="1200"/>
              </a:spcAft>
              <a:buSzPct val="100000"/>
              <a:buFont typeface="+mj-lt"/>
              <a:buAutoNum type="arabicPeriod" startAt="13"/>
            </a:pPr>
            <a:r>
              <a:rPr lang="en-AU" sz="2400" dirty="0">
                <a:latin typeface="Helvetica"/>
                <a:ea typeface="Times New Roman"/>
                <a:cs typeface="Times New Roman"/>
              </a:rPr>
              <a:t>Control of credit </a:t>
            </a:r>
            <a:r>
              <a:rPr lang="en-AU" sz="2400" dirty="0" smtClean="0">
                <a:latin typeface="Helvetica"/>
                <a:ea typeface="Times New Roman"/>
                <a:cs typeface="Times New Roman"/>
              </a:rPr>
              <a:t>policies (Activity)</a:t>
            </a:r>
          </a:p>
          <a:p>
            <a:pPr marL="457200" indent="-457200">
              <a:spcBef>
                <a:spcPts val="600"/>
              </a:spcBef>
              <a:spcAft>
                <a:spcPts val="1200"/>
              </a:spcAft>
              <a:buSzPct val="100000"/>
              <a:buFont typeface="+mj-lt"/>
              <a:buAutoNum type="arabicPeriod" startAt="13"/>
            </a:pPr>
            <a:r>
              <a:rPr lang="en-AU" sz="2400" dirty="0">
                <a:latin typeface="Helvetica"/>
                <a:ea typeface="Times New Roman"/>
                <a:cs typeface="Times New Roman"/>
              </a:rPr>
              <a:t>Control of purchases</a:t>
            </a:r>
          </a:p>
          <a:p>
            <a:pPr marL="457200" indent="-457200">
              <a:spcBef>
                <a:spcPts val="600"/>
              </a:spcBef>
              <a:spcAft>
                <a:spcPts val="1200"/>
              </a:spcAft>
              <a:buSzPct val="100000"/>
              <a:buFont typeface="+mj-lt"/>
              <a:buAutoNum type="arabicPeriod" startAt="13"/>
            </a:pPr>
            <a:r>
              <a:rPr lang="en-AU" sz="2400" dirty="0">
                <a:latin typeface="Helvetica"/>
                <a:ea typeface="Times New Roman"/>
                <a:cs typeface="Times New Roman"/>
              </a:rPr>
              <a:t>Control of </a:t>
            </a:r>
            <a:r>
              <a:rPr lang="en-AU" sz="2400" dirty="0" smtClean="0">
                <a:latin typeface="Helvetica"/>
                <a:ea typeface="Times New Roman"/>
                <a:cs typeface="Times New Roman"/>
              </a:rPr>
              <a:t>payroll (Activity)</a:t>
            </a:r>
          </a:p>
          <a:p>
            <a:pPr marL="457200" indent="-457200">
              <a:spcBef>
                <a:spcPts val="600"/>
              </a:spcBef>
              <a:spcAft>
                <a:spcPts val="1200"/>
              </a:spcAft>
              <a:buSzPct val="100000"/>
              <a:buFont typeface="+mj-lt"/>
              <a:buAutoNum type="arabicPeriod" startAt="13"/>
            </a:pPr>
            <a:r>
              <a:rPr lang="en-AU" sz="2400" dirty="0">
                <a:latin typeface="Helvetica"/>
                <a:ea typeface="Times New Roman"/>
                <a:cs typeface="Times New Roman"/>
              </a:rPr>
              <a:t>Control of </a:t>
            </a:r>
            <a:r>
              <a:rPr lang="en-AU" sz="2400" dirty="0" smtClean="0">
                <a:latin typeface="Helvetica"/>
                <a:ea typeface="Times New Roman"/>
                <a:cs typeface="Times New Roman"/>
              </a:rPr>
              <a:t>inventory (Activity)</a:t>
            </a:r>
          </a:p>
          <a:p>
            <a:pPr marL="457200" indent="-457200">
              <a:spcBef>
                <a:spcPts val="600"/>
              </a:spcBef>
              <a:spcAft>
                <a:spcPts val="1200"/>
              </a:spcAft>
              <a:buSzPct val="100000"/>
              <a:buFont typeface="+mj-lt"/>
              <a:buAutoNum type="arabicPeriod" startAt="13"/>
            </a:pPr>
            <a:r>
              <a:rPr lang="en-AU" sz="2400" dirty="0">
                <a:latin typeface="Helvetica"/>
                <a:ea typeface="Times New Roman"/>
                <a:cs typeface="Times New Roman"/>
              </a:rPr>
              <a:t>Control of fixed </a:t>
            </a:r>
            <a:r>
              <a:rPr lang="en-AU" sz="2400" dirty="0" smtClean="0">
                <a:latin typeface="Helvetica"/>
                <a:ea typeface="Times New Roman"/>
                <a:cs typeface="Times New Roman"/>
              </a:rPr>
              <a:t>assets (Activity)</a:t>
            </a:r>
            <a:endParaRPr lang="en-AU" sz="2400" dirty="0">
              <a:latin typeface="Helvetica"/>
              <a:ea typeface="Times New Roman"/>
              <a:cs typeface="Times New Roman"/>
            </a:endParaRPr>
          </a:p>
          <a:p>
            <a:pPr marL="935990" indent="-935990">
              <a:spcBef>
                <a:spcPts val="600"/>
              </a:spcBef>
              <a:spcAft>
                <a:spcPts val="1200"/>
              </a:spcAft>
            </a:pPr>
            <a:endParaRPr lang="en-AU" sz="2200" dirty="0">
              <a:latin typeface="Helvetica"/>
              <a:ea typeface="Times New Roman"/>
              <a:cs typeface="Times New Roman"/>
            </a:endParaRPr>
          </a:p>
          <a:p>
            <a:pPr marL="935990" indent="-935990">
              <a:spcBef>
                <a:spcPts val="600"/>
              </a:spcBef>
              <a:spcAft>
                <a:spcPts val="1200"/>
              </a:spcAft>
            </a:pPr>
            <a:endParaRPr lang="en-AU" sz="2200" dirty="0">
              <a:latin typeface="Helvetica"/>
              <a:ea typeface="Times New Roman"/>
              <a:cs typeface="Times New Roman"/>
            </a:endParaRPr>
          </a:p>
          <a:p>
            <a:pPr marL="935990" indent="-935990">
              <a:spcBef>
                <a:spcPts val="600"/>
              </a:spcBef>
              <a:spcAft>
                <a:spcPts val="1200"/>
              </a:spcAft>
            </a:pPr>
            <a:endParaRPr lang="en-AU" sz="2200" dirty="0">
              <a:latin typeface="Helvetica"/>
              <a:ea typeface="Times New Roman"/>
              <a:cs typeface="Times New Roman"/>
            </a:endParaRPr>
          </a:p>
          <a:p>
            <a:pPr>
              <a:spcBef>
                <a:spcPts val="600"/>
              </a:spcBef>
            </a:pPr>
            <a:endParaRPr lang="en-AU" sz="2200" dirty="0"/>
          </a:p>
        </p:txBody>
      </p:sp>
      <p:sp>
        <p:nvSpPr>
          <p:cNvPr id="6"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pic>
        <p:nvPicPr>
          <p:cNvPr id="7" name="Picture 6" descr="MP900399463.JPG"/>
          <p:cNvPicPr/>
          <p:nvPr/>
        </p:nvPicPr>
        <p:blipFill>
          <a:blip r:embed="rId3" cstate="print"/>
          <a:stretch>
            <a:fillRect/>
          </a:stretch>
        </p:blipFill>
        <p:spPr>
          <a:xfrm>
            <a:off x="6400800" y="2590800"/>
            <a:ext cx="1764276" cy="2209800"/>
          </a:xfrm>
          <a:prstGeom prst="rect">
            <a:avLst/>
          </a:prstGeom>
        </p:spPr>
      </p:pic>
      <p:sp>
        <p:nvSpPr>
          <p:cNvPr id="8"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29</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78069041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874837"/>
            <a:ext cx="7315200" cy="4525963"/>
          </a:xfrm>
        </p:spPr>
        <p:txBody>
          <a:bodyPr>
            <a:normAutofit/>
          </a:bodyPr>
          <a:lstStyle/>
          <a:p>
            <a:pPr marL="457200" indent="-457200">
              <a:spcBef>
                <a:spcPts val="600"/>
              </a:spcBef>
              <a:spcAft>
                <a:spcPts val="1200"/>
              </a:spcAft>
              <a:buSzPct val="100000"/>
              <a:buFont typeface="+mj-lt"/>
              <a:buAutoNum type="arabicPeriod" startAt="20"/>
            </a:pPr>
            <a:r>
              <a:rPr lang="en-AU" sz="2400" dirty="0">
                <a:latin typeface="Helvetica"/>
                <a:ea typeface="Times New Roman"/>
                <a:cs typeface="Times New Roman"/>
              </a:rPr>
              <a:t>Setting standard costs</a:t>
            </a:r>
          </a:p>
          <a:p>
            <a:pPr marL="457200" indent="-457200">
              <a:spcBef>
                <a:spcPts val="600"/>
              </a:spcBef>
              <a:spcAft>
                <a:spcPts val="1200"/>
              </a:spcAft>
              <a:buSzPct val="100000"/>
              <a:buFont typeface="+mj-lt"/>
              <a:buAutoNum type="arabicPeriod" startAt="20"/>
            </a:pPr>
            <a:r>
              <a:rPr lang="en-AU" sz="2400" dirty="0">
                <a:latin typeface="Helvetica"/>
                <a:ea typeface="Times New Roman"/>
                <a:cs typeface="Times New Roman"/>
              </a:rPr>
              <a:t>Establish financial performance evaluation mechanisms</a:t>
            </a:r>
          </a:p>
          <a:p>
            <a:pPr marL="457200" indent="-457200">
              <a:spcBef>
                <a:spcPts val="600"/>
              </a:spcBef>
              <a:spcAft>
                <a:spcPts val="1200"/>
              </a:spcAft>
              <a:buSzPct val="100000"/>
              <a:buFont typeface="+mj-lt"/>
              <a:buAutoNum type="arabicPeriod" startAt="20"/>
            </a:pPr>
            <a:r>
              <a:rPr lang="en-AU" sz="2400" dirty="0">
                <a:latin typeface="Helvetica"/>
                <a:ea typeface="Times New Roman"/>
                <a:cs typeface="Times New Roman"/>
              </a:rPr>
              <a:t>Why analyse financial information?</a:t>
            </a:r>
          </a:p>
          <a:p>
            <a:pPr marL="457200" indent="-457200">
              <a:spcBef>
                <a:spcPts val="600"/>
              </a:spcBef>
              <a:spcAft>
                <a:spcPts val="1200"/>
              </a:spcAft>
              <a:buSzPct val="100000"/>
              <a:buFont typeface="+mj-lt"/>
              <a:buAutoNum type="arabicPeriod" startAt="20"/>
            </a:pPr>
            <a:r>
              <a:rPr lang="en-AU" sz="2400" dirty="0">
                <a:latin typeface="Helvetica"/>
                <a:ea typeface="Times New Roman"/>
                <a:cs typeface="Times New Roman"/>
              </a:rPr>
              <a:t>Objectives of financial analysis</a:t>
            </a:r>
          </a:p>
          <a:p>
            <a:pPr marL="457200" indent="-457200">
              <a:spcBef>
                <a:spcPts val="600"/>
              </a:spcBef>
              <a:spcAft>
                <a:spcPts val="1200"/>
              </a:spcAft>
              <a:buSzPct val="100000"/>
              <a:buFont typeface="+mj-lt"/>
              <a:buAutoNum type="arabicPeriod" startAt="20"/>
            </a:pPr>
            <a:r>
              <a:rPr lang="en-AU" sz="2400" dirty="0">
                <a:latin typeface="Helvetica"/>
                <a:ea typeface="Times New Roman"/>
                <a:cs typeface="Times New Roman"/>
              </a:rPr>
              <a:t>Measuring the financial position </a:t>
            </a:r>
            <a:endParaRPr lang="en-AU" sz="2400" dirty="0" smtClean="0">
              <a:latin typeface="Helvetica"/>
              <a:ea typeface="Times New Roman"/>
              <a:cs typeface="Times New Roman"/>
            </a:endParaRPr>
          </a:p>
          <a:p>
            <a:pPr>
              <a:spcBef>
                <a:spcPts val="600"/>
              </a:spcBef>
            </a:pPr>
            <a:endParaRPr lang="en-AU" sz="2200" dirty="0"/>
          </a:p>
        </p:txBody>
      </p:sp>
      <p:pic>
        <p:nvPicPr>
          <p:cNvPr id="7" name="Picture 6" descr="Fiancial budgeting and taxes.JPG"/>
          <p:cNvPicPr/>
          <p:nvPr/>
        </p:nvPicPr>
        <p:blipFill>
          <a:blip r:embed="rId3" cstate="print"/>
          <a:stretch>
            <a:fillRect/>
          </a:stretch>
        </p:blipFill>
        <p:spPr>
          <a:xfrm>
            <a:off x="6934200" y="3048000"/>
            <a:ext cx="1363260" cy="1905000"/>
          </a:xfrm>
          <a:prstGeom prst="rect">
            <a:avLst/>
          </a:prstGeom>
        </p:spPr>
      </p:pic>
      <p:sp>
        <p:nvSpPr>
          <p:cNvPr id="8"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9"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30</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143598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22437"/>
            <a:ext cx="7848600" cy="4525963"/>
          </a:xfrm>
        </p:spPr>
        <p:txBody>
          <a:bodyPr/>
          <a:lstStyle/>
          <a:p>
            <a:pPr marL="228600" indent="0">
              <a:spcBef>
                <a:spcPts val="1200"/>
              </a:spcBef>
              <a:spcAft>
                <a:spcPts val="1200"/>
              </a:spcAft>
              <a:buNone/>
            </a:pPr>
            <a:r>
              <a:rPr lang="en-AU" sz="2400" b="1" dirty="0">
                <a:latin typeface="Helvetica"/>
                <a:ea typeface="Calibri"/>
                <a:cs typeface="Times New Roman"/>
              </a:rPr>
              <a:t>Select financial analysis method</a:t>
            </a:r>
            <a:endParaRPr lang="en-AU" sz="1800" dirty="0">
              <a:latin typeface="Helvetica"/>
              <a:ea typeface="Calibri"/>
              <a:cs typeface="Times New Roman"/>
            </a:endParaRPr>
          </a:p>
          <a:p>
            <a:pPr>
              <a:spcBef>
                <a:spcPts val="600"/>
              </a:spcBef>
              <a:spcAft>
                <a:spcPts val="600"/>
              </a:spcAft>
              <a:tabLst>
                <a:tab pos="457200" algn="l"/>
              </a:tabLst>
            </a:pPr>
            <a:r>
              <a:rPr lang="en-AU" sz="2400" dirty="0" smtClean="0">
                <a:latin typeface="Helvetica"/>
                <a:ea typeface="SimSun"/>
                <a:cs typeface="Times New Roman"/>
              </a:rPr>
              <a:t>Understanding </a:t>
            </a:r>
            <a:r>
              <a:rPr lang="en-AU" sz="2400" dirty="0">
                <a:latin typeface="Helvetica"/>
                <a:ea typeface="SimSun"/>
                <a:cs typeface="Times New Roman"/>
              </a:rPr>
              <a:t>financial statements is a pre-requisite to analysis.  Several methods of performing financial statement analysis </a:t>
            </a:r>
            <a:r>
              <a:rPr lang="en-AU" sz="2400" dirty="0" smtClean="0">
                <a:latin typeface="Helvetica"/>
                <a:ea typeface="SimSun"/>
                <a:cs typeface="Times New Roman"/>
              </a:rPr>
              <a:t>exist</a:t>
            </a:r>
            <a:endParaRPr lang="en-AU" sz="2400" dirty="0">
              <a:ea typeface="Times New Roman"/>
              <a:cs typeface="Times New Roman"/>
            </a:endParaRPr>
          </a:p>
          <a:p>
            <a:endParaRPr lang="en-AU" dirty="0" smtClean="0"/>
          </a:p>
          <a:p>
            <a:endParaRPr lang="en-AU" dirty="0"/>
          </a:p>
          <a:p>
            <a:endParaRPr lang="en-AU" dirty="0"/>
          </a:p>
        </p:txBody>
      </p:sp>
      <p:pic>
        <p:nvPicPr>
          <p:cNvPr id="5" name="Picture 4"/>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0" y="3657601"/>
            <a:ext cx="7413078" cy="2895600"/>
          </a:xfrm>
          <a:prstGeom prst="rect">
            <a:avLst/>
          </a:prstGeom>
          <a:noFill/>
        </p:spPr>
      </p:pic>
      <p:sp>
        <p:nvSpPr>
          <p:cNvPr id="7"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8"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31</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1398307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74837"/>
            <a:ext cx="7467600" cy="4525963"/>
          </a:xfrm>
        </p:spPr>
        <p:txBody>
          <a:bodyPr>
            <a:noAutofit/>
          </a:bodyPr>
          <a:lstStyle/>
          <a:p>
            <a:pPr marL="36576" indent="0">
              <a:spcBef>
                <a:spcPts val="1200"/>
              </a:spcBef>
              <a:spcAft>
                <a:spcPts val="1200"/>
              </a:spcAft>
              <a:buNone/>
            </a:pPr>
            <a:r>
              <a:rPr lang="en-AU" sz="2200" b="1" dirty="0">
                <a:ea typeface="Calibri"/>
                <a:cs typeface="Calibri"/>
              </a:rPr>
              <a:t>Horizontal Analysis</a:t>
            </a:r>
          </a:p>
          <a:p>
            <a:pPr>
              <a:spcBef>
                <a:spcPts val="400"/>
              </a:spcBef>
              <a:spcAft>
                <a:spcPts val="600"/>
              </a:spcAft>
            </a:pPr>
            <a:r>
              <a:rPr lang="en-US" sz="2200" dirty="0">
                <a:ea typeface="SimSun"/>
                <a:cs typeface="Times New Roman"/>
              </a:rPr>
              <a:t>The horizontal analysis compares items in the financial statements over a period of time. </a:t>
            </a:r>
            <a:r>
              <a:rPr lang="en-US" sz="2200" dirty="0" smtClean="0">
                <a:ea typeface="SimSun"/>
                <a:cs typeface="Times New Roman"/>
              </a:rPr>
              <a:t>For </a:t>
            </a:r>
            <a:r>
              <a:rPr lang="en-US" sz="2200" dirty="0">
                <a:ea typeface="SimSun"/>
                <a:cs typeface="Times New Roman"/>
              </a:rPr>
              <a:t>example:</a:t>
            </a:r>
            <a:endParaRPr lang="en-AU" sz="2200" dirty="0">
              <a:ea typeface="Times New Roman"/>
              <a:cs typeface="Times New Roman"/>
            </a:endParaRPr>
          </a:p>
          <a:p>
            <a:pPr marL="644652" lvl="1" indent="-342900">
              <a:lnSpc>
                <a:spcPct val="115000"/>
              </a:lnSpc>
              <a:spcBef>
                <a:spcPts val="400"/>
              </a:spcBef>
              <a:spcAft>
                <a:spcPts val="600"/>
              </a:spcAft>
              <a:buFont typeface="Symbol"/>
              <a:buChar char=""/>
            </a:pPr>
            <a:r>
              <a:rPr lang="en-AU" sz="2200" dirty="0">
                <a:ea typeface="SimSun"/>
                <a:cs typeface="Times New Roman"/>
              </a:rPr>
              <a:t>Accounts receivable may be compared over 3 months </a:t>
            </a:r>
            <a:endParaRPr lang="en-AU" sz="2200" dirty="0">
              <a:ea typeface="Times New Roman"/>
              <a:cs typeface="Times New Roman"/>
            </a:endParaRPr>
          </a:p>
          <a:p>
            <a:pPr marL="644652" lvl="1" indent="-342900">
              <a:lnSpc>
                <a:spcPct val="115000"/>
              </a:lnSpc>
              <a:spcBef>
                <a:spcPts val="400"/>
              </a:spcBef>
              <a:spcAft>
                <a:spcPts val="600"/>
              </a:spcAft>
              <a:buFont typeface="Symbol"/>
              <a:buChar char=""/>
            </a:pPr>
            <a:r>
              <a:rPr lang="en-AU" sz="2200" dirty="0">
                <a:ea typeface="SimSun"/>
                <a:cs typeface="Times New Roman"/>
              </a:rPr>
              <a:t>Expenses may be compared over a period of 2 years</a:t>
            </a:r>
            <a:endParaRPr lang="en-AU" sz="2200" dirty="0">
              <a:ea typeface="Times New Roman"/>
              <a:cs typeface="Times New Roman"/>
            </a:endParaRPr>
          </a:p>
          <a:p>
            <a:endParaRPr lang="en-AU" sz="2200" dirty="0"/>
          </a:p>
        </p:txBody>
      </p:sp>
      <p:sp>
        <p:nvSpPr>
          <p:cNvPr id="6"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32</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91861423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74837"/>
            <a:ext cx="7467600" cy="4525963"/>
          </a:xfrm>
        </p:spPr>
        <p:txBody>
          <a:bodyPr>
            <a:normAutofit/>
          </a:bodyPr>
          <a:lstStyle/>
          <a:p>
            <a:pPr>
              <a:spcBef>
                <a:spcPts val="1200"/>
              </a:spcBef>
              <a:spcAft>
                <a:spcPts val="1200"/>
              </a:spcAft>
            </a:pPr>
            <a:r>
              <a:rPr lang="en-US" sz="2000" b="1" dirty="0">
                <a:ea typeface="Times New Roman"/>
                <a:cs typeface="Times New Roman"/>
              </a:rPr>
              <a:t>Vertical analysis</a:t>
            </a:r>
            <a:endParaRPr lang="en-AU" sz="2000" dirty="0">
              <a:ea typeface="Times New Roman"/>
              <a:cs typeface="Times New Roman"/>
            </a:endParaRPr>
          </a:p>
          <a:p>
            <a:pPr marL="0" indent="0" algn="ctr">
              <a:spcBef>
                <a:spcPts val="0"/>
              </a:spcBef>
              <a:spcAft>
                <a:spcPts val="0"/>
              </a:spcAft>
              <a:buNone/>
            </a:pPr>
            <a:r>
              <a:rPr lang="en-US" sz="2000" b="1" dirty="0">
                <a:ea typeface="SimSun"/>
                <a:cs typeface="Times New Roman"/>
              </a:rPr>
              <a:t>WAI Pte Ltd</a:t>
            </a:r>
            <a:endParaRPr lang="en-AU" sz="2000" dirty="0">
              <a:ea typeface="Times New Roman"/>
              <a:cs typeface="Times New Roman"/>
            </a:endParaRPr>
          </a:p>
          <a:p>
            <a:pPr marL="0" indent="0" algn="ctr">
              <a:spcBef>
                <a:spcPts val="0"/>
              </a:spcBef>
              <a:spcAft>
                <a:spcPts val="0"/>
              </a:spcAft>
              <a:buNone/>
            </a:pPr>
            <a:r>
              <a:rPr lang="en-US" sz="2000" b="1" dirty="0">
                <a:ea typeface="SimSun"/>
                <a:cs typeface="Times New Roman"/>
              </a:rPr>
              <a:t>Profit and Loss Statements</a:t>
            </a:r>
            <a:endParaRPr lang="en-AU" sz="2000" dirty="0">
              <a:ea typeface="Times New Roman"/>
              <a:cs typeface="Times New Roman"/>
            </a:endParaRPr>
          </a:p>
          <a:p>
            <a:pPr marL="0" indent="0" algn="ctr">
              <a:spcBef>
                <a:spcPts val="0"/>
              </a:spcBef>
              <a:spcAft>
                <a:spcPts val="0"/>
              </a:spcAft>
              <a:buNone/>
            </a:pPr>
            <a:r>
              <a:rPr lang="en-US" sz="2000" b="1" dirty="0">
                <a:ea typeface="SimSun"/>
                <a:cs typeface="Times New Roman"/>
              </a:rPr>
              <a:t>For the year ending</a:t>
            </a:r>
            <a:endParaRPr lang="en-AU" sz="2000" dirty="0">
              <a:ea typeface="Times New Roman"/>
              <a:cs typeface="Times New Roman"/>
            </a:endParaRPr>
          </a:p>
          <a:p>
            <a:pPr>
              <a:spcBef>
                <a:spcPts val="0"/>
              </a:spcBef>
            </a:pPr>
            <a:endParaRPr lang="en-AU" sz="2000" dirty="0"/>
          </a:p>
        </p:txBody>
      </p:sp>
      <p:graphicFrame>
        <p:nvGraphicFramePr>
          <p:cNvPr id="6" name="Table 5"/>
          <p:cNvGraphicFramePr>
            <a:graphicFrameLocks noGrp="1"/>
          </p:cNvGraphicFramePr>
          <p:nvPr>
            <p:extLst>
              <p:ext uri="{D42A27DB-BD31-4B8C-83A1-F6EECF244321}">
                <p14:modId xmlns:p14="http://schemas.microsoft.com/office/powerpoint/2010/main" val="3386159389"/>
              </p:ext>
            </p:extLst>
          </p:nvPr>
        </p:nvGraphicFramePr>
        <p:xfrm>
          <a:off x="457200" y="3478800"/>
          <a:ext cx="7896224" cy="2160000"/>
        </p:xfrm>
        <a:graphic>
          <a:graphicData uri="http://schemas.openxmlformats.org/drawingml/2006/table">
            <a:tbl>
              <a:tblPr firstRow="1" firstCol="1" bandRow="1">
                <a:tableStyleId>{5C22544A-7EE6-4342-B048-85BDC9FD1C3A}</a:tableStyleId>
              </a:tblPr>
              <a:tblGrid>
                <a:gridCol w="1410040"/>
                <a:gridCol w="1488375"/>
                <a:gridCol w="1566711"/>
                <a:gridCol w="1488375"/>
                <a:gridCol w="1942723"/>
              </a:tblGrid>
              <a:tr h="540000">
                <a:tc>
                  <a:txBody>
                    <a:bodyPr/>
                    <a:lstStyle/>
                    <a:p>
                      <a:pPr algn="ctr">
                        <a:spcBef>
                          <a:spcPts val="300"/>
                        </a:spcBef>
                        <a:spcAft>
                          <a:spcPts val="300"/>
                        </a:spcAft>
                      </a:pPr>
                      <a:r>
                        <a:rPr lang="en-US" sz="2000" dirty="0">
                          <a:effectLst/>
                          <a:latin typeface="Helvetica" pitchFamily="34" charset="0"/>
                        </a:rPr>
                        <a:t> </a:t>
                      </a:r>
                      <a:endParaRPr lang="en-AU" sz="2000" dirty="0">
                        <a:effectLst/>
                        <a:latin typeface="Helvetica" pitchFamily="34" charset="0"/>
                        <a:ea typeface="Times New Roman"/>
                        <a:cs typeface="Times New Roman"/>
                      </a:endParaRPr>
                    </a:p>
                  </a:txBody>
                  <a:tcPr marL="68580" marR="68580" marT="0" marB="0" anchor="ctr"/>
                </a:tc>
                <a:tc>
                  <a:txBody>
                    <a:bodyPr/>
                    <a:lstStyle/>
                    <a:p>
                      <a:pPr algn="ctr">
                        <a:spcBef>
                          <a:spcPts val="300"/>
                        </a:spcBef>
                        <a:spcAft>
                          <a:spcPts val="300"/>
                        </a:spcAft>
                      </a:pPr>
                      <a:r>
                        <a:rPr lang="en-US" sz="2000" dirty="0">
                          <a:effectLst/>
                          <a:latin typeface="Helvetica" pitchFamily="34" charset="0"/>
                        </a:rPr>
                        <a:t>Year 2</a:t>
                      </a:r>
                      <a:endParaRPr lang="en-AU" sz="2000" dirty="0">
                        <a:effectLst/>
                        <a:latin typeface="Helvetica" pitchFamily="34" charset="0"/>
                        <a:ea typeface="Times New Roman"/>
                        <a:cs typeface="Times New Roman"/>
                      </a:endParaRPr>
                    </a:p>
                  </a:txBody>
                  <a:tcPr marL="68580" marR="68580" marT="0" marB="0" anchor="ctr"/>
                </a:tc>
                <a:tc>
                  <a:txBody>
                    <a:bodyPr/>
                    <a:lstStyle/>
                    <a:p>
                      <a:pPr algn="ctr">
                        <a:lnSpc>
                          <a:spcPct val="115000"/>
                        </a:lnSpc>
                        <a:spcBef>
                          <a:spcPts val="300"/>
                        </a:spcBef>
                        <a:spcAft>
                          <a:spcPts val="300"/>
                        </a:spcAft>
                      </a:pPr>
                      <a:r>
                        <a:rPr lang="en-AU" sz="2000" dirty="0">
                          <a:effectLst/>
                          <a:latin typeface="Helvetica" pitchFamily="34" charset="0"/>
                        </a:rPr>
                        <a:t>Year 2</a:t>
                      </a:r>
                      <a:endParaRPr lang="en-AU" sz="2000" dirty="0">
                        <a:effectLst/>
                        <a:latin typeface="Helvetica" pitchFamily="34" charset="0"/>
                        <a:ea typeface="Times New Roman"/>
                        <a:cs typeface="Times New Roman"/>
                      </a:endParaRPr>
                    </a:p>
                  </a:txBody>
                  <a:tcPr marL="68580" marR="68580" marT="0" marB="0" anchor="ctr"/>
                </a:tc>
                <a:tc>
                  <a:txBody>
                    <a:bodyPr/>
                    <a:lstStyle/>
                    <a:p>
                      <a:pPr algn="ctr">
                        <a:lnSpc>
                          <a:spcPct val="115000"/>
                        </a:lnSpc>
                        <a:spcBef>
                          <a:spcPts val="300"/>
                        </a:spcBef>
                        <a:spcAft>
                          <a:spcPts val="300"/>
                        </a:spcAft>
                      </a:pPr>
                      <a:r>
                        <a:rPr lang="en-AU" sz="2000" dirty="0">
                          <a:effectLst/>
                          <a:latin typeface="Helvetica" pitchFamily="34" charset="0"/>
                        </a:rPr>
                        <a:t>Year 1</a:t>
                      </a:r>
                      <a:endParaRPr lang="en-AU" sz="2000" dirty="0">
                        <a:effectLst/>
                        <a:latin typeface="Helvetica" pitchFamily="34" charset="0"/>
                        <a:ea typeface="Times New Roman"/>
                        <a:cs typeface="Times New Roman"/>
                      </a:endParaRPr>
                    </a:p>
                  </a:txBody>
                  <a:tcPr marL="68580" marR="68580" marT="0" marB="0" anchor="ctr"/>
                </a:tc>
                <a:tc>
                  <a:txBody>
                    <a:bodyPr/>
                    <a:lstStyle/>
                    <a:p>
                      <a:pPr algn="ctr">
                        <a:lnSpc>
                          <a:spcPct val="115000"/>
                        </a:lnSpc>
                        <a:spcBef>
                          <a:spcPts val="300"/>
                        </a:spcBef>
                        <a:spcAft>
                          <a:spcPts val="300"/>
                        </a:spcAft>
                      </a:pPr>
                      <a:r>
                        <a:rPr lang="en-AU" sz="2000" dirty="0">
                          <a:effectLst/>
                          <a:latin typeface="Helvetica" pitchFamily="34" charset="0"/>
                        </a:rPr>
                        <a:t>Year 1</a:t>
                      </a:r>
                      <a:endParaRPr lang="en-AU" sz="2000" dirty="0">
                        <a:effectLst/>
                        <a:latin typeface="Helvetica" pitchFamily="34" charset="0"/>
                        <a:ea typeface="Times New Roman"/>
                        <a:cs typeface="Times New Roman"/>
                      </a:endParaRPr>
                    </a:p>
                  </a:txBody>
                  <a:tcPr marL="68580" marR="68580" marT="0" marB="0" anchor="ctr"/>
                </a:tc>
              </a:tr>
              <a:tr h="540000">
                <a:tc>
                  <a:txBody>
                    <a:bodyPr/>
                    <a:lstStyle/>
                    <a:p>
                      <a:pPr algn="ctr">
                        <a:spcBef>
                          <a:spcPts val="300"/>
                        </a:spcBef>
                        <a:spcAft>
                          <a:spcPts val="300"/>
                        </a:spcAft>
                      </a:pPr>
                      <a:r>
                        <a:rPr lang="en-US" sz="2000" dirty="0">
                          <a:effectLst/>
                          <a:latin typeface="Helvetica" pitchFamily="34" charset="0"/>
                        </a:rPr>
                        <a:t>Revenue</a:t>
                      </a:r>
                      <a:endParaRPr lang="en-AU" sz="2000" dirty="0">
                        <a:effectLst/>
                        <a:latin typeface="Helvetica" pitchFamily="34" charset="0"/>
                        <a:ea typeface="Times New Roman"/>
                        <a:cs typeface="Times New Roman"/>
                      </a:endParaRPr>
                    </a:p>
                  </a:txBody>
                  <a:tcPr marL="68580" marR="68580" marT="0" marB="0" anchor="ctr"/>
                </a:tc>
                <a:tc>
                  <a:txBody>
                    <a:bodyPr/>
                    <a:lstStyle/>
                    <a:p>
                      <a:pPr algn="ctr">
                        <a:spcBef>
                          <a:spcPts val="300"/>
                        </a:spcBef>
                        <a:spcAft>
                          <a:spcPts val="300"/>
                        </a:spcAft>
                      </a:pPr>
                      <a:r>
                        <a:rPr lang="en-US" sz="2000" dirty="0">
                          <a:effectLst/>
                          <a:latin typeface="Helvetica" pitchFamily="34" charset="0"/>
                        </a:rPr>
                        <a:t>15,000</a:t>
                      </a:r>
                      <a:endParaRPr lang="en-AU" sz="2000" dirty="0">
                        <a:effectLst/>
                        <a:latin typeface="Helvetica" pitchFamily="34" charset="0"/>
                        <a:ea typeface="Times New Roman"/>
                        <a:cs typeface="Times New Roman"/>
                      </a:endParaRPr>
                    </a:p>
                  </a:txBody>
                  <a:tcPr marL="68580" marR="68580" marT="0" marB="0" anchor="ctr"/>
                </a:tc>
                <a:tc>
                  <a:txBody>
                    <a:bodyPr/>
                    <a:lstStyle/>
                    <a:p>
                      <a:pPr algn="ctr">
                        <a:spcBef>
                          <a:spcPts val="300"/>
                        </a:spcBef>
                        <a:spcAft>
                          <a:spcPts val="300"/>
                        </a:spcAft>
                      </a:pPr>
                      <a:r>
                        <a:rPr lang="en-US" sz="2000" dirty="0">
                          <a:effectLst/>
                          <a:latin typeface="Helvetica" pitchFamily="34" charset="0"/>
                        </a:rPr>
                        <a:t>100%</a:t>
                      </a:r>
                      <a:endParaRPr lang="en-AU" sz="2000" dirty="0">
                        <a:effectLst/>
                        <a:latin typeface="Helvetica" pitchFamily="34" charset="0"/>
                        <a:ea typeface="Times New Roman"/>
                        <a:cs typeface="Times New Roman"/>
                      </a:endParaRPr>
                    </a:p>
                  </a:txBody>
                  <a:tcPr marL="68580" marR="68580" marT="0" marB="0" anchor="ctr"/>
                </a:tc>
                <a:tc>
                  <a:txBody>
                    <a:bodyPr/>
                    <a:lstStyle/>
                    <a:p>
                      <a:pPr algn="ctr">
                        <a:spcBef>
                          <a:spcPts val="300"/>
                        </a:spcBef>
                        <a:spcAft>
                          <a:spcPts val="300"/>
                        </a:spcAft>
                      </a:pPr>
                      <a:r>
                        <a:rPr lang="en-US" sz="2000" dirty="0">
                          <a:effectLst/>
                          <a:latin typeface="Helvetica" pitchFamily="34" charset="0"/>
                        </a:rPr>
                        <a:t>10,000</a:t>
                      </a:r>
                      <a:endParaRPr lang="en-AU" sz="2000" dirty="0">
                        <a:effectLst/>
                        <a:latin typeface="Helvetica" pitchFamily="34" charset="0"/>
                        <a:ea typeface="Times New Roman"/>
                        <a:cs typeface="Times New Roman"/>
                      </a:endParaRPr>
                    </a:p>
                  </a:txBody>
                  <a:tcPr marL="68580" marR="68580" marT="0" marB="0" anchor="ctr"/>
                </a:tc>
                <a:tc>
                  <a:txBody>
                    <a:bodyPr/>
                    <a:lstStyle/>
                    <a:p>
                      <a:pPr algn="ctr">
                        <a:spcBef>
                          <a:spcPts val="300"/>
                        </a:spcBef>
                        <a:spcAft>
                          <a:spcPts val="300"/>
                        </a:spcAft>
                      </a:pPr>
                      <a:r>
                        <a:rPr lang="en-US" sz="2000" dirty="0">
                          <a:effectLst/>
                          <a:latin typeface="Helvetica" pitchFamily="34" charset="0"/>
                        </a:rPr>
                        <a:t>100%</a:t>
                      </a:r>
                      <a:endParaRPr lang="en-AU" sz="2000" dirty="0">
                        <a:effectLst/>
                        <a:latin typeface="Helvetica" pitchFamily="34" charset="0"/>
                        <a:ea typeface="Times New Roman"/>
                        <a:cs typeface="Times New Roman"/>
                      </a:endParaRPr>
                    </a:p>
                  </a:txBody>
                  <a:tcPr marL="68580" marR="68580" marT="0" marB="0" anchor="ctr"/>
                </a:tc>
              </a:tr>
              <a:tr h="540000">
                <a:tc>
                  <a:txBody>
                    <a:bodyPr/>
                    <a:lstStyle/>
                    <a:p>
                      <a:pPr algn="ctr">
                        <a:spcBef>
                          <a:spcPts val="300"/>
                        </a:spcBef>
                        <a:spcAft>
                          <a:spcPts val="300"/>
                        </a:spcAft>
                      </a:pPr>
                      <a:r>
                        <a:rPr lang="en-US" sz="2000" dirty="0">
                          <a:effectLst/>
                          <a:latin typeface="Helvetica" pitchFamily="34" charset="0"/>
                        </a:rPr>
                        <a:t>Expenses</a:t>
                      </a:r>
                      <a:endParaRPr lang="en-AU" sz="2000" dirty="0">
                        <a:effectLst/>
                        <a:latin typeface="Helvetica" pitchFamily="34" charset="0"/>
                        <a:ea typeface="Times New Roman"/>
                        <a:cs typeface="Times New Roman"/>
                      </a:endParaRPr>
                    </a:p>
                  </a:txBody>
                  <a:tcPr marL="68580" marR="68580" marT="0" marB="0" anchor="ctr"/>
                </a:tc>
                <a:tc>
                  <a:txBody>
                    <a:bodyPr/>
                    <a:lstStyle/>
                    <a:p>
                      <a:pPr algn="ctr">
                        <a:spcBef>
                          <a:spcPts val="300"/>
                        </a:spcBef>
                        <a:spcAft>
                          <a:spcPts val="300"/>
                        </a:spcAft>
                      </a:pPr>
                      <a:r>
                        <a:rPr lang="en-US" sz="2000" dirty="0">
                          <a:effectLst/>
                          <a:latin typeface="Helvetica" pitchFamily="34" charset="0"/>
                        </a:rPr>
                        <a:t>8,000</a:t>
                      </a:r>
                      <a:endParaRPr lang="en-AU" sz="2000" dirty="0">
                        <a:effectLst/>
                        <a:latin typeface="Helvetica" pitchFamily="34" charset="0"/>
                        <a:ea typeface="Times New Roman"/>
                        <a:cs typeface="Times New Roman"/>
                      </a:endParaRPr>
                    </a:p>
                  </a:txBody>
                  <a:tcPr marL="68580" marR="68580" marT="0" marB="0" anchor="ctr"/>
                </a:tc>
                <a:tc>
                  <a:txBody>
                    <a:bodyPr/>
                    <a:lstStyle/>
                    <a:p>
                      <a:pPr algn="ctr">
                        <a:spcBef>
                          <a:spcPts val="300"/>
                        </a:spcBef>
                        <a:spcAft>
                          <a:spcPts val="300"/>
                        </a:spcAft>
                      </a:pPr>
                      <a:r>
                        <a:rPr lang="en-US" sz="2000" dirty="0">
                          <a:effectLst/>
                          <a:latin typeface="Helvetica" pitchFamily="34" charset="0"/>
                        </a:rPr>
                        <a:t>53%</a:t>
                      </a:r>
                      <a:endParaRPr lang="en-AU" sz="2000" dirty="0">
                        <a:effectLst/>
                        <a:latin typeface="Helvetica" pitchFamily="34" charset="0"/>
                        <a:ea typeface="Times New Roman"/>
                        <a:cs typeface="Times New Roman"/>
                      </a:endParaRPr>
                    </a:p>
                  </a:txBody>
                  <a:tcPr marL="68580" marR="68580" marT="0" marB="0" anchor="ctr"/>
                </a:tc>
                <a:tc>
                  <a:txBody>
                    <a:bodyPr/>
                    <a:lstStyle/>
                    <a:p>
                      <a:pPr algn="ctr">
                        <a:spcBef>
                          <a:spcPts val="300"/>
                        </a:spcBef>
                        <a:spcAft>
                          <a:spcPts val="300"/>
                        </a:spcAft>
                      </a:pPr>
                      <a:r>
                        <a:rPr lang="en-US" sz="2000" dirty="0">
                          <a:effectLst/>
                          <a:latin typeface="Helvetica" pitchFamily="34" charset="0"/>
                        </a:rPr>
                        <a:t>4,000</a:t>
                      </a:r>
                      <a:endParaRPr lang="en-AU" sz="2000" dirty="0">
                        <a:effectLst/>
                        <a:latin typeface="Helvetica" pitchFamily="34" charset="0"/>
                        <a:ea typeface="Times New Roman"/>
                        <a:cs typeface="Times New Roman"/>
                      </a:endParaRPr>
                    </a:p>
                  </a:txBody>
                  <a:tcPr marL="68580" marR="68580" marT="0" marB="0" anchor="ctr"/>
                </a:tc>
                <a:tc>
                  <a:txBody>
                    <a:bodyPr/>
                    <a:lstStyle/>
                    <a:p>
                      <a:pPr algn="ctr">
                        <a:spcBef>
                          <a:spcPts val="300"/>
                        </a:spcBef>
                        <a:spcAft>
                          <a:spcPts val="300"/>
                        </a:spcAft>
                      </a:pPr>
                      <a:r>
                        <a:rPr lang="en-US" sz="2000" dirty="0">
                          <a:effectLst/>
                          <a:latin typeface="Helvetica" pitchFamily="34" charset="0"/>
                        </a:rPr>
                        <a:t>40%</a:t>
                      </a:r>
                      <a:endParaRPr lang="en-AU" sz="2000" dirty="0">
                        <a:effectLst/>
                        <a:latin typeface="Helvetica" pitchFamily="34" charset="0"/>
                        <a:ea typeface="Times New Roman"/>
                        <a:cs typeface="Times New Roman"/>
                      </a:endParaRPr>
                    </a:p>
                  </a:txBody>
                  <a:tcPr marL="68580" marR="68580" marT="0" marB="0" anchor="ctr"/>
                </a:tc>
              </a:tr>
              <a:tr h="540000">
                <a:tc>
                  <a:txBody>
                    <a:bodyPr/>
                    <a:lstStyle/>
                    <a:p>
                      <a:pPr algn="ctr">
                        <a:spcBef>
                          <a:spcPts val="300"/>
                        </a:spcBef>
                        <a:spcAft>
                          <a:spcPts val="300"/>
                        </a:spcAft>
                      </a:pPr>
                      <a:r>
                        <a:rPr lang="en-US" sz="2000" dirty="0">
                          <a:effectLst/>
                          <a:latin typeface="Helvetica" pitchFamily="34" charset="0"/>
                        </a:rPr>
                        <a:t>Profit</a:t>
                      </a:r>
                      <a:endParaRPr lang="en-AU" sz="2000" dirty="0">
                        <a:effectLst/>
                        <a:latin typeface="Helvetica" pitchFamily="34" charset="0"/>
                        <a:ea typeface="Times New Roman"/>
                        <a:cs typeface="Times New Roman"/>
                      </a:endParaRPr>
                    </a:p>
                  </a:txBody>
                  <a:tcPr marL="68580" marR="68580" marT="0" marB="0" anchor="ctr"/>
                </a:tc>
                <a:tc>
                  <a:txBody>
                    <a:bodyPr/>
                    <a:lstStyle/>
                    <a:p>
                      <a:pPr algn="ctr">
                        <a:spcBef>
                          <a:spcPts val="300"/>
                        </a:spcBef>
                        <a:spcAft>
                          <a:spcPts val="300"/>
                        </a:spcAft>
                      </a:pPr>
                      <a:r>
                        <a:rPr lang="en-US" sz="2000" dirty="0">
                          <a:effectLst/>
                          <a:latin typeface="Helvetica" pitchFamily="34" charset="0"/>
                        </a:rPr>
                        <a:t>7,000</a:t>
                      </a:r>
                      <a:endParaRPr lang="en-AU" sz="2000" dirty="0">
                        <a:effectLst/>
                        <a:latin typeface="Helvetica" pitchFamily="34" charset="0"/>
                        <a:ea typeface="Times New Roman"/>
                        <a:cs typeface="Times New Roman"/>
                      </a:endParaRPr>
                    </a:p>
                  </a:txBody>
                  <a:tcPr marL="68580" marR="68580" marT="0" marB="0" anchor="ctr"/>
                </a:tc>
                <a:tc>
                  <a:txBody>
                    <a:bodyPr/>
                    <a:lstStyle/>
                    <a:p>
                      <a:pPr algn="ctr">
                        <a:spcBef>
                          <a:spcPts val="300"/>
                        </a:spcBef>
                        <a:spcAft>
                          <a:spcPts val="300"/>
                        </a:spcAft>
                      </a:pPr>
                      <a:r>
                        <a:rPr lang="en-US" sz="2000" dirty="0">
                          <a:effectLst/>
                          <a:latin typeface="Helvetica" pitchFamily="34" charset="0"/>
                        </a:rPr>
                        <a:t>47%</a:t>
                      </a:r>
                      <a:endParaRPr lang="en-AU" sz="2000" dirty="0">
                        <a:effectLst/>
                        <a:latin typeface="Helvetica" pitchFamily="34" charset="0"/>
                        <a:ea typeface="Times New Roman"/>
                        <a:cs typeface="Times New Roman"/>
                      </a:endParaRPr>
                    </a:p>
                  </a:txBody>
                  <a:tcPr marL="68580" marR="68580" marT="0" marB="0" anchor="ctr"/>
                </a:tc>
                <a:tc>
                  <a:txBody>
                    <a:bodyPr/>
                    <a:lstStyle/>
                    <a:p>
                      <a:pPr algn="ctr">
                        <a:spcBef>
                          <a:spcPts val="300"/>
                        </a:spcBef>
                        <a:spcAft>
                          <a:spcPts val="300"/>
                        </a:spcAft>
                      </a:pPr>
                      <a:r>
                        <a:rPr lang="en-US" sz="2000" dirty="0">
                          <a:effectLst/>
                          <a:latin typeface="Helvetica" pitchFamily="34" charset="0"/>
                        </a:rPr>
                        <a:t>6,000</a:t>
                      </a:r>
                      <a:endParaRPr lang="en-AU" sz="2000" dirty="0">
                        <a:effectLst/>
                        <a:latin typeface="Helvetica" pitchFamily="34" charset="0"/>
                        <a:ea typeface="Times New Roman"/>
                        <a:cs typeface="Times New Roman"/>
                      </a:endParaRPr>
                    </a:p>
                  </a:txBody>
                  <a:tcPr marL="68580" marR="68580" marT="0" marB="0" anchor="ctr"/>
                </a:tc>
                <a:tc>
                  <a:txBody>
                    <a:bodyPr/>
                    <a:lstStyle/>
                    <a:p>
                      <a:pPr algn="ctr">
                        <a:spcBef>
                          <a:spcPts val="300"/>
                        </a:spcBef>
                        <a:spcAft>
                          <a:spcPts val="300"/>
                        </a:spcAft>
                      </a:pPr>
                      <a:r>
                        <a:rPr lang="en-US" sz="2000" dirty="0">
                          <a:effectLst/>
                          <a:latin typeface="Helvetica" pitchFamily="34" charset="0"/>
                        </a:rPr>
                        <a:t>60%</a:t>
                      </a:r>
                      <a:endParaRPr lang="en-AU" sz="2000" dirty="0">
                        <a:effectLst/>
                        <a:latin typeface="Helvetica" pitchFamily="34" charset="0"/>
                        <a:ea typeface="Times New Roman"/>
                        <a:cs typeface="Times New Roman"/>
                      </a:endParaRPr>
                    </a:p>
                  </a:txBody>
                  <a:tcPr marL="68580" marR="68580" marT="0" marB="0" anchor="ctr"/>
                </a:tc>
              </a:tr>
            </a:tbl>
          </a:graphicData>
        </a:graphic>
      </p:graphicFrame>
      <p:sp>
        <p:nvSpPr>
          <p:cNvPr id="8"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9"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33</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692896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001000" cy="1143000"/>
          </a:xfrm>
        </p:spPr>
        <p:txBody>
          <a:bodyPr>
            <a:normAutofit fontScale="90000"/>
          </a:bodyPr>
          <a:lstStyle/>
          <a:p>
            <a:pPr indent="-226800"/>
            <a:r>
              <a:rPr lang="en-AU" sz="2900" b="1" dirty="0" smtClean="0">
                <a:solidFill>
                  <a:srgbClr val="FF6600"/>
                </a:solidFill>
              </a:rPr>
              <a:t>1.4	Implement </a:t>
            </a:r>
            <a:r>
              <a:rPr lang="en-AU" sz="2900" b="1" dirty="0">
                <a:solidFill>
                  <a:srgbClr val="FF6600"/>
                </a:solidFill>
              </a:rPr>
              <a:t>and control financial </a:t>
            </a:r>
            <a:r>
              <a:rPr lang="en-AU" sz="2900" b="1" dirty="0" smtClean="0">
                <a:solidFill>
                  <a:srgbClr val="FF6600"/>
                </a:solidFill>
              </a:rPr>
              <a:t>systems </a:t>
            </a:r>
            <a:r>
              <a:rPr lang="en-AU" sz="2900" b="1" dirty="0">
                <a:solidFill>
                  <a:srgbClr val="FF6600"/>
                </a:solidFill>
              </a:rPr>
              <a:t>in </a:t>
            </a:r>
            <a:r>
              <a:rPr lang="en-AU" sz="2900" b="1" dirty="0" smtClean="0">
                <a:solidFill>
                  <a:srgbClr val="FF6600"/>
                </a:solidFill>
              </a:rPr>
              <a:t>	accordance </a:t>
            </a:r>
            <a:r>
              <a:rPr lang="en-AU" sz="2900" b="1" dirty="0">
                <a:solidFill>
                  <a:srgbClr val="FF6600"/>
                </a:solidFill>
              </a:rPr>
              <a:t>with enterprise procedures</a:t>
            </a:r>
            <a:endParaRPr lang="en-AU"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785393395"/>
              </p:ext>
            </p:extLst>
          </p:nvPr>
        </p:nvGraphicFramePr>
        <p:xfrm>
          <a:off x="914400" y="1295400"/>
          <a:ext cx="7162801" cy="5502721"/>
        </p:xfrm>
        <a:graphic>
          <a:graphicData uri="http://schemas.openxmlformats.org/drawingml/2006/table">
            <a:tbl>
              <a:tblPr firstRow="1" firstCol="1" bandRow="1">
                <a:tableStyleId>{5C22544A-7EE6-4342-B048-85BDC9FD1C3A}</a:tableStyleId>
              </a:tblPr>
              <a:tblGrid>
                <a:gridCol w="2041546"/>
                <a:gridCol w="1366031"/>
                <a:gridCol w="1366031"/>
                <a:gridCol w="1223155"/>
                <a:gridCol w="142875"/>
                <a:gridCol w="1023163"/>
              </a:tblGrid>
              <a:tr h="60960">
                <a:tc>
                  <a:txBody>
                    <a:bodyPr/>
                    <a:lstStyle/>
                    <a:p>
                      <a:pPr algn="ct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ctr">
                        <a:spcAft>
                          <a:spcPts val="0"/>
                        </a:spcAft>
                      </a:pPr>
                      <a:r>
                        <a:rPr lang="en-US" sz="1200" dirty="0">
                          <a:effectLst/>
                          <a:latin typeface="Helvetica" pitchFamily="34" charset="0"/>
                        </a:rPr>
                        <a:t>Year 2</a:t>
                      </a:r>
                      <a:endParaRPr lang="en-AU" sz="1200" dirty="0">
                        <a:effectLst/>
                        <a:latin typeface="Helvetica" pitchFamily="34" charset="0"/>
                        <a:ea typeface="Times New Roman"/>
                        <a:cs typeface="Times New Roman"/>
                      </a:endParaRPr>
                    </a:p>
                  </a:txBody>
                  <a:tcPr marL="68580" marR="68580" marT="0" marB="0" anchor="ctr"/>
                </a:tc>
                <a:tc>
                  <a:txBody>
                    <a:bodyPr/>
                    <a:lstStyle/>
                    <a:p>
                      <a:pPr algn="ctr">
                        <a:spcAft>
                          <a:spcPts val="0"/>
                        </a:spcAft>
                      </a:pPr>
                      <a:r>
                        <a:rPr lang="en-US" sz="1200" dirty="0">
                          <a:effectLst/>
                          <a:latin typeface="Helvetica" pitchFamily="34" charset="0"/>
                        </a:rPr>
                        <a:t>Year 2</a:t>
                      </a:r>
                      <a:endParaRPr lang="en-AU" sz="1200" dirty="0">
                        <a:effectLst/>
                        <a:latin typeface="Helvetica" pitchFamily="34" charset="0"/>
                        <a:ea typeface="Times New Roman"/>
                        <a:cs typeface="Times New Roman"/>
                      </a:endParaRPr>
                    </a:p>
                  </a:txBody>
                  <a:tcPr marL="68580" marR="68580" marT="0" marB="0" anchor="ctr"/>
                </a:tc>
                <a:tc gridSpan="2">
                  <a:txBody>
                    <a:bodyPr/>
                    <a:lstStyle/>
                    <a:p>
                      <a:pPr algn="ctr">
                        <a:spcAft>
                          <a:spcPts val="0"/>
                        </a:spcAft>
                      </a:pPr>
                      <a:r>
                        <a:rPr lang="en-US" sz="1200" dirty="0">
                          <a:effectLst/>
                          <a:latin typeface="Helvetica" pitchFamily="34" charset="0"/>
                        </a:rPr>
                        <a:t>Year 1</a:t>
                      </a:r>
                      <a:endParaRPr lang="en-AU" sz="1200" dirty="0">
                        <a:effectLst/>
                        <a:latin typeface="Helvetica" pitchFamily="34" charset="0"/>
                        <a:ea typeface="Times New Roman"/>
                        <a:cs typeface="Times New Roman"/>
                      </a:endParaRPr>
                    </a:p>
                  </a:txBody>
                  <a:tcPr marL="68580" marR="68580" marT="0" marB="0" anchor="ctr"/>
                </a:tc>
                <a:tc hMerge="1">
                  <a:txBody>
                    <a:bodyPr/>
                    <a:lstStyle/>
                    <a:p>
                      <a:endParaRPr lang="en-AU"/>
                    </a:p>
                  </a:txBody>
                  <a:tcPr/>
                </a:tc>
                <a:tc>
                  <a:txBody>
                    <a:bodyPr/>
                    <a:lstStyle/>
                    <a:p>
                      <a:pPr algn="ctr">
                        <a:spcAft>
                          <a:spcPts val="0"/>
                        </a:spcAft>
                      </a:pPr>
                      <a:r>
                        <a:rPr lang="en-US" sz="1200" dirty="0">
                          <a:effectLst/>
                          <a:latin typeface="Helvetica" pitchFamily="34" charset="0"/>
                        </a:rPr>
                        <a:t>Year 1</a:t>
                      </a:r>
                      <a:endParaRPr lang="en-AU" sz="1200" dirty="0">
                        <a:effectLst/>
                        <a:latin typeface="Helvetica" pitchFamily="34" charset="0"/>
                        <a:ea typeface="Times New Roman"/>
                        <a:cs typeface="Times New Roman"/>
                      </a:endParaRPr>
                    </a:p>
                  </a:txBody>
                  <a:tcPr marL="68580" marR="68580" marT="0" marB="0" anchor="ctr"/>
                </a:tc>
              </a:tr>
              <a:tr h="197031">
                <a:tc>
                  <a:txBody>
                    <a:bodyPr/>
                    <a:lstStyle/>
                    <a:p>
                      <a:pPr algn="ct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ctr">
                        <a:spcAft>
                          <a:spcPts val="0"/>
                        </a:spcAft>
                      </a:pPr>
                      <a:r>
                        <a:rPr lang="en-US" sz="1200" dirty="0">
                          <a:effectLst/>
                          <a:latin typeface="Helvetica" pitchFamily="34" charset="0"/>
                        </a:rPr>
                        <a:t>$’000</a:t>
                      </a:r>
                      <a:endParaRPr lang="en-AU" sz="1200" dirty="0">
                        <a:effectLst/>
                        <a:latin typeface="Helvetica" pitchFamily="34" charset="0"/>
                        <a:ea typeface="Times New Roman"/>
                        <a:cs typeface="Times New Roman"/>
                      </a:endParaRPr>
                    </a:p>
                  </a:txBody>
                  <a:tcPr marL="68580" marR="68580" marT="0" marB="0" anchor="ctr"/>
                </a:tc>
                <a:tc>
                  <a:txBody>
                    <a:bodyPr/>
                    <a:lstStyle/>
                    <a:p>
                      <a:pPr algn="ctr">
                        <a:spcAft>
                          <a:spcPts val="0"/>
                        </a:spcAft>
                      </a:pPr>
                      <a:r>
                        <a:rPr lang="en-US" sz="1200" dirty="0">
                          <a:effectLst/>
                          <a:latin typeface="Helvetica" pitchFamily="34" charset="0"/>
                        </a:rPr>
                        <a:t>%</a:t>
                      </a:r>
                      <a:endParaRPr lang="en-AU" sz="1200" dirty="0">
                        <a:effectLst/>
                        <a:latin typeface="Helvetica" pitchFamily="34" charset="0"/>
                        <a:ea typeface="Times New Roman"/>
                        <a:cs typeface="Times New Roman"/>
                      </a:endParaRPr>
                    </a:p>
                  </a:txBody>
                  <a:tcPr marL="68580" marR="68580" marT="0" marB="0" anchor="ctr"/>
                </a:tc>
                <a:tc gridSpan="2">
                  <a:txBody>
                    <a:bodyPr/>
                    <a:lstStyle/>
                    <a:p>
                      <a:pPr algn="ctr">
                        <a:spcAft>
                          <a:spcPts val="0"/>
                        </a:spcAft>
                      </a:pPr>
                      <a:r>
                        <a:rPr lang="en-US" sz="1200" dirty="0">
                          <a:effectLst/>
                          <a:latin typeface="Helvetica" pitchFamily="34" charset="0"/>
                        </a:rPr>
                        <a:t>$’000</a:t>
                      </a:r>
                      <a:endParaRPr lang="en-AU" sz="1200" dirty="0">
                        <a:effectLst/>
                        <a:latin typeface="Helvetica" pitchFamily="34" charset="0"/>
                        <a:ea typeface="Times New Roman"/>
                        <a:cs typeface="Times New Roman"/>
                      </a:endParaRPr>
                    </a:p>
                  </a:txBody>
                  <a:tcPr marL="68580" marR="68580" marT="0" marB="0" anchor="ctr"/>
                </a:tc>
                <a:tc hMerge="1">
                  <a:txBody>
                    <a:bodyPr/>
                    <a:lstStyle/>
                    <a:p>
                      <a:endParaRPr lang="en-AU"/>
                    </a:p>
                  </a:txBody>
                  <a:tcPr/>
                </a:tc>
                <a:tc>
                  <a:txBody>
                    <a:bodyPr/>
                    <a:lstStyle/>
                    <a:p>
                      <a:pPr algn="ctr">
                        <a:spcAft>
                          <a:spcPts val="0"/>
                        </a:spcAft>
                      </a:pPr>
                      <a:r>
                        <a:rPr lang="en-US" sz="1200" dirty="0">
                          <a:effectLst/>
                          <a:latin typeface="Helvetica" pitchFamily="34" charset="0"/>
                        </a:rPr>
                        <a:t>%</a:t>
                      </a:r>
                      <a:endParaRPr lang="en-AU" sz="1200" dirty="0">
                        <a:effectLst/>
                        <a:latin typeface="Helvetica" pitchFamily="34" charset="0"/>
                        <a:ea typeface="Times New Roman"/>
                        <a:cs typeface="Times New Roman"/>
                      </a:endParaRPr>
                    </a:p>
                  </a:txBody>
                  <a:tcPr marL="68580" marR="68580" marT="0" marB="0" anchor="ctr"/>
                </a:tc>
              </a:tr>
              <a:tr h="197031">
                <a:tc gridSpan="6">
                  <a:txBody>
                    <a:bodyPr/>
                    <a:lstStyle/>
                    <a:p>
                      <a:pPr algn="ctr">
                        <a:spcAft>
                          <a:spcPts val="0"/>
                        </a:spcAft>
                      </a:pPr>
                      <a:r>
                        <a:rPr lang="en-US" sz="1200" dirty="0">
                          <a:effectLst/>
                          <a:latin typeface="Helvetica" pitchFamily="34" charset="0"/>
                        </a:rPr>
                        <a:t>Assets</a:t>
                      </a:r>
                      <a:endParaRPr lang="en-AU" sz="1200" dirty="0">
                        <a:effectLst/>
                        <a:latin typeface="Helvetica" pitchFamily="34" charset="0"/>
                        <a:ea typeface="Times New Roman"/>
                        <a:cs typeface="Times New Roman"/>
                      </a:endParaRPr>
                    </a:p>
                  </a:txBody>
                  <a:tcPr marL="68580" marR="68580" marT="0" marB="0" anchor="ct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r>
              <a:tr h="197031">
                <a:tc>
                  <a:txBody>
                    <a:bodyPr/>
                    <a:lstStyle/>
                    <a:p>
                      <a:pPr>
                        <a:spcAft>
                          <a:spcPts val="0"/>
                        </a:spcAft>
                      </a:pPr>
                      <a:r>
                        <a:rPr lang="en-US" sz="1200" dirty="0">
                          <a:effectLst/>
                          <a:latin typeface="Helvetica" pitchFamily="34" charset="0"/>
                        </a:rPr>
                        <a:t>Fixed Assets</a:t>
                      </a:r>
                      <a:endParaRPr lang="en-AU" sz="1200" dirty="0">
                        <a:effectLst/>
                        <a:latin typeface="Helvetica" pitchFamily="34" charset="0"/>
                        <a:ea typeface="Times New Roman"/>
                        <a:cs typeface="Times New Roman"/>
                      </a:endParaRPr>
                    </a:p>
                  </a:txBody>
                  <a:tcPr marL="68580" marR="68580" marT="0" marB="0" anchor="ctr"/>
                </a:tc>
                <a:tc>
                  <a:txBody>
                    <a:bodyPr/>
                    <a:lstStyle/>
                    <a:p>
                      <a:pPr algn="ct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ct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ct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gridSpan="2">
                  <a:txBody>
                    <a:bodyPr/>
                    <a:lstStyle/>
                    <a:p>
                      <a:pPr algn="ct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hMerge="1">
                  <a:txBody>
                    <a:bodyPr/>
                    <a:lstStyle/>
                    <a:p>
                      <a:pPr algn="ctr">
                        <a:spcAft>
                          <a:spcPts val="0"/>
                        </a:spcAft>
                      </a:pPr>
                      <a:endParaRPr lang="en-AU" sz="1100">
                        <a:effectLst/>
                        <a:latin typeface="Calibri"/>
                        <a:ea typeface="Times New Roman"/>
                        <a:cs typeface="Times New Roman"/>
                      </a:endParaRPr>
                    </a:p>
                  </a:txBody>
                  <a:tcPr marL="68580" marR="68580" marT="0" marB="0"/>
                </a:tc>
              </a:tr>
              <a:tr h="394063">
                <a:tc>
                  <a:txBody>
                    <a:bodyPr/>
                    <a:lstStyle/>
                    <a:p>
                      <a:pPr>
                        <a:spcAft>
                          <a:spcPts val="0"/>
                        </a:spcAft>
                      </a:pPr>
                      <a:r>
                        <a:rPr lang="en-US" sz="1200" dirty="0">
                          <a:effectLst/>
                          <a:latin typeface="Helvetica" pitchFamily="34" charset="0"/>
                        </a:rPr>
                        <a:t>Land and Building</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100</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56</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100</a:t>
                      </a:r>
                      <a:endParaRPr lang="en-AU" sz="1200" dirty="0">
                        <a:effectLst/>
                        <a:latin typeface="Helvetica" pitchFamily="34" charset="0"/>
                        <a:ea typeface="Times New Roman"/>
                        <a:cs typeface="Times New Roman"/>
                      </a:endParaRPr>
                    </a:p>
                  </a:txBody>
                  <a:tcPr marL="68580" marR="68580" marT="0" marB="0" anchor="ctr"/>
                </a:tc>
                <a:tc gridSpan="2">
                  <a:txBody>
                    <a:bodyPr/>
                    <a:lstStyle/>
                    <a:p>
                      <a:pPr algn="r">
                        <a:spcAft>
                          <a:spcPts val="0"/>
                        </a:spcAft>
                      </a:pPr>
                      <a:r>
                        <a:rPr lang="en-US" sz="1200" dirty="0">
                          <a:effectLst/>
                          <a:latin typeface="Helvetica" pitchFamily="34" charset="0"/>
                        </a:rPr>
                        <a:t>40</a:t>
                      </a:r>
                      <a:endParaRPr lang="en-AU" sz="1200" dirty="0">
                        <a:effectLst/>
                        <a:latin typeface="Helvetica" pitchFamily="34" charset="0"/>
                        <a:ea typeface="Times New Roman"/>
                        <a:cs typeface="Times New Roman"/>
                      </a:endParaRPr>
                    </a:p>
                  </a:txBody>
                  <a:tcPr marL="68580" marR="68580" marT="0" marB="0" anchor="ctr"/>
                </a:tc>
                <a:tc hMerge="1">
                  <a:txBody>
                    <a:bodyPr/>
                    <a:lstStyle/>
                    <a:p>
                      <a:pPr algn="r">
                        <a:spcAft>
                          <a:spcPts val="0"/>
                        </a:spcAft>
                      </a:pPr>
                      <a:endParaRPr lang="en-AU" sz="1100">
                        <a:effectLst/>
                        <a:latin typeface="Calibri"/>
                        <a:ea typeface="Times New Roman"/>
                        <a:cs typeface="Times New Roman"/>
                      </a:endParaRPr>
                    </a:p>
                  </a:txBody>
                  <a:tcPr marL="68580" marR="68580" marT="0" marB="0"/>
                </a:tc>
              </a:tr>
              <a:tr h="197031">
                <a:tc>
                  <a:txBody>
                    <a:bodyPr/>
                    <a:lstStyle/>
                    <a:p>
                      <a:pP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gridSpan="2">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hMerge="1">
                  <a:txBody>
                    <a:bodyPr/>
                    <a:lstStyle/>
                    <a:p>
                      <a:pPr algn="r">
                        <a:spcAft>
                          <a:spcPts val="0"/>
                        </a:spcAft>
                      </a:pPr>
                      <a:endParaRPr lang="en-AU" sz="1100">
                        <a:effectLst/>
                        <a:latin typeface="Calibri"/>
                        <a:ea typeface="Times New Roman"/>
                        <a:cs typeface="Times New Roman"/>
                      </a:endParaRPr>
                    </a:p>
                  </a:txBody>
                  <a:tcPr marL="68580" marR="68580" marT="0" marB="0"/>
                </a:tc>
              </a:tr>
              <a:tr h="197031">
                <a:tc>
                  <a:txBody>
                    <a:bodyPr/>
                    <a:lstStyle/>
                    <a:p>
                      <a:pPr>
                        <a:spcAft>
                          <a:spcPts val="0"/>
                        </a:spcAft>
                      </a:pPr>
                      <a:r>
                        <a:rPr lang="en-US" sz="1200" dirty="0">
                          <a:effectLst/>
                          <a:latin typeface="Helvetica" pitchFamily="34" charset="0"/>
                        </a:rPr>
                        <a:t>Current Assets</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gridSpan="2">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hMerge="1">
                  <a:txBody>
                    <a:bodyPr/>
                    <a:lstStyle/>
                    <a:p>
                      <a:pPr algn="r">
                        <a:spcAft>
                          <a:spcPts val="0"/>
                        </a:spcAft>
                      </a:pPr>
                      <a:endParaRPr lang="en-AU" sz="1100">
                        <a:effectLst/>
                        <a:latin typeface="Calibri"/>
                        <a:ea typeface="Times New Roman"/>
                        <a:cs typeface="Times New Roman"/>
                      </a:endParaRPr>
                    </a:p>
                  </a:txBody>
                  <a:tcPr marL="68580" marR="68580" marT="0" marB="0"/>
                </a:tc>
              </a:tr>
              <a:tr h="197031">
                <a:tc>
                  <a:txBody>
                    <a:bodyPr/>
                    <a:lstStyle/>
                    <a:p>
                      <a:pPr>
                        <a:spcAft>
                          <a:spcPts val="0"/>
                        </a:spcAft>
                      </a:pPr>
                      <a:r>
                        <a:rPr lang="en-US" sz="1200" dirty="0">
                          <a:effectLst/>
                          <a:latin typeface="Helvetica" pitchFamily="34" charset="0"/>
                        </a:rPr>
                        <a:t>Cash</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20</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11</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50</a:t>
                      </a:r>
                      <a:endParaRPr lang="en-AU" sz="1200" dirty="0">
                        <a:effectLst/>
                        <a:latin typeface="Helvetica" pitchFamily="34" charset="0"/>
                        <a:ea typeface="Times New Roman"/>
                        <a:cs typeface="Times New Roman"/>
                      </a:endParaRPr>
                    </a:p>
                  </a:txBody>
                  <a:tcPr marL="68580" marR="68580" marT="0" marB="0" anchor="ctr"/>
                </a:tc>
                <a:tc gridSpan="2">
                  <a:txBody>
                    <a:bodyPr/>
                    <a:lstStyle/>
                    <a:p>
                      <a:pPr algn="r">
                        <a:spcAft>
                          <a:spcPts val="0"/>
                        </a:spcAft>
                      </a:pPr>
                      <a:r>
                        <a:rPr lang="en-US" sz="1200" dirty="0">
                          <a:effectLst/>
                          <a:latin typeface="Helvetica" pitchFamily="34" charset="0"/>
                        </a:rPr>
                        <a:t>20</a:t>
                      </a:r>
                      <a:endParaRPr lang="en-AU" sz="1200" dirty="0">
                        <a:effectLst/>
                        <a:latin typeface="Helvetica" pitchFamily="34" charset="0"/>
                        <a:ea typeface="Times New Roman"/>
                        <a:cs typeface="Times New Roman"/>
                      </a:endParaRPr>
                    </a:p>
                  </a:txBody>
                  <a:tcPr marL="68580" marR="68580" marT="0" marB="0" anchor="ctr"/>
                </a:tc>
                <a:tc hMerge="1">
                  <a:txBody>
                    <a:bodyPr/>
                    <a:lstStyle/>
                    <a:p>
                      <a:pPr algn="r">
                        <a:spcAft>
                          <a:spcPts val="0"/>
                        </a:spcAft>
                      </a:pPr>
                      <a:endParaRPr lang="en-AU" sz="1100">
                        <a:effectLst/>
                        <a:latin typeface="Calibri"/>
                        <a:ea typeface="Times New Roman"/>
                        <a:cs typeface="Times New Roman"/>
                      </a:endParaRPr>
                    </a:p>
                  </a:txBody>
                  <a:tcPr marL="68580" marR="68580" marT="0" marB="0"/>
                </a:tc>
              </a:tr>
              <a:tr h="197031">
                <a:tc>
                  <a:txBody>
                    <a:bodyPr/>
                    <a:lstStyle/>
                    <a:p>
                      <a:pPr>
                        <a:spcAft>
                          <a:spcPts val="0"/>
                        </a:spcAft>
                      </a:pPr>
                      <a:r>
                        <a:rPr lang="en-US" sz="1200" dirty="0">
                          <a:effectLst/>
                          <a:latin typeface="Helvetica" pitchFamily="34" charset="0"/>
                        </a:rPr>
                        <a:t>Debtors</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10</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5</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80</a:t>
                      </a:r>
                      <a:endParaRPr lang="en-AU" sz="1200" dirty="0">
                        <a:effectLst/>
                        <a:latin typeface="Helvetica" pitchFamily="34" charset="0"/>
                        <a:ea typeface="Times New Roman"/>
                        <a:cs typeface="Times New Roman"/>
                      </a:endParaRPr>
                    </a:p>
                  </a:txBody>
                  <a:tcPr marL="68580" marR="68580" marT="0" marB="0" anchor="ctr"/>
                </a:tc>
                <a:tc gridSpan="2">
                  <a:txBody>
                    <a:bodyPr/>
                    <a:lstStyle/>
                    <a:p>
                      <a:pPr algn="r">
                        <a:spcAft>
                          <a:spcPts val="0"/>
                        </a:spcAft>
                      </a:pPr>
                      <a:r>
                        <a:rPr lang="en-US" sz="1200" dirty="0">
                          <a:effectLst/>
                          <a:latin typeface="Helvetica" pitchFamily="34" charset="0"/>
                        </a:rPr>
                        <a:t>32</a:t>
                      </a:r>
                      <a:endParaRPr lang="en-AU" sz="1200" dirty="0">
                        <a:effectLst/>
                        <a:latin typeface="Helvetica" pitchFamily="34" charset="0"/>
                        <a:ea typeface="Times New Roman"/>
                        <a:cs typeface="Times New Roman"/>
                      </a:endParaRPr>
                    </a:p>
                  </a:txBody>
                  <a:tcPr marL="68580" marR="68580" marT="0" marB="0" anchor="ctr"/>
                </a:tc>
                <a:tc hMerge="1">
                  <a:txBody>
                    <a:bodyPr/>
                    <a:lstStyle/>
                    <a:p>
                      <a:pPr algn="r">
                        <a:spcAft>
                          <a:spcPts val="0"/>
                        </a:spcAft>
                      </a:pPr>
                      <a:endParaRPr lang="en-AU" sz="1100">
                        <a:effectLst/>
                        <a:latin typeface="Calibri"/>
                        <a:ea typeface="Times New Roman"/>
                        <a:cs typeface="Times New Roman"/>
                      </a:endParaRPr>
                    </a:p>
                  </a:txBody>
                  <a:tcPr marL="68580" marR="68580" marT="0" marB="0"/>
                </a:tc>
              </a:tr>
              <a:tr h="197031">
                <a:tc>
                  <a:txBody>
                    <a:bodyPr/>
                    <a:lstStyle/>
                    <a:p>
                      <a:pPr>
                        <a:spcAft>
                          <a:spcPts val="0"/>
                        </a:spcAft>
                      </a:pPr>
                      <a:r>
                        <a:rPr lang="en-US" sz="1200" dirty="0">
                          <a:effectLst/>
                          <a:latin typeface="Helvetica" pitchFamily="34" charset="0"/>
                        </a:rPr>
                        <a:t>Inventory</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50</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28</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20</a:t>
                      </a:r>
                      <a:endParaRPr lang="en-AU" sz="1200" dirty="0">
                        <a:effectLst/>
                        <a:latin typeface="Helvetica" pitchFamily="34" charset="0"/>
                        <a:ea typeface="Times New Roman"/>
                        <a:cs typeface="Times New Roman"/>
                      </a:endParaRPr>
                    </a:p>
                  </a:txBody>
                  <a:tcPr marL="68580" marR="68580" marT="0" marB="0" anchor="ctr"/>
                </a:tc>
                <a:tc gridSpan="2">
                  <a:txBody>
                    <a:bodyPr/>
                    <a:lstStyle/>
                    <a:p>
                      <a:pPr algn="r">
                        <a:spcAft>
                          <a:spcPts val="0"/>
                        </a:spcAft>
                      </a:pPr>
                      <a:r>
                        <a:rPr lang="en-US" sz="1200" dirty="0">
                          <a:effectLst/>
                          <a:latin typeface="Helvetica" pitchFamily="34" charset="0"/>
                        </a:rPr>
                        <a:t>8</a:t>
                      </a:r>
                      <a:endParaRPr lang="en-AU" sz="1200" dirty="0">
                        <a:effectLst/>
                        <a:latin typeface="Helvetica" pitchFamily="34" charset="0"/>
                        <a:ea typeface="Times New Roman"/>
                        <a:cs typeface="Times New Roman"/>
                      </a:endParaRPr>
                    </a:p>
                  </a:txBody>
                  <a:tcPr marL="68580" marR="68580" marT="0" marB="0" anchor="ctr"/>
                </a:tc>
                <a:tc hMerge="1">
                  <a:txBody>
                    <a:bodyPr/>
                    <a:lstStyle/>
                    <a:p>
                      <a:pPr algn="r">
                        <a:spcAft>
                          <a:spcPts val="0"/>
                        </a:spcAft>
                      </a:pPr>
                      <a:endParaRPr lang="en-AU" sz="1100" dirty="0">
                        <a:effectLst/>
                        <a:latin typeface="Calibri"/>
                        <a:ea typeface="Times New Roman"/>
                        <a:cs typeface="Times New Roman"/>
                      </a:endParaRPr>
                    </a:p>
                  </a:txBody>
                  <a:tcPr marL="68580" marR="68580" marT="0" marB="0"/>
                </a:tc>
              </a:tr>
              <a:tr h="197031">
                <a:tc>
                  <a:txBody>
                    <a:bodyPr/>
                    <a:lstStyle/>
                    <a:p>
                      <a:pP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gridSpan="2">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hMerge="1">
                  <a:txBody>
                    <a:bodyPr/>
                    <a:lstStyle/>
                    <a:p>
                      <a:pPr algn="r">
                        <a:spcAft>
                          <a:spcPts val="0"/>
                        </a:spcAft>
                      </a:pPr>
                      <a:endParaRPr lang="en-AU" sz="1100">
                        <a:effectLst/>
                        <a:latin typeface="Calibri"/>
                        <a:ea typeface="Times New Roman"/>
                        <a:cs typeface="Times New Roman"/>
                      </a:endParaRPr>
                    </a:p>
                  </a:txBody>
                  <a:tcPr marL="68580" marR="68580" marT="0" marB="0"/>
                </a:tc>
              </a:tr>
              <a:tr h="197031">
                <a:tc>
                  <a:txBody>
                    <a:bodyPr/>
                    <a:lstStyle/>
                    <a:p>
                      <a:pPr>
                        <a:spcAft>
                          <a:spcPts val="0"/>
                        </a:spcAft>
                      </a:pPr>
                      <a:r>
                        <a:rPr lang="en-US" sz="1200" dirty="0">
                          <a:effectLst/>
                          <a:latin typeface="Helvetica" pitchFamily="34" charset="0"/>
                        </a:rPr>
                        <a:t>Total assets</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180</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100</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250</a:t>
                      </a:r>
                      <a:endParaRPr lang="en-AU" sz="1200" dirty="0">
                        <a:effectLst/>
                        <a:latin typeface="Helvetica" pitchFamily="34" charset="0"/>
                        <a:ea typeface="Times New Roman"/>
                        <a:cs typeface="Times New Roman"/>
                      </a:endParaRPr>
                    </a:p>
                  </a:txBody>
                  <a:tcPr marL="68580" marR="68580" marT="0" marB="0" anchor="ctr"/>
                </a:tc>
                <a:tc gridSpan="2">
                  <a:txBody>
                    <a:bodyPr/>
                    <a:lstStyle/>
                    <a:p>
                      <a:pPr algn="r">
                        <a:spcAft>
                          <a:spcPts val="0"/>
                        </a:spcAft>
                      </a:pPr>
                      <a:r>
                        <a:rPr lang="en-US" sz="1200" dirty="0">
                          <a:effectLst/>
                          <a:latin typeface="Helvetica" pitchFamily="34" charset="0"/>
                        </a:rPr>
                        <a:t>100</a:t>
                      </a:r>
                      <a:endParaRPr lang="en-AU" sz="1200" dirty="0">
                        <a:effectLst/>
                        <a:latin typeface="Helvetica" pitchFamily="34" charset="0"/>
                        <a:ea typeface="Times New Roman"/>
                        <a:cs typeface="Times New Roman"/>
                      </a:endParaRPr>
                    </a:p>
                  </a:txBody>
                  <a:tcPr marL="68580" marR="68580" marT="0" marB="0" anchor="ctr"/>
                </a:tc>
                <a:tc hMerge="1">
                  <a:txBody>
                    <a:bodyPr/>
                    <a:lstStyle/>
                    <a:p>
                      <a:pPr algn="r">
                        <a:spcAft>
                          <a:spcPts val="0"/>
                        </a:spcAft>
                      </a:pPr>
                      <a:endParaRPr lang="en-AU" sz="1100">
                        <a:effectLst/>
                        <a:latin typeface="Calibri"/>
                        <a:ea typeface="Times New Roman"/>
                        <a:cs typeface="Times New Roman"/>
                      </a:endParaRPr>
                    </a:p>
                  </a:txBody>
                  <a:tcPr marL="68580" marR="68580" marT="0" marB="0"/>
                </a:tc>
              </a:tr>
              <a:tr h="197031">
                <a:tc gridSpan="6">
                  <a:txBody>
                    <a:bodyPr/>
                    <a:lstStyle/>
                    <a:p>
                      <a:pPr algn="ct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r>
              <a:tr h="197031">
                <a:tc gridSpan="6">
                  <a:txBody>
                    <a:bodyPr/>
                    <a:lstStyle/>
                    <a:p>
                      <a:pPr algn="ctr">
                        <a:spcAft>
                          <a:spcPts val="0"/>
                        </a:spcAft>
                      </a:pPr>
                      <a:r>
                        <a:rPr lang="en-US" sz="1200" dirty="0">
                          <a:effectLst/>
                          <a:latin typeface="Helvetica" pitchFamily="34" charset="0"/>
                        </a:rPr>
                        <a:t>Liabilities</a:t>
                      </a:r>
                      <a:endParaRPr lang="en-AU" sz="1200" dirty="0">
                        <a:effectLst/>
                        <a:latin typeface="Helvetica" pitchFamily="34" charset="0"/>
                        <a:ea typeface="Times New Roman"/>
                        <a:cs typeface="Times New Roman"/>
                      </a:endParaRPr>
                    </a:p>
                  </a:txBody>
                  <a:tcPr marL="68580" marR="68580" marT="0" marB="0" anchor="ct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r>
              <a:tr h="394063">
                <a:tc>
                  <a:txBody>
                    <a:bodyPr/>
                    <a:lstStyle/>
                    <a:p>
                      <a:pPr>
                        <a:spcAft>
                          <a:spcPts val="0"/>
                        </a:spcAft>
                      </a:pPr>
                      <a:r>
                        <a:rPr lang="en-US" sz="1200" dirty="0">
                          <a:effectLst/>
                          <a:latin typeface="Helvetica" pitchFamily="34" charset="0"/>
                        </a:rPr>
                        <a:t>Current liabilities</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gridSpan="2">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hMerge="1">
                  <a:txBody>
                    <a:bodyPr/>
                    <a:lstStyle/>
                    <a:p>
                      <a:pPr algn="r">
                        <a:spcAft>
                          <a:spcPts val="0"/>
                        </a:spcAft>
                      </a:pPr>
                      <a:endParaRPr lang="en-AU" sz="1100">
                        <a:effectLst/>
                        <a:latin typeface="Calibri"/>
                        <a:ea typeface="Times New Roman"/>
                        <a:cs typeface="Times New Roman"/>
                      </a:endParaRPr>
                    </a:p>
                  </a:txBody>
                  <a:tcPr marL="68580" marR="68580" marT="0" marB="0"/>
                </a:tc>
              </a:tr>
              <a:tr h="197031">
                <a:tc>
                  <a:txBody>
                    <a:bodyPr/>
                    <a:lstStyle/>
                    <a:p>
                      <a:pPr>
                        <a:spcAft>
                          <a:spcPts val="0"/>
                        </a:spcAft>
                      </a:pPr>
                      <a:r>
                        <a:rPr lang="en-US" sz="1200" dirty="0">
                          <a:effectLst/>
                          <a:latin typeface="Helvetica" pitchFamily="34" charset="0"/>
                        </a:rPr>
                        <a:t>Creditors</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60</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33</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100</a:t>
                      </a:r>
                      <a:endParaRPr lang="en-AU" sz="1200" dirty="0">
                        <a:effectLst/>
                        <a:latin typeface="Helvetica" pitchFamily="34" charset="0"/>
                        <a:ea typeface="Times New Roman"/>
                        <a:cs typeface="Times New Roman"/>
                      </a:endParaRPr>
                    </a:p>
                  </a:txBody>
                  <a:tcPr marL="68580" marR="68580" marT="0" marB="0" anchor="ctr"/>
                </a:tc>
                <a:tc gridSpan="2">
                  <a:txBody>
                    <a:bodyPr/>
                    <a:lstStyle/>
                    <a:p>
                      <a:pPr algn="r">
                        <a:spcAft>
                          <a:spcPts val="0"/>
                        </a:spcAft>
                      </a:pPr>
                      <a:r>
                        <a:rPr lang="en-US" sz="1200" dirty="0">
                          <a:effectLst/>
                          <a:latin typeface="Helvetica" pitchFamily="34" charset="0"/>
                        </a:rPr>
                        <a:t>40</a:t>
                      </a:r>
                      <a:endParaRPr lang="en-AU" sz="1200" dirty="0">
                        <a:effectLst/>
                        <a:latin typeface="Helvetica" pitchFamily="34" charset="0"/>
                        <a:ea typeface="Times New Roman"/>
                        <a:cs typeface="Times New Roman"/>
                      </a:endParaRPr>
                    </a:p>
                  </a:txBody>
                  <a:tcPr marL="68580" marR="68580" marT="0" marB="0" anchor="ctr"/>
                </a:tc>
                <a:tc hMerge="1">
                  <a:txBody>
                    <a:bodyPr/>
                    <a:lstStyle/>
                    <a:p>
                      <a:pPr algn="r">
                        <a:spcAft>
                          <a:spcPts val="0"/>
                        </a:spcAft>
                      </a:pPr>
                      <a:endParaRPr lang="en-AU" sz="1100">
                        <a:effectLst/>
                        <a:latin typeface="Calibri"/>
                        <a:ea typeface="Times New Roman"/>
                        <a:cs typeface="Times New Roman"/>
                      </a:endParaRPr>
                    </a:p>
                  </a:txBody>
                  <a:tcPr marL="68580" marR="68580" marT="0" marB="0"/>
                </a:tc>
              </a:tr>
              <a:tr h="394063">
                <a:tc>
                  <a:txBody>
                    <a:bodyPr/>
                    <a:lstStyle/>
                    <a:p>
                      <a:pPr>
                        <a:spcAft>
                          <a:spcPts val="0"/>
                        </a:spcAft>
                      </a:pPr>
                      <a:r>
                        <a:rPr lang="en-US" sz="1200" dirty="0">
                          <a:effectLst/>
                          <a:latin typeface="Helvetica" pitchFamily="34" charset="0"/>
                        </a:rPr>
                        <a:t>Short term bank </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20</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11</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50</a:t>
                      </a:r>
                      <a:endParaRPr lang="en-AU" sz="1200" dirty="0">
                        <a:effectLst/>
                        <a:latin typeface="Helvetica" pitchFamily="34" charset="0"/>
                        <a:ea typeface="Times New Roman"/>
                        <a:cs typeface="Times New Roman"/>
                      </a:endParaRPr>
                    </a:p>
                  </a:txBody>
                  <a:tcPr marL="68580" marR="68580" marT="0" marB="0" anchor="ctr"/>
                </a:tc>
                <a:tc gridSpan="2">
                  <a:txBody>
                    <a:bodyPr/>
                    <a:lstStyle/>
                    <a:p>
                      <a:pPr algn="r">
                        <a:spcAft>
                          <a:spcPts val="0"/>
                        </a:spcAft>
                      </a:pPr>
                      <a:r>
                        <a:rPr lang="en-US" sz="1200" dirty="0">
                          <a:effectLst/>
                          <a:latin typeface="Helvetica" pitchFamily="34" charset="0"/>
                        </a:rPr>
                        <a:t>20</a:t>
                      </a:r>
                      <a:endParaRPr lang="en-AU" sz="1200" dirty="0">
                        <a:effectLst/>
                        <a:latin typeface="Helvetica" pitchFamily="34" charset="0"/>
                        <a:ea typeface="Times New Roman"/>
                        <a:cs typeface="Times New Roman"/>
                      </a:endParaRPr>
                    </a:p>
                  </a:txBody>
                  <a:tcPr marL="68580" marR="68580" marT="0" marB="0" anchor="ctr"/>
                </a:tc>
                <a:tc hMerge="1">
                  <a:txBody>
                    <a:bodyPr/>
                    <a:lstStyle/>
                    <a:p>
                      <a:pPr algn="r">
                        <a:spcAft>
                          <a:spcPts val="0"/>
                        </a:spcAft>
                      </a:pPr>
                      <a:endParaRPr lang="en-AU" sz="1100">
                        <a:effectLst/>
                        <a:latin typeface="Calibri"/>
                        <a:ea typeface="Times New Roman"/>
                        <a:cs typeface="Times New Roman"/>
                      </a:endParaRPr>
                    </a:p>
                  </a:txBody>
                  <a:tcPr marL="68580" marR="68580" marT="0" marB="0"/>
                </a:tc>
              </a:tr>
              <a:tr h="197031">
                <a:tc>
                  <a:txBody>
                    <a:bodyPr/>
                    <a:lstStyle/>
                    <a:p>
                      <a:pP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gridSpan="2">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hMerge="1">
                  <a:txBody>
                    <a:bodyPr/>
                    <a:lstStyle/>
                    <a:p>
                      <a:pPr algn="r">
                        <a:spcAft>
                          <a:spcPts val="0"/>
                        </a:spcAft>
                      </a:pPr>
                      <a:endParaRPr lang="en-AU" sz="1100">
                        <a:effectLst/>
                        <a:latin typeface="Calibri"/>
                        <a:ea typeface="Times New Roman"/>
                        <a:cs typeface="Times New Roman"/>
                      </a:endParaRPr>
                    </a:p>
                  </a:txBody>
                  <a:tcPr marL="68580" marR="68580" marT="0" marB="0"/>
                </a:tc>
              </a:tr>
              <a:tr h="197031">
                <a:tc>
                  <a:txBody>
                    <a:bodyPr/>
                    <a:lstStyle/>
                    <a:p>
                      <a:pPr>
                        <a:spcAft>
                          <a:spcPts val="0"/>
                        </a:spcAft>
                      </a:pPr>
                      <a:r>
                        <a:rPr lang="en-US" sz="1200" dirty="0">
                          <a:effectLst/>
                          <a:latin typeface="Helvetica" pitchFamily="34" charset="0"/>
                        </a:rPr>
                        <a:t>Total liabilities</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80</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44</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150</a:t>
                      </a:r>
                      <a:endParaRPr lang="en-AU" sz="1200" dirty="0">
                        <a:effectLst/>
                        <a:latin typeface="Helvetica" pitchFamily="34" charset="0"/>
                        <a:ea typeface="Times New Roman"/>
                        <a:cs typeface="Times New Roman"/>
                      </a:endParaRPr>
                    </a:p>
                  </a:txBody>
                  <a:tcPr marL="68580" marR="68580" marT="0" marB="0" anchor="ctr"/>
                </a:tc>
                <a:tc gridSpan="2">
                  <a:txBody>
                    <a:bodyPr/>
                    <a:lstStyle/>
                    <a:p>
                      <a:pPr algn="r">
                        <a:spcAft>
                          <a:spcPts val="0"/>
                        </a:spcAft>
                      </a:pPr>
                      <a:r>
                        <a:rPr lang="en-US" sz="1200" dirty="0">
                          <a:effectLst/>
                          <a:latin typeface="Helvetica" pitchFamily="34" charset="0"/>
                        </a:rPr>
                        <a:t>60</a:t>
                      </a:r>
                      <a:endParaRPr lang="en-AU" sz="1200" dirty="0">
                        <a:effectLst/>
                        <a:latin typeface="Helvetica" pitchFamily="34" charset="0"/>
                        <a:ea typeface="Times New Roman"/>
                        <a:cs typeface="Times New Roman"/>
                      </a:endParaRPr>
                    </a:p>
                  </a:txBody>
                  <a:tcPr marL="68580" marR="68580" marT="0" marB="0" anchor="ctr"/>
                </a:tc>
                <a:tc hMerge="1">
                  <a:txBody>
                    <a:bodyPr/>
                    <a:lstStyle/>
                    <a:p>
                      <a:pPr algn="r">
                        <a:spcAft>
                          <a:spcPts val="0"/>
                        </a:spcAft>
                      </a:pPr>
                      <a:endParaRPr lang="en-AU" sz="1100">
                        <a:effectLst/>
                        <a:latin typeface="Calibri"/>
                        <a:ea typeface="Times New Roman"/>
                        <a:cs typeface="Times New Roman"/>
                      </a:endParaRPr>
                    </a:p>
                  </a:txBody>
                  <a:tcPr marL="68580" marR="68580" marT="0" marB="0"/>
                </a:tc>
              </a:tr>
              <a:tr h="197031">
                <a:tc>
                  <a:txBody>
                    <a:bodyPr/>
                    <a:lstStyle/>
                    <a:p>
                      <a:pP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gridSpan="2">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hMerge="1">
                  <a:txBody>
                    <a:bodyPr/>
                    <a:lstStyle/>
                    <a:p>
                      <a:pPr algn="r">
                        <a:spcAft>
                          <a:spcPts val="0"/>
                        </a:spcAft>
                      </a:pPr>
                      <a:endParaRPr lang="en-AU" sz="1100">
                        <a:effectLst/>
                        <a:latin typeface="Calibri"/>
                        <a:ea typeface="Times New Roman"/>
                        <a:cs typeface="Times New Roman"/>
                      </a:endParaRPr>
                    </a:p>
                  </a:txBody>
                  <a:tcPr marL="68580" marR="68580" marT="0" marB="0"/>
                </a:tc>
              </a:tr>
              <a:tr h="197031">
                <a:tc gridSpan="6">
                  <a:txBody>
                    <a:bodyPr/>
                    <a:lstStyle/>
                    <a:p>
                      <a:pPr algn="ctr">
                        <a:spcAft>
                          <a:spcPts val="0"/>
                        </a:spcAft>
                      </a:pPr>
                      <a:r>
                        <a:rPr lang="en-US" sz="1200" dirty="0">
                          <a:effectLst/>
                          <a:latin typeface="Helvetica" pitchFamily="34" charset="0"/>
                        </a:rPr>
                        <a:t>Equity</a:t>
                      </a:r>
                      <a:endParaRPr lang="en-AU" sz="1200" dirty="0">
                        <a:effectLst/>
                        <a:latin typeface="Helvetica" pitchFamily="34" charset="0"/>
                        <a:ea typeface="Times New Roman"/>
                        <a:cs typeface="Times New Roman"/>
                      </a:endParaRPr>
                    </a:p>
                  </a:txBody>
                  <a:tcPr marL="68580" marR="68580" marT="0" marB="0" anchor="ct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r>
              <a:tr h="197031">
                <a:tc>
                  <a:txBody>
                    <a:bodyPr/>
                    <a:lstStyle/>
                    <a:p>
                      <a:pPr>
                        <a:spcAft>
                          <a:spcPts val="0"/>
                        </a:spcAft>
                      </a:pPr>
                      <a:r>
                        <a:rPr lang="en-US" sz="1200" dirty="0">
                          <a:effectLst/>
                          <a:latin typeface="Helvetica" pitchFamily="34" charset="0"/>
                        </a:rPr>
                        <a:t>Capital</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100</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56</a:t>
                      </a:r>
                      <a:endParaRPr lang="en-AU" sz="1200" dirty="0">
                        <a:effectLst/>
                        <a:latin typeface="Helvetica" pitchFamily="34" charset="0"/>
                        <a:ea typeface="Times New Roman"/>
                        <a:cs typeface="Times New Roman"/>
                      </a:endParaRPr>
                    </a:p>
                  </a:txBody>
                  <a:tcPr marL="68580" marR="68580" marT="0" marB="0" anchor="ctr"/>
                </a:tc>
                <a:tc gridSpan="2">
                  <a:txBody>
                    <a:bodyPr/>
                    <a:lstStyle/>
                    <a:p>
                      <a:pPr algn="r">
                        <a:spcAft>
                          <a:spcPts val="0"/>
                        </a:spcAft>
                      </a:pPr>
                      <a:r>
                        <a:rPr lang="en-US" sz="1200" dirty="0">
                          <a:effectLst/>
                          <a:latin typeface="Helvetica" pitchFamily="34" charset="0"/>
                        </a:rPr>
                        <a:t>100</a:t>
                      </a:r>
                      <a:endParaRPr lang="en-AU" sz="1200" dirty="0">
                        <a:effectLst/>
                        <a:latin typeface="Helvetica" pitchFamily="34" charset="0"/>
                        <a:ea typeface="Times New Roman"/>
                        <a:cs typeface="Times New Roman"/>
                      </a:endParaRPr>
                    </a:p>
                  </a:txBody>
                  <a:tcPr marL="68580" marR="68580" marT="0" marB="0" anchor="ctr"/>
                </a:tc>
                <a:tc hMerge="1">
                  <a:txBody>
                    <a:bodyPr/>
                    <a:lstStyle/>
                    <a:p>
                      <a:endParaRPr lang="en-AU"/>
                    </a:p>
                  </a:txBody>
                  <a:tcPr/>
                </a:tc>
                <a:tc>
                  <a:txBody>
                    <a:bodyPr/>
                    <a:lstStyle/>
                    <a:p>
                      <a:pPr algn="r">
                        <a:spcAft>
                          <a:spcPts val="0"/>
                        </a:spcAft>
                      </a:pPr>
                      <a:r>
                        <a:rPr lang="en-US" sz="1200" dirty="0">
                          <a:effectLst/>
                          <a:latin typeface="Helvetica" pitchFamily="34" charset="0"/>
                        </a:rPr>
                        <a:t>40</a:t>
                      </a:r>
                      <a:endParaRPr lang="en-AU" sz="1200" dirty="0">
                        <a:effectLst/>
                        <a:latin typeface="Helvetica" pitchFamily="34" charset="0"/>
                        <a:ea typeface="Times New Roman"/>
                        <a:cs typeface="Times New Roman"/>
                      </a:endParaRPr>
                    </a:p>
                  </a:txBody>
                  <a:tcPr marL="68580" marR="68580" marT="0" marB="0" anchor="ctr"/>
                </a:tc>
              </a:tr>
              <a:tr h="197031">
                <a:tc>
                  <a:txBody>
                    <a:bodyPr/>
                    <a:lstStyle/>
                    <a:p>
                      <a:pP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gridSpan="2">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c hMerge="1">
                  <a:txBody>
                    <a:bodyPr/>
                    <a:lstStyle/>
                    <a:p>
                      <a:endParaRPr lang="en-AU"/>
                    </a:p>
                  </a:txBody>
                  <a:tcPr/>
                </a:tc>
                <a:tc>
                  <a:txBody>
                    <a:bodyPr/>
                    <a:lstStyle/>
                    <a:p>
                      <a:pPr algn="r">
                        <a:spcAft>
                          <a:spcPts val="0"/>
                        </a:spcAft>
                      </a:pPr>
                      <a:r>
                        <a:rPr lang="en-US" sz="1200" dirty="0">
                          <a:effectLst/>
                          <a:latin typeface="Helvetica" pitchFamily="34" charset="0"/>
                        </a:rPr>
                        <a:t> </a:t>
                      </a:r>
                      <a:endParaRPr lang="en-AU" sz="1200" dirty="0">
                        <a:effectLst/>
                        <a:latin typeface="Helvetica" pitchFamily="34" charset="0"/>
                        <a:ea typeface="Times New Roman"/>
                        <a:cs typeface="Times New Roman"/>
                      </a:endParaRPr>
                    </a:p>
                  </a:txBody>
                  <a:tcPr marL="68580" marR="68580" marT="0" marB="0" anchor="ctr"/>
                </a:tc>
              </a:tr>
              <a:tr h="394063">
                <a:tc>
                  <a:txBody>
                    <a:bodyPr/>
                    <a:lstStyle/>
                    <a:p>
                      <a:pPr>
                        <a:spcAft>
                          <a:spcPts val="0"/>
                        </a:spcAft>
                      </a:pPr>
                      <a:r>
                        <a:rPr lang="en-US" sz="1200" dirty="0">
                          <a:effectLst/>
                          <a:latin typeface="Helvetica" pitchFamily="34" charset="0"/>
                        </a:rPr>
                        <a:t>Total liabilities &amp; equity</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180</a:t>
                      </a:r>
                      <a:endParaRPr lang="en-AU" sz="1200" dirty="0">
                        <a:effectLst/>
                        <a:latin typeface="Helvetica" pitchFamily="34" charset="0"/>
                        <a:ea typeface="Times New Roman"/>
                        <a:cs typeface="Times New Roman"/>
                      </a:endParaRPr>
                    </a:p>
                  </a:txBody>
                  <a:tcPr marL="68580" marR="68580" marT="0" marB="0" anchor="ctr"/>
                </a:tc>
                <a:tc>
                  <a:txBody>
                    <a:bodyPr/>
                    <a:lstStyle/>
                    <a:p>
                      <a:pPr algn="r">
                        <a:spcAft>
                          <a:spcPts val="0"/>
                        </a:spcAft>
                      </a:pPr>
                      <a:r>
                        <a:rPr lang="en-US" sz="1200" dirty="0">
                          <a:effectLst/>
                          <a:latin typeface="Helvetica" pitchFamily="34" charset="0"/>
                        </a:rPr>
                        <a:t>100</a:t>
                      </a:r>
                      <a:endParaRPr lang="en-AU" sz="1200" dirty="0">
                        <a:effectLst/>
                        <a:latin typeface="Helvetica" pitchFamily="34" charset="0"/>
                        <a:ea typeface="Times New Roman"/>
                        <a:cs typeface="Times New Roman"/>
                      </a:endParaRPr>
                    </a:p>
                  </a:txBody>
                  <a:tcPr marL="68580" marR="68580" marT="0" marB="0" anchor="ctr"/>
                </a:tc>
                <a:tc gridSpan="2">
                  <a:txBody>
                    <a:bodyPr/>
                    <a:lstStyle/>
                    <a:p>
                      <a:pPr algn="r">
                        <a:spcAft>
                          <a:spcPts val="0"/>
                        </a:spcAft>
                      </a:pPr>
                      <a:r>
                        <a:rPr lang="en-US" sz="1200" dirty="0">
                          <a:effectLst/>
                          <a:latin typeface="Helvetica" pitchFamily="34" charset="0"/>
                        </a:rPr>
                        <a:t>250</a:t>
                      </a:r>
                      <a:endParaRPr lang="en-AU" sz="1200" dirty="0">
                        <a:effectLst/>
                        <a:latin typeface="Helvetica" pitchFamily="34" charset="0"/>
                        <a:ea typeface="Times New Roman"/>
                        <a:cs typeface="Times New Roman"/>
                      </a:endParaRPr>
                    </a:p>
                  </a:txBody>
                  <a:tcPr marL="68580" marR="68580" marT="0" marB="0" anchor="ctr"/>
                </a:tc>
                <a:tc hMerge="1">
                  <a:txBody>
                    <a:bodyPr/>
                    <a:lstStyle/>
                    <a:p>
                      <a:endParaRPr lang="en-AU"/>
                    </a:p>
                  </a:txBody>
                  <a:tcPr/>
                </a:tc>
                <a:tc>
                  <a:txBody>
                    <a:bodyPr/>
                    <a:lstStyle/>
                    <a:p>
                      <a:pPr algn="r">
                        <a:spcAft>
                          <a:spcPts val="0"/>
                        </a:spcAft>
                      </a:pPr>
                      <a:r>
                        <a:rPr lang="en-US" sz="1200" dirty="0">
                          <a:effectLst/>
                          <a:latin typeface="Helvetica" pitchFamily="34" charset="0"/>
                        </a:rPr>
                        <a:t>100</a:t>
                      </a:r>
                      <a:endParaRPr lang="en-AU" sz="1200" dirty="0">
                        <a:effectLst/>
                        <a:latin typeface="Helvetica" pitchFamily="34" charset="0"/>
                        <a:ea typeface="Times New Roman"/>
                        <a:cs typeface="Times New Roman"/>
                      </a:endParaRPr>
                    </a:p>
                  </a:txBody>
                  <a:tcPr marL="68580" marR="68580" marT="0" marB="0" anchor="ctr"/>
                </a:tc>
              </a:tr>
            </a:tbl>
          </a:graphicData>
        </a:graphic>
      </p:graphicFrame>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34</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4281574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74837"/>
            <a:ext cx="7467600" cy="4525963"/>
          </a:xfrm>
        </p:spPr>
        <p:txBody>
          <a:bodyPr>
            <a:normAutofit/>
          </a:bodyPr>
          <a:lstStyle/>
          <a:p>
            <a:pPr marL="36576" indent="0" algn="just">
              <a:spcBef>
                <a:spcPts val="600"/>
              </a:spcBef>
              <a:spcAft>
                <a:spcPts val="1200"/>
              </a:spcAft>
              <a:buNone/>
            </a:pPr>
            <a:r>
              <a:rPr lang="en-US" sz="2200" b="1" dirty="0">
                <a:ea typeface="Times New Roman"/>
                <a:cs typeface="Times New Roman"/>
              </a:rPr>
              <a:t>Ratio </a:t>
            </a:r>
            <a:r>
              <a:rPr lang="en-US" sz="2200" b="1" dirty="0" smtClean="0">
                <a:ea typeface="Times New Roman"/>
                <a:cs typeface="Times New Roman"/>
              </a:rPr>
              <a:t>Analysis</a:t>
            </a:r>
          </a:p>
          <a:p>
            <a:pPr>
              <a:spcBef>
                <a:spcPts val="600"/>
              </a:spcBef>
              <a:spcAft>
                <a:spcPts val="1200"/>
              </a:spcAft>
            </a:pPr>
            <a:r>
              <a:rPr lang="en-AU" sz="2200" dirty="0" smtClean="0">
                <a:ea typeface="SimSun"/>
                <a:cs typeface="Times New Roman"/>
              </a:rPr>
              <a:t>Ratio </a:t>
            </a:r>
            <a:r>
              <a:rPr lang="en-AU" sz="2200" dirty="0">
                <a:ea typeface="SimSun"/>
                <a:cs typeface="Times New Roman"/>
              </a:rPr>
              <a:t>is a mathematical way of expressing one number in terms of </a:t>
            </a:r>
            <a:r>
              <a:rPr lang="en-AU" sz="2200" dirty="0" smtClean="0">
                <a:ea typeface="SimSun"/>
                <a:cs typeface="Times New Roman"/>
              </a:rPr>
              <a:t>another</a:t>
            </a:r>
            <a:endParaRPr lang="en-AU" sz="2200" dirty="0">
              <a:ea typeface="Times New Roman"/>
              <a:cs typeface="Times New Roman"/>
            </a:endParaRPr>
          </a:p>
          <a:p>
            <a:pPr>
              <a:spcBef>
                <a:spcPts val="600"/>
              </a:spcBef>
              <a:spcAft>
                <a:spcPts val="1200"/>
              </a:spcAft>
            </a:pPr>
            <a:r>
              <a:rPr lang="en-US" sz="2200" dirty="0">
                <a:ea typeface="SimSun"/>
                <a:cs typeface="Times New Roman"/>
              </a:rPr>
              <a:t>For example, one common ratio used is the current ratio. This is calculated as such: </a:t>
            </a:r>
            <a:endParaRPr lang="en-AU" sz="2200" dirty="0" smtClean="0">
              <a:ea typeface="Times New Roman"/>
              <a:cs typeface="Times New Roman"/>
            </a:endParaRPr>
          </a:p>
          <a:p>
            <a:pPr marL="0" indent="0" algn="ctr">
              <a:spcBef>
                <a:spcPts val="600"/>
              </a:spcBef>
              <a:spcAft>
                <a:spcPts val="600"/>
              </a:spcAft>
              <a:buNone/>
            </a:pPr>
            <a:r>
              <a:rPr lang="en-US" sz="2200" u="sng" dirty="0" smtClean="0">
                <a:ea typeface="SimSun"/>
                <a:cs typeface="Times New Roman"/>
              </a:rPr>
              <a:t>Total Current Assets</a:t>
            </a:r>
            <a:endParaRPr lang="en-AU" sz="2200" dirty="0" smtClean="0">
              <a:ea typeface="Times New Roman"/>
              <a:cs typeface="Times New Roman"/>
            </a:endParaRPr>
          </a:p>
          <a:p>
            <a:pPr marL="0" indent="0" algn="ctr">
              <a:spcBef>
                <a:spcPts val="0"/>
              </a:spcBef>
              <a:spcAft>
                <a:spcPts val="1200"/>
              </a:spcAft>
              <a:buNone/>
            </a:pPr>
            <a:r>
              <a:rPr lang="en-US" sz="2200" dirty="0" smtClean="0">
                <a:ea typeface="SimSun"/>
                <a:cs typeface="Times New Roman"/>
              </a:rPr>
              <a:t>Total </a:t>
            </a:r>
            <a:r>
              <a:rPr lang="en-US" sz="2200" dirty="0">
                <a:ea typeface="SimSun"/>
                <a:cs typeface="Times New Roman"/>
              </a:rPr>
              <a:t>Current Liabilities</a:t>
            </a:r>
            <a:endParaRPr lang="en-AU" sz="2200" dirty="0">
              <a:ea typeface="Times New Roman"/>
              <a:cs typeface="Times New Roman"/>
            </a:endParaRPr>
          </a:p>
          <a:p>
            <a:pPr>
              <a:spcBef>
                <a:spcPts val="600"/>
              </a:spcBef>
              <a:spcAft>
                <a:spcPts val="1200"/>
              </a:spcAft>
            </a:pPr>
            <a:endParaRPr lang="en-AU" sz="2200" dirty="0"/>
          </a:p>
        </p:txBody>
      </p:sp>
      <p:sp>
        <p:nvSpPr>
          <p:cNvPr id="6"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35</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405719648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05000"/>
            <a:ext cx="7848600" cy="4953000"/>
          </a:xfrm>
        </p:spPr>
        <p:txBody>
          <a:bodyPr>
            <a:normAutofit/>
          </a:bodyPr>
          <a:lstStyle/>
          <a:p>
            <a:pPr marL="36576" indent="0">
              <a:spcBef>
                <a:spcPts val="600"/>
              </a:spcBef>
              <a:spcAft>
                <a:spcPts val="1200"/>
              </a:spcAft>
              <a:buNone/>
            </a:pPr>
            <a:r>
              <a:rPr lang="en-US" sz="2200" b="1" dirty="0">
                <a:ea typeface="SimSun"/>
                <a:cs typeface="Times New Roman"/>
              </a:rPr>
              <a:t>Reading financial </a:t>
            </a:r>
            <a:r>
              <a:rPr lang="en-US" sz="2200" b="1" dirty="0" smtClean="0">
                <a:ea typeface="SimSun"/>
                <a:cs typeface="Times New Roman"/>
              </a:rPr>
              <a:t>ratios</a:t>
            </a:r>
            <a:endParaRPr lang="en-AU" sz="2200" dirty="0" smtClean="0"/>
          </a:p>
          <a:p>
            <a:pPr>
              <a:spcBef>
                <a:spcPts val="600"/>
              </a:spcBef>
              <a:spcAft>
                <a:spcPts val="1200"/>
              </a:spcAft>
            </a:pPr>
            <a:r>
              <a:rPr lang="en-AU" sz="2200" dirty="0">
                <a:ea typeface="Times New Roman"/>
                <a:cs typeface="HelveticaNeueLTStd-Lt"/>
              </a:rPr>
              <a:t>Ratio analysis uses a number of different measuring devices:</a:t>
            </a:r>
            <a:endParaRPr lang="en-AU" sz="2200" dirty="0">
              <a:ea typeface="Times New Roman"/>
              <a:cs typeface="Times New Roman"/>
            </a:endParaRPr>
          </a:p>
          <a:p>
            <a:pPr marL="644652" lvl="1" indent="-342900">
              <a:spcBef>
                <a:spcPts val="600"/>
              </a:spcBef>
              <a:spcAft>
                <a:spcPts val="1200"/>
              </a:spcAft>
              <a:buFont typeface="Symbol"/>
              <a:buChar char=""/>
            </a:pPr>
            <a:r>
              <a:rPr lang="en-AU" sz="2200" dirty="0">
                <a:ea typeface="Times New Roman"/>
                <a:cs typeface="HelveticaNeueLTStd-Lt"/>
              </a:rPr>
              <a:t>Ratios – such as ‘working capital ratio of 2:1’, or ‘the ratio of FITs (Fully Independent Travellers) to group tour guests is 4.5:1’</a:t>
            </a:r>
            <a:endParaRPr lang="en-AU" sz="2200" dirty="0">
              <a:ea typeface="Times New Roman"/>
              <a:cs typeface="Times New Roman"/>
            </a:endParaRPr>
          </a:p>
          <a:p>
            <a:pPr marL="644652" lvl="1" indent="-342900">
              <a:spcBef>
                <a:spcPts val="600"/>
              </a:spcBef>
              <a:spcAft>
                <a:spcPts val="1200"/>
              </a:spcAft>
              <a:buFont typeface="Symbol"/>
              <a:buChar char=""/>
            </a:pPr>
            <a:r>
              <a:rPr lang="en-AU" sz="2200" dirty="0">
                <a:ea typeface="Times New Roman"/>
                <a:cs typeface="HelveticaNeueLTStd-Lt"/>
              </a:rPr>
              <a:t>Rates – such as ‘debtors turnover is 6.8 times per year’</a:t>
            </a:r>
            <a:endParaRPr lang="en-AU" sz="2200" dirty="0">
              <a:ea typeface="Times New Roman"/>
              <a:cs typeface="Times New Roman"/>
            </a:endParaRPr>
          </a:p>
          <a:p>
            <a:pPr marL="644652" lvl="1" indent="-342900">
              <a:spcBef>
                <a:spcPts val="600"/>
              </a:spcBef>
              <a:spcAft>
                <a:spcPts val="1200"/>
              </a:spcAft>
              <a:buFont typeface="Symbol"/>
              <a:buChar char=""/>
            </a:pPr>
            <a:r>
              <a:rPr lang="en-AU" sz="2200" dirty="0">
                <a:ea typeface="Times New Roman"/>
                <a:cs typeface="HelveticaNeueLTStd-Lt"/>
              </a:rPr>
              <a:t>Percentages – such as ‘the gross profit margin for the department is 37</a:t>
            </a:r>
            <a:r>
              <a:rPr lang="en-AU" sz="2200" dirty="0" smtClean="0">
                <a:ea typeface="Times New Roman"/>
                <a:cs typeface="HelveticaNeueLTStd-Lt"/>
              </a:rPr>
              <a:t>%’</a:t>
            </a:r>
            <a:endParaRPr lang="en-AU" sz="2200" dirty="0">
              <a:ea typeface="Times New Roman"/>
              <a:cs typeface="Times New Roman"/>
            </a:endParaRPr>
          </a:p>
          <a:p>
            <a:pPr>
              <a:spcBef>
                <a:spcPts val="600"/>
              </a:spcBef>
              <a:spcAft>
                <a:spcPts val="1200"/>
              </a:spcAft>
            </a:pPr>
            <a:endParaRPr lang="en-AU" sz="2200" dirty="0"/>
          </a:p>
        </p:txBody>
      </p:sp>
      <p:sp>
        <p:nvSpPr>
          <p:cNvPr id="6"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36</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87925458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05000"/>
            <a:ext cx="7848600" cy="4800600"/>
          </a:xfrm>
        </p:spPr>
        <p:txBody>
          <a:bodyPr>
            <a:normAutofit/>
          </a:bodyPr>
          <a:lstStyle/>
          <a:p>
            <a:pPr marL="36576" indent="0">
              <a:spcBef>
                <a:spcPts val="400"/>
              </a:spcBef>
              <a:spcAft>
                <a:spcPts val="600"/>
              </a:spcAft>
              <a:buNone/>
            </a:pPr>
            <a:r>
              <a:rPr lang="en-US" sz="2200" dirty="0" smtClean="0">
                <a:ea typeface="SimSun"/>
                <a:cs typeface="Times New Roman"/>
              </a:rPr>
              <a:t>In </a:t>
            </a:r>
            <a:r>
              <a:rPr lang="en-US" sz="2200" dirty="0">
                <a:ea typeface="SimSun"/>
                <a:cs typeface="Times New Roman"/>
              </a:rPr>
              <a:t>order to read financial ratios, the following steps are required:</a:t>
            </a:r>
            <a:endParaRPr lang="en-AU" sz="2200" dirty="0">
              <a:ea typeface="Times New Roman"/>
              <a:cs typeface="Times New Roman"/>
            </a:endParaRPr>
          </a:p>
          <a:p>
            <a:pPr marL="342900" indent="-342900" algn="just">
              <a:lnSpc>
                <a:spcPct val="160000"/>
              </a:lnSpc>
              <a:spcBef>
                <a:spcPts val="400"/>
              </a:spcBef>
              <a:spcAft>
                <a:spcPts val="600"/>
              </a:spcAft>
              <a:buFont typeface="+mj-lt"/>
              <a:buAutoNum type="alphaLcParenR"/>
            </a:pPr>
            <a:r>
              <a:rPr lang="en-US" sz="2200" dirty="0">
                <a:ea typeface="SimSun"/>
                <a:cs typeface="Times New Roman"/>
              </a:rPr>
              <a:t>What two items in the ratio compares</a:t>
            </a:r>
            <a:endParaRPr lang="en-AU" sz="2200" dirty="0">
              <a:ea typeface="Times New Roman"/>
              <a:cs typeface="Times New Roman"/>
            </a:endParaRPr>
          </a:p>
          <a:p>
            <a:pPr marL="342900" indent="-342900" algn="just">
              <a:lnSpc>
                <a:spcPct val="160000"/>
              </a:lnSpc>
              <a:spcBef>
                <a:spcPts val="400"/>
              </a:spcBef>
              <a:spcAft>
                <a:spcPts val="600"/>
              </a:spcAft>
              <a:buFont typeface="+mj-lt"/>
              <a:buAutoNum type="alphaLcParenR"/>
            </a:pPr>
            <a:r>
              <a:rPr lang="en-US" sz="2200" dirty="0">
                <a:ea typeface="SimSun"/>
                <a:cs typeface="Times New Roman"/>
              </a:rPr>
              <a:t>The definition of those two items. </a:t>
            </a:r>
            <a:endParaRPr lang="en-AU" sz="2200" dirty="0">
              <a:ea typeface="Times New Roman"/>
              <a:cs typeface="Times New Roman"/>
            </a:endParaRPr>
          </a:p>
          <a:p>
            <a:pPr marL="342900" indent="-342900" algn="just">
              <a:lnSpc>
                <a:spcPct val="160000"/>
              </a:lnSpc>
              <a:spcBef>
                <a:spcPts val="400"/>
              </a:spcBef>
              <a:spcAft>
                <a:spcPts val="600"/>
              </a:spcAft>
              <a:buFont typeface="+mj-lt"/>
              <a:buAutoNum type="alphaLcParenR"/>
            </a:pPr>
            <a:r>
              <a:rPr lang="en-US" sz="2200" dirty="0">
                <a:ea typeface="SimSun"/>
                <a:cs typeface="Times New Roman"/>
              </a:rPr>
              <a:t>What the definition really means </a:t>
            </a:r>
            <a:endParaRPr lang="en-AU" sz="2200" dirty="0">
              <a:ea typeface="Times New Roman"/>
              <a:cs typeface="Times New Roman"/>
            </a:endParaRPr>
          </a:p>
          <a:p>
            <a:pPr marL="342900" indent="-342900" algn="just">
              <a:lnSpc>
                <a:spcPct val="160000"/>
              </a:lnSpc>
              <a:spcBef>
                <a:spcPts val="400"/>
              </a:spcBef>
              <a:spcAft>
                <a:spcPts val="600"/>
              </a:spcAft>
              <a:buFont typeface="+mj-lt"/>
              <a:buAutoNum type="alphaLcParenR"/>
            </a:pPr>
            <a:r>
              <a:rPr lang="en-US" sz="2200" dirty="0">
                <a:ea typeface="SimSun"/>
                <a:cs typeface="Times New Roman"/>
              </a:rPr>
              <a:t>What the trend is in the company </a:t>
            </a:r>
            <a:endParaRPr lang="en-AU" sz="2200" dirty="0">
              <a:ea typeface="Times New Roman"/>
              <a:cs typeface="Times New Roman"/>
            </a:endParaRPr>
          </a:p>
          <a:p>
            <a:pPr marL="342900" indent="-342900" algn="just">
              <a:lnSpc>
                <a:spcPct val="160000"/>
              </a:lnSpc>
              <a:spcBef>
                <a:spcPts val="400"/>
              </a:spcBef>
              <a:spcAft>
                <a:spcPts val="600"/>
              </a:spcAft>
              <a:buFont typeface="+mj-lt"/>
              <a:buAutoNum type="alphaLcParenR"/>
            </a:pPr>
            <a:r>
              <a:rPr lang="en-US" sz="2200" dirty="0">
                <a:ea typeface="SimSun"/>
                <a:cs typeface="Times New Roman"/>
              </a:rPr>
              <a:t>How the ratio compares to other similar companies </a:t>
            </a:r>
            <a:endParaRPr lang="en-AU" sz="2200" dirty="0">
              <a:ea typeface="Times New Roman"/>
              <a:cs typeface="Times New Roman"/>
            </a:endParaRPr>
          </a:p>
          <a:p>
            <a:endParaRPr lang="en-AU" sz="2200" dirty="0"/>
          </a:p>
        </p:txBody>
      </p:sp>
      <p:sp>
        <p:nvSpPr>
          <p:cNvPr id="6"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37</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60017486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828800"/>
            <a:ext cx="8229600" cy="4876800"/>
          </a:xfrm>
          <a:noFill/>
          <a:ln>
            <a:noFill/>
          </a:ln>
        </p:spPr>
        <p:txBody>
          <a:bodyPr>
            <a:noAutofit/>
          </a:bodyPr>
          <a:lstStyle/>
          <a:p>
            <a:pPr marL="36576" indent="0">
              <a:buNone/>
            </a:pPr>
            <a:r>
              <a:rPr lang="en-AU" sz="2200" b="1" dirty="0"/>
              <a:t>Liquidity (short term stability) ratios</a:t>
            </a:r>
            <a:endParaRPr lang="en-AU" sz="2200" dirty="0"/>
          </a:p>
          <a:p>
            <a:pPr marL="0" indent="0">
              <a:spcBef>
                <a:spcPts val="600"/>
              </a:spcBef>
              <a:spcAft>
                <a:spcPts val="1200"/>
              </a:spcAft>
              <a:buNone/>
            </a:pPr>
            <a:r>
              <a:rPr lang="en-AU" sz="2200" dirty="0">
                <a:solidFill>
                  <a:srgbClr val="000000"/>
                </a:solidFill>
                <a:ea typeface="Times New Roman"/>
                <a:cs typeface="HelveticaNeueLTStd-Lt"/>
              </a:rPr>
              <a:t>These ratios show us whether or not we can meet our short term debts and </a:t>
            </a:r>
            <a:r>
              <a:rPr lang="en-AU" sz="2200" dirty="0" smtClean="0">
                <a:solidFill>
                  <a:srgbClr val="000000"/>
                </a:solidFill>
                <a:ea typeface="Times New Roman"/>
                <a:cs typeface="HelveticaNeueLTStd-Lt"/>
              </a:rPr>
              <a:t>how quickly we </a:t>
            </a:r>
            <a:r>
              <a:rPr lang="en-AU" sz="2200" dirty="0">
                <a:solidFill>
                  <a:srgbClr val="000000"/>
                </a:solidFill>
                <a:ea typeface="Times New Roman"/>
                <a:cs typeface="HelveticaNeueLTStd-Lt"/>
              </a:rPr>
              <a:t>can pay </a:t>
            </a:r>
            <a:r>
              <a:rPr lang="en-AU" sz="2200" dirty="0" smtClean="0">
                <a:solidFill>
                  <a:srgbClr val="000000"/>
                </a:solidFill>
                <a:ea typeface="Times New Roman"/>
                <a:cs typeface="HelveticaNeueLTStd-Lt"/>
              </a:rPr>
              <a:t>them</a:t>
            </a:r>
          </a:p>
          <a:p>
            <a:pPr>
              <a:lnSpc>
                <a:spcPct val="170000"/>
              </a:lnSpc>
              <a:spcBef>
                <a:spcPts val="400"/>
              </a:spcBef>
              <a:spcAft>
                <a:spcPts val="600"/>
              </a:spcAft>
            </a:pPr>
            <a:r>
              <a:rPr lang="en-AU" sz="2200" dirty="0">
                <a:solidFill>
                  <a:srgbClr val="000000"/>
                </a:solidFill>
                <a:ea typeface="Times New Roman"/>
                <a:cs typeface="HelveticaNeueLTStd-Lt"/>
              </a:rPr>
              <a:t>The most frequently ratios used are:</a:t>
            </a:r>
            <a:endParaRPr lang="en-AU" sz="2200" dirty="0">
              <a:ea typeface="Times New Roman"/>
              <a:cs typeface="Times New Roman"/>
            </a:endParaRPr>
          </a:p>
          <a:p>
            <a:pPr marL="36576" indent="0">
              <a:lnSpc>
                <a:spcPct val="115000"/>
              </a:lnSpc>
              <a:spcAft>
                <a:spcPts val="0"/>
              </a:spcAft>
              <a:buNone/>
            </a:pPr>
            <a:r>
              <a:rPr lang="en-AU" sz="2200" b="1" dirty="0">
                <a:solidFill>
                  <a:srgbClr val="000000"/>
                </a:solidFill>
                <a:ea typeface="Times New Roman"/>
                <a:cs typeface="HelveticaNeueLTStd-Bd"/>
              </a:rPr>
              <a:t>Current ratio</a:t>
            </a:r>
            <a:r>
              <a:rPr lang="en-AU" sz="2200" dirty="0">
                <a:solidFill>
                  <a:srgbClr val="000000"/>
                </a:solidFill>
                <a:ea typeface="Times New Roman"/>
                <a:cs typeface="HelveticaNeueLTStd-Bd"/>
              </a:rPr>
              <a:t> </a:t>
            </a:r>
            <a:r>
              <a:rPr lang="en-AU" sz="2200" dirty="0" smtClean="0">
                <a:solidFill>
                  <a:srgbClr val="000000"/>
                </a:solidFill>
                <a:ea typeface="Times New Roman"/>
                <a:cs typeface="HelveticaNeueLTStd-Bd"/>
              </a:rPr>
              <a:t> </a:t>
            </a:r>
            <a:r>
              <a:rPr lang="en-AU" sz="2200" dirty="0" smtClean="0">
                <a:solidFill>
                  <a:srgbClr val="000000"/>
                </a:solidFill>
                <a:ea typeface="Times New Roman"/>
                <a:cs typeface="HelveticaNeueLTStd-Lt"/>
              </a:rPr>
              <a:t>= </a:t>
            </a:r>
            <a:r>
              <a:rPr lang="en-US" sz="2200" dirty="0">
                <a:solidFill>
                  <a:srgbClr val="000000"/>
                </a:solidFill>
                <a:ea typeface="Times New Roman"/>
                <a:cs typeface="HelveticaNeueLTStd-Lt"/>
              </a:rPr>
              <a:t>	</a:t>
            </a:r>
            <a:r>
              <a:rPr lang="en-US" sz="2200" dirty="0" smtClean="0">
                <a:solidFill>
                  <a:srgbClr val="000000"/>
                </a:solidFill>
                <a:ea typeface="Times New Roman"/>
                <a:cs typeface="HelveticaNeueLTStd-Lt"/>
              </a:rPr>
              <a:t>                 </a:t>
            </a:r>
            <a:r>
              <a:rPr lang="en-AU" sz="2200" u="sng" dirty="0" smtClean="0">
                <a:solidFill>
                  <a:srgbClr val="000000"/>
                </a:solidFill>
                <a:ea typeface="Times New Roman"/>
                <a:cs typeface="HelveticaNeueLTStd-Lt"/>
              </a:rPr>
              <a:t>current </a:t>
            </a:r>
            <a:r>
              <a:rPr lang="en-AU" sz="2200" u="sng" dirty="0">
                <a:solidFill>
                  <a:srgbClr val="000000"/>
                </a:solidFill>
                <a:ea typeface="Times New Roman"/>
                <a:cs typeface="HelveticaNeueLTStd-Lt"/>
              </a:rPr>
              <a:t>assets</a:t>
            </a:r>
            <a:endParaRPr lang="en-AU" sz="2200" dirty="0">
              <a:ea typeface="Times New Roman"/>
              <a:cs typeface="Times New Roman"/>
            </a:endParaRPr>
          </a:p>
          <a:p>
            <a:pPr marL="36576" indent="0">
              <a:lnSpc>
                <a:spcPct val="115000"/>
              </a:lnSpc>
              <a:spcAft>
                <a:spcPts val="0"/>
              </a:spcAft>
              <a:buNone/>
            </a:pPr>
            <a:r>
              <a:rPr lang="en-US" sz="2200" dirty="0">
                <a:solidFill>
                  <a:srgbClr val="000000"/>
                </a:solidFill>
                <a:ea typeface="Times New Roman"/>
                <a:cs typeface="HelveticaNeueLTStd-Lt"/>
              </a:rPr>
              <a:t>                     </a:t>
            </a:r>
            <a:r>
              <a:rPr lang="en-US" sz="2200" dirty="0" smtClean="0">
                <a:solidFill>
                  <a:srgbClr val="000000"/>
                </a:solidFill>
                <a:ea typeface="Times New Roman"/>
                <a:cs typeface="HelveticaNeueLTStd-Lt"/>
              </a:rPr>
              <a:t>    </a:t>
            </a:r>
            <a:r>
              <a:rPr lang="en-US" sz="2200" dirty="0">
                <a:solidFill>
                  <a:srgbClr val="000000"/>
                </a:solidFill>
                <a:ea typeface="Times New Roman"/>
                <a:cs typeface="HelveticaNeueLTStd-Lt"/>
              </a:rPr>
              <a:t>	</a:t>
            </a:r>
            <a:r>
              <a:rPr lang="en-US" sz="2200" dirty="0" smtClean="0">
                <a:solidFill>
                  <a:srgbClr val="000000"/>
                </a:solidFill>
                <a:ea typeface="Times New Roman"/>
                <a:cs typeface="HelveticaNeueLTStd-Lt"/>
              </a:rPr>
              <a:t>                 </a:t>
            </a:r>
            <a:r>
              <a:rPr lang="en-AU" sz="2200" dirty="0" smtClean="0">
                <a:solidFill>
                  <a:srgbClr val="000000"/>
                </a:solidFill>
                <a:ea typeface="Times New Roman"/>
                <a:cs typeface="HelveticaNeueLTStd-Lt"/>
              </a:rPr>
              <a:t>current liabilities</a:t>
            </a:r>
          </a:p>
          <a:p>
            <a:pPr marL="36576" indent="0">
              <a:lnSpc>
                <a:spcPct val="115000"/>
              </a:lnSpc>
              <a:spcAft>
                <a:spcPts val="0"/>
              </a:spcAft>
              <a:buNone/>
            </a:pPr>
            <a:endParaRPr lang="en-AU" sz="2200" dirty="0" smtClean="0">
              <a:ea typeface="Times New Roman"/>
              <a:cs typeface="Times New Roman"/>
            </a:endParaRPr>
          </a:p>
          <a:p>
            <a:pPr marL="36576" indent="0">
              <a:lnSpc>
                <a:spcPct val="115000"/>
              </a:lnSpc>
              <a:spcAft>
                <a:spcPts val="0"/>
              </a:spcAft>
              <a:buNone/>
            </a:pPr>
            <a:r>
              <a:rPr lang="en-AU" sz="2200" b="1" dirty="0" smtClean="0">
                <a:solidFill>
                  <a:srgbClr val="000000"/>
                </a:solidFill>
                <a:ea typeface="Times New Roman"/>
                <a:cs typeface="HelveticaNeueLTStd-Bd"/>
              </a:rPr>
              <a:t>Quick </a:t>
            </a:r>
            <a:r>
              <a:rPr lang="en-AU" sz="2200" b="1" dirty="0">
                <a:solidFill>
                  <a:srgbClr val="000000"/>
                </a:solidFill>
                <a:ea typeface="Times New Roman"/>
                <a:cs typeface="HelveticaNeueLTStd-Bd"/>
              </a:rPr>
              <a:t>asset ratio</a:t>
            </a:r>
            <a:r>
              <a:rPr lang="en-AU" sz="2200" dirty="0">
                <a:solidFill>
                  <a:srgbClr val="000000"/>
                </a:solidFill>
                <a:ea typeface="Times New Roman"/>
                <a:cs typeface="HelveticaNeueLTStd-Bd"/>
              </a:rPr>
              <a:t> </a:t>
            </a:r>
            <a:r>
              <a:rPr lang="en-AU" sz="2200" dirty="0" smtClean="0">
                <a:solidFill>
                  <a:srgbClr val="000000"/>
                </a:solidFill>
                <a:ea typeface="Times New Roman"/>
                <a:cs typeface="HelveticaNeueLTStd-Bd"/>
              </a:rPr>
              <a:t> </a:t>
            </a:r>
            <a:r>
              <a:rPr lang="en-AU" sz="2200" dirty="0" smtClean="0">
                <a:solidFill>
                  <a:srgbClr val="000000"/>
                </a:solidFill>
                <a:ea typeface="Times New Roman"/>
                <a:cs typeface="HelveticaNeueLTStd-Lt"/>
              </a:rPr>
              <a:t>=  </a:t>
            </a:r>
            <a:r>
              <a:rPr lang="en-AU" sz="2200" u="sng" dirty="0" smtClean="0">
                <a:solidFill>
                  <a:srgbClr val="000000"/>
                </a:solidFill>
                <a:ea typeface="Times New Roman"/>
                <a:cs typeface="HelveticaNeueLTStd-Lt"/>
              </a:rPr>
              <a:t>current </a:t>
            </a:r>
            <a:r>
              <a:rPr lang="en-AU" sz="2200" u="sng" dirty="0">
                <a:solidFill>
                  <a:srgbClr val="000000"/>
                </a:solidFill>
                <a:ea typeface="Times New Roman"/>
                <a:cs typeface="HelveticaNeueLTStd-Lt"/>
              </a:rPr>
              <a:t>assets–(stock + prepaid expenses)</a:t>
            </a:r>
            <a:endParaRPr lang="en-AU" sz="2200" dirty="0">
              <a:ea typeface="Times New Roman"/>
              <a:cs typeface="Times New Roman"/>
            </a:endParaRPr>
          </a:p>
          <a:p>
            <a:pPr marL="36576" indent="0">
              <a:lnSpc>
                <a:spcPct val="115000"/>
              </a:lnSpc>
              <a:spcAft>
                <a:spcPts val="0"/>
              </a:spcAft>
              <a:buNone/>
            </a:pPr>
            <a:r>
              <a:rPr lang="en-US" sz="2200" dirty="0">
                <a:solidFill>
                  <a:srgbClr val="000000"/>
                </a:solidFill>
                <a:ea typeface="Times New Roman"/>
                <a:cs typeface="HelveticaNeueLTStd-Lt"/>
              </a:rPr>
              <a:t>                               </a:t>
            </a:r>
            <a:r>
              <a:rPr lang="en-US" sz="2200" dirty="0" smtClean="0">
                <a:solidFill>
                  <a:srgbClr val="000000"/>
                </a:solidFill>
                <a:ea typeface="Times New Roman"/>
                <a:cs typeface="HelveticaNeueLTStd-Lt"/>
              </a:rPr>
              <a:t>                     </a:t>
            </a:r>
            <a:r>
              <a:rPr lang="en-AU" sz="2200" dirty="0">
                <a:solidFill>
                  <a:srgbClr val="000000"/>
                </a:solidFill>
                <a:ea typeface="Times New Roman"/>
                <a:cs typeface="HelveticaNeueLTStd-Lt"/>
              </a:rPr>
              <a:t>current </a:t>
            </a:r>
            <a:r>
              <a:rPr lang="en-AU" sz="2200" dirty="0" smtClean="0">
                <a:solidFill>
                  <a:srgbClr val="000000"/>
                </a:solidFill>
                <a:ea typeface="Times New Roman"/>
                <a:cs typeface="HelveticaNeueLTStd-Lt"/>
              </a:rPr>
              <a:t>liabilities</a:t>
            </a:r>
            <a:endParaRPr lang="en-AU" sz="2200" dirty="0">
              <a:ea typeface="Times New Roman"/>
              <a:cs typeface="Times New Roman"/>
            </a:endParaRPr>
          </a:p>
        </p:txBody>
      </p:sp>
      <p:sp>
        <p:nvSpPr>
          <p:cNvPr id="6"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38</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73036975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81200"/>
            <a:ext cx="7848600" cy="4525963"/>
          </a:xfrm>
        </p:spPr>
        <p:txBody>
          <a:bodyPr>
            <a:normAutofit/>
          </a:bodyPr>
          <a:lstStyle/>
          <a:p>
            <a:pPr marL="36576" indent="0">
              <a:lnSpc>
                <a:spcPct val="115000"/>
              </a:lnSpc>
              <a:spcBef>
                <a:spcPts val="400"/>
              </a:spcBef>
              <a:spcAft>
                <a:spcPts val="600"/>
              </a:spcAft>
              <a:buNone/>
            </a:pPr>
            <a:r>
              <a:rPr lang="en-AU" sz="2200" dirty="0">
                <a:solidFill>
                  <a:srgbClr val="000000"/>
                </a:solidFill>
                <a:ea typeface="Times New Roman"/>
                <a:cs typeface="HelveticaNeueLTStd-Lt"/>
              </a:rPr>
              <a:t>In addition to these ratios, it is desirable to calculate the </a:t>
            </a:r>
            <a:r>
              <a:rPr lang="en-AU" sz="2200" b="1" dirty="0">
                <a:solidFill>
                  <a:srgbClr val="000000"/>
                </a:solidFill>
                <a:ea typeface="Times New Roman"/>
                <a:cs typeface="HelveticaNeueLTStd-Bd"/>
              </a:rPr>
              <a:t>Working Capital </a:t>
            </a:r>
            <a:r>
              <a:rPr lang="en-AU" sz="2200" dirty="0">
                <a:solidFill>
                  <a:srgbClr val="000000"/>
                </a:solidFill>
                <a:ea typeface="Times New Roman"/>
                <a:cs typeface="HelveticaNeueLTStd-Lt"/>
              </a:rPr>
              <a:t>of the organisation</a:t>
            </a:r>
            <a:r>
              <a:rPr lang="en-AU" sz="2200" dirty="0" smtClean="0">
                <a:solidFill>
                  <a:srgbClr val="000000"/>
                </a:solidFill>
                <a:ea typeface="Times New Roman"/>
                <a:cs typeface="HelveticaNeueLTStd-Lt"/>
              </a:rPr>
              <a:t>.</a:t>
            </a:r>
            <a:endParaRPr lang="en-AU" sz="2200" dirty="0">
              <a:ea typeface="Times New Roman"/>
              <a:cs typeface="Times New Roman"/>
            </a:endParaRPr>
          </a:p>
          <a:p>
            <a:pPr>
              <a:lnSpc>
                <a:spcPct val="115000"/>
              </a:lnSpc>
              <a:spcBef>
                <a:spcPts val="400"/>
              </a:spcBef>
              <a:spcAft>
                <a:spcPts val="600"/>
              </a:spcAft>
            </a:pPr>
            <a:r>
              <a:rPr lang="en-AU" sz="2200" b="1" dirty="0">
                <a:solidFill>
                  <a:srgbClr val="000000"/>
                </a:solidFill>
                <a:ea typeface="Times New Roman"/>
                <a:cs typeface="HelveticaNeueLTStd-Bd"/>
              </a:rPr>
              <a:t>Working capital</a:t>
            </a:r>
            <a:r>
              <a:rPr lang="en-AU" sz="2200" dirty="0">
                <a:solidFill>
                  <a:srgbClr val="000000"/>
                </a:solidFill>
                <a:ea typeface="Times New Roman"/>
                <a:cs typeface="HelveticaNeueLTStd-Bd"/>
              </a:rPr>
              <a:t> </a:t>
            </a:r>
            <a:r>
              <a:rPr lang="en-AU" sz="2200" dirty="0">
                <a:solidFill>
                  <a:srgbClr val="000000"/>
                </a:solidFill>
                <a:ea typeface="Times New Roman"/>
                <a:cs typeface="HelveticaNeueLTStd-Lt"/>
              </a:rPr>
              <a:t>= </a:t>
            </a:r>
            <a:r>
              <a:rPr lang="en-AU" sz="2200" dirty="0" smtClean="0">
                <a:solidFill>
                  <a:srgbClr val="000000"/>
                </a:solidFill>
                <a:ea typeface="Times New Roman"/>
                <a:cs typeface="HelveticaNeueLTStd-Lt"/>
              </a:rPr>
              <a:t>Current </a:t>
            </a:r>
            <a:r>
              <a:rPr lang="en-AU" sz="2200" dirty="0">
                <a:solidFill>
                  <a:srgbClr val="000000"/>
                </a:solidFill>
                <a:ea typeface="Times New Roman"/>
                <a:cs typeface="HelveticaNeueLTStd-Lt"/>
              </a:rPr>
              <a:t>Assets – Current Liabilities</a:t>
            </a:r>
            <a:endParaRPr lang="en-AU" sz="2200" dirty="0">
              <a:ea typeface="Times New Roman"/>
              <a:cs typeface="Times New Roman"/>
            </a:endParaRPr>
          </a:p>
          <a:p>
            <a:endParaRPr lang="en-AU" sz="2200" dirty="0"/>
          </a:p>
        </p:txBody>
      </p:sp>
      <p:sp>
        <p:nvSpPr>
          <p:cNvPr id="6"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39</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60017486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98637"/>
            <a:ext cx="8153400" cy="4525963"/>
          </a:xfrm>
        </p:spPr>
        <p:txBody>
          <a:bodyPr>
            <a:normAutofit/>
          </a:bodyPr>
          <a:lstStyle/>
          <a:p>
            <a:pPr marL="36576" indent="0">
              <a:spcBef>
                <a:spcPts val="600"/>
              </a:spcBef>
              <a:spcAft>
                <a:spcPts val="1200"/>
              </a:spcAft>
              <a:buNone/>
            </a:pPr>
            <a:r>
              <a:rPr lang="en-AU" sz="2200" b="1" dirty="0">
                <a:ea typeface="Times New Roman"/>
                <a:cs typeface="HelveticaNeueLTStd-Cn"/>
              </a:rPr>
              <a:t>Activity ratios</a:t>
            </a:r>
            <a:endParaRPr lang="en-AU" sz="2200" dirty="0">
              <a:ea typeface="Times New Roman"/>
              <a:cs typeface="Times New Roman"/>
            </a:endParaRPr>
          </a:p>
          <a:p>
            <a:pPr marL="36576" indent="0">
              <a:spcBef>
                <a:spcPts val="600"/>
              </a:spcBef>
              <a:spcAft>
                <a:spcPts val="1200"/>
              </a:spcAft>
              <a:buNone/>
            </a:pPr>
            <a:r>
              <a:rPr lang="en-AU" sz="2200" b="1" dirty="0">
                <a:ea typeface="Times New Roman"/>
                <a:cs typeface="HelveticaNeueLTStd-BdCn"/>
              </a:rPr>
              <a:t>Asset turnover </a:t>
            </a:r>
            <a:r>
              <a:rPr lang="en-AU" sz="2200" b="1" dirty="0" smtClean="0">
                <a:ea typeface="Times New Roman"/>
                <a:cs typeface="HelveticaNeueLTStd-BdCn"/>
              </a:rPr>
              <a:t>ratio</a:t>
            </a:r>
          </a:p>
          <a:p>
            <a:pPr marL="36576" indent="0">
              <a:spcBef>
                <a:spcPts val="600"/>
              </a:spcBef>
              <a:spcAft>
                <a:spcPts val="1200"/>
              </a:spcAft>
              <a:buNone/>
            </a:pPr>
            <a:r>
              <a:rPr lang="en-AU" sz="2200" dirty="0">
                <a:ea typeface="Times New Roman"/>
                <a:cs typeface="HelveticaNeueLTStd-Lt"/>
              </a:rPr>
              <a:t>Asset turnover ratio:</a:t>
            </a:r>
            <a:r>
              <a:rPr lang="en-US" sz="2200" dirty="0">
                <a:ea typeface="Times New Roman"/>
                <a:cs typeface="HelveticaNeueLTStd-Lt"/>
              </a:rPr>
              <a:t>	</a:t>
            </a:r>
            <a:r>
              <a:rPr lang="en-US" sz="2200" dirty="0" smtClean="0">
                <a:ea typeface="Times New Roman"/>
                <a:cs typeface="HelveticaNeueLTStd-Lt"/>
              </a:rPr>
              <a:t> </a:t>
            </a:r>
            <a:r>
              <a:rPr lang="en-AU" sz="2200" u="sng" dirty="0">
                <a:ea typeface="Times New Roman"/>
                <a:cs typeface="HelveticaNeueLTStd-Lt"/>
              </a:rPr>
              <a:t>total sales</a:t>
            </a:r>
            <a:endParaRPr lang="en-AU" sz="2200" dirty="0">
              <a:ea typeface="Times New Roman"/>
              <a:cs typeface="Times New Roman"/>
            </a:endParaRPr>
          </a:p>
          <a:p>
            <a:pPr marL="36576" indent="0">
              <a:spcBef>
                <a:spcPts val="600"/>
              </a:spcBef>
              <a:spcAft>
                <a:spcPts val="1200"/>
              </a:spcAft>
              <a:buNone/>
            </a:pPr>
            <a:r>
              <a:rPr lang="en-US" sz="2200" dirty="0">
                <a:ea typeface="Times New Roman"/>
                <a:cs typeface="HelveticaNeueLTStd-Lt"/>
              </a:rPr>
              <a:t>			</a:t>
            </a:r>
            <a:r>
              <a:rPr lang="en-US" sz="2200" dirty="0" smtClean="0">
                <a:ea typeface="Times New Roman"/>
                <a:cs typeface="HelveticaNeueLTStd-Lt"/>
              </a:rPr>
              <a:t> </a:t>
            </a:r>
            <a:r>
              <a:rPr lang="en-AU" sz="2200" dirty="0" smtClean="0">
                <a:ea typeface="Times New Roman"/>
                <a:cs typeface="HelveticaNeueLTStd-Lt"/>
              </a:rPr>
              <a:t>total assets</a:t>
            </a:r>
          </a:p>
          <a:p>
            <a:pPr marL="36576" indent="0">
              <a:spcBef>
                <a:spcPts val="600"/>
              </a:spcBef>
              <a:spcAft>
                <a:spcPts val="1200"/>
              </a:spcAft>
              <a:buNone/>
            </a:pPr>
            <a:r>
              <a:rPr lang="en-AU" sz="2200" dirty="0" smtClean="0">
                <a:ea typeface="Times New Roman"/>
                <a:cs typeface="HelveticaNeueLTStd-Lt"/>
              </a:rPr>
              <a:t>The </a:t>
            </a:r>
            <a:r>
              <a:rPr lang="en-AU" sz="2200" dirty="0">
                <a:ea typeface="Times New Roman"/>
                <a:cs typeface="HelveticaNeueLTStd-Lt"/>
              </a:rPr>
              <a:t>result of this calculation shows us the number of times per annum the assets are “turned over”.</a:t>
            </a:r>
            <a:endParaRPr lang="en-AU" sz="2200" dirty="0">
              <a:ea typeface="Times New Roman"/>
              <a:cs typeface="Times New Roman"/>
            </a:endParaRPr>
          </a:p>
          <a:p>
            <a:pPr marL="36576" indent="0">
              <a:lnSpc>
                <a:spcPct val="115000"/>
              </a:lnSpc>
              <a:spcBef>
                <a:spcPts val="400"/>
              </a:spcBef>
              <a:spcAft>
                <a:spcPts val="600"/>
              </a:spcAft>
              <a:buNone/>
            </a:pPr>
            <a:endParaRPr lang="en-AU" sz="2200" dirty="0">
              <a:ea typeface="Times New Roman"/>
              <a:cs typeface="Times New Roman"/>
            </a:endParaRPr>
          </a:p>
          <a:p>
            <a:endParaRPr lang="en-AU" sz="2200" dirty="0"/>
          </a:p>
        </p:txBody>
      </p:sp>
      <p:sp>
        <p:nvSpPr>
          <p:cNvPr id="6"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40</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60017486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98637"/>
            <a:ext cx="8153400" cy="4525963"/>
          </a:xfrm>
        </p:spPr>
        <p:txBody>
          <a:bodyPr>
            <a:normAutofit fontScale="62500" lnSpcReduction="20000"/>
          </a:bodyPr>
          <a:lstStyle/>
          <a:p>
            <a:pPr marL="36576" indent="0">
              <a:lnSpc>
                <a:spcPct val="120000"/>
              </a:lnSpc>
              <a:spcBef>
                <a:spcPts val="600"/>
              </a:spcBef>
              <a:spcAft>
                <a:spcPts val="1200"/>
              </a:spcAft>
              <a:buNone/>
            </a:pPr>
            <a:r>
              <a:rPr lang="en-AU" sz="3800" b="1" dirty="0">
                <a:solidFill>
                  <a:srgbClr val="000000"/>
                </a:solidFill>
                <a:ea typeface="Times New Roman"/>
                <a:cs typeface="HelveticaNeueLTStd-BdCn"/>
              </a:rPr>
              <a:t>Average Inventories Turnover (Stock Turnover)</a:t>
            </a:r>
            <a:endParaRPr lang="en-AU" sz="3800" dirty="0">
              <a:ea typeface="Times New Roman"/>
              <a:cs typeface="Times New Roman"/>
            </a:endParaRPr>
          </a:p>
          <a:p>
            <a:pPr>
              <a:lnSpc>
                <a:spcPct val="120000"/>
              </a:lnSpc>
              <a:spcBef>
                <a:spcPts val="600"/>
              </a:spcBef>
              <a:spcAft>
                <a:spcPts val="1200"/>
              </a:spcAft>
            </a:pPr>
            <a:r>
              <a:rPr lang="en-AU" sz="3800" dirty="0">
                <a:solidFill>
                  <a:srgbClr val="000000"/>
                </a:solidFill>
                <a:ea typeface="Times New Roman"/>
                <a:cs typeface="HelveticaNeueLTStd-Lt"/>
              </a:rPr>
              <a:t>To calculate the stock turnover follow these steps:</a:t>
            </a:r>
            <a:endParaRPr lang="en-AU" sz="3800" dirty="0">
              <a:ea typeface="Times New Roman"/>
              <a:cs typeface="Times New Roman"/>
            </a:endParaRPr>
          </a:p>
          <a:p>
            <a:pPr marL="644652" lvl="1" indent="-342900">
              <a:lnSpc>
                <a:spcPct val="120000"/>
              </a:lnSpc>
              <a:spcBef>
                <a:spcPts val="600"/>
              </a:spcBef>
              <a:spcAft>
                <a:spcPts val="1200"/>
              </a:spcAft>
              <a:buFont typeface="Symbol"/>
              <a:buChar char=""/>
            </a:pPr>
            <a:r>
              <a:rPr lang="en-AU" sz="3800" b="1" dirty="0">
                <a:solidFill>
                  <a:srgbClr val="000000"/>
                </a:solidFill>
                <a:ea typeface="Times New Roman"/>
                <a:cs typeface="HelveticaNeueLTStd-Lt"/>
              </a:rPr>
              <a:t>Step 1</a:t>
            </a:r>
            <a:r>
              <a:rPr lang="en-AU" sz="3800" dirty="0">
                <a:solidFill>
                  <a:srgbClr val="000000"/>
                </a:solidFill>
                <a:ea typeface="Times New Roman"/>
                <a:cs typeface="HelveticaNeueLTStd-Lt"/>
              </a:rPr>
              <a:t>: Calculate the Average* Stock (previous year Closing Stock plus current year Closing Stock divided by 2</a:t>
            </a:r>
            <a:r>
              <a:rPr lang="en-AU" sz="3800" dirty="0" smtClean="0">
                <a:solidFill>
                  <a:srgbClr val="000000"/>
                </a:solidFill>
                <a:ea typeface="Times New Roman"/>
                <a:cs typeface="HelveticaNeueLTStd-Lt"/>
              </a:rPr>
              <a:t>)</a:t>
            </a:r>
            <a:endParaRPr lang="en-AU" sz="3800" dirty="0">
              <a:ea typeface="Times New Roman"/>
              <a:cs typeface="Times New Roman"/>
            </a:endParaRPr>
          </a:p>
          <a:p>
            <a:pPr marL="644652" lvl="1" indent="-342900">
              <a:lnSpc>
                <a:spcPct val="120000"/>
              </a:lnSpc>
              <a:spcBef>
                <a:spcPts val="600"/>
              </a:spcBef>
              <a:spcAft>
                <a:spcPts val="1200"/>
              </a:spcAft>
              <a:buFont typeface="Symbol"/>
              <a:buChar char=""/>
            </a:pPr>
            <a:r>
              <a:rPr lang="en-AU" sz="3800" b="1" dirty="0">
                <a:solidFill>
                  <a:srgbClr val="000000"/>
                </a:solidFill>
                <a:ea typeface="Times New Roman"/>
                <a:cs typeface="HelveticaNeueLTStd-Lt"/>
              </a:rPr>
              <a:t>Step 2</a:t>
            </a:r>
            <a:r>
              <a:rPr lang="en-AU" sz="3800" dirty="0">
                <a:solidFill>
                  <a:srgbClr val="000000"/>
                </a:solidFill>
                <a:ea typeface="Times New Roman"/>
                <a:cs typeface="HelveticaNeueLTStd-Lt"/>
              </a:rPr>
              <a:t>: Divide Cost of Goods Sold (COGS) by the average </a:t>
            </a:r>
            <a:r>
              <a:rPr lang="en-AU" sz="3800" dirty="0" smtClean="0">
                <a:solidFill>
                  <a:srgbClr val="000000"/>
                </a:solidFill>
                <a:ea typeface="Times New Roman"/>
                <a:cs typeface="HelveticaNeueLTStd-Lt"/>
              </a:rPr>
              <a:t>stock</a:t>
            </a:r>
            <a:endParaRPr lang="en-AU" sz="3800" dirty="0">
              <a:ea typeface="Times New Roman"/>
              <a:cs typeface="Times New Roman"/>
            </a:endParaRPr>
          </a:p>
          <a:p>
            <a:pPr marL="644652" lvl="1" indent="-342900">
              <a:lnSpc>
                <a:spcPct val="120000"/>
              </a:lnSpc>
              <a:spcBef>
                <a:spcPts val="600"/>
              </a:spcBef>
              <a:spcAft>
                <a:spcPts val="1200"/>
              </a:spcAft>
              <a:buFont typeface="Symbol"/>
              <a:buChar char=""/>
            </a:pPr>
            <a:r>
              <a:rPr lang="en-AU" sz="3800" b="1" dirty="0">
                <a:solidFill>
                  <a:srgbClr val="000000"/>
                </a:solidFill>
                <a:ea typeface="Times New Roman"/>
                <a:cs typeface="HelveticaNeueLTStd-Lt"/>
              </a:rPr>
              <a:t>Step 3</a:t>
            </a:r>
            <a:r>
              <a:rPr lang="en-AU" sz="3800" dirty="0">
                <a:solidFill>
                  <a:srgbClr val="000000"/>
                </a:solidFill>
                <a:ea typeface="Times New Roman"/>
                <a:cs typeface="HelveticaNeueLTStd-Lt"/>
              </a:rPr>
              <a:t>: Divide the number of days in the year by the solution to step </a:t>
            </a:r>
            <a:r>
              <a:rPr lang="en-AU" sz="3800" dirty="0" smtClean="0">
                <a:solidFill>
                  <a:srgbClr val="000000"/>
                </a:solidFill>
                <a:ea typeface="Times New Roman"/>
                <a:cs typeface="HelveticaNeueLTStd-Lt"/>
              </a:rPr>
              <a:t>2</a:t>
            </a:r>
            <a:endParaRPr lang="en-AU" sz="3800" dirty="0">
              <a:ea typeface="Times New Roman"/>
              <a:cs typeface="Times New Roman"/>
            </a:endParaRPr>
          </a:p>
          <a:p>
            <a:pPr>
              <a:lnSpc>
                <a:spcPct val="120000"/>
              </a:lnSpc>
              <a:spcBef>
                <a:spcPts val="600"/>
              </a:spcBef>
              <a:spcAft>
                <a:spcPts val="1200"/>
              </a:spcAft>
            </a:pPr>
            <a:endParaRPr lang="en-AU" dirty="0"/>
          </a:p>
        </p:txBody>
      </p:sp>
      <p:sp>
        <p:nvSpPr>
          <p:cNvPr id="6"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41</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60017486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51037"/>
            <a:ext cx="7848600" cy="4525963"/>
          </a:xfrm>
        </p:spPr>
        <p:txBody>
          <a:bodyPr>
            <a:normAutofit/>
          </a:bodyPr>
          <a:lstStyle/>
          <a:p>
            <a:pPr marL="36576" indent="0">
              <a:lnSpc>
                <a:spcPct val="115000"/>
              </a:lnSpc>
              <a:spcAft>
                <a:spcPts val="0"/>
              </a:spcAft>
              <a:buNone/>
            </a:pPr>
            <a:r>
              <a:rPr lang="en-AU" sz="2200" b="1" dirty="0">
                <a:solidFill>
                  <a:srgbClr val="000000"/>
                </a:solidFill>
                <a:ea typeface="Times New Roman"/>
                <a:cs typeface="HelveticaNeueLTStd-Lt"/>
              </a:rPr>
              <a:t>Debtors turnover ratio</a:t>
            </a:r>
            <a:r>
              <a:rPr lang="en-AU" sz="2200" dirty="0">
                <a:solidFill>
                  <a:srgbClr val="000000"/>
                </a:solidFill>
                <a:ea typeface="Times New Roman"/>
                <a:cs typeface="HelveticaNeueLTStd-Lt"/>
              </a:rPr>
              <a:t> = </a:t>
            </a:r>
            <a:endParaRPr lang="en-US" sz="2200" dirty="0" smtClean="0">
              <a:solidFill>
                <a:srgbClr val="000000"/>
              </a:solidFill>
              <a:ea typeface="Times New Roman"/>
              <a:cs typeface="HelveticaNeueLTStd-Lt"/>
            </a:endParaRPr>
          </a:p>
          <a:p>
            <a:pPr marL="36576" indent="0">
              <a:lnSpc>
                <a:spcPct val="115000"/>
              </a:lnSpc>
              <a:spcAft>
                <a:spcPts val="0"/>
              </a:spcAft>
              <a:buNone/>
            </a:pPr>
            <a:r>
              <a:rPr lang="en-US" sz="2200" dirty="0">
                <a:solidFill>
                  <a:srgbClr val="000000"/>
                </a:solidFill>
                <a:ea typeface="Times New Roman"/>
                <a:cs typeface="HelveticaNeueLTStd-Lt"/>
              </a:rPr>
              <a:t> </a:t>
            </a:r>
            <a:r>
              <a:rPr lang="en-US" sz="2200" dirty="0" smtClean="0">
                <a:solidFill>
                  <a:srgbClr val="000000"/>
                </a:solidFill>
                <a:ea typeface="Times New Roman"/>
                <a:cs typeface="HelveticaNeueLTStd-Lt"/>
              </a:rPr>
              <a:t>             </a:t>
            </a:r>
            <a:r>
              <a:rPr lang="en-US" sz="2200" u="sng" dirty="0" smtClean="0">
                <a:solidFill>
                  <a:srgbClr val="000000"/>
                </a:solidFill>
                <a:ea typeface="Times New Roman"/>
                <a:cs typeface="HelveticaNeueLTStd-Lt"/>
              </a:rPr>
              <a:t> </a:t>
            </a:r>
            <a:r>
              <a:rPr lang="en-AU" sz="2200" u="sng" dirty="0" smtClean="0">
                <a:solidFill>
                  <a:srgbClr val="000000"/>
                </a:solidFill>
                <a:ea typeface="Times New Roman"/>
                <a:cs typeface="HelveticaNeueLTStd-Lt"/>
              </a:rPr>
              <a:t>Average Debtors</a:t>
            </a:r>
            <a:endParaRPr lang="en-AU" sz="2200" dirty="0">
              <a:ea typeface="Times New Roman"/>
              <a:cs typeface="Times New Roman"/>
            </a:endParaRPr>
          </a:p>
          <a:p>
            <a:pPr marL="36576" indent="0">
              <a:lnSpc>
                <a:spcPct val="115000"/>
              </a:lnSpc>
              <a:spcAft>
                <a:spcPts val="0"/>
              </a:spcAft>
              <a:buNone/>
            </a:pPr>
            <a:r>
              <a:rPr lang="en-US" sz="2200" dirty="0" smtClean="0">
                <a:solidFill>
                  <a:srgbClr val="000000"/>
                </a:solidFill>
                <a:ea typeface="Times New Roman"/>
                <a:cs typeface="HelveticaNeueLTStd-Lt"/>
              </a:rPr>
              <a:t>          </a:t>
            </a:r>
            <a:r>
              <a:rPr lang="en-AU" sz="2200" dirty="0" smtClean="0">
                <a:solidFill>
                  <a:srgbClr val="000000"/>
                </a:solidFill>
                <a:ea typeface="Times New Roman"/>
                <a:cs typeface="HelveticaNeueLTStd-Lt"/>
              </a:rPr>
              <a:t>Average </a:t>
            </a:r>
            <a:r>
              <a:rPr lang="en-AU" sz="2200" dirty="0">
                <a:solidFill>
                  <a:srgbClr val="000000"/>
                </a:solidFill>
                <a:ea typeface="Times New Roman"/>
                <a:cs typeface="HelveticaNeueLTStd-Lt"/>
              </a:rPr>
              <a:t>daily credit </a:t>
            </a:r>
            <a:r>
              <a:rPr lang="en-AU" sz="2200" dirty="0" smtClean="0">
                <a:solidFill>
                  <a:srgbClr val="000000"/>
                </a:solidFill>
                <a:ea typeface="Times New Roman"/>
                <a:cs typeface="HelveticaNeueLTStd-Lt"/>
              </a:rPr>
              <a:t>sales</a:t>
            </a:r>
          </a:p>
          <a:p>
            <a:pPr>
              <a:lnSpc>
                <a:spcPct val="115000"/>
              </a:lnSpc>
              <a:spcAft>
                <a:spcPts val="0"/>
              </a:spcAft>
            </a:pPr>
            <a:endParaRPr lang="en-AU" sz="2200" dirty="0">
              <a:solidFill>
                <a:srgbClr val="000000"/>
              </a:solidFill>
              <a:ea typeface="Times New Roman"/>
              <a:cs typeface="Times New Roman"/>
            </a:endParaRPr>
          </a:p>
          <a:p>
            <a:pPr>
              <a:lnSpc>
                <a:spcPct val="115000"/>
              </a:lnSpc>
              <a:spcAft>
                <a:spcPts val="0"/>
              </a:spcAft>
            </a:pPr>
            <a:r>
              <a:rPr lang="en-AU" sz="2200" dirty="0">
                <a:solidFill>
                  <a:srgbClr val="000000"/>
                </a:solidFill>
                <a:ea typeface="Times New Roman"/>
                <a:cs typeface="HelveticaNeueLTStd-Lt"/>
              </a:rPr>
              <a:t>This ratio tells us how </a:t>
            </a:r>
            <a:r>
              <a:rPr lang="en-AU" sz="2200" dirty="0" smtClean="0">
                <a:solidFill>
                  <a:srgbClr val="000000"/>
                </a:solidFill>
                <a:ea typeface="Times New Roman"/>
                <a:cs typeface="HelveticaNeueLTStd-Lt"/>
              </a:rPr>
              <a:t>skilful </a:t>
            </a:r>
            <a:r>
              <a:rPr lang="en-AU" sz="2200" dirty="0">
                <a:solidFill>
                  <a:srgbClr val="000000"/>
                </a:solidFill>
                <a:ea typeface="Times New Roman"/>
                <a:cs typeface="HelveticaNeueLTStd-Lt"/>
              </a:rPr>
              <a:t>we are at collecting our debtors. It shows the number of days </a:t>
            </a:r>
            <a:r>
              <a:rPr lang="en-AU" sz="2200" dirty="0" smtClean="0">
                <a:solidFill>
                  <a:srgbClr val="000000"/>
                </a:solidFill>
                <a:ea typeface="Times New Roman"/>
                <a:cs typeface="HelveticaNeueLTStd-Lt"/>
              </a:rPr>
              <a:t>it</a:t>
            </a:r>
            <a:r>
              <a:rPr lang="en-AU" sz="2200" dirty="0" smtClean="0">
                <a:ea typeface="Times New Roman"/>
                <a:cs typeface="Times New Roman"/>
              </a:rPr>
              <a:t> </a:t>
            </a:r>
            <a:r>
              <a:rPr lang="en-AU" sz="2200" dirty="0" smtClean="0">
                <a:solidFill>
                  <a:srgbClr val="000000"/>
                </a:solidFill>
                <a:ea typeface="Times New Roman"/>
                <a:cs typeface="HelveticaNeueLTStd-Lt"/>
              </a:rPr>
              <a:t>takes </a:t>
            </a:r>
            <a:r>
              <a:rPr lang="en-AU" sz="2200" dirty="0">
                <a:solidFill>
                  <a:srgbClr val="000000"/>
                </a:solidFill>
                <a:ea typeface="Times New Roman"/>
                <a:cs typeface="HelveticaNeueLTStd-Lt"/>
              </a:rPr>
              <a:t>to collect in monies from our </a:t>
            </a:r>
            <a:r>
              <a:rPr lang="en-AU" sz="2200" dirty="0" smtClean="0">
                <a:solidFill>
                  <a:srgbClr val="000000"/>
                </a:solidFill>
                <a:ea typeface="Times New Roman"/>
                <a:cs typeface="HelveticaNeueLTStd-Lt"/>
              </a:rPr>
              <a:t>customers</a:t>
            </a:r>
            <a:endParaRPr lang="en-AU" sz="2200" dirty="0">
              <a:ea typeface="Times New Roman"/>
              <a:cs typeface="Times New Roman"/>
            </a:endParaRPr>
          </a:p>
          <a:p>
            <a:pPr>
              <a:lnSpc>
                <a:spcPct val="115000"/>
              </a:lnSpc>
              <a:spcAft>
                <a:spcPts val="0"/>
              </a:spcAft>
            </a:pPr>
            <a:endParaRPr lang="en-AU" sz="2200" dirty="0">
              <a:ea typeface="Times New Roman"/>
              <a:cs typeface="Times New Roman"/>
            </a:endParaRPr>
          </a:p>
          <a:p>
            <a:endParaRPr lang="en-AU" sz="2200" dirty="0"/>
          </a:p>
        </p:txBody>
      </p:sp>
      <p:sp>
        <p:nvSpPr>
          <p:cNvPr id="7"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8"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42</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60017486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98637"/>
            <a:ext cx="7848600" cy="4525963"/>
          </a:xfrm>
        </p:spPr>
        <p:txBody>
          <a:bodyPr>
            <a:normAutofit/>
          </a:bodyPr>
          <a:lstStyle/>
          <a:p>
            <a:pPr marL="36576" indent="0">
              <a:lnSpc>
                <a:spcPct val="115000"/>
              </a:lnSpc>
              <a:spcBef>
                <a:spcPts val="400"/>
              </a:spcBef>
              <a:spcAft>
                <a:spcPts val="600"/>
              </a:spcAft>
              <a:buNone/>
            </a:pPr>
            <a:r>
              <a:rPr lang="en-AU" sz="2200" b="1" dirty="0">
                <a:solidFill>
                  <a:srgbClr val="000000"/>
                </a:solidFill>
                <a:ea typeface="Times New Roman"/>
                <a:cs typeface="HelveticaNeueLTStd-Lt"/>
              </a:rPr>
              <a:t>Debtors Turnover:</a:t>
            </a:r>
            <a:endParaRPr lang="en-AU" sz="2200" dirty="0">
              <a:ea typeface="Times New Roman"/>
              <a:cs typeface="Times New Roman"/>
            </a:endParaRPr>
          </a:p>
          <a:p>
            <a:pPr>
              <a:lnSpc>
                <a:spcPct val="115000"/>
              </a:lnSpc>
              <a:spcBef>
                <a:spcPts val="400"/>
              </a:spcBef>
              <a:spcAft>
                <a:spcPts val="600"/>
              </a:spcAft>
            </a:pPr>
            <a:r>
              <a:rPr lang="en-AU" sz="2200" dirty="0">
                <a:solidFill>
                  <a:srgbClr val="000000"/>
                </a:solidFill>
                <a:ea typeface="Times New Roman"/>
                <a:cs typeface="HelveticaNeueLTStd-Lt"/>
              </a:rPr>
              <a:t>This calculation is best undertaken as a 2 step process:</a:t>
            </a:r>
            <a:endParaRPr lang="en-AU" sz="2200" dirty="0">
              <a:ea typeface="Times New Roman"/>
              <a:cs typeface="Times New Roman"/>
            </a:endParaRPr>
          </a:p>
          <a:p>
            <a:pPr marL="644652" lvl="1" indent="-342900">
              <a:lnSpc>
                <a:spcPct val="115000"/>
              </a:lnSpc>
              <a:spcBef>
                <a:spcPts val="400"/>
              </a:spcBef>
              <a:spcAft>
                <a:spcPts val="600"/>
              </a:spcAft>
              <a:buFont typeface="Symbol"/>
              <a:buChar char=""/>
            </a:pPr>
            <a:r>
              <a:rPr lang="en-AU" sz="2200" dirty="0">
                <a:solidFill>
                  <a:srgbClr val="000000"/>
                </a:solidFill>
                <a:ea typeface="Times New Roman"/>
                <a:cs typeface="HelveticaNeueLTStd-Lt"/>
              </a:rPr>
              <a:t>Step 1 – calculate the average daily </a:t>
            </a:r>
            <a:r>
              <a:rPr lang="en-AU" sz="2200" dirty="0">
                <a:solidFill>
                  <a:srgbClr val="000000"/>
                </a:solidFill>
                <a:ea typeface="Times New Roman"/>
                <a:cs typeface="HelveticaNeueLTStd-Bd"/>
              </a:rPr>
              <a:t>credit </a:t>
            </a:r>
            <a:r>
              <a:rPr lang="en-AU" sz="2200" dirty="0">
                <a:solidFill>
                  <a:srgbClr val="000000"/>
                </a:solidFill>
                <a:ea typeface="Times New Roman"/>
                <a:cs typeface="HelveticaNeueLTStd-Lt"/>
              </a:rPr>
              <a:t>sales (credit sales for the year divided by 365 days)</a:t>
            </a:r>
            <a:endParaRPr lang="en-AU" sz="2200" dirty="0">
              <a:ea typeface="Times New Roman"/>
              <a:cs typeface="Times New Roman"/>
            </a:endParaRPr>
          </a:p>
          <a:p>
            <a:pPr marL="644652" lvl="1" indent="-342900">
              <a:lnSpc>
                <a:spcPct val="115000"/>
              </a:lnSpc>
              <a:spcBef>
                <a:spcPts val="400"/>
              </a:spcBef>
              <a:spcAft>
                <a:spcPts val="600"/>
              </a:spcAft>
              <a:buFont typeface="Symbol"/>
              <a:buChar char=""/>
            </a:pPr>
            <a:r>
              <a:rPr lang="en-AU" sz="2200" dirty="0">
                <a:solidFill>
                  <a:srgbClr val="000000"/>
                </a:solidFill>
                <a:ea typeface="Times New Roman"/>
                <a:cs typeface="HelveticaNeueLTStd-Lt"/>
              </a:rPr>
              <a:t>Step 2: divide the above result into the debtors </a:t>
            </a:r>
            <a:r>
              <a:rPr lang="en-AU" sz="2200" dirty="0" smtClean="0">
                <a:solidFill>
                  <a:srgbClr val="000000"/>
                </a:solidFill>
                <a:ea typeface="Times New Roman"/>
                <a:cs typeface="HelveticaNeueLTStd-Lt"/>
              </a:rPr>
              <a:t>balance</a:t>
            </a:r>
            <a:endParaRPr lang="en-AU" sz="2200" dirty="0">
              <a:ea typeface="Times New Roman"/>
              <a:cs typeface="Times New Roman"/>
            </a:endParaRPr>
          </a:p>
          <a:p>
            <a:endParaRPr lang="en-AU" sz="2200" dirty="0"/>
          </a:p>
        </p:txBody>
      </p:sp>
      <p:sp>
        <p:nvSpPr>
          <p:cNvPr id="6"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43</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60017486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98637"/>
            <a:ext cx="7848600" cy="4525963"/>
          </a:xfrm>
        </p:spPr>
        <p:txBody>
          <a:bodyPr>
            <a:normAutofit/>
          </a:bodyPr>
          <a:lstStyle/>
          <a:p>
            <a:pPr marL="36576" indent="0">
              <a:lnSpc>
                <a:spcPct val="115000"/>
              </a:lnSpc>
              <a:spcBef>
                <a:spcPts val="1200"/>
              </a:spcBef>
              <a:spcAft>
                <a:spcPts val="1200"/>
              </a:spcAft>
              <a:buNone/>
            </a:pPr>
            <a:r>
              <a:rPr lang="en-AU" sz="2200" b="1" dirty="0">
                <a:ea typeface="Times New Roman"/>
                <a:cs typeface="HelveticaNeueLTStd-BdCn"/>
              </a:rPr>
              <a:t>Profitability ratios</a:t>
            </a:r>
            <a:endParaRPr lang="en-AU" sz="2200" dirty="0">
              <a:ea typeface="Times New Roman"/>
              <a:cs typeface="Times New Roman"/>
            </a:endParaRPr>
          </a:p>
          <a:p>
            <a:pPr>
              <a:lnSpc>
                <a:spcPct val="115000"/>
              </a:lnSpc>
              <a:spcBef>
                <a:spcPts val="400"/>
              </a:spcBef>
              <a:spcAft>
                <a:spcPts val="600"/>
              </a:spcAft>
            </a:pPr>
            <a:r>
              <a:rPr lang="en-AU" sz="2200" dirty="0">
                <a:ea typeface="Times New Roman"/>
                <a:cs typeface="HelveticaNeueLTStd-BdIt"/>
              </a:rPr>
              <a:t>Note: These ratios are usually calculated as </a:t>
            </a:r>
            <a:r>
              <a:rPr lang="en-AU" sz="2200" dirty="0" smtClean="0">
                <a:ea typeface="Times New Roman"/>
                <a:cs typeface="HelveticaNeueLTStd-BdIt"/>
              </a:rPr>
              <a:t>percentages</a:t>
            </a:r>
            <a:endParaRPr lang="en-AU" sz="2200" dirty="0">
              <a:ea typeface="Times New Roman"/>
              <a:cs typeface="Times New Roman"/>
            </a:endParaRPr>
          </a:p>
          <a:p>
            <a:pPr marL="36576" indent="0">
              <a:lnSpc>
                <a:spcPct val="115000"/>
              </a:lnSpc>
              <a:spcBef>
                <a:spcPts val="400"/>
              </a:spcBef>
              <a:spcAft>
                <a:spcPts val="600"/>
              </a:spcAft>
              <a:buNone/>
            </a:pPr>
            <a:r>
              <a:rPr lang="en-AU" sz="2200" b="1" dirty="0">
                <a:ea typeface="Times New Roman"/>
                <a:cs typeface="HelveticaNeueLTStd-Bd"/>
              </a:rPr>
              <a:t>Gross Profit ratio</a:t>
            </a:r>
            <a:endParaRPr lang="en-AU" sz="2200" dirty="0">
              <a:ea typeface="Times New Roman"/>
              <a:cs typeface="Times New Roman"/>
            </a:endParaRPr>
          </a:p>
          <a:p>
            <a:pPr marL="36576" indent="0" algn="ctr">
              <a:lnSpc>
                <a:spcPct val="115000"/>
              </a:lnSpc>
              <a:spcAft>
                <a:spcPts val="0"/>
              </a:spcAft>
              <a:buNone/>
            </a:pPr>
            <a:r>
              <a:rPr lang="en-AU" sz="2200" dirty="0" smtClean="0">
                <a:ea typeface="Times New Roman"/>
                <a:cs typeface="HelveticaNeueLTStd-Lt"/>
              </a:rPr>
              <a:t>          </a:t>
            </a:r>
            <a:r>
              <a:rPr lang="en-AU" sz="2200" u="sng" dirty="0" smtClean="0">
                <a:ea typeface="Times New Roman"/>
                <a:cs typeface="HelveticaNeueLTStd-Lt"/>
              </a:rPr>
              <a:t>Gross </a:t>
            </a:r>
            <a:r>
              <a:rPr lang="en-AU" sz="2200" u="sng" dirty="0">
                <a:ea typeface="Times New Roman"/>
                <a:cs typeface="HelveticaNeueLTStd-Lt"/>
              </a:rPr>
              <a:t>Profit</a:t>
            </a:r>
            <a:r>
              <a:rPr lang="en-AU" sz="2200" dirty="0">
                <a:ea typeface="Times New Roman"/>
                <a:cs typeface="HelveticaNeueLTStd-Lt"/>
              </a:rPr>
              <a:t> </a:t>
            </a:r>
            <a:r>
              <a:rPr lang="en-AU" sz="2200" dirty="0" smtClean="0">
                <a:ea typeface="Times New Roman"/>
                <a:cs typeface="HelveticaNeueLTStd-Lt"/>
              </a:rPr>
              <a:t> x 100</a:t>
            </a:r>
            <a:endParaRPr lang="en-AU" sz="2200" dirty="0">
              <a:ea typeface="Times New Roman"/>
              <a:cs typeface="Times New Roman"/>
            </a:endParaRPr>
          </a:p>
          <a:p>
            <a:pPr marL="36576" indent="0" algn="ctr">
              <a:lnSpc>
                <a:spcPct val="115000"/>
              </a:lnSpc>
              <a:spcAft>
                <a:spcPts val="0"/>
              </a:spcAft>
              <a:buNone/>
            </a:pPr>
            <a:r>
              <a:rPr lang="en-AU" sz="2200" dirty="0" smtClean="0">
                <a:ea typeface="Times New Roman"/>
                <a:cs typeface="HelveticaNeueLTStd-Lt"/>
              </a:rPr>
              <a:t>Net </a:t>
            </a:r>
            <a:r>
              <a:rPr lang="en-AU" sz="2200" dirty="0">
                <a:ea typeface="Times New Roman"/>
                <a:cs typeface="HelveticaNeueLTStd-Lt"/>
              </a:rPr>
              <a:t>Sales</a:t>
            </a:r>
            <a:endParaRPr lang="en-AU" sz="2200" dirty="0">
              <a:ea typeface="Times New Roman"/>
              <a:cs typeface="Times New Roman"/>
            </a:endParaRPr>
          </a:p>
          <a:p>
            <a:endParaRPr lang="en-AU" sz="2200" dirty="0"/>
          </a:p>
        </p:txBody>
      </p:sp>
      <p:sp>
        <p:nvSpPr>
          <p:cNvPr id="6"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44</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10626955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22437"/>
            <a:ext cx="7848600" cy="4678363"/>
          </a:xfrm>
        </p:spPr>
        <p:txBody>
          <a:bodyPr>
            <a:normAutofit/>
          </a:bodyPr>
          <a:lstStyle/>
          <a:p>
            <a:pPr marL="36576" indent="0">
              <a:lnSpc>
                <a:spcPct val="115000"/>
              </a:lnSpc>
              <a:spcBef>
                <a:spcPts val="400"/>
              </a:spcBef>
              <a:spcAft>
                <a:spcPts val="600"/>
              </a:spcAft>
              <a:buNone/>
            </a:pPr>
            <a:r>
              <a:rPr lang="en-AU" sz="2200" b="1" dirty="0">
                <a:solidFill>
                  <a:srgbClr val="000000"/>
                </a:solidFill>
                <a:ea typeface="Times New Roman"/>
                <a:cs typeface="HelveticaNeueLTStd-Bd"/>
              </a:rPr>
              <a:t>Net Profit ratio</a:t>
            </a:r>
            <a:endParaRPr lang="en-AU" sz="2200" dirty="0">
              <a:ea typeface="Times New Roman"/>
              <a:cs typeface="Times New Roman"/>
            </a:endParaRPr>
          </a:p>
          <a:p>
            <a:r>
              <a:rPr lang="en-US" sz="2200" dirty="0">
                <a:solidFill>
                  <a:srgbClr val="000000"/>
                </a:solidFill>
                <a:ea typeface="Times New Roman"/>
                <a:cs typeface="HelveticaNeueLTStd-Bd"/>
              </a:rPr>
              <a:t>This </a:t>
            </a:r>
            <a:r>
              <a:rPr lang="en-AU" sz="2200" dirty="0">
                <a:solidFill>
                  <a:srgbClr val="000000"/>
                </a:solidFill>
                <a:ea typeface="Times New Roman"/>
                <a:cs typeface="HelveticaNeueLTStd-Lt"/>
              </a:rPr>
              <a:t>shows how much of each sales dollar becomes profit. A high ratio means high </a:t>
            </a:r>
            <a:r>
              <a:rPr lang="en-AU" sz="2200" dirty="0" smtClean="0">
                <a:solidFill>
                  <a:srgbClr val="000000"/>
                </a:solidFill>
                <a:ea typeface="Times New Roman"/>
                <a:cs typeface="HelveticaNeueLTStd-Lt"/>
              </a:rPr>
              <a:t>profits</a:t>
            </a:r>
          </a:p>
          <a:p>
            <a:pPr marL="36576" indent="0" algn="ctr">
              <a:lnSpc>
                <a:spcPct val="115000"/>
              </a:lnSpc>
              <a:spcAft>
                <a:spcPts val="0"/>
              </a:spcAft>
              <a:buNone/>
            </a:pPr>
            <a:r>
              <a:rPr lang="en-AU" sz="2200" u="sng" dirty="0">
                <a:solidFill>
                  <a:srgbClr val="000000"/>
                </a:solidFill>
                <a:ea typeface="Times New Roman"/>
                <a:cs typeface="HelveticaNeueLTStd-Lt"/>
              </a:rPr>
              <a:t>Net profit after tax*</a:t>
            </a:r>
            <a:r>
              <a:rPr lang="en-AU" sz="2200" dirty="0">
                <a:solidFill>
                  <a:srgbClr val="000000"/>
                </a:solidFill>
                <a:ea typeface="Times New Roman"/>
                <a:cs typeface="HelveticaNeueLTStd-Lt"/>
              </a:rPr>
              <a:t> x 100</a:t>
            </a:r>
            <a:endParaRPr lang="en-AU" sz="2200" dirty="0">
              <a:ea typeface="Times New Roman"/>
              <a:cs typeface="Times New Roman"/>
            </a:endParaRPr>
          </a:p>
          <a:p>
            <a:pPr marL="36576" indent="0" algn="ctr">
              <a:lnSpc>
                <a:spcPct val="115000"/>
              </a:lnSpc>
              <a:spcAft>
                <a:spcPts val="0"/>
              </a:spcAft>
              <a:buNone/>
            </a:pPr>
            <a:r>
              <a:rPr lang="en-AU" sz="2200" dirty="0">
                <a:solidFill>
                  <a:srgbClr val="000000"/>
                </a:solidFill>
                <a:ea typeface="Times New Roman"/>
                <a:cs typeface="HelveticaNeueLTStd-Lt"/>
              </a:rPr>
              <a:t>Net Sales</a:t>
            </a:r>
            <a:endParaRPr lang="en-AU" sz="2200" dirty="0">
              <a:ea typeface="Times New Roman"/>
              <a:cs typeface="Times New Roman"/>
            </a:endParaRPr>
          </a:p>
          <a:p>
            <a:pPr>
              <a:lnSpc>
                <a:spcPct val="115000"/>
              </a:lnSpc>
              <a:spcAft>
                <a:spcPts val="0"/>
              </a:spcAft>
            </a:pPr>
            <a:r>
              <a:rPr lang="en-AU" sz="2200" dirty="0">
                <a:solidFill>
                  <a:srgbClr val="000000"/>
                </a:solidFill>
                <a:ea typeface="Times New Roman"/>
                <a:cs typeface="HelveticaNeueLTStd-Lt"/>
              </a:rPr>
              <a:t>Note that the Net Profit after tax is often referred to as the “bottom line</a:t>
            </a:r>
            <a:r>
              <a:rPr lang="en-AU" sz="2200" dirty="0" smtClean="0">
                <a:solidFill>
                  <a:srgbClr val="000000"/>
                </a:solidFill>
                <a:ea typeface="Times New Roman"/>
                <a:cs typeface="HelveticaNeueLTStd-Lt"/>
              </a:rPr>
              <a:t>”</a:t>
            </a:r>
            <a:endParaRPr lang="en-AU" sz="2200" dirty="0">
              <a:ea typeface="Times New Roman"/>
              <a:cs typeface="Times New Roman"/>
            </a:endParaRPr>
          </a:p>
          <a:p>
            <a:endParaRPr lang="en-AU" sz="2200" dirty="0"/>
          </a:p>
        </p:txBody>
      </p:sp>
      <p:sp>
        <p:nvSpPr>
          <p:cNvPr id="6"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45</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3332428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05000"/>
            <a:ext cx="7924800" cy="4876800"/>
          </a:xfrm>
        </p:spPr>
        <p:txBody>
          <a:bodyPr>
            <a:normAutofit/>
          </a:bodyPr>
          <a:lstStyle/>
          <a:p>
            <a:pPr marL="36576" indent="0">
              <a:spcBef>
                <a:spcPts val="600"/>
              </a:spcBef>
              <a:spcAft>
                <a:spcPts val="1200"/>
              </a:spcAft>
              <a:buNone/>
            </a:pPr>
            <a:r>
              <a:rPr lang="en-AU" sz="2200" b="1" dirty="0">
                <a:ea typeface="Times New Roman"/>
                <a:cs typeface="HelveticaNeueLTStd-Bd"/>
              </a:rPr>
              <a:t>Return on Investment (ROI</a:t>
            </a:r>
            <a:r>
              <a:rPr lang="en-AU" sz="2200" b="1" dirty="0" smtClean="0">
                <a:ea typeface="Times New Roman"/>
                <a:cs typeface="HelveticaNeueLTStd-Bd"/>
              </a:rPr>
              <a:t>)</a:t>
            </a:r>
          </a:p>
          <a:p>
            <a:pPr marL="36576" indent="0" algn="ctr">
              <a:spcBef>
                <a:spcPts val="600"/>
              </a:spcBef>
              <a:spcAft>
                <a:spcPts val="1200"/>
              </a:spcAft>
              <a:buNone/>
            </a:pPr>
            <a:r>
              <a:rPr lang="en-AU" sz="2200" u="sng" dirty="0">
                <a:ea typeface="Times New Roman"/>
                <a:cs typeface="HelveticaNeueLTStd-Lt"/>
              </a:rPr>
              <a:t>(Net operating profit + tax + interest)</a:t>
            </a:r>
            <a:r>
              <a:rPr lang="en-AU" sz="2200" dirty="0">
                <a:ea typeface="Times New Roman"/>
                <a:cs typeface="HelveticaNeueLTStd-Lt"/>
              </a:rPr>
              <a:t> x 100</a:t>
            </a:r>
            <a:endParaRPr lang="en-AU" sz="2200" dirty="0">
              <a:ea typeface="Times New Roman"/>
              <a:cs typeface="Times New Roman"/>
            </a:endParaRPr>
          </a:p>
          <a:p>
            <a:pPr marL="36576" indent="0" algn="ctr">
              <a:spcBef>
                <a:spcPts val="600"/>
              </a:spcBef>
              <a:spcAft>
                <a:spcPts val="1200"/>
              </a:spcAft>
              <a:buNone/>
            </a:pPr>
            <a:r>
              <a:rPr lang="en-AU" sz="2200" dirty="0">
                <a:ea typeface="Times New Roman"/>
                <a:cs typeface="HelveticaNeueLTStd-Lt"/>
              </a:rPr>
              <a:t>Average total assets </a:t>
            </a:r>
            <a:endParaRPr lang="en-AU" sz="2200" dirty="0">
              <a:ea typeface="Times New Roman"/>
              <a:cs typeface="Times New Roman"/>
            </a:endParaRPr>
          </a:p>
          <a:p>
            <a:pPr marL="644652" lvl="1" indent="-342900">
              <a:spcBef>
                <a:spcPts val="600"/>
              </a:spcBef>
              <a:spcAft>
                <a:spcPts val="1200"/>
              </a:spcAft>
              <a:buFont typeface="Symbol"/>
              <a:buChar char=""/>
            </a:pPr>
            <a:r>
              <a:rPr lang="en-AU" sz="2200" b="1" dirty="0">
                <a:ea typeface="Times New Roman"/>
                <a:cs typeface="HelveticaNeueLTStd-Lt"/>
              </a:rPr>
              <a:t>Step 1</a:t>
            </a:r>
            <a:r>
              <a:rPr lang="en-AU" sz="2200" dirty="0">
                <a:ea typeface="Times New Roman"/>
                <a:cs typeface="HelveticaNeueLTStd-Lt"/>
              </a:rPr>
              <a:t>: add back tax and interest to Net operating </a:t>
            </a:r>
            <a:r>
              <a:rPr lang="en-AU" sz="2200" dirty="0" smtClean="0">
                <a:ea typeface="Times New Roman"/>
                <a:cs typeface="HelveticaNeueLTStd-Lt"/>
              </a:rPr>
              <a:t>profit</a:t>
            </a:r>
            <a:endParaRPr lang="en-AU" sz="2200" dirty="0">
              <a:ea typeface="Times New Roman"/>
              <a:cs typeface="Times New Roman"/>
            </a:endParaRPr>
          </a:p>
          <a:p>
            <a:pPr marL="644652" lvl="1" indent="-342900">
              <a:spcBef>
                <a:spcPts val="600"/>
              </a:spcBef>
              <a:spcAft>
                <a:spcPts val="1200"/>
              </a:spcAft>
              <a:buFont typeface="Symbol"/>
              <a:buChar char=""/>
            </a:pPr>
            <a:r>
              <a:rPr lang="en-AU" sz="2200" b="1" dirty="0">
                <a:ea typeface="Times New Roman"/>
                <a:cs typeface="HelveticaNeueLTStd-Lt"/>
              </a:rPr>
              <a:t>Step 2</a:t>
            </a:r>
            <a:r>
              <a:rPr lang="en-AU" sz="2200" dirty="0">
                <a:ea typeface="Times New Roman"/>
                <a:cs typeface="HelveticaNeueLTStd-Lt"/>
              </a:rPr>
              <a:t>: calculate average total assets. Note that as we do not have a </a:t>
            </a:r>
            <a:r>
              <a:rPr lang="en-US" sz="2200" dirty="0">
                <a:ea typeface="Times New Roman"/>
                <a:cs typeface="HelveticaNeueLTStd-Lt"/>
              </a:rPr>
              <a:t>previous year</a:t>
            </a:r>
            <a:r>
              <a:rPr lang="en-AU" sz="2200" dirty="0">
                <a:ea typeface="Times New Roman"/>
                <a:cs typeface="HelveticaNeueLTStd-Lt"/>
              </a:rPr>
              <a:t> value, we use the </a:t>
            </a:r>
            <a:r>
              <a:rPr lang="en-US" sz="2200" dirty="0">
                <a:ea typeface="Times New Roman"/>
                <a:cs typeface="HelveticaNeueLTStd-Lt"/>
              </a:rPr>
              <a:t>Year 1</a:t>
            </a:r>
            <a:r>
              <a:rPr lang="en-AU" sz="2200" dirty="0">
                <a:ea typeface="Times New Roman"/>
                <a:cs typeface="HelveticaNeueLTStd-Lt"/>
              </a:rPr>
              <a:t> value of total </a:t>
            </a:r>
            <a:r>
              <a:rPr lang="en-AU" sz="2200" dirty="0" smtClean="0">
                <a:ea typeface="Times New Roman"/>
                <a:cs typeface="HelveticaNeueLTStd-Lt"/>
              </a:rPr>
              <a:t>assets</a:t>
            </a:r>
            <a:endParaRPr lang="en-AU" sz="2200" dirty="0">
              <a:ea typeface="Times New Roman"/>
              <a:cs typeface="Times New Roman"/>
            </a:endParaRPr>
          </a:p>
          <a:p>
            <a:pPr marL="644652" lvl="1" indent="-342900">
              <a:spcBef>
                <a:spcPts val="600"/>
              </a:spcBef>
              <a:spcAft>
                <a:spcPts val="1200"/>
              </a:spcAft>
              <a:buFont typeface="Symbol"/>
              <a:buChar char=""/>
            </a:pPr>
            <a:r>
              <a:rPr lang="en-AU" sz="2200" b="1" dirty="0">
                <a:ea typeface="Times New Roman"/>
                <a:cs typeface="HelveticaNeueLTStd-Lt"/>
              </a:rPr>
              <a:t>Step 3</a:t>
            </a:r>
            <a:r>
              <a:rPr lang="en-AU" sz="2200" dirty="0">
                <a:ea typeface="Times New Roman"/>
                <a:cs typeface="HelveticaNeueLTStd-Lt"/>
              </a:rPr>
              <a:t>: calculate as per </a:t>
            </a:r>
            <a:r>
              <a:rPr lang="en-AU" sz="2200" dirty="0" smtClean="0">
                <a:ea typeface="Times New Roman"/>
                <a:cs typeface="HelveticaNeueLTStd-Lt"/>
              </a:rPr>
              <a:t>formula</a:t>
            </a:r>
            <a:endParaRPr lang="en-AU" sz="2200" dirty="0">
              <a:ea typeface="Times New Roman"/>
              <a:cs typeface="Times New Roman"/>
            </a:endParaRPr>
          </a:p>
          <a:p>
            <a:pPr>
              <a:spcBef>
                <a:spcPts val="600"/>
              </a:spcBef>
              <a:spcAft>
                <a:spcPts val="1200"/>
              </a:spcAft>
            </a:pPr>
            <a:endParaRPr lang="en-AU" sz="2200" dirty="0"/>
          </a:p>
        </p:txBody>
      </p:sp>
      <p:sp>
        <p:nvSpPr>
          <p:cNvPr id="6"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46</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420863071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22437"/>
            <a:ext cx="7848600" cy="4525963"/>
          </a:xfrm>
        </p:spPr>
        <p:txBody>
          <a:bodyPr>
            <a:normAutofit/>
          </a:bodyPr>
          <a:lstStyle/>
          <a:p>
            <a:pPr marL="36576" indent="0">
              <a:lnSpc>
                <a:spcPct val="115000"/>
              </a:lnSpc>
              <a:spcBef>
                <a:spcPts val="1200"/>
              </a:spcBef>
              <a:spcAft>
                <a:spcPts val="1200"/>
              </a:spcAft>
              <a:buNone/>
            </a:pPr>
            <a:r>
              <a:rPr lang="en-AU" sz="2200" b="1" dirty="0">
                <a:ea typeface="Times New Roman"/>
                <a:cs typeface="HelveticaNeueLTStd-Cn"/>
              </a:rPr>
              <a:t>Long Term Solvency Ratios</a:t>
            </a:r>
            <a:endParaRPr lang="en-AU" sz="2200" dirty="0">
              <a:ea typeface="Times New Roman"/>
              <a:cs typeface="Times New Roman"/>
            </a:endParaRPr>
          </a:p>
          <a:p>
            <a:pPr marL="36576" indent="0">
              <a:lnSpc>
                <a:spcPct val="115000"/>
              </a:lnSpc>
              <a:spcAft>
                <a:spcPts val="0"/>
              </a:spcAft>
              <a:buNone/>
            </a:pPr>
            <a:r>
              <a:rPr lang="en-AU" sz="2200" b="1" dirty="0">
                <a:ea typeface="Times New Roman"/>
                <a:cs typeface="HelveticaNeueLTStd-BdCn"/>
              </a:rPr>
              <a:t>Leverage (Gearing) ratios</a:t>
            </a:r>
            <a:endParaRPr lang="en-AU" sz="2200" dirty="0">
              <a:ea typeface="Times New Roman"/>
              <a:cs typeface="Times New Roman"/>
            </a:endParaRPr>
          </a:p>
          <a:p>
            <a:pPr>
              <a:spcBef>
                <a:spcPts val="600"/>
              </a:spcBef>
              <a:spcAft>
                <a:spcPts val="1200"/>
              </a:spcAft>
            </a:pPr>
            <a:r>
              <a:rPr lang="en-AU" sz="2200" dirty="0">
                <a:ea typeface="Times New Roman"/>
                <a:cs typeface="HelveticaNeueLTStd-Lt"/>
              </a:rPr>
              <a:t>These ratios test an entity’s financial stability from a longer term point of </a:t>
            </a:r>
            <a:r>
              <a:rPr lang="en-AU" sz="2200" dirty="0" smtClean="0">
                <a:ea typeface="Times New Roman"/>
                <a:cs typeface="HelveticaNeueLTStd-Lt"/>
              </a:rPr>
              <a:t>view</a:t>
            </a:r>
          </a:p>
          <a:p>
            <a:pPr>
              <a:spcBef>
                <a:spcPts val="600"/>
              </a:spcBef>
              <a:spcAft>
                <a:spcPts val="1200"/>
              </a:spcAft>
            </a:pPr>
            <a:r>
              <a:rPr lang="en-AU" sz="2200" dirty="0" smtClean="0">
                <a:ea typeface="Times New Roman"/>
                <a:cs typeface="HelveticaNeueLTStd-Lt"/>
              </a:rPr>
              <a:t>They </a:t>
            </a:r>
            <a:r>
              <a:rPr lang="en-AU" sz="2200" dirty="0">
                <a:ea typeface="Times New Roman"/>
                <a:cs typeface="HelveticaNeueLTStd-Lt"/>
              </a:rPr>
              <a:t>tells </a:t>
            </a:r>
            <a:r>
              <a:rPr lang="en-AU" sz="2200" dirty="0" smtClean="0">
                <a:ea typeface="Times New Roman"/>
                <a:cs typeface="HelveticaNeueLTStd-Lt"/>
              </a:rPr>
              <a:t>us</a:t>
            </a:r>
            <a:r>
              <a:rPr lang="en-AU" sz="2200" dirty="0" smtClean="0">
                <a:ea typeface="Times New Roman"/>
                <a:cs typeface="Times New Roman"/>
              </a:rPr>
              <a:t> </a:t>
            </a:r>
            <a:r>
              <a:rPr lang="en-AU" sz="2200" dirty="0" smtClean="0">
                <a:ea typeface="Times New Roman"/>
                <a:cs typeface="HelveticaNeueLTStd-Lt"/>
              </a:rPr>
              <a:t>how </a:t>
            </a:r>
            <a:r>
              <a:rPr lang="en-AU" sz="2200" dirty="0">
                <a:ea typeface="Times New Roman"/>
                <a:cs typeface="HelveticaNeueLTStd-Lt"/>
              </a:rPr>
              <a:t>much of the funds in our organisation come from debt and borrowing, and how </a:t>
            </a:r>
            <a:r>
              <a:rPr lang="en-AU" sz="2200" dirty="0" smtClean="0">
                <a:ea typeface="Times New Roman"/>
                <a:cs typeface="HelveticaNeueLTStd-Lt"/>
              </a:rPr>
              <a:t>much</a:t>
            </a:r>
            <a:r>
              <a:rPr lang="en-AU" sz="2200" dirty="0" smtClean="0">
                <a:ea typeface="Times New Roman"/>
                <a:cs typeface="Times New Roman"/>
              </a:rPr>
              <a:t> </a:t>
            </a:r>
            <a:r>
              <a:rPr lang="en-AU" sz="2200" dirty="0" smtClean="0">
                <a:ea typeface="Times New Roman"/>
                <a:cs typeface="HelveticaNeueLTStd-Lt"/>
              </a:rPr>
              <a:t>is </a:t>
            </a:r>
            <a:r>
              <a:rPr lang="en-AU" sz="2200" dirty="0">
                <a:ea typeface="Times New Roman"/>
                <a:cs typeface="HelveticaNeueLTStd-Lt"/>
              </a:rPr>
              <a:t>contributed by owners</a:t>
            </a:r>
            <a:r>
              <a:rPr lang="en-US" sz="2200" dirty="0">
                <a:ea typeface="Times New Roman"/>
                <a:cs typeface="HelveticaNeueLTStd-Lt"/>
              </a:rPr>
              <a:t> or </a:t>
            </a:r>
            <a:r>
              <a:rPr lang="en-AU" sz="2200" dirty="0">
                <a:ea typeface="Times New Roman"/>
                <a:cs typeface="HelveticaNeueLTStd-Lt"/>
              </a:rPr>
              <a:t>shareholders</a:t>
            </a:r>
            <a:endParaRPr lang="en-AU" sz="2200" dirty="0"/>
          </a:p>
        </p:txBody>
      </p:sp>
      <p:sp>
        <p:nvSpPr>
          <p:cNvPr id="6"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47</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420863071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98637"/>
            <a:ext cx="7848600" cy="4525963"/>
          </a:xfrm>
        </p:spPr>
        <p:txBody>
          <a:bodyPr>
            <a:normAutofit lnSpcReduction="10000"/>
          </a:bodyPr>
          <a:lstStyle/>
          <a:p>
            <a:pPr>
              <a:spcBef>
                <a:spcPts val="600"/>
              </a:spcBef>
              <a:spcAft>
                <a:spcPts val="1200"/>
              </a:spcAft>
            </a:pPr>
            <a:r>
              <a:rPr lang="en-AU" sz="2200" dirty="0">
                <a:solidFill>
                  <a:srgbClr val="000000"/>
                </a:solidFill>
                <a:ea typeface="Times New Roman"/>
                <a:cs typeface="HelveticaNeueLTStd-Lt"/>
              </a:rPr>
              <a:t>Two formulas used are:</a:t>
            </a:r>
            <a:endParaRPr lang="en-AU" sz="2200" dirty="0">
              <a:ea typeface="Times New Roman"/>
              <a:cs typeface="Times New Roman"/>
            </a:endParaRPr>
          </a:p>
          <a:p>
            <a:pPr marL="36576" indent="0">
              <a:spcBef>
                <a:spcPts val="600"/>
              </a:spcBef>
              <a:spcAft>
                <a:spcPts val="1200"/>
              </a:spcAft>
              <a:buNone/>
            </a:pPr>
            <a:r>
              <a:rPr lang="en-US" sz="2200" dirty="0">
                <a:solidFill>
                  <a:srgbClr val="000000"/>
                </a:solidFill>
                <a:ea typeface="Times New Roman"/>
                <a:cs typeface="HelveticaNeueLTStd-Lt"/>
              </a:rPr>
              <a:t> </a:t>
            </a:r>
            <a:endParaRPr lang="en-AU" sz="2200" dirty="0">
              <a:ea typeface="Times New Roman"/>
              <a:cs typeface="Times New Roman"/>
            </a:endParaRPr>
          </a:p>
          <a:p>
            <a:pPr marL="36576" indent="0">
              <a:spcBef>
                <a:spcPts val="600"/>
              </a:spcBef>
              <a:spcAft>
                <a:spcPts val="1200"/>
              </a:spcAft>
              <a:buNone/>
            </a:pPr>
            <a:r>
              <a:rPr lang="en-AU" sz="2200" b="1" dirty="0">
                <a:solidFill>
                  <a:srgbClr val="000000"/>
                </a:solidFill>
                <a:ea typeface="Times New Roman"/>
                <a:cs typeface="HelveticaNeueLTStd-BdCn"/>
              </a:rPr>
              <a:t>Debt to equity </a:t>
            </a:r>
            <a:r>
              <a:rPr lang="en-AU" sz="2200" b="1" dirty="0" smtClean="0">
                <a:solidFill>
                  <a:srgbClr val="000000"/>
                </a:solidFill>
                <a:ea typeface="Times New Roman"/>
                <a:cs typeface="HelveticaNeueLTStd-BdCn"/>
              </a:rPr>
              <a:t>ratio</a:t>
            </a:r>
            <a:endParaRPr lang="en-AU" sz="2200" dirty="0">
              <a:ea typeface="Times New Roman"/>
              <a:cs typeface="Times New Roman"/>
            </a:endParaRPr>
          </a:p>
          <a:p>
            <a:pPr marL="36576" indent="0" algn="ctr">
              <a:spcBef>
                <a:spcPts val="600"/>
              </a:spcBef>
              <a:spcAft>
                <a:spcPts val="1200"/>
              </a:spcAft>
              <a:buNone/>
            </a:pPr>
            <a:r>
              <a:rPr lang="en-AU" sz="2200" dirty="0" smtClean="0">
                <a:solidFill>
                  <a:srgbClr val="000000"/>
                </a:solidFill>
                <a:ea typeface="Times New Roman"/>
                <a:cs typeface="HelveticaNeueLTStd-Lt"/>
              </a:rPr>
              <a:t>         </a:t>
            </a:r>
            <a:r>
              <a:rPr lang="en-AU" sz="2200" u="sng" dirty="0" smtClean="0">
                <a:solidFill>
                  <a:srgbClr val="000000"/>
                </a:solidFill>
                <a:ea typeface="Times New Roman"/>
                <a:cs typeface="HelveticaNeueLTStd-Lt"/>
              </a:rPr>
              <a:t>Total </a:t>
            </a:r>
            <a:r>
              <a:rPr lang="en-AU" sz="2200" u="sng" dirty="0">
                <a:solidFill>
                  <a:srgbClr val="000000"/>
                </a:solidFill>
                <a:ea typeface="Times New Roman"/>
                <a:cs typeface="HelveticaNeueLTStd-Lt"/>
              </a:rPr>
              <a:t>Liabilities</a:t>
            </a:r>
            <a:r>
              <a:rPr lang="en-AU" sz="2200" dirty="0">
                <a:solidFill>
                  <a:srgbClr val="000000"/>
                </a:solidFill>
                <a:ea typeface="Times New Roman"/>
                <a:cs typeface="HelveticaNeueLTStd-Lt"/>
              </a:rPr>
              <a:t> x 100</a:t>
            </a:r>
            <a:endParaRPr lang="en-AU" sz="2200" dirty="0">
              <a:ea typeface="Times New Roman"/>
              <a:cs typeface="Times New Roman"/>
            </a:endParaRPr>
          </a:p>
          <a:p>
            <a:pPr marL="36576" indent="0" algn="ctr">
              <a:spcBef>
                <a:spcPts val="600"/>
              </a:spcBef>
              <a:spcAft>
                <a:spcPts val="1200"/>
              </a:spcAft>
              <a:buNone/>
            </a:pPr>
            <a:r>
              <a:rPr lang="en-AU" sz="2200" dirty="0">
                <a:solidFill>
                  <a:srgbClr val="000000"/>
                </a:solidFill>
                <a:ea typeface="Times New Roman"/>
                <a:cs typeface="HelveticaNeueLTStd-Lt"/>
              </a:rPr>
              <a:t>Total </a:t>
            </a:r>
            <a:r>
              <a:rPr lang="en-AU" sz="2200" dirty="0" smtClean="0">
                <a:solidFill>
                  <a:srgbClr val="000000"/>
                </a:solidFill>
                <a:ea typeface="Times New Roman"/>
                <a:cs typeface="HelveticaNeueLTStd-Lt"/>
              </a:rPr>
              <a:t>Assets</a:t>
            </a:r>
          </a:p>
          <a:p>
            <a:pPr marL="36576" indent="0">
              <a:spcBef>
                <a:spcPts val="600"/>
              </a:spcBef>
              <a:spcAft>
                <a:spcPts val="1200"/>
              </a:spcAft>
              <a:buNone/>
            </a:pPr>
            <a:r>
              <a:rPr lang="en-AU" sz="2200" b="1" dirty="0" smtClean="0">
                <a:solidFill>
                  <a:srgbClr val="000000"/>
                </a:solidFill>
                <a:ea typeface="Times New Roman"/>
                <a:cs typeface="HelveticaNeueLTStd-BdCn"/>
              </a:rPr>
              <a:t>Proprietorship ratio</a:t>
            </a:r>
            <a:endParaRPr lang="en-AU" sz="2200" dirty="0">
              <a:ea typeface="Times New Roman"/>
              <a:cs typeface="Times New Roman"/>
            </a:endParaRPr>
          </a:p>
          <a:p>
            <a:pPr marL="36576" indent="0" algn="ctr">
              <a:spcBef>
                <a:spcPts val="600"/>
              </a:spcBef>
              <a:spcAft>
                <a:spcPts val="1200"/>
              </a:spcAft>
              <a:buNone/>
            </a:pPr>
            <a:r>
              <a:rPr lang="en-AU" sz="2200" u="sng" dirty="0">
                <a:solidFill>
                  <a:srgbClr val="000000"/>
                </a:solidFill>
                <a:ea typeface="Times New Roman"/>
                <a:cs typeface="HelveticaNeueLTStd-Lt"/>
              </a:rPr>
              <a:t>Owners Equity (Shareholders Funds)</a:t>
            </a:r>
            <a:r>
              <a:rPr lang="en-AU" sz="2200" dirty="0">
                <a:solidFill>
                  <a:srgbClr val="000000"/>
                </a:solidFill>
                <a:ea typeface="Times New Roman"/>
                <a:cs typeface="HelveticaNeueLTStd-Lt"/>
              </a:rPr>
              <a:t> x </a:t>
            </a:r>
            <a:r>
              <a:rPr lang="en-AU" sz="2200" dirty="0" smtClean="0">
                <a:solidFill>
                  <a:srgbClr val="000000"/>
                </a:solidFill>
                <a:ea typeface="Times New Roman"/>
                <a:cs typeface="HelveticaNeueLTStd-Lt"/>
              </a:rPr>
              <a:t>100</a:t>
            </a:r>
            <a:endParaRPr lang="en-AU" sz="2200" dirty="0" smtClean="0">
              <a:ea typeface="Times New Roman"/>
              <a:cs typeface="Times New Roman"/>
            </a:endParaRPr>
          </a:p>
          <a:p>
            <a:pPr marL="36576" indent="0" algn="ctr">
              <a:spcBef>
                <a:spcPts val="600"/>
              </a:spcBef>
              <a:spcAft>
                <a:spcPts val="1200"/>
              </a:spcAft>
              <a:buNone/>
            </a:pPr>
            <a:r>
              <a:rPr lang="en-AU" sz="2200" dirty="0" smtClean="0">
                <a:solidFill>
                  <a:srgbClr val="000000"/>
                </a:solidFill>
                <a:ea typeface="Times New Roman"/>
                <a:cs typeface="HelveticaNeueLTStd-Lt"/>
              </a:rPr>
              <a:t>Total Funds or Total Assets</a:t>
            </a:r>
            <a:endParaRPr lang="en-AU" sz="2200" dirty="0" smtClean="0">
              <a:ea typeface="Times New Roman"/>
              <a:cs typeface="Times New Roman"/>
            </a:endParaRPr>
          </a:p>
          <a:p>
            <a:pPr>
              <a:spcBef>
                <a:spcPts val="600"/>
              </a:spcBef>
              <a:spcAft>
                <a:spcPts val="1200"/>
              </a:spcAft>
            </a:pPr>
            <a:endParaRPr lang="en-AU" sz="2200" dirty="0"/>
          </a:p>
        </p:txBody>
      </p:sp>
      <p:sp>
        <p:nvSpPr>
          <p:cNvPr id="6" name="Title 1"/>
          <p:cNvSpPr>
            <a:spLocks noGrp="1"/>
          </p:cNvSpPr>
          <p:nvPr>
            <p:ph type="title"/>
          </p:nvPr>
        </p:nvSpPr>
        <p:spPr>
          <a:xfrm>
            <a:off x="611560" y="332656"/>
            <a:ext cx="7467600" cy="1143000"/>
          </a:xfrm>
        </p:spPr>
        <p:txBody>
          <a:bodyPr>
            <a:noAutofit/>
          </a:bodyPr>
          <a:lstStyle/>
          <a:p>
            <a:pPr indent="-457200"/>
            <a:r>
              <a:rPr lang="en-AU" sz="2900" b="1" dirty="0">
                <a:solidFill>
                  <a:srgbClr val="FF6600"/>
                </a:solidFill>
              </a:rPr>
              <a:t>1.4	Implement and control financial </a:t>
            </a:r>
            <a:r>
              <a:rPr lang="en-AU" sz="2900" b="1" dirty="0" smtClean="0">
                <a:solidFill>
                  <a:srgbClr val="FF6600"/>
                </a:solidFill>
              </a:rPr>
              <a:t>	systems </a:t>
            </a:r>
            <a:r>
              <a:rPr lang="en-AU" sz="2900" b="1" dirty="0">
                <a:solidFill>
                  <a:srgbClr val="FF6600"/>
                </a:solidFill>
              </a:rPr>
              <a:t>in accordance with </a:t>
            </a:r>
            <a:r>
              <a:rPr lang="en-AU" sz="2900" b="1" dirty="0" smtClean="0">
                <a:solidFill>
                  <a:srgbClr val="FF6600"/>
                </a:solidFill>
              </a:rPr>
              <a:t>	enterprise </a:t>
            </a:r>
            <a:r>
              <a:rPr lang="en-AU" sz="2900" b="1" dirty="0">
                <a:solidFill>
                  <a:srgbClr val="FF6600"/>
                </a:solidFill>
              </a:rPr>
              <a:t>procedures</a:t>
            </a:r>
            <a:endParaRPr lang="en-US" sz="2900" b="1" dirty="0">
              <a:solidFill>
                <a:srgbClr val="FF6600"/>
              </a:solidFill>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48</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420863071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305800" cy="1143000"/>
          </a:xfrm>
        </p:spPr>
        <p:txBody>
          <a:bodyPr>
            <a:noAutofit/>
          </a:bodyPr>
          <a:lstStyle/>
          <a:p>
            <a:pPr indent="-457200"/>
            <a:r>
              <a:rPr lang="en-AU" sz="2900" b="1" dirty="0">
                <a:solidFill>
                  <a:srgbClr val="FF6600"/>
                </a:solidFill>
              </a:rPr>
              <a:t>1.5	Monitor financial systems and provide </a:t>
            </a:r>
            <a:r>
              <a:rPr lang="en-AU" sz="2900" b="1" dirty="0" smtClean="0">
                <a:solidFill>
                  <a:srgbClr val="FF6600"/>
                </a:solidFill>
              </a:rPr>
              <a:t>	input </a:t>
            </a:r>
            <a:r>
              <a:rPr lang="en-AU" sz="2900" b="1" dirty="0">
                <a:solidFill>
                  <a:srgbClr val="FF6600"/>
                </a:solidFill>
              </a:rPr>
              <a:t>on possible improvements to </a:t>
            </a:r>
            <a:r>
              <a:rPr lang="en-AU" sz="2900" b="1" dirty="0" smtClean="0">
                <a:solidFill>
                  <a:srgbClr val="FF6600"/>
                </a:solidFill>
              </a:rPr>
              <a:t>	appropriate </a:t>
            </a:r>
            <a:r>
              <a:rPr lang="en-AU" sz="2900" b="1" dirty="0">
                <a:solidFill>
                  <a:srgbClr val="FF6600"/>
                </a:solidFill>
              </a:rPr>
              <a:t>personnel</a:t>
            </a:r>
            <a:endParaRPr lang="en-US" sz="2900" b="1" dirty="0">
              <a:solidFill>
                <a:srgbClr val="FF6600"/>
              </a:solidFill>
            </a:endParaRPr>
          </a:p>
        </p:txBody>
      </p:sp>
      <p:sp>
        <p:nvSpPr>
          <p:cNvPr id="3" name="Content Placeholder 2"/>
          <p:cNvSpPr>
            <a:spLocks noGrp="1"/>
          </p:cNvSpPr>
          <p:nvPr>
            <p:ph idx="1"/>
          </p:nvPr>
        </p:nvSpPr>
        <p:spPr>
          <a:xfrm>
            <a:off x="457200" y="1828800"/>
            <a:ext cx="7772400" cy="4525963"/>
          </a:xfrm>
        </p:spPr>
        <p:txBody>
          <a:bodyPr>
            <a:normAutofit/>
          </a:bodyPr>
          <a:lstStyle/>
          <a:p>
            <a:pPr marL="0" indent="0">
              <a:spcBef>
                <a:spcPts val="600"/>
              </a:spcBef>
              <a:spcAft>
                <a:spcPts val="1200"/>
              </a:spcAft>
              <a:buClr>
                <a:schemeClr val="accent1">
                  <a:lumMod val="75000"/>
                </a:schemeClr>
              </a:buClr>
              <a:buSzPct val="100000"/>
              <a:buNone/>
            </a:pPr>
            <a:r>
              <a:rPr lang="en-AU" sz="2200" dirty="0" smtClean="0">
                <a:latin typeface="Helvetica" pitchFamily="34" charset="0"/>
                <a:ea typeface="Times New Roman"/>
                <a:cs typeface="Times New Roman"/>
              </a:rPr>
              <a:t>We need </a:t>
            </a:r>
            <a:r>
              <a:rPr lang="en-AU" sz="2200" dirty="0">
                <a:latin typeface="Helvetica" pitchFamily="34" charset="0"/>
                <a:ea typeface="Times New Roman"/>
                <a:cs typeface="Times New Roman"/>
              </a:rPr>
              <a:t>to monitor the financial systems themselves to ensure that not only do the systems in place provide accurate data but the information produced is able to meet the needs and requirements of both internal and external stakeholders</a:t>
            </a:r>
            <a:r>
              <a:rPr lang="en-AU" sz="2200" dirty="0" smtClean="0">
                <a:latin typeface="Helvetica" pitchFamily="34" charset="0"/>
                <a:ea typeface="Times New Roman"/>
                <a:cs typeface="Times New Roman"/>
              </a:rPr>
              <a:t>.</a:t>
            </a:r>
          </a:p>
          <a:p>
            <a:pPr marL="360000" lvl="0" indent="-360000">
              <a:spcBef>
                <a:spcPts val="600"/>
              </a:spcBef>
              <a:spcAft>
                <a:spcPts val="1200"/>
              </a:spcAft>
              <a:buClr>
                <a:srgbClr val="7FD13B"/>
              </a:buClr>
            </a:pPr>
            <a:r>
              <a:rPr lang="en-AU" sz="2200" dirty="0" smtClean="0">
                <a:latin typeface="Helvetica" pitchFamily="34" charset="0"/>
                <a:cs typeface="Times New Roman"/>
              </a:rPr>
              <a:t>Importance </a:t>
            </a:r>
            <a:r>
              <a:rPr lang="en-AU" sz="2200" dirty="0">
                <a:latin typeface="Helvetica" pitchFamily="34" charset="0"/>
                <a:cs typeface="Times New Roman"/>
              </a:rPr>
              <a:t>of monitoring financial systems</a:t>
            </a:r>
            <a:endParaRPr lang="en-US" sz="2200" dirty="0">
              <a:latin typeface="Helvetica" pitchFamily="34" charset="0"/>
            </a:endParaRPr>
          </a:p>
          <a:p>
            <a:pPr marL="396000" indent="-396000">
              <a:spcBef>
                <a:spcPts val="600"/>
              </a:spcBef>
              <a:spcAft>
                <a:spcPts val="1200"/>
              </a:spcAft>
            </a:pPr>
            <a:r>
              <a:rPr lang="en-AU" sz="2200" dirty="0" smtClean="0">
                <a:latin typeface="Helvetica"/>
                <a:ea typeface="Times New Roman"/>
                <a:cs typeface="Times New Roman"/>
              </a:rPr>
              <a:t>Stakeholders involved in managing financial </a:t>
            </a:r>
            <a:br>
              <a:rPr lang="en-AU" sz="2200" dirty="0" smtClean="0">
                <a:latin typeface="Helvetica"/>
                <a:ea typeface="Times New Roman"/>
                <a:cs typeface="Times New Roman"/>
              </a:rPr>
            </a:br>
            <a:r>
              <a:rPr lang="en-AU" sz="2200" dirty="0" smtClean="0">
                <a:latin typeface="Helvetica"/>
                <a:ea typeface="Times New Roman"/>
                <a:cs typeface="Times New Roman"/>
              </a:rPr>
              <a:t>systems</a:t>
            </a:r>
          </a:p>
          <a:p>
            <a:pPr marL="360000" indent="0">
              <a:spcBef>
                <a:spcPts val="600"/>
              </a:spcBef>
              <a:spcAft>
                <a:spcPts val="1200"/>
              </a:spcAft>
              <a:buClr>
                <a:schemeClr val="accent1">
                  <a:lumMod val="75000"/>
                </a:schemeClr>
              </a:buClr>
              <a:buSzPct val="100000"/>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5" name="Picture 4" descr="kh.jpg"/>
          <p:cNvPicPr/>
          <p:nvPr/>
        </p:nvPicPr>
        <p:blipFill>
          <a:blip r:embed="rId3" cstate="print"/>
          <a:stretch>
            <a:fillRect/>
          </a:stretch>
        </p:blipFill>
        <p:spPr>
          <a:xfrm>
            <a:off x="7391400" y="4495800"/>
            <a:ext cx="1123950" cy="1916590"/>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305800" cy="1143000"/>
          </a:xfrm>
        </p:spPr>
        <p:txBody>
          <a:bodyPr>
            <a:noAutofit/>
          </a:bodyPr>
          <a:lstStyle/>
          <a:p>
            <a:pPr indent="-457200"/>
            <a:r>
              <a:rPr lang="en-AU" sz="2900" b="1" dirty="0">
                <a:solidFill>
                  <a:srgbClr val="FF6600"/>
                </a:solidFill>
              </a:rPr>
              <a:t>1.5	Monitor financial systems and provide </a:t>
            </a:r>
            <a:r>
              <a:rPr lang="en-AU" sz="2900" b="1" dirty="0" smtClean="0">
                <a:solidFill>
                  <a:srgbClr val="FF6600"/>
                </a:solidFill>
              </a:rPr>
              <a:t>	input </a:t>
            </a:r>
            <a:r>
              <a:rPr lang="en-AU" sz="2900" b="1" dirty="0">
                <a:solidFill>
                  <a:srgbClr val="FF6600"/>
                </a:solidFill>
              </a:rPr>
              <a:t>on possible improvements to </a:t>
            </a:r>
            <a:r>
              <a:rPr lang="en-AU" sz="2900" b="1" dirty="0" smtClean="0">
                <a:solidFill>
                  <a:srgbClr val="FF6600"/>
                </a:solidFill>
              </a:rPr>
              <a:t>	appropriate </a:t>
            </a:r>
            <a:r>
              <a:rPr lang="en-AU" sz="2900" b="1" dirty="0">
                <a:solidFill>
                  <a:srgbClr val="FF6600"/>
                </a:solidFill>
              </a:rPr>
              <a:t>personnel</a:t>
            </a:r>
            <a:endParaRPr lang="en-US" sz="2900" b="1" dirty="0">
              <a:solidFill>
                <a:srgbClr val="FF6600"/>
              </a:solidFill>
            </a:endParaRPr>
          </a:p>
        </p:txBody>
      </p:sp>
      <p:sp>
        <p:nvSpPr>
          <p:cNvPr id="3" name="Content Placeholder 2"/>
          <p:cNvSpPr>
            <a:spLocks noGrp="1"/>
          </p:cNvSpPr>
          <p:nvPr>
            <p:ph idx="1"/>
          </p:nvPr>
        </p:nvSpPr>
        <p:spPr>
          <a:xfrm>
            <a:off x="611560" y="1752600"/>
            <a:ext cx="6932240" cy="4572000"/>
          </a:xfrm>
        </p:spPr>
        <p:txBody>
          <a:bodyPr>
            <a:noAutofit/>
          </a:bodyPr>
          <a:lstStyle/>
          <a:p>
            <a:pPr marL="0" indent="0">
              <a:spcBef>
                <a:spcPts val="600"/>
              </a:spcBef>
              <a:spcAft>
                <a:spcPts val="900"/>
              </a:spcAft>
              <a:buNone/>
            </a:pPr>
            <a:r>
              <a:rPr lang="en-AU" sz="2100" b="1" dirty="0" smtClean="0">
                <a:latin typeface="Helvetica"/>
                <a:ea typeface="Times New Roman"/>
                <a:cs typeface="Times New Roman"/>
              </a:rPr>
              <a:t>Conducting </a:t>
            </a:r>
            <a:r>
              <a:rPr lang="en-AU" sz="2100" b="1" dirty="0">
                <a:latin typeface="Helvetica"/>
                <a:ea typeface="Times New Roman"/>
                <a:cs typeface="Times New Roman"/>
              </a:rPr>
              <a:t>internal </a:t>
            </a:r>
            <a:r>
              <a:rPr lang="en-AU" sz="2100" b="1" dirty="0" smtClean="0">
                <a:latin typeface="Helvetica"/>
                <a:ea typeface="Times New Roman"/>
                <a:cs typeface="Times New Roman"/>
              </a:rPr>
              <a:t>audits</a:t>
            </a:r>
          </a:p>
          <a:p>
            <a:pPr marL="396000" indent="-396000">
              <a:spcBef>
                <a:spcPts val="600"/>
              </a:spcBef>
              <a:spcAft>
                <a:spcPts val="900"/>
              </a:spcAft>
            </a:pPr>
            <a:r>
              <a:rPr lang="en-AU" sz="2100" dirty="0" smtClean="0">
                <a:latin typeface="Helvetica" pitchFamily="34" charset="0"/>
                <a:ea typeface="Times New Roman"/>
                <a:cs typeface="Times New Roman"/>
              </a:rPr>
              <a:t>Management </a:t>
            </a:r>
            <a:r>
              <a:rPr lang="en-AU" sz="2100" dirty="0">
                <a:latin typeface="Helvetica" pitchFamily="34" charset="0"/>
                <a:ea typeface="Times New Roman"/>
                <a:cs typeface="Times New Roman"/>
              </a:rPr>
              <a:t>meeting </a:t>
            </a:r>
            <a:endParaRPr lang="en-AU" sz="2100" i="1" dirty="0">
              <a:latin typeface="Helvetica" pitchFamily="34" charset="0"/>
              <a:ea typeface="Times New Roman"/>
              <a:cs typeface="Times New Roman"/>
            </a:endParaRPr>
          </a:p>
          <a:p>
            <a:pPr marL="697752" lvl="1" indent="-396000">
              <a:spcBef>
                <a:spcPts val="600"/>
              </a:spcBef>
              <a:spcAft>
                <a:spcPts val="900"/>
              </a:spcAft>
            </a:pPr>
            <a:r>
              <a:rPr lang="en-AU" sz="2100" dirty="0" smtClean="0">
                <a:latin typeface="Helvetica" pitchFamily="34" charset="0"/>
                <a:ea typeface="Times New Roman"/>
                <a:cs typeface="Times New Roman"/>
              </a:rPr>
              <a:t>Management </a:t>
            </a:r>
            <a:r>
              <a:rPr lang="en-AU" sz="2100" dirty="0">
                <a:latin typeface="Helvetica" pitchFamily="34" charset="0"/>
                <a:ea typeface="Times New Roman"/>
                <a:cs typeface="Times New Roman"/>
              </a:rPr>
              <a:t>and internal auditor personnel meet to confirm the scope, timelines and other requirements for the </a:t>
            </a:r>
            <a:r>
              <a:rPr lang="en-AU" sz="2100" dirty="0" smtClean="0">
                <a:latin typeface="Helvetica" pitchFamily="34" charset="0"/>
                <a:ea typeface="Times New Roman"/>
                <a:cs typeface="Times New Roman"/>
              </a:rPr>
              <a:t>audit</a:t>
            </a:r>
          </a:p>
          <a:p>
            <a:pPr marL="396000" indent="-396000">
              <a:spcBef>
                <a:spcPts val="600"/>
              </a:spcBef>
              <a:spcAft>
                <a:spcPts val="900"/>
              </a:spcAft>
            </a:pPr>
            <a:r>
              <a:rPr lang="en-AU" sz="2100" dirty="0" smtClean="0">
                <a:latin typeface="Helvetica" pitchFamily="34" charset="0"/>
                <a:ea typeface="Times New Roman"/>
                <a:cs typeface="Times New Roman"/>
              </a:rPr>
              <a:t>Identify </a:t>
            </a:r>
            <a:r>
              <a:rPr lang="en-AU" sz="2100" dirty="0">
                <a:latin typeface="Helvetica" pitchFamily="34" charset="0"/>
                <a:ea typeface="Times New Roman"/>
                <a:cs typeface="Times New Roman"/>
              </a:rPr>
              <a:t>internal </a:t>
            </a:r>
            <a:r>
              <a:rPr lang="en-AU" sz="2100" dirty="0" smtClean="0">
                <a:latin typeface="Helvetica" pitchFamily="34" charset="0"/>
                <a:ea typeface="Times New Roman"/>
                <a:cs typeface="Times New Roman"/>
              </a:rPr>
              <a:t>controls</a:t>
            </a:r>
          </a:p>
          <a:p>
            <a:pPr marL="697752" lvl="1" indent="-396000">
              <a:spcBef>
                <a:spcPts val="600"/>
              </a:spcBef>
              <a:spcAft>
                <a:spcPts val="900"/>
              </a:spcAft>
            </a:pPr>
            <a:r>
              <a:rPr lang="en-AU" sz="2100" dirty="0">
                <a:latin typeface="Helvetica" pitchFamily="34" charset="0"/>
                <a:ea typeface="Times New Roman"/>
                <a:cs typeface="Times New Roman"/>
              </a:rPr>
              <a:t>A</a:t>
            </a:r>
            <a:r>
              <a:rPr lang="en-AU" sz="2100" dirty="0" smtClean="0">
                <a:latin typeface="Helvetica" pitchFamily="34" charset="0"/>
                <a:ea typeface="Times New Roman"/>
                <a:cs typeface="Times New Roman"/>
              </a:rPr>
              <a:t>udit </a:t>
            </a:r>
            <a:r>
              <a:rPr lang="en-AU" sz="2100" dirty="0">
                <a:latin typeface="Helvetica" pitchFamily="34" charset="0"/>
                <a:ea typeface="Times New Roman"/>
                <a:cs typeface="Times New Roman"/>
              </a:rPr>
              <a:t>personnel refer to the policy and procedures manual that details all the internal control measures management have </a:t>
            </a:r>
            <a:r>
              <a:rPr lang="en-AU" sz="2100" dirty="0" smtClean="0">
                <a:latin typeface="Helvetica" pitchFamily="34" charset="0"/>
                <a:ea typeface="Times New Roman"/>
                <a:cs typeface="Times New Roman"/>
              </a:rPr>
              <a:t>implemented</a:t>
            </a:r>
          </a:p>
          <a:p>
            <a:pPr marL="697752" lvl="1" indent="-396000">
              <a:spcBef>
                <a:spcPts val="600"/>
              </a:spcBef>
              <a:spcAft>
                <a:spcPts val="900"/>
              </a:spcAft>
            </a:pPr>
            <a:r>
              <a:rPr lang="en-AU" sz="2100" dirty="0" smtClean="0">
                <a:latin typeface="Helvetica"/>
                <a:ea typeface="Calibri"/>
                <a:cs typeface="Calibri"/>
              </a:rPr>
              <a:t>The </a:t>
            </a:r>
            <a:r>
              <a:rPr lang="en-AU" sz="2100" dirty="0">
                <a:latin typeface="Helvetica"/>
                <a:ea typeface="Calibri"/>
                <a:cs typeface="Calibri"/>
              </a:rPr>
              <a:t>systems and procedures that are to be evaluated are reviewed, discussed and the audit plan </a:t>
            </a:r>
            <a:r>
              <a:rPr lang="en-AU" sz="2100" dirty="0" smtClean="0">
                <a:latin typeface="Helvetica"/>
                <a:ea typeface="Calibri"/>
                <a:cs typeface="Calibri"/>
              </a:rPr>
              <a:t>finalised</a:t>
            </a:r>
            <a:endParaRPr lang="en-AU" sz="2100" dirty="0">
              <a:latin typeface="Helvetica"/>
              <a:ea typeface="Calibri"/>
              <a:cs typeface="Calibri"/>
            </a:endParaRPr>
          </a:p>
          <a:p>
            <a:pPr marL="697752" lvl="1" indent="-396000">
              <a:spcBef>
                <a:spcPts val="600"/>
              </a:spcBef>
              <a:spcAft>
                <a:spcPts val="900"/>
              </a:spcAft>
            </a:pPr>
            <a:endParaRPr lang="en-AU" sz="2100" dirty="0" smtClean="0">
              <a:latin typeface="Helvetica" pitchFamily="34" charset="0"/>
              <a:ea typeface="Times New Roman"/>
              <a:cs typeface="Times New Roman"/>
            </a:endParaRPr>
          </a:p>
          <a:p>
            <a:pPr>
              <a:spcBef>
                <a:spcPts val="600"/>
              </a:spcBef>
              <a:spcAft>
                <a:spcPts val="900"/>
              </a:spcAft>
            </a:pPr>
            <a:endParaRPr lang="en-AU" sz="2100" i="1" dirty="0">
              <a:latin typeface="Helvetica"/>
              <a:ea typeface="Times New Roman"/>
              <a:cs typeface="Times New Roman"/>
            </a:endParaRPr>
          </a:p>
          <a:p>
            <a:pPr lvl="1">
              <a:spcBef>
                <a:spcPts val="600"/>
              </a:spcBef>
              <a:spcAft>
                <a:spcPts val="900"/>
              </a:spcAft>
            </a:pPr>
            <a:endParaRPr lang="en-AU" sz="2100" i="1" dirty="0">
              <a:latin typeface="Helvetica" pitchFamily="34" charset="0"/>
              <a:ea typeface="Times New Roman"/>
              <a:cs typeface="Times New Roman"/>
            </a:endParaRPr>
          </a:p>
          <a:p>
            <a:pPr lvl="1">
              <a:spcBef>
                <a:spcPts val="600"/>
              </a:spcBef>
              <a:spcAft>
                <a:spcPts val="900"/>
              </a:spcAft>
            </a:pPr>
            <a:endParaRPr lang="en-AU" sz="2100" dirty="0">
              <a:latin typeface="Helvetica"/>
              <a:ea typeface="Times New Roman"/>
              <a:cs typeface="Times New Roman"/>
            </a:endParaRPr>
          </a:p>
          <a:p>
            <a:pPr marL="360000" indent="0">
              <a:spcBef>
                <a:spcPts val="600"/>
              </a:spcBef>
              <a:spcAft>
                <a:spcPts val="900"/>
              </a:spcAft>
              <a:buClr>
                <a:schemeClr val="accent1">
                  <a:lumMod val="75000"/>
                </a:schemeClr>
              </a:buClr>
              <a:buSzPct val="100000"/>
              <a:buNone/>
            </a:pPr>
            <a:endParaRPr lang="en-US" sz="2100" dirty="0" smtClean="0">
              <a:latin typeface="Helvetica" pitchFamily="34" charset="0"/>
            </a:endParaRPr>
          </a:p>
          <a:p>
            <a:pPr marL="360000" indent="-360000">
              <a:spcBef>
                <a:spcPts val="600"/>
              </a:spcBef>
              <a:spcAft>
                <a:spcPts val="9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50</a:t>
            </a:fld>
            <a:endParaRPr lang="en-US" dirty="0">
              <a:solidFill>
                <a:srgbClr val="4E5B6F">
                  <a:shade val="50000"/>
                </a:srgbClr>
              </a:solidFill>
              <a:latin typeface="Helvetica" pitchFamily="34" charset="0"/>
            </a:endParaRPr>
          </a:p>
        </p:txBody>
      </p:sp>
      <p:pic>
        <p:nvPicPr>
          <p:cNvPr id="5" name="Picture 4" descr="A20 shutterstock_182023328.jpg"/>
          <p:cNvPicPr/>
          <p:nvPr/>
        </p:nvPicPr>
        <p:blipFill>
          <a:blip r:embed="rId3" cstate="print"/>
          <a:stretch>
            <a:fillRect/>
          </a:stretch>
        </p:blipFill>
        <p:spPr>
          <a:xfrm>
            <a:off x="7543800" y="3505200"/>
            <a:ext cx="1346437" cy="1265785"/>
          </a:xfrm>
          <a:prstGeom prst="rect">
            <a:avLst/>
          </a:prstGeom>
        </p:spPr>
      </p:pic>
    </p:spTree>
    <p:extLst>
      <p:ext uri="{BB962C8B-B14F-4D97-AF65-F5344CB8AC3E}">
        <p14:creationId xmlns:p14="http://schemas.microsoft.com/office/powerpoint/2010/main" val="303357655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05800" cy="1295400"/>
          </a:xfrm>
        </p:spPr>
        <p:txBody>
          <a:bodyPr>
            <a:noAutofit/>
          </a:bodyPr>
          <a:lstStyle/>
          <a:p>
            <a:pPr indent="-457200"/>
            <a:r>
              <a:rPr lang="en-AU" sz="2900" b="1" dirty="0">
                <a:solidFill>
                  <a:srgbClr val="FF6600"/>
                </a:solidFill>
              </a:rPr>
              <a:t>1.5	Monitor financial systems and provide </a:t>
            </a:r>
            <a:r>
              <a:rPr lang="en-AU" sz="2900" b="1" dirty="0" smtClean="0">
                <a:solidFill>
                  <a:srgbClr val="FF6600"/>
                </a:solidFill>
              </a:rPr>
              <a:t>	input </a:t>
            </a:r>
            <a:r>
              <a:rPr lang="en-AU" sz="2900" b="1" dirty="0">
                <a:solidFill>
                  <a:srgbClr val="FF6600"/>
                </a:solidFill>
              </a:rPr>
              <a:t>on possible improvements to </a:t>
            </a:r>
            <a:r>
              <a:rPr lang="en-AU" sz="2900" b="1" dirty="0" smtClean="0">
                <a:solidFill>
                  <a:srgbClr val="FF6600"/>
                </a:solidFill>
              </a:rPr>
              <a:t>	appropriate </a:t>
            </a:r>
            <a:r>
              <a:rPr lang="en-AU" sz="2900" b="1" dirty="0">
                <a:solidFill>
                  <a:srgbClr val="FF6600"/>
                </a:solidFill>
              </a:rPr>
              <a:t>personnel</a:t>
            </a:r>
            <a:endParaRPr lang="en-US" sz="2900" b="1" dirty="0">
              <a:solidFill>
                <a:srgbClr val="FF6600"/>
              </a:solidFill>
            </a:endParaRPr>
          </a:p>
        </p:txBody>
      </p:sp>
      <p:sp>
        <p:nvSpPr>
          <p:cNvPr id="3" name="Content Placeholder 2"/>
          <p:cNvSpPr>
            <a:spLocks noGrp="1"/>
          </p:cNvSpPr>
          <p:nvPr>
            <p:ph idx="1"/>
          </p:nvPr>
        </p:nvSpPr>
        <p:spPr>
          <a:xfrm>
            <a:off x="611560" y="1676400"/>
            <a:ext cx="6322640" cy="4953000"/>
          </a:xfrm>
        </p:spPr>
        <p:txBody>
          <a:bodyPr>
            <a:normAutofit/>
          </a:bodyPr>
          <a:lstStyle/>
          <a:p>
            <a:pPr lvl="0">
              <a:spcBef>
                <a:spcPts val="400"/>
              </a:spcBef>
              <a:spcAft>
                <a:spcPts val="600"/>
              </a:spcAft>
              <a:buClr>
                <a:srgbClr val="7FD13B"/>
              </a:buClr>
              <a:defRPr/>
            </a:pPr>
            <a:r>
              <a:rPr lang="en-AU" sz="2100" b="1" dirty="0" smtClean="0">
                <a:solidFill>
                  <a:prstClr val="black"/>
                </a:solidFill>
                <a:latin typeface="Helvetica"/>
                <a:ea typeface="Times New Roman"/>
                <a:cs typeface="Times New Roman"/>
              </a:rPr>
              <a:t>Evaluate </a:t>
            </a:r>
            <a:r>
              <a:rPr lang="en-AU" sz="2100" b="1" dirty="0">
                <a:solidFill>
                  <a:prstClr val="black"/>
                </a:solidFill>
                <a:latin typeface="Helvetica"/>
                <a:ea typeface="Times New Roman"/>
                <a:cs typeface="Times New Roman"/>
              </a:rPr>
              <a:t>internal controls</a:t>
            </a:r>
          </a:p>
          <a:p>
            <a:pPr lvl="1">
              <a:spcBef>
                <a:spcPts val="400"/>
              </a:spcBef>
              <a:spcAft>
                <a:spcPts val="600"/>
              </a:spcAft>
              <a:buClr>
                <a:srgbClr val="7FD13B"/>
              </a:buClr>
              <a:defRPr/>
            </a:pPr>
            <a:r>
              <a:rPr lang="en-AU" sz="2100" dirty="0">
                <a:solidFill>
                  <a:prstClr val="black"/>
                </a:solidFill>
                <a:latin typeface="Helvetica" pitchFamily="34" charset="0"/>
                <a:ea typeface="Times New Roman"/>
                <a:cs typeface="Times New Roman"/>
              </a:rPr>
              <a:t>Once the audit plan is established and agreed, auditors can begin the task of evaluating the internal controls</a:t>
            </a:r>
          </a:p>
          <a:p>
            <a:pPr lvl="0">
              <a:spcBef>
                <a:spcPts val="400"/>
              </a:spcBef>
              <a:spcAft>
                <a:spcPts val="600"/>
              </a:spcAft>
              <a:buClr>
                <a:srgbClr val="7FD13B"/>
              </a:buClr>
              <a:defRPr/>
            </a:pPr>
            <a:r>
              <a:rPr lang="en-AU" sz="2100" b="1" dirty="0">
                <a:solidFill>
                  <a:prstClr val="black"/>
                </a:solidFill>
                <a:latin typeface="Helvetica" pitchFamily="34" charset="0"/>
                <a:ea typeface="Calibri"/>
                <a:cs typeface="Calibri"/>
              </a:rPr>
              <a:t>Assess outcomes</a:t>
            </a:r>
          </a:p>
          <a:p>
            <a:pPr lvl="1">
              <a:spcBef>
                <a:spcPts val="600"/>
              </a:spcBef>
              <a:spcAft>
                <a:spcPts val="1200"/>
              </a:spcAft>
              <a:buClr>
                <a:srgbClr val="7FD13B"/>
              </a:buClr>
              <a:defRPr/>
            </a:pPr>
            <a:r>
              <a:rPr lang="en-AU" sz="2100" dirty="0">
                <a:solidFill>
                  <a:prstClr val="black"/>
                </a:solidFill>
                <a:latin typeface="Helvetica" pitchFamily="34" charset="0"/>
                <a:ea typeface="Times New Roman"/>
                <a:cs typeface="Times New Roman"/>
              </a:rPr>
              <a:t>If the auditors find that a procedure is not followed or documents are not used as detailed in the procedures manual, a record of the transaction and the details are </a:t>
            </a:r>
            <a:r>
              <a:rPr lang="en-AU" sz="2100" dirty="0" smtClean="0">
                <a:solidFill>
                  <a:prstClr val="black"/>
                </a:solidFill>
                <a:latin typeface="Helvetica" pitchFamily="34" charset="0"/>
                <a:ea typeface="Times New Roman"/>
                <a:cs typeface="Times New Roman"/>
              </a:rPr>
              <a:t>noted</a:t>
            </a:r>
          </a:p>
          <a:p>
            <a:pPr lvl="0">
              <a:spcBef>
                <a:spcPts val="400"/>
              </a:spcBef>
              <a:spcAft>
                <a:spcPts val="800"/>
              </a:spcAft>
              <a:buClr>
                <a:srgbClr val="7FD13B"/>
              </a:buClr>
              <a:defRPr/>
            </a:pPr>
            <a:r>
              <a:rPr lang="en-AU" sz="2100" b="1" dirty="0" smtClean="0">
                <a:solidFill>
                  <a:prstClr val="black"/>
                </a:solidFill>
                <a:latin typeface="Helvetica" pitchFamily="34" charset="0"/>
                <a:ea typeface="Times New Roman"/>
                <a:cs typeface="Times New Roman"/>
              </a:rPr>
              <a:t>Final </a:t>
            </a:r>
            <a:r>
              <a:rPr lang="en-AU" sz="2100" b="1" dirty="0">
                <a:solidFill>
                  <a:prstClr val="black"/>
                </a:solidFill>
                <a:latin typeface="Helvetica" pitchFamily="34" charset="0"/>
                <a:ea typeface="Times New Roman"/>
                <a:cs typeface="Times New Roman"/>
              </a:rPr>
              <a:t>evaluation</a:t>
            </a:r>
            <a:endParaRPr lang="en-AU" sz="2100" b="1" i="1" dirty="0">
              <a:solidFill>
                <a:prstClr val="black"/>
              </a:solidFill>
              <a:latin typeface="Helvetica" pitchFamily="34" charset="0"/>
              <a:ea typeface="Times New Roman"/>
              <a:cs typeface="Times New Roman"/>
            </a:endParaRPr>
          </a:p>
          <a:p>
            <a:pPr lvl="1">
              <a:spcBef>
                <a:spcPts val="400"/>
              </a:spcBef>
              <a:spcAft>
                <a:spcPts val="600"/>
              </a:spcAft>
              <a:buClr>
                <a:srgbClr val="7FD13B"/>
              </a:buClr>
              <a:defRPr/>
            </a:pPr>
            <a:r>
              <a:rPr lang="en-AU" sz="2100" dirty="0">
                <a:solidFill>
                  <a:prstClr val="black"/>
                </a:solidFill>
                <a:latin typeface="Helvetica" pitchFamily="34" charset="0"/>
                <a:ea typeface="Times New Roman"/>
                <a:cs typeface="Times New Roman"/>
              </a:rPr>
              <a:t>At the completion of the internal audit, an audit report is prepared for </a:t>
            </a:r>
            <a:r>
              <a:rPr lang="en-AU" sz="2100" dirty="0" smtClean="0">
                <a:solidFill>
                  <a:prstClr val="black"/>
                </a:solidFill>
                <a:latin typeface="Helvetica" pitchFamily="34" charset="0"/>
                <a:ea typeface="Times New Roman"/>
                <a:cs typeface="Times New Roman"/>
              </a:rPr>
              <a:t>management</a:t>
            </a:r>
            <a:endParaRPr lang="en-US" sz="2100" dirty="0" smtClean="0">
              <a:latin typeface="Helvetica" pitchFamily="34" charset="0"/>
            </a:endParaRPr>
          </a:p>
          <a:p>
            <a:pPr marL="360000" indent="-360000">
              <a:spcBef>
                <a:spcPts val="600"/>
              </a:spcBef>
              <a:spcAft>
                <a:spcPts val="12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51</a:t>
            </a:fld>
            <a:endParaRPr lang="en-US" dirty="0">
              <a:solidFill>
                <a:srgbClr val="4E5B6F">
                  <a:shade val="50000"/>
                </a:srgbClr>
              </a:solidFill>
              <a:latin typeface="Helvetica" pitchFamily="34" charset="0"/>
            </a:endParaRPr>
          </a:p>
        </p:txBody>
      </p:sp>
      <p:pic>
        <p:nvPicPr>
          <p:cNvPr id="5" name="Picture 4" descr="shutterstock_104399909.jpg"/>
          <p:cNvPicPr/>
          <p:nvPr/>
        </p:nvPicPr>
        <p:blipFill>
          <a:blip r:embed="rId3" cstate="print"/>
          <a:stretch>
            <a:fillRect/>
          </a:stretch>
        </p:blipFill>
        <p:spPr>
          <a:xfrm>
            <a:off x="6553200" y="1752600"/>
            <a:ext cx="1564090" cy="1569493"/>
          </a:xfrm>
          <a:prstGeom prst="rect">
            <a:avLst/>
          </a:prstGeom>
        </p:spPr>
      </p:pic>
    </p:spTree>
    <p:extLst>
      <p:ext uri="{BB962C8B-B14F-4D97-AF65-F5344CB8AC3E}">
        <p14:creationId xmlns:p14="http://schemas.microsoft.com/office/powerpoint/2010/main" val="243193762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686800" cy="1343744"/>
          </a:xfrm>
        </p:spPr>
        <p:txBody>
          <a:bodyPr>
            <a:noAutofit/>
          </a:bodyPr>
          <a:lstStyle/>
          <a:p>
            <a:pPr indent="-457200"/>
            <a:r>
              <a:rPr lang="en-AU" sz="2600" b="1" dirty="0">
                <a:solidFill>
                  <a:srgbClr val="FF6600"/>
                </a:solidFill>
              </a:rPr>
              <a:t>1.6	Identify and resolve discrepancies </a:t>
            </a:r>
            <a:r>
              <a:rPr lang="en-AU" sz="2600" b="1" dirty="0" smtClean="0">
                <a:solidFill>
                  <a:srgbClr val="FF6600"/>
                </a:solidFill>
              </a:rPr>
              <a:t>or errors 	according </a:t>
            </a:r>
            <a:r>
              <a:rPr lang="en-AU" sz="2600" b="1" dirty="0">
                <a:solidFill>
                  <a:srgbClr val="FF6600"/>
                </a:solidFill>
              </a:rPr>
              <a:t>to level of </a:t>
            </a:r>
            <a:r>
              <a:rPr lang="en-AU" sz="2600" b="1" dirty="0" smtClean="0">
                <a:solidFill>
                  <a:srgbClr val="FF6600"/>
                </a:solidFill>
              </a:rPr>
              <a:t>responsibility and </a:t>
            </a:r>
            <a:r>
              <a:rPr lang="en-AU" sz="2600" b="1" dirty="0">
                <a:solidFill>
                  <a:srgbClr val="FF6600"/>
                </a:solidFill>
              </a:rPr>
              <a:t>in </a:t>
            </a:r>
            <a:r>
              <a:rPr lang="en-AU" sz="2600" b="1" dirty="0" smtClean="0">
                <a:solidFill>
                  <a:srgbClr val="FF6600"/>
                </a:solidFill>
              </a:rPr>
              <a:t>	consultation </a:t>
            </a:r>
            <a:r>
              <a:rPr lang="en-AU" sz="2600" b="1" dirty="0">
                <a:solidFill>
                  <a:srgbClr val="FF6600"/>
                </a:solidFill>
              </a:rPr>
              <a:t>with </a:t>
            </a:r>
            <a:r>
              <a:rPr lang="en-AU" sz="2600" b="1" dirty="0" smtClean="0">
                <a:solidFill>
                  <a:srgbClr val="FF6600"/>
                </a:solidFill>
              </a:rPr>
              <a:t>designated persons</a:t>
            </a:r>
            <a:endParaRPr lang="en-US" sz="2600" b="1" dirty="0">
              <a:solidFill>
                <a:srgbClr val="FF6600"/>
              </a:solidFill>
            </a:endParaRPr>
          </a:p>
        </p:txBody>
      </p:sp>
      <p:sp>
        <p:nvSpPr>
          <p:cNvPr id="3" name="Content Placeholder 2"/>
          <p:cNvSpPr>
            <a:spLocks noGrp="1"/>
          </p:cNvSpPr>
          <p:nvPr>
            <p:ph idx="1"/>
          </p:nvPr>
        </p:nvSpPr>
        <p:spPr>
          <a:xfrm>
            <a:off x="685800" y="1918245"/>
            <a:ext cx="7467600" cy="4330155"/>
          </a:xfrm>
        </p:spPr>
        <p:txBody>
          <a:bodyPr>
            <a:normAutofit/>
          </a:bodyPr>
          <a:lstStyle/>
          <a:p>
            <a:pPr marL="36576" indent="0">
              <a:spcBef>
                <a:spcPts val="600"/>
              </a:spcBef>
              <a:spcAft>
                <a:spcPts val="1200"/>
              </a:spcAft>
              <a:buNone/>
            </a:pPr>
            <a:r>
              <a:rPr lang="en-AU" sz="2200" dirty="0">
                <a:latin typeface="Helvetica"/>
                <a:ea typeface="Times New Roman"/>
                <a:cs typeface="HelveticaNeueLTStd-Lt"/>
              </a:rPr>
              <a:t>Always remember that every </a:t>
            </a:r>
            <a:r>
              <a:rPr lang="en-AU" sz="2200" dirty="0" smtClean="0">
                <a:latin typeface="Helvetica"/>
                <a:ea typeface="Times New Roman"/>
                <a:cs typeface="HelveticaNeueLTStd-Lt"/>
              </a:rPr>
              <a:t>discrepancy </a:t>
            </a:r>
            <a:r>
              <a:rPr lang="en-AU" sz="2200" dirty="0">
                <a:latin typeface="Helvetica"/>
                <a:ea typeface="Times New Roman"/>
                <a:cs typeface="HelveticaNeueLTStd-Lt"/>
              </a:rPr>
              <a:t>should be investigated, and a suitable resolution found.</a:t>
            </a:r>
            <a:endParaRPr lang="en-AU" sz="2200" dirty="0">
              <a:ea typeface="Times New Roman"/>
              <a:cs typeface="Times New Roman"/>
            </a:endParaRPr>
          </a:p>
          <a:p>
            <a:pPr marL="396000" indent="-396000">
              <a:spcBef>
                <a:spcPts val="600"/>
              </a:spcBef>
              <a:spcAft>
                <a:spcPts val="1200"/>
              </a:spcAft>
            </a:pPr>
            <a:r>
              <a:rPr lang="en-AU" sz="2200" b="1" dirty="0">
                <a:latin typeface="Helvetica"/>
                <a:ea typeface="Times New Roman"/>
                <a:cs typeface="Times New Roman"/>
              </a:rPr>
              <a:t>Involving designated persons</a:t>
            </a:r>
          </a:p>
          <a:p>
            <a:pPr marL="644652" lvl="1" indent="-342900">
              <a:spcBef>
                <a:spcPts val="600"/>
              </a:spcBef>
              <a:spcAft>
                <a:spcPts val="1200"/>
              </a:spcAft>
              <a:buFont typeface="Symbol"/>
              <a:buChar char=""/>
            </a:pPr>
            <a:r>
              <a:rPr lang="en-AU" sz="2200" dirty="0">
                <a:latin typeface="Helvetica"/>
                <a:ea typeface="Calibri"/>
                <a:cs typeface="Calibri"/>
              </a:rPr>
              <a:t>Supervisor</a:t>
            </a:r>
          </a:p>
          <a:p>
            <a:pPr marL="644652" lvl="1" indent="-342900">
              <a:spcBef>
                <a:spcPts val="600"/>
              </a:spcBef>
              <a:spcAft>
                <a:spcPts val="1200"/>
              </a:spcAft>
              <a:buFont typeface="Symbol"/>
              <a:buChar char=""/>
            </a:pPr>
            <a:r>
              <a:rPr lang="en-AU" sz="2200" dirty="0">
                <a:latin typeface="Helvetica"/>
                <a:ea typeface="Calibri"/>
                <a:cs typeface="Calibri"/>
              </a:rPr>
              <a:t>Bank personnel</a:t>
            </a:r>
          </a:p>
          <a:p>
            <a:pPr marL="644652" lvl="1" indent="-342900">
              <a:spcBef>
                <a:spcPts val="600"/>
              </a:spcBef>
              <a:spcAft>
                <a:spcPts val="1200"/>
              </a:spcAft>
              <a:buFont typeface="Symbol"/>
              <a:buChar char=""/>
            </a:pPr>
            <a:r>
              <a:rPr lang="en-AU" sz="2200" dirty="0">
                <a:latin typeface="Helvetica"/>
                <a:ea typeface="Calibri"/>
                <a:cs typeface="Calibri"/>
              </a:rPr>
              <a:t>Authorised department persons</a:t>
            </a:r>
          </a:p>
          <a:p>
            <a:pPr marL="644652" lvl="1" indent="-342900">
              <a:spcBef>
                <a:spcPts val="600"/>
              </a:spcBef>
              <a:spcAft>
                <a:spcPts val="1200"/>
              </a:spcAft>
              <a:buFont typeface="Symbol"/>
              <a:buChar char=""/>
            </a:pPr>
            <a:r>
              <a:rPr lang="en-AU" sz="2200" dirty="0">
                <a:latin typeface="Helvetica"/>
                <a:ea typeface="Calibri"/>
                <a:cs typeface="Calibri"/>
              </a:rPr>
              <a:t>Line management</a:t>
            </a:r>
          </a:p>
          <a:p>
            <a:pPr marL="644652" lvl="1" indent="-342900">
              <a:spcBef>
                <a:spcPts val="600"/>
              </a:spcBef>
              <a:spcAft>
                <a:spcPts val="1200"/>
              </a:spcAft>
              <a:buFont typeface="Symbol"/>
              <a:buChar char=""/>
            </a:pPr>
            <a:r>
              <a:rPr lang="en-AU" sz="2200" dirty="0">
                <a:latin typeface="Helvetica"/>
                <a:ea typeface="Calibri"/>
                <a:cs typeface="Calibri"/>
              </a:rPr>
              <a:t>Statutory body </a:t>
            </a:r>
            <a:r>
              <a:rPr lang="en-AU" sz="2200" dirty="0" smtClean="0">
                <a:latin typeface="Helvetica"/>
                <a:ea typeface="Calibri"/>
                <a:cs typeface="Calibri"/>
              </a:rPr>
              <a:t>personnel</a:t>
            </a:r>
            <a:endParaRPr lang="en-AU" sz="2200" dirty="0">
              <a:latin typeface="Helvetica"/>
              <a:ea typeface="Calibri"/>
              <a:cs typeface="Calibri"/>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6" name="Picture 5" descr="shutterstock_187921547.jpg"/>
          <p:cNvPicPr/>
          <p:nvPr/>
        </p:nvPicPr>
        <p:blipFill>
          <a:blip r:embed="rId3" cstate="print"/>
          <a:stretch>
            <a:fillRect/>
          </a:stretch>
        </p:blipFill>
        <p:spPr>
          <a:xfrm>
            <a:off x="6248400" y="3352800"/>
            <a:ext cx="2035728" cy="1524000"/>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indent="-457200"/>
            <a:r>
              <a:rPr lang="en-AU" sz="2400" b="1" dirty="0" smtClean="0">
                <a:solidFill>
                  <a:srgbClr val="FF6600"/>
                </a:solidFill>
              </a:rPr>
              <a:t>1.6	Identify and resolve discrepancies or errors 	according to level of responsibility and in 	consultation with designated persons</a:t>
            </a:r>
            <a:endParaRPr lang="en-US" sz="2400" b="1" dirty="0">
              <a:solidFill>
                <a:srgbClr val="FF6600"/>
              </a:solidFill>
            </a:endParaRPr>
          </a:p>
        </p:txBody>
      </p:sp>
      <p:sp>
        <p:nvSpPr>
          <p:cNvPr id="3" name="Content Placeholder 2"/>
          <p:cNvSpPr>
            <a:spLocks noGrp="1"/>
          </p:cNvSpPr>
          <p:nvPr>
            <p:ph idx="1"/>
          </p:nvPr>
        </p:nvSpPr>
        <p:spPr>
          <a:xfrm>
            <a:off x="685800" y="1752600"/>
            <a:ext cx="7467600" cy="4330155"/>
          </a:xfrm>
        </p:spPr>
        <p:txBody>
          <a:bodyPr>
            <a:normAutofit/>
          </a:bodyPr>
          <a:lstStyle/>
          <a:p>
            <a:pPr marL="0" indent="0">
              <a:spcBef>
                <a:spcPts val="600"/>
              </a:spcBef>
              <a:spcAft>
                <a:spcPts val="1200"/>
              </a:spcAft>
              <a:buNone/>
            </a:pPr>
            <a:r>
              <a:rPr lang="en-AU" sz="2200" b="1" dirty="0">
                <a:latin typeface="Helvetica"/>
                <a:ea typeface="Times New Roman"/>
                <a:cs typeface="Times New Roman"/>
              </a:rPr>
              <a:t>Common causes of </a:t>
            </a:r>
            <a:r>
              <a:rPr lang="en-AU" sz="2200" b="1" dirty="0" smtClean="0">
                <a:latin typeface="Helvetica"/>
                <a:ea typeface="Times New Roman"/>
                <a:cs typeface="Times New Roman"/>
              </a:rPr>
              <a:t>discrepancies</a:t>
            </a:r>
            <a:endParaRPr lang="en-AU" sz="2200" b="1" dirty="0">
              <a:latin typeface="Helvetica"/>
              <a:ea typeface="Times New Roman"/>
              <a:cs typeface="Times New Roman"/>
            </a:endParaRPr>
          </a:p>
          <a:p>
            <a:pPr marL="360000" indent="-360000">
              <a:spcBef>
                <a:spcPts val="600"/>
              </a:spcBef>
              <a:spcAft>
                <a:spcPts val="1200"/>
              </a:spcAft>
            </a:pPr>
            <a:r>
              <a:rPr lang="en-AU" sz="2200" dirty="0" smtClean="0">
                <a:latin typeface="Helvetica"/>
                <a:ea typeface="Calibri"/>
                <a:cs typeface="Calibri"/>
              </a:rPr>
              <a:t>Inputs</a:t>
            </a:r>
          </a:p>
          <a:p>
            <a:pPr marL="360000" indent="-360000">
              <a:spcBef>
                <a:spcPts val="600"/>
              </a:spcBef>
              <a:spcAft>
                <a:spcPts val="1200"/>
              </a:spcAft>
            </a:pPr>
            <a:r>
              <a:rPr lang="en-AU" sz="2200" dirty="0" smtClean="0">
                <a:latin typeface="Helvetica"/>
                <a:ea typeface="Calibri"/>
                <a:cs typeface="Calibri"/>
              </a:rPr>
              <a:t>Processing</a:t>
            </a:r>
          </a:p>
          <a:p>
            <a:pPr marL="360000" indent="-360000">
              <a:spcBef>
                <a:spcPts val="600"/>
              </a:spcBef>
              <a:spcAft>
                <a:spcPts val="1200"/>
              </a:spcAft>
            </a:pPr>
            <a:r>
              <a:rPr lang="en-AU" sz="2200" dirty="0" smtClean="0">
                <a:latin typeface="Helvetica"/>
                <a:ea typeface="Calibri"/>
                <a:cs typeface="Calibri"/>
              </a:rPr>
              <a:t>Outputs</a:t>
            </a:r>
            <a:endParaRPr lang="en-AU" sz="2200" dirty="0">
              <a:latin typeface="Helvetica"/>
              <a:ea typeface="Calibri"/>
              <a:cs typeface="Calibri"/>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7" name="Picture 6" descr="W592_receipt_2592989 NH.jpg"/>
          <p:cNvPicPr/>
          <p:nvPr/>
        </p:nvPicPr>
        <p:blipFill>
          <a:blip r:embed="rId3" cstate="print"/>
          <a:stretch>
            <a:fillRect/>
          </a:stretch>
        </p:blipFill>
        <p:spPr>
          <a:xfrm>
            <a:off x="6324600" y="2057400"/>
            <a:ext cx="1693460" cy="2550150"/>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indent="-457200"/>
            <a:r>
              <a:rPr lang="en-AU" sz="2400" b="1" dirty="0" smtClean="0">
                <a:solidFill>
                  <a:srgbClr val="FF6600"/>
                </a:solidFill>
              </a:rPr>
              <a:t>1.6	Identify and resolve discrepancies or errors 	according to level of responsibility and in 	consultation with designated persons</a:t>
            </a:r>
            <a:endParaRPr lang="en-US" sz="2400" b="1" dirty="0">
              <a:solidFill>
                <a:srgbClr val="FF6600"/>
              </a:solidFill>
            </a:endParaRPr>
          </a:p>
        </p:txBody>
      </p:sp>
      <p:sp>
        <p:nvSpPr>
          <p:cNvPr id="3" name="Content Placeholder 2"/>
          <p:cNvSpPr>
            <a:spLocks noGrp="1"/>
          </p:cNvSpPr>
          <p:nvPr>
            <p:ph idx="1"/>
          </p:nvPr>
        </p:nvSpPr>
        <p:spPr>
          <a:xfrm>
            <a:off x="611560" y="1752600"/>
            <a:ext cx="7467600" cy="4525963"/>
          </a:xfrm>
        </p:spPr>
        <p:txBody>
          <a:bodyPr>
            <a:normAutofit/>
          </a:bodyPr>
          <a:lstStyle/>
          <a:p>
            <a:pPr marL="36576" indent="0">
              <a:spcBef>
                <a:spcPts val="600"/>
              </a:spcBef>
              <a:spcAft>
                <a:spcPts val="1200"/>
              </a:spcAft>
              <a:buNone/>
            </a:pPr>
            <a:r>
              <a:rPr lang="en-US" sz="2200" b="1" dirty="0">
                <a:latin typeface="Helvetica"/>
                <a:ea typeface="Times New Roman"/>
                <a:cs typeface="HelveticaNeueLTStd-MdCn"/>
              </a:rPr>
              <a:t>Checking </a:t>
            </a:r>
            <a:r>
              <a:rPr lang="en-AU" sz="2200" b="1" dirty="0" smtClean="0">
                <a:latin typeface="Helvetica"/>
                <a:ea typeface="Times New Roman"/>
                <a:cs typeface="HelveticaNeueLTStd-MdCn"/>
              </a:rPr>
              <a:t>irregularities</a:t>
            </a:r>
            <a:r>
              <a:rPr lang="en-US" sz="2200" b="1" dirty="0" smtClean="0">
                <a:latin typeface="Helvetica"/>
                <a:ea typeface="Times New Roman"/>
                <a:cs typeface="HelveticaNeueLTStd-MdCn"/>
              </a:rPr>
              <a:t> </a:t>
            </a:r>
            <a:r>
              <a:rPr lang="en-US" sz="2200" b="1" dirty="0">
                <a:latin typeface="Helvetica"/>
                <a:ea typeface="Times New Roman"/>
                <a:cs typeface="HelveticaNeueLTStd-MdCn"/>
              </a:rPr>
              <a:t>with source documents</a:t>
            </a:r>
            <a:endParaRPr lang="en-AU" sz="2200" dirty="0">
              <a:ea typeface="Times New Roman"/>
              <a:cs typeface="Times New Roman"/>
            </a:endParaRPr>
          </a:p>
          <a:p>
            <a:pPr marL="360000" indent="-360000">
              <a:spcBef>
                <a:spcPts val="600"/>
              </a:spcBef>
              <a:spcAft>
                <a:spcPts val="1200"/>
              </a:spcAft>
            </a:pPr>
            <a:r>
              <a:rPr lang="en-AU" sz="2200" dirty="0">
                <a:latin typeface="Helvetica"/>
                <a:ea typeface="Times New Roman"/>
                <a:cs typeface="HelveticaNeueLTStd-Lt"/>
              </a:rPr>
              <a:t>Examples of irregularities will depend on whether the document is for a sale we have made, or whether it relates to a purchase we have </a:t>
            </a:r>
            <a:r>
              <a:rPr lang="en-AU" sz="2200" dirty="0" smtClean="0">
                <a:latin typeface="Helvetica"/>
                <a:ea typeface="Times New Roman"/>
                <a:cs typeface="HelveticaNeueLTStd-Lt"/>
              </a:rPr>
              <a:t>made</a:t>
            </a:r>
          </a:p>
          <a:p>
            <a:pPr marL="396000" indent="-396000">
              <a:spcBef>
                <a:spcPts val="600"/>
              </a:spcBef>
              <a:spcAft>
                <a:spcPts val="1200"/>
              </a:spcAft>
            </a:pPr>
            <a:r>
              <a:rPr lang="en-AU" sz="2200" b="1" dirty="0">
                <a:latin typeface="Helvetica"/>
                <a:ea typeface="Times New Roman"/>
                <a:cs typeface="Times New Roman"/>
              </a:rPr>
              <a:t>Identifying and correcting </a:t>
            </a:r>
            <a:r>
              <a:rPr lang="en-AU" sz="2200" b="1" dirty="0" smtClean="0">
                <a:latin typeface="Helvetica"/>
                <a:ea typeface="Times New Roman"/>
                <a:cs typeface="Times New Roman"/>
              </a:rPr>
              <a:t>errors</a:t>
            </a:r>
          </a:p>
          <a:p>
            <a:pPr marL="396000" indent="-396000">
              <a:spcBef>
                <a:spcPts val="600"/>
              </a:spcBef>
              <a:spcAft>
                <a:spcPts val="1200"/>
              </a:spcAft>
            </a:pPr>
            <a:r>
              <a:rPr lang="en-AU" sz="2200" b="1" dirty="0">
                <a:latin typeface="Helvetica"/>
                <a:ea typeface="Times New Roman"/>
                <a:cs typeface="Times New Roman"/>
              </a:rPr>
              <a:t>Adjusting entries</a:t>
            </a:r>
          </a:p>
          <a:p>
            <a:pPr marL="396000" indent="-396000">
              <a:spcBef>
                <a:spcPts val="600"/>
              </a:spcBef>
              <a:spcAft>
                <a:spcPts val="1200"/>
              </a:spcAft>
            </a:pPr>
            <a:endParaRPr lang="en-AU" sz="2200" b="1" dirty="0">
              <a:latin typeface="Helvetica"/>
              <a:ea typeface="Times New Roman"/>
              <a:cs typeface="Times New Roman"/>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6" name="Picture 5" descr="A6 shutterstock_131673425.jpg"/>
          <p:cNvPicPr/>
          <p:nvPr/>
        </p:nvPicPr>
        <p:blipFill>
          <a:blip r:embed="rId3" cstate="print"/>
          <a:stretch>
            <a:fillRect/>
          </a:stretch>
        </p:blipFill>
        <p:spPr>
          <a:xfrm>
            <a:off x="6036292" y="3505200"/>
            <a:ext cx="2171700" cy="1447800"/>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7770440" cy="1247056"/>
          </a:xfrm>
        </p:spPr>
        <p:txBody>
          <a:bodyPr>
            <a:normAutofit/>
          </a:bodyPr>
          <a:lstStyle/>
          <a:p>
            <a:r>
              <a:rPr lang="en-AU" sz="3400" b="1" dirty="0">
                <a:solidFill>
                  <a:srgbClr val="FF6600"/>
                </a:solidFill>
                <a:latin typeface="Helvetica" pitchFamily="34" charset="0"/>
              </a:rPr>
              <a:t>Element </a:t>
            </a:r>
            <a:r>
              <a:rPr lang="en-AU" sz="3400" b="1" dirty="0" smtClean="0">
                <a:solidFill>
                  <a:srgbClr val="FF6600"/>
                </a:solidFill>
                <a:latin typeface="Helvetica" pitchFamily="34" charset="0"/>
              </a:rPr>
              <a:t>2</a:t>
            </a:r>
            <a:r>
              <a:rPr lang="en-AU" sz="3400" b="1" dirty="0">
                <a:solidFill>
                  <a:srgbClr val="FF6600"/>
                </a:solidFill>
                <a:latin typeface="Helvetica" pitchFamily="34" charset="0"/>
              </a:rPr>
              <a:t>: Complete financial reports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32992"/>
            <a:ext cx="7160840" cy="4844008"/>
          </a:xfrm>
        </p:spPr>
        <p:txBody>
          <a:bodyPr>
            <a:normAutofit/>
          </a:bodyPr>
          <a:lstStyle/>
          <a:p>
            <a:pPr marL="0" indent="-457200">
              <a:spcBef>
                <a:spcPts val="600"/>
              </a:spcBef>
              <a:spcAft>
                <a:spcPts val="1200"/>
              </a:spcAft>
              <a:buNone/>
            </a:pPr>
            <a:r>
              <a:rPr lang="en-AU" sz="2200" dirty="0" smtClean="0">
                <a:solidFill>
                  <a:srgbClr val="92D050"/>
                </a:solidFill>
              </a:rPr>
              <a:t>2.1</a:t>
            </a:r>
            <a:r>
              <a:rPr lang="en-AU" sz="2200" dirty="0">
                <a:solidFill>
                  <a:srgbClr val="92D050"/>
                </a:solidFill>
              </a:rPr>
              <a:t>	</a:t>
            </a:r>
            <a:r>
              <a:rPr lang="en-AU" sz="2200" dirty="0"/>
              <a:t>Accurately complete routine financial/statistical </a:t>
            </a:r>
            <a:r>
              <a:rPr lang="en-AU" sz="2200" dirty="0" smtClean="0"/>
              <a:t>	reports </a:t>
            </a:r>
            <a:r>
              <a:rPr lang="en-AU" sz="2200" dirty="0"/>
              <a:t>within designated </a:t>
            </a:r>
            <a:r>
              <a:rPr lang="en-AU" sz="2200" dirty="0" smtClean="0"/>
              <a:t>timelines</a:t>
            </a:r>
          </a:p>
          <a:p>
            <a:pPr marL="0" indent="-457200">
              <a:spcBef>
                <a:spcPts val="600"/>
              </a:spcBef>
              <a:spcAft>
                <a:spcPts val="1200"/>
              </a:spcAft>
              <a:buNone/>
            </a:pPr>
            <a:r>
              <a:rPr lang="en-AU" sz="2200" dirty="0" smtClean="0">
                <a:solidFill>
                  <a:srgbClr val="92D050"/>
                </a:solidFill>
              </a:rPr>
              <a:t>2.2</a:t>
            </a:r>
            <a:r>
              <a:rPr lang="en-AU" sz="2200" dirty="0">
                <a:solidFill>
                  <a:srgbClr val="92D050"/>
                </a:solidFill>
              </a:rPr>
              <a:t>	</a:t>
            </a:r>
            <a:r>
              <a:rPr lang="en-AU" sz="2200" dirty="0"/>
              <a:t>Forward financial/statistical reports promptly to </a:t>
            </a:r>
            <a:r>
              <a:rPr lang="en-AU" sz="2200" dirty="0" smtClean="0"/>
              <a:t>	the appropriate person/department</a:t>
            </a: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55</a:t>
            </a:fld>
            <a:endParaRPr lang="en-US" dirty="0">
              <a:solidFill>
                <a:srgbClr val="4E5B6F">
                  <a:shade val="50000"/>
                </a:srgbClr>
              </a:solidFill>
              <a:latin typeface="Helvetica" pitchFamily="34" charset="0"/>
            </a:endParaRPr>
          </a:p>
        </p:txBody>
      </p:sp>
      <p:pic>
        <p:nvPicPr>
          <p:cNvPr id="5" name="Picture 2" descr="C:\Users\danielc\AppData\Local\Microsoft\Windows\Temporary Internet Files\Content.IE5\B95PH30U\MC900432658[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53200" y="3276600"/>
            <a:ext cx="17145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973156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52400"/>
            <a:ext cx="7694240" cy="1219200"/>
          </a:xfrm>
        </p:spPr>
        <p:txBody>
          <a:bodyPr>
            <a:noAutofit/>
          </a:bodyPr>
          <a:lstStyle/>
          <a:p>
            <a:pPr indent="-457200"/>
            <a:r>
              <a:rPr lang="en-AU" sz="2900" b="1" dirty="0" smtClean="0">
                <a:solidFill>
                  <a:srgbClr val="FF6600"/>
                </a:solidFill>
              </a:rPr>
              <a:t>2.1  	Accurately </a:t>
            </a:r>
            <a:r>
              <a:rPr lang="en-AU" sz="2900" b="1" dirty="0">
                <a:solidFill>
                  <a:srgbClr val="FF6600"/>
                </a:solidFill>
              </a:rPr>
              <a:t>complete routine </a:t>
            </a:r>
            <a:r>
              <a:rPr lang="en-AU" sz="2900" b="1" dirty="0" smtClean="0">
                <a:solidFill>
                  <a:srgbClr val="FF6600"/>
                </a:solidFill>
              </a:rPr>
              <a:t>	financial/statistical </a:t>
            </a:r>
            <a:r>
              <a:rPr lang="en-AU" sz="2900" b="1" dirty="0">
                <a:solidFill>
                  <a:srgbClr val="FF6600"/>
                </a:solidFill>
              </a:rPr>
              <a:t>reports within </a:t>
            </a:r>
            <a:r>
              <a:rPr lang="en-AU" sz="2900" b="1" dirty="0" smtClean="0">
                <a:solidFill>
                  <a:srgbClr val="FF6600"/>
                </a:solidFill>
              </a:rPr>
              <a:t>	designated </a:t>
            </a:r>
            <a:r>
              <a:rPr lang="en-AU" sz="2900" b="1" dirty="0">
                <a:solidFill>
                  <a:srgbClr val="FF6600"/>
                </a:solidFill>
              </a:rPr>
              <a:t>timelines</a:t>
            </a:r>
            <a:endParaRPr lang="en-US" sz="2900" b="1" dirty="0">
              <a:solidFill>
                <a:srgbClr val="FF6600"/>
              </a:solidFill>
            </a:endParaRPr>
          </a:p>
        </p:txBody>
      </p:sp>
      <p:sp>
        <p:nvSpPr>
          <p:cNvPr id="3" name="Content Placeholder 2"/>
          <p:cNvSpPr>
            <a:spLocks noGrp="1"/>
          </p:cNvSpPr>
          <p:nvPr>
            <p:ph idx="1"/>
          </p:nvPr>
        </p:nvSpPr>
        <p:spPr>
          <a:xfrm>
            <a:off x="611560" y="1632992"/>
            <a:ext cx="7160840" cy="4844008"/>
          </a:xfrm>
        </p:spPr>
        <p:txBody>
          <a:bodyPr>
            <a:noAutofit/>
          </a:bodyPr>
          <a:lstStyle/>
          <a:p>
            <a:pPr marL="36576" indent="0">
              <a:spcBef>
                <a:spcPts val="600"/>
              </a:spcBef>
              <a:spcAft>
                <a:spcPts val="900"/>
              </a:spcAft>
              <a:buNone/>
            </a:pPr>
            <a:r>
              <a:rPr lang="en-AU" sz="2100" dirty="0">
                <a:latin typeface="Helvetica"/>
                <a:ea typeface="Calibri"/>
                <a:cs typeface="Calibri"/>
              </a:rPr>
              <a:t>Every accounting entity must collate transactions into financial reports in a timely manner</a:t>
            </a:r>
            <a:r>
              <a:rPr lang="en-AU" sz="2100" dirty="0" smtClean="0">
                <a:latin typeface="Helvetica"/>
                <a:ea typeface="Calibri"/>
                <a:cs typeface="Calibri"/>
              </a:rPr>
              <a:t>.</a:t>
            </a:r>
          </a:p>
          <a:p>
            <a:pPr marL="36576" indent="0">
              <a:spcBef>
                <a:spcPts val="600"/>
              </a:spcBef>
              <a:spcAft>
                <a:spcPts val="900"/>
              </a:spcAft>
              <a:buNone/>
            </a:pPr>
            <a:r>
              <a:rPr lang="en-AU" sz="2100" dirty="0">
                <a:latin typeface="Helvetica"/>
                <a:ea typeface="Calibri"/>
                <a:cs typeface="Calibri"/>
              </a:rPr>
              <a:t>To be successful, managers aim to ensure that the business should</a:t>
            </a:r>
            <a:r>
              <a:rPr lang="en-AU" sz="2100" dirty="0" smtClean="0">
                <a:latin typeface="Helvetica"/>
                <a:ea typeface="Calibri"/>
                <a:cs typeface="Calibri"/>
              </a:rPr>
              <a:t>:</a:t>
            </a:r>
          </a:p>
          <a:p>
            <a:pPr lvl="0">
              <a:spcBef>
                <a:spcPts val="600"/>
              </a:spcBef>
              <a:spcAft>
                <a:spcPts val="900"/>
              </a:spcAft>
              <a:buClr>
                <a:srgbClr val="7FD13B"/>
              </a:buClr>
            </a:pPr>
            <a:r>
              <a:rPr lang="en-AU" sz="2100" dirty="0" smtClean="0">
                <a:latin typeface="Helvetica"/>
                <a:ea typeface="Calibri"/>
                <a:cs typeface="Times New Roman"/>
              </a:rPr>
              <a:t>Earn </a:t>
            </a:r>
            <a:r>
              <a:rPr lang="en-AU" sz="2100" dirty="0">
                <a:latin typeface="Helvetica"/>
                <a:ea typeface="Calibri"/>
                <a:cs typeface="Times New Roman"/>
              </a:rPr>
              <a:t>a satisfactory profit for its </a:t>
            </a:r>
            <a:r>
              <a:rPr lang="en-AU" sz="2100" dirty="0" smtClean="0">
                <a:latin typeface="Helvetica"/>
                <a:ea typeface="Calibri"/>
                <a:cs typeface="Times New Roman"/>
              </a:rPr>
              <a:t>owners</a:t>
            </a:r>
          </a:p>
          <a:p>
            <a:pPr lvl="0">
              <a:spcBef>
                <a:spcPts val="600"/>
              </a:spcBef>
              <a:spcAft>
                <a:spcPts val="900"/>
              </a:spcAft>
              <a:buClr>
                <a:srgbClr val="7FD13B"/>
              </a:buClr>
            </a:pPr>
            <a:r>
              <a:rPr lang="en-AU" sz="2100" dirty="0" smtClean="0">
                <a:latin typeface="Helvetica"/>
                <a:ea typeface="Calibri"/>
                <a:cs typeface="Times New Roman"/>
              </a:rPr>
              <a:t>Use </a:t>
            </a:r>
            <a:r>
              <a:rPr lang="en-AU" sz="2100" dirty="0">
                <a:latin typeface="Helvetica"/>
                <a:ea typeface="Calibri"/>
                <a:cs typeface="Times New Roman"/>
              </a:rPr>
              <a:t>its short term and long term assets </a:t>
            </a:r>
            <a:r>
              <a:rPr lang="en-AU" sz="2100" dirty="0" smtClean="0">
                <a:latin typeface="Helvetica"/>
                <a:ea typeface="Calibri"/>
                <a:cs typeface="Times New Roman"/>
              </a:rPr>
              <a:t>efficiently</a:t>
            </a:r>
          </a:p>
          <a:p>
            <a:pPr lvl="0">
              <a:spcBef>
                <a:spcPts val="600"/>
              </a:spcBef>
              <a:spcAft>
                <a:spcPts val="900"/>
              </a:spcAft>
              <a:buClr>
                <a:srgbClr val="7FD13B"/>
              </a:buClr>
            </a:pPr>
            <a:r>
              <a:rPr lang="en-AU" sz="2100" dirty="0" smtClean="0">
                <a:latin typeface="Helvetica"/>
                <a:ea typeface="Calibri"/>
                <a:cs typeface="Times New Roman"/>
              </a:rPr>
              <a:t>Be </a:t>
            </a:r>
            <a:r>
              <a:rPr lang="en-AU" sz="2100" dirty="0">
                <a:latin typeface="Helvetica"/>
                <a:ea typeface="Calibri"/>
                <a:cs typeface="Times New Roman"/>
              </a:rPr>
              <a:t>able to pay its short term debts on </a:t>
            </a:r>
            <a:r>
              <a:rPr lang="en-AU" sz="2100" dirty="0" smtClean="0">
                <a:latin typeface="Helvetica"/>
                <a:ea typeface="Calibri"/>
                <a:cs typeface="Times New Roman"/>
              </a:rPr>
              <a:t>time</a:t>
            </a:r>
          </a:p>
          <a:p>
            <a:pPr lvl="0">
              <a:spcBef>
                <a:spcPts val="600"/>
              </a:spcBef>
              <a:spcAft>
                <a:spcPts val="900"/>
              </a:spcAft>
              <a:buClr>
                <a:srgbClr val="7FD13B"/>
              </a:buClr>
            </a:pPr>
            <a:r>
              <a:rPr lang="en-AU" sz="2100" dirty="0" smtClean="0">
                <a:latin typeface="Helvetica"/>
                <a:ea typeface="Calibri"/>
                <a:cs typeface="Times New Roman"/>
              </a:rPr>
              <a:t>Maintain </a:t>
            </a:r>
            <a:r>
              <a:rPr lang="en-AU" sz="2100" dirty="0">
                <a:latin typeface="Helvetica"/>
                <a:ea typeface="Calibri"/>
                <a:cs typeface="Times New Roman"/>
              </a:rPr>
              <a:t>adequate cash stocks to meet </a:t>
            </a:r>
            <a:r>
              <a:rPr lang="en-AU" sz="2100" dirty="0" smtClean="0">
                <a:latin typeface="Helvetica"/>
                <a:ea typeface="Calibri"/>
                <a:cs typeface="Times New Roman"/>
              </a:rPr>
              <a:t>requirements</a:t>
            </a:r>
          </a:p>
          <a:p>
            <a:pPr lvl="0">
              <a:spcBef>
                <a:spcPts val="600"/>
              </a:spcBef>
              <a:spcAft>
                <a:spcPts val="900"/>
              </a:spcAft>
              <a:buClr>
                <a:srgbClr val="7FD13B"/>
              </a:buClr>
            </a:pPr>
            <a:r>
              <a:rPr lang="en-AU" sz="2100" dirty="0" smtClean="0">
                <a:latin typeface="Helvetica"/>
                <a:ea typeface="Calibri"/>
                <a:cs typeface="Times New Roman"/>
              </a:rPr>
              <a:t>Provide </a:t>
            </a:r>
            <a:r>
              <a:rPr lang="en-AU" sz="2100" dirty="0">
                <a:latin typeface="Helvetica"/>
                <a:ea typeface="Calibri"/>
                <a:cs typeface="Times New Roman"/>
              </a:rPr>
              <a:t>a return on investment to the owners both in income and growth of the value of the </a:t>
            </a:r>
            <a:r>
              <a:rPr lang="en-AU" sz="2100" dirty="0" smtClean="0">
                <a:latin typeface="Helvetica"/>
                <a:ea typeface="Calibri"/>
                <a:cs typeface="Times New Roman"/>
              </a:rPr>
              <a:t>investment</a:t>
            </a:r>
            <a:endParaRPr lang="en-AU" sz="2100" dirty="0">
              <a:latin typeface="Helvetica"/>
              <a:ea typeface="Calibri"/>
              <a:cs typeface="Times New Roman"/>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6" name="Picture 5" descr="A15 shutterstock_173608850[1].JPG"/>
          <p:cNvPicPr/>
          <p:nvPr/>
        </p:nvPicPr>
        <p:blipFill>
          <a:blip r:embed="rId3" cstate="print"/>
          <a:stretch>
            <a:fillRect/>
          </a:stretch>
        </p:blipFill>
        <p:spPr>
          <a:xfrm>
            <a:off x="7168526" y="2404241"/>
            <a:ext cx="1824491" cy="1371600"/>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22437"/>
            <a:ext cx="7389440" cy="4525963"/>
          </a:xfrm>
        </p:spPr>
        <p:txBody>
          <a:bodyPr>
            <a:normAutofit/>
          </a:bodyPr>
          <a:lstStyle/>
          <a:p>
            <a:pPr marL="36576" indent="0">
              <a:spcBef>
                <a:spcPts val="600"/>
              </a:spcBef>
              <a:spcAft>
                <a:spcPts val="1200"/>
              </a:spcAft>
              <a:buNone/>
            </a:pPr>
            <a:r>
              <a:rPr lang="en-AU" sz="2200" b="1" dirty="0">
                <a:latin typeface="Helvetica"/>
                <a:ea typeface="Times New Roman"/>
                <a:cs typeface="HelveticaNeueLTStd-MdCn"/>
              </a:rPr>
              <a:t>The need for reports</a:t>
            </a:r>
            <a:endParaRPr lang="en-AU" sz="2200" dirty="0">
              <a:ea typeface="Times New Roman"/>
              <a:cs typeface="Times New Roman"/>
            </a:endParaRPr>
          </a:p>
          <a:p>
            <a:pPr marL="36576" indent="0">
              <a:spcBef>
                <a:spcPts val="600"/>
              </a:spcBef>
              <a:spcAft>
                <a:spcPts val="1200"/>
              </a:spcAft>
              <a:buNone/>
            </a:pPr>
            <a:r>
              <a:rPr lang="en-AU" sz="2200" dirty="0">
                <a:latin typeface="Helvetica"/>
                <a:ea typeface="Times New Roman"/>
                <a:cs typeface="HelveticaNeueLTStd-Lt"/>
              </a:rPr>
              <a:t>Financial reports can be seen as providing:</a:t>
            </a:r>
            <a:endParaRPr lang="en-AU" sz="2200" dirty="0">
              <a:ea typeface="Times New Roman"/>
              <a:cs typeface="Times New Roman"/>
            </a:endParaRPr>
          </a:p>
          <a:p>
            <a:pPr>
              <a:spcBef>
                <a:spcPts val="600"/>
              </a:spcBef>
              <a:spcAft>
                <a:spcPts val="1200"/>
              </a:spcAft>
            </a:pPr>
            <a:r>
              <a:rPr lang="en-AU" sz="2200" dirty="0" smtClean="0">
                <a:latin typeface="Helvetica"/>
                <a:ea typeface="Times New Roman"/>
                <a:cs typeface="HelveticaNeueLTStd-Lt"/>
              </a:rPr>
              <a:t>A </a:t>
            </a:r>
            <a:r>
              <a:rPr lang="en-AU" sz="2200" dirty="0">
                <a:latin typeface="Helvetica"/>
                <a:ea typeface="Times New Roman"/>
                <a:cs typeface="HelveticaNeueLTStd-Lt"/>
              </a:rPr>
              <a:t>communication link between the operation </a:t>
            </a:r>
            <a:r>
              <a:rPr lang="en-AU" sz="2200" dirty="0" smtClean="0">
                <a:latin typeface="Helvetica"/>
                <a:ea typeface="Times New Roman"/>
                <a:cs typeface="HelveticaNeueLTStd-Lt"/>
              </a:rPr>
              <a:t/>
            </a:r>
            <a:br>
              <a:rPr lang="en-AU" sz="2200" dirty="0" smtClean="0">
                <a:latin typeface="Helvetica"/>
                <a:ea typeface="Times New Roman"/>
                <a:cs typeface="HelveticaNeueLTStd-Lt"/>
              </a:rPr>
            </a:br>
            <a:r>
              <a:rPr lang="en-AU" sz="2200" dirty="0" smtClean="0">
                <a:latin typeface="Helvetica"/>
                <a:ea typeface="Times New Roman"/>
                <a:cs typeface="HelveticaNeueLTStd-Lt"/>
              </a:rPr>
              <a:t>of </a:t>
            </a:r>
            <a:r>
              <a:rPr lang="en-AU" sz="2200" dirty="0">
                <a:latin typeface="Helvetica"/>
                <a:ea typeface="Times New Roman"/>
                <a:cs typeface="HelveticaNeueLTStd-Lt"/>
              </a:rPr>
              <a:t>the business and management </a:t>
            </a:r>
            <a:endParaRPr lang="en-AU" sz="2200" dirty="0">
              <a:ea typeface="Times New Roman"/>
              <a:cs typeface="Times New Roman"/>
            </a:endParaRPr>
          </a:p>
          <a:p>
            <a:pPr>
              <a:spcBef>
                <a:spcPts val="600"/>
              </a:spcBef>
              <a:spcAft>
                <a:spcPts val="1200"/>
              </a:spcAft>
            </a:pPr>
            <a:r>
              <a:rPr lang="en-AU" sz="2200" dirty="0">
                <a:latin typeface="Helvetica"/>
                <a:ea typeface="Times New Roman"/>
                <a:cs typeface="HelveticaNeueLTStd-Lt"/>
              </a:rPr>
              <a:t>A historical database </a:t>
            </a:r>
            <a:endParaRPr lang="en-AU" sz="2200" dirty="0">
              <a:ea typeface="Times New Roman"/>
              <a:cs typeface="Times New Roman"/>
            </a:endParaRPr>
          </a:p>
          <a:p>
            <a:pPr>
              <a:spcBef>
                <a:spcPts val="600"/>
              </a:spcBef>
              <a:spcAft>
                <a:spcPts val="1200"/>
              </a:spcAft>
            </a:pPr>
            <a:r>
              <a:rPr lang="en-AU" sz="2200" dirty="0">
                <a:latin typeface="Helvetica"/>
                <a:ea typeface="Times New Roman"/>
                <a:cs typeface="HelveticaNeueLTStd-Lt"/>
              </a:rPr>
              <a:t>Data to managers </a:t>
            </a:r>
            <a:endParaRPr lang="en-AU" sz="2200" dirty="0">
              <a:ea typeface="Times New Roman"/>
              <a:cs typeface="Times New Roman"/>
            </a:endParaRPr>
          </a:p>
          <a:p>
            <a:pPr>
              <a:spcBef>
                <a:spcPts val="600"/>
              </a:spcBef>
              <a:spcAft>
                <a:spcPts val="1200"/>
              </a:spcAft>
            </a:pPr>
            <a:r>
              <a:rPr lang="en-AU" sz="2200" dirty="0">
                <a:latin typeface="Helvetica"/>
                <a:ea typeface="Times New Roman"/>
                <a:cs typeface="HelveticaNeueLTStd-Lt"/>
              </a:rPr>
              <a:t>Indicators to potentially problematic areas </a:t>
            </a:r>
            <a:endParaRPr lang="en-AU" sz="2200" dirty="0">
              <a:ea typeface="Times New Roman"/>
              <a:cs typeface="Times New Roman"/>
            </a:endParaRPr>
          </a:p>
          <a:p>
            <a:pPr>
              <a:spcBef>
                <a:spcPts val="600"/>
              </a:spcBef>
              <a:spcAft>
                <a:spcPts val="1200"/>
              </a:spcAft>
            </a:pPr>
            <a:r>
              <a:rPr lang="en-AU" sz="2200" dirty="0">
                <a:latin typeface="Helvetica"/>
                <a:ea typeface="Times New Roman"/>
                <a:cs typeface="HelveticaNeueLTStd-Lt"/>
              </a:rPr>
              <a:t>An essential tool to provide an overview of the performance </a:t>
            </a:r>
            <a:endParaRPr lang="en-AU" sz="2200" dirty="0">
              <a:ea typeface="Times New Roman"/>
              <a:cs typeface="Times New Roman"/>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sp>
        <p:nvSpPr>
          <p:cNvPr id="7" name="Title 1"/>
          <p:cNvSpPr>
            <a:spLocks noGrp="1"/>
          </p:cNvSpPr>
          <p:nvPr>
            <p:ph type="title"/>
          </p:nvPr>
        </p:nvSpPr>
        <p:spPr>
          <a:xfrm>
            <a:off x="611560" y="152400"/>
            <a:ext cx="7694240" cy="1219200"/>
          </a:xfrm>
        </p:spPr>
        <p:txBody>
          <a:bodyPr>
            <a:noAutofit/>
          </a:bodyPr>
          <a:lstStyle/>
          <a:p>
            <a:pPr indent="-457200"/>
            <a:r>
              <a:rPr lang="en-AU" sz="2900" b="1" dirty="0" smtClean="0">
                <a:solidFill>
                  <a:srgbClr val="FF6600"/>
                </a:solidFill>
              </a:rPr>
              <a:t>2.1  	Accurately </a:t>
            </a:r>
            <a:r>
              <a:rPr lang="en-AU" sz="2900" b="1" dirty="0">
                <a:solidFill>
                  <a:srgbClr val="FF6600"/>
                </a:solidFill>
              </a:rPr>
              <a:t>complete routine </a:t>
            </a:r>
            <a:r>
              <a:rPr lang="en-AU" sz="2900" b="1" dirty="0" smtClean="0">
                <a:solidFill>
                  <a:srgbClr val="FF6600"/>
                </a:solidFill>
              </a:rPr>
              <a:t>	financial/statistical </a:t>
            </a:r>
            <a:r>
              <a:rPr lang="en-AU" sz="2900" b="1" dirty="0">
                <a:solidFill>
                  <a:srgbClr val="FF6600"/>
                </a:solidFill>
              </a:rPr>
              <a:t>reports within </a:t>
            </a:r>
            <a:r>
              <a:rPr lang="en-AU" sz="2900" b="1" dirty="0" smtClean="0">
                <a:solidFill>
                  <a:srgbClr val="FF6600"/>
                </a:solidFill>
              </a:rPr>
              <a:t>	designated </a:t>
            </a:r>
            <a:r>
              <a:rPr lang="en-AU" sz="2900" b="1" dirty="0">
                <a:solidFill>
                  <a:srgbClr val="FF6600"/>
                </a:solidFill>
              </a:rPr>
              <a:t>timelines</a:t>
            </a:r>
            <a:endParaRPr lang="en-US" sz="2900" b="1" dirty="0">
              <a:solidFill>
                <a:srgbClr val="FF6600"/>
              </a:solidFill>
            </a:endParaRPr>
          </a:p>
        </p:txBody>
      </p:sp>
      <p:pic>
        <p:nvPicPr>
          <p:cNvPr id="8" name="Picture 7" descr="8.jpg"/>
          <p:cNvPicPr/>
          <p:nvPr/>
        </p:nvPicPr>
        <p:blipFill>
          <a:blip r:embed="rId3" cstate="print"/>
          <a:stretch>
            <a:fillRect/>
          </a:stretch>
        </p:blipFill>
        <p:spPr>
          <a:xfrm>
            <a:off x="6858000" y="3429000"/>
            <a:ext cx="1936996" cy="1295400"/>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98637"/>
            <a:ext cx="7467600" cy="4525963"/>
          </a:xfrm>
        </p:spPr>
        <p:txBody>
          <a:bodyPr>
            <a:normAutofit/>
          </a:bodyPr>
          <a:lstStyle/>
          <a:p>
            <a:pPr marL="0" indent="0">
              <a:spcBef>
                <a:spcPts val="600"/>
              </a:spcBef>
              <a:spcAft>
                <a:spcPts val="1200"/>
              </a:spcAft>
              <a:buNone/>
            </a:pPr>
            <a:r>
              <a:rPr lang="en-AU" sz="2200" b="1" dirty="0">
                <a:latin typeface="Helvetica"/>
                <a:ea typeface="Times New Roman"/>
                <a:cs typeface="Times New Roman"/>
              </a:rPr>
              <a:t>Impacts on frequency of statements and reports</a:t>
            </a:r>
          </a:p>
          <a:p>
            <a:pPr marL="396000" indent="-396000">
              <a:spcBef>
                <a:spcPts val="600"/>
              </a:spcBef>
              <a:spcAft>
                <a:spcPts val="1200"/>
              </a:spcAft>
            </a:pPr>
            <a:r>
              <a:rPr lang="en-AU" sz="2200" dirty="0">
                <a:latin typeface="Helvetica"/>
                <a:ea typeface="Times New Roman"/>
                <a:cs typeface="Times New Roman"/>
              </a:rPr>
              <a:t>Ownership requirements</a:t>
            </a:r>
          </a:p>
          <a:p>
            <a:pPr marL="396000" indent="-396000">
              <a:spcBef>
                <a:spcPts val="600"/>
              </a:spcBef>
              <a:spcAft>
                <a:spcPts val="1200"/>
              </a:spcAft>
            </a:pPr>
            <a:r>
              <a:rPr lang="en-AU" sz="2200" dirty="0">
                <a:latin typeface="Helvetica"/>
                <a:ea typeface="Times New Roman"/>
                <a:cs typeface="Times New Roman"/>
              </a:rPr>
              <a:t>Financial Accounting reports</a:t>
            </a:r>
          </a:p>
          <a:p>
            <a:pPr marL="396000" indent="-396000">
              <a:spcBef>
                <a:spcPts val="600"/>
              </a:spcBef>
              <a:spcAft>
                <a:spcPts val="1200"/>
              </a:spcAft>
            </a:pPr>
            <a:r>
              <a:rPr lang="en-AU" sz="2200" dirty="0">
                <a:latin typeface="Helvetica"/>
                <a:ea typeface="Times New Roman"/>
                <a:cs typeface="Times New Roman"/>
              </a:rPr>
              <a:t>Management Accounting reports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sp>
        <p:nvSpPr>
          <p:cNvPr id="7" name="Title 1"/>
          <p:cNvSpPr>
            <a:spLocks noGrp="1"/>
          </p:cNvSpPr>
          <p:nvPr>
            <p:ph type="title"/>
          </p:nvPr>
        </p:nvSpPr>
        <p:spPr>
          <a:xfrm>
            <a:off x="611560" y="152400"/>
            <a:ext cx="7694240" cy="1219200"/>
          </a:xfrm>
        </p:spPr>
        <p:txBody>
          <a:bodyPr>
            <a:noAutofit/>
          </a:bodyPr>
          <a:lstStyle/>
          <a:p>
            <a:pPr indent="-457200"/>
            <a:r>
              <a:rPr lang="en-AU" sz="2900" b="1" dirty="0" smtClean="0">
                <a:solidFill>
                  <a:srgbClr val="FF6600"/>
                </a:solidFill>
              </a:rPr>
              <a:t>2.1  	Accurately </a:t>
            </a:r>
            <a:r>
              <a:rPr lang="en-AU" sz="2900" b="1" dirty="0">
                <a:solidFill>
                  <a:srgbClr val="FF6600"/>
                </a:solidFill>
              </a:rPr>
              <a:t>complete routine </a:t>
            </a:r>
            <a:r>
              <a:rPr lang="en-AU" sz="2900" b="1" dirty="0" smtClean="0">
                <a:solidFill>
                  <a:srgbClr val="FF6600"/>
                </a:solidFill>
              </a:rPr>
              <a:t>	financial/statistical </a:t>
            </a:r>
            <a:r>
              <a:rPr lang="en-AU" sz="2900" b="1" dirty="0">
                <a:solidFill>
                  <a:srgbClr val="FF6600"/>
                </a:solidFill>
              </a:rPr>
              <a:t>reports within </a:t>
            </a:r>
            <a:r>
              <a:rPr lang="en-AU" sz="2900" b="1" dirty="0" smtClean="0">
                <a:solidFill>
                  <a:srgbClr val="FF6600"/>
                </a:solidFill>
              </a:rPr>
              <a:t>	designated </a:t>
            </a:r>
            <a:r>
              <a:rPr lang="en-AU" sz="2900" b="1" dirty="0">
                <a:solidFill>
                  <a:srgbClr val="FF6600"/>
                </a:solidFill>
              </a:rPr>
              <a:t>timelines</a:t>
            </a:r>
            <a:endParaRPr lang="en-US" sz="2900" b="1" dirty="0">
              <a:solidFill>
                <a:srgbClr val="FF6600"/>
              </a:solidFill>
            </a:endParaRPr>
          </a:p>
        </p:txBody>
      </p:sp>
      <p:pic>
        <p:nvPicPr>
          <p:cNvPr id="8" name="Picture 7" descr="A5 shutterstock_131103662.jpg"/>
          <p:cNvPicPr/>
          <p:nvPr/>
        </p:nvPicPr>
        <p:blipFill>
          <a:blip r:embed="rId3" cstate="print"/>
          <a:stretch>
            <a:fillRect/>
          </a:stretch>
        </p:blipFill>
        <p:spPr>
          <a:xfrm>
            <a:off x="5810468" y="2667000"/>
            <a:ext cx="2402358" cy="1600200"/>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98637"/>
            <a:ext cx="7467600" cy="4525963"/>
          </a:xfrm>
        </p:spPr>
        <p:txBody>
          <a:bodyPr>
            <a:normAutofit/>
          </a:bodyPr>
          <a:lstStyle/>
          <a:p>
            <a:pPr marL="36576" indent="0">
              <a:spcBef>
                <a:spcPts val="600"/>
              </a:spcBef>
              <a:spcAft>
                <a:spcPts val="1200"/>
              </a:spcAft>
              <a:buNone/>
            </a:pPr>
            <a:r>
              <a:rPr lang="en-US" sz="2200" b="1" dirty="0">
                <a:latin typeface="Helvetica"/>
                <a:ea typeface="Times New Roman"/>
                <a:cs typeface="Times New Roman"/>
              </a:rPr>
              <a:t>Users of financial information</a:t>
            </a:r>
            <a:endParaRPr lang="en-AU" sz="2200" dirty="0">
              <a:ea typeface="Times New Roman"/>
              <a:cs typeface="Times New Roman"/>
            </a:endParaRPr>
          </a:p>
          <a:p>
            <a:pPr>
              <a:spcBef>
                <a:spcPts val="600"/>
              </a:spcBef>
              <a:spcAft>
                <a:spcPts val="1200"/>
              </a:spcAft>
            </a:pPr>
            <a:r>
              <a:rPr lang="en-US" sz="2200" dirty="0">
                <a:latin typeface="Helvetica"/>
                <a:ea typeface="Times New Roman"/>
                <a:cs typeface="Times New Roman"/>
              </a:rPr>
              <a:t>When financial documents are to be prepared, it is vital that they are constructed with the end user in </a:t>
            </a:r>
            <a:r>
              <a:rPr lang="en-US" sz="2200" dirty="0" smtClean="0">
                <a:latin typeface="Helvetica"/>
                <a:ea typeface="Times New Roman"/>
                <a:cs typeface="Times New Roman"/>
              </a:rPr>
              <a:t>mind</a:t>
            </a:r>
            <a:endParaRPr lang="en-AU" sz="2200" dirty="0">
              <a:ea typeface="Times New Roman"/>
              <a:cs typeface="Times New Roman"/>
            </a:endParaRPr>
          </a:p>
          <a:p>
            <a:pPr>
              <a:spcBef>
                <a:spcPts val="600"/>
              </a:spcBef>
              <a:spcAft>
                <a:spcPts val="1200"/>
              </a:spcAft>
            </a:pPr>
            <a:r>
              <a:rPr lang="en-US" sz="2200" dirty="0">
                <a:latin typeface="Helvetica"/>
                <a:ea typeface="Times New Roman"/>
                <a:cs typeface="Times New Roman"/>
              </a:rPr>
              <a:t>Financial statements provide useful information to </a:t>
            </a:r>
            <a:r>
              <a:rPr lang="en-US" sz="2200" b="1" u="sng" dirty="0">
                <a:latin typeface="Helvetica"/>
                <a:ea typeface="Times New Roman"/>
                <a:cs typeface="Times New Roman"/>
              </a:rPr>
              <a:t>many users</a:t>
            </a:r>
            <a:r>
              <a:rPr lang="en-US" sz="2200" dirty="0">
                <a:latin typeface="Helvetica"/>
                <a:ea typeface="Times New Roman"/>
                <a:cs typeface="Times New Roman"/>
              </a:rPr>
              <a:t>.  These users use the information for different </a:t>
            </a:r>
            <a:r>
              <a:rPr lang="en-US" sz="2200" dirty="0" smtClean="0">
                <a:latin typeface="Helvetica"/>
                <a:ea typeface="Times New Roman"/>
                <a:cs typeface="Times New Roman"/>
              </a:rPr>
              <a:t>purposes</a:t>
            </a:r>
            <a:endParaRPr lang="en-AU" sz="2200" dirty="0">
              <a:ea typeface="Times New Roman"/>
              <a:cs typeface="Times New Roman"/>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sp>
        <p:nvSpPr>
          <p:cNvPr id="7" name="Title 1"/>
          <p:cNvSpPr>
            <a:spLocks noGrp="1"/>
          </p:cNvSpPr>
          <p:nvPr>
            <p:ph type="title"/>
          </p:nvPr>
        </p:nvSpPr>
        <p:spPr>
          <a:xfrm>
            <a:off x="611560" y="152400"/>
            <a:ext cx="7694240" cy="1219200"/>
          </a:xfrm>
        </p:spPr>
        <p:txBody>
          <a:bodyPr>
            <a:noAutofit/>
          </a:bodyPr>
          <a:lstStyle/>
          <a:p>
            <a:pPr indent="-457200"/>
            <a:r>
              <a:rPr lang="en-AU" sz="2900" b="1" dirty="0" smtClean="0">
                <a:solidFill>
                  <a:srgbClr val="FF6600"/>
                </a:solidFill>
              </a:rPr>
              <a:t>2.1  	Accurately </a:t>
            </a:r>
            <a:r>
              <a:rPr lang="en-AU" sz="2900" b="1" dirty="0">
                <a:solidFill>
                  <a:srgbClr val="FF6600"/>
                </a:solidFill>
              </a:rPr>
              <a:t>complete routine </a:t>
            </a:r>
            <a:r>
              <a:rPr lang="en-AU" sz="2900" b="1" dirty="0" smtClean="0">
                <a:solidFill>
                  <a:srgbClr val="FF6600"/>
                </a:solidFill>
              </a:rPr>
              <a:t>	financial/statistical </a:t>
            </a:r>
            <a:r>
              <a:rPr lang="en-AU" sz="2900" b="1" dirty="0">
                <a:solidFill>
                  <a:srgbClr val="FF6600"/>
                </a:solidFill>
              </a:rPr>
              <a:t>reports within </a:t>
            </a:r>
            <a:r>
              <a:rPr lang="en-AU" sz="2900" b="1" dirty="0" smtClean="0">
                <a:solidFill>
                  <a:srgbClr val="FF6600"/>
                </a:solidFill>
              </a:rPr>
              <a:t>	designated </a:t>
            </a:r>
            <a:r>
              <a:rPr lang="en-AU" sz="2900" b="1" dirty="0">
                <a:solidFill>
                  <a:srgbClr val="FF6600"/>
                </a:solidFill>
              </a:rPr>
              <a:t>timelines</a:t>
            </a:r>
            <a:endParaRPr lang="en-US" sz="2900" b="1" dirty="0">
              <a:solidFill>
                <a:srgbClr val="FF6600"/>
              </a:solidFill>
            </a:endParaRPr>
          </a:p>
        </p:txBody>
      </p:sp>
      <p:pic>
        <p:nvPicPr>
          <p:cNvPr id="8" name="Picture 7" descr="A19 shutterstock_181811597.jpg"/>
          <p:cNvPicPr/>
          <p:nvPr/>
        </p:nvPicPr>
        <p:blipFill>
          <a:blip r:embed="rId3" cstate="print"/>
          <a:stretch>
            <a:fillRect/>
          </a:stretch>
        </p:blipFill>
        <p:spPr>
          <a:xfrm>
            <a:off x="3429000" y="4495800"/>
            <a:ext cx="2263841" cy="1524000"/>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22437"/>
            <a:ext cx="7467600" cy="4525963"/>
          </a:xfrm>
        </p:spPr>
        <p:txBody>
          <a:bodyPr>
            <a:normAutofit/>
          </a:bodyPr>
          <a:lstStyle/>
          <a:p>
            <a:pPr>
              <a:spcBef>
                <a:spcPts val="600"/>
              </a:spcBef>
              <a:spcAft>
                <a:spcPts val="1200"/>
              </a:spcAft>
            </a:pPr>
            <a:r>
              <a:rPr lang="en-AU" sz="2200" dirty="0">
                <a:latin typeface="Helvetica"/>
                <a:ea typeface="Times New Roman"/>
                <a:cs typeface="HelveticaNeueLTStd-MdCn"/>
              </a:rPr>
              <a:t>Financial report </a:t>
            </a:r>
            <a:r>
              <a:rPr lang="en-AU" sz="2200" dirty="0" smtClean="0">
                <a:latin typeface="Helvetica"/>
                <a:ea typeface="Times New Roman"/>
                <a:cs typeface="HelveticaNeueLTStd-MdCn"/>
              </a:rPr>
              <a:t>topics</a:t>
            </a:r>
          </a:p>
          <a:p>
            <a:pPr>
              <a:spcBef>
                <a:spcPts val="600"/>
              </a:spcBef>
              <a:spcAft>
                <a:spcPts val="1200"/>
              </a:spcAft>
            </a:pPr>
            <a:r>
              <a:rPr lang="en-US" sz="2200" dirty="0" smtClean="0">
                <a:latin typeface="Helvetica"/>
                <a:ea typeface="Times New Roman"/>
                <a:cs typeface="HelveticaNeueLTStd-Cn"/>
              </a:rPr>
              <a:t>Statement </a:t>
            </a:r>
            <a:r>
              <a:rPr lang="en-US" sz="2200" dirty="0">
                <a:latin typeface="Helvetica"/>
                <a:ea typeface="Times New Roman"/>
                <a:cs typeface="HelveticaNeueLTStd-Cn"/>
              </a:rPr>
              <a:t>of Financial </a:t>
            </a:r>
            <a:r>
              <a:rPr lang="en-US" sz="2200" dirty="0" smtClean="0">
                <a:latin typeface="Helvetica"/>
                <a:ea typeface="Times New Roman"/>
                <a:cs typeface="HelveticaNeueLTStd-Cn"/>
              </a:rPr>
              <a:t>Position </a:t>
            </a:r>
            <a:r>
              <a:rPr lang="en-US" sz="2200" dirty="0">
                <a:latin typeface="Helvetica"/>
                <a:ea typeface="Times New Roman"/>
                <a:cs typeface="HelveticaNeueLTStd-Cn"/>
              </a:rPr>
              <a:t>/ </a:t>
            </a:r>
            <a:r>
              <a:rPr lang="en-AU" sz="2200" dirty="0">
                <a:latin typeface="Helvetica"/>
                <a:ea typeface="Times New Roman"/>
                <a:cs typeface="HelveticaNeueLTStd-Cn"/>
              </a:rPr>
              <a:t>Profit and Loss</a:t>
            </a:r>
            <a:r>
              <a:rPr lang="en-US" sz="2200" dirty="0">
                <a:latin typeface="Helvetica"/>
                <a:ea typeface="Times New Roman"/>
                <a:cs typeface="HelveticaNeueLTStd-Cn"/>
              </a:rPr>
              <a:t> </a:t>
            </a:r>
            <a:r>
              <a:rPr lang="en-US" sz="2200" dirty="0" smtClean="0">
                <a:latin typeface="Helvetica"/>
                <a:ea typeface="Times New Roman"/>
                <a:cs typeface="HelveticaNeueLTStd-Cn"/>
              </a:rPr>
              <a:t>S</a:t>
            </a:r>
            <a:r>
              <a:rPr lang="en-AU" sz="2200" dirty="0" smtClean="0">
                <a:latin typeface="Helvetica"/>
                <a:ea typeface="Times New Roman"/>
                <a:cs typeface="HelveticaNeueLTStd-Cn"/>
              </a:rPr>
              <a:t>tatement</a:t>
            </a:r>
          </a:p>
          <a:p>
            <a:pPr lvl="1">
              <a:spcBef>
                <a:spcPts val="600"/>
              </a:spcBef>
              <a:spcAft>
                <a:spcPts val="1200"/>
              </a:spcAft>
            </a:pPr>
            <a:r>
              <a:rPr lang="en-AU" sz="2200" dirty="0">
                <a:latin typeface="Helvetica"/>
                <a:ea typeface="Calibri"/>
                <a:cs typeface="Calibri"/>
              </a:rPr>
              <a:t>Revenue </a:t>
            </a:r>
          </a:p>
          <a:p>
            <a:pPr lvl="1">
              <a:spcBef>
                <a:spcPts val="600"/>
              </a:spcBef>
              <a:spcAft>
                <a:spcPts val="1200"/>
              </a:spcAft>
            </a:pPr>
            <a:r>
              <a:rPr lang="en-AU" sz="2200" dirty="0">
                <a:latin typeface="Helvetica"/>
                <a:ea typeface="Calibri"/>
                <a:cs typeface="Calibri"/>
              </a:rPr>
              <a:t>Cost of goods sold or Cost of sales</a:t>
            </a:r>
          </a:p>
          <a:p>
            <a:pPr lvl="1">
              <a:spcBef>
                <a:spcPts val="600"/>
              </a:spcBef>
              <a:spcAft>
                <a:spcPts val="1200"/>
              </a:spcAft>
            </a:pPr>
            <a:r>
              <a:rPr lang="en-AU" sz="2200" dirty="0">
                <a:latin typeface="Helvetica"/>
                <a:ea typeface="Calibri"/>
                <a:cs typeface="Calibri"/>
              </a:rPr>
              <a:t>Gross profit</a:t>
            </a:r>
          </a:p>
          <a:p>
            <a:pPr lvl="1">
              <a:spcBef>
                <a:spcPts val="600"/>
              </a:spcBef>
              <a:spcAft>
                <a:spcPts val="1200"/>
              </a:spcAft>
            </a:pPr>
            <a:r>
              <a:rPr lang="en-AU" sz="2200" dirty="0" smtClean="0">
                <a:latin typeface="Helvetica"/>
                <a:ea typeface="Calibri"/>
                <a:cs typeface="Calibri"/>
              </a:rPr>
              <a:t>Expenses</a:t>
            </a:r>
            <a:endParaRPr lang="en-AU" sz="2200" dirty="0" smtClean="0">
              <a:ea typeface="Times New Roman"/>
              <a:cs typeface="Times New Roman"/>
            </a:endParaRPr>
          </a:p>
          <a:p>
            <a:pPr>
              <a:spcBef>
                <a:spcPts val="600"/>
              </a:spcBef>
              <a:spcAft>
                <a:spcPts val="1200"/>
              </a:spcAft>
            </a:pPr>
            <a:endParaRPr lang="en-AU" sz="2200" dirty="0">
              <a:ea typeface="Times New Roman"/>
              <a:cs typeface="Times New Roman"/>
            </a:endParaRPr>
          </a:p>
          <a:p>
            <a:pPr>
              <a:spcBef>
                <a:spcPts val="600"/>
              </a:spcBef>
              <a:spcAft>
                <a:spcPts val="1200"/>
              </a:spcAft>
            </a:pPr>
            <a:endParaRPr lang="en-AU" sz="2200" dirty="0"/>
          </a:p>
        </p:txBody>
      </p:sp>
      <p:sp>
        <p:nvSpPr>
          <p:cNvPr id="6" name="Title 1"/>
          <p:cNvSpPr>
            <a:spLocks noGrp="1"/>
          </p:cNvSpPr>
          <p:nvPr>
            <p:ph type="title"/>
          </p:nvPr>
        </p:nvSpPr>
        <p:spPr>
          <a:xfrm>
            <a:off x="611560" y="152400"/>
            <a:ext cx="7694240" cy="1219200"/>
          </a:xfrm>
        </p:spPr>
        <p:txBody>
          <a:bodyPr>
            <a:noAutofit/>
          </a:bodyPr>
          <a:lstStyle/>
          <a:p>
            <a:pPr indent="-457200"/>
            <a:r>
              <a:rPr lang="en-AU" sz="2900" b="1" dirty="0" smtClean="0">
                <a:solidFill>
                  <a:srgbClr val="FF6600"/>
                </a:solidFill>
              </a:rPr>
              <a:t>2.1  	Accurately </a:t>
            </a:r>
            <a:r>
              <a:rPr lang="en-AU" sz="2900" b="1" dirty="0">
                <a:solidFill>
                  <a:srgbClr val="FF6600"/>
                </a:solidFill>
              </a:rPr>
              <a:t>complete routine </a:t>
            </a:r>
            <a:r>
              <a:rPr lang="en-AU" sz="2900" b="1" dirty="0" smtClean="0">
                <a:solidFill>
                  <a:srgbClr val="FF6600"/>
                </a:solidFill>
              </a:rPr>
              <a:t>	financial/statistical </a:t>
            </a:r>
            <a:r>
              <a:rPr lang="en-AU" sz="2900" b="1" dirty="0">
                <a:solidFill>
                  <a:srgbClr val="FF6600"/>
                </a:solidFill>
              </a:rPr>
              <a:t>reports within </a:t>
            </a:r>
            <a:r>
              <a:rPr lang="en-AU" sz="2900" b="1" dirty="0" smtClean="0">
                <a:solidFill>
                  <a:srgbClr val="FF6600"/>
                </a:solidFill>
              </a:rPr>
              <a:t>	designated </a:t>
            </a:r>
            <a:r>
              <a:rPr lang="en-AU" sz="2900" b="1" dirty="0">
                <a:solidFill>
                  <a:srgbClr val="FF6600"/>
                </a:solidFill>
              </a:rPr>
              <a:t>timelines</a:t>
            </a:r>
            <a:endParaRPr lang="en-US" sz="2900" b="1" dirty="0">
              <a:solidFill>
                <a:srgbClr val="FF6600"/>
              </a:solidFill>
            </a:endParaRPr>
          </a:p>
        </p:txBody>
      </p:sp>
      <p:pic>
        <p:nvPicPr>
          <p:cNvPr id="7" name="Picture 6" descr="11.jpg"/>
          <p:cNvPicPr/>
          <p:nvPr/>
        </p:nvPicPr>
        <p:blipFill>
          <a:blip r:embed="rId3" cstate="print"/>
          <a:stretch>
            <a:fillRect/>
          </a:stretch>
        </p:blipFill>
        <p:spPr>
          <a:xfrm>
            <a:off x="6248400" y="3429000"/>
            <a:ext cx="2073180" cy="1378424"/>
          </a:xfrm>
          <a:prstGeom prst="rect">
            <a:avLst/>
          </a:prstGeom>
        </p:spPr>
      </p:pic>
      <p:sp>
        <p:nvSpPr>
          <p:cNvPr id="8"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spTree>
    <p:extLst>
      <p:ext uri="{BB962C8B-B14F-4D97-AF65-F5344CB8AC3E}">
        <p14:creationId xmlns:p14="http://schemas.microsoft.com/office/powerpoint/2010/main" val="243476443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98637"/>
            <a:ext cx="7467600" cy="4525963"/>
          </a:xfrm>
        </p:spPr>
        <p:txBody>
          <a:bodyPr>
            <a:normAutofit/>
          </a:bodyPr>
          <a:lstStyle/>
          <a:p>
            <a:pPr>
              <a:lnSpc>
                <a:spcPct val="115000"/>
              </a:lnSpc>
              <a:spcBef>
                <a:spcPts val="1200"/>
              </a:spcBef>
              <a:spcAft>
                <a:spcPts val="1200"/>
              </a:spcAft>
            </a:pPr>
            <a:r>
              <a:rPr lang="en-US" sz="2200" dirty="0" smtClean="0">
                <a:latin typeface="Helvetica"/>
                <a:ea typeface="Times New Roman"/>
                <a:cs typeface="HelveticaNeueLTStd-Cn"/>
              </a:rPr>
              <a:t>Statement </a:t>
            </a:r>
            <a:r>
              <a:rPr lang="en-US" sz="2200" dirty="0">
                <a:latin typeface="Helvetica"/>
                <a:ea typeface="Times New Roman"/>
                <a:cs typeface="HelveticaNeueLTStd-Cn"/>
              </a:rPr>
              <a:t>of Financial </a:t>
            </a:r>
            <a:r>
              <a:rPr lang="en-US" sz="2200" dirty="0" smtClean="0">
                <a:latin typeface="Helvetica"/>
                <a:ea typeface="Times New Roman"/>
                <a:cs typeface="HelveticaNeueLTStd-Cn"/>
              </a:rPr>
              <a:t>Position </a:t>
            </a:r>
            <a:r>
              <a:rPr lang="en-US" sz="2200" dirty="0">
                <a:latin typeface="Helvetica"/>
                <a:ea typeface="Times New Roman"/>
                <a:cs typeface="HelveticaNeueLTStd-Cn"/>
              </a:rPr>
              <a:t>/ </a:t>
            </a:r>
            <a:r>
              <a:rPr lang="en-AU" sz="2200" dirty="0" smtClean="0">
                <a:latin typeface="Helvetica"/>
                <a:ea typeface="Times New Roman"/>
                <a:cs typeface="HelveticaNeueLTStd-Cn"/>
              </a:rPr>
              <a:t>Balance Sheet</a:t>
            </a:r>
          </a:p>
          <a:p>
            <a:pPr lvl="1">
              <a:spcBef>
                <a:spcPts val="400"/>
              </a:spcBef>
              <a:spcAft>
                <a:spcPts val="800"/>
              </a:spcAft>
            </a:pPr>
            <a:r>
              <a:rPr lang="en-AU" sz="2200" i="1" dirty="0" smtClean="0">
                <a:latin typeface="Helvetica"/>
                <a:ea typeface="Calibri"/>
                <a:cs typeface="Calibri"/>
              </a:rPr>
              <a:t>Assets</a:t>
            </a:r>
            <a:endParaRPr lang="en-AU" sz="2200" dirty="0">
              <a:latin typeface="Helvetica"/>
              <a:ea typeface="Calibri"/>
              <a:cs typeface="Calibri"/>
            </a:endParaRPr>
          </a:p>
          <a:p>
            <a:pPr lvl="1">
              <a:spcBef>
                <a:spcPts val="400"/>
              </a:spcBef>
              <a:spcAft>
                <a:spcPts val="800"/>
              </a:spcAft>
            </a:pPr>
            <a:r>
              <a:rPr lang="en-AU" sz="2200" i="1" dirty="0">
                <a:latin typeface="Helvetica"/>
                <a:ea typeface="Calibri"/>
                <a:cs typeface="Calibri"/>
              </a:rPr>
              <a:t>Liabilities</a:t>
            </a:r>
            <a:endParaRPr lang="en-AU" sz="2200" dirty="0">
              <a:latin typeface="Helvetica"/>
              <a:ea typeface="Calibri"/>
              <a:cs typeface="Calibri"/>
            </a:endParaRPr>
          </a:p>
          <a:p>
            <a:pPr lvl="1">
              <a:spcBef>
                <a:spcPts val="400"/>
              </a:spcBef>
              <a:spcAft>
                <a:spcPts val="800"/>
              </a:spcAft>
            </a:pPr>
            <a:r>
              <a:rPr lang="en-AU" sz="2200" i="1" dirty="0">
                <a:latin typeface="Helvetica"/>
                <a:ea typeface="Calibri"/>
                <a:cs typeface="Calibri"/>
              </a:rPr>
              <a:t>Owners equity</a:t>
            </a:r>
            <a:endParaRPr lang="en-AU" sz="2200" dirty="0">
              <a:latin typeface="Helvetica"/>
              <a:ea typeface="Calibri"/>
              <a:cs typeface="Calibri"/>
            </a:endParaRPr>
          </a:p>
          <a:p>
            <a:pPr lvl="1">
              <a:spcBef>
                <a:spcPts val="400"/>
              </a:spcBef>
              <a:spcAft>
                <a:spcPts val="800"/>
              </a:spcAft>
            </a:pPr>
            <a:r>
              <a:rPr lang="en-AU" sz="2200" i="1" dirty="0">
                <a:latin typeface="Helvetica"/>
                <a:ea typeface="Calibri"/>
                <a:cs typeface="Calibri"/>
              </a:rPr>
              <a:t>Comparative </a:t>
            </a:r>
            <a:r>
              <a:rPr lang="en-AU" sz="2200" i="1" dirty="0" smtClean="0">
                <a:latin typeface="Helvetica"/>
                <a:ea typeface="Calibri"/>
                <a:cs typeface="Calibri"/>
              </a:rPr>
              <a:t>data</a:t>
            </a:r>
            <a:endParaRPr lang="en-AU" sz="2200" dirty="0" smtClean="0">
              <a:latin typeface="Helvetica"/>
              <a:ea typeface="Times New Roman"/>
              <a:cs typeface="HelveticaNeueLTStd-Cn"/>
            </a:endParaRPr>
          </a:p>
          <a:p>
            <a:pPr>
              <a:lnSpc>
                <a:spcPct val="115000"/>
              </a:lnSpc>
              <a:spcBef>
                <a:spcPts val="1200"/>
              </a:spcBef>
              <a:spcAft>
                <a:spcPts val="1200"/>
              </a:spcAft>
            </a:pPr>
            <a:endParaRPr lang="en-AU" sz="2200" dirty="0" smtClean="0">
              <a:ea typeface="Times New Roman"/>
              <a:cs typeface="Times New Roman"/>
            </a:endParaRPr>
          </a:p>
          <a:p>
            <a:pPr>
              <a:lnSpc>
                <a:spcPct val="115000"/>
              </a:lnSpc>
              <a:spcBef>
                <a:spcPts val="1200"/>
              </a:spcBef>
              <a:spcAft>
                <a:spcPts val="1200"/>
              </a:spcAft>
            </a:pPr>
            <a:endParaRPr lang="en-AU" sz="2200" dirty="0">
              <a:ea typeface="Times New Roman"/>
              <a:cs typeface="Times New Roman"/>
            </a:endParaRPr>
          </a:p>
          <a:p>
            <a:endParaRPr lang="en-AU" sz="2200" dirty="0"/>
          </a:p>
        </p:txBody>
      </p:sp>
      <p:sp>
        <p:nvSpPr>
          <p:cNvPr id="7" name="Title 1"/>
          <p:cNvSpPr>
            <a:spLocks noGrp="1"/>
          </p:cNvSpPr>
          <p:nvPr>
            <p:ph type="title"/>
          </p:nvPr>
        </p:nvSpPr>
        <p:spPr>
          <a:xfrm>
            <a:off x="611560" y="152400"/>
            <a:ext cx="7694240" cy="1219200"/>
          </a:xfrm>
        </p:spPr>
        <p:txBody>
          <a:bodyPr>
            <a:noAutofit/>
          </a:bodyPr>
          <a:lstStyle/>
          <a:p>
            <a:pPr indent="-457200"/>
            <a:r>
              <a:rPr lang="en-AU" sz="2900" b="1" dirty="0" smtClean="0">
                <a:solidFill>
                  <a:srgbClr val="FF6600"/>
                </a:solidFill>
              </a:rPr>
              <a:t>2.1  	Accurately </a:t>
            </a:r>
            <a:r>
              <a:rPr lang="en-AU" sz="2900" b="1" dirty="0">
                <a:solidFill>
                  <a:srgbClr val="FF6600"/>
                </a:solidFill>
              </a:rPr>
              <a:t>complete routine </a:t>
            </a:r>
            <a:r>
              <a:rPr lang="en-AU" sz="2900" b="1" dirty="0" smtClean="0">
                <a:solidFill>
                  <a:srgbClr val="FF6600"/>
                </a:solidFill>
              </a:rPr>
              <a:t>	financial/statistical </a:t>
            </a:r>
            <a:r>
              <a:rPr lang="en-AU" sz="2900" b="1" dirty="0">
                <a:solidFill>
                  <a:srgbClr val="FF6600"/>
                </a:solidFill>
              </a:rPr>
              <a:t>reports within </a:t>
            </a:r>
            <a:r>
              <a:rPr lang="en-AU" sz="2900" b="1" dirty="0" smtClean="0">
                <a:solidFill>
                  <a:srgbClr val="FF6600"/>
                </a:solidFill>
              </a:rPr>
              <a:t>	designated </a:t>
            </a:r>
            <a:r>
              <a:rPr lang="en-AU" sz="2900" b="1" dirty="0">
                <a:solidFill>
                  <a:srgbClr val="FF6600"/>
                </a:solidFill>
              </a:rPr>
              <a:t>timelines</a:t>
            </a:r>
            <a:endParaRPr lang="en-US" sz="2900" b="1" dirty="0">
              <a:solidFill>
                <a:srgbClr val="FF6600"/>
              </a:solidFill>
            </a:endParaRPr>
          </a:p>
        </p:txBody>
      </p:sp>
      <p:pic>
        <p:nvPicPr>
          <p:cNvPr id="8" name="Picture 7" descr="shutterstock_103134797.jpg"/>
          <p:cNvPicPr/>
          <p:nvPr/>
        </p:nvPicPr>
        <p:blipFill>
          <a:blip r:embed="rId3" cstate="print"/>
          <a:stretch>
            <a:fillRect/>
          </a:stretch>
        </p:blipFill>
        <p:spPr>
          <a:xfrm>
            <a:off x="6477000" y="2438400"/>
            <a:ext cx="1651531" cy="2510009"/>
          </a:xfrm>
          <a:prstGeom prst="rect">
            <a:avLst/>
          </a:prstGeom>
        </p:spPr>
      </p:pic>
      <p:sp>
        <p:nvSpPr>
          <p:cNvPr id="9"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spTree>
    <p:extLst>
      <p:ext uri="{BB962C8B-B14F-4D97-AF65-F5344CB8AC3E}">
        <p14:creationId xmlns:p14="http://schemas.microsoft.com/office/powerpoint/2010/main" val="171815865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22437"/>
            <a:ext cx="7467600" cy="4525963"/>
          </a:xfrm>
        </p:spPr>
        <p:txBody>
          <a:bodyPr>
            <a:noAutofit/>
          </a:bodyPr>
          <a:lstStyle/>
          <a:p>
            <a:pPr marL="36576" indent="0">
              <a:spcBef>
                <a:spcPts val="600"/>
              </a:spcBef>
              <a:spcAft>
                <a:spcPts val="1200"/>
              </a:spcAft>
              <a:buNone/>
            </a:pPr>
            <a:r>
              <a:rPr lang="en-AU" sz="2200" b="1" dirty="0" smtClean="0">
                <a:latin typeface="Helvetica"/>
                <a:ea typeface="Times New Roman"/>
                <a:cs typeface="HelveticaNeueLTStd-Cn"/>
              </a:rPr>
              <a:t>Cash reports</a:t>
            </a:r>
          </a:p>
          <a:p>
            <a:pPr>
              <a:spcBef>
                <a:spcPts val="600"/>
              </a:spcBef>
              <a:spcAft>
                <a:spcPts val="1200"/>
              </a:spcAft>
            </a:pPr>
            <a:r>
              <a:rPr lang="en-AU" sz="2200" dirty="0" smtClean="0">
                <a:latin typeface="Helvetica"/>
                <a:ea typeface="Times New Roman"/>
                <a:cs typeface="HelveticaNeueLTStd-Cn"/>
              </a:rPr>
              <a:t>Cash flow summaries</a:t>
            </a:r>
          </a:p>
          <a:p>
            <a:pPr lvl="1">
              <a:spcBef>
                <a:spcPts val="600"/>
              </a:spcBef>
              <a:spcAft>
                <a:spcPts val="1200"/>
              </a:spcAft>
            </a:pPr>
            <a:r>
              <a:rPr lang="en-AU" sz="2200" dirty="0" smtClean="0">
                <a:latin typeface="Helvetica"/>
                <a:ea typeface="Times New Roman"/>
                <a:cs typeface="HelveticaNeueLTStd-Cn"/>
              </a:rPr>
              <a:t>Cash receipts</a:t>
            </a:r>
          </a:p>
          <a:p>
            <a:pPr lvl="1">
              <a:spcBef>
                <a:spcPts val="600"/>
              </a:spcBef>
              <a:spcAft>
                <a:spcPts val="1200"/>
              </a:spcAft>
            </a:pPr>
            <a:r>
              <a:rPr lang="en-AU" sz="2200" dirty="0" smtClean="0">
                <a:latin typeface="Helvetica"/>
                <a:ea typeface="Times New Roman"/>
                <a:cs typeface="HelveticaNeueLTStd-Cn"/>
              </a:rPr>
              <a:t>Cash payments</a:t>
            </a:r>
          </a:p>
          <a:p>
            <a:pPr lvl="1">
              <a:spcBef>
                <a:spcPts val="600"/>
              </a:spcBef>
              <a:spcAft>
                <a:spcPts val="1200"/>
              </a:spcAft>
            </a:pPr>
            <a:r>
              <a:rPr lang="en-AU" sz="2200" dirty="0" smtClean="0">
                <a:latin typeface="Helvetica"/>
                <a:ea typeface="Times New Roman"/>
                <a:cs typeface="HelveticaNeueLTStd-Cn"/>
              </a:rPr>
              <a:t>Cash budget</a:t>
            </a:r>
          </a:p>
          <a:p>
            <a:pPr>
              <a:spcBef>
                <a:spcPts val="600"/>
              </a:spcBef>
              <a:spcAft>
                <a:spcPts val="1200"/>
              </a:spcAft>
            </a:pPr>
            <a:r>
              <a:rPr lang="en-AU" sz="2200" dirty="0" smtClean="0">
                <a:latin typeface="Helvetica"/>
                <a:ea typeface="Times New Roman"/>
                <a:cs typeface="HelveticaNeueLTStd-Cn"/>
              </a:rPr>
              <a:t>Routine cash reports</a:t>
            </a:r>
          </a:p>
          <a:p>
            <a:pPr lvl="1">
              <a:spcBef>
                <a:spcPts val="600"/>
              </a:spcBef>
              <a:spcAft>
                <a:spcPts val="1200"/>
              </a:spcAft>
            </a:pPr>
            <a:r>
              <a:rPr lang="en-AU" sz="2200" dirty="0" smtClean="0">
                <a:latin typeface="Helvetica"/>
                <a:ea typeface="Times New Roman"/>
                <a:cs typeface="HelveticaNeueLTStd-Cn"/>
              </a:rPr>
              <a:t>Daily takings report</a:t>
            </a:r>
          </a:p>
          <a:p>
            <a:pPr lvl="1">
              <a:spcBef>
                <a:spcPts val="600"/>
              </a:spcBef>
              <a:spcAft>
                <a:spcPts val="1200"/>
              </a:spcAft>
            </a:pPr>
            <a:r>
              <a:rPr lang="en-AU" sz="2200" dirty="0" smtClean="0">
                <a:latin typeface="Helvetica"/>
                <a:ea typeface="Times New Roman"/>
                <a:cs typeface="HelveticaNeueLTStd-Cn"/>
              </a:rPr>
              <a:t>Daily cash received report</a:t>
            </a:r>
          </a:p>
          <a:p>
            <a:pPr>
              <a:spcBef>
                <a:spcPts val="600"/>
              </a:spcBef>
              <a:spcAft>
                <a:spcPts val="1200"/>
              </a:spcAft>
            </a:pPr>
            <a:endParaRPr lang="en-AU" sz="2200" dirty="0" smtClean="0">
              <a:latin typeface="Helvetica"/>
              <a:ea typeface="Times New Roman"/>
              <a:cs typeface="HelveticaNeueLTStd-Cn"/>
            </a:endParaRPr>
          </a:p>
          <a:p>
            <a:pPr>
              <a:spcBef>
                <a:spcPts val="600"/>
              </a:spcBef>
              <a:spcAft>
                <a:spcPts val="1200"/>
              </a:spcAft>
            </a:pPr>
            <a:endParaRPr lang="en-AU" sz="2200" dirty="0" smtClean="0">
              <a:ea typeface="Times New Roman"/>
              <a:cs typeface="Times New Roman"/>
            </a:endParaRPr>
          </a:p>
          <a:p>
            <a:pPr>
              <a:spcBef>
                <a:spcPts val="600"/>
              </a:spcBef>
              <a:spcAft>
                <a:spcPts val="1200"/>
              </a:spcAft>
            </a:pPr>
            <a:endParaRPr lang="en-AU" sz="2200" dirty="0">
              <a:ea typeface="Times New Roman"/>
              <a:cs typeface="Times New Roman"/>
            </a:endParaRPr>
          </a:p>
          <a:p>
            <a:pPr>
              <a:spcBef>
                <a:spcPts val="600"/>
              </a:spcBef>
            </a:pPr>
            <a:endParaRPr lang="en-AU" sz="2200" dirty="0"/>
          </a:p>
        </p:txBody>
      </p:sp>
      <p:sp>
        <p:nvSpPr>
          <p:cNvPr id="6" name="Title 1"/>
          <p:cNvSpPr>
            <a:spLocks noGrp="1"/>
          </p:cNvSpPr>
          <p:nvPr>
            <p:ph type="title"/>
          </p:nvPr>
        </p:nvSpPr>
        <p:spPr>
          <a:xfrm>
            <a:off x="611560" y="152400"/>
            <a:ext cx="7694240" cy="1219200"/>
          </a:xfrm>
        </p:spPr>
        <p:txBody>
          <a:bodyPr>
            <a:noAutofit/>
          </a:bodyPr>
          <a:lstStyle/>
          <a:p>
            <a:pPr indent="-457200"/>
            <a:r>
              <a:rPr lang="en-AU" sz="2900" b="1" dirty="0" smtClean="0">
                <a:solidFill>
                  <a:srgbClr val="FF6600"/>
                </a:solidFill>
              </a:rPr>
              <a:t>2.1  	Accurately </a:t>
            </a:r>
            <a:r>
              <a:rPr lang="en-AU" sz="2900" b="1" dirty="0">
                <a:solidFill>
                  <a:srgbClr val="FF6600"/>
                </a:solidFill>
              </a:rPr>
              <a:t>complete routine </a:t>
            </a:r>
            <a:r>
              <a:rPr lang="en-AU" sz="2900" b="1" dirty="0" smtClean="0">
                <a:solidFill>
                  <a:srgbClr val="FF6600"/>
                </a:solidFill>
              </a:rPr>
              <a:t>	financial/statistical </a:t>
            </a:r>
            <a:r>
              <a:rPr lang="en-AU" sz="2900" b="1" dirty="0">
                <a:solidFill>
                  <a:srgbClr val="FF6600"/>
                </a:solidFill>
              </a:rPr>
              <a:t>reports within </a:t>
            </a:r>
            <a:r>
              <a:rPr lang="en-AU" sz="2900" b="1" dirty="0" smtClean="0">
                <a:solidFill>
                  <a:srgbClr val="FF6600"/>
                </a:solidFill>
              </a:rPr>
              <a:t>	designated </a:t>
            </a:r>
            <a:r>
              <a:rPr lang="en-AU" sz="2900" b="1" dirty="0">
                <a:solidFill>
                  <a:srgbClr val="FF6600"/>
                </a:solidFill>
              </a:rPr>
              <a:t>timelines</a:t>
            </a:r>
            <a:endParaRPr lang="en-US" sz="2900" b="1" dirty="0">
              <a:solidFill>
                <a:srgbClr val="FF6600"/>
              </a:solidFill>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8" name="Picture 7" descr="freeimage-6224114.jpg"/>
          <p:cNvPicPr/>
          <p:nvPr/>
        </p:nvPicPr>
        <p:blipFill>
          <a:blip r:embed="rId3" cstate="print"/>
          <a:stretch>
            <a:fillRect/>
          </a:stretch>
        </p:blipFill>
        <p:spPr>
          <a:xfrm>
            <a:off x="5531472" y="2590800"/>
            <a:ext cx="2259410" cy="1676400"/>
          </a:xfrm>
          <a:prstGeom prst="rect">
            <a:avLst/>
          </a:prstGeom>
        </p:spPr>
      </p:pic>
    </p:spTree>
    <p:extLst>
      <p:ext uri="{BB962C8B-B14F-4D97-AF65-F5344CB8AC3E}">
        <p14:creationId xmlns:p14="http://schemas.microsoft.com/office/powerpoint/2010/main" val="339754409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6248400" cy="4525963"/>
          </a:xfrm>
        </p:spPr>
        <p:txBody>
          <a:bodyPr>
            <a:normAutofit/>
          </a:bodyPr>
          <a:lstStyle/>
          <a:p>
            <a:pPr marL="36576" indent="0">
              <a:spcBef>
                <a:spcPts val="600"/>
              </a:spcBef>
              <a:spcAft>
                <a:spcPts val="1200"/>
              </a:spcAft>
              <a:buNone/>
            </a:pPr>
            <a:r>
              <a:rPr lang="en-AU" sz="2200" b="1" dirty="0" smtClean="0"/>
              <a:t>Budgets</a:t>
            </a:r>
          </a:p>
          <a:p>
            <a:pPr>
              <a:spcBef>
                <a:spcPts val="600"/>
              </a:spcBef>
              <a:spcAft>
                <a:spcPts val="1200"/>
              </a:spcAft>
            </a:pPr>
            <a:r>
              <a:rPr lang="en-US" sz="2200" dirty="0" smtClean="0">
                <a:solidFill>
                  <a:srgbClr val="000000"/>
                </a:solidFill>
                <a:latin typeface="Helvetica"/>
                <a:ea typeface="Times New Roman"/>
                <a:cs typeface="HelveticaNeueLTStd-Lt"/>
              </a:rPr>
              <a:t>B</a:t>
            </a:r>
            <a:r>
              <a:rPr lang="en-AU" sz="2200" dirty="0">
                <a:solidFill>
                  <a:srgbClr val="000000"/>
                </a:solidFill>
                <a:latin typeface="Helvetica"/>
                <a:ea typeface="Times New Roman"/>
                <a:cs typeface="HelveticaNeueLTStd-Lt"/>
              </a:rPr>
              <a:t>udgets can be plans about the short-term future </a:t>
            </a:r>
            <a:r>
              <a:rPr lang="en-AU" sz="2200" dirty="0" smtClean="0">
                <a:solidFill>
                  <a:srgbClr val="000000"/>
                </a:solidFill>
                <a:latin typeface="Helvetica"/>
                <a:ea typeface="Times New Roman"/>
                <a:cs typeface="HelveticaNeueLTStd-Lt"/>
              </a:rPr>
              <a:t>of </a:t>
            </a:r>
            <a:r>
              <a:rPr lang="en-AU" sz="2200" dirty="0">
                <a:solidFill>
                  <a:srgbClr val="000000"/>
                </a:solidFill>
                <a:latin typeface="Helvetica"/>
                <a:ea typeface="Times New Roman"/>
                <a:cs typeface="HelveticaNeueLTStd-Lt"/>
              </a:rPr>
              <a:t>up to a </a:t>
            </a:r>
            <a:r>
              <a:rPr lang="en-AU" sz="2200" dirty="0" smtClean="0">
                <a:solidFill>
                  <a:srgbClr val="000000"/>
                </a:solidFill>
                <a:latin typeface="Helvetica"/>
                <a:ea typeface="Times New Roman"/>
                <a:cs typeface="HelveticaNeueLTStd-Lt"/>
              </a:rPr>
              <a:t>year</a:t>
            </a:r>
          </a:p>
          <a:p>
            <a:pPr>
              <a:spcBef>
                <a:spcPts val="600"/>
              </a:spcBef>
              <a:spcAft>
                <a:spcPts val="1200"/>
              </a:spcAft>
            </a:pPr>
            <a:r>
              <a:rPr lang="en-AU" sz="2200" dirty="0">
                <a:solidFill>
                  <a:srgbClr val="000000"/>
                </a:solidFill>
                <a:latin typeface="Helvetica"/>
                <a:ea typeface="Times New Roman"/>
                <a:cs typeface="HelveticaNeueLTStd-Lt"/>
              </a:rPr>
              <a:t>Any line item that has a budget set for it can have a budget report </a:t>
            </a:r>
            <a:r>
              <a:rPr lang="en-AU" sz="2200" dirty="0" smtClean="0">
                <a:solidFill>
                  <a:srgbClr val="000000"/>
                </a:solidFill>
                <a:latin typeface="Helvetica"/>
                <a:ea typeface="Times New Roman"/>
                <a:cs typeface="HelveticaNeueLTStd-Lt"/>
              </a:rPr>
              <a:t>generated</a:t>
            </a:r>
            <a:endParaRPr lang="en-AU" sz="2200" dirty="0">
              <a:ea typeface="Times New Roman"/>
              <a:cs typeface="Times New Roman"/>
            </a:endParaRPr>
          </a:p>
          <a:p>
            <a:pPr marL="36576" indent="0">
              <a:spcBef>
                <a:spcPts val="600"/>
              </a:spcBef>
              <a:spcAft>
                <a:spcPts val="1200"/>
              </a:spcAft>
              <a:buNone/>
            </a:pPr>
            <a:endParaRPr lang="en-AU" sz="2200" dirty="0"/>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sp>
        <p:nvSpPr>
          <p:cNvPr id="7" name="Title 1"/>
          <p:cNvSpPr>
            <a:spLocks noGrp="1"/>
          </p:cNvSpPr>
          <p:nvPr>
            <p:ph type="title"/>
          </p:nvPr>
        </p:nvSpPr>
        <p:spPr>
          <a:xfrm>
            <a:off x="611560" y="152400"/>
            <a:ext cx="7694240" cy="1219200"/>
          </a:xfrm>
        </p:spPr>
        <p:txBody>
          <a:bodyPr>
            <a:noAutofit/>
          </a:bodyPr>
          <a:lstStyle/>
          <a:p>
            <a:pPr indent="-457200"/>
            <a:r>
              <a:rPr lang="en-AU" sz="2900" b="1" dirty="0" smtClean="0">
                <a:solidFill>
                  <a:srgbClr val="FF6600"/>
                </a:solidFill>
              </a:rPr>
              <a:t>2.1  	Accurately </a:t>
            </a:r>
            <a:r>
              <a:rPr lang="en-AU" sz="2900" b="1" dirty="0">
                <a:solidFill>
                  <a:srgbClr val="FF6600"/>
                </a:solidFill>
              </a:rPr>
              <a:t>complete routine </a:t>
            </a:r>
            <a:r>
              <a:rPr lang="en-AU" sz="2900" b="1" dirty="0" smtClean="0">
                <a:solidFill>
                  <a:srgbClr val="FF6600"/>
                </a:solidFill>
              </a:rPr>
              <a:t>	financial/statistical </a:t>
            </a:r>
            <a:r>
              <a:rPr lang="en-AU" sz="2900" b="1" dirty="0">
                <a:solidFill>
                  <a:srgbClr val="FF6600"/>
                </a:solidFill>
              </a:rPr>
              <a:t>reports within </a:t>
            </a:r>
            <a:r>
              <a:rPr lang="en-AU" sz="2900" b="1" dirty="0" smtClean="0">
                <a:solidFill>
                  <a:srgbClr val="FF6600"/>
                </a:solidFill>
              </a:rPr>
              <a:t>	designated </a:t>
            </a:r>
            <a:r>
              <a:rPr lang="en-AU" sz="2900" b="1" dirty="0">
                <a:solidFill>
                  <a:srgbClr val="FF6600"/>
                </a:solidFill>
              </a:rPr>
              <a:t>timelines</a:t>
            </a:r>
            <a:endParaRPr lang="en-US" sz="2900" b="1" dirty="0">
              <a:solidFill>
                <a:srgbClr val="FF6600"/>
              </a:solidFill>
            </a:endParaRPr>
          </a:p>
        </p:txBody>
      </p:sp>
      <p:pic>
        <p:nvPicPr>
          <p:cNvPr id="8" name="Picture 7" descr="884071_budget_cuts.jpg"/>
          <p:cNvPicPr/>
          <p:nvPr/>
        </p:nvPicPr>
        <p:blipFill>
          <a:blip r:embed="rId3" cstate="print"/>
          <a:stretch>
            <a:fillRect/>
          </a:stretch>
        </p:blipFill>
        <p:spPr>
          <a:xfrm>
            <a:off x="6705600" y="2057400"/>
            <a:ext cx="1364137" cy="2049115"/>
          </a:xfrm>
          <a:prstGeom prst="rect">
            <a:avLst/>
          </a:prstGeom>
        </p:spPr>
      </p:pic>
    </p:spTree>
    <p:extLst>
      <p:ext uri="{BB962C8B-B14F-4D97-AF65-F5344CB8AC3E}">
        <p14:creationId xmlns:p14="http://schemas.microsoft.com/office/powerpoint/2010/main" val="356335884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22437"/>
            <a:ext cx="7467600" cy="4525963"/>
          </a:xfrm>
        </p:spPr>
        <p:txBody>
          <a:bodyPr>
            <a:normAutofit/>
          </a:bodyPr>
          <a:lstStyle/>
          <a:p>
            <a:pPr>
              <a:spcBef>
                <a:spcPts val="600"/>
              </a:spcBef>
              <a:spcAft>
                <a:spcPts val="1200"/>
              </a:spcAft>
            </a:pPr>
            <a:r>
              <a:rPr lang="en-AU" sz="2200" dirty="0" smtClean="0"/>
              <a:t>Sales reports</a:t>
            </a:r>
          </a:p>
          <a:p>
            <a:pPr>
              <a:spcBef>
                <a:spcPts val="600"/>
              </a:spcBef>
              <a:spcAft>
                <a:spcPts val="1200"/>
              </a:spcAft>
            </a:pPr>
            <a:r>
              <a:rPr lang="en-AU" sz="2200" dirty="0" smtClean="0"/>
              <a:t>Expenditure reports</a:t>
            </a:r>
          </a:p>
          <a:p>
            <a:pPr>
              <a:spcBef>
                <a:spcPts val="600"/>
              </a:spcBef>
              <a:spcAft>
                <a:spcPts val="1200"/>
              </a:spcAft>
            </a:pPr>
            <a:r>
              <a:rPr lang="en-AU" sz="2200" dirty="0" smtClean="0"/>
              <a:t>Payroll cost report</a:t>
            </a:r>
          </a:p>
          <a:p>
            <a:pPr>
              <a:spcBef>
                <a:spcPts val="600"/>
              </a:spcBef>
              <a:spcAft>
                <a:spcPts val="1200"/>
              </a:spcAft>
            </a:pPr>
            <a:r>
              <a:rPr lang="en-AU" sz="2200" dirty="0" smtClean="0"/>
              <a:t>Stock reports</a:t>
            </a:r>
          </a:p>
          <a:p>
            <a:pPr>
              <a:spcBef>
                <a:spcPts val="600"/>
              </a:spcBef>
              <a:spcAft>
                <a:spcPts val="1200"/>
              </a:spcAft>
            </a:pPr>
            <a:r>
              <a:rPr lang="en-AU" sz="2200" dirty="0" smtClean="0"/>
              <a:t>Wastage reports</a:t>
            </a:r>
          </a:p>
          <a:p>
            <a:pPr>
              <a:spcBef>
                <a:spcPts val="600"/>
              </a:spcBef>
              <a:spcAft>
                <a:spcPts val="1200"/>
              </a:spcAft>
            </a:pPr>
            <a:r>
              <a:rPr lang="en-AU" sz="2200" dirty="0" smtClean="0"/>
              <a:t>Receivable reports</a:t>
            </a:r>
          </a:p>
          <a:p>
            <a:pPr>
              <a:spcBef>
                <a:spcPts val="600"/>
              </a:spcBef>
              <a:spcAft>
                <a:spcPts val="1200"/>
              </a:spcAft>
            </a:pPr>
            <a:r>
              <a:rPr lang="en-AU" sz="2200" dirty="0" smtClean="0"/>
              <a:t>Variance reports</a:t>
            </a:r>
          </a:p>
          <a:p>
            <a:pPr>
              <a:spcBef>
                <a:spcPts val="600"/>
              </a:spcBef>
              <a:spcAft>
                <a:spcPts val="1200"/>
              </a:spcAft>
            </a:pPr>
            <a:r>
              <a:rPr lang="en-AU" sz="2200" dirty="0" smtClean="0"/>
              <a:t>Supporting information reports</a:t>
            </a: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sp>
        <p:nvSpPr>
          <p:cNvPr id="7" name="Title 1"/>
          <p:cNvSpPr>
            <a:spLocks noGrp="1"/>
          </p:cNvSpPr>
          <p:nvPr>
            <p:ph type="title"/>
          </p:nvPr>
        </p:nvSpPr>
        <p:spPr>
          <a:xfrm>
            <a:off x="611560" y="152400"/>
            <a:ext cx="7694240" cy="1219200"/>
          </a:xfrm>
        </p:spPr>
        <p:txBody>
          <a:bodyPr>
            <a:noAutofit/>
          </a:bodyPr>
          <a:lstStyle/>
          <a:p>
            <a:pPr indent="-457200"/>
            <a:r>
              <a:rPr lang="en-AU" sz="2900" b="1" dirty="0" smtClean="0">
                <a:solidFill>
                  <a:srgbClr val="FF6600"/>
                </a:solidFill>
              </a:rPr>
              <a:t>2.1  	Accurately </a:t>
            </a:r>
            <a:r>
              <a:rPr lang="en-AU" sz="2900" b="1" dirty="0">
                <a:solidFill>
                  <a:srgbClr val="FF6600"/>
                </a:solidFill>
              </a:rPr>
              <a:t>complete routine </a:t>
            </a:r>
            <a:r>
              <a:rPr lang="en-AU" sz="2900" b="1" dirty="0" smtClean="0">
                <a:solidFill>
                  <a:srgbClr val="FF6600"/>
                </a:solidFill>
              </a:rPr>
              <a:t>	financial/statistical </a:t>
            </a:r>
            <a:r>
              <a:rPr lang="en-AU" sz="2900" b="1" dirty="0">
                <a:solidFill>
                  <a:srgbClr val="FF6600"/>
                </a:solidFill>
              </a:rPr>
              <a:t>reports within </a:t>
            </a:r>
            <a:r>
              <a:rPr lang="en-AU" sz="2900" b="1" dirty="0" smtClean="0">
                <a:solidFill>
                  <a:srgbClr val="FF6600"/>
                </a:solidFill>
              </a:rPr>
              <a:t>	designated </a:t>
            </a:r>
            <a:r>
              <a:rPr lang="en-AU" sz="2900" b="1" dirty="0">
                <a:solidFill>
                  <a:srgbClr val="FF6600"/>
                </a:solidFill>
              </a:rPr>
              <a:t>timelines</a:t>
            </a:r>
            <a:endParaRPr lang="en-US" sz="2900" b="1" dirty="0">
              <a:solidFill>
                <a:srgbClr val="FF6600"/>
              </a:solidFill>
            </a:endParaRPr>
          </a:p>
        </p:txBody>
      </p:sp>
      <p:pic>
        <p:nvPicPr>
          <p:cNvPr id="8" name="Picture 7" descr="shutterstock_38546896.jpg"/>
          <p:cNvPicPr/>
          <p:nvPr/>
        </p:nvPicPr>
        <p:blipFill>
          <a:blip r:embed="rId3" cstate="print"/>
          <a:stretch>
            <a:fillRect/>
          </a:stretch>
        </p:blipFill>
        <p:spPr>
          <a:xfrm>
            <a:off x="5921650" y="2667000"/>
            <a:ext cx="2279773" cy="1524000"/>
          </a:xfrm>
          <a:prstGeom prst="rect">
            <a:avLst/>
          </a:prstGeom>
        </p:spPr>
      </p:pic>
    </p:spTree>
    <p:extLst>
      <p:ext uri="{BB962C8B-B14F-4D97-AF65-F5344CB8AC3E}">
        <p14:creationId xmlns:p14="http://schemas.microsoft.com/office/powerpoint/2010/main" val="277620251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267544"/>
          </a:xfrm>
        </p:spPr>
        <p:txBody>
          <a:bodyPr>
            <a:noAutofit/>
          </a:bodyPr>
          <a:lstStyle/>
          <a:p>
            <a:pPr indent="-457200"/>
            <a:r>
              <a:rPr lang="en-AU" sz="2900" b="1" dirty="0" smtClean="0">
                <a:solidFill>
                  <a:srgbClr val="FF6600"/>
                </a:solidFill>
              </a:rPr>
              <a:t>2.2	Forward financial/statistical reports 	promptly to the appropriate 	person/department</a:t>
            </a:r>
            <a:endParaRPr lang="en-US" sz="2900" b="1" dirty="0" smtClean="0">
              <a:solidFill>
                <a:srgbClr val="FF6600"/>
              </a:solidFill>
            </a:endParaRPr>
          </a:p>
        </p:txBody>
      </p:sp>
      <p:sp>
        <p:nvSpPr>
          <p:cNvPr id="3" name="Content Placeholder 2"/>
          <p:cNvSpPr>
            <a:spLocks noGrp="1"/>
          </p:cNvSpPr>
          <p:nvPr>
            <p:ph idx="1"/>
          </p:nvPr>
        </p:nvSpPr>
        <p:spPr>
          <a:xfrm>
            <a:off x="611560" y="1994445"/>
            <a:ext cx="8075240" cy="4253955"/>
          </a:xfrm>
        </p:spPr>
        <p:txBody>
          <a:bodyPr>
            <a:noAutofit/>
          </a:bodyPr>
          <a:lstStyle/>
          <a:p>
            <a:pPr marL="36576" indent="0">
              <a:spcBef>
                <a:spcPts val="600"/>
              </a:spcBef>
              <a:spcAft>
                <a:spcPts val="1200"/>
              </a:spcAft>
              <a:buNone/>
            </a:pPr>
            <a:r>
              <a:rPr lang="en-AU" sz="2200" dirty="0">
                <a:latin typeface="Helvetica" pitchFamily="34" charset="0"/>
                <a:ea typeface="Times New Roman"/>
                <a:cs typeface="Times New Roman"/>
              </a:rPr>
              <a:t>Once financial reports are prepared and finalised, they are ready to be distributed to relevant </a:t>
            </a:r>
            <a:r>
              <a:rPr lang="en-AU" sz="2200" dirty="0" smtClean="0">
                <a:latin typeface="Helvetica" pitchFamily="34" charset="0"/>
                <a:ea typeface="Times New Roman"/>
                <a:cs typeface="Times New Roman"/>
              </a:rPr>
              <a:t>parties</a:t>
            </a:r>
          </a:p>
          <a:p>
            <a:pPr lvl="0">
              <a:spcBef>
                <a:spcPts val="600"/>
              </a:spcBef>
              <a:spcAft>
                <a:spcPts val="1200"/>
              </a:spcAft>
              <a:buClr>
                <a:srgbClr val="7FD13B"/>
              </a:buClr>
            </a:pPr>
            <a:r>
              <a:rPr lang="en-AU" sz="2200" dirty="0" smtClean="0">
                <a:latin typeface="Helvetica"/>
                <a:ea typeface="Times New Roman"/>
                <a:cs typeface="HelveticaNeueLTStd-MdCn"/>
              </a:rPr>
              <a:t>Distribution </a:t>
            </a:r>
            <a:r>
              <a:rPr lang="en-AU" sz="2200" dirty="0">
                <a:latin typeface="Helvetica"/>
                <a:ea typeface="Times New Roman"/>
                <a:cs typeface="HelveticaNeueLTStd-MdCn"/>
              </a:rPr>
              <a:t>of </a:t>
            </a:r>
            <a:r>
              <a:rPr lang="en-AU" sz="2200" dirty="0" smtClean="0">
                <a:latin typeface="Helvetica"/>
                <a:ea typeface="Times New Roman"/>
                <a:cs typeface="HelveticaNeueLTStd-MdCn"/>
              </a:rPr>
              <a:t>reports</a:t>
            </a:r>
            <a:endParaRPr lang="en-AU" sz="2200" dirty="0" smtClean="0">
              <a:ea typeface="Times New Roman"/>
              <a:cs typeface="Times New Roman"/>
            </a:endParaRPr>
          </a:p>
          <a:p>
            <a:pPr>
              <a:spcBef>
                <a:spcPts val="600"/>
              </a:spcBef>
              <a:spcAft>
                <a:spcPts val="1200"/>
              </a:spcAft>
            </a:pPr>
            <a:r>
              <a:rPr lang="en-AU" sz="2200" dirty="0" smtClean="0">
                <a:latin typeface="Helvetica"/>
                <a:ea typeface="Times New Roman"/>
                <a:cs typeface="Times New Roman"/>
              </a:rPr>
              <a:t>Confidentiality </a:t>
            </a:r>
            <a:r>
              <a:rPr lang="en-AU" sz="2200" dirty="0">
                <a:latin typeface="Helvetica"/>
                <a:ea typeface="Times New Roman"/>
                <a:cs typeface="Times New Roman"/>
              </a:rPr>
              <a:t>of reports</a:t>
            </a:r>
            <a:endParaRPr lang="en-AU" sz="2200" i="1" dirty="0">
              <a:latin typeface="Helvetica"/>
              <a:ea typeface="Times New Roman"/>
              <a:cs typeface="Times New Roman"/>
            </a:endParaRPr>
          </a:p>
          <a:p>
            <a:pPr>
              <a:spcBef>
                <a:spcPts val="600"/>
              </a:spcBef>
              <a:spcAft>
                <a:spcPts val="1200"/>
              </a:spcAft>
            </a:pPr>
            <a:r>
              <a:rPr lang="en-AU" sz="2200" dirty="0">
                <a:latin typeface="Helvetica"/>
                <a:ea typeface="Times New Roman"/>
                <a:cs typeface="Times New Roman"/>
              </a:rPr>
              <a:t>Reporting </a:t>
            </a:r>
            <a:r>
              <a:rPr lang="en-AU" sz="2200" dirty="0" smtClean="0">
                <a:latin typeface="Helvetica"/>
                <a:ea typeface="Times New Roman"/>
                <a:cs typeface="Times New Roman"/>
              </a:rPr>
              <a:t>periods</a:t>
            </a:r>
          </a:p>
          <a:p>
            <a:pPr>
              <a:spcBef>
                <a:spcPts val="600"/>
              </a:spcBef>
              <a:spcAft>
                <a:spcPts val="1200"/>
              </a:spcAft>
            </a:pPr>
            <a:r>
              <a:rPr lang="en-AU" sz="2200" dirty="0" smtClean="0">
                <a:latin typeface="Helvetica"/>
                <a:ea typeface="Times New Roman"/>
                <a:cs typeface="Times New Roman"/>
              </a:rPr>
              <a:t>Report distribution process</a:t>
            </a:r>
          </a:p>
          <a:p>
            <a:pPr>
              <a:spcBef>
                <a:spcPts val="600"/>
              </a:spcBef>
              <a:spcAft>
                <a:spcPts val="1200"/>
              </a:spcAft>
            </a:pPr>
            <a:r>
              <a:rPr lang="en-AU" sz="2200" dirty="0" smtClean="0">
                <a:latin typeface="Helvetica"/>
                <a:ea typeface="Times New Roman"/>
                <a:cs typeface="Times New Roman"/>
              </a:rPr>
              <a:t>Report distribution information</a:t>
            </a:r>
            <a:endParaRPr lang="en-AU" sz="2200" dirty="0">
              <a:latin typeface="Helvetica"/>
              <a:ea typeface="Times New Roman"/>
              <a:cs typeface="Times New Roman"/>
            </a:endParaRPr>
          </a:p>
          <a:p>
            <a:pPr>
              <a:spcBef>
                <a:spcPts val="600"/>
              </a:spcBef>
              <a:spcAft>
                <a:spcPts val="1200"/>
              </a:spcAft>
            </a:pPr>
            <a:endParaRPr lang="en-AU" sz="2200" dirty="0" smtClean="0">
              <a:latin typeface="Helvetica"/>
              <a:ea typeface="Times New Roman"/>
              <a:cs typeface="HelveticaNeueLTStd-MdCn"/>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7" name="Picture 6" descr="14.jpg"/>
          <p:cNvPicPr/>
          <p:nvPr/>
        </p:nvPicPr>
        <p:blipFill>
          <a:blip r:embed="rId3" cstate="print"/>
          <a:stretch>
            <a:fillRect/>
          </a:stretch>
        </p:blipFill>
        <p:spPr>
          <a:xfrm>
            <a:off x="5943600" y="3200400"/>
            <a:ext cx="2235201" cy="1676400"/>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US" sz="3400" b="1" dirty="0" smtClean="0">
                <a:solidFill>
                  <a:srgbClr val="FF6600"/>
                </a:solidFill>
                <a:latin typeface="Helvetica" pitchFamily="34" charset="0"/>
              </a:rPr>
              <a:t>The End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95400"/>
            <a:ext cx="6322640" cy="4971256"/>
          </a:xfrm>
        </p:spPr>
        <p:txBody>
          <a:bodyPr>
            <a:noAutofit/>
          </a:bodyPr>
          <a:lstStyle/>
          <a:p>
            <a:pPr marL="0" indent="0">
              <a:spcBef>
                <a:spcPts val="600"/>
              </a:spcBef>
              <a:spcAft>
                <a:spcPts val="1200"/>
              </a:spcAft>
              <a:buNone/>
            </a:pPr>
            <a:r>
              <a:rPr lang="en-AU" sz="2400" dirty="0" smtClean="0">
                <a:latin typeface="Helvetica" pitchFamily="34" charset="0"/>
              </a:rPr>
              <a:t>This unit comprised two Elements:</a:t>
            </a:r>
          </a:p>
          <a:p>
            <a:pPr marL="493776" indent="-457200">
              <a:spcBef>
                <a:spcPts val="600"/>
              </a:spcBef>
              <a:spcAft>
                <a:spcPts val="1200"/>
              </a:spcAft>
              <a:buFont typeface="+mj-lt"/>
              <a:buAutoNum type="arabicPeriod"/>
            </a:pPr>
            <a:r>
              <a:rPr lang="en-AU" sz="2400" dirty="0" smtClean="0"/>
              <a:t>Monitor </a:t>
            </a:r>
            <a:r>
              <a:rPr lang="en-AU" sz="2400" dirty="0"/>
              <a:t>financial procedures</a:t>
            </a:r>
          </a:p>
          <a:p>
            <a:pPr marL="493776" indent="-457200">
              <a:spcBef>
                <a:spcPts val="600"/>
              </a:spcBef>
              <a:spcAft>
                <a:spcPts val="1200"/>
              </a:spcAft>
              <a:buFont typeface="+mj-lt"/>
              <a:buAutoNum type="arabicPeriod"/>
            </a:pPr>
            <a:r>
              <a:rPr lang="en-AU" sz="2400" smtClean="0"/>
              <a:t>Complete </a:t>
            </a:r>
            <a:r>
              <a:rPr lang="en-AU" sz="2400" dirty="0"/>
              <a:t>financial reports</a:t>
            </a:r>
          </a:p>
          <a:p>
            <a:pPr marL="36576" indent="0">
              <a:spcBef>
                <a:spcPts val="600"/>
              </a:spcBef>
              <a:spcAft>
                <a:spcPts val="1200"/>
              </a:spcAft>
              <a:buNone/>
            </a:pPr>
            <a:r>
              <a:rPr lang="en-AU" sz="2400" dirty="0" smtClean="0">
                <a:latin typeface="Helvetica" pitchFamily="34" charset="0"/>
              </a:rPr>
              <a:t>You have now completed this unit and the trainer will provide details on assessment.</a:t>
            </a:r>
          </a:p>
          <a:p>
            <a:pPr marL="36576" indent="0">
              <a:spcBef>
                <a:spcPts val="600"/>
              </a:spcBef>
              <a:spcAft>
                <a:spcPts val="1200"/>
              </a:spcAft>
              <a:buNone/>
            </a:pPr>
            <a:r>
              <a:rPr lang="en-AU" sz="2400" dirty="0" smtClean="0">
                <a:latin typeface="Helvetica" pitchFamily="34" charset="0"/>
              </a:rPr>
              <a:t>Good Luck</a:t>
            </a: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66</a:t>
            </a:fld>
            <a:endParaRPr lang="en-US" dirty="0">
              <a:solidFill>
                <a:srgbClr val="4E5B6F">
                  <a:shade val="50000"/>
                </a:srgbClr>
              </a:solidFill>
              <a:latin typeface="Helvetica" pitchFamily="34" charset="0"/>
            </a:endParaRPr>
          </a:p>
        </p:txBody>
      </p:sp>
      <p:pic>
        <p:nvPicPr>
          <p:cNvPr id="5" name="Picture 2" descr="C:\Users\danielc\Downloads\Summary.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6726" r="12790"/>
          <a:stretch/>
        </p:blipFill>
        <p:spPr bwMode="auto">
          <a:xfrm>
            <a:off x="6629400" y="2667000"/>
            <a:ext cx="1771782" cy="1728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3746735"/>
      </p:ext>
    </p:extLst>
  </p:cSld>
  <p:clrMapOvr>
    <a:masterClrMapping/>
  </p:clrMapOvr>
  <p:timing>
    <p:tnLst>
      <p:par>
        <p:cTn id="1" dur="indefinite" restart="never" nodeType="tmRoot"/>
      </p:par>
    </p:tnLst>
  </p:timing>
</p:sld>
</file>

<file path=ppt/theme/theme1.xml><?xml version="1.0" encoding="utf-8"?>
<a:theme xmlns:a="http://schemas.openxmlformats.org/drawingml/2006/main" name="PPT_Tour_operation_&amp;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PPT_Tour_operation_&amp;_travel_agencies_template_130214</Template>
  <TotalTime>1521</TotalTime>
  <Words>5409</Words>
  <Application>Microsoft Office PowerPoint</Application>
  <PresentationFormat>On-screen Show (4:3)</PresentationFormat>
  <Paragraphs>939</Paragraphs>
  <Slides>66</Slides>
  <Notes>66</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66</vt:i4>
      </vt:variant>
    </vt:vector>
  </HeadingPairs>
  <TitlesOfParts>
    <vt:vector size="81" baseType="lpstr">
      <vt:lpstr>SimSun</vt:lpstr>
      <vt:lpstr>Arial</vt:lpstr>
      <vt:lpstr>Calibri</vt:lpstr>
      <vt:lpstr>Courier New</vt:lpstr>
      <vt:lpstr>Helvetica</vt:lpstr>
      <vt:lpstr>HelveticaNeueLTStd-Bd</vt:lpstr>
      <vt:lpstr>HelveticaNeueLTStd-BdCn</vt:lpstr>
      <vt:lpstr>HelveticaNeueLTStd-BdIt</vt:lpstr>
      <vt:lpstr>HelveticaNeueLTStd-Cn</vt:lpstr>
      <vt:lpstr>HelveticaNeueLTStd-Lt</vt:lpstr>
      <vt:lpstr>HelveticaNeueLTStd-MdCn</vt:lpstr>
      <vt:lpstr>Symbol</vt:lpstr>
      <vt:lpstr>Times New Roman</vt:lpstr>
      <vt:lpstr>Wingdings 2</vt:lpstr>
      <vt:lpstr>PPT_Tour_operation_&amp;_travel_agencies_template_130214</vt:lpstr>
      <vt:lpstr>AUDIT FINANCIAL PROCEDURES</vt:lpstr>
      <vt:lpstr>Subject elements</vt:lpstr>
      <vt:lpstr>Assessment</vt:lpstr>
      <vt:lpstr>Element 1: Monitor financial procedures</vt:lpstr>
      <vt:lpstr>1.1 Check transactions accord with  enterprise procedures</vt:lpstr>
      <vt:lpstr>1.1 Check transactions accord with  enterprise procedures</vt:lpstr>
      <vt:lpstr>1.1 Check transactions accord with  enterprise procedures</vt:lpstr>
      <vt:lpstr>1.1 Check transactions accord with  enterprise procedures</vt:lpstr>
      <vt:lpstr>1.1 Check transactions accord with  enterprise procedures</vt:lpstr>
      <vt:lpstr>1.1 Check transactions accord with  enterprise procedures</vt:lpstr>
      <vt:lpstr>1.1 Check transactions accord with  enterprise procedures</vt:lpstr>
      <vt:lpstr>1.2 Balance transactions accurately</vt:lpstr>
      <vt:lpstr>1.2 Balance transactions accurately</vt:lpstr>
      <vt:lpstr>1.2 Balance transactions accurately</vt:lpstr>
      <vt:lpstr>1.2 Balance transactions accurately</vt:lpstr>
      <vt:lpstr>1.2 Balance transactions accurately</vt:lpstr>
      <vt:lpstr>1.2 Balance transactions accurately</vt:lpstr>
      <vt:lpstr>1.2 Balance transactions accurately</vt:lpstr>
      <vt:lpstr>1.3 Check balances prepared by others are in  accordance with enterprise procedures</vt:lpstr>
      <vt:lpstr>1.3 Check balances prepared by others are in  accordance with enterprise procedures</vt:lpstr>
      <vt:lpstr>1.3 Check balances prepared by others are in  accordance with enterprise procedures</vt:lpstr>
      <vt:lpstr>1.3 Check balances prepared by others are in  accordance with enterprise procedures</vt:lpstr>
      <vt:lpstr>1.3 Check balances prepared by others are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1.4 Implement and control financial  systems in accordance with  enterprise procedures</vt:lpstr>
      <vt:lpstr>1.5 Monitor financial systems and provide  input on possible improvements to  appropriate personnel</vt:lpstr>
      <vt:lpstr>1.5 Monitor financial systems and provide  input on possible improvements to  appropriate personnel</vt:lpstr>
      <vt:lpstr>1.5 Monitor financial systems and provide  input on possible improvements to  appropriate personnel</vt:lpstr>
      <vt:lpstr>1.6 Identify and resolve discrepancies or errors  according to level of responsibility and in  consultation with designated persons</vt:lpstr>
      <vt:lpstr>1.6 Identify and resolve discrepancies or errors  according to level of responsibility and in  consultation with designated persons</vt:lpstr>
      <vt:lpstr>1.6 Identify and resolve discrepancies or errors  according to level of responsibility and in  consultation with designated persons</vt:lpstr>
      <vt:lpstr>Element 2: Complete financial reports</vt:lpstr>
      <vt:lpstr>2.1   Accurately complete routine  financial/statistical reports within  designated timelines</vt:lpstr>
      <vt:lpstr>2.1   Accurately complete routine  financial/statistical reports within  designated timelines</vt:lpstr>
      <vt:lpstr>2.1   Accurately complete routine  financial/statistical reports within  designated timelines</vt:lpstr>
      <vt:lpstr>2.1   Accurately complete routine  financial/statistical reports within  designated timelines</vt:lpstr>
      <vt:lpstr>2.1   Accurately complete routine  financial/statistical reports within  designated timelines</vt:lpstr>
      <vt:lpstr>2.1   Accurately complete routine  financial/statistical reports within  designated timelines</vt:lpstr>
      <vt:lpstr>2.1   Accurately complete routine  financial/statistical reports within  designated timelines</vt:lpstr>
      <vt:lpstr>2.1   Accurately complete routine  financial/statistical reports within  designated timelines</vt:lpstr>
      <vt:lpstr>2.1   Accurately complete routine  financial/statistical reports within  designated timelines</vt:lpstr>
      <vt:lpstr>2.2 Forward financial/statistical reports  promptly to the appropriate  person/department</vt:lpstr>
      <vt:lpstr>The End</vt:lpstr>
    </vt:vector>
  </TitlesOfParts>
  <Company>SINGOV</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unit name</dc:title>
  <dc:creator>Daniel James Chee</dc:creator>
  <cp:lastModifiedBy>Carla Angelica Co</cp:lastModifiedBy>
  <cp:revision>134</cp:revision>
  <cp:lastPrinted>2015-07-23T01:44:14Z</cp:lastPrinted>
  <dcterms:created xsi:type="dcterms:W3CDTF">2014-06-22T07:07:42Z</dcterms:created>
  <dcterms:modified xsi:type="dcterms:W3CDTF">2016-07-01T03:54:44Z</dcterms:modified>
</cp:coreProperties>
</file>