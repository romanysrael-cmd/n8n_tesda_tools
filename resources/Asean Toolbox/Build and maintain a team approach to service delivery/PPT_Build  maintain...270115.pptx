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docx" ContentType="application/vnd.openxmlformats-officedocument.wordprocessingml.document"/>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83"/>
  </p:notesMasterIdLst>
  <p:handoutMasterIdLst>
    <p:handoutMasterId r:id="rId84"/>
  </p:handoutMasterIdLst>
  <p:sldIdLst>
    <p:sldId id="256" r:id="rId2"/>
    <p:sldId id="257" r:id="rId3"/>
    <p:sldId id="258" r:id="rId4"/>
    <p:sldId id="259" r:id="rId5"/>
    <p:sldId id="260" r:id="rId6"/>
    <p:sldId id="296" r:id="rId7"/>
    <p:sldId id="261" r:id="rId8"/>
    <p:sldId id="262" r:id="rId9"/>
    <p:sldId id="266" r:id="rId10"/>
    <p:sldId id="263" r:id="rId11"/>
    <p:sldId id="264" r:id="rId12"/>
    <p:sldId id="267" r:id="rId13"/>
    <p:sldId id="265" r:id="rId14"/>
    <p:sldId id="268" r:id="rId15"/>
    <p:sldId id="270" r:id="rId16"/>
    <p:sldId id="271" r:id="rId17"/>
    <p:sldId id="272" r:id="rId18"/>
    <p:sldId id="337" r:id="rId19"/>
    <p:sldId id="273" r:id="rId20"/>
    <p:sldId id="274" r:id="rId21"/>
    <p:sldId id="275" r:id="rId22"/>
    <p:sldId id="338"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9" r:id="rId43"/>
    <p:sldId id="300" r:id="rId44"/>
    <p:sldId id="298" r:id="rId45"/>
    <p:sldId id="297" r:id="rId46"/>
    <p:sldId id="301" r:id="rId47"/>
    <p:sldId id="302" r:id="rId48"/>
    <p:sldId id="303" r:id="rId49"/>
    <p:sldId id="304" r:id="rId50"/>
    <p:sldId id="305" r:id="rId51"/>
    <p:sldId id="306" r:id="rId52"/>
    <p:sldId id="307" r:id="rId53"/>
    <p:sldId id="308" r:id="rId54"/>
    <p:sldId id="309" r:id="rId55"/>
    <p:sldId id="310" r:id="rId56"/>
    <p:sldId id="311" r:id="rId57"/>
    <p:sldId id="313" r:id="rId58"/>
    <p:sldId id="312" r:id="rId59"/>
    <p:sldId id="315" r:id="rId60"/>
    <p:sldId id="314"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17" autoAdjust="0"/>
    <p:restoredTop sz="72283" autoAdjust="0"/>
  </p:normalViewPr>
  <p:slideViewPr>
    <p:cSldViewPr>
      <p:cViewPr>
        <p:scale>
          <a:sx n="80" d="100"/>
          <a:sy n="80" d="100"/>
        </p:scale>
        <p:origin x="-3024" y="-4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1ECB6EB-69D9-4999-83CD-FBE2DE3E8D4B}" type="doc">
      <dgm:prSet loTypeId="urn:microsoft.com/office/officeart/2005/8/layout/hProcess6" loCatId="process" qsTypeId="urn:microsoft.com/office/officeart/2005/8/quickstyle/simple1" qsCatId="simple" csTypeId="urn:microsoft.com/office/officeart/2005/8/colors/colorful1#1" csCatId="colorful" phldr="1"/>
      <dgm:spPr/>
      <dgm:t>
        <a:bodyPr/>
        <a:lstStyle/>
        <a:p>
          <a:endParaRPr lang="en-US"/>
        </a:p>
      </dgm:t>
    </dgm:pt>
    <dgm:pt modelId="{FE48CDD7-8E34-43A4-BE93-A5E398DC74F6}">
      <dgm:prSet phldrT="[Text]" custT="1"/>
      <dgm:spPr/>
      <dgm:t>
        <a:bodyPr/>
        <a:lstStyle/>
        <a:p>
          <a:r>
            <a:rPr lang="en-US" sz="1200" dirty="0"/>
            <a:t>Pre-purchase</a:t>
          </a:r>
        </a:p>
      </dgm:t>
    </dgm:pt>
    <dgm:pt modelId="{7A0F0C4E-2CBE-4E37-9397-943AD282EA03}" type="parTrans" cxnId="{8B3AC2E3-EF76-43E7-9E44-3D7F11CAACA6}">
      <dgm:prSet/>
      <dgm:spPr/>
      <dgm:t>
        <a:bodyPr/>
        <a:lstStyle/>
        <a:p>
          <a:endParaRPr lang="en-US"/>
        </a:p>
      </dgm:t>
    </dgm:pt>
    <dgm:pt modelId="{05ED47B6-168C-49C0-AFAF-C509BC9DAB04}" type="sibTrans" cxnId="{8B3AC2E3-EF76-43E7-9E44-3D7F11CAACA6}">
      <dgm:prSet/>
      <dgm:spPr/>
      <dgm:t>
        <a:bodyPr/>
        <a:lstStyle/>
        <a:p>
          <a:endParaRPr lang="en-US"/>
        </a:p>
      </dgm:t>
    </dgm:pt>
    <dgm:pt modelId="{8BC988D7-EE5D-415B-9450-E39F096930A1}">
      <dgm:prSet phldrT="[Text]" custT="1"/>
      <dgm:spPr/>
      <dgm:t>
        <a:bodyPr/>
        <a:lstStyle/>
        <a:p>
          <a:r>
            <a:rPr lang="en-US" sz="1100" dirty="0"/>
            <a:t>Awareness</a:t>
          </a:r>
        </a:p>
      </dgm:t>
    </dgm:pt>
    <dgm:pt modelId="{F553C353-C82E-427E-AD7E-733CD3AFF3EC}" type="parTrans" cxnId="{2DFE1DF7-F24F-42CF-AD5F-4D40FBE9CCFF}">
      <dgm:prSet/>
      <dgm:spPr/>
      <dgm:t>
        <a:bodyPr/>
        <a:lstStyle/>
        <a:p>
          <a:endParaRPr lang="en-US"/>
        </a:p>
      </dgm:t>
    </dgm:pt>
    <dgm:pt modelId="{EDA277AF-5A65-40F8-9FFC-B3024B632A01}" type="sibTrans" cxnId="{2DFE1DF7-F24F-42CF-AD5F-4D40FBE9CCFF}">
      <dgm:prSet/>
      <dgm:spPr/>
      <dgm:t>
        <a:bodyPr/>
        <a:lstStyle/>
        <a:p>
          <a:endParaRPr lang="en-US"/>
        </a:p>
      </dgm:t>
    </dgm:pt>
    <dgm:pt modelId="{FDFDAE27-4661-459E-A5D4-88E2721FBE4A}">
      <dgm:prSet phldrT="[Text]" custT="1"/>
      <dgm:spPr/>
      <dgm:t>
        <a:bodyPr/>
        <a:lstStyle/>
        <a:p>
          <a:r>
            <a:rPr lang="en-US" sz="1100" dirty="0"/>
            <a:t>Knowledge</a:t>
          </a:r>
        </a:p>
      </dgm:t>
    </dgm:pt>
    <dgm:pt modelId="{58293A20-569C-4064-A1F8-6A9D5A810E42}" type="parTrans" cxnId="{FA136374-68BC-471E-9D1F-709EFBB978C2}">
      <dgm:prSet/>
      <dgm:spPr/>
      <dgm:t>
        <a:bodyPr/>
        <a:lstStyle/>
        <a:p>
          <a:endParaRPr lang="en-US"/>
        </a:p>
      </dgm:t>
    </dgm:pt>
    <dgm:pt modelId="{53BB3179-D03A-470C-8BEA-A7ECB66E00AD}" type="sibTrans" cxnId="{FA136374-68BC-471E-9D1F-709EFBB978C2}">
      <dgm:prSet/>
      <dgm:spPr/>
      <dgm:t>
        <a:bodyPr/>
        <a:lstStyle/>
        <a:p>
          <a:endParaRPr lang="en-US"/>
        </a:p>
      </dgm:t>
    </dgm:pt>
    <dgm:pt modelId="{0242ECBF-8096-4441-8159-A6424D6458E3}">
      <dgm:prSet phldrT="[Text]"/>
      <dgm:spPr/>
      <dgm:t>
        <a:bodyPr/>
        <a:lstStyle/>
        <a:p>
          <a:r>
            <a:rPr lang="en-US" dirty="0"/>
            <a:t>Purchase</a:t>
          </a:r>
        </a:p>
      </dgm:t>
    </dgm:pt>
    <dgm:pt modelId="{4ECB0F0C-9EE0-44F2-B655-5C2B67F831CC}" type="parTrans" cxnId="{6D9A1B5F-4E85-4EED-A26E-2B4F0EDDAC11}">
      <dgm:prSet/>
      <dgm:spPr/>
      <dgm:t>
        <a:bodyPr/>
        <a:lstStyle/>
        <a:p>
          <a:endParaRPr lang="en-US"/>
        </a:p>
      </dgm:t>
    </dgm:pt>
    <dgm:pt modelId="{2D58310B-6E74-474B-B6A0-607489726DA6}" type="sibTrans" cxnId="{6D9A1B5F-4E85-4EED-A26E-2B4F0EDDAC11}">
      <dgm:prSet/>
      <dgm:spPr/>
      <dgm:t>
        <a:bodyPr/>
        <a:lstStyle/>
        <a:p>
          <a:endParaRPr lang="en-US"/>
        </a:p>
      </dgm:t>
    </dgm:pt>
    <dgm:pt modelId="{ADA6A182-B49C-4DA9-95F8-F306B9C58486}">
      <dgm:prSet phldrT="[Text]" custT="1"/>
      <dgm:spPr/>
      <dgm:t>
        <a:bodyPr/>
        <a:lstStyle/>
        <a:p>
          <a:r>
            <a:rPr lang="en-US" sz="1400" dirty="0"/>
            <a:t>Selection</a:t>
          </a:r>
        </a:p>
      </dgm:t>
    </dgm:pt>
    <dgm:pt modelId="{5E1137B6-096E-44CE-9A54-E6419E14DA78}" type="parTrans" cxnId="{614CBD6F-C46E-4EED-9BFF-94E5BDD09EA2}">
      <dgm:prSet/>
      <dgm:spPr/>
      <dgm:t>
        <a:bodyPr/>
        <a:lstStyle/>
        <a:p>
          <a:endParaRPr lang="en-US"/>
        </a:p>
      </dgm:t>
    </dgm:pt>
    <dgm:pt modelId="{5E0F968B-8829-4302-8201-A3BC69398CD4}" type="sibTrans" cxnId="{614CBD6F-C46E-4EED-9BFF-94E5BDD09EA2}">
      <dgm:prSet/>
      <dgm:spPr/>
      <dgm:t>
        <a:bodyPr/>
        <a:lstStyle/>
        <a:p>
          <a:endParaRPr lang="en-US"/>
        </a:p>
      </dgm:t>
    </dgm:pt>
    <dgm:pt modelId="{108C1858-F37B-4577-972F-63BDE362A89E}">
      <dgm:prSet phldrT="[Text]" custT="1"/>
      <dgm:spPr/>
      <dgm:t>
        <a:bodyPr/>
        <a:lstStyle/>
        <a:p>
          <a:r>
            <a:rPr lang="en-US" sz="1400" dirty="0"/>
            <a:t>Buy</a:t>
          </a:r>
        </a:p>
      </dgm:t>
    </dgm:pt>
    <dgm:pt modelId="{CAF99F78-4591-4474-B7C3-E2FBCBF852DE}" type="parTrans" cxnId="{004C29D5-AC1E-46EB-9994-B722721A6DDB}">
      <dgm:prSet/>
      <dgm:spPr/>
      <dgm:t>
        <a:bodyPr/>
        <a:lstStyle/>
        <a:p>
          <a:endParaRPr lang="en-US"/>
        </a:p>
      </dgm:t>
    </dgm:pt>
    <dgm:pt modelId="{860DF1B9-5A86-4CEC-A2D6-33F58BD3B722}" type="sibTrans" cxnId="{004C29D5-AC1E-46EB-9994-B722721A6DDB}">
      <dgm:prSet/>
      <dgm:spPr/>
      <dgm:t>
        <a:bodyPr/>
        <a:lstStyle/>
        <a:p>
          <a:endParaRPr lang="en-US"/>
        </a:p>
      </dgm:t>
    </dgm:pt>
    <dgm:pt modelId="{48E354C1-C279-42C7-B0A1-38B6C8A73FDD}">
      <dgm:prSet phldrT="[Text]"/>
      <dgm:spPr/>
      <dgm:t>
        <a:bodyPr/>
        <a:lstStyle/>
        <a:p>
          <a:r>
            <a:rPr lang="en-US" dirty="0"/>
            <a:t>Post-purchase</a:t>
          </a:r>
        </a:p>
      </dgm:t>
    </dgm:pt>
    <dgm:pt modelId="{C7D08947-AAF1-41B8-BF2C-B5B524E92484}" type="parTrans" cxnId="{273A2790-A3F1-416D-A369-671CCABB61FD}">
      <dgm:prSet/>
      <dgm:spPr/>
      <dgm:t>
        <a:bodyPr/>
        <a:lstStyle/>
        <a:p>
          <a:endParaRPr lang="en-US"/>
        </a:p>
      </dgm:t>
    </dgm:pt>
    <dgm:pt modelId="{CE64D365-43EA-4DAD-A73D-F59B8561C016}" type="sibTrans" cxnId="{273A2790-A3F1-416D-A369-671CCABB61FD}">
      <dgm:prSet/>
      <dgm:spPr/>
      <dgm:t>
        <a:bodyPr/>
        <a:lstStyle/>
        <a:p>
          <a:endParaRPr lang="en-US"/>
        </a:p>
      </dgm:t>
    </dgm:pt>
    <dgm:pt modelId="{DB1EB7D7-1139-45BF-AA44-D44D9D397572}">
      <dgm:prSet phldrT="[Text]" custT="1"/>
      <dgm:spPr/>
      <dgm:t>
        <a:bodyPr/>
        <a:lstStyle/>
        <a:p>
          <a:r>
            <a:rPr lang="en-US" sz="1100" dirty="0"/>
            <a:t>Trial</a:t>
          </a:r>
        </a:p>
      </dgm:t>
    </dgm:pt>
    <dgm:pt modelId="{CC219026-FE75-4BDE-90E1-F6FC8563D19D}" type="parTrans" cxnId="{7C118A00-43B4-4A8D-BFDC-37A6210FCB49}">
      <dgm:prSet/>
      <dgm:spPr/>
      <dgm:t>
        <a:bodyPr/>
        <a:lstStyle/>
        <a:p>
          <a:endParaRPr lang="en-US"/>
        </a:p>
      </dgm:t>
    </dgm:pt>
    <dgm:pt modelId="{F190FDBF-35AD-4668-AD67-878C507BD162}" type="sibTrans" cxnId="{7C118A00-43B4-4A8D-BFDC-37A6210FCB49}">
      <dgm:prSet/>
      <dgm:spPr/>
      <dgm:t>
        <a:bodyPr/>
        <a:lstStyle/>
        <a:p>
          <a:endParaRPr lang="en-US"/>
        </a:p>
      </dgm:t>
    </dgm:pt>
    <dgm:pt modelId="{2970904C-A3EA-479B-94FF-E08B780C1B77}">
      <dgm:prSet phldrT="[Text]" custT="1"/>
      <dgm:spPr/>
      <dgm:t>
        <a:bodyPr/>
        <a:lstStyle/>
        <a:p>
          <a:r>
            <a:rPr lang="en-US" sz="1100" dirty="0"/>
            <a:t>Advocacy</a:t>
          </a:r>
        </a:p>
      </dgm:t>
    </dgm:pt>
    <dgm:pt modelId="{2C4FA451-6811-497F-A28A-DAA2B07EFB20}" type="parTrans" cxnId="{E5645395-7FC6-4B59-9A92-62A9799C1BFA}">
      <dgm:prSet/>
      <dgm:spPr/>
      <dgm:t>
        <a:bodyPr/>
        <a:lstStyle/>
        <a:p>
          <a:endParaRPr lang="en-US"/>
        </a:p>
      </dgm:t>
    </dgm:pt>
    <dgm:pt modelId="{59D2767E-1B97-4900-84C9-638CF9513027}" type="sibTrans" cxnId="{E5645395-7FC6-4B59-9A92-62A9799C1BFA}">
      <dgm:prSet/>
      <dgm:spPr/>
      <dgm:t>
        <a:bodyPr/>
        <a:lstStyle/>
        <a:p>
          <a:endParaRPr lang="en-US"/>
        </a:p>
      </dgm:t>
    </dgm:pt>
    <dgm:pt modelId="{AE140839-A77F-4FA8-AD4B-00F6F42A36D5}">
      <dgm:prSet phldrT="[Text]" custT="1"/>
      <dgm:spPr/>
      <dgm:t>
        <a:bodyPr/>
        <a:lstStyle/>
        <a:p>
          <a:r>
            <a:rPr lang="en-US" sz="1100" dirty="0"/>
            <a:t>Consideration</a:t>
          </a:r>
        </a:p>
      </dgm:t>
    </dgm:pt>
    <dgm:pt modelId="{329F6BA4-72BC-41B6-9E4D-C08B4B6FAF17}" type="parTrans" cxnId="{A9B3280B-88C0-4744-94D9-B6DEDFDC852F}">
      <dgm:prSet/>
      <dgm:spPr/>
      <dgm:t>
        <a:bodyPr/>
        <a:lstStyle/>
        <a:p>
          <a:endParaRPr lang="en-US"/>
        </a:p>
      </dgm:t>
    </dgm:pt>
    <dgm:pt modelId="{7B505050-0591-4CA8-935D-5248B78F43B7}" type="sibTrans" cxnId="{A9B3280B-88C0-4744-94D9-B6DEDFDC852F}">
      <dgm:prSet/>
      <dgm:spPr/>
      <dgm:t>
        <a:bodyPr/>
        <a:lstStyle/>
        <a:p>
          <a:endParaRPr lang="en-US"/>
        </a:p>
      </dgm:t>
    </dgm:pt>
    <dgm:pt modelId="{C4940BCF-6E8B-4680-B8BF-828052A33003}">
      <dgm:prSet phldrT="[Text]" custT="1"/>
      <dgm:spPr/>
      <dgm:t>
        <a:bodyPr/>
        <a:lstStyle/>
        <a:p>
          <a:r>
            <a:rPr lang="en-US" sz="1100" dirty="0"/>
            <a:t>Satisfaction</a:t>
          </a:r>
        </a:p>
      </dgm:t>
    </dgm:pt>
    <dgm:pt modelId="{DA4A26B2-1B3B-4CA7-810E-C0317F29D612}" type="parTrans" cxnId="{BD73388C-A615-438D-9941-952E7F53B975}">
      <dgm:prSet/>
      <dgm:spPr/>
      <dgm:t>
        <a:bodyPr/>
        <a:lstStyle/>
        <a:p>
          <a:endParaRPr lang="en-US"/>
        </a:p>
      </dgm:t>
    </dgm:pt>
    <dgm:pt modelId="{2CD78E94-8B24-446E-B420-57D9C606E18A}" type="sibTrans" cxnId="{BD73388C-A615-438D-9941-952E7F53B975}">
      <dgm:prSet/>
      <dgm:spPr/>
      <dgm:t>
        <a:bodyPr/>
        <a:lstStyle/>
        <a:p>
          <a:endParaRPr lang="en-US"/>
        </a:p>
      </dgm:t>
    </dgm:pt>
    <dgm:pt modelId="{3482BA6F-6C91-4EA4-AF4E-AFB61F18F3D8}">
      <dgm:prSet phldrT="[Text]" custT="1"/>
      <dgm:spPr/>
      <dgm:t>
        <a:bodyPr/>
        <a:lstStyle/>
        <a:p>
          <a:r>
            <a:rPr lang="en-US" sz="1100" dirty="0"/>
            <a:t>Loyalty</a:t>
          </a:r>
        </a:p>
      </dgm:t>
    </dgm:pt>
    <dgm:pt modelId="{10653F04-08C9-4BB7-B0F6-859DB9C4CDAC}" type="parTrans" cxnId="{59BB1A79-7312-4C44-957C-EBA3183BD675}">
      <dgm:prSet/>
      <dgm:spPr/>
      <dgm:t>
        <a:bodyPr/>
        <a:lstStyle/>
        <a:p>
          <a:endParaRPr lang="en-US"/>
        </a:p>
      </dgm:t>
    </dgm:pt>
    <dgm:pt modelId="{73EFA12F-1D26-4F9C-9E64-6E2BCFF39A30}" type="sibTrans" cxnId="{59BB1A79-7312-4C44-957C-EBA3183BD675}">
      <dgm:prSet/>
      <dgm:spPr/>
      <dgm:t>
        <a:bodyPr/>
        <a:lstStyle/>
        <a:p>
          <a:endParaRPr lang="en-US"/>
        </a:p>
      </dgm:t>
    </dgm:pt>
    <dgm:pt modelId="{2F01A477-C0E9-4909-8E05-CC8A9E623017}" type="pres">
      <dgm:prSet presAssocID="{A1ECB6EB-69D9-4999-83CD-FBE2DE3E8D4B}" presName="theList" presStyleCnt="0">
        <dgm:presLayoutVars>
          <dgm:dir/>
          <dgm:animLvl val="lvl"/>
          <dgm:resizeHandles val="exact"/>
        </dgm:presLayoutVars>
      </dgm:prSet>
      <dgm:spPr/>
      <dgm:t>
        <a:bodyPr/>
        <a:lstStyle/>
        <a:p>
          <a:endParaRPr lang="en-US"/>
        </a:p>
      </dgm:t>
    </dgm:pt>
    <dgm:pt modelId="{8E370BE6-C47D-45A7-9FBF-536CAF3DCE34}" type="pres">
      <dgm:prSet presAssocID="{FE48CDD7-8E34-43A4-BE93-A5E398DC74F6}" presName="compNode" presStyleCnt="0"/>
      <dgm:spPr/>
    </dgm:pt>
    <dgm:pt modelId="{C7E91E69-B7AA-4A98-A6EF-F1A38AAC96CE}" type="pres">
      <dgm:prSet presAssocID="{FE48CDD7-8E34-43A4-BE93-A5E398DC74F6}" presName="noGeometry" presStyleCnt="0"/>
      <dgm:spPr/>
    </dgm:pt>
    <dgm:pt modelId="{FDBD8BD7-268A-42F9-93FC-41EBC2CE9144}" type="pres">
      <dgm:prSet presAssocID="{FE48CDD7-8E34-43A4-BE93-A5E398DC74F6}" presName="childTextVisible" presStyleLbl="bgAccFollowNode1" presStyleIdx="0" presStyleCnt="3" custScaleX="111069">
        <dgm:presLayoutVars>
          <dgm:bulletEnabled val="1"/>
        </dgm:presLayoutVars>
      </dgm:prSet>
      <dgm:spPr/>
      <dgm:t>
        <a:bodyPr/>
        <a:lstStyle/>
        <a:p>
          <a:endParaRPr lang="en-US"/>
        </a:p>
      </dgm:t>
    </dgm:pt>
    <dgm:pt modelId="{2C7F7EBC-FCA1-43E0-A5CF-D3BCFAA89D02}" type="pres">
      <dgm:prSet presAssocID="{FE48CDD7-8E34-43A4-BE93-A5E398DC74F6}" presName="childTextHidden" presStyleLbl="bgAccFollowNode1" presStyleIdx="0" presStyleCnt="3"/>
      <dgm:spPr/>
      <dgm:t>
        <a:bodyPr/>
        <a:lstStyle/>
        <a:p>
          <a:endParaRPr lang="en-US"/>
        </a:p>
      </dgm:t>
    </dgm:pt>
    <dgm:pt modelId="{E420B676-8A7C-4CBF-AF16-CCE100FA843D}" type="pres">
      <dgm:prSet presAssocID="{FE48CDD7-8E34-43A4-BE93-A5E398DC74F6}" presName="parentText" presStyleLbl="node1" presStyleIdx="0" presStyleCnt="3">
        <dgm:presLayoutVars>
          <dgm:chMax val="1"/>
          <dgm:bulletEnabled val="1"/>
        </dgm:presLayoutVars>
      </dgm:prSet>
      <dgm:spPr/>
      <dgm:t>
        <a:bodyPr/>
        <a:lstStyle/>
        <a:p>
          <a:endParaRPr lang="en-US"/>
        </a:p>
      </dgm:t>
    </dgm:pt>
    <dgm:pt modelId="{9568ADD5-9E65-4FE8-ACD0-75E6CF7E9F94}" type="pres">
      <dgm:prSet presAssocID="{FE48CDD7-8E34-43A4-BE93-A5E398DC74F6}" presName="aSpace" presStyleCnt="0"/>
      <dgm:spPr/>
    </dgm:pt>
    <dgm:pt modelId="{3CF9B9C1-FCC7-4609-ADC6-94AEBF07D011}" type="pres">
      <dgm:prSet presAssocID="{0242ECBF-8096-4441-8159-A6424D6458E3}" presName="compNode" presStyleCnt="0"/>
      <dgm:spPr/>
    </dgm:pt>
    <dgm:pt modelId="{B2B807DE-E4C8-4C95-BBC2-0E588F520EBC}" type="pres">
      <dgm:prSet presAssocID="{0242ECBF-8096-4441-8159-A6424D6458E3}" presName="noGeometry" presStyleCnt="0"/>
      <dgm:spPr/>
    </dgm:pt>
    <dgm:pt modelId="{9239E800-24D1-4EEC-8240-AB68658B3D66}" type="pres">
      <dgm:prSet presAssocID="{0242ECBF-8096-4441-8159-A6424D6458E3}" presName="childTextVisible" presStyleLbl="bgAccFollowNode1" presStyleIdx="1" presStyleCnt="3">
        <dgm:presLayoutVars>
          <dgm:bulletEnabled val="1"/>
        </dgm:presLayoutVars>
      </dgm:prSet>
      <dgm:spPr/>
      <dgm:t>
        <a:bodyPr/>
        <a:lstStyle/>
        <a:p>
          <a:endParaRPr lang="en-US"/>
        </a:p>
      </dgm:t>
    </dgm:pt>
    <dgm:pt modelId="{D024AC90-FB14-4981-9BA7-FEB884072EFB}" type="pres">
      <dgm:prSet presAssocID="{0242ECBF-8096-4441-8159-A6424D6458E3}" presName="childTextHidden" presStyleLbl="bgAccFollowNode1" presStyleIdx="1" presStyleCnt="3"/>
      <dgm:spPr/>
      <dgm:t>
        <a:bodyPr/>
        <a:lstStyle/>
        <a:p>
          <a:endParaRPr lang="en-US"/>
        </a:p>
      </dgm:t>
    </dgm:pt>
    <dgm:pt modelId="{B00E6A52-A5FC-4506-9C0A-A48FFEE71F18}" type="pres">
      <dgm:prSet presAssocID="{0242ECBF-8096-4441-8159-A6424D6458E3}" presName="parentText" presStyleLbl="node1" presStyleIdx="1" presStyleCnt="3">
        <dgm:presLayoutVars>
          <dgm:chMax val="1"/>
          <dgm:bulletEnabled val="1"/>
        </dgm:presLayoutVars>
      </dgm:prSet>
      <dgm:spPr/>
      <dgm:t>
        <a:bodyPr/>
        <a:lstStyle/>
        <a:p>
          <a:endParaRPr lang="en-US"/>
        </a:p>
      </dgm:t>
    </dgm:pt>
    <dgm:pt modelId="{6CF85C3D-3632-4271-9780-AD45EBF6B400}" type="pres">
      <dgm:prSet presAssocID="{0242ECBF-8096-4441-8159-A6424D6458E3}" presName="aSpace" presStyleCnt="0"/>
      <dgm:spPr/>
    </dgm:pt>
    <dgm:pt modelId="{40BF752B-FAA9-4FED-8E0D-C8B010C41A9E}" type="pres">
      <dgm:prSet presAssocID="{48E354C1-C279-42C7-B0A1-38B6C8A73FDD}" presName="compNode" presStyleCnt="0"/>
      <dgm:spPr/>
    </dgm:pt>
    <dgm:pt modelId="{B5A8023D-8608-4DE8-A6AE-6A81A2A6070C}" type="pres">
      <dgm:prSet presAssocID="{48E354C1-C279-42C7-B0A1-38B6C8A73FDD}" presName="noGeometry" presStyleCnt="0"/>
      <dgm:spPr/>
    </dgm:pt>
    <dgm:pt modelId="{FEDEC50B-9973-4EB5-A6B5-11F08059A0A3}" type="pres">
      <dgm:prSet presAssocID="{48E354C1-C279-42C7-B0A1-38B6C8A73FDD}" presName="childTextVisible" presStyleLbl="bgAccFollowNode1" presStyleIdx="2" presStyleCnt="3">
        <dgm:presLayoutVars>
          <dgm:bulletEnabled val="1"/>
        </dgm:presLayoutVars>
      </dgm:prSet>
      <dgm:spPr/>
      <dgm:t>
        <a:bodyPr/>
        <a:lstStyle/>
        <a:p>
          <a:endParaRPr lang="en-US"/>
        </a:p>
      </dgm:t>
    </dgm:pt>
    <dgm:pt modelId="{D5CC4991-820B-4190-B62E-3D00D5B58B4D}" type="pres">
      <dgm:prSet presAssocID="{48E354C1-C279-42C7-B0A1-38B6C8A73FDD}" presName="childTextHidden" presStyleLbl="bgAccFollowNode1" presStyleIdx="2" presStyleCnt="3"/>
      <dgm:spPr/>
      <dgm:t>
        <a:bodyPr/>
        <a:lstStyle/>
        <a:p>
          <a:endParaRPr lang="en-US"/>
        </a:p>
      </dgm:t>
    </dgm:pt>
    <dgm:pt modelId="{D4EAA6A9-BBDF-4AB1-A7BF-C14BD8AF65FB}" type="pres">
      <dgm:prSet presAssocID="{48E354C1-C279-42C7-B0A1-38B6C8A73FDD}" presName="parentText" presStyleLbl="node1" presStyleIdx="2" presStyleCnt="3">
        <dgm:presLayoutVars>
          <dgm:chMax val="1"/>
          <dgm:bulletEnabled val="1"/>
        </dgm:presLayoutVars>
      </dgm:prSet>
      <dgm:spPr/>
      <dgm:t>
        <a:bodyPr/>
        <a:lstStyle/>
        <a:p>
          <a:endParaRPr lang="en-US"/>
        </a:p>
      </dgm:t>
    </dgm:pt>
  </dgm:ptLst>
  <dgm:cxnLst>
    <dgm:cxn modelId="{6D9A1B5F-4E85-4EED-A26E-2B4F0EDDAC11}" srcId="{A1ECB6EB-69D9-4999-83CD-FBE2DE3E8D4B}" destId="{0242ECBF-8096-4441-8159-A6424D6458E3}" srcOrd="1" destOrd="0" parTransId="{4ECB0F0C-9EE0-44F2-B655-5C2B67F831CC}" sibTransId="{2D58310B-6E74-474B-B6A0-607489726DA6}"/>
    <dgm:cxn modelId="{7C118A00-43B4-4A8D-BFDC-37A6210FCB49}" srcId="{48E354C1-C279-42C7-B0A1-38B6C8A73FDD}" destId="{DB1EB7D7-1139-45BF-AA44-D44D9D397572}" srcOrd="0" destOrd="0" parTransId="{CC219026-FE75-4BDE-90E1-F6FC8563D19D}" sibTransId="{F190FDBF-35AD-4668-AD67-878C507BD162}"/>
    <dgm:cxn modelId="{004C29D5-AC1E-46EB-9994-B722721A6DDB}" srcId="{0242ECBF-8096-4441-8159-A6424D6458E3}" destId="{108C1858-F37B-4577-972F-63BDE362A89E}" srcOrd="1" destOrd="0" parTransId="{CAF99F78-4591-4474-B7C3-E2FBCBF852DE}" sibTransId="{860DF1B9-5A86-4CEC-A2D6-33F58BD3B722}"/>
    <dgm:cxn modelId="{213083D3-DAC2-4FA0-BB70-EC5903EF12CA}" type="presOf" srcId="{A1ECB6EB-69D9-4999-83CD-FBE2DE3E8D4B}" destId="{2F01A477-C0E9-4909-8E05-CC8A9E623017}" srcOrd="0" destOrd="0" presId="urn:microsoft.com/office/officeart/2005/8/layout/hProcess6"/>
    <dgm:cxn modelId="{2BEDD582-DD8D-4BD1-A2BE-B6D8A7296891}" type="presOf" srcId="{108C1858-F37B-4577-972F-63BDE362A89E}" destId="{9239E800-24D1-4EEC-8240-AB68658B3D66}" srcOrd="0" destOrd="1" presId="urn:microsoft.com/office/officeart/2005/8/layout/hProcess6"/>
    <dgm:cxn modelId="{BD73388C-A615-438D-9941-952E7F53B975}" srcId="{48E354C1-C279-42C7-B0A1-38B6C8A73FDD}" destId="{C4940BCF-6E8B-4680-B8BF-828052A33003}" srcOrd="1" destOrd="0" parTransId="{DA4A26B2-1B3B-4CA7-810E-C0317F29D612}" sibTransId="{2CD78E94-8B24-446E-B420-57D9C606E18A}"/>
    <dgm:cxn modelId="{ADE77EF8-8E1E-4A0D-8285-1680EE314EBF}" type="presOf" srcId="{0242ECBF-8096-4441-8159-A6424D6458E3}" destId="{B00E6A52-A5FC-4506-9C0A-A48FFEE71F18}" srcOrd="0" destOrd="0" presId="urn:microsoft.com/office/officeart/2005/8/layout/hProcess6"/>
    <dgm:cxn modelId="{F21855AB-4EF4-4DEE-891B-88390EA57BF6}" type="presOf" srcId="{2970904C-A3EA-479B-94FF-E08B780C1B77}" destId="{D5CC4991-820B-4190-B62E-3D00D5B58B4D}" srcOrd="1" destOrd="3" presId="urn:microsoft.com/office/officeart/2005/8/layout/hProcess6"/>
    <dgm:cxn modelId="{9FCB9F91-2091-44FA-A677-49607296E0C7}" type="presOf" srcId="{48E354C1-C279-42C7-B0A1-38B6C8A73FDD}" destId="{D4EAA6A9-BBDF-4AB1-A7BF-C14BD8AF65FB}" srcOrd="0" destOrd="0" presId="urn:microsoft.com/office/officeart/2005/8/layout/hProcess6"/>
    <dgm:cxn modelId="{E5645395-7FC6-4B59-9A92-62A9799C1BFA}" srcId="{48E354C1-C279-42C7-B0A1-38B6C8A73FDD}" destId="{2970904C-A3EA-479B-94FF-E08B780C1B77}" srcOrd="3" destOrd="0" parTransId="{2C4FA451-6811-497F-A28A-DAA2B07EFB20}" sibTransId="{59D2767E-1B97-4900-84C9-638CF9513027}"/>
    <dgm:cxn modelId="{D537F02B-BE6F-4112-BDE5-6B17DF1FC1A5}" type="presOf" srcId="{3482BA6F-6C91-4EA4-AF4E-AFB61F18F3D8}" destId="{D5CC4991-820B-4190-B62E-3D00D5B58B4D}" srcOrd="1" destOrd="2" presId="urn:microsoft.com/office/officeart/2005/8/layout/hProcess6"/>
    <dgm:cxn modelId="{7F645EAD-B30E-4BC9-A6D3-62E99D343A34}" type="presOf" srcId="{C4940BCF-6E8B-4680-B8BF-828052A33003}" destId="{D5CC4991-820B-4190-B62E-3D00D5B58B4D}" srcOrd="1" destOrd="1" presId="urn:microsoft.com/office/officeart/2005/8/layout/hProcess6"/>
    <dgm:cxn modelId="{BB61D832-DFE3-404F-ABCF-7FF99F88D6AF}" type="presOf" srcId="{FDFDAE27-4661-459E-A5D4-88E2721FBE4A}" destId="{FDBD8BD7-268A-42F9-93FC-41EBC2CE9144}" srcOrd="0" destOrd="1" presId="urn:microsoft.com/office/officeart/2005/8/layout/hProcess6"/>
    <dgm:cxn modelId="{FA136374-68BC-471E-9D1F-709EFBB978C2}" srcId="{FE48CDD7-8E34-43A4-BE93-A5E398DC74F6}" destId="{FDFDAE27-4661-459E-A5D4-88E2721FBE4A}" srcOrd="1" destOrd="0" parTransId="{58293A20-569C-4064-A1F8-6A9D5A810E42}" sibTransId="{53BB3179-D03A-470C-8BEA-A7ECB66E00AD}"/>
    <dgm:cxn modelId="{4148360C-242D-42AE-AD63-F517B3B1E06A}" type="presOf" srcId="{108C1858-F37B-4577-972F-63BDE362A89E}" destId="{D024AC90-FB14-4981-9BA7-FEB884072EFB}" srcOrd="1" destOrd="1" presId="urn:microsoft.com/office/officeart/2005/8/layout/hProcess6"/>
    <dgm:cxn modelId="{5F8A2176-35F6-42C6-885C-4B50D8039737}" type="presOf" srcId="{DB1EB7D7-1139-45BF-AA44-D44D9D397572}" destId="{FEDEC50B-9973-4EB5-A6B5-11F08059A0A3}" srcOrd="0" destOrd="0" presId="urn:microsoft.com/office/officeart/2005/8/layout/hProcess6"/>
    <dgm:cxn modelId="{59BB1A79-7312-4C44-957C-EBA3183BD675}" srcId="{48E354C1-C279-42C7-B0A1-38B6C8A73FDD}" destId="{3482BA6F-6C91-4EA4-AF4E-AFB61F18F3D8}" srcOrd="2" destOrd="0" parTransId="{10653F04-08C9-4BB7-B0F6-859DB9C4CDAC}" sibTransId="{73EFA12F-1D26-4F9C-9E64-6E2BCFF39A30}"/>
    <dgm:cxn modelId="{9E367F7B-E07B-4398-ACDB-1087378B93F9}" type="presOf" srcId="{8BC988D7-EE5D-415B-9450-E39F096930A1}" destId="{FDBD8BD7-268A-42F9-93FC-41EBC2CE9144}" srcOrd="0" destOrd="0" presId="urn:microsoft.com/office/officeart/2005/8/layout/hProcess6"/>
    <dgm:cxn modelId="{07E94238-B56A-4065-8D0E-19D9E0DD20E5}" type="presOf" srcId="{8BC988D7-EE5D-415B-9450-E39F096930A1}" destId="{2C7F7EBC-FCA1-43E0-A5CF-D3BCFAA89D02}" srcOrd="1" destOrd="0" presId="urn:microsoft.com/office/officeart/2005/8/layout/hProcess6"/>
    <dgm:cxn modelId="{A9B3280B-88C0-4744-94D9-B6DEDFDC852F}" srcId="{FE48CDD7-8E34-43A4-BE93-A5E398DC74F6}" destId="{AE140839-A77F-4FA8-AD4B-00F6F42A36D5}" srcOrd="2" destOrd="0" parTransId="{329F6BA4-72BC-41B6-9E4D-C08B4B6FAF17}" sibTransId="{7B505050-0591-4CA8-935D-5248B78F43B7}"/>
    <dgm:cxn modelId="{6530CE17-EF13-4C25-A3BA-959ADAF2D812}" type="presOf" srcId="{2970904C-A3EA-479B-94FF-E08B780C1B77}" destId="{FEDEC50B-9973-4EB5-A6B5-11F08059A0A3}" srcOrd="0" destOrd="3" presId="urn:microsoft.com/office/officeart/2005/8/layout/hProcess6"/>
    <dgm:cxn modelId="{2DFE1DF7-F24F-42CF-AD5F-4D40FBE9CCFF}" srcId="{FE48CDD7-8E34-43A4-BE93-A5E398DC74F6}" destId="{8BC988D7-EE5D-415B-9450-E39F096930A1}" srcOrd="0" destOrd="0" parTransId="{F553C353-C82E-427E-AD7E-733CD3AFF3EC}" sibTransId="{EDA277AF-5A65-40F8-9FFC-B3024B632A01}"/>
    <dgm:cxn modelId="{273A2790-A3F1-416D-A369-671CCABB61FD}" srcId="{A1ECB6EB-69D9-4999-83CD-FBE2DE3E8D4B}" destId="{48E354C1-C279-42C7-B0A1-38B6C8A73FDD}" srcOrd="2" destOrd="0" parTransId="{C7D08947-AAF1-41B8-BF2C-B5B524E92484}" sibTransId="{CE64D365-43EA-4DAD-A73D-F59B8561C016}"/>
    <dgm:cxn modelId="{45B497CF-7B66-4F6B-8DB5-FF9F2E51E471}" type="presOf" srcId="{FE48CDD7-8E34-43A4-BE93-A5E398DC74F6}" destId="{E420B676-8A7C-4CBF-AF16-CCE100FA843D}" srcOrd="0" destOrd="0" presId="urn:microsoft.com/office/officeart/2005/8/layout/hProcess6"/>
    <dgm:cxn modelId="{CCC80D1D-998D-4A78-8E2A-EA82B114A160}" type="presOf" srcId="{DB1EB7D7-1139-45BF-AA44-D44D9D397572}" destId="{D5CC4991-820B-4190-B62E-3D00D5B58B4D}" srcOrd="1" destOrd="0" presId="urn:microsoft.com/office/officeart/2005/8/layout/hProcess6"/>
    <dgm:cxn modelId="{19624AF7-E575-4E75-BE71-DEF27B2EFA4D}" type="presOf" srcId="{ADA6A182-B49C-4DA9-95F8-F306B9C58486}" destId="{9239E800-24D1-4EEC-8240-AB68658B3D66}" srcOrd="0" destOrd="0" presId="urn:microsoft.com/office/officeart/2005/8/layout/hProcess6"/>
    <dgm:cxn modelId="{9C1905CA-3C1F-446C-8A59-83167AB75401}" type="presOf" srcId="{AE140839-A77F-4FA8-AD4B-00F6F42A36D5}" destId="{FDBD8BD7-268A-42F9-93FC-41EBC2CE9144}" srcOrd="0" destOrd="2" presId="urn:microsoft.com/office/officeart/2005/8/layout/hProcess6"/>
    <dgm:cxn modelId="{8B3AC2E3-EF76-43E7-9E44-3D7F11CAACA6}" srcId="{A1ECB6EB-69D9-4999-83CD-FBE2DE3E8D4B}" destId="{FE48CDD7-8E34-43A4-BE93-A5E398DC74F6}" srcOrd="0" destOrd="0" parTransId="{7A0F0C4E-2CBE-4E37-9397-943AD282EA03}" sibTransId="{05ED47B6-168C-49C0-AFAF-C509BC9DAB04}"/>
    <dgm:cxn modelId="{614CBD6F-C46E-4EED-9BFF-94E5BDD09EA2}" srcId="{0242ECBF-8096-4441-8159-A6424D6458E3}" destId="{ADA6A182-B49C-4DA9-95F8-F306B9C58486}" srcOrd="0" destOrd="0" parTransId="{5E1137B6-096E-44CE-9A54-E6419E14DA78}" sibTransId="{5E0F968B-8829-4302-8201-A3BC69398CD4}"/>
    <dgm:cxn modelId="{E6E23E6B-205C-4AE4-B6C5-2152E7E05258}" type="presOf" srcId="{FDFDAE27-4661-459E-A5D4-88E2721FBE4A}" destId="{2C7F7EBC-FCA1-43E0-A5CF-D3BCFAA89D02}" srcOrd="1" destOrd="1" presId="urn:microsoft.com/office/officeart/2005/8/layout/hProcess6"/>
    <dgm:cxn modelId="{66A4205C-E760-456C-AF7A-E651FAC27471}" type="presOf" srcId="{C4940BCF-6E8B-4680-B8BF-828052A33003}" destId="{FEDEC50B-9973-4EB5-A6B5-11F08059A0A3}" srcOrd="0" destOrd="1" presId="urn:microsoft.com/office/officeart/2005/8/layout/hProcess6"/>
    <dgm:cxn modelId="{87E4694B-300B-4EE4-99ED-C55E1F76594E}" type="presOf" srcId="{AE140839-A77F-4FA8-AD4B-00F6F42A36D5}" destId="{2C7F7EBC-FCA1-43E0-A5CF-D3BCFAA89D02}" srcOrd="1" destOrd="2" presId="urn:microsoft.com/office/officeart/2005/8/layout/hProcess6"/>
    <dgm:cxn modelId="{1D1E2287-C48F-43B4-85D4-D50949700165}" type="presOf" srcId="{ADA6A182-B49C-4DA9-95F8-F306B9C58486}" destId="{D024AC90-FB14-4981-9BA7-FEB884072EFB}" srcOrd="1" destOrd="0" presId="urn:microsoft.com/office/officeart/2005/8/layout/hProcess6"/>
    <dgm:cxn modelId="{F986F433-51A0-4AE7-9906-3478D7FB6C1F}" type="presOf" srcId="{3482BA6F-6C91-4EA4-AF4E-AFB61F18F3D8}" destId="{FEDEC50B-9973-4EB5-A6B5-11F08059A0A3}" srcOrd="0" destOrd="2" presId="urn:microsoft.com/office/officeart/2005/8/layout/hProcess6"/>
    <dgm:cxn modelId="{D5E1FB69-3E0B-43AD-9ED6-F34A5495940C}" type="presParOf" srcId="{2F01A477-C0E9-4909-8E05-CC8A9E623017}" destId="{8E370BE6-C47D-45A7-9FBF-536CAF3DCE34}" srcOrd="0" destOrd="0" presId="urn:microsoft.com/office/officeart/2005/8/layout/hProcess6"/>
    <dgm:cxn modelId="{A103B3EE-132C-40FE-B10C-AF5E28978A77}" type="presParOf" srcId="{8E370BE6-C47D-45A7-9FBF-536CAF3DCE34}" destId="{C7E91E69-B7AA-4A98-A6EF-F1A38AAC96CE}" srcOrd="0" destOrd="0" presId="urn:microsoft.com/office/officeart/2005/8/layout/hProcess6"/>
    <dgm:cxn modelId="{A8198410-59B8-421B-9E9B-8A2B6313928C}" type="presParOf" srcId="{8E370BE6-C47D-45A7-9FBF-536CAF3DCE34}" destId="{FDBD8BD7-268A-42F9-93FC-41EBC2CE9144}" srcOrd="1" destOrd="0" presId="urn:microsoft.com/office/officeart/2005/8/layout/hProcess6"/>
    <dgm:cxn modelId="{262109A4-9D34-4C47-B002-BAA98FF5F844}" type="presParOf" srcId="{8E370BE6-C47D-45A7-9FBF-536CAF3DCE34}" destId="{2C7F7EBC-FCA1-43E0-A5CF-D3BCFAA89D02}" srcOrd="2" destOrd="0" presId="urn:microsoft.com/office/officeart/2005/8/layout/hProcess6"/>
    <dgm:cxn modelId="{C569CF71-6092-4117-A733-B87E1D969772}" type="presParOf" srcId="{8E370BE6-C47D-45A7-9FBF-536CAF3DCE34}" destId="{E420B676-8A7C-4CBF-AF16-CCE100FA843D}" srcOrd="3" destOrd="0" presId="urn:microsoft.com/office/officeart/2005/8/layout/hProcess6"/>
    <dgm:cxn modelId="{E2B55A0C-35A1-46F0-AE26-FAF97642DFEF}" type="presParOf" srcId="{2F01A477-C0E9-4909-8E05-CC8A9E623017}" destId="{9568ADD5-9E65-4FE8-ACD0-75E6CF7E9F94}" srcOrd="1" destOrd="0" presId="urn:microsoft.com/office/officeart/2005/8/layout/hProcess6"/>
    <dgm:cxn modelId="{9C8AE64C-8AC2-47E9-B937-457FE5D9F1E6}" type="presParOf" srcId="{2F01A477-C0E9-4909-8E05-CC8A9E623017}" destId="{3CF9B9C1-FCC7-4609-ADC6-94AEBF07D011}" srcOrd="2" destOrd="0" presId="urn:microsoft.com/office/officeart/2005/8/layout/hProcess6"/>
    <dgm:cxn modelId="{0ADBFA2F-114E-4662-8039-E28895367459}" type="presParOf" srcId="{3CF9B9C1-FCC7-4609-ADC6-94AEBF07D011}" destId="{B2B807DE-E4C8-4C95-BBC2-0E588F520EBC}" srcOrd="0" destOrd="0" presId="urn:microsoft.com/office/officeart/2005/8/layout/hProcess6"/>
    <dgm:cxn modelId="{A1D8F97D-8719-449F-ACB5-B563EDE6071D}" type="presParOf" srcId="{3CF9B9C1-FCC7-4609-ADC6-94AEBF07D011}" destId="{9239E800-24D1-4EEC-8240-AB68658B3D66}" srcOrd="1" destOrd="0" presId="urn:microsoft.com/office/officeart/2005/8/layout/hProcess6"/>
    <dgm:cxn modelId="{D0E5C128-F6EF-4281-8A83-3D3B7BD9770C}" type="presParOf" srcId="{3CF9B9C1-FCC7-4609-ADC6-94AEBF07D011}" destId="{D024AC90-FB14-4981-9BA7-FEB884072EFB}" srcOrd="2" destOrd="0" presId="urn:microsoft.com/office/officeart/2005/8/layout/hProcess6"/>
    <dgm:cxn modelId="{3F6F617F-35FB-44B9-97A3-3ABF0B7388DA}" type="presParOf" srcId="{3CF9B9C1-FCC7-4609-ADC6-94AEBF07D011}" destId="{B00E6A52-A5FC-4506-9C0A-A48FFEE71F18}" srcOrd="3" destOrd="0" presId="urn:microsoft.com/office/officeart/2005/8/layout/hProcess6"/>
    <dgm:cxn modelId="{EB25E45F-BFDD-4882-94DC-D53E2977F9A0}" type="presParOf" srcId="{2F01A477-C0E9-4909-8E05-CC8A9E623017}" destId="{6CF85C3D-3632-4271-9780-AD45EBF6B400}" srcOrd="3" destOrd="0" presId="urn:microsoft.com/office/officeart/2005/8/layout/hProcess6"/>
    <dgm:cxn modelId="{6937A896-D466-40EE-96AA-64691658D609}" type="presParOf" srcId="{2F01A477-C0E9-4909-8E05-CC8A9E623017}" destId="{40BF752B-FAA9-4FED-8E0D-C8B010C41A9E}" srcOrd="4" destOrd="0" presId="urn:microsoft.com/office/officeart/2005/8/layout/hProcess6"/>
    <dgm:cxn modelId="{271F58C2-5DAF-4CF8-977B-E3882CA6E6D4}" type="presParOf" srcId="{40BF752B-FAA9-4FED-8E0D-C8B010C41A9E}" destId="{B5A8023D-8608-4DE8-A6AE-6A81A2A6070C}" srcOrd="0" destOrd="0" presId="urn:microsoft.com/office/officeart/2005/8/layout/hProcess6"/>
    <dgm:cxn modelId="{71CE961B-A0D5-418C-A1E8-60E9174E0648}" type="presParOf" srcId="{40BF752B-FAA9-4FED-8E0D-C8B010C41A9E}" destId="{FEDEC50B-9973-4EB5-A6B5-11F08059A0A3}" srcOrd="1" destOrd="0" presId="urn:microsoft.com/office/officeart/2005/8/layout/hProcess6"/>
    <dgm:cxn modelId="{8C680BE6-5667-4E51-BBF2-4FD4706C2962}" type="presParOf" srcId="{40BF752B-FAA9-4FED-8E0D-C8B010C41A9E}" destId="{D5CC4991-820B-4190-B62E-3D00D5B58B4D}" srcOrd="2" destOrd="0" presId="urn:microsoft.com/office/officeart/2005/8/layout/hProcess6"/>
    <dgm:cxn modelId="{CBBF5664-1041-4390-A767-68E94F61B71B}" type="presParOf" srcId="{40BF752B-FAA9-4FED-8E0D-C8B010C41A9E}" destId="{D4EAA6A9-BBDF-4AB1-A7BF-C14BD8AF65FB}" srcOrd="3" destOrd="0" presId="urn:microsoft.com/office/officeart/2005/8/layout/hProcess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BD8BD7-268A-42F9-93FC-41EBC2CE9144}">
      <dsp:nvSpPr>
        <dsp:cNvPr id="0" name=""/>
        <dsp:cNvSpPr/>
      </dsp:nvSpPr>
      <dsp:spPr>
        <a:xfrm>
          <a:off x="371609" y="929221"/>
          <a:ext cx="2109186" cy="1659953"/>
        </a:xfrm>
        <a:prstGeom prst="rightArrow">
          <a:avLst>
            <a:gd name="adj1" fmla="val 70000"/>
            <a:gd name="adj2" fmla="val 50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Awareness</a:t>
          </a:r>
        </a:p>
        <a:p>
          <a:pPr marL="57150" lvl="1" indent="-57150" algn="l" defTabSz="488950">
            <a:lnSpc>
              <a:spcPct val="90000"/>
            </a:lnSpc>
            <a:spcBef>
              <a:spcPct val="0"/>
            </a:spcBef>
            <a:spcAft>
              <a:spcPct val="15000"/>
            </a:spcAft>
            <a:buChar char="••"/>
          </a:pPr>
          <a:r>
            <a:rPr lang="en-US" sz="1100" kern="1200" dirty="0"/>
            <a:t>Knowledge</a:t>
          </a:r>
        </a:p>
        <a:p>
          <a:pPr marL="57150" lvl="1" indent="-57150" algn="l" defTabSz="488950">
            <a:lnSpc>
              <a:spcPct val="90000"/>
            </a:lnSpc>
            <a:spcBef>
              <a:spcPct val="0"/>
            </a:spcBef>
            <a:spcAft>
              <a:spcPct val="15000"/>
            </a:spcAft>
            <a:buChar char="••"/>
          </a:pPr>
          <a:r>
            <a:rPr lang="en-US" sz="1100" kern="1200" dirty="0"/>
            <a:t>Consideration</a:t>
          </a:r>
        </a:p>
      </dsp:txBody>
      <dsp:txXfrm>
        <a:off x="898906" y="1178214"/>
        <a:ext cx="1028228" cy="1161967"/>
      </dsp:txXfrm>
    </dsp:sp>
    <dsp:sp modelId="{E420B676-8A7C-4CBF-AF16-CCE100FA843D}">
      <dsp:nvSpPr>
        <dsp:cNvPr id="0" name=""/>
        <dsp:cNvSpPr/>
      </dsp:nvSpPr>
      <dsp:spPr>
        <a:xfrm>
          <a:off x="1962" y="1284451"/>
          <a:ext cx="949493" cy="949493"/>
        </a:xfrm>
        <a:prstGeom prst="ellipse">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a:t>Pre-purchase</a:t>
          </a:r>
        </a:p>
      </dsp:txBody>
      <dsp:txXfrm>
        <a:off x="141012" y="1423501"/>
        <a:ext cx="671393" cy="671393"/>
      </dsp:txXfrm>
    </dsp:sp>
    <dsp:sp modelId="{9239E800-24D1-4EEC-8240-AB68658B3D66}">
      <dsp:nvSpPr>
        <dsp:cNvPr id="0" name=""/>
        <dsp:cNvSpPr/>
      </dsp:nvSpPr>
      <dsp:spPr>
        <a:xfrm>
          <a:off x="3074229" y="929221"/>
          <a:ext cx="1898987" cy="1659953"/>
        </a:xfrm>
        <a:prstGeom prst="rightArrow">
          <a:avLst>
            <a:gd name="adj1" fmla="val 70000"/>
            <a:gd name="adj2" fmla="val 50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5560" tIns="8890" rIns="17780" bIns="8890"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t>Selection</a:t>
          </a:r>
        </a:p>
        <a:p>
          <a:pPr marL="114300" lvl="1" indent="-114300" algn="l" defTabSz="622300">
            <a:lnSpc>
              <a:spcPct val="90000"/>
            </a:lnSpc>
            <a:spcBef>
              <a:spcPct val="0"/>
            </a:spcBef>
            <a:spcAft>
              <a:spcPct val="15000"/>
            </a:spcAft>
            <a:buChar char="••"/>
          </a:pPr>
          <a:r>
            <a:rPr lang="en-US" sz="1400" kern="1200" dirty="0"/>
            <a:t>Buy</a:t>
          </a:r>
        </a:p>
      </dsp:txBody>
      <dsp:txXfrm>
        <a:off x="3548976" y="1178214"/>
        <a:ext cx="925756" cy="1161967"/>
      </dsp:txXfrm>
    </dsp:sp>
    <dsp:sp modelId="{B00E6A52-A5FC-4506-9C0A-A48FFEE71F18}">
      <dsp:nvSpPr>
        <dsp:cNvPr id="0" name=""/>
        <dsp:cNvSpPr/>
      </dsp:nvSpPr>
      <dsp:spPr>
        <a:xfrm>
          <a:off x="2599482" y="1284451"/>
          <a:ext cx="949493" cy="949493"/>
        </a:xfrm>
        <a:prstGeom prst="ellipse">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a:t>Purchase</a:t>
          </a:r>
        </a:p>
      </dsp:txBody>
      <dsp:txXfrm>
        <a:off x="2738532" y="1423501"/>
        <a:ext cx="671393" cy="671393"/>
      </dsp:txXfrm>
    </dsp:sp>
    <dsp:sp modelId="{FEDEC50B-9973-4EB5-A6B5-11F08059A0A3}">
      <dsp:nvSpPr>
        <dsp:cNvPr id="0" name=""/>
        <dsp:cNvSpPr/>
      </dsp:nvSpPr>
      <dsp:spPr>
        <a:xfrm>
          <a:off x="5566650" y="929221"/>
          <a:ext cx="1898987" cy="1659953"/>
        </a:xfrm>
        <a:prstGeom prst="rightArrow">
          <a:avLst>
            <a:gd name="adj1" fmla="val 70000"/>
            <a:gd name="adj2" fmla="val 50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6985" rIns="13970" bIns="6985" numCol="1" spcCol="1270" anchor="ctr" anchorCtr="0">
          <a:noAutofit/>
        </a:bodyPr>
        <a:lstStyle/>
        <a:p>
          <a:pPr marL="57150" lvl="1" indent="-57150" algn="l" defTabSz="488950">
            <a:lnSpc>
              <a:spcPct val="90000"/>
            </a:lnSpc>
            <a:spcBef>
              <a:spcPct val="0"/>
            </a:spcBef>
            <a:spcAft>
              <a:spcPct val="15000"/>
            </a:spcAft>
            <a:buChar char="••"/>
          </a:pPr>
          <a:r>
            <a:rPr lang="en-US" sz="1100" kern="1200" dirty="0"/>
            <a:t>Trial</a:t>
          </a:r>
        </a:p>
        <a:p>
          <a:pPr marL="57150" lvl="1" indent="-57150" algn="l" defTabSz="488950">
            <a:lnSpc>
              <a:spcPct val="90000"/>
            </a:lnSpc>
            <a:spcBef>
              <a:spcPct val="0"/>
            </a:spcBef>
            <a:spcAft>
              <a:spcPct val="15000"/>
            </a:spcAft>
            <a:buChar char="••"/>
          </a:pPr>
          <a:r>
            <a:rPr lang="en-US" sz="1100" kern="1200" dirty="0"/>
            <a:t>Satisfaction</a:t>
          </a:r>
        </a:p>
        <a:p>
          <a:pPr marL="57150" lvl="1" indent="-57150" algn="l" defTabSz="488950">
            <a:lnSpc>
              <a:spcPct val="90000"/>
            </a:lnSpc>
            <a:spcBef>
              <a:spcPct val="0"/>
            </a:spcBef>
            <a:spcAft>
              <a:spcPct val="15000"/>
            </a:spcAft>
            <a:buChar char="••"/>
          </a:pPr>
          <a:r>
            <a:rPr lang="en-US" sz="1100" kern="1200" dirty="0"/>
            <a:t>Loyalty</a:t>
          </a:r>
        </a:p>
        <a:p>
          <a:pPr marL="57150" lvl="1" indent="-57150" algn="l" defTabSz="488950">
            <a:lnSpc>
              <a:spcPct val="90000"/>
            </a:lnSpc>
            <a:spcBef>
              <a:spcPct val="0"/>
            </a:spcBef>
            <a:spcAft>
              <a:spcPct val="15000"/>
            </a:spcAft>
            <a:buChar char="••"/>
          </a:pPr>
          <a:r>
            <a:rPr lang="en-US" sz="1100" kern="1200" dirty="0"/>
            <a:t>Advocacy</a:t>
          </a:r>
        </a:p>
      </dsp:txBody>
      <dsp:txXfrm>
        <a:off x="6041397" y="1178214"/>
        <a:ext cx="925756" cy="1161967"/>
      </dsp:txXfrm>
    </dsp:sp>
    <dsp:sp modelId="{D4EAA6A9-BBDF-4AB1-A7BF-C14BD8AF65FB}">
      <dsp:nvSpPr>
        <dsp:cNvPr id="0" name=""/>
        <dsp:cNvSpPr/>
      </dsp:nvSpPr>
      <dsp:spPr>
        <a:xfrm>
          <a:off x="5091903" y="1284451"/>
          <a:ext cx="949493" cy="949493"/>
        </a:xfrm>
        <a:prstGeom prst="ellipse">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a:t>Post-purchase</a:t>
          </a:r>
        </a:p>
      </dsp:txBody>
      <dsp:txXfrm>
        <a:off x="5230953" y="1423501"/>
        <a:ext cx="671393" cy="67139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1/27/2015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1/27/2015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3" Type="http://schemas.openxmlformats.org/officeDocument/2006/relationships/hyperlink" Target="http://www.educationplanner.org/students/self-assessments/learning-styles.shtml" TargetMode="External"/><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3" Type="http://schemas.openxmlformats.org/officeDocument/2006/relationships/hyperlink" Target="http://www.learningforlife.org/exploring-resources/99-720/x09.pdf" TargetMode="External"/><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to introduce the unit and explain any rules, procedures etc.</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313979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Introduce the unit and take students through the course outline and assessment details. </a:t>
            </a:r>
          </a:p>
          <a:p>
            <a:r>
              <a:rPr lang="en-AU" sz="1200" kern="1200" dirty="0" smtClean="0">
                <a:solidFill>
                  <a:schemeClr val="tx1"/>
                </a:solidFill>
                <a:effectLst/>
                <a:latin typeface="Helvetica" pitchFamily="34" charset="0"/>
                <a:ea typeface="+mn-ea"/>
                <a:cs typeface="+mn-cs"/>
              </a:rPr>
              <a:t>Ask students to introduce themselves and describe their work setting, role and duties.</a:t>
            </a:r>
          </a:p>
          <a:p>
            <a:r>
              <a:rPr lang="en-AU" sz="1200" kern="1200" dirty="0" smtClean="0">
                <a:solidFill>
                  <a:schemeClr val="tx1"/>
                </a:solidFill>
                <a:effectLst/>
                <a:latin typeface="Helvetica" pitchFamily="34" charset="0"/>
                <a:ea typeface="+mn-ea"/>
                <a:cs typeface="+mn-cs"/>
              </a:rPr>
              <a:t>Go through all housekeeping details such as fire exits, evacuation procedures, toilet location etc.</a:t>
            </a:r>
          </a:p>
          <a:p>
            <a:r>
              <a:rPr lang="en-AU" sz="1200" kern="1200" dirty="0" smtClean="0">
                <a:solidFill>
                  <a:schemeClr val="tx1"/>
                </a:solidFill>
                <a:effectLst/>
                <a:latin typeface="Helvetica" pitchFamily="34" charset="0"/>
                <a:ea typeface="+mn-ea"/>
                <a:cs typeface="+mn-cs"/>
              </a:rPr>
              <a:t>Explain that students will also have to complete work projects for each Element/performance criteria and that there will be oral questions and written questions to answer.</a:t>
            </a:r>
          </a:p>
          <a:p>
            <a:r>
              <a:rPr lang="en-AU" sz="1200" kern="1200" dirty="0" smtClean="0">
                <a:solidFill>
                  <a:schemeClr val="tx1"/>
                </a:solidFill>
                <a:effectLst/>
                <a:latin typeface="Helvetica" pitchFamily="34" charset="0"/>
                <a:ea typeface="+mn-ea"/>
                <a:cs typeface="+mn-cs"/>
              </a:rPr>
              <a:t>Students should be encouraged to keep a portfolio of their work.</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25232562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Go through the performance criteria with participants. </a:t>
            </a:r>
          </a:p>
          <a:p>
            <a:r>
              <a:rPr lang="en-AU" sz="1200" kern="1200" dirty="0" smtClean="0">
                <a:solidFill>
                  <a:schemeClr val="tx1"/>
                </a:solidFill>
                <a:effectLst/>
                <a:latin typeface="Helvetica" pitchFamily="34" charset="0"/>
                <a:ea typeface="+mn-ea"/>
                <a:cs typeface="+mn-cs"/>
              </a:rPr>
              <a:t>Ask for any questions.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32864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Ask the group to read through the information in the introduction of the Training Manual (TM). </a:t>
            </a:r>
          </a:p>
          <a:p>
            <a:pPr>
              <a:buFont typeface="Arial" pitchFamily="34" charset="0"/>
              <a:buNone/>
            </a:pPr>
            <a:r>
              <a:rPr lang="en-AU" sz="1200" kern="1200" dirty="0" smtClean="0">
                <a:solidFill>
                  <a:schemeClr val="tx1"/>
                </a:solidFill>
                <a:effectLst/>
                <a:latin typeface="Helvetica" pitchFamily="34" charset="0"/>
                <a:ea typeface="+mn-ea"/>
                <a:cs typeface="+mn-cs"/>
              </a:rPr>
              <a:t>Ask students to describe their workplace and what level their organisation’s service standards are aimed at. </a:t>
            </a:r>
          </a:p>
          <a:p>
            <a:pPr>
              <a:buFont typeface="Arial" pitchFamily="34" charset="0"/>
              <a:buNone/>
            </a:pPr>
            <a:r>
              <a:rPr lang="en-AU" sz="1200" kern="1200" dirty="0" smtClean="0">
                <a:solidFill>
                  <a:schemeClr val="tx1"/>
                </a:solidFill>
                <a:effectLst/>
                <a:latin typeface="Helvetica" pitchFamily="34" charset="0"/>
                <a:ea typeface="+mn-ea"/>
                <a:cs typeface="+mn-cs"/>
              </a:rPr>
              <a:t>For example, 5 star or 2 star, high level or mid-range.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28701078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Explain these concepts) Intangibility, Inseparability, Heterogeneity and Perishability) with participants. </a:t>
            </a:r>
          </a:p>
          <a:p>
            <a:pPr>
              <a:buFont typeface="Arial" pitchFamily="34" charset="0"/>
              <a:buNone/>
            </a:pPr>
            <a:r>
              <a:rPr lang="en-AU" sz="1200" kern="1200" dirty="0" smtClean="0">
                <a:solidFill>
                  <a:schemeClr val="tx1"/>
                </a:solidFill>
                <a:effectLst/>
                <a:latin typeface="Helvetica" pitchFamily="34" charset="0"/>
                <a:ea typeface="+mn-ea"/>
                <a:cs typeface="+mn-cs"/>
              </a:rPr>
              <a:t>Explain that services are different from products. </a:t>
            </a:r>
          </a:p>
          <a:p>
            <a:pPr>
              <a:buFont typeface="Arial" pitchFamily="34" charset="0"/>
              <a:buNone/>
            </a:pPr>
            <a:r>
              <a:rPr lang="en-AU" sz="1200" kern="1200" dirty="0" smtClean="0">
                <a:solidFill>
                  <a:schemeClr val="tx1"/>
                </a:solidFill>
                <a:effectLst/>
                <a:latin typeface="Helvetica" pitchFamily="34" charset="0"/>
                <a:ea typeface="+mn-ea"/>
                <a:cs typeface="+mn-cs"/>
              </a:rPr>
              <a:t>Use information from the TM and available online or from resource books.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2498572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Go through the continuum with participants. Products are more tangible than services. </a:t>
            </a:r>
          </a:p>
          <a:p>
            <a:r>
              <a:rPr lang="en-AU" sz="1200" kern="1200" dirty="0" smtClean="0">
                <a:solidFill>
                  <a:schemeClr val="tx1"/>
                </a:solidFill>
                <a:effectLst/>
                <a:latin typeface="Helvetica" pitchFamily="34" charset="0"/>
                <a:ea typeface="+mn-ea"/>
                <a:cs typeface="+mn-cs"/>
              </a:rPr>
              <a:t>Ask the group to provide other examples of products and services and where they would be placed on the continuum.</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0821250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Ask students to provide examples of internal and external factors which may influence customer service delivery.</a:t>
            </a:r>
          </a:p>
          <a:p>
            <a:r>
              <a:rPr lang="en-AU" sz="1200" kern="1200" dirty="0" smtClean="0">
                <a:solidFill>
                  <a:schemeClr val="tx1"/>
                </a:solidFill>
                <a:effectLst/>
                <a:latin typeface="Helvetica" pitchFamily="34" charset="0"/>
                <a:ea typeface="+mn-ea"/>
                <a:cs typeface="+mn-cs"/>
              </a:rPr>
              <a:t>Ask the class to read through their TM and look at internal and external factors that affect customer service. </a:t>
            </a:r>
          </a:p>
          <a:p>
            <a:r>
              <a:rPr lang="en-AU" sz="1200" kern="1200" dirty="0" smtClean="0">
                <a:solidFill>
                  <a:schemeClr val="tx1"/>
                </a:solidFill>
                <a:effectLst/>
                <a:latin typeface="Helvetica" pitchFamily="34" charset="0"/>
                <a:ea typeface="+mn-ea"/>
                <a:cs typeface="+mn-cs"/>
              </a:rPr>
              <a:t>Ask the class to provide examples of their own or other workplaces where internal/external factors impact on service delivery.</a:t>
            </a:r>
          </a:p>
          <a:p>
            <a:r>
              <a:rPr lang="en-AU" sz="1200" kern="1200" dirty="0" smtClean="0">
                <a:solidFill>
                  <a:schemeClr val="tx1"/>
                </a:solidFill>
                <a:effectLst/>
                <a:latin typeface="Helvetica" pitchFamily="34" charset="0"/>
                <a:ea typeface="+mn-ea"/>
                <a:cs typeface="+mn-cs"/>
              </a:rPr>
              <a:t>Some external examples could be the economic, social, competitive, political and legal, and technological environment.</a:t>
            </a:r>
          </a:p>
          <a:p>
            <a:r>
              <a:rPr lang="en-AU" sz="1200" kern="1200" dirty="0" smtClean="0">
                <a:solidFill>
                  <a:schemeClr val="tx1"/>
                </a:solidFill>
                <a:effectLst/>
                <a:latin typeface="Helvetica" pitchFamily="34" charset="0"/>
                <a:ea typeface="+mn-ea"/>
                <a:cs typeface="+mn-cs"/>
              </a:rPr>
              <a:t>Remember to remind students about their work project for this performance criterion and let them know when it must be completed by.</a:t>
            </a:r>
          </a:p>
          <a:p>
            <a:r>
              <a:rPr lang="en-AU" sz="1200" kern="1200" dirty="0" smtClean="0">
                <a:solidFill>
                  <a:schemeClr val="tx1"/>
                </a:solidFill>
                <a:effectLst/>
                <a:latin typeface="Helvetica" pitchFamily="34" charset="0"/>
                <a:ea typeface="+mn-ea"/>
                <a:cs typeface="+mn-cs"/>
              </a:rPr>
              <a:t>1.1	Write a description of your workplace describing factors that impact on service which could include location, service standard level, facilities etc.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577324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Explain what this performance criterion will look at. Ask students to identify other possible ways of gathering feedback.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199357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Explain the difference between each of the customer definitions. </a:t>
            </a:r>
          </a:p>
          <a:p>
            <a:pPr>
              <a:buFont typeface="Arial" pitchFamily="34" charset="0"/>
              <a:buNone/>
            </a:pPr>
            <a:r>
              <a:rPr lang="en-AU" sz="1200" kern="1200" dirty="0" smtClean="0">
                <a:solidFill>
                  <a:schemeClr val="tx1"/>
                </a:solidFill>
                <a:effectLst/>
                <a:latin typeface="Helvetica" pitchFamily="34" charset="0"/>
                <a:ea typeface="+mn-ea"/>
                <a:cs typeface="+mn-cs"/>
              </a:rPr>
              <a:t>A customer could be a tour company who purchases room nights at a resort. </a:t>
            </a:r>
          </a:p>
          <a:p>
            <a:pPr>
              <a:buFont typeface="Arial" pitchFamily="34" charset="0"/>
              <a:buNone/>
            </a:pPr>
            <a:r>
              <a:rPr lang="en-AU" sz="1200" kern="1200" dirty="0" smtClean="0">
                <a:solidFill>
                  <a:schemeClr val="tx1"/>
                </a:solidFill>
                <a:effectLst/>
                <a:latin typeface="Helvetica" pitchFamily="34" charset="0"/>
                <a:ea typeface="+mn-ea"/>
                <a:cs typeface="+mn-cs"/>
              </a:rPr>
              <a:t>The consumer is the person who stays at the resort and the client could be a company who paid the tour company to organise the event for staff. </a:t>
            </a:r>
          </a:p>
          <a:p>
            <a:pPr>
              <a:buFont typeface="Arial" pitchFamily="34" charset="0"/>
              <a:buNone/>
            </a:pPr>
            <a:r>
              <a:rPr lang="en-AU" sz="1200" kern="1200" dirty="0" smtClean="0">
                <a:solidFill>
                  <a:schemeClr val="tx1"/>
                </a:solidFill>
                <a:effectLst/>
                <a:latin typeface="Helvetica" pitchFamily="34" charset="0"/>
                <a:ea typeface="+mn-ea"/>
                <a:cs typeface="+mn-cs"/>
              </a:rPr>
              <a:t>Ask students to provide other examples.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18380760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Explain the customer buying cycle. Ask students to work in pairs and talk about a customer buying cycle for their service.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4010758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Explain the idea of Moments of Truth. Students can discuss and provide examples from their organisations. These can be external or internal customers.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3734828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Go through the slide with the class. Ask students to work in small groups and to think about a customer journey through their organisation’s service delivery. Which ‘moments of truth’ are the most important? </a:t>
            </a:r>
          </a:p>
          <a:p>
            <a:r>
              <a:rPr lang="en-AU" sz="1200" kern="1200" dirty="0" smtClean="0">
                <a:solidFill>
                  <a:schemeClr val="tx1"/>
                </a:solidFill>
                <a:effectLst/>
                <a:latin typeface="Helvetica" pitchFamily="34" charset="0"/>
                <a:ea typeface="+mn-ea"/>
                <a:cs typeface="+mn-cs"/>
              </a:rPr>
              <a:t>Trainer should prepare examples such as in dining at a restaurant, booking a hotel room or flight, or someone attending a conference or event.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4090351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the slide with students and asks for other examples of data that could be gathered. What feedback information is used at students’ organisations?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0403529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the slide with students and asks them to complete an example for a service oriented process. Trainer could provide an example of a customer getting a spa treatment or flying economy class. Trainer can explore examples on the internet.</a:t>
            </a:r>
          </a:p>
          <a:p>
            <a:r>
              <a:rPr lang="en-AU" sz="1200" kern="1200" dirty="0" smtClean="0">
                <a:solidFill>
                  <a:schemeClr val="tx1"/>
                </a:solidFill>
                <a:effectLst/>
                <a:latin typeface="Helvetica" pitchFamily="34" charset="0"/>
                <a:ea typeface="+mn-ea"/>
                <a:cs typeface="+mn-cs"/>
              </a:rPr>
              <a:t>Trainer checks examples and students discuss Moments of Truth.</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862862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the service blueprint process looking at front stage and back of stage interactions. Trainer asks students if they have a service blueprint in their department or organisation. Students can search the internet for more examples and present to the class.</a:t>
            </a:r>
          </a:p>
          <a:p>
            <a:r>
              <a:rPr lang="en-AU" sz="1200" kern="1200" dirty="0" smtClean="0">
                <a:solidFill>
                  <a:schemeClr val="tx1"/>
                </a:solidFill>
                <a:effectLst/>
                <a:latin typeface="Helvetica" pitchFamily="34" charset="0"/>
                <a:ea typeface="+mn-ea"/>
                <a:cs typeface="+mn-cs"/>
              </a:rPr>
              <a:t>Trainer reminds students to complete work project 1.2. This could be done in class and supported by the trainer.</a:t>
            </a:r>
          </a:p>
          <a:p>
            <a:r>
              <a:rPr lang="en-AU" sz="1200" kern="1200" dirty="0" smtClean="0">
                <a:solidFill>
                  <a:schemeClr val="tx1"/>
                </a:solidFill>
                <a:effectLst/>
                <a:latin typeface="Helvetica" pitchFamily="34" charset="0"/>
                <a:ea typeface="+mn-ea"/>
                <a:cs typeface="+mn-cs"/>
              </a:rPr>
              <a:t>1.2.	Map out a customer journey process through your organisation, a part of your organisation or through another service oriented organisation. Use the stages of the customer buying cycle to help you.</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238237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slide and asks students to provide example of service standards in their workplace.</a:t>
            </a:r>
          </a:p>
          <a:p>
            <a:r>
              <a:rPr lang="en-AU" sz="1200" kern="1200" dirty="0" smtClean="0">
                <a:solidFill>
                  <a:schemeClr val="tx1"/>
                </a:solidFill>
                <a:effectLst/>
                <a:latin typeface="Helvetica" pitchFamily="34" charset="0"/>
                <a:ea typeface="+mn-ea"/>
                <a:cs typeface="+mn-cs"/>
              </a:rPr>
              <a:t>Trainer provides examples of different standard levels such as different hotel brands within a hotel group: for example, Holiday Inn, </a:t>
            </a:r>
            <a:r>
              <a:rPr lang="en-AU" sz="1200" kern="1200" dirty="0" err="1" smtClean="0">
                <a:solidFill>
                  <a:schemeClr val="tx1"/>
                </a:solidFill>
                <a:effectLst/>
                <a:latin typeface="Helvetica" pitchFamily="34" charset="0"/>
                <a:ea typeface="+mn-ea"/>
                <a:cs typeface="+mn-cs"/>
              </a:rPr>
              <a:t>Crowne</a:t>
            </a:r>
            <a:r>
              <a:rPr lang="en-AU" sz="1200" kern="1200" dirty="0" smtClean="0">
                <a:solidFill>
                  <a:schemeClr val="tx1"/>
                </a:solidFill>
                <a:effectLst/>
                <a:latin typeface="Helvetica" pitchFamily="34" charset="0"/>
                <a:ea typeface="+mn-ea"/>
                <a:cs typeface="+mn-cs"/>
              </a:rPr>
              <a:t> Plaza, and InterContinental = IHG; or </a:t>
            </a:r>
            <a:r>
              <a:rPr lang="en-AU" sz="1200" kern="1200" dirty="0" err="1" smtClean="0">
                <a:solidFill>
                  <a:schemeClr val="tx1"/>
                </a:solidFill>
                <a:effectLst/>
                <a:latin typeface="Helvetica" pitchFamily="34" charset="0"/>
                <a:ea typeface="+mn-ea"/>
                <a:cs typeface="+mn-cs"/>
              </a:rPr>
              <a:t>Mercure</a:t>
            </a:r>
            <a:r>
              <a:rPr lang="en-AU" sz="1200" kern="1200" dirty="0" smtClean="0">
                <a:solidFill>
                  <a:schemeClr val="tx1"/>
                </a:solidFill>
                <a:effectLst/>
                <a:latin typeface="Helvetica" pitchFamily="34" charset="0"/>
                <a:ea typeface="+mn-ea"/>
                <a:cs typeface="+mn-cs"/>
              </a:rPr>
              <a:t>, </a:t>
            </a:r>
            <a:r>
              <a:rPr lang="en-AU" sz="1200" kern="1200" dirty="0" err="1" smtClean="0">
                <a:solidFill>
                  <a:schemeClr val="tx1"/>
                </a:solidFill>
                <a:effectLst/>
                <a:latin typeface="Helvetica" pitchFamily="34" charset="0"/>
                <a:ea typeface="+mn-ea"/>
                <a:cs typeface="+mn-cs"/>
              </a:rPr>
              <a:t>Novotel</a:t>
            </a:r>
            <a:r>
              <a:rPr lang="en-AU" sz="1200" kern="1200" dirty="0" smtClean="0">
                <a:solidFill>
                  <a:schemeClr val="tx1"/>
                </a:solidFill>
                <a:effectLst/>
                <a:latin typeface="Helvetica" pitchFamily="34" charset="0"/>
                <a:ea typeface="+mn-ea"/>
                <a:cs typeface="+mn-cs"/>
              </a:rPr>
              <a:t>, Pullman and Sofitel = Accor. Economy class, premium economy, business and first class in the airline industry. Elicit from students that service standards may be different in each context.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7512217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the SMART concept and how it applies to the tourism sector.</a:t>
            </a:r>
          </a:p>
          <a:p>
            <a:r>
              <a:rPr lang="en-AU" sz="1200" kern="1200" dirty="0" smtClean="0">
                <a:solidFill>
                  <a:schemeClr val="tx1"/>
                </a:solidFill>
                <a:effectLst/>
                <a:latin typeface="Helvetica" pitchFamily="34" charset="0"/>
                <a:ea typeface="+mn-ea"/>
                <a:cs typeface="+mn-cs"/>
              </a:rPr>
              <a:t>Students read through service standard examples in the TM and answer the question. What changes could be made to the examples to utilise SMART guidelines?</a:t>
            </a:r>
          </a:p>
          <a:p>
            <a:r>
              <a:rPr lang="en-AU" sz="1200" kern="1200" dirty="0" smtClean="0">
                <a:solidFill>
                  <a:schemeClr val="tx1"/>
                </a:solidFill>
                <a:effectLst/>
                <a:latin typeface="Helvetica" pitchFamily="34" charset="0"/>
                <a:ea typeface="+mn-ea"/>
                <a:cs typeface="+mn-cs"/>
              </a:rPr>
              <a:t>Trainer asks students to complete activity below. Trainer monitors responses.</a:t>
            </a:r>
          </a:p>
          <a:p>
            <a:endParaRPr lang="en-AU" sz="1200" kern="1200" dirty="0" smtClean="0">
              <a:solidFill>
                <a:schemeClr val="tx1"/>
              </a:solidFill>
              <a:effectLst/>
              <a:latin typeface="Helvetica" pitchFamily="34" charset="0"/>
              <a:ea typeface="+mn-ea"/>
              <a:cs typeface="+mn-cs"/>
            </a:endParaRPr>
          </a:p>
          <a:p>
            <a:r>
              <a:rPr lang="en-AU" sz="1200" b="1" kern="1200" dirty="0" smtClean="0">
                <a:solidFill>
                  <a:schemeClr val="tx1"/>
                </a:solidFill>
                <a:effectLst/>
                <a:latin typeface="Helvetica" pitchFamily="34" charset="0"/>
                <a:ea typeface="+mn-ea"/>
                <a:cs typeface="+mn-cs"/>
              </a:rPr>
              <a:t>Activity</a:t>
            </a:r>
          </a:p>
          <a:p>
            <a:endParaRPr lang="en-AU" sz="1200" b="1"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In small groups, discuss examples of service standards at your workplace and/or examples of customer service standards you have experienced. (Restaurants, booking hotels, buying things online, taxis) </a:t>
            </a:r>
          </a:p>
          <a:p>
            <a:r>
              <a:rPr lang="en-AU" sz="1200" kern="1200" dirty="0" smtClean="0">
                <a:solidFill>
                  <a:schemeClr val="tx1"/>
                </a:solidFill>
                <a:effectLst/>
                <a:latin typeface="Helvetica" pitchFamily="34" charset="0"/>
                <a:ea typeface="+mn-ea"/>
                <a:cs typeface="+mn-cs"/>
              </a:rPr>
              <a:t>Have you ever had to make a complaint or have you given a compliment about service you have received?</a:t>
            </a:r>
          </a:p>
          <a:p>
            <a:r>
              <a:rPr lang="en-AU" sz="1200" kern="1200" dirty="0" smtClean="0">
                <a:solidFill>
                  <a:schemeClr val="tx1"/>
                </a:solidFill>
                <a:effectLst/>
                <a:latin typeface="Helvetica" pitchFamily="34" charset="0"/>
                <a:ea typeface="+mn-ea"/>
                <a:cs typeface="+mn-cs"/>
              </a:rPr>
              <a:t>Have you received a compliment in your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3161244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the SMART concept and how it applies to the tourism sector.</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Students read through service standard examples in the TM and answer the question. </a:t>
            </a:r>
          </a:p>
          <a:p>
            <a:r>
              <a:rPr lang="en-AU" sz="1200" kern="1200" dirty="0" smtClean="0">
                <a:solidFill>
                  <a:schemeClr val="tx1"/>
                </a:solidFill>
                <a:effectLst/>
                <a:latin typeface="Helvetica" pitchFamily="34" charset="0"/>
                <a:ea typeface="+mn-ea"/>
                <a:cs typeface="+mn-cs"/>
              </a:rPr>
              <a:t>What changes could be made to the examples to utilise SMART guidelines?</a:t>
            </a:r>
          </a:p>
          <a:p>
            <a:r>
              <a:rPr lang="en-AU" sz="1200" kern="1200" dirty="0" smtClean="0">
                <a:solidFill>
                  <a:schemeClr val="tx1"/>
                </a:solidFill>
                <a:effectLst/>
                <a:latin typeface="Helvetica" pitchFamily="34" charset="0"/>
                <a:ea typeface="+mn-ea"/>
                <a:cs typeface="+mn-cs"/>
              </a:rPr>
              <a:t>Trainer asks students to complete activity below. Trainer monitors responses.</a:t>
            </a:r>
          </a:p>
          <a:p>
            <a:endParaRPr lang="en-AU" sz="1200" kern="1200" dirty="0" smtClean="0">
              <a:solidFill>
                <a:schemeClr val="tx1"/>
              </a:solidFill>
              <a:effectLst/>
              <a:latin typeface="Helvetica" pitchFamily="34" charset="0"/>
              <a:ea typeface="+mn-ea"/>
              <a:cs typeface="+mn-cs"/>
            </a:endParaRPr>
          </a:p>
          <a:p>
            <a:r>
              <a:rPr lang="en-AU" sz="1200" b="1" kern="1200" dirty="0" smtClean="0">
                <a:solidFill>
                  <a:schemeClr val="tx1"/>
                </a:solidFill>
                <a:effectLst/>
                <a:latin typeface="Helvetica" pitchFamily="34" charset="0"/>
                <a:ea typeface="+mn-ea"/>
                <a:cs typeface="+mn-cs"/>
              </a:rPr>
              <a:t>Activity</a:t>
            </a:r>
          </a:p>
          <a:p>
            <a:endParaRPr lang="en-AU" sz="1200" b="1"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In small groups, discuss examples of service standards at your workplace and/or examples of customer service standards you have experienced. (Restaurants, booking hotels, buying things online, taxis) </a:t>
            </a:r>
          </a:p>
          <a:p>
            <a:r>
              <a:rPr lang="en-AU" sz="1200" kern="1200" dirty="0" smtClean="0">
                <a:solidFill>
                  <a:schemeClr val="tx1"/>
                </a:solidFill>
                <a:effectLst/>
                <a:latin typeface="Helvetica" pitchFamily="34" charset="0"/>
                <a:ea typeface="+mn-ea"/>
                <a:cs typeface="+mn-cs"/>
              </a:rPr>
              <a:t>Have you ever had to make a complaint or have you given a compliment about service you have received?</a:t>
            </a:r>
          </a:p>
          <a:p>
            <a:r>
              <a:rPr lang="en-AU" sz="1200" kern="1200" dirty="0" smtClean="0">
                <a:solidFill>
                  <a:schemeClr val="tx1"/>
                </a:solidFill>
                <a:effectLst/>
                <a:latin typeface="Helvetica" pitchFamily="34" charset="0"/>
                <a:ea typeface="+mn-ea"/>
                <a:cs typeface="+mn-cs"/>
              </a:rPr>
              <a:t>Have you received a compliment in your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3161244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Students discuss questions and trainer supports the discussion. Students read TM and consider drafting service delivery standards. Have they ever drafted standards?</a:t>
            </a:r>
          </a:p>
          <a:p>
            <a:r>
              <a:rPr lang="en-AU" sz="1200" kern="1200" dirty="0" smtClean="0">
                <a:solidFill>
                  <a:schemeClr val="tx1"/>
                </a:solidFill>
                <a:effectLst/>
                <a:latin typeface="Helvetica" pitchFamily="34" charset="0"/>
                <a:ea typeface="+mn-ea"/>
                <a:cs typeface="+mn-cs"/>
              </a:rPr>
              <a:t>Trainer brings examples of service standards and asks students to check. </a:t>
            </a:r>
          </a:p>
          <a:p>
            <a:r>
              <a:rPr lang="en-AU" sz="1200" kern="1200" dirty="0" smtClean="0">
                <a:solidFill>
                  <a:schemeClr val="tx1"/>
                </a:solidFill>
                <a:effectLst/>
                <a:latin typeface="Helvetica" pitchFamily="34" charset="0"/>
                <a:ea typeface="+mn-ea"/>
                <a:cs typeface="+mn-cs"/>
              </a:rPr>
              <a:t>Trainer asks students to develop a draft standard for a service item. Examples could be for any service item in their workplace. They should complete the task in pairs.</a:t>
            </a:r>
          </a:p>
          <a:p>
            <a:r>
              <a:rPr lang="en-AU" sz="1200" kern="1200" dirty="0" smtClean="0">
                <a:solidFill>
                  <a:schemeClr val="tx1"/>
                </a:solidFill>
                <a:effectLst/>
                <a:latin typeface="Helvetica" pitchFamily="34" charset="0"/>
                <a:ea typeface="+mn-ea"/>
                <a:cs typeface="+mn-cs"/>
              </a:rPr>
              <a:t>Trainer reminds students of work project below and due date.</a:t>
            </a:r>
          </a:p>
          <a:p>
            <a:r>
              <a:rPr lang="en-AU" sz="1200" kern="1200" dirty="0" smtClean="0">
                <a:solidFill>
                  <a:schemeClr val="tx1"/>
                </a:solidFill>
                <a:effectLst/>
                <a:latin typeface="Helvetica" pitchFamily="34" charset="0"/>
                <a:ea typeface="+mn-ea"/>
                <a:cs typeface="+mn-cs"/>
              </a:rPr>
              <a:t>1.3.	Bring to class two examples of service standards from your workplace or from service organisations. These could be found in Operation Manuals or online.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7359851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slide and explains the need to involve management.</a:t>
            </a:r>
          </a:p>
          <a:p>
            <a:r>
              <a:rPr lang="en-AU" sz="1200" kern="1200" dirty="0" smtClean="0">
                <a:solidFill>
                  <a:schemeClr val="tx1"/>
                </a:solidFill>
                <a:effectLst/>
                <a:latin typeface="Helvetica" pitchFamily="34" charset="0"/>
                <a:ea typeface="+mn-ea"/>
                <a:cs typeface="+mn-cs"/>
              </a:rPr>
              <a:t>Students read through TM and trainer explains that trainees should be well-prepared before they present a draft service delivery standard to management.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8553004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slide with trainees. Trainees check information and provide comments.</a:t>
            </a:r>
          </a:p>
          <a:p>
            <a:r>
              <a:rPr lang="en-AU" sz="1200" kern="1200" dirty="0" smtClean="0">
                <a:solidFill>
                  <a:schemeClr val="tx1"/>
                </a:solidFill>
                <a:effectLst/>
                <a:latin typeface="Helvetica" pitchFamily="34" charset="0"/>
                <a:ea typeface="+mn-ea"/>
                <a:cs typeface="+mn-cs"/>
              </a:rPr>
              <a:t>Trainer reminds trainees of work project and due date. This could be done in class or as homework.</a:t>
            </a:r>
          </a:p>
          <a:p>
            <a:r>
              <a:rPr lang="en-AU" sz="1200" kern="1200" dirty="0" smtClean="0">
                <a:solidFill>
                  <a:schemeClr val="tx1"/>
                </a:solidFill>
                <a:effectLst/>
                <a:latin typeface="Helvetica" pitchFamily="34" charset="0"/>
                <a:ea typeface="+mn-ea"/>
                <a:cs typeface="+mn-cs"/>
              </a:rPr>
              <a:t>1.4.	Write about an example where you have shared a suggestion or feedback with management. Outline the context, what the suggestion was and the outcome.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8994755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effectLst/>
                <a:latin typeface="Helvetica" pitchFamily="34" charset="0"/>
                <a:ea typeface="+mn-ea"/>
                <a:cs typeface="+mn-cs"/>
              </a:rPr>
              <a:t>Trainer goes through slide and explains that accessibility to service standards is critical for team members to deliver service at the expected level.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899475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slide and explains that accessibility to service standards is critical for team members to deliver service at the expected level.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312026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brings shows students examples of service standards. These can be obtained from the workplace or from examples from the internet. Trainer could ask students to bring in examples from their workplace.</a:t>
            </a:r>
          </a:p>
          <a:p>
            <a:r>
              <a:rPr lang="en-AU" sz="1200" kern="1200" dirty="0" smtClean="0">
                <a:solidFill>
                  <a:schemeClr val="tx1"/>
                </a:solidFill>
                <a:effectLst/>
                <a:latin typeface="Helvetica" pitchFamily="34" charset="0"/>
                <a:ea typeface="+mn-ea"/>
                <a:cs typeface="+mn-cs"/>
              </a:rPr>
              <a:t>Trainees read through the slide/TM and ask questions.</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1.5	Provide three examples of service standards that your team uses.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1235771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summary slide and could assess students’ understanding using written questions and oral questions from the assessment manual.</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0950185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performance criteria for this element and reminds students about work projects and assessment written and oral questions.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848552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explains that budget is a major constraint on the creation of service teams.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6921257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slide and explains that service team size will depend upon budget, the type of service and the outlined level. </a:t>
            </a:r>
          </a:p>
          <a:p>
            <a:r>
              <a:rPr lang="en-AU" sz="1200" kern="1200" dirty="0" smtClean="0">
                <a:solidFill>
                  <a:schemeClr val="tx1"/>
                </a:solidFill>
                <a:effectLst/>
                <a:latin typeface="Helvetica" pitchFamily="34" charset="0"/>
                <a:ea typeface="+mn-ea"/>
                <a:cs typeface="+mn-cs"/>
              </a:rPr>
              <a:t>Individuals with suitable skills and experience are then invited or directed to join the service team.</a:t>
            </a:r>
          </a:p>
          <a:p>
            <a:r>
              <a:rPr lang="en-AU" sz="1200" kern="1200" dirty="0" smtClean="0">
                <a:solidFill>
                  <a:schemeClr val="tx1"/>
                </a:solidFill>
                <a:effectLst/>
                <a:latin typeface="Helvetica" pitchFamily="34" charset="0"/>
                <a:ea typeface="+mn-ea"/>
                <a:cs typeface="+mn-cs"/>
              </a:rPr>
              <a:t>Trainer explains that some teams will be permanent but there may be flexible teams created who can assist other teams when required.</a:t>
            </a:r>
          </a:p>
          <a:p>
            <a:r>
              <a:rPr lang="en-AU" sz="1200" kern="1200" dirty="0" smtClean="0">
                <a:solidFill>
                  <a:schemeClr val="tx1"/>
                </a:solidFill>
                <a:effectLst/>
                <a:latin typeface="Helvetica" pitchFamily="34" charset="0"/>
                <a:ea typeface="+mn-ea"/>
                <a:cs typeface="+mn-cs"/>
              </a:rPr>
              <a:t>Trainer asks trainees to describe the service teams they have been or are a member of. Trainer asks students to describe how team are created in their workplace.</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2.1	Identify one area of service delivery at your organisation and outline:</a:t>
            </a:r>
          </a:p>
          <a:p>
            <a:pPr lvl="0"/>
            <a:r>
              <a:rPr lang="en-AU" sz="1200" kern="1200" dirty="0" smtClean="0">
                <a:solidFill>
                  <a:schemeClr val="tx1"/>
                </a:solidFill>
                <a:effectLst/>
                <a:latin typeface="Helvetica" pitchFamily="34" charset="0"/>
                <a:ea typeface="+mn-ea"/>
                <a:cs typeface="+mn-cs"/>
              </a:rPr>
              <a:t>How many people you think should be in the team or how many are in the team?</a:t>
            </a:r>
          </a:p>
          <a:p>
            <a:pPr lvl="0"/>
            <a:r>
              <a:rPr lang="en-AU" sz="1200" kern="1200" dirty="0" smtClean="0">
                <a:solidFill>
                  <a:schemeClr val="tx1"/>
                </a:solidFill>
                <a:effectLst/>
                <a:latin typeface="Helvetica" pitchFamily="34" charset="0"/>
                <a:ea typeface="+mn-ea"/>
                <a:cs typeface="+mn-cs"/>
              </a:rPr>
              <a:t>What are the services that are delivered?</a:t>
            </a:r>
          </a:p>
          <a:p>
            <a:r>
              <a:rPr lang="en-AU" sz="1200" kern="1200" dirty="0" smtClean="0">
                <a:solidFill>
                  <a:schemeClr val="tx1"/>
                </a:solidFill>
                <a:effectLst/>
                <a:latin typeface="Helvetica" pitchFamily="34" charset="0"/>
                <a:ea typeface="+mn-ea"/>
                <a:cs typeface="+mn-cs"/>
              </a:rPr>
              <a:t>Is there a determined budget for the service team in this service area?</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94787661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TM and slide with students.</a:t>
            </a:r>
          </a:p>
          <a:p>
            <a:r>
              <a:rPr lang="en-AU" sz="1200" kern="1200" dirty="0" smtClean="0">
                <a:solidFill>
                  <a:schemeClr val="tx1"/>
                </a:solidFill>
                <a:effectLst/>
                <a:latin typeface="Helvetica" pitchFamily="34" charset="0"/>
                <a:ea typeface="+mn-ea"/>
                <a:cs typeface="+mn-cs"/>
              </a:rPr>
              <a:t>After suitable candidates for service teams have been identified and they have agreed to join the service team, it is crucial that the establishment of the service team is effective. </a:t>
            </a:r>
          </a:p>
          <a:p>
            <a:r>
              <a:rPr lang="en-AU" sz="1200" kern="1200" dirty="0" smtClean="0">
                <a:solidFill>
                  <a:schemeClr val="tx1"/>
                </a:solidFill>
                <a:effectLst/>
                <a:latin typeface="Helvetica" pitchFamily="34" charset="0"/>
                <a:ea typeface="+mn-ea"/>
                <a:cs typeface="+mn-cs"/>
              </a:rPr>
              <a:t>Successful teams require a lot of support and effort from all members. It is vital that employees work as a team in order to deliver the best service.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16776908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slide and concepts with students. Trainees refer to their TMs for more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41075500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asks students to complete the survey in the slide. Trainees discuss their answers with the class. Trainer facilitates a discussion.</a:t>
            </a:r>
          </a:p>
          <a:p>
            <a:r>
              <a:rPr lang="en-AU" sz="1200" kern="1200" dirty="0" smtClean="0">
                <a:solidFill>
                  <a:schemeClr val="tx1"/>
                </a:solidFill>
                <a:effectLst/>
                <a:latin typeface="Helvetica" pitchFamily="34" charset="0"/>
                <a:ea typeface="+mn-ea"/>
                <a:cs typeface="+mn-cs"/>
              </a:rPr>
              <a:t>Trainer explains this saying: Better person, better staff member, better team, better organisation.</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2.2.	Describe a service team or other team that you have been involved in. Outline:</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How the team was formed</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Were there any issues or problems within the team</a:t>
            </a:r>
          </a:p>
          <a:p>
            <a:pPr marL="171450" indent="-171450">
              <a:buFont typeface="Arial" pitchFamily="34" charset="0"/>
              <a:buChar char="•"/>
            </a:pPr>
            <a:r>
              <a:rPr lang="en-AU" sz="1200" kern="1200" dirty="0" smtClean="0">
                <a:solidFill>
                  <a:schemeClr val="tx1"/>
                </a:solidFill>
                <a:effectLst/>
                <a:latin typeface="Helvetica" pitchFamily="34" charset="0"/>
                <a:ea typeface="+mn-ea"/>
                <a:cs typeface="+mn-cs"/>
              </a:rPr>
              <a:t>What role did you play in the team?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40280732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AU" sz="1200" kern="1200" dirty="0" smtClean="0">
                <a:solidFill>
                  <a:schemeClr val="tx1"/>
                </a:solidFill>
                <a:effectLst/>
                <a:latin typeface="Helvetica" pitchFamily="34" charset="0"/>
                <a:ea typeface="+mn-ea"/>
                <a:cs typeface="+mn-cs"/>
              </a:rPr>
              <a:t>Trainer explains the importance of effective communication. Trainer can use ideas below to assist.</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Communication occurs when a sender expresses an emotion or a feeling, creates an idea, or senses the need to communicate.  The communication process is triggered when the sender makes a conscious or an unconscious decision to share the message with another person—the receiver.  </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Every communicative act is based on something that conveys meaning, and that conveyance is the message.  The message may be either verbal (spoken or written) or nonverbal (body language, physical appearance, or vocal tone).  Messages may also come from the context—or place and time—of the communication.  For instance, if you choose to make a critical comment to someone, the place and the time you choose to make that comment will make a big impact on how it will be received.  </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Every message is sent and received through one of our five senses—it is seen, heard, touched, tasted, or smelled.  The sensory media through which messages are sent and received are communication channels.  In a work setting, messages may be seen through body movement, letters, memos, newsletters, bulletin board notices, signs, emails, and so on.  Messages that are heard come through conversations, interviews, presentations, telephones, radios, and other audio media.  Sight and sound are the two most frequent communication channels used in our society.  </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When the receiver gets the message (through seeing, hearing, feeling, touching, or smelling), he or she will usually give feedback (return message) unconsciously or consciously.  Thus, the communications process is on-going.</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The worst assumption a sender of a message can make is that the message will be received as intended.  So many things can go wrong during the communications process that we should always assume that something will go wrong and take steps to prevent that occurrence.  Barriers to good communications are always present.  For instance, the language itself can be a barrier—unclear wording, slang, jargon, the tone.  The channel used to convey the message might be wrong.  For instance, you would not use the telephone to relay a lot of statistical information; you would need to write that message on paper.  Poor listening skills can constitute a barrier also.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8172502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b="1" kern="1200" dirty="0" smtClean="0">
                <a:solidFill>
                  <a:schemeClr val="tx1"/>
                </a:solidFill>
                <a:effectLst/>
                <a:ea typeface="+mn-ea"/>
                <a:cs typeface="+mn-cs"/>
              </a:rPr>
              <a:t>Self-Appraisal Survey—Communications </a:t>
            </a:r>
            <a:endParaRPr lang="en-US" sz="1200" kern="1200" dirty="0" smtClean="0">
              <a:solidFill>
                <a:schemeClr val="tx1"/>
              </a:solidFill>
              <a:effectLst/>
              <a:ea typeface="+mn-ea"/>
              <a:cs typeface="+mn-cs"/>
            </a:endParaRP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The purpose of this survey is to determine your susceptibility to being a source of communication breakdown. Since no one but you will see the results of this questionnaire, answer the questions as honestly as possible. Respond not as you would like to be seen as a communicator but as you really are.</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Indicate how frequently you engage in the following behaviors when communicating with another person or persons.</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Use this scale to describe your behavior.</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				4 – I always do this.</a:t>
            </a:r>
          </a:p>
          <a:p>
            <a:r>
              <a:rPr lang="en-US" sz="1200" kern="1200" dirty="0" smtClean="0">
                <a:solidFill>
                  <a:schemeClr val="tx1"/>
                </a:solidFill>
                <a:effectLst/>
                <a:ea typeface="+mn-ea"/>
                <a:cs typeface="+mn-cs"/>
              </a:rPr>
              <a:t>				3 – I often do this.</a:t>
            </a:r>
          </a:p>
          <a:p>
            <a:r>
              <a:rPr lang="en-US" sz="1200" kern="1200" dirty="0" smtClean="0">
                <a:solidFill>
                  <a:schemeClr val="tx1"/>
                </a:solidFill>
                <a:effectLst/>
                <a:ea typeface="+mn-ea"/>
                <a:cs typeface="+mn-cs"/>
              </a:rPr>
              <a:t>				2 – I sometimes do this.</a:t>
            </a:r>
          </a:p>
          <a:p>
            <a:r>
              <a:rPr lang="en-US" sz="1200" kern="1200" dirty="0" smtClean="0">
                <a:solidFill>
                  <a:schemeClr val="tx1"/>
                </a:solidFill>
                <a:effectLst/>
                <a:ea typeface="+mn-ea"/>
                <a:cs typeface="+mn-cs"/>
              </a:rPr>
              <a:t>				1 – I seldom do this.</a:t>
            </a:r>
          </a:p>
          <a:p>
            <a:r>
              <a:rPr lang="en-US" sz="1200" kern="1200" dirty="0" smtClean="0">
                <a:solidFill>
                  <a:schemeClr val="tx1"/>
                </a:solidFill>
                <a:effectLst/>
                <a:ea typeface="+mn-ea"/>
                <a:cs typeface="+mn-cs"/>
              </a:rPr>
              <a:t>				0 – I never do this.</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a:t>
            </a:r>
          </a:p>
          <a:p>
            <a:r>
              <a:rPr lang="en-US" sz="1200" kern="1200" dirty="0" smtClean="0">
                <a:solidFill>
                  <a:schemeClr val="tx1"/>
                </a:solidFill>
                <a:effectLst/>
                <a:ea typeface="+mn-ea"/>
                <a:cs typeface="+mn-cs"/>
              </a:rPr>
              <a:t>When I have something to say, I am open and honest about my need to say it.</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2.</a:t>
            </a:r>
          </a:p>
          <a:p>
            <a:r>
              <a:rPr lang="en-US" sz="1200" kern="1200" dirty="0" smtClean="0">
                <a:solidFill>
                  <a:schemeClr val="tx1"/>
                </a:solidFill>
                <a:effectLst/>
                <a:ea typeface="+mn-ea"/>
                <a:cs typeface="+mn-cs"/>
              </a:rPr>
              <a:t>I communicate with an awareness that the words I choose may not mean the same thing to other people that they do to me.</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3.</a:t>
            </a:r>
          </a:p>
          <a:p>
            <a:r>
              <a:rPr lang="en-US" sz="1200" kern="1200" dirty="0" smtClean="0">
                <a:solidFill>
                  <a:schemeClr val="tx1"/>
                </a:solidFill>
                <a:effectLst/>
                <a:ea typeface="+mn-ea"/>
                <a:cs typeface="+mn-cs"/>
              </a:rPr>
              <a:t>I recognize that the message I receive may not be the same one the other person intended to send.</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4.</a:t>
            </a:r>
          </a:p>
          <a:p>
            <a:r>
              <a:rPr lang="en-US" sz="1200" kern="1200" dirty="0" smtClean="0">
                <a:solidFill>
                  <a:schemeClr val="tx1"/>
                </a:solidFill>
                <a:effectLst/>
                <a:ea typeface="+mn-ea"/>
                <a:cs typeface="+mn-cs"/>
              </a:rPr>
              <a:t>Before I communicate, I ask myself questions about who my receiver is and how that will affect his or her reception of my message.</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5.</a:t>
            </a:r>
          </a:p>
          <a:p>
            <a:r>
              <a:rPr lang="en-US" sz="1200" kern="1200" dirty="0" smtClean="0">
                <a:solidFill>
                  <a:schemeClr val="tx1"/>
                </a:solidFill>
                <a:effectLst/>
                <a:ea typeface="+mn-ea"/>
                <a:cs typeface="+mn-cs"/>
              </a:rPr>
              <a:t>As I communicate to someone, I keep a watchful eye and ear out for an indication that I am understood.</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6.</a:t>
            </a:r>
          </a:p>
          <a:p>
            <a:r>
              <a:rPr lang="en-US" sz="1200" kern="1200" dirty="0" smtClean="0">
                <a:solidFill>
                  <a:schemeClr val="tx1"/>
                </a:solidFill>
                <a:effectLst/>
                <a:ea typeface="+mn-ea"/>
                <a:cs typeface="+mn-cs"/>
              </a:rPr>
              <a:t>I make my messages as brief and to the point as possible.</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7.</a:t>
            </a:r>
          </a:p>
          <a:p>
            <a:r>
              <a:rPr lang="en-US" sz="1200" kern="1200" dirty="0" smtClean="0">
                <a:solidFill>
                  <a:schemeClr val="tx1"/>
                </a:solidFill>
                <a:effectLst/>
                <a:ea typeface="+mn-ea"/>
                <a:cs typeface="+mn-cs"/>
              </a:rPr>
              <a:t>I consciously avoid the use of jargon with those who may not understand it.</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8.</a:t>
            </a:r>
          </a:p>
          <a:p>
            <a:r>
              <a:rPr lang="en-US" sz="1200" kern="1200" dirty="0" smtClean="0">
                <a:solidFill>
                  <a:schemeClr val="tx1"/>
                </a:solidFill>
                <a:effectLst/>
                <a:ea typeface="+mn-ea"/>
                <a:cs typeface="+mn-cs"/>
              </a:rPr>
              <a:t>I consciously avoid the use of slang words and colloquialisms with those who may be put off by them.</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9.</a:t>
            </a:r>
          </a:p>
          <a:p>
            <a:r>
              <a:rPr lang="en-US" sz="1200" kern="1200" dirty="0" smtClean="0">
                <a:solidFill>
                  <a:schemeClr val="tx1"/>
                </a:solidFill>
                <a:effectLst/>
                <a:ea typeface="+mn-ea"/>
                <a:cs typeface="+mn-cs"/>
              </a:rPr>
              <a:t>I try not to use red-flag words (words that might trigger an emotional response) that may upset or distract the receiver of my message.</a:t>
            </a:r>
          </a:p>
          <a:p>
            <a:r>
              <a:rPr lang="en-US" sz="1200" kern="1200" dirty="0" smtClean="0">
                <a:solidFill>
                  <a:schemeClr val="tx1"/>
                </a:solidFill>
                <a:effectLst/>
                <a:ea typeface="+mn-ea"/>
                <a:cs typeface="+mn-cs"/>
              </a:rPr>
              <a:t> </a:t>
            </a:r>
          </a:p>
          <a:p>
            <a:r>
              <a:rPr lang="en-US" sz="1200" b="1" kern="1200" dirty="0" smtClean="0">
                <a:solidFill>
                  <a:schemeClr val="tx1"/>
                </a:solidFill>
                <a:effectLst/>
                <a:ea typeface="+mn-ea"/>
                <a:cs typeface="+mn-cs"/>
              </a:rPr>
              <a:t>Module 8	</a:t>
            </a:r>
            <a:r>
              <a:rPr lang="en-US" sz="1200" b="1" kern="1200" dirty="0" smtClean="0">
                <a:solidFill>
                  <a:schemeClr val="tx1"/>
                </a:solidFill>
                <a:effectLst/>
                <a:ea typeface="+mn-ea"/>
                <a:cs typeface="+mn-cs"/>
                <a:sym typeface="Monotype Sorts"/>
              </a:rPr>
              <a:t></a:t>
            </a:r>
            <a:r>
              <a:rPr lang="en-US" sz="1200" b="1" kern="1200" dirty="0" smtClean="0">
                <a:solidFill>
                  <a:schemeClr val="tx1"/>
                </a:solidFill>
                <a:effectLst/>
                <a:ea typeface="+mn-ea"/>
                <a:cs typeface="+mn-cs"/>
              </a:rPr>
              <a:t>	Activity 1	</a:t>
            </a:r>
            <a:r>
              <a:rPr lang="en-US" sz="1200" b="1" kern="1200" dirty="0" smtClean="0">
                <a:solidFill>
                  <a:schemeClr val="tx1"/>
                </a:solidFill>
                <a:effectLst/>
                <a:ea typeface="+mn-ea"/>
                <a:cs typeface="+mn-cs"/>
                <a:sym typeface="Monotype Sorts"/>
              </a:rPr>
              <a:t></a:t>
            </a:r>
            <a:r>
              <a:rPr lang="en-US" sz="1200" b="1" kern="1200" dirty="0" smtClean="0">
                <a:solidFill>
                  <a:schemeClr val="tx1"/>
                </a:solidFill>
                <a:effectLst/>
                <a:ea typeface="+mn-ea"/>
                <a:cs typeface="+mn-cs"/>
              </a:rPr>
              <a:t>	COMMUNICATION</a:t>
            </a:r>
            <a:endParaRPr lang="en-US" sz="1200" kern="1200" dirty="0" smtClean="0">
              <a:solidFill>
                <a:schemeClr val="tx1"/>
              </a:solidFill>
              <a:effectLst/>
              <a:ea typeface="+mn-ea"/>
              <a:cs typeface="+mn-cs"/>
            </a:endParaRP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10.</a:t>
            </a:r>
          </a:p>
          <a:p>
            <a:r>
              <a:rPr lang="en-US" sz="1200" kern="1200" dirty="0" smtClean="0">
                <a:solidFill>
                  <a:schemeClr val="tx1"/>
                </a:solidFill>
                <a:effectLst/>
                <a:ea typeface="+mn-ea"/>
                <a:cs typeface="+mn-cs"/>
              </a:rPr>
              <a:t>I recognize that how I say something is just as important as what I say.</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11.</a:t>
            </a:r>
          </a:p>
          <a:p>
            <a:r>
              <a:rPr lang="en-US" sz="1200" kern="1200" dirty="0" smtClean="0">
                <a:solidFill>
                  <a:schemeClr val="tx1"/>
                </a:solidFill>
                <a:effectLst/>
                <a:ea typeface="+mn-ea"/>
                <a:cs typeface="+mn-cs"/>
              </a:rPr>
              <a:t>I analyze my communication style to determine what nonverbal messages I send and how well they conform to the meaning I desire to get across.</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12.</a:t>
            </a:r>
          </a:p>
          <a:p>
            <a:r>
              <a:rPr lang="en-US" sz="1200" kern="1200" dirty="0" smtClean="0">
                <a:solidFill>
                  <a:schemeClr val="tx1"/>
                </a:solidFill>
                <a:effectLst/>
                <a:ea typeface="+mn-ea"/>
                <a:cs typeface="+mn-cs"/>
              </a:rPr>
              <a:t>I carefully consider whether my message would be best understood by my receiver in a face-to-face meeting, over the telephone, or in writing.</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13.</a:t>
            </a:r>
          </a:p>
          <a:p>
            <a:r>
              <a:rPr lang="en-US" sz="1200" kern="1200" dirty="0" smtClean="0">
                <a:solidFill>
                  <a:schemeClr val="tx1"/>
                </a:solidFill>
                <a:effectLst/>
                <a:ea typeface="+mn-ea"/>
                <a:cs typeface="+mn-cs"/>
              </a:rPr>
              <a:t>I form opinions about what others say to me based on what I hear them saying rather than what I think of them as a person.</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14.</a:t>
            </a:r>
          </a:p>
          <a:p>
            <a:r>
              <a:rPr lang="en-US" sz="1200" kern="1200" dirty="0" smtClean="0">
                <a:solidFill>
                  <a:schemeClr val="tx1"/>
                </a:solidFill>
                <a:effectLst/>
                <a:ea typeface="+mn-ea"/>
                <a:cs typeface="+mn-cs"/>
              </a:rPr>
              <a:t>I make a genuine effort to listen to ideas with which I don't agree.</a:t>
            </a:r>
          </a:p>
          <a:p>
            <a:r>
              <a:rPr lang="en-US" sz="1200" kern="1200" dirty="0" smtClean="0">
                <a:solidFill>
                  <a:schemeClr val="tx1"/>
                </a:solidFill>
                <a:effectLst/>
                <a:ea typeface="+mn-ea"/>
                <a:cs typeface="+mn-cs"/>
              </a:rPr>
              <a:t>____</a:t>
            </a:r>
          </a:p>
          <a:p>
            <a:r>
              <a:rPr lang="en-US" sz="1200" kern="1200" dirty="0" smtClean="0">
                <a:solidFill>
                  <a:schemeClr val="tx1"/>
                </a:solidFill>
                <a:effectLst/>
                <a:ea typeface="+mn-ea"/>
                <a:cs typeface="+mn-cs"/>
              </a:rPr>
              <a:t>15.</a:t>
            </a:r>
          </a:p>
          <a:p>
            <a:r>
              <a:rPr lang="en-US" sz="1200" kern="1200" dirty="0" smtClean="0">
                <a:solidFill>
                  <a:schemeClr val="tx1"/>
                </a:solidFill>
                <a:effectLst/>
                <a:ea typeface="+mn-ea"/>
                <a:cs typeface="+mn-cs"/>
              </a:rPr>
              <a:t>I look for ways to improve my listening skills.</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TOTAL SCORE</a:t>
            </a:r>
          </a:p>
          <a:p>
            <a:r>
              <a:rPr lang="en-US" sz="1200" kern="1200" dirty="0" smtClean="0">
                <a:solidFill>
                  <a:schemeClr val="tx1"/>
                </a:solidFill>
                <a:effectLst/>
                <a:ea typeface="+mn-ea"/>
                <a:cs typeface="+mn-cs"/>
              </a:rPr>
              <a:t> </a:t>
            </a:r>
          </a:p>
          <a:p>
            <a:r>
              <a:rPr lang="en-US" sz="1200" kern="1200" dirty="0" smtClean="0">
                <a:solidFill>
                  <a:schemeClr val="tx1"/>
                </a:solidFill>
                <a:effectLst/>
                <a:ea typeface="+mn-ea"/>
                <a:cs typeface="+mn-cs"/>
              </a:rPr>
              <a:t> </a:t>
            </a:r>
          </a:p>
          <a:p>
            <a:r>
              <a:rPr lang="en-US" sz="1200" b="1" kern="1200" dirty="0" smtClean="0">
                <a:solidFill>
                  <a:schemeClr val="tx1"/>
                </a:solidFill>
                <a:effectLst/>
                <a:ea typeface="+mn-ea"/>
                <a:cs typeface="+mn-cs"/>
              </a:rPr>
              <a:t>Analyze Survey Results</a:t>
            </a:r>
            <a:endParaRPr lang="en-US" sz="1200" kern="1200" dirty="0" smtClean="0">
              <a:solidFill>
                <a:schemeClr val="tx1"/>
              </a:solidFill>
              <a:effectLst/>
              <a:ea typeface="+mn-ea"/>
              <a:cs typeface="+mn-cs"/>
            </a:endParaRPr>
          </a:p>
          <a:p>
            <a:r>
              <a:rPr lang="en-US" sz="1200" kern="1200" dirty="0" smtClean="0">
                <a:solidFill>
                  <a:schemeClr val="tx1"/>
                </a:solidFill>
                <a:effectLst/>
                <a:ea typeface="+mn-ea"/>
                <a:cs typeface="+mn-cs"/>
              </a:rPr>
              <a:t>Find your score on the following table.</a:t>
            </a:r>
          </a:p>
          <a:p>
            <a:r>
              <a:rPr lang="en-US" sz="1200" kern="1200" dirty="0" smtClean="0">
                <a:solidFill>
                  <a:schemeClr val="tx1"/>
                </a:solidFill>
                <a:effectLst/>
                <a:ea typeface="+mn-ea"/>
                <a:cs typeface="+mn-cs"/>
              </a:rPr>
              <a:t> </a:t>
            </a:r>
          </a:p>
          <a:p>
            <a:r>
              <a:rPr lang="en-US" sz="1200" b="1" kern="1200" dirty="0" smtClean="0">
                <a:solidFill>
                  <a:schemeClr val="tx1"/>
                </a:solidFill>
                <a:effectLst/>
                <a:ea typeface="+mn-ea"/>
                <a:cs typeface="+mn-cs"/>
              </a:rPr>
              <a:t>Score</a:t>
            </a:r>
            <a:endParaRPr lang="en-US" sz="1200" kern="1200" dirty="0" smtClean="0">
              <a:solidFill>
                <a:schemeClr val="tx1"/>
              </a:solidFill>
              <a:effectLst/>
              <a:ea typeface="+mn-ea"/>
              <a:cs typeface="+mn-cs"/>
            </a:endParaRPr>
          </a:p>
          <a:p>
            <a:r>
              <a:rPr lang="en-US" sz="1200" b="1" kern="1200" dirty="0" smtClean="0">
                <a:solidFill>
                  <a:schemeClr val="tx1"/>
                </a:solidFill>
                <a:effectLst/>
                <a:ea typeface="+mn-ea"/>
                <a:cs typeface="+mn-cs"/>
              </a:rPr>
              <a:t>Interpretations</a:t>
            </a:r>
            <a:endParaRPr lang="en-US" sz="1200" kern="1200" dirty="0" smtClean="0">
              <a:solidFill>
                <a:schemeClr val="tx1"/>
              </a:solidFill>
              <a:effectLst/>
              <a:ea typeface="+mn-ea"/>
              <a:cs typeface="+mn-cs"/>
            </a:endParaRPr>
          </a:p>
          <a:p>
            <a:r>
              <a:rPr lang="en-US" sz="1200" kern="1200" dirty="0" smtClean="0">
                <a:solidFill>
                  <a:schemeClr val="tx1"/>
                </a:solidFill>
                <a:effectLst/>
                <a:ea typeface="+mn-ea"/>
                <a:cs typeface="+mn-cs"/>
              </a:rPr>
              <a:t>50 – 60 </a:t>
            </a:r>
          </a:p>
          <a:p>
            <a:r>
              <a:rPr lang="en-US" sz="1200" kern="1200" dirty="0" smtClean="0">
                <a:solidFill>
                  <a:schemeClr val="tx1"/>
                </a:solidFill>
                <a:effectLst/>
                <a:ea typeface="+mn-ea"/>
                <a:cs typeface="+mn-cs"/>
              </a:rPr>
              <a:t>Are you sure you were honest? If so, you are an extremely effective communicator who almost never contributes to misunderstanding.</a:t>
            </a:r>
          </a:p>
          <a:p>
            <a:r>
              <a:rPr lang="en-US" sz="1200" kern="1200" dirty="0" smtClean="0">
                <a:solidFill>
                  <a:schemeClr val="tx1"/>
                </a:solidFill>
                <a:effectLst/>
                <a:ea typeface="+mn-ea"/>
                <a:cs typeface="+mn-cs"/>
              </a:rPr>
              <a:t>40 – 49 </a:t>
            </a:r>
          </a:p>
          <a:p>
            <a:r>
              <a:rPr lang="en-US" sz="1200" kern="1200" dirty="0" smtClean="0">
                <a:solidFill>
                  <a:schemeClr val="tx1"/>
                </a:solidFill>
                <a:effectLst/>
                <a:ea typeface="+mn-ea"/>
                <a:cs typeface="+mn-cs"/>
              </a:rPr>
              <a:t>You are an effective communicator who only infrequently causes communication breakdown. The goal of these exercises is to move everyone up to this level.</a:t>
            </a:r>
          </a:p>
          <a:p>
            <a:r>
              <a:rPr lang="en-US" sz="1200" kern="1200" dirty="0" smtClean="0">
                <a:solidFill>
                  <a:schemeClr val="tx1"/>
                </a:solidFill>
                <a:effectLst/>
                <a:ea typeface="+mn-ea"/>
                <a:cs typeface="+mn-cs"/>
              </a:rPr>
              <a:t>30 – 39 </a:t>
            </a:r>
          </a:p>
          <a:p>
            <a:r>
              <a:rPr lang="en-US" sz="1200" kern="1200" dirty="0" smtClean="0">
                <a:solidFill>
                  <a:schemeClr val="tx1"/>
                </a:solidFill>
                <a:effectLst/>
                <a:ea typeface="+mn-ea"/>
                <a:cs typeface="+mn-cs"/>
              </a:rPr>
              <a:t>You are an above average communicator with occasional lapses. You cause some misunderstandings but less than your share.</a:t>
            </a:r>
          </a:p>
          <a:p>
            <a:r>
              <a:rPr lang="en-US" sz="1200" kern="1200" dirty="0" smtClean="0">
                <a:solidFill>
                  <a:schemeClr val="tx1"/>
                </a:solidFill>
                <a:effectLst/>
                <a:ea typeface="+mn-ea"/>
                <a:cs typeface="+mn-cs"/>
              </a:rPr>
              <a:t>20 – 29 </a:t>
            </a:r>
          </a:p>
          <a:p>
            <a:r>
              <a:rPr lang="en-US" sz="1200" kern="1200" dirty="0" smtClean="0">
                <a:solidFill>
                  <a:schemeClr val="tx1"/>
                </a:solidFill>
                <a:effectLst/>
                <a:ea typeface="+mn-ea"/>
                <a:cs typeface="+mn-cs"/>
              </a:rPr>
              <a:t>Many people (at least those who are honest) fall into this category. While things could be worse, there is much room for improvement in  your communication style. The goal of these exercises is to move you to a higher category.</a:t>
            </a:r>
          </a:p>
          <a:p>
            <a:r>
              <a:rPr lang="en-US" sz="1200" kern="1200" dirty="0" smtClean="0">
                <a:solidFill>
                  <a:schemeClr val="tx1"/>
                </a:solidFill>
                <a:effectLst/>
                <a:ea typeface="+mn-ea"/>
                <a:cs typeface="+mn-cs"/>
              </a:rPr>
              <a:t>10 – 19</a:t>
            </a:r>
          </a:p>
          <a:p>
            <a:r>
              <a:rPr lang="en-US" sz="1200" kern="1200" dirty="0" smtClean="0">
                <a:solidFill>
                  <a:schemeClr val="tx1"/>
                </a:solidFill>
                <a:effectLst/>
                <a:ea typeface="+mn-ea"/>
                <a:cs typeface="+mn-cs"/>
              </a:rPr>
              <a:t>You are a frequent source of communication problems. Enthusiastically tackle the rest of these exercises and consider their implications for you personally.</a:t>
            </a:r>
          </a:p>
          <a:p>
            <a:r>
              <a:rPr lang="en-US" sz="1200" kern="1200" dirty="0" smtClean="0">
                <a:solidFill>
                  <a:schemeClr val="tx1"/>
                </a:solidFill>
                <a:effectLst/>
                <a:ea typeface="+mn-ea"/>
                <a:cs typeface="+mn-cs"/>
              </a:rPr>
              <a:t>Less</a:t>
            </a:r>
          </a:p>
          <a:p>
            <a:r>
              <a:rPr lang="en-US" sz="1200" kern="1200" dirty="0" smtClean="0">
                <a:solidFill>
                  <a:schemeClr val="tx1"/>
                </a:solidFill>
                <a:effectLst/>
                <a:ea typeface="+mn-ea"/>
                <a:cs typeface="+mn-cs"/>
              </a:rPr>
              <a:t>Than</a:t>
            </a:r>
          </a:p>
          <a:p>
            <a:r>
              <a:rPr lang="en-US" sz="1200" kern="1200" dirty="0" smtClean="0">
                <a:solidFill>
                  <a:schemeClr val="tx1"/>
                </a:solidFill>
                <a:effectLst/>
                <a:ea typeface="+mn-ea"/>
                <a:cs typeface="+mn-cs"/>
              </a:rPr>
              <a:t>9</a:t>
            </a:r>
          </a:p>
          <a:p>
            <a:r>
              <a:rPr lang="en-US" sz="1200" kern="1200" dirty="0" smtClean="0">
                <a:solidFill>
                  <a:schemeClr val="tx1"/>
                </a:solidFill>
                <a:effectLst/>
                <a:ea typeface="+mn-ea"/>
                <a:cs typeface="+mn-cs"/>
              </a:rPr>
              <a:t>Your honesty is commendable, but it will take more than honesty to improve your communication effectiveness. Consider taking a communication course.</a:t>
            </a:r>
          </a:p>
          <a:p>
            <a:r>
              <a:rPr lang="en-US" sz="1200" i="1" kern="1200" dirty="0" smtClean="0">
                <a:solidFill>
                  <a:schemeClr val="tx1"/>
                </a:solidFill>
                <a:effectLst/>
                <a:ea typeface="+mn-ea"/>
                <a:cs typeface="+mn-cs"/>
              </a:rPr>
              <a:t> </a:t>
            </a:r>
            <a:endParaRPr lang="en-US" sz="1200" kern="1200" dirty="0" smtClean="0">
              <a:solidFill>
                <a:schemeClr val="tx1"/>
              </a:solidFill>
              <a:effectLs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78763677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25000" lnSpcReduction="20000"/>
          </a:bodyPr>
          <a:lstStyle/>
          <a:p>
            <a:r>
              <a:rPr lang="en-US" sz="1200" b="0" i="0" kern="1200" dirty="0" smtClean="0">
                <a:solidFill>
                  <a:schemeClr val="tx1"/>
                </a:solidFill>
                <a:effectLst/>
                <a:ea typeface="+mn-ea"/>
                <a:cs typeface="+mn-cs"/>
              </a:rPr>
              <a:t>Specify training goals and objectives. List your objectives and refer to them often as you prepare subject matter so that you keep on message and achieve your training goals.</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For example, listed goals for a back injury training program could include:</a:t>
            </a:r>
          </a:p>
          <a:p>
            <a:pPr lvl="1"/>
            <a:r>
              <a:rPr lang="en-US" sz="1200" b="0" i="0" kern="1200" dirty="0" smtClean="0">
                <a:solidFill>
                  <a:schemeClr val="tx1"/>
                </a:solidFill>
                <a:effectLst/>
                <a:ea typeface="+mn-ea"/>
                <a:cs typeface="+mn-cs"/>
              </a:rPr>
              <a:t>Teach trainees safe lifting techniques.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1"/>
            <a:r>
              <a:rPr lang="en-US" sz="1200" b="0" i="0" kern="1200" dirty="0" smtClean="0">
                <a:solidFill>
                  <a:schemeClr val="tx1"/>
                </a:solidFill>
                <a:effectLst/>
                <a:ea typeface="+mn-ea"/>
                <a:cs typeface="+mn-cs"/>
              </a:rPr>
              <a:t>Provide trainees with a greater understanding of how the discs function in relation with the vertebra.</a:t>
            </a:r>
          </a:p>
          <a:p>
            <a:pPr lvl="1"/>
            <a:r>
              <a:rPr lang="en-US" sz="1200" b="0" i="0" kern="1200" dirty="0" smtClean="0">
                <a:solidFill>
                  <a:schemeClr val="tx1"/>
                </a:solidFill>
                <a:effectLst/>
                <a:ea typeface="+mn-ea"/>
                <a:cs typeface="+mn-cs"/>
              </a:rPr>
              <a:t>Provide trainees with information about strains and sprains and how they relate to back injuries.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1"/>
            <a:r>
              <a:rPr lang="en-US" sz="1200" b="0" i="0" kern="1200" dirty="0" smtClean="0">
                <a:solidFill>
                  <a:schemeClr val="tx1"/>
                </a:solidFill>
                <a:effectLst/>
                <a:ea typeface="+mn-ea"/>
                <a:cs typeface="+mn-cs"/>
              </a:rPr>
              <a:t>Provide trainees with hands-on, supervisor-monitored opportunities to practice correct lifting methods.</a:t>
            </a:r>
          </a:p>
          <a:p>
            <a:r>
              <a:rPr lang="en-US" sz="1200" b="0" i="0" kern="1200" dirty="0" smtClean="0">
                <a:solidFill>
                  <a:schemeClr val="tx1"/>
                </a:solidFill>
                <a:effectLst/>
                <a:ea typeface="+mn-ea"/>
                <a:cs typeface="+mn-cs"/>
              </a:rPr>
              <a:t>Present subject matter in a logical order. Explain the basics of the topic—and make sure trainees understand them—before going on to more detailed and technical information.</a:t>
            </a:r>
          </a:p>
          <a:p>
            <a:r>
              <a:rPr lang="en-US" sz="1200" b="0" i="0" kern="1200" dirty="0" smtClean="0">
                <a:solidFill>
                  <a:schemeClr val="tx1"/>
                </a:solidFill>
                <a:effectLst/>
                <a:ea typeface="+mn-ea"/>
                <a:cs typeface="+mn-cs"/>
              </a:rPr>
              <a:t>Emphasize the points that are most important. What facts or practices do trainees absolutely need to have or need to know how to do? Plan to spend most of your training time on these. Allocate less time to less important but still pertinent training points.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Customize training materials to your company’s situation. Relate information to your company’s policies, procedures, tools, equipment, machines, personal protective equipment, etc. Update this section as tools or equipment is replaced or procedures are</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changed.</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Incorporate interactive methods into your training. Find ways to keep trainees involved. [See Chapter 3 for several interactive methods.]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Write a training session plan. Some plans may be less detailed than others depending on the subject matter, but a plan should be written for every training session. Why?</a:t>
            </a:r>
          </a:p>
          <a:p>
            <a:pPr lvl="1"/>
            <a:r>
              <a:rPr lang="en-US" sz="1200" b="0" i="0" kern="1200" dirty="0" smtClean="0">
                <a:solidFill>
                  <a:schemeClr val="tx1"/>
                </a:solidFill>
                <a:effectLst/>
                <a:ea typeface="+mn-ea"/>
                <a:cs typeface="+mn-cs"/>
              </a:rPr>
              <a:t>Written plans help ensure that all required information is presented.</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1"/>
            <a:r>
              <a:rPr lang="en-US" sz="1200" b="0" i="0" kern="1200" dirty="0" smtClean="0">
                <a:solidFill>
                  <a:schemeClr val="tx1"/>
                </a:solidFill>
                <a:effectLst/>
                <a:ea typeface="+mn-ea"/>
                <a:cs typeface="+mn-cs"/>
              </a:rPr>
              <a:t>They document what is covered.</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1"/>
            <a:r>
              <a:rPr lang="en-US" sz="1200" b="0" i="0" kern="1200" dirty="0" smtClean="0">
                <a:solidFill>
                  <a:schemeClr val="tx1"/>
                </a:solidFill>
                <a:effectLst/>
                <a:ea typeface="+mn-ea"/>
                <a:cs typeface="+mn-cs"/>
              </a:rPr>
              <a:t>They provide a library of customized training materials for your company’s training program. By retaining every plan in your training files, you make sure that no matter who does training, they will cover the objectives and goals that you have</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indicated need to be covered.</a:t>
            </a:r>
          </a:p>
          <a:p>
            <a:r>
              <a:rPr lang="en-US" sz="1200" b="0" i="0" kern="1200" dirty="0" smtClean="0">
                <a:solidFill>
                  <a:schemeClr val="tx1"/>
                </a:solidFill>
                <a:effectLst/>
                <a:ea typeface="+mn-ea"/>
                <a:cs typeface="+mn-cs"/>
              </a:rPr>
              <a:t>Plan for a question-and-answer session. Compose a list of potential questions and prepare answers. Sometimes planned material turns out to be only half the session. Good information is often passed both ways through QandA sessions—trainees can clarify points or make trainers aware of current practices that may need updating; trainers can use this interactive method as a good indicator of how well trainees understand the material.</a:t>
            </a:r>
          </a:p>
          <a:p>
            <a:r>
              <a:rPr lang="en-US" sz="1200" b="0" i="0" kern="1200" dirty="0" smtClean="0">
                <a:solidFill>
                  <a:schemeClr val="tx1"/>
                </a:solidFill>
                <a:effectLst/>
                <a:ea typeface="+mn-ea"/>
                <a:cs typeface="+mn-cs"/>
              </a:rPr>
              <a:t>General Outline of a Lesson Plan</a:t>
            </a:r>
          </a:p>
          <a:p>
            <a:r>
              <a:rPr lang="en-US" sz="1200" b="0" i="0" kern="1200" dirty="0" smtClean="0">
                <a:solidFill>
                  <a:schemeClr val="tx1"/>
                </a:solidFill>
                <a:effectLst/>
                <a:ea typeface="+mn-ea"/>
                <a:cs typeface="+mn-cs"/>
              </a:rPr>
              <a:t>Title of the training program</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General goal of the training</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Specific goal(s) of the training</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Key points to be covered during the training</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Company specifics (tools, machines, personal protective equipment, policies, procedures)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Audience makeup (beginners, refresher trainees, computer-literate, Spanish speaking)</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Training materials required for classroom instruction (videos, flip charts)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Training materials required for "hands on" training (mannequins, tools, materials)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Interactive activities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Anticipated questions along with correct answers</a:t>
            </a:r>
          </a:p>
          <a:p>
            <a:r>
              <a:rPr lang="en-US" sz="1200" b="1" i="0" kern="1200" dirty="0" smtClean="0">
                <a:solidFill>
                  <a:schemeClr val="tx1"/>
                </a:solidFill>
                <a:effectLst/>
                <a:ea typeface="+mn-ea"/>
                <a:cs typeface="+mn-cs"/>
              </a:rPr>
              <a:t>Prepare the Training Space</a:t>
            </a:r>
          </a:p>
          <a:p>
            <a:r>
              <a:rPr lang="en-US" sz="1200" b="0" i="0" kern="1200" dirty="0" smtClean="0">
                <a:solidFill>
                  <a:schemeClr val="tx1"/>
                </a:solidFill>
                <a:effectLst/>
                <a:ea typeface="+mn-ea"/>
                <a:cs typeface="+mn-cs"/>
              </a:rPr>
              <a:t>Prepare classroom and hands-on training areas by checking for:</a:t>
            </a:r>
          </a:p>
          <a:p>
            <a:r>
              <a:rPr lang="en-US" sz="1200" b="0" i="0" kern="1200" dirty="0" smtClean="0">
                <a:solidFill>
                  <a:schemeClr val="tx1"/>
                </a:solidFill>
                <a:effectLst/>
                <a:ea typeface="+mn-ea"/>
                <a:cs typeface="+mn-cs"/>
              </a:rPr>
              <a:t>Adequate seating arrangements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Comfortable environmental conditions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Sufficient lighting</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Required equipment, such as video player/monitor, slide projectors, flip charts and other media, are available</a:t>
            </a:r>
          </a:p>
          <a:p>
            <a:r>
              <a:rPr lang="en-US" sz="1200" b="0" i="0" kern="1200" dirty="0" smtClean="0">
                <a:solidFill>
                  <a:schemeClr val="tx1"/>
                </a:solidFill>
                <a:effectLst/>
                <a:ea typeface="+mn-ea"/>
                <a:cs typeface="+mn-cs"/>
              </a:rPr>
              <a:t>Classroom preparation is extremely important. Even if your training space is a cordoned off part of the plant, cafeteria, or other work area, you need to get it ready for training. For example, make sure the area will accommodate the number of trainees for the session. If trainees have to stand or if they are packed uncomfortably tight, they will not be as receptive as possible to the material you present.</a:t>
            </a:r>
          </a:p>
          <a:p>
            <a:r>
              <a:rPr lang="en-US" sz="1200" b="0" i="0" kern="1200" dirty="0" smtClean="0">
                <a:solidFill>
                  <a:schemeClr val="tx1"/>
                </a:solidFill>
                <a:effectLst/>
                <a:ea typeface="+mn-ea"/>
                <a:cs typeface="+mn-cs"/>
              </a:rPr>
              <a:t>Make sure you have enough handouts or other materials for trainees. Ensure tools, equipment, machines, or other props for demonstration or practice are working properly. The need for proper preparation cannot be overstated. Trainees will gather first impressions in the first few minutes of the session, and they will judge the material and the trainer on how prepared the training environment is. Everything should run smoothly at the start of the session.</a:t>
            </a:r>
          </a:p>
          <a:p>
            <a:r>
              <a:rPr lang="en-US" sz="1200" b="0" i="0" kern="1200" dirty="0" smtClean="0">
                <a:solidFill>
                  <a:schemeClr val="tx1"/>
                </a:solidFill>
                <a:effectLst/>
                <a:ea typeface="+mn-ea"/>
                <a:cs typeface="+mn-cs"/>
              </a:rPr>
              <a:t>As the person in charge of training, it's up to you to develop standard preparation procedures to ensure a high standard of training. Every detail counts.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1" i="0" kern="1200" dirty="0" smtClean="0">
                <a:solidFill>
                  <a:schemeClr val="tx1"/>
                </a:solidFill>
                <a:effectLst/>
                <a:ea typeface="+mn-ea"/>
                <a:cs typeface="+mn-cs"/>
              </a:rPr>
              <a:t>Prepare Yourself</a:t>
            </a:r>
          </a:p>
          <a:p>
            <a:r>
              <a:rPr lang="en-US" sz="1200" b="0" i="0" kern="1200" dirty="0" smtClean="0">
                <a:solidFill>
                  <a:schemeClr val="tx1"/>
                </a:solidFill>
                <a:effectLst/>
                <a:ea typeface="+mn-ea"/>
                <a:cs typeface="+mn-cs"/>
              </a:rPr>
              <a:t>Each trainer has different qualifications, experience, expertise, and methodology of training. Even trainers who are intimately familiar with a subject must properly prepare for the training session. The following guidelines are designed to review the basics of preparing trainers for learning sessions.</a:t>
            </a:r>
          </a:p>
          <a:p>
            <a:r>
              <a:rPr lang="en-US" sz="1200" b="1" i="0" kern="1200" dirty="0" smtClean="0">
                <a:solidFill>
                  <a:schemeClr val="tx1"/>
                </a:solidFill>
                <a:effectLst/>
                <a:ea typeface="+mn-ea"/>
                <a:cs typeface="+mn-cs"/>
              </a:rPr>
              <a:t>Practice Makes Perfect</a:t>
            </a:r>
          </a:p>
          <a:p>
            <a:r>
              <a:rPr lang="en-US" sz="1200" b="0" i="0" kern="1200" dirty="0" smtClean="0">
                <a:solidFill>
                  <a:schemeClr val="tx1"/>
                </a:solidFill>
                <a:effectLst/>
                <a:ea typeface="+mn-ea"/>
                <a:cs typeface="+mn-cs"/>
              </a:rPr>
              <a:t>Practice your presentation. The best instructors always do at least one dry run before the training session. Practicing improves presentation skills and confidence levels. It allows trainers to foresee any technical or logistical difficulties and prepare back-up plans for any contingencies.</a:t>
            </a:r>
          </a:p>
          <a:p>
            <a:r>
              <a:rPr lang="en-US" sz="1200" b="1" i="0" kern="1200" dirty="0" smtClean="0">
                <a:solidFill>
                  <a:schemeClr val="tx1"/>
                </a:solidFill>
                <a:effectLst/>
                <a:ea typeface="+mn-ea"/>
                <a:cs typeface="+mn-cs"/>
              </a:rPr>
              <a:t>Overcome Presentation Phobia</a:t>
            </a:r>
          </a:p>
          <a:p>
            <a:r>
              <a:rPr lang="en-US" sz="1200" b="0" i="0" kern="1200" dirty="0" smtClean="0">
                <a:solidFill>
                  <a:schemeClr val="tx1"/>
                </a:solidFill>
                <a:effectLst/>
                <a:ea typeface="+mn-ea"/>
                <a:cs typeface="+mn-cs"/>
              </a:rPr>
              <a:t>Many times, especially with lectures, trainers conduct sessions in front of large groups. Many people</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are uncomfortable with public speaking even when they have a well-prepared presentation.</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Here’s a two-step process for overcoming stage fright:</a:t>
            </a:r>
          </a:p>
          <a:p>
            <a:r>
              <a:rPr lang="en-US" sz="1200" b="0" i="0" kern="1200" dirty="0" smtClean="0">
                <a:solidFill>
                  <a:schemeClr val="tx1"/>
                </a:solidFill>
                <a:effectLst/>
                <a:ea typeface="+mn-ea"/>
                <a:cs typeface="+mn-cs"/>
              </a:rPr>
              <a:t>Prepare the mind by putting everything in perspective. Trainees are here to learn from you, they want you to be a good trainer, because they’ll learn more that way. Focus on them and making sure they understand the material. Don’t worry about your performance, you’re just the messenger. Deliver the message. Accept the fact that you will be nervous and, in fact, put that nervous energy into an energetic delivery.</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Prepare the body. Trainers need to familiarize themselves with the training environment, including the lighting, temperature, and layout of the classroom. You can do this during your practice session and also by arriving early on the day of training to check that</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everything is in order. Drink nondairy fluids to soothe your vocal cords and prevent a dry or sore throat from extensive talking during the session. You may also want to learn relaxation techniques and develop a standard ritual before training sessions to relax and prepare yourself.</a:t>
            </a:r>
          </a:p>
          <a:p>
            <a:r>
              <a:rPr lang="en-US" sz="1200" b="1" i="0" kern="1200" dirty="0" smtClean="0">
                <a:solidFill>
                  <a:schemeClr val="tx1"/>
                </a:solidFill>
                <a:effectLst/>
                <a:ea typeface="+mn-ea"/>
                <a:cs typeface="+mn-cs"/>
              </a:rPr>
              <a:t>Prepare Trainees</a:t>
            </a:r>
          </a:p>
          <a:p>
            <a:r>
              <a:rPr lang="en-US" sz="1200" b="0" i="0" kern="1200" dirty="0" smtClean="0">
                <a:solidFill>
                  <a:schemeClr val="tx1"/>
                </a:solidFill>
                <a:effectLst/>
                <a:ea typeface="+mn-ea"/>
                <a:cs typeface="+mn-cs"/>
              </a:rPr>
              <a:t>You’ve taken the time to prepare the training materials, the training space, and yourself. To ensure the most productive training session, you also need to prepare trainees.</a:t>
            </a:r>
          </a:p>
          <a:p>
            <a:r>
              <a:rPr lang="en-US" sz="1200" b="0" i="0" kern="1200" dirty="0" smtClean="0">
                <a:solidFill>
                  <a:schemeClr val="tx1"/>
                </a:solidFill>
                <a:effectLst/>
                <a:ea typeface="+mn-ea"/>
                <a:cs typeface="+mn-cs"/>
              </a:rPr>
              <a:t>You want trainees to be highly motivated before they walk through the training doors. Consider</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using some of these pretraining techniques to put trainees in a receptive frame of mind, get them</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geared up for the topic, and prepare them to learn.</a:t>
            </a:r>
          </a:p>
          <a:p>
            <a:r>
              <a:rPr lang="en-US" sz="1200" b="0" i="0" kern="1200" dirty="0" smtClean="0">
                <a:solidFill>
                  <a:schemeClr val="tx1"/>
                </a:solidFill>
                <a:effectLst/>
                <a:ea typeface="+mn-ea"/>
                <a:cs typeface="+mn-cs"/>
              </a:rPr>
              <a:t>Distribute a session outline or agenda before the meeting. Trainees who might be anxious about training will be put at ease when they know ahead of time what will be covered. And since knowledge is power, all trainees benefit from knowing what’s on the agenda. You benefit when trainees enter the room already thinking about the topic.</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Distribute presession activities. Along with the outline, include fun and simple open-ended questions or situations, such as these:</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1"/>
            <a:r>
              <a:rPr lang="en-US" sz="1200" b="0" i="0" kern="1200" dirty="0" smtClean="0">
                <a:solidFill>
                  <a:schemeClr val="tx1"/>
                </a:solidFill>
                <a:effectLst/>
                <a:ea typeface="+mn-ea"/>
                <a:cs typeface="+mn-cs"/>
              </a:rPr>
              <a:t>General questions: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2"/>
            <a:r>
              <a:rPr lang="en-US" sz="1200" b="0" i="0" kern="1200" dirty="0" smtClean="0">
                <a:solidFill>
                  <a:schemeClr val="tx1"/>
                </a:solidFill>
                <a:effectLst/>
                <a:ea typeface="+mn-ea"/>
                <a:cs typeface="+mn-cs"/>
              </a:rPr>
              <a:t>What do you already know on the training topic?</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2"/>
            <a:r>
              <a:rPr lang="en-US" sz="1200" b="0" i="0" kern="1200" dirty="0" smtClean="0">
                <a:solidFill>
                  <a:schemeClr val="tx1"/>
                </a:solidFill>
                <a:effectLst/>
                <a:ea typeface="+mn-ea"/>
                <a:cs typeface="+mn-cs"/>
              </a:rPr>
              <a:t>Why do you think this training is needed?</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2"/>
            <a:r>
              <a:rPr lang="en-US" sz="1200" b="0" i="0" kern="1200" dirty="0" smtClean="0">
                <a:solidFill>
                  <a:schemeClr val="tx1"/>
                </a:solidFill>
                <a:effectLst/>
                <a:ea typeface="+mn-ea"/>
                <a:cs typeface="+mn-cs"/>
              </a:rPr>
              <a:t>How will this training benefit you and the company?</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1"/>
            <a:r>
              <a:rPr lang="en-US" sz="1200" b="0" i="0" kern="1200" dirty="0" smtClean="0">
                <a:solidFill>
                  <a:schemeClr val="tx1"/>
                </a:solidFill>
                <a:effectLst/>
                <a:ea typeface="+mn-ea"/>
                <a:cs typeface="+mn-cs"/>
              </a:rPr>
              <a:t>Case studies involving the upcoming training followed by debriefing questions: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2"/>
            <a:r>
              <a:rPr lang="en-US" sz="1200" b="0" i="0" kern="1200" dirty="0" smtClean="0">
                <a:solidFill>
                  <a:schemeClr val="tx1"/>
                </a:solidFill>
                <a:effectLst/>
                <a:ea typeface="+mn-ea"/>
                <a:cs typeface="+mn-cs"/>
              </a:rPr>
              <a:t>In this case, what would you do?</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pPr lvl="2"/>
            <a:r>
              <a:rPr lang="en-US" sz="1200" b="0" i="0" kern="1200" dirty="0" smtClean="0">
                <a:solidFill>
                  <a:schemeClr val="tx1"/>
                </a:solidFill>
                <a:effectLst/>
                <a:ea typeface="+mn-ea"/>
                <a:cs typeface="+mn-cs"/>
              </a:rPr>
              <a:t>What would you have done differently than the characters?</a:t>
            </a:r>
            <a:br>
              <a:rPr lang="en-US" sz="1200" b="0" i="0" kern="1200" dirty="0" smtClean="0">
                <a:solidFill>
                  <a:schemeClr val="tx1"/>
                </a:solidFill>
                <a:effectLst/>
                <a:ea typeface="+mn-ea"/>
                <a:cs typeface="+mn-cs"/>
              </a:rPr>
            </a:br>
            <a:r>
              <a:rPr lang="en-US" sz="1200" b="0" i="0" kern="1200" dirty="0" smtClean="0">
                <a:solidFill>
                  <a:schemeClr val="tx1"/>
                </a:solidFill>
                <a:effectLst/>
                <a:ea typeface="+mn-ea"/>
                <a:cs typeface="+mn-cs"/>
              </a:rPr>
              <a:t>Ask trainees to be prepared for a brief class discussion on the case study. Take a few minutes at the beginning of the session to ask trainees for their answers.</a:t>
            </a:r>
            <a:br>
              <a:rPr lang="en-US" sz="1200" b="0" i="0" kern="1200" dirty="0" smtClean="0">
                <a:solidFill>
                  <a:schemeClr val="tx1"/>
                </a:solidFill>
                <a:effectLst/>
                <a:ea typeface="+mn-ea"/>
                <a:cs typeface="+mn-cs"/>
              </a:rPr>
            </a:br>
            <a:endParaRPr lang="en-US" sz="1200" b="0" i="0" kern="1200" dirty="0" smtClean="0">
              <a:solidFill>
                <a:schemeClr val="tx1"/>
              </a:solidFill>
              <a:effectLst/>
              <a:ea typeface="+mn-ea"/>
              <a:cs typeface="+mn-cs"/>
            </a:endParaRPr>
          </a:p>
          <a:p>
            <a:r>
              <a:rPr lang="en-US" sz="1200" b="0" i="0" kern="1200" dirty="0" smtClean="0">
                <a:solidFill>
                  <a:schemeClr val="tx1"/>
                </a:solidFill>
                <a:effectLst/>
                <a:ea typeface="+mn-ea"/>
                <a:cs typeface="+mn-cs"/>
              </a:rPr>
              <a:t>Distribute an expectation questionnaire. Via survey, e-mail, group meeting, etc., ask what trainees expect from the session. Use the results to customize the session as much as possible to the audience while still meeting all training objectives.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21538262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the element with trainees and trainees ask any questions. Trainer explains work projects and assessment for this element.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1340565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explains that a continual improvement cycle involves constant monitoring of service delivery standards. Trainer goes through the slide with students and shows that the cycle is repeated in order to maintain service standards.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23429865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shows students the checklist and example. Trainer explains that checklists are a good way to show service standards required and to show these to team members before monitoring or observing actual service delivery. They help to remind staff of the standard required but also provide a transparent and fair way to assess staff competency in a service delivery item.</a:t>
            </a:r>
          </a:p>
          <a:p>
            <a:r>
              <a:rPr lang="en-AU" sz="1200" kern="1200" dirty="0" smtClean="0">
                <a:solidFill>
                  <a:schemeClr val="tx1"/>
                </a:solidFill>
                <a:effectLst/>
                <a:latin typeface="Helvetica" pitchFamily="34" charset="0"/>
                <a:ea typeface="+mn-ea"/>
                <a:cs typeface="+mn-cs"/>
              </a:rPr>
              <a:t>Students complete the activity from the TM.</a:t>
            </a:r>
          </a:p>
          <a:p>
            <a:endParaRPr lang="en-AU" sz="1200" b="0" kern="1200" dirty="0" smtClean="0">
              <a:solidFill>
                <a:schemeClr val="tx1"/>
              </a:solidFill>
              <a:effectLst/>
              <a:latin typeface="Helvetica" pitchFamily="34" charset="0"/>
              <a:ea typeface="+mn-ea"/>
              <a:cs typeface="+mn-cs"/>
            </a:endParaRPr>
          </a:p>
          <a:p>
            <a:r>
              <a:rPr lang="en-AU" sz="1200" b="1" kern="1200" dirty="0" smtClean="0">
                <a:solidFill>
                  <a:schemeClr val="tx1"/>
                </a:solidFill>
                <a:effectLst/>
                <a:latin typeface="Helvetica" pitchFamily="34" charset="0"/>
                <a:ea typeface="+mn-ea"/>
                <a:cs typeface="+mn-cs"/>
              </a:rPr>
              <a:t>Activity</a:t>
            </a:r>
          </a:p>
          <a:p>
            <a:r>
              <a:rPr lang="en-AU" sz="1200" kern="1200" dirty="0" smtClean="0">
                <a:solidFill>
                  <a:schemeClr val="tx1"/>
                </a:solidFill>
                <a:effectLst/>
                <a:latin typeface="Helvetica" pitchFamily="34" charset="0"/>
                <a:ea typeface="+mn-ea"/>
                <a:cs typeface="+mn-cs"/>
              </a:rPr>
              <a:t>Develop a checklist for a service delivery standard and provide examples of appropriate service standards. What else needs to be included in the checklist? Look at the assessment checklist and plan below to help you.</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0851518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takes students through the assessment checklist example in the TM. Students look at all of the information and decide which is the most important information. Students can describe examples of service delivery monitoring and assessment from their experience.</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3.1	Complete a spread sheet that includes suitable information for monitoring team performance in a service delivery team. Print out and show to your trainer.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41709445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explains the need for reviews. Reviews should be scheduled regularly and everyone should be informed of the review time, content and when the results will be shared. Reviews should include all stakeholders connected to the service delivery.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61758374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takes trainees through the review process outline. Trainer can bring in examples of reviews from different workplaces or from the internet or industry association reviews.</a:t>
            </a:r>
          </a:p>
          <a:p>
            <a:r>
              <a:rPr lang="en-AU" sz="1200" kern="1200" dirty="0" smtClean="0">
                <a:solidFill>
                  <a:schemeClr val="tx1"/>
                </a:solidFill>
                <a:effectLst/>
                <a:latin typeface="Helvetica" pitchFamily="34" charset="0"/>
                <a:ea typeface="+mn-ea"/>
                <a:cs typeface="+mn-cs"/>
              </a:rPr>
              <a:t>Trainees discuss their workplace practice in terms of reviews of service delivery standards and decide if they follow the same outline as in the slide. Trainer asks if any parts of the process are missing or if there are other aspects included in the review process at their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6623764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shows slide and students discuss the process. Trainer highlights the continual improvement cycle and explains that it is repeated.</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3.2.	Outline a procedure, policy and service standard that your organisation has developed and determine if there needs to be any changes to the standard. Include feedback from staff, customers, managers and suppliers if available. Explain why the item needs to be updated.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38793153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introduces the performance criterion. Trainer asks trainees to outline all of the different resources that may be required for a particular service delivery item. Students discuss if they have enough resources in their workplace to complete service delivery tasks effectively.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22776431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the slide content with students. Students discuss if they have enough time to complete their service delivery tasks. Trainer asks for examples of time allocation within their workplace setting. What training is provided for trainees in their workplace? Is it effective? How do they know it is effective?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7305047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introduces the slide and asks students to discuss the resources outlined. Trainees describe their workplace setting in relation to the resources outlines and determine if there is enough and if the resources are appropriate for the service delivery tasks. Trainer asks if workplace manuals are up to date, clear, reviewed regularly, and accessible.</a:t>
            </a:r>
          </a:p>
          <a:p>
            <a:endParaRPr lang="en-AU" sz="1200" kern="1200" dirty="0" smtClean="0">
              <a:solidFill>
                <a:schemeClr val="tx1"/>
              </a:solidFill>
              <a:effectLst/>
              <a:latin typeface="Helvetica" pitchFamily="34" charset="0"/>
              <a:ea typeface="+mn-ea"/>
              <a:cs typeface="+mn-cs"/>
            </a:endParaRPr>
          </a:p>
          <a:p>
            <a:r>
              <a:rPr lang="en-AU" sz="1200" b="1" kern="1200" dirty="0" smtClean="0">
                <a:solidFill>
                  <a:schemeClr val="tx1"/>
                </a:solidFill>
                <a:effectLst/>
                <a:latin typeface="Helvetica" pitchFamily="34" charset="0"/>
                <a:ea typeface="+mn-ea"/>
                <a:cs typeface="+mn-cs"/>
              </a:rPr>
              <a:t>Activity</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In groups discuss all of the resources required to deliver one aspect of service delivery in your work context.</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3.3.	Describe a service delivery item at your workplace and the team that delivers the service. Is there enough time, people, resources allocated to the service delivery item? Bring the information to your class and discuss with your partner.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0833036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introduces the idea of complaints in the workplace. Trainer asks students to think about common complaints they make or receive relating to service. Trainer asks what process they follow in dealing with complaints and who assists them in the workplace. Students discuss common complaints and share experience of dealing with them in small groups.</a:t>
            </a:r>
          </a:p>
          <a:p>
            <a:r>
              <a:rPr lang="en-AU" sz="1200" kern="1200" dirty="0" smtClean="0">
                <a:solidFill>
                  <a:schemeClr val="tx1"/>
                </a:solidFill>
                <a:effectLst/>
                <a:latin typeface="Helvetica" pitchFamily="34" charset="0"/>
                <a:ea typeface="+mn-ea"/>
                <a:cs typeface="+mn-cs"/>
              </a:rPr>
              <a:t>Trainer can provide examples of common complaints and arrange some role plays using situational cards. Students pretend to be the customer/service provider and show how they would deal with the complaint. The trainer shows how a supervisor or team leader can assist in difficult situations.</a:t>
            </a:r>
          </a:p>
          <a:p>
            <a:r>
              <a:rPr lang="en-AU" sz="1200" kern="1200" dirty="0" smtClean="0">
                <a:solidFill>
                  <a:schemeClr val="tx1"/>
                </a:solidFill>
                <a:effectLst/>
                <a:latin typeface="Helvetica" pitchFamily="34" charset="0"/>
                <a:ea typeface="+mn-ea"/>
                <a:cs typeface="+mn-cs"/>
              </a:rPr>
              <a:t>Trainer takes students through the complaint process/language from the TM.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85095400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that leading by example is the best way to train staff on how to deal with complaints. Students should identify effective steps in dealing with complaints. Trainer asks students to investigate complaint procedures from the internet and from their own workplace contexts. Trainer asks trainees to provide examples of how team leaders or supervisors can assist in dealing with complaints. Trainer asks if trainees feel comfortable to ask a supervisor or manager to support them when dealing with complaints. </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3.4.	Write down or show your trainer an example of a customer complaint and explain how you dealt with the complaint and supported a staff member. Did you follow organisation policies and procedures? What was the result?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7865777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that as a part of a review process or just in observation, it may become apparent that some team members are performing delivery of services at a level that is not standard. In these cases it is necessary to help team members to adjust service delivery to meet organisational standards.</a:t>
            </a:r>
          </a:p>
          <a:p>
            <a:r>
              <a:rPr lang="en-AU" sz="1200" kern="1200" dirty="0" smtClean="0">
                <a:solidFill>
                  <a:schemeClr val="tx1"/>
                </a:solidFill>
                <a:effectLst/>
                <a:latin typeface="Helvetica" pitchFamily="34" charset="0"/>
                <a:ea typeface="+mn-ea"/>
                <a:cs typeface="+mn-cs"/>
              </a:rPr>
              <a:t>In pairs, trainees discuss situations where they have delivered service below standard or where they have observed sub-standard service delivery. This could be as a customer or as a staff member. Trainer asks how they react when they observe sub-standard service delivery.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9814795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goes through the slide with trainees and trainees offer insights and personal experience of situations where they have supported or been supported by other team members to improve service delivery.</a:t>
            </a:r>
          </a:p>
          <a:p>
            <a:r>
              <a:rPr lang="en-AU" sz="1200" kern="1200" dirty="0" smtClean="0">
                <a:solidFill>
                  <a:schemeClr val="tx1"/>
                </a:solidFill>
                <a:effectLst/>
                <a:latin typeface="Helvetica" pitchFamily="34" charset="0"/>
                <a:ea typeface="+mn-ea"/>
                <a:cs typeface="+mn-cs"/>
              </a:rPr>
              <a:t>Trainer asks how trainees’ service delivery is checked and reviewed. Students decide if it is an effective and supportive process.</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3.5	Describe a situation where a team member did not deliver service to the required standard. Explain how you supported the team member to lift their service delivery standard.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19352258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AU" sz="1200" kern="1200" dirty="0" smtClean="0">
                <a:solidFill>
                  <a:schemeClr val="tx1"/>
                </a:solidFill>
                <a:effectLst/>
                <a:latin typeface="Helvetica" pitchFamily="34" charset="0"/>
                <a:ea typeface="+mn-ea"/>
                <a:cs typeface="+mn-cs"/>
              </a:rPr>
              <a:t>Trainer presents the performance criterion and students consider service delivery targets in their workplace. Trainees provide examples of service delivery targets. In small groups they discuss if targets are met and if not what makes it difficult to achieve the targets.</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As has been explored in previous units, monitoring service delivery standards is critical to ensuring consistent service delivery that meets customer and organisation standards. Monitoring needs to be regularly scheduled and based upon multiple sources of feedback or sources. Monitoring processes need to be transparent and thoroughly explained to team members before being implemented and the outlined process needs to be adhered to. Team members need to know how they are being assessed, when they are being monitored and what consequences or support is available if service targets are not being achieved. </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Monitoring achievement of service level targets could be conducted in many ways including: </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Using objective evaluation and assessment methods which use the service standards as a guide</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Interviewing and speaking to customers formally and informally to gather their feedback regarding designated service contexts</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Gathering feedback from staff/team members</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Investigating complaints, compliments, incident reports and accident and damage reports</a:t>
            </a:r>
          </a:p>
          <a:p>
            <a:pPr marL="171450" lvl="0" indent="-171450">
              <a:buFont typeface="Arial" pitchFamily="34" charset="0"/>
              <a:buChar char="•"/>
            </a:pPr>
            <a:r>
              <a:rPr lang="en-AU" sz="1200" kern="1200" dirty="0" smtClean="0">
                <a:solidFill>
                  <a:schemeClr val="tx1"/>
                </a:solidFill>
                <a:effectLst/>
                <a:latin typeface="Helvetica" pitchFamily="34" charset="0"/>
                <a:ea typeface="+mn-ea"/>
                <a:cs typeface="+mn-cs"/>
              </a:rPr>
              <a:t>Observing team members in the identified service delivery area.</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If service delivery targets are not being achieved a close examination of all evidence and feedback would be required to determine where the failure in service delivery is. This could be an isolated and minor concern or it could be a systemic failure in internal training and professional development mechanisms. The main point is to identify if targets are being met and why they are or are not being met.</a:t>
            </a:r>
          </a:p>
          <a:p>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3.6	Outline service delivery standards within your service area and the targets for the service delivery. Explain which targets have been met and which have not. Offer reasons why the targets have/have not been met and what can be done to maintain or develop the service delivery item.</a:t>
            </a:r>
            <a:r>
              <a:rPr lang="en-US" sz="1200" kern="1200" dirty="0" smtClean="0">
                <a:solidFill>
                  <a:schemeClr val="tx1"/>
                </a:solidFill>
                <a:effectLst/>
                <a:ea typeface="+mn-ea"/>
                <a:cs typeface="+mn-cs"/>
              </a:rPr>
              <a:t>.</a:t>
            </a:r>
            <a:endParaRPr lang="en-US" sz="1200" kern="1200" dirty="0" smtClean="0">
              <a:solidFill>
                <a:schemeClr val="tx1"/>
              </a:solidFill>
              <a:effectLs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67080651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slide with trainees and explains the need to take action once service delivery standards have been deemed to be sub-standard. Trainer explains that some action may be immediate and relate to smaller issues whereas some action may be more significant and long term. Trainer explains that it is important that any action taken needs to be appropriate and communicated effectively.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76303497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explains that there are many different actions that can be taken to rectify service delivery failures. Trainer goes through the slide with students and asks students for examples where service delivery action has been taken in their workplace. Trainees offer ideas on how they can take action to improve sub-standard service delivery. Trainer asks what process they follow.</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77824962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introduces slide and students read through the content. Trainer asks how trainees would implement the suggested actions in the example. Trainees give other examples from their workplace and share action that they have taken to resolve the issue.</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3.7	Describe a situation where you had to take action to fix a failed service delivery situation. Discuss this with your classmates and share ideas on successful ways to address a failure.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5115510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that there are many records that need to be kept in any organisation. Records allow for information to be evaluated, comparisons to be made, and they provide evidence of stated objectives or targets. Records need to be maintained in an effective manner or they become meaningless and difficult to use. Maintaining records is an integral part of any successful organisation and developing systems that are easily accessible and comprehensive is important in any role. </a:t>
            </a:r>
          </a:p>
          <a:p>
            <a:r>
              <a:rPr lang="en-AU" sz="1200" kern="1200" dirty="0" smtClean="0">
                <a:solidFill>
                  <a:schemeClr val="tx1"/>
                </a:solidFill>
                <a:effectLst/>
                <a:latin typeface="Helvetica" pitchFamily="34" charset="0"/>
                <a:ea typeface="+mn-ea"/>
                <a:cs typeface="+mn-cs"/>
              </a:rPr>
              <a:t>Trainer asks students to read through the information in their TM and discuss with their partner.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408899273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that any record keeping system needs to be easy to use in order for it to be effective. With computer technology readily available nowadays, a filing system that uses databases or computer generated filing systems is an easy and effective option for maintaining records related to service delivery. This may be combined with a paper based system which offers back-up if the technology fails. If both paper-based and computer generated systems are used it is critical to have a system that enables both forms to updated, otherwise the system is ineffective. </a:t>
            </a:r>
          </a:p>
          <a:p>
            <a:r>
              <a:rPr lang="en-AU" sz="1200" kern="1200" dirty="0" smtClean="0">
                <a:solidFill>
                  <a:schemeClr val="tx1"/>
                </a:solidFill>
                <a:effectLst/>
                <a:latin typeface="Helvetica" pitchFamily="34" charset="0"/>
                <a:ea typeface="+mn-ea"/>
                <a:cs typeface="+mn-cs"/>
              </a:rPr>
              <a:t>It is also important to consider who and why people may need to access the records before developing a filing system. </a:t>
            </a:r>
          </a:p>
          <a:p>
            <a:r>
              <a:rPr lang="en-AU" sz="1200" kern="1200" dirty="0" smtClean="0">
                <a:solidFill>
                  <a:schemeClr val="tx1"/>
                </a:solidFill>
                <a:effectLst/>
                <a:latin typeface="Helvetica" pitchFamily="34" charset="0"/>
                <a:ea typeface="+mn-ea"/>
                <a:cs typeface="+mn-cs"/>
              </a:rPr>
              <a:t>Trainer goes through the slide with the class and students provide examples from their workplace. Trainer asks how service delivery records are maintained in their workplace. Trainer can bring examples sourced from the workplace, internet or other materials.</a:t>
            </a:r>
          </a:p>
          <a:p>
            <a:r>
              <a:rPr lang="en-AU" sz="1200" kern="1200" dirty="0" smtClean="0">
                <a:solidFill>
                  <a:schemeClr val="tx1"/>
                </a:solidFill>
                <a:effectLst/>
                <a:latin typeface="Helvetica" pitchFamily="34" charset="0"/>
                <a:ea typeface="+mn-ea"/>
                <a:cs typeface="+mn-cs"/>
              </a:rPr>
              <a:t>Trainer reminds students of work project and due date.</a:t>
            </a:r>
          </a:p>
          <a:p>
            <a:r>
              <a:rPr lang="en-AU" sz="1200" kern="1200" dirty="0" smtClean="0">
                <a:solidFill>
                  <a:schemeClr val="tx1"/>
                </a:solidFill>
                <a:effectLst/>
                <a:latin typeface="Helvetica" pitchFamily="34" charset="0"/>
                <a:ea typeface="+mn-ea"/>
                <a:cs typeface="+mn-cs"/>
              </a:rPr>
              <a:t>3.8	Bring examples of service delivery records from your workplace and show your trainer. Explain the process of maintaining the records.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149821557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the summary of the element with the class. Trainees ask any questions and trainer responds. Trainer assesses students using assessment manual questions and records answers on student assessment sheets. Trainer checks portfolios and work projects.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369417663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sz="1200" kern="1200" dirty="0" smtClean="0">
                <a:solidFill>
                  <a:schemeClr val="tx1"/>
                </a:solidFill>
                <a:effectLst/>
                <a:latin typeface="Helvetica" pitchFamily="34" charset="0"/>
                <a:ea typeface="+mn-ea"/>
                <a:cs typeface="+mn-cs"/>
              </a:rPr>
              <a:t>Trainer goes through the element performance criteria with students and outlines work projects that will be required to be completed.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38951439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AU" sz="1200" kern="1200" dirty="0" smtClean="0">
                <a:solidFill>
                  <a:schemeClr val="tx1"/>
                </a:solidFill>
                <a:effectLst/>
                <a:latin typeface="Helvetica" pitchFamily="34" charset="0"/>
                <a:ea typeface="+mn-ea"/>
                <a:cs typeface="+mn-cs"/>
              </a:rPr>
              <a:t>Trainer introduces slide and explains that planning for discussions with management are important. Trainees need to have all the relevant information, evidence and possible solutions ready to share with management. Trainer can draw upon communication ideas from below and discuss with trainees how to communicate effectively and professionally. Trainees provide examples of discussions with management and how they have approached the situation.</a:t>
            </a:r>
          </a:p>
          <a:p>
            <a:endParaRPr lang="en-AU" sz="1200" b="1" kern="1200" dirty="0" smtClean="0">
              <a:solidFill>
                <a:schemeClr val="tx1"/>
              </a:solidFill>
              <a:effectLst/>
              <a:latin typeface="Helvetica" pitchFamily="34" charset="0"/>
              <a:ea typeface="+mn-ea"/>
              <a:cs typeface="+mn-cs"/>
            </a:endParaRPr>
          </a:p>
          <a:p>
            <a:r>
              <a:rPr lang="en-AU" sz="1200" b="1" kern="1200" dirty="0" smtClean="0">
                <a:solidFill>
                  <a:schemeClr val="tx1"/>
                </a:solidFill>
                <a:effectLst/>
                <a:latin typeface="Helvetica" pitchFamily="34" charset="0"/>
                <a:ea typeface="+mn-ea"/>
                <a:cs typeface="+mn-cs"/>
              </a:rPr>
              <a:t>Oral Communications</a:t>
            </a:r>
            <a:r>
              <a:rPr lang="en-AU" sz="1200" b="1" i="1" kern="1200" dirty="0" smtClean="0">
                <a:solidFill>
                  <a:schemeClr val="tx1"/>
                </a:solidFill>
                <a:effectLst/>
                <a:latin typeface="Helvetica" pitchFamily="34" charset="0"/>
                <a:ea typeface="+mn-ea"/>
                <a:cs typeface="+mn-cs"/>
              </a:rPr>
              <a:t> </a:t>
            </a:r>
          </a:p>
          <a:p>
            <a:endParaRPr lang="en-AU" sz="1200" b="1"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People who are successful communicators take full responsibility for success in the communication process.  These people take responsibility for being certain that you understand what they are saying.  They recognise that barriers to good communications exist so they speak in simple, grammatical, and understandable terms. They also give examples, ask for feedback, put what they said previously in different words, and make it easy for you to gain the true intent of their communications.  However, this in no way frees the listener from responsibility from the process.  Without proper listening, communication does not occur.</a:t>
            </a:r>
          </a:p>
          <a:p>
            <a:endParaRPr lang="en-AU" sz="1200" b="1" kern="1200" dirty="0" smtClean="0">
              <a:solidFill>
                <a:schemeClr val="tx1"/>
              </a:solidFill>
              <a:effectLst/>
              <a:latin typeface="Helvetica" pitchFamily="34" charset="0"/>
              <a:ea typeface="+mn-ea"/>
              <a:cs typeface="+mn-cs"/>
            </a:endParaRPr>
          </a:p>
          <a:p>
            <a:r>
              <a:rPr lang="en-AU" sz="1200" b="1" kern="1200" dirty="0" smtClean="0">
                <a:solidFill>
                  <a:schemeClr val="tx1"/>
                </a:solidFill>
                <a:effectLst/>
                <a:latin typeface="Helvetica" pitchFamily="34" charset="0"/>
                <a:ea typeface="+mn-ea"/>
                <a:cs typeface="+mn-cs"/>
              </a:rPr>
              <a:t>Listening Skills</a:t>
            </a:r>
          </a:p>
          <a:p>
            <a:endParaRPr lang="en-AU" sz="1200" b="1"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Effective listening is active participation in a conversation.  It is an activity which helps the speaker become understood.  The listener must actually </a:t>
            </a:r>
            <a:r>
              <a:rPr lang="en-AU" sz="1200" i="1" kern="1200" dirty="0" smtClean="0">
                <a:solidFill>
                  <a:schemeClr val="tx1"/>
                </a:solidFill>
                <a:effectLst/>
                <a:latin typeface="Helvetica" pitchFamily="34" charset="0"/>
                <a:ea typeface="+mn-ea"/>
                <a:cs typeface="+mn-cs"/>
              </a:rPr>
              <a:t>hear</a:t>
            </a:r>
            <a:r>
              <a:rPr lang="en-AU" sz="1200" kern="1200" dirty="0" smtClean="0">
                <a:solidFill>
                  <a:schemeClr val="tx1"/>
                </a:solidFill>
                <a:effectLst/>
                <a:latin typeface="Helvetica" pitchFamily="34" charset="0"/>
                <a:ea typeface="+mn-ea"/>
                <a:cs typeface="+mn-cs"/>
              </a:rPr>
              <a:t> and not </a:t>
            </a:r>
            <a:r>
              <a:rPr lang="en-AU" sz="1200" i="1" kern="1200" dirty="0" smtClean="0">
                <a:solidFill>
                  <a:schemeClr val="tx1"/>
                </a:solidFill>
                <a:effectLst/>
                <a:latin typeface="Helvetica" pitchFamily="34" charset="0"/>
                <a:ea typeface="+mn-ea"/>
                <a:cs typeface="+mn-cs"/>
              </a:rPr>
              <a:t>assume</a:t>
            </a:r>
            <a:r>
              <a:rPr lang="en-AU" sz="1200" kern="1200" dirty="0" smtClean="0">
                <a:solidFill>
                  <a:schemeClr val="tx1"/>
                </a:solidFill>
                <a:effectLst/>
                <a:latin typeface="Helvetica" pitchFamily="34" charset="0"/>
                <a:ea typeface="+mn-ea"/>
                <a:cs typeface="+mn-cs"/>
              </a:rPr>
              <a:t> what is said.  A passive listener is attentive but does nothing to assist the speaker. Active listeners sit or stand alertly, maintain eye contact with the speaker, concentrate on the speaker’s words, make verbal responses, and summarise parts of what has been said when clarity is needed.</a:t>
            </a:r>
          </a:p>
          <a:p>
            <a:r>
              <a:rPr lang="en-AU" sz="1200" kern="1200" dirty="0" smtClean="0">
                <a:solidFill>
                  <a:schemeClr val="tx1"/>
                </a:solidFill>
                <a:effectLst/>
                <a:latin typeface="Helvetica" pitchFamily="34" charset="0"/>
                <a:ea typeface="+mn-ea"/>
                <a:cs typeface="+mn-cs"/>
              </a:rPr>
              <a:t>Because there is a difference in how fast one can speak and how fast others can listen, a time lag exists in conversations. Good listeners do not daydream during this lag; they use the time to organise what is being said and to relate to the message.  The listener must guard against distractions to the message.  The speaker’s mannerisms, accent, dress or grooming, language style, or delivery can be distracting if the listener does not learn to tune them out.  Also, listeners need to learn to avoid letting first impressions of a speaker colour their ability to hear the message.   </a:t>
            </a:r>
          </a:p>
          <a:p>
            <a:r>
              <a:rPr lang="en-AU" sz="1200" kern="1200" dirty="0" smtClean="0">
                <a:solidFill>
                  <a:schemeClr val="tx1"/>
                </a:solidFill>
                <a:effectLst/>
                <a:latin typeface="Helvetica" pitchFamily="34" charset="0"/>
                <a:ea typeface="+mn-ea"/>
                <a:cs typeface="+mn-cs"/>
              </a:rPr>
              <a:t>We cannot learn anything from others if we try to do all the talking.  Therefore, let speakers finish out their own sentences.  Don’t interrupt them to interject your own thoughts.  We need to pay attention to the tone of the words and the nonverbal cues of the speaker.  Sometimes, these things undermine the actual meanings of the words themselves.  For instance, someone might be telling you that he or she is not upset, but the tone or the body language might tell you otherwise.  </a:t>
            </a:r>
          </a:p>
          <a:p>
            <a:r>
              <a:rPr lang="en-AU" sz="1200" kern="1200" dirty="0" smtClean="0">
                <a:solidFill>
                  <a:schemeClr val="tx1"/>
                </a:solidFill>
                <a:effectLst/>
                <a:latin typeface="Helvetica" pitchFamily="34" charset="0"/>
                <a:ea typeface="+mn-ea"/>
                <a:cs typeface="+mn-cs"/>
              </a:rPr>
              <a:t>Overall, effective listening can be expressed as follows.  You should concentrate so that competing external and internal distractions are eliminated.  You should probe and reflect by asking questions to seek clarification and greater understanding.  You might ask “Is this what you mean?” or “Could you repeat that?” or “Are you saying that…?”  Finally, you should summarise (paraphrase) and feed back to the speaker what you think you have heard.  When the speaker agrees that your understanding is indeed accurate, then effective listening and effective communication have taken place.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6586769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presents slide and trainees ask any questions. Trainer asks trainees how they prepare for discussions with management and if they have been successful in sharing issues with management. What issues have they found difficult to deal with when discussing service delivery with management?</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32312181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goes through slide with trainees. Students suggest the best way to discuss issues of service delivery with management. Trainer shares examples of service delivery issues that may be brought to the attention of management such as the need for more human resources or new equipment.</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4.1	Bring an example of a meeting with management that related to service delivery improvements. This could include emails, meeting notes, action plans etc. Show your trainer and explain the situation.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422708064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explains that there may be many instances of sub-standard service delivery within an organisation but not all failures to meet standards will be significant. Many instances of not meeting delivery standards can be improved easily through discussion with team members and demonstration or further training. Some instances of failure to meet delivery standards may be more serious and could be a result of many different factors. These factors could include technology failure or inadequacies, cost issues, lack of skilled staff or rapid growth in customers. Identifying failures in service delivery standards is not something that should be avoided. Being able to identify serious issues with service delivery shows that the review system is working and it is important to address the issues as soon as possible in order to rectify them. Keeping management informed enables them to deal with any potential negative effects of the sub-standard service delivery. Management can anticipate issues that could arise and they are able to plan a strategy to deal with any impacts caused by the service delivery failure. </a:t>
            </a:r>
          </a:p>
          <a:p>
            <a:r>
              <a:rPr lang="en-AU" sz="1200" kern="1200" dirty="0" smtClean="0">
                <a:solidFill>
                  <a:schemeClr val="tx1"/>
                </a:solidFill>
                <a:effectLst/>
                <a:latin typeface="Helvetica" pitchFamily="34" charset="0"/>
                <a:ea typeface="+mn-ea"/>
                <a:cs typeface="+mn-cs"/>
              </a:rPr>
              <a:t>Students provide examples of significant service delivery failures and discuss in small groups. Trainer monitors discussion and offers input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6534600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goes through the slide content with trainees. Trainer asks if trainees have ever performed service delivery well below standard or observed this and were they required to speak to management? Trainer elicits that supporting staff in management meetings is crucial in developing strong rapport with team members and in establishing supportive organisational culture. </a:t>
            </a:r>
          </a:p>
          <a:p>
            <a:r>
              <a:rPr lang="en-AU" sz="1200" kern="1200" dirty="0" smtClean="0">
                <a:solidFill>
                  <a:schemeClr val="tx1"/>
                </a:solidFill>
                <a:effectLst/>
                <a:latin typeface="Helvetica" pitchFamily="34" charset="0"/>
                <a:ea typeface="+mn-ea"/>
                <a:cs typeface="+mn-cs"/>
              </a:rPr>
              <a:t>Trainer asks if trainees have had to complete an incident report before. </a:t>
            </a:r>
          </a:p>
          <a:p>
            <a:r>
              <a:rPr lang="en-AU" sz="1200" kern="1200" dirty="0" smtClean="0">
                <a:solidFill>
                  <a:schemeClr val="tx1"/>
                </a:solidFill>
                <a:effectLst/>
                <a:latin typeface="Helvetica" pitchFamily="34" charset="0"/>
                <a:ea typeface="+mn-ea"/>
                <a:cs typeface="+mn-cs"/>
              </a:rPr>
              <a:t>Trainer provides example of an incident report. There are many examples online freely available.</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4.2.	Describe a time when service delivery standards were not met. Write down what the situation was and how you raised the issue with management. Provide the written outline to your trainer.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40168870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explains that operational issues have a major influence on service delivery standards and identifying key operational information that relates to service delivery is an important step in the service delivery process. </a:t>
            </a:r>
          </a:p>
          <a:p>
            <a:r>
              <a:rPr lang="en-AU" sz="1200" kern="1200" dirty="0" smtClean="0">
                <a:solidFill>
                  <a:schemeClr val="tx1"/>
                </a:solidFill>
                <a:effectLst/>
                <a:latin typeface="Helvetica" pitchFamily="34" charset="0"/>
                <a:ea typeface="+mn-ea"/>
                <a:cs typeface="+mn-cs"/>
              </a:rPr>
              <a:t>Trainer asks trainees to brainstorm operational areas that can impact on service delivery: budget, scheduling, roster, annual leave/sick leave, equipment failure etc.</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1655589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explains that management need to be updated on service delivery challenges and success in order to plan for future targets. Clear communication between team members, supervisors, and management enables the organisation</a:t>
            </a:r>
            <a:br>
              <a:rPr lang="en-AU" sz="1200" kern="1200" dirty="0" smtClean="0">
                <a:solidFill>
                  <a:schemeClr val="tx1"/>
                </a:solidFill>
                <a:effectLst/>
                <a:latin typeface="Helvetica" pitchFamily="34" charset="0"/>
                <a:ea typeface="+mn-ea"/>
                <a:cs typeface="+mn-cs"/>
              </a:rPr>
            </a:br>
            <a:r>
              <a:rPr lang="en-AU" sz="1200" kern="1200" dirty="0" smtClean="0">
                <a:solidFill>
                  <a:schemeClr val="tx1"/>
                </a:solidFill>
                <a:effectLst/>
                <a:latin typeface="Helvetica" pitchFamily="34" charset="0"/>
                <a:ea typeface="+mn-ea"/>
                <a:cs typeface="+mn-cs"/>
              </a:rPr>
              <a:t>the best opportunity to reach the service delivery targets that have been set. There are many operational issues that impact on service delivery and this information</a:t>
            </a:r>
            <a:br>
              <a:rPr lang="en-AU" sz="1200" kern="1200" dirty="0" smtClean="0">
                <a:solidFill>
                  <a:schemeClr val="tx1"/>
                </a:solidFill>
                <a:effectLst/>
                <a:latin typeface="Helvetica" pitchFamily="34" charset="0"/>
                <a:ea typeface="+mn-ea"/>
                <a:cs typeface="+mn-cs"/>
              </a:rPr>
            </a:br>
            <a:r>
              <a:rPr lang="en-AU" sz="1200" kern="1200" dirty="0" smtClean="0">
                <a:solidFill>
                  <a:schemeClr val="tx1"/>
                </a:solidFill>
                <a:effectLst/>
                <a:latin typeface="Helvetica" pitchFamily="34" charset="0"/>
                <a:ea typeface="+mn-ea"/>
                <a:cs typeface="+mn-cs"/>
              </a:rPr>
              <a:t>needs to be shared with management in a timely and effective manner.</a:t>
            </a:r>
          </a:p>
          <a:p>
            <a:r>
              <a:rPr lang="en-AU" sz="1200" kern="1200" dirty="0" smtClean="0">
                <a:solidFill>
                  <a:schemeClr val="tx1"/>
                </a:solidFill>
                <a:effectLst/>
                <a:latin typeface="Helvetica" pitchFamily="34" charset="0"/>
                <a:ea typeface="+mn-ea"/>
                <a:cs typeface="+mn-cs"/>
              </a:rPr>
              <a:t>Trainees discuss issues and success they have encountered in pairs and how management dealt with the information.</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4.3.	Provide an example of operational information you have shared with management in your workplace. Show your trainer and explain what the operational information is and how it is used.</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43142453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presents slides and asks trainees to provide examples of different kinds of teams they have been a part of. Were the team structures similar to the slide examples?</a:t>
            </a:r>
          </a:p>
          <a:p>
            <a:r>
              <a:rPr lang="en-AU" sz="1200" kern="1200" dirty="0" smtClean="0">
                <a:solidFill>
                  <a:schemeClr val="tx1"/>
                </a:solidFill>
                <a:effectLst/>
                <a:latin typeface="Helvetica" pitchFamily="34" charset="0"/>
                <a:ea typeface="+mn-ea"/>
                <a:cs typeface="+mn-cs"/>
              </a:rPr>
              <a:t>Ask participants to look at the different team types and describe their service team/organisation structure.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427192990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goes through the slide with trainees and elicits the ideas of forming, norming </a:t>
            </a:r>
            <a:r>
              <a:rPr lang="en-AU" sz="1200" kern="1200" dirty="0" err="1" smtClean="0">
                <a:solidFill>
                  <a:schemeClr val="tx1"/>
                </a:solidFill>
                <a:effectLst/>
                <a:latin typeface="Helvetica" pitchFamily="34" charset="0"/>
                <a:ea typeface="+mn-ea"/>
                <a:cs typeface="+mn-cs"/>
              </a:rPr>
              <a:t>etc</a:t>
            </a:r>
            <a:r>
              <a:rPr lang="en-AU" sz="1200" kern="1200" dirty="0" smtClean="0">
                <a:solidFill>
                  <a:schemeClr val="tx1"/>
                </a:solidFill>
                <a:effectLst/>
                <a:latin typeface="Helvetica" pitchFamily="34" charset="0"/>
                <a:ea typeface="+mn-ea"/>
                <a:cs typeface="+mn-cs"/>
              </a:rPr>
              <a:t> from previous element. Trainer explains that identifying the new business activity and understanding the requirements of the activity is critical in developing an effective team to respond to the new activity or service delivery standard. </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50543480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presents slide and content to trainees. Trainer elicits that team members need to have access to support materials and training to be able to implement new service standards. Trainees need to be aware of cost factors that may impact on the service delivery item as well. </a:t>
            </a:r>
          </a:p>
          <a:p>
            <a:r>
              <a:rPr lang="en-AU" sz="1200" kern="1200" dirty="0" smtClean="0">
                <a:solidFill>
                  <a:schemeClr val="tx1"/>
                </a:solidFill>
                <a:effectLst/>
                <a:latin typeface="Helvetica" pitchFamily="34" charset="0"/>
                <a:ea typeface="+mn-ea"/>
                <a:cs typeface="+mn-cs"/>
              </a:rPr>
              <a:t>Trainer reminds trainees of work project and due date. Trainer assesses trainees using assessment manual questions.</a:t>
            </a:r>
          </a:p>
          <a:p>
            <a:r>
              <a:rPr lang="en-AU" sz="1200" kern="1200" dirty="0" smtClean="0">
                <a:solidFill>
                  <a:schemeClr val="tx1"/>
                </a:solidFill>
                <a:effectLst/>
                <a:latin typeface="Helvetica" pitchFamily="34" charset="0"/>
                <a:ea typeface="+mn-ea"/>
                <a:cs typeface="+mn-cs"/>
              </a:rPr>
              <a:t>4.4.	Outline a new service delivery standard or business activity that your team will be implementing. Write down what the new activity is, why it has been developed and describe the process that is required to implement the new standard or service activity.</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413529463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elicits concepts and ideas from the element. Trainees ask for clarification or provide extra ideas.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25785377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introduces element and explains work project requirements. </a:t>
            </a:r>
          </a:p>
          <a:p>
            <a:r>
              <a:rPr lang="en-AU" sz="1200" kern="1200" dirty="0" smtClean="0">
                <a:solidFill>
                  <a:schemeClr val="tx1"/>
                </a:solidFill>
                <a:effectLst/>
                <a:latin typeface="Helvetica" pitchFamily="34" charset="0"/>
                <a:ea typeface="+mn-ea"/>
                <a:cs typeface="+mn-cs"/>
              </a:rPr>
              <a:t>Trainer can introduce a leadership questionnaire as a warm-up activity. </a:t>
            </a:r>
          </a:p>
          <a:p>
            <a:r>
              <a:rPr lang="en-AU" sz="1200" kern="1200" dirty="0" smtClean="0">
                <a:solidFill>
                  <a:schemeClr val="tx1"/>
                </a:solidFill>
                <a:effectLst/>
                <a:latin typeface="Helvetica" pitchFamily="34" charset="0"/>
                <a:ea typeface="+mn-ea"/>
                <a:cs typeface="+mn-cs"/>
              </a:rPr>
              <a:t>There are many available online: </a:t>
            </a:r>
            <a:r>
              <a:rPr lang="en-AU" sz="1200" u="none" kern="1200" dirty="0" smtClean="0">
                <a:solidFill>
                  <a:srgbClr val="0000FF"/>
                </a:solidFill>
                <a:effectLst/>
                <a:latin typeface="Helvetica" pitchFamily="34" charset="0"/>
                <a:ea typeface="+mn-ea"/>
                <a:cs typeface="+mn-cs"/>
              </a:rPr>
              <a:t>http://www.sagepub.com/northouseintro2e/study/resources/questionnaires/89527_03q.pdf </a:t>
            </a:r>
            <a:endParaRPr lang="en-AU" u="none" dirty="0">
              <a:solidFill>
                <a:srgbClr val="0000FF"/>
              </a:solidFill>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102725376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can explore learning styles and ask trainees to identify their dominant learning styles. Ask, how can this affect team leadership and interpreting service delivery standards? Answer: through identification of team member strengths and weaknesses.</a:t>
            </a:r>
          </a:p>
          <a:p>
            <a:r>
              <a:rPr lang="en-AU" sz="1200" u="sng" kern="1200" dirty="0" smtClean="0">
                <a:solidFill>
                  <a:schemeClr val="tx1"/>
                </a:solidFill>
                <a:effectLst/>
                <a:latin typeface="Helvetica" pitchFamily="34" charset="0"/>
                <a:ea typeface="+mn-ea"/>
                <a:cs typeface="+mn-cs"/>
                <a:hlinkClick r:id="rId3"/>
              </a:rPr>
              <a:t>http://www.educationplanner.org/students/self-assessments/learning-styles.shtml</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Trainer brings/or asks trainees to bring in some examples of service delivery standards and asks trainees to identify the most important parts or aspects of the procedures. Trainees discuss how they would interpret the standards for training team members.</a:t>
            </a:r>
          </a:p>
          <a:p>
            <a:r>
              <a:rPr lang="en-AU" sz="1200" kern="1200" dirty="0" smtClean="0">
                <a:solidFill>
                  <a:schemeClr val="tx1"/>
                </a:solidFill>
                <a:effectLst/>
                <a:latin typeface="Helvetica" pitchFamily="34" charset="0"/>
                <a:ea typeface="+mn-ea"/>
                <a:cs typeface="+mn-cs"/>
              </a:rPr>
              <a:t>Trainees read through example in TM.</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5.1	Provide an example of a service standard or operating procedure and explain how you would present the item to your team. You could provide a lesson plan, a video of you delivering a training session, a power point presentation or a verbal explanation to your trainer.</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138301304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presents the slide and explains that continual improvement is a necessary part of service delivery. With so many changes in the workplace environment it is necessary to identify areas for improvement constantly.</a:t>
            </a:r>
          </a:p>
          <a:p>
            <a:r>
              <a:rPr lang="en-AU" sz="1200" kern="1200" dirty="0" smtClean="0">
                <a:solidFill>
                  <a:schemeClr val="tx1"/>
                </a:solidFill>
                <a:effectLst/>
                <a:latin typeface="Helvetica" pitchFamily="34" charset="0"/>
                <a:ea typeface="+mn-ea"/>
                <a:cs typeface="+mn-cs"/>
              </a:rPr>
              <a:t>Trainer asks students to identify any ideas that they have suggested to improve service delivery in their workplace. Trainees discuss with the class.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21160281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uses the slide and TM information to explain ways to implement suggestions and improvements for service delivery. Trainees identify aspects of improvement that they have seen or implemented in the workplace. Trainees discuss in small groups service teams that they have been involved with that were successful or unsuccessful at implementing improvements. How do trainees support other team members in implementing improvements to service delivery?</a:t>
            </a:r>
          </a:p>
          <a:p>
            <a:r>
              <a:rPr lang="en-AU" sz="1200" kern="1200" dirty="0" smtClean="0">
                <a:solidFill>
                  <a:schemeClr val="tx1"/>
                </a:solidFill>
                <a:effectLst/>
                <a:latin typeface="Helvetica" pitchFamily="34" charset="0"/>
                <a:ea typeface="+mn-ea"/>
                <a:cs typeface="+mn-cs"/>
              </a:rPr>
              <a:t>Trainer reminds trainee of work project and due date.</a:t>
            </a:r>
          </a:p>
          <a:p>
            <a:r>
              <a:rPr lang="en-AU" sz="1200" kern="1200" dirty="0" smtClean="0">
                <a:solidFill>
                  <a:schemeClr val="tx1"/>
                </a:solidFill>
                <a:effectLst/>
                <a:latin typeface="Helvetica" pitchFamily="34" charset="0"/>
                <a:ea typeface="+mn-ea"/>
                <a:cs typeface="+mn-cs"/>
              </a:rPr>
              <a:t>5.2.	Provide your trainer with three examples of information or materials that you have researched from the internet, competitor service delivery, industry magazines, industry associations or internal feedback surveys, which have assisted in improving service delivery within your service team.</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35902726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explains that in order to effectively allocate service delivery tasks to team members, there must be a good understanding of individual members’ skills and attributes. Some team members may enjoy doing certain service delivery than others so it is important to match the team member to the service delivery task that they enjoy, are good at, or want to try. Sometimes it is an effective strategy to change team member service delivery tasks in order to motivate them and challenge them.</a:t>
            </a:r>
          </a:p>
          <a:p>
            <a:r>
              <a:rPr lang="en-AU" sz="1200" kern="1200" dirty="0" smtClean="0">
                <a:solidFill>
                  <a:schemeClr val="tx1"/>
                </a:solidFill>
                <a:effectLst/>
                <a:latin typeface="Helvetica" pitchFamily="34" charset="0"/>
                <a:ea typeface="+mn-ea"/>
                <a:cs typeface="+mn-cs"/>
              </a:rPr>
              <a:t>Trainer presents slide to the class and trainees discuss how teams are allocated service delivery tasks in their organisations.</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5.3.	Provide an example of a spread sheet that shows service delivery activities designated for service team members. This could be a roster, schedule or training/skills matrix.</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6911806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explains that communication is an integral part of any successful team and it is important to advise team members when changes occur to service delivery standards or targets. Changes to service delivery standards may require extra training and this would have to be arranged as well. The most important task is to ensure that all staff members affected are aware of the changes in order for the team to be able to continue to deliver service at the required standard. </a:t>
            </a:r>
          </a:p>
          <a:p>
            <a:r>
              <a:rPr lang="en-AU" sz="1200" kern="1200" dirty="0" smtClean="0">
                <a:solidFill>
                  <a:schemeClr val="tx1"/>
                </a:solidFill>
                <a:effectLst/>
                <a:latin typeface="Helvetica" pitchFamily="34" charset="0"/>
                <a:ea typeface="+mn-ea"/>
                <a:cs typeface="+mn-cs"/>
              </a:rPr>
              <a:t>Trainees brainstorm how changes to service standards are communicated in their workplace.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201259464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goes through the slide with trainees and asks them to identify the most useful ways of communication changes. Students discuss their ideas regarding communication and provide examples of both effective and ineffective communication. </a:t>
            </a:r>
          </a:p>
          <a:p>
            <a:r>
              <a:rPr lang="en-AU" sz="1200" kern="1200" dirty="0" smtClean="0">
                <a:solidFill>
                  <a:schemeClr val="tx1"/>
                </a:solidFill>
                <a:effectLst/>
                <a:latin typeface="Helvetica" pitchFamily="34" charset="0"/>
                <a:ea typeface="+mn-ea"/>
                <a:cs typeface="+mn-cs"/>
              </a:rPr>
              <a:t>Trainer could play ‘Chinese Whispers’ where a sentence is given to one trainee and whispered in another trainee’s ear and repeated to other group members. The idea is to show how difficult oral communication can be.</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5.4.	Provide an example of a memo, email or meeting agenda which outlines changes to service delivery standards.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317752583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introduces the slide. Trainer asks students how they feel when they receive negative feedback from a customer or staff member. Students discuss in pairs and share with the class. </a:t>
            </a:r>
          </a:p>
          <a:p>
            <a:r>
              <a:rPr lang="en-AU" sz="1200" kern="1200" dirty="0" smtClean="0">
                <a:solidFill>
                  <a:schemeClr val="tx1"/>
                </a:solidFill>
                <a:effectLst/>
                <a:latin typeface="Helvetica" pitchFamily="34" charset="0"/>
                <a:ea typeface="+mn-ea"/>
                <a:cs typeface="+mn-cs"/>
              </a:rPr>
              <a:t>Trainer asks trainees to write down different forms of feedback that can be given or received in the workplace.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243005748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presents the slide and asks students to discuss feedback they have received that corresponds to examples from the slide.</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369297805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asks trainees to describe feedback opportunities in their workplace. How do they receive complaints or compliments? Is there a reward and recognition program?</a:t>
            </a:r>
          </a:p>
          <a:p>
            <a:r>
              <a:rPr lang="en-AU" sz="1200" kern="1200" dirty="0" smtClean="0">
                <a:solidFill>
                  <a:schemeClr val="tx1"/>
                </a:solidFill>
                <a:effectLst/>
                <a:latin typeface="Helvetica" pitchFamily="34" charset="0"/>
                <a:ea typeface="+mn-ea"/>
                <a:cs typeface="+mn-cs"/>
              </a:rPr>
              <a:t>There are many examples of feedback techniques online. Trainer can select and introduce to the class: </a:t>
            </a:r>
            <a:r>
              <a:rPr lang="en-AU" sz="1200" u="sng" kern="1200" dirty="0" smtClean="0">
                <a:solidFill>
                  <a:schemeClr val="tx1"/>
                </a:solidFill>
                <a:effectLst/>
                <a:latin typeface="Helvetica" pitchFamily="34" charset="0"/>
                <a:ea typeface="+mn-ea"/>
                <a:cs typeface="+mn-cs"/>
              </a:rPr>
              <a:t>https://www.cabrillo.edu/services/jobs/pdfs/giving-feedback.pdf</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5.5	Outline and demonstrate to your trainer an example of when you have provided feedback to a team member about their service delivery performance. Explain what the feedback was, how you delivered the feedback and the response from the team member.</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30191075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explains that in order to obtain honest feedback from team members, it is important to make sure that team members feel confident that their feedback will be listened to and respected otherwise they will not feel comfortable to share their ideas. It is important to encourage a feedback culture within service delivery teams, where team members are able to openly provide feedback about service delivery issues. This can be encouraged through: </a:t>
            </a:r>
          </a:p>
          <a:p>
            <a:pPr lvl="0"/>
            <a:r>
              <a:rPr lang="en-AU" sz="1200" kern="1200" dirty="0" smtClean="0">
                <a:solidFill>
                  <a:schemeClr val="tx1"/>
                </a:solidFill>
                <a:effectLst/>
                <a:latin typeface="Helvetica" pitchFamily="34" charset="0"/>
                <a:ea typeface="+mn-ea"/>
                <a:cs typeface="+mn-cs"/>
              </a:rPr>
              <a:t>Organising regular meetings where team members can share ideas, issues and information pertaining to their job tasks</a:t>
            </a:r>
          </a:p>
          <a:p>
            <a:pPr lvl="0"/>
            <a:r>
              <a:rPr lang="en-AU" sz="1200" kern="1200" dirty="0" smtClean="0">
                <a:solidFill>
                  <a:schemeClr val="tx1"/>
                </a:solidFill>
                <a:effectLst/>
                <a:latin typeface="Helvetica" pitchFamily="34" charset="0"/>
                <a:ea typeface="+mn-ea"/>
                <a:cs typeface="+mn-cs"/>
              </a:rPr>
              <a:t>Showing staff that their feedback is important and respected whether it is negative or positive</a:t>
            </a:r>
          </a:p>
          <a:p>
            <a:pPr lvl="0"/>
            <a:r>
              <a:rPr lang="en-AU" sz="1200" kern="1200" dirty="0" smtClean="0">
                <a:solidFill>
                  <a:schemeClr val="tx1"/>
                </a:solidFill>
                <a:effectLst/>
                <a:latin typeface="Helvetica" pitchFamily="34" charset="0"/>
                <a:ea typeface="+mn-ea"/>
                <a:cs typeface="+mn-cs"/>
              </a:rPr>
              <a:t>Acting upon feedback received and communicating any actions taken to team members</a:t>
            </a:r>
          </a:p>
          <a:p>
            <a:r>
              <a:rPr lang="en-AU" sz="1200" kern="1200" dirty="0" smtClean="0">
                <a:solidFill>
                  <a:schemeClr val="tx1"/>
                </a:solidFill>
                <a:effectLst/>
                <a:latin typeface="Helvetica" pitchFamily="34" charset="0"/>
                <a:ea typeface="+mn-ea"/>
                <a:cs typeface="+mn-cs"/>
              </a:rPr>
              <a:t>Taking feedback to management and supporting team member contributions.</a:t>
            </a:r>
            <a:endParaRPr lang="en-US"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ffectLst/>
                <a:latin typeface="Helvetica" pitchFamily="34" charset="0"/>
                <a:ea typeface="+mn-ea"/>
                <a:cs typeface="+mn-cs"/>
              </a:rPr>
              <a:t>Trainer presents slides and trainees decide which are the most important points in giving feedback. Trainees discuss examples when they have provided feedback about service delivery in the workplace or as a customer. What are some potential challenges when providing feedback?</a:t>
            </a: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5.6	Provide your trainer with three examples of feedback collected from team members regarding service delivery. These could be emails, letters, notes, records of discussions or meeting notes.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AU" sz="1200" kern="1200" dirty="0" smtClean="0">
                <a:solidFill>
                  <a:schemeClr val="tx1"/>
                </a:solidFill>
                <a:effectLst/>
                <a:latin typeface="Helvetica" pitchFamily="34" charset="0"/>
                <a:ea typeface="+mn-ea"/>
                <a:cs typeface="+mn-cs"/>
              </a:rPr>
              <a:t>Trainer presents the slide and asks students to discuss in small groups problems that they have experienced in service delivery and what they did to address the issues.</a:t>
            </a:r>
          </a:p>
          <a:p>
            <a:r>
              <a:rPr lang="en-AU" sz="1200" kern="1200" dirty="0" smtClean="0">
                <a:solidFill>
                  <a:schemeClr val="tx1"/>
                </a:solidFill>
                <a:effectLst/>
                <a:latin typeface="Helvetica" pitchFamily="34" charset="0"/>
                <a:ea typeface="+mn-ea"/>
                <a:cs typeface="+mn-cs"/>
              </a:rPr>
              <a:t>Could they solve the problem on their own or did they need support?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kern="1200" dirty="0" smtClean="0">
                <a:solidFill>
                  <a:schemeClr val="tx1"/>
                </a:solidFill>
                <a:effectLst/>
                <a:latin typeface="Helvetica" pitchFamily="34" charset="0"/>
                <a:ea typeface="+mn-ea"/>
                <a:cs typeface="+mn-cs"/>
              </a:rPr>
              <a:t>Trainer presents the problem solving process and trainees describe if they follow a similar process. Trainer can bring or ask trainees for examples of problems and other trainees describe how they would solve them.</a:t>
            </a:r>
          </a:p>
          <a:p>
            <a:r>
              <a:rPr lang="en-AU" sz="1200" kern="1200" dirty="0" smtClean="0">
                <a:solidFill>
                  <a:schemeClr val="tx1"/>
                </a:solidFill>
                <a:effectLst/>
                <a:latin typeface="Helvetica" pitchFamily="34" charset="0"/>
                <a:ea typeface="+mn-ea"/>
                <a:cs typeface="+mn-cs"/>
              </a:rPr>
              <a:t>Trainer presents some problem-solving activities for the class: there are some good examples online such as: </a:t>
            </a:r>
            <a:r>
              <a:rPr lang="en-AU" sz="1200" u="sng" kern="1200" dirty="0" smtClean="0">
                <a:solidFill>
                  <a:schemeClr val="tx1"/>
                </a:solidFill>
                <a:effectLst/>
                <a:latin typeface="Helvetica" pitchFamily="34" charset="0"/>
                <a:ea typeface="+mn-ea"/>
                <a:cs typeface="+mn-cs"/>
                <a:hlinkClick r:id="rId3"/>
              </a:rPr>
              <a:t>http://www.learningforlife.org/exploring-resources/99-720/x09.pdf</a:t>
            </a:r>
            <a:endParaRPr lang="en-AU" sz="1200" kern="1200" dirty="0" smtClean="0">
              <a:solidFill>
                <a:schemeClr val="tx1"/>
              </a:solidFill>
              <a:effectLst/>
              <a:latin typeface="Helvetica" pitchFamily="34" charset="0"/>
              <a:ea typeface="+mn-ea"/>
              <a:cs typeface="+mn-cs"/>
            </a:endParaRPr>
          </a:p>
          <a:p>
            <a:r>
              <a:rPr lang="en-AU" sz="1200" kern="1200" dirty="0" smtClean="0">
                <a:solidFill>
                  <a:schemeClr val="tx1"/>
                </a:solidFill>
                <a:effectLst/>
                <a:latin typeface="Helvetica" pitchFamily="34" charset="0"/>
                <a:ea typeface="+mn-ea"/>
                <a:cs typeface="+mn-cs"/>
              </a:rPr>
              <a:t>Trainer reminds trainees of work project and due date.</a:t>
            </a:r>
          </a:p>
          <a:p>
            <a:r>
              <a:rPr lang="en-AU" sz="1200" kern="1200" dirty="0" smtClean="0">
                <a:solidFill>
                  <a:schemeClr val="tx1"/>
                </a:solidFill>
                <a:effectLst/>
                <a:latin typeface="Helvetica" pitchFamily="34" charset="0"/>
                <a:ea typeface="+mn-ea"/>
                <a:cs typeface="+mn-cs"/>
              </a:rPr>
              <a:t>5.7	Provide your trainer with two examples of routine problems that you dealt with at your workplace. </a:t>
            </a:r>
            <a:r>
              <a:rPr lang="en-AU" sz="1200" kern="1200" smtClean="0">
                <a:solidFill>
                  <a:schemeClr val="tx1"/>
                </a:solidFill>
                <a:effectLst/>
                <a:latin typeface="Helvetica" pitchFamily="34" charset="0"/>
                <a:ea typeface="+mn-ea"/>
                <a:cs typeface="+mn-cs"/>
              </a:rPr>
              <a:t>Outline the process you employed to deal with the problems and the result of any actions taken.</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2836909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1/27/2015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1/27/2015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1/27/2015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1/27/2015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1/27/2015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1/27/2015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1/27/2015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7.emf"/><Relationship Id="rId4" Type="http://schemas.openxmlformats.org/officeDocument/2006/relationships/package" Target="../embeddings/Microsoft_Word_Document1.docx"/></Relationships>
</file>

<file path=ppt/slides/_rels/slide38.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332656"/>
            <a:ext cx="7488160" cy="936104"/>
          </a:xfrm>
        </p:spPr>
        <p:txBody>
          <a:bodyPr>
            <a:normAutofit fontScale="90000"/>
          </a:bodyPr>
          <a:lstStyle/>
          <a:p>
            <a:r>
              <a:rPr lang="en-AU" sz="4000" dirty="0">
                <a:ln w="5000" cmpd="sng">
                  <a:noFill/>
                  <a:prstDash val="solid"/>
                </a:ln>
                <a:solidFill>
                  <a:srgbClr val="FF6600"/>
                </a:solidFill>
                <a:latin typeface="Helvetica" pitchFamily="34" charset="0"/>
              </a:rPr>
              <a:t>BUILD AND MAINTAIN A TEAM APPROACH TO SERVICE DELIVERY</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17361" y="2310466"/>
            <a:ext cx="5466807" cy="399885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991172" y="2275162"/>
            <a:ext cx="2541268" cy="289742"/>
          </a:xfrm>
        </p:spPr>
        <p:txBody>
          <a:bodyPr>
            <a:normAutofit lnSpcReduction="10000"/>
          </a:bodyPr>
          <a:lstStyle/>
          <a:p>
            <a:r>
              <a:rPr lang="en-AU" b="1" dirty="0">
                <a:latin typeface="Helvetica" pitchFamily="34" charset="0"/>
              </a:rPr>
              <a:t>D2.TCS.CL5.03</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Unit outline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Elements:</a:t>
            </a:r>
          </a:p>
          <a:p>
            <a:pPr marL="457200" indent="-457200">
              <a:spcBef>
                <a:spcPts val="600"/>
              </a:spcBef>
              <a:spcAft>
                <a:spcPts val="1200"/>
              </a:spcAft>
              <a:buSzPct val="95000"/>
              <a:buFont typeface="+mj-lt"/>
              <a:buAutoNum type="arabicPeriod"/>
            </a:pPr>
            <a:r>
              <a:rPr lang="en-US" sz="2200" dirty="0" smtClean="0">
                <a:latin typeface="Helvetica" pitchFamily="34" charset="0"/>
              </a:rPr>
              <a:t>Develop service standards</a:t>
            </a:r>
          </a:p>
          <a:p>
            <a:pPr marL="457200" indent="-457200">
              <a:spcBef>
                <a:spcPts val="600"/>
              </a:spcBef>
              <a:spcAft>
                <a:spcPts val="1200"/>
              </a:spcAft>
              <a:buSzPct val="95000"/>
              <a:buFont typeface="+mj-lt"/>
              <a:buAutoNum type="arabicPeriod"/>
            </a:pPr>
            <a:r>
              <a:rPr lang="en-US" sz="2200" dirty="0" smtClean="0">
                <a:latin typeface="Helvetica" pitchFamily="34" charset="0"/>
              </a:rPr>
              <a:t>Establish service teams</a:t>
            </a:r>
          </a:p>
          <a:p>
            <a:pPr marL="457200" indent="-457200">
              <a:spcBef>
                <a:spcPts val="600"/>
              </a:spcBef>
              <a:spcAft>
                <a:spcPts val="1200"/>
              </a:spcAft>
              <a:buSzPct val="95000"/>
              <a:buFont typeface="+mj-lt"/>
              <a:buAutoNum type="arabicPeriod"/>
            </a:pPr>
            <a:r>
              <a:rPr lang="en-US" sz="2200" dirty="0" smtClean="0">
                <a:latin typeface="Helvetica" pitchFamily="34" charset="0"/>
              </a:rPr>
              <a:t>Work to improve service</a:t>
            </a:r>
          </a:p>
          <a:p>
            <a:pPr marL="457200" indent="-457200">
              <a:spcBef>
                <a:spcPts val="600"/>
              </a:spcBef>
              <a:spcAft>
                <a:spcPts val="1200"/>
              </a:spcAft>
              <a:buSzPct val="95000"/>
              <a:buFont typeface="+mj-lt"/>
              <a:buAutoNum type="arabicPeriod"/>
            </a:pPr>
            <a:r>
              <a:rPr lang="en-US" sz="2200" dirty="0" smtClean="0">
                <a:latin typeface="Helvetica" pitchFamily="34" charset="0"/>
              </a:rPr>
              <a:t>Liaise with management regarding service delivery</a:t>
            </a:r>
          </a:p>
          <a:p>
            <a:pPr marL="457200" indent="-457200">
              <a:spcBef>
                <a:spcPts val="600"/>
              </a:spcBef>
              <a:spcAft>
                <a:spcPts val="1200"/>
              </a:spcAft>
              <a:buSzPct val="95000"/>
              <a:buFont typeface="+mj-lt"/>
              <a:buAutoNum type="arabicPeriod"/>
            </a:pPr>
            <a:r>
              <a:rPr lang="en-US" sz="2200" dirty="0" smtClean="0">
                <a:latin typeface="Helvetica" pitchFamily="34" charset="0"/>
              </a:rPr>
              <a:t>Lead service delivery team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6" name="Picture 2" descr="C:\Documents and Settings\Godaishu\Desktop\PHOTOS\2014\Shutterstock 25-a-day\shutterstock_175357634.jpg"/>
          <p:cNvPicPr>
            <a:picLocks noChangeAspect="1" noChangeArrowheads="1"/>
          </p:cNvPicPr>
          <p:nvPr/>
        </p:nvPicPr>
        <p:blipFill>
          <a:blip r:embed="rId3" cstate="print"/>
          <a:srcRect/>
          <a:stretch>
            <a:fillRect/>
          </a:stretch>
        </p:blipFill>
        <p:spPr bwMode="auto">
          <a:xfrm>
            <a:off x="5486400" y="1600200"/>
            <a:ext cx="2305579" cy="2012578"/>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Develop service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932240" cy="4844008"/>
          </a:xfrm>
        </p:spPr>
        <p:txBody>
          <a:bodyPr>
            <a:normAutofit fontScale="85000" lnSpcReduction="10000"/>
          </a:bodyPr>
          <a:lstStyle/>
          <a:p>
            <a:pPr marL="0" indent="0">
              <a:spcBef>
                <a:spcPts val="600"/>
              </a:spcBef>
              <a:spcAft>
                <a:spcPts val="1200"/>
              </a:spcAft>
              <a:buNone/>
            </a:pPr>
            <a:r>
              <a:rPr lang="en-US" sz="2200" b="1" dirty="0" smtClean="0">
                <a:latin typeface="Helvetica"/>
              </a:rPr>
              <a:t>Performance Criteria:</a:t>
            </a:r>
          </a:p>
          <a:p>
            <a:pPr marL="36576" indent="0">
              <a:lnSpc>
                <a:spcPct val="110000"/>
              </a:lnSpc>
              <a:spcBef>
                <a:spcPts val="600"/>
              </a:spcBef>
              <a:spcAft>
                <a:spcPts val="1200"/>
              </a:spcAft>
              <a:buNone/>
            </a:pPr>
            <a:r>
              <a:rPr lang="en-AU" sz="2400" dirty="0">
                <a:solidFill>
                  <a:srgbClr val="92D050"/>
                </a:solidFill>
                <a:latin typeface="Helvetica"/>
              </a:rPr>
              <a:t>1.1</a:t>
            </a:r>
            <a:r>
              <a:rPr lang="en-AU" sz="2400" dirty="0">
                <a:latin typeface="Helvetica"/>
              </a:rPr>
              <a:t>	Identify the internal and external factors </a:t>
            </a:r>
            <a:r>
              <a:rPr lang="en-AU" sz="2400" dirty="0" smtClean="0">
                <a:latin typeface="Helvetica"/>
              </a:rPr>
              <a:t>	impacting 	on the </a:t>
            </a:r>
            <a:r>
              <a:rPr lang="en-AU" sz="2400" dirty="0">
                <a:latin typeface="Helvetica"/>
              </a:rPr>
              <a:t>level of customer service </a:t>
            </a:r>
            <a:r>
              <a:rPr lang="en-AU" sz="2400" dirty="0" smtClean="0">
                <a:latin typeface="Helvetica"/>
              </a:rPr>
              <a:t>to be provided</a:t>
            </a:r>
            <a:endParaRPr lang="en-US" sz="2400" dirty="0">
              <a:latin typeface="Helvetica"/>
            </a:endParaRPr>
          </a:p>
          <a:p>
            <a:pPr marL="36576" indent="0">
              <a:lnSpc>
                <a:spcPct val="110000"/>
              </a:lnSpc>
              <a:spcBef>
                <a:spcPts val="600"/>
              </a:spcBef>
              <a:spcAft>
                <a:spcPts val="1200"/>
              </a:spcAft>
              <a:buNone/>
            </a:pPr>
            <a:r>
              <a:rPr lang="en-AU" sz="2400" dirty="0">
                <a:solidFill>
                  <a:srgbClr val="92D050"/>
                </a:solidFill>
                <a:latin typeface="Helvetica"/>
              </a:rPr>
              <a:t>1.2</a:t>
            </a:r>
            <a:r>
              <a:rPr lang="en-AU" sz="2400" dirty="0">
                <a:latin typeface="Helvetica"/>
              </a:rPr>
              <a:t>	Research customer expectations and opinions  </a:t>
            </a:r>
            <a:r>
              <a:rPr lang="en-AU" sz="2400" dirty="0" smtClean="0">
                <a:latin typeface="Helvetica"/>
              </a:rPr>
              <a:t> 	regarding </a:t>
            </a:r>
            <a:r>
              <a:rPr lang="en-AU" sz="2400" dirty="0">
                <a:latin typeface="Helvetica"/>
              </a:rPr>
              <a:t>current level, and expected level, </a:t>
            </a:r>
            <a:r>
              <a:rPr lang="en-AU" sz="2400" dirty="0" smtClean="0">
                <a:latin typeface="Helvetica"/>
              </a:rPr>
              <a:t>of 	service 	delivery</a:t>
            </a:r>
            <a:endParaRPr lang="en-US" sz="2400" dirty="0">
              <a:latin typeface="Helvetica"/>
            </a:endParaRPr>
          </a:p>
          <a:p>
            <a:pPr marL="36576" indent="0">
              <a:lnSpc>
                <a:spcPct val="110000"/>
              </a:lnSpc>
              <a:spcBef>
                <a:spcPts val="600"/>
              </a:spcBef>
              <a:spcAft>
                <a:spcPts val="1200"/>
              </a:spcAft>
              <a:buNone/>
            </a:pPr>
            <a:r>
              <a:rPr lang="en-AU" sz="2400" dirty="0">
                <a:solidFill>
                  <a:srgbClr val="92D050"/>
                </a:solidFill>
                <a:latin typeface="Helvetica"/>
              </a:rPr>
              <a:t>1.3</a:t>
            </a:r>
            <a:r>
              <a:rPr lang="en-AU" sz="2400" dirty="0">
                <a:latin typeface="Helvetica"/>
              </a:rPr>
              <a:t>	Integrate research findings into draft service </a:t>
            </a:r>
            <a:r>
              <a:rPr lang="en-AU" sz="2400" dirty="0" smtClean="0">
                <a:latin typeface="Helvetica"/>
              </a:rPr>
              <a:t>	standards </a:t>
            </a:r>
            <a:endParaRPr lang="en-US" sz="2400" dirty="0">
              <a:latin typeface="Helvetica"/>
            </a:endParaRPr>
          </a:p>
          <a:p>
            <a:pPr marL="36576" indent="0">
              <a:lnSpc>
                <a:spcPct val="110000"/>
              </a:lnSpc>
              <a:spcBef>
                <a:spcPts val="600"/>
              </a:spcBef>
              <a:spcAft>
                <a:spcPts val="1200"/>
              </a:spcAft>
              <a:buNone/>
            </a:pPr>
            <a:r>
              <a:rPr lang="en-AU" sz="2400" dirty="0">
                <a:solidFill>
                  <a:srgbClr val="92D050"/>
                </a:solidFill>
                <a:latin typeface="Helvetica"/>
              </a:rPr>
              <a:t>1.4</a:t>
            </a:r>
            <a:r>
              <a:rPr lang="en-AU" sz="2400" dirty="0">
                <a:latin typeface="Helvetica"/>
              </a:rPr>
              <a:t>	Liaise with management to ratify service </a:t>
            </a:r>
            <a:r>
              <a:rPr lang="en-AU" sz="2400" dirty="0" smtClean="0">
                <a:latin typeface="Helvetica"/>
              </a:rPr>
              <a:t>	standards </a:t>
            </a:r>
            <a:endParaRPr lang="en-US" sz="2400" dirty="0">
              <a:latin typeface="Helvetica"/>
            </a:endParaRPr>
          </a:p>
          <a:p>
            <a:pPr marL="36576" indent="0">
              <a:lnSpc>
                <a:spcPct val="110000"/>
              </a:lnSpc>
              <a:spcBef>
                <a:spcPts val="600"/>
              </a:spcBef>
              <a:spcAft>
                <a:spcPts val="1200"/>
              </a:spcAft>
              <a:buNone/>
            </a:pPr>
            <a:r>
              <a:rPr lang="en-AU" sz="2400" dirty="0">
                <a:solidFill>
                  <a:srgbClr val="92D050"/>
                </a:solidFill>
                <a:latin typeface="Helvetica"/>
              </a:rPr>
              <a:t>1.5</a:t>
            </a:r>
            <a:r>
              <a:rPr lang="en-AU" sz="2400" dirty="0">
                <a:latin typeface="Helvetica"/>
              </a:rPr>
              <a:t>	Produce written service standards for team use </a:t>
            </a:r>
            <a:endParaRPr lang="en-US" sz="2400" dirty="0">
              <a:latin typeface="Helvetica"/>
            </a:endParaRPr>
          </a:p>
          <a:p>
            <a:pPr marL="0" indent="0">
              <a:spcBef>
                <a:spcPts val="600"/>
              </a:spcBef>
              <a:spcAft>
                <a:spcPts val="1200"/>
              </a:spcAft>
              <a:buNone/>
            </a:pP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2" descr="C:\Documents and Settings\Godaishu\Desktop\PHOTOS\2014\Shutterstock 25-a-day\shutterstock_179245358.jpg"/>
          <p:cNvPicPr>
            <a:picLocks noChangeAspect="1" noChangeArrowheads="1"/>
          </p:cNvPicPr>
          <p:nvPr/>
        </p:nvPicPr>
        <p:blipFill>
          <a:blip r:embed="rId3" cstate="print"/>
          <a:srcRect/>
          <a:stretch>
            <a:fillRect/>
          </a:stretch>
        </p:blipFill>
        <p:spPr bwMode="auto">
          <a:xfrm>
            <a:off x="6858000" y="3657600"/>
            <a:ext cx="1967756" cy="1312861"/>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533400"/>
            <a:ext cx="7389440" cy="1143000"/>
          </a:xfrm>
        </p:spPr>
        <p:txBody>
          <a:bodyPr>
            <a:noAutofit/>
          </a:bodyPr>
          <a:lstStyle/>
          <a:p>
            <a:r>
              <a:rPr lang="en-US" sz="2600" b="1" dirty="0">
                <a:solidFill>
                  <a:srgbClr val="FF6600"/>
                </a:solidFill>
                <a:latin typeface="Helvetica" pitchFamily="34" charset="0"/>
              </a:rPr>
              <a:t>1.1 </a:t>
            </a:r>
            <a:r>
              <a:rPr lang="en-US" sz="2600" b="1" dirty="0" smtClean="0">
                <a:solidFill>
                  <a:srgbClr val="FF6600"/>
                </a:solidFill>
                <a:latin typeface="Helvetica" pitchFamily="34" charset="0"/>
              </a:rPr>
              <a:t>	Identify </a:t>
            </a:r>
            <a:r>
              <a:rPr lang="en-US" sz="2600" b="1" dirty="0">
                <a:solidFill>
                  <a:srgbClr val="FF6600"/>
                </a:solidFill>
                <a:latin typeface="Helvetica" pitchFamily="34" charset="0"/>
              </a:rPr>
              <a:t>the internal and external </a:t>
            </a:r>
            <a:r>
              <a:rPr lang="en-US" sz="2600" b="1" dirty="0" smtClean="0">
                <a:solidFill>
                  <a:srgbClr val="FF6600"/>
                </a:solidFill>
                <a:latin typeface="Helvetica" pitchFamily="34" charset="0"/>
              </a:rPr>
              <a:t>	factors impacting on </a:t>
            </a:r>
            <a:r>
              <a:rPr lang="en-US" sz="2600" b="1" dirty="0">
                <a:solidFill>
                  <a:srgbClr val="FF6600"/>
                </a:solidFill>
                <a:latin typeface="Helvetica" pitchFamily="34" charset="0"/>
              </a:rPr>
              <a:t>the level of </a:t>
            </a:r>
            <a:r>
              <a:rPr lang="en-US" sz="2600" b="1" dirty="0" smtClean="0">
                <a:solidFill>
                  <a:srgbClr val="FF6600"/>
                </a:solidFill>
                <a:latin typeface="Helvetica" pitchFamily="34" charset="0"/>
              </a:rPr>
              <a:t>	customer service </a:t>
            </a:r>
            <a:r>
              <a:rPr lang="en-US" sz="2600" b="1" dirty="0">
                <a:solidFill>
                  <a:srgbClr val="FF6600"/>
                </a:solidFill>
                <a:latin typeface="Helvetica" pitchFamily="34" charset="0"/>
              </a:rPr>
              <a:t>to be provided</a:t>
            </a:r>
            <a:br>
              <a:rPr lang="en-US" sz="2600" b="1" dirty="0">
                <a:solidFill>
                  <a:srgbClr val="FF6600"/>
                </a:solidFill>
                <a:latin typeface="Helvetica" pitchFamily="34" charset="0"/>
              </a:rPr>
            </a:br>
            <a:endParaRPr lang="en-US" sz="2600" b="1" dirty="0">
              <a:solidFill>
                <a:srgbClr val="FF6600"/>
              </a:solidFill>
              <a:latin typeface="Helvetica" pitchFamily="34" charset="0"/>
            </a:endParaRPr>
          </a:p>
        </p:txBody>
      </p:sp>
      <p:sp>
        <p:nvSpPr>
          <p:cNvPr id="3" name="Content Placeholder 2"/>
          <p:cNvSpPr>
            <a:spLocks noGrp="1"/>
          </p:cNvSpPr>
          <p:nvPr>
            <p:ph idx="1"/>
          </p:nvPr>
        </p:nvSpPr>
        <p:spPr>
          <a:xfrm>
            <a:off x="611560" y="1874837"/>
            <a:ext cx="7008440" cy="4525963"/>
          </a:xfrm>
        </p:spPr>
        <p:txBody>
          <a:bodyPr>
            <a:noAutofit/>
          </a:bodyPr>
          <a:lstStyle/>
          <a:p>
            <a:pPr marL="360000" indent="-360000">
              <a:spcBef>
                <a:spcPts val="600"/>
              </a:spcBef>
              <a:spcAft>
                <a:spcPts val="600"/>
              </a:spcAft>
            </a:pPr>
            <a:r>
              <a:rPr lang="en-AU" sz="2100" dirty="0">
                <a:latin typeface="Helvetica"/>
              </a:rPr>
              <a:t>Customer service management has become one of the most important areas of focus for many service industries and the hospitality and tourism industry invests a large amount of time and money on developing customer service initiatives that respond to customer </a:t>
            </a:r>
            <a:r>
              <a:rPr lang="en-AU" sz="2100" dirty="0" smtClean="0">
                <a:latin typeface="Helvetica"/>
              </a:rPr>
              <a:t>needs</a:t>
            </a:r>
          </a:p>
          <a:p>
            <a:pPr marL="360000" indent="-360000">
              <a:spcBef>
                <a:spcPts val="600"/>
              </a:spcBef>
              <a:spcAft>
                <a:spcPts val="600"/>
              </a:spcAft>
            </a:pPr>
            <a:r>
              <a:rPr lang="en-AU" sz="2100" dirty="0" smtClean="0">
                <a:latin typeface="Helvetica"/>
              </a:rPr>
              <a:t>Exceeding </a:t>
            </a:r>
            <a:r>
              <a:rPr lang="en-AU" sz="2100" dirty="0">
                <a:latin typeface="Helvetica"/>
              </a:rPr>
              <a:t>customer expectations is the goal for all organisations but it is a challenging task as there are many factors that influence a customer’s </a:t>
            </a:r>
            <a:r>
              <a:rPr lang="en-AU" sz="2100" dirty="0" smtClean="0">
                <a:latin typeface="Helvetica"/>
              </a:rPr>
              <a:t>experience</a:t>
            </a:r>
          </a:p>
          <a:p>
            <a:pPr marL="360000" indent="-360000">
              <a:spcBef>
                <a:spcPts val="600"/>
              </a:spcBef>
              <a:spcAft>
                <a:spcPts val="600"/>
              </a:spcAft>
            </a:pPr>
            <a:r>
              <a:rPr lang="en-AU" sz="2100" dirty="0" smtClean="0">
                <a:latin typeface="Helvetica"/>
              </a:rPr>
              <a:t>In </a:t>
            </a:r>
            <a:r>
              <a:rPr lang="en-AU" sz="2100" dirty="0">
                <a:latin typeface="Helvetica"/>
              </a:rPr>
              <a:t>deciding the level of customer service that an organisation will provide, it is first necessary to identify the internal and external factors that influence the customer </a:t>
            </a:r>
            <a:r>
              <a:rPr lang="en-AU" sz="2100" dirty="0" smtClean="0">
                <a:latin typeface="Helvetica"/>
              </a:rPr>
              <a:t>journey</a:t>
            </a:r>
            <a:endParaRPr lang="en-US" sz="2100" dirty="0">
              <a:latin typeface="Helvetica"/>
            </a:endParaRPr>
          </a:p>
          <a:p>
            <a:pPr marL="360000" indent="-360000">
              <a:spcBef>
                <a:spcPts val="600"/>
              </a:spcBef>
              <a:spcAft>
                <a:spcPts val="600"/>
              </a:spcAft>
              <a:buNone/>
            </a:pPr>
            <a:endParaRPr lang="en-US" sz="21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65537" name="Picture 1" descr="C:\Documents and Settings\Godaishu\Desktop\PHOTOS\2014\Shutterstock 25-a-day\shutterstock_2969083.jpg"/>
          <p:cNvPicPr>
            <a:picLocks noChangeAspect="1" noChangeArrowheads="1"/>
          </p:cNvPicPr>
          <p:nvPr/>
        </p:nvPicPr>
        <p:blipFill>
          <a:blip r:embed="rId3" cstate="print"/>
          <a:srcRect l="52500"/>
          <a:stretch>
            <a:fillRect/>
          </a:stretch>
        </p:blipFill>
        <p:spPr bwMode="auto">
          <a:xfrm>
            <a:off x="7696200" y="1676400"/>
            <a:ext cx="1447800" cy="2027238"/>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Internal and external factors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Service delivery concepts that differ from products:</a:t>
            </a:r>
          </a:p>
          <a:p>
            <a:pPr marL="360000" indent="-360000">
              <a:spcBef>
                <a:spcPts val="600"/>
              </a:spcBef>
              <a:spcAft>
                <a:spcPts val="1200"/>
              </a:spcAft>
            </a:pPr>
            <a:r>
              <a:rPr lang="en-US" sz="2200" dirty="0" smtClean="0">
                <a:latin typeface="Helvetica" pitchFamily="34" charset="0"/>
              </a:rPr>
              <a:t>Intangibility</a:t>
            </a:r>
          </a:p>
          <a:p>
            <a:pPr marL="360000" indent="-360000">
              <a:spcBef>
                <a:spcPts val="600"/>
              </a:spcBef>
              <a:spcAft>
                <a:spcPts val="1200"/>
              </a:spcAft>
            </a:pPr>
            <a:r>
              <a:rPr lang="en-US" sz="2200" dirty="0" smtClean="0">
                <a:latin typeface="Helvetica" pitchFamily="34" charset="0"/>
              </a:rPr>
              <a:t>Inseparability</a:t>
            </a:r>
          </a:p>
          <a:p>
            <a:pPr marL="360000" indent="-360000">
              <a:spcBef>
                <a:spcPts val="600"/>
              </a:spcBef>
              <a:spcAft>
                <a:spcPts val="1200"/>
              </a:spcAft>
            </a:pPr>
            <a:r>
              <a:rPr lang="en-US" sz="2200" dirty="0" smtClean="0">
                <a:latin typeface="Helvetica" pitchFamily="34" charset="0"/>
              </a:rPr>
              <a:t>Heterogeneity/Variability</a:t>
            </a:r>
          </a:p>
          <a:p>
            <a:pPr marL="360000" indent="-360000">
              <a:spcBef>
                <a:spcPts val="600"/>
              </a:spcBef>
              <a:spcAft>
                <a:spcPts val="1200"/>
              </a:spcAft>
            </a:pPr>
            <a:r>
              <a:rPr lang="en-US" sz="2200" dirty="0" smtClean="0">
                <a:latin typeface="Helvetica" pitchFamily="34" charset="0"/>
              </a:rPr>
              <a:t>Perishability</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1" descr="C:\Documents and Settings\Godaishu\Desktop\PHOTOS\2014\Shutterstock 25-a-day\shutterstock_196601204.jpg"/>
          <p:cNvPicPr>
            <a:picLocks noChangeAspect="1" noChangeArrowheads="1"/>
          </p:cNvPicPr>
          <p:nvPr/>
        </p:nvPicPr>
        <p:blipFill>
          <a:blip r:embed="rId3" cstate="print"/>
          <a:srcRect/>
          <a:stretch>
            <a:fillRect/>
          </a:stretch>
        </p:blipFill>
        <p:spPr bwMode="auto">
          <a:xfrm>
            <a:off x="5181600" y="2133600"/>
            <a:ext cx="2286000" cy="304800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457200" y="274638"/>
            <a:ext cx="7715200" cy="1143000"/>
          </a:xfrm>
        </p:spPr>
        <p:txBody>
          <a:bodyPr>
            <a:noAutofit/>
          </a:bodyPr>
          <a:lstStyle/>
          <a:p>
            <a:r>
              <a:rPr lang="en-US" sz="4000" b="1" dirty="0">
                <a:solidFill>
                  <a:srgbClr val="FF6600"/>
                </a:solidFill>
                <a:latin typeface="Helvetica" pitchFamily="34" charset="0"/>
              </a:rPr>
              <a:t>The product service continuum</a:t>
            </a:r>
            <a:endParaRPr lang="en-US" altLang="en-US" sz="4000" dirty="0" smtClean="0"/>
          </a:p>
        </p:txBody>
      </p:sp>
      <p:sp>
        <p:nvSpPr>
          <p:cNvPr id="6" name="Left-Right Arrow 5"/>
          <p:cNvSpPr/>
          <p:nvPr/>
        </p:nvSpPr>
        <p:spPr>
          <a:xfrm>
            <a:off x="533400" y="3657600"/>
            <a:ext cx="8229600" cy="6858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latin typeface="Helvetica" pitchFamily="34" charset="0"/>
            </a:endParaRPr>
          </a:p>
        </p:txBody>
      </p:sp>
      <p:sp>
        <p:nvSpPr>
          <p:cNvPr id="7" name="AutoShape 13"/>
          <p:cNvSpPr>
            <a:spLocks noChangeArrowheads="1"/>
          </p:cNvSpPr>
          <p:nvPr/>
        </p:nvSpPr>
        <p:spPr bwMode="auto">
          <a:xfrm>
            <a:off x="56388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8" name="AutoShape 13"/>
          <p:cNvSpPr>
            <a:spLocks noChangeArrowheads="1"/>
          </p:cNvSpPr>
          <p:nvPr/>
        </p:nvSpPr>
        <p:spPr bwMode="auto">
          <a:xfrm>
            <a:off x="44958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9" name="AutoShape 13"/>
          <p:cNvSpPr>
            <a:spLocks noChangeArrowheads="1"/>
          </p:cNvSpPr>
          <p:nvPr/>
        </p:nvSpPr>
        <p:spPr bwMode="auto">
          <a:xfrm>
            <a:off x="35052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10" name="AutoShape 13"/>
          <p:cNvSpPr>
            <a:spLocks noChangeArrowheads="1"/>
          </p:cNvSpPr>
          <p:nvPr/>
        </p:nvSpPr>
        <p:spPr bwMode="auto">
          <a:xfrm>
            <a:off x="25146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11" name="AutoShape 13"/>
          <p:cNvSpPr>
            <a:spLocks noChangeArrowheads="1"/>
          </p:cNvSpPr>
          <p:nvPr/>
        </p:nvSpPr>
        <p:spPr bwMode="auto">
          <a:xfrm>
            <a:off x="16764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12" name="AutoShape 13"/>
          <p:cNvSpPr>
            <a:spLocks noChangeArrowheads="1"/>
          </p:cNvSpPr>
          <p:nvPr/>
        </p:nvSpPr>
        <p:spPr bwMode="auto">
          <a:xfrm>
            <a:off x="9906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13" name="AutoShape 13"/>
          <p:cNvSpPr>
            <a:spLocks noChangeArrowheads="1"/>
          </p:cNvSpPr>
          <p:nvPr/>
        </p:nvSpPr>
        <p:spPr bwMode="auto">
          <a:xfrm>
            <a:off x="68580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14" name="AutoShape 13"/>
          <p:cNvSpPr>
            <a:spLocks noChangeArrowheads="1"/>
          </p:cNvSpPr>
          <p:nvPr/>
        </p:nvSpPr>
        <p:spPr bwMode="auto">
          <a:xfrm>
            <a:off x="7848600" y="3810000"/>
            <a:ext cx="457200" cy="381000"/>
          </a:xfrm>
          <a:prstGeom prst="star5">
            <a:avLst/>
          </a:prstGeom>
          <a:solidFill>
            <a:srgbClr val="FF6600"/>
          </a:solidFill>
          <a:ln w="9360">
            <a:solidFill>
              <a:srgbClr val="FFFFFF"/>
            </a:solidFill>
            <a:miter lim="800000"/>
            <a:headEnd/>
            <a:tailEnd/>
          </a:ln>
          <a:effectLst/>
        </p:spPr>
        <p:txBody>
          <a:bodyPr wrap="none" anchor="ctr"/>
          <a:lstStyle/>
          <a:p>
            <a:pPr fontAlgn="auto">
              <a:spcBef>
                <a:spcPts val="0"/>
              </a:spcBef>
              <a:spcAft>
                <a:spcPts val="0"/>
              </a:spcAft>
              <a:defRPr/>
            </a:pPr>
            <a:endParaRPr lang="en-US" dirty="0">
              <a:latin typeface="Helvetica" pitchFamily="34" charset="0"/>
              <a:cs typeface="+mn-cs"/>
            </a:endParaRPr>
          </a:p>
        </p:txBody>
      </p:sp>
      <p:sp>
        <p:nvSpPr>
          <p:cNvPr id="15" name="Rectangle 2"/>
          <p:cNvSpPr txBox="1">
            <a:spLocks noChangeArrowheads="1"/>
          </p:cNvSpPr>
          <p:nvPr/>
        </p:nvSpPr>
        <p:spPr>
          <a:xfrm>
            <a:off x="228600" y="3124200"/>
            <a:ext cx="2667000" cy="609600"/>
          </a:xfrm>
          <a:prstGeom prst="rect">
            <a:avLst/>
          </a:prstGeom>
          <a:ln/>
        </p:spPr>
        <p:txBody>
          <a:bodyPr lIns="90000" tIns="46800" rIns="90000" bIns="46800">
            <a:normAutofit/>
          </a:bodyPr>
          <a:lstStyle/>
          <a:p>
            <a:pPr marL="365760" indent="-256032" fontAlgn="auto">
              <a:spcBef>
                <a:spcPts val="600"/>
              </a:spcBef>
              <a:buClr>
                <a:schemeClr val="accent3"/>
              </a:buClr>
              <a:buFont typeface="Georgia"/>
              <a:buNone/>
              <a:tabLst>
                <a:tab pos="723900" algn="l"/>
                <a:tab pos="1447800" algn="l"/>
                <a:tab pos="2171700" algn="l"/>
              </a:tabLst>
              <a:defRPr/>
            </a:pPr>
            <a:r>
              <a:rPr lang="en-GB" sz="2400" b="1" dirty="0">
                <a:latin typeface="Helvetica" pitchFamily="34" charset="0"/>
              </a:rPr>
              <a:t>Pure goods </a:t>
            </a:r>
          </a:p>
        </p:txBody>
      </p:sp>
      <p:sp>
        <p:nvSpPr>
          <p:cNvPr id="16" name="Rectangle 1"/>
          <p:cNvSpPr txBox="1">
            <a:spLocks noChangeArrowheads="1"/>
          </p:cNvSpPr>
          <p:nvPr/>
        </p:nvSpPr>
        <p:spPr>
          <a:xfrm>
            <a:off x="6400800" y="3121025"/>
            <a:ext cx="2514600" cy="460375"/>
          </a:xfrm>
          <a:prstGeom prst="rect">
            <a:avLst/>
          </a:prstGeom>
          <a:ln/>
        </p:spPr>
        <p:txBody>
          <a:bodyPr lIns="90000" tIns="46800" rIns="90000" bIns="46800" anchor="ctr">
            <a:normAutofit/>
          </a:bodyPr>
          <a:lstStyle/>
          <a:p>
            <a:pPr fontAlgn="auto">
              <a:spcAft>
                <a:spcPts val="0"/>
              </a:spcAft>
              <a:tabLst>
                <a:tab pos="723900" algn="l"/>
                <a:tab pos="1447800" algn="l"/>
                <a:tab pos="2171700" algn="l"/>
              </a:tabLst>
              <a:defRPr/>
            </a:pPr>
            <a:r>
              <a:rPr lang="en-GB" sz="2400" b="1" dirty="0">
                <a:latin typeface="Helvetica" pitchFamily="34" charset="0"/>
                <a:ea typeface="+mj-ea"/>
                <a:cs typeface="+mj-cs"/>
              </a:rPr>
              <a:t>Pure services </a:t>
            </a:r>
          </a:p>
        </p:txBody>
      </p:sp>
      <p:sp>
        <p:nvSpPr>
          <p:cNvPr id="18446" name="Text Box 4"/>
          <p:cNvSpPr txBox="1">
            <a:spLocks noChangeArrowheads="1"/>
          </p:cNvSpPr>
          <p:nvPr/>
        </p:nvSpPr>
        <p:spPr bwMode="auto">
          <a:xfrm>
            <a:off x="838200" y="4343400"/>
            <a:ext cx="604951" cy="3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5pPr>
            <a:lvl6pPr marL="25146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6pPr>
            <a:lvl7pPr marL="29718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7pPr>
            <a:lvl8pPr marL="34290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8pPr>
            <a:lvl9pPr marL="38862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9pPr>
          </a:lstStyle>
          <a:p>
            <a:r>
              <a:rPr lang="en-GB" altLang="en-US" b="1" dirty="0">
                <a:latin typeface="Helvetica" pitchFamily="34" charset="0"/>
              </a:rPr>
              <a:t>Salt</a:t>
            </a:r>
          </a:p>
        </p:txBody>
      </p:sp>
      <p:sp>
        <p:nvSpPr>
          <p:cNvPr id="18447" name="TextBox 17"/>
          <p:cNvSpPr txBox="1">
            <a:spLocks noChangeArrowheads="1"/>
          </p:cNvSpPr>
          <p:nvPr/>
        </p:nvSpPr>
        <p:spPr bwMode="auto">
          <a:xfrm>
            <a:off x="1447800" y="4687888"/>
            <a:ext cx="10668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Baked Beans</a:t>
            </a:r>
          </a:p>
        </p:txBody>
      </p:sp>
      <p:sp>
        <p:nvSpPr>
          <p:cNvPr id="18448" name="TextBox 19"/>
          <p:cNvSpPr txBox="1">
            <a:spLocks noChangeArrowheads="1"/>
          </p:cNvSpPr>
          <p:nvPr/>
        </p:nvSpPr>
        <p:spPr bwMode="auto">
          <a:xfrm>
            <a:off x="2362200" y="4419600"/>
            <a:ext cx="990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DVD Player</a:t>
            </a:r>
          </a:p>
        </p:txBody>
      </p:sp>
      <p:sp>
        <p:nvSpPr>
          <p:cNvPr id="18449" name="TextBox 20"/>
          <p:cNvSpPr txBox="1">
            <a:spLocks noChangeArrowheads="1"/>
          </p:cNvSpPr>
          <p:nvPr/>
        </p:nvSpPr>
        <p:spPr bwMode="auto">
          <a:xfrm>
            <a:off x="3429000" y="4800600"/>
            <a:ext cx="6858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Car</a:t>
            </a:r>
          </a:p>
        </p:txBody>
      </p:sp>
      <p:sp>
        <p:nvSpPr>
          <p:cNvPr id="18450" name="TextBox 21"/>
          <p:cNvSpPr txBox="1">
            <a:spLocks noChangeArrowheads="1"/>
          </p:cNvSpPr>
          <p:nvPr/>
        </p:nvSpPr>
        <p:spPr bwMode="auto">
          <a:xfrm>
            <a:off x="4343400" y="4419600"/>
            <a:ext cx="83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Fast food</a:t>
            </a:r>
          </a:p>
        </p:txBody>
      </p:sp>
      <p:sp>
        <p:nvSpPr>
          <p:cNvPr id="18451" name="TextBox 22"/>
          <p:cNvSpPr txBox="1">
            <a:spLocks noChangeArrowheads="1"/>
          </p:cNvSpPr>
          <p:nvPr/>
        </p:nvSpPr>
        <p:spPr bwMode="auto">
          <a:xfrm>
            <a:off x="5410200" y="4419600"/>
            <a:ext cx="1219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Banking</a:t>
            </a:r>
          </a:p>
        </p:txBody>
      </p:sp>
      <p:sp>
        <p:nvSpPr>
          <p:cNvPr id="18452" name="TextBox 23"/>
          <p:cNvSpPr txBox="1">
            <a:spLocks noChangeArrowheads="1"/>
          </p:cNvSpPr>
          <p:nvPr/>
        </p:nvSpPr>
        <p:spPr bwMode="auto">
          <a:xfrm>
            <a:off x="6629400" y="4648200"/>
            <a:ext cx="990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Air Travel</a:t>
            </a:r>
          </a:p>
        </p:txBody>
      </p:sp>
      <p:sp>
        <p:nvSpPr>
          <p:cNvPr id="18453" name="TextBox 24"/>
          <p:cNvSpPr txBox="1">
            <a:spLocks noChangeArrowheads="1"/>
          </p:cNvSpPr>
          <p:nvPr/>
        </p:nvSpPr>
        <p:spPr bwMode="auto">
          <a:xfrm>
            <a:off x="7543800" y="4419600"/>
            <a:ext cx="1600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latin typeface="Helvetica" pitchFamily="34" charset="0"/>
              </a:rPr>
              <a:t>Consulting</a:t>
            </a:r>
          </a:p>
        </p:txBody>
      </p:sp>
      <p:sp>
        <p:nvSpPr>
          <p:cNvPr id="18454" name="Text Box 5"/>
          <p:cNvSpPr txBox="1">
            <a:spLocks noChangeArrowheads="1"/>
          </p:cNvSpPr>
          <p:nvPr/>
        </p:nvSpPr>
        <p:spPr bwMode="auto">
          <a:xfrm>
            <a:off x="2133600" y="2057400"/>
            <a:ext cx="5181600" cy="4638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5pPr>
            <a:lvl6pPr marL="25146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6pPr>
            <a:lvl7pPr marL="29718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7pPr>
            <a:lvl8pPr marL="34290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8pPr>
            <a:lvl9pPr marL="38862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Georgia" panose="02040502050405020303" pitchFamily="18" charset="0"/>
              </a:defRPr>
            </a:lvl9pPr>
          </a:lstStyle>
          <a:p>
            <a:r>
              <a:rPr lang="en-GB" altLang="en-US" sz="2400" b="1" dirty="0">
                <a:solidFill>
                  <a:schemeClr val="bg2">
                    <a:lumMod val="50000"/>
                  </a:schemeClr>
                </a:solidFill>
                <a:latin typeface="Helvetica" pitchFamily="34" charset="0"/>
              </a:rPr>
              <a:t>The product-service continuum</a:t>
            </a:r>
          </a:p>
        </p:txBody>
      </p:sp>
      <p:sp>
        <p:nvSpPr>
          <p:cNvPr id="27" name="TextBox 26"/>
          <p:cNvSpPr txBox="1">
            <a:spLocks noChangeArrowheads="1"/>
          </p:cNvSpPr>
          <p:nvPr/>
        </p:nvSpPr>
        <p:spPr bwMode="auto">
          <a:xfrm>
            <a:off x="381000" y="5334000"/>
            <a:ext cx="16764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solidFill>
                  <a:srgbClr val="FF0000"/>
                </a:solidFill>
                <a:latin typeface="Helvetica" pitchFamily="34" charset="0"/>
              </a:rPr>
              <a:t>Tangible Dominant</a:t>
            </a:r>
          </a:p>
        </p:txBody>
      </p:sp>
      <p:sp>
        <p:nvSpPr>
          <p:cNvPr id="28" name="TextBox 27"/>
          <p:cNvSpPr txBox="1">
            <a:spLocks noChangeArrowheads="1"/>
          </p:cNvSpPr>
          <p:nvPr/>
        </p:nvSpPr>
        <p:spPr bwMode="auto">
          <a:xfrm>
            <a:off x="7315200" y="5334000"/>
            <a:ext cx="1676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Georgia" panose="02040502050405020303" pitchFamily="18" charset="0"/>
              </a:defRPr>
            </a:lvl1pPr>
            <a:lvl2pPr marL="742950" indent="-285750">
              <a:defRPr>
                <a:solidFill>
                  <a:schemeClr val="tx1"/>
                </a:solidFill>
                <a:latin typeface="Georgia" panose="02040502050405020303" pitchFamily="18" charset="0"/>
              </a:defRPr>
            </a:lvl2pPr>
            <a:lvl3pPr marL="1143000" indent="-228600">
              <a:defRPr>
                <a:solidFill>
                  <a:schemeClr val="tx1"/>
                </a:solidFill>
                <a:latin typeface="Georgia" panose="02040502050405020303" pitchFamily="18" charset="0"/>
              </a:defRPr>
            </a:lvl3pPr>
            <a:lvl4pPr marL="1600200" indent="-228600">
              <a:defRPr>
                <a:solidFill>
                  <a:schemeClr val="tx1"/>
                </a:solidFill>
                <a:latin typeface="Georgia" panose="02040502050405020303" pitchFamily="18" charset="0"/>
              </a:defRPr>
            </a:lvl4pPr>
            <a:lvl5pPr marL="2057400" indent="-228600">
              <a:defRPr>
                <a:solidFill>
                  <a:schemeClr val="tx1"/>
                </a:solidFill>
                <a:latin typeface="Georgia" panose="02040502050405020303" pitchFamily="18" charset="0"/>
              </a:defRPr>
            </a:lvl5pPr>
            <a:lvl6pPr marL="2514600" indent="-228600" fontAlgn="base">
              <a:spcBef>
                <a:spcPct val="0"/>
              </a:spcBef>
              <a:spcAft>
                <a:spcPct val="0"/>
              </a:spcAft>
              <a:defRPr>
                <a:solidFill>
                  <a:schemeClr val="tx1"/>
                </a:solidFill>
                <a:latin typeface="Georgia" panose="02040502050405020303" pitchFamily="18" charset="0"/>
              </a:defRPr>
            </a:lvl6pPr>
            <a:lvl7pPr marL="2971800" indent="-228600" fontAlgn="base">
              <a:spcBef>
                <a:spcPct val="0"/>
              </a:spcBef>
              <a:spcAft>
                <a:spcPct val="0"/>
              </a:spcAft>
              <a:defRPr>
                <a:solidFill>
                  <a:schemeClr val="tx1"/>
                </a:solidFill>
                <a:latin typeface="Georgia" panose="02040502050405020303" pitchFamily="18" charset="0"/>
              </a:defRPr>
            </a:lvl7pPr>
            <a:lvl8pPr marL="3429000" indent="-228600" fontAlgn="base">
              <a:spcBef>
                <a:spcPct val="0"/>
              </a:spcBef>
              <a:spcAft>
                <a:spcPct val="0"/>
              </a:spcAft>
              <a:defRPr>
                <a:solidFill>
                  <a:schemeClr val="tx1"/>
                </a:solidFill>
                <a:latin typeface="Georgia" panose="02040502050405020303" pitchFamily="18" charset="0"/>
              </a:defRPr>
            </a:lvl8pPr>
            <a:lvl9pPr marL="3886200" indent="-228600" fontAlgn="base">
              <a:spcBef>
                <a:spcPct val="0"/>
              </a:spcBef>
              <a:spcAft>
                <a:spcPct val="0"/>
              </a:spcAft>
              <a:defRPr>
                <a:solidFill>
                  <a:schemeClr val="tx1"/>
                </a:solidFill>
                <a:latin typeface="Georgia" panose="02040502050405020303" pitchFamily="18" charset="0"/>
              </a:defRPr>
            </a:lvl9pPr>
          </a:lstStyle>
          <a:p>
            <a:r>
              <a:rPr lang="en-US" altLang="en-US" b="1" dirty="0">
                <a:solidFill>
                  <a:srgbClr val="FF0000"/>
                </a:solidFill>
                <a:latin typeface="Helvetica" pitchFamily="34" charset="0"/>
              </a:rPr>
              <a:t>Intangible Dominant</a:t>
            </a:r>
          </a:p>
        </p:txBody>
      </p:sp>
      <p:sp>
        <p:nvSpPr>
          <p:cNvPr id="2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spTree>
    <p:extLst>
      <p:ext uri="{BB962C8B-B14F-4D97-AF65-F5344CB8AC3E}">
        <p14:creationId xmlns:p14="http://schemas.microsoft.com/office/powerpoint/2010/main" val="1666422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blinds(horizontal)">
                                      <p:cBhvr>
                                        <p:cTn id="7" dur="500"/>
                                        <p:tgtEl>
                                          <p:spTgt spid="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blinds(horizontal)">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Internal and external factors affecting customer service delivery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246440" cy="4525963"/>
          </a:xfrm>
        </p:spPr>
        <p:txBody>
          <a:bodyPr>
            <a:normAutofit/>
          </a:bodyPr>
          <a:lstStyle/>
          <a:p>
            <a:pPr marL="0" indent="0">
              <a:spcBef>
                <a:spcPts val="600"/>
              </a:spcBef>
              <a:spcAft>
                <a:spcPts val="1200"/>
              </a:spcAft>
              <a:buNone/>
            </a:pPr>
            <a:r>
              <a:rPr lang="en-US" sz="2200" dirty="0" smtClean="0">
                <a:latin typeface="Helvetica" pitchFamily="34" charset="0"/>
              </a:rPr>
              <a:t>Internal factors:</a:t>
            </a:r>
          </a:p>
          <a:p>
            <a:pPr marL="360000" indent="-360000">
              <a:spcBef>
                <a:spcPts val="600"/>
              </a:spcBef>
              <a:spcAft>
                <a:spcPts val="1200"/>
              </a:spcAft>
            </a:pPr>
            <a:r>
              <a:rPr lang="en-US" sz="2200" dirty="0" smtClean="0">
                <a:latin typeface="Helvetica" pitchFamily="34" charset="0"/>
              </a:rPr>
              <a:t>Staff, facilities, equipment, safety, budget, organisational culture</a:t>
            </a:r>
          </a:p>
          <a:p>
            <a:pPr marL="0" indent="0">
              <a:spcBef>
                <a:spcPts val="600"/>
              </a:spcBef>
              <a:spcAft>
                <a:spcPts val="1200"/>
              </a:spcAft>
              <a:buNone/>
            </a:pPr>
            <a:r>
              <a:rPr lang="en-US" sz="2200" dirty="0" smtClean="0">
                <a:latin typeface="Helvetica" pitchFamily="34" charset="0"/>
              </a:rPr>
              <a:t>External </a:t>
            </a:r>
            <a:r>
              <a:rPr lang="en-US" sz="2200" dirty="0">
                <a:latin typeface="Helvetica" pitchFamily="34" charset="0"/>
              </a:rPr>
              <a:t>factors:</a:t>
            </a:r>
          </a:p>
          <a:p>
            <a:pPr marL="360000" lvl="0" indent="-360000">
              <a:spcBef>
                <a:spcPts val="600"/>
              </a:spcBef>
              <a:spcAft>
                <a:spcPts val="1200"/>
              </a:spcAft>
              <a:buClr>
                <a:srgbClr val="7FD13B"/>
              </a:buClr>
            </a:pPr>
            <a:r>
              <a:rPr lang="en-US" sz="2200" dirty="0" smtClean="0">
                <a:solidFill>
                  <a:prstClr val="black"/>
                </a:solidFill>
                <a:latin typeface="Helvetica" pitchFamily="34" charset="0"/>
              </a:rPr>
              <a:t>Customer profiles, location, business environment, competitors, politics, society and culture</a:t>
            </a:r>
            <a:endParaRPr lang="en-US" sz="2200" dirty="0">
              <a:solidFill>
                <a:prstClr val="black"/>
              </a:solidFill>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descr="C:\Documents and Settings\Godaishu\Desktop\PHOTOS\2014\Shutterstock 25-a-day\shutterstock_188559083.jpg"/>
          <p:cNvPicPr/>
          <p:nvPr/>
        </p:nvPicPr>
        <p:blipFill>
          <a:blip r:embed="rId3" cstate="print"/>
          <a:srcRect/>
          <a:stretch>
            <a:fillRect/>
          </a:stretch>
        </p:blipFill>
        <p:spPr bwMode="auto">
          <a:xfrm>
            <a:off x="6781800" y="2209800"/>
            <a:ext cx="1371600" cy="204925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1.2	Research customer expectations and 	opinions regarding current level, and 	expected level of service delivery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2027237"/>
            <a:ext cx="7467600" cy="4525963"/>
          </a:xfrm>
        </p:spPr>
        <p:txBody>
          <a:bodyPr>
            <a:normAutofit/>
          </a:bodyPr>
          <a:lstStyle/>
          <a:p>
            <a:pPr marL="0" indent="0">
              <a:spcBef>
                <a:spcPts val="600"/>
              </a:spcBef>
              <a:spcAft>
                <a:spcPts val="1200"/>
              </a:spcAft>
              <a:buNone/>
            </a:pPr>
            <a:r>
              <a:rPr lang="en-AU" sz="2100" dirty="0">
                <a:latin typeface="Helvetica"/>
              </a:rPr>
              <a:t>I</a:t>
            </a:r>
            <a:r>
              <a:rPr lang="en-AU" sz="2100" dirty="0" smtClean="0">
                <a:latin typeface="Helvetica"/>
              </a:rPr>
              <a:t>t </a:t>
            </a:r>
            <a:r>
              <a:rPr lang="en-AU" sz="2100" dirty="0">
                <a:latin typeface="Helvetica"/>
              </a:rPr>
              <a:t>is critical for service providers to gather information about the service they provide by researching what customers desire from the service. </a:t>
            </a:r>
            <a:r>
              <a:rPr lang="en-AU" sz="2100" dirty="0" smtClean="0">
                <a:latin typeface="Helvetica"/>
              </a:rPr>
              <a:t>Research can and should come from multiple sources such as</a:t>
            </a:r>
            <a:r>
              <a:rPr lang="en-US" sz="2100" dirty="0" smtClean="0">
                <a:latin typeface="Helvetica"/>
              </a:rPr>
              <a:t>:</a:t>
            </a:r>
          </a:p>
          <a:p>
            <a:pPr marL="360000" indent="-360000">
              <a:spcBef>
                <a:spcPts val="600"/>
              </a:spcBef>
              <a:spcAft>
                <a:spcPts val="1200"/>
              </a:spcAft>
            </a:pPr>
            <a:r>
              <a:rPr lang="en-US" sz="2100" dirty="0" smtClean="0">
                <a:latin typeface="Helvetica" pitchFamily="34" charset="0"/>
              </a:rPr>
              <a:t>Customer feedback forms/surveys</a:t>
            </a:r>
          </a:p>
          <a:p>
            <a:pPr marL="360000" indent="-360000">
              <a:spcBef>
                <a:spcPts val="600"/>
              </a:spcBef>
              <a:spcAft>
                <a:spcPts val="1200"/>
              </a:spcAft>
            </a:pPr>
            <a:r>
              <a:rPr lang="en-US" sz="2100" dirty="0" smtClean="0">
                <a:latin typeface="Helvetica" pitchFamily="34" charset="0"/>
              </a:rPr>
              <a:t>Staff feedback</a:t>
            </a:r>
          </a:p>
          <a:p>
            <a:pPr marL="360000" indent="-360000">
              <a:spcBef>
                <a:spcPts val="600"/>
              </a:spcBef>
              <a:spcAft>
                <a:spcPts val="1200"/>
              </a:spcAft>
            </a:pPr>
            <a:r>
              <a:rPr lang="en-US" sz="2100" dirty="0" smtClean="0">
                <a:latin typeface="Helvetica" pitchFamily="34" charset="0"/>
              </a:rPr>
              <a:t>Competitor analysis</a:t>
            </a:r>
          </a:p>
          <a:p>
            <a:pPr marL="360000" indent="-360000">
              <a:spcBef>
                <a:spcPts val="600"/>
              </a:spcBef>
              <a:spcAft>
                <a:spcPts val="1200"/>
              </a:spcAft>
            </a:pPr>
            <a:r>
              <a:rPr lang="en-US" sz="2100" dirty="0" smtClean="0">
                <a:latin typeface="Helvetica" pitchFamily="34" charset="0"/>
              </a:rPr>
              <a:t>Customer complaints/compliments</a:t>
            </a:r>
          </a:p>
          <a:p>
            <a:pPr marL="360000" indent="-360000">
              <a:spcBef>
                <a:spcPts val="600"/>
              </a:spcBef>
              <a:spcAft>
                <a:spcPts val="1200"/>
              </a:spcAft>
            </a:pPr>
            <a:r>
              <a:rPr lang="en-US" sz="2100" dirty="0" smtClean="0">
                <a:latin typeface="Helvetica" pitchFamily="34" charset="0"/>
              </a:rPr>
              <a:t>Industry research</a:t>
            </a: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8369" name="Picture 1" descr="C:\Documents and Settings\Godaishu\Desktop\PHOTOS\2014\Shutterstock 25-a-day\shutterstock_135012329.jpg"/>
          <p:cNvPicPr>
            <a:picLocks noChangeAspect="1" noChangeArrowheads="1"/>
          </p:cNvPicPr>
          <p:nvPr/>
        </p:nvPicPr>
        <p:blipFill>
          <a:blip r:embed="rId3" cstate="print"/>
          <a:srcRect/>
          <a:stretch>
            <a:fillRect/>
          </a:stretch>
        </p:blipFill>
        <p:spPr bwMode="auto">
          <a:xfrm>
            <a:off x="5791200" y="3352800"/>
            <a:ext cx="2000876" cy="190500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Customer definition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endParaRPr lang="en-US" sz="2200" dirty="0" smtClean="0">
              <a:latin typeface="Helvetica" pitchFamily="34" charset="0"/>
            </a:endParaRPr>
          </a:p>
          <a:p>
            <a:pPr marL="0" indent="0">
              <a:spcBef>
                <a:spcPts val="600"/>
              </a:spcBef>
              <a:spcAft>
                <a:spcPts val="1200"/>
              </a:spcAft>
              <a:buNone/>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sp>
        <p:nvSpPr>
          <p:cNvPr id="6" name="Content Placeholder 2"/>
          <p:cNvSpPr txBox="1">
            <a:spLocks/>
          </p:cNvSpPr>
          <p:nvPr/>
        </p:nvSpPr>
        <p:spPr>
          <a:xfrm>
            <a:off x="457200" y="1700808"/>
            <a:ext cx="7620000" cy="4873030"/>
          </a:xfrm>
          <a:prstGeom prst="rect">
            <a:avLst/>
          </a:prstGeom>
        </p:spPr>
        <p:txBody>
          <a:bodyPr vert="horz">
            <a:normAutofit/>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marL="360000" indent="-360000">
              <a:spcBef>
                <a:spcPts val="600"/>
              </a:spcBef>
              <a:spcAft>
                <a:spcPts val="1200"/>
              </a:spcAft>
            </a:pPr>
            <a:r>
              <a:rPr lang="en-US" altLang="en-US" sz="2200" dirty="0" smtClean="0">
                <a:latin typeface="Helvetica" pitchFamily="34" charset="0"/>
              </a:rPr>
              <a:t>Customer:  The party who purchase the service you provide although they may not actually use it themselves</a:t>
            </a:r>
          </a:p>
          <a:p>
            <a:pPr marL="360000" indent="-360000">
              <a:spcBef>
                <a:spcPts val="600"/>
              </a:spcBef>
              <a:spcAft>
                <a:spcPts val="1200"/>
              </a:spcAft>
            </a:pPr>
            <a:r>
              <a:rPr lang="en-US" altLang="en-US" sz="2200" dirty="0" smtClean="0">
                <a:latin typeface="Helvetica" pitchFamily="34" charset="0"/>
              </a:rPr>
              <a:t>Consumer:  The party who actually uses the service</a:t>
            </a:r>
          </a:p>
          <a:p>
            <a:pPr marL="360000" indent="-360000">
              <a:spcBef>
                <a:spcPts val="600"/>
              </a:spcBef>
              <a:spcAft>
                <a:spcPts val="1200"/>
              </a:spcAft>
            </a:pPr>
            <a:r>
              <a:rPr lang="en-US" altLang="en-US" sz="2200" dirty="0" smtClean="0">
                <a:latin typeface="Helvetica" pitchFamily="34" charset="0"/>
              </a:rPr>
              <a:t>Client/Sponsor:  The party in whose interest the services are provided</a:t>
            </a:r>
          </a:p>
        </p:txBody>
      </p:sp>
      <p:pic>
        <p:nvPicPr>
          <p:cNvPr id="56321" name="Picture 1" descr="C:\Documents and Settings\Godaishu\Desktop\PHOTOS\2014\Shutterstock 25-a-day\shutterstock_186267446.jpg"/>
          <p:cNvPicPr>
            <a:picLocks noChangeAspect="1" noChangeArrowheads="1"/>
          </p:cNvPicPr>
          <p:nvPr/>
        </p:nvPicPr>
        <p:blipFill>
          <a:blip r:embed="rId3" cstate="print"/>
          <a:srcRect/>
          <a:stretch>
            <a:fillRect/>
          </a:stretch>
        </p:blipFill>
        <p:spPr bwMode="auto">
          <a:xfrm>
            <a:off x="3429000" y="4191000"/>
            <a:ext cx="2398427" cy="1600200"/>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blinds(horizontal)">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blinds(horizontal)">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blinds(horizontal)">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Customer buying cycle</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35645122"/>
              </p:ext>
            </p:extLst>
          </p:nvPr>
        </p:nvGraphicFramePr>
        <p:xfrm>
          <a:off x="467544" y="1219200"/>
          <a:ext cx="7467600" cy="35183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592772" y="5229200"/>
            <a:ext cx="7332028" cy="375487"/>
          </a:xfrm>
          <a:prstGeom prst="rect">
            <a:avLst/>
          </a:prstGeom>
        </p:spPr>
        <p:txBody>
          <a:bodyPr wrap="square">
            <a:spAutoFit/>
          </a:bodyPr>
          <a:lstStyle/>
          <a:p>
            <a:pPr>
              <a:lnSpc>
                <a:spcPct val="115000"/>
              </a:lnSpc>
              <a:spcAft>
                <a:spcPts val="1000"/>
              </a:spcAft>
            </a:pPr>
            <a:r>
              <a:rPr lang="en-AU" sz="1600" dirty="0">
                <a:latin typeface="Helvetica" pitchFamily="34" charset="0"/>
                <a:ea typeface="Times New Roman" panose="02020603050405020304" pitchFamily="18" charset="0"/>
                <a:cs typeface="Times New Roman" panose="02020603050405020304" pitchFamily="18" charset="0"/>
              </a:rPr>
              <a:t>Adapted from White </a:t>
            </a:r>
            <a:r>
              <a:rPr lang="en-AU" sz="1600" dirty="0" smtClean="0">
                <a:latin typeface="Helvetica" pitchFamily="34" charset="0"/>
                <a:ea typeface="Times New Roman" panose="02020603050405020304" pitchFamily="18" charset="0"/>
                <a:cs typeface="Times New Roman" panose="02020603050405020304" pitchFamily="18" charset="0"/>
              </a:rPr>
              <a:t>and </a:t>
            </a:r>
            <a:r>
              <a:rPr lang="en-AU" sz="1600" dirty="0">
                <a:latin typeface="Helvetica" pitchFamily="34" charset="0"/>
                <a:ea typeface="Times New Roman" panose="02020603050405020304" pitchFamily="18" charset="0"/>
                <a:cs typeface="Times New Roman" panose="02020603050405020304" pitchFamily="18" charset="0"/>
              </a:rPr>
              <a:t>Hockley et al, (2008) </a:t>
            </a:r>
            <a:r>
              <a:rPr lang="en-AU" sz="1600" i="1" dirty="0">
                <a:latin typeface="Helvetica" pitchFamily="34" charset="0"/>
                <a:ea typeface="Times New Roman" panose="02020603050405020304" pitchFamily="18" charset="0"/>
                <a:cs typeface="Times New Roman" panose="02020603050405020304" pitchFamily="18" charset="0"/>
              </a:rPr>
              <a:t>From Teacher to Manager</a:t>
            </a:r>
            <a:r>
              <a:rPr lang="en-AU" sz="1600" dirty="0">
                <a:latin typeface="Helvetica" pitchFamily="34" charset="0"/>
                <a:ea typeface="Times New Roman" panose="02020603050405020304" pitchFamily="18" charset="0"/>
                <a:cs typeface="Times New Roman" panose="02020603050405020304" pitchFamily="18" charset="0"/>
              </a:rPr>
              <a:t>, CUP</a:t>
            </a:r>
            <a:endParaRPr lang="en-US" sz="1600" dirty="0">
              <a:effectLst/>
              <a:latin typeface="Helvetica" pitchFamily="34" charset="0"/>
              <a:ea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Moments of truth (MOT)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618040" cy="4525963"/>
          </a:xfrm>
        </p:spPr>
        <p:txBody>
          <a:bodyPr>
            <a:normAutofit/>
          </a:bodyPr>
          <a:lstStyle/>
          <a:p>
            <a:pPr marL="0" indent="0">
              <a:spcBef>
                <a:spcPts val="600"/>
              </a:spcBef>
              <a:spcAft>
                <a:spcPts val="1200"/>
              </a:spcAft>
              <a:buNone/>
            </a:pPr>
            <a:r>
              <a:rPr lang="en-AU" sz="2200" dirty="0">
                <a:latin typeface="Helvetica"/>
              </a:rPr>
              <a:t>Any time when a customer comes into contact with an organisation or service, they have an opportunity to develop an impression or opinion of the service or organisation. These occasions were called ‘moments of truth’ by Jan Carlzon (1989) who was president of </a:t>
            </a:r>
            <a:r>
              <a:rPr lang="en-AU" sz="2200" dirty="0" smtClean="0">
                <a:latin typeface="Helvetica"/>
              </a:rPr>
              <a:t>Scandinavian </a:t>
            </a:r>
            <a:r>
              <a:rPr lang="en-AU" sz="2200" dirty="0">
                <a:latin typeface="Helvetica"/>
              </a:rPr>
              <a:t>Airlines in the 1980’s. </a:t>
            </a: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1800" y="3657600"/>
            <a:ext cx="3168352" cy="217349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Customer journey mapping</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 name="Content Placeholder 5" descr="Customer Journey Map Explanation.jpg"/>
          <p:cNvPicPr>
            <a:picLocks noGrp="1" noChangeAspect="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533400" y="1371600"/>
            <a:ext cx="6705600" cy="5083684"/>
          </a:xfr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Observation checklist</a:t>
            </a:r>
            <a:endParaRPr lang="en-US" sz="3400" b="1" dirty="0">
              <a:solidFill>
                <a:srgbClr val="FF6600"/>
              </a:solidFill>
              <a:latin typeface="Helvetica"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83068285"/>
              </p:ext>
            </p:extLst>
          </p:nvPr>
        </p:nvGraphicFramePr>
        <p:xfrm>
          <a:off x="762000" y="1447801"/>
          <a:ext cx="7010400" cy="4885786"/>
        </p:xfrm>
        <a:graphic>
          <a:graphicData uri="http://schemas.openxmlformats.org/drawingml/2006/table">
            <a:tbl>
              <a:tblPr firstRow="1" firstCol="1" bandRow="1">
                <a:tableStyleId>{00A15C55-8517-42AA-B614-E9B94910E393}</a:tableStyleId>
              </a:tblPr>
              <a:tblGrid>
                <a:gridCol w="1752600"/>
                <a:gridCol w="1752600"/>
                <a:gridCol w="1752600"/>
                <a:gridCol w="1752600"/>
              </a:tblGrid>
              <a:tr h="385719">
                <a:tc gridSpan="4">
                  <a:txBody>
                    <a:bodyPr/>
                    <a:lstStyle/>
                    <a:p>
                      <a:pPr marL="0" marR="0" algn="ctr">
                        <a:spcBef>
                          <a:spcPts val="600"/>
                        </a:spcBef>
                        <a:spcAft>
                          <a:spcPts val="600"/>
                        </a:spcAft>
                      </a:pPr>
                      <a:r>
                        <a:rPr lang="en-AU" sz="1200" dirty="0">
                          <a:effectLst/>
                        </a:rPr>
                        <a:t>Data Collection</a:t>
                      </a:r>
                      <a:endParaRPr lang="en-US" sz="1200" b="1" dirty="0">
                        <a:solidFill>
                          <a:srgbClr val="000000"/>
                        </a:solidFill>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hMerge="1">
                  <a:txBody>
                    <a:bodyPr/>
                    <a:lstStyle/>
                    <a:p>
                      <a:endParaRPr lang="en-US"/>
                    </a:p>
                  </a:txBody>
                  <a:tcPr/>
                </a:tc>
                <a:tc hMerge="1">
                  <a:txBody>
                    <a:bodyPr/>
                    <a:lstStyle/>
                    <a:p>
                      <a:endParaRPr lang="en-US"/>
                    </a:p>
                  </a:txBody>
                  <a:tcPr/>
                </a:tc>
                <a:tc hMerge="1">
                  <a:txBody>
                    <a:bodyPr/>
                    <a:lstStyle/>
                    <a:p>
                      <a:endParaRPr lang="en-US"/>
                    </a:p>
                  </a:txBody>
                  <a:tcPr/>
                </a:tc>
              </a:tr>
              <a:tr h="385719">
                <a:tc gridSpan="2">
                  <a:txBody>
                    <a:bodyPr/>
                    <a:lstStyle/>
                    <a:p>
                      <a:pPr marL="0" marR="0" indent="0" algn="ctr">
                        <a:spcBef>
                          <a:spcPts val="300"/>
                        </a:spcBef>
                        <a:spcAft>
                          <a:spcPts val="400"/>
                        </a:spcAft>
                      </a:pPr>
                      <a:r>
                        <a:rPr lang="en-AU" sz="1200" dirty="0">
                          <a:effectLst/>
                        </a:rPr>
                        <a:t>Primary</a:t>
                      </a:r>
                      <a:endParaRPr lang="en-US" sz="12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57131" marR="57131" marT="0" marB="0" anchor="ctr"/>
                </a:tc>
                <a:tc hMerge="1">
                  <a:txBody>
                    <a:bodyPr/>
                    <a:lstStyle/>
                    <a:p>
                      <a:endParaRPr lang="en-US"/>
                    </a:p>
                  </a:txBody>
                  <a:tcPr/>
                </a:tc>
                <a:tc gridSpan="2">
                  <a:txBody>
                    <a:bodyPr/>
                    <a:lstStyle/>
                    <a:p>
                      <a:pPr marL="0" marR="0" indent="0" algn="ctr">
                        <a:spcBef>
                          <a:spcPts val="300"/>
                        </a:spcBef>
                        <a:spcAft>
                          <a:spcPts val="400"/>
                        </a:spcAft>
                      </a:pPr>
                      <a:r>
                        <a:rPr lang="en-AU" sz="1200" dirty="0">
                          <a:effectLst/>
                        </a:rPr>
                        <a:t>Secondary</a:t>
                      </a:r>
                      <a:endParaRPr lang="en-US" sz="12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57131" marR="57131" marT="0" marB="0" anchor="ctr"/>
                </a:tc>
                <a:tc hMerge="1">
                  <a:txBody>
                    <a:bodyPr/>
                    <a:lstStyle/>
                    <a:p>
                      <a:endParaRPr lang="en-US"/>
                    </a:p>
                  </a:txBody>
                  <a:tcPr/>
                </a:tc>
              </a:tr>
              <a:tr h="914300">
                <a:tc>
                  <a:txBody>
                    <a:bodyPr/>
                    <a:lstStyle/>
                    <a:p>
                      <a:pPr marL="0" marR="0">
                        <a:spcBef>
                          <a:spcPts val="600"/>
                        </a:spcBef>
                        <a:spcAft>
                          <a:spcPts val="600"/>
                        </a:spcAft>
                      </a:pPr>
                      <a:r>
                        <a:rPr lang="en-AU" sz="1200" dirty="0">
                          <a:effectLst/>
                        </a:rPr>
                        <a:t>Observation</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Watching customer/staff behaviour and service delivery</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Company records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Investigating historical data</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r>
              <a:tr h="914300">
                <a:tc>
                  <a:txBody>
                    <a:bodyPr/>
                    <a:lstStyle/>
                    <a:p>
                      <a:pPr marL="0" marR="0">
                        <a:spcBef>
                          <a:spcPts val="600"/>
                        </a:spcBef>
                        <a:spcAft>
                          <a:spcPts val="600"/>
                        </a:spcAft>
                      </a:pPr>
                      <a:r>
                        <a:rPr lang="en-AU" sz="1200" dirty="0">
                          <a:effectLst/>
                        </a:rPr>
                        <a:t>Experiment</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Testing situations or customer contact areas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Industry associations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Looking at data gathered by industry </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r>
              <a:tr h="685724">
                <a:tc>
                  <a:txBody>
                    <a:bodyPr/>
                    <a:lstStyle/>
                    <a:p>
                      <a:pPr marL="0" marR="0">
                        <a:spcBef>
                          <a:spcPts val="600"/>
                        </a:spcBef>
                        <a:spcAft>
                          <a:spcPts val="600"/>
                        </a:spcAft>
                      </a:pPr>
                      <a:r>
                        <a:rPr lang="en-AU" sz="1200" dirty="0">
                          <a:effectLst/>
                        </a:rPr>
                        <a:t>Survey</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Questionnaires, focus groups, interviews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Government statistics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Utilising government gathered data</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r>
              <a:tr h="685724">
                <a:tc rowSpan="2">
                  <a:txBody>
                    <a:bodyPr/>
                    <a:lstStyle/>
                    <a:p>
                      <a:pPr marL="0" marR="0">
                        <a:spcBef>
                          <a:spcPts val="600"/>
                        </a:spcBef>
                        <a:spcAft>
                          <a:spcPts val="600"/>
                        </a:spcAft>
                      </a:pPr>
                      <a:r>
                        <a:rPr lang="en-AU" sz="1200" dirty="0">
                          <a:effectLst/>
                        </a:rPr>
                        <a:t>Simulation</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rowSpan="2">
                  <a:txBody>
                    <a:bodyPr/>
                    <a:lstStyle/>
                    <a:p>
                      <a:pPr marL="0" marR="0">
                        <a:spcBef>
                          <a:spcPts val="600"/>
                        </a:spcBef>
                        <a:spcAft>
                          <a:spcPts val="600"/>
                        </a:spcAft>
                      </a:pPr>
                      <a:r>
                        <a:rPr lang="en-AU" sz="1200" dirty="0">
                          <a:effectLst/>
                        </a:rPr>
                        <a:t>Recreating a certain customer service context and observing outcomes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Research reports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Various groups may develop reports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r>
              <a:tr h="914300">
                <a:tc vMerge="1">
                  <a:txBody>
                    <a:bodyPr/>
                    <a:lstStyle/>
                    <a:p>
                      <a:endParaRPr lang="en-US"/>
                    </a:p>
                  </a:txBody>
                  <a:tcPr/>
                </a:tc>
                <a:tc vMerge="1">
                  <a:txBody>
                    <a:bodyPr/>
                    <a:lstStyle/>
                    <a:p>
                      <a:endParaRPr lang="en-US"/>
                    </a:p>
                  </a:txBody>
                  <a:tcPr/>
                </a:tc>
                <a:tc>
                  <a:txBody>
                    <a:bodyPr/>
                    <a:lstStyle/>
                    <a:p>
                      <a:pPr marL="0" marR="0">
                        <a:spcBef>
                          <a:spcPts val="600"/>
                        </a:spcBef>
                        <a:spcAft>
                          <a:spcPts val="600"/>
                        </a:spcAft>
                      </a:pPr>
                      <a:r>
                        <a:rPr lang="en-AU" sz="1200" dirty="0">
                          <a:effectLst/>
                        </a:rPr>
                        <a:t>Other published sources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c>
                  <a:txBody>
                    <a:bodyPr/>
                    <a:lstStyle/>
                    <a:p>
                      <a:pPr marL="0" marR="0">
                        <a:spcBef>
                          <a:spcPts val="600"/>
                        </a:spcBef>
                        <a:spcAft>
                          <a:spcPts val="600"/>
                        </a:spcAft>
                      </a:pPr>
                      <a:r>
                        <a:rPr lang="en-AU" sz="1200" dirty="0">
                          <a:effectLst/>
                        </a:rPr>
                        <a:t>Magazines, journals, academic studies</a:t>
                      </a:r>
                      <a:endParaRPr lang="en-US" sz="1200" dirty="0">
                        <a:effectLst/>
                        <a:latin typeface="Helvetica" panose="020B0604020202020204" pitchFamily="34" charset="0"/>
                        <a:ea typeface="Calibri" panose="020F0502020204030204" pitchFamily="34" charset="0"/>
                        <a:cs typeface="Calibri" panose="020F0502020204030204" pitchFamily="34" charset="0"/>
                      </a:endParaRPr>
                    </a:p>
                  </a:txBody>
                  <a:tcPr marL="57131" marR="57131" marT="0" marB="0" anchor="ctr"/>
                </a:tc>
              </a:tr>
            </a:tbl>
          </a:graphicData>
        </a:graphic>
      </p:graphicFrame>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Customer journey mapping</a:t>
            </a:r>
            <a:endParaRPr lang="en-US" sz="3400" b="1" dirty="0">
              <a:solidFill>
                <a:srgbClr val="FF6600"/>
              </a:solidFill>
              <a:latin typeface="Helvetica" pitchFamily="34" charset="0"/>
            </a:endParaRPr>
          </a:p>
        </p:txBody>
      </p:sp>
      <p:pic>
        <p:nvPicPr>
          <p:cNvPr id="7" name="Content Placeholder 6"/>
          <p:cNvPicPr>
            <a:picLocks noGrp="1" noChangeAspect="1"/>
          </p:cNvPicPr>
          <p:nvPr>
            <p:ph idx="1"/>
          </p:nvPr>
        </p:nvPicPr>
        <p:blipFill>
          <a:blip r:embed="rId3" cstate="print"/>
          <a:stretch>
            <a:fillRect/>
          </a:stretch>
        </p:blipFill>
        <p:spPr>
          <a:xfrm>
            <a:off x="685800" y="1600200"/>
            <a:ext cx="7407370" cy="4137646"/>
          </a:xfrm>
          <a:prstGeom prst="rect">
            <a:avLst/>
          </a:prstGeom>
        </p:spPr>
      </p:pic>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52400"/>
            <a:ext cx="7467600" cy="1038944"/>
          </a:xfrm>
        </p:spPr>
        <p:txBody>
          <a:bodyPr>
            <a:normAutofit/>
          </a:bodyPr>
          <a:lstStyle/>
          <a:p>
            <a:r>
              <a:rPr lang="en-US" sz="3400" b="1" dirty="0" smtClean="0">
                <a:solidFill>
                  <a:srgbClr val="FF6600"/>
                </a:solidFill>
                <a:latin typeface="Helvetica" pitchFamily="34" charset="0"/>
              </a:rPr>
              <a:t>Service Blueprint</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p:cNvPicPr>
            <a:picLocks noChangeAspect="1"/>
          </p:cNvPicPr>
          <p:nvPr/>
        </p:nvPicPr>
        <p:blipFill>
          <a:blip r:embed="rId3" cstate="print"/>
          <a:srcRect l="4295" t="7704" r="4647" b="5560"/>
          <a:stretch>
            <a:fillRect/>
          </a:stretch>
        </p:blipFill>
        <p:spPr>
          <a:xfrm>
            <a:off x="533400" y="1295400"/>
            <a:ext cx="7467601" cy="5495027"/>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1.3	Integrate </a:t>
            </a:r>
            <a:r>
              <a:rPr lang="en-US" sz="3400" b="1" dirty="0">
                <a:solidFill>
                  <a:srgbClr val="FF6600"/>
                </a:solidFill>
                <a:latin typeface="Helvetica" pitchFamily="34" charset="0"/>
              </a:rPr>
              <a:t>research findings into </a:t>
            </a:r>
            <a:r>
              <a:rPr lang="en-US" sz="3400" b="1" dirty="0" smtClean="0">
                <a:solidFill>
                  <a:srgbClr val="FF6600"/>
                </a:solidFill>
                <a:latin typeface="Helvetica" pitchFamily="34" charset="0"/>
              </a:rPr>
              <a:t>	draft </a:t>
            </a:r>
            <a:r>
              <a:rPr lang="en-US" sz="3400" b="1" dirty="0">
                <a:solidFill>
                  <a:srgbClr val="FF6600"/>
                </a:solidFill>
                <a:latin typeface="Helvetica" pitchFamily="34" charset="0"/>
              </a:rPr>
              <a:t>service standards</a:t>
            </a:r>
          </a:p>
        </p:txBody>
      </p:sp>
      <p:sp>
        <p:nvSpPr>
          <p:cNvPr id="3" name="Content Placeholder 2"/>
          <p:cNvSpPr>
            <a:spLocks noGrp="1"/>
          </p:cNvSpPr>
          <p:nvPr>
            <p:ph idx="1"/>
          </p:nvPr>
        </p:nvSpPr>
        <p:spPr>
          <a:xfrm>
            <a:off x="611560" y="1646237"/>
            <a:ext cx="5332040" cy="4525963"/>
          </a:xfrm>
        </p:spPr>
        <p:txBody>
          <a:bodyPr>
            <a:normAutofit/>
          </a:bodyPr>
          <a:lstStyle/>
          <a:p>
            <a:pPr marL="0" indent="0">
              <a:spcBef>
                <a:spcPts val="600"/>
              </a:spcBef>
              <a:spcAft>
                <a:spcPts val="1200"/>
              </a:spcAft>
              <a:buNone/>
            </a:pPr>
            <a:r>
              <a:rPr lang="en-US" sz="2100" dirty="0" smtClean="0">
                <a:latin typeface="Helvetica"/>
              </a:rPr>
              <a:t>Service standards:</a:t>
            </a:r>
          </a:p>
          <a:p>
            <a:pPr lvl="0"/>
            <a:r>
              <a:rPr lang="en-AU" sz="2100" dirty="0">
                <a:latin typeface="Helvetica"/>
              </a:rPr>
              <a:t>Provide a goal for staff or the organisation to concentrate efforts on</a:t>
            </a:r>
            <a:endParaRPr lang="en-US" sz="2100" dirty="0">
              <a:latin typeface="Helvetica"/>
            </a:endParaRPr>
          </a:p>
          <a:p>
            <a:pPr lvl="0"/>
            <a:r>
              <a:rPr lang="en-AU" sz="2100" dirty="0">
                <a:latin typeface="Helvetica"/>
              </a:rPr>
              <a:t>Outline a clear set of directions for staff to follow</a:t>
            </a:r>
            <a:endParaRPr lang="en-US" sz="2100" dirty="0">
              <a:latin typeface="Helvetica"/>
            </a:endParaRPr>
          </a:p>
          <a:p>
            <a:pPr lvl="0"/>
            <a:r>
              <a:rPr lang="en-AU" sz="2100" dirty="0">
                <a:latin typeface="Helvetica"/>
              </a:rPr>
              <a:t>Set a benchmark that needs to be attained</a:t>
            </a:r>
            <a:endParaRPr lang="en-US" sz="2100" dirty="0">
              <a:latin typeface="Helvetica"/>
            </a:endParaRPr>
          </a:p>
          <a:p>
            <a:pPr lvl="0"/>
            <a:r>
              <a:rPr lang="en-AU" sz="2100" dirty="0">
                <a:latin typeface="Helvetica"/>
              </a:rPr>
              <a:t>Allow actual service activities to be measured against desired levels</a:t>
            </a:r>
            <a:endParaRPr lang="en-US" sz="2100" dirty="0">
              <a:latin typeface="Helvetica"/>
            </a:endParaRPr>
          </a:p>
          <a:p>
            <a:pPr lvl="0"/>
            <a:r>
              <a:rPr lang="en-AU" sz="2100" dirty="0">
                <a:latin typeface="Helvetica"/>
              </a:rPr>
              <a:t>Help to shape and reflect organisational culture</a:t>
            </a:r>
            <a:endParaRPr lang="en-US" sz="2100" dirty="0">
              <a:latin typeface="Helvetica"/>
            </a:endParaRPr>
          </a:p>
          <a:p>
            <a:pPr marL="360000" indent="-360000">
              <a:spcBef>
                <a:spcPts val="600"/>
              </a:spcBef>
              <a:spcAft>
                <a:spcPts val="1200"/>
              </a:spcAft>
            </a:pPr>
            <a:endParaRPr lang="en-US" sz="2100" dirty="0" smtClean="0">
              <a:latin typeface="Helvetica"/>
            </a:endParaRPr>
          </a:p>
          <a:p>
            <a:pPr marL="360000" indent="-360000">
              <a:spcBef>
                <a:spcPts val="600"/>
              </a:spcBef>
              <a:spcAft>
                <a:spcPts val="1200"/>
              </a:spcAft>
              <a:buNone/>
            </a:pPr>
            <a:endParaRPr lang="en-US" sz="21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descr="C:\Documents and Settings\Godaishu\Desktop\PHOTOS\2014\Shutterstock 25-a-day\shutterstock_92144155.jpg"/>
          <p:cNvPicPr/>
          <p:nvPr/>
        </p:nvPicPr>
        <p:blipFill>
          <a:blip r:embed="rId3" cstate="print"/>
          <a:srcRect/>
          <a:stretch>
            <a:fillRect/>
          </a:stretch>
        </p:blipFill>
        <p:spPr bwMode="auto">
          <a:xfrm>
            <a:off x="6172200" y="2895600"/>
            <a:ext cx="2172335" cy="14630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SMART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430213"/>
            <a:ext cx="6246440" cy="4741987"/>
          </a:xfrm>
        </p:spPr>
        <p:txBody>
          <a:bodyPr>
            <a:noAutofit/>
          </a:bodyPr>
          <a:lstStyle/>
          <a:p>
            <a:pPr lvl="0">
              <a:spcBef>
                <a:spcPts val="600"/>
              </a:spcBef>
              <a:spcAft>
                <a:spcPts val="1200"/>
              </a:spcAft>
            </a:pPr>
            <a:r>
              <a:rPr lang="en-AU" sz="2200" b="1" dirty="0" smtClean="0">
                <a:latin typeface="Helvetica"/>
              </a:rPr>
              <a:t>S</a:t>
            </a:r>
            <a:r>
              <a:rPr lang="en-AU" sz="2200" dirty="0" smtClean="0">
                <a:latin typeface="Helvetica"/>
              </a:rPr>
              <a:t>pecific</a:t>
            </a:r>
            <a:r>
              <a:rPr lang="en-AU" sz="2200" dirty="0">
                <a:latin typeface="Helvetica"/>
              </a:rPr>
              <a:t>: standards should clearly state what they trying to achieve</a:t>
            </a:r>
            <a:endParaRPr lang="en-US" sz="2200" dirty="0">
              <a:latin typeface="Helvetica"/>
            </a:endParaRPr>
          </a:p>
          <a:p>
            <a:pPr lvl="0">
              <a:spcBef>
                <a:spcPts val="600"/>
              </a:spcBef>
              <a:spcAft>
                <a:spcPts val="1200"/>
              </a:spcAft>
            </a:pPr>
            <a:r>
              <a:rPr lang="en-AU" sz="2200" b="1" dirty="0">
                <a:latin typeface="Helvetica"/>
              </a:rPr>
              <a:t>M</a:t>
            </a:r>
            <a:r>
              <a:rPr lang="en-AU" sz="2200" dirty="0">
                <a:latin typeface="Helvetica"/>
              </a:rPr>
              <a:t>easurable: standards should be quantified. For example, ‘A room attendant should be able to clean 8 rooms per shift.’</a:t>
            </a:r>
            <a:endParaRPr lang="en-US" sz="2200" dirty="0">
              <a:latin typeface="Helvetica"/>
            </a:endParaRPr>
          </a:p>
          <a:p>
            <a:pPr lvl="0">
              <a:spcBef>
                <a:spcPts val="600"/>
              </a:spcBef>
              <a:spcAft>
                <a:spcPts val="1200"/>
              </a:spcAft>
            </a:pPr>
            <a:r>
              <a:rPr lang="en-AU" sz="2200" b="1" dirty="0">
                <a:latin typeface="Helvetica"/>
              </a:rPr>
              <a:t>A</a:t>
            </a:r>
            <a:r>
              <a:rPr lang="en-AU" sz="2200" dirty="0">
                <a:latin typeface="Helvetica"/>
              </a:rPr>
              <a:t>greed: standards should be agreed between all staff and </a:t>
            </a:r>
            <a:r>
              <a:rPr lang="en-AU" sz="2200" dirty="0" smtClean="0">
                <a:latin typeface="Helvetica"/>
              </a:rPr>
              <a:t>managers</a:t>
            </a: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a:p>
            <a:pPr marL="360000" indent="-360000">
              <a:spcBef>
                <a:spcPts val="600"/>
              </a:spcBef>
              <a:spcAft>
                <a:spcPts val="1200"/>
              </a:spcAft>
              <a:buNone/>
            </a:pPr>
            <a:r>
              <a:rPr lang="en-US" sz="2200" dirty="0" smtClean="0">
                <a:latin typeface="Helvetica"/>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39937" name="Picture 1" descr="C:\Documents and Settings\Godaishu\Desktop\PHOTOS\2014\Shutterstock 25-a-day\shutterstock_186121871.jpg"/>
          <p:cNvPicPr>
            <a:picLocks noChangeAspect="1" noChangeArrowheads="1"/>
          </p:cNvPicPr>
          <p:nvPr/>
        </p:nvPicPr>
        <p:blipFill>
          <a:blip r:embed="rId3" cstate="print"/>
          <a:srcRect/>
          <a:stretch>
            <a:fillRect/>
          </a:stretch>
        </p:blipFill>
        <p:spPr bwMode="auto">
          <a:xfrm>
            <a:off x="6019800" y="3276600"/>
            <a:ext cx="2284216" cy="1524000"/>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SMART guidelines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5636840" cy="4741987"/>
          </a:xfrm>
        </p:spPr>
        <p:txBody>
          <a:bodyPr>
            <a:noAutofit/>
          </a:bodyPr>
          <a:lstStyle/>
          <a:p>
            <a:pPr lvl="0">
              <a:spcBef>
                <a:spcPts val="600"/>
              </a:spcBef>
              <a:spcAft>
                <a:spcPts val="1200"/>
              </a:spcAft>
            </a:pPr>
            <a:r>
              <a:rPr lang="en-AU" sz="2200" b="1" dirty="0" smtClean="0">
                <a:latin typeface="Helvetica"/>
              </a:rPr>
              <a:t>R</a:t>
            </a:r>
            <a:r>
              <a:rPr lang="en-AU" sz="2200" dirty="0" smtClean="0">
                <a:latin typeface="Helvetica"/>
              </a:rPr>
              <a:t>ealistic</a:t>
            </a:r>
            <a:r>
              <a:rPr lang="en-AU" sz="2200" dirty="0">
                <a:latin typeface="Helvetica"/>
              </a:rPr>
              <a:t>: standards should be achievable. A two star resort may not be able to deliver five star service in a restaurant outlet so they shouldn’t develop standards at a level above what they can realistically </a:t>
            </a:r>
            <a:r>
              <a:rPr lang="en-AU" sz="2200" dirty="0" smtClean="0">
                <a:latin typeface="Helvetica"/>
              </a:rPr>
              <a:t>deliver</a:t>
            </a:r>
            <a:endParaRPr lang="en-US" sz="2200" dirty="0">
              <a:latin typeface="Helvetica"/>
            </a:endParaRPr>
          </a:p>
          <a:p>
            <a:pPr lvl="0">
              <a:spcBef>
                <a:spcPts val="600"/>
              </a:spcBef>
              <a:spcAft>
                <a:spcPts val="1200"/>
              </a:spcAft>
            </a:pPr>
            <a:r>
              <a:rPr lang="en-AU" sz="2200" b="1" dirty="0">
                <a:latin typeface="Helvetica"/>
              </a:rPr>
              <a:t>T</a:t>
            </a:r>
            <a:r>
              <a:rPr lang="en-AU" sz="2200" dirty="0">
                <a:latin typeface="Helvetica"/>
              </a:rPr>
              <a:t>ime-bound: a timeframe or deadline should be stated. For example, ‘Emails must be responded to within 24hours of receipt.’</a:t>
            </a:r>
            <a:endParaRPr lang="en-US" sz="2200" dirty="0">
              <a:latin typeface="Helvetica"/>
            </a:endParaRPr>
          </a:p>
          <a:p>
            <a:pPr marL="360000" indent="-360000">
              <a:spcBef>
                <a:spcPts val="600"/>
              </a:spcBef>
              <a:spcAft>
                <a:spcPts val="1200"/>
              </a:spcAft>
            </a:pP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86018" name="Picture 2" descr="C:\Documents and Settings\Godaishu\Desktop\PHOTOS\2014\Shutterstock 25-a-day\shutterstock_163971791.jpg"/>
          <p:cNvPicPr>
            <a:picLocks noChangeAspect="1" noChangeArrowheads="1"/>
          </p:cNvPicPr>
          <p:nvPr/>
        </p:nvPicPr>
        <p:blipFill>
          <a:blip r:embed="rId3" cstate="print"/>
          <a:srcRect/>
          <a:stretch>
            <a:fillRect/>
          </a:stretch>
        </p:blipFill>
        <p:spPr bwMode="auto">
          <a:xfrm>
            <a:off x="6629400" y="1981200"/>
            <a:ext cx="1525191" cy="22860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Discussion questions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556792"/>
            <a:ext cx="6170240" cy="4525963"/>
          </a:xfrm>
        </p:spPr>
        <p:txBody>
          <a:bodyPr>
            <a:normAutofit/>
          </a:bodyPr>
          <a:lstStyle/>
          <a:p>
            <a:pPr>
              <a:spcBef>
                <a:spcPts val="600"/>
              </a:spcBef>
              <a:spcAft>
                <a:spcPts val="1200"/>
              </a:spcAft>
            </a:pPr>
            <a:r>
              <a:rPr lang="en-AU" sz="2200" dirty="0" smtClean="0">
                <a:latin typeface="Helvetica"/>
              </a:rPr>
              <a:t>How </a:t>
            </a:r>
            <a:r>
              <a:rPr lang="en-AU" sz="2200" dirty="0">
                <a:latin typeface="Helvetica"/>
              </a:rPr>
              <a:t>often are service standards reviewed in your </a:t>
            </a:r>
            <a:r>
              <a:rPr lang="en-AU" sz="2200" dirty="0" smtClean="0">
                <a:latin typeface="Helvetica"/>
              </a:rPr>
              <a:t>workplace?</a:t>
            </a:r>
          </a:p>
          <a:p>
            <a:pPr>
              <a:spcBef>
                <a:spcPts val="600"/>
              </a:spcBef>
              <a:spcAft>
                <a:spcPts val="1200"/>
              </a:spcAft>
            </a:pPr>
            <a:r>
              <a:rPr lang="en-AU" sz="2200" dirty="0" smtClean="0">
                <a:latin typeface="Helvetica"/>
              </a:rPr>
              <a:t>Who </a:t>
            </a:r>
            <a:r>
              <a:rPr lang="en-AU" sz="2200" dirty="0">
                <a:latin typeface="Helvetica"/>
              </a:rPr>
              <a:t>organises and manages the </a:t>
            </a:r>
            <a:r>
              <a:rPr lang="en-AU" sz="2200" dirty="0" smtClean="0">
                <a:latin typeface="Helvetica"/>
              </a:rPr>
              <a:t>review?</a:t>
            </a:r>
          </a:p>
          <a:p>
            <a:pPr>
              <a:spcBef>
                <a:spcPts val="600"/>
              </a:spcBef>
              <a:spcAft>
                <a:spcPts val="1200"/>
              </a:spcAft>
            </a:pPr>
            <a:r>
              <a:rPr lang="en-AU" sz="2200" dirty="0" smtClean="0">
                <a:latin typeface="Helvetica"/>
              </a:rPr>
              <a:t>Are </a:t>
            </a:r>
            <a:r>
              <a:rPr lang="en-AU" sz="2200" dirty="0">
                <a:latin typeface="Helvetica"/>
              </a:rPr>
              <a:t>all people involved in the service delivery asked for their feedback?</a:t>
            </a:r>
            <a:endParaRPr lang="en-US" sz="2200" dirty="0">
              <a:latin typeface="Helvetica"/>
            </a:endParaRPr>
          </a:p>
          <a:p>
            <a:pPr marL="360000" indent="-360000">
              <a:spcBef>
                <a:spcPts val="600"/>
              </a:spcBef>
              <a:spcAft>
                <a:spcPts val="1200"/>
              </a:spcAft>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37889" name="Picture 1" descr="C:\Documents and Settings\Godaishu\Desktop\PHOTOS\2014\Shutterstock 25-a-day\shutterstock_48704089.jpg"/>
          <p:cNvPicPr>
            <a:picLocks noChangeAspect="1" noChangeArrowheads="1"/>
          </p:cNvPicPr>
          <p:nvPr/>
        </p:nvPicPr>
        <p:blipFill>
          <a:blip r:embed="rId3" cstate="print"/>
          <a:srcRect r="15000"/>
          <a:stretch>
            <a:fillRect/>
          </a:stretch>
        </p:blipFill>
        <p:spPr bwMode="auto">
          <a:xfrm>
            <a:off x="3200400" y="3962400"/>
            <a:ext cx="2590800" cy="2024063"/>
          </a:xfrm>
          <a:prstGeom prst="rect">
            <a:avLst/>
          </a:prstGeom>
          <a:noFill/>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1.4	Liaise with management to 	ratify service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804342" y="1893906"/>
            <a:ext cx="7467600" cy="4525963"/>
          </a:xfrm>
        </p:spPr>
        <p:txBody>
          <a:bodyPr>
            <a:normAutofit/>
          </a:bodyPr>
          <a:lstStyle/>
          <a:p>
            <a:pPr marL="0" indent="0">
              <a:spcBef>
                <a:spcPts val="600"/>
              </a:spcBef>
              <a:spcAft>
                <a:spcPts val="1200"/>
              </a:spcAft>
              <a:buNone/>
            </a:pPr>
            <a:r>
              <a:rPr lang="en-US" sz="2200" b="1" dirty="0" smtClean="0">
                <a:latin typeface="Helvetica"/>
              </a:rPr>
              <a:t>Meeting with management:</a:t>
            </a:r>
          </a:p>
          <a:p>
            <a:pPr marL="360000" indent="-360000">
              <a:spcBef>
                <a:spcPts val="600"/>
              </a:spcBef>
              <a:spcAft>
                <a:spcPts val="1200"/>
              </a:spcAft>
            </a:pPr>
            <a:r>
              <a:rPr lang="en-AU" sz="2200" dirty="0">
                <a:latin typeface="Helvetica"/>
              </a:rPr>
              <a:t>After drafting a service standard statement, management will need to review the draft and to offer input or advice before the service standard will be agreed </a:t>
            </a:r>
            <a:r>
              <a:rPr lang="en-AU" sz="2200" dirty="0" smtClean="0">
                <a:latin typeface="Helvetica"/>
              </a:rPr>
              <a:t>to</a:t>
            </a:r>
          </a:p>
          <a:p>
            <a:pPr marL="0" indent="0">
              <a:spcBef>
                <a:spcPts val="600"/>
              </a:spcBef>
              <a:spcAft>
                <a:spcPts val="1200"/>
              </a:spcAft>
              <a:buNone/>
            </a:pPr>
            <a:endParaRPr lang="en-AU" sz="2200" dirty="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6" name="Picture 5" descr="C:\Documents and Settings\Godaishu\Desktop\PHOTOS\2014\Shutterstock 25-a-day\shutterstock_122825407.jpg"/>
          <p:cNvPicPr/>
          <p:nvPr/>
        </p:nvPicPr>
        <p:blipFill>
          <a:blip r:embed="rId3" cstate="print"/>
          <a:srcRect/>
          <a:stretch>
            <a:fillRect/>
          </a:stretch>
        </p:blipFill>
        <p:spPr bwMode="auto">
          <a:xfrm>
            <a:off x="2974936" y="4038600"/>
            <a:ext cx="2790864" cy="1828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Discussions with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7637"/>
            <a:ext cx="5408240" cy="4754563"/>
          </a:xfrm>
        </p:spPr>
        <p:txBody>
          <a:bodyPr>
            <a:noAutofit/>
          </a:bodyPr>
          <a:lstStyle/>
          <a:p>
            <a:pPr marL="0" indent="0">
              <a:spcBef>
                <a:spcPts val="600"/>
              </a:spcBef>
              <a:spcAft>
                <a:spcPts val="1200"/>
              </a:spcAft>
              <a:buNone/>
            </a:pPr>
            <a:r>
              <a:rPr lang="en-AU" sz="2100" dirty="0">
                <a:latin typeface="Helvetica"/>
              </a:rPr>
              <a:t>W</a:t>
            </a:r>
            <a:r>
              <a:rPr lang="en-AU" sz="2100" dirty="0" smtClean="0">
                <a:latin typeface="Helvetica"/>
              </a:rPr>
              <a:t>hen presenting service standards to management, ensure that:</a:t>
            </a:r>
            <a:endParaRPr lang="en-US" sz="2100" dirty="0" smtClean="0">
              <a:latin typeface="Helvetica"/>
            </a:endParaRPr>
          </a:p>
          <a:p>
            <a:pPr lvl="0">
              <a:spcBef>
                <a:spcPts val="600"/>
              </a:spcBef>
              <a:spcAft>
                <a:spcPts val="1200"/>
              </a:spcAft>
            </a:pPr>
            <a:r>
              <a:rPr lang="en-AU" sz="2100" dirty="0">
                <a:latin typeface="Helvetica"/>
              </a:rPr>
              <a:t>Draft service standards are written clearly</a:t>
            </a:r>
            <a:endParaRPr lang="en-US" sz="2100" dirty="0">
              <a:latin typeface="Helvetica"/>
            </a:endParaRPr>
          </a:p>
          <a:p>
            <a:pPr lvl="0">
              <a:spcBef>
                <a:spcPts val="600"/>
              </a:spcBef>
              <a:spcAft>
                <a:spcPts val="1200"/>
              </a:spcAft>
            </a:pPr>
            <a:r>
              <a:rPr lang="en-AU" sz="2100" dirty="0">
                <a:latin typeface="Helvetica"/>
              </a:rPr>
              <a:t>Standards are based upon ‘SMART’ criteria</a:t>
            </a:r>
            <a:endParaRPr lang="en-US" sz="2100" dirty="0">
              <a:latin typeface="Helvetica"/>
            </a:endParaRPr>
          </a:p>
          <a:p>
            <a:pPr lvl="0">
              <a:spcBef>
                <a:spcPts val="600"/>
              </a:spcBef>
              <a:spcAft>
                <a:spcPts val="1200"/>
              </a:spcAft>
            </a:pPr>
            <a:r>
              <a:rPr lang="en-AU" sz="2100" dirty="0">
                <a:latin typeface="Helvetica"/>
              </a:rPr>
              <a:t>Feedback has been gathered from internal and external customers </a:t>
            </a:r>
            <a:endParaRPr lang="en-US" sz="2100" dirty="0">
              <a:latin typeface="Helvetica"/>
            </a:endParaRPr>
          </a:p>
          <a:p>
            <a:pPr lvl="0">
              <a:spcBef>
                <a:spcPts val="600"/>
              </a:spcBef>
              <a:spcAft>
                <a:spcPts val="1200"/>
              </a:spcAft>
            </a:pPr>
            <a:r>
              <a:rPr lang="en-AU" sz="2100" dirty="0">
                <a:latin typeface="Helvetica"/>
              </a:rPr>
              <a:t>Feedback and evidence from staff, industry examples and external customers has been incorporated into the draft </a:t>
            </a:r>
            <a:r>
              <a:rPr lang="en-AU" sz="2100" dirty="0" smtClean="0">
                <a:latin typeface="Helvetica"/>
              </a:rPr>
              <a:t>standards</a:t>
            </a:r>
          </a:p>
          <a:p>
            <a:pPr lvl="0">
              <a:spcBef>
                <a:spcPts val="600"/>
              </a:spcBef>
              <a:spcAft>
                <a:spcPts val="1200"/>
              </a:spcAft>
              <a:buNone/>
            </a:pPr>
            <a:r>
              <a:rPr lang="en-US" sz="2100" dirty="0" smtClean="0">
                <a:latin typeface="Helvetica"/>
              </a:rPr>
              <a:t>(</a:t>
            </a:r>
            <a:r>
              <a:rPr lang="en-US" sz="2100" dirty="0" smtClean="0">
                <a:latin typeface="Helvetica"/>
              </a:rPr>
              <a:t>Continued)</a:t>
            </a:r>
            <a:endParaRPr lang="en-US" sz="2100" dirty="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descr="C:\Documents and Settings\Godaishu\Desktop\PHOTOS\2014\Shutterstock 25-a-day\shutterstock_122825407.jpg"/>
          <p:cNvPicPr/>
          <p:nvPr/>
        </p:nvPicPr>
        <p:blipFill>
          <a:blip r:embed="rId3" cstate="print"/>
          <a:srcRect/>
          <a:stretch>
            <a:fillRect/>
          </a:stretch>
        </p:blipFill>
        <p:spPr bwMode="auto">
          <a:xfrm>
            <a:off x="6096000" y="2667000"/>
            <a:ext cx="2267424" cy="148760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Discussions with management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5560640" cy="4525963"/>
          </a:xfrm>
        </p:spPr>
        <p:txBody>
          <a:bodyPr>
            <a:noAutofit/>
          </a:bodyPr>
          <a:lstStyle/>
          <a:p>
            <a:pPr marL="0" indent="0">
              <a:spcBef>
                <a:spcPts val="600"/>
              </a:spcBef>
              <a:spcAft>
                <a:spcPts val="600"/>
              </a:spcAft>
              <a:buNone/>
            </a:pPr>
            <a:r>
              <a:rPr lang="en-AU" sz="2100" dirty="0">
                <a:latin typeface="Helvetica"/>
              </a:rPr>
              <a:t>W</a:t>
            </a:r>
            <a:r>
              <a:rPr lang="en-AU" sz="2100" dirty="0" smtClean="0">
                <a:latin typeface="Helvetica"/>
              </a:rPr>
              <a:t>hen presenting service standards to management, ensure that:</a:t>
            </a:r>
            <a:endParaRPr lang="en-US" sz="2100" dirty="0" smtClean="0">
              <a:latin typeface="Helvetica"/>
            </a:endParaRPr>
          </a:p>
          <a:p>
            <a:pPr lvl="0">
              <a:spcBef>
                <a:spcPts val="600"/>
              </a:spcBef>
              <a:spcAft>
                <a:spcPts val="600"/>
              </a:spcAft>
            </a:pPr>
            <a:r>
              <a:rPr lang="en-AU" sz="2100" dirty="0" smtClean="0">
                <a:latin typeface="Helvetica"/>
              </a:rPr>
              <a:t>Background </a:t>
            </a:r>
            <a:r>
              <a:rPr lang="en-AU" sz="2100" dirty="0">
                <a:latin typeface="Helvetica"/>
              </a:rPr>
              <a:t>is provided for management on why service standards are at the described level, need to be updated or continued at existing levels</a:t>
            </a:r>
            <a:endParaRPr lang="en-US" sz="2100" dirty="0">
              <a:latin typeface="Helvetica"/>
            </a:endParaRPr>
          </a:p>
          <a:p>
            <a:pPr lvl="0">
              <a:spcBef>
                <a:spcPts val="600"/>
              </a:spcBef>
              <a:spcAft>
                <a:spcPts val="600"/>
              </a:spcAft>
            </a:pPr>
            <a:r>
              <a:rPr lang="en-AU" sz="2100" dirty="0">
                <a:latin typeface="Helvetica"/>
              </a:rPr>
              <a:t>Any suggested inclusions or changes are clearly supported with evidence </a:t>
            </a:r>
            <a:endParaRPr lang="en-US" sz="2100" dirty="0">
              <a:latin typeface="Helvetica"/>
            </a:endParaRPr>
          </a:p>
          <a:p>
            <a:pPr lvl="0">
              <a:spcBef>
                <a:spcPts val="600"/>
              </a:spcBef>
              <a:spcAft>
                <a:spcPts val="600"/>
              </a:spcAft>
            </a:pPr>
            <a:r>
              <a:rPr lang="en-AU" sz="2100" dirty="0">
                <a:latin typeface="Helvetica"/>
              </a:rPr>
              <a:t>Management is provided with an opportunity to respond and offer feedback</a:t>
            </a:r>
            <a:endParaRPr lang="en-US" sz="2100" dirty="0">
              <a:latin typeface="Helvetica"/>
            </a:endParaRPr>
          </a:p>
          <a:p>
            <a:pPr lvl="0">
              <a:spcBef>
                <a:spcPts val="600"/>
              </a:spcBef>
              <a:spcAft>
                <a:spcPts val="600"/>
              </a:spcAft>
            </a:pPr>
            <a:r>
              <a:rPr lang="en-AU" sz="2100" dirty="0">
                <a:latin typeface="Helvetica"/>
              </a:rPr>
              <a:t>Service standards reflect and incorporate organisational goals, beliefs and desired levels as well as meeting customer </a:t>
            </a:r>
            <a:r>
              <a:rPr lang="en-AU" sz="2100" dirty="0" smtClean="0">
                <a:latin typeface="Helvetica"/>
              </a:rPr>
              <a:t>expectations</a:t>
            </a:r>
            <a:endParaRPr lang="en-US" sz="2100" dirty="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87043" name="Picture 3" descr="C:\Documents and Settings\Godaishu\Desktop\PHOTOS\2014\Shutterstock 25-a-day\shutterstock_117432550.jpg"/>
          <p:cNvPicPr>
            <a:picLocks noChangeAspect="1" noChangeArrowheads="1"/>
          </p:cNvPicPr>
          <p:nvPr/>
        </p:nvPicPr>
        <p:blipFill>
          <a:blip r:embed="rId3" cstate="print"/>
          <a:srcRect/>
          <a:stretch>
            <a:fillRect/>
          </a:stretch>
        </p:blipFill>
        <p:spPr bwMode="auto">
          <a:xfrm>
            <a:off x="6324600" y="3276600"/>
            <a:ext cx="2286000" cy="1525191"/>
          </a:xfrm>
          <a:prstGeom prst="rect">
            <a:avLst/>
          </a:prstGeom>
          <a:noFill/>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1.5	Produce written service 	standards for team use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5941640" cy="4525963"/>
          </a:xfrm>
        </p:spPr>
        <p:txBody>
          <a:bodyPr>
            <a:normAutofit/>
          </a:bodyPr>
          <a:lstStyle/>
          <a:p>
            <a:pPr marL="0" indent="0">
              <a:spcBef>
                <a:spcPts val="600"/>
              </a:spcBef>
              <a:spcAft>
                <a:spcPts val="1200"/>
              </a:spcAft>
              <a:buNone/>
            </a:pPr>
            <a:r>
              <a:rPr lang="en-AU" sz="2200" dirty="0">
                <a:latin typeface="Helvetica"/>
              </a:rPr>
              <a:t>There </a:t>
            </a:r>
            <a:r>
              <a:rPr lang="en-AU" sz="2200" dirty="0" smtClean="0">
                <a:latin typeface="Helvetica"/>
              </a:rPr>
              <a:t>are </a:t>
            </a:r>
            <a:r>
              <a:rPr lang="en-AU" sz="2200" dirty="0">
                <a:latin typeface="Helvetica"/>
              </a:rPr>
              <a:t>many things that should be considered when developing </a:t>
            </a:r>
            <a:r>
              <a:rPr lang="en-AU" sz="2200" dirty="0" smtClean="0">
                <a:latin typeface="Helvetica"/>
              </a:rPr>
              <a:t>written </a:t>
            </a:r>
            <a:r>
              <a:rPr lang="en-AU" sz="2200" dirty="0">
                <a:latin typeface="Helvetica"/>
              </a:rPr>
              <a:t>standards that relate to the document itself. </a:t>
            </a:r>
            <a:endParaRPr lang="en-US" sz="2200" dirty="0" smtClean="0">
              <a:latin typeface="Helvetica"/>
            </a:endParaRPr>
          </a:p>
          <a:p>
            <a:pPr marL="360000" indent="-360000">
              <a:spcBef>
                <a:spcPts val="600"/>
              </a:spcBef>
              <a:spcAft>
                <a:spcPts val="1200"/>
              </a:spcAft>
            </a:pPr>
            <a:r>
              <a:rPr lang="en-AU" sz="2200" dirty="0">
                <a:latin typeface="Helvetica"/>
              </a:rPr>
              <a:t>The </a:t>
            </a:r>
            <a:r>
              <a:rPr lang="en-AU" sz="2200" dirty="0" smtClean="0">
                <a:latin typeface="Helvetica"/>
              </a:rPr>
              <a:t>service </a:t>
            </a:r>
            <a:r>
              <a:rPr lang="en-AU" sz="2200" dirty="0">
                <a:latin typeface="Helvetica"/>
              </a:rPr>
              <a:t>standards need to be accessible and easy to identify. </a:t>
            </a:r>
            <a:r>
              <a:rPr lang="en-AU" sz="2200" dirty="0" smtClean="0">
                <a:latin typeface="Helvetica"/>
              </a:rPr>
              <a:t>This </a:t>
            </a:r>
            <a:r>
              <a:rPr lang="en-AU" sz="2200" dirty="0">
                <a:latin typeface="Helvetica"/>
              </a:rPr>
              <a:t>is extremely important as a document that cannot be </a:t>
            </a:r>
            <a:r>
              <a:rPr lang="en-AU" sz="2200" dirty="0" smtClean="0">
                <a:latin typeface="Helvetica"/>
              </a:rPr>
              <a:t>accessed </a:t>
            </a:r>
            <a:r>
              <a:rPr lang="en-AU" sz="2200" dirty="0">
                <a:latin typeface="Helvetica"/>
              </a:rPr>
              <a:t>is just </a:t>
            </a:r>
            <a:r>
              <a:rPr lang="en-AU" sz="2200" dirty="0" smtClean="0">
                <a:latin typeface="Helvetica"/>
              </a:rPr>
              <a:t>information</a:t>
            </a:r>
          </a:p>
          <a:p>
            <a:pPr marL="360000" indent="-360000">
              <a:spcBef>
                <a:spcPts val="600"/>
              </a:spcBef>
              <a:spcAft>
                <a:spcPts val="1200"/>
              </a:spcAft>
            </a:pPr>
            <a:r>
              <a:rPr lang="en-AU" sz="2200" dirty="0" smtClean="0">
                <a:latin typeface="Helvetica"/>
              </a:rPr>
              <a:t>Written </a:t>
            </a:r>
            <a:r>
              <a:rPr lang="en-AU" sz="2200" dirty="0">
                <a:latin typeface="Helvetica"/>
              </a:rPr>
              <a:t>service standards that </a:t>
            </a:r>
            <a:r>
              <a:rPr lang="en-AU" sz="2200" dirty="0" smtClean="0">
                <a:latin typeface="Helvetica"/>
              </a:rPr>
              <a:t>are </a:t>
            </a:r>
            <a:r>
              <a:rPr lang="en-AU" sz="2200" dirty="0">
                <a:latin typeface="Helvetica"/>
              </a:rPr>
              <a:t>easily accessible help to make these standards an </a:t>
            </a:r>
            <a:r>
              <a:rPr lang="en-AU" sz="2200" dirty="0" smtClean="0">
                <a:latin typeface="Helvetica"/>
              </a:rPr>
              <a:t>integral part </a:t>
            </a:r>
            <a:r>
              <a:rPr lang="en-AU" sz="2200" dirty="0">
                <a:latin typeface="Helvetica"/>
              </a:rPr>
              <a:t>of the organisational culture and service </a:t>
            </a:r>
            <a:r>
              <a:rPr lang="en-AU" sz="2200" dirty="0" smtClean="0">
                <a:latin typeface="Helvetica"/>
              </a:rPr>
              <a:t>delivery</a:t>
            </a:r>
            <a:endParaRPr lang="en-US" sz="2200" dirty="0">
              <a:latin typeface="Helvetica"/>
            </a:endParaRPr>
          </a:p>
          <a:p>
            <a:pPr marL="360000" indent="-360000">
              <a:spcBef>
                <a:spcPts val="600"/>
              </a:spcBef>
              <a:spcAft>
                <a:spcPts val="1200"/>
              </a:spcAft>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descr="C:\Users\Quentin\AppData\Local\Microsoft\Windows\Temporary Internet Files\Content.IE5\7YL50THV\lever-arch-file[1].jpg"/>
          <p:cNvPicPr/>
          <p:nvPr/>
        </p:nvPicPr>
        <p:blipFill>
          <a:blip r:embed="rId3" cstate="print"/>
          <a:srcRect/>
          <a:stretch>
            <a:fillRect/>
          </a:stretch>
        </p:blipFill>
        <p:spPr bwMode="auto">
          <a:xfrm>
            <a:off x="6547990" y="2819400"/>
            <a:ext cx="1763781" cy="18049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Producing written service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646237"/>
            <a:ext cx="5791200" cy="4525963"/>
          </a:xfrm>
        </p:spPr>
        <p:txBody>
          <a:bodyPr>
            <a:normAutofit fontScale="92500" lnSpcReduction="10000"/>
          </a:bodyPr>
          <a:lstStyle/>
          <a:p>
            <a:pPr lvl="0">
              <a:spcBef>
                <a:spcPts val="600"/>
              </a:spcBef>
              <a:spcAft>
                <a:spcPts val="600"/>
              </a:spcAft>
            </a:pPr>
            <a:r>
              <a:rPr lang="en-AU" sz="2000" dirty="0">
                <a:latin typeface="Helvetica"/>
              </a:rPr>
              <a:t>Write clearly and use language which is simple to understand</a:t>
            </a:r>
            <a:endParaRPr lang="en-US" sz="2000" dirty="0">
              <a:latin typeface="Helvetica"/>
            </a:endParaRPr>
          </a:p>
          <a:p>
            <a:pPr lvl="0">
              <a:spcBef>
                <a:spcPts val="600"/>
              </a:spcBef>
              <a:spcAft>
                <a:spcPts val="600"/>
              </a:spcAft>
            </a:pPr>
            <a:r>
              <a:rPr lang="en-AU" sz="2000" dirty="0">
                <a:latin typeface="Helvetica"/>
              </a:rPr>
              <a:t>Use a logical, step by step format</a:t>
            </a:r>
            <a:endParaRPr lang="en-US" sz="2000" dirty="0">
              <a:latin typeface="Helvetica"/>
            </a:endParaRPr>
          </a:p>
          <a:p>
            <a:pPr lvl="0">
              <a:spcBef>
                <a:spcPts val="600"/>
              </a:spcBef>
              <a:spcAft>
                <a:spcPts val="600"/>
              </a:spcAft>
            </a:pPr>
            <a:r>
              <a:rPr lang="en-AU" sz="2000" dirty="0">
                <a:latin typeface="Helvetica"/>
              </a:rPr>
              <a:t>Make sure the standards align with company policies, guidelines and mission</a:t>
            </a:r>
            <a:endParaRPr lang="en-US" sz="2000" dirty="0">
              <a:latin typeface="Helvetica"/>
            </a:endParaRPr>
          </a:p>
          <a:p>
            <a:pPr lvl="0">
              <a:spcBef>
                <a:spcPts val="600"/>
              </a:spcBef>
              <a:spcAft>
                <a:spcPts val="600"/>
              </a:spcAft>
            </a:pPr>
            <a:r>
              <a:rPr lang="en-AU" sz="2000" dirty="0">
                <a:latin typeface="Helvetica"/>
              </a:rPr>
              <a:t>Name the files clearly and logically so people can easily find the service standard they require. Store them effectively. If service standards are stored electronically they must be stored effectively so other staff can find them easily. Using folders and sub-folders can assist </a:t>
            </a:r>
            <a:endParaRPr lang="en-US" sz="2000" dirty="0">
              <a:latin typeface="Helvetica"/>
            </a:endParaRPr>
          </a:p>
          <a:p>
            <a:pPr lvl="0">
              <a:spcBef>
                <a:spcPts val="600"/>
              </a:spcBef>
              <a:spcAft>
                <a:spcPts val="600"/>
              </a:spcAft>
            </a:pPr>
            <a:r>
              <a:rPr lang="en-AU" sz="2000" dirty="0">
                <a:latin typeface="Helvetica"/>
              </a:rPr>
              <a:t>Include a section which identifies when the standard was created, who created it, which is the latest version and when it is due for review</a:t>
            </a:r>
            <a:endParaRPr lang="en-US" sz="2000" dirty="0">
              <a:latin typeface="Helvetica"/>
            </a:endParaRPr>
          </a:p>
          <a:p>
            <a:pPr marL="0" indent="0">
              <a:spcBef>
                <a:spcPts val="600"/>
              </a:spcBef>
              <a:spcAft>
                <a:spcPts val="600"/>
              </a:spcAft>
              <a:buNone/>
            </a:pPr>
            <a:endParaRPr lang="en-US" sz="2000" dirty="0" smtClean="0">
              <a:latin typeface="Helvetica"/>
            </a:endParaRPr>
          </a:p>
          <a:p>
            <a:pPr marL="360000" indent="-360000">
              <a:spcBef>
                <a:spcPts val="600"/>
              </a:spcBef>
              <a:spcAft>
                <a:spcPts val="600"/>
              </a:spcAft>
            </a:pPr>
            <a:endParaRPr lang="en-US" sz="2000" dirty="0" smtClean="0">
              <a:latin typeface="Helvetica"/>
            </a:endParaRPr>
          </a:p>
          <a:p>
            <a:pPr marL="360000" indent="0">
              <a:spcBef>
                <a:spcPts val="600"/>
              </a:spcBef>
              <a:spcAft>
                <a:spcPts val="600"/>
              </a:spcAft>
              <a:buClr>
                <a:schemeClr val="accent1">
                  <a:lumMod val="75000"/>
                </a:schemeClr>
              </a:buClr>
              <a:buSzPct val="100000"/>
              <a:buNone/>
            </a:pPr>
            <a:endParaRPr lang="en-US" sz="2000" dirty="0" smtClean="0">
              <a:latin typeface="Helvetica"/>
            </a:endParaRPr>
          </a:p>
          <a:p>
            <a:pPr marL="360000" indent="-360000">
              <a:spcBef>
                <a:spcPts val="600"/>
              </a:spcBef>
              <a:spcAft>
                <a:spcPts val="600"/>
              </a:spcAft>
              <a:buNone/>
            </a:pPr>
            <a:endParaRPr lang="en-US" sz="20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29697" name="Picture 1" descr="C:\Documents and Settings\Godaishu\Desktop\PHOTOS\2014\Shutterstock 25-a-day\shutterstock_129508757.jpg"/>
          <p:cNvPicPr>
            <a:picLocks noChangeAspect="1" noChangeArrowheads="1"/>
          </p:cNvPicPr>
          <p:nvPr/>
        </p:nvPicPr>
        <p:blipFill>
          <a:blip r:embed="rId3" cstate="print"/>
          <a:srcRect l="13793"/>
          <a:stretch>
            <a:fillRect/>
          </a:stretch>
        </p:blipFill>
        <p:spPr bwMode="auto">
          <a:xfrm>
            <a:off x="6400800" y="3048000"/>
            <a:ext cx="1905000" cy="1462841"/>
          </a:xfrm>
          <a:prstGeom prst="rect">
            <a:avLst/>
          </a:prstGeom>
          <a:noFill/>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170240" cy="4525963"/>
          </a:xfrm>
        </p:spPr>
        <p:txBody>
          <a:bodyPr>
            <a:normAutofit fontScale="92500"/>
          </a:bodyPr>
          <a:lstStyle/>
          <a:p>
            <a:pPr marL="36576" indent="0">
              <a:spcBef>
                <a:spcPts val="600"/>
              </a:spcBef>
              <a:spcAft>
                <a:spcPts val="1200"/>
              </a:spcAft>
              <a:buNone/>
            </a:pPr>
            <a:r>
              <a:rPr lang="en-AU" sz="2200" dirty="0">
                <a:latin typeface="Helvetica"/>
              </a:rPr>
              <a:t>There is a process that needs to be followed when developing service standards which includes:</a:t>
            </a:r>
            <a:endParaRPr lang="en-US" sz="2200" dirty="0">
              <a:latin typeface="Helvetica"/>
            </a:endParaRPr>
          </a:p>
          <a:p>
            <a:pPr lvl="0">
              <a:spcBef>
                <a:spcPts val="600"/>
              </a:spcBef>
              <a:spcAft>
                <a:spcPts val="1200"/>
              </a:spcAft>
            </a:pPr>
            <a:r>
              <a:rPr lang="en-AU" sz="2200" dirty="0">
                <a:latin typeface="Helvetica"/>
              </a:rPr>
              <a:t>Identifying customers and factors influencing service standards</a:t>
            </a:r>
            <a:endParaRPr lang="en-US" sz="2200" dirty="0">
              <a:latin typeface="Helvetica"/>
            </a:endParaRPr>
          </a:p>
          <a:p>
            <a:pPr lvl="0">
              <a:spcBef>
                <a:spcPts val="600"/>
              </a:spcBef>
              <a:spcAft>
                <a:spcPts val="1200"/>
              </a:spcAft>
            </a:pPr>
            <a:r>
              <a:rPr lang="en-AU" sz="2200" dirty="0">
                <a:latin typeface="Helvetica"/>
              </a:rPr>
              <a:t>Research customer expectations </a:t>
            </a:r>
            <a:endParaRPr lang="en-US" sz="2200" dirty="0">
              <a:latin typeface="Helvetica"/>
            </a:endParaRPr>
          </a:p>
          <a:p>
            <a:pPr lvl="0">
              <a:spcBef>
                <a:spcPts val="600"/>
              </a:spcBef>
              <a:spcAft>
                <a:spcPts val="1200"/>
              </a:spcAft>
            </a:pPr>
            <a:r>
              <a:rPr lang="en-AU" sz="2200" dirty="0">
                <a:latin typeface="Helvetica"/>
              </a:rPr>
              <a:t>Integrate any research findings into draft service standards</a:t>
            </a:r>
            <a:endParaRPr lang="en-US" sz="2200" dirty="0">
              <a:latin typeface="Helvetica"/>
            </a:endParaRPr>
          </a:p>
          <a:p>
            <a:pPr lvl="0">
              <a:spcBef>
                <a:spcPts val="600"/>
              </a:spcBef>
              <a:spcAft>
                <a:spcPts val="1200"/>
              </a:spcAft>
            </a:pPr>
            <a:r>
              <a:rPr lang="en-AU" sz="2200" dirty="0">
                <a:latin typeface="Helvetica"/>
              </a:rPr>
              <a:t>Work with management to agree on service standard details</a:t>
            </a:r>
            <a:endParaRPr lang="en-US" sz="2200" dirty="0">
              <a:latin typeface="Helvetica"/>
            </a:endParaRPr>
          </a:p>
          <a:p>
            <a:pPr lvl="0">
              <a:spcBef>
                <a:spcPts val="600"/>
              </a:spcBef>
              <a:spcAft>
                <a:spcPts val="1200"/>
              </a:spcAft>
            </a:pPr>
            <a:r>
              <a:rPr lang="en-AU" sz="2200" dirty="0">
                <a:latin typeface="Helvetica"/>
              </a:rPr>
              <a:t>Produce written service standards</a:t>
            </a:r>
            <a:endParaRPr lang="en-US" sz="2200" dirty="0">
              <a:latin typeface="Helvetica"/>
            </a:endParaRPr>
          </a:p>
          <a:p>
            <a:pPr marL="0" indent="0">
              <a:spcBef>
                <a:spcPts val="600"/>
              </a:spcBef>
              <a:spcAft>
                <a:spcPts val="1200"/>
              </a:spcAft>
              <a:buNone/>
            </a:pP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27649" name="Picture 1" descr="C:\Documents and Settings\Godaishu\Local Settings\Temporary Internet Files\Content.IE5\VL0QK7PC\summary[1].jpg"/>
          <p:cNvPicPr>
            <a:picLocks noChangeAspect="1" noChangeArrowheads="1"/>
          </p:cNvPicPr>
          <p:nvPr/>
        </p:nvPicPr>
        <p:blipFill>
          <a:blip r:embed="rId3" cstate="print"/>
          <a:srcRect/>
          <a:stretch>
            <a:fillRect/>
          </a:stretch>
        </p:blipFill>
        <p:spPr bwMode="auto">
          <a:xfrm>
            <a:off x="6477000" y="1981200"/>
            <a:ext cx="1736217" cy="1426051"/>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Establish service teams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322640" cy="4525963"/>
          </a:xfrm>
        </p:spPr>
        <p:txBody>
          <a:bodyPr>
            <a:normAutofit/>
          </a:bodyPr>
          <a:lstStyle/>
          <a:p>
            <a:pPr marL="0" indent="0">
              <a:spcBef>
                <a:spcPts val="600"/>
              </a:spcBef>
              <a:spcAft>
                <a:spcPts val="1200"/>
              </a:spcAft>
              <a:buNone/>
            </a:pPr>
            <a:r>
              <a:rPr lang="en-US" sz="2100" b="1" dirty="0" smtClean="0">
                <a:latin typeface="Helvetica"/>
              </a:rPr>
              <a:t>Performance criteria:</a:t>
            </a:r>
          </a:p>
          <a:p>
            <a:pPr marL="0" indent="0">
              <a:spcBef>
                <a:spcPts val="600"/>
              </a:spcBef>
              <a:spcAft>
                <a:spcPts val="1200"/>
              </a:spcAft>
              <a:buNone/>
            </a:pPr>
            <a:r>
              <a:rPr lang="en-AU" sz="2100" dirty="0" smtClean="0">
                <a:solidFill>
                  <a:srgbClr val="92D050"/>
                </a:solidFill>
                <a:latin typeface="Helvetica"/>
              </a:rPr>
              <a:t>2.1</a:t>
            </a:r>
            <a:r>
              <a:rPr lang="en-AU" sz="2100" dirty="0" smtClean="0">
                <a:latin typeface="Helvetica"/>
              </a:rPr>
              <a:t>	Nominate </a:t>
            </a:r>
            <a:r>
              <a:rPr lang="en-AU" sz="2100" dirty="0">
                <a:latin typeface="Helvetica"/>
              </a:rPr>
              <a:t>the service teams that are </a:t>
            </a:r>
            <a:r>
              <a:rPr lang="en-AU" sz="2100" dirty="0" smtClean="0">
                <a:latin typeface="Helvetica"/>
              </a:rPr>
              <a:t>	required to </a:t>
            </a:r>
            <a:r>
              <a:rPr lang="en-AU" sz="2100" dirty="0">
                <a:latin typeface="Helvetica"/>
              </a:rPr>
              <a:t>support required levels of </a:t>
            </a:r>
            <a:r>
              <a:rPr lang="en-AU" sz="2100" dirty="0" smtClean="0">
                <a:latin typeface="Helvetica"/>
              </a:rPr>
              <a:t>	service delivery</a:t>
            </a:r>
          </a:p>
          <a:p>
            <a:pPr marL="0" lvl="1" indent="0">
              <a:spcBef>
                <a:spcPts val="600"/>
              </a:spcBef>
              <a:spcAft>
                <a:spcPts val="1200"/>
              </a:spcAft>
              <a:buSzPct val="80000"/>
              <a:buNone/>
            </a:pPr>
            <a:r>
              <a:rPr lang="en-AU" sz="2100" dirty="0" smtClean="0">
                <a:solidFill>
                  <a:srgbClr val="92D050"/>
                </a:solidFill>
                <a:latin typeface="Helvetica"/>
              </a:rPr>
              <a:t>2.2 </a:t>
            </a:r>
            <a:r>
              <a:rPr lang="en-AU" sz="2100" dirty="0" smtClean="0">
                <a:latin typeface="Helvetica"/>
              </a:rPr>
              <a:t>	</a:t>
            </a:r>
            <a:r>
              <a:rPr lang="en-AU" sz="2100" dirty="0">
                <a:latin typeface="Helvetica"/>
              </a:rPr>
              <a:t>Identify membership of the nominated </a:t>
            </a:r>
            <a:r>
              <a:rPr lang="en-AU" sz="2100" dirty="0" smtClean="0">
                <a:latin typeface="Helvetica"/>
              </a:rPr>
              <a:t>	service </a:t>
            </a:r>
            <a:r>
              <a:rPr lang="en-AU" sz="2100" dirty="0">
                <a:latin typeface="Helvetica"/>
              </a:rPr>
              <a:t>delivery teams and oversee the </a:t>
            </a:r>
            <a:r>
              <a:rPr lang="en-AU" sz="2100" dirty="0" smtClean="0">
                <a:latin typeface="Helvetica"/>
              </a:rPr>
              <a:t>	establishment </a:t>
            </a:r>
            <a:r>
              <a:rPr lang="en-AU" sz="2100" dirty="0">
                <a:latin typeface="Helvetica"/>
              </a:rPr>
              <a:t>of </a:t>
            </a:r>
            <a:r>
              <a:rPr lang="en-AU" sz="2100" dirty="0" smtClean="0">
                <a:latin typeface="Helvetica"/>
              </a:rPr>
              <a:t>teams</a:t>
            </a:r>
          </a:p>
          <a:p>
            <a:pPr marL="0" lvl="1" indent="0">
              <a:spcBef>
                <a:spcPts val="600"/>
              </a:spcBef>
              <a:spcAft>
                <a:spcPts val="1200"/>
              </a:spcAft>
              <a:buSzPct val="80000"/>
              <a:buNone/>
            </a:pPr>
            <a:r>
              <a:rPr lang="en-AU" sz="2100" dirty="0" smtClean="0">
                <a:solidFill>
                  <a:srgbClr val="92D050"/>
                </a:solidFill>
                <a:latin typeface="Helvetica"/>
              </a:rPr>
              <a:t>2.3</a:t>
            </a:r>
            <a:r>
              <a:rPr lang="en-AU" sz="2100" dirty="0" smtClean="0">
                <a:latin typeface="Helvetica"/>
              </a:rPr>
              <a:t>	</a:t>
            </a:r>
            <a:r>
              <a:rPr lang="en-AU" sz="2100" dirty="0">
                <a:latin typeface="Helvetica"/>
              </a:rPr>
              <a:t>Communicate established service </a:t>
            </a:r>
            <a:r>
              <a:rPr lang="en-AU" sz="2100" dirty="0" smtClean="0">
                <a:latin typeface="Helvetica"/>
              </a:rPr>
              <a:t>	standards </a:t>
            </a:r>
            <a:r>
              <a:rPr lang="en-AU" sz="2100" dirty="0">
                <a:latin typeface="Helvetica"/>
              </a:rPr>
              <a:t>to team </a:t>
            </a:r>
            <a:r>
              <a:rPr lang="en-AU" sz="2100" dirty="0" smtClean="0">
                <a:latin typeface="Helvetica"/>
              </a:rPr>
              <a:t>members</a:t>
            </a:r>
          </a:p>
          <a:p>
            <a:pPr marL="0" lvl="1" indent="0">
              <a:spcBef>
                <a:spcPts val="600"/>
              </a:spcBef>
              <a:spcAft>
                <a:spcPts val="1200"/>
              </a:spcAft>
              <a:buSzPct val="80000"/>
              <a:buNone/>
            </a:pPr>
            <a:r>
              <a:rPr lang="en-AU" sz="2100" dirty="0" smtClean="0">
                <a:solidFill>
                  <a:srgbClr val="92D050"/>
                </a:solidFill>
                <a:latin typeface="Helvetica"/>
              </a:rPr>
              <a:t>2.4</a:t>
            </a:r>
            <a:r>
              <a:rPr lang="en-AU" sz="2100" dirty="0" smtClean="0">
                <a:latin typeface="Helvetica"/>
              </a:rPr>
              <a:t>	</a:t>
            </a:r>
            <a:r>
              <a:rPr lang="en-AU" sz="2100" dirty="0">
                <a:latin typeface="Helvetica"/>
              </a:rPr>
              <a:t>Train staff in service delivery standards</a:t>
            </a:r>
            <a:endParaRPr lang="en-US" sz="2100" dirty="0">
              <a:latin typeface="Helvetica"/>
            </a:endParaRPr>
          </a:p>
          <a:p>
            <a:pPr marL="0" lvl="1" indent="0">
              <a:spcBef>
                <a:spcPts val="600"/>
              </a:spcBef>
              <a:spcAft>
                <a:spcPts val="1200"/>
              </a:spcAft>
              <a:buSzPct val="80000"/>
              <a:buNone/>
            </a:pPr>
            <a:endParaRPr lang="en-US" sz="2100" dirty="0">
              <a:latin typeface="Helvetica"/>
            </a:endParaRPr>
          </a:p>
          <a:p>
            <a:pPr marL="0" lvl="1" indent="0">
              <a:spcBef>
                <a:spcPts val="600"/>
              </a:spcBef>
              <a:spcAft>
                <a:spcPts val="1200"/>
              </a:spcAft>
              <a:buSzPct val="80000"/>
              <a:buNone/>
            </a:pPr>
            <a:endParaRPr lang="en-US" sz="2100" dirty="0">
              <a:latin typeface="Helvetica"/>
            </a:endParaRPr>
          </a:p>
          <a:p>
            <a:pPr marL="0" indent="0">
              <a:spcBef>
                <a:spcPts val="600"/>
              </a:spcBef>
              <a:spcAft>
                <a:spcPts val="1200"/>
              </a:spcAft>
              <a:buNone/>
            </a:pPr>
            <a:endParaRPr lang="en-US" sz="2100" dirty="0" smtClean="0">
              <a:latin typeface="Helvetica"/>
            </a:endParaRPr>
          </a:p>
          <a:p>
            <a:pPr marL="360000" indent="-360000">
              <a:spcBef>
                <a:spcPts val="600"/>
              </a:spcBef>
              <a:spcAft>
                <a:spcPts val="1200"/>
              </a:spcAft>
              <a:buNone/>
            </a:pPr>
            <a:endParaRPr lang="en-US" sz="21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25601" name="Picture 1" descr="C:\Documents and Settings\Godaishu\Desktop\PHOTOS\2014\Shutterstock 25-a-day\shutterstock_89597467.jpg"/>
          <p:cNvPicPr>
            <a:picLocks noChangeAspect="1" noChangeArrowheads="1"/>
          </p:cNvPicPr>
          <p:nvPr/>
        </p:nvPicPr>
        <p:blipFill>
          <a:blip r:embed="rId3" cstate="print"/>
          <a:srcRect/>
          <a:stretch>
            <a:fillRect/>
          </a:stretch>
        </p:blipFill>
        <p:spPr bwMode="auto">
          <a:xfrm>
            <a:off x="6553200" y="3048000"/>
            <a:ext cx="1828800" cy="1633538"/>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2.1 	Nominate the service teams that are 	required to support required levels of 	service delivery </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874837"/>
            <a:ext cx="7467600" cy="4525963"/>
          </a:xfrm>
        </p:spPr>
        <p:txBody>
          <a:bodyPr>
            <a:normAutofit/>
          </a:bodyPr>
          <a:lstStyle/>
          <a:p>
            <a:pPr marL="360000" indent="-360000">
              <a:spcBef>
                <a:spcPts val="600"/>
              </a:spcBef>
              <a:spcAft>
                <a:spcPts val="1200"/>
              </a:spcAft>
            </a:pPr>
            <a:r>
              <a:rPr lang="en-AU" sz="2200" dirty="0" smtClean="0">
                <a:latin typeface="Helvetica"/>
              </a:rPr>
              <a:t>There </a:t>
            </a:r>
            <a:r>
              <a:rPr lang="en-AU" sz="2200" dirty="0">
                <a:latin typeface="Helvetica"/>
              </a:rPr>
              <a:t>are many things to consider when determining how many and what type of service teams your organisation </a:t>
            </a:r>
            <a:r>
              <a:rPr lang="en-AU" sz="2200" dirty="0" smtClean="0">
                <a:latin typeface="Helvetica"/>
              </a:rPr>
              <a:t>requires</a:t>
            </a:r>
          </a:p>
          <a:p>
            <a:pPr marL="360000" indent="-360000">
              <a:spcBef>
                <a:spcPts val="600"/>
              </a:spcBef>
              <a:spcAft>
                <a:spcPts val="1200"/>
              </a:spcAft>
            </a:pPr>
            <a:r>
              <a:rPr lang="en-AU" sz="2200" dirty="0" smtClean="0">
                <a:latin typeface="Helvetica"/>
              </a:rPr>
              <a:t>The </a:t>
            </a:r>
            <a:r>
              <a:rPr lang="en-AU" sz="2200" dirty="0">
                <a:latin typeface="Helvetica"/>
              </a:rPr>
              <a:t>first and most significant factor is </a:t>
            </a:r>
            <a:r>
              <a:rPr lang="en-AU" sz="2200" dirty="0" smtClean="0">
                <a:latin typeface="Helvetica"/>
              </a:rPr>
              <a:t>budget</a:t>
            </a:r>
          </a:p>
          <a:p>
            <a:pPr marL="0" indent="0">
              <a:spcBef>
                <a:spcPts val="600"/>
              </a:spcBef>
              <a:spcAft>
                <a:spcPts val="1200"/>
              </a:spcAft>
              <a:buNone/>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24200" y="4114800"/>
            <a:ext cx="2069728" cy="2069728"/>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Creating service teams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a:latin typeface="Helvetica"/>
              </a:rPr>
              <a:t>In nominating service teams it is important to</a:t>
            </a:r>
            <a:r>
              <a:rPr lang="en-AU" sz="2200" dirty="0" smtClean="0">
                <a:latin typeface="Helvetica"/>
              </a:rPr>
              <a:t>:</a:t>
            </a:r>
            <a:endParaRPr lang="en-US" sz="2200" dirty="0" smtClean="0">
              <a:latin typeface="Helvetica"/>
            </a:endParaRPr>
          </a:p>
          <a:p>
            <a:pPr marL="360000" indent="-360000">
              <a:spcBef>
                <a:spcPts val="600"/>
              </a:spcBef>
              <a:spcAft>
                <a:spcPts val="1200"/>
              </a:spcAft>
            </a:pPr>
            <a:r>
              <a:rPr lang="en-AU" sz="2200" dirty="0">
                <a:latin typeface="Helvetica"/>
              </a:rPr>
              <a:t>Determine the size of service delivery teams</a:t>
            </a:r>
            <a:endParaRPr lang="en-US" sz="2200" dirty="0">
              <a:latin typeface="Helvetica"/>
            </a:endParaRPr>
          </a:p>
          <a:p>
            <a:pPr marL="360000" indent="-360000">
              <a:spcBef>
                <a:spcPts val="600"/>
              </a:spcBef>
              <a:spcAft>
                <a:spcPts val="1200"/>
              </a:spcAft>
            </a:pPr>
            <a:r>
              <a:rPr lang="en-AU" sz="2200" dirty="0" smtClean="0">
                <a:latin typeface="Helvetica"/>
              </a:rPr>
              <a:t>Identify </a:t>
            </a:r>
            <a:r>
              <a:rPr lang="en-AU" sz="2200" dirty="0">
                <a:latin typeface="Helvetica"/>
              </a:rPr>
              <a:t>individuals to join the service team</a:t>
            </a:r>
            <a:endParaRPr lang="en-US" sz="2200" dirty="0">
              <a:latin typeface="Helvetica"/>
            </a:endParaRPr>
          </a:p>
          <a:p>
            <a:pPr marL="360000" indent="-360000">
              <a:spcBef>
                <a:spcPts val="600"/>
              </a:spcBef>
              <a:spcAft>
                <a:spcPts val="1200"/>
              </a:spcAft>
            </a:pPr>
            <a:r>
              <a:rPr lang="en-AU" sz="2200" dirty="0" smtClean="0">
                <a:latin typeface="Helvetica"/>
              </a:rPr>
              <a:t>Develop permanent </a:t>
            </a:r>
            <a:r>
              <a:rPr lang="en-AU" sz="2200" dirty="0">
                <a:latin typeface="Helvetica"/>
              </a:rPr>
              <a:t>and flexible teams</a:t>
            </a:r>
            <a:endParaRPr lang="en-US" sz="2200" dirty="0">
              <a:latin typeface="Helvetica"/>
            </a:endParaRPr>
          </a:p>
          <a:p>
            <a:pPr marL="0" indent="0">
              <a:spcBef>
                <a:spcPts val="600"/>
              </a:spcBef>
              <a:spcAft>
                <a:spcPts val="1200"/>
              </a:spcAft>
              <a:buNone/>
            </a:pPr>
            <a:endParaRPr lang="en-US" sz="2200" dirty="0" smtClean="0">
              <a:latin typeface="Helvetica"/>
            </a:endParaRPr>
          </a:p>
          <a:p>
            <a:pPr marL="360000" indent="-360000">
              <a:spcBef>
                <a:spcPts val="600"/>
              </a:spcBef>
              <a:spcAft>
                <a:spcPts val="1200"/>
              </a:spcAft>
              <a:buNone/>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71800" y="3962400"/>
            <a:ext cx="2031743" cy="222656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2.2 	Identify </a:t>
            </a:r>
            <a:r>
              <a:rPr lang="en-US" sz="2800" b="1" dirty="0">
                <a:solidFill>
                  <a:srgbClr val="FF6600"/>
                </a:solidFill>
                <a:latin typeface="Helvetica" pitchFamily="34" charset="0"/>
              </a:rPr>
              <a:t>membership of the nominated </a:t>
            </a:r>
            <a:r>
              <a:rPr lang="en-US" sz="2800" b="1" dirty="0" smtClean="0">
                <a:solidFill>
                  <a:srgbClr val="FF6600"/>
                </a:solidFill>
                <a:latin typeface="Helvetica" pitchFamily="34" charset="0"/>
              </a:rPr>
              <a:t>	service </a:t>
            </a:r>
            <a:r>
              <a:rPr lang="en-US" sz="2800" b="1" dirty="0">
                <a:solidFill>
                  <a:srgbClr val="FF6600"/>
                </a:solidFill>
                <a:latin typeface="Helvetica" pitchFamily="34" charset="0"/>
              </a:rPr>
              <a:t>delivery teams and oversee </a:t>
            </a:r>
            <a:r>
              <a:rPr lang="en-US" sz="2800" b="1" dirty="0" smtClean="0">
                <a:solidFill>
                  <a:srgbClr val="FF6600"/>
                </a:solidFill>
                <a:latin typeface="Helvetica" pitchFamily="34" charset="0"/>
              </a:rPr>
              <a:t>	the </a:t>
            </a:r>
            <a:r>
              <a:rPr lang="en-US" sz="2800" b="1" dirty="0">
                <a:solidFill>
                  <a:srgbClr val="FF6600"/>
                </a:solidFill>
                <a:latin typeface="Helvetica" pitchFamily="34" charset="0"/>
              </a:rPr>
              <a:t>establishment of teams</a:t>
            </a:r>
          </a:p>
        </p:txBody>
      </p:sp>
      <p:pic>
        <p:nvPicPr>
          <p:cNvPr id="5" name="Content Placehold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524000" y="1905000"/>
            <a:ext cx="5531013" cy="3678124"/>
          </a:xfrm>
        </p:spPr>
      </p:pic>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Developing effective teams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646237"/>
            <a:ext cx="7467600" cy="4525963"/>
          </a:xfrm>
        </p:spPr>
        <p:txBody>
          <a:bodyPr>
            <a:normAutofit/>
          </a:bodyPr>
          <a:lstStyle/>
          <a:p>
            <a:pPr>
              <a:spcBef>
                <a:spcPts val="600"/>
              </a:spcBef>
              <a:spcAft>
                <a:spcPts val="1200"/>
              </a:spcAft>
            </a:pPr>
            <a:r>
              <a:rPr lang="en-AU" sz="2200" dirty="0" smtClean="0">
                <a:latin typeface="Helvetica"/>
              </a:rPr>
              <a:t>Forming</a:t>
            </a:r>
            <a:endParaRPr lang="en-US" sz="2200" dirty="0" smtClean="0">
              <a:latin typeface="Helvetica"/>
            </a:endParaRPr>
          </a:p>
          <a:p>
            <a:pPr>
              <a:spcBef>
                <a:spcPts val="600"/>
              </a:spcBef>
              <a:spcAft>
                <a:spcPts val="1200"/>
              </a:spcAft>
            </a:pPr>
            <a:r>
              <a:rPr lang="en-AU" sz="2200" dirty="0" smtClean="0">
                <a:latin typeface="Helvetica"/>
              </a:rPr>
              <a:t>Storming</a:t>
            </a:r>
            <a:endParaRPr lang="en-US" sz="2200" dirty="0" smtClean="0">
              <a:latin typeface="Helvetica"/>
            </a:endParaRPr>
          </a:p>
          <a:p>
            <a:pPr>
              <a:spcBef>
                <a:spcPts val="600"/>
              </a:spcBef>
              <a:spcAft>
                <a:spcPts val="1200"/>
              </a:spcAft>
            </a:pPr>
            <a:r>
              <a:rPr lang="en-AU" sz="2200" dirty="0" smtClean="0">
                <a:latin typeface="Helvetica"/>
              </a:rPr>
              <a:t>Norming</a:t>
            </a:r>
            <a:endParaRPr lang="en-US" sz="2200" dirty="0">
              <a:latin typeface="Helvetica"/>
            </a:endParaRPr>
          </a:p>
          <a:p>
            <a:pPr>
              <a:spcBef>
                <a:spcPts val="600"/>
              </a:spcBef>
              <a:spcAft>
                <a:spcPts val="1200"/>
              </a:spcAft>
            </a:pPr>
            <a:r>
              <a:rPr lang="en-AU" sz="2200" dirty="0" smtClean="0">
                <a:latin typeface="Helvetica"/>
              </a:rPr>
              <a:t>Performing</a:t>
            </a:r>
            <a:endParaRPr lang="en-US" sz="2200" dirty="0">
              <a:latin typeface="Helvetica"/>
            </a:endParaRPr>
          </a:p>
          <a:p>
            <a:pPr>
              <a:spcBef>
                <a:spcPts val="600"/>
              </a:spcBef>
              <a:spcAft>
                <a:spcPts val="1200"/>
              </a:spcAft>
            </a:pPr>
            <a:r>
              <a:rPr lang="en-AU" sz="2200" dirty="0" smtClean="0">
                <a:latin typeface="Helvetica"/>
              </a:rPr>
              <a:t>Adjourning </a:t>
            </a:r>
            <a:r>
              <a:rPr lang="en-AU" sz="2200" dirty="0">
                <a:latin typeface="Helvetica"/>
              </a:rPr>
              <a:t>and </a:t>
            </a:r>
            <a:r>
              <a:rPr lang="en-AU" sz="2200" dirty="0" smtClean="0">
                <a:latin typeface="Helvetica"/>
              </a:rPr>
              <a:t>Transforming</a:t>
            </a:r>
            <a:endParaRPr lang="en-US" sz="2200" dirty="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rcRect t="25501"/>
          <a:stretch>
            <a:fillRect/>
          </a:stretch>
        </p:blipFill>
        <p:spPr>
          <a:xfrm>
            <a:off x="4724400" y="1752600"/>
            <a:ext cx="3131257" cy="155828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Team membership</a:t>
            </a:r>
            <a:endParaRPr lang="en-US" sz="3400" b="1" dirty="0">
              <a:solidFill>
                <a:srgbClr val="FF6600"/>
              </a:solidFill>
              <a:latin typeface="Helvetica" pitchFamily="34" charset="0"/>
            </a:endParaRPr>
          </a:p>
        </p:txBody>
      </p:sp>
      <p:pic>
        <p:nvPicPr>
          <p:cNvPr id="5" name="Content Placeholder 4"/>
          <p:cNvPicPr>
            <a:picLocks noGrp="1" noChangeAspect="1"/>
          </p:cNvPicPr>
          <p:nvPr>
            <p:ph idx="1"/>
          </p:nvPr>
        </p:nvPicPr>
        <p:blipFill>
          <a:blip r:embed="rId3" cstate="print"/>
          <a:stretch>
            <a:fillRect/>
          </a:stretch>
        </p:blipFill>
        <p:spPr>
          <a:xfrm>
            <a:off x="609600" y="1600200"/>
            <a:ext cx="7731656" cy="3875864"/>
          </a:xfrm>
          <a:prstGeom prst="rect">
            <a:avLst/>
          </a:prstGeom>
        </p:spPr>
      </p:pic>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2.3 Communicate established service standards to team members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13313" name="Picture 1" descr="C:\Documents and Settings\Godaishu\Desktop\PHOTOS\2014\Shutterstock 25-a-day\shutterstock_127208393.jpg"/>
          <p:cNvPicPr>
            <a:picLocks noChangeAspect="1" noChangeArrowheads="1"/>
          </p:cNvPicPr>
          <p:nvPr/>
        </p:nvPicPr>
        <p:blipFill>
          <a:blip r:embed="rId3" cstate="print"/>
          <a:srcRect/>
          <a:stretch>
            <a:fillRect/>
          </a:stretch>
        </p:blipFill>
        <p:spPr bwMode="auto">
          <a:xfrm>
            <a:off x="2667000" y="2362200"/>
            <a:ext cx="3352800" cy="3312637"/>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Communicating service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255840" cy="4525963"/>
          </a:xfrm>
        </p:spPr>
        <p:txBody>
          <a:bodyPr>
            <a:noAutofit/>
          </a:bodyPr>
          <a:lstStyle/>
          <a:p>
            <a:pPr lvl="0">
              <a:spcBef>
                <a:spcPts val="600"/>
              </a:spcBef>
              <a:spcAft>
                <a:spcPts val="1200"/>
              </a:spcAft>
            </a:pPr>
            <a:r>
              <a:rPr lang="en-AU" sz="2000" dirty="0">
                <a:latin typeface="Helvetica"/>
              </a:rPr>
              <a:t>First, provide verbal and written descriptions and explanations of the service </a:t>
            </a:r>
            <a:r>
              <a:rPr lang="en-AU" sz="2000" dirty="0" smtClean="0">
                <a:latin typeface="Helvetica"/>
              </a:rPr>
              <a:t>standard</a:t>
            </a:r>
            <a:endParaRPr lang="en-US" sz="2000" dirty="0">
              <a:latin typeface="Helvetica"/>
            </a:endParaRPr>
          </a:p>
          <a:p>
            <a:pPr lvl="0">
              <a:spcBef>
                <a:spcPts val="600"/>
              </a:spcBef>
              <a:spcAft>
                <a:spcPts val="1200"/>
              </a:spcAft>
            </a:pPr>
            <a:r>
              <a:rPr lang="en-AU" sz="2000" dirty="0">
                <a:latin typeface="Helvetica"/>
              </a:rPr>
              <a:t>Demonstrate the service </a:t>
            </a:r>
            <a:r>
              <a:rPr lang="en-AU" sz="2000" dirty="0" smtClean="0">
                <a:latin typeface="Helvetica"/>
              </a:rPr>
              <a:t>standard</a:t>
            </a:r>
            <a:endParaRPr lang="en-US" sz="2000" dirty="0">
              <a:latin typeface="Helvetica"/>
            </a:endParaRPr>
          </a:p>
          <a:p>
            <a:pPr lvl="0">
              <a:spcBef>
                <a:spcPts val="600"/>
              </a:spcBef>
              <a:spcAft>
                <a:spcPts val="1200"/>
              </a:spcAft>
            </a:pPr>
            <a:r>
              <a:rPr lang="en-AU" sz="2000" dirty="0">
                <a:latin typeface="Helvetica"/>
              </a:rPr>
              <a:t>Include the service standard descriptions in staff operating manuals</a:t>
            </a:r>
            <a:endParaRPr lang="en-US" sz="2000" dirty="0">
              <a:latin typeface="Helvetica"/>
            </a:endParaRPr>
          </a:p>
          <a:p>
            <a:pPr lvl="0">
              <a:spcBef>
                <a:spcPts val="600"/>
              </a:spcBef>
              <a:spcAft>
                <a:spcPts val="1200"/>
              </a:spcAft>
            </a:pPr>
            <a:r>
              <a:rPr lang="en-AU" sz="2000" dirty="0">
                <a:latin typeface="Helvetica"/>
              </a:rPr>
              <a:t>New service standards or difficult standards could be posted on notice boards in staff areas to remind staff of the required level of </a:t>
            </a:r>
            <a:r>
              <a:rPr lang="en-AU" sz="2000" dirty="0" smtClean="0">
                <a:latin typeface="Helvetica"/>
              </a:rPr>
              <a:t>service</a:t>
            </a:r>
            <a:endParaRPr lang="en-US" sz="2000" dirty="0">
              <a:latin typeface="Helvetica"/>
            </a:endParaRPr>
          </a:p>
          <a:p>
            <a:pPr lvl="0">
              <a:spcBef>
                <a:spcPts val="600"/>
              </a:spcBef>
              <a:spcAft>
                <a:spcPts val="1200"/>
              </a:spcAft>
            </a:pPr>
            <a:r>
              <a:rPr lang="en-AU" sz="2000" dirty="0">
                <a:latin typeface="Helvetica"/>
              </a:rPr>
              <a:t>Concept check service standards. Ask team members to explain what the required service standard </a:t>
            </a:r>
            <a:r>
              <a:rPr lang="en-AU" sz="2000" dirty="0" smtClean="0">
                <a:latin typeface="Helvetica"/>
              </a:rPr>
              <a:t>is </a:t>
            </a:r>
            <a:endParaRPr lang="en-US" sz="2000" dirty="0">
              <a:latin typeface="Helvetica"/>
            </a:endParaRPr>
          </a:p>
          <a:p>
            <a:pPr marL="0" indent="0">
              <a:spcBef>
                <a:spcPts val="600"/>
              </a:spcBef>
              <a:spcAft>
                <a:spcPts val="1200"/>
              </a:spcAft>
              <a:buNone/>
            </a:pPr>
            <a:endParaRPr lang="en-US" sz="2000" dirty="0" smtClean="0">
              <a:latin typeface="Helvetica"/>
            </a:endParaRPr>
          </a:p>
          <a:p>
            <a:pPr marL="360000" indent="-360000">
              <a:spcBef>
                <a:spcPts val="600"/>
              </a:spcBef>
              <a:spcAft>
                <a:spcPts val="1200"/>
              </a:spcAft>
            </a:pPr>
            <a:endParaRPr lang="en-US" sz="20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11265" name="Picture 1" descr="C:\Documents and Settings\Godaishu\Desktop\PHOTOS\2014\Shutterstock 25-a-day\shutterstock_145916381.jpg"/>
          <p:cNvPicPr>
            <a:picLocks noChangeAspect="1" noChangeArrowheads="1"/>
          </p:cNvPicPr>
          <p:nvPr/>
        </p:nvPicPr>
        <p:blipFill>
          <a:blip r:embed="rId3" cstate="print"/>
          <a:srcRect/>
          <a:stretch>
            <a:fillRect/>
          </a:stretch>
        </p:blipFill>
        <p:spPr bwMode="auto">
          <a:xfrm>
            <a:off x="6019800" y="2895600"/>
            <a:ext cx="2382809" cy="1592263"/>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2.4	Train staff in service delivery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932240" cy="4525963"/>
          </a:xfrm>
        </p:spPr>
        <p:txBody>
          <a:bodyPr>
            <a:noAutofit/>
          </a:bodyPr>
          <a:lstStyle/>
          <a:p>
            <a:pPr marL="0" indent="0">
              <a:spcBef>
                <a:spcPts val="600"/>
              </a:spcBef>
              <a:spcAft>
                <a:spcPts val="1200"/>
              </a:spcAft>
              <a:buNone/>
            </a:pPr>
            <a:r>
              <a:rPr lang="en-US" sz="2100" dirty="0" smtClean="0">
                <a:latin typeface="Helvetica" pitchFamily="34" charset="0"/>
              </a:rPr>
              <a:t>When conducting service delivery training:</a:t>
            </a:r>
          </a:p>
          <a:p>
            <a:pPr marL="360000" indent="-360000">
              <a:spcBef>
                <a:spcPts val="600"/>
              </a:spcBef>
              <a:spcAft>
                <a:spcPts val="1200"/>
              </a:spcAft>
            </a:pPr>
            <a:r>
              <a:rPr lang="en-US" sz="2100" dirty="0" smtClean="0">
                <a:latin typeface="Helvetica" pitchFamily="34" charset="0"/>
              </a:rPr>
              <a:t>Plan the training session </a:t>
            </a:r>
          </a:p>
          <a:p>
            <a:pPr marL="360000" indent="-360000">
              <a:spcBef>
                <a:spcPts val="600"/>
              </a:spcBef>
              <a:spcAft>
                <a:spcPts val="1200"/>
              </a:spcAft>
            </a:pPr>
            <a:r>
              <a:rPr lang="en-US" sz="2100" dirty="0" smtClean="0">
                <a:latin typeface="Helvetica" pitchFamily="34" charset="0"/>
              </a:rPr>
              <a:t>Prepare training materials, training session time and place, </a:t>
            </a:r>
            <a:r>
              <a:rPr lang="en-AU" sz="2100" dirty="0" smtClean="0">
                <a:latin typeface="Helvetica" pitchFamily="34" charset="0"/>
              </a:rPr>
              <a:t>organise</a:t>
            </a:r>
            <a:r>
              <a:rPr lang="en-US" sz="2100" dirty="0" smtClean="0">
                <a:latin typeface="Helvetica" pitchFamily="34" charset="0"/>
              </a:rPr>
              <a:t> equipment or facilities</a:t>
            </a:r>
          </a:p>
          <a:p>
            <a:pPr marL="360000" indent="-360000">
              <a:spcBef>
                <a:spcPts val="600"/>
              </a:spcBef>
              <a:spcAft>
                <a:spcPts val="1200"/>
              </a:spcAft>
            </a:pPr>
            <a:r>
              <a:rPr lang="en-US" sz="2100" dirty="0" smtClean="0">
                <a:latin typeface="Helvetica" pitchFamily="34" charset="0"/>
              </a:rPr>
              <a:t>Demonstrate the service delivery standard</a:t>
            </a:r>
          </a:p>
          <a:p>
            <a:pPr marL="360000" indent="-360000">
              <a:spcBef>
                <a:spcPts val="600"/>
              </a:spcBef>
              <a:spcAft>
                <a:spcPts val="1200"/>
              </a:spcAft>
            </a:pPr>
            <a:r>
              <a:rPr lang="en-US" sz="2100" dirty="0" smtClean="0">
                <a:latin typeface="Helvetica" pitchFamily="34" charset="0"/>
              </a:rPr>
              <a:t>Allow staff to practice</a:t>
            </a:r>
          </a:p>
          <a:p>
            <a:pPr marL="360000" indent="-360000">
              <a:spcBef>
                <a:spcPts val="600"/>
              </a:spcBef>
              <a:spcAft>
                <a:spcPts val="1200"/>
              </a:spcAft>
            </a:pPr>
            <a:r>
              <a:rPr lang="en-US" sz="2100" dirty="0" smtClean="0">
                <a:latin typeface="Helvetica" pitchFamily="34" charset="0"/>
              </a:rPr>
              <a:t>Assess their performance and provide </a:t>
            </a:r>
            <a:br>
              <a:rPr lang="en-US" sz="2100" dirty="0" smtClean="0">
                <a:latin typeface="Helvetica" pitchFamily="34" charset="0"/>
              </a:rPr>
            </a:br>
            <a:r>
              <a:rPr lang="en-US" sz="2100" dirty="0" smtClean="0">
                <a:latin typeface="Helvetica" pitchFamily="34" charset="0"/>
              </a:rPr>
              <a:t>feedback</a:t>
            </a:r>
          </a:p>
          <a:p>
            <a:pPr marL="360000" indent="-360000">
              <a:spcBef>
                <a:spcPts val="600"/>
              </a:spcBef>
              <a:spcAft>
                <a:spcPts val="1200"/>
              </a:spcAft>
            </a:pPr>
            <a:r>
              <a:rPr lang="en-US" sz="2100" dirty="0" smtClean="0">
                <a:latin typeface="Helvetica" pitchFamily="34" charset="0"/>
              </a:rPr>
              <a:t>Provide extra training if required</a:t>
            </a:r>
          </a:p>
          <a:p>
            <a:pPr marL="360000" indent="-360000">
              <a:spcBef>
                <a:spcPts val="600"/>
              </a:spcBef>
              <a:spcAft>
                <a:spcPts val="1200"/>
              </a:spcAft>
            </a:pPr>
            <a:r>
              <a:rPr lang="en-US" sz="2100" dirty="0" smtClean="0">
                <a:latin typeface="Helvetica" pitchFamily="34" charset="0"/>
              </a:rPr>
              <a:t>Identify competent staff</a:t>
            </a:r>
          </a:p>
          <a:p>
            <a:pPr marL="360000" indent="-360000">
              <a:spcBef>
                <a:spcPts val="600"/>
              </a:spcBef>
              <a:spcAft>
                <a:spcPts val="1200"/>
              </a:spcAft>
            </a:pPr>
            <a:endParaRPr lang="en-US" sz="2100" dirty="0" smtClean="0">
              <a:latin typeface="Helvetica"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9217" name="Picture 1" descr="C:\Documents and Settings\Godaishu\Desktop\PHOTOS\2014\Shutterstock 25-a-day\shutterstock_2942809.jpg"/>
          <p:cNvPicPr>
            <a:picLocks noChangeAspect="1" noChangeArrowheads="1"/>
          </p:cNvPicPr>
          <p:nvPr/>
        </p:nvPicPr>
        <p:blipFill>
          <a:blip r:embed="rId3" cstate="print"/>
          <a:srcRect/>
          <a:stretch>
            <a:fillRect/>
          </a:stretch>
        </p:blipFill>
        <p:spPr bwMode="auto">
          <a:xfrm>
            <a:off x="6477000" y="3276600"/>
            <a:ext cx="1752600" cy="175260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Work to improve service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371600"/>
            <a:ext cx="6779840" cy="4525963"/>
          </a:xfrm>
        </p:spPr>
        <p:txBody>
          <a:bodyPr>
            <a:noAutofit/>
          </a:bodyPr>
          <a:lstStyle/>
          <a:p>
            <a:pPr marL="0" indent="0">
              <a:spcBef>
                <a:spcPts val="500"/>
              </a:spcBef>
              <a:spcAft>
                <a:spcPts val="500"/>
              </a:spcAft>
              <a:buNone/>
            </a:pPr>
            <a:r>
              <a:rPr lang="en-US" sz="1800" b="1" dirty="0" smtClean="0">
                <a:latin typeface="Helvetica" pitchFamily="34" charset="0"/>
              </a:rPr>
              <a:t>Performance criteria:</a:t>
            </a:r>
          </a:p>
          <a:p>
            <a:pPr marL="0" indent="0">
              <a:spcBef>
                <a:spcPts val="500"/>
              </a:spcBef>
              <a:spcAft>
                <a:spcPts val="500"/>
              </a:spcAft>
              <a:buNone/>
            </a:pPr>
            <a:r>
              <a:rPr lang="en-US" sz="1800" dirty="0">
                <a:solidFill>
                  <a:srgbClr val="92D050"/>
                </a:solidFill>
                <a:latin typeface="Helvetica" pitchFamily="34" charset="0"/>
              </a:rPr>
              <a:t>3.1</a:t>
            </a:r>
            <a:r>
              <a:rPr lang="en-US" sz="1800" dirty="0">
                <a:latin typeface="Helvetica" pitchFamily="34" charset="0"/>
              </a:rPr>
              <a:t>	Monitor team performance in terms of service delivery</a:t>
            </a:r>
          </a:p>
          <a:p>
            <a:pPr marL="0" indent="0">
              <a:spcBef>
                <a:spcPts val="500"/>
              </a:spcBef>
              <a:spcAft>
                <a:spcPts val="500"/>
              </a:spcAft>
              <a:buNone/>
            </a:pPr>
            <a:r>
              <a:rPr lang="en-US" sz="1800" dirty="0">
                <a:solidFill>
                  <a:srgbClr val="92D050"/>
                </a:solidFill>
                <a:latin typeface="Helvetica" pitchFamily="34" charset="0"/>
              </a:rPr>
              <a:t>3.2</a:t>
            </a:r>
            <a:r>
              <a:rPr lang="en-US" sz="1800" dirty="0">
                <a:latin typeface="Helvetica" pitchFamily="34" charset="0"/>
              </a:rPr>
              <a:t>	Review policies, procedures and standards relating to </a:t>
            </a:r>
            <a:r>
              <a:rPr lang="en-US" sz="1800" dirty="0" smtClean="0">
                <a:latin typeface="Helvetica" pitchFamily="34" charset="0"/>
              </a:rPr>
              <a:t>	service  delivery</a:t>
            </a:r>
            <a:endParaRPr lang="en-US" sz="1800" dirty="0">
              <a:latin typeface="Helvetica" pitchFamily="34" charset="0"/>
            </a:endParaRPr>
          </a:p>
          <a:p>
            <a:pPr marL="0" indent="0">
              <a:spcBef>
                <a:spcPts val="500"/>
              </a:spcBef>
              <a:spcAft>
                <a:spcPts val="500"/>
              </a:spcAft>
              <a:buNone/>
            </a:pPr>
            <a:r>
              <a:rPr lang="en-US" sz="1800" dirty="0">
                <a:solidFill>
                  <a:srgbClr val="92D050"/>
                </a:solidFill>
                <a:latin typeface="Helvetica" pitchFamily="34" charset="0"/>
              </a:rPr>
              <a:t>3.3</a:t>
            </a:r>
            <a:r>
              <a:rPr lang="en-US" sz="1800" dirty="0">
                <a:latin typeface="Helvetica" pitchFamily="34" charset="0"/>
              </a:rPr>
              <a:t>	Allocate resources to enable the provision of identified </a:t>
            </a:r>
            <a:r>
              <a:rPr lang="en-US" sz="1800" dirty="0" smtClean="0">
                <a:latin typeface="Helvetica" pitchFamily="34" charset="0"/>
              </a:rPr>
              <a:t>	service delivery standards</a:t>
            </a:r>
            <a:endParaRPr lang="en-US" sz="1800" dirty="0">
              <a:latin typeface="Helvetica" pitchFamily="34" charset="0"/>
            </a:endParaRPr>
          </a:p>
          <a:p>
            <a:pPr marL="0" indent="0">
              <a:spcBef>
                <a:spcPts val="500"/>
              </a:spcBef>
              <a:spcAft>
                <a:spcPts val="500"/>
              </a:spcAft>
              <a:buNone/>
            </a:pPr>
            <a:r>
              <a:rPr lang="en-US" sz="1800" dirty="0">
                <a:solidFill>
                  <a:srgbClr val="92D050"/>
                </a:solidFill>
                <a:latin typeface="Helvetica" pitchFamily="34" charset="0"/>
              </a:rPr>
              <a:t>3.4</a:t>
            </a:r>
            <a:r>
              <a:rPr lang="en-US" sz="1800" dirty="0">
                <a:latin typeface="Helvetica" pitchFamily="34" charset="0"/>
              </a:rPr>
              <a:t>	Assist team members to resolve customer complaints </a:t>
            </a:r>
            <a:r>
              <a:rPr lang="en-US" sz="1800" dirty="0" smtClean="0">
                <a:latin typeface="Helvetica" pitchFamily="34" charset="0"/>
              </a:rPr>
              <a:t>	regarding the provision </a:t>
            </a:r>
            <a:r>
              <a:rPr lang="en-US" sz="1800" dirty="0">
                <a:latin typeface="Helvetica" pitchFamily="34" charset="0"/>
              </a:rPr>
              <a:t>of service delivery</a:t>
            </a:r>
          </a:p>
          <a:p>
            <a:pPr marL="0" indent="0">
              <a:spcBef>
                <a:spcPts val="500"/>
              </a:spcBef>
              <a:spcAft>
                <a:spcPts val="500"/>
              </a:spcAft>
              <a:buNone/>
            </a:pPr>
            <a:r>
              <a:rPr lang="en-US" sz="1800" dirty="0">
                <a:solidFill>
                  <a:srgbClr val="92D050"/>
                </a:solidFill>
                <a:latin typeface="Helvetica" pitchFamily="34" charset="0"/>
              </a:rPr>
              <a:t>3.5</a:t>
            </a:r>
            <a:r>
              <a:rPr lang="en-US" sz="1800" dirty="0">
                <a:latin typeface="Helvetica" pitchFamily="34" charset="0"/>
              </a:rPr>
              <a:t>	Support team members to rectify instances of deficient </a:t>
            </a:r>
            <a:r>
              <a:rPr lang="en-US" sz="1800" dirty="0" smtClean="0">
                <a:latin typeface="Helvetica" pitchFamily="34" charset="0"/>
              </a:rPr>
              <a:t>	service delivery</a:t>
            </a:r>
            <a:endParaRPr lang="en-US" sz="1800" dirty="0">
              <a:latin typeface="Helvetica" pitchFamily="34" charset="0"/>
            </a:endParaRPr>
          </a:p>
          <a:p>
            <a:pPr marL="0" indent="0">
              <a:spcBef>
                <a:spcPts val="500"/>
              </a:spcBef>
              <a:spcAft>
                <a:spcPts val="500"/>
              </a:spcAft>
              <a:buNone/>
            </a:pPr>
            <a:r>
              <a:rPr lang="en-US" sz="1800" dirty="0">
                <a:solidFill>
                  <a:srgbClr val="92D050"/>
                </a:solidFill>
                <a:latin typeface="Helvetica" pitchFamily="34" charset="0"/>
              </a:rPr>
              <a:t>3.6</a:t>
            </a:r>
            <a:r>
              <a:rPr lang="en-US" sz="1800" dirty="0">
                <a:latin typeface="Helvetica" pitchFamily="34" charset="0"/>
              </a:rPr>
              <a:t>	Monitor the extent to which service delivery targets are </a:t>
            </a:r>
            <a:r>
              <a:rPr lang="en-US" sz="1800" dirty="0" smtClean="0">
                <a:latin typeface="Helvetica" pitchFamily="34" charset="0"/>
              </a:rPr>
              <a:t>	achieved</a:t>
            </a:r>
            <a:endParaRPr lang="en-US" sz="1800" dirty="0">
              <a:latin typeface="Helvetica" pitchFamily="34" charset="0"/>
            </a:endParaRPr>
          </a:p>
          <a:p>
            <a:pPr marL="0" indent="0">
              <a:spcBef>
                <a:spcPts val="500"/>
              </a:spcBef>
              <a:spcAft>
                <a:spcPts val="500"/>
              </a:spcAft>
              <a:buNone/>
            </a:pPr>
            <a:r>
              <a:rPr lang="en-US" sz="1800" dirty="0">
                <a:solidFill>
                  <a:srgbClr val="92D050"/>
                </a:solidFill>
                <a:latin typeface="Helvetica" pitchFamily="34" charset="0"/>
              </a:rPr>
              <a:t>3.7</a:t>
            </a:r>
            <a:r>
              <a:rPr lang="en-US" sz="1800" dirty="0">
                <a:latin typeface="Helvetica" pitchFamily="34" charset="0"/>
              </a:rPr>
              <a:t>	Take action to address failure to meet service delivery </a:t>
            </a:r>
            <a:r>
              <a:rPr lang="en-US" sz="1800" dirty="0" smtClean="0">
                <a:latin typeface="Helvetica" pitchFamily="34" charset="0"/>
              </a:rPr>
              <a:t>	targets</a:t>
            </a:r>
            <a:endParaRPr lang="en-US" sz="1800" dirty="0">
              <a:latin typeface="Helvetica" pitchFamily="34" charset="0"/>
            </a:endParaRPr>
          </a:p>
          <a:p>
            <a:pPr marL="0" indent="0">
              <a:spcBef>
                <a:spcPts val="500"/>
              </a:spcBef>
              <a:spcAft>
                <a:spcPts val="500"/>
              </a:spcAft>
              <a:buNone/>
            </a:pPr>
            <a:r>
              <a:rPr lang="en-US" sz="1800" dirty="0">
                <a:solidFill>
                  <a:srgbClr val="92D050"/>
                </a:solidFill>
                <a:latin typeface="Helvetica" pitchFamily="34" charset="0"/>
              </a:rPr>
              <a:t>3.8</a:t>
            </a:r>
            <a:r>
              <a:rPr lang="en-US" sz="1800" dirty="0">
                <a:latin typeface="Helvetica" pitchFamily="34" charset="0"/>
              </a:rPr>
              <a:t>	Maintain records relating to service </a:t>
            </a:r>
            <a:r>
              <a:rPr lang="en-US" sz="1800" dirty="0" smtClean="0">
                <a:latin typeface="Helvetica" pitchFamily="34" charset="0"/>
              </a:rPr>
              <a:t>delivery</a:t>
            </a:r>
            <a:endParaRPr lang="en-US" sz="18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7169" name="Picture 1" descr="C:\Documents and Settings\Godaishu\Desktop\PHOTOS\2014\Shutterstock 25-a-day\shutterstock_89597467.jpg"/>
          <p:cNvPicPr>
            <a:picLocks noChangeAspect="1" noChangeArrowheads="1"/>
          </p:cNvPicPr>
          <p:nvPr/>
        </p:nvPicPr>
        <p:blipFill>
          <a:blip r:embed="rId3" cstate="print"/>
          <a:srcRect l="15249" r="19262"/>
          <a:stretch>
            <a:fillRect/>
          </a:stretch>
        </p:blipFill>
        <p:spPr bwMode="auto">
          <a:xfrm>
            <a:off x="7848600" y="2895600"/>
            <a:ext cx="1295400" cy="1766829"/>
          </a:xfrm>
          <a:prstGeom prst="rect">
            <a:avLst/>
          </a:prstGeom>
          <a:noFill/>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3.1	Monitor team performance in 	terms of service delivery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dirty="0" smtClean="0">
                <a:latin typeface="Helvetica" pitchFamily="34" charset="0"/>
              </a:rPr>
              <a:t>Continual improvement:</a:t>
            </a:r>
          </a:p>
          <a:p>
            <a:pPr marL="360000" indent="-360000">
              <a:spcBef>
                <a:spcPts val="600"/>
              </a:spcBef>
              <a:spcAft>
                <a:spcPts val="1200"/>
              </a:spcAft>
            </a:pPr>
            <a:r>
              <a:rPr lang="en-US" sz="2200" dirty="0" smtClean="0">
                <a:latin typeface="Helvetica" pitchFamily="34" charset="0"/>
              </a:rPr>
              <a:t>Train staff in service delivery standards and inform team member of monitoring process</a:t>
            </a:r>
          </a:p>
          <a:p>
            <a:pPr marL="360000" indent="-360000">
              <a:spcBef>
                <a:spcPts val="600"/>
              </a:spcBef>
              <a:spcAft>
                <a:spcPts val="1200"/>
              </a:spcAft>
            </a:pPr>
            <a:r>
              <a:rPr lang="en-US" sz="2200" dirty="0" smtClean="0">
                <a:latin typeface="Helvetica" pitchFamily="34" charset="0"/>
              </a:rPr>
              <a:t>Observe service delivery in action</a:t>
            </a:r>
          </a:p>
          <a:p>
            <a:pPr marL="360000" indent="-360000">
              <a:spcBef>
                <a:spcPts val="600"/>
              </a:spcBef>
              <a:spcAft>
                <a:spcPts val="1200"/>
              </a:spcAft>
            </a:pPr>
            <a:r>
              <a:rPr lang="en-US" sz="2200" dirty="0" smtClean="0">
                <a:latin typeface="Helvetica" pitchFamily="34" charset="0"/>
              </a:rPr>
              <a:t>Check against service delivery standards</a:t>
            </a:r>
          </a:p>
          <a:p>
            <a:pPr marL="360000" indent="-360000">
              <a:spcBef>
                <a:spcPts val="600"/>
              </a:spcBef>
              <a:spcAft>
                <a:spcPts val="1200"/>
              </a:spcAft>
            </a:pPr>
            <a:r>
              <a:rPr lang="en-US" sz="2200" dirty="0" smtClean="0">
                <a:latin typeface="Helvetica" pitchFamily="34" charset="0"/>
              </a:rPr>
              <a:t>Ask for feedback from staff</a:t>
            </a:r>
          </a:p>
          <a:p>
            <a:pPr marL="360000" indent="-360000">
              <a:spcBef>
                <a:spcPts val="600"/>
              </a:spcBef>
              <a:spcAft>
                <a:spcPts val="1200"/>
              </a:spcAft>
            </a:pPr>
            <a:r>
              <a:rPr lang="en-US" sz="2200" dirty="0" smtClean="0">
                <a:latin typeface="Helvetica" pitchFamily="34" charset="0"/>
              </a:rPr>
              <a:t>Provide feedback to staff</a:t>
            </a:r>
          </a:p>
          <a:p>
            <a:pPr marL="360000" indent="-360000">
              <a:spcBef>
                <a:spcPts val="600"/>
              </a:spcBef>
              <a:spcAft>
                <a:spcPts val="1200"/>
              </a:spcAft>
            </a:pPr>
            <a:r>
              <a:rPr lang="en-US" sz="2200" dirty="0" smtClean="0">
                <a:latin typeface="Helvetica" pitchFamily="34" charset="0"/>
              </a:rPr>
              <a:t>Observe service delivery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121" name="Picture 1" descr="C:\Documents and Settings\Godaishu\Desktop\PHOTOS\2014\Shutterstock 25-a-day\shutterstock_135012329.jpg"/>
          <p:cNvPicPr>
            <a:picLocks noChangeAspect="1" noChangeArrowheads="1"/>
          </p:cNvPicPr>
          <p:nvPr/>
        </p:nvPicPr>
        <p:blipFill>
          <a:blip r:embed="rId3" cstate="print"/>
          <a:srcRect/>
          <a:stretch>
            <a:fillRect/>
          </a:stretch>
        </p:blipFill>
        <p:spPr bwMode="auto">
          <a:xfrm>
            <a:off x="6248400" y="2895600"/>
            <a:ext cx="2080910" cy="1981200"/>
          </a:xfrm>
          <a:prstGeom prst="rect">
            <a:avLst/>
          </a:prstGeom>
          <a:noFill/>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Monitoring checklist</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1521751446"/>
              </p:ext>
            </p:extLst>
          </p:nvPr>
        </p:nvGraphicFramePr>
        <p:xfrm>
          <a:off x="195263" y="1436688"/>
          <a:ext cx="8256587" cy="4532312"/>
        </p:xfrm>
        <a:graphic>
          <a:graphicData uri="http://schemas.openxmlformats.org/presentationml/2006/ole">
            <mc:AlternateContent xmlns:mc="http://schemas.openxmlformats.org/markup-compatibility/2006">
              <mc:Choice xmlns:v="urn:schemas-microsoft-com:vml" Requires="v">
                <p:oleObj spid="_x0000_s3093" name="Document" r:id="rId4" imgW="5738982" imgH="3158121" progId="Word.Document.12">
                  <p:embed/>
                </p:oleObj>
              </mc:Choice>
              <mc:Fallback>
                <p:oleObj name="Document" r:id="rId4" imgW="5738982" imgH="3158121" progId="Word.Document.12">
                  <p:embed/>
                  <p:pic>
                    <p:nvPicPr>
                      <p:cNvPr id="0"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63" y="1436688"/>
                        <a:ext cx="8256587" cy="4532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Assessing competence </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6" name="Content Placeholder 5"/>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1219200" y="1600200"/>
            <a:ext cx="5302625" cy="3976008"/>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3.2	Review policies, procedures and 	standards relating to service 	delivery</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951037"/>
            <a:ext cx="7389440" cy="4525963"/>
          </a:xfrm>
        </p:spPr>
        <p:txBody>
          <a:bodyPr>
            <a:normAutofit/>
          </a:bodyPr>
          <a:lstStyle/>
          <a:p>
            <a:pPr marL="360000" indent="-360000">
              <a:spcBef>
                <a:spcPts val="600"/>
              </a:spcBef>
              <a:spcAft>
                <a:spcPts val="1200"/>
              </a:spcAft>
            </a:pPr>
            <a:r>
              <a:rPr lang="en-AU" sz="2100" dirty="0">
                <a:latin typeface="Helvetica" panose="020B0604020202020204" pitchFamily="34" charset="0"/>
                <a:cs typeface="Helvetica" panose="020B0604020202020204" pitchFamily="34" charset="0"/>
              </a:rPr>
              <a:t>Regular reviews of the policies, procedures and standards in terms of service delivery should be documented and carried out as per internal or external </a:t>
            </a:r>
            <a:r>
              <a:rPr lang="en-AU" sz="2100" dirty="0" smtClean="0">
                <a:latin typeface="Helvetica" panose="020B0604020202020204" pitchFamily="34" charset="0"/>
                <a:cs typeface="Helvetica" panose="020B0604020202020204" pitchFamily="34" charset="0"/>
              </a:rPr>
              <a:t>requirements</a:t>
            </a:r>
            <a:endParaRPr lang="en-AU" sz="2100" dirty="0">
              <a:latin typeface="Helvetica" panose="020B0604020202020204" pitchFamily="34" charset="0"/>
              <a:cs typeface="Helvetica" panose="020B0604020202020204" pitchFamily="34" charset="0"/>
            </a:endParaRPr>
          </a:p>
          <a:p>
            <a:pPr marL="360000" indent="-360000">
              <a:spcBef>
                <a:spcPts val="600"/>
              </a:spcBef>
              <a:spcAft>
                <a:spcPts val="1200"/>
              </a:spcAft>
            </a:pPr>
            <a:r>
              <a:rPr lang="en-AU" sz="2100" dirty="0">
                <a:latin typeface="Helvetica" panose="020B0604020202020204" pitchFamily="34" charset="0"/>
                <a:cs typeface="Helvetica" panose="020B0604020202020204" pitchFamily="34" charset="0"/>
              </a:rPr>
              <a:t>Reviews allow different stakeholders to provide comments and feedback relating to service delivery standards and enable suggestions and improvements to be </a:t>
            </a:r>
            <a:r>
              <a:rPr lang="en-AU" sz="2100" dirty="0" smtClean="0">
                <a:latin typeface="Helvetica" panose="020B0604020202020204" pitchFamily="34" charset="0"/>
                <a:cs typeface="Helvetica" panose="020B0604020202020204" pitchFamily="34" charset="0"/>
              </a:rPr>
              <a:t>implemented</a:t>
            </a:r>
            <a:endParaRPr lang="en-US" sz="2100" dirty="0">
              <a:latin typeface="Helvetica"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descr="C:\Documents and Settings\Godaishu\Desktop\PHOTOS\2014\Shutterstock 25-a-day\shutterstock_115609774.jpg"/>
          <p:cNvPicPr/>
          <p:nvPr/>
        </p:nvPicPr>
        <p:blipFill>
          <a:blip r:embed="rId3" cstate="print"/>
          <a:srcRect/>
          <a:stretch>
            <a:fillRect/>
          </a:stretch>
        </p:blipFill>
        <p:spPr bwMode="auto">
          <a:xfrm>
            <a:off x="3733800" y="4419600"/>
            <a:ext cx="2069057" cy="155584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process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09600" y="1417637"/>
            <a:ext cx="7467600" cy="4525963"/>
          </a:xfrm>
        </p:spPr>
        <p:txBody>
          <a:bodyPr>
            <a:noAutofit/>
          </a:bodyPr>
          <a:lstStyle/>
          <a:p>
            <a:pPr marL="0" indent="0">
              <a:spcBef>
                <a:spcPts val="400"/>
              </a:spcBef>
              <a:spcAft>
                <a:spcPts val="600"/>
              </a:spcAft>
              <a:buNone/>
            </a:pPr>
            <a:r>
              <a:rPr lang="en-US" sz="2100" dirty="0" smtClean="0">
                <a:latin typeface="Helvetica"/>
              </a:rPr>
              <a:t>A review process should include:</a:t>
            </a:r>
          </a:p>
          <a:p>
            <a:pPr lvl="0">
              <a:spcBef>
                <a:spcPts val="400"/>
              </a:spcBef>
              <a:spcAft>
                <a:spcPts val="600"/>
              </a:spcAft>
            </a:pPr>
            <a:r>
              <a:rPr lang="en-US" sz="2100" dirty="0" smtClean="0">
                <a:latin typeface="Helvetica"/>
              </a:rPr>
              <a:t>Dates </a:t>
            </a:r>
            <a:r>
              <a:rPr lang="en-US" sz="2100" dirty="0">
                <a:latin typeface="Helvetica"/>
              </a:rPr>
              <a:t>and time of review</a:t>
            </a:r>
          </a:p>
          <a:p>
            <a:pPr lvl="0">
              <a:spcBef>
                <a:spcPts val="400"/>
              </a:spcBef>
              <a:spcAft>
                <a:spcPts val="600"/>
              </a:spcAft>
            </a:pPr>
            <a:r>
              <a:rPr lang="en-US" sz="2100" dirty="0" smtClean="0">
                <a:latin typeface="Helvetica"/>
              </a:rPr>
              <a:t>Items for review</a:t>
            </a:r>
          </a:p>
          <a:p>
            <a:pPr lvl="0">
              <a:spcBef>
                <a:spcPts val="400"/>
              </a:spcBef>
              <a:spcAft>
                <a:spcPts val="600"/>
              </a:spcAft>
            </a:pPr>
            <a:r>
              <a:rPr lang="en-US" sz="2100" dirty="0" smtClean="0">
                <a:latin typeface="Helvetica"/>
              </a:rPr>
              <a:t>Data/information/feedback </a:t>
            </a:r>
            <a:r>
              <a:rPr lang="en-US" sz="2100" dirty="0">
                <a:latin typeface="Helvetica"/>
              </a:rPr>
              <a:t>gathered</a:t>
            </a:r>
          </a:p>
          <a:p>
            <a:pPr lvl="0">
              <a:spcBef>
                <a:spcPts val="400"/>
              </a:spcBef>
              <a:spcAft>
                <a:spcPts val="600"/>
              </a:spcAft>
            </a:pPr>
            <a:r>
              <a:rPr lang="en-US" sz="2100" dirty="0" smtClean="0">
                <a:latin typeface="Helvetica"/>
              </a:rPr>
              <a:t>Issues </a:t>
            </a:r>
            <a:r>
              <a:rPr lang="en-US" sz="2100" dirty="0">
                <a:latin typeface="Helvetica"/>
              </a:rPr>
              <a:t>or matters for attention</a:t>
            </a:r>
          </a:p>
          <a:p>
            <a:pPr lvl="0">
              <a:spcBef>
                <a:spcPts val="400"/>
              </a:spcBef>
              <a:spcAft>
                <a:spcPts val="600"/>
              </a:spcAft>
            </a:pPr>
            <a:r>
              <a:rPr lang="en-US" sz="2100" dirty="0" smtClean="0">
                <a:latin typeface="Helvetica"/>
              </a:rPr>
              <a:t>Who </a:t>
            </a:r>
            <a:r>
              <a:rPr lang="en-US" sz="2100" dirty="0">
                <a:latin typeface="Helvetica"/>
              </a:rPr>
              <a:t>conducted the review</a:t>
            </a:r>
          </a:p>
          <a:p>
            <a:pPr lvl="0">
              <a:spcBef>
                <a:spcPts val="400"/>
              </a:spcBef>
              <a:spcAft>
                <a:spcPts val="600"/>
              </a:spcAft>
            </a:pPr>
            <a:r>
              <a:rPr lang="en-US" sz="2100" dirty="0" smtClean="0">
                <a:latin typeface="Helvetica"/>
              </a:rPr>
              <a:t>Recommendations </a:t>
            </a:r>
            <a:r>
              <a:rPr lang="en-US" sz="2100" dirty="0">
                <a:latin typeface="Helvetica"/>
              </a:rPr>
              <a:t>for improvement</a:t>
            </a:r>
          </a:p>
          <a:p>
            <a:pPr lvl="0">
              <a:spcBef>
                <a:spcPts val="400"/>
              </a:spcBef>
              <a:spcAft>
                <a:spcPts val="600"/>
              </a:spcAft>
            </a:pPr>
            <a:r>
              <a:rPr lang="en-US" sz="2100" dirty="0" smtClean="0">
                <a:latin typeface="Helvetica"/>
              </a:rPr>
              <a:t>Date </a:t>
            </a:r>
            <a:r>
              <a:rPr lang="en-US" sz="2100" dirty="0">
                <a:latin typeface="Helvetica"/>
              </a:rPr>
              <a:t>for next review</a:t>
            </a:r>
          </a:p>
          <a:p>
            <a:pPr lvl="0">
              <a:spcBef>
                <a:spcPts val="400"/>
              </a:spcBef>
              <a:spcAft>
                <a:spcPts val="600"/>
              </a:spcAft>
            </a:pPr>
            <a:r>
              <a:rPr lang="en-US" sz="2100" dirty="0" smtClean="0">
                <a:latin typeface="Helvetica"/>
              </a:rPr>
              <a:t>A mechanism </a:t>
            </a:r>
            <a:r>
              <a:rPr lang="en-US" sz="2100" dirty="0">
                <a:latin typeface="Helvetica"/>
              </a:rPr>
              <a:t>for communicating updates or changes to the review system to relevant stakeholders</a:t>
            </a:r>
          </a:p>
          <a:p>
            <a:pPr lvl="0">
              <a:spcBef>
                <a:spcPts val="400"/>
              </a:spcBef>
              <a:spcAft>
                <a:spcPts val="600"/>
              </a:spcAft>
            </a:pPr>
            <a:r>
              <a:rPr lang="en-US" sz="2100" dirty="0" smtClean="0">
                <a:latin typeface="Helvetica"/>
              </a:rPr>
              <a:t>Provision </a:t>
            </a:r>
            <a:r>
              <a:rPr lang="en-US" sz="2100" dirty="0">
                <a:latin typeface="Helvetica"/>
              </a:rPr>
              <a:t>of resources to complete the review (staff, time, technology, funding)</a:t>
            </a:r>
          </a:p>
          <a:p>
            <a:pPr marL="360000" indent="-360000">
              <a:spcBef>
                <a:spcPts val="400"/>
              </a:spcBef>
              <a:spcAft>
                <a:spcPts val="600"/>
              </a:spcAft>
            </a:pPr>
            <a:endParaRPr lang="en-US" sz="21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88066" name="Picture 2" descr="C:\Documents and Settings\Godaishu\Desktop\PHOTOS\2014\Shutterstock 25-a-day\shutterstock_94053853.jpg"/>
          <p:cNvPicPr>
            <a:picLocks noChangeAspect="1" noChangeArrowheads="1"/>
          </p:cNvPicPr>
          <p:nvPr/>
        </p:nvPicPr>
        <p:blipFill>
          <a:blip r:embed="rId3" cstate="print"/>
          <a:srcRect/>
          <a:stretch>
            <a:fillRect/>
          </a:stretch>
        </p:blipFill>
        <p:spPr bwMode="auto">
          <a:xfrm>
            <a:off x="6324600" y="1905000"/>
            <a:ext cx="1889125" cy="2590800"/>
          </a:xfrm>
          <a:prstGeom prst="rect">
            <a:avLst/>
          </a:prstGeom>
          <a:noFill/>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Review process</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6" name="Content Placeholder 5"/>
          <p:cNvPicPr>
            <a:picLocks noGrp="1" noChangeAspect="1"/>
          </p:cNvPicPr>
          <p:nvPr>
            <p:ph idx="1"/>
          </p:nvPr>
        </p:nvPicPr>
        <p:blipFill>
          <a:blip r:embed="rId3" cstate="print"/>
          <a:stretch>
            <a:fillRect/>
          </a:stretch>
        </p:blipFill>
        <p:spPr>
          <a:xfrm>
            <a:off x="1524320" y="1340768"/>
            <a:ext cx="5639071" cy="4785395"/>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618040" cy="1143000"/>
          </a:xfrm>
        </p:spPr>
        <p:txBody>
          <a:bodyPr>
            <a:noAutofit/>
          </a:bodyPr>
          <a:lstStyle/>
          <a:p>
            <a:r>
              <a:rPr lang="en-US" sz="2800" b="1" dirty="0" smtClean="0">
                <a:solidFill>
                  <a:srgbClr val="FF6600"/>
                </a:solidFill>
                <a:latin typeface="Helvetica" pitchFamily="34" charset="0"/>
              </a:rPr>
              <a:t>3.3	Allocate resources to enable the 	provision of identified service 	delivery standards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798637"/>
            <a:ext cx="7467600" cy="4525963"/>
          </a:xfrm>
        </p:spPr>
        <p:txBody>
          <a:bodyPr>
            <a:normAutofit/>
          </a:bodyPr>
          <a:lstStyle/>
          <a:p>
            <a:pPr marL="0" indent="0">
              <a:spcBef>
                <a:spcPts val="600"/>
              </a:spcBef>
              <a:spcAft>
                <a:spcPts val="1200"/>
              </a:spcAft>
              <a:buNone/>
            </a:pPr>
            <a:r>
              <a:rPr lang="en-AU" sz="2200" dirty="0" smtClean="0">
                <a:latin typeface="Helvetica" panose="020B0604020202020204" pitchFamily="34" charset="0"/>
                <a:cs typeface="Helvetica" panose="020B0604020202020204" pitchFamily="34" charset="0"/>
              </a:rPr>
              <a:t>Resources can include many different areas and it is critical to have all required resources available.</a:t>
            </a:r>
            <a:endParaRPr lang="en-US" sz="2200" dirty="0" smtClean="0">
              <a:latin typeface="Helvetica"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048000" y="2971800"/>
            <a:ext cx="2423120" cy="2307630"/>
          </a:xfrm>
          <a:prstGeom prst="rect">
            <a:avLst/>
          </a:prstGeom>
        </p:spPr>
      </p:pic>
    </p:spTree>
    <p:extLst>
      <p:ext uri="{BB962C8B-B14F-4D97-AF65-F5344CB8AC3E}">
        <p14:creationId xmlns:p14="http://schemas.microsoft.com/office/powerpoint/2010/main" val="157828738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Resources for service delivery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6627440" cy="4767808"/>
          </a:xfrm>
        </p:spPr>
        <p:txBody>
          <a:bodyPr>
            <a:normAutofit lnSpcReduction="10000"/>
          </a:bodyPr>
          <a:lstStyle/>
          <a:p>
            <a:pPr marL="0" indent="0">
              <a:spcBef>
                <a:spcPts val="600"/>
              </a:spcBef>
              <a:spcAft>
                <a:spcPts val="1200"/>
              </a:spcAft>
              <a:buNone/>
            </a:pPr>
            <a:r>
              <a:rPr lang="en-US" sz="2100" dirty="0" smtClean="0">
                <a:latin typeface="Helvetica" pitchFamily="34" charset="0"/>
              </a:rPr>
              <a:t>There are many different resources to consider in service delivery, such as:</a:t>
            </a:r>
          </a:p>
          <a:p>
            <a:pPr lvl="0">
              <a:spcBef>
                <a:spcPts val="600"/>
              </a:spcBef>
              <a:spcAft>
                <a:spcPts val="1200"/>
              </a:spcAft>
            </a:pPr>
            <a:r>
              <a:rPr lang="en-AU" sz="2100" dirty="0">
                <a:latin typeface="Helvetica" panose="020B0604020202020204" pitchFamily="34" charset="0"/>
                <a:cs typeface="Helvetica" panose="020B0604020202020204" pitchFamily="34" charset="0"/>
              </a:rPr>
              <a:t>Time: if the identified service delivery standard requires a certain amount of time to be able to deliver it effectively, it is not effective to reduce this time. This may lead to inferior service delivery standards which may ultimately negatively impact on the customer </a:t>
            </a:r>
            <a:r>
              <a:rPr lang="en-AU" sz="2100" dirty="0" smtClean="0">
                <a:latin typeface="Helvetica" panose="020B0604020202020204" pitchFamily="34" charset="0"/>
                <a:cs typeface="Helvetica" panose="020B0604020202020204" pitchFamily="34" charset="0"/>
              </a:rPr>
              <a:t>experience</a:t>
            </a:r>
            <a:endParaRPr lang="en-US" sz="2100" dirty="0">
              <a:latin typeface="Helvetica" panose="020B0604020202020204" pitchFamily="34" charset="0"/>
              <a:cs typeface="Helvetica" panose="020B0604020202020204" pitchFamily="34" charset="0"/>
            </a:endParaRPr>
          </a:p>
          <a:p>
            <a:pPr lvl="0">
              <a:spcBef>
                <a:spcPts val="600"/>
              </a:spcBef>
              <a:spcAft>
                <a:spcPts val="1200"/>
              </a:spcAft>
            </a:pPr>
            <a:r>
              <a:rPr lang="en-AU" sz="2100" dirty="0">
                <a:latin typeface="Helvetica" panose="020B0604020202020204" pitchFamily="34" charset="0"/>
                <a:cs typeface="Helvetica" panose="020B0604020202020204" pitchFamily="34" charset="0"/>
              </a:rPr>
              <a:t>Training: staff members need to be trained appropriately before they are able to deliver a particular service. Training may involve written and verbal materials, demonstration, practice, observation, assessment and </a:t>
            </a:r>
            <a:r>
              <a:rPr lang="en-AU" sz="2100" dirty="0" smtClean="0">
                <a:latin typeface="Helvetica" panose="020B0604020202020204" pitchFamily="34" charset="0"/>
                <a:cs typeface="Helvetica" panose="020B0604020202020204" pitchFamily="34" charset="0"/>
              </a:rPr>
              <a:t>feedback</a:t>
            </a:r>
            <a:endParaRPr lang="en-US" sz="2100" dirty="0">
              <a:latin typeface="Helvetica" panose="020B0604020202020204" pitchFamily="34" charset="0"/>
              <a:cs typeface="Helvetica" panose="020B0604020202020204" pitchFamily="34" charset="0"/>
            </a:endParaRPr>
          </a:p>
          <a:p>
            <a:pPr marL="360000" indent="-360000">
              <a:spcBef>
                <a:spcPts val="600"/>
              </a:spcBef>
              <a:spcAft>
                <a:spcPts val="1200"/>
              </a:spcAft>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89090" name="Picture 2" descr="C:\Documents and Settings\Godaishu\Desktop\PHOTOS\2014\Shutterstock 25-a-day\shutterstock_124742776.jpg"/>
          <p:cNvPicPr>
            <a:picLocks noChangeAspect="1" noChangeArrowheads="1"/>
          </p:cNvPicPr>
          <p:nvPr/>
        </p:nvPicPr>
        <p:blipFill>
          <a:blip r:embed="rId3" cstate="print"/>
          <a:srcRect r="25208"/>
          <a:stretch>
            <a:fillRect/>
          </a:stretch>
        </p:blipFill>
        <p:spPr bwMode="auto">
          <a:xfrm>
            <a:off x="7320280" y="2667001"/>
            <a:ext cx="1823720" cy="2438400"/>
          </a:xfrm>
          <a:prstGeom prst="rect">
            <a:avLst/>
          </a:prstGeom>
          <a:noFill/>
        </p:spPr>
      </p:pic>
    </p:spTree>
    <p:extLst>
      <p:ext uri="{BB962C8B-B14F-4D97-AF65-F5344CB8AC3E}">
        <p14:creationId xmlns:p14="http://schemas.microsoft.com/office/powerpoint/2010/main" val="22379342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Resources for service delivery</a:t>
            </a:r>
          </a:p>
        </p:txBody>
      </p:sp>
      <p:sp>
        <p:nvSpPr>
          <p:cNvPr id="3" name="Content Placeholder 2"/>
          <p:cNvSpPr>
            <a:spLocks noGrp="1"/>
          </p:cNvSpPr>
          <p:nvPr>
            <p:ph idx="1"/>
          </p:nvPr>
        </p:nvSpPr>
        <p:spPr>
          <a:xfrm>
            <a:off x="611560" y="1570037"/>
            <a:ext cx="7467600" cy="4525963"/>
          </a:xfrm>
        </p:spPr>
        <p:txBody>
          <a:bodyPr>
            <a:noAutofit/>
          </a:bodyPr>
          <a:lstStyle/>
          <a:p>
            <a:pPr lvl="0">
              <a:spcBef>
                <a:spcPts val="600"/>
              </a:spcBef>
              <a:spcAft>
                <a:spcPts val="1200"/>
              </a:spcAft>
            </a:pPr>
            <a:r>
              <a:rPr lang="en-AU" sz="2100" dirty="0">
                <a:latin typeface="Helvetica" panose="020B0604020202020204" pitchFamily="34" charset="0"/>
                <a:cs typeface="Helvetica" panose="020B0604020202020204" pitchFamily="34" charset="0"/>
              </a:rPr>
              <a:t>Physical resources: specialised equipment may be needed to deliver a service effectively. Access to technology and adequate space may also be </a:t>
            </a:r>
            <a:r>
              <a:rPr lang="en-AU" sz="2100" dirty="0" smtClean="0">
                <a:latin typeface="Helvetica" panose="020B0604020202020204" pitchFamily="34" charset="0"/>
                <a:cs typeface="Helvetica" panose="020B0604020202020204" pitchFamily="34" charset="0"/>
              </a:rPr>
              <a:t>required</a:t>
            </a:r>
            <a:endParaRPr lang="en-AU" sz="2100" dirty="0" smtClean="0">
              <a:cs typeface="Helvetica" panose="020B0604020202020204" pitchFamily="34" charset="0"/>
            </a:endParaRPr>
          </a:p>
          <a:p>
            <a:pPr lvl="0">
              <a:spcBef>
                <a:spcPts val="600"/>
              </a:spcBef>
              <a:spcAft>
                <a:spcPts val="1200"/>
              </a:spcAft>
            </a:pPr>
            <a:r>
              <a:rPr lang="en-AU" sz="2100" dirty="0" smtClean="0">
                <a:latin typeface="Helvetica" panose="020B0604020202020204" pitchFamily="34" charset="0"/>
                <a:cs typeface="Helvetica" panose="020B0604020202020204" pitchFamily="34" charset="0"/>
              </a:rPr>
              <a:t>Information</a:t>
            </a:r>
            <a:r>
              <a:rPr lang="en-AU" sz="2100" dirty="0">
                <a:latin typeface="Helvetica" panose="020B0604020202020204" pitchFamily="34" charset="0"/>
                <a:cs typeface="Helvetica" panose="020B0604020202020204" pitchFamily="34" charset="0"/>
              </a:rPr>
              <a:t>: staff operating manuals, emails, technical manuals, equipment operation guidelines, and updates will also help to provide effective service </a:t>
            </a:r>
            <a:r>
              <a:rPr lang="en-AU" sz="2100" dirty="0" smtClean="0">
                <a:latin typeface="Helvetica" panose="020B0604020202020204" pitchFamily="34" charset="0"/>
                <a:cs typeface="Helvetica" panose="020B0604020202020204" pitchFamily="34" charset="0"/>
              </a:rPr>
              <a:t>delivery</a:t>
            </a:r>
            <a:endParaRPr lang="en-US" sz="2100" dirty="0">
              <a:latin typeface="Helvetica" panose="020B0604020202020204" pitchFamily="34" charset="0"/>
              <a:cs typeface="Helvetica" panose="020B0604020202020204" pitchFamily="34" charset="0"/>
            </a:endParaRPr>
          </a:p>
          <a:p>
            <a:pPr marL="360000" indent="-360000">
              <a:spcBef>
                <a:spcPts val="600"/>
              </a:spcBef>
              <a:spcAft>
                <a:spcPts val="1200"/>
              </a:spcAft>
              <a:buNone/>
            </a:pPr>
            <a:endParaRPr lang="en-US" sz="21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90114" name="Picture 2" descr="C:\Documents and Settings\Godaishu\Desktop\PHOTOS\2014\Shutterstock 25-a-day\shutterstock_110462222.jpg"/>
          <p:cNvPicPr>
            <a:picLocks noChangeAspect="1" noChangeArrowheads="1"/>
          </p:cNvPicPr>
          <p:nvPr/>
        </p:nvPicPr>
        <p:blipFill>
          <a:blip r:embed="rId3" cstate="print"/>
          <a:srcRect/>
          <a:stretch>
            <a:fillRect/>
          </a:stretch>
        </p:blipFill>
        <p:spPr bwMode="auto">
          <a:xfrm>
            <a:off x="2819400" y="4343400"/>
            <a:ext cx="3048000" cy="1428750"/>
          </a:xfrm>
          <a:prstGeom prst="rect">
            <a:avLst/>
          </a:prstGeom>
          <a:noFill/>
        </p:spPr>
      </p:pic>
    </p:spTree>
    <p:extLst>
      <p:ext uri="{BB962C8B-B14F-4D97-AF65-F5344CB8AC3E}">
        <p14:creationId xmlns:p14="http://schemas.microsoft.com/office/powerpoint/2010/main" val="295163444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3.4	Assist team members to resolve 	customer complaints regarding the 	provision of service delivery </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6" name="Content Placeholder 5"/>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1619672" y="1988840"/>
            <a:ext cx="4968552" cy="3312368"/>
          </a:xfrm>
          <a:prstGeom prst="rect">
            <a:avLst/>
          </a:prstGeom>
        </p:spPr>
      </p:pic>
    </p:spTree>
    <p:extLst>
      <p:ext uri="{BB962C8B-B14F-4D97-AF65-F5344CB8AC3E}">
        <p14:creationId xmlns:p14="http://schemas.microsoft.com/office/powerpoint/2010/main" val="250573613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Assisting team members to deal with complaints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636840" cy="4525963"/>
          </a:xfrm>
        </p:spPr>
        <p:txBody>
          <a:bodyPr>
            <a:normAutofit lnSpcReduction="10000"/>
          </a:bodyPr>
          <a:lstStyle/>
          <a:p>
            <a:pPr marL="0" indent="0">
              <a:spcBef>
                <a:spcPts val="600"/>
              </a:spcBef>
              <a:spcAft>
                <a:spcPts val="1200"/>
              </a:spcAft>
              <a:buNone/>
            </a:pPr>
            <a:r>
              <a:rPr lang="en-AU" sz="2200" dirty="0">
                <a:latin typeface="Helvetica"/>
              </a:rPr>
              <a:t>In order to help other team members deal with a complaint it is possible </a:t>
            </a:r>
            <a:r>
              <a:rPr lang="en-AU" sz="2200" dirty="0" smtClean="0">
                <a:latin typeface="Helvetica"/>
              </a:rPr>
              <a:t>to</a:t>
            </a:r>
            <a:r>
              <a:rPr lang="en-US" sz="2200" dirty="0" smtClean="0">
                <a:latin typeface="Helvetica"/>
              </a:rPr>
              <a:t>:</a:t>
            </a:r>
          </a:p>
          <a:p>
            <a:pPr lvl="0">
              <a:spcBef>
                <a:spcPts val="600"/>
              </a:spcBef>
              <a:spcAft>
                <a:spcPts val="1200"/>
              </a:spcAft>
            </a:pPr>
            <a:r>
              <a:rPr lang="en-AU" sz="2200" dirty="0">
                <a:latin typeface="Helvetica"/>
              </a:rPr>
              <a:t>Intervene when team members appear to be unable to resolve the </a:t>
            </a:r>
            <a:r>
              <a:rPr lang="en-AU" sz="2200" dirty="0" smtClean="0">
                <a:latin typeface="Helvetica"/>
              </a:rPr>
              <a:t>situation </a:t>
            </a:r>
          </a:p>
          <a:p>
            <a:pPr lvl="0">
              <a:spcBef>
                <a:spcPts val="600"/>
              </a:spcBef>
              <a:spcAft>
                <a:spcPts val="1200"/>
              </a:spcAft>
            </a:pPr>
            <a:r>
              <a:rPr lang="en-AU" sz="2200" dirty="0" smtClean="0">
                <a:latin typeface="Helvetica"/>
              </a:rPr>
              <a:t>Support </a:t>
            </a:r>
            <a:r>
              <a:rPr lang="en-AU" sz="2200" dirty="0">
                <a:latin typeface="Helvetica"/>
              </a:rPr>
              <a:t>team members in their handling of </a:t>
            </a:r>
            <a:r>
              <a:rPr lang="en-AU" sz="2200" dirty="0" smtClean="0">
                <a:latin typeface="Helvetica"/>
              </a:rPr>
              <a:t>complaints</a:t>
            </a:r>
            <a:endParaRPr lang="en-AU" sz="2200" dirty="0">
              <a:latin typeface="Helvetica"/>
            </a:endParaRPr>
          </a:p>
          <a:p>
            <a:pPr lvl="0">
              <a:spcBef>
                <a:spcPts val="600"/>
              </a:spcBef>
              <a:spcAft>
                <a:spcPts val="1200"/>
              </a:spcAft>
            </a:pPr>
            <a:r>
              <a:rPr lang="en-AU" sz="2200" dirty="0" smtClean="0">
                <a:latin typeface="Helvetica"/>
              </a:rPr>
              <a:t>Lead </a:t>
            </a:r>
            <a:r>
              <a:rPr lang="en-AU" sz="2200" dirty="0">
                <a:latin typeface="Helvetica"/>
              </a:rPr>
              <a:t>by </a:t>
            </a:r>
            <a:r>
              <a:rPr lang="en-AU" sz="2200" dirty="0" smtClean="0">
                <a:latin typeface="Helvetica"/>
              </a:rPr>
              <a:t>example</a:t>
            </a:r>
            <a:endParaRPr lang="en-AU" sz="2200" dirty="0">
              <a:latin typeface="Helvetica"/>
            </a:endParaRPr>
          </a:p>
          <a:p>
            <a:pPr lvl="0">
              <a:spcBef>
                <a:spcPts val="600"/>
              </a:spcBef>
              <a:spcAft>
                <a:spcPts val="1200"/>
              </a:spcAft>
            </a:pPr>
            <a:r>
              <a:rPr lang="en-AU" sz="2200" dirty="0" smtClean="0">
                <a:latin typeface="Helvetica"/>
              </a:rPr>
              <a:t>Help </a:t>
            </a:r>
            <a:r>
              <a:rPr lang="en-AU" sz="2200" dirty="0">
                <a:latin typeface="Helvetica"/>
              </a:rPr>
              <a:t>team members complete an action report that may be a part of internal documentation procedures within the </a:t>
            </a:r>
            <a:r>
              <a:rPr lang="en-AU" sz="2200" dirty="0" smtClean="0">
                <a:latin typeface="Helvetica"/>
              </a:rPr>
              <a:t>organisation</a:t>
            </a:r>
            <a:endParaRPr lang="en-US" sz="2200" dirty="0">
              <a:latin typeface="Helvetica"/>
            </a:endParaRPr>
          </a:p>
          <a:p>
            <a:pPr marL="360000" indent="-360000">
              <a:spcBef>
                <a:spcPts val="600"/>
              </a:spcBef>
              <a:spcAft>
                <a:spcPts val="1200"/>
              </a:spcAft>
            </a:pPr>
            <a:endParaRPr lang="en-US" sz="22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C:\Documents and Settings\Godaishu\Desktop\PHOTOS\2014\Shutterstock 25-a-day\shutterstock_122825389.jpg"/>
          <p:cNvPicPr/>
          <p:nvPr/>
        </p:nvPicPr>
        <p:blipFill>
          <a:blip r:embed="rId3" cstate="print"/>
          <a:srcRect/>
          <a:stretch>
            <a:fillRect/>
          </a:stretch>
        </p:blipFill>
        <p:spPr bwMode="auto">
          <a:xfrm>
            <a:off x="6705600" y="2971800"/>
            <a:ext cx="2232830" cy="1514901"/>
          </a:xfrm>
          <a:prstGeom prst="rect">
            <a:avLst/>
          </a:prstGeom>
          <a:noFill/>
          <a:ln w="9525">
            <a:noFill/>
            <a:miter lim="800000"/>
            <a:headEnd/>
            <a:tailEnd/>
          </a:ln>
        </p:spPr>
      </p:pic>
    </p:spTree>
    <p:extLst>
      <p:ext uri="{BB962C8B-B14F-4D97-AF65-F5344CB8AC3E}">
        <p14:creationId xmlns:p14="http://schemas.microsoft.com/office/powerpoint/2010/main" val="400423975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3.5	Support team members to rectify 	instances of deficient service delivery </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Content Placeholder 5"/>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2667000" y="1981200"/>
            <a:ext cx="3727648" cy="3794213"/>
          </a:xfrm>
          <a:prstGeom prst="rect">
            <a:avLst/>
          </a:prstGeom>
        </p:spPr>
      </p:pic>
    </p:spTree>
    <p:extLst>
      <p:ext uri="{BB962C8B-B14F-4D97-AF65-F5344CB8AC3E}">
        <p14:creationId xmlns:p14="http://schemas.microsoft.com/office/powerpoint/2010/main" val="3763684327"/>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52400"/>
            <a:ext cx="7467600" cy="1143000"/>
          </a:xfrm>
        </p:spPr>
        <p:txBody>
          <a:bodyPr>
            <a:normAutofit/>
          </a:bodyPr>
          <a:lstStyle/>
          <a:p>
            <a:r>
              <a:rPr lang="en-US" sz="3400" b="1" dirty="0" smtClean="0">
                <a:solidFill>
                  <a:srgbClr val="FF6600"/>
                </a:solidFill>
                <a:latin typeface="Helvetica" pitchFamily="34" charset="0"/>
              </a:rPr>
              <a:t>Implementing required standards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19200"/>
            <a:ext cx="6246440" cy="4525963"/>
          </a:xfrm>
        </p:spPr>
        <p:txBody>
          <a:bodyPr>
            <a:noAutofit/>
          </a:bodyPr>
          <a:lstStyle/>
          <a:p>
            <a:pPr marL="0" indent="0">
              <a:spcBef>
                <a:spcPts val="600"/>
              </a:spcBef>
              <a:spcAft>
                <a:spcPts val="600"/>
              </a:spcAft>
              <a:buNone/>
            </a:pPr>
            <a:r>
              <a:rPr lang="en-AU" sz="1800" dirty="0">
                <a:latin typeface="Helvetica" panose="020B0604020202020204" pitchFamily="34" charset="0"/>
                <a:cs typeface="Helvetica" panose="020B0604020202020204" pitchFamily="34" charset="0"/>
              </a:rPr>
              <a:t>Some ideas for rectifying deficient service delivery could be</a:t>
            </a:r>
            <a:r>
              <a:rPr lang="en-AU" sz="1800" dirty="0" smtClean="0">
                <a:latin typeface="Helvetica" panose="020B0604020202020204" pitchFamily="34" charset="0"/>
                <a:cs typeface="Helvetica" panose="020B0604020202020204" pitchFamily="34" charset="0"/>
              </a:rPr>
              <a:t>:</a:t>
            </a:r>
            <a:endParaRPr lang="en-US" sz="1800" dirty="0" smtClean="0">
              <a:latin typeface="Helvetica"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Discussing the issue with the team member and drawing their attention to the </a:t>
            </a:r>
            <a:r>
              <a:rPr lang="en-AU" sz="1800" dirty="0" smtClean="0">
                <a:latin typeface="Helvetica" panose="020B0604020202020204" pitchFamily="34" charset="0"/>
                <a:cs typeface="Helvetica" panose="020B0604020202020204" pitchFamily="34" charset="0"/>
              </a:rPr>
              <a:t>problem</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Providing further training through demonstration, observing other team members who are delivering the service to standard, and encouraging the staff member to practice in a controlled context until the standard is achieved</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Providing access to information, training manuals, resources and other material that may help align the staff member’s service delivery meet the expected standard</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Moving the staff member to other duties until the required skill level or standard is reached</a:t>
            </a:r>
            <a:endParaRPr lang="en-US" sz="1800" dirty="0">
              <a:latin typeface="Helvetica" panose="020B0604020202020204" pitchFamily="34" charset="0"/>
              <a:cs typeface="Helvetica" panose="020B0604020202020204" pitchFamily="34" charset="0"/>
            </a:endParaRPr>
          </a:p>
          <a:p>
            <a:pPr lvl="0">
              <a:spcBef>
                <a:spcPts val="600"/>
              </a:spcBef>
              <a:spcAft>
                <a:spcPts val="600"/>
              </a:spcAft>
            </a:pPr>
            <a:r>
              <a:rPr lang="en-AU" sz="1800" dirty="0">
                <a:latin typeface="Helvetica" panose="020B0604020202020204" pitchFamily="34" charset="0"/>
                <a:cs typeface="Helvetica" panose="020B0604020202020204" pitchFamily="34" charset="0"/>
              </a:rPr>
              <a:t>Applying disciplinary procedures and counselling for team members who are unable to deliver the service to standard</a:t>
            </a:r>
            <a:endParaRPr lang="en-US" sz="1800" dirty="0">
              <a:latin typeface="Helvetica" panose="020B0604020202020204" pitchFamily="34" charset="0"/>
              <a:cs typeface="Helvetica" panose="020B0604020202020204" pitchFamily="34" charset="0"/>
            </a:endParaRPr>
          </a:p>
          <a:p>
            <a:pPr marL="360000" indent="-360000">
              <a:spcBef>
                <a:spcPts val="600"/>
              </a:spcBef>
              <a:spcAft>
                <a:spcPts val="600"/>
              </a:spcAft>
            </a:pPr>
            <a:endParaRPr lang="en-US" sz="18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91138" name="Picture 2" descr="C:\Documents and Settings\Godaishu\Desktop\PHOTOS\2014\Shutterstock 25-a-day\shutterstock_59318707.jpg"/>
          <p:cNvPicPr>
            <a:picLocks noChangeAspect="1" noChangeArrowheads="1"/>
          </p:cNvPicPr>
          <p:nvPr/>
        </p:nvPicPr>
        <p:blipFill>
          <a:blip r:embed="rId3" cstate="print"/>
          <a:srcRect/>
          <a:stretch>
            <a:fillRect/>
          </a:stretch>
        </p:blipFill>
        <p:spPr bwMode="auto">
          <a:xfrm>
            <a:off x="6973995" y="2971800"/>
            <a:ext cx="2170005" cy="1447800"/>
          </a:xfrm>
          <a:prstGeom prst="rect">
            <a:avLst/>
          </a:prstGeom>
          <a:noFill/>
        </p:spPr>
      </p:pic>
    </p:spTree>
    <p:extLst>
      <p:ext uri="{BB962C8B-B14F-4D97-AF65-F5344CB8AC3E}">
        <p14:creationId xmlns:p14="http://schemas.microsoft.com/office/powerpoint/2010/main" val="260763980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3.6	Monitor the extent to which service 	delivery standards are achieved</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7" name="Picture 6" descr="C:\Documents and Settings\Godaishu\Desktop\PHOTOS\2014\Shutterstock 25-a-day\shutterstock_165728654.jpg"/>
          <p:cNvPicPr/>
          <p:nvPr/>
        </p:nvPicPr>
        <p:blipFill>
          <a:blip r:embed="rId3" cstate="print"/>
          <a:srcRect/>
          <a:stretch>
            <a:fillRect/>
          </a:stretch>
        </p:blipFill>
        <p:spPr bwMode="auto">
          <a:xfrm>
            <a:off x="2438400" y="2057400"/>
            <a:ext cx="4257567" cy="2813714"/>
          </a:xfrm>
          <a:prstGeom prst="rect">
            <a:avLst/>
          </a:prstGeom>
          <a:noFill/>
          <a:ln w="9525">
            <a:noFill/>
            <a:miter lim="800000"/>
            <a:headEnd/>
            <a:tailEnd/>
          </a:ln>
        </p:spPr>
      </p:pic>
    </p:spTree>
    <p:extLst>
      <p:ext uri="{BB962C8B-B14F-4D97-AF65-F5344CB8AC3E}">
        <p14:creationId xmlns:p14="http://schemas.microsoft.com/office/powerpoint/2010/main" val="37617847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latin typeface="Helvetica" pitchFamily="34" charset="0"/>
              </a:rPr>
              <a:t>3.7	Take action to address failure to meet 	service delivery targets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676400"/>
            <a:ext cx="7084640" cy="4525963"/>
          </a:xfrm>
        </p:spPr>
        <p:txBody>
          <a:bodyPr>
            <a:normAutofit/>
          </a:bodyPr>
          <a:lstStyle/>
          <a:p>
            <a:pPr marL="360000" indent="-360000">
              <a:spcBef>
                <a:spcPts val="600"/>
              </a:spcBef>
              <a:spcAft>
                <a:spcPts val="1200"/>
              </a:spcAft>
            </a:pPr>
            <a:r>
              <a:rPr lang="en-AU" sz="2200" dirty="0">
                <a:latin typeface="Helvetica" panose="020B0604020202020204" pitchFamily="34" charset="0"/>
                <a:cs typeface="Helvetica" panose="020B0604020202020204" pitchFamily="34" charset="0"/>
              </a:rPr>
              <a:t>If the monitoring process highlights areas of failure in reaching service delivery targets, action needs to be taken to rectify the </a:t>
            </a:r>
            <a:r>
              <a:rPr lang="en-AU" sz="2200" dirty="0" smtClean="0">
                <a:latin typeface="Helvetica" panose="020B0604020202020204" pitchFamily="34" charset="0"/>
                <a:cs typeface="Helvetica" panose="020B0604020202020204" pitchFamily="34" charset="0"/>
              </a:rPr>
              <a:t>issues</a:t>
            </a:r>
          </a:p>
          <a:p>
            <a:pPr marL="360000" indent="-360000">
              <a:spcBef>
                <a:spcPts val="600"/>
              </a:spcBef>
              <a:spcAft>
                <a:spcPts val="1200"/>
              </a:spcAft>
            </a:pPr>
            <a:r>
              <a:rPr lang="en-AU" sz="2200" dirty="0" smtClean="0">
                <a:latin typeface="Helvetica" panose="020B0604020202020204" pitchFamily="34" charset="0"/>
                <a:cs typeface="Helvetica" panose="020B0604020202020204" pitchFamily="34" charset="0"/>
              </a:rPr>
              <a:t>It </a:t>
            </a:r>
            <a:r>
              <a:rPr lang="en-AU" sz="2200" dirty="0">
                <a:latin typeface="Helvetica" panose="020B0604020202020204" pitchFamily="34" charset="0"/>
                <a:cs typeface="Helvetica" panose="020B0604020202020204" pitchFamily="34" charset="0"/>
              </a:rPr>
              <a:t>is critical that the action decided upon is agreed to by all staff members involved in the service item and that any action responds appropriately to the </a:t>
            </a:r>
            <a:r>
              <a:rPr lang="en-AU" sz="2200" dirty="0" smtClean="0">
                <a:latin typeface="Helvetica" panose="020B0604020202020204" pitchFamily="34" charset="0"/>
                <a:cs typeface="Helvetica" panose="020B0604020202020204" pitchFamily="34" charset="0"/>
              </a:rPr>
              <a:t>failure</a:t>
            </a:r>
            <a:endParaRPr lang="en-US" sz="2200" dirty="0" smtClean="0">
              <a:latin typeface="Helvetica" pitchFamily="34" charset="0"/>
              <a:cs typeface="Helvetica" panose="020B0604020202020204" pitchFamily="34" charset="0"/>
            </a:endParaRPr>
          </a:p>
          <a:p>
            <a:pPr marL="360000" indent="-360000">
              <a:spcBef>
                <a:spcPts val="600"/>
              </a:spcBef>
              <a:spcAft>
                <a:spcPts val="1200"/>
              </a:spcAft>
            </a:pPr>
            <a:endParaRPr lang="en-US" sz="2200" dirty="0" smtClean="0">
              <a:latin typeface="Helvetica" pitchFamily="34" charset="0"/>
              <a:cs typeface="Helvetica" panose="020B0604020202020204" pitchFamily="34" charset="0"/>
            </a:endParaRPr>
          </a:p>
          <a:p>
            <a:pPr marL="360000" indent="-360000">
              <a:spcBef>
                <a:spcPts val="600"/>
              </a:spcBef>
              <a:spcAft>
                <a:spcPts val="1200"/>
              </a:spcAft>
              <a:buNone/>
            </a:pPr>
            <a:endParaRPr lang="en-US" sz="2200" dirty="0" smtClean="0">
              <a:latin typeface="Helvetica"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92162" name="Picture 2" descr="C:\Documents and Settings\Godaishu\Desktop\PHOTOS\2014\Shutterstock 25-a-day\shutterstock_188559104.jpg"/>
          <p:cNvPicPr>
            <a:picLocks noChangeAspect="1" noChangeArrowheads="1"/>
          </p:cNvPicPr>
          <p:nvPr/>
        </p:nvPicPr>
        <p:blipFill>
          <a:blip r:embed="rId3" cstate="print"/>
          <a:srcRect/>
          <a:stretch>
            <a:fillRect/>
          </a:stretch>
        </p:blipFill>
        <p:spPr bwMode="auto">
          <a:xfrm>
            <a:off x="2667000" y="4267200"/>
            <a:ext cx="3048000" cy="2033588"/>
          </a:xfrm>
          <a:prstGeom prst="rect">
            <a:avLst/>
          </a:prstGeom>
          <a:noFill/>
        </p:spPr>
      </p:pic>
    </p:spTree>
    <p:extLst>
      <p:ext uri="{BB962C8B-B14F-4D97-AF65-F5344CB8AC3E}">
        <p14:creationId xmlns:p14="http://schemas.microsoft.com/office/powerpoint/2010/main" val="35639004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a:solidFill>
                  <a:srgbClr val="FF6600"/>
                </a:solidFill>
                <a:latin typeface="Helvetica" pitchFamily="34" charset="0"/>
              </a:rPr>
              <a:t>Addressing service delivery failures</a:t>
            </a:r>
          </a:p>
        </p:txBody>
      </p:sp>
      <p:sp>
        <p:nvSpPr>
          <p:cNvPr id="3" name="Content Placeholder 2"/>
          <p:cNvSpPr>
            <a:spLocks noGrp="1"/>
          </p:cNvSpPr>
          <p:nvPr>
            <p:ph idx="1"/>
          </p:nvPr>
        </p:nvSpPr>
        <p:spPr>
          <a:xfrm>
            <a:off x="533400" y="1676400"/>
            <a:ext cx="6858000" cy="4525963"/>
          </a:xfrm>
        </p:spPr>
        <p:txBody>
          <a:bodyPr>
            <a:normAutofit/>
          </a:bodyPr>
          <a:lstStyle/>
          <a:p>
            <a:pPr marL="0" indent="0">
              <a:spcBef>
                <a:spcPts val="600"/>
              </a:spcBef>
              <a:spcAft>
                <a:spcPts val="600"/>
              </a:spcAft>
              <a:buNone/>
            </a:pPr>
            <a:r>
              <a:rPr lang="en-AU" sz="2200" dirty="0">
                <a:latin typeface="Helvetica" panose="020B0604020202020204" pitchFamily="34" charset="0"/>
                <a:cs typeface="Helvetica" panose="020B0604020202020204" pitchFamily="34" charset="0"/>
              </a:rPr>
              <a:t>Taking action to address any failures in service delivery targets could include</a:t>
            </a:r>
            <a:r>
              <a:rPr lang="en-AU" sz="2200" dirty="0" smtClean="0">
                <a:latin typeface="Helvetica" panose="020B0604020202020204" pitchFamily="34" charset="0"/>
                <a:cs typeface="Helvetica" panose="020B0604020202020204" pitchFamily="34" charset="0"/>
              </a:rPr>
              <a:t>:</a:t>
            </a:r>
            <a:endParaRPr lang="en-US" sz="2200" dirty="0" smtClean="0">
              <a:latin typeface="Helvetica" pitchFamily="34" charset="0"/>
              <a:cs typeface="Helvetica" panose="020B0604020202020204" pitchFamily="34" charset="0"/>
            </a:endParaRPr>
          </a:p>
          <a:p>
            <a:pPr lvl="0">
              <a:spcBef>
                <a:spcPts val="600"/>
              </a:spcBef>
              <a:spcAft>
                <a:spcPts val="600"/>
              </a:spcAft>
            </a:pPr>
            <a:r>
              <a:rPr lang="en-US" sz="2200" dirty="0">
                <a:latin typeface="Helvetica" panose="020B0604020202020204" pitchFamily="34" charset="0"/>
                <a:cs typeface="Helvetica" panose="020B0604020202020204" pitchFamily="34" charset="0"/>
              </a:rPr>
              <a:t>Revising original procedures, processes and service standards due to them being unrealistic or due to changes in the context from when they were first </a:t>
            </a:r>
            <a:r>
              <a:rPr lang="en-US" sz="2200" dirty="0" smtClean="0">
                <a:latin typeface="Helvetica" panose="020B0604020202020204" pitchFamily="34" charset="0"/>
                <a:cs typeface="Helvetica" panose="020B0604020202020204" pitchFamily="34" charset="0"/>
              </a:rPr>
              <a:t>developed</a:t>
            </a:r>
            <a:endParaRPr lang="en-US" sz="2200" dirty="0">
              <a:latin typeface="Helvetica" panose="020B0604020202020204" pitchFamily="34" charset="0"/>
              <a:cs typeface="Helvetica" panose="020B0604020202020204" pitchFamily="34" charset="0"/>
            </a:endParaRPr>
          </a:p>
          <a:p>
            <a:pPr lvl="0">
              <a:spcBef>
                <a:spcPts val="600"/>
              </a:spcBef>
              <a:spcAft>
                <a:spcPts val="600"/>
              </a:spcAft>
            </a:pPr>
            <a:r>
              <a:rPr lang="en-US" sz="2200" dirty="0" smtClean="0">
                <a:latin typeface="Helvetica" panose="020B0604020202020204" pitchFamily="34" charset="0"/>
                <a:cs typeface="Helvetica" panose="020B0604020202020204" pitchFamily="34" charset="0"/>
              </a:rPr>
              <a:t>Allocating </a:t>
            </a:r>
            <a:r>
              <a:rPr lang="en-US" sz="2200" dirty="0">
                <a:latin typeface="Helvetica" panose="020B0604020202020204" pitchFamily="34" charset="0"/>
                <a:cs typeface="Helvetica" panose="020B0604020202020204" pitchFamily="34" charset="0"/>
              </a:rPr>
              <a:t>more resources and/or different resources to help achieve </a:t>
            </a:r>
            <a:r>
              <a:rPr lang="en-US" sz="2200" dirty="0" smtClean="0">
                <a:latin typeface="Helvetica" panose="020B0604020202020204" pitchFamily="34" charset="0"/>
                <a:cs typeface="Helvetica" panose="020B0604020202020204" pitchFamily="34" charset="0"/>
              </a:rPr>
              <a:t>targets</a:t>
            </a:r>
          </a:p>
          <a:p>
            <a:pPr lvl="0">
              <a:spcBef>
                <a:spcPts val="600"/>
              </a:spcBef>
              <a:spcAft>
                <a:spcPts val="600"/>
              </a:spcAft>
            </a:pPr>
            <a:r>
              <a:rPr lang="en-US" sz="2200" dirty="0" smtClean="0">
                <a:latin typeface="Helvetica" panose="020B0604020202020204" pitchFamily="34" charset="0"/>
                <a:cs typeface="Helvetica" panose="020B0604020202020204" pitchFamily="34" charset="0"/>
              </a:rPr>
              <a:t>Rearranging </a:t>
            </a:r>
            <a:r>
              <a:rPr lang="en-US" sz="2200" dirty="0">
                <a:latin typeface="Helvetica" panose="020B0604020202020204" pitchFamily="34" charset="0"/>
                <a:cs typeface="Helvetica" panose="020B0604020202020204" pitchFamily="34" charset="0"/>
              </a:rPr>
              <a:t>the service delivery </a:t>
            </a:r>
            <a:r>
              <a:rPr lang="en-US" sz="2200" dirty="0" smtClean="0">
                <a:latin typeface="Helvetica" panose="020B0604020202020204" pitchFamily="34" charset="0"/>
                <a:cs typeface="Helvetica" panose="020B0604020202020204" pitchFamily="34" charset="0"/>
              </a:rPr>
              <a:t>team</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93186" name="Picture 2" descr="C:\Documents and Settings\Godaishu\Desktop\PHOTOS\2014\Shutterstock 25-a-day\shutterstock_190955519.jpg"/>
          <p:cNvPicPr>
            <a:picLocks noChangeAspect="1" noChangeArrowheads="1"/>
          </p:cNvPicPr>
          <p:nvPr/>
        </p:nvPicPr>
        <p:blipFill>
          <a:blip r:embed="rId3" cstate="print"/>
          <a:srcRect/>
          <a:stretch>
            <a:fillRect/>
          </a:stretch>
        </p:blipFill>
        <p:spPr bwMode="auto">
          <a:xfrm>
            <a:off x="6324600" y="3886200"/>
            <a:ext cx="2514600" cy="1677710"/>
          </a:xfrm>
          <a:prstGeom prst="rect">
            <a:avLst/>
          </a:prstGeom>
          <a:noFill/>
        </p:spPr>
      </p:pic>
    </p:spTree>
    <p:extLst>
      <p:ext uri="{BB962C8B-B14F-4D97-AF65-F5344CB8AC3E}">
        <p14:creationId xmlns:p14="http://schemas.microsoft.com/office/powerpoint/2010/main" val="276782999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Addressing service delivery failures</a:t>
            </a:r>
            <a:endParaRPr lang="en-US" sz="3400" b="1" dirty="0">
              <a:solidFill>
                <a:srgbClr val="FF6600"/>
              </a:solidFill>
              <a:latin typeface="Helvetica" pitchFamily="34" charset="0"/>
            </a:endParaRPr>
          </a:p>
        </p:txBody>
      </p:sp>
      <p:pic>
        <p:nvPicPr>
          <p:cNvPr id="5" name="Content Placeholder 4"/>
          <p:cNvPicPr>
            <a:picLocks noGrp="1" noChangeAspect="1"/>
          </p:cNvPicPr>
          <p:nvPr>
            <p:ph idx="1"/>
          </p:nvPr>
        </p:nvPicPr>
        <p:blipFill>
          <a:blip r:embed="rId3" cstate="print"/>
          <a:stretch>
            <a:fillRect/>
          </a:stretch>
        </p:blipFill>
        <p:spPr>
          <a:xfrm>
            <a:off x="2627784" y="1269472"/>
            <a:ext cx="4601488" cy="5588528"/>
          </a:xfrm>
          <a:prstGeom prst="rect">
            <a:avLst/>
          </a:prstGeom>
        </p:spPr>
      </p:pic>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spTree>
    <p:extLst>
      <p:ext uri="{BB962C8B-B14F-4D97-AF65-F5344CB8AC3E}">
        <p14:creationId xmlns:p14="http://schemas.microsoft.com/office/powerpoint/2010/main" val="194851421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2800" b="1" dirty="0" smtClean="0">
                <a:solidFill>
                  <a:srgbClr val="FF6600"/>
                </a:solidFill>
              </a:rPr>
              <a:t>3.8	Maintain records relating to service 	delivery</a:t>
            </a:r>
            <a:endParaRPr lang="en-US" sz="2800" b="1" dirty="0">
              <a:solidFill>
                <a:srgbClr val="FF6600"/>
              </a:solidFill>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6" name="Content Placeholder 5"/>
          <p:cNvPicPr>
            <a:picLocks noGrp="1"/>
          </p:cNvPicPr>
          <p:nvPr>
            <p:ph idx="1"/>
          </p:nvPr>
        </p:nvPicPr>
        <p:blipFill>
          <a:blip r:embed="rId3" cstate="print">
            <a:extLst>
              <a:ext uri="{28A0092B-C50C-407E-A947-70E740481C1C}">
                <a14:useLocalDpi xmlns:a14="http://schemas.microsoft.com/office/drawing/2010/main" val="0"/>
              </a:ext>
            </a:extLst>
          </a:blip>
          <a:stretch>
            <a:fillRect/>
          </a:stretch>
        </p:blipFill>
        <p:spPr>
          <a:xfrm>
            <a:off x="2590800" y="1752600"/>
            <a:ext cx="3975450" cy="4081462"/>
          </a:xfrm>
          <a:prstGeom prst="rect">
            <a:avLst/>
          </a:prstGeom>
        </p:spPr>
      </p:pic>
    </p:spTree>
    <p:extLst>
      <p:ext uri="{BB962C8B-B14F-4D97-AF65-F5344CB8AC3E}">
        <p14:creationId xmlns:p14="http://schemas.microsoft.com/office/powerpoint/2010/main" val="26636998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Service delivery record examples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417637"/>
            <a:ext cx="6551240" cy="4525963"/>
          </a:xfrm>
        </p:spPr>
        <p:txBody>
          <a:bodyPr>
            <a:noAutofit/>
          </a:bodyPr>
          <a:lstStyle/>
          <a:p>
            <a:pPr marL="0" indent="0">
              <a:spcBef>
                <a:spcPts val="600"/>
              </a:spcBef>
              <a:spcAft>
                <a:spcPts val="600"/>
              </a:spcAft>
              <a:buNone/>
            </a:pPr>
            <a:r>
              <a:rPr lang="en-AU" sz="2100" dirty="0" smtClean="0">
                <a:latin typeface="Helvetica"/>
                <a:cs typeface="Helvetica" panose="020B0604020202020204" pitchFamily="34" charset="0"/>
              </a:rPr>
              <a:t>Some </a:t>
            </a:r>
            <a:r>
              <a:rPr lang="en-AU" sz="2100" dirty="0">
                <a:latin typeface="Helvetica"/>
                <a:cs typeface="Helvetica" panose="020B0604020202020204" pitchFamily="34" charset="0"/>
              </a:rPr>
              <a:t>of the records that relate to service delivery could </a:t>
            </a:r>
            <a:r>
              <a:rPr lang="en-AU" sz="2100" dirty="0" smtClean="0">
                <a:latin typeface="Helvetica"/>
                <a:cs typeface="Helvetica" panose="020B0604020202020204" pitchFamily="34" charset="0"/>
              </a:rPr>
              <a:t>include</a:t>
            </a:r>
            <a:r>
              <a:rPr lang="en-US" sz="2100" dirty="0" smtClean="0">
                <a:latin typeface="Helvetica"/>
                <a:cs typeface="Helvetica" panose="020B0604020202020204" pitchFamily="34" charset="0"/>
              </a:rPr>
              <a:t>:</a:t>
            </a:r>
          </a:p>
          <a:p>
            <a:pPr lvl="0">
              <a:spcBef>
                <a:spcPts val="600"/>
              </a:spcBef>
              <a:spcAft>
                <a:spcPts val="600"/>
              </a:spcAft>
            </a:pPr>
            <a:r>
              <a:rPr lang="en-US" sz="2100" dirty="0">
                <a:latin typeface="Helvetica"/>
              </a:rPr>
              <a:t>Staff rosters and work schedules</a:t>
            </a:r>
          </a:p>
          <a:p>
            <a:pPr lvl="0">
              <a:spcBef>
                <a:spcPts val="600"/>
              </a:spcBef>
              <a:spcAft>
                <a:spcPts val="600"/>
              </a:spcAft>
            </a:pPr>
            <a:r>
              <a:rPr lang="en-US" sz="2100" dirty="0">
                <a:latin typeface="Helvetica"/>
              </a:rPr>
              <a:t>Salary sheets and records of hours</a:t>
            </a:r>
          </a:p>
          <a:p>
            <a:pPr lvl="0">
              <a:spcBef>
                <a:spcPts val="600"/>
              </a:spcBef>
              <a:spcAft>
                <a:spcPts val="600"/>
              </a:spcAft>
            </a:pPr>
            <a:r>
              <a:rPr lang="en-US" sz="2100" dirty="0">
                <a:latin typeface="Helvetica"/>
              </a:rPr>
              <a:t>Training reports, written records of personal observations, staff appraisals</a:t>
            </a:r>
          </a:p>
          <a:p>
            <a:pPr lvl="0">
              <a:spcBef>
                <a:spcPts val="600"/>
              </a:spcBef>
              <a:spcAft>
                <a:spcPts val="600"/>
              </a:spcAft>
            </a:pPr>
            <a:r>
              <a:rPr lang="en-US" sz="2100" dirty="0">
                <a:latin typeface="Helvetica"/>
              </a:rPr>
              <a:t>Feedback surveys from customers and staff including complaint forms and compliment sheets</a:t>
            </a:r>
          </a:p>
          <a:p>
            <a:pPr lvl="0">
              <a:spcBef>
                <a:spcPts val="600"/>
              </a:spcBef>
              <a:spcAft>
                <a:spcPts val="600"/>
              </a:spcAft>
            </a:pPr>
            <a:r>
              <a:rPr lang="en-US" sz="2100" dirty="0">
                <a:latin typeface="Helvetica"/>
              </a:rPr>
              <a:t>Incident reports</a:t>
            </a:r>
          </a:p>
          <a:p>
            <a:pPr lvl="0">
              <a:spcBef>
                <a:spcPts val="600"/>
              </a:spcBef>
              <a:spcAft>
                <a:spcPts val="600"/>
              </a:spcAft>
            </a:pPr>
            <a:r>
              <a:rPr lang="en-US" sz="2100" dirty="0">
                <a:latin typeface="Helvetica"/>
              </a:rPr>
              <a:t>Action reports</a:t>
            </a:r>
          </a:p>
          <a:p>
            <a:pPr lvl="0">
              <a:spcBef>
                <a:spcPts val="600"/>
              </a:spcBef>
              <a:spcAft>
                <a:spcPts val="600"/>
              </a:spcAft>
            </a:pPr>
            <a:r>
              <a:rPr lang="en-US" sz="2100" dirty="0">
                <a:latin typeface="Helvetica"/>
              </a:rPr>
              <a:t>Target reports</a:t>
            </a:r>
          </a:p>
          <a:p>
            <a:pPr marL="360000" indent="-360000">
              <a:spcBef>
                <a:spcPts val="600"/>
              </a:spcBef>
              <a:spcAft>
                <a:spcPts val="600"/>
              </a:spcAft>
            </a:pPr>
            <a:endParaRPr lang="en-US" sz="21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94210" name="Picture 2" descr="C:\Documents and Settings\Godaishu\Desktop\PHOTOS\2014\Shutterstock 25-a-day\shutterstock_100804075.jpg"/>
          <p:cNvPicPr>
            <a:picLocks noChangeAspect="1" noChangeArrowheads="1"/>
          </p:cNvPicPr>
          <p:nvPr/>
        </p:nvPicPr>
        <p:blipFill>
          <a:blip r:embed="rId3" cstate="print"/>
          <a:srcRect/>
          <a:stretch>
            <a:fillRect/>
          </a:stretch>
        </p:blipFill>
        <p:spPr bwMode="auto">
          <a:xfrm>
            <a:off x="6629400" y="2286000"/>
            <a:ext cx="2239710" cy="1497806"/>
          </a:xfrm>
          <a:prstGeom prst="rect">
            <a:avLst/>
          </a:prstGeom>
          <a:noFill/>
        </p:spPr>
      </p:pic>
    </p:spTree>
    <p:extLst>
      <p:ext uri="{BB962C8B-B14F-4D97-AF65-F5344CB8AC3E}">
        <p14:creationId xmlns:p14="http://schemas.microsoft.com/office/powerpoint/2010/main" val="100052879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28600"/>
            <a:ext cx="7467600" cy="1143000"/>
          </a:xfrm>
        </p:spPr>
        <p:txBody>
          <a:bodyPr>
            <a:normAutofit/>
          </a:bodyPr>
          <a:lstStyle/>
          <a:p>
            <a:r>
              <a:rPr lang="en-US" sz="3400" b="1" dirty="0" smtClean="0">
                <a:solidFill>
                  <a:srgbClr val="FF6600"/>
                </a:solidFill>
                <a:latin typeface="Helvetica" pitchFamily="34" charset="0"/>
              </a:rPr>
              <a:t>Summary</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95400"/>
            <a:ext cx="7160840" cy="4844008"/>
          </a:xfrm>
        </p:spPr>
        <p:txBody>
          <a:bodyPr>
            <a:noAutofit/>
          </a:bodyPr>
          <a:lstStyle/>
          <a:p>
            <a:pPr marL="0" indent="0">
              <a:lnSpc>
                <a:spcPct val="110000"/>
              </a:lnSpc>
              <a:spcBef>
                <a:spcPts val="600"/>
              </a:spcBef>
              <a:spcAft>
                <a:spcPts val="900"/>
              </a:spcAft>
              <a:buNone/>
            </a:pPr>
            <a:r>
              <a:rPr lang="en-AU" sz="2100" dirty="0">
                <a:latin typeface="Helvetica"/>
                <a:cs typeface="Helvetica" panose="020B0604020202020204" pitchFamily="34" charset="0"/>
              </a:rPr>
              <a:t>Service teams need </a:t>
            </a:r>
            <a:r>
              <a:rPr lang="en-AU" sz="2100" dirty="0" smtClean="0">
                <a:latin typeface="Helvetica"/>
                <a:cs typeface="Helvetica" panose="020B0604020202020204" pitchFamily="34" charset="0"/>
              </a:rPr>
              <a:t>to</a:t>
            </a:r>
            <a:r>
              <a:rPr lang="en-US" sz="2100" dirty="0" smtClean="0">
                <a:latin typeface="Helvetica"/>
                <a:cs typeface="Helvetica" panose="020B0604020202020204" pitchFamily="34" charset="0"/>
              </a:rPr>
              <a:t>:</a:t>
            </a:r>
          </a:p>
          <a:p>
            <a:pPr lvl="0">
              <a:lnSpc>
                <a:spcPct val="110000"/>
              </a:lnSpc>
              <a:spcBef>
                <a:spcPts val="600"/>
              </a:spcBef>
              <a:spcAft>
                <a:spcPts val="900"/>
              </a:spcAft>
            </a:pPr>
            <a:r>
              <a:rPr lang="en-AU" sz="2100" dirty="0">
                <a:latin typeface="Helvetica"/>
              </a:rPr>
              <a:t>Be monitored regularly</a:t>
            </a:r>
            <a:endParaRPr lang="en-US" sz="2100" dirty="0">
              <a:latin typeface="Helvetica"/>
            </a:endParaRPr>
          </a:p>
          <a:p>
            <a:pPr lvl="0">
              <a:lnSpc>
                <a:spcPct val="110000"/>
              </a:lnSpc>
              <a:spcBef>
                <a:spcPts val="600"/>
              </a:spcBef>
              <a:spcAft>
                <a:spcPts val="900"/>
              </a:spcAft>
            </a:pPr>
            <a:r>
              <a:rPr lang="en-AU" sz="2100" dirty="0">
                <a:latin typeface="Helvetica"/>
              </a:rPr>
              <a:t>Be chosen and developed effectively</a:t>
            </a:r>
            <a:endParaRPr lang="en-US" sz="2100" dirty="0">
              <a:latin typeface="Helvetica"/>
            </a:endParaRPr>
          </a:p>
          <a:p>
            <a:pPr lvl="0">
              <a:lnSpc>
                <a:spcPct val="110000"/>
              </a:lnSpc>
              <a:spcBef>
                <a:spcPts val="600"/>
              </a:spcBef>
              <a:spcAft>
                <a:spcPts val="900"/>
              </a:spcAft>
            </a:pPr>
            <a:r>
              <a:rPr lang="en-AU" sz="2100" dirty="0">
                <a:latin typeface="Helvetica"/>
              </a:rPr>
              <a:t>Have access to adequate resources to deliver service at the required standard</a:t>
            </a:r>
            <a:endParaRPr lang="en-US" sz="2100" dirty="0">
              <a:latin typeface="Helvetica"/>
            </a:endParaRPr>
          </a:p>
          <a:p>
            <a:pPr lvl="0">
              <a:lnSpc>
                <a:spcPct val="110000"/>
              </a:lnSpc>
              <a:spcBef>
                <a:spcPts val="600"/>
              </a:spcBef>
              <a:spcAft>
                <a:spcPts val="900"/>
              </a:spcAft>
            </a:pPr>
            <a:r>
              <a:rPr lang="en-AU" sz="2100" dirty="0">
                <a:latin typeface="Helvetica"/>
              </a:rPr>
              <a:t>Provide support for team members who are not meeting service delivery standards</a:t>
            </a:r>
            <a:endParaRPr lang="en-US" sz="2100" dirty="0">
              <a:latin typeface="Helvetica"/>
            </a:endParaRPr>
          </a:p>
          <a:p>
            <a:pPr lvl="0">
              <a:lnSpc>
                <a:spcPct val="110000"/>
              </a:lnSpc>
              <a:spcBef>
                <a:spcPts val="600"/>
              </a:spcBef>
              <a:spcAft>
                <a:spcPts val="900"/>
              </a:spcAft>
            </a:pPr>
            <a:r>
              <a:rPr lang="en-AU" sz="2100" dirty="0">
                <a:latin typeface="Helvetica"/>
              </a:rPr>
              <a:t>Be empowered to respond to failures in service delivery </a:t>
            </a:r>
            <a:endParaRPr lang="en-US" sz="2100" dirty="0">
              <a:latin typeface="Helvetica"/>
            </a:endParaRPr>
          </a:p>
          <a:p>
            <a:pPr lvl="0">
              <a:lnSpc>
                <a:spcPct val="110000"/>
              </a:lnSpc>
              <a:spcBef>
                <a:spcPts val="600"/>
              </a:spcBef>
              <a:spcAft>
                <a:spcPts val="900"/>
              </a:spcAft>
            </a:pPr>
            <a:r>
              <a:rPr lang="en-AU" sz="2100" dirty="0">
                <a:latin typeface="Helvetica"/>
              </a:rPr>
              <a:t>Keep up to date records of service delivery and to monitor achievement or failure to meet outlined service delivery targets</a:t>
            </a:r>
            <a:endParaRPr lang="en-US" sz="2100" dirty="0">
              <a:latin typeface="Helvetica"/>
            </a:endParaRPr>
          </a:p>
          <a:p>
            <a:pPr marL="360000" indent="-360000">
              <a:lnSpc>
                <a:spcPct val="110000"/>
              </a:lnSpc>
              <a:spcBef>
                <a:spcPts val="600"/>
              </a:spcBef>
              <a:spcAft>
                <a:spcPts val="900"/>
              </a:spcAft>
            </a:pPr>
            <a:endParaRPr lang="en-US" sz="2100" dirty="0" smtClean="0">
              <a:latin typeface="Helvetica"/>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1" descr="C:\Documents and Settings\Godaishu\Local Settings\Temporary Internet Files\Content.IE5\VL0QK7PC\summary[1].jpg"/>
          <p:cNvPicPr>
            <a:picLocks noChangeAspect="1" noChangeArrowheads="1"/>
          </p:cNvPicPr>
          <p:nvPr/>
        </p:nvPicPr>
        <p:blipFill>
          <a:blip r:embed="rId3" cstate="print"/>
          <a:srcRect/>
          <a:stretch>
            <a:fillRect/>
          </a:stretch>
        </p:blipFill>
        <p:spPr bwMode="auto">
          <a:xfrm>
            <a:off x="5638800" y="990600"/>
            <a:ext cx="2133791" cy="1752600"/>
          </a:xfrm>
          <a:prstGeom prst="rect">
            <a:avLst/>
          </a:prstGeom>
          <a:noFill/>
        </p:spPr>
      </p:pic>
    </p:spTree>
    <p:extLst>
      <p:ext uri="{BB962C8B-B14F-4D97-AF65-F5344CB8AC3E}">
        <p14:creationId xmlns:p14="http://schemas.microsoft.com/office/powerpoint/2010/main" val="231062260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4: Liaise with management regarding service delivery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33400" y="1828800"/>
            <a:ext cx="6627440" cy="4525963"/>
          </a:xfrm>
        </p:spPr>
        <p:txBody>
          <a:bodyPr>
            <a:normAutofit lnSpcReduction="10000"/>
          </a:bodyPr>
          <a:lstStyle/>
          <a:p>
            <a:pPr marL="0" indent="0">
              <a:spcBef>
                <a:spcPts val="600"/>
              </a:spcBef>
              <a:spcAft>
                <a:spcPts val="1200"/>
              </a:spcAft>
              <a:buNone/>
            </a:pPr>
            <a:r>
              <a:rPr lang="en-AU" sz="2200" b="1" dirty="0" smtClean="0">
                <a:latin typeface="Helvetica" panose="020B0604020202020204" pitchFamily="34" charset="0"/>
                <a:cs typeface="Helvetica" panose="020B0604020202020204" pitchFamily="34" charset="0"/>
              </a:rPr>
              <a:t>Performance criteria</a:t>
            </a:r>
          </a:p>
          <a:p>
            <a:pPr marL="0" indent="0">
              <a:spcBef>
                <a:spcPts val="600"/>
              </a:spcBef>
              <a:spcAft>
                <a:spcPts val="1200"/>
              </a:spcAft>
              <a:buNone/>
            </a:pPr>
            <a:r>
              <a:rPr lang="en-AU" sz="2200" dirty="0" smtClean="0">
                <a:solidFill>
                  <a:srgbClr val="92D050"/>
                </a:solidFill>
                <a:latin typeface="Helvetica" panose="020B0604020202020204" pitchFamily="34" charset="0"/>
                <a:cs typeface="Helvetica" panose="020B0604020202020204" pitchFamily="34" charset="0"/>
              </a:rPr>
              <a:t>4.1</a:t>
            </a:r>
            <a:r>
              <a:rPr lang="en-AU" sz="2200" dirty="0" smtClean="0">
                <a:latin typeface="Helvetica" panose="020B0604020202020204" pitchFamily="34" charset="0"/>
                <a:cs typeface="Helvetica" panose="020B0604020202020204" pitchFamily="34" charset="0"/>
              </a:rPr>
              <a:t>	Discuss </a:t>
            </a:r>
            <a:r>
              <a:rPr lang="en-AU" sz="2200" dirty="0">
                <a:latin typeface="Helvetica" panose="020B0604020202020204" pitchFamily="34" charset="0"/>
                <a:cs typeface="Helvetica" panose="020B0604020202020204" pitchFamily="34" charset="0"/>
              </a:rPr>
              <a:t>suggestions for improvements to </a:t>
            </a:r>
            <a:r>
              <a:rPr lang="en-AU" sz="2200" dirty="0" smtClean="0">
                <a:latin typeface="Helvetica" panose="020B0604020202020204" pitchFamily="34" charset="0"/>
                <a:cs typeface="Helvetica" panose="020B0604020202020204" pitchFamily="34" charset="0"/>
              </a:rPr>
              <a:t>	service </a:t>
            </a:r>
            <a:r>
              <a:rPr lang="en-AU" sz="2200" dirty="0">
                <a:latin typeface="Helvetica" panose="020B0604020202020204" pitchFamily="34" charset="0"/>
                <a:cs typeface="Helvetica" panose="020B0604020202020204" pitchFamily="34" charset="0"/>
              </a:rPr>
              <a:t>delivery with </a:t>
            </a:r>
            <a:r>
              <a:rPr lang="en-AU" sz="2200" dirty="0" smtClean="0">
                <a:latin typeface="Helvetica" panose="020B0604020202020204" pitchFamily="34" charset="0"/>
                <a:cs typeface="Helvetica" panose="020B0604020202020204" pitchFamily="34" charset="0"/>
              </a:rPr>
              <a:t>management</a:t>
            </a:r>
          </a:p>
          <a:p>
            <a:pPr marL="0" indent="0">
              <a:spcBef>
                <a:spcPts val="600"/>
              </a:spcBef>
              <a:spcAft>
                <a:spcPts val="1200"/>
              </a:spcAft>
              <a:buNone/>
            </a:pPr>
            <a:r>
              <a:rPr lang="en-AU" sz="2200" dirty="0" smtClean="0">
                <a:solidFill>
                  <a:srgbClr val="92D050"/>
                </a:solidFill>
                <a:latin typeface="Helvetica" panose="020B0604020202020204" pitchFamily="34" charset="0"/>
                <a:cs typeface="Helvetica" panose="020B0604020202020204" pitchFamily="34" charset="0"/>
              </a:rPr>
              <a:t>4.2 </a:t>
            </a:r>
            <a:r>
              <a:rPr lang="en-AU" sz="2200" dirty="0" smtClean="0">
                <a:latin typeface="Helvetica" panose="020B0604020202020204" pitchFamily="34" charset="0"/>
                <a:cs typeface="Helvetica" panose="020B0604020202020204" pitchFamily="34" charset="0"/>
              </a:rPr>
              <a:t>	Discuss </a:t>
            </a:r>
            <a:r>
              <a:rPr lang="en-AU" sz="2200" dirty="0">
                <a:latin typeface="Helvetica" panose="020B0604020202020204" pitchFamily="34" charset="0"/>
                <a:cs typeface="Helvetica" panose="020B0604020202020204" pitchFamily="34" charset="0"/>
              </a:rPr>
              <a:t>significant instances of failure </a:t>
            </a:r>
            <a:r>
              <a:rPr lang="en-AU" sz="2200" dirty="0" smtClean="0">
                <a:latin typeface="Helvetica" panose="020B0604020202020204" pitchFamily="34" charset="0"/>
                <a:cs typeface="Helvetica" panose="020B0604020202020204" pitchFamily="34" charset="0"/>
              </a:rPr>
              <a:t>to 	deliver </a:t>
            </a:r>
            <a:r>
              <a:rPr lang="en-AU" sz="2200" dirty="0">
                <a:latin typeface="Helvetica" panose="020B0604020202020204" pitchFamily="34" charset="0"/>
                <a:cs typeface="Helvetica" panose="020B0604020202020204" pitchFamily="34" charset="0"/>
              </a:rPr>
              <a:t>identified service delivery </a:t>
            </a:r>
            <a:r>
              <a:rPr lang="en-AU" sz="2200" dirty="0" smtClean="0">
                <a:latin typeface="Helvetica" panose="020B0604020202020204" pitchFamily="34" charset="0"/>
                <a:cs typeface="Helvetica" panose="020B0604020202020204" pitchFamily="34" charset="0"/>
              </a:rPr>
              <a:t>standards 	with management</a:t>
            </a:r>
          </a:p>
          <a:p>
            <a:pPr marL="0" indent="0">
              <a:spcBef>
                <a:spcPts val="600"/>
              </a:spcBef>
              <a:spcAft>
                <a:spcPts val="1200"/>
              </a:spcAft>
              <a:buNone/>
            </a:pPr>
            <a:r>
              <a:rPr lang="en-US" sz="2200" dirty="0" smtClean="0">
                <a:solidFill>
                  <a:srgbClr val="92D050"/>
                </a:solidFill>
                <a:latin typeface="Helvetica" panose="020B0604020202020204" pitchFamily="34" charset="0"/>
                <a:cs typeface="Helvetica" panose="020B0604020202020204" pitchFamily="34" charset="0"/>
              </a:rPr>
              <a:t>4.3</a:t>
            </a:r>
            <a:r>
              <a:rPr lang="en-US" sz="2200" dirty="0" smtClean="0">
                <a:latin typeface="Helvetica" panose="020B0604020202020204" pitchFamily="34" charset="0"/>
                <a:cs typeface="Helvetica" panose="020B0604020202020204" pitchFamily="34" charset="0"/>
              </a:rPr>
              <a:t>	</a:t>
            </a:r>
            <a:r>
              <a:rPr lang="en-AU" sz="2200" dirty="0" smtClean="0">
                <a:latin typeface="Helvetica" panose="020B0604020202020204" pitchFamily="34" charset="0"/>
                <a:cs typeface="Helvetica" panose="020B0604020202020204" pitchFamily="34" charset="0"/>
              </a:rPr>
              <a:t>Provide </a:t>
            </a:r>
            <a:r>
              <a:rPr lang="en-AU" sz="2200" dirty="0">
                <a:latin typeface="Helvetica" panose="020B0604020202020204" pitchFamily="34" charset="0"/>
                <a:cs typeface="Helvetica" panose="020B0604020202020204" pitchFamily="34" charset="0"/>
              </a:rPr>
              <a:t>operational information </a:t>
            </a:r>
            <a:r>
              <a:rPr lang="en-AU" sz="2200" dirty="0" smtClean="0">
                <a:latin typeface="Helvetica" panose="020B0604020202020204" pitchFamily="34" charset="0"/>
                <a:cs typeface="Helvetica" panose="020B0604020202020204" pitchFamily="34" charset="0"/>
              </a:rPr>
              <a:t>regarding 	service </a:t>
            </a:r>
            <a:r>
              <a:rPr lang="en-AU" sz="2200" dirty="0">
                <a:latin typeface="Helvetica" panose="020B0604020202020204" pitchFamily="34" charset="0"/>
                <a:cs typeface="Helvetica" panose="020B0604020202020204" pitchFamily="34" charset="0"/>
              </a:rPr>
              <a:t>delivery to </a:t>
            </a:r>
            <a:r>
              <a:rPr lang="en-AU" sz="2200" dirty="0" smtClean="0">
                <a:latin typeface="Helvetica" panose="020B0604020202020204" pitchFamily="34" charset="0"/>
                <a:cs typeface="Helvetica" panose="020B0604020202020204" pitchFamily="34" charset="0"/>
              </a:rPr>
              <a:t>management</a:t>
            </a:r>
            <a:endParaRPr lang="en-US" sz="2200" dirty="0">
              <a:latin typeface="Helvetica" panose="020B0604020202020204" pitchFamily="34" charset="0"/>
              <a:cs typeface="Helvetica" panose="020B0604020202020204" pitchFamily="34" charset="0"/>
            </a:endParaRPr>
          </a:p>
          <a:p>
            <a:pPr marL="0" indent="0">
              <a:spcBef>
                <a:spcPts val="600"/>
              </a:spcBef>
              <a:spcAft>
                <a:spcPts val="1200"/>
              </a:spcAft>
              <a:buNone/>
            </a:pPr>
            <a:r>
              <a:rPr lang="en-US" sz="2200" dirty="0" smtClean="0">
                <a:solidFill>
                  <a:srgbClr val="92D050"/>
                </a:solidFill>
                <a:latin typeface="Helvetica" panose="020B0604020202020204" pitchFamily="34" charset="0"/>
                <a:cs typeface="Helvetica" panose="020B0604020202020204" pitchFamily="34" charset="0"/>
              </a:rPr>
              <a:t>4.4</a:t>
            </a:r>
            <a:r>
              <a:rPr lang="en-US" sz="2200" dirty="0" smtClean="0">
                <a:latin typeface="Helvetica" panose="020B0604020202020204" pitchFamily="34" charset="0"/>
                <a:cs typeface="Helvetica" panose="020B0604020202020204" pitchFamily="34" charset="0"/>
              </a:rPr>
              <a:t>	</a:t>
            </a:r>
            <a:r>
              <a:rPr lang="en-AU" sz="2200" dirty="0" smtClean="0">
                <a:latin typeface="Helvetica" panose="020B0604020202020204" pitchFamily="34" charset="0"/>
                <a:cs typeface="Helvetica" panose="020B0604020202020204" pitchFamily="34" charset="0"/>
              </a:rPr>
              <a:t>Participate </a:t>
            </a:r>
            <a:r>
              <a:rPr lang="en-AU" sz="2200" dirty="0">
                <a:latin typeface="Helvetica" panose="020B0604020202020204" pitchFamily="34" charset="0"/>
                <a:cs typeface="Helvetica" panose="020B0604020202020204" pitchFamily="34" charset="0"/>
              </a:rPr>
              <a:t>in developing service delivery </a:t>
            </a:r>
            <a:r>
              <a:rPr lang="en-AU" sz="2200" dirty="0" smtClean="0">
                <a:latin typeface="Helvetica" panose="020B0604020202020204" pitchFamily="34" charset="0"/>
                <a:cs typeface="Helvetica" panose="020B0604020202020204" pitchFamily="34" charset="0"/>
              </a:rPr>
              <a:t>	teams </a:t>
            </a:r>
            <a:r>
              <a:rPr lang="en-AU" sz="2200" dirty="0">
                <a:latin typeface="Helvetica" panose="020B0604020202020204" pitchFamily="34" charset="0"/>
                <a:cs typeface="Helvetica" panose="020B0604020202020204" pitchFamily="34" charset="0"/>
              </a:rPr>
              <a:t>and standards for emerging </a:t>
            </a:r>
            <a:r>
              <a:rPr lang="en-AU" sz="2200" dirty="0" smtClean="0">
                <a:latin typeface="Helvetica" panose="020B0604020202020204" pitchFamily="34" charset="0"/>
                <a:cs typeface="Helvetica" panose="020B0604020202020204" pitchFamily="34" charset="0"/>
              </a:rPr>
              <a:t>and new 	business </a:t>
            </a:r>
            <a:r>
              <a:rPr lang="en-AU" sz="2200" dirty="0">
                <a:latin typeface="Helvetica" panose="020B0604020202020204" pitchFamily="34" charset="0"/>
                <a:cs typeface="Helvetica" panose="020B0604020202020204" pitchFamily="34" charset="0"/>
              </a:rPr>
              <a:t>activities and markets</a:t>
            </a:r>
            <a:endParaRPr lang="en-US" sz="2200" dirty="0">
              <a:latin typeface="Helvetica" panose="020B0604020202020204" pitchFamily="34" charset="0"/>
              <a:cs typeface="Helvetica" panose="020B0604020202020204" pitchFamily="34" charset="0"/>
            </a:endParaRPr>
          </a:p>
          <a:p>
            <a:pPr marL="0" indent="0">
              <a:spcBef>
                <a:spcPts val="600"/>
              </a:spcBef>
              <a:spcAft>
                <a:spcPts val="1200"/>
              </a:spcAft>
              <a:buNone/>
            </a:pPr>
            <a:endParaRPr lang="en-US" sz="2200" dirty="0" smtClean="0">
              <a:latin typeface="Helvetica" pitchFamily="34" charset="0"/>
              <a:cs typeface="Helvetica" panose="020B0604020202020204"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1" descr="C:\Documents and Settings\Godaishu\Desktop\PHOTOS\2014\Shutterstock 25-a-day\shutterstock_89597467.jpg"/>
          <p:cNvPicPr>
            <a:picLocks noChangeAspect="1" noChangeArrowheads="1"/>
          </p:cNvPicPr>
          <p:nvPr/>
        </p:nvPicPr>
        <p:blipFill>
          <a:blip r:embed="rId3" cstate="print"/>
          <a:srcRect l="15249" r="19262"/>
          <a:stretch>
            <a:fillRect/>
          </a:stretch>
        </p:blipFill>
        <p:spPr bwMode="auto">
          <a:xfrm>
            <a:off x="7239000" y="3048000"/>
            <a:ext cx="1295400" cy="1766829"/>
          </a:xfrm>
          <a:prstGeom prst="rect">
            <a:avLst/>
          </a:prstGeom>
          <a:noFill/>
        </p:spPr>
      </p:pic>
    </p:spTree>
    <p:extLst>
      <p:ext uri="{BB962C8B-B14F-4D97-AF65-F5344CB8AC3E}">
        <p14:creationId xmlns:p14="http://schemas.microsoft.com/office/powerpoint/2010/main" val="380998711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4.1	Discuss suggestions for 	improvements to service delivery with 	management </a:t>
            </a:r>
            <a:endParaRPr lang="en-US" sz="28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Content Placeholder 4" descr="C:\Users\Quentin\AppData\Local\Microsoft\Windows\Temporary Internet Files\Content.IE5\HQ09K7HY\event-manager-managment-planningJPG[1].JPG"/>
          <p:cNvPicPr>
            <a:picLocks noGrp="1"/>
          </p:cNvPicPr>
          <p:nvPr>
            <p:ph idx="1"/>
          </p:nvPr>
        </p:nvPicPr>
        <p:blipFill>
          <a:blip r:embed="rId3" cstate="print"/>
          <a:srcRect/>
          <a:stretch>
            <a:fillRect/>
          </a:stretch>
        </p:blipFill>
        <p:spPr bwMode="auto">
          <a:xfrm>
            <a:off x="2057400" y="2133600"/>
            <a:ext cx="5238329" cy="3327880"/>
          </a:xfrm>
          <a:prstGeom prst="rect">
            <a:avLst/>
          </a:prstGeom>
          <a:noFill/>
          <a:ln w="9525">
            <a:noFill/>
            <a:miter lim="800000"/>
            <a:headEnd/>
            <a:tailEnd/>
          </a:ln>
        </p:spPr>
      </p:pic>
    </p:spTree>
    <p:extLst>
      <p:ext uri="{BB962C8B-B14F-4D97-AF65-F5344CB8AC3E}">
        <p14:creationId xmlns:p14="http://schemas.microsoft.com/office/powerpoint/2010/main" val="1080355061"/>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467600" cy="1143000"/>
          </a:xfrm>
        </p:spPr>
        <p:txBody>
          <a:bodyPr>
            <a:normAutofit fontScale="90000"/>
          </a:bodyPr>
          <a:lstStyle/>
          <a:p>
            <a:r>
              <a:rPr lang="en-US" sz="4800" b="1" dirty="0" smtClean="0">
                <a:solidFill>
                  <a:srgbClr val="FF6600"/>
                </a:solidFill>
                <a:latin typeface="Helvetica" pitchFamily="34" charset="0"/>
              </a:rPr>
              <a:t>Meeting with management</a:t>
            </a:r>
            <a:endParaRPr lang="en-US" dirty="0"/>
          </a:p>
        </p:txBody>
      </p:sp>
      <p:sp>
        <p:nvSpPr>
          <p:cNvPr id="3" name="Content Placeholder 2"/>
          <p:cNvSpPr>
            <a:spLocks noGrp="1"/>
          </p:cNvSpPr>
          <p:nvPr>
            <p:ph idx="1"/>
          </p:nvPr>
        </p:nvSpPr>
        <p:spPr>
          <a:xfrm>
            <a:off x="457200" y="1295400"/>
            <a:ext cx="6248400" cy="4525963"/>
          </a:xfrm>
        </p:spPr>
        <p:txBody>
          <a:bodyPr>
            <a:noAutofit/>
          </a:bodyPr>
          <a:lstStyle/>
          <a:p>
            <a:pPr marL="36576" indent="0">
              <a:spcBef>
                <a:spcPts val="600"/>
              </a:spcBef>
              <a:spcAft>
                <a:spcPts val="600"/>
              </a:spcAft>
              <a:buNone/>
            </a:pPr>
            <a:r>
              <a:rPr lang="en-AU" sz="1900" dirty="0">
                <a:latin typeface="Helvetica" panose="020B0604020202020204" pitchFamily="34" charset="0"/>
                <a:cs typeface="Helvetica" panose="020B0604020202020204" pitchFamily="34" charset="0"/>
              </a:rPr>
              <a:t>In discussing suggestions for improvements to service delivery with management, it is important to ensure that:</a:t>
            </a:r>
            <a:endParaRPr lang="en-US" sz="1900" dirty="0" smtClean="0">
              <a:latin typeface="Helvetica" panose="020B0604020202020204" pitchFamily="34" charset="0"/>
              <a:cs typeface="Helvetica" panose="020B0604020202020204" pitchFamily="34" charset="0"/>
            </a:endParaRPr>
          </a:p>
          <a:p>
            <a:pPr lvl="0">
              <a:spcBef>
                <a:spcPts val="600"/>
              </a:spcBef>
              <a:spcAft>
                <a:spcPts val="600"/>
              </a:spcAft>
            </a:pPr>
            <a:r>
              <a:rPr lang="en-US" sz="1900" dirty="0">
                <a:latin typeface="Helvetica" panose="020B0604020202020204" pitchFamily="34" charset="0"/>
                <a:cs typeface="Helvetica" panose="020B0604020202020204" pitchFamily="34" charset="0"/>
              </a:rPr>
              <a:t>Relevant data and feedback to support changes has been gathered and is available to present if asked for</a:t>
            </a:r>
          </a:p>
          <a:p>
            <a:pPr lvl="0">
              <a:spcBef>
                <a:spcPts val="600"/>
              </a:spcBef>
              <a:spcAft>
                <a:spcPts val="600"/>
              </a:spcAft>
            </a:pPr>
            <a:r>
              <a:rPr lang="en-US" sz="1900" dirty="0">
                <a:latin typeface="Helvetica" panose="020B0604020202020204" pitchFamily="34" charset="0"/>
                <a:cs typeface="Helvetica" panose="020B0604020202020204" pitchFamily="34" charset="0"/>
              </a:rPr>
              <a:t>Feedback, observations, evidence and data relating to service delivery is clearly understood </a:t>
            </a:r>
          </a:p>
          <a:p>
            <a:pPr lvl="0">
              <a:spcBef>
                <a:spcPts val="600"/>
              </a:spcBef>
              <a:spcAft>
                <a:spcPts val="600"/>
              </a:spcAft>
            </a:pPr>
            <a:r>
              <a:rPr lang="en-US" sz="1900" dirty="0">
                <a:latin typeface="Helvetica" panose="020B0604020202020204" pitchFamily="34" charset="0"/>
                <a:cs typeface="Helvetica" panose="020B0604020202020204" pitchFamily="34" charset="0"/>
              </a:rPr>
              <a:t>Information is presented in a clear and logical manner. Using PowerPoint, charts, graphs and tables may be useful to present information</a:t>
            </a:r>
          </a:p>
          <a:p>
            <a:pPr lvl="0">
              <a:spcBef>
                <a:spcPts val="600"/>
              </a:spcBef>
              <a:spcAft>
                <a:spcPts val="600"/>
              </a:spcAft>
            </a:pPr>
            <a:r>
              <a:rPr lang="en-US" sz="1900" dirty="0">
                <a:latin typeface="Helvetica" panose="020B0604020202020204" pitchFamily="34" charset="0"/>
                <a:cs typeface="Helvetica" panose="020B0604020202020204" pitchFamily="34" charset="0"/>
              </a:rPr>
              <a:t>Management is able to see the need for improvements to service delivery. A comparison of desired standards and actual service delivery standard should be provided with follow-up suggestions and actions </a:t>
            </a:r>
            <a:r>
              <a:rPr lang="en-US" sz="1900" dirty="0" smtClean="0">
                <a:latin typeface="Helvetica" panose="020B0604020202020204" pitchFamily="34" charset="0"/>
                <a:cs typeface="Helvetica" panose="020B0604020202020204" pitchFamily="34" charset="0"/>
              </a:rPr>
              <a:t>outlined</a:t>
            </a:r>
            <a:endParaRPr lang="en-US" sz="1900" dirty="0">
              <a:latin typeface="Helvetica" panose="020B0604020202020204" pitchFamily="34" charset="0"/>
              <a:cs typeface="Helvetica" panose="020B0604020202020204" pitchFamily="34" charset="0"/>
            </a:endParaRPr>
          </a:p>
        </p:txBody>
      </p:sp>
      <p:pic>
        <p:nvPicPr>
          <p:cNvPr id="95234" name="Picture 2" descr="C:\Documents and Settings\Godaishu\Desktop\PHOTOS\2014\Shutterstock 25-a-day\shutterstock_104638982.jpg"/>
          <p:cNvPicPr>
            <a:picLocks noChangeAspect="1" noChangeArrowheads="1"/>
          </p:cNvPicPr>
          <p:nvPr/>
        </p:nvPicPr>
        <p:blipFill>
          <a:blip r:embed="rId3" cstate="print"/>
          <a:srcRect/>
          <a:stretch>
            <a:fillRect/>
          </a:stretch>
        </p:blipFill>
        <p:spPr bwMode="auto">
          <a:xfrm>
            <a:off x="6705600" y="3124200"/>
            <a:ext cx="2186661" cy="1458913"/>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spTree>
    <p:extLst>
      <p:ext uri="{BB962C8B-B14F-4D97-AF65-F5344CB8AC3E}">
        <p14:creationId xmlns:p14="http://schemas.microsoft.com/office/powerpoint/2010/main" val="363110958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800" b="1" dirty="0" smtClean="0">
                <a:solidFill>
                  <a:srgbClr val="FF6600"/>
                </a:solidFill>
                <a:latin typeface="Helvetica" pitchFamily="34" charset="0"/>
              </a:rPr>
              <a:t>Meeting with management</a:t>
            </a:r>
            <a:endParaRPr lang="en-US" dirty="0"/>
          </a:p>
        </p:txBody>
      </p:sp>
      <p:sp>
        <p:nvSpPr>
          <p:cNvPr id="3" name="Content Placeholder 2"/>
          <p:cNvSpPr>
            <a:spLocks noGrp="1"/>
          </p:cNvSpPr>
          <p:nvPr>
            <p:ph idx="1"/>
          </p:nvPr>
        </p:nvSpPr>
        <p:spPr>
          <a:xfrm>
            <a:off x="457200" y="1600200"/>
            <a:ext cx="5486400" cy="4525963"/>
          </a:xfrm>
        </p:spPr>
        <p:txBody>
          <a:bodyPr>
            <a:noAutofit/>
          </a:bodyPr>
          <a:lstStyle/>
          <a:p>
            <a:pPr lvl="0">
              <a:spcBef>
                <a:spcPts val="600"/>
              </a:spcBef>
              <a:spcAft>
                <a:spcPts val="1200"/>
              </a:spcAft>
            </a:pPr>
            <a:r>
              <a:rPr lang="en-US" sz="2200" dirty="0">
                <a:latin typeface="Helvetica" panose="020B0604020202020204" pitchFamily="34" charset="0"/>
                <a:cs typeface="Helvetica" panose="020B0604020202020204" pitchFamily="34" charset="0"/>
              </a:rPr>
              <a:t>All participants in the discussion have access to relevant information. It may be useful to make this information available before the discussion is arranged</a:t>
            </a:r>
          </a:p>
          <a:p>
            <a:pPr lvl="0">
              <a:spcBef>
                <a:spcPts val="600"/>
              </a:spcBef>
              <a:spcAft>
                <a:spcPts val="1200"/>
              </a:spcAft>
            </a:pPr>
            <a:r>
              <a:rPr lang="en-US" sz="2200" dirty="0">
                <a:latin typeface="Helvetica" panose="020B0604020202020204" pitchFamily="34" charset="0"/>
                <a:cs typeface="Helvetica" panose="020B0604020202020204" pitchFamily="34" charset="0"/>
              </a:rPr>
              <a:t>Management is provided with an opportunity to respond to suggestions for improvement </a:t>
            </a:r>
          </a:p>
          <a:p>
            <a:pPr lvl="0">
              <a:spcBef>
                <a:spcPts val="600"/>
              </a:spcBef>
              <a:spcAft>
                <a:spcPts val="1200"/>
              </a:spcAft>
            </a:pPr>
            <a:r>
              <a:rPr lang="en-US" sz="2200" dirty="0">
                <a:latin typeface="Helvetica" panose="020B0604020202020204" pitchFamily="34" charset="0"/>
                <a:cs typeface="Helvetica" panose="020B0604020202020204" pitchFamily="34" charset="0"/>
              </a:rPr>
              <a:t>The review process is explained to management</a:t>
            </a:r>
          </a:p>
          <a:p>
            <a:pPr lvl="0">
              <a:spcBef>
                <a:spcPts val="600"/>
              </a:spcBef>
              <a:spcAft>
                <a:spcPts val="1200"/>
              </a:spcAft>
            </a:pPr>
            <a:r>
              <a:rPr lang="en-US" sz="2200" dirty="0">
                <a:latin typeface="Helvetica" panose="020B0604020202020204" pitchFamily="34" charset="0"/>
                <a:cs typeface="Helvetica" panose="020B0604020202020204" pitchFamily="34" charset="0"/>
              </a:rPr>
              <a:t>Costs are discussed and explained</a:t>
            </a:r>
          </a:p>
          <a:p>
            <a:pPr lvl="0">
              <a:spcBef>
                <a:spcPts val="600"/>
              </a:spcBef>
              <a:spcAft>
                <a:spcPts val="1200"/>
              </a:spcAft>
            </a:pPr>
            <a:endParaRPr lang="en-US" sz="2200" dirty="0">
              <a:latin typeface="Helvetica" panose="020B0604020202020204" pitchFamily="34" charset="0"/>
              <a:cs typeface="Helvetica" panose="020B0604020202020204" pitchFamily="34" charset="0"/>
            </a:endParaRPr>
          </a:p>
        </p:txBody>
      </p:sp>
      <p:pic>
        <p:nvPicPr>
          <p:cNvPr id="96258" name="Picture 2" descr="C:\Documents and Settings\Godaishu\Desktop\PHOTOS\2014\Shutterstock 25-a-day\good-course.jpg"/>
          <p:cNvPicPr>
            <a:picLocks noChangeAspect="1" noChangeArrowheads="1"/>
          </p:cNvPicPr>
          <p:nvPr/>
        </p:nvPicPr>
        <p:blipFill>
          <a:blip r:embed="rId3" cstate="print"/>
          <a:srcRect/>
          <a:stretch>
            <a:fillRect/>
          </a:stretch>
        </p:blipFill>
        <p:spPr bwMode="auto">
          <a:xfrm>
            <a:off x="6096000" y="2819400"/>
            <a:ext cx="2319337" cy="1552874"/>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spTree>
    <p:extLst>
      <p:ext uri="{BB962C8B-B14F-4D97-AF65-F5344CB8AC3E}">
        <p14:creationId xmlns:p14="http://schemas.microsoft.com/office/powerpoint/2010/main" val="23278545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6600"/>
                </a:solidFill>
                <a:latin typeface="Helvetica" pitchFamily="34" charset="0"/>
              </a:rPr>
              <a:t>4.2	Discuss significant instances of 	failure to deliver identified service 	delivery standards with management</a:t>
            </a:r>
            <a:endParaRPr lang="en-US" sz="2800" dirty="0"/>
          </a:p>
        </p:txBody>
      </p:sp>
      <p:pic>
        <p:nvPicPr>
          <p:cNvPr id="5" name="Content Placeholder 4"/>
          <p:cNvPicPr>
            <a:picLocks noGrp="1" noChangeAspect="1"/>
          </p:cNvPicPr>
          <p:nvPr>
            <p:ph idx="1"/>
          </p:nvPr>
        </p:nvPicPr>
        <p:blipFill>
          <a:blip r:embed="rId3" cstate="print"/>
          <a:stretch>
            <a:fillRect/>
          </a:stretch>
        </p:blipFill>
        <p:spPr>
          <a:xfrm>
            <a:off x="2514600" y="2286000"/>
            <a:ext cx="4317229" cy="2663552"/>
          </a:xfrm>
          <a:prstGeom prst="rect">
            <a:avLst/>
          </a:prstGeo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spTree>
    <p:extLst>
      <p:ext uri="{BB962C8B-B14F-4D97-AF65-F5344CB8AC3E}">
        <p14:creationId xmlns:p14="http://schemas.microsoft.com/office/powerpoint/2010/main" val="250948056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6600"/>
                </a:solidFill>
                <a:latin typeface="Helvetica" pitchFamily="34" charset="0"/>
              </a:rPr>
              <a:t>Discussing issues with management</a:t>
            </a:r>
            <a:endParaRPr lang="en-US" sz="2800" dirty="0"/>
          </a:p>
        </p:txBody>
      </p:sp>
      <p:sp>
        <p:nvSpPr>
          <p:cNvPr id="3" name="Content Placeholder 2"/>
          <p:cNvSpPr>
            <a:spLocks noGrp="1"/>
          </p:cNvSpPr>
          <p:nvPr>
            <p:ph idx="1"/>
          </p:nvPr>
        </p:nvSpPr>
        <p:spPr>
          <a:xfrm>
            <a:off x="428037" y="1295400"/>
            <a:ext cx="6125163" cy="4525963"/>
          </a:xfrm>
        </p:spPr>
        <p:txBody>
          <a:bodyPr>
            <a:noAutofit/>
          </a:bodyPr>
          <a:lstStyle/>
          <a:p>
            <a:pPr marL="36576" indent="0">
              <a:spcBef>
                <a:spcPts val="600"/>
              </a:spcBef>
              <a:spcAft>
                <a:spcPts val="600"/>
              </a:spcAft>
              <a:buNone/>
            </a:pPr>
            <a:r>
              <a:rPr lang="en-AU" sz="1900" dirty="0">
                <a:latin typeface="Helvetica" panose="020B0604020202020204" pitchFamily="34" charset="0"/>
                <a:cs typeface="Helvetica" panose="020B0604020202020204" pitchFamily="34" charset="0"/>
              </a:rPr>
              <a:t>When meeting with management to discuss the significant failure in service delivery it may be useful </a:t>
            </a:r>
            <a:r>
              <a:rPr lang="en-AU" sz="1900" dirty="0" smtClean="0">
                <a:latin typeface="Helvetica" panose="020B0604020202020204" pitchFamily="34" charset="0"/>
                <a:cs typeface="Helvetica" panose="020B0604020202020204" pitchFamily="34" charset="0"/>
              </a:rPr>
              <a:t>to:</a:t>
            </a:r>
            <a:endParaRPr lang="en-US" sz="1900" dirty="0" smtClean="0">
              <a:latin typeface="Helvetica" panose="020B0604020202020204" pitchFamily="34" charset="0"/>
              <a:cs typeface="Helvetica" panose="020B0604020202020204" pitchFamily="34" charset="0"/>
            </a:endParaRPr>
          </a:p>
          <a:p>
            <a:pPr lvl="0">
              <a:spcBef>
                <a:spcPts val="600"/>
              </a:spcBef>
              <a:spcAft>
                <a:spcPts val="600"/>
              </a:spcAft>
            </a:pPr>
            <a:r>
              <a:rPr lang="en-US" sz="1900" dirty="0">
                <a:latin typeface="Helvetica" panose="020B0604020202020204" pitchFamily="34" charset="0"/>
                <a:cs typeface="Helvetica" panose="020B0604020202020204" pitchFamily="34" charset="0"/>
              </a:rPr>
              <a:t>Thoroughly and clearly describe the context of the situation. </a:t>
            </a:r>
            <a:endParaRPr lang="en-US" sz="1900" dirty="0" smtClean="0">
              <a:latin typeface="Helvetica" panose="020B0604020202020204" pitchFamily="34" charset="0"/>
              <a:cs typeface="Helvetica" panose="020B0604020202020204" pitchFamily="34" charset="0"/>
            </a:endParaRPr>
          </a:p>
          <a:p>
            <a:pPr lvl="0">
              <a:spcBef>
                <a:spcPts val="600"/>
              </a:spcBef>
              <a:spcAft>
                <a:spcPts val="600"/>
              </a:spcAft>
            </a:pPr>
            <a:r>
              <a:rPr lang="en-US" sz="1900" dirty="0" smtClean="0">
                <a:latin typeface="Helvetica" panose="020B0604020202020204" pitchFamily="34" charset="0"/>
                <a:cs typeface="Helvetica" panose="020B0604020202020204" pitchFamily="34" charset="0"/>
              </a:rPr>
              <a:t>Involve </a:t>
            </a:r>
            <a:r>
              <a:rPr lang="en-US" sz="1900" dirty="0">
                <a:latin typeface="Helvetica" panose="020B0604020202020204" pitchFamily="34" charset="0"/>
                <a:cs typeface="Helvetica" panose="020B0604020202020204" pitchFamily="34" charset="0"/>
              </a:rPr>
              <a:t>relevant team members in the discussion with management</a:t>
            </a:r>
          </a:p>
          <a:p>
            <a:pPr lvl="0">
              <a:spcBef>
                <a:spcPts val="600"/>
              </a:spcBef>
              <a:spcAft>
                <a:spcPts val="600"/>
              </a:spcAft>
            </a:pPr>
            <a:r>
              <a:rPr lang="en-US" sz="1900" dirty="0">
                <a:latin typeface="Helvetica" panose="020B0604020202020204" pitchFamily="34" charset="0"/>
                <a:cs typeface="Helvetica" panose="020B0604020202020204" pitchFamily="34" charset="0"/>
              </a:rPr>
              <a:t>Offer support to any team members responsible for the failure during the discussion in order to show them that it is better to be accountable for the issue than to avoid it</a:t>
            </a:r>
          </a:p>
          <a:p>
            <a:pPr lvl="0">
              <a:spcBef>
                <a:spcPts val="600"/>
              </a:spcBef>
              <a:spcAft>
                <a:spcPts val="600"/>
              </a:spcAft>
            </a:pPr>
            <a:r>
              <a:rPr lang="en-US" sz="1900" dirty="0">
                <a:latin typeface="Helvetica" panose="020B0604020202020204" pitchFamily="34" charset="0"/>
                <a:cs typeface="Helvetica" panose="020B0604020202020204" pitchFamily="34" charset="0"/>
              </a:rPr>
              <a:t>Discuss solutions with management and provide a timeline for implementation of the improvements and expected outcomes of the changes</a:t>
            </a:r>
          </a:p>
          <a:p>
            <a:pPr lvl="0">
              <a:spcBef>
                <a:spcPts val="600"/>
              </a:spcBef>
              <a:spcAft>
                <a:spcPts val="600"/>
              </a:spcAft>
            </a:pPr>
            <a:r>
              <a:rPr lang="en-US" sz="1900" dirty="0">
                <a:latin typeface="Helvetica" panose="020B0604020202020204" pitchFamily="34" charset="0"/>
                <a:cs typeface="Helvetica" panose="020B0604020202020204" pitchFamily="34" charset="0"/>
              </a:rPr>
              <a:t>Complete an incident report to document the situation for future reference</a:t>
            </a:r>
          </a:p>
          <a:p>
            <a:pPr lvl="0">
              <a:spcBef>
                <a:spcPts val="600"/>
              </a:spcBef>
              <a:spcAft>
                <a:spcPts val="600"/>
              </a:spcAft>
            </a:pPr>
            <a:endParaRPr lang="en-US" sz="1900" dirty="0">
              <a:latin typeface="Helvetica" panose="020B0604020202020204" pitchFamily="34" charset="0"/>
              <a:cs typeface="Helvetica" panose="020B0604020202020204" pitchFamily="34" charset="0"/>
            </a:endParaRPr>
          </a:p>
        </p:txBody>
      </p:sp>
      <p:pic>
        <p:nvPicPr>
          <p:cNvPr id="97282" name="Picture 2" descr="C:\Documents and Settings\Godaishu\Desktop\PHOTOS\2014\Shutterstock 25-a-day\shutterstock_177291365.jpg"/>
          <p:cNvPicPr>
            <a:picLocks noChangeAspect="1" noChangeArrowheads="1"/>
          </p:cNvPicPr>
          <p:nvPr/>
        </p:nvPicPr>
        <p:blipFill>
          <a:blip r:embed="rId3" cstate="print"/>
          <a:srcRect/>
          <a:stretch>
            <a:fillRect/>
          </a:stretch>
        </p:blipFill>
        <p:spPr bwMode="auto">
          <a:xfrm>
            <a:off x="6802680" y="3581400"/>
            <a:ext cx="2341320" cy="1562100"/>
          </a:xfrm>
          <a:prstGeom prst="rect">
            <a:avLst/>
          </a:prstGeom>
          <a:noFill/>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spTree>
    <p:extLst>
      <p:ext uri="{BB962C8B-B14F-4D97-AF65-F5344CB8AC3E}">
        <p14:creationId xmlns:p14="http://schemas.microsoft.com/office/powerpoint/2010/main" val="103132796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smtClean="0">
                <a:solidFill>
                  <a:srgbClr val="FF6600"/>
                </a:solidFill>
                <a:latin typeface="Helvetica" pitchFamily="34" charset="0"/>
              </a:rPr>
              <a:t>4.3	Provide operational information 	regarding service delivery to management</a:t>
            </a:r>
            <a:endParaRPr lang="en-US" sz="2800" dirty="0"/>
          </a:p>
        </p:txBody>
      </p:sp>
      <p:pic>
        <p:nvPicPr>
          <p:cNvPr id="5" name="Content Placeholder 4" descr="C:\Program Files (x86)\Microsoft Office\MEDIA\CAGCAT10\j0299171.wmf"/>
          <p:cNvPicPr>
            <a:picLocks noGrp="1"/>
          </p:cNvPicPr>
          <p:nvPr>
            <p:ph idx="1"/>
          </p:nvPr>
        </p:nvPicPr>
        <p:blipFill>
          <a:blip r:embed="rId3" cstate="print"/>
          <a:srcRect/>
          <a:stretch>
            <a:fillRect/>
          </a:stretch>
        </p:blipFill>
        <p:spPr bwMode="auto">
          <a:xfrm>
            <a:off x="3048000" y="1981200"/>
            <a:ext cx="3024336" cy="3744416"/>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spTree>
    <p:extLst>
      <p:ext uri="{BB962C8B-B14F-4D97-AF65-F5344CB8AC3E}">
        <p14:creationId xmlns:p14="http://schemas.microsoft.com/office/powerpoint/2010/main" val="70488132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latin typeface="Helvetica" pitchFamily="34" charset="0"/>
              </a:rPr>
              <a:t>Provide management with operational information</a:t>
            </a:r>
            <a:endParaRPr lang="en-US" sz="2800" dirty="0"/>
          </a:p>
        </p:txBody>
      </p:sp>
      <p:sp>
        <p:nvSpPr>
          <p:cNvPr id="3" name="Content Placeholder 2"/>
          <p:cNvSpPr>
            <a:spLocks noGrp="1"/>
          </p:cNvSpPr>
          <p:nvPr>
            <p:ph idx="1"/>
          </p:nvPr>
        </p:nvSpPr>
        <p:spPr>
          <a:xfrm>
            <a:off x="457200" y="1600200"/>
            <a:ext cx="6477000" cy="4525963"/>
          </a:xfrm>
        </p:spPr>
        <p:txBody>
          <a:bodyPr>
            <a:noAutofit/>
          </a:bodyPr>
          <a:lstStyle/>
          <a:p>
            <a:pPr marL="36576" indent="0">
              <a:spcBef>
                <a:spcPts val="600"/>
              </a:spcBef>
              <a:spcAft>
                <a:spcPts val="900"/>
              </a:spcAft>
              <a:buNone/>
            </a:pPr>
            <a:r>
              <a:rPr lang="en-AU" sz="2100" dirty="0" smtClean="0">
                <a:latin typeface="Helvetica" panose="020B0604020202020204" pitchFamily="34" charset="0"/>
                <a:cs typeface="Helvetica" panose="020B0604020202020204" pitchFamily="34" charset="0"/>
              </a:rPr>
              <a:t>Operational information that may be important to share with management could include:</a:t>
            </a:r>
            <a:endParaRPr lang="en-US" sz="2100" dirty="0" smtClean="0">
              <a:latin typeface="Helvetica" panose="020B0604020202020204" pitchFamily="34" charset="0"/>
              <a:cs typeface="Helvetica" panose="020B0604020202020204" pitchFamily="34" charset="0"/>
            </a:endParaRPr>
          </a:p>
          <a:p>
            <a:pPr lvl="0">
              <a:spcBef>
                <a:spcPts val="600"/>
              </a:spcBef>
              <a:spcAft>
                <a:spcPts val="900"/>
              </a:spcAft>
            </a:pPr>
            <a:r>
              <a:rPr lang="en-US" sz="2100" dirty="0" smtClean="0">
                <a:latin typeface="Helvetica" panose="020B0604020202020204" pitchFamily="34" charset="0"/>
                <a:cs typeface="Helvetica" panose="020B0604020202020204" pitchFamily="34" charset="0"/>
              </a:rPr>
              <a:t>Staff resourcing: skills, work schedule, training, numbers</a:t>
            </a:r>
          </a:p>
          <a:p>
            <a:pPr lvl="0">
              <a:spcBef>
                <a:spcPts val="600"/>
              </a:spcBef>
              <a:spcAft>
                <a:spcPts val="900"/>
              </a:spcAft>
            </a:pPr>
            <a:r>
              <a:rPr lang="en-US" sz="2100" dirty="0" smtClean="0">
                <a:latin typeface="Helvetica" panose="020B0604020202020204" pitchFamily="34" charset="0"/>
                <a:cs typeface="Helvetica" panose="020B0604020202020204" pitchFamily="34" charset="0"/>
              </a:rPr>
              <a:t>Budget</a:t>
            </a:r>
          </a:p>
          <a:p>
            <a:pPr lvl="0">
              <a:spcBef>
                <a:spcPts val="600"/>
              </a:spcBef>
              <a:spcAft>
                <a:spcPts val="900"/>
              </a:spcAft>
            </a:pPr>
            <a:r>
              <a:rPr lang="en-US" sz="2100" dirty="0" smtClean="0">
                <a:latin typeface="Helvetica" panose="020B0604020202020204" pitchFamily="34" charset="0"/>
                <a:cs typeface="Helvetica" panose="020B0604020202020204" pitchFamily="34" charset="0"/>
              </a:rPr>
              <a:t>Equipment and facilities: in need of refurbishment, not aligned with service delivery standards and customer expectations</a:t>
            </a:r>
          </a:p>
          <a:p>
            <a:pPr lvl="0">
              <a:spcBef>
                <a:spcPts val="600"/>
              </a:spcBef>
              <a:spcAft>
                <a:spcPts val="900"/>
              </a:spcAft>
            </a:pPr>
            <a:r>
              <a:rPr lang="en-US" sz="2100" dirty="0" smtClean="0">
                <a:latin typeface="Helvetica" panose="020B0604020202020204" pitchFamily="34" charset="0"/>
                <a:cs typeface="Helvetica" panose="020B0604020202020204" pitchFamily="34" charset="0"/>
              </a:rPr>
              <a:t>Changes in technology or updated equipment that may result in a need for more training</a:t>
            </a:r>
          </a:p>
          <a:p>
            <a:pPr lvl="0">
              <a:spcBef>
                <a:spcPts val="600"/>
              </a:spcBef>
              <a:spcAft>
                <a:spcPts val="900"/>
              </a:spcAft>
            </a:pPr>
            <a:r>
              <a:rPr lang="en-US" sz="2100" dirty="0" smtClean="0">
                <a:latin typeface="Helvetica" panose="020B0604020202020204" pitchFamily="34" charset="0"/>
                <a:cs typeface="Helvetica" panose="020B0604020202020204" pitchFamily="34" charset="0"/>
              </a:rPr>
              <a:t>New technology that could be available</a:t>
            </a:r>
          </a:p>
          <a:p>
            <a:pPr lvl="0">
              <a:spcBef>
                <a:spcPts val="600"/>
              </a:spcBef>
              <a:spcAft>
                <a:spcPts val="900"/>
              </a:spcAft>
            </a:pPr>
            <a:endParaRPr lang="en-US" sz="2100" dirty="0" smtClean="0">
              <a:latin typeface="Helvetica" panose="020B0604020202020204" pitchFamily="34" charset="0"/>
              <a:cs typeface="Helvetica" panose="020B0604020202020204" pitchFamily="34" charset="0"/>
            </a:endParaRPr>
          </a:p>
          <a:p>
            <a:pPr lvl="0">
              <a:spcBef>
                <a:spcPts val="600"/>
              </a:spcBef>
              <a:spcAft>
                <a:spcPts val="900"/>
              </a:spcAft>
            </a:pPr>
            <a:endParaRPr lang="en-US" sz="2100" dirty="0">
              <a:latin typeface="Helvetica" panose="020B0604020202020204" pitchFamily="34" charset="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4098" name="Picture 2" descr="I:\Overseas Projects\PHOTOS\2014\Shutterstock 25-a-day\shutterstock_15007506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2971800"/>
            <a:ext cx="2209800" cy="1474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380104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400" b="1" dirty="0" smtClean="0">
                <a:solidFill>
                  <a:srgbClr val="FF6600"/>
                </a:solidFill>
                <a:latin typeface="Helvetica" pitchFamily="34" charset="0"/>
              </a:rPr>
              <a:t>4.4	Participate in developing service delivery 	teams and standards for emerging and new 	business activities and markets</a:t>
            </a:r>
            <a:endParaRPr lang="en-US" sz="2400" dirty="0"/>
          </a:p>
        </p:txBody>
      </p:sp>
      <p:pic>
        <p:nvPicPr>
          <p:cNvPr id="5" name="Content Placeholder 4" descr="C:\Users\Quentin\AppData\Local\Microsoft\Windows\Temporary Internet Files\Content.IE5\KCJ5LBGJ\03_types_of_teams[1].png"/>
          <p:cNvPicPr>
            <a:picLocks noGrp="1"/>
          </p:cNvPicPr>
          <p:nvPr>
            <p:ph idx="1"/>
          </p:nvPr>
        </p:nvPicPr>
        <p:blipFill rotWithShape="1">
          <a:blip r:embed="rId3" cstate="print"/>
          <a:srcRect r="5805" b="3854"/>
          <a:stretch/>
        </p:blipFill>
        <p:spPr bwMode="auto">
          <a:xfrm>
            <a:off x="1371600" y="1676401"/>
            <a:ext cx="5301501" cy="4058478"/>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spTree>
    <p:extLst>
      <p:ext uri="{BB962C8B-B14F-4D97-AF65-F5344CB8AC3E}">
        <p14:creationId xmlns:p14="http://schemas.microsoft.com/office/powerpoint/2010/main" val="424979229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6600"/>
                </a:solidFill>
                <a:latin typeface="Helvetica" pitchFamily="34" charset="0"/>
              </a:rPr>
              <a:t>Developing teams and standards for new initiatives</a:t>
            </a:r>
            <a:endParaRPr lang="en-US" sz="3200" dirty="0"/>
          </a:p>
        </p:txBody>
      </p:sp>
      <p:sp>
        <p:nvSpPr>
          <p:cNvPr id="3" name="Content Placeholder 2"/>
          <p:cNvSpPr>
            <a:spLocks noGrp="1"/>
          </p:cNvSpPr>
          <p:nvPr>
            <p:ph idx="1"/>
          </p:nvPr>
        </p:nvSpPr>
        <p:spPr>
          <a:xfrm>
            <a:off x="367438" y="1524000"/>
            <a:ext cx="6642962" cy="4953000"/>
          </a:xfrm>
        </p:spPr>
        <p:txBody>
          <a:bodyPr>
            <a:noAutofit/>
          </a:bodyPr>
          <a:lstStyle/>
          <a:p>
            <a:pPr marL="36576" indent="0">
              <a:spcBef>
                <a:spcPts val="400"/>
              </a:spcBef>
              <a:spcAft>
                <a:spcPts val="600"/>
              </a:spcAft>
              <a:buNone/>
            </a:pPr>
            <a:r>
              <a:rPr lang="en-AU" sz="1900" dirty="0" smtClean="0">
                <a:latin typeface="Helvetica"/>
                <a:cs typeface="Helvetica" panose="020B0604020202020204" pitchFamily="34" charset="0"/>
              </a:rPr>
              <a:t>In </a:t>
            </a:r>
            <a:r>
              <a:rPr lang="en-AU" sz="1900" dirty="0">
                <a:latin typeface="Helvetica"/>
                <a:cs typeface="Helvetica" panose="020B0604020202020204" pitchFamily="34" charset="0"/>
              </a:rPr>
              <a:t>developing service delivery teams and standards to respond to market opportunities and new business activities, it is critical to</a:t>
            </a:r>
            <a:r>
              <a:rPr lang="en-AU" sz="1900" dirty="0" smtClean="0">
                <a:latin typeface="Helvetica"/>
                <a:cs typeface="Helvetica" panose="020B0604020202020204" pitchFamily="34" charset="0"/>
              </a:rPr>
              <a:t>:</a:t>
            </a:r>
            <a:endParaRPr lang="en-US" sz="1900" dirty="0" smtClean="0">
              <a:latin typeface="Helvetica"/>
              <a:cs typeface="Helvetica" panose="020B0604020202020204" pitchFamily="34" charset="0"/>
            </a:endParaRPr>
          </a:p>
          <a:p>
            <a:pPr lvl="0">
              <a:spcBef>
                <a:spcPts val="400"/>
              </a:spcBef>
              <a:spcAft>
                <a:spcPts val="600"/>
              </a:spcAft>
            </a:pPr>
            <a:r>
              <a:rPr lang="en-US" sz="1900" dirty="0">
                <a:latin typeface="Helvetica"/>
              </a:rPr>
              <a:t>Have a clear understanding of the requirements of the new activity or emerging market and conduct research</a:t>
            </a:r>
          </a:p>
          <a:p>
            <a:pPr lvl="0">
              <a:spcBef>
                <a:spcPts val="400"/>
              </a:spcBef>
              <a:spcAft>
                <a:spcPts val="600"/>
              </a:spcAft>
            </a:pPr>
            <a:r>
              <a:rPr lang="en-US" sz="1900" dirty="0">
                <a:latin typeface="Helvetica"/>
              </a:rPr>
              <a:t>Inform staff of the opportunity and ask for expressions of interest from staff</a:t>
            </a:r>
          </a:p>
          <a:p>
            <a:pPr lvl="0">
              <a:spcBef>
                <a:spcPts val="400"/>
              </a:spcBef>
              <a:spcAft>
                <a:spcPts val="600"/>
              </a:spcAft>
            </a:pPr>
            <a:r>
              <a:rPr lang="en-US" sz="1900" dirty="0">
                <a:latin typeface="Helvetica"/>
              </a:rPr>
              <a:t>Gather feedback regarding current staff abilities and determine what gaps, if any, there are and what training or support may be required to address any shortfalls</a:t>
            </a:r>
          </a:p>
          <a:p>
            <a:pPr lvl="0">
              <a:spcBef>
                <a:spcPts val="400"/>
              </a:spcBef>
              <a:spcAft>
                <a:spcPts val="600"/>
              </a:spcAft>
            </a:pPr>
            <a:r>
              <a:rPr lang="en-US" sz="1900" dirty="0">
                <a:latin typeface="Helvetica"/>
              </a:rPr>
              <a:t>Recruit new staff if required</a:t>
            </a:r>
          </a:p>
          <a:p>
            <a:pPr lvl="0">
              <a:spcBef>
                <a:spcPts val="400"/>
              </a:spcBef>
              <a:spcAft>
                <a:spcPts val="600"/>
              </a:spcAft>
            </a:pPr>
            <a:r>
              <a:rPr lang="en-US" sz="1900" dirty="0">
                <a:latin typeface="Helvetica"/>
              </a:rPr>
              <a:t>Identify suitable staff for new activities and ask for their feedback and input</a:t>
            </a:r>
          </a:p>
          <a:p>
            <a:pPr lvl="0">
              <a:spcBef>
                <a:spcPts val="400"/>
              </a:spcBef>
              <a:spcAft>
                <a:spcPts val="600"/>
              </a:spcAft>
            </a:pPr>
            <a:r>
              <a:rPr lang="en-US" sz="1900" dirty="0">
                <a:latin typeface="Helvetica"/>
              </a:rPr>
              <a:t>Supply information that can assist in drafting new service delivery standards that relate to the new activity</a:t>
            </a:r>
          </a:p>
          <a:p>
            <a:pPr lvl="0">
              <a:spcBef>
                <a:spcPts val="400"/>
              </a:spcBef>
              <a:spcAft>
                <a:spcPts val="600"/>
              </a:spcAft>
            </a:pPr>
            <a:endParaRPr lang="en-US" sz="1900" dirty="0">
              <a:latin typeface="Helvetica"/>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122" name="Picture 2" descr="I:\Overseas Projects\PHOTOS\2014\Shutterstock 25-a-day\shutterstock_164063855.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2800" y="3505200"/>
            <a:ext cx="2120038" cy="1414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0764181"/>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FF6600"/>
                </a:solidFill>
                <a:latin typeface="Helvetica" pitchFamily="34" charset="0"/>
              </a:rPr>
              <a:t>Developing teams and standards for new initiatives</a:t>
            </a:r>
            <a:endParaRPr lang="en-US" sz="3200" dirty="0"/>
          </a:p>
        </p:txBody>
      </p:sp>
      <p:sp>
        <p:nvSpPr>
          <p:cNvPr id="3" name="Content Placeholder 2"/>
          <p:cNvSpPr>
            <a:spLocks noGrp="1"/>
          </p:cNvSpPr>
          <p:nvPr>
            <p:ph idx="1"/>
          </p:nvPr>
        </p:nvSpPr>
        <p:spPr>
          <a:xfrm>
            <a:off x="381000" y="1600200"/>
            <a:ext cx="6553200" cy="4525963"/>
          </a:xfrm>
        </p:spPr>
        <p:txBody>
          <a:bodyPr>
            <a:noAutofit/>
          </a:bodyPr>
          <a:lstStyle/>
          <a:p>
            <a:pPr marL="36576" indent="0">
              <a:spcBef>
                <a:spcPts val="600"/>
              </a:spcBef>
              <a:spcAft>
                <a:spcPts val="600"/>
              </a:spcAft>
              <a:buNone/>
            </a:pPr>
            <a:r>
              <a:rPr lang="en-AU" sz="2000" dirty="0">
                <a:latin typeface="Helvetica" panose="020B0604020202020204" pitchFamily="34" charset="0"/>
                <a:cs typeface="Helvetica" panose="020B0604020202020204" pitchFamily="34" charset="0"/>
              </a:rPr>
              <a:t>In developing service delivery teams and standards to respond to market opportunities and new business activities, it is critical to:</a:t>
            </a:r>
            <a:endParaRPr lang="en-US" sz="2000" dirty="0">
              <a:latin typeface="Helvetica" panose="020B0604020202020204" pitchFamily="34" charset="0"/>
              <a:cs typeface="Helvetica" panose="020B0604020202020204" pitchFamily="34" charset="0"/>
            </a:endParaRP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Develop </a:t>
            </a:r>
            <a:r>
              <a:rPr lang="en-US" sz="2000" dirty="0">
                <a:latin typeface="Helvetica" panose="020B0604020202020204" pitchFamily="34" charset="0"/>
                <a:cs typeface="Helvetica" panose="020B0604020202020204" pitchFamily="34" charset="0"/>
              </a:rPr>
              <a:t>training materials and programs that will assist team members to be able to deliver the service effectively</a:t>
            </a:r>
          </a:p>
          <a:p>
            <a:pPr lvl="0">
              <a:spcBef>
                <a:spcPts val="600"/>
              </a:spcBef>
              <a:spcAft>
                <a:spcPts val="600"/>
              </a:spcAft>
            </a:pPr>
            <a:r>
              <a:rPr lang="en-US" sz="2000" dirty="0">
                <a:latin typeface="Helvetica" panose="020B0604020202020204" pitchFamily="34" charset="0"/>
                <a:cs typeface="Helvetica" panose="020B0604020202020204" pitchFamily="34" charset="0"/>
              </a:rPr>
              <a:t>Identify any equipment, technology or materials that may be needed for the new activity and inform management </a:t>
            </a:r>
          </a:p>
          <a:p>
            <a:pPr lvl="0">
              <a:spcBef>
                <a:spcPts val="600"/>
              </a:spcBef>
              <a:spcAft>
                <a:spcPts val="600"/>
              </a:spcAft>
            </a:pPr>
            <a:r>
              <a:rPr lang="en-US" sz="2000" dirty="0">
                <a:latin typeface="Helvetica" panose="020B0604020202020204" pitchFamily="34" charset="0"/>
                <a:cs typeface="Helvetica" panose="020B0604020202020204" pitchFamily="34" charset="0"/>
              </a:rPr>
              <a:t>Investigate costs related to the developing a new service delivery standard or activity</a:t>
            </a:r>
          </a:p>
          <a:p>
            <a:pPr lvl="0">
              <a:spcBef>
                <a:spcPts val="600"/>
              </a:spcBef>
              <a:spcAft>
                <a:spcPts val="600"/>
              </a:spcAft>
            </a:pPr>
            <a:r>
              <a:rPr lang="en-US" sz="2000" dirty="0">
                <a:latin typeface="Helvetica" panose="020B0604020202020204" pitchFamily="34" charset="0"/>
                <a:cs typeface="Helvetica" panose="020B0604020202020204" pitchFamily="34" charset="0"/>
              </a:rPr>
              <a:t>Allow enough time and resources to develop and implement the new standard or activity</a:t>
            </a:r>
          </a:p>
          <a:p>
            <a:pPr lvl="0">
              <a:spcBef>
                <a:spcPts val="600"/>
              </a:spcBef>
              <a:spcAft>
                <a:spcPts val="600"/>
              </a:spcAft>
            </a:pPr>
            <a:endParaRPr lang="en-US" sz="2000" dirty="0">
              <a:latin typeface="Helvetica" panose="020B0604020202020204" pitchFamily="34" charset="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6146" name="Picture 2" descr="I:\Overseas Projects\PHOTOS\2014\Shutterstock 25-a-day\shutterstock_195475622.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4200" y="3048000"/>
            <a:ext cx="2209800" cy="1531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9495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smtClean="0">
                <a:solidFill>
                  <a:srgbClr val="FF6600"/>
                </a:solidFill>
                <a:latin typeface="Helvetica" pitchFamily="34" charset="0"/>
              </a:rPr>
              <a:t>Summary</a:t>
            </a:r>
            <a:endParaRPr lang="en-US" dirty="0"/>
          </a:p>
        </p:txBody>
      </p:sp>
      <p:sp>
        <p:nvSpPr>
          <p:cNvPr id="3" name="Content Placeholder 2"/>
          <p:cNvSpPr>
            <a:spLocks noGrp="1"/>
          </p:cNvSpPr>
          <p:nvPr>
            <p:ph idx="1"/>
          </p:nvPr>
        </p:nvSpPr>
        <p:spPr>
          <a:xfrm>
            <a:off x="381000" y="1371600"/>
            <a:ext cx="7772400" cy="4525963"/>
          </a:xfrm>
        </p:spPr>
        <p:txBody>
          <a:bodyPr>
            <a:noAutofit/>
          </a:bodyPr>
          <a:lstStyle/>
          <a:p>
            <a:pPr marL="36576" indent="0">
              <a:spcBef>
                <a:spcPts val="600"/>
              </a:spcBef>
              <a:spcAft>
                <a:spcPts val="1200"/>
              </a:spcAft>
              <a:buNone/>
            </a:pPr>
            <a:r>
              <a:rPr lang="en-AU" sz="2100" dirty="0">
                <a:latin typeface="Helvetica" panose="020B0604020202020204" pitchFamily="34" charset="0"/>
                <a:cs typeface="Helvetica" panose="020B0604020202020204" pitchFamily="34" charset="0"/>
              </a:rPr>
              <a:t>In </a:t>
            </a:r>
            <a:r>
              <a:rPr lang="en-AU" sz="2100" dirty="0" smtClean="0">
                <a:latin typeface="Helvetica" panose="020B0604020202020204" pitchFamily="34" charset="0"/>
                <a:cs typeface="Helvetica" panose="020B0604020202020204" pitchFamily="34" charset="0"/>
              </a:rPr>
              <a:t>developing service teams and implementing new business ideas it is important to analyse the current business and organisational context and to base any new initiatives upon a clear understanding of organisational goals and capabilities. </a:t>
            </a:r>
            <a:endParaRPr lang="en-AU" sz="2100" dirty="0" smtClean="0">
              <a:latin typeface="Helvetica" panose="020B0604020202020204" pitchFamily="34" charset="0"/>
              <a:cs typeface="Helvetica" panose="020B0604020202020204" pitchFamily="34" charset="0"/>
            </a:endParaRPr>
          </a:p>
          <a:p>
            <a:pPr marL="36576" indent="0">
              <a:spcBef>
                <a:spcPts val="600"/>
              </a:spcBef>
              <a:spcAft>
                <a:spcPts val="1200"/>
              </a:spcAft>
              <a:buNone/>
            </a:pPr>
            <a:r>
              <a:rPr lang="en-AU" sz="2100" dirty="0" smtClean="0">
                <a:latin typeface="Helvetica" panose="020B0604020202020204" pitchFamily="34" charset="0"/>
                <a:cs typeface="Helvetica" panose="020B0604020202020204" pitchFamily="34" charset="0"/>
              </a:rPr>
              <a:t>Often </a:t>
            </a:r>
            <a:r>
              <a:rPr lang="en-AU" sz="2100" dirty="0">
                <a:latin typeface="Helvetica" panose="020B0604020202020204" pitchFamily="34" charset="0"/>
                <a:cs typeface="Helvetica" panose="020B0604020202020204" pitchFamily="34" charset="0"/>
              </a:rPr>
              <a:t>there will be a need to develop new standards and new business activities that respond to market needs and it is important to follow a logical and inclusive process when developing new service </a:t>
            </a:r>
            <a:r>
              <a:rPr lang="en-AU" sz="2100" dirty="0" smtClean="0">
                <a:latin typeface="Helvetica" panose="020B0604020202020204" pitchFamily="34" charset="0"/>
                <a:cs typeface="Helvetica" panose="020B0604020202020204" pitchFamily="34" charset="0"/>
              </a:rPr>
              <a:t>delivery </a:t>
            </a:r>
            <a:r>
              <a:rPr lang="en-AU" sz="2100" dirty="0">
                <a:latin typeface="Helvetica" panose="020B0604020202020204" pitchFamily="34" charset="0"/>
                <a:cs typeface="Helvetica" panose="020B0604020202020204" pitchFamily="34" charset="0"/>
              </a:rPr>
              <a:t>activities. </a:t>
            </a:r>
            <a:endParaRPr lang="en-AU" sz="2100" dirty="0" smtClean="0">
              <a:latin typeface="Helvetica" panose="020B0604020202020204" pitchFamily="34" charset="0"/>
              <a:cs typeface="Helvetica" panose="020B0604020202020204" pitchFamily="34" charset="0"/>
            </a:endParaRPr>
          </a:p>
          <a:p>
            <a:pPr marL="36576" indent="0">
              <a:buNone/>
            </a:pPr>
            <a:endParaRPr lang="en-US" sz="2100" dirty="0" smtClean="0">
              <a:latin typeface="Helvetica" panose="020B0604020202020204" pitchFamily="34" charset="0"/>
              <a:cs typeface="Helvetica" panose="020B0604020202020204"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7" name="Picture 1" descr="C:\Documents and Settings\Godaishu\Local Settings\Temporary Internet Files\Content.IE5\VL0QK7PC\summary[1].jpg"/>
          <p:cNvPicPr>
            <a:picLocks noChangeAspect="1" noChangeArrowheads="1"/>
          </p:cNvPicPr>
          <p:nvPr/>
        </p:nvPicPr>
        <p:blipFill>
          <a:blip r:embed="rId3" cstate="print"/>
          <a:srcRect/>
          <a:stretch>
            <a:fillRect/>
          </a:stretch>
        </p:blipFill>
        <p:spPr bwMode="auto">
          <a:xfrm>
            <a:off x="3276600" y="4419600"/>
            <a:ext cx="1981200" cy="1627269"/>
          </a:xfrm>
          <a:prstGeom prst="rect">
            <a:avLst/>
          </a:prstGeom>
          <a:noFill/>
        </p:spPr>
      </p:pic>
    </p:spTree>
    <p:extLst>
      <p:ext uri="{BB962C8B-B14F-4D97-AF65-F5344CB8AC3E}">
        <p14:creationId xmlns:p14="http://schemas.microsoft.com/office/powerpoint/2010/main" val="42497645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solidFill>
                  <a:srgbClr val="FF6600"/>
                </a:solidFill>
                <a:latin typeface="Helvetica" pitchFamily="34" charset="0"/>
              </a:rPr>
              <a:t>Element 5: Lead service team delivery</a:t>
            </a:r>
            <a:endParaRPr lang="en-US" sz="3600" dirty="0"/>
          </a:p>
        </p:txBody>
      </p:sp>
      <p:sp>
        <p:nvSpPr>
          <p:cNvPr id="3" name="Content Placeholder 2"/>
          <p:cNvSpPr>
            <a:spLocks noGrp="1"/>
          </p:cNvSpPr>
          <p:nvPr>
            <p:ph idx="1"/>
          </p:nvPr>
        </p:nvSpPr>
        <p:spPr>
          <a:xfrm>
            <a:off x="457200" y="1600200"/>
            <a:ext cx="7315200" cy="4525963"/>
          </a:xfrm>
        </p:spPr>
        <p:txBody>
          <a:bodyPr>
            <a:noAutofit/>
          </a:bodyPr>
          <a:lstStyle/>
          <a:p>
            <a:pPr marL="36576" indent="0">
              <a:spcBef>
                <a:spcPts val="400"/>
              </a:spcBef>
              <a:spcAft>
                <a:spcPts val="600"/>
              </a:spcAft>
              <a:buNone/>
            </a:pPr>
            <a:r>
              <a:rPr lang="en-AU" sz="1900" b="1" dirty="0" smtClean="0">
                <a:latin typeface="Helvetica" panose="020B0604020202020204" pitchFamily="34" charset="0"/>
                <a:cs typeface="Helvetica" panose="020B0604020202020204" pitchFamily="34" charset="0"/>
              </a:rPr>
              <a:t>Performance criteria:</a:t>
            </a: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5.1</a:t>
            </a:r>
            <a:r>
              <a:rPr lang="en-US" sz="1900" dirty="0">
                <a:latin typeface="Helvetica" panose="020B0604020202020204" pitchFamily="34" charset="0"/>
                <a:cs typeface="Helvetica" panose="020B0604020202020204" pitchFamily="34" charset="0"/>
              </a:rPr>
              <a:t>	Interpret stated service delivery standards for team </a:t>
            </a:r>
            <a:r>
              <a:rPr lang="en-US" sz="1900" dirty="0" smtClean="0">
                <a:latin typeface="Helvetica" panose="020B0604020202020204" pitchFamily="34" charset="0"/>
                <a:cs typeface="Helvetica" panose="020B0604020202020204" pitchFamily="34" charset="0"/>
              </a:rPr>
              <a:t>	members</a:t>
            </a:r>
            <a:endParaRPr lang="en-US" sz="1900" dirty="0">
              <a:latin typeface="Helvetica" panose="020B0604020202020204" pitchFamily="34" charset="0"/>
              <a:cs typeface="Helvetica" panose="020B0604020202020204" pitchFamily="34" charset="0"/>
            </a:endParaRP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5.2</a:t>
            </a:r>
            <a:r>
              <a:rPr lang="en-US" sz="1900" dirty="0">
                <a:latin typeface="Helvetica" panose="020B0604020202020204" pitchFamily="34" charset="0"/>
                <a:cs typeface="Helvetica" panose="020B0604020202020204" pitchFamily="34" charset="0"/>
              </a:rPr>
              <a:t>	Encourage team members to take advantage of </a:t>
            </a:r>
            <a:r>
              <a:rPr lang="en-US" sz="1900" dirty="0" smtClean="0">
                <a:latin typeface="Helvetica" panose="020B0604020202020204" pitchFamily="34" charset="0"/>
                <a:cs typeface="Helvetica" panose="020B0604020202020204" pitchFamily="34" charset="0"/>
              </a:rPr>
              <a:t>	opportunities to </a:t>
            </a:r>
            <a:r>
              <a:rPr lang="en-US" sz="1900" dirty="0">
                <a:latin typeface="Helvetica" panose="020B0604020202020204" pitchFamily="34" charset="0"/>
                <a:cs typeface="Helvetica" panose="020B0604020202020204" pitchFamily="34" charset="0"/>
              </a:rPr>
              <a:t>enhance service delivery</a:t>
            </a: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5.3</a:t>
            </a:r>
            <a:r>
              <a:rPr lang="en-US" sz="1900" dirty="0">
                <a:latin typeface="Helvetica" panose="020B0604020202020204" pitchFamily="34" charset="0"/>
                <a:cs typeface="Helvetica" panose="020B0604020202020204" pitchFamily="34" charset="0"/>
              </a:rPr>
              <a:t>	Allocate service delivery tasks to team members</a:t>
            </a: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5.4</a:t>
            </a:r>
            <a:r>
              <a:rPr lang="en-US" sz="1900" dirty="0">
                <a:latin typeface="Helvetica" panose="020B0604020202020204" pitchFamily="34" charset="0"/>
                <a:cs typeface="Helvetica" panose="020B0604020202020204" pitchFamily="34" charset="0"/>
              </a:rPr>
              <a:t>	Advise team members of changes to service delivery </a:t>
            </a:r>
            <a:r>
              <a:rPr lang="en-US" sz="1900" dirty="0" smtClean="0">
                <a:latin typeface="Helvetica" panose="020B0604020202020204" pitchFamily="34" charset="0"/>
                <a:cs typeface="Helvetica" panose="020B0604020202020204" pitchFamily="34" charset="0"/>
              </a:rPr>
              <a:t>	standards </a:t>
            </a:r>
            <a:r>
              <a:rPr lang="en-US" sz="1900" dirty="0">
                <a:latin typeface="Helvetica" panose="020B0604020202020204" pitchFamily="34" charset="0"/>
                <a:cs typeface="Helvetica" panose="020B0604020202020204" pitchFamily="34" charset="0"/>
              </a:rPr>
              <a:t>and/or targets</a:t>
            </a: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5.5</a:t>
            </a:r>
            <a:r>
              <a:rPr lang="en-US" sz="1900" dirty="0">
                <a:latin typeface="Helvetica" panose="020B0604020202020204" pitchFamily="34" charset="0"/>
                <a:cs typeface="Helvetica" panose="020B0604020202020204" pitchFamily="34" charset="0"/>
              </a:rPr>
              <a:t>	Provide feedback to team members regarding the </a:t>
            </a:r>
            <a:r>
              <a:rPr lang="en-US" sz="1900" dirty="0" smtClean="0">
                <a:latin typeface="Helvetica" panose="020B0604020202020204" pitchFamily="34" charset="0"/>
                <a:cs typeface="Helvetica" panose="020B0604020202020204" pitchFamily="34" charset="0"/>
              </a:rPr>
              <a:t>	provision of service </a:t>
            </a:r>
            <a:r>
              <a:rPr lang="en-US" sz="1900" dirty="0">
                <a:latin typeface="Helvetica" panose="020B0604020202020204" pitchFamily="34" charset="0"/>
                <a:cs typeface="Helvetica" panose="020B0604020202020204" pitchFamily="34" charset="0"/>
              </a:rPr>
              <a:t>delivery</a:t>
            </a: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5.6</a:t>
            </a:r>
            <a:r>
              <a:rPr lang="en-US" sz="1900" dirty="0">
                <a:latin typeface="Helvetica" panose="020B0604020202020204" pitchFamily="34" charset="0"/>
                <a:cs typeface="Helvetica" panose="020B0604020202020204" pitchFamily="34" charset="0"/>
              </a:rPr>
              <a:t>	Encourage team members to contribute feedback in </a:t>
            </a:r>
            <a:r>
              <a:rPr lang="en-US" sz="1900" dirty="0" smtClean="0">
                <a:latin typeface="Helvetica" panose="020B0604020202020204" pitchFamily="34" charset="0"/>
                <a:cs typeface="Helvetica" panose="020B0604020202020204" pitchFamily="34" charset="0"/>
              </a:rPr>
              <a:t>	regard to achievement of </a:t>
            </a:r>
            <a:r>
              <a:rPr lang="en-US" sz="1900" dirty="0">
                <a:latin typeface="Helvetica" panose="020B0604020202020204" pitchFamily="34" charset="0"/>
                <a:cs typeface="Helvetica" panose="020B0604020202020204" pitchFamily="34" charset="0"/>
              </a:rPr>
              <a:t>service and performance targets</a:t>
            </a:r>
          </a:p>
          <a:p>
            <a:pPr marL="36576" indent="0">
              <a:spcBef>
                <a:spcPts val="400"/>
              </a:spcBef>
              <a:spcAft>
                <a:spcPts val="600"/>
              </a:spcAft>
              <a:buNone/>
            </a:pPr>
            <a:r>
              <a:rPr lang="en-US" sz="1900" dirty="0">
                <a:solidFill>
                  <a:srgbClr val="92D050"/>
                </a:solidFill>
                <a:latin typeface="Helvetica" panose="020B0604020202020204" pitchFamily="34" charset="0"/>
                <a:cs typeface="Helvetica" panose="020B0604020202020204" pitchFamily="34" charset="0"/>
              </a:rPr>
              <a:t>5.7</a:t>
            </a:r>
            <a:r>
              <a:rPr lang="en-US" sz="1900" dirty="0">
                <a:latin typeface="Helvetica" panose="020B0604020202020204" pitchFamily="34" charset="0"/>
                <a:cs typeface="Helvetica" panose="020B0604020202020204" pitchFamily="34" charset="0"/>
              </a:rPr>
              <a:t>	</a:t>
            </a:r>
            <a:r>
              <a:rPr lang="en-US" sz="1900" dirty="0" smtClean="0">
                <a:latin typeface="Helvetica" panose="020B0604020202020204" pitchFamily="34" charset="0"/>
                <a:cs typeface="Helvetica" panose="020B0604020202020204" pitchFamily="34" charset="0"/>
              </a:rPr>
              <a:t>Handle routine </a:t>
            </a:r>
            <a:r>
              <a:rPr lang="en-US" sz="1900" dirty="0">
                <a:latin typeface="Helvetica" panose="020B0604020202020204" pitchFamily="34" charset="0"/>
                <a:cs typeface="Helvetica" panose="020B0604020202020204" pitchFamily="34" charset="0"/>
              </a:rPr>
              <a:t>problems using appropriate </a:t>
            </a:r>
            <a:r>
              <a:rPr lang="en-US" sz="1900" dirty="0" smtClean="0">
                <a:latin typeface="Helvetica" panose="020B0604020202020204" pitchFamily="34" charset="0"/>
                <a:cs typeface="Helvetica" panose="020B0604020202020204" pitchFamily="34" charset="0"/>
              </a:rPr>
              <a:t/>
            </a:r>
            <a:br>
              <a:rPr lang="en-US" sz="1900" dirty="0" smtClean="0">
                <a:latin typeface="Helvetica" panose="020B0604020202020204" pitchFamily="34" charset="0"/>
                <a:cs typeface="Helvetica" panose="020B0604020202020204" pitchFamily="34" charset="0"/>
              </a:rPr>
            </a:br>
            <a:r>
              <a:rPr lang="en-US" sz="1900" dirty="0" smtClean="0">
                <a:latin typeface="Helvetica" panose="020B0604020202020204" pitchFamily="34" charset="0"/>
                <a:cs typeface="Helvetica" panose="020B0604020202020204" pitchFamily="34" charset="0"/>
              </a:rPr>
              <a:t>	problem-solving techniques</a:t>
            </a:r>
            <a:endParaRPr lang="en-US" sz="1900" dirty="0">
              <a:latin typeface="Helvetica" panose="020B0604020202020204" pitchFamily="34" charset="0"/>
              <a:cs typeface="Helvetica" panose="020B0604020202020204" pitchFamily="34" charset="0"/>
            </a:endParaRPr>
          </a:p>
          <a:p>
            <a:pPr marL="36576" indent="0">
              <a:spcBef>
                <a:spcPts val="400"/>
              </a:spcBef>
              <a:spcAft>
                <a:spcPts val="600"/>
              </a:spcAft>
              <a:buNone/>
            </a:pPr>
            <a:endParaRPr lang="en-US" sz="1900" dirty="0" smtClean="0">
              <a:latin typeface="Helvetica" panose="020B0604020202020204" pitchFamily="34" charset="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7170" name="Picture 2" descr="I:\Overseas Projects\PHOTOS\2014\Shutterstock 25-a-day\shutterstock_9405385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2809" y="2590800"/>
            <a:ext cx="1611313"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7053427"/>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6600"/>
                </a:solidFill>
                <a:latin typeface="Helvetica" pitchFamily="34" charset="0"/>
              </a:rPr>
              <a:t>5.1	Interpret stated service delivery 	standards for team members</a:t>
            </a:r>
            <a:endParaRPr lang="en-US" sz="3200" dirty="0"/>
          </a:p>
        </p:txBody>
      </p:sp>
      <p:sp>
        <p:nvSpPr>
          <p:cNvPr id="3" name="Content Placeholder 2"/>
          <p:cNvSpPr>
            <a:spLocks noGrp="1"/>
          </p:cNvSpPr>
          <p:nvPr>
            <p:ph idx="1"/>
          </p:nvPr>
        </p:nvSpPr>
        <p:spPr/>
        <p:txBody>
          <a:bodyPr>
            <a:noAutofit/>
          </a:bodyPr>
          <a:lstStyle/>
          <a:p>
            <a:pPr marL="36576" indent="0">
              <a:buNone/>
            </a:pPr>
            <a:r>
              <a:rPr lang="en-AU" sz="2200" dirty="0" smtClean="0">
                <a:latin typeface="Helvetica" panose="020B0604020202020204" pitchFamily="34" charset="0"/>
                <a:cs typeface="Helvetica" panose="020B0604020202020204" pitchFamily="34" charset="0"/>
              </a:rPr>
              <a:t>People learn in different ways but the most important aspect in sharing service delivery standards with team members, is to fully understand the standards before explaining them to other.</a:t>
            </a:r>
            <a:endParaRPr lang="en-US" sz="2200" dirty="0" smtClean="0">
              <a:latin typeface="Helvetica" panose="020B0604020202020204" pitchFamily="34" charset="0"/>
              <a:cs typeface="Helvetica" panose="020B0604020202020204" pitchFamily="34" charset="0"/>
            </a:endParaRPr>
          </a:p>
        </p:txBody>
      </p:sp>
      <p:pic>
        <p:nvPicPr>
          <p:cNvPr id="5" name="Picture 4" descr="C:\Users\Quentin\AppData\Local\Microsoft\Windows\Temporary Internet Files\Content.IE5\XNO1IOZT\service_learning_logo[1].jpg"/>
          <p:cNvPicPr/>
          <p:nvPr/>
        </p:nvPicPr>
        <p:blipFill>
          <a:blip r:embed="rId3" cstate="print"/>
          <a:srcRect/>
          <a:stretch>
            <a:fillRect/>
          </a:stretch>
        </p:blipFill>
        <p:spPr bwMode="auto">
          <a:xfrm>
            <a:off x="3028122" y="3276599"/>
            <a:ext cx="2532112" cy="2726603"/>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spTree>
    <p:extLst>
      <p:ext uri="{BB962C8B-B14F-4D97-AF65-F5344CB8AC3E}">
        <p14:creationId xmlns:p14="http://schemas.microsoft.com/office/powerpoint/2010/main" val="67964266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b="1" dirty="0" smtClean="0">
                <a:solidFill>
                  <a:srgbClr val="FF6600"/>
                </a:solidFill>
              </a:rPr>
              <a:t>5.2	Encourage team members to take 	advantage of opportunities to 	enhance service delivery</a:t>
            </a:r>
            <a:endParaRPr lang="en-US" sz="2800" dirty="0"/>
          </a:p>
        </p:txBody>
      </p:sp>
      <p:sp>
        <p:nvSpPr>
          <p:cNvPr id="3" name="Content Placeholder 2"/>
          <p:cNvSpPr>
            <a:spLocks noGrp="1"/>
          </p:cNvSpPr>
          <p:nvPr>
            <p:ph idx="1"/>
          </p:nvPr>
        </p:nvSpPr>
        <p:spPr>
          <a:xfrm>
            <a:off x="457200" y="1828800"/>
            <a:ext cx="7467600" cy="4525963"/>
          </a:xfrm>
        </p:spPr>
        <p:txBody>
          <a:bodyPr>
            <a:noAutofit/>
          </a:bodyPr>
          <a:lstStyle/>
          <a:p>
            <a:pPr marL="36576" indent="0">
              <a:buNone/>
            </a:pPr>
            <a:r>
              <a:rPr lang="en-AU" sz="2000" dirty="0" smtClean="0">
                <a:latin typeface="Helvetica" panose="020B0604020202020204" pitchFamily="34" charset="0"/>
                <a:cs typeface="Helvetica" panose="020B0604020202020204" pitchFamily="34" charset="0"/>
              </a:rPr>
              <a:t>It is important to encourage team members to constantly look for ways to improve service delivery. The more diversity of people involved in actively seeking improved service will lead to increased customer service delivery enhancement and improvements.</a:t>
            </a:r>
            <a:endParaRPr lang="en-US" sz="2000" dirty="0" smtClean="0">
              <a:latin typeface="Helvetica" panose="020B0604020202020204" pitchFamily="34" charset="0"/>
              <a:cs typeface="Helvetica" panose="020B0604020202020204" pitchFamily="34" charset="0"/>
            </a:endParaRPr>
          </a:p>
        </p:txBody>
      </p:sp>
      <p:pic>
        <p:nvPicPr>
          <p:cNvPr id="5" name="Picture 4" descr="C:\Users\Quentin\AppData\Local\Microsoft\Windows\Temporary Internet Files\Content.IE5\KCJ5LBGJ\Improve-your-website-ranking[1].jpg"/>
          <p:cNvPicPr/>
          <p:nvPr/>
        </p:nvPicPr>
        <p:blipFill>
          <a:blip r:embed="rId3" cstate="print"/>
          <a:srcRect/>
          <a:stretch>
            <a:fillRect/>
          </a:stretch>
        </p:blipFill>
        <p:spPr bwMode="auto">
          <a:xfrm>
            <a:off x="2869096" y="3352800"/>
            <a:ext cx="2880425" cy="2491584"/>
          </a:xfrm>
          <a:prstGeom prst="rect">
            <a:avLst/>
          </a:prstGeom>
          <a:noFill/>
          <a:ln w="9525">
            <a:noFill/>
            <a:miter lim="800000"/>
            <a:headEnd/>
            <a:tailEnd/>
          </a:ln>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spTree>
    <p:extLst>
      <p:ext uri="{BB962C8B-B14F-4D97-AF65-F5344CB8AC3E}">
        <p14:creationId xmlns:p14="http://schemas.microsoft.com/office/powerpoint/2010/main" val="66548354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a:solidFill>
                  <a:srgbClr val="FF6600"/>
                </a:solidFill>
                <a:latin typeface="Helvetica" pitchFamily="34" charset="0"/>
              </a:rPr>
              <a:t>O</a:t>
            </a:r>
            <a:r>
              <a:rPr lang="en-US" sz="2900" b="1" dirty="0" smtClean="0">
                <a:solidFill>
                  <a:srgbClr val="FF6600"/>
                </a:solidFill>
                <a:latin typeface="Helvetica" pitchFamily="34" charset="0"/>
              </a:rPr>
              <a:t>pportunities </a:t>
            </a:r>
            <a:r>
              <a:rPr lang="en-US" sz="2900" b="1" dirty="0">
                <a:solidFill>
                  <a:srgbClr val="FF6600"/>
                </a:solidFill>
                <a:latin typeface="Helvetica" pitchFamily="34" charset="0"/>
              </a:rPr>
              <a:t>to enhance service delivery</a:t>
            </a:r>
            <a:endParaRPr lang="en-US" dirty="0"/>
          </a:p>
        </p:txBody>
      </p:sp>
      <p:sp>
        <p:nvSpPr>
          <p:cNvPr id="3" name="Content Placeholder 2"/>
          <p:cNvSpPr>
            <a:spLocks noGrp="1"/>
          </p:cNvSpPr>
          <p:nvPr>
            <p:ph idx="1"/>
          </p:nvPr>
        </p:nvSpPr>
        <p:spPr>
          <a:xfrm>
            <a:off x="457200" y="1295400"/>
            <a:ext cx="6627693" cy="4525963"/>
          </a:xfrm>
        </p:spPr>
        <p:txBody>
          <a:bodyPr>
            <a:noAutofit/>
          </a:bodyPr>
          <a:lstStyle/>
          <a:p>
            <a:pPr marL="36576" indent="0">
              <a:spcBef>
                <a:spcPts val="400"/>
              </a:spcBef>
              <a:spcAft>
                <a:spcPts val="600"/>
              </a:spcAft>
              <a:buNone/>
            </a:pPr>
            <a:r>
              <a:rPr lang="en-AU" sz="2000" dirty="0" smtClean="0">
                <a:latin typeface="Helvetica" panose="020B0604020202020204" pitchFamily="34" charset="0"/>
                <a:cs typeface="Helvetica" panose="020B0604020202020204" pitchFamily="34" charset="0"/>
              </a:rPr>
              <a:t>There </a:t>
            </a:r>
            <a:r>
              <a:rPr lang="en-AU" sz="2000" dirty="0">
                <a:latin typeface="Helvetica" panose="020B0604020202020204" pitchFamily="34" charset="0"/>
                <a:cs typeface="Helvetica" panose="020B0604020202020204" pitchFamily="34" charset="0"/>
              </a:rPr>
              <a:t>are many opportunities for team members to enhance service delivery and it is important to encourage staff to look for ways to improve the service delivery by</a:t>
            </a:r>
            <a:r>
              <a:rPr lang="en-AU" sz="2000" dirty="0" smtClean="0">
                <a:latin typeface="Helvetica" panose="020B0604020202020204" pitchFamily="34" charset="0"/>
                <a:cs typeface="Helvetica" panose="020B0604020202020204" pitchFamily="34" charset="0"/>
              </a:rPr>
              <a:t>:</a:t>
            </a:r>
            <a:endParaRPr lang="en-US" sz="2000" dirty="0" smtClean="0">
              <a:latin typeface="Helvetica" panose="020B0604020202020204" pitchFamily="34" charset="0"/>
              <a:cs typeface="Helvetica" panose="020B0604020202020204" pitchFamily="34" charset="0"/>
            </a:endParaRPr>
          </a:p>
          <a:p>
            <a:pPr marL="342900" marR="0" lvl="0" indent="-342900">
              <a:spcBef>
                <a:spcPts val="400"/>
              </a:spcBef>
              <a:spcAft>
                <a:spcPts val="600"/>
              </a:spcAft>
              <a:buFont typeface="Symbol" panose="05050102010706020507" pitchFamily="18" charset="2"/>
              <a:buChar char=""/>
              <a:tabLst>
                <a:tab pos="226695" algn="l"/>
              </a:tabLst>
            </a:pPr>
            <a:r>
              <a:rPr lang="en-US" sz="2000" dirty="0">
                <a:latin typeface="Helvetica" panose="020B0604020202020204" pitchFamily="34" charset="0"/>
                <a:ea typeface="Times New Roman" panose="02020603050405020304" pitchFamily="18" charset="0"/>
                <a:cs typeface="Times New Roman" panose="02020603050405020304" pitchFamily="18" charset="0"/>
              </a:rPr>
              <a:t>Providing incentives or rewards for enhancing </a:t>
            </a:r>
            <a:r>
              <a:rPr lang="en-US" sz="2000" dirty="0" smtClean="0">
                <a:latin typeface="Helvetica" panose="020B0604020202020204" pitchFamily="34" charset="0"/>
                <a:ea typeface="Times New Roman" panose="02020603050405020304" pitchFamily="18" charset="0"/>
                <a:cs typeface="Times New Roman" panose="02020603050405020304" pitchFamily="18" charset="0"/>
              </a:rPr>
              <a:t>service </a:t>
            </a:r>
            <a:endParaRPr lang="en-US" sz="2000" dirty="0">
              <a:latin typeface="Helvetica" panose="020B0604020202020204" pitchFamily="34" charset="0"/>
              <a:ea typeface="Times New Roman" panose="02020603050405020304" pitchFamily="18" charset="0"/>
              <a:cs typeface="Times New Roman" panose="02020603050405020304" pitchFamily="18" charset="0"/>
            </a:endParaRPr>
          </a:p>
          <a:p>
            <a:pPr marL="342900" marR="0" lvl="0" indent="-342900">
              <a:spcBef>
                <a:spcPts val="400"/>
              </a:spcBef>
              <a:spcAft>
                <a:spcPts val="600"/>
              </a:spcAft>
              <a:buFont typeface="Symbol" panose="05050102010706020507" pitchFamily="18" charset="2"/>
              <a:buChar char=""/>
              <a:tabLst>
                <a:tab pos="226695" algn="l"/>
              </a:tabLst>
            </a:pPr>
            <a:r>
              <a:rPr lang="en-US" sz="2000" dirty="0">
                <a:latin typeface="Helvetica" panose="020B0604020202020204" pitchFamily="34" charset="0"/>
                <a:ea typeface="Times New Roman" panose="02020603050405020304" pitchFamily="18" charset="0"/>
                <a:cs typeface="Times New Roman" panose="02020603050405020304" pitchFamily="18" charset="0"/>
              </a:rPr>
              <a:t>Motivating team </a:t>
            </a:r>
            <a:r>
              <a:rPr lang="en-US" sz="2000" dirty="0" smtClean="0">
                <a:latin typeface="Helvetica" panose="020B0604020202020204" pitchFamily="34" charset="0"/>
                <a:ea typeface="Times New Roman" panose="02020603050405020304" pitchFamily="18" charset="0"/>
                <a:cs typeface="Times New Roman" panose="02020603050405020304" pitchFamily="18" charset="0"/>
              </a:rPr>
              <a:t>members</a:t>
            </a:r>
          </a:p>
          <a:p>
            <a:pPr marL="342900" marR="0" lvl="0" indent="-342900">
              <a:spcBef>
                <a:spcPts val="400"/>
              </a:spcBef>
              <a:spcAft>
                <a:spcPts val="600"/>
              </a:spcAft>
              <a:buFont typeface="Symbol" panose="05050102010706020507" pitchFamily="18" charset="2"/>
              <a:buChar char=""/>
              <a:tabLst>
                <a:tab pos="226695" algn="l"/>
              </a:tabLst>
            </a:pPr>
            <a:r>
              <a:rPr lang="en-US" sz="2000" dirty="0" smtClean="0">
                <a:latin typeface="Helvetica" panose="020B0604020202020204" pitchFamily="34" charset="0"/>
                <a:ea typeface="Times New Roman" panose="02020603050405020304" pitchFamily="18" charset="0"/>
                <a:cs typeface="Times New Roman" panose="02020603050405020304" pitchFamily="18" charset="0"/>
              </a:rPr>
              <a:t>Identifying </a:t>
            </a:r>
            <a:r>
              <a:rPr lang="en-US" sz="2000" dirty="0">
                <a:latin typeface="Helvetica" panose="020B0604020202020204" pitchFamily="34" charset="0"/>
                <a:ea typeface="Times New Roman" panose="02020603050405020304" pitchFamily="18" charset="0"/>
                <a:cs typeface="Times New Roman" panose="02020603050405020304" pitchFamily="18" charset="0"/>
              </a:rPr>
              <a:t>and providing examples of opportunities where team members can deliver high levels of customer </a:t>
            </a:r>
            <a:r>
              <a:rPr lang="en-US" sz="2000" dirty="0" smtClean="0">
                <a:latin typeface="Helvetica" panose="020B0604020202020204" pitchFamily="34" charset="0"/>
                <a:ea typeface="Times New Roman" panose="02020603050405020304" pitchFamily="18" charset="0"/>
                <a:cs typeface="Times New Roman" panose="02020603050405020304" pitchFamily="18" charset="0"/>
              </a:rPr>
              <a:t>service</a:t>
            </a:r>
            <a:endParaRPr lang="en-US" sz="2000" dirty="0">
              <a:latin typeface="Helvetica" panose="020B0604020202020204" pitchFamily="34" charset="0"/>
              <a:ea typeface="Times New Roman" panose="02020603050405020304" pitchFamily="18" charset="0"/>
              <a:cs typeface="Times New Roman" panose="02020603050405020304" pitchFamily="18" charset="0"/>
            </a:endParaRPr>
          </a:p>
          <a:p>
            <a:pPr marL="342900" marR="0" lvl="0" indent="-342900">
              <a:spcBef>
                <a:spcPts val="400"/>
              </a:spcBef>
              <a:spcAft>
                <a:spcPts val="600"/>
              </a:spcAft>
              <a:buFont typeface="Symbol" panose="05050102010706020507" pitchFamily="18" charset="2"/>
              <a:buChar char=""/>
              <a:tabLst>
                <a:tab pos="226695" algn="l"/>
              </a:tabLst>
            </a:pPr>
            <a:r>
              <a:rPr lang="en-US" sz="2000" dirty="0">
                <a:latin typeface="Helvetica" panose="020B0604020202020204" pitchFamily="34" charset="0"/>
                <a:ea typeface="Times New Roman" panose="02020603050405020304" pitchFamily="18" charset="0"/>
                <a:cs typeface="Times New Roman" panose="02020603050405020304" pitchFamily="18" charset="0"/>
              </a:rPr>
              <a:t>Encouraging team members to look for examples of excellent customer service in industry magazines, websites, training materials, or competitor service delivery </a:t>
            </a:r>
            <a:r>
              <a:rPr lang="en-US" sz="2000" dirty="0" smtClean="0">
                <a:latin typeface="Helvetica" panose="020B0604020202020204" pitchFamily="34" charset="0"/>
                <a:ea typeface="Times New Roman" panose="02020603050405020304" pitchFamily="18" charset="0"/>
                <a:cs typeface="Times New Roman" panose="02020603050405020304" pitchFamily="18" charset="0"/>
              </a:rPr>
              <a:t>observations</a:t>
            </a:r>
            <a:endParaRPr lang="en-US" sz="2000" dirty="0">
              <a:latin typeface="Helvetica" panose="020B0604020202020204" pitchFamily="34" charset="0"/>
              <a:ea typeface="Times New Roman" panose="02020603050405020304" pitchFamily="18" charset="0"/>
              <a:cs typeface="Times New Roman" panose="02020603050405020304" pitchFamily="18" charset="0"/>
            </a:endParaRPr>
          </a:p>
          <a:p>
            <a:pPr marL="342900" marR="0" lvl="0" indent="-342900">
              <a:spcBef>
                <a:spcPts val="400"/>
              </a:spcBef>
              <a:spcAft>
                <a:spcPts val="600"/>
              </a:spcAft>
              <a:buFont typeface="Symbol" panose="05050102010706020507" pitchFamily="18" charset="2"/>
              <a:buChar char=""/>
              <a:tabLst>
                <a:tab pos="226695" algn="l"/>
              </a:tabLst>
            </a:pPr>
            <a:r>
              <a:rPr lang="en-US" sz="2000" dirty="0">
                <a:latin typeface="Helvetica" panose="020B0604020202020204" pitchFamily="34" charset="0"/>
                <a:ea typeface="Times New Roman" panose="02020603050405020304" pitchFamily="18" charset="0"/>
                <a:cs typeface="Times New Roman" panose="02020603050405020304" pitchFamily="18" charset="0"/>
              </a:rPr>
              <a:t>Showing team members how to enhance service delivery. Leading by </a:t>
            </a:r>
            <a:r>
              <a:rPr lang="en-US" sz="2000" dirty="0" smtClean="0">
                <a:latin typeface="Helvetica" panose="020B0604020202020204" pitchFamily="34" charset="0"/>
                <a:ea typeface="Times New Roman" panose="02020603050405020304" pitchFamily="18" charset="0"/>
                <a:cs typeface="Times New Roman" panose="02020603050405020304" pitchFamily="18" charset="0"/>
              </a:rPr>
              <a:t>example</a:t>
            </a:r>
            <a:endParaRPr lang="en-US" sz="2000" dirty="0">
              <a:latin typeface="Helvetica" panose="020B0604020202020204" pitchFamily="34" charset="0"/>
              <a:ea typeface="Times New Roman" panose="02020603050405020304" pitchFamily="18" charset="0"/>
              <a:cs typeface="Times New Roman" panose="02020603050405020304" pitchFamily="18" charset="0"/>
            </a:endParaRPr>
          </a:p>
          <a:p>
            <a:pPr lvl="0">
              <a:spcBef>
                <a:spcPts val="400"/>
              </a:spcBef>
              <a:spcAft>
                <a:spcPts val="600"/>
              </a:spcAft>
            </a:pPr>
            <a:endParaRPr lang="en-US" sz="2000" dirty="0">
              <a:latin typeface="Helvetica" panose="020B0604020202020204" pitchFamily="34" charset="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8194" name="Picture 2" descr="I:\Overseas Projects\PHOTOS\2014\Shutterstock 25-a-day\shutterstock_17940251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90666" y="3048000"/>
            <a:ext cx="2055794"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41313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solidFill>
                  <a:srgbClr val="FF6600"/>
                </a:solidFill>
              </a:rPr>
              <a:t>5.3	Allocate service delivery tasks to 	team members</a:t>
            </a:r>
            <a:endParaRPr lang="en-US" sz="2800" dirty="0"/>
          </a:p>
        </p:txBody>
      </p:sp>
      <p:sp>
        <p:nvSpPr>
          <p:cNvPr id="3" name="Content Placeholder 2"/>
          <p:cNvSpPr>
            <a:spLocks noGrp="1"/>
          </p:cNvSpPr>
          <p:nvPr>
            <p:ph idx="1"/>
          </p:nvPr>
        </p:nvSpPr>
        <p:spPr/>
        <p:txBody>
          <a:bodyPr>
            <a:noAutofit/>
          </a:bodyPr>
          <a:lstStyle/>
          <a:p>
            <a:pPr marL="36576" indent="0">
              <a:spcBef>
                <a:spcPts val="600"/>
              </a:spcBef>
              <a:spcAft>
                <a:spcPts val="600"/>
              </a:spcAft>
              <a:buNone/>
            </a:pPr>
            <a:r>
              <a:rPr lang="en-AU" sz="2000" dirty="0" smtClean="0">
                <a:latin typeface="Helvetica" panose="020B0604020202020204" pitchFamily="34" charset="0"/>
                <a:cs typeface="Helvetica" panose="020B0604020202020204" pitchFamily="34" charset="0"/>
              </a:rPr>
              <a:t>It is not effective to give staff members tasks that they are unable to perform. This can result in frustration and anger amongst team members. In allocate service delivery tasks to team members, it is important to:</a:t>
            </a:r>
            <a:endParaRPr lang="en-US" sz="2000" dirty="0" smtClean="0">
              <a:latin typeface="Helvetica" panose="020B0604020202020204" pitchFamily="34" charset="0"/>
              <a:cs typeface="Helvetica" panose="020B0604020202020204" pitchFamily="34" charset="0"/>
            </a:endParaRP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Understand clearly what the task is</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Be confident that the staff member can complete the task</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Include team members in the allocation process </a:t>
            </a:r>
            <a:br>
              <a:rPr lang="en-US" sz="2000" dirty="0" smtClean="0">
                <a:latin typeface="Helvetica" panose="020B0604020202020204" pitchFamily="34" charset="0"/>
                <a:cs typeface="Helvetica" panose="020B0604020202020204" pitchFamily="34" charset="0"/>
              </a:rPr>
            </a:br>
            <a:r>
              <a:rPr lang="en-US" sz="2000" dirty="0" smtClean="0">
                <a:latin typeface="Helvetica" panose="020B0604020202020204" pitchFamily="34" charset="0"/>
                <a:cs typeface="Helvetica" panose="020B0604020202020204" pitchFamily="34" charset="0"/>
              </a:rPr>
              <a:t>in order to engage them</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Make sure there are enough resources and time </a:t>
            </a:r>
            <a:br>
              <a:rPr lang="en-US" sz="2000" dirty="0" smtClean="0">
                <a:latin typeface="Helvetica" panose="020B0604020202020204" pitchFamily="34" charset="0"/>
                <a:cs typeface="Helvetica" panose="020B0604020202020204" pitchFamily="34" charset="0"/>
              </a:rPr>
            </a:br>
            <a:r>
              <a:rPr lang="en-US" sz="2000" dirty="0" smtClean="0">
                <a:latin typeface="Helvetica" panose="020B0604020202020204" pitchFamily="34" charset="0"/>
                <a:cs typeface="Helvetica" panose="020B0604020202020204" pitchFamily="34" charset="0"/>
              </a:rPr>
              <a:t>to complete the task</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Clearly inform team members in advance about newly allocated tasks</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Provide opportunities for feedback and support as required</a:t>
            </a:r>
            <a:br>
              <a:rPr lang="en-US" sz="2000" dirty="0" smtClean="0">
                <a:latin typeface="Helvetica" panose="020B0604020202020204" pitchFamily="34" charset="0"/>
                <a:cs typeface="Helvetica" panose="020B0604020202020204" pitchFamily="34" charset="0"/>
              </a:rPr>
            </a:br>
            <a:r>
              <a:rPr lang="en-US" sz="2000" dirty="0" smtClean="0">
                <a:latin typeface="Helvetica" panose="020B0604020202020204" pitchFamily="34" charset="0"/>
                <a:cs typeface="Helvetica" panose="020B0604020202020204" pitchFamily="34" charset="0"/>
              </a:rPr>
              <a:t/>
            </a:r>
            <a:br>
              <a:rPr lang="en-US" sz="2000" dirty="0" smtClean="0">
                <a:latin typeface="Helvetica" panose="020B0604020202020204" pitchFamily="34" charset="0"/>
                <a:cs typeface="Helvetica" panose="020B0604020202020204" pitchFamily="34" charset="0"/>
              </a:rPr>
            </a:br>
            <a:endParaRPr lang="en-US" sz="2000" dirty="0">
              <a:latin typeface="Helvetica" panose="020B0604020202020204" pitchFamily="34" charset="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9218" name="Picture 2" descr="I:\Overseas Projects\PHOTOS\2014\Shutterstock 25-a-day\shutterstock_193501400.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3978101"/>
            <a:ext cx="2057400" cy="1372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92244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143000"/>
          </a:xfrm>
        </p:spPr>
        <p:txBody>
          <a:bodyPr>
            <a:noAutofit/>
          </a:bodyPr>
          <a:lstStyle/>
          <a:p>
            <a:r>
              <a:rPr lang="en-US" sz="2800" b="1" dirty="0" smtClean="0">
                <a:solidFill>
                  <a:srgbClr val="FF6600"/>
                </a:solidFill>
              </a:rPr>
              <a:t>5.4	Advise team members of changes to 	service delivery standards and/or targets</a:t>
            </a:r>
            <a:endParaRPr lang="en-US" sz="2800" dirty="0"/>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10242" name="Picture 2" descr="I:\Overseas Projects\PHOTOS\2014\Shutterstock 25-a-day\shutterstock_15300824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209800"/>
            <a:ext cx="4876800" cy="3253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396480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493837"/>
            <a:ext cx="6858000" cy="4525963"/>
          </a:xfrm>
        </p:spPr>
        <p:txBody>
          <a:bodyPr>
            <a:noAutofit/>
          </a:bodyPr>
          <a:lstStyle/>
          <a:p>
            <a:pPr marL="36576" indent="0">
              <a:spcBef>
                <a:spcPts val="600"/>
              </a:spcBef>
              <a:spcAft>
                <a:spcPts val="600"/>
              </a:spcAft>
              <a:buNone/>
            </a:pPr>
            <a:r>
              <a:rPr lang="en-AU" sz="2000" dirty="0">
                <a:cs typeface="Helvetica" panose="020B0604020202020204" pitchFamily="34" charset="0"/>
              </a:rPr>
              <a:t>There are many ways that team members could be advised of service delivery changes </a:t>
            </a:r>
            <a:r>
              <a:rPr lang="en-AU" sz="2000" dirty="0" smtClean="0">
                <a:cs typeface="Helvetica" panose="020B0604020202020204" pitchFamily="34" charset="0"/>
              </a:rPr>
              <a:t>including:</a:t>
            </a:r>
            <a:endParaRPr lang="en-US" sz="2000" dirty="0" smtClean="0">
              <a:cs typeface="Helvetica" panose="020B0604020202020204" pitchFamily="34" charset="0"/>
            </a:endParaRPr>
          </a:p>
          <a:p>
            <a:pPr marR="0">
              <a:spcBef>
                <a:spcPts val="600"/>
              </a:spcBef>
              <a:spcAft>
                <a:spcPts val="600"/>
              </a:spcAft>
              <a:tabLst>
                <a:tab pos="226695" algn="l"/>
              </a:tabLst>
            </a:pPr>
            <a:r>
              <a:rPr lang="en-US" sz="2000" dirty="0">
                <a:cs typeface="Helvetica" panose="020B0604020202020204" pitchFamily="34" charset="0"/>
              </a:rPr>
              <a:t>Emailing team members and asking for confirmation of email receipt</a:t>
            </a:r>
          </a:p>
          <a:p>
            <a:pPr marR="0">
              <a:spcBef>
                <a:spcPts val="600"/>
              </a:spcBef>
              <a:spcAft>
                <a:spcPts val="600"/>
              </a:spcAft>
              <a:tabLst>
                <a:tab pos="226695" algn="l"/>
              </a:tabLst>
            </a:pPr>
            <a:r>
              <a:rPr lang="en-US" sz="2000" dirty="0">
                <a:cs typeface="Helvetica" panose="020B0604020202020204" pitchFamily="34" charset="0"/>
              </a:rPr>
              <a:t>Writing notes and putting on the staff notice board, newsletters</a:t>
            </a:r>
          </a:p>
          <a:p>
            <a:pPr marR="0">
              <a:spcBef>
                <a:spcPts val="600"/>
              </a:spcBef>
              <a:spcAft>
                <a:spcPts val="600"/>
              </a:spcAft>
              <a:tabLst>
                <a:tab pos="226695" algn="l"/>
              </a:tabLst>
            </a:pPr>
            <a:r>
              <a:rPr lang="en-US" sz="2000" dirty="0">
                <a:cs typeface="Helvetica" panose="020B0604020202020204" pitchFamily="34" charset="0"/>
              </a:rPr>
              <a:t>Arranging a team meeting</a:t>
            </a:r>
          </a:p>
          <a:p>
            <a:pPr marR="0">
              <a:spcBef>
                <a:spcPts val="600"/>
              </a:spcBef>
              <a:spcAft>
                <a:spcPts val="600"/>
              </a:spcAft>
              <a:tabLst>
                <a:tab pos="226695" algn="l"/>
              </a:tabLst>
            </a:pPr>
            <a:r>
              <a:rPr lang="en-US" sz="2000" dirty="0">
                <a:cs typeface="Helvetica" panose="020B0604020202020204" pitchFamily="34" charset="0"/>
              </a:rPr>
              <a:t>Phoning or text messaging team members if urgent</a:t>
            </a:r>
          </a:p>
          <a:p>
            <a:pPr marR="0">
              <a:spcBef>
                <a:spcPts val="600"/>
              </a:spcBef>
              <a:spcAft>
                <a:spcPts val="600"/>
              </a:spcAft>
              <a:tabLst>
                <a:tab pos="226695" algn="l"/>
              </a:tabLst>
            </a:pPr>
            <a:r>
              <a:rPr lang="en-US" sz="2000" dirty="0">
                <a:cs typeface="Helvetica" panose="020B0604020202020204" pitchFamily="34" charset="0"/>
              </a:rPr>
              <a:t>Meeting with staff members individually </a:t>
            </a:r>
          </a:p>
          <a:p>
            <a:pPr marR="0">
              <a:spcBef>
                <a:spcPts val="600"/>
              </a:spcBef>
              <a:spcAft>
                <a:spcPts val="600"/>
              </a:spcAft>
              <a:tabLst>
                <a:tab pos="226695" algn="l"/>
              </a:tabLst>
            </a:pPr>
            <a:r>
              <a:rPr lang="en-US" sz="2000" dirty="0">
                <a:cs typeface="Helvetica" panose="020B0604020202020204" pitchFamily="34" charset="0"/>
              </a:rPr>
              <a:t>Asking a team member to pass on information to others</a:t>
            </a:r>
          </a:p>
          <a:p>
            <a:pPr marR="0">
              <a:spcBef>
                <a:spcPts val="600"/>
              </a:spcBef>
              <a:spcAft>
                <a:spcPts val="600"/>
              </a:spcAft>
              <a:tabLst>
                <a:tab pos="226695" algn="l"/>
              </a:tabLst>
            </a:pPr>
            <a:r>
              <a:rPr lang="en-US" sz="2000" dirty="0">
                <a:cs typeface="Helvetica" panose="020B0604020202020204" pitchFamily="34" charset="0"/>
              </a:rPr>
              <a:t>A combination of the above</a:t>
            </a:r>
          </a:p>
        </p:txBody>
      </p:sp>
      <p:sp>
        <p:nvSpPr>
          <p:cNvPr id="5" name="Title 1"/>
          <p:cNvSpPr>
            <a:spLocks noGrp="1"/>
          </p:cNvSpPr>
          <p:nvPr>
            <p:ph type="title"/>
          </p:nvPr>
        </p:nvSpPr>
        <p:spPr/>
        <p:txBody>
          <a:bodyPr>
            <a:noAutofit/>
          </a:bodyPr>
          <a:lstStyle/>
          <a:p>
            <a:r>
              <a:rPr lang="en-US" sz="3200" b="1" dirty="0" smtClean="0">
                <a:solidFill>
                  <a:srgbClr val="FF6600"/>
                </a:solidFill>
                <a:latin typeface="Helvetica" pitchFamily="34" charset="0"/>
              </a:rPr>
              <a:t>Communicating changes to staff members</a:t>
            </a:r>
            <a:endParaRPr lang="en-US" sz="3200" dirty="0"/>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11266" name="Picture 2" descr="I:\Overseas Projects\PHOTOS\2014\Shutterstock 25-a-day\shutterstock_15576769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8206" y="3124200"/>
            <a:ext cx="2055794"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00667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Autofit/>
          </a:bodyPr>
          <a:lstStyle/>
          <a:p>
            <a:r>
              <a:rPr lang="en-US" sz="2800" b="1" dirty="0" smtClean="0">
                <a:solidFill>
                  <a:srgbClr val="FF6600"/>
                </a:solidFill>
              </a:rPr>
              <a:t>5.5	Provide feedback to team members 	regarding the provision of service 	delivery</a:t>
            </a:r>
            <a:endParaRPr lang="en-US" sz="2800" dirty="0"/>
          </a:p>
        </p:txBody>
      </p:sp>
      <p:sp>
        <p:nvSpPr>
          <p:cNvPr id="3" name="Content Placeholder 2"/>
          <p:cNvSpPr>
            <a:spLocks noGrp="1"/>
          </p:cNvSpPr>
          <p:nvPr>
            <p:ph idx="1"/>
          </p:nvPr>
        </p:nvSpPr>
        <p:spPr>
          <a:xfrm>
            <a:off x="457200" y="1722437"/>
            <a:ext cx="7467600" cy="4525963"/>
          </a:xfrm>
        </p:spPr>
        <p:txBody>
          <a:bodyPr>
            <a:noAutofit/>
          </a:bodyPr>
          <a:lstStyle/>
          <a:p>
            <a:pPr marL="36576" indent="0">
              <a:buNone/>
            </a:pPr>
            <a:r>
              <a:rPr lang="en-AU" sz="2200" dirty="0" smtClean="0">
                <a:latin typeface="Helvetica" panose="020B0604020202020204" pitchFamily="34" charset="0"/>
                <a:cs typeface="Helvetica" panose="020B0604020202020204" pitchFamily="34" charset="0"/>
              </a:rPr>
              <a:t>Providing feedback to team members about their performance is an important part of a continuous improvement process but it must be conducted in a constructive and supportive manner.</a:t>
            </a:r>
            <a:endParaRPr lang="en-US" sz="2200" dirty="0" smtClean="0">
              <a:latin typeface="Helvetica" panose="020B0604020202020204" pitchFamily="34" charset="0"/>
              <a:cs typeface="Helvetica" panose="020B0604020202020204" pitchFamily="34" charset="0"/>
            </a:endParaRPr>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12290" name="Picture 2" descr="I:\Overseas Projects\PHOTOS\2014\Shutterstock 25-a-day\shutterstock_206416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95600" y="3429000"/>
            <a:ext cx="3048000" cy="20335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1352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smtClean="0">
                <a:solidFill>
                  <a:srgbClr val="FF6600"/>
                </a:solidFill>
                <a:latin typeface="Helvetica" pitchFamily="34" charset="0"/>
              </a:rPr>
              <a:t>Feedback examples</a:t>
            </a:r>
            <a:endParaRPr lang="en-US" dirty="0"/>
          </a:p>
        </p:txBody>
      </p:sp>
      <p:sp>
        <p:nvSpPr>
          <p:cNvPr id="3" name="Content Placeholder 2"/>
          <p:cNvSpPr>
            <a:spLocks noGrp="1"/>
          </p:cNvSpPr>
          <p:nvPr>
            <p:ph idx="1"/>
          </p:nvPr>
        </p:nvSpPr>
        <p:spPr>
          <a:xfrm>
            <a:off x="457200" y="1447800"/>
            <a:ext cx="6400800" cy="4525963"/>
          </a:xfrm>
        </p:spPr>
        <p:txBody>
          <a:bodyPr>
            <a:noAutofit/>
          </a:bodyPr>
          <a:lstStyle/>
          <a:p>
            <a:pPr marL="36576" indent="0">
              <a:spcBef>
                <a:spcPts val="600"/>
              </a:spcBef>
              <a:spcAft>
                <a:spcPts val="1200"/>
              </a:spcAft>
              <a:buNone/>
            </a:pPr>
            <a:r>
              <a:rPr lang="en-AU" sz="2100" dirty="0">
                <a:cs typeface="Helvetica" panose="020B0604020202020204" pitchFamily="34" charset="0"/>
              </a:rPr>
              <a:t>Feedback to team members could include</a:t>
            </a:r>
            <a:r>
              <a:rPr lang="en-AU" sz="2100" dirty="0" smtClean="0">
                <a:cs typeface="Helvetica" panose="020B0604020202020204" pitchFamily="34" charset="0"/>
              </a:rPr>
              <a:t>:</a:t>
            </a:r>
            <a:endParaRPr lang="en-US" sz="2100" dirty="0" smtClean="0">
              <a:cs typeface="Helvetica" panose="020B0604020202020204" pitchFamily="34" charset="0"/>
            </a:endParaRPr>
          </a:p>
          <a:p>
            <a:pPr lvl="0">
              <a:spcBef>
                <a:spcPts val="600"/>
              </a:spcBef>
              <a:spcAft>
                <a:spcPts val="1200"/>
              </a:spcAft>
              <a:tabLst>
                <a:tab pos="226695" algn="l"/>
              </a:tabLst>
            </a:pPr>
            <a:r>
              <a:rPr lang="en-US" sz="2100" dirty="0">
                <a:cs typeface="Helvetica" panose="020B0604020202020204" pitchFamily="34" charset="0"/>
              </a:rPr>
              <a:t>Praise, acknowledgement of good service, and rewarding service delivery efforts. This could be for individual team members or for the team as a </a:t>
            </a:r>
            <a:r>
              <a:rPr lang="en-US" sz="2100" dirty="0" smtClean="0">
                <a:cs typeface="Helvetica" panose="020B0604020202020204" pitchFamily="34" charset="0"/>
              </a:rPr>
              <a:t>whole </a:t>
            </a:r>
            <a:endParaRPr lang="en-US" sz="2100" dirty="0">
              <a:cs typeface="Helvetica" panose="020B0604020202020204" pitchFamily="34" charset="0"/>
            </a:endParaRPr>
          </a:p>
          <a:p>
            <a:pPr lvl="0">
              <a:spcBef>
                <a:spcPts val="600"/>
              </a:spcBef>
              <a:spcAft>
                <a:spcPts val="1200"/>
              </a:spcAft>
              <a:tabLst>
                <a:tab pos="226695" algn="l"/>
              </a:tabLst>
            </a:pPr>
            <a:r>
              <a:rPr lang="en-US" sz="2100" dirty="0">
                <a:cs typeface="Helvetica" panose="020B0604020202020204" pitchFamily="34" charset="0"/>
              </a:rPr>
              <a:t>Advising team members when they are not producing service delivery to the standard or levels required</a:t>
            </a:r>
          </a:p>
          <a:p>
            <a:pPr lvl="0">
              <a:spcBef>
                <a:spcPts val="600"/>
              </a:spcBef>
              <a:spcAft>
                <a:spcPts val="1200"/>
              </a:spcAft>
              <a:tabLst>
                <a:tab pos="226695" algn="l"/>
              </a:tabLst>
            </a:pPr>
            <a:r>
              <a:rPr lang="en-US" sz="2100" dirty="0">
                <a:cs typeface="Helvetica" panose="020B0604020202020204" pitchFamily="34" charset="0"/>
              </a:rPr>
              <a:t>Monitoring implementation of feedback by team members</a:t>
            </a:r>
          </a:p>
          <a:p>
            <a:pPr lvl="0">
              <a:spcBef>
                <a:spcPts val="600"/>
              </a:spcBef>
              <a:spcAft>
                <a:spcPts val="1200"/>
              </a:spcAft>
              <a:tabLst>
                <a:tab pos="226695" algn="l"/>
              </a:tabLst>
            </a:pPr>
            <a:r>
              <a:rPr lang="en-US" sz="2100" dirty="0">
                <a:cs typeface="Helvetica" panose="020B0604020202020204" pitchFamily="34" charset="0"/>
              </a:rPr>
              <a:t>Sharing customer compliments and complaints</a:t>
            </a:r>
          </a:p>
          <a:p>
            <a:pPr lvl="0">
              <a:spcBef>
                <a:spcPts val="600"/>
              </a:spcBef>
              <a:spcAft>
                <a:spcPts val="1200"/>
              </a:spcAft>
            </a:pPr>
            <a:endParaRPr lang="en-US" sz="2100" dirty="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13314" name="Picture 2" descr="I:\Overseas Projects\PHOTOS\2014\Shutterstock 25-a-day\shutterstock_167211332.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r="41266"/>
          <a:stretch/>
        </p:blipFill>
        <p:spPr bwMode="auto">
          <a:xfrm>
            <a:off x="7325590" y="2209800"/>
            <a:ext cx="1790206" cy="2338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728351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6600"/>
                </a:solidFill>
                <a:latin typeface="Helvetica" pitchFamily="34" charset="0"/>
              </a:rPr>
              <a:t>Forms of feedback</a:t>
            </a:r>
            <a:endParaRPr lang="en-US" sz="3200" dirty="0"/>
          </a:p>
        </p:txBody>
      </p:sp>
      <p:sp>
        <p:nvSpPr>
          <p:cNvPr id="3" name="Content Placeholder 2"/>
          <p:cNvSpPr>
            <a:spLocks noGrp="1"/>
          </p:cNvSpPr>
          <p:nvPr>
            <p:ph idx="1"/>
          </p:nvPr>
        </p:nvSpPr>
        <p:spPr>
          <a:xfrm>
            <a:off x="457200" y="1600200"/>
            <a:ext cx="5562600" cy="4525963"/>
          </a:xfrm>
        </p:spPr>
        <p:txBody>
          <a:bodyPr>
            <a:noAutofit/>
          </a:bodyPr>
          <a:lstStyle/>
          <a:p>
            <a:pPr marL="36576" indent="0">
              <a:spcBef>
                <a:spcPts val="600"/>
              </a:spcBef>
              <a:spcAft>
                <a:spcPts val="1200"/>
              </a:spcAft>
              <a:buNone/>
            </a:pPr>
            <a:r>
              <a:rPr lang="en-AU" sz="2100" dirty="0">
                <a:ea typeface="Times New Roman" panose="02020603050405020304" pitchFamily="18" charset="0"/>
                <a:cs typeface="Helvetica" panose="020B0604020202020204" pitchFamily="34" charset="0"/>
              </a:rPr>
              <a:t>Feedback could be provided to team </a:t>
            </a:r>
            <a:r>
              <a:rPr lang="en-AU" sz="2100" dirty="0" smtClean="0">
                <a:ea typeface="Times New Roman" panose="02020603050405020304" pitchFamily="18" charset="0"/>
                <a:cs typeface="Helvetica" panose="020B0604020202020204" pitchFamily="34" charset="0"/>
              </a:rPr>
              <a:t>members</a:t>
            </a:r>
            <a:r>
              <a:rPr lang="en-AU" sz="2100" dirty="0" smtClean="0">
                <a:cs typeface="Helvetica" panose="020B0604020202020204" pitchFamily="34" charset="0"/>
              </a:rPr>
              <a:t>:</a:t>
            </a:r>
            <a:endParaRPr lang="en-US" sz="2100" dirty="0" smtClean="0">
              <a:cs typeface="Helvetica" panose="020B0604020202020204" pitchFamily="34" charset="0"/>
            </a:endParaRPr>
          </a:p>
          <a:p>
            <a:pPr marR="0">
              <a:spcBef>
                <a:spcPts val="600"/>
              </a:spcBef>
              <a:spcAft>
                <a:spcPts val="1200"/>
              </a:spcAft>
              <a:tabLst>
                <a:tab pos="226695" algn="l"/>
              </a:tabLst>
            </a:pPr>
            <a:r>
              <a:rPr lang="en-US" sz="2100" dirty="0">
                <a:cs typeface="Helvetica" panose="020B0604020202020204" pitchFamily="34" charset="0"/>
              </a:rPr>
              <a:t>Individually</a:t>
            </a:r>
          </a:p>
          <a:p>
            <a:pPr marR="0">
              <a:spcBef>
                <a:spcPts val="600"/>
              </a:spcBef>
              <a:spcAft>
                <a:spcPts val="1200"/>
              </a:spcAft>
              <a:tabLst>
                <a:tab pos="226695" algn="l"/>
              </a:tabLst>
            </a:pPr>
            <a:r>
              <a:rPr lang="en-US" sz="2100" dirty="0">
                <a:cs typeface="Helvetica" panose="020B0604020202020204" pitchFamily="34" charset="0"/>
              </a:rPr>
              <a:t>Publically in staff newsletters or at staff/team meetings</a:t>
            </a:r>
          </a:p>
          <a:p>
            <a:pPr marR="0">
              <a:spcBef>
                <a:spcPts val="600"/>
              </a:spcBef>
              <a:spcAft>
                <a:spcPts val="1200"/>
              </a:spcAft>
              <a:tabLst>
                <a:tab pos="226695" algn="l"/>
              </a:tabLst>
            </a:pPr>
            <a:r>
              <a:rPr lang="en-US" sz="2100" dirty="0">
                <a:cs typeface="Helvetica" panose="020B0604020202020204" pitchFamily="34" charset="0"/>
              </a:rPr>
              <a:t>Regular recognition ceremonies or events</a:t>
            </a:r>
          </a:p>
          <a:p>
            <a:pPr marR="0">
              <a:spcBef>
                <a:spcPts val="600"/>
              </a:spcBef>
              <a:spcAft>
                <a:spcPts val="1200"/>
              </a:spcAft>
              <a:tabLst>
                <a:tab pos="226695" algn="l"/>
              </a:tabLst>
            </a:pPr>
            <a:r>
              <a:rPr lang="en-US" sz="2100" dirty="0">
                <a:cs typeface="Helvetica" panose="020B0604020202020204" pitchFamily="34" charset="0"/>
              </a:rPr>
              <a:t>Via email or notes</a:t>
            </a:r>
          </a:p>
          <a:p>
            <a:pPr marR="0">
              <a:spcBef>
                <a:spcPts val="600"/>
              </a:spcBef>
              <a:spcAft>
                <a:spcPts val="1200"/>
              </a:spcAft>
              <a:tabLst>
                <a:tab pos="226695" algn="l"/>
              </a:tabLst>
            </a:pPr>
            <a:r>
              <a:rPr lang="en-US" sz="2100" dirty="0">
                <a:cs typeface="Helvetica" panose="020B0604020202020204" pitchFamily="34" charset="0"/>
              </a:rPr>
              <a:t>Verbally or written</a:t>
            </a:r>
          </a:p>
          <a:p>
            <a:pPr marR="0">
              <a:spcBef>
                <a:spcPts val="600"/>
              </a:spcBef>
              <a:spcAft>
                <a:spcPts val="1200"/>
              </a:spcAft>
              <a:tabLst>
                <a:tab pos="226695" algn="l"/>
              </a:tabLst>
            </a:pPr>
            <a:r>
              <a:rPr lang="en-US" sz="2100" dirty="0">
                <a:cs typeface="Helvetica" panose="020B0604020202020204" pitchFamily="34" charset="0"/>
              </a:rPr>
              <a:t>As received or at designated and scheduled times</a:t>
            </a:r>
          </a:p>
          <a:p>
            <a:pPr marL="36576" lvl="0" indent="0">
              <a:spcBef>
                <a:spcPts val="600"/>
              </a:spcBef>
              <a:spcAft>
                <a:spcPts val="1200"/>
              </a:spcAft>
              <a:buNone/>
            </a:pPr>
            <a:endParaRPr lang="en-US" sz="2100" dirty="0">
              <a:cs typeface="Helvetica" panose="020B0604020202020204" pitchFamily="34" charset="0"/>
            </a:endParaRP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9" name="Picture 4" descr="C:\Users\danielc\AppData\Local\Microsoft\Windows\Temporary Internet Files\Content.IE5\GEFE52KZ\feedback-heads[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22399" y="2667000"/>
            <a:ext cx="2237724" cy="1676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17893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noAutofit/>
          </a:bodyPr>
          <a:lstStyle/>
          <a:p>
            <a:r>
              <a:rPr lang="en-US" sz="2800" b="1" dirty="0" smtClean="0">
                <a:solidFill>
                  <a:srgbClr val="FF6600"/>
                </a:solidFill>
              </a:rPr>
              <a:t>5.6	Encourage team members to contribute 	feedback in regard to achievement of 	service and performance targets</a:t>
            </a:r>
            <a:endParaRPr lang="en-US" sz="2800" dirty="0"/>
          </a:p>
        </p:txBody>
      </p:sp>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15362" name="Picture 2" descr="C:\Users\danielc\AppData\Local\Microsoft\Windows\Temporary Internet Files\Content.IE5\HILT0NIY\feedback-help-professional-development[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905000"/>
            <a:ext cx="5410200" cy="3609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43063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solidFill>
                  <a:srgbClr val="FF6600"/>
                </a:solidFill>
                <a:latin typeface="Helvetica" pitchFamily="34" charset="0"/>
              </a:rPr>
              <a:t>Encouraging a positive feedback experience</a:t>
            </a:r>
            <a:endParaRPr lang="en-US" sz="3200" dirty="0"/>
          </a:p>
        </p:txBody>
      </p:sp>
      <p:sp>
        <p:nvSpPr>
          <p:cNvPr id="3" name="Content Placeholder 2"/>
          <p:cNvSpPr>
            <a:spLocks noGrp="1"/>
          </p:cNvSpPr>
          <p:nvPr>
            <p:ph idx="1"/>
          </p:nvPr>
        </p:nvSpPr>
        <p:spPr>
          <a:xfrm>
            <a:off x="457200" y="1600200"/>
            <a:ext cx="3886200" cy="4525963"/>
          </a:xfrm>
        </p:spPr>
        <p:txBody>
          <a:bodyPr>
            <a:noAutofit/>
          </a:bodyPr>
          <a:lstStyle/>
          <a:p>
            <a:pPr marL="36576" indent="0">
              <a:spcBef>
                <a:spcPts val="600"/>
              </a:spcBef>
              <a:spcAft>
                <a:spcPts val="600"/>
              </a:spcAft>
              <a:buNone/>
            </a:pPr>
            <a:r>
              <a:rPr lang="en-AU" sz="2000" dirty="0" smtClean="0">
                <a:latin typeface="Helvetica" panose="020B0604020202020204" pitchFamily="34" charset="0"/>
                <a:cs typeface="Helvetica" panose="020B0604020202020204" pitchFamily="34" charset="0"/>
              </a:rPr>
              <a:t>There are many things to think about in providing effective and professional feedback. Some general rules could include:</a:t>
            </a:r>
            <a:endParaRPr lang="en-US" sz="2000" dirty="0" smtClean="0">
              <a:latin typeface="Helvetica" panose="020B0604020202020204" pitchFamily="34" charset="0"/>
              <a:cs typeface="Helvetica" panose="020B0604020202020204" pitchFamily="34" charset="0"/>
            </a:endParaRP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Make the experience positive and solutions focused</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Be timely, don’t wait too long after the event or situation to provide feedback</a:t>
            </a:r>
          </a:p>
          <a:p>
            <a:pPr lvl="0">
              <a:spcBef>
                <a:spcPts val="600"/>
              </a:spcBef>
              <a:spcAft>
                <a:spcPts val="600"/>
              </a:spcAft>
            </a:pPr>
            <a:r>
              <a:rPr lang="en-US" sz="2000" dirty="0" smtClean="0">
                <a:latin typeface="Helvetica" panose="020B0604020202020204" pitchFamily="34" charset="0"/>
                <a:cs typeface="Helvetica" panose="020B0604020202020204" pitchFamily="34" charset="0"/>
              </a:rPr>
              <a:t>Provide regular opportunities for team members to provide feedback</a:t>
            </a:r>
          </a:p>
        </p:txBody>
      </p:sp>
      <p:sp>
        <p:nvSpPr>
          <p:cNvPr id="5"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sp>
        <p:nvSpPr>
          <p:cNvPr id="6" name="Content Placeholder 2"/>
          <p:cNvSpPr txBox="1">
            <a:spLocks/>
          </p:cNvSpPr>
          <p:nvPr/>
        </p:nvSpPr>
        <p:spPr>
          <a:xfrm>
            <a:off x="4419600" y="1219200"/>
            <a:ext cx="4724400" cy="4525963"/>
          </a:xfrm>
          <a:prstGeom prst="rect">
            <a:avLst/>
          </a:prstGeom>
        </p:spPr>
        <p:txBody>
          <a:bodyPr vert="horz">
            <a:noAutofit/>
          </a:bodyPr>
          <a:lst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a:lstStyle>
          <a:p>
            <a:pPr lvl="0">
              <a:spcBef>
                <a:spcPts val="600"/>
              </a:spcBef>
              <a:spcAft>
                <a:spcPts val="600"/>
              </a:spcAft>
            </a:pPr>
            <a:r>
              <a:rPr lang="en-US" sz="2000" dirty="0">
                <a:cs typeface="Helvetica" panose="020B0604020202020204" pitchFamily="34" charset="0"/>
              </a:rPr>
              <a:t>Prepare what you intend to share. Think about it before you share feedback</a:t>
            </a:r>
          </a:p>
          <a:p>
            <a:pPr>
              <a:spcBef>
                <a:spcPts val="600"/>
              </a:spcBef>
              <a:spcAft>
                <a:spcPts val="600"/>
              </a:spcAft>
            </a:pPr>
            <a:r>
              <a:rPr lang="en-US" sz="2000" dirty="0" smtClean="0">
                <a:cs typeface="Helvetica" panose="020B0604020202020204" pitchFamily="34" charset="0"/>
              </a:rPr>
              <a:t>Be specific. Give examples and provide evidence of target achievement</a:t>
            </a:r>
          </a:p>
          <a:p>
            <a:pPr>
              <a:spcBef>
                <a:spcPts val="600"/>
              </a:spcBef>
              <a:spcAft>
                <a:spcPts val="600"/>
              </a:spcAft>
            </a:pPr>
            <a:r>
              <a:rPr lang="en-US" sz="2000" dirty="0" smtClean="0">
                <a:cs typeface="Helvetica" panose="020B0604020202020204" pitchFamily="34" charset="0"/>
              </a:rPr>
              <a:t>Limit the focus and don’t try to raise too much at once</a:t>
            </a:r>
          </a:p>
          <a:p>
            <a:pPr>
              <a:spcBef>
                <a:spcPts val="600"/>
              </a:spcBef>
              <a:spcAft>
                <a:spcPts val="600"/>
              </a:spcAft>
            </a:pPr>
            <a:r>
              <a:rPr lang="en-US" sz="2000" dirty="0" smtClean="0">
                <a:cs typeface="Helvetica" panose="020B0604020202020204" pitchFamily="34" charset="0"/>
              </a:rPr>
              <a:t>Be honest and professional</a:t>
            </a:r>
          </a:p>
          <a:p>
            <a:pPr>
              <a:spcBef>
                <a:spcPts val="600"/>
              </a:spcBef>
              <a:spcAft>
                <a:spcPts val="600"/>
              </a:spcAft>
            </a:pPr>
            <a:r>
              <a:rPr lang="en-US" sz="2000" dirty="0" smtClean="0">
                <a:cs typeface="Helvetica" panose="020B0604020202020204" pitchFamily="34" charset="0"/>
              </a:rPr>
              <a:t>Try to avoid strong emotions</a:t>
            </a:r>
          </a:p>
          <a:p>
            <a:pPr>
              <a:spcBef>
                <a:spcPts val="600"/>
              </a:spcBef>
              <a:spcAft>
                <a:spcPts val="600"/>
              </a:spcAft>
            </a:pPr>
            <a:r>
              <a:rPr lang="en-US" sz="2000" dirty="0" smtClean="0">
                <a:cs typeface="Helvetica" panose="020B0604020202020204" pitchFamily="34" charset="0"/>
              </a:rPr>
              <a:t>Listen</a:t>
            </a:r>
          </a:p>
        </p:txBody>
      </p:sp>
      <p:pic>
        <p:nvPicPr>
          <p:cNvPr id="16386" name="Picture 2" descr="C:\Users\danielc\AppData\Local\Microsoft\Windows\Temporary Internet Files\Content.IE5\GEFE52KZ\feedback[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5593976"/>
            <a:ext cx="1905000" cy="12640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694529"/>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001000" cy="1143000"/>
          </a:xfrm>
        </p:spPr>
        <p:txBody>
          <a:bodyPr>
            <a:noAutofit/>
          </a:bodyPr>
          <a:lstStyle/>
          <a:p>
            <a:r>
              <a:rPr lang="en-US" sz="2800" b="1" dirty="0" smtClean="0">
                <a:solidFill>
                  <a:srgbClr val="FF6600"/>
                </a:solidFill>
              </a:rPr>
              <a:t>5.7	Handle routine problems using 	appropriate problem-solving techniques</a:t>
            </a:r>
            <a:endParaRPr lang="en-US" sz="2800" dirty="0"/>
          </a:p>
        </p:txBody>
      </p:sp>
      <p:sp>
        <p:nvSpPr>
          <p:cNvPr id="3" name="Content Placeholder 2"/>
          <p:cNvSpPr>
            <a:spLocks noGrp="1"/>
          </p:cNvSpPr>
          <p:nvPr>
            <p:ph idx="1"/>
          </p:nvPr>
        </p:nvSpPr>
        <p:spPr/>
        <p:txBody>
          <a:bodyPr>
            <a:noAutofit/>
          </a:bodyPr>
          <a:lstStyle/>
          <a:p>
            <a:pPr marL="36576" indent="0">
              <a:spcBef>
                <a:spcPts val="600"/>
              </a:spcBef>
              <a:spcAft>
                <a:spcPts val="600"/>
              </a:spcAft>
              <a:buNone/>
            </a:pPr>
            <a:r>
              <a:rPr lang="en-AU" sz="2200" dirty="0" smtClean="0">
                <a:latin typeface="Helvetica"/>
              </a:rPr>
              <a:t>In dealing with routine problems it is possible to follow a procedure including:</a:t>
            </a:r>
            <a:endParaRPr lang="en-US" sz="2200" dirty="0" smtClean="0">
              <a:latin typeface="Helvetica"/>
              <a:cs typeface="Helvetica" panose="020B0604020202020204" pitchFamily="34" charset="0"/>
            </a:endParaRPr>
          </a:p>
          <a:p>
            <a:pPr>
              <a:spcBef>
                <a:spcPts val="600"/>
              </a:spcBef>
              <a:spcAft>
                <a:spcPts val="600"/>
              </a:spcAft>
            </a:pPr>
            <a:r>
              <a:rPr lang="en-US" sz="2200" dirty="0" smtClean="0">
                <a:latin typeface="Helvetica"/>
              </a:rPr>
              <a:t>Identification of the problem</a:t>
            </a:r>
          </a:p>
          <a:p>
            <a:pPr>
              <a:spcBef>
                <a:spcPts val="600"/>
              </a:spcBef>
              <a:spcAft>
                <a:spcPts val="600"/>
              </a:spcAft>
            </a:pPr>
            <a:r>
              <a:rPr lang="en-US" sz="2200" dirty="0" smtClean="0">
                <a:latin typeface="Helvetica"/>
              </a:rPr>
              <a:t>Listening carefully and trying to understand</a:t>
            </a:r>
            <a:r>
              <a:rPr lang="en-US" sz="2200" dirty="0">
                <a:latin typeface="Helvetica"/>
              </a:rPr>
              <a:t> </a:t>
            </a:r>
            <a:r>
              <a:rPr lang="en-US" sz="2200" dirty="0" smtClean="0">
                <a:latin typeface="Helvetica"/>
              </a:rPr>
              <a:t/>
            </a:r>
            <a:br>
              <a:rPr lang="en-US" sz="2200" dirty="0" smtClean="0">
                <a:latin typeface="Helvetica"/>
              </a:rPr>
            </a:br>
            <a:r>
              <a:rPr lang="en-US" sz="2200" dirty="0" smtClean="0">
                <a:latin typeface="Helvetica"/>
              </a:rPr>
              <a:t>the true nature of the issue</a:t>
            </a:r>
          </a:p>
          <a:p>
            <a:pPr>
              <a:spcBef>
                <a:spcPts val="600"/>
              </a:spcBef>
              <a:spcAft>
                <a:spcPts val="600"/>
              </a:spcAft>
            </a:pPr>
            <a:r>
              <a:rPr lang="en-US" sz="2200" dirty="0" smtClean="0">
                <a:latin typeface="Helvetica"/>
              </a:rPr>
              <a:t>Considering options for resolving the issue</a:t>
            </a:r>
          </a:p>
          <a:p>
            <a:pPr>
              <a:spcBef>
                <a:spcPts val="600"/>
              </a:spcBef>
              <a:spcAft>
                <a:spcPts val="600"/>
              </a:spcAft>
            </a:pPr>
            <a:r>
              <a:rPr lang="en-US" sz="2200" dirty="0" smtClean="0">
                <a:latin typeface="Helvetica"/>
              </a:rPr>
              <a:t>Making a decision</a:t>
            </a:r>
          </a:p>
          <a:p>
            <a:pPr>
              <a:spcBef>
                <a:spcPts val="600"/>
              </a:spcBef>
              <a:spcAft>
                <a:spcPts val="600"/>
              </a:spcAft>
            </a:pPr>
            <a:r>
              <a:rPr lang="en-US" sz="2200" dirty="0" smtClean="0">
                <a:latin typeface="Helvetica"/>
              </a:rPr>
              <a:t>Reviewing the decision</a:t>
            </a:r>
          </a:p>
          <a:p>
            <a:pPr>
              <a:spcBef>
                <a:spcPts val="600"/>
              </a:spcBef>
              <a:spcAft>
                <a:spcPts val="600"/>
              </a:spcAft>
            </a:pPr>
            <a:r>
              <a:rPr lang="en-US" sz="2200" dirty="0" smtClean="0">
                <a:latin typeface="Helvetica"/>
              </a:rPr>
              <a:t>Reporting the problem and resolution to management if required</a:t>
            </a:r>
            <a:br>
              <a:rPr lang="en-US" sz="2200" dirty="0" smtClean="0">
                <a:latin typeface="Helvetica"/>
              </a:rPr>
            </a:br>
            <a:r>
              <a:rPr lang="en-US" sz="2200" dirty="0" smtClean="0">
                <a:latin typeface="Helvetica"/>
              </a:rPr>
              <a:t/>
            </a:r>
            <a:br>
              <a:rPr lang="en-US" sz="2200" dirty="0" smtClean="0">
                <a:latin typeface="Helvetica"/>
              </a:rPr>
            </a:br>
            <a:endParaRPr lang="en-US" sz="2200" dirty="0" smtClean="0">
              <a:latin typeface="Helvetica"/>
            </a:endParaRPr>
          </a:p>
          <a:p>
            <a:pPr lvl="0">
              <a:spcBef>
                <a:spcPts val="600"/>
              </a:spcBef>
              <a:spcAft>
                <a:spcPts val="600"/>
              </a:spcAft>
            </a:pPr>
            <a:endParaRPr lang="en-US" sz="2200" dirty="0">
              <a:latin typeface="Helvetica"/>
              <a:cs typeface="Helvetica" panose="020B0604020202020204" pitchFamily="34" charset="0"/>
            </a:endParaRPr>
          </a:p>
        </p:txBody>
      </p:sp>
      <p:pic>
        <p:nvPicPr>
          <p:cNvPr id="6" name="Picture 5" descr="C:\Users\Quentin\AppData\Local\Microsoft\Windows\Temporary Internet Files\Content.IE5\KCJ5LBGJ\listen[1].png"/>
          <p:cNvPicPr/>
          <p:nvPr/>
        </p:nvPicPr>
        <p:blipFill rotWithShape="1">
          <a:blip r:embed="rId3" cstate="print"/>
          <a:srcRect l="7731" t="7987" r="6332" b="6357"/>
          <a:stretch/>
        </p:blipFill>
        <p:spPr bwMode="auto">
          <a:xfrm>
            <a:off x="6638306" y="3111335"/>
            <a:ext cx="1793175" cy="1496291"/>
          </a:xfrm>
          <a:prstGeom prst="rect">
            <a:avLst/>
          </a:prstGeom>
          <a:noFill/>
          <a:ln w="9525">
            <a:noFill/>
            <a:miter lim="800000"/>
            <a:headEnd/>
            <a:tailEnd/>
          </a:ln>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spTree>
    <p:extLst>
      <p:ext uri="{BB962C8B-B14F-4D97-AF65-F5344CB8AC3E}">
        <p14:creationId xmlns:p14="http://schemas.microsoft.com/office/powerpoint/2010/main" val="3336302295"/>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900" b="1" dirty="0" smtClean="0">
                <a:solidFill>
                  <a:srgbClr val="FF6600"/>
                </a:solidFill>
                <a:latin typeface="Helvetica" pitchFamily="34" charset="0"/>
              </a:rPr>
              <a:t>Problem-solving process</a:t>
            </a:r>
            <a:endParaRPr lang="en-US" dirty="0"/>
          </a:p>
        </p:txBody>
      </p:sp>
      <p:pic>
        <p:nvPicPr>
          <p:cNvPr id="5" name="Content Placeholder 4" descr="problem-solving.jpg"/>
          <p:cNvPicPr>
            <a:picLocks noGrp="1" noChangeAspect="1"/>
          </p:cNvPicPr>
          <p:nvPr>
            <p:ph idx="1"/>
          </p:nvPr>
        </p:nvPicPr>
        <p:blipFill>
          <a:blip r:embed="rId3" cstate="print"/>
          <a:stretch>
            <a:fillRect/>
          </a:stretch>
        </p:blipFill>
        <p:spPr>
          <a:xfrm>
            <a:off x="1524000" y="1371600"/>
            <a:ext cx="4717915" cy="4572000"/>
          </a:xfrm>
        </p:spPr>
      </p:pic>
      <p:sp>
        <p:nvSpPr>
          <p:cNvPr id="6" name="Slide Number Placeholder 3"/>
          <p:cNvSpPr>
            <a:spLocks noGrp="1"/>
          </p:cNvSpPr>
          <p:nvPr>
            <p:ph type="sldNum" sz="quarter" idx="12"/>
          </p:nvPr>
        </p:nvSpPr>
        <p:spPr>
          <a:xfrm>
            <a:off x="8153400" y="6422064"/>
            <a:ext cx="762000" cy="365125"/>
          </a:xfrm>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spTree>
    <p:extLst>
      <p:ext uri="{BB962C8B-B14F-4D97-AF65-F5344CB8AC3E}">
        <p14:creationId xmlns:p14="http://schemas.microsoft.com/office/powerpoint/2010/main" val="2164983245"/>
      </p:ext>
    </p:extLst>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1666</TotalTime>
  <Words>9648</Words>
  <Application>Microsoft Office PowerPoint</Application>
  <PresentationFormat>On-screen Show (4:3)</PresentationFormat>
  <Paragraphs>970</Paragraphs>
  <Slides>81</Slides>
  <Notes>81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81</vt:i4>
      </vt:variant>
    </vt:vector>
  </HeadingPairs>
  <TitlesOfParts>
    <vt:vector size="83" baseType="lpstr">
      <vt:lpstr>PPT_Tour_operation_&amp;_travel_agencies_template_130214</vt:lpstr>
      <vt:lpstr>Document</vt:lpstr>
      <vt:lpstr>BUILD AND MAINTAIN A TEAM APPROACH TO SERVICE DELIVERY</vt:lpstr>
      <vt:lpstr>Unit outline</vt:lpstr>
      <vt:lpstr>Element 1: Develop service standards</vt:lpstr>
      <vt:lpstr>1.1  Identify the internal and external  factors impacting on the level of  customer service to be provided </vt:lpstr>
      <vt:lpstr>Internal and external factors</vt:lpstr>
      <vt:lpstr>The product service continuum</vt:lpstr>
      <vt:lpstr>Internal and external factors affecting customer service delivery</vt:lpstr>
      <vt:lpstr>1.2 Research customer expectations and  opinions regarding current level, and  expected level of service delivery </vt:lpstr>
      <vt:lpstr>Customer definition</vt:lpstr>
      <vt:lpstr>Customer buying cycle</vt:lpstr>
      <vt:lpstr>Moments of truth (MOT)</vt:lpstr>
      <vt:lpstr>Customer journey mapping</vt:lpstr>
      <vt:lpstr>Observation checklist</vt:lpstr>
      <vt:lpstr>Customer journey mapping</vt:lpstr>
      <vt:lpstr>Service Blueprint</vt:lpstr>
      <vt:lpstr>1.3 Integrate research findings into  draft service standards</vt:lpstr>
      <vt:lpstr>SMART guidelines</vt:lpstr>
      <vt:lpstr>SMART guidelines</vt:lpstr>
      <vt:lpstr>Discussion questions</vt:lpstr>
      <vt:lpstr>1.4 Liaise with management to  ratify service standards</vt:lpstr>
      <vt:lpstr>Discussions with management</vt:lpstr>
      <vt:lpstr>Discussions with management</vt:lpstr>
      <vt:lpstr>1.5 Produce written service  standards for team use</vt:lpstr>
      <vt:lpstr>Producing written service standards</vt:lpstr>
      <vt:lpstr>Summary</vt:lpstr>
      <vt:lpstr>Element 2: Establish service teams </vt:lpstr>
      <vt:lpstr>2.1  Nominate the service teams that are  required to support required levels of  service delivery </vt:lpstr>
      <vt:lpstr>Creating service teams</vt:lpstr>
      <vt:lpstr>2.2  Identify membership of the nominated  service delivery teams and oversee  the establishment of teams</vt:lpstr>
      <vt:lpstr>Developing effective teams</vt:lpstr>
      <vt:lpstr>Team membership</vt:lpstr>
      <vt:lpstr>2.3 Communicate established service standards to team members</vt:lpstr>
      <vt:lpstr>Communicating service standards</vt:lpstr>
      <vt:lpstr>2.4 Train staff in service delivery  standards</vt:lpstr>
      <vt:lpstr>Element 3: Work to improve service</vt:lpstr>
      <vt:lpstr>3.1 Monitor team performance in  terms of service delivery</vt:lpstr>
      <vt:lpstr>Monitoring checklist</vt:lpstr>
      <vt:lpstr>Assessing competence </vt:lpstr>
      <vt:lpstr>3.2 Review policies, procedures and  standards relating to service  delivery</vt:lpstr>
      <vt:lpstr>Review process</vt:lpstr>
      <vt:lpstr>Review process</vt:lpstr>
      <vt:lpstr>3.3 Allocate resources to enable the  provision of identified service  delivery standards</vt:lpstr>
      <vt:lpstr>Resources for service delivery</vt:lpstr>
      <vt:lpstr>Resources for service delivery</vt:lpstr>
      <vt:lpstr>3.4 Assist team members to resolve  customer complaints regarding the  provision of service delivery </vt:lpstr>
      <vt:lpstr>Assisting team members to deal with complaints</vt:lpstr>
      <vt:lpstr>3.5 Support team members to rectify  instances of deficient service delivery </vt:lpstr>
      <vt:lpstr>Implementing required standards</vt:lpstr>
      <vt:lpstr>3.6 Monitor the extent to which service  delivery standards are achieved</vt:lpstr>
      <vt:lpstr>3.7 Take action to address failure to meet  service delivery targets</vt:lpstr>
      <vt:lpstr>Addressing service delivery failures</vt:lpstr>
      <vt:lpstr>Addressing service delivery failures</vt:lpstr>
      <vt:lpstr>3.8 Maintain records relating to service  delivery</vt:lpstr>
      <vt:lpstr>Service delivery record examples</vt:lpstr>
      <vt:lpstr>Summary</vt:lpstr>
      <vt:lpstr>Element 4: Liaise with management regarding service delivery </vt:lpstr>
      <vt:lpstr>4.1 Discuss suggestions for  improvements to service delivery with  management </vt:lpstr>
      <vt:lpstr>Meeting with management</vt:lpstr>
      <vt:lpstr>Meeting with management</vt:lpstr>
      <vt:lpstr>4.2 Discuss significant instances of  failure to deliver identified service  delivery standards with management</vt:lpstr>
      <vt:lpstr>Discussing issues with management</vt:lpstr>
      <vt:lpstr>4.3 Provide operational information  regarding service delivery to management</vt:lpstr>
      <vt:lpstr>Provide management with operational information</vt:lpstr>
      <vt:lpstr>4.4 Participate in developing service delivery  teams and standards for emerging and new  business activities and markets</vt:lpstr>
      <vt:lpstr>Developing teams and standards for new initiatives</vt:lpstr>
      <vt:lpstr>Developing teams and standards for new initiatives</vt:lpstr>
      <vt:lpstr>Summary</vt:lpstr>
      <vt:lpstr>Element 5: Lead service team delivery</vt:lpstr>
      <vt:lpstr>5.1 Interpret stated service delivery  standards for team members</vt:lpstr>
      <vt:lpstr>5.2 Encourage team members to take  advantage of opportunities to  enhance service delivery</vt:lpstr>
      <vt:lpstr>Opportunities to enhance service delivery</vt:lpstr>
      <vt:lpstr>5.3 Allocate service delivery tasks to  team members</vt:lpstr>
      <vt:lpstr>5.4 Advise team members of changes to  service delivery standards and/or targets</vt:lpstr>
      <vt:lpstr>Communicating changes to staff members</vt:lpstr>
      <vt:lpstr>5.5 Provide feedback to team members  regarding the provision of service  delivery</vt:lpstr>
      <vt:lpstr>Feedback examples</vt:lpstr>
      <vt:lpstr>Forms of feedback</vt:lpstr>
      <vt:lpstr>5.6 Encourage team members to contribute  feedback in regard to achievement of  service and performance targets</vt:lpstr>
      <vt:lpstr>Encouraging a positive feedback experience</vt:lpstr>
      <vt:lpstr>5.7 Handle routine problems using  appropriate problem-solving techniques</vt:lpstr>
      <vt:lpstr>Problem-solving process</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AND MAINTAIN A TEAM APPROACH TO SERVICE DELIVERY</dc:title>
  <dc:creator>Presentation</dc:creator>
  <cp:lastModifiedBy>Daniel James Chee</cp:lastModifiedBy>
  <cp:revision>88</cp:revision>
  <dcterms:created xsi:type="dcterms:W3CDTF">2014-06-25T01:40:18Z</dcterms:created>
  <dcterms:modified xsi:type="dcterms:W3CDTF">2015-01-27T03:08:15Z</dcterms:modified>
</cp:coreProperties>
</file>