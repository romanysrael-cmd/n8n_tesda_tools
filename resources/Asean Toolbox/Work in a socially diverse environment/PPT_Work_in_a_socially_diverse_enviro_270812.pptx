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67.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Override PartName="/ppt/notesSlides/notesSlide68.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5"/>
  </p:notesMasterIdLst>
  <p:handoutMasterIdLst>
    <p:handoutMasterId r:id="rId76"/>
  </p:handoutMasterIdLst>
  <p:sldIdLst>
    <p:sldId id="256" r:id="rId2"/>
    <p:sldId id="257" r:id="rId3"/>
    <p:sldId id="296" r:id="rId4"/>
    <p:sldId id="366" r:id="rId5"/>
    <p:sldId id="297" r:id="rId6"/>
    <p:sldId id="298" r:id="rId7"/>
    <p:sldId id="367" r:id="rId8"/>
    <p:sldId id="368" r:id="rId9"/>
    <p:sldId id="369" r:id="rId10"/>
    <p:sldId id="370" r:id="rId11"/>
    <p:sldId id="371" r:id="rId12"/>
    <p:sldId id="372" r:id="rId13"/>
    <p:sldId id="373" r:id="rId14"/>
    <p:sldId id="374" r:id="rId15"/>
    <p:sldId id="375" r:id="rId16"/>
    <p:sldId id="376" r:id="rId17"/>
    <p:sldId id="377" r:id="rId18"/>
    <p:sldId id="378" r:id="rId19"/>
    <p:sldId id="379" r:id="rId20"/>
    <p:sldId id="380" r:id="rId21"/>
    <p:sldId id="381" r:id="rId22"/>
    <p:sldId id="382" r:id="rId23"/>
    <p:sldId id="383" r:id="rId24"/>
    <p:sldId id="384" r:id="rId25"/>
    <p:sldId id="385" r:id="rId26"/>
    <p:sldId id="386" r:id="rId27"/>
    <p:sldId id="387" r:id="rId28"/>
    <p:sldId id="388" r:id="rId29"/>
    <p:sldId id="389" r:id="rId30"/>
    <p:sldId id="390" r:id="rId31"/>
    <p:sldId id="391" r:id="rId32"/>
    <p:sldId id="392" r:id="rId33"/>
    <p:sldId id="393" r:id="rId34"/>
    <p:sldId id="396" r:id="rId35"/>
    <p:sldId id="397" r:id="rId36"/>
    <p:sldId id="394" r:id="rId37"/>
    <p:sldId id="395" r:id="rId38"/>
    <p:sldId id="398" r:id="rId39"/>
    <p:sldId id="399" r:id="rId40"/>
    <p:sldId id="400" r:id="rId41"/>
    <p:sldId id="401" r:id="rId42"/>
    <p:sldId id="402" r:id="rId43"/>
    <p:sldId id="403" r:id="rId44"/>
    <p:sldId id="404" r:id="rId45"/>
    <p:sldId id="405" r:id="rId46"/>
    <p:sldId id="406" r:id="rId47"/>
    <p:sldId id="407" r:id="rId48"/>
    <p:sldId id="408" r:id="rId49"/>
    <p:sldId id="409" r:id="rId50"/>
    <p:sldId id="410" r:id="rId51"/>
    <p:sldId id="411" r:id="rId52"/>
    <p:sldId id="412" r:id="rId53"/>
    <p:sldId id="413" r:id="rId54"/>
    <p:sldId id="414" r:id="rId55"/>
    <p:sldId id="415" r:id="rId56"/>
    <p:sldId id="416" r:id="rId57"/>
    <p:sldId id="417" r:id="rId58"/>
    <p:sldId id="418" r:id="rId59"/>
    <p:sldId id="420" r:id="rId60"/>
    <p:sldId id="419" r:id="rId61"/>
    <p:sldId id="421" r:id="rId62"/>
    <p:sldId id="422" r:id="rId63"/>
    <p:sldId id="423" r:id="rId64"/>
    <p:sldId id="424" r:id="rId65"/>
    <p:sldId id="425" r:id="rId66"/>
    <p:sldId id="426" r:id="rId67"/>
    <p:sldId id="428" r:id="rId68"/>
    <p:sldId id="429" r:id="rId69"/>
    <p:sldId id="430" r:id="rId70"/>
    <p:sldId id="431" r:id="rId71"/>
    <p:sldId id="432" r:id="rId72"/>
    <p:sldId id="433" r:id="rId73"/>
    <p:sldId id="434" r:id="rId7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80" autoAdjust="0"/>
    <p:restoredTop sz="45680" autoAdjust="0"/>
  </p:normalViewPr>
  <p:slideViewPr>
    <p:cSldViewPr>
      <p:cViewPr varScale="1">
        <p:scale>
          <a:sx n="45" d="100"/>
          <a:sy n="45" d="100"/>
        </p:scale>
        <p:origin x="-314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8/28/2012</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8/28/2012</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two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communication?</a:t>
            </a:r>
          </a:p>
          <a:p>
            <a:pPr>
              <a:buFont typeface="Arial" pitchFamily="34" charset="0"/>
              <a:buChar char="•"/>
            </a:pPr>
            <a:r>
              <a:rPr lang="en-AU" sz="1200" kern="1200" baseline="0" dirty="0" smtClean="0">
                <a:solidFill>
                  <a:schemeClr val="tx1"/>
                </a:solidFill>
                <a:latin typeface="+mn-lt"/>
                <a:ea typeface="+mn-ea"/>
                <a:cs typeface="+mn-cs"/>
              </a:rPr>
              <a:t>Why is communication important?</a:t>
            </a:r>
          </a:p>
          <a:p>
            <a:pPr>
              <a:buFont typeface="Arial" pitchFamily="34" charset="0"/>
              <a:buChar char="•"/>
            </a:pPr>
            <a:r>
              <a:rPr lang="en-AU" sz="1200" kern="1200" baseline="0" dirty="0" smtClean="0">
                <a:solidFill>
                  <a:schemeClr val="tx1"/>
                </a:solidFill>
                <a:latin typeface="+mn-lt"/>
                <a:ea typeface="+mn-ea"/>
                <a:cs typeface="+mn-cs"/>
              </a:rPr>
              <a:t>What information do you communicate with customers – both internal and external?</a:t>
            </a:r>
          </a:p>
          <a:p>
            <a:pPr>
              <a:buFont typeface="Arial" pitchFamily="34" charset="0"/>
              <a:buChar char="•"/>
            </a:pPr>
            <a:r>
              <a:rPr lang="en-AU" sz="1200" kern="1200" baseline="0" dirty="0" smtClean="0">
                <a:solidFill>
                  <a:schemeClr val="tx1"/>
                </a:solidFill>
                <a:latin typeface="+mn-lt"/>
                <a:ea typeface="+mn-ea"/>
                <a:cs typeface="+mn-cs"/>
              </a:rPr>
              <a:t>What challenges exist when communicating with people from diverse backgrounds?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General Discussion</a:t>
            </a:r>
          </a:p>
          <a:p>
            <a:endParaRPr lang="en-AU" sz="1200" b="1"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leads a general class discussion how diverse a hospitality environment is</a:t>
            </a:r>
          </a:p>
          <a:p>
            <a:pPr>
              <a:buFont typeface="Arial" pitchFamily="34" charset="0"/>
              <a:buChar char="•"/>
            </a:pPr>
            <a:r>
              <a:rPr lang="en-AU" sz="1200" kern="1200" baseline="0" dirty="0" smtClean="0">
                <a:solidFill>
                  <a:schemeClr val="tx1"/>
                </a:solidFill>
                <a:latin typeface="+mn-lt"/>
                <a:ea typeface="+mn-ea"/>
                <a:cs typeface="+mn-cs"/>
              </a:rPr>
              <a:t>Staff - What diversity exists in your business in regards to staff? What countries do they come from? What different cultures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Customers - What diversity exists in your business in regards to customers? What countries do they come from? What different cultures exist? What languages do they speak?</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dirty="0" smtClean="0"/>
              <a:t>The way they live – including where and how they live </a:t>
            </a:r>
          </a:p>
          <a:p>
            <a:pPr lvl="0"/>
            <a:r>
              <a:rPr lang="en-AU" sz="1200" dirty="0" smtClean="0"/>
              <a:t>Values and principles – the importance placed on people, actions and things, and personal guidelines for living life</a:t>
            </a:r>
          </a:p>
          <a:p>
            <a:pPr lvl="0"/>
            <a:r>
              <a:rPr lang="en-AU" sz="1200" dirty="0" smtClean="0"/>
              <a:t>Educational background – how far they got through schooling, and whether or not they did any further education</a:t>
            </a:r>
          </a:p>
          <a:p>
            <a:pPr lvl="0"/>
            <a:r>
              <a:rPr lang="en-AU" sz="1200" dirty="0" smtClean="0"/>
              <a:t>Sporting interests – whether they play sport, or whether they are even interested in sport:  and which sport</a:t>
            </a:r>
          </a:p>
          <a:p>
            <a:endParaRPr lang="en-AU" sz="1200" b="1" kern="1200" baseline="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Class Activity – General Discussion &amp; Exercise (incorporates this and next slide)</a:t>
            </a:r>
          </a:p>
          <a:p>
            <a:endParaRPr lang="en-AU" sz="1200" b="1"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the diversity of the audience in relation to these points. Write the answers down on the board.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You will find a great amount of diversity just amongst this group. Imagine the expanse of diversity given all the staff and customers in a typical hospitality business.</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Given the list you have developed, what can a hospitality business do to help cater to these cultural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dirty="0" smtClean="0"/>
              <a:t>Food and beverage tastes – do they drink alcohol or prefer juice, do they eat red meat or are they vegetarian?</a:t>
            </a:r>
          </a:p>
          <a:p>
            <a:pPr lvl="0"/>
            <a:r>
              <a:rPr lang="en-AU" sz="1200" dirty="0" smtClean="0"/>
              <a:t>Lifestyle background – what car do they drive, where have they worked?</a:t>
            </a:r>
          </a:p>
          <a:p>
            <a:pPr lvl="0"/>
            <a:r>
              <a:rPr lang="en-AU" sz="1200" dirty="0" smtClean="0"/>
              <a:t>Place of birth – which country where they born in?</a:t>
            </a:r>
          </a:p>
          <a:p>
            <a:pPr lvl="0"/>
            <a:r>
              <a:rPr lang="en-AU" sz="1200" dirty="0" smtClean="0"/>
              <a:t>Styles of communication – what is their preferred communication medium and method?</a:t>
            </a:r>
          </a:p>
          <a:p>
            <a:pPr lvl="0"/>
            <a:r>
              <a:rPr lang="en-AU" sz="1200" dirty="0" smtClean="0"/>
              <a:t>Religious beliefs – who or what do they believe in?</a:t>
            </a:r>
          </a:p>
          <a:p>
            <a:pPr lvl="0"/>
            <a:r>
              <a:rPr lang="en-AU" sz="1200" dirty="0" smtClean="0"/>
              <a:t>What is their preferred language?</a:t>
            </a:r>
          </a:p>
          <a:p>
            <a:endParaRPr lang="en-AU" sz="1200" b="1"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Class Activity – General Discussion &amp; Exercise (incorporates this and past slide)</a:t>
            </a:r>
          </a:p>
          <a:p>
            <a:endParaRPr lang="en-AU" sz="1200" b="1"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the diversity of the audience in relation to these points. Write the answers down on the board.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You will find a great amount of diversity just amongst this group. Imagine the expanse of diversity given all the staff and customers in a typical hospitality business.</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Given the list you have developed, what can a hospitality business do to help cater to these cultural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General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Answer question in slide</a:t>
            </a:r>
          </a:p>
          <a:p>
            <a:pPr>
              <a:buFont typeface="Arial" pitchFamily="34" charset="0"/>
              <a:buChar char="•"/>
            </a:pPr>
            <a:r>
              <a:rPr lang="en-AU" sz="1200" kern="1200" baseline="0" dirty="0" smtClean="0">
                <a:solidFill>
                  <a:schemeClr val="tx1"/>
                </a:solidFill>
                <a:latin typeface="+mn-lt"/>
                <a:ea typeface="+mn-ea"/>
                <a:cs typeface="+mn-cs"/>
              </a:rPr>
              <a:t>Is there a different approach you need to take when dealing with customers as opposed to colleagues?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General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do you show you value colleagues?</a:t>
            </a:r>
          </a:p>
          <a:p>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General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do you show you value customers?</a:t>
            </a:r>
          </a:p>
          <a:p>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General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is respect?</a:t>
            </a:r>
          </a:p>
          <a:p>
            <a:pPr>
              <a:buFont typeface="Arial" pitchFamily="34" charset="0"/>
              <a:buChar char="•"/>
            </a:pPr>
            <a:r>
              <a:rPr lang="en-AU" sz="1200" kern="1200" baseline="0" dirty="0" smtClean="0">
                <a:solidFill>
                  <a:schemeClr val="tx1"/>
                </a:solidFill>
                <a:latin typeface="+mn-lt"/>
                <a:ea typeface="+mn-ea"/>
                <a:cs typeface="+mn-cs"/>
              </a:rPr>
              <a:t>How can you get the respect of others?</a:t>
            </a:r>
          </a:p>
          <a:p>
            <a:pPr>
              <a:buFont typeface="Arial" pitchFamily="34" charset="0"/>
              <a:buChar char="•"/>
            </a:pPr>
            <a:r>
              <a:rPr lang="en-AU" sz="1200" kern="1200" baseline="0" dirty="0" smtClean="0">
                <a:solidFill>
                  <a:schemeClr val="tx1"/>
                </a:solidFill>
                <a:latin typeface="+mn-lt"/>
                <a:ea typeface="+mn-ea"/>
                <a:cs typeface="+mn-cs"/>
              </a:rPr>
              <a:t>How do you show respect to someone else?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General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is sensitivity?</a:t>
            </a:r>
          </a:p>
          <a:p>
            <a:pPr>
              <a:buFont typeface="Arial" pitchFamily="34" charset="0"/>
              <a:buChar char="•"/>
            </a:pPr>
            <a:r>
              <a:rPr lang="en-AU" sz="1200" kern="1200" baseline="0" dirty="0" smtClean="0">
                <a:solidFill>
                  <a:schemeClr val="tx1"/>
                </a:solidFill>
                <a:latin typeface="+mn-lt"/>
                <a:ea typeface="+mn-ea"/>
                <a:cs typeface="+mn-cs"/>
              </a:rPr>
              <a:t>How do you show sensitivity to someone else?</a:t>
            </a:r>
          </a:p>
          <a:p>
            <a:pPr>
              <a:buFont typeface="Arial" pitchFamily="34" charset="0"/>
              <a:buChar char="•"/>
            </a:pPr>
            <a:r>
              <a:rPr lang="en-AU" sz="1200" kern="1200" baseline="0" dirty="0" smtClean="0">
                <a:solidFill>
                  <a:schemeClr val="tx1"/>
                </a:solidFill>
                <a:latin typeface="+mn-lt"/>
                <a:ea typeface="+mn-ea"/>
                <a:cs typeface="+mn-cs"/>
              </a:rPr>
              <a:t>What is harder to do – show respect or sensitivity?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General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Provide examples of where you have considered someone else and accommodated there need.</a:t>
            </a:r>
          </a:p>
          <a:p>
            <a:endParaRPr lang="en-AU" sz="1200" b="1" kern="1200" baseline="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List and discuss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different countries located within the geographical areas listed in this slide</a:t>
            </a:r>
          </a:p>
          <a:p>
            <a:pPr>
              <a:buFont typeface="Arial" pitchFamily="34" charset="0"/>
              <a:buChar char="•"/>
            </a:pPr>
            <a:r>
              <a:rPr lang="en-AU" sz="1200" kern="1200" baseline="0" dirty="0" smtClean="0">
                <a:solidFill>
                  <a:schemeClr val="tx1"/>
                </a:solidFill>
                <a:latin typeface="+mn-lt"/>
                <a:ea typeface="+mn-ea"/>
                <a:cs typeface="+mn-cs"/>
              </a:rPr>
              <a:t>For each country identify some cultural characteristics and needs.</a:t>
            </a:r>
          </a:p>
          <a:p>
            <a:pPr>
              <a:buFont typeface="Arial" pitchFamily="34" charset="0"/>
              <a:buChar char="•"/>
            </a:pPr>
            <a:r>
              <a:rPr lang="en-AU" sz="1200" kern="1200" baseline="0" dirty="0" smtClean="0">
                <a:solidFill>
                  <a:schemeClr val="tx1"/>
                </a:solidFill>
                <a:latin typeface="+mn-lt"/>
                <a:ea typeface="+mn-ea"/>
                <a:cs typeface="+mn-cs"/>
              </a:rPr>
              <a:t>Identify how a hospitality business can cater to these needs.</a:t>
            </a:r>
          </a:p>
          <a:p>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different countries are staff in your organisation from?</a:t>
            </a:r>
          </a:p>
          <a:p>
            <a:pPr>
              <a:buFont typeface="Arial" pitchFamily="34" charset="0"/>
              <a:buNone/>
            </a:pPr>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Class Activity – General Discussion &amp; Exercise (incorporates this and past slide)</a:t>
            </a:r>
          </a:p>
          <a:p>
            <a:endParaRPr lang="en-AU" sz="1200" b="1"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the diversity of the audience in relation to these points. Write the answers down on the board.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You will find a great amount of diversity just amongst this group. Imagine the expanse of diversity given all the staff and customers in a typical hospitality business.</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Given the list you have developed, what can a hospitality business do to help cater to these cultural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different countries are customers coming to an organisation in your region from?</a:t>
            </a:r>
          </a:p>
          <a:p>
            <a:pPr>
              <a:buFont typeface="Arial" pitchFamily="34" charset="0"/>
              <a:buChar char="•"/>
            </a:pPr>
            <a:r>
              <a:rPr lang="en-AU" sz="1200" kern="1200" baseline="0" dirty="0" smtClean="0">
                <a:solidFill>
                  <a:schemeClr val="tx1"/>
                </a:solidFill>
                <a:latin typeface="+mn-lt"/>
                <a:ea typeface="+mn-ea"/>
                <a:cs typeface="+mn-cs"/>
              </a:rPr>
              <a:t>Why do they come to your region?</a:t>
            </a:r>
          </a:p>
          <a:p>
            <a:pPr>
              <a:buFont typeface="Arial" pitchFamily="34" charset="0"/>
              <a:buChar char="•"/>
            </a:pPr>
            <a:r>
              <a:rPr lang="en-AU" sz="1200" kern="1200" baseline="0" dirty="0" smtClean="0">
                <a:solidFill>
                  <a:schemeClr val="tx1"/>
                </a:solidFill>
                <a:latin typeface="+mn-lt"/>
                <a:ea typeface="+mn-ea"/>
                <a:cs typeface="+mn-cs"/>
              </a:rPr>
              <a:t>How can you tailor products and services to meet their needs?</a:t>
            </a:r>
          </a:p>
          <a:p>
            <a:pPr>
              <a:buFont typeface="Arial" pitchFamily="34" charset="0"/>
              <a:buNone/>
            </a:pPr>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None/>
            </a:pPr>
            <a:r>
              <a:rPr lang="en-AU" sz="1200" kern="1200" baseline="0" dirty="0" smtClean="0">
                <a:solidFill>
                  <a:schemeClr val="tx1"/>
                </a:solidFill>
                <a:latin typeface="+mn-lt"/>
                <a:ea typeface="+mn-ea"/>
                <a:cs typeface="+mn-cs"/>
              </a:rPr>
              <a:t>This slide contains the same topic as the previous slide.</a:t>
            </a:r>
          </a:p>
          <a:p>
            <a:pPr>
              <a:buFont typeface="Arial" pitchFamily="34" charset="0"/>
              <a:buNone/>
            </a:pPr>
            <a:endParaRPr lang="en-AU" sz="1200" kern="1200" baseline="0" dirty="0" smtClean="0">
              <a:solidFill>
                <a:schemeClr val="tx1"/>
              </a:solidFill>
              <a:latin typeface="+mn-lt"/>
              <a:ea typeface="+mn-ea"/>
              <a:cs typeface="+mn-cs"/>
            </a:endParaRPr>
          </a:p>
          <a:p>
            <a:pPr>
              <a:buFont typeface="Arial" pitchFamily="34" charset="0"/>
              <a:buNone/>
            </a:pPr>
            <a:r>
              <a:rPr lang="en-AU" sz="1200" kern="1200" baseline="0" dirty="0" smtClean="0">
                <a:solidFill>
                  <a:schemeClr val="tx1"/>
                </a:solidFill>
                <a:latin typeface="+mn-lt"/>
                <a:ea typeface="+mn-ea"/>
                <a:cs typeface="+mn-cs"/>
              </a:rPr>
              <a:t>You may wish to discuss businesses who have successfully catered to the needs of different cultural markets.</a:t>
            </a:r>
          </a:p>
          <a:p>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some examples of each point identified in this slide?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some examples of each point identified in this slide?</a:t>
            </a:r>
          </a:p>
          <a:p>
            <a:endParaRPr lang="en-AU" sz="1200" b="1" kern="1200" baseline="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some examples of each point identified in this slide?</a:t>
            </a:r>
          </a:p>
          <a:p>
            <a:pPr>
              <a:buFont typeface="Arial" pitchFamily="34" charset="0"/>
              <a:buChar char="•"/>
            </a:pPr>
            <a:r>
              <a:rPr lang="en-AU" sz="1200" kern="1200" baseline="0" dirty="0" smtClean="0">
                <a:solidFill>
                  <a:schemeClr val="tx1"/>
                </a:solidFill>
                <a:latin typeface="+mn-lt"/>
                <a:ea typeface="+mn-ea"/>
                <a:cs typeface="+mn-cs"/>
              </a:rPr>
              <a:t>What can you learn from them?</a:t>
            </a:r>
          </a:p>
          <a:p>
            <a:endParaRPr lang="en-AU" sz="1200" b="1" kern="1200" baseline="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good websites you would look up?</a:t>
            </a:r>
          </a:p>
          <a:p>
            <a:pPr>
              <a:buFont typeface="Arial" pitchFamily="34" charset="0"/>
              <a:buChar char="•"/>
            </a:pPr>
            <a:r>
              <a:rPr lang="en-AU" sz="1200" kern="1200" baseline="0" dirty="0" smtClean="0">
                <a:solidFill>
                  <a:schemeClr val="tx1"/>
                </a:solidFill>
                <a:latin typeface="+mn-lt"/>
                <a:ea typeface="+mn-ea"/>
                <a:cs typeface="+mn-cs"/>
              </a:rPr>
              <a:t>What are some examples of each point identified in this slide?</a:t>
            </a:r>
          </a:p>
          <a:p>
            <a:pPr>
              <a:buFont typeface="Arial" pitchFamily="34" charset="0"/>
              <a:buChar char="•"/>
            </a:pPr>
            <a:r>
              <a:rPr lang="en-AU" sz="1200" kern="1200" baseline="0" dirty="0" smtClean="0">
                <a:solidFill>
                  <a:schemeClr val="tx1"/>
                </a:solidFill>
                <a:latin typeface="+mn-lt"/>
                <a:ea typeface="+mn-ea"/>
                <a:cs typeface="+mn-cs"/>
              </a:rPr>
              <a:t>What can you learn from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do you use verbal language to communicate?</a:t>
            </a:r>
          </a:p>
          <a:p>
            <a:pPr>
              <a:buFont typeface="Arial" pitchFamily="34" charset="0"/>
              <a:buChar char="•"/>
            </a:pPr>
            <a:r>
              <a:rPr lang="en-AU" sz="1200" kern="1200" baseline="0" dirty="0" smtClean="0">
                <a:solidFill>
                  <a:schemeClr val="tx1"/>
                </a:solidFill>
                <a:latin typeface="+mn-lt"/>
                <a:ea typeface="+mn-ea"/>
                <a:cs typeface="+mn-cs"/>
              </a:rPr>
              <a:t>How do you use body language to communicate?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Group Exercise</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Break the audience into groups and give each group one point identified in this slide.</a:t>
            </a:r>
          </a:p>
          <a:p>
            <a:endParaRPr lang="en-AU" sz="1200" b="0"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For each of the points identified in this slide:</a:t>
            </a:r>
          </a:p>
          <a:p>
            <a:pPr marL="228600" indent="-228600">
              <a:buAutoNum type="alphaLcParenR"/>
            </a:pPr>
            <a:r>
              <a:rPr lang="en-AU" sz="1200" b="0" kern="1200" baseline="0" dirty="0" smtClean="0">
                <a:solidFill>
                  <a:schemeClr val="tx1"/>
                </a:solidFill>
                <a:latin typeface="+mn-lt"/>
                <a:ea typeface="+mn-ea"/>
                <a:cs typeface="+mn-cs"/>
              </a:rPr>
              <a:t>Provide examples</a:t>
            </a:r>
          </a:p>
          <a:p>
            <a:pPr marL="228600" indent="-228600">
              <a:buAutoNum type="alphaLcParenR"/>
            </a:pPr>
            <a:r>
              <a:rPr lang="en-AU" sz="1200" b="0" kern="1200" baseline="0" dirty="0" smtClean="0">
                <a:solidFill>
                  <a:schemeClr val="tx1"/>
                </a:solidFill>
                <a:latin typeface="+mn-lt"/>
                <a:ea typeface="+mn-ea"/>
                <a:cs typeface="+mn-cs"/>
              </a:rPr>
              <a:t>Provide how these differences may cause problems</a:t>
            </a:r>
          </a:p>
          <a:p>
            <a:pPr marL="228600" indent="-228600">
              <a:buAutoNum type="alphaLcParenR"/>
            </a:pPr>
            <a:r>
              <a:rPr lang="en-AU" sz="1200" b="0" kern="1200" baseline="0" dirty="0" smtClean="0">
                <a:solidFill>
                  <a:schemeClr val="tx1"/>
                </a:solidFill>
                <a:latin typeface="+mn-lt"/>
                <a:ea typeface="+mn-ea"/>
                <a:cs typeface="+mn-cs"/>
              </a:rPr>
              <a:t>Identify ways a hospitality organisation can accommodate these cultural differences – considering products and services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Research and discuss.</a:t>
            </a:r>
          </a:p>
          <a:p>
            <a:r>
              <a:rPr lang="en-AU" sz="1200" b="1" kern="1200" baseline="0" dirty="0" smtClean="0">
                <a:solidFill>
                  <a:schemeClr val="tx1"/>
                </a:solidFill>
                <a:latin typeface="+mn-lt"/>
                <a:ea typeface="+mn-ea"/>
                <a:cs typeface="+mn-cs"/>
              </a:rPr>
              <a:t/>
            </a:r>
            <a:br>
              <a:rPr lang="en-AU" sz="1200" b="1" kern="1200" baseline="0" dirty="0" smtClean="0">
                <a:solidFill>
                  <a:schemeClr val="tx1"/>
                </a:solidFill>
                <a:latin typeface="+mn-lt"/>
                <a:ea typeface="+mn-ea"/>
                <a:cs typeface="+mn-cs"/>
              </a:rPr>
            </a:br>
            <a:r>
              <a:rPr lang="en-AU" sz="1200" b="0" kern="1200" baseline="0" dirty="0" smtClean="0">
                <a:solidFill>
                  <a:schemeClr val="tx1"/>
                </a:solidFill>
                <a:latin typeface="+mn-lt"/>
                <a:ea typeface="+mn-ea"/>
                <a:cs typeface="+mn-cs"/>
              </a:rPr>
              <a:t>The class should research specific equal opportunity legislation and/or employment law as applied to your country.</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specific laws exist to provide equality in the work place?</a:t>
            </a:r>
          </a:p>
          <a:p>
            <a:pPr>
              <a:buFont typeface="Arial" pitchFamily="34" charset="0"/>
              <a:buChar char="•"/>
            </a:pPr>
            <a:r>
              <a:rPr lang="en-AU" sz="1200" kern="1200" baseline="0" dirty="0" smtClean="0">
                <a:solidFill>
                  <a:schemeClr val="tx1"/>
                </a:solidFill>
                <a:latin typeface="+mn-lt"/>
                <a:ea typeface="+mn-ea"/>
                <a:cs typeface="+mn-cs"/>
              </a:rPr>
              <a:t>What areas or topics do these laws cover?</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Based on your research in the past slide:</a:t>
            </a:r>
          </a:p>
          <a:p>
            <a:pPr>
              <a:buFont typeface="Arial" pitchFamily="34" charset="0"/>
              <a:buChar char="•"/>
            </a:pPr>
            <a:r>
              <a:rPr lang="en-AU" sz="1200" kern="1200" baseline="0" dirty="0" smtClean="0">
                <a:solidFill>
                  <a:schemeClr val="tx1"/>
                </a:solidFill>
                <a:latin typeface="+mn-lt"/>
                <a:ea typeface="+mn-ea"/>
                <a:cs typeface="+mn-cs"/>
              </a:rPr>
              <a:t>Do these generic objectives differ in your country?</a:t>
            </a:r>
          </a:p>
          <a:p>
            <a:pPr>
              <a:buFont typeface="Arial" pitchFamily="34" charset="0"/>
              <a:buChar char="•"/>
            </a:pPr>
            <a:r>
              <a:rPr lang="en-AU" sz="1200" kern="1200" baseline="0" dirty="0" smtClean="0">
                <a:solidFill>
                  <a:schemeClr val="tx1"/>
                </a:solidFill>
                <a:latin typeface="+mn-lt"/>
                <a:ea typeface="+mn-ea"/>
                <a:cs typeface="+mn-cs"/>
              </a:rPr>
              <a:t>What are the differences and why do they exist?</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Based on your research in the past slides:</a:t>
            </a:r>
          </a:p>
          <a:p>
            <a:pPr>
              <a:buFont typeface="Arial" pitchFamily="34" charset="0"/>
              <a:buChar char="•"/>
            </a:pPr>
            <a:r>
              <a:rPr lang="en-AU" sz="1200" kern="1200" baseline="0" dirty="0" smtClean="0">
                <a:solidFill>
                  <a:schemeClr val="tx1"/>
                </a:solidFill>
                <a:latin typeface="+mn-lt"/>
                <a:ea typeface="+mn-ea"/>
                <a:cs typeface="+mn-cs"/>
              </a:rPr>
              <a:t>Are there specific legal requirements for each of these points that apply in a hospitality business?</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Based on your research in the past slides:</a:t>
            </a:r>
          </a:p>
          <a:p>
            <a:pPr>
              <a:buFont typeface="Arial" pitchFamily="34" charset="0"/>
              <a:buChar char="•"/>
            </a:pPr>
            <a:r>
              <a:rPr lang="en-AU" sz="1200" kern="1200" baseline="0" dirty="0" smtClean="0">
                <a:solidFill>
                  <a:schemeClr val="tx1"/>
                </a:solidFill>
                <a:latin typeface="+mn-lt"/>
                <a:ea typeface="+mn-ea"/>
                <a:cs typeface="+mn-cs"/>
              </a:rPr>
              <a:t>Are there specific legal requirements for each of these points that apply in a hospitality business?</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common stereo types that exist?</a:t>
            </a:r>
          </a:p>
          <a:p>
            <a:pPr>
              <a:buFont typeface="Arial" pitchFamily="34" charset="0"/>
              <a:buChar char="•"/>
            </a:pPr>
            <a:r>
              <a:rPr lang="en-AU" sz="1200" b="0" kern="1200" baseline="0" dirty="0" smtClean="0">
                <a:solidFill>
                  <a:schemeClr val="tx1"/>
                </a:solidFill>
                <a:latin typeface="+mn-lt"/>
                <a:ea typeface="+mn-ea"/>
                <a:cs typeface="+mn-cs"/>
              </a:rPr>
              <a:t>Identify  different countries and think of generic stereotypes we may have about people from them?</a:t>
            </a:r>
          </a:p>
          <a:p>
            <a:pPr>
              <a:buFont typeface="Arial" pitchFamily="34" charset="0"/>
              <a:buChar char="•"/>
            </a:pPr>
            <a:r>
              <a:rPr lang="en-AU" sz="1200" b="0" kern="1200" baseline="0" dirty="0" smtClean="0">
                <a:solidFill>
                  <a:schemeClr val="tx1"/>
                </a:solidFill>
                <a:latin typeface="+mn-lt"/>
                <a:ea typeface="+mn-ea"/>
                <a:cs typeface="+mn-cs"/>
              </a:rPr>
              <a:t>How true are these stereotypes?</a:t>
            </a:r>
          </a:p>
          <a:p>
            <a:pPr>
              <a:buFont typeface="Arial" pitchFamily="34" charset="0"/>
              <a:buChar char="•"/>
            </a:pPr>
            <a:r>
              <a:rPr lang="en-AU" sz="1200" b="0" kern="1200" baseline="0" dirty="0" smtClean="0">
                <a:solidFill>
                  <a:schemeClr val="tx1"/>
                </a:solidFill>
                <a:latin typeface="+mn-lt"/>
                <a:ea typeface="+mn-ea"/>
                <a:cs typeface="+mn-cs"/>
              </a:rPr>
              <a:t>What stereotypes does the rest of the world have about people from your country?</a:t>
            </a: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true are these stereotypes?</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Provide examples for each point in this slide and how they can easily cause communication problems.</a:t>
            </a:r>
          </a:p>
          <a:p>
            <a:pPr>
              <a:buFont typeface="Arial" pitchFamily="34" charset="0"/>
              <a:buChar char="•"/>
            </a:pPr>
            <a:r>
              <a:rPr lang="en-AU" sz="1200" b="0" kern="1200" baseline="0" dirty="0" smtClean="0">
                <a:solidFill>
                  <a:schemeClr val="tx1"/>
                </a:solidFill>
                <a:latin typeface="+mn-lt"/>
                <a:ea typeface="+mn-ea"/>
                <a:cs typeface="+mn-cs"/>
              </a:rPr>
              <a:t>Provide examples of how these can be applied correctly for effective communication.</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Provide examples for each point in this slide and how they can easily cause communication problems.</a:t>
            </a:r>
          </a:p>
          <a:p>
            <a:pPr>
              <a:buFont typeface="Arial" pitchFamily="34" charset="0"/>
              <a:buChar char="•"/>
            </a:pPr>
            <a:r>
              <a:rPr lang="en-AU" sz="1200" b="0" kern="1200" baseline="0" dirty="0" smtClean="0">
                <a:solidFill>
                  <a:schemeClr val="tx1"/>
                </a:solidFill>
                <a:latin typeface="+mn-lt"/>
                <a:ea typeface="+mn-ea"/>
                <a:cs typeface="+mn-cs"/>
              </a:rPr>
              <a:t>Provide examples of how these can be applied correctly for effective communication.</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the common foreign languages used by the majority of customers in your country? Select a maximum of 4 languages.</a:t>
            </a:r>
          </a:p>
          <a:p>
            <a:pPr>
              <a:buFont typeface="Arial" pitchFamily="34" charset="0"/>
              <a:buChar char="•"/>
            </a:pPr>
            <a:r>
              <a:rPr lang="en-AU" sz="1200" b="0" kern="1200" baseline="0" dirty="0" smtClean="0">
                <a:solidFill>
                  <a:schemeClr val="tx1"/>
                </a:solidFill>
                <a:latin typeface="+mn-lt"/>
                <a:ea typeface="+mn-ea"/>
                <a:cs typeface="+mn-cs"/>
              </a:rPr>
              <a:t>What are some phrases that would be useful to know?</a:t>
            </a:r>
          </a:p>
          <a:p>
            <a:pPr>
              <a:buFont typeface="Arial" pitchFamily="34" charset="0"/>
              <a:buChar cha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1" kern="1200" baseline="0" dirty="0" smtClean="0">
                <a:solidFill>
                  <a:schemeClr val="tx1"/>
                </a:solidFill>
                <a:latin typeface="+mn-lt"/>
                <a:ea typeface="+mn-ea"/>
                <a:cs typeface="+mn-cs"/>
              </a:rPr>
              <a:t>Class Activity – Language Phrases</a:t>
            </a:r>
          </a:p>
          <a:p>
            <a:pPr>
              <a:buFont typeface="Arial" pitchFamily="34" charset="0"/>
              <a:buChar char="•"/>
            </a:pPr>
            <a:r>
              <a:rPr lang="en-AU" sz="1200" b="0" kern="1200" baseline="0" dirty="0" smtClean="0">
                <a:solidFill>
                  <a:schemeClr val="tx1"/>
                </a:solidFill>
                <a:latin typeface="+mn-lt"/>
                <a:ea typeface="+mn-ea"/>
                <a:cs typeface="+mn-cs"/>
              </a:rPr>
              <a:t>Research, identify and practice some of the phrases in small groups. You may want to write them on pieces of paper with the foreign phrase on one side and your language on the other. Read out the phrase and see if the audience can a) identify the language b) identify the phrase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sz="1200" dirty="0" smtClean="0"/>
              <a:t>Meet, greet and farewell customers – at different times of the day, and to different types of customers including men, women, children and business people</a:t>
            </a:r>
            <a:endParaRPr lang="en-AU" sz="1200" dirty="0" smtClean="0"/>
          </a:p>
          <a:p>
            <a:pPr lvl="0"/>
            <a:r>
              <a:rPr lang="en-US" sz="1200" dirty="0" smtClean="0"/>
              <a:t>Provide simple directions – to the restaurant, bar, swimming pool, different floors, various rooms as well as to common landmarks and tourist attractions</a:t>
            </a:r>
            <a:endParaRPr lang="en-AU" sz="1200" dirty="0" smtClean="0"/>
          </a:p>
          <a:p>
            <a:pPr lvl="0"/>
            <a:r>
              <a:rPr lang="en-US" sz="1200" dirty="0" smtClean="0"/>
              <a:t>Give simple instructions – on how to use telephones, how to operate in-room and venue facilities</a:t>
            </a:r>
            <a:endParaRPr lang="en-AU" sz="1200" dirty="0" smtClean="0"/>
          </a:p>
          <a:p>
            <a:pPr lvl="0"/>
            <a:r>
              <a:rPr lang="en-US" sz="1200" dirty="0" smtClean="0"/>
              <a:t>Answer simple enquiries – such as questions relating to availability of rooms, process of goods and services and local conditions</a:t>
            </a:r>
            <a:endParaRPr lang="en-AU" sz="1200" dirty="0" smtClean="0"/>
          </a:p>
          <a:p>
            <a:pPr lvl="0"/>
            <a:r>
              <a:rPr lang="en-US" sz="1200" dirty="0" smtClean="0"/>
              <a:t>Prepare for, serve and assist customers – in accordance with your designated work role and responsibilities. For instance, the language needs of a front office receptionist will differ to those of a room attendant which will be, in turn, different to those required by a food and beverage waiter or a bar attendant</a:t>
            </a:r>
            <a:endParaRPr lang="en-AU" sz="1200" dirty="0" smtClean="0"/>
          </a:p>
          <a:p>
            <a:pPr lvl="0"/>
            <a:r>
              <a:rPr lang="en-US" sz="1200" dirty="0" smtClean="0"/>
              <a:t>Describe goods and service – once again this will relate to your specific workplace role. For example, a food waiter should be able to describe tastes, smells, ingredients, cooking styles, portion sizes and so on.</a:t>
            </a:r>
            <a:endParaRPr lang="en-AU" sz="1200" dirty="0" smtClean="0"/>
          </a:p>
          <a:p>
            <a:endParaRPr lang="en-AU" sz="1200" b="1"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Explain the information you would like to communicate within the points mentioned in the slide.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Identify phrases you would like to communicate for each of the points mentioned in the slide.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could you learn from each source?</a:t>
            </a:r>
          </a:p>
          <a:p>
            <a:pPr>
              <a:buFont typeface="Arial" pitchFamily="34" charset="0"/>
              <a:buChar char="•"/>
            </a:pPr>
            <a:r>
              <a:rPr lang="en-AU" sz="1200" b="0" kern="1200" baseline="0" dirty="0" smtClean="0">
                <a:solidFill>
                  <a:schemeClr val="tx1"/>
                </a:solidFill>
                <a:latin typeface="+mn-lt"/>
                <a:ea typeface="+mn-ea"/>
                <a:cs typeface="+mn-cs"/>
              </a:rPr>
              <a:t>What are good internet websites to use?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For each of the points mentioned in the slide, what techniques could you use to make your verbal communication effective?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use non-verbal communication to actually communicate?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do each of these types of non-verbal communication communicate?</a:t>
            </a:r>
          </a:p>
          <a:p>
            <a:pPr>
              <a:buFont typeface="Arial" pitchFamily="34" charset="0"/>
              <a:buNone/>
            </a:pPr>
            <a:r>
              <a:rPr lang="en-AU" sz="1200" b="0" kern="1200" baseline="0" dirty="0" smtClean="0">
                <a:solidFill>
                  <a:schemeClr val="tx1"/>
                </a:solidFill>
                <a:latin typeface="+mn-lt"/>
                <a:ea typeface="+mn-ea"/>
                <a:cs typeface="+mn-cs"/>
              </a:rPr>
              <a:t>See below for examples.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Your </a:t>
            </a:r>
            <a:r>
              <a:rPr lang="en-AU" sz="1200" b="1" kern="1200" dirty="0" smtClean="0">
                <a:solidFill>
                  <a:schemeClr val="tx1"/>
                </a:solidFill>
                <a:latin typeface="+mn-lt"/>
                <a:ea typeface="+mn-ea"/>
                <a:cs typeface="+mn-cs"/>
              </a:rPr>
              <a:t>stance and posture </a:t>
            </a:r>
            <a:r>
              <a:rPr lang="en-AU" sz="1200" kern="1200" dirty="0" smtClean="0">
                <a:solidFill>
                  <a:schemeClr val="tx1"/>
                </a:solidFill>
                <a:latin typeface="+mn-lt"/>
                <a:ea typeface="+mn-ea"/>
                <a:cs typeface="+mn-cs"/>
              </a:rPr>
              <a:t>may be interpreted as: </a:t>
            </a:r>
          </a:p>
          <a:p>
            <a:pPr lvl="0"/>
            <a:r>
              <a:rPr lang="en-US" sz="1200" kern="1200" dirty="0" smtClean="0">
                <a:solidFill>
                  <a:schemeClr val="tx1"/>
                </a:solidFill>
                <a:latin typeface="+mn-lt"/>
                <a:ea typeface="+mn-ea"/>
                <a:cs typeface="+mn-cs"/>
              </a:rPr>
              <a:t>Shoulders back – positive attitude</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Shoulders slumped forward – negative attitude</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a:t>
            </a:r>
            <a:r>
              <a:rPr lang="en-AU" sz="1200" b="1" kern="1200" dirty="0" smtClean="0">
                <a:solidFill>
                  <a:schemeClr val="tx1"/>
                </a:solidFill>
                <a:latin typeface="+mn-lt"/>
                <a:ea typeface="+mn-ea"/>
                <a:cs typeface="+mn-cs"/>
              </a:rPr>
              <a:t>speed with which you move </a:t>
            </a:r>
            <a:r>
              <a:rPr lang="en-AU" sz="1200" kern="1200" dirty="0" smtClean="0">
                <a:solidFill>
                  <a:schemeClr val="tx1"/>
                </a:solidFill>
                <a:latin typeface="+mn-lt"/>
                <a:ea typeface="+mn-ea"/>
                <a:cs typeface="+mn-cs"/>
              </a:rPr>
              <a:t>may be interpreted as: </a:t>
            </a:r>
          </a:p>
          <a:p>
            <a:pPr lvl="0"/>
            <a:r>
              <a:rPr lang="en-US" sz="1200" kern="1200" dirty="0" smtClean="0">
                <a:solidFill>
                  <a:schemeClr val="tx1"/>
                </a:solidFill>
                <a:latin typeface="+mn-lt"/>
                <a:ea typeface="+mn-ea"/>
                <a:cs typeface="+mn-cs"/>
              </a:rPr>
              <a:t>Slow walk – don’t care</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Fast walk – flat out and stressed</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Your </a:t>
            </a:r>
            <a:r>
              <a:rPr lang="en-AU" sz="1200" b="1" kern="1200" dirty="0" smtClean="0">
                <a:solidFill>
                  <a:schemeClr val="tx1"/>
                </a:solidFill>
                <a:latin typeface="+mn-lt"/>
                <a:ea typeface="+mn-ea"/>
                <a:cs typeface="+mn-cs"/>
              </a:rPr>
              <a:t>facial expression </a:t>
            </a:r>
            <a:r>
              <a:rPr lang="en-AU" sz="1200" kern="1200" dirty="0" smtClean="0">
                <a:solidFill>
                  <a:schemeClr val="tx1"/>
                </a:solidFill>
                <a:latin typeface="+mn-lt"/>
                <a:ea typeface="+mn-ea"/>
                <a:cs typeface="+mn-cs"/>
              </a:rPr>
              <a:t>may be interpreted as:</a:t>
            </a:r>
          </a:p>
          <a:p>
            <a:pPr lvl="0"/>
            <a:r>
              <a:rPr lang="en-US" sz="1200" kern="1200" dirty="0" smtClean="0">
                <a:solidFill>
                  <a:schemeClr val="tx1"/>
                </a:solidFill>
                <a:latin typeface="+mn-lt"/>
                <a:ea typeface="+mn-ea"/>
                <a:cs typeface="+mn-cs"/>
              </a:rPr>
              <a:t>Grumpy face – don’t want to be at work; don’t like the person they are talking to</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Smiling face – happy with life; happy to work with customers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
            </a:r>
            <a:br>
              <a:rPr lang="en-AU" sz="1200"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How you </a:t>
            </a:r>
            <a:r>
              <a:rPr lang="en-AU" sz="1200" b="1" kern="1200" dirty="0" smtClean="0">
                <a:solidFill>
                  <a:schemeClr val="tx1"/>
                </a:solidFill>
                <a:latin typeface="+mn-lt"/>
                <a:ea typeface="+mn-ea"/>
                <a:cs typeface="+mn-cs"/>
              </a:rPr>
              <a:t>hold your arms </a:t>
            </a:r>
            <a:r>
              <a:rPr lang="en-AU" sz="1200" kern="1200" dirty="0" smtClean="0">
                <a:solidFill>
                  <a:schemeClr val="tx1"/>
                </a:solidFill>
                <a:latin typeface="+mn-lt"/>
                <a:ea typeface="+mn-ea"/>
                <a:cs typeface="+mn-cs"/>
              </a:rPr>
              <a:t>may be interpreted as:</a:t>
            </a:r>
          </a:p>
          <a:p>
            <a:pPr lvl="0"/>
            <a:r>
              <a:rPr lang="en-US" sz="1200" kern="1200" dirty="0" smtClean="0">
                <a:solidFill>
                  <a:schemeClr val="tx1"/>
                </a:solidFill>
                <a:latin typeface="+mn-lt"/>
                <a:ea typeface="+mn-ea"/>
                <a:cs typeface="+mn-cs"/>
              </a:rPr>
              <a:t>Arms crossed – defensive</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Arms at your side – open to discussion</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Hand and finger gestures </a:t>
            </a:r>
            <a:r>
              <a:rPr lang="en-AU" sz="1200" kern="1200" dirty="0" smtClean="0">
                <a:solidFill>
                  <a:schemeClr val="tx1"/>
                </a:solidFill>
                <a:latin typeface="+mn-lt"/>
                <a:ea typeface="+mn-ea"/>
                <a:cs typeface="+mn-cs"/>
              </a:rPr>
              <a:t>may be interpreted as:</a:t>
            </a:r>
          </a:p>
          <a:p>
            <a:pPr lvl="0"/>
            <a:r>
              <a:rPr lang="en-US" sz="1200" kern="1200" dirty="0" smtClean="0">
                <a:solidFill>
                  <a:schemeClr val="tx1"/>
                </a:solidFill>
                <a:latin typeface="+mn-lt"/>
                <a:ea typeface="+mn-ea"/>
                <a:cs typeface="+mn-cs"/>
              </a:rPr>
              <a:t>Waving a hand – saying goodbye</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Curling a finger - beckoning</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The thumbs up – all is okay or some other more abusive message!</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How you attend to your </a:t>
            </a:r>
            <a:r>
              <a:rPr lang="en-AU" sz="1200" b="1" kern="1200" dirty="0" smtClean="0">
                <a:solidFill>
                  <a:schemeClr val="tx1"/>
                </a:solidFill>
                <a:latin typeface="+mn-lt"/>
                <a:ea typeface="+mn-ea"/>
                <a:cs typeface="+mn-cs"/>
              </a:rPr>
              <a:t>personal hygiene </a:t>
            </a:r>
            <a:r>
              <a:rPr lang="en-AU" sz="1200" kern="1200" dirty="0" smtClean="0">
                <a:solidFill>
                  <a:schemeClr val="tx1"/>
                </a:solidFill>
                <a:latin typeface="+mn-lt"/>
                <a:ea typeface="+mn-ea"/>
                <a:cs typeface="+mn-cs"/>
              </a:rPr>
              <a:t>may be interpreted as:</a:t>
            </a:r>
          </a:p>
          <a:p>
            <a:pPr lvl="0"/>
            <a:r>
              <a:rPr lang="en-US" sz="1200" kern="1200" dirty="0" smtClean="0">
                <a:solidFill>
                  <a:schemeClr val="tx1"/>
                </a:solidFill>
                <a:latin typeface="+mn-lt"/>
                <a:ea typeface="+mn-ea"/>
                <a:cs typeface="+mn-cs"/>
              </a:rPr>
              <a:t>Bad body odour – don’t care attitude; disrespect for others </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Hair tied back neatly – person with pride; respect for others</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Eye contact </a:t>
            </a:r>
            <a:r>
              <a:rPr lang="en-AU" sz="1200" kern="1200" dirty="0" smtClean="0">
                <a:solidFill>
                  <a:schemeClr val="tx1"/>
                </a:solidFill>
                <a:latin typeface="+mn-lt"/>
                <a:ea typeface="+mn-ea"/>
                <a:cs typeface="+mn-cs"/>
              </a:rPr>
              <a:t>may be interpreted as:</a:t>
            </a:r>
          </a:p>
          <a:p>
            <a:pPr lvl="0"/>
            <a:r>
              <a:rPr lang="en-US" sz="1200" kern="1200" dirty="0" smtClean="0">
                <a:solidFill>
                  <a:schemeClr val="tx1"/>
                </a:solidFill>
                <a:latin typeface="+mn-lt"/>
                <a:ea typeface="+mn-ea"/>
                <a:cs typeface="+mn-cs"/>
              </a:rPr>
              <a:t>Direct eye contact – telling the truth, intimidating, sexual</a:t>
            </a:r>
            <a:endParaRPr lang="en-AU" sz="1200" kern="1200" dirty="0" smtClean="0">
              <a:solidFill>
                <a:schemeClr val="tx1"/>
              </a:solidFill>
              <a:latin typeface="+mn-lt"/>
              <a:ea typeface="+mn-ea"/>
              <a:cs typeface="+mn-cs"/>
            </a:endParaRPr>
          </a:p>
          <a:p>
            <a:pPr lvl="0"/>
            <a:r>
              <a:rPr lang="en-US" sz="1200" kern="1200" dirty="0" smtClean="0">
                <a:solidFill>
                  <a:schemeClr val="tx1"/>
                </a:solidFill>
                <a:latin typeface="+mn-lt"/>
                <a:ea typeface="+mn-ea"/>
                <a:cs typeface="+mn-cs"/>
              </a:rPr>
              <a:t>No eye contact – not listening, disinterested or lying.</a:t>
            </a:r>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Charades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Get the audience to play charades. Get them to communicate just using gestures.</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points.</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Where can you get help, both inside and outside of the business?</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assistance can you get from each person identified in the slide</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assistance can you get from each person identified in the slide</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assistance can you get from each person identified in the slide</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assistance can you get from each person identified in the slide</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a misunderstanding?</a:t>
            </a:r>
          </a:p>
          <a:p>
            <a:pPr>
              <a:buFont typeface="Arial" pitchFamily="34" charset="0"/>
              <a:buChar char="•"/>
            </a:pPr>
            <a:r>
              <a:rPr lang="en-AU" sz="1200" kern="1200" baseline="0" dirty="0" smtClean="0">
                <a:solidFill>
                  <a:schemeClr val="tx1"/>
                </a:solidFill>
                <a:latin typeface="+mn-lt"/>
                <a:ea typeface="+mn-ea"/>
                <a:cs typeface="+mn-cs"/>
              </a:rPr>
              <a:t>What are common cross cultural misunderstandings?</a:t>
            </a:r>
          </a:p>
          <a:p>
            <a:pPr>
              <a:buFont typeface="Arial" pitchFamily="34" charset="0"/>
              <a:buChar char="•"/>
            </a:pPr>
            <a:r>
              <a:rPr lang="en-AU" sz="1200" kern="1200" baseline="0" dirty="0" smtClean="0">
                <a:solidFill>
                  <a:schemeClr val="tx1"/>
                </a:solidFill>
                <a:latin typeface="+mn-lt"/>
                <a:ea typeface="+mn-ea"/>
                <a:cs typeface="+mn-cs"/>
              </a:rPr>
              <a:t>What are they caused by?</a:t>
            </a:r>
          </a:p>
          <a:p>
            <a:pPr>
              <a:buFont typeface="Arial" pitchFamily="34" charset="0"/>
              <a:buChar char="•"/>
            </a:pPr>
            <a:r>
              <a:rPr lang="en-AU" sz="1200" kern="1200" baseline="0" dirty="0" smtClean="0">
                <a:solidFill>
                  <a:schemeClr val="tx1"/>
                </a:solidFill>
                <a:latin typeface="+mn-lt"/>
                <a:ea typeface="+mn-ea"/>
                <a:cs typeface="+mn-cs"/>
              </a:rPr>
              <a:t>How can they be avoided?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common conflicts you have in your private life?</a:t>
            </a:r>
          </a:p>
          <a:p>
            <a:pPr>
              <a:buFont typeface="Arial" pitchFamily="34" charset="0"/>
              <a:buChar char="•"/>
            </a:pPr>
            <a:r>
              <a:rPr lang="en-AU" sz="1200" b="0" kern="1200" baseline="0" dirty="0" smtClean="0">
                <a:solidFill>
                  <a:schemeClr val="tx1"/>
                </a:solidFill>
                <a:latin typeface="+mn-lt"/>
                <a:ea typeface="+mn-ea"/>
                <a:cs typeface="+mn-cs"/>
              </a:rPr>
              <a:t>What causes them?</a:t>
            </a:r>
          </a:p>
          <a:p>
            <a:pPr>
              <a:buFont typeface="Arial" pitchFamily="34" charset="0"/>
              <a:buChar char="•"/>
            </a:pPr>
            <a:r>
              <a:rPr lang="en-AU" sz="1200" b="0" kern="1200" baseline="0" dirty="0" smtClean="0">
                <a:solidFill>
                  <a:schemeClr val="tx1"/>
                </a:solidFill>
                <a:latin typeface="+mn-lt"/>
                <a:ea typeface="+mn-ea"/>
                <a:cs typeface="+mn-cs"/>
              </a:rPr>
              <a:t>How can they be solved?</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some ways to handle a conflict quickly?</a:t>
            </a:r>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Get the audience to provide examples of conflict in each identified point.</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Get the audience to provide examples of conflict in each identified point.</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Get the audience to provide examples of conflict in each identified point.</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best way to identify a conflict in your point of view?</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sz="1200" dirty="0" smtClean="0"/>
              <a:t>It isn’t always your fault – the misunderstanding may be caused by their misinterpretation of facts or words </a:t>
            </a:r>
            <a:endParaRPr lang="en-AU" sz="1200" dirty="0" smtClean="0"/>
          </a:p>
          <a:p>
            <a:pPr lvl="0"/>
            <a:r>
              <a:rPr lang="en-US" sz="1200" dirty="0" smtClean="0"/>
              <a:t>Be open-minded to their assertion that you said or did something unacceptable – don’t immediately become defensive and start trying to defend a position that is essentially wrong or indefensible</a:t>
            </a:r>
            <a:endParaRPr lang="en-AU" sz="1200" dirty="0" smtClean="0"/>
          </a:p>
          <a:p>
            <a:pPr lvl="0"/>
            <a:r>
              <a:rPr lang="en-US" sz="1200" dirty="0" smtClean="0"/>
              <a:t>Apologise where necessary – it is truly amazing how many issues, disputes, misunderstandings and conflicts  can be successfully resolved by a simple yet genuine and sincere apology</a:t>
            </a:r>
            <a:endParaRPr lang="en-AU" sz="1200" dirty="0" smtClean="0"/>
          </a:p>
          <a:p>
            <a:pPr lvl="0"/>
            <a:r>
              <a:rPr lang="en-US" sz="1200" dirty="0" smtClean="0"/>
              <a:t>Take steps to make sure you don’t repeat any actions or statements that gave rise to the issue – this should apply even where you believe you were genuinely not ‘at fault’. The crux of the decision to change your actions or words should not be whether you are, in fact right or wrong in what you said or did, but whether or not it actually gave offence or upset someone. </a:t>
            </a:r>
            <a:endParaRPr lang="en-AU" sz="1200" dirty="0" smtClean="0"/>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can’t a staff member solve all problems?</a:t>
            </a:r>
          </a:p>
          <a:p>
            <a:pPr>
              <a:buFont typeface="Arial" pitchFamily="34" charset="0"/>
              <a:buChar char="•"/>
            </a:pPr>
            <a:r>
              <a:rPr lang="en-AU" sz="1200" b="0" kern="1200" baseline="0" dirty="0" smtClean="0">
                <a:solidFill>
                  <a:schemeClr val="tx1"/>
                </a:solidFill>
                <a:latin typeface="+mn-lt"/>
                <a:ea typeface="+mn-ea"/>
                <a:cs typeface="+mn-cs"/>
              </a:rPr>
              <a:t>When would you get help from others?</a:t>
            </a:r>
          </a:p>
          <a:p>
            <a:pPr>
              <a:buFont typeface="Arial" pitchFamily="34" charset="0"/>
              <a:buChar char="•"/>
            </a:pPr>
            <a:r>
              <a:rPr lang="en-AU" sz="1200" b="0" kern="1200" baseline="0" dirty="0" smtClean="0">
                <a:solidFill>
                  <a:schemeClr val="tx1"/>
                </a:solidFill>
                <a:latin typeface="+mn-lt"/>
                <a:ea typeface="+mn-ea"/>
                <a:cs typeface="+mn-cs"/>
              </a:rPr>
              <a:t>Who would you go to for help?</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scope of authority do line staff normally have when handling difficulties.</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some examples in different departments?</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points</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other tips you may have when addressing conflicts and misunderstandings?</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common cultural differences?</a:t>
            </a:r>
          </a:p>
          <a:p>
            <a:endParaRPr lang="en-AU" sz="120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Read and Discussion</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Read the notes from the Training Manual in reference to these points. The relevant pages are 34-36.</a:t>
            </a:r>
          </a:p>
          <a:p>
            <a:endParaRPr lang="en-AU" sz="1200" b="0"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Discuss how different cultures view the points in the slide and how it can cause conflict.</a:t>
            </a:r>
            <a:endParaRPr lang="en-AU" sz="1200" b="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Read and Discussion</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Read the notes from the Training Manual in reference to these points. The relevant pages are 37 – 39.</a:t>
            </a:r>
          </a:p>
          <a:p>
            <a:endParaRPr lang="en-AU" sz="1200" b="0"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Discuss how different cultures view the points in the slide and how it can cause conflict.</a:t>
            </a:r>
            <a:endParaRPr lang="en-AU" sz="1200" b="0" kern="120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pPr>
              <a:buFont typeface="Arial" pitchFamily="34" charset="0"/>
              <a:buNone/>
            </a:pPr>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Think about conflicts that have occurred in the past. How did you resolve these misunderstandings?</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pPr>
              <a:buFont typeface="Arial" pitchFamily="34" charset="0"/>
              <a:buNone/>
            </a:pPr>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points.</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pPr>
              <a:buFont typeface="Arial" pitchFamily="34" charset="0"/>
              <a:buNone/>
            </a:pPr>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points.</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pPr>
              <a:buFont typeface="Arial" pitchFamily="34" charset="0"/>
              <a:buNone/>
            </a:pPr>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pPr>
              <a:buFont typeface="Arial" pitchFamily="34" charset="0"/>
              <a:buNone/>
            </a:pPr>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Provide examples of when it is hard to meet the needs of both the customer and the organisation and their staff.</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pPr>
              <a:buFont typeface="Arial" pitchFamily="34" charset="0"/>
              <a:buNone/>
            </a:pPr>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‘your line’ when it is time to stop handling a situation and to refer it to someone else?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pPr>
              <a:buFont typeface="Arial" pitchFamily="34" charset="0"/>
              <a:buNone/>
            </a:pPr>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point.</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pPr>
              <a:buFont typeface="Arial" pitchFamily="34" charset="0"/>
              <a:buNone/>
            </a:pPr>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protocol of referring issues?</a:t>
            </a:r>
          </a:p>
          <a:p>
            <a:pPr>
              <a:buFont typeface="Arial" pitchFamily="34" charset="0"/>
              <a:buChar char="•"/>
            </a:pPr>
            <a:r>
              <a:rPr lang="en-AU" sz="1200" b="0" kern="1200" baseline="0" dirty="0" smtClean="0">
                <a:solidFill>
                  <a:schemeClr val="tx1"/>
                </a:solidFill>
                <a:latin typeface="+mn-lt"/>
                <a:ea typeface="+mn-ea"/>
                <a:cs typeface="+mn-cs"/>
              </a:rPr>
              <a:t>Is the team leader or supervisor the first contact point or can you go higher?</a:t>
            </a:r>
          </a:p>
          <a:p>
            <a:pPr>
              <a:buFont typeface="Arial" pitchFamily="34" charset="0"/>
              <a:buChar char="•"/>
            </a:pPr>
            <a:r>
              <a:rPr lang="en-AU" sz="1200" b="0" kern="1200" baseline="0" dirty="0" smtClean="0">
                <a:solidFill>
                  <a:schemeClr val="tx1"/>
                </a:solidFill>
                <a:latin typeface="+mn-lt"/>
                <a:ea typeface="+mn-ea"/>
                <a:cs typeface="+mn-cs"/>
              </a:rPr>
              <a:t>When do you do higher?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This</a:t>
            </a:r>
            <a:r>
              <a:rPr lang="en-AU" sz="1200" kern="1200" baseline="0" dirty="0" smtClean="0">
                <a:solidFill>
                  <a:schemeClr val="tx1"/>
                </a:solidFill>
                <a:latin typeface="+mn-lt"/>
                <a:ea typeface="+mn-ea"/>
                <a:cs typeface="+mn-cs"/>
              </a:rPr>
              <a:t> is the conclusion of the subject.</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Thank the audience and deliver assessments as required.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8/28/2012</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8/28/2012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8/28/2012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8/28/2012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8/28/2012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8/28/2012</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8/28/2012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8/28/2012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8/28/2012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8/28/2012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8/28/2012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8/28/2012</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MP900424428[1].JPG"/>
          <p:cNvPicPr/>
          <p:nvPr/>
        </p:nvPicPr>
        <p:blipFill>
          <a:blip r:embed="rId3" cstate="print"/>
          <a:stretch>
            <a:fillRect/>
          </a:stretch>
        </p:blipFill>
        <p:spPr>
          <a:xfrm>
            <a:off x="5292080" y="4437112"/>
            <a:ext cx="2520280" cy="1728192"/>
          </a:xfrm>
          <a:prstGeom prst="rect">
            <a:avLst/>
          </a:prstGeom>
        </p:spPr>
      </p:pic>
      <p:sp>
        <p:nvSpPr>
          <p:cNvPr id="2" name="Title 1"/>
          <p:cNvSpPr>
            <a:spLocks noGrp="1"/>
          </p:cNvSpPr>
          <p:nvPr>
            <p:ph type="ctrTitle"/>
          </p:nvPr>
        </p:nvSpPr>
        <p:spPr>
          <a:xfrm>
            <a:off x="1907704" y="692696"/>
            <a:ext cx="6480048" cy="1285884"/>
          </a:xfrm>
        </p:spPr>
        <p:txBody>
          <a:bodyPr>
            <a:normAutofit fontScale="90000"/>
          </a:bodyPr>
          <a:lstStyle/>
          <a:p>
            <a:r>
              <a:rPr lang="en-US" sz="4000" dirty="0" smtClean="0">
                <a:ln w="5000" cmpd="sng">
                  <a:noFill/>
                  <a:prstDash val="solid"/>
                </a:ln>
                <a:solidFill>
                  <a:srgbClr val="FF6600"/>
                </a:solidFill>
                <a:latin typeface="Helvetica" pitchFamily="34" charset="0"/>
              </a:rPr>
              <a:t>Work IN A SOCIALLY DIVERSE ENVIRONMENT</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1835696" y="2420888"/>
            <a:ext cx="6480048" cy="1075560"/>
          </a:xfrm>
        </p:spPr>
        <p:txBody>
          <a:bodyPr>
            <a:normAutofit/>
          </a:bodyPr>
          <a:lstStyle/>
          <a:p>
            <a:r>
              <a:rPr lang="en-AU" b="1" dirty="0" smtClean="0"/>
              <a:t>D1.HRS.CL1.19</a:t>
            </a:r>
            <a:br>
              <a:rPr lang="en-AU" b="1" dirty="0" smtClean="0"/>
            </a:br>
            <a:r>
              <a:rPr lang="en-AU" b="1" dirty="0" smtClean="0"/>
              <a:t>D1.HOT.CL1.02</a:t>
            </a:r>
            <a:br>
              <a:rPr lang="en-AU" b="1" dirty="0" smtClean="0"/>
            </a:br>
            <a:r>
              <a:rPr lang="en-AU" b="1" dirty="0" smtClean="0"/>
              <a:t>D2.TCC.CL1.02</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8" name="Picture 7" descr="j0422562.jpg"/>
          <p:cNvPicPr/>
          <p:nvPr/>
        </p:nvPicPr>
        <p:blipFill>
          <a:blip r:embed="rId4" cstate="print"/>
          <a:stretch>
            <a:fillRect/>
          </a:stretch>
        </p:blipFill>
        <p:spPr>
          <a:xfrm>
            <a:off x="3131840" y="3429000"/>
            <a:ext cx="2269976" cy="2135485"/>
          </a:xfrm>
          <a:prstGeom prst="rect">
            <a:avLst/>
          </a:prstGeom>
        </p:spPr>
      </p:pic>
      <p:pic>
        <p:nvPicPr>
          <p:cNvPr id="10" name="Picture 9" descr="MP900427683[1].JPG"/>
          <p:cNvPicPr/>
          <p:nvPr/>
        </p:nvPicPr>
        <p:blipFill>
          <a:blip r:embed="rId5" cstate="print"/>
          <a:stretch>
            <a:fillRect/>
          </a:stretch>
        </p:blipFill>
        <p:spPr>
          <a:xfrm>
            <a:off x="467544" y="2132856"/>
            <a:ext cx="2771378" cy="2155304"/>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two Elements:</a:t>
            </a:r>
          </a:p>
          <a:p>
            <a:pPr marL="360000" indent="-360000">
              <a:spcBef>
                <a:spcPts val="600"/>
              </a:spcBef>
              <a:spcAft>
                <a:spcPts val="1200"/>
              </a:spcAft>
            </a:pPr>
            <a:r>
              <a:rPr lang="en-AU" sz="2200" dirty="0" smtClean="0">
                <a:latin typeface="Helvetica" pitchFamily="34" charset="0"/>
              </a:rPr>
              <a:t>Communicate with customers and colleagues from diverse backgrounds</a:t>
            </a:r>
          </a:p>
          <a:p>
            <a:pPr marL="360000" indent="-360000">
              <a:spcBef>
                <a:spcPts val="600"/>
              </a:spcBef>
              <a:spcAft>
                <a:spcPts val="1200"/>
              </a:spcAft>
            </a:pPr>
            <a:r>
              <a:rPr lang="en-AU" sz="2200" dirty="0" smtClean="0">
                <a:latin typeface="Helvetica" pitchFamily="34" charset="0"/>
              </a:rPr>
              <a:t>Deal with cross cultural misunderstandings.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7" name="Picture 6" descr="MP900399215[1].JPG"/>
          <p:cNvPicPr>
            <a:picLocks noChangeAspect="1"/>
          </p:cNvPicPr>
          <p:nvPr/>
        </p:nvPicPr>
        <p:blipFill>
          <a:blip r:embed="rId3" cstate="print"/>
          <a:stretch>
            <a:fillRect/>
          </a:stretch>
        </p:blipFill>
        <p:spPr>
          <a:xfrm>
            <a:off x="6156176" y="3789040"/>
            <a:ext cx="2264296" cy="226429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6" name="Picture 5" descr="698.jpg"/>
          <p:cNvPicPr>
            <a:picLocks noChangeAspect="1"/>
          </p:cNvPicPr>
          <p:nvPr/>
        </p:nvPicPr>
        <p:blipFill>
          <a:blip r:embed="rId3" cstate="print"/>
          <a:stretch>
            <a:fillRect/>
          </a:stretch>
        </p:blipFill>
        <p:spPr>
          <a:xfrm>
            <a:off x="5508104" y="4509120"/>
            <a:ext cx="3203848" cy="153198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908720"/>
            <a:ext cx="7632848" cy="2952328"/>
          </a:xfrm>
        </p:spPr>
        <p:txBody>
          <a:bodyPr>
            <a:normAutofit/>
          </a:bodyPr>
          <a:lstStyle/>
          <a:p>
            <a:pPr>
              <a:buNone/>
            </a:pPr>
            <a:r>
              <a:rPr lang="en-AU" sz="4000" b="1" i="1" dirty="0" smtClean="0">
                <a:solidFill>
                  <a:srgbClr val="FF6600"/>
                </a:solidFill>
                <a:latin typeface="Helvetica" pitchFamily="34" charset="0"/>
              </a:rPr>
              <a:t>Element 1:</a:t>
            </a:r>
          </a:p>
          <a:p>
            <a:pPr marL="0">
              <a:buNone/>
            </a:pPr>
            <a:r>
              <a:rPr lang="en-AU" sz="4000" b="1" i="1" dirty="0" smtClean="0">
                <a:solidFill>
                  <a:srgbClr val="FF6600"/>
                </a:solidFill>
                <a:latin typeface="Helvetica" pitchFamily="34" charset="0"/>
              </a:rPr>
              <a:t>Communicate with customers and colleagues from diverse backgrounds</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6" name="Picture 5" descr="MP900427673[1].JPG"/>
          <p:cNvPicPr>
            <a:picLocks noChangeAspect="1"/>
          </p:cNvPicPr>
          <p:nvPr/>
        </p:nvPicPr>
        <p:blipFill>
          <a:blip r:embed="rId3" cstate="print"/>
          <a:stretch>
            <a:fillRect/>
          </a:stretch>
        </p:blipFill>
        <p:spPr>
          <a:xfrm>
            <a:off x="5868144" y="3573016"/>
            <a:ext cx="2632591" cy="198884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Value customers and colleagues from different cultural groups and treat them with respect and sensitivity</a:t>
            </a:r>
          </a:p>
          <a:p>
            <a:pPr>
              <a:spcBef>
                <a:spcPts val="600"/>
              </a:spcBef>
              <a:spcAft>
                <a:spcPts val="1200"/>
              </a:spcAft>
            </a:pPr>
            <a:r>
              <a:rPr lang="en-AU" sz="2200" dirty="0" smtClean="0">
                <a:latin typeface="Helvetica" pitchFamily="34" charset="0"/>
              </a:rPr>
              <a:t>Take into consideration cultural differences in all verbal and non-verbal communication</a:t>
            </a:r>
          </a:p>
          <a:p>
            <a:pPr>
              <a:spcBef>
                <a:spcPts val="600"/>
              </a:spcBef>
              <a:spcAft>
                <a:spcPts val="1200"/>
              </a:spcAft>
            </a:pPr>
            <a:r>
              <a:rPr lang="en-AU" sz="2200" dirty="0" smtClean="0">
                <a:latin typeface="Helvetica" pitchFamily="34" charset="0"/>
              </a:rPr>
              <a:t>Attempt to overcome language barriers</a:t>
            </a:r>
          </a:p>
          <a:p>
            <a:pPr>
              <a:spcBef>
                <a:spcPts val="600"/>
              </a:spcBef>
              <a:spcAft>
                <a:spcPts val="1200"/>
              </a:spcAft>
            </a:pPr>
            <a:r>
              <a:rPr lang="en-AU" sz="2200" dirty="0" smtClean="0">
                <a:latin typeface="Helvetica" pitchFamily="34" charset="0"/>
              </a:rPr>
              <a:t>Obtain assistance from colleagues, reference                    books or outside organisations when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Valuing customers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The hospitality and tourism industries are leading examples of multicultural industries </a:t>
            </a:r>
          </a:p>
          <a:p>
            <a:pPr>
              <a:spcBef>
                <a:spcPts val="600"/>
              </a:spcBef>
              <a:spcAft>
                <a:spcPts val="1200"/>
              </a:spcAft>
            </a:pPr>
            <a:r>
              <a:rPr lang="en-AU" sz="2200" dirty="0" smtClean="0">
                <a:latin typeface="Helvetica" pitchFamily="34" charset="0"/>
              </a:rPr>
              <a:t>Many workplaces are staffed with people from various cultures</a:t>
            </a:r>
          </a:p>
          <a:p>
            <a:pPr>
              <a:spcBef>
                <a:spcPts val="600"/>
              </a:spcBef>
              <a:spcAft>
                <a:spcPts val="1200"/>
              </a:spcAft>
            </a:pPr>
            <a:r>
              <a:rPr lang="en-AU" sz="2200" dirty="0" smtClean="0">
                <a:latin typeface="Helvetica" pitchFamily="34" charset="0"/>
              </a:rPr>
              <a:t>Staff interact with and serve people from different nations and cultural backgrounds.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6" name="Picture 5" descr="MP900424428[1].JPG"/>
          <p:cNvPicPr/>
          <p:nvPr/>
        </p:nvPicPr>
        <p:blipFill>
          <a:blip r:embed="rId3" cstate="print"/>
          <a:stretch>
            <a:fillRect/>
          </a:stretch>
        </p:blipFill>
        <p:spPr>
          <a:xfrm>
            <a:off x="6300192" y="4149080"/>
            <a:ext cx="2124819" cy="1761728"/>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Diversity of customers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There are a number of things that make us all different including: </a:t>
            </a:r>
          </a:p>
          <a:p>
            <a:pPr lvl="0">
              <a:spcBef>
                <a:spcPts val="600"/>
              </a:spcBef>
              <a:spcAft>
                <a:spcPts val="1200"/>
              </a:spcAft>
            </a:pPr>
            <a:r>
              <a:rPr lang="en-AU" sz="2200" dirty="0" smtClean="0">
                <a:latin typeface="Helvetica" pitchFamily="34" charset="0"/>
              </a:rPr>
              <a:t>The way they live </a:t>
            </a:r>
          </a:p>
          <a:p>
            <a:pPr lvl="0">
              <a:spcBef>
                <a:spcPts val="600"/>
              </a:spcBef>
              <a:spcAft>
                <a:spcPts val="1200"/>
              </a:spcAft>
            </a:pPr>
            <a:r>
              <a:rPr lang="en-AU" sz="2200" dirty="0" smtClean="0">
                <a:latin typeface="Helvetica" pitchFamily="34" charset="0"/>
              </a:rPr>
              <a:t>Values and principles</a:t>
            </a:r>
          </a:p>
          <a:p>
            <a:pPr lvl="0">
              <a:spcBef>
                <a:spcPts val="600"/>
              </a:spcBef>
              <a:spcAft>
                <a:spcPts val="1200"/>
              </a:spcAft>
            </a:pPr>
            <a:r>
              <a:rPr lang="en-AU" sz="2200" dirty="0" smtClean="0">
                <a:latin typeface="Helvetica" pitchFamily="34" charset="0"/>
              </a:rPr>
              <a:t>Educational background</a:t>
            </a:r>
          </a:p>
          <a:p>
            <a:pPr lvl="0">
              <a:spcBef>
                <a:spcPts val="600"/>
              </a:spcBef>
              <a:spcAft>
                <a:spcPts val="1200"/>
              </a:spcAft>
            </a:pPr>
            <a:r>
              <a:rPr lang="en-AU" sz="2200" dirty="0" smtClean="0">
                <a:latin typeface="Helvetica" pitchFamily="34" charset="0"/>
              </a:rPr>
              <a:t>Sporting interests</a:t>
            </a:r>
          </a:p>
          <a:p>
            <a:pPr lvl="0">
              <a:spcBef>
                <a:spcPts val="600"/>
              </a:spcBef>
              <a:spcAft>
                <a:spcPts val="1200"/>
              </a:spcAft>
              <a:buNone/>
            </a:pPr>
            <a:r>
              <a:rPr lang="en-AU"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7" name="Picture 6" descr="MP900433109[1].JPG"/>
          <p:cNvPicPr/>
          <p:nvPr/>
        </p:nvPicPr>
        <p:blipFill>
          <a:blip r:embed="rId3" cstate="print"/>
          <a:stretch>
            <a:fillRect/>
          </a:stretch>
        </p:blipFill>
        <p:spPr>
          <a:xfrm>
            <a:off x="6300192" y="3789040"/>
            <a:ext cx="2092623" cy="216463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Diversity of customers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pPr>
            <a:r>
              <a:rPr lang="en-AU" sz="2200" dirty="0" smtClean="0">
                <a:latin typeface="Helvetica" pitchFamily="34" charset="0"/>
              </a:rPr>
              <a:t>Food and beverage tastes</a:t>
            </a:r>
          </a:p>
          <a:p>
            <a:pPr lvl="0">
              <a:spcBef>
                <a:spcPts val="600"/>
              </a:spcBef>
              <a:spcAft>
                <a:spcPts val="1200"/>
              </a:spcAft>
            </a:pPr>
            <a:r>
              <a:rPr lang="en-AU" sz="2200" dirty="0" smtClean="0">
                <a:latin typeface="Helvetica" pitchFamily="34" charset="0"/>
              </a:rPr>
              <a:t>Lifestyle background</a:t>
            </a:r>
          </a:p>
          <a:p>
            <a:pPr lvl="0">
              <a:spcBef>
                <a:spcPts val="600"/>
              </a:spcBef>
              <a:spcAft>
                <a:spcPts val="1200"/>
              </a:spcAft>
            </a:pPr>
            <a:r>
              <a:rPr lang="en-AU" sz="2200" dirty="0" smtClean="0">
                <a:latin typeface="Helvetica" pitchFamily="34" charset="0"/>
              </a:rPr>
              <a:t>Place of birth</a:t>
            </a:r>
          </a:p>
          <a:p>
            <a:pPr lvl="0">
              <a:spcBef>
                <a:spcPts val="600"/>
              </a:spcBef>
              <a:spcAft>
                <a:spcPts val="1200"/>
              </a:spcAft>
            </a:pPr>
            <a:r>
              <a:rPr lang="en-AU" sz="2200" dirty="0" smtClean="0">
                <a:latin typeface="Helvetica" pitchFamily="34" charset="0"/>
              </a:rPr>
              <a:t>Styles of communication</a:t>
            </a:r>
          </a:p>
          <a:p>
            <a:pPr lvl="0">
              <a:spcBef>
                <a:spcPts val="600"/>
              </a:spcBef>
              <a:spcAft>
                <a:spcPts val="1200"/>
              </a:spcAft>
            </a:pPr>
            <a:r>
              <a:rPr lang="en-AU" sz="2200" dirty="0" smtClean="0">
                <a:latin typeface="Helvetica" pitchFamily="34" charset="0"/>
              </a:rPr>
              <a:t>Religious beliefs</a:t>
            </a:r>
          </a:p>
          <a:p>
            <a:pPr lvl="0">
              <a:spcBef>
                <a:spcPts val="600"/>
              </a:spcBef>
              <a:spcAft>
                <a:spcPts val="1200"/>
              </a:spcAft>
            </a:pPr>
            <a:r>
              <a:rPr lang="en-AU" sz="2200" dirty="0" smtClean="0">
                <a:latin typeface="Helvetica" pitchFamily="34" charset="0"/>
              </a:rPr>
              <a:t>Preferred language.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6" name="Picture 5" descr="MP900439246[1].JPG"/>
          <p:cNvPicPr>
            <a:picLocks noChangeAspect="1"/>
          </p:cNvPicPr>
          <p:nvPr/>
        </p:nvPicPr>
        <p:blipFill>
          <a:blip r:embed="rId3" cstate="print"/>
          <a:stretch>
            <a:fillRect/>
          </a:stretch>
        </p:blipFill>
        <p:spPr>
          <a:xfrm>
            <a:off x="5508104" y="3356992"/>
            <a:ext cx="2933860" cy="2377824"/>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Valuing customers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525963"/>
          </a:xfrm>
        </p:spPr>
        <p:txBody>
          <a:bodyPr>
            <a:normAutofit/>
          </a:bodyPr>
          <a:lstStyle/>
          <a:p>
            <a:pPr marL="0">
              <a:spcBef>
                <a:spcPts val="600"/>
              </a:spcBef>
              <a:spcAft>
                <a:spcPts val="1200"/>
              </a:spcAft>
              <a:buNone/>
            </a:pPr>
            <a:r>
              <a:rPr lang="en-AU" sz="2200" dirty="0" smtClean="0">
                <a:latin typeface="Helvetica" pitchFamily="34" charset="0"/>
              </a:rPr>
              <a:t>An essential element of working in a socially diverse environment is to make sure that customers and colleagues feel valued:</a:t>
            </a:r>
          </a:p>
          <a:p>
            <a:pPr>
              <a:spcBef>
                <a:spcPts val="600"/>
              </a:spcBef>
              <a:spcAft>
                <a:spcPts val="1200"/>
              </a:spcAft>
            </a:pPr>
            <a:r>
              <a:rPr lang="en-AU" sz="2200" dirty="0" smtClean="0">
                <a:latin typeface="Helvetica" pitchFamily="34" charset="0"/>
              </a:rPr>
              <a:t>How can you make customers and                                       colleagues feel valued?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7" name="Picture 6" descr="MP900422965[1].JPG"/>
          <p:cNvPicPr>
            <a:picLocks noChangeAspect="1"/>
          </p:cNvPicPr>
          <p:nvPr/>
        </p:nvPicPr>
        <p:blipFill>
          <a:blip r:embed="rId3" cstate="print"/>
          <a:stretch>
            <a:fillRect/>
          </a:stretch>
        </p:blipFill>
        <p:spPr>
          <a:xfrm>
            <a:off x="6156176" y="3717032"/>
            <a:ext cx="2204864" cy="220486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Valuing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You must therefore make sure other staff understand that you place worth on their:</a:t>
            </a:r>
          </a:p>
          <a:p>
            <a:pPr lvl="0">
              <a:spcBef>
                <a:spcPts val="600"/>
              </a:spcBef>
              <a:spcAft>
                <a:spcPts val="1200"/>
              </a:spcAft>
            </a:pPr>
            <a:r>
              <a:rPr lang="en-AU" sz="2200" dirty="0" smtClean="0">
                <a:latin typeface="Helvetica" pitchFamily="34" charset="0"/>
              </a:rPr>
              <a:t>Working abilities and skills</a:t>
            </a:r>
          </a:p>
          <a:p>
            <a:pPr lvl="0">
              <a:spcBef>
                <a:spcPts val="600"/>
              </a:spcBef>
              <a:spcAft>
                <a:spcPts val="1200"/>
              </a:spcAft>
            </a:pPr>
            <a:r>
              <a:rPr lang="en-AU" sz="2200" dirty="0" smtClean="0">
                <a:latin typeface="Helvetica" pitchFamily="34" charset="0"/>
              </a:rPr>
              <a:t>Workplace and product knowledge</a:t>
            </a:r>
          </a:p>
          <a:p>
            <a:pPr lvl="0">
              <a:spcBef>
                <a:spcPts val="600"/>
              </a:spcBef>
              <a:spcAft>
                <a:spcPts val="1200"/>
              </a:spcAft>
            </a:pPr>
            <a:r>
              <a:rPr lang="en-AU" sz="2200" dirty="0" smtClean="0">
                <a:latin typeface="Helvetica" pitchFamily="34" charset="0"/>
              </a:rPr>
              <a:t>Experience</a:t>
            </a:r>
          </a:p>
          <a:p>
            <a:pPr lvl="0">
              <a:spcBef>
                <a:spcPts val="600"/>
              </a:spcBef>
              <a:spcAft>
                <a:spcPts val="1200"/>
              </a:spcAft>
            </a:pPr>
            <a:r>
              <a:rPr lang="en-AU" sz="2200" dirty="0" smtClean="0">
                <a:latin typeface="Helvetica" pitchFamily="34" charset="0"/>
              </a:rPr>
              <a:t>Their contribution to discussions</a:t>
            </a:r>
          </a:p>
          <a:p>
            <a:pPr lvl="0">
              <a:spcBef>
                <a:spcPts val="600"/>
              </a:spcBef>
              <a:spcAft>
                <a:spcPts val="1200"/>
              </a:spcAft>
            </a:pPr>
            <a:r>
              <a:rPr lang="en-AU" sz="2200" dirty="0" smtClean="0">
                <a:latin typeface="Helvetica" pitchFamily="34" charset="0"/>
              </a:rPr>
              <a:t>Achievement of team and workplace goals.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6" name="Picture 5" descr="MP900424431[1].JPG"/>
          <p:cNvPicPr/>
          <p:nvPr/>
        </p:nvPicPr>
        <p:blipFill>
          <a:blip r:embed="rId3" cstate="print"/>
          <a:stretch>
            <a:fillRect/>
          </a:stretch>
        </p:blipFill>
        <p:spPr>
          <a:xfrm>
            <a:off x="6948264" y="3645024"/>
            <a:ext cx="1725280" cy="233494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Valuing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85725" indent="0">
              <a:spcBef>
                <a:spcPts val="600"/>
              </a:spcBef>
              <a:spcAft>
                <a:spcPts val="1200"/>
              </a:spcAft>
              <a:buNone/>
            </a:pPr>
            <a:r>
              <a:rPr lang="en-AU" sz="2200" dirty="0" smtClean="0">
                <a:latin typeface="Helvetica" pitchFamily="34" charset="0"/>
              </a:rPr>
              <a:t>Make sure all customers understand you place worth on their:</a:t>
            </a:r>
          </a:p>
          <a:p>
            <a:pPr lvl="0">
              <a:spcBef>
                <a:spcPts val="600"/>
              </a:spcBef>
              <a:spcAft>
                <a:spcPts val="1200"/>
              </a:spcAft>
            </a:pPr>
            <a:r>
              <a:rPr lang="en-AU" sz="2200" dirty="0" smtClean="0">
                <a:latin typeface="Helvetica" pitchFamily="34" charset="0"/>
              </a:rPr>
              <a:t>Presence on the premises</a:t>
            </a:r>
          </a:p>
          <a:p>
            <a:pPr lvl="0">
              <a:spcBef>
                <a:spcPts val="600"/>
              </a:spcBef>
              <a:spcAft>
                <a:spcPts val="1200"/>
              </a:spcAft>
            </a:pPr>
            <a:r>
              <a:rPr lang="en-AU" sz="2200" dirty="0" smtClean="0">
                <a:latin typeface="Helvetica" pitchFamily="34" charset="0"/>
              </a:rPr>
              <a:t>The money they spend with us</a:t>
            </a:r>
          </a:p>
          <a:p>
            <a:pPr>
              <a:spcBef>
                <a:spcPts val="600"/>
              </a:spcBef>
              <a:spcAft>
                <a:spcPts val="1200"/>
              </a:spcAft>
            </a:pPr>
            <a:r>
              <a:rPr lang="en-AU" sz="2200" dirty="0" smtClean="0">
                <a:latin typeface="Helvetica" pitchFamily="34" charset="0"/>
              </a:rPr>
              <a:t>The other customers they bring to                                    the business.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7" name="Picture 6" descr="MP900411794[1].JPG"/>
          <p:cNvPicPr/>
          <p:nvPr/>
        </p:nvPicPr>
        <p:blipFill>
          <a:blip r:embed="rId3" cstate="print"/>
          <a:stretch>
            <a:fillRect/>
          </a:stretch>
        </p:blipFill>
        <p:spPr>
          <a:xfrm>
            <a:off x="6516216" y="3429000"/>
            <a:ext cx="1838697" cy="243877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Respect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Respect means:</a:t>
            </a:r>
          </a:p>
          <a:p>
            <a:pPr lvl="0">
              <a:spcBef>
                <a:spcPts val="600"/>
              </a:spcBef>
              <a:spcAft>
                <a:spcPts val="1200"/>
              </a:spcAft>
            </a:pPr>
            <a:r>
              <a:rPr lang="en-AU" sz="2200" dirty="0" smtClean="0">
                <a:latin typeface="Helvetica" pitchFamily="34" charset="0"/>
              </a:rPr>
              <a:t>Holding that person in high regard for who they are,   not what they are</a:t>
            </a:r>
          </a:p>
          <a:p>
            <a:pPr lvl="0">
              <a:spcBef>
                <a:spcPts val="600"/>
              </a:spcBef>
              <a:spcAft>
                <a:spcPts val="1200"/>
              </a:spcAft>
            </a:pPr>
            <a:r>
              <a:rPr lang="en-AU" sz="2200" dirty="0" smtClean="0">
                <a:latin typeface="Helvetica" pitchFamily="34" charset="0"/>
              </a:rPr>
              <a:t>Being deferential in the way the person is treated’</a:t>
            </a:r>
          </a:p>
          <a:p>
            <a:pPr lvl="0">
              <a:spcBef>
                <a:spcPts val="600"/>
              </a:spcBef>
              <a:spcAft>
                <a:spcPts val="1200"/>
              </a:spcAft>
            </a:pPr>
            <a:r>
              <a:rPr lang="en-AU" sz="2200" dirty="0" smtClean="0">
                <a:latin typeface="Helvetica" pitchFamily="34" charset="0"/>
              </a:rPr>
              <a:t>Showing courtesy to the person.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6" name="Picture 5" descr="00443186.jpg"/>
          <p:cNvPicPr/>
          <p:nvPr/>
        </p:nvPicPr>
        <p:blipFill>
          <a:blip r:embed="rId3" cstate="print"/>
          <a:stretch>
            <a:fillRect/>
          </a:stretch>
        </p:blipFill>
        <p:spPr>
          <a:xfrm>
            <a:off x="5796136" y="4149080"/>
            <a:ext cx="2585507" cy="1843261"/>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Sensitivity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Being sensitive to the cultural needs of others involves:</a:t>
            </a:r>
          </a:p>
          <a:p>
            <a:pPr lvl="0">
              <a:spcBef>
                <a:spcPts val="600"/>
              </a:spcBef>
              <a:spcAft>
                <a:spcPts val="1200"/>
              </a:spcAft>
            </a:pPr>
            <a:r>
              <a:rPr lang="en-AU" sz="2200" dirty="0" smtClean="0">
                <a:latin typeface="Helvetica" pitchFamily="34" charset="0"/>
              </a:rPr>
              <a:t>Identifying what their cultural or social background is</a:t>
            </a:r>
          </a:p>
          <a:p>
            <a:pPr lvl="0">
              <a:spcBef>
                <a:spcPts val="600"/>
              </a:spcBef>
              <a:spcAft>
                <a:spcPts val="1200"/>
              </a:spcAft>
            </a:pPr>
            <a:r>
              <a:rPr lang="en-AU" sz="2200" dirty="0" smtClean="0">
                <a:latin typeface="Helvetica" pitchFamily="34" charset="0"/>
              </a:rPr>
              <a:t>Determining what special considerations should be given to that person</a:t>
            </a:r>
          </a:p>
          <a:p>
            <a:pPr lvl="0">
              <a:spcBef>
                <a:spcPts val="600"/>
              </a:spcBef>
              <a:spcAft>
                <a:spcPts val="1200"/>
              </a:spcAft>
            </a:pPr>
            <a:r>
              <a:rPr lang="en-AU" sz="2200" dirty="0" smtClean="0">
                <a:latin typeface="Helvetica" pitchFamily="34" charset="0"/>
              </a:rPr>
              <a:t>Taking action to ensure that their specific cultural needs are met to the best of your ability, </a:t>
            </a:r>
            <a:br>
              <a:rPr lang="en-AU" sz="2200" dirty="0" smtClean="0">
                <a:latin typeface="Helvetica" pitchFamily="34" charset="0"/>
              </a:rPr>
            </a:br>
            <a:r>
              <a:rPr lang="en-AU" sz="2200" dirty="0" smtClean="0">
                <a:latin typeface="Helvetica" pitchFamily="34" charset="0"/>
              </a:rPr>
              <a:t>in-line with your other work-related </a:t>
            </a:r>
            <a:br>
              <a:rPr lang="en-AU" sz="2200" dirty="0" smtClean="0">
                <a:latin typeface="Helvetica" pitchFamily="34" charset="0"/>
              </a:rPr>
            </a:br>
            <a:r>
              <a:rPr lang="en-AU" sz="2200" dirty="0" smtClean="0">
                <a:latin typeface="Helvetica" pitchFamily="34" charset="0"/>
              </a:rPr>
              <a:t>obligations.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7" name="Picture 6" descr="00422223.jpg"/>
          <p:cNvPicPr/>
          <p:nvPr/>
        </p:nvPicPr>
        <p:blipFill>
          <a:blip r:embed="rId3" cstate="print"/>
          <a:stretch>
            <a:fillRect/>
          </a:stretch>
        </p:blipFill>
        <p:spPr>
          <a:xfrm>
            <a:off x="7092280" y="4005064"/>
            <a:ext cx="1415033" cy="2016224"/>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Sensitivity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buNone/>
            </a:pPr>
            <a:r>
              <a:rPr lang="en-AU" sz="2200" dirty="0" smtClean="0">
                <a:latin typeface="Helvetica" pitchFamily="34" charset="0"/>
              </a:rPr>
              <a:t>In essence, being sensitive means knowing that another person merits consideration based on their cultural or social background, and accommodating that need.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6" name="Picture 5" descr="MP900446484[1].JPG"/>
          <p:cNvPicPr>
            <a:picLocks noChangeAspect="1"/>
          </p:cNvPicPr>
          <p:nvPr/>
        </p:nvPicPr>
        <p:blipFill>
          <a:blip r:embed="rId3" cstate="print"/>
          <a:stretch>
            <a:fillRect/>
          </a:stretch>
        </p:blipFill>
        <p:spPr>
          <a:xfrm>
            <a:off x="6516216" y="3140968"/>
            <a:ext cx="1925960" cy="288894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Different cultural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600"/>
              </a:spcAft>
              <a:buNone/>
            </a:pPr>
            <a:r>
              <a:rPr lang="en-AU" sz="2200" dirty="0" smtClean="0">
                <a:latin typeface="Helvetica" pitchFamily="34" charset="0"/>
              </a:rPr>
              <a:t>Colleagues and customers come from all corners of the globe including:</a:t>
            </a:r>
          </a:p>
          <a:p>
            <a:pPr lvl="0">
              <a:spcBef>
                <a:spcPts val="600"/>
              </a:spcBef>
              <a:spcAft>
                <a:spcPts val="600"/>
              </a:spcAft>
            </a:pPr>
            <a:r>
              <a:rPr lang="en-AU" sz="2200" dirty="0" smtClean="0">
                <a:latin typeface="Helvetica" pitchFamily="34" charset="0"/>
              </a:rPr>
              <a:t>ASEAN countries</a:t>
            </a:r>
          </a:p>
          <a:p>
            <a:pPr lvl="0">
              <a:spcBef>
                <a:spcPts val="600"/>
              </a:spcBef>
              <a:spcAft>
                <a:spcPts val="600"/>
              </a:spcAft>
            </a:pPr>
            <a:r>
              <a:rPr lang="en-AU" sz="2200" dirty="0" smtClean="0">
                <a:latin typeface="Helvetica" pitchFamily="34" charset="0"/>
              </a:rPr>
              <a:t>Other Asian countries</a:t>
            </a:r>
          </a:p>
          <a:p>
            <a:pPr lvl="0">
              <a:spcBef>
                <a:spcPts val="600"/>
              </a:spcBef>
              <a:spcAft>
                <a:spcPts val="600"/>
              </a:spcAft>
            </a:pPr>
            <a:r>
              <a:rPr lang="en-AU" sz="2200" dirty="0" smtClean="0">
                <a:latin typeface="Helvetica" pitchFamily="34" charset="0"/>
              </a:rPr>
              <a:t>European Community countries </a:t>
            </a:r>
          </a:p>
          <a:p>
            <a:pPr lvl="0">
              <a:spcBef>
                <a:spcPts val="600"/>
              </a:spcBef>
              <a:spcAft>
                <a:spcPts val="600"/>
              </a:spcAft>
            </a:pPr>
            <a:r>
              <a:rPr lang="en-AU" sz="2200" dirty="0" smtClean="0">
                <a:latin typeface="Helvetica" pitchFamily="34" charset="0"/>
              </a:rPr>
              <a:t>Middle Eastern countries </a:t>
            </a:r>
          </a:p>
          <a:p>
            <a:pPr lvl="0">
              <a:spcBef>
                <a:spcPts val="600"/>
              </a:spcBef>
              <a:spcAft>
                <a:spcPts val="600"/>
              </a:spcAft>
            </a:pPr>
            <a:r>
              <a:rPr lang="en-AU" sz="2200" dirty="0" smtClean="0">
                <a:latin typeface="Helvetica" pitchFamily="34" charset="0"/>
              </a:rPr>
              <a:t>Subcontinent Countries</a:t>
            </a:r>
          </a:p>
          <a:p>
            <a:pPr lvl="0">
              <a:spcBef>
                <a:spcPts val="600"/>
              </a:spcBef>
              <a:spcAft>
                <a:spcPts val="600"/>
              </a:spcAft>
            </a:pPr>
            <a:r>
              <a:rPr lang="en-AU" sz="2200" dirty="0" smtClean="0">
                <a:latin typeface="Helvetica" pitchFamily="34" charset="0"/>
              </a:rPr>
              <a:t>North &amp; South American countries</a:t>
            </a:r>
          </a:p>
          <a:p>
            <a:pPr lvl="0">
              <a:spcBef>
                <a:spcPts val="600"/>
              </a:spcBef>
              <a:spcAft>
                <a:spcPts val="600"/>
              </a:spcAft>
            </a:pPr>
            <a:r>
              <a:rPr lang="en-AU" sz="2200" dirty="0" smtClean="0">
                <a:latin typeface="Helvetica" pitchFamily="34" charset="0"/>
              </a:rPr>
              <a:t>African Countries</a:t>
            </a:r>
          </a:p>
          <a:p>
            <a:pPr lvl="0">
              <a:spcBef>
                <a:spcPts val="600"/>
              </a:spcBef>
              <a:spcAft>
                <a:spcPts val="600"/>
              </a:spcAft>
            </a:pPr>
            <a:r>
              <a:rPr lang="en-AU" sz="2200" dirty="0" smtClean="0">
                <a:latin typeface="Helvetica" pitchFamily="34" charset="0"/>
              </a:rPr>
              <a:t>Oceania Countries.</a:t>
            </a:r>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7" name="Picture 6" descr="MP900400689[1].JPG"/>
          <p:cNvPicPr>
            <a:picLocks noChangeAspect="1"/>
          </p:cNvPicPr>
          <p:nvPr/>
        </p:nvPicPr>
        <p:blipFill>
          <a:blip r:embed="rId3" cstate="print"/>
          <a:stretch>
            <a:fillRect/>
          </a:stretch>
        </p:blipFill>
        <p:spPr>
          <a:xfrm>
            <a:off x="6732240" y="3212976"/>
            <a:ext cx="1697554" cy="254508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Different cultural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Diversity of colleagues</a:t>
            </a:r>
          </a:p>
          <a:p>
            <a:pPr marL="0">
              <a:spcBef>
                <a:spcPts val="600"/>
              </a:spcBef>
              <a:spcAft>
                <a:spcPts val="1200"/>
              </a:spcAft>
              <a:buNone/>
            </a:pPr>
            <a:r>
              <a:rPr lang="en-AU" sz="2200" dirty="0" smtClean="0">
                <a:latin typeface="Helvetica" pitchFamily="34" charset="0"/>
              </a:rPr>
              <a:t>Our industry traditionally employs people from many countries either as full-time staff who have: </a:t>
            </a:r>
          </a:p>
          <a:p>
            <a:pPr marL="0">
              <a:spcBef>
                <a:spcPts val="600"/>
              </a:spcBef>
              <a:spcAft>
                <a:spcPts val="1200"/>
              </a:spcAft>
            </a:pPr>
            <a:r>
              <a:rPr lang="en-AU" sz="2200" dirty="0" smtClean="0">
                <a:latin typeface="Helvetica" pitchFamily="34" charset="0"/>
              </a:rPr>
              <a:t>Residency in the country</a:t>
            </a:r>
          </a:p>
          <a:p>
            <a:pPr marL="0">
              <a:spcBef>
                <a:spcPts val="600"/>
              </a:spcBef>
              <a:spcAft>
                <a:spcPts val="1200"/>
              </a:spcAft>
            </a:pPr>
            <a:r>
              <a:rPr lang="en-AU" sz="2200" dirty="0" smtClean="0">
                <a:latin typeface="Helvetica" pitchFamily="34" charset="0"/>
              </a:rPr>
              <a:t>Work visas.</a:t>
            </a:r>
          </a:p>
          <a:p>
            <a:pPr marL="0">
              <a:spcBef>
                <a:spcPts val="600"/>
              </a:spcBef>
              <a:spcAft>
                <a:spcPts val="1200"/>
              </a:spcAft>
              <a:buNone/>
            </a:pPr>
            <a:r>
              <a:rPr lang="en-AU" sz="2200" i="1" dirty="0" smtClean="0">
                <a:latin typeface="Helvetica" pitchFamily="34" charset="0"/>
              </a:rPr>
              <a:t>Some of these will be first generation and                            many will be second or third generation.</a:t>
            </a:r>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6" name="Picture 5" descr="MP900431742[1].JPG"/>
          <p:cNvPicPr>
            <a:picLocks noChangeAspect="1"/>
          </p:cNvPicPr>
          <p:nvPr/>
        </p:nvPicPr>
        <p:blipFill>
          <a:blip r:embed="rId3" cstate="print"/>
          <a:stretch>
            <a:fillRect/>
          </a:stretch>
        </p:blipFill>
        <p:spPr>
          <a:xfrm>
            <a:off x="6516216" y="3933056"/>
            <a:ext cx="1988840" cy="198884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Different cultural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Diversity of customers</a:t>
            </a:r>
          </a:p>
          <a:p>
            <a:pPr marL="421200">
              <a:spcBef>
                <a:spcPts val="600"/>
              </a:spcBef>
              <a:spcAft>
                <a:spcPts val="1200"/>
              </a:spcAft>
            </a:pPr>
            <a:r>
              <a:rPr lang="en-AU" sz="2200" dirty="0" smtClean="0">
                <a:latin typeface="Helvetica" pitchFamily="34" charset="0"/>
              </a:rPr>
              <a:t>Every hospitality and tourism business will have specific countries from which their customers come from</a:t>
            </a:r>
          </a:p>
          <a:p>
            <a:pPr marL="421200">
              <a:spcBef>
                <a:spcPts val="600"/>
              </a:spcBef>
              <a:spcAft>
                <a:spcPts val="1200"/>
              </a:spcAft>
            </a:pPr>
            <a:r>
              <a:rPr lang="en-AU" sz="2200" dirty="0" smtClean="0">
                <a:latin typeface="Helvetica" pitchFamily="34" charset="0"/>
              </a:rPr>
              <a:t>It is important that the organisation and their staff understand the profile of their customers</a:t>
            </a:r>
          </a:p>
          <a:p>
            <a:pPr marL="421200">
              <a:spcBef>
                <a:spcPts val="600"/>
              </a:spcBef>
              <a:spcAft>
                <a:spcPts val="1200"/>
              </a:spcAft>
            </a:pPr>
            <a:r>
              <a:rPr lang="en-AU" sz="2200" dirty="0" smtClean="0">
                <a:latin typeface="Helvetica" pitchFamily="34" charset="0"/>
              </a:rPr>
              <a:t>This enables them to tailor their                                     products and services.</a:t>
            </a:r>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7" name="Picture 6" descr="MP900438891[1].JPG"/>
          <p:cNvPicPr/>
          <p:nvPr/>
        </p:nvPicPr>
        <p:blipFill>
          <a:blip r:embed="rId3" cstate="print"/>
          <a:stretch>
            <a:fillRect/>
          </a:stretch>
        </p:blipFill>
        <p:spPr>
          <a:xfrm>
            <a:off x="6012160" y="4437112"/>
            <a:ext cx="2415530" cy="171906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Understanding cultural differences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Knowing about the various cultural differences that exist does not come naturally.</a:t>
            </a:r>
          </a:p>
          <a:p>
            <a:pPr marL="0">
              <a:spcBef>
                <a:spcPts val="600"/>
              </a:spcBef>
              <a:spcAft>
                <a:spcPts val="1200"/>
              </a:spcAft>
              <a:buNone/>
            </a:pPr>
            <a:r>
              <a:rPr lang="en-AU" sz="2200" dirty="0" smtClean="0">
                <a:latin typeface="Helvetica" pitchFamily="34" charset="0"/>
              </a:rPr>
              <a:t>The first requirement in understanding these differences is a desire to find out about:</a:t>
            </a:r>
          </a:p>
          <a:p>
            <a:pPr>
              <a:spcBef>
                <a:spcPts val="600"/>
              </a:spcBef>
              <a:spcAft>
                <a:spcPts val="1200"/>
              </a:spcAft>
            </a:pPr>
            <a:r>
              <a:rPr lang="en-AU" sz="2200" dirty="0" smtClean="0">
                <a:latin typeface="Helvetica" pitchFamily="34" charset="0"/>
              </a:rPr>
              <a:t>How these cultures vary</a:t>
            </a:r>
          </a:p>
          <a:p>
            <a:pPr>
              <a:spcBef>
                <a:spcPts val="600"/>
              </a:spcBef>
              <a:spcAft>
                <a:spcPts val="1200"/>
              </a:spcAft>
            </a:pPr>
            <a:r>
              <a:rPr lang="en-AU" sz="2200" dirty="0" smtClean="0">
                <a:latin typeface="Helvetica" pitchFamily="34" charset="0"/>
              </a:rPr>
              <a:t>How you can accommodate those needs.</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r>
              <a:rPr lang="en-AU" sz="2200" b="1" i="1" dirty="0" smtClean="0">
                <a:latin typeface="Helvetica" pitchFamily="34" charset="0"/>
              </a:rPr>
              <a:t>Which businesses are successful in</a:t>
            </a:r>
            <a:br>
              <a:rPr lang="en-AU" sz="2200" b="1" i="1" dirty="0" smtClean="0">
                <a:latin typeface="Helvetica" pitchFamily="34" charset="0"/>
              </a:rPr>
            </a:br>
            <a:r>
              <a:rPr lang="en-AU" sz="2200" b="1" i="1" dirty="0" smtClean="0">
                <a:latin typeface="Helvetica" pitchFamily="34" charset="0"/>
              </a:rPr>
              <a:t>catering to different cultural customers?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6" name="Picture 5" descr="MP900202243[1].JPG"/>
          <p:cNvPicPr>
            <a:picLocks noChangeAspect="1"/>
          </p:cNvPicPr>
          <p:nvPr/>
        </p:nvPicPr>
        <p:blipFill>
          <a:blip r:embed="rId3" cstate="print"/>
          <a:stretch>
            <a:fillRect/>
          </a:stretch>
        </p:blipFill>
        <p:spPr>
          <a:xfrm>
            <a:off x="6300192" y="4365104"/>
            <a:ext cx="2259770" cy="151028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Learning about cultural differences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Cultural awareness programs</a:t>
            </a:r>
          </a:p>
          <a:p>
            <a:pPr lvl="0">
              <a:spcBef>
                <a:spcPts val="600"/>
              </a:spcBef>
              <a:spcAft>
                <a:spcPts val="1200"/>
              </a:spcAft>
            </a:pPr>
            <a:r>
              <a:rPr lang="en-AU" sz="2200" dirty="0" smtClean="0">
                <a:latin typeface="Helvetica" pitchFamily="34" charset="0"/>
              </a:rPr>
              <a:t>Basic greetings and phrases</a:t>
            </a:r>
          </a:p>
          <a:p>
            <a:pPr lvl="0">
              <a:spcBef>
                <a:spcPts val="600"/>
              </a:spcBef>
              <a:spcAft>
                <a:spcPts val="1200"/>
              </a:spcAft>
            </a:pPr>
            <a:r>
              <a:rPr lang="en-AU" sz="2200" dirty="0" smtClean="0">
                <a:latin typeface="Helvetica" pitchFamily="34" charset="0"/>
              </a:rPr>
              <a:t>Body language of that country</a:t>
            </a:r>
          </a:p>
          <a:p>
            <a:pPr lvl="0">
              <a:spcBef>
                <a:spcPts val="600"/>
              </a:spcBef>
              <a:spcAft>
                <a:spcPts val="1200"/>
              </a:spcAft>
            </a:pPr>
            <a:r>
              <a:rPr lang="en-AU" sz="2200" dirty="0" smtClean="0">
                <a:latin typeface="Helvetica" pitchFamily="34" charset="0"/>
              </a:rPr>
              <a:t>General expectations of people from that country </a:t>
            </a:r>
          </a:p>
          <a:p>
            <a:pPr lvl="0">
              <a:spcBef>
                <a:spcPts val="600"/>
              </a:spcBef>
              <a:spcAft>
                <a:spcPts val="1200"/>
              </a:spcAft>
            </a:pPr>
            <a:r>
              <a:rPr lang="en-AU" sz="2200" dirty="0" smtClean="0">
                <a:latin typeface="Helvetica" pitchFamily="34" charset="0"/>
              </a:rPr>
              <a:t>History of their country</a:t>
            </a:r>
          </a:p>
          <a:p>
            <a:pPr lvl="0">
              <a:spcBef>
                <a:spcPts val="600"/>
              </a:spcBef>
              <a:spcAft>
                <a:spcPts val="1200"/>
              </a:spcAft>
            </a:pPr>
            <a:r>
              <a:rPr lang="en-AU" sz="2200" dirty="0" smtClean="0">
                <a:latin typeface="Helvetica" pitchFamily="34" charset="0"/>
              </a:rPr>
              <a:t>Basic geographical awareness.</a:t>
            </a:r>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8" name="Picture 7" descr="MP900430755[1].JPG"/>
          <p:cNvPicPr>
            <a:picLocks noChangeAspect="1"/>
          </p:cNvPicPr>
          <p:nvPr/>
        </p:nvPicPr>
        <p:blipFill>
          <a:blip r:embed="rId3" cstate="print"/>
          <a:stretch>
            <a:fillRect/>
          </a:stretch>
        </p:blipFill>
        <p:spPr>
          <a:xfrm>
            <a:off x="6444208" y="3789040"/>
            <a:ext cx="2036698" cy="206084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Learning about cultural differences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Cultural awareness programs</a:t>
            </a:r>
          </a:p>
          <a:p>
            <a:pPr lvl="0">
              <a:spcBef>
                <a:spcPts val="600"/>
              </a:spcBef>
              <a:spcAft>
                <a:spcPts val="1200"/>
              </a:spcAft>
            </a:pPr>
            <a:r>
              <a:rPr lang="en-AU" sz="2200" dirty="0" smtClean="0">
                <a:latin typeface="Helvetica" pitchFamily="34" charset="0"/>
              </a:rPr>
              <a:t>Contributions made by that country to the world</a:t>
            </a:r>
          </a:p>
          <a:p>
            <a:pPr lvl="0">
              <a:spcBef>
                <a:spcPts val="600"/>
              </a:spcBef>
              <a:spcAft>
                <a:spcPts val="1200"/>
              </a:spcAft>
            </a:pPr>
            <a:r>
              <a:rPr lang="en-AU" sz="2200" dirty="0" smtClean="0">
                <a:latin typeface="Helvetica" pitchFamily="34" charset="0"/>
              </a:rPr>
              <a:t>Religious issues and observations</a:t>
            </a:r>
          </a:p>
          <a:p>
            <a:pPr lvl="0">
              <a:spcBef>
                <a:spcPts val="600"/>
              </a:spcBef>
              <a:spcAft>
                <a:spcPts val="1200"/>
              </a:spcAft>
            </a:pPr>
            <a:r>
              <a:rPr lang="en-AU" sz="2200" dirty="0" smtClean="0">
                <a:latin typeface="Helvetica" pitchFamily="34" charset="0"/>
              </a:rPr>
              <a:t>Values and value systems</a:t>
            </a:r>
          </a:p>
          <a:p>
            <a:pPr lvl="0">
              <a:spcBef>
                <a:spcPts val="600"/>
              </a:spcBef>
              <a:spcAft>
                <a:spcPts val="1200"/>
              </a:spcAft>
            </a:pPr>
            <a:r>
              <a:rPr lang="en-AU" sz="2200" dirty="0" smtClean="0">
                <a:latin typeface="Helvetica" pitchFamily="34" charset="0"/>
              </a:rPr>
              <a:t>Customs and taboos</a:t>
            </a:r>
          </a:p>
          <a:p>
            <a:pPr lvl="0">
              <a:spcBef>
                <a:spcPts val="600"/>
              </a:spcBef>
              <a:spcAft>
                <a:spcPts val="1200"/>
              </a:spcAft>
            </a:pPr>
            <a:r>
              <a:rPr lang="en-AU" sz="2200" dirty="0" smtClean="0">
                <a:latin typeface="Helvetica" pitchFamily="34" charset="0"/>
              </a:rPr>
              <a:t>Beliefs</a:t>
            </a:r>
          </a:p>
          <a:p>
            <a:pPr lvl="0">
              <a:spcBef>
                <a:spcPts val="600"/>
              </a:spcBef>
              <a:spcAft>
                <a:spcPts val="1200"/>
              </a:spcAft>
            </a:pPr>
            <a:r>
              <a:rPr lang="en-AU" sz="2200" dirty="0" smtClean="0">
                <a:latin typeface="Helvetica" pitchFamily="34" charset="0"/>
              </a:rPr>
              <a:t>Role and importance of family.</a:t>
            </a:r>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descr="MP900422324[1].JPG"/>
          <p:cNvPicPr/>
          <p:nvPr/>
        </p:nvPicPr>
        <p:blipFill>
          <a:blip r:embed="rId3" cstate="print"/>
          <a:stretch>
            <a:fillRect/>
          </a:stretch>
        </p:blipFill>
        <p:spPr>
          <a:xfrm>
            <a:off x="6660232" y="3501008"/>
            <a:ext cx="1761158" cy="2416473"/>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Learning about cultural differences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Talk to people from different cultures and countries</a:t>
            </a:r>
          </a:p>
          <a:p>
            <a:pPr lvl="0">
              <a:spcBef>
                <a:spcPts val="600"/>
              </a:spcBef>
              <a:spcAft>
                <a:spcPts val="1200"/>
              </a:spcAft>
            </a:pPr>
            <a:r>
              <a:rPr lang="en-AU" sz="2200" dirty="0" smtClean="0">
                <a:latin typeface="Helvetica" pitchFamily="34" charset="0"/>
              </a:rPr>
              <a:t>Staff</a:t>
            </a:r>
          </a:p>
          <a:p>
            <a:pPr lvl="0">
              <a:spcBef>
                <a:spcPts val="600"/>
              </a:spcBef>
              <a:spcAft>
                <a:spcPts val="1200"/>
              </a:spcAft>
            </a:pPr>
            <a:r>
              <a:rPr lang="en-AU" sz="2200" dirty="0" smtClean="0">
                <a:latin typeface="Helvetica" pitchFamily="34" charset="0"/>
              </a:rPr>
              <a:t>Customers</a:t>
            </a:r>
          </a:p>
          <a:p>
            <a:pPr lvl="0">
              <a:spcBef>
                <a:spcPts val="600"/>
              </a:spcBef>
              <a:spcAft>
                <a:spcPts val="1200"/>
              </a:spcAft>
            </a:pPr>
            <a:r>
              <a:rPr lang="en-AU" sz="2200" dirty="0" smtClean="0">
                <a:latin typeface="Helvetica" pitchFamily="34" charset="0"/>
              </a:rPr>
              <a:t>Friends</a:t>
            </a:r>
          </a:p>
          <a:p>
            <a:pPr lvl="0">
              <a:spcBef>
                <a:spcPts val="600"/>
              </a:spcBef>
              <a:spcAft>
                <a:spcPts val="1200"/>
              </a:spcAft>
            </a:pPr>
            <a:r>
              <a:rPr lang="en-AU" sz="2200" dirty="0" smtClean="0">
                <a:latin typeface="Helvetica" pitchFamily="34" charset="0"/>
              </a:rPr>
              <a:t>Network of contacts industry</a:t>
            </a:r>
          </a:p>
          <a:p>
            <a:pPr lvl="0">
              <a:spcBef>
                <a:spcPts val="600"/>
              </a:spcBef>
              <a:spcAft>
                <a:spcPts val="1200"/>
              </a:spcAft>
            </a:pPr>
            <a:r>
              <a:rPr lang="en-AU" sz="2200" dirty="0" smtClean="0">
                <a:latin typeface="Helvetica" pitchFamily="34" charset="0"/>
              </a:rPr>
              <a:t>Industry stakeholders</a:t>
            </a:r>
          </a:p>
          <a:p>
            <a:pPr lvl="0">
              <a:spcBef>
                <a:spcPts val="600"/>
              </a:spcBef>
              <a:spcAft>
                <a:spcPts val="1200"/>
              </a:spcAft>
              <a:buNone/>
            </a:pPr>
            <a:r>
              <a:rPr lang="en-AU" sz="2200" i="1" dirty="0" smtClean="0">
                <a:latin typeface="Helvetica" pitchFamily="34" charset="0"/>
              </a:rPr>
              <a:t>(Continued)</a:t>
            </a:r>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6" name="Picture 5" descr="MP900202243[1].JPG"/>
          <p:cNvPicPr/>
          <p:nvPr/>
        </p:nvPicPr>
        <p:blipFill>
          <a:blip r:embed="rId3" cstate="print"/>
          <a:stretch>
            <a:fillRect/>
          </a:stretch>
        </p:blipFill>
        <p:spPr>
          <a:xfrm>
            <a:off x="5724128" y="3933056"/>
            <a:ext cx="2710790" cy="176172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Learning about cultural differences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Reading books</a:t>
            </a:r>
          </a:p>
          <a:p>
            <a:pPr>
              <a:spcBef>
                <a:spcPts val="600"/>
              </a:spcBef>
              <a:spcAft>
                <a:spcPts val="1200"/>
              </a:spcAft>
            </a:pPr>
            <a:r>
              <a:rPr lang="en-AU" sz="2200" dirty="0" smtClean="0">
                <a:latin typeface="Helvetica" pitchFamily="34" charset="0"/>
              </a:rPr>
              <a:t>Watching DVDs</a:t>
            </a:r>
          </a:p>
          <a:p>
            <a:pPr>
              <a:spcBef>
                <a:spcPts val="600"/>
              </a:spcBef>
              <a:spcAft>
                <a:spcPts val="1200"/>
              </a:spcAft>
            </a:pPr>
            <a:r>
              <a:rPr lang="en-AU" sz="2200" dirty="0" smtClean="0">
                <a:latin typeface="Helvetica" pitchFamily="34" charset="0"/>
              </a:rPr>
              <a:t>Online research</a:t>
            </a:r>
          </a:p>
          <a:p>
            <a:pPr>
              <a:spcBef>
                <a:spcPts val="600"/>
              </a:spcBef>
              <a:spcAft>
                <a:spcPts val="1200"/>
              </a:spcAft>
            </a:pPr>
            <a:r>
              <a:rPr lang="en-AU" sz="2200" dirty="0" smtClean="0">
                <a:latin typeface="Helvetica" pitchFamily="34" charset="0"/>
              </a:rPr>
              <a:t>Visit embassies and consulates                                         of various countries.</a:t>
            </a: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7" name="Picture 6" descr="j0409601.jpg"/>
          <p:cNvPicPr/>
          <p:nvPr/>
        </p:nvPicPr>
        <p:blipFill>
          <a:blip r:embed="rId3" cstate="print"/>
          <a:stretch>
            <a:fillRect/>
          </a:stretch>
        </p:blipFill>
        <p:spPr>
          <a:xfrm>
            <a:off x="6012160" y="4005064"/>
            <a:ext cx="2439839" cy="179563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Considering cultural differences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Working in a socially diverse environment necessitates communicating with people from different cultural and social backgrounds.</a:t>
            </a:r>
          </a:p>
          <a:p>
            <a:pPr marL="0">
              <a:spcBef>
                <a:spcPts val="600"/>
              </a:spcBef>
              <a:spcAft>
                <a:spcPts val="1200"/>
              </a:spcAft>
              <a:buNone/>
            </a:pPr>
            <a:r>
              <a:rPr lang="en-AU" sz="2200" dirty="0" smtClean="0">
                <a:latin typeface="Helvetica" pitchFamily="34" charset="0"/>
              </a:rPr>
              <a:t>Ensure that the two components of communication are appropriate to the person and culture being communicated with:</a:t>
            </a:r>
          </a:p>
          <a:p>
            <a:pPr marL="0">
              <a:spcBef>
                <a:spcPts val="600"/>
              </a:spcBef>
              <a:spcAft>
                <a:spcPts val="1200"/>
              </a:spcAft>
            </a:pPr>
            <a:r>
              <a:rPr lang="en-AU" sz="2200" dirty="0" smtClean="0">
                <a:latin typeface="Helvetica" pitchFamily="34" charset="0"/>
              </a:rPr>
              <a:t>Verbal language</a:t>
            </a:r>
          </a:p>
          <a:p>
            <a:pPr marL="0">
              <a:spcBef>
                <a:spcPts val="600"/>
              </a:spcBef>
              <a:spcAft>
                <a:spcPts val="1200"/>
              </a:spcAft>
            </a:pPr>
            <a:r>
              <a:rPr lang="en-AU" sz="2200" dirty="0" smtClean="0">
                <a:latin typeface="Helvetica" pitchFamily="34" charset="0"/>
              </a:rPr>
              <a:t>Body language.</a:t>
            </a: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6" name="Picture 5" descr="j0422562.jpg"/>
          <p:cNvPicPr/>
          <p:nvPr/>
        </p:nvPicPr>
        <p:blipFill>
          <a:blip r:embed="rId3" cstate="print"/>
          <a:stretch>
            <a:fillRect/>
          </a:stretch>
        </p:blipFill>
        <p:spPr>
          <a:xfrm>
            <a:off x="6444208" y="3933056"/>
            <a:ext cx="2053952" cy="2063477"/>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008112"/>
          </a:xfrm>
        </p:spPr>
        <p:txBody>
          <a:bodyPr>
            <a:normAutofit/>
          </a:bodyPr>
          <a:lstStyle/>
          <a:p>
            <a:r>
              <a:rPr lang="en-US" sz="3400" b="1" dirty="0" smtClean="0">
                <a:solidFill>
                  <a:srgbClr val="FF6600"/>
                </a:solidFill>
                <a:latin typeface="Helvetica" pitchFamily="34" charset="0"/>
              </a:rPr>
              <a:t>Types of cultural differences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256584"/>
          </a:xfrm>
        </p:spPr>
        <p:txBody>
          <a:bodyPr>
            <a:normAutofit lnSpcReduction="10000"/>
          </a:bodyPr>
          <a:lstStyle/>
          <a:p>
            <a:pPr marL="0">
              <a:lnSpc>
                <a:spcPct val="120000"/>
              </a:lnSpc>
              <a:spcBef>
                <a:spcPts val="600"/>
              </a:spcBef>
              <a:spcAft>
                <a:spcPts val="600"/>
              </a:spcAft>
              <a:buNone/>
            </a:pPr>
            <a:r>
              <a:rPr lang="en-AU" sz="2200" dirty="0" smtClean="0">
                <a:latin typeface="Helvetica" pitchFamily="34" charset="0"/>
              </a:rPr>
              <a:t>The cultural differences that you must ensure you take into account may relate to: </a:t>
            </a:r>
          </a:p>
          <a:p>
            <a:pPr marL="0">
              <a:lnSpc>
                <a:spcPct val="120000"/>
              </a:lnSpc>
              <a:spcBef>
                <a:spcPts val="600"/>
              </a:spcBef>
              <a:spcAft>
                <a:spcPts val="600"/>
              </a:spcAft>
            </a:pPr>
            <a:r>
              <a:rPr lang="en-AU" sz="2200" dirty="0" smtClean="0">
                <a:latin typeface="Helvetica" pitchFamily="34" charset="0"/>
              </a:rPr>
              <a:t>Race</a:t>
            </a:r>
          </a:p>
          <a:p>
            <a:pPr marL="0">
              <a:lnSpc>
                <a:spcPct val="120000"/>
              </a:lnSpc>
              <a:spcBef>
                <a:spcPts val="600"/>
              </a:spcBef>
              <a:spcAft>
                <a:spcPts val="600"/>
              </a:spcAft>
            </a:pPr>
            <a:r>
              <a:rPr lang="en-AU" sz="2200" dirty="0" smtClean="0">
                <a:latin typeface="Helvetica" pitchFamily="34" charset="0"/>
              </a:rPr>
              <a:t>Language </a:t>
            </a:r>
          </a:p>
          <a:p>
            <a:pPr marL="0">
              <a:lnSpc>
                <a:spcPct val="120000"/>
              </a:lnSpc>
              <a:spcBef>
                <a:spcPts val="600"/>
              </a:spcBef>
              <a:spcAft>
                <a:spcPts val="600"/>
              </a:spcAft>
            </a:pPr>
            <a:r>
              <a:rPr lang="en-AU" sz="2200" dirty="0" smtClean="0">
                <a:latin typeface="Helvetica" pitchFamily="34" charset="0"/>
              </a:rPr>
              <a:t>Special needs </a:t>
            </a:r>
          </a:p>
          <a:p>
            <a:pPr marL="0">
              <a:lnSpc>
                <a:spcPct val="120000"/>
              </a:lnSpc>
              <a:spcBef>
                <a:spcPts val="600"/>
              </a:spcBef>
              <a:spcAft>
                <a:spcPts val="600"/>
              </a:spcAft>
            </a:pPr>
            <a:r>
              <a:rPr lang="en-AU" sz="2200" dirty="0" smtClean="0">
                <a:latin typeface="Helvetica" pitchFamily="34" charset="0"/>
              </a:rPr>
              <a:t>Family structure </a:t>
            </a:r>
          </a:p>
          <a:p>
            <a:pPr marL="0">
              <a:lnSpc>
                <a:spcPct val="120000"/>
              </a:lnSpc>
              <a:spcBef>
                <a:spcPts val="600"/>
              </a:spcBef>
              <a:spcAft>
                <a:spcPts val="600"/>
              </a:spcAft>
            </a:pPr>
            <a:r>
              <a:rPr lang="en-AU" sz="2200" dirty="0" smtClean="0">
                <a:latin typeface="Helvetica" pitchFamily="34" charset="0"/>
              </a:rPr>
              <a:t>Disabilities </a:t>
            </a:r>
          </a:p>
          <a:p>
            <a:pPr marL="0">
              <a:lnSpc>
                <a:spcPct val="120000"/>
              </a:lnSpc>
              <a:spcBef>
                <a:spcPts val="600"/>
              </a:spcBef>
              <a:spcAft>
                <a:spcPts val="600"/>
              </a:spcAft>
            </a:pPr>
            <a:r>
              <a:rPr lang="en-AU" sz="2200" dirty="0" smtClean="0">
                <a:latin typeface="Helvetica" pitchFamily="34" charset="0"/>
              </a:rPr>
              <a:t>Gender </a:t>
            </a:r>
          </a:p>
          <a:p>
            <a:pPr marL="0">
              <a:lnSpc>
                <a:spcPct val="120000"/>
              </a:lnSpc>
              <a:spcBef>
                <a:spcPts val="600"/>
              </a:spcBef>
              <a:spcAft>
                <a:spcPts val="600"/>
              </a:spcAft>
            </a:pPr>
            <a:r>
              <a:rPr lang="en-AU" sz="2200" dirty="0" smtClean="0">
                <a:latin typeface="Helvetica" pitchFamily="34" charset="0"/>
              </a:rPr>
              <a:t>Age </a:t>
            </a:r>
          </a:p>
          <a:p>
            <a:pPr marL="0">
              <a:lnSpc>
                <a:spcPct val="120000"/>
              </a:lnSpc>
              <a:spcBef>
                <a:spcPts val="600"/>
              </a:spcBef>
              <a:spcAft>
                <a:spcPts val="600"/>
              </a:spcAft>
            </a:pPr>
            <a:r>
              <a:rPr lang="en-AU" sz="2200" dirty="0" smtClean="0">
                <a:latin typeface="Helvetica" pitchFamily="34" charset="0"/>
              </a:rPr>
              <a:t>Sexual preference.</a:t>
            </a: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7" name="Picture 6" descr="MP900446484[1].JPG"/>
          <p:cNvPicPr/>
          <p:nvPr/>
        </p:nvPicPr>
        <p:blipFill>
          <a:blip r:embed="rId3" cstate="print"/>
          <a:stretch>
            <a:fillRect/>
          </a:stretch>
        </p:blipFill>
        <p:spPr>
          <a:xfrm>
            <a:off x="6804248" y="3140968"/>
            <a:ext cx="1674619" cy="2478782"/>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Law and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All people should be valued and treated with respect when it comes to their individual differences</a:t>
            </a:r>
          </a:p>
          <a:p>
            <a:pPr>
              <a:spcBef>
                <a:spcPts val="600"/>
              </a:spcBef>
              <a:spcAft>
                <a:spcPts val="1200"/>
              </a:spcAft>
            </a:pPr>
            <a:r>
              <a:rPr lang="en-AU" sz="2200" dirty="0" smtClean="0">
                <a:latin typeface="Helvetica" pitchFamily="34" charset="0"/>
              </a:rPr>
              <a:t>Equal Opportunity legislation was created to be enforced in society in general with specific emphasis on activities in all workplaces. </a:t>
            </a:r>
          </a:p>
          <a:p>
            <a:pPr marL="0">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7" name="Picture 6" descr="MP900408864[1].JPG"/>
          <p:cNvPicPr/>
          <p:nvPr/>
        </p:nvPicPr>
        <p:blipFill>
          <a:blip r:embed="rId3" cstate="print"/>
          <a:stretch>
            <a:fillRect/>
          </a:stretch>
        </p:blipFill>
        <p:spPr>
          <a:xfrm>
            <a:off x="6516216" y="4293096"/>
            <a:ext cx="1917948" cy="1773932"/>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Law and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Objectives of EO legislation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To promote recognition and acceptance of everyone’s right to equality of opportunity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To eliminate discrimination against people by prohibiting discrimination on the basis of various ‘listed attributes’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To eliminate sexual harassment.</a:t>
            </a: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6" name="Picture 5" descr="00302919.jpg"/>
          <p:cNvPicPr>
            <a:picLocks noChangeAspect="1"/>
          </p:cNvPicPr>
          <p:nvPr/>
        </p:nvPicPr>
        <p:blipFill>
          <a:blip r:embed="rId3" cstate="print"/>
          <a:stretch>
            <a:fillRect/>
          </a:stretch>
        </p:blipFill>
        <p:spPr>
          <a:xfrm>
            <a:off x="6948264" y="4077072"/>
            <a:ext cx="1520568" cy="2131637"/>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Law and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The ‘listed attributes’</a:t>
            </a:r>
          </a:p>
          <a:p>
            <a:pPr lvl="0">
              <a:spcBef>
                <a:spcPts val="600"/>
              </a:spcBef>
              <a:spcAft>
                <a:spcPts val="600"/>
              </a:spcAft>
            </a:pPr>
            <a:r>
              <a:rPr lang="en-US" sz="2200" dirty="0" smtClean="0">
                <a:latin typeface="Helvetica" pitchFamily="34" charset="0"/>
              </a:rPr>
              <a:t>Age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Breastfeeding</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Carer status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Disability/impairment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Gender identity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Industrial activity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Lawful sexual activity  </a:t>
            </a:r>
            <a:endParaRPr lang="en-AU" sz="2200" dirty="0" smtClean="0">
              <a:latin typeface="Helvetica" pitchFamily="34" charset="0"/>
            </a:endParaRPr>
          </a:p>
          <a:p>
            <a:pPr>
              <a:spcBef>
                <a:spcPts val="600"/>
              </a:spcBef>
              <a:spcAft>
                <a:spcPts val="600"/>
              </a:spcAft>
            </a:pPr>
            <a:r>
              <a:rPr lang="en-US" sz="2200" dirty="0" smtClean="0">
                <a:latin typeface="Helvetica" pitchFamily="34" charset="0"/>
              </a:rPr>
              <a:t>Marital status </a:t>
            </a:r>
          </a:p>
          <a:p>
            <a:pPr>
              <a:spcBef>
                <a:spcPts val="600"/>
              </a:spcBef>
              <a:spcAft>
                <a:spcPts val="600"/>
              </a:spcAft>
            </a:pPr>
            <a:r>
              <a:rPr lang="en-US" sz="2200" dirty="0" smtClean="0">
                <a:latin typeface="Helvetica" pitchFamily="34" charset="0"/>
              </a:rPr>
              <a:t>Parental status.</a:t>
            </a:r>
            <a:endParaRPr lang="en-AU"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7" name="Picture 6" descr="MP900422233[1].JPG"/>
          <p:cNvPicPr/>
          <p:nvPr/>
        </p:nvPicPr>
        <p:blipFill>
          <a:blip r:embed="rId3" cstate="print"/>
          <a:stretch>
            <a:fillRect/>
          </a:stretch>
        </p:blipFill>
        <p:spPr>
          <a:xfrm>
            <a:off x="5868144" y="3861048"/>
            <a:ext cx="2621002" cy="1891457"/>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Law and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The ‘listed attributes’</a:t>
            </a:r>
          </a:p>
          <a:p>
            <a:pPr lvl="0">
              <a:spcBef>
                <a:spcPts val="600"/>
              </a:spcBef>
              <a:spcAft>
                <a:spcPts val="600"/>
              </a:spcAft>
            </a:pPr>
            <a:r>
              <a:rPr lang="en-US" sz="2200" dirty="0" smtClean="0">
                <a:latin typeface="Helvetica" pitchFamily="34" charset="0"/>
              </a:rPr>
              <a:t>Physical features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Political belief or activity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Pregnancy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Race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Religious belief or activity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Sex/gender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Sexual orientation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Personal association (assumed or actual) with anyone who has one or more of the above characteristics.</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MP900430753[1].JPG"/>
          <p:cNvPicPr/>
          <p:nvPr/>
        </p:nvPicPr>
        <p:blipFill>
          <a:blip r:embed="rId3" cstate="print"/>
          <a:stretch>
            <a:fillRect/>
          </a:stretch>
        </p:blipFill>
        <p:spPr>
          <a:xfrm>
            <a:off x="5652120" y="2060848"/>
            <a:ext cx="2401610" cy="235627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Stereo types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80520"/>
          </a:xfrm>
        </p:spPr>
        <p:txBody>
          <a:bodyPr>
            <a:normAutofit/>
          </a:bodyPr>
          <a:lstStyle/>
          <a:p>
            <a:pPr marL="0">
              <a:spcBef>
                <a:spcPts val="600"/>
              </a:spcBef>
              <a:spcAft>
                <a:spcPts val="1200"/>
              </a:spcAft>
              <a:buNone/>
            </a:pPr>
            <a:r>
              <a:rPr lang="en-AU" sz="2200" dirty="0" smtClean="0">
                <a:latin typeface="Helvetica" pitchFamily="34" charset="0"/>
              </a:rPr>
              <a:t>When dealing with people it is important not to use stereotypes. </a:t>
            </a:r>
          </a:p>
          <a:p>
            <a:pPr marL="0">
              <a:spcBef>
                <a:spcPts val="600"/>
              </a:spcBef>
              <a:spcAft>
                <a:spcPts val="1200"/>
              </a:spcAft>
              <a:buNone/>
            </a:pPr>
            <a:r>
              <a:rPr lang="en-AU" sz="2200" dirty="0" smtClean="0">
                <a:latin typeface="Helvetica" pitchFamily="34" charset="0"/>
              </a:rPr>
              <a:t>Never assume that someone fits into a particular category, simply based on what you think is the case based on personal observation, information given to you by other staff, your personal experience or your individual perspectives.</a:t>
            </a: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Picture 5" descr="00302923.jpg"/>
          <p:cNvPicPr>
            <a:picLocks noChangeAspect="1"/>
          </p:cNvPicPr>
          <p:nvPr/>
        </p:nvPicPr>
        <p:blipFill>
          <a:blip r:embed="rId3" cstate="print"/>
          <a:stretch>
            <a:fillRect/>
          </a:stretch>
        </p:blipFill>
        <p:spPr>
          <a:xfrm>
            <a:off x="5580112" y="4221088"/>
            <a:ext cx="2950979" cy="2105032"/>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Verbal and non 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Keys in factoring in appropriate verbal and non-verbal communication when dealing with people from another culture include:</a:t>
            </a:r>
          </a:p>
          <a:p>
            <a:pPr lvl="0">
              <a:spcBef>
                <a:spcPts val="600"/>
              </a:spcBef>
              <a:spcAft>
                <a:spcPts val="1200"/>
              </a:spcAft>
            </a:pPr>
            <a:r>
              <a:rPr lang="en-US" sz="2200" dirty="0" smtClean="0">
                <a:latin typeface="Helvetica" pitchFamily="34" charset="0"/>
              </a:rPr>
              <a:t>Identify the country and culture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Take time to plan what to say and how to say it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 mindful of your body language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Avoid industry and establishment jargon</a:t>
            </a:r>
          </a:p>
          <a:p>
            <a:pPr lvl="0">
              <a:spcBef>
                <a:spcPts val="600"/>
              </a:spcBef>
              <a:spcAft>
                <a:spcPts val="1200"/>
              </a:spcAft>
              <a:buNone/>
            </a:pPr>
            <a:r>
              <a:rPr lang="en-US" sz="2200" i="1" dirty="0" smtClean="0">
                <a:latin typeface="Helvetica" pitchFamily="34" charset="0"/>
              </a:rPr>
              <a:t>(Continued)</a:t>
            </a:r>
            <a:endParaRPr lang="en-AU" sz="2200" i="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7" name="Picture 6" descr="j0409289.jpg"/>
          <p:cNvPicPr/>
          <p:nvPr/>
        </p:nvPicPr>
        <p:blipFill>
          <a:blip r:embed="rId3" cstate="print"/>
          <a:stretch>
            <a:fillRect/>
          </a:stretch>
        </p:blipFill>
        <p:spPr>
          <a:xfrm>
            <a:off x="6660232" y="4293096"/>
            <a:ext cx="1828403" cy="175639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Verbal and non 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pPr>
            <a:r>
              <a:rPr lang="en-US" sz="2200" dirty="0" smtClean="0">
                <a:latin typeface="Helvetica" pitchFamily="34" charset="0"/>
              </a:rPr>
              <a:t>Avoid local expressions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Avoid complex statements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Give the person your full attention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Use alternative communication strategies                            to support the verbal communication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 alert to feedback from the other person. </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descr="00316823.jpg"/>
          <p:cNvPicPr>
            <a:picLocks noChangeAspect="1"/>
          </p:cNvPicPr>
          <p:nvPr/>
        </p:nvPicPr>
        <p:blipFill>
          <a:blip r:embed="rId3" cstate="print"/>
          <a:stretch>
            <a:fillRect/>
          </a:stretch>
        </p:blipFill>
        <p:spPr>
          <a:xfrm>
            <a:off x="6876256" y="3717032"/>
            <a:ext cx="1651248" cy="247687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Overcoming language barriers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You should identify the languages that need to be taken into account</a:t>
            </a:r>
          </a:p>
          <a:p>
            <a:pPr>
              <a:spcBef>
                <a:spcPts val="600"/>
              </a:spcBef>
              <a:spcAft>
                <a:spcPts val="1200"/>
              </a:spcAft>
            </a:pPr>
            <a:r>
              <a:rPr lang="en-AU" sz="2200" dirty="0" smtClean="0">
                <a:latin typeface="Helvetica" pitchFamily="34" charset="0"/>
              </a:rPr>
              <a:t>There are often 2-4 common foreign languages spoken by the majority of customers</a:t>
            </a:r>
          </a:p>
          <a:p>
            <a:pPr>
              <a:spcBef>
                <a:spcPts val="600"/>
              </a:spcBef>
              <a:spcAft>
                <a:spcPts val="1200"/>
              </a:spcAft>
            </a:pPr>
            <a:r>
              <a:rPr lang="en-AU" sz="2200" dirty="0" smtClean="0">
                <a:latin typeface="Helvetica" pitchFamily="34" charset="0"/>
              </a:rPr>
              <a:t>Develop phrases in these languages.</a:t>
            </a: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00387518.jpg"/>
          <p:cNvPicPr>
            <a:picLocks noChangeAspect="1"/>
          </p:cNvPicPr>
          <p:nvPr/>
        </p:nvPicPr>
        <p:blipFill>
          <a:blip r:embed="rId3" cstate="print"/>
          <a:stretch>
            <a:fillRect/>
          </a:stretch>
        </p:blipFill>
        <p:spPr>
          <a:xfrm>
            <a:off x="5868144" y="3933056"/>
            <a:ext cx="2649488" cy="1889968"/>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Language phrases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pPr>
            <a:r>
              <a:rPr lang="en-US" sz="2200" dirty="0" smtClean="0">
                <a:latin typeface="Helvetica" pitchFamily="34" charset="0"/>
              </a:rPr>
              <a:t>Meet, greet and farewell customers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Provide simple directions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Give simple instructions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Answer simple enquiries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Prepare for, serve and assist customers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Describe goods and service.</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descr="MP900430747[1].JPG"/>
          <p:cNvPicPr/>
          <p:nvPr/>
        </p:nvPicPr>
        <p:blipFill>
          <a:blip r:embed="rId3" cstate="print"/>
          <a:stretch>
            <a:fillRect/>
          </a:stretch>
        </p:blipFill>
        <p:spPr>
          <a:xfrm>
            <a:off x="6516216" y="4005064"/>
            <a:ext cx="2082527" cy="1861741"/>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Language phrases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Simple words in foreign languages</a:t>
            </a:r>
          </a:p>
          <a:p>
            <a:pPr lvl="0">
              <a:spcBef>
                <a:spcPts val="600"/>
              </a:spcBef>
              <a:spcAft>
                <a:spcPts val="600"/>
              </a:spcAft>
            </a:pPr>
            <a:r>
              <a:rPr lang="en-US" sz="2200" dirty="0" smtClean="0">
                <a:latin typeface="Helvetica" pitchFamily="34" charset="0"/>
              </a:rPr>
              <a:t>To greet and welcome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To farewell and say goodbye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Count the numbers 1 – 10</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The days of the week and months of the year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Titles used by people including Mister and Missus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Basic functions – walk, drive, sleep, eat and drink</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Basic establishment facilities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Basic products and services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Methods of transportation.</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7" name="Picture 6" descr="MP900386282[1].JPG"/>
          <p:cNvPicPr/>
          <p:nvPr/>
        </p:nvPicPr>
        <p:blipFill>
          <a:blip r:embed="rId3" cstate="print"/>
          <a:stretch>
            <a:fillRect/>
          </a:stretch>
        </p:blipFill>
        <p:spPr>
          <a:xfrm>
            <a:off x="6660232" y="4941168"/>
            <a:ext cx="1868041" cy="1296144"/>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Language phrases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Where can you learn phrases from?</a:t>
            </a:r>
          </a:p>
          <a:p>
            <a:pPr lvl="0">
              <a:spcBef>
                <a:spcPts val="600"/>
              </a:spcBef>
              <a:spcAft>
                <a:spcPts val="1200"/>
              </a:spcAft>
            </a:pPr>
            <a:r>
              <a:rPr lang="en-US" sz="2200" dirty="0" smtClean="0">
                <a:latin typeface="Helvetica" pitchFamily="34" charset="0"/>
              </a:rPr>
              <a:t>Customers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 internet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 foreign language dictionary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Staff</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Contacting a local ethnic club/association. </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6" name="Picture 5" descr="j0409400.jpg"/>
          <p:cNvPicPr/>
          <p:nvPr/>
        </p:nvPicPr>
        <p:blipFill>
          <a:blip r:embed="rId3" cstate="print"/>
          <a:stretch>
            <a:fillRect/>
          </a:stretch>
        </p:blipFill>
        <p:spPr>
          <a:xfrm>
            <a:off x="6660232" y="3789040"/>
            <a:ext cx="1907282" cy="1916807"/>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When speaking to a person from a different culture, it is important to take into consideration their particular cultural differences:</a:t>
            </a:r>
          </a:p>
          <a:p>
            <a:pPr lvl="0">
              <a:spcBef>
                <a:spcPts val="600"/>
              </a:spcBef>
              <a:spcAft>
                <a:spcPts val="1200"/>
              </a:spcAft>
            </a:pPr>
            <a:r>
              <a:rPr lang="en-US" sz="2200" dirty="0" smtClean="0">
                <a:latin typeface="Helvetica" pitchFamily="34" charset="0"/>
              </a:rPr>
              <a:t>Pitch or tone of your voice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Volume of the talking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Speed at which you talk</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Pauses in the conversation.</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7" name="Picture 6" descr="MP900422965[1].JPG"/>
          <p:cNvPicPr/>
          <p:nvPr/>
        </p:nvPicPr>
        <p:blipFill>
          <a:blip r:embed="rId3" cstate="print"/>
          <a:stretch>
            <a:fillRect/>
          </a:stretch>
        </p:blipFill>
        <p:spPr>
          <a:xfrm>
            <a:off x="6084168" y="3717032"/>
            <a:ext cx="2322364" cy="210634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 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Non-verbal communication occurs in all person-to-person situations</a:t>
            </a:r>
          </a:p>
          <a:p>
            <a:pPr>
              <a:spcBef>
                <a:spcPts val="600"/>
              </a:spcBef>
              <a:spcAft>
                <a:spcPts val="1200"/>
              </a:spcAft>
            </a:pPr>
            <a:r>
              <a:rPr lang="en-AU" sz="2200" dirty="0" smtClean="0">
                <a:latin typeface="Helvetica" pitchFamily="34" charset="0"/>
              </a:rPr>
              <a:t>Some people use more non-verbal communication than others, though we all use it to some degree</a:t>
            </a:r>
          </a:p>
          <a:p>
            <a:pPr>
              <a:spcBef>
                <a:spcPts val="600"/>
              </a:spcBef>
              <a:spcAft>
                <a:spcPts val="1200"/>
              </a:spcAft>
            </a:pPr>
            <a:r>
              <a:rPr lang="en-AU" sz="2200" dirty="0" smtClean="0">
                <a:latin typeface="Helvetica" pitchFamily="34" charset="0"/>
              </a:rPr>
              <a:t>Non-verbal communication is traditionally more important when communicating with someone from a culturally diverse background where there </a:t>
            </a:r>
            <a:br>
              <a:rPr lang="en-AU" sz="2200" dirty="0" smtClean="0">
                <a:latin typeface="Helvetica" pitchFamily="34" charset="0"/>
              </a:rPr>
            </a:br>
            <a:r>
              <a:rPr lang="en-AU" sz="2200" dirty="0" smtClean="0">
                <a:latin typeface="Helvetica" pitchFamily="34" charset="0"/>
              </a:rPr>
              <a:t>is a spoken word language difficulty. </a:t>
            </a: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6" name="Picture 5" descr="00385537.jpg"/>
          <p:cNvPicPr>
            <a:picLocks noChangeAspect="1"/>
          </p:cNvPicPr>
          <p:nvPr/>
        </p:nvPicPr>
        <p:blipFill>
          <a:blip r:embed="rId3" cstate="print"/>
          <a:stretch>
            <a:fillRect/>
          </a:stretch>
        </p:blipFill>
        <p:spPr>
          <a:xfrm>
            <a:off x="7092280" y="4149080"/>
            <a:ext cx="1411618" cy="1976264"/>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 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non-verbal communication</a:t>
            </a:r>
          </a:p>
          <a:p>
            <a:pPr marL="0">
              <a:spcBef>
                <a:spcPts val="600"/>
              </a:spcBef>
              <a:spcAft>
                <a:spcPts val="1200"/>
              </a:spcAft>
            </a:pPr>
            <a:r>
              <a:rPr lang="en-AU" sz="2200" dirty="0" smtClean="0">
                <a:latin typeface="Helvetica" pitchFamily="34" charset="0"/>
              </a:rPr>
              <a:t>Stance and posture </a:t>
            </a:r>
          </a:p>
          <a:p>
            <a:pPr>
              <a:spcBef>
                <a:spcPts val="600"/>
              </a:spcBef>
              <a:spcAft>
                <a:spcPts val="1200"/>
              </a:spcAft>
            </a:pPr>
            <a:r>
              <a:rPr lang="en-AU" sz="2200" dirty="0" smtClean="0">
                <a:latin typeface="Helvetica" pitchFamily="34" charset="0"/>
              </a:rPr>
              <a:t>Speed with which you move </a:t>
            </a:r>
          </a:p>
          <a:p>
            <a:pPr>
              <a:spcBef>
                <a:spcPts val="600"/>
              </a:spcBef>
              <a:spcAft>
                <a:spcPts val="1200"/>
              </a:spcAft>
            </a:pPr>
            <a:r>
              <a:rPr lang="en-AU" sz="2200" dirty="0" smtClean="0">
                <a:latin typeface="Helvetica" pitchFamily="34" charset="0"/>
              </a:rPr>
              <a:t>Facial expression </a:t>
            </a:r>
          </a:p>
          <a:p>
            <a:pPr>
              <a:spcBef>
                <a:spcPts val="600"/>
              </a:spcBef>
              <a:spcAft>
                <a:spcPts val="1200"/>
              </a:spcAft>
            </a:pPr>
            <a:r>
              <a:rPr lang="en-AU" sz="2200" dirty="0" smtClean="0">
                <a:latin typeface="Helvetica" pitchFamily="34" charset="0"/>
              </a:rPr>
              <a:t>Hold your arms </a:t>
            </a:r>
          </a:p>
          <a:p>
            <a:pPr>
              <a:spcBef>
                <a:spcPts val="600"/>
              </a:spcBef>
              <a:spcAft>
                <a:spcPts val="1200"/>
              </a:spcAft>
            </a:pPr>
            <a:r>
              <a:rPr lang="en-AU" sz="2200" dirty="0" smtClean="0">
                <a:latin typeface="Helvetica" pitchFamily="34" charset="0"/>
              </a:rPr>
              <a:t>Hand and finger gestures </a:t>
            </a:r>
          </a:p>
          <a:p>
            <a:pPr>
              <a:spcBef>
                <a:spcPts val="600"/>
              </a:spcBef>
              <a:spcAft>
                <a:spcPts val="1200"/>
              </a:spcAft>
            </a:pPr>
            <a:r>
              <a:rPr lang="en-AU" sz="2200" dirty="0" smtClean="0">
                <a:latin typeface="Helvetica" pitchFamily="34" charset="0"/>
              </a:rPr>
              <a:t>Personal hygiene </a:t>
            </a:r>
          </a:p>
          <a:p>
            <a:pPr marL="0">
              <a:spcBef>
                <a:spcPts val="600"/>
              </a:spcBef>
              <a:spcAft>
                <a:spcPts val="1200"/>
              </a:spcAft>
            </a:pPr>
            <a:r>
              <a:rPr lang="en-AU" sz="2200" dirty="0" smtClean="0">
                <a:latin typeface="Helvetica" pitchFamily="34" charset="0"/>
              </a:rPr>
              <a:t>Eye contact.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7" name="Picture 6" descr="MP900431742[1].JPG"/>
          <p:cNvPicPr/>
          <p:nvPr/>
        </p:nvPicPr>
        <p:blipFill>
          <a:blip r:embed="rId3" cstate="print"/>
          <a:stretch>
            <a:fillRect/>
          </a:stretch>
        </p:blipFill>
        <p:spPr>
          <a:xfrm>
            <a:off x="6516216" y="3645024"/>
            <a:ext cx="1900411" cy="1972419"/>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 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Language barriers - the role of gestures</a:t>
            </a:r>
          </a:p>
          <a:p>
            <a:pPr marL="0">
              <a:spcBef>
                <a:spcPts val="600"/>
              </a:spcBef>
              <a:spcAft>
                <a:spcPts val="1200"/>
              </a:spcAft>
              <a:buNone/>
            </a:pPr>
            <a:r>
              <a:rPr lang="en-AU" sz="2200" dirty="0" smtClean="0">
                <a:latin typeface="Helvetica" pitchFamily="34" charset="0"/>
              </a:rPr>
              <a:t>When faced with a language barrier, service staff should attempt to communicate through the use of gestures or simple words:</a:t>
            </a:r>
          </a:p>
          <a:p>
            <a:pPr>
              <a:spcBef>
                <a:spcPts val="600"/>
              </a:spcBef>
              <a:spcAft>
                <a:spcPts val="1200"/>
              </a:spcAft>
            </a:pPr>
            <a:r>
              <a:rPr lang="en-AU" sz="2200" dirty="0" smtClean="0">
                <a:latin typeface="Helvetica" pitchFamily="34" charset="0"/>
              </a:rPr>
              <a:t>What gestures can you use?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6" name="Picture 5" descr="MP900443214[1].JPG"/>
          <p:cNvPicPr/>
          <p:nvPr/>
        </p:nvPicPr>
        <p:blipFill>
          <a:blip r:embed="rId3" cstate="print"/>
          <a:stretch>
            <a:fillRect/>
          </a:stretch>
        </p:blipFill>
        <p:spPr>
          <a:xfrm>
            <a:off x="6732240" y="3068960"/>
            <a:ext cx="1719436" cy="2471142"/>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 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Language barriers - the role of gestures</a:t>
            </a:r>
          </a:p>
          <a:p>
            <a:pPr>
              <a:spcBef>
                <a:spcPts val="600"/>
              </a:spcBef>
              <a:spcAft>
                <a:spcPts val="1200"/>
              </a:spcAft>
              <a:buNone/>
            </a:pPr>
            <a:r>
              <a:rPr lang="en-AU" sz="2200" dirty="0" smtClean="0">
                <a:latin typeface="Helvetica" pitchFamily="34" charset="0"/>
              </a:rPr>
              <a:t>Gestures may include:</a:t>
            </a:r>
          </a:p>
          <a:p>
            <a:pPr lvl="0">
              <a:spcBef>
                <a:spcPts val="600"/>
              </a:spcBef>
              <a:spcAft>
                <a:spcPts val="1200"/>
              </a:spcAft>
            </a:pPr>
            <a:r>
              <a:rPr lang="en-US" sz="2200" dirty="0" smtClean="0">
                <a:latin typeface="Helvetica" pitchFamily="34" charset="0"/>
              </a:rPr>
              <a:t>Pointing to indicate a location, a position or a menu item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Holding fingers up to establish quantities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Rubbing your hands to indicate temperature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Nodding your head in agreement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Shaking your head in disagreement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Using facial expressions to relay your feelings.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descr="j0409321.jpg"/>
          <p:cNvPicPr>
            <a:picLocks noChangeAspect="1"/>
          </p:cNvPicPr>
          <p:nvPr/>
        </p:nvPicPr>
        <p:blipFill>
          <a:blip r:embed="rId3" cstate="print"/>
          <a:stretch>
            <a:fillRect/>
          </a:stretch>
        </p:blipFill>
        <p:spPr>
          <a:xfrm>
            <a:off x="7092280" y="3573016"/>
            <a:ext cx="1518656" cy="2276872"/>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Written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Written communication in other languages is very effective in transferring information to customers:</a:t>
            </a:r>
          </a:p>
          <a:p>
            <a:pPr>
              <a:spcBef>
                <a:spcPts val="600"/>
              </a:spcBef>
              <a:spcAft>
                <a:spcPts val="1200"/>
              </a:spcAft>
            </a:pPr>
            <a:r>
              <a:rPr lang="en-AU" sz="2200" dirty="0" smtClean="0">
                <a:latin typeface="Helvetica" pitchFamily="34" charset="0"/>
              </a:rPr>
              <a:t>What written communication would you prepare in other languages?</a:t>
            </a:r>
          </a:p>
          <a:p>
            <a:pPr>
              <a:spcBef>
                <a:spcPts val="600"/>
              </a:spcBef>
              <a:spcAft>
                <a:spcPts val="1200"/>
              </a:spcAft>
            </a:pPr>
            <a:r>
              <a:rPr lang="en-AU" sz="2200" dirty="0" smtClean="0">
                <a:latin typeface="Helvetica" pitchFamily="34" charset="0"/>
              </a:rPr>
              <a:t>Who can do this for you?</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descr="00401762.jpg"/>
          <p:cNvPicPr/>
          <p:nvPr/>
        </p:nvPicPr>
        <p:blipFill>
          <a:blip r:embed="rId3" cstate="print"/>
          <a:stretch>
            <a:fillRect/>
          </a:stretch>
        </p:blipFill>
        <p:spPr>
          <a:xfrm>
            <a:off x="6300192" y="4293096"/>
            <a:ext cx="2196827" cy="1776586"/>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Sign language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When communicating with deaf people, it can be extremely useful to be able to use sign language. </a:t>
            </a:r>
          </a:p>
          <a:p>
            <a:pPr marL="0">
              <a:spcBef>
                <a:spcPts val="600"/>
              </a:spcBef>
              <a:spcAft>
                <a:spcPts val="1200"/>
              </a:spcAft>
              <a:buNone/>
            </a:pPr>
            <a:r>
              <a:rPr lang="en-AU" sz="2200" dirty="0" smtClean="0">
                <a:latin typeface="Helvetica" pitchFamily="34" charset="0"/>
              </a:rPr>
              <a:t>It may be worthwhile learning a few signs to help communicate:</a:t>
            </a:r>
          </a:p>
          <a:p>
            <a:pPr>
              <a:spcBef>
                <a:spcPts val="600"/>
              </a:spcBef>
              <a:spcAft>
                <a:spcPts val="1200"/>
              </a:spcAft>
            </a:pPr>
            <a:r>
              <a:rPr lang="en-AU" sz="2200" dirty="0" smtClean="0">
                <a:latin typeface="Helvetica" pitchFamily="34" charset="0"/>
              </a:rPr>
              <a:t>What ‘signs’ do you know?</a:t>
            </a:r>
          </a:p>
          <a:p>
            <a:pPr>
              <a:spcBef>
                <a:spcPts val="600"/>
              </a:spcBef>
              <a:spcAft>
                <a:spcPts val="1200"/>
              </a:spcAft>
            </a:pPr>
            <a:r>
              <a:rPr lang="en-AU" sz="2200" dirty="0" smtClean="0">
                <a:latin typeface="Helvetica" pitchFamily="34" charset="0"/>
              </a:rPr>
              <a:t>Where can you learn ‘signs’?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6" name="Picture 5" descr="MP900385750[1].JPG"/>
          <p:cNvPicPr/>
          <p:nvPr/>
        </p:nvPicPr>
        <p:blipFill>
          <a:blip r:embed="rId3" cstate="print"/>
          <a:stretch>
            <a:fillRect/>
          </a:stretch>
        </p:blipFill>
        <p:spPr>
          <a:xfrm>
            <a:off x="6732240" y="3212976"/>
            <a:ext cx="1681530" cy="2311127"/>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Obtaining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80520"/>
          </a:xfrm>
        </p:spPr>
        <p:txBody>
          <a:bodyPr>
            <a:normAutofit/>
          </a:bodyPr>
          <a:lstStyle/>
          <a:p>
            <a:pPr>
              <a:spcBef>
                <a:spcPts val="600"/>
              </a:spcBef>
              <a:spcAft>
                <a:spcPts val="1200"/>
              </a:spcAft>
            </a:pPr>
            <a:r>
              <a:rPr lang="en-AU" sz="2200" dirty="0" smtClean="0">
                <a:latin typeface="Helvetica" pitchFamily="34" charset="0"/>
              </a:rPr>
              <a:t>No business will expect you to be proficiently communicate with people from all other countries</a:t>
            </a:r>
          </a:p>
          <a:p>
            <a:pPr>
              <a:spcBef>
                <a:spcPts val="600"/>
              </a:spcBef>
              <a:spcAft>
                <a:spcPts val="1200"/>
              </a:spcAft>
            </a:pPr>
            <a:r>
              <a:rPr lang="en-AU" sz="2200" dirty="0" smtClean="0">
                <a:latin typeface="Helvetica" pitchFamily="34" charset="0"/>
              </a:rPr>
              <a:t>It is good to learn the basics</a:t>
            </a:r>
          </a:p>
          <a:p>
            <a:pPr>
              <a:spcBef>
                <a:spcPts val="600"/>
              </a:spcBef>
              <a:spcAft>
                <a:spcPts val="1200"/>
              </a:spcAft>
            </a:pPr>
            <a:r>
              <a:rPr lang="en-AU" sz="2200" dirty="0" smtClean="0">
                <a:latin typeface="Helvetica" pitchFamily="34" charset="0"/>
              </a:rPr>
              <a:t>You will need to get help from other people, </a:t>
            </a:r>
            <a:br>
              <a:rPr lang="en-AU" sz="2200" dirty="0" smtClean="0">
                <a:latin typeface="Helvetica" pitchFamily="34" charset="0"/>
              </a:rPr>
            </a:br>
            <a:r>
              <a:rPr lang="en-AU" sz="2200" dirty="0" smtClean="0">
                <a:latin typeface="Helvetica" pitchFamily="34" charset="0"/>
              </a:rPr>
              <a:t>various agencies or external organisations.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7" name="Picture 6" descr="00341457.jpg"/>
          <p:cNvPicPr>
            <a:picLocks noChangeAspect="1"/>
          </p:cNvPicPr>
          <p:nvPr/>
        </p:nvPicPr>
        <p:blipFill>
          <a:blip r:embed="rId3" cstate="print"/>
          <a:stretch>
            <a:fillRect/>
          </a:stretch>
        </p:blipFill>
        <p:spPr>
          <a:xfrm>
            <a:off x="6876256" y="3429000"/>
            <a:ext cx="1520568" cy="2131637"/>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Obtaining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lnSpcReduction="10000"/>
          </a:bodyPr>
          <a:lstStyle/>
          <a:p>
            <a:pPr>
              <a:spcBef>
                <a:spcPts val="600"/>
              </a:spcBef>
              <a:spcAft>
                <a:spcPts val="1200"/>
              </a:spcAft>
              <a:buNone/>
            </a:pPr>
            <a:r>
              <a:rPr lang="en-AU" sz="2200" dirty="0" smtClean="0">
                <a:latin typeface="Helvetica" pitchFamily="34" charset="0"/>
              </a:rPr>
              <a:t>You can get assistance from:</a:t>
            </a:r>
          </a:p>
          <a:p>
            <a:pPr>
              <a:spcBef>
                <a:spcPts val="600"/>
              </a:spcBef>
              <a:spcAft>
                <a:spcPts val="600"/>
              </a:spcAft>
            </a:pPr>
            <a:r>
              <a:rPr lang="en-AU" sz="2200" dirty="0" smtClean="0">
                <a:latin typeface="Helvetica" pitchFamily="34" charset="0"/>
              </a:rPr>
              <a:t>Colleagues</a:t>
            </a:r>
          </a:p>
          <a:p>
            <a:pPr>
              <a:spcBef>
                <a:spcPts val="600"/>
              </a:spcBef>
              <a:spcAft>
                <a:spcPts val="600"/>
              </a:spcAft>
            </a:pPr>
            <a:r>
              <a:rPr lang="en-AU" sz="2200" dirty="0" smtClean="0">
                <a:latin typeface="Helvetica" pitchFamily="34" charset="0"/>
              </a:rPr>
              <a:t>Customers</a:t>
            </a:r>
          </a:p>
          <a:p>
            <a:pPr lvl="0">
              <a:spcBef>
                <a:spcPts val="600"/>
              </a:spcBef>
              <a:spcAft>
                <a:spcPts val="600"/>
              </a:spcAft>
            </a:pPr>
            <a:r>
              <a:rPr lang="en-US" sz="2200" dirty="0" smtClean="0">
                <a:latin typeface="Helvetica" pitchFamily="34" charset="0"/>
              </a:rPr>
              <a:t>Teachers – in-house and industry trainers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Family, friends and acquaintances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Service providers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Suppliers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Supervisors</a:t>
            </a:r>
          </a:p>
          <a:p>
            <a:pPr>
              <a:spcBef>
                <a:spcPts val="600"/>
              </a:spcBef>
              <a:spcAft>
                <a:spcPts val="600"/>
              </a:spcAft>
            </a:pPr>
            <a:r>
              <a:rPr lang="en-AU" sz="2200" dirty="0" smtClean="0">
                <a:latin typeface="Helvetica" pitchFamily="34" charset="0"/>
              </a:rPr>
              <a:t>Sign Language Companies</a:t>
            </a:r>
          </a:p>
          <a:p>
            <a:pPr>
              <a:spcBef>
                <a:spcPts val="600"/>
              </a:spcBef>
              <a:spcAft>
                <a:spcPts val="600"/>
              </a:spcAft>
            </a:pPr>
            <a:r>
              <a:rPr lang="en-AU" sz="2200" dirty="0" smtClean="0">
                <a:latin typeface="Helvetica" pitchFamily="34" charset="0"/>
              </a:rPr>
              <a:t>Translating and Interpreting Service.</a:t>
            </a:r>
          </a:p>
          <a:p>
            <a:pPr>
              <a:spcBef>
                <a:spcPts val="600"/>
              </a:spcBef>
              <a:spcAft>
                <a:spcPts val="600"/>
              </a:spcAft>
            </a:pPr>
            <a:endParaRPr lang="en-AU" sz="2200" dirty="0" smtClean="0">
              <a:latin typeface="Helvetica" pitchFamily="34" charset="0"/>
            </a:endParaRPr>
          </a:p>
          <a:p>
            <a:pPr lvl="0"/>
            <a:endParaRPr lang="en-AU" sz="2400"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6" name="Picture 5" descr="j0409139.jpg"/>
          <p:cNvPicPr/>
          <p:nvPr/>
        </p:nvPicPr>
        <p:blipFill>
          <a:blip r:embed="rId3" cstate="print"/>
          <a:stretch>
            <a:fillRect/>
          </a:stretch>
        </p:blipFill>
        <p:spPr>
          <a:xfrm>
            <a:off x="6156176" y="3573016"/>
            <a:ext cx="2322934" cy="210691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Obtaining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lnSpcReduction="10000"/>
          </a:bodyPr>
          <a:lstStyle/>
          <a:p>
            <a:pPr>
              <a:spcBef>
                <a:spcPts val="600"/>
              </a:spcBef>
              <a:spcAft>
                <a:spcPts val="600"/>
              </a:spcAft>
              <a:buNone/>
            </a:pPr>
            <a:r>
              <a:rPr lang="en-AU" sz="2200" b="1" dirty="0" smtClean="0">
                <a:latin typeface="Helvetica" pitchFamily="34" charset="0"/>
              </a:rPr>
              <a:t>Written information</a:t>
            </a:r>
          </a:p>
          <a:p>
            <a:pPr lvl="0">
              <a:spcBef>
                <a:spcPts val="600"/>
              </a:spcBef>
              <a:spcAft>
                <a:spcPts val="600"/>
              </a:spcAft>
            </a:pPr>
            <a:r>
              <a:rPr lang="en-US" sz="2200" dirty="0" smtClean="0">
                <a:latin typeface="Helvetica" pitchFamily="34" charset="0"/>
              </a:rPr>
              <a:t>The Internet engine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Media</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Local cultural centres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Local library</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Language centres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Hospitality, industry and events industry                            groups or organisations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Government or private training                                          and educational providers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Purchased or borrowed books.</a:t>
            </a:r>
            <a:endParaRPr lang="en-AU" sz="2200" dirty="0" smtClean="0">
              <a:latin typeface="Helvetica" pitchFamily="34" charset="0"/>
            </a:endParaRPr>
          </a:p>
          <a:p>
            <a:pPr lvl="0"/>
            <a:endParaRPr lang="en-AU" sz="2400"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7" name="Picture 6" descr="00385532.jpg"/>
          <p:cNvPicPr/>
          <p:nvPr/>
        </p:nvPicPr>
        <p:blipFill>
          <a:blip r:embed="rId3" cstate="print"/>
          <a:stretch>
            <a:fillRect/>
          </a:stretch>
        </p:blipFill>
        <p:spPr>
          <a:xfrm>
            <a:off x="6372200" y="2996952"/>
            <a:ext cx="2013630" cy="2633067"/>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Obtaining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Outside organisations</a:t>
            </a:r>
          </a:p>
          <a:p>
            <a:pPr lvl="0">
              <a:spcBef>
                <a:spcPts val="600"/>
              </a:spcBef>
              <a:spcAft>
                <a:spcPts val="600"/>
              </a:spcAft>
            </a:pPr>
            <a:r>
              <a:rPr lang="en-US" sz="2200" dirty="0" smtClean="0">
                <a:latin typeface="Helvetica" pitchFamily="34" charset="0"/>
              </a:rPr>
              <a:t>Interpreter services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Diplomatic services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Appropriate government agencies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Individual agencies specific to unique needs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Ministry of Immigration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Educational institutions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Disability advocacy groups.</a:t>
            </a:r>
            <a:endParaRPr lang="en-AU" sz="2200" dirty="0" smtClean="0">
              <a:latin typeface="Helvetica" pitchFamily="34" charset="0"/>
            </a:endParaRPr>
          </a:p>
          <a:p>
            <a:pPr lvl="0"/>
            <a:endParaRPr lang="en-AU" sz="2400"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00302923.jpg"/>
          <p:cNvPicPr/>
          <p:nvPr/>
        </p:nvPicPr>
        <p:blipFill>
          <a:blip r:embed="rId3" cstate="print"/>
          <a:stretch>
            <a:fillRect/>
          </a:stretch>
        </p:blipFill>
        <p:spPr>
          <a:xfrm>
            <a:off x="6516216" y="4365104"/>
            <a:ext cx="1986201" cy="1531417"/>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Obtaining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Outside organisations</a:t>
            </a:r>
          </a:p>
          <a:p>
            <a:pPr lvl="0">
              <a:spcBef>
                <a:spcPts val="600"/>
              </a:spcBef>
              <a:spcAft>
                <a:spcPts val="600"/>
              </a:spcAft>
            </a:pPr>
            <a:r>
              <a:rPr lang="en-US" sz="2200" dirty="0" smtClean="0">
                <a:latin typeface="Helvetica" pitchFamily="34" charset="0"/>
              </a:rPr>
              <a:t>Interpreter services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Diplomatic services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Appropriate government agencies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Individual agencies specific to unique needs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Department of Immigration and Citizenship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Educational institutions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Disability advocacy groups.</a:t>
            </a:r>
            <a:endParaRPr lang="en-AU" sz="2200" dirty="0" smtClean="0">
              <a:latin typeface="Helvetica" pitchFamily="34" charset="0"/>
            </a:endParaRPr>
          </a:p>
          <a:p>
            <a:pPr lvl="0"/>
            <a:endParaRPr lang="en-AU" sz="2400"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6" name="Picture 5" descr="00302923.jpg"/>
          <p:cNvPicPr/>
          <p:nvPr/>
        </p:nvPicPr>
        <p:blipFill>
          <a:blip r:embed="rId3" cstate="print"/>
          <a:stretch>
            <a:fillRect/>
          </a:stretch>
        </p:blipFill>
        <p:spPr>
          <a:xfrm>
            <a:off x="6516216" y="4365104"/>
            <a:ext cx="1986201" cy="1531417"/>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2376264"/>
          </a:xfrm>
        </p:spPr>
        <p:txBody>
          <a:bodyPr>
            <a:normAutofit/>
          </a:bodyPr>
          <a:lstStyle/>
          <a:p>
            <a:pPr>
              <a:buNone/>
            </a:pPr>
            <a:r>
              <a:rPr lang="en-AU" sz="4000" b="1" i="1" dirty="0" smtClean="0">
                <a:solidFill>
                  <a:srgbClr val="FF6600"/>
                </a:solidFill>
                <a:latin typeface="Helvetica" pitchFamily="34" charset="0"/>
              </a:rPr>
              <a:t>Element 2:</a:t>
            </a:r>
          </a:p>
          <a:p>
            <a:pPr marL="0">
              <a:buNone/>
            </a:pPr>
            <a:r>
              <a:rPr lang="en-AU" sz="4000" b="1" i="1" dirty="0" smtClean="0">
                <a:solidFill>
                  <a:srgbClr val="FF6600"/>
                </a:solidFill>
                <a:latin typeface="Helvetica" pitchFamily="34" charset="0"/>
              </a:rPr>
              <a:t>Deal with cross cultural misunderstandings</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7" name="Picture 6" descr="00443186.jpg"/>
          <p:cNvPicPr>
            <a:picLocks noChangeAspect="1"/>
          </p:cNvPicPr>
          <p:nvPr/>
        </p:nvPicPr>
        <p:blipFill>
          <a:blip r:embed="rId3" cstate="print"/>
          <a:stretch>
            <a:fillRect/>
          </a:stretch>
        </p:blipFill>
        <p:spPr>
          <a:xfrm>
            <a:off x="5508104" y="3501008"/>
            <a:ext cx="2961330" cy="1970732"/>
          </a:xfrm>
          <a:prstGeom prst="rect">
            <a:avLst/>
          </a:prstGeom>
          <a:ln w="25400">
            <a:solidFill>
              <a:schemeClr val="tx1">
                <a:lumMod val="75000"/>
                <a:lumOff val="25000"/>
              </a:schemeClr>
            </a:solid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fontScale="92500" lnSpcReduction="10000"/>
          </a:bodyPr>
          <a:lstStyle/>
          <a:p>
            <a:pPr marL="0" indent="0">
              <a:lnSpc>
                <a:spcPct val="110000"/>
              </a:lnSpc>
              <a:spcBef>
                <a:spcPts val="600"/>
              </a:spcBef>
              <a:spcAft>
                <a:spcPts val="600"/>
              </a:spcAft>
              <a:buNone/>
            </a:pPr>
            <a:r>
              <a:rPr lang="en-US" sz="2400" dirty="0" smtClean="0">
                <a:latin typeface="Helvetica" pitchFamily="34" charset="0"/>
              </a:rPr>
              <a:t>Performance Criteria for this Element are: </a:t>
            </a:r>
          </a:p>
          <a:p>
            <a:pPr>
              <a:lnSpc>
                <a:spcPct val="110000"/>
              </a:lnSpc>
              <a:spcBef>
                <a:spcPts val="600"/>
              </a:spcBef>
              <a:spcAft>
                <a:spcPts val="600"/>
              </a:spcAft>
            </a:pPr>
            <a:r>
              <a:rPr lang="en-AU" sz="2400" dirty="0" smtClean="0">
                <a:latin typeface="Helvetica" pitchFamily="34" charset="0"/>
              </a:rPr>
              <a:t>Identify issues which may cause conflict or misunderstanding in the workplace</a:t>
            </a:r>
          </a:p>
          <a:p>
            <a:pPr>
              <a:lnSpc>
                <a:spcPct val="110000"/>
              </a:lnSpc>
              <a:spcBef>
                <a:spcPts val="600"/>
              </a:spcBef>
              <a:spcAft>
                <a:spcPts val="600"/>
              </a:spcAft>
            </a:pPr>
            <a:r>
              <a:rPr lang="en-AU" sz="2400" dirty="0" smtClean="0">
                <a:latin typeface="Helvetica" pitchFamily="34" charset="0"/>
              </a:rPr>
              <a:t>Address difficulties with the appropriate people and seek assistance from team leaders or others where required</a:t>
            </a:r>
          </a:p>
          <a:p>
            <a:pPr>
              <a:lnSpc>
                <a:spcPct val="110000"/>
              </a:lnSpc>
              <a:spcBef>
                <a:spcPts val="600"/>
              </a:spcBef>
              <a:spcAft>
                <a:spcPts val="600"/>
              </a:spcAft>
            </a:pPr>
            <a:r>
              <a:rPr lang="en-AU" sz="2400" dirty="0" smtClean="0">
                <a:latin typeface="Helvetica" pitchFamily="34" charset="0"/>
              </a:rPr>
              <a:t>Consider possible cultural differences when difficulties or misunderstandings occur</a:t>
            </a:r>
          </a:p>
          <a:p>
            <a:pPr>
              <a:lnSpc>
                <a:spcPct val="110000"/>
              </a:lnSpc>
              <a:spcBef>
                <a:spcPts val="600"/>
              </a:spcBef>
              <a:spcAft>
                <a:spcPts val="600"/>
              </a:spcAft>
            </a:pPr>
            <a:r>
              <a:rPr lang="en-AU" sz="2400" dirty="0" smtClean="0">
                <a:latin typeface="Helvetica" pitchFamily="34" charset="0"/>
              </a:rPr>
              <a:t>Make efforts to resolve misunderstandings, taking account of cultural considerations</a:t>
            </a:r>
          </a:p>
          <a:p>
            <a:pPr>
              <a:lnSpc>
                <a:spcPct val="110000"/>
              </a:lnSpc>
              <a:spcBef>
                <a:spcPts val="600"/>
              </a:spcBef>
              <a:spcAft>
                <a:spcPts val="600"/>
              </a:spcAft>
            </a:pPr>
            <a:r>
              <a:rPr lang="en-AU" sz="2400" dirty="0" smtClean="0">
                <a:latin typeface="Helvetica" pitchFamily="34" charset="0"/>
              </a:rPr>
              <a:t>Refer issues and problems to the appropriate team leader/supervisor for follow up</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Conflict and misunderstanding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What is conflict and misunderstanding?</a:t>
            </a:r>
          </a:p>
          <a:p>
            <a:pPr marL="0">
              <a:spcBef>
                <a:spcPts val="600"/>
              </a:spcBef>
              <a:spcAft>
                <a:spcPts val="1200"/>
              </a:spcAft>
              <a:buNone/>
            </a:pPr>
            <a:r>
              <a:rPr lang="en-AU" sz="2200" dirty="0" smtClean="0">
                <a:latin typeface="Helvetica" pitchFamily="34" charset="0"/>
              </a:rPr>
              <a:t>Anything that upsets another person, whether a customer or colleague, can be regarded as a conflict or a misunderstanding.</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7" name="Picture 6" descr="00302917.jpg"/>
          <p:cNvPicPr/>
          <p:nvPr/>
        </p:nvPicPr>
        <p:blipFill>
          <a:blip r:embed="rId3" cstate="print"/>
          <a:stretch>
            <a:fillRect/>
          </a:stretch>
        </p:blipFill>
        <p:spPr>
          <a:xfrm>
            <a:off x="6660232" y="3068960"/>
            <a:ext cx="1762299" cy="2408659"/>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200" b="1" dirty="0" smtClean="0">
                <a:solidFill>
                  <a:srgbClr val="FF6600"/>
                </a:solidFill>
                <a:latin typeface="Helvetica" pitchFamily="34" charset="0"/>
              </a:rPr>
              <a:t>Addressing conflict and misunderstanding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Addressing workplace conflict and misunderstanding properly and as early as possible seeks to:</a:t>
            </a:r>
          </a:p>
          <a:p>
            <a:pPr lvl="0">
              <a:spcBef>
                <a:spcPts val="600"/>
              </a:spcBef>
              <a:spcAft>
                <a:spcPts val="1200"/>
              </a:spcAft>
            </a:pPr>
            <a:r>
              <a:rPr lang="en-US" sz="2200" dirty="0" smtClean="0">
                <a:latin typeface="Helvetica" pitchFamily="34" charset="0"/>
              </a:rPr>
              <a:t>Keep all conflict and misunderstanding at the ‘mild’ end of the spectrum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Clarify any perceptions that arose due to misunderstanding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Rectify the situation to the greatest                             extent possible.</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6" name="Picture 5" descr="00302919.jpg"/>
          <p:cNvPicPr>
            <a:picLocks noChangeAspect="1"/>
          </p:cNvPicPr>
          <p:nvPr/>
        </p:nvPicPr>
        <p:blipFill>
          <a:blip r:embed="rId3" cstate="print"/>
          <a:stretch>
            <a:fillRect/>
          </a:stretch>
        </p:blipFill>
        <p:spPr>
          <a:xfrm>
            <a:off x="6876256" y="3429000"/>
            <a:ext cx="1561373" cy="218884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Causes of conflict and misunderstanding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445224"/>
          </a:xfrm>
        </p:spPr>
        <p:txBody>
          <a:bodyPr>
            <a:normAutofit/>
          </a:bodyPr>
          <a:lstStyle/>
          <a:p>
            <a:pPr marL="0">
              <a:spcBef>
                <a:spcPts val="600"/>
              </a:spcBef>
              <a:spcAft>
                <a:spcPts val="1200"/>
              </a:spcAft>
              <a:buNone/>
            </a:pPr>
            <a:r>
              <a:rPr lang="en-AU" sz="2200" dirty="0" smtClean="0">
                <a:latin typeface="Helvetica" pitchFamily="34" charset="0"/>
              </a:rPr>
              <a:t>Difficulties or conflict can also arise out of misunderstandings due to:</a:t>
            </a:r>
          </a:p>
          <a:p>
            <a:pPr lvl="0">
              <a:spcBef>
                <a:spcPts val="600"/>
              </a:spcBef>
              <a:spcAft>
                <a:spcPts val="1200"/>
              </a:spcAft>
            </a:pPr>
            <a:r>
              <a:rPr lang="en-US" sz="2200" dirty="0" smtClean="0">
                <a:latin typeface="Helvetica" pitchFamily="34" charset="0"/>
              </a:rPr>
              <a:t>Poor communication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Lack of communication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Intolerance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Impatience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Poor judgment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Conflicting personal values, beliefs                                        and opinions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Personal prejudices.</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descr="00423044.jpg"/>
          <p:cNvPicPr/>
          <p:nvPr/>
        </p:nvPicPr>
        <p:blipFill>
          <a:blip r:embed="rId3" cstate="print"/>
          <a:stretch>
            <a:fillRect/>
          </a:stretch>
        </p:blipFill>
        <p:spPr>
          <a:xfrm>
            <a:off x="6228184" y="3429000"/>
            <a:ext cx="2221210" cy="2077194"/>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Causes of conflict and misunderstanding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marL="0">
              <a:spcBef>
                <a:spcPts val="600"/>
              </a:spcBef>
              <a:spcAft>
                <a:spcPts val="1200"/>
              </a:spcAft>
              <a:buNone/>
            </a:pPr>
            <a:r>
              <a:rPr lang="en-AU" sz="2200" b="1" dirty="0" smtClean="0">
                <a:latin typeface="Helvetica" pitchFamily="34" charset="0"/>
              </a:rPr>
              <a:t>Examples of situations that can cause conflict or misunderstanding</a:t>
            </a:r>
          </a:p>
          <a:p>
            <a:pPr lvl="0">
              <a:spcBef>
                <a:spcPts val="600"/>
              </a:spcBef>
              <a:spcAft>
                <a:spcPts val="1200"/>
              </a:spcAft>
            </a:pPr>
            <a:r>
              <a:rPr lang="en-US" sz="2200" dirty="0" smtClean="0">
                <a:latin typeface="Helvetica" pitchFamily="34" charset="0"/>
              </a:rPr>
              <a:t>Welcoming guests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Giving directions or instructions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Answering questions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Serving customers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Offering an alcoholic drink to someone                                whose religion forbids the consumption                                          of liquor.</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7" name="Picture 6" descr="MP900174929[1].JPG"/>
          <p:cNvPicPr>
            <a:picLocks noChangeAspect="1"/>
          </p:cNvPicPr>
          <p:nvPr/>
        </p:nvPicPr>
        <p:blipFill>
          <a:blip r:embed="rId3" cstate="print"/>
          <a:stretch>
            <a:fillRect/>
          </a:stretch>
        </p:blipFill>
        <p:spPr>
          <a:xfrm>
            <a:off x="6660232" y="2852936"/>
            <a:ext cx="1795264" cy="2692896"/>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Causes of conflict and misunderstanding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marL="0">
              <a:spcBef>
                <a:spcPts val="600"/>
              </a:spcBef>
              <a:spcAft>
                <a:spcPts val="1200"/>
              </a:spcAft>
              <a:buNone/>
            </a:pPr>
            <a:r>
              <a:rPr lang="en-AU" sz="2200" b="1" dirty="0" smtClean="0">
                <a:latin typeface="Helvetica" pitchFamily="34" charset="0"/>
              </a:rPr>
              <a:t>Examples of situations that can cause conflict or misunderstanding</a:t>
            </a:r>
          </a:p>
          <a:p>
            <a:pPr lvl="0">
              <a:spcBef>
                <a:spcPts val="600"/>
              </a:spcBef>
              <a:spcAft>
                <a:spcPts val="1200"/>
              </a:spcAft>
            </a:pPr>
            <a:r>
              <a:rPr lang="en-US" sz="2200" dirty="0" smtClean="0">
                <a:latin typeface="Helvetica" pitchFamily="34" charset="0"/>
              </a:rPr>
              <a:t>Recommending pork or shellfish dishes to Jewish customers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Serving meat-based dishes to people who are Hindu</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Describing products, services and facilities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Working with colleagues arising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Socialising with colleagues after work.</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7" name="Picture 6" descr="MP900438778[1].JPG"/>
          <p:cNvPicPr/>
          <p:nvPr/>
        </p:nvPicPr>
        <p:blipFill>
          <a:blip r:embed="rId3" cstate="print"/>
          <a:stretch>
            <a:fillRect/>
          </a:stretch>
        </p:blipFill>
        <p:spPr>
          <a:xfrm>
            <a:off x="6588224" y="4005064"/>
            <a:ext cx="1929557" cy="1785541"/>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Identifying conflict and misunderstanding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marL="0">
              <a:spcBef>
                <a:spcPts val="600"/>
              </a:spcBef>
              <a:spcAft>
                <a:spcPts val="1200"/>
              </a:spcAft>
              <a:buNone/>
            </a:pPr>
            <a:r>
              <a:rPr lang="en-AU" sz="2200" dirty="0" smtClean="0">
                <a:latin typeface="Helvetica" pitchFamily="34" charset="0"/>
              </a:rPr>
              <a:t>Issues causing conflict or misunderstanding in the workplace are most commonly identified by:</a:t>
            </a:r>
          </a:p>
          <a:p>
            <a:pPr>
              <a:spcBef>
                <a:spcPts val="600"/>
              </a:spcBef>
              <a:spcAft>
                <a:spcPts val="1200"/>
              </a:spcAft>
            </a:pPr>
            <a:r>
              <a:rPr lang="en-AU" sz="2200" dirty="0" smtClean="0">
                <a:latin typeface="Helvetica" pitchFamily="34" charset="0"/>
              </a:rPr>
              <a:t>Intuition</a:t>
            </a:r>
          </a:p>
          <a:p>
            <a:pPr>
              <a:spcBef>
                <a:spcPts val="600"/>
              </a:spcBef>
              <a:spcAft>
                <a:spcPts val="1200"/>
              </a:spcAft>
            </a:pPr>
            <a:r>
              <a:rPr lang="en-AU" sz="2200" dirty="0" smtClean="0">
                <a:latin typeface="Helvetica" pitchFamily="34" charset="0"/>
              </a:rPr>
              <a:t>Personal observation </a:t>
            </a:r>
          </a:p>
          <a:p>
            <a:pPr>
              <a:spcBef>
                <a:spcPts val="600"/>
              </a:spcBef>
              <a:spcAft>
                <a:spcPts val="1200"/>
              </a:spcAft>
            </a:pPr>
            <a:r>
              <a:rPr lang="en-AU" sz="2200" dirty="0" smtClean="0">
                <a:latin typeface="Helvetica" pitchFamily="34" charset="0"/>
              </a:rPr>
              <a:t>Being informed by the person themselves </a:t>
            </a:r>
          </a:p>
          <a:p>
            <a:pPr>
              <a:spcBef>
                <a:spcPts val="600"/>
              </a:spcBef>
              <a:spcAft>
                <a:spcPts val="1200"/>
              </a:spcAft>
            </a:pPr>
            <a:r>
              <a:rPr lang="en-AU" sz="2200" dirty="0" smtClean="0">
                <a:latin typeface="Helvetica" pitchFamily="34" charset="0"/>
              </a:rPr>
              <a:t>Being told by another person that                                              you have upset someone.</a:t>
            </a:r>
          </a:p>
          <a:p>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6" name="Picture 5" descr="MP900427673[1].JPG"/>
          <p:cNvPicPr/>
          <p:nvPr/>
        </p:nvPicPr>
        <p:blipFill>
          <a:blip r:embed="rId3" cstate="print"/>
          <a:stretch>
            <a:fillRect/>
          </a:stretch>
        </p:blipFill>
        <p:spPr>
          <a:xfrm>
            <a:off x="6012160" y="4077072"/>
            <a:ext cx="2506588" cy="1799456"/>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Identifying conflict and misunderstanding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dirty="0" smtClean="0">
                <a:latin typeface="Helvetica" pitchFamily="34" charset="0"/>
              </a:rPr>
              <a:t>When conflict is identified, remember:</a:t>
            </a:r>
          </a:p>
          <a:p>
            <a:pPr lvl="0">
              <a:spcBef>
                <a:spcPts val="600"/>
              </a:spcBef>
              <a:spcAft>
                <a:spcPts val="1200"/>
              </a:spcAft>
            </a:pPr>
            <a:r>
              <a:rPr lang="en-US" sz="2200" dirty="0" smtClean="0">
                <a:latin typeface="Helvetica" pitchFamily="34" charset="0"/>
              </a:rPr>
              <a:t>It isn’t always your fault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 open-minded to their assertion that you said or did something unacceptable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Apologise where necessary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Take steps to make sure you don’t repeat                                  any actions or statements that gave rise                                            to the issue.</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7" name="Picture 6" descr="MP900422324[1].JPG"/>
          <p:cNvPicPr/>
          <p:nvPr/>
        </p:nvPicPr>
        <p:blipFill>
          <a:blip r:embed="rId3" cstate="print"/>
          <a:stretch>
            <a:fillRect/>
          </a:stretch>
        </p:blipFill>
        <p:spPr>
          <a:xfrm>
            <a:off x="6660232" y="3429000"/>
            <a:ext cx="1775579" cy="2444105"/>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Addressing difficulties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pPr>
            <a:r>
              <a:rPr lang="en-AU" sz="2200" dirty="0" smtClean="0">
                <a:latin typeface="Helvetica" pitchFamily="34" charset="0"/>
              </a:rPr>
              <a:t>Where cross-cultural misunderstandings occur, efforts to resolve the situation should be made with the person concerned</a:t>
            </a:r>
          </a:p>
          <a:p>
            <a:pPr>
              <a:spcBef>
                <a:spcPts val="600"/>
              </a:spcBef>
              <a:spcAft>
                <a:spcPts val="1200"/>
              </a:spcAft>
            </a:pPr>
            <a:r>
              <a:rPr lang="en-AU" sz="2200" dirty="0" smtClean="0">
                <a:latin typeface="Helvetica" pitchFamily="34" charset="0"/>
              </a:rPr>
              <a:t>But addressing difficulties and resolving them is not always a straight-forward task or one that can be readily achieved</a:t>
            </a:r>
          </a:p>
          <a:p>
            <a:pPr>
              <a:spcBef>
                <a:spcPts val="600"/>
              </a:spcBef>
              <a:spcAft>
                <a:spcPts val="1200"/>
              </a:spcAft>
            </a:pPr>
            <a:r>
              <a:rPr lang="en-AU" sz="2200" dirty="0" smtClean="0">
                <a:latin typeface="Helvetica" pitchFamily="34" charset="0"/>
              </a:rPr>
              <a:t>When you can’t rectify or retrieve the situation, get help from others.</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6" name="Picture 5" descr="MP900316761[1].JPG"/>
          <p:cNvPicPr/>
          <p:nvPr/>
        </p:nvPicPr>
        <p:blipFill>
          <a:blip r:embed="rId3" cstate="print"/>
          <a:stretch>
            <a:fillRect/>
          </a:stretch>
        </p:blipFill>
        <p:spPr>
          <a:xfrm>
            <a:off x="6156176" y="4437112"/>
            <a:ext cx="2278742" cy="1680195"/>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Addressing difficulties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Scope of authority</a:t>
            </a:r>
          </a:p>
          <a:p>
            <a:pPr marL="0">
              <a:spcBef>
                <a:spcPts val="600"/>
              </a:spcBef>
              <a:spcAft>
                <a:spcPts val="1200"/>
              </a:spcAft>
              <a:buNone/>
            </a:pPr>
            <a:r>
              <a:rPr lang="en-AU" sz="2200" dirty="0" smtClean="0">
                <a:latin typeface="Helvetica" pitchFamily="34" charset="0"/>
              </a:rPr>
              <a:t>Guidelines as to what action they can take in the workplace without having to get special permission from management:</a:t>
            </a:r>
          </a:p>
          <a:p>
            <a:pPr lvl="0">
              <a:spcBef>
                <a:spcPts val="600"/>
              </a:spcBef>
              <a:spcAft>
                <a:spcPts val="1200"/>
              </a:spcAft>
            </a:pPr>
            <a:r>
              <a:rPr lang="en-US" sz="2200" dirty="0" smtClean="0">
                <a:latin typeface="Helvetica" pitchFamily="34" charset="0"/>
              </a:rPr>
              <a:t>Their ability to act on behalf of the venue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Their authority to spend money on behalf of the venue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Their authority to act in given situations.</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7" name="Picture 6" descr="MP900424431[1].JPG"/>
          <p:cNvPicPr/>
          <p:nvPr/>
        </p:nvPicPr>
        <p:blipFill>
          <a:blip r:embed="rId3" cstate="print"/>
          <a:stretch>
            <a:fillRect/>
          </a:stretch>
        </p:blipFill>
        <p:spPr>
          <a:xfrm>
            <a:off x="6876256" y="4221088"/>
            <a:ext cx="1343025" cy="2009775"/>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Addressing difficulties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Scope of authority</a:t>
            </a:r>
          </a:p>
          <a:p>
            <a:pPr marL="0">
              <a:spcBef>
                <a:spcPts val="600"/>
              </a:spcBef>
              <a:spcAft>
                <a:spcPts val="1200"/>
              </a:spcAft>
              <a:buNone/>
            </a:pPr>
            <a:r>
              <a:rPr lang="en-AU" sz="2200" dirty="0" smtClean="0">
                <a:latin typeface="Helvetica" pitchFamily="34" charset="0"/>
              </a:rPr>
              <a:t>Establishments may give staff standard scopes of authority to respond in standard ways such as:</a:t>
            </a:r>
          </a:p>
          <a:p>
            <a:pPr lvl="0">
              <a:spcBef>
                <a:spcPts val="600"/>
              </a:spcBef>
              <a:spcAft>
                <a:spcPts val="1200"/>
              </a:spcAft>
            </a:pPr>
            <a:r>
              <a:rPr lang="en-US" sz="2200" dirty="0" smtClean="0">
                <a:latin typeface="Helvetica" pitchFamily="34" charset="0"/>
              </a:rPr>
              <a:t>Offering a free product – glass of drink or free dessert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Offering a service – such as dry cleaning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Offering a set percentage discount on                                 advertised selling prices.</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6" name="Picture 5" descr="MP900427691[1].JPG"/>
          <p:cNvPicPr/>
          <p:nvPr/>
        </p:nvPicPr>
        <p:blipFill>
          <a:blip r:embed="rId3" cstate="print"/>
          <a:stretch>
            <a:fillRect/>
          </a:stretch>
        </p:blipFill>
        <p:spPr>
          <a:xfrm>
            <a:off x="6156176" y="4149080"/>
            <a:ext cx="2292077" cy="1550467"/>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Addressing difficulties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marL="0">
              <a:spcBef>
                <a:spcPts val="600"/>
              </a:spcBef>
              <a:spcAft>
                <a:spcPts val="1200"/>
              </a:spcAft>
              <a:buNone/>
            </a:pPr>
            <a:r>
              <a:rPr lang="en-AU" sz="2200" dirty="0" smtClean="0">
                <a:latin typeface="Helvetica" pitchFamily="34" charset="0"/>
              </a:rPr>
              <a:t>Where your scope of authority is insufficient to deal with the problem, assistance from others should sought.</a:t>
            </a:r>
          </a:p>
          <a:p>
            <a:pPr>
              <a:spcBef>
                <a:spcPts val="600"/>
              </a:spcBef>
              <a:spcAft>
                <a:spcPts val="1200"/>
              </a:spcAft>
              <a:buNone/>
            </a:pPr>
            <a:r>
              <a:rPr lang="en-AU" sz="2200" dirty="0" smtClean="0">
                <a:latin typeface="Helvetica" pitchFamily="34" charset="0"/>
              </a:rPr>
              <a:t>Keys in involving other people are to:</a:t>
            </a:r>
          </a:p>
          <a:p>
            <a:pPr lvl="0">
              <a:spcBef>
                <a:spcPts val="600"/>
              </a:spcBef>
              <a:spcAft>
                <a:spcPts val="1200"/>
              </a:spcAft>
            </a:pPr>
            <a:r>
              <a:rPr lang="en-US" sz="2200" dirty="0" smtClean="0">
                <a:latin typeface="Helvetica" pitchFamily="34" charset="0"/>
              </a:rPr>
              <a:t>Make every genuine and realistic effort to </a:t>
            </a:r>
            <a:br>
              <a:rPr lang="en-US" sz="2200" dirty="0" smtClean="0">
                <a:latin typeface="Helvetica" pitchFamily="34" charset="0"/>
              </a:rPr>
            </a:br>
            <a:r>
              <a:rPr lang="en-US" sz="2200" dirty="0" smtClean="0">
                <a:latin typeface="Helvetica" pitchFamily="34" charset="0"/>
              </a:rPr>
              <a:t>resolve the issue yourself</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Act quickly once the decision to involve </a:t>
            </a:r>
            <a:br>
              <a:rPr lang="en-US" sz="2200" dirty="0" smtClean="0">
                <a:latin typeface="Helvetica" pitchFamily="34" charset="0"/>
              </a:rPr>
            </a:br>
            <a:r>
              <a:rPr lang="en-US" sz="2200" dirty="0" smtClean="0">
                <a:latin typeface="Helvetica" pitchFamily="34" charset="0"/>
              </a:rPr>
              <a:t>someone else has been taken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Make sure you give them all the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Try to stay around to listen and learn                                          from how they handle the situation. </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8" name="Picture 7" descr="00341396.jpg"/>
          <p:cNvPicPr/>
          <p:nvPr/>
        </p:nvPicPr>
        <p:blipFill>
          <a:blip r:embed="rId3" cstate="print"/>
          <a:stretch>
            <a:fillRect/>
          </a:stretch>
        </p:blipFill>
        <p:spPr>
          <a:xfrm>
            <a:off x="6732240" y="3356992"/>
            <a:ext cx="1680766" cy="2106340"/>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Addressing difficulties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600"/>
              </a:spcAft>
              <a:buNone/>
            </a:pPr>
            <a:r>
              <a:rPr lang="en-AU" sz="2200" b="1" dirty="0" smtClean="0">
                <a:latin typeface="Helvetica" pitchFamily="34" charset="0"/>
              </a:rPr>
              <a:t>Tips when addressing conflict and misunderstandings</a:t>
            </a:r>
          </a:p>
          <a:p>
            <a:pPr lvl="0">
              <a:spcBef>
                <a:spcPts val="600"/>
              </a:spcBef>
              <a:spcAft>
                <a:spcPts val="600"/>
              </a:spcAft>
            </a:pPr>
            <a:r>
              <a:rPr lang="en-US" sz="2200" dirty="0" smtClean="0">
                <a:latin typeface="Helvetica" pitchFamily="34" charset="0"/>
              </a:rPr>
              <a:t>Quick identification of a misunderstanding can prevent a conflict from occurring</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All possible cultural differences should be taken into consideration</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Resolve the misunderstanding as quickly as possible</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Follow organisational procedures</a:t>
            </a:r>
          </a:p>
          <a:p>
            <a:pPr lvl="0">
              <a:spcBef>
                <a:spcPts val="600"/>
              </a:spcBef>
              <a:spcAft>
                <a:spcPts val="600"/>
              </a:spcAft>
            </a:pPr>
            <a:r>
              <a:rPr lang="en-US" sz="2200" dirty="0" smtClean="0">
                <a:latin typeface="Helvetica" pitchFamily="34" charset="0"/>
              </a:rPr>
              <a:t>Putting yourself in the other person’s shoes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Frustration or impatience should be avoided</a:t>
            </a:r>
          </a:p>
          <a:p>
            <a:pPr lvl="0">
              <a:spcBef>
                <a:spcPts val="600"/>
              </a:spcBef>
              <a:spcAft>
                <a:spcPts val="600"/>
              </a:spcAft>
            </a:pPr>
            <a:r>
              <a:rPr lang="en-US" sz="2200" dirty="0" smtClean="0">
                <a:latin typeface="Helvetica" pitchFamily="34" charset="0"/>
              </a:rPr>
              <a:t>Focus on respect and sensitivity.</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6" name="Picture 5" descr="00443186.jpg"/>
          <p:cNvPicPr/>
          <p:nvPr/>
        </p:nvPicPr>
        <p:blipFill>
          <a:blip r:embed="rId3" cstate="print"/>
          <a:stretch>
            <a:fillRect/>
          </a:stretch>
        </p:blipFill>
        <p:spPr>
          <a:xfrm>
            <a:off x="6804248" y="4509120"/>
            <a:ext cx="1774061" cy="1373882"/>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Consider cultural differences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r>
              <a:rPr lang="en-AU" sz="2200" dirty="0" smtClean="0">
                <a:latin typeface="Helvetica" pitchFamily="34" charset="0"/>
              </a:rPr>
              <a:t>It is possible that the cause of differences and difficulties are due to traditional service problems such as poor service, slow service, low-quality products or unclean rooms</a:t>
            </a:r>
          </a:p>
          <a:p>
            <a:endParaRPr lang="en-AU" sz="2200" dirty="0" smtClean="0">
              <a:latin typeface="Helvetica" pitchFamily="34" charset="0"/>
            </a:endParaRPr>
          </a:p>
          <a:p>
            <a:r>
              <a:rPr lang="en-AU" sz="2200" dirty="0" smtClean="0">
                <a:latin typeface="Helvetica" pitchFamily="34" charset="0"/>
              </a:rPr>
              <a:t>However when dealing with people from diverse backgrounds it is also possible that cultural differences have caused the problems.</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7" name="Picture 6" descr="MP900285144[1].JPG"/>
          <p:cNvPicPr/>
          <p:nvPr/>
        </p:nvPicPr>
        <p:blipFill>
          <a:blip r:embed="rId3" cstate="print"/>
          <a:stretch>
            <a:fillRect/>
          </a:stretch>
        </p:blipFill>
        <p:spPr>
          <a:xfrm>
            <a:off x="6012160" y="4149080"/>
            <a:ext cx="2501255" cy="1747639"/>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Consider cultural differences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Possible cultural differences and needs</a:t>
            </a:r>
          </a:p>
          <a:p>
            <a:pPr>
              <a:spcBef>
                <a:spcPts val="600"/>
              </a:spcBef>
              <a:spcAft>
                <a:spcPts val="1200"/>
              </a:spcAft>
            </a:pPr>
            <a:r>
              <a:rPr lang="en-AU" sz="2200" dirty="0" smtClean="0">
                <a:latin typeface="Helvetica" pitchFamily="34" charset="0"/>
              </a:rPr>
              <a:t>Language spoken </a:t>
            </a:r>
          </a:p>
          <a:p>
            <a:pPr>
              <a:spcBef>
                <a:spcPts val="600"/>
              </a:spcBef>
              <a:spcAft>
                <a:spcPts val="1200"/>
              </a:spcAft>
            </a:pPr>
            <a:r>
              <a:rPr lang="en-AU" sz="2200" dirty="0" smtClean="0">
                <a:latin typeface="Helvetica" pitchFamily="34" charset="0"/>
              </a:rPr>
              <a:t>Forms of address </a:t>
            </a:r>
          </a:p>
          <a:p>
            <a:pPr>
              <a:spcBef>
                <a:spcPts val="600"/>
              </a:spcBef>
              <a:spcAft>
                <a:spcPts val="1200"/>
              </a:spcAft>
            </a:pPr>
            <a:r>
              <a:rPr lang="en-AU" sz="2200" dirty="0" smtClean="0">
                <a:latin typeface="Helvetica" pitchFamily="34" charset="0"/>
              </a:rPr>
              <a:t>Levels of formality/informality</a:t>
            </a:r>
          </a:p>
          <a:p>
            <a:pPr>
              <a:spcBef>
                <a:spcPts val="600"/>
              </a:spcBef>
              <a:spcAft>
                <a:spcPts val="1200"/>
              </a:spcAft>
            </a:pPr>
            <a:r>
              <a:rPr lang="en-AU" sz="2200" dirty="0" smtClean="0">
                <a:latin typeface="Helvetica" pitchFamily="34" charset="0"/>
              </a:rPr>
              <a:t> Non-verbal behaviour </a:t>
            </a:r>
          </a:p>
          <a:p>
            <a:pPr>
              <a:spcBef>
                <a:spcPts val="600"/>
              </a:spcBef>
              <a:spcAft>
                <a:spcPts val="1200"/>
              </a:spcAft>
            </a:pPr>
            <a:r>
              <a:rPr lang="en-AU" sz="2200" dirty="0" smtClean="0">
                <a:latin typeface="Helvetica" pitchFamily="34" charset="0"/>
              </a:rPr>
              <a:t>Work ethic.</a:t>
            </a:r>
          </a:p>
          <a:p>
            <a:pPr>
              <a:buNone/>
            </a:pPr>
            <a:endParaRPr lang="en-AU" sz="2400" b="1" dirty="0" smtClean="0"/>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6" name="Picture 5" descr="MP900399215[1].JPG"/>
          <p:cNvPicPr/>
          <p:nvPr/>
        </p:nvPicPr>
        <p:blipFill>
          <a:blip r:embed="rId3" cstate="print"/>
          <a:stretch>
            <a:fillRect/>
          </a:stretch>
        </p:blipFill>
        <p:spPr>
          <a:xfrm>
            <a:off x="5652120" y="3356992"/>
            <a:ext cx="2801094" cy="2513062"/>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Consider cultural differences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Possible cultural differences and needs</a:t>
            </a:r>
          </a:p>
          <a:p>
            <a:pPr>
              <a:spcBef>
                <a:spcPts val="600"/>
              </a:spcBef>
              <a:spcAft>
                <a:spcPts val="1200"/>
              </a:spcAft>
            </a:pPr>
            <a:r>
              <a:rPr lang="en-AU" sz="2200" dirty="0" smtClean="0">
                <a:latin typeface="Helvetica" pitchFamily="34" charset="0"/>
              </a:rPr>
              <a:t>Personal grooming and dress </a:t>
            </a:r>
          </a:p>
          <a:p>
            <a:pPr>
              <a:spcBef>
                <a:spcPts val="600"/>
              </a:spcBef>
              <a:spcAft>
                <a:spcPts val="1200"/>
              </a:spcAft>
            </a:pPr>
            <a:r>
              <a:rPr lang="en-AU" sz="2200" dirty="0" smtClean="0">
                <a:latin typeface="Helvetica" pitchFamily="34" charset="0"/>
              </a:rPr>
              <a:t>Hygiene habits</a:t>
            </a:r>
          </a:p>
          <a:p>
            <a:pPr>
              <a:spcBef>
                <a:spcPts val="600"/>
              </a:spcBef>
              <a:spcAft>
                <a:spcPts val="1200"/>
              </a:spcAft>
            </a:pPr>
            <a:r>
              <a:rPr lang="en-AU" sz="2200" dirty="0" smtClean="0">
                <a:latin typeface="Helvetica" pitchFamily="34" charset="0"/>
              </a:rPr>
              <a:t>Family, social obligations and status </a:t>
            </a:r>
          </a:p>
          <a:p>
            <a:pPr>
              <a:spcBef>
                <a:spcPts val="600"/>
              </a:spcBef>
              <a:spcAft>
                <a:spcPts val="1200"/>
              </a:spcAft>
            </a:pPr>
            <a:r>
              <a:rPr lang="en-AU" sz="2200" dirty="0" smtClean="0">
                <a:latin typeface="Helvetica" pitchFamily="34" charset="0"/>
              </a:rPr>
              <a:t>Observance of special religious, feast or                                 other celebratory days </a:t>
            </a:r>
          </a:p>
          <a:p>
            <a:pPr>
              <a:spcBef>
                <a:spcPts val="600"/>
              </a:spcBef>
              <a:spcAft>
                <a:spcPts val="1200"/>
              </a:spcAft>
            </a:pPr>
            <a:r>
              <a:rPr lang="en-AU" sz="2200" dirty="0" smtClean="0">
                <a:latin typeface="Helvetica" pitchFamily="34" charset="0"/>
              </a:rPr>
              <a:t>Customs, beliefs and values</a:t>
            </a:r>
          </a:p>
          <a:p>
            <a:pPr>
              <a:spcBef>
                <a:spcPts val="600"/>
              </a:spcBef>
              <a:spcAft>
                <a:spcPts val="1200"/>
              </a:spcAft>
            </a:pPr>
            <a:r>
              <a:rPr lang="en-AU" sz="2200" dirty="0" smtClean="0">
                <a:latin typeface="Helvetica" pitchFamily="34" charset="0"/>
              </a:rPr>
              <a:t>Product preferences.</a:t>
            </a:r>
          </a:p>
          <a:p>
            <a:pPr>
              <a:buNone/>
            </a:pPr>
            <a:endParaRPr lang="en-AU" sz="2400" b="1" dirty="0" smtClean="0"/>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7" name="Picture 6" descr="MP900439246[1].JPG"/>
          <p:cNvPicPr/>
          <p:nvPr/>
        </p:nvPicPr>
        <p:blipFill>
          <a:blip r:embed="rId3" cstate="print"/>
          <a:stretch>
            <a:fillRect/>
          </a:stretch>
        </p:blipFill>
        <p:spPr>
          <a:xfrm>
            <a:off x="6372200" y="4221088"/>
            <a:ext cx="2397423" cy="1928416"/>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Resolving misunderstandings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pPr>
            <a:r>
              <a:rPr lang="en-AU" sz="2200" dirty="0" smtClean="0">
                <a:latin typeface="Helvetica" pitchFamily="34" charset="0"/>
              </a:rPr>
              <a:t>When faced with a misunderstanding in the workplace, we must be prepared to think about all cross-cultural factors likely to affect the situation</a:t>
            </a:r>
          </a:p>
          <a:p>
            <a:pPr>
              <a:spcBef>
                <a:spcPts val="600"/>
              </a:spcBef>
              <a:spcAft>
                <a:spcPts val="1200"/>
              </a:spcAft>
            </a:pPr>
            <a:r>
              <a:rPr lang="en-AU" sz="2200" dirty="0" smtClean="0">
                <a:latin typeface="Helvetica" pitchFamily="34" charset="0"/>
              </a:rPr>
              <a:t>When a cross-cultural misunderstanding occurs with a customer, it is necessary for service staff to take the appropriate steps to find a resolution</a:t>
            </a:r>
          </a:p>
          <a:p>
            <a:pPr>
              <a:spcBef>
                <a:spcPts val="600"/>
              </a:spcBef>
              <a:spcAft>
                <a:spcPts val="1200"/>
              </a:spcAft>
            </a:pPr>
            <a:r>
              <a:rPr lang="en-AU" sz="2200" dirty="0" smtClean="0">
                <a:latin typeface="Helvetica" pitchFamily="34" charset="0"/>
              </a:rPr>
              <a:t>All talk should be honest, explained clearly,                           briefly and in simple unbiased terms. </a:t>
            </a:r>
          </a:p>
          <a:p>
            <a:pPr>
              <a:buNone/>
            </a:pPr>
            <a:endParaRPr lang="en-AU" sz="2400" b="1" dirty="0" smtClean="0"/>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6" name="Picture 5" descr="j0400269.jpg"/>
          <p:cNvPicPr>
            <a:picLocks noChangeAspect="1"/>
          </p:cNvPicPr>
          <p:nvPr/>
        </p:nvPicPr>
        <p:blipFill>
          <a:blip r:embed="rId3" cstate="print"/>
          <a:stretch>
            <a:fillRect/>
          </a:stretch>
        </p:blipFill>
        <p:spPr>
          <a:xfrm>
            <a:off x="6804248" y="3789040"/>
            <a:ext cx="1662410" cy="207852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Resolving misunderstandings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Actions that can help resolve the situation</a:t>
            </a:r>
          </a:p>
          <a:p>
            <a:pPr>
              <a:spcBef>
                <a:spcPts val="600"/>
              </a:spcBef>
              <a:spcAft>
                <a:spcPts val="1200"/>
              </a:spcAft>
              <a:buNone/>
            </a:pPr>
            <a:r>
              <a:rPr lang="en-AU" sz="2200" dirty="0" smtClean="0">
                <a:latin typeface="Helvetica" pitchFamily="34" charset="0"/>
              </a:rPr>
              <a:t>This may involve you in:</a:t>
            </a:r>
          </a:p>
          <a:p>
            <a:pPr lvl="0">
              <a:spcBef>
                <a:spcPts val="600"/>
              </a:spcBef>
              <a:spcAft>
                <a:spcPts val="1200"/>
              </a:spcAft>
            </a:pPr>
            <a:r>
              <a:rPr lang="en-US" sz="2200" dirty="0" smtClean="0">
                <a:latin typeface="Helvetica" pitchFamily="34" charset="0"/>
              </a:rPr>
              <a:t>Discussing the issue in a courteous manner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Speaking directly with the person concerned                                  in a respectful way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Apologising for offence or misunderstanding                                that may have been caused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Taking time to talk with the person concerned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Asking for advice from the other party.</a:t>
            </a:r>
            <a:endParaRPr lang="en-AU" sz="2200" dirty="0" smtClean="0">
              <a:latin typeface="Helvetica" pitchFamily="34" charset="0"/>
            </a:endParaRPr>
          </a:p>
          <a:p>
            <a:pPr>
              <a:buNone/>
            </a:pPr>
            <a:endParaRPr lang="en-AU" sz="2400" b="1" dirty="0" smtClean="0"/>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7" name="Picture 6" descr="00385537.jpg"/>
          <p:cNvPicPr/>
          <p:nvPr/>
        </p:nvPicPr>
        <p:blipFill>
          <a:blip r:embed="rId3" cstate="print"/>
          <a:stretch>
            <a:fillRect/>
          </a:stretch>
        </p:blipFill>
        <p:spPr>
          <a:xfrm>
            <a:off x="7020272" y="3573016"/>
            <a:ext cx="1606674" cy="2384673"/>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Resolving misunderstandings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Actions that can help resolve the situation</a:t>
            </a:r>
          </a:p>
          <a:p>
            <a:pPr>
              <a:spcBef>
                <a:spcPts val="600"/>
              </a:spcBef>
              <a:spcAft>
                <a:spcPts val="1200"/>
              </a:spcAft>
              <a:buNone/>
            </a:pPr>
            <a:r>
              <a:rPr lang="en-AU" sz="2200" dirty="0" smtClean="0">
                <a:latin typeface="Helvetica" pitchFamily="34" charset="0"/>
              </a:rPr>
              <a:t>This may involve you in:</a:t>
            </a:r>
          </a:p>
          <a:p>
            <a:pPr lvl="0">
              <a:spcBef>
                <a:spcPts val="600"/>
              </a:spcBef>
              <a:spcAft>
                <a:spcPts val="1200"/>
              </a:spcAft>
            </a:pPr>
            <a:r>
              <a:rPr lang="en-US" sz="2200" dirty="0" smtClean="0">
                <a:latin typeface="Helvetica" pitchFamily="34" charset="0"/>
              </a:rPr>
              <a:t>Seeking advice from a supervisor or manager about the issue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Attending mediation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Enrolling in a language class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Enrolling in cultural awareness or                                      interpersonal skills programs.</a:t>
            </a:r>
            <a:endParaRPr lang="en-AU" sz="2200" b="1" dirty="0" smtClean="0">
              <a:latin typeface="Helvetica" pitchFamily="34" charset="0"/>
            </a:endParaRP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descr="11111.jpg"/>
          <p:cNvPicPr/>
          <p:nvPr/>
        </p:nvPicPr>
        <p:blipFill>
          <a:blip r:embed="rId3" cstate="print"/>
          <a:stretch>
            <a:fillRect/>
          </a:stretch>
        </p:blipFill>
        <p:spPr>
          <a:xfrm>
            <a:off x="6660232" y="3573016"/>
            <a:ext cx="1756966" cy="2489051"/>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Refer issues and problems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dirty="0" smtClean="0">
                <a:latin typeface="Helvetica" pitchFamily="34" charset="0"/>
              </a:rPr>
              <a:t>There may be a need in your workplace to refer:</a:t>
            </a:r>
          </a:p>
          <a:p>
            <a:pPr>
              <a:spcBef>
                <a:spcPts val="600"/>
              </a:spcBef>
              <a:spcAft>
                <a:spcPts val="1200"/>
              </a:spcAft>
            </a:pPr>
            <a:r>
              <a:rPr lang="en-AU" sz="2200" dirty="0" smtClean="0">
                <a:latin typeface="Helvetica" pitchFamily="34" charset="0"/>
              </a:rPr>
              <a:t> Any issues relating to cross-cultural issues</a:t>
            </a:r>
          </a:p>
          <a:p>
            <a:pPr>
              <a:spcBef>
                <a:spcPts val="600"/>
              </a:spcBef>
              <a:spcAft>
                <a:spcPts val="1200"/>
              </a:spcAft>
            </a:pPr>
            <a:r>
              <a:rPr lang="en-AU" sz="2200" dirty="0" smtClean="0">
                <a:latin typeface="Helvetica" pitchFamily="34" charset="0"/>
              </a:rPr>
              <a:t>Unresolved issues</a:t>
            </a:r>
          </a:p>
          <a:p>
            <a:pPr>
              <a:spcBef>
                <a:spcPts val="600"/>
              </a:spcBef>
              <a:spcAft>
                <a:spcPts val="1200"/>
              </a:spcAft>
            </a:pPr>
            <a:r>
              <a:rPr lang="en-AU" sz="2200" dirty="0" smtClean="0">
                <a:latin typeface="Helvetica" pitchFamily="34" charset="0"/>
              </a:rPr>
              <a:t>Who do you refer issues to?</a:t>
            </a:r>
          </a:p>
          <a:p>
            <a:pPr>
              <a:spcBef>
                <a:spcPts val="600"/>
              </a:spcBef>
              <a:spcAft>
                <a:spcPts val="1200"/>
              </a:spcAft>
            </a:pPr>
            <a:r>
              <a:rPr lang="en-AU" sz="2200" dirty="0" smtClean="0">
                <a:latin typeface="Helvetica" pitchFamily="34" charset="0"/>
              </a:rPr>
              <a:t>When should they be referred?</a:t>
            </a: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6" name="Picture 5" descr="00302919.jpg"/>
          <p:cNvPicPr/>
          <p:nvPr/>
        </p:nvPicPr>
        <p:blipFill>
          <a:blip r:embed="rId3" cstate="print"/>
          <a:stretch>
            <a:fillRect/>
          </a:stretch>
        </p:blipFill>
        <p:spPr>
          <a:xfrm>
            <a:off x="6588224" y="3140968"/>
            <a:ext cx="1861994" cy="2407518"/>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Refer issues and problems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dirty="0" smtClean="0">
                <a:latin typeface="Helvetica" pitchFamily="34" charset="0"/>
              </a:rPr>
              <a:t>Difficulties exist by trying to:</a:t>
            </a:r>
          </a:p>
          <a:p>
            <a:pPr>
              <a:spcBef>
                <a:spcPts val="600"/>
              </a:spcBef>
              <a:spcAft>
                <a:spcPts val="1200"/>
              </a:spcAft>
            </a:pPr>
            <a:r>
              <a:rPr lang="en-AU" sz="2200" dirty="0" smtClean="0">
                <a:latin typeface="Helvetica" pitchFamily="34" charset="0"/>
              </a:rPr>
              <a:t>Accommodate the needs, wants and preferences of a customer or staff member from another culture </a:t>
            </a:r>
          </a:p>
          <a:p>
            <a:pPr>
              <a:spcBef>
                <a:spcPts val="600"/>
              </a:spcBef>
              <a:spcAft>
                <a:spcPts val="1200"/>
              </a:spcAft>
              <a:buNone/>
            </a:pPr>
            <a:r>
              <a:rPr lang="en-AU" sz="2200" dirty="0" smtClean="0">
                <a:latin typeface="Helvetica" pitchFamily="34" charset="0"/>
              </a:rPr>
              <a:t>     </a:t>
            </a:r>
            <a:r>
              <a:rPr lang="en-AU" sz="2200" i="1" dirty="0" smtClean="0">
                <a:latin typeface="Helvetica" pitchFamily="34" charset="0"/>
              </a:rPr>
              <a:t>AND </a:t>
            </a:r>
          </a:p>
          <a:p>
            <a:pPr>
              <a:spcBef>
                <a:spcPts val="600"/>
              </a:spcBef>
              <a:spcAft>
                <a:spcPts val="1200"/>
              </a:spcAft>
            </a:pPr>
            <a:r>
              <a:rPr lang="en-AU" sz="2200" dirty="0" smtClean="0">
                <a:latin typeface="Helvetica" pitchFamily="34" charset="0"/>
              </a:rPr>
              <a:t>Respect the needs, wants and preferences of local employees.</a:t>
            </a: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descr="j0438551.jpg"/>
          <p:cNvPicPr>
            <a:picLocks noChangeAspect="1"/>
          </p:cNvPicPr>
          <p:nvPr/>
        </p:nvPicPr>
        <p:blipFill>
          <a:blip r:embed="rId3" cstate="print"/>
          <a:stretch>
            <a:fillRect/>
          </a:stretch>
        </p:blipFill>
        <p:spPr>
          <a:xfrm>
            <a:off x="5868144" y="4149080"/>
            <a:ext cx="2553252" cy="170460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Refer issues and problems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Know when to refer issues to management</a:t>
            </a:r>
          </a:p>
          <a:p>
            <a:pPr marL="0">
              <a:spcBef>
                <a:spcPts val="600"/>
              </a:spcBef>
              <a:spcAft>
                <a:spcPts val="1200"/>
              </a:spcAft>
              <a:buNone/>
            </a:pPr>
            <a:r>
              <a:rPr lang="en-AU" sz="2200" dirty="0" smtClean="0">
                <a:latin typeface="Helvetica" pitchFamily="34" charset="0"/>
              </a:rPr>
              <a:t>It is always important to know when and where to draw the line in relation to any cross-cultural misunderstanding:</a:t>
            </a:r>
          </a:p>
          <a:p>
            <a:pPr>
              <a:spcBef>
                <a:spcPts val="600"/>
              </a:spcBef>
              <a:spcAft>
                <a:spcPts val="1200"/>
              </a:spcAft>
            </a:pPr>
            <a:r>
              <a:rPr lang="en-AU" sz="2200" dirty="0" smtClean="0">
                <a:latin typeface="Helvetica" pitchFamily="34" charset="0"/>
              </a:rPr>
              <a:t>Notify the appropriate person when you don’t seem to be making any headway in reaching a resolution </a:t>
            </a:r>
          </a:p>
          <a:p>
            <a:pPr>
              <a:spcBef>
                <a:spcPts val="600"/>
              </a:spcBef>
              <a:spcAft>
                <a:spcPts val="1200"/>
              </a:spcAft>
            </a:pPr>
            <a:r>
              <a:rPr lang="en-AU" sz="2200" dirty="0" smtClean="0">
                <a:latin typeface="Helvetica" pitchFamily="34" charset="0"/>
              </a:rPr>
              <a:t>Notify the appropriate person after you                                  believe you have come to a solution.</a:t>
            </a: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6" name="Picture 5" descr="MP900443085[1].JPG"/>
          <p:cNvPicPr/>
          <p:nvPr/>
        </p:nvPicPr>
        <p:blipFill>
          <a:blip r:embed="rId3" cstate="print"/>
          <a:stretch>
            <a:fillRect/>
          </a:stretch>
        </p:blipFill>
        <p:spPr>
          <a:xfrm>
            <a:off x="6156176" y="4221088"/>
            <a:ext cx="2294756" cy="1613148"/>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Refer issues and problems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marL="0">
              <a:spcBef>
                <a:spcPts val="600"/>
              </a:spcBef>
              <a:spcAft>
                <a:spcPts val="600"/>
              </a:spcAft>
              <a:buNone/>
            </a:pPr>
            <a:r>
              <a:rPr lang="en-AU" sz="2200" dirty="0" smtClean="0">
                <a:latin typeface="Helvetica" pitchFamily="34" charset="0"/>
              </a:rPr>
              <a:t>This should be done so that any necessary follow-up and debriefing can be arranged including: </a:t>
            </a:r>
          </a:p>
          <a:p>
            <a:pPr lvl="0">
              <a:spcBef>
                <a:spcPts val="600"/>
              </a:spcBef>
              <a:spcAft>
                <a:spcPts val="600"/>
              </a:spcAft>
            </a:pPr>
            <a:r>
              <a:rPr lang="en-US" sz="2200" dirty="0" smtClean="0">
                <a:latin typeface="Helvetica" pitchFamily="34" charset="0"/>
              </a:rPr>
              <a:t>Revisions to standard operating procedure within the establishment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Inclusion of the issues at staff meetings and briefing sessions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Making contact with those involved in order to:</a:t>
            </a:r>
            <a:endParaRPr lang="en-AU" sz="2200" dirty="0" smtClean="0">
              <a:latin typeface="Helvetica" pitchFamily="34" charset="0"/>
            </a:endParaRPr>
          </a:p>
          <a:p>
            <a:pPr lvl="1">
              <a:spcBef>
                <a:spcPts val="600"/>
              </a:spcBef>
              <a:spcAft>
                <a:spcPts val="600"/>
              </a:spcAft>
            </a:pPr>
            <a:r>
              <a:rPr lang="en-US" sz="2200" dirty="0" smtClean="0">
                <a:latin typeface="Helvetica" pitchFamily="34" charset="0"/>
              </a:rPr>
              <a:t>Demonstrate their concern in relation </a:t>
            </a:r>
            <a:br>
              <a:rPr lang="en-US" sz="2200" dirty="0" smtClean="0">
                <a:latin typeface="Helvetica" pitchFamily="34" charset="0"/>
              </a:rPr>
            </a:br>
            <a:r>
              <a:rPr lang="en-US" sz="2200" dirty="0" smtClean="0">
                <a:latin typeface="Helvetica" pitchFamily="34" charset="0"/>
              </a:rPr>
              <a:t>to the matter</a:t>
            </a:r>
            <a:endParaRPr lang="en-AU" sz="2200" dirty="0" smtClean="0">
              <a:latin typeface="Helvetica" pitchFamily="34" charset="0"/>
            </a:endParaRPr>
          </a:p>
          <a:p>
            <a:pPr lvl="1">
              <a:spcBef>
                <a:spcPts val="600"/>
              </a:spcBef>
              <a:spcAft>
                <a:spcPts val="600"/>
              </a:spcAft>
            </a:pPr>
            <a:r>
              <a:rPr lang="en-US" sz="2200" dirty="0" smtClean="0">
                <a:latin typeface="Helvetica" pitchFamily="34" charset="0"/>
              </a:rPr>
              <a:t>Ensure that the agreed solution has                                     genuinely resolved the situation.</a:t>
            </a:r>
            <a:endParaRPr lang="en-AU" sz="2200" dirty="0" smtClean="0">
              <a:latin typeface="Helvetica" pitchFamily="34" charset="0"/>
            </a:endParaRP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7" name="Picture 6" descr="j0422791.jpg"/>
          <p:cNvPicPr>
            <a:picLocks noChangeAspect="1"/>
          </p:cNvPicPr>
          <p:nvPr/>
        </p:nvPicPr>
        <p:blipFill>
          <a:blip r:embed="rId3" cstate="print"/>
          <a:stretch>
            <a:fillRect/>
          </a:stretch>
        </p:blipFill>
        <p:spPr>
          <a:xfrm>
            <a:off x="7020272" y="4293096"/>
            <a:ext cx="1512168" cy="1512168"/>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Refer issues and problems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Who should problems be referred to?</a:t>
            </a:r>
          </a:p>
          <a:p>
            <a:pPr marL="0">
              <a:spcBef>
                <a:spcPts val="600"/>
              </a:spcBef>
              <a:spcAft>
                <a:spcPts val="1200"/>
              </a:spcAft>
              <a:buNone/>
            </a:pPr>
            <a:r>
              <a:rPr lang="en-AU" sz="2200" dirty="0" smtClean="0">
                <a:latin typeface="Helvetica" pitchFamily="34" charset="0"/>
              </a:rPr>
              <a:t>Depending on the establishment, and its organisational structure, the appropriate person could be:</a:t>
            </a:r>
          </a:p>
          <a:p>
            <a:pPr lvl="0">
              <a:spcBef>
                <a:spcPts val="600"/>
              </a:spcBef>
              <a:spcAft>
                <a:spcPts val="1200"/>
              </a:spcAft>
            </a:pPr>
            <a:r>
              <a:rPr lang="en-US" sz="2200" dirty="0" smtClean="0">
                <a:latin typeface="Helvetica" pitchFamily="34" charset="0"/>
              </a:rPr>
              <a:t>Your team leader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Your supervisor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 manager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 owner.</a:t>
            </a:r>
            <a:endParaRPr lang="en-AU" sz="2200" dirty="0" smtClean="0">
              <a:latin typeface="Helvetica" pitchFamily="34" charset="0"/>
            </a:endParaRP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6" name="Picture 5" descr="MP900443035[1].JPG"/>
          <p:cNvPicPr/>
          <p:nvPr/>
        </p:nvPicPr>
        <p:blipFill>
          <a:blip r:embed="rId3" cstate="print"/>
          <a:stretch>
            <a:fillRect/>
          </a:stretch>
        </p:blipFill>
        <p:spPr>
          <a:xfrm>
            <a:off x="5796136" y="3645024"/>
            <a:ext cx="2628126" cy="1973188"/>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sp>
        <p:nvSpPr>
          <p:cNvPr id="5" name="Content Placeholder 2"/>
          <p:cNvSpPr txBox="1">
            <a:spLocks/>
          </p:cNvSpPr>
          <p:nvPr/>
        </p:nvSpPr>
        <p:spPr>
          <a:xfrm>
            <a:off x="1331640" y="1196752"/>
            <a:ext cx="5184576" cy="1080120"/>
          </a:xfrm>
          <a:prstGeom prst="rect">
            <a:avLst/>
          </a:prstGeom>
        </p:spPr>
        <p:txBody>
          <a:bodyPr vert="horz">
            <a:normAutofit/>
          </a:bodyPr>
          <a:lstStyle/>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en-AU" sz="4000" b="1" i="1" u="none" strike="noStrike" kern="1200" cap="none" spc="0" normalizeH="0" baseline="0" noProof="0" smtClean="0">
                <a:ln>
                  <a:noFill/>
                </a:ln>
                <a:solidFill>
                  <a:srgbClr val="FF6600"/>
                </a:solidFill>
                <a:effectLst/>
                <a:uLnTx/>
                <a:uFillTx/>
                <a:latin typeface="Helvetica" pitchFamily="34" charset="0"/>
                <a:ea typeface="+mn-ea"/>
                <a:cs typeface="+mn-cs"/>
              </a:rPr>
              <a:t>Finish: Thank you!</a:t>
            </a:r>
            <a:endParaRPr kumimoji="0" lang="en-AU" sz="4000" b="1" i="1" u="none" strike="noStrike" kern="1200" cap="none" spc="0" normalizeH="0" baseline="0" noProof="0" dirty="0" smtClean="0">
              <a:ln>
                <a:noFill/>
              </a:ln>
              <a:solidFill>
                <a:srgbClr val="FF6600"/>
              </a:solidFill>
              <a:effectLst/>
              <a:uLnTx/>
              <a:uFillTx/>
              <a:latin typeface="Helvetica" pitchFamily="34" charset="0"/>
              <a:ea typeface="+mn-ea"/>
              <a:cs typeface="+mn-cs"/>
            </a:endParaRPr>
          </a:p>
        </p:txBody>
      </p:sp>
      <p:pic>
        <p:nvPicPr>
          <p:cNvPr id="6" name="Picture 10" descr="MCj04258180000[1]"/>
          <p:cNvPicPr>
            <a:picLocks noChangeAspect="1" noChangeArrowheads="1"/>
          </p:cNvPicPr>
          <p:nvPr/>
        </p:nvPicPr>
        <p:blipFill>
          <a:blip r:embed="rId3" cstate="print"/>
          <a:srcRect/>
          <a:stretch>
            <a:fillRect/>
          </a:stretch>
        </p:blipFill>
        <p:spPr bwMode="auto">
          <a:xfrm>
            <a:off x="2843808" y="2708920"/>
            <a:ext cx="2808287" cy="23701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_PPT_Template_010611_MV[1]">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ASEAN_PPT_Template_010611_MV[1]</Template>
  <TotalTime>1725</TotalTime>
  <Words>5656</Words>
  <Application>Microsoft Office PowerPoint</Application>
  <PresentationFormat>On-screen Show (4:3)</PresentationFormat>
  <Paragraphs>992</Paragraphs>
  <Slides>73</Slides>
  <Notes>73</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ASEAN_PPT_Template_010611_MV[1]</vt:lpstr>
      <vt:lpstr>Work IN A SOCIALLY DIVERSE ENVIRONMENT</vt:lpstr>
      <vt:lpstr>Subject Elements</vt:lpstr>
      <vt:lpstr>Assessment</vt:lpstr>
      <vt:lpstr>Slide 4</vt:lpstr>
      <vt:lpstr>Communicate effectively</vt:lpstr>
      <vt:lpstr>Valuing customers and colleagues</vt:lpstr>
      <vt:lpstr>Diversity of customers and colleagues</vt:lpstr>
      <vt:lpstr>Diversity of customers and colleagues</vt:lpstr>
      <vt:lpstr>Valuing customers and colleagues</vt:lpstr>
      <vt:lpstr>Valuing colleagues</vt:lpstr>
      <vt:lpstr>Valuing customers</vt:lpstr>
      <vt:lpstr>Respect</vt:lpstr>
      <vt:lpstr>Sensitivity</vt:lpstr>
      <vt:lpstr>Sensitivity</vt:lpstr>
      <vt:lpstr>Different cultural groups</vt:lpstr>
      <vt:lpstr>Different cultural groups</vt:lpstr>
      <vt:lpstr>Different cultural groups</vt:lpstr>
      <vt:lpstr>Understanding cultural differences</vt:lpstr>
      <vt:lpstr>Learning about cultural differences</vt:lpstr>
      <vt:lpstr>Learning about cultural differences</vt:lpstr>
      <vt:lpstr>Learning about cultural differences</vt:lpstr>
      <vt:lpstr>Learning about cultural differences</vt:lpstr>
      <vt:lpstr>Considering cultural differences</vt:lpstr>
      <vt:lpstr>Types of cultural differences</vt:lpstr>
      <vt:lpstr>Law and culture</vt:lpstr>
      <vt:lpstr>Law and culture</vt:lpstr>
      <vt:lpstr>Law and culture</vt:lpstr>
      <vt:lpstr>Law and culture</vt:lpstr>
      <vt:lpstr>Stereo types</vt:lpstr>
      <vt:lpstr>Verbal and non verbal communication</vt:lpstr>
      <vt:lpstr>Verbal and non verbal communication</vt:lpstr>
      <vt:lpstr>Overcoming language barriers</vt:lpstr>
      <vt:lpstr>Language phrases</vt:lpstr>
      <vt:lpstr>Language phrases</vt:lpstr>
      <vt:lpstr>Language phrases</vt:lpstr>
      <vt:lpstr>Verbal communication</vt:lpstr>
      <vt:lpstr>Non verbal communication</vt:lpstr>
      <vt:lpstr>Non verbal communication</vt:lpstr>
      <vt:lpstr>Non verbal communication</vt:lpstr>
      <vt:lpstr>Non verbal communication</vt:lpstr>
      <vt:lpstr>Written communication</vt:lpstr>
      <vt:lpstr>Sign language</vt:lpstr>
      <vt:lpstr>Obtaining assistance</vt:lpstr>
      <vt:lpstr>Obtaining assistance</vt:lpstr>
      <vt:lpstr>Obtaining assistance</vt:lpstr>
      <vt:lpstr>Obtaining assistance</vt:lpstr>
      <vt:lpstr>Obtaining assistance</vt:lpstr>
      <vt:lpstr>Slide 48</vt:lpstr>
      <vt:lpstr>Communicate effectively</vt:lpstr>
      <vt:lpstr>Conflict and misunderstanding</vt:lpstr>
      <vt:lpstr>Addressing conflict and misunderstanding</vt:lpstr>
      <vt:lpstr>Causes of conflict and misunderstanding</vt:lpstr>
      <vt:lpstr>Causes of conflict and misunderstanding</vt:lpstr>
      <vt:lpstr>Causes of conflict and misunderstanding</vt:lpstr>
      <vt:lpstr>Identifying conflict and misunderstanding</vt:lpstr>
      <vt:lpstr>Identifying conflict and misunderstanding</vt:lpstr>
      <vt:lpstr>Addressing difficulties</vt:lpstr>
      <vt:lpstr>Addressing difficulties</vt:lpstr>
      <vt:lpstr>Addressing difficulties</vt:lpstr>
      <vt:lpstr>Addressing difficulties</vt:lpstr>
      <vt:lpstr>Addressing difficulties</vt:lpstr>
      <vt:lpstr>Consider cultural differences</vt:lpstr>
      <vt:lpstr>Consider cultural differences</vt:lpstr>
      <vt:lpstr>Consider cultural differences</vt:lpstr>
      <vt:lpstr>Resolving misunderstandings</vt:lpstr>
      <vt:lpstr>Resolving misunderstandings</vt:lpstr>
      <vt:lpstr>Resolving misunderstandings</vt:lpstr>
      <vt:lpstr>Refer issues and problems</vt:lpstr>
      <vt:lpstr>Refer issues and problems</vt:lpstr>
      <vt:lpstr>Refer issues and problems</vt:lpstr>
      <vt:lpstr>Refer issues and problems</vt:lpstr>
      <vt:lpstr>Refer issues and problems</vt:lpstr>
      <vt:lpstr>Slide 73</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Administrator</dc:creator>
  <cp:lastModifiedBy>Administrator</cp:lastModifiedBy>
  <cp:revision>278</cp:revision>
  <dcterms:created xsi:type="dcterms:W3CDTF">2011-11-25T01:40:05Z</dcterms:created>
  <dcterms:modified xsi:type="dcterms:W3CDTF">2012-08-28T06:04:28Z</dcterms:modified>
</cp:coreProperties>
</file>