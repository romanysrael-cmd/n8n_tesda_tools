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9"/>
  </p:notesMasterIdLst>
  <p:handoutMasterIdLst>
    <p:handoutMasterId r:id="rId180"/>
  </p:handoutMasterIdLst>
  <p:sldIdLst>
    <p:sldId id="256" r:id="rId2"/>
    <p:sldId id="262" r:id="rId3"/>
    <p:sldId id="263" r:id="rId4"/>
    <p:sldId id="264" r:id="rId5"/>
    <p:sldId id="257"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58" r:id="rId19"/>
    <p:sldId id="283" r:id="rId20"/>
    <p:sldId id="284" r:id="rId21"/>
    <p:sldId id="285" r:id="rId22"/>
    <p:sldId id="289" r:id="rId23"/>
    <p:sldId id="290" r:id="rId24"/>
    <p:sldId id="291" r:id="rId25"/>
    <p:sldId id="292" r:id="rId26"/>
    <p:sldId id="293" r:id="rId27"/>
    <p:sldId id="277" r:id="rId28"/>
    <p:sldId id="294" r:id="rId29"/>
    <p:sldId id="295" r:id="rId30"/>
    <p:sldId id="296" r:id="rId31"/>
    <p:sldId id="297" r:id="rId32"/>
    <p:sldId id="298" r:id="rId33"/>
    <p:sldId id="299" r:id="rId34"/>
    <p:sldId id="300" r:id="rId35"/>
    <p:sldId id="279" r:id="rId36"/>
    <p:sldId id="280" r:id="rId37"/>
    <p:sldId id="301" r:id="rId38"/>
    <p:sldId id="302" r:id="rId39"/>
    <p:sldId id="303" r:id="rId40"/>
    <p:sldId id="304" r:id="rId41"/>
    <p:sldId id="305" r:id="rId42"/>
    <p:sldId id="306" r:id="rId43"/>
    <p:sldId id="307" r:id="rId44"/>
    <p:sldId id="308" r:id="rId45"/>
    <p:sldId id="281" r:id="rId46"/>
    <p:sldId id="282" r:id="rId47"/>
    <p:sldId id="309" r:id="rId48"/>
    <p:sldId id="259" r:id="rId49"/>
    <p:sldId id="315" r:id="rId50"/>
    <p:sldId id="316" r:id="rId51"/>
    <p:sldId id="317" r:id="rId52"/>
    <p:sldId id="318" r:id="rId53"/>
    <p:sldId id="319" r:id="rId54"/>
    <p:sldId id="331" r:id="rId55"/>
    <p:sldId id="332" r:id="rId56"/>
    <p:sldId id="325" r:id="rId57"/>
    <p:sldId id="326" r:id="rId58"/>
    <p:sldId id="327" r:id="rId59"/>
    <p:sldId id="328" r:id="rId60"/>
    <p:sldId id="333" r:id="rId61"/>
    <p:sldId id="334" r:id="rId62"/>
    <p:sldId id="335" r:id="rId63"/>
    <p:sldId id="336" r:id="rId64"/>
    <p:sldId id="337" r:id="rId65"/>
    <p:sldId id="338" r:id="rId66"/>
    <p:sldId id="339" r:id="rId67"/>
    <p:sldId id="340" r:id="rId68"/>
    <p:sldId id="260" r:id="rId69"/>
    <p:sldId id="341" r:id="rId70"/>
    <p:sldId id="342" r:id="rId71"/>
    <p:sldId id="343" r:id="rId72"/>
    <p:sldId id="344" r:id="rId73"/>
    <p:sldId id="345" r:id="rId74"/>
    <p:sldId id="346" r:id="rId75"/>
    <p:sldId id="310" r:id="rId76"/>
    <p:sldId id="347" r:id="rId77"/>
    <p:sldId id="349" r:id="rId78"/>
    <p:sldId id="350" r:id="rId79"/>
    <p:sldId id="311" r:id="rId80"/>
    <p:sldId id="312" r:id="rId81"/>
    <p:sldId id="313" r:id="rId82"/>
    <p:sldId id="351" r:id="rId83"/>
    <p:sldId id="352" r:id="rId84"/>
    <p:sldId id="359" r:id="rId85"/>
    <p:sldId id="360" r:id="rId86"/>
    <p:sldId id="361" r:id="rId87"/>
    <p:sldId id="362" r:id="rId88"/>
    <p:sldId id="353" r:id="rId89"/>
    <p:sldId id="363" r:id="rId90"/>
    <p:sldId id="364" r:id="rId91"/>
    <p:sldId id="365" r:id="rId92"/>
    <p:sldId id="366" r:id="rId93"/>
    <p:sldId id="367" r:id="rId94"/>
    <p:sldId id="368" r:id="rId95"/>
    <p:sldId id="369" r:id="rId96"/>
    <p:sldId id="354" r:id="rId97"/>
    <p:sldId id="371" r:id="rId98"/>
    <p:sldId id="372" r:id="rId99"/>
    <p:sldId id="373" r:id="rId100"/>
    <p:sldId id="374" r:id="rId101"/>
    <p:sldId id="375" r:id="rId102"/>
    <p:sldId id="376" r:id="rId103"/>
    <p:sldId id="377" r:id="rId104"/>
    <p:sldId id="378" r:id="rId105"/>
    <p:sldId id="355" r:id="rId106"/>
    <p:sldId id="379" r:id="rId107"/>
    <p:sldId id="380" r:id="rId108"/>
    <p:sldId id="381" r:id="rId109"/>
    <p:sldId id="382" r:id="rId110"/>
    <p:sldId id="384" r:id="rId111"/>
    <p:sldId id="385" r:id="rId112"/>
    <p:sldId id="356" r:id="rId113"/>
    <p:sldId id="386" r:id="rId114"/>
    <p:sldId id="387" r:id="rId115"/>
    <p:sldId id="388" r:id="rId116"/>
    <p:sldId id="357" r:id="rId117"/>
    <p:sldId id="389" r:id="rId118"/>
    <p:sldId id="390" r:id="rId119"/>
    <p:sldId id="391" r:id="rId120"/>
    <p:sldId id="392" r:id="rId121"/>
    <p:sldId id="358" r:id="rId122"/>
    <p:sldId id="393" r:id="rId123"/>
    <p:sldId id="394" r:id="rId124"/>
    <p:sldId id="314" r:id="rId125"/>
    <p:sldId id="405" r:id="rId126"/>
    <p:sldId id="406" r:id="rId127"/>
    <p:sldId id="399" r:id="rId128"/>
    <p:sldId id="400" r:id="rId129"/>
    <p:sldId id="423" r:id="rId130"/>
    <p:sldId id="424" r:id="rId131"/>
    <p:sldId id="425" r:id="rId132"/>
    <p:sldId id="426" r:id="rId133"/>
    <p:sldId id="444" r:id="rId134"/>
    <p:sldId id="445" r:id="rId135"/>
    <p:sldId id="446" r:id="rId136"/>
    <p:sldId id="447" r:id="rId137"/>
    <p:sldId id="456" r:id="rId138"/>
    <p:sldId id="457" r:id="rId139"/>
    <p:sldId id="458" r:id="rId140"/>
    <p:sldId id="459" r:id="rId141"/>
    <p:sldId id="460" r:id="rId142"/>
    <p:sldId id="461" r:id="rId143"/>
    <p:sldId id="462" r:id="rId144"/>
    <p:sldId id="463" r:id="rId145"/>
    <p:sldId id="464" r:id="rId146"/>
    <p:sldId id="465" r:id="rId147"/>
    <p:sldId id="466" r:id="rId148"/>
    <p:sldId id="467" r:id="rId149"/>
    <p:sldId id="468" r:id="rId150"/>
    <p:sldId id="469" r:id="rId151"/>
    <p:sldId id="470" r:id="rId152"/>
    <p:sldId id="471" r:id="rId153"/>
    <p:sldId id="413" r:id="rId154"/>
    <p:sldId id="422" r:id="rId155"/>
    <p:sldId id="414" r:id="rId156"/>
    <p:sldId id="415" r:id="rId157"/>
    <p:sldId id="416" r:id="rId158"/>
    <p:sldId id="417" r:id="rId159"/>
    <p:sldId id="418" r:id="rId160"/>
    <p:sldId id="419" r:id="rId161"/>
    <p:sldId id="420" r:id="rId162"/>
    <p:sldId id="421" r:id="rId163"/>
    <p:sldId id="401" r:id="rId164"/>
    <p:sldId id="428" r:id="rId165"/>
    <p:sldId id="429" r:id="rId166"/>
    <p:sldId id="430" r:id="rId167"/>
    <p:sldId id="431" r:id="rId168"/>
    <p:sldId id="432" r:id="rId169"/>
    <p:sldId id="433" r:id="rId170"/>
    <p:sldId id="434" r:id="rId171"/>
    <p:sldId id="435" r:id="rId172"/>
    <p:sldId id="472" r:id="rId173"/>
    <p:sldId id="473" r:id="rId174"/>
    <p:sldId id="474" r:id="rId175"/>
    <p:sldId id="475" r:id="rId176"/>
    <p:sldId id="402" r:id="rId177"/>
    <p:sldId id="403" r:id="rId17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2518" autoAdjust="0"/>
  </p:normalViewPr>
  <p:slideViewPr>
    <p:cSldViewPr>
      <p:cViewPr varScale="1">
        <p:scale>
          <a:sx n="125" d="100"/>
          <a:sy n="125" d="100"/>
        </p:scale>
        <p:origin x="-150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3480" y="-72"/>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57E170-A2A3-419F-91F3-86ACA5BB830D}"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AU"/>
        </a:p>
      </dgm:t>
    </dgm:pt>
    <dgm:pt modelId="{734FF24E-114B-43B3-9CEA-97B7CB42863B}">
      <dgm:prSet phldrT="[Text]"/>
      <dgm:spPr/>
      <dgm:t>
        <a:bodyPr/>
        <a:lstStyle/>
        <a:p>
          <a:r>
            <a:rPr lang="en-AU" dirty="0" smtClean="0"/>
            <a:t>Control cycle</a:t>
          </a:r>
          <a:endParaRPr lang="en-AU" dirty="0"/>
        </a:p>
      </dgm:t>
    </dgm:pt>
    <dgm:pt modelId="{60E2C55C-B664-41E4-9145-50272C81AEEA}" type="parTrans" cxnId="{2DD661C8-AFAB-47E9-B8EE-1113C91AAB24}">
      <dgm:prSet/>
      <dgm:spPr/>
      <dgm:t>
        <a:bodyPr/>
        <a:lstStyle/>
        <a:p>
          <a:endParaRPr lang="en-AU"/>
        </a:p>
      </dgm:t>
    </dgm:pt>
    <dgm:pt modelId="{A0C34156-99D6-4BC2-8726-D4114F9EC9C0}" type="sibTrans" cxnId="{2DD661C8-AFAB-47E9-B8EE-1113C91AAB24}">
      <dgm:prSet/>
      <dgm:spPr/>
      <dgm:t>
        <a:bodyPr/>
        <a:lstStyle/>
        <a:p>
          <a:endParaRPr lang="en-AU"/>
        </a:p>
      </dgm:t>
    </dgm:pt>
    <dgm:pt modelId="{54C0943C-82CF-4C30-A359-DB020449289B}">
      <dgm:prSet phldrT="[Text]"/>
      <dgm:spPr/>
      <dgm:t>
        <a:bodyPr/>
        <a:lstStyle/>
        <a:p>
          <a:r>
            <a:rPr lang="en-AU" dirty="0" smtClean="0"/>
            <a:t>Purchasing</a:t>
          </a:r>
          <a:endParaRPr lang="en-AU" dirty="0"/>
        </a:p>
      </dgm:t>
    </dgm:pt>
    <dgm:pt modelId="{A9EFB057-3A10-4746-A48F-CC14AD8B6775}" type="parTrans" cxnId="{3060C742-0B2E-4666-BBF0-A39D25C45E48}">
      <dgm:prSet/>
      <dgm:spPr/>
      <dgm:t>
        <a:bodyPr/>
        <a:lstStyle/>
        <a:p>
          <a:endParaRPr lang="en-AU"/>
        </a:p>
      </dgm:t>
    </dgm:pt>
    <dgm:pt modelId="{B8905A6C-EBAD-43A9-A9D0-4023E029F577}" type="sibTrans" cxnId="{3060C742-0B2E-4666-BBF0-A39D25C45E48}">
      <dgm:prSet/>
      <dgm:spPr/>
      <dgm:t>
        <a:bodyPr/>
        <a:lstStyle/>
        <a:p>
          <a:endParaRPr lang="en-AU"/>
        </a:p>
      </dgm:t>
    </dgm:pt>
    <dgm:pt modelId="{6240259B-7144-4B32-95CE-AFCB04CF44E9}">
      <dgm:prSet phldrT="[Text]"/>
      <dgm:spPr/>
      <dgm:t>
        <a:bodyPr/>
        <a:lstStyle/>
        <a:p>
          <a:r>
            <a:rPr lang="en-AU" dirty="0" err="1" smtClean="0"/>
            <a:t>Receival</a:t>
          </a:r>
          <a:endParaRPr lang="en-AU" dirty="0"/>
        </a:p>
      </dgm:t>
    </dgm:pt>
    <dgm:pt modelId="{F1198B29-ABFD-424A-9A21-C65023E392FF}" type="parTrans" cxnId="{11DC95E1-AF66-4CBA-81B7-635DAC3245FF}">
      <dgm:prSet/>
      <dgm:spPr/>
      <dgm:t>
        <a:bodyPr/>
        <a:lstStyle/>
        <a:p>
          <a:endParaRPr lang="en-AU"/>
        </a:p>
      </dgm:t>
    </dgm:pt>
    <dgm:pt modelId="{D4CF7551-7435-41FC-A4A2-9E6BEAC64F2E}" type="sibTrans" cxnId="{11DC95E1-AF66-4CBA-81B7-635DAC3245FF}">
      <dgm:prSet/>
      <dgm:spPr/>
      <dgm:t>
        <a:bodyPr/>
        <a:lstStyle/>
        <a:p>
          <a:endParaRPr lang="en-AU"/>
        </a:p>
      </dgm:t>
    </dgm:pt>
    <dgm:pt modelId="{D556341F-AA75-495E-BF5B-F539E4140BCE}">
      <dgm:prSet phldrT="[Text]"/>
      <dgm:spPr/>
      <dgm:t>
        <a:bodyPr/>
        <a:lstStyle/>
        <a:p>
          <a:r>
            <a:rPr lang="en-AU" dirty="0" smtClean="0"/>
            <a:t>Issuing</a:t>
          </a:r>
          <a:endParaRPr lang="en-AU" dirty="0"/>
        </a:p>
      </dgm:t>
    </dgm:pt>
    <dgm:pt modelId="{269D9B6C-06BA-49ED-8B74-9BB89551EF0A}" type="parTrans" cxnId="{1E94FBA9-CB7E-41CF-90E9-2A51717D557D}">
      <dgm:prSet/>
      <dgm:spPr/>
      <dgm:t>
        <a:bodyPr/>
        <a:lstStyle/>
        <a:p>
          <a:endParaRPr lang="en-AU"/>
        </a:p>
      </dgm:t>
    </dgm:pt>
    <dgm:pt modelId="{A6FAD6D6-4B0B-490D-856B-6B087435053F}" type="sibTrans" cxnId="{1E94FBA9-CB7E-41CF-90E9-2A51717D557D}">
      <dgm:prSet/>
      <dgm:spPr/>
      <dgm:t>
        <a:bodyPr/>
        <a:lstStyle/>
        <a:p>
          <a:endParaRPr lang="en-AU"/>
        </a:p>
      </dgm:t>
    </dgm:pt>
    <dgm:pt modelId="{608100F5-8043-4A37-8ACC-8D7010B285C6}">
      <dgm:prSet phldrT="[Text]"/>
      <dgm:spPr/>
      <dgm:t>
        <a:bodyPr/>
        <a:lstStyle/>
        <a:p>
          <a:r>
            <a:rPr lang="en-AU" dirty="0" smtClean="0"/>
            <a:t>Production</a:t>
          </a:r>
          <a:endParaRPr lang="en-AU" dirty="0"/>
        </a:p>
      </dgm:t>
    </dgm:pt>
    <dgm:pt modelId="{8B094B15-8829-46E8-8F61-92F1944098AC}" type="parTrans" cxnId="{3B9D38C1-C98E-4BAF-9EF8-62DB2516BC10}">
      <dgm:prSet/>
      <dgm:spPr/>
      <dgm:t>
        <a:bodyPr/>
        <a:lstStyle/>
        <a:p>
          <a:endParaRPr lang="en-AU"/>
        </a:p>
      </dgm:t>
    </dgm:pt>
    <dgm:pt modelId="{DA0C9971-3AD8-47A7-8E1D-70B33367B6F8}" type="sibTrans" cxnId="{3B9D38C1-C98E-4BAF-9EF8-62DB2516BC10}">
      <dgm:prSet/>
      <dgm:spPr/>
      <dgm:t>
        <a:bodyPr/>
        <a:lstStyle/>
        <a:p>
          <a:endParaRPr lang="en-AU"/>
        </a:p>
      </dgm:t>
    </dgm:pt>
    <dgm:pt modelId="{A4692DA7-2680-4E6F-BA34-1EA160CBB3B7}">
      <dgm:prSet phldrT="[Text]"/>
      <dgm:spPr/>
      <dgm:t>
        <a:bodyPr/>
        <a:lstStyle/>
        <a:p>
          <a:r>
            <a:rPr lang="en-AU" dirty="0" smtClean="0"/>
            <a:t>Service</a:t>
          </a:r>
          <a:endParaRPr lang="en-AU" dirty="0"/>
        </a:p>
      </dgm:t>
    </dgm:pt>
    <dgm:pt modelId="{B9713508-E69C-441D-90B5-C225C91A1A0A}" type="parTrans" cxnId="{648C7E70-20FD-4692-8873-AA4E3A614D2F}">
      <dgm:prSet/>
      <dgm:spPr/>
      <dgm:t>
        <a:bodyPr/>
        <a:lstStyle/>
        <a:p>
          <a:endParaRPr lang="en-AU"/>
        </a:p>
      </dgm:t>
    </dgm:pt>
    <dgm:pt modelId="{25F38C64-7743-42CC-8E9A-2F7FCF230F61}" type="sibTrans" cxnId="{648C7E70-20FD-4692-8873-AA4E3A614D2F}">
      <dgm:prSet/>
      <dgm:spPr/>
      <dgm:t>
        <a:bodyPr/>
        <a:lstStyle/>
        <a:p>
          <a:endParaRPr lang="en-AU"/>
        </a:p>
      </dgm:t>
    </dgm:pt>
    <dgm:pt modelId="{9F5DEAB4-AF9C-40B5-B40C-9024C6995413}">
      <dgm:prSet phldrT="[Text]"/>
      <dgm:spPr/>
      <dgm:t>
        <a:bodyPr/>
        <a:lstStyle/>
        <a:p>
          <a:r>
            <a:rPr lang="en-AU" dirty="0" smtClean="0"/>
            <a:t>Sales</a:t>
          </a:r>
          <a:endParaRPr lang="en-AU" dirty="0"/>
        </a:p>
      </dgm:t>
    </dgm:pt>
    <dgm:pt modelId="{97A96DFF-AB9A-49BF-82A4-17016AC3E7DE}" type="parTrans" cxnId="{DB8BDE2A-B960-41B1-8BE2-74FAE08B7FF9}">
      <dgm:prSet/>
      <dgm:spPr/>
      <dgm:t>
        <a:bodyPr/>
        <a:lstStyle/>
        <a:p>
          <a:endParaRPr lang="en-AU"/>
        </a:p>
      </dgm:t>
    </dgm:pt>
    <dgm:pt modelId="{B17DFA35-13E0-4434-B195-2A4828AB624F}" type="sibTrans" cxnId="{DB8BDE2A-B960-41B1-8BE2-74FAE08B7FF9}">
      <dgm:prSet/>
      <dgm:spPr/>
      <dgm:t>
        <a:bodyPr/>
        <a:lstStyle/>
        <a:p>
          <a:endParaRPr lang="en-AU"/>
        </a:p>
      </dgm:t>
    </dgm:pt>
    <dgm:pt modelId="{B7A8D07C-BD8C-48E0-9252-B379C38D90B9}" type="pres">
      <dgm:prSet presAssocID="{1857E170-A2A3-419F-91F3-86ACA5BB830D}" presName="Name0" presStyleCnt="0">
        <dgm:presLayoutVars>
          <dgm:chMax val="1"/>
          <dgm:chPref val="1"/>
          <dgm:dir/>
          <dgm:animOne val="branch"/>
          <dgm:animLvl val="lvl"/>
        </dgm:presLayoutVars>
      </dgm:prSet>
      <dgm:spPr/>
      <dgm:t>
        <a:bodyPr/>
        <a:lstStyle/>
        <a:p>
          <a:endParaRPr lang="en-AU"/>
        </a:p>
      </dgm:t>
    </dgm:pt>
    <dgm:pt modelId="{2C2E3747-BD04-4C91-A75E-B712789455ED}" type="pres">
      <dgm:prSet presAssocID="{734FF24E-114B-43B3-9CEA-97B7CB42863B}" presName="Parent" presStyleLbl="node0" presStyleIdx="0" presStyleCnt="1">
        <dgm:presLayoutVars>
          <dgm:chMax val="6"/>
          <dgm:chPref val="6"/>
        </dgm:presLayoutVars>
      </dgm:prSet>
      <dgm:spPr/>
      <dgm:t>
        <a:bodyPr/>
        <a:lstStyle/>
        <a:p>
          <a:endParaRPr lang="en-AU"/>
        </a:p>
      </dgm:t>
    </dgm:pt>
    <dgm:pt modelId="{8B53CE17-96E8-41CC-97CA-0219FF948399}" type="pres">
      <dgm:prSet presAssocID="{54C0943C-82CF-4C30-A359-DB020449289B}" presName="Accent1" presStyleCnt="0"/>
      <dgm:spPr/>
    </dgm:pt>
    <dgm:pt modelId="{20DEBE4F-6C01-48FE-AE29-6D1C6C07BE86}" type="pres">
      <dgm:prSet presAssocID="{54C0943C-82CF-4C30-A359-DB020449289B}" presName="Accent" presStyleLbl="bgShp" presStyleIdx="0" presStyleCnt="6"/>
      <dgm:spPr/>
    </dgm:pt>
    <dgm:pt modelId="{AB1A095D-9BB0-4135-AA63-6A2E45D49394}" type="pres">
      <dgm:prSet presAssocID="{54C0943C-82CF-4C30-A359-DB020449289B}" presName="Child1" presStyleLbl="node1" presStyleIdx="0" presStyleCnt="6">
        <dgm:presLayoutVars>
          <dgm:chMax val="0"/>
          <dgm:chPref val="0"/>
          <dgm:bulletEnabled val="1"/>
        </dgm:presLayoutVars>
      </dgm:prSet>
      <dgm:spPr/>
      <dgm:t>
        <a:bodyPr/>
        <a:lstStyle/>
        <a:p>
          <a:endParaRPr lang="en-AU"/>
        </a:p>
      </dgm:t>
    </dgm:pt>
    <dgm:pt modelId="{AECD1FA8-E519-42FA-BB49-331865E44F4D}" type="pres">
      <dgm:prSet presAssocID="{6240259B-7144-4B32-95CE-AFCB04CF44E9}" presName="Accent2" presStyleCnt="0"/>
      <dgm:spPr/>
    </dgm:pt>
    <dgm:pt modelId="{A375F684-0651-453C-9FFE-DA4DD5C14468}" type="pres">
      <dgm:prSet presAssocID="{6240259B-7144-4B32-95CE-AFCB04CF44E9}" presName="Accent" presStyleLbl="bgShp" presStyleIdx="1" presStyleCnt="6"/>
      <dgm:spPr/>
    </dgm:pt>
    <dgm:pt modelId="{E137EF1E-F9F0-4346-A524-E2EB08FA16B6}" type="pres">
      <dgm:prSet presAssocID="{6240259B-7144-4B32-95CE-AFCB04CF44E9}" presName="Child2" presStyleLbl="node1" presStyleIdx="1" presStyleCnt="6">
        <dgm:presLayoutVars>
          <dgm:chMax val="0"/>
          <dgm:chPref val="0"/>
          <dgm:bulletEnabled val="1"/>
        </dgm:presLayoutVars>
      </dgm:prSet>
      <dgm:spPr/>
      <dgm:t>
        <a:bodyPr/>
        <a:lstStyle/>
        <a:p>
          <a:endParaRPr lang="en-AU"/>
        </a:p>
      </dgm:t>
    </dgm:pt>
    <dgm:pt modelId="{63057876-C6B1-4FD3-A953-2BC3D257EF6D}" type="pres">
      <dgm:prSet presAssocID="{D556341F-AA75-495E-BF5B-F539E4140BCE}" presName="Accent3" presStyleCnt="0"/>
      <dgm:spPr/>
    </dgm:pt>
    <dgm:pt modelId="{2C68C2F7-8BF5-4226-B9C8-C8FE425855A3}" type="pres">
      <dgm:prSet presAssocID="{D556341F-AA75-495E-BF5B-F539E4140BCE}" presName="Accent" presStyleLbl="bgShp" presStyleIdx="2" presStyleCnt="6"/>
      <dgm:spPr/>
    </dgm:pt>
    <dgm:pt modelId="{F3CF01A1-F367-4BC6-ABC0-5F7047E24BD0}" type="pres">
      <dgm:prSet presAssocID="{D556341F-AA75-495E-BF5B-F539E4140BCE}" presName="Child3" presStyleLbl="node1" presStyleIdx="2" presStyleCnt="6">
        <dgm:presLayoutVars>
          <dgm:chMax val="0"/>
          <dgm:chPref val="0"/>
          <dgm:bulletEnabled val="1"/>
        </dgm:presLayoutVars>
      </dgm:prSet>
      <dgm:spPr/>
      <dgm:t>
        <a:bodyPr/>
        <a:lstStyle/>
        <a:p>
          <a:endParaRPr lang="en-AU"/>
        </a:p>
      </dgm:t>
    </dgm:pt>
    <dgm:pt modelId="{CD7E83C6-60D2-45F7-AFBF-DF4AE2804E0A}" type="pres">
      <dgm:prSet presAssocID="{608100F5-8043-4A37-8ACC-8D7010B285C6}" presName="Accent4" presStyleCnt="0"/>
      <dgm:spPr/>
    </dgm:pt>
    <dgm:pt modelId="{A1FFD33F-DFC9-41A0-813F-AF9B67DBB5BC}" type="pres">
      <dgm:prSet presAssocID="{608100F5-8043-4A37-8ACC-8D7010B285C6}" presName="Accent" presStyleLbl="bgShp" presStyleIdx="3" presStyleCnt="6"/>
      <dgm:spPr/>
    </dgm:pt>
    <dgm:pt modelId="{62F195A2-1D4C-47F4-8944-D7E00C29D214}" type="pres">
      <dgm:prSet presAssocID="{608100F5-8043-4A37-8ACC-8D7010B285C6}" presName="Child4" presStyleLbl="node1" presStyleIdx="3" presStyleCnt="6">
        <dgm:presLayoutVars>
          <dgm:chMax val="0"/>
          <dgm:chPref val="0"/>
          <dgm:bulletEnabled val="1"/>
        </dgm:presLayoutVars>
      </dgm:prSet>
      <dgm:spPr/>
      <dgm:t>
        <a:bodyPr/>
        <a:lstStyle/>
        <a:p>
          <a:endParaRPr lang="en-AU"/>
        </a:p>
      </dgm:t>
    </dgm:pt>
    <dgm:pt modelId="{EE6B07CE-C149-481C-8888-F11D0096FE55}" type="pres">
      <dgm:prSet presAssocID="{A4692DA7-2680-4E6F-BA34-1EA160CBB3B7}" presName="Accent5" presStyleCnt="0"/>
      <dgm:spPr/>
    </dgm:pt>
    <dgm:pt modelId="{34E78A7E-FED4-402A-B673-4F084B413598}" type="pres">
      <dgm:prSet presAssocID="{A4692DA7-2680-4E6F-BA34-1EA160CBB3B7}" presName="Accent" presStyleLbl="bgShp" presStyleIdx="4" presStyleCnt="6"/>
      <dgm:spPr/>
    </dgm:pt>
    <dgm:pt modelId="{A36E965C-1476-4798-AA14-C1D359C1BDE0}" type="pres">
      <dgm:prSet presAssocID="{A4692DA7-2680-4E6F-BA34-1EA160CBB3B7}" presName="Child5" presStyleLbl="node1" presStyleIdx="4" presStyleCnt="6">
        <dgm:presLayoutVars>
          <dgm:chMax val="0"/>
          <dgm:chPref val="0"/>
          <dgm:bulletEnabled val="1"/>
        </dgm:presLayoutVars>
      </dgm:prSet>
      <dgm:spPr/>
      <dgm:t>
        <a:bodyPr/>
        <a:lstStyle/>
        <a:p>
          <a:endParaRPr lang="en-AU"/>
        </a:p>
      </dgm:t>
    </dgm:pt>
    <dgm:pt modelId="{06081AA6-4116-47F4-B631-66823C573EE8}" type="pres">
      <dgm:prSet presAssocID="{9F5DEAB4-AF9C-40B5-B40C-9024C6995413}" presName="Accent6" presStyleCnt="0"/>
      <dgm:spPr/>
    </dgm:pt>
    <dgm:pt modelId="{065AAEAB-15D9-4C73-8992-587F8D91EAD4}" type="pres">
      <dgm:prSet presAssocID="{9F5DEAB4-AF9C-40B5-B40C-9024C6995413}" presName="Accent" presStyleLbl="bgShp" presStyleIdx="5" presStyleCnt="6"/>
      <dgm:spPr/>
    </dgm:pt>
    <dgm:pt modelId="{45015304-97C7-42A6-8AA9-0407C02952FE}" type="pres">
      <dgm:prSet presAssocID="{9F5DEAB4-AF9C-40B5-B40C-9024C6995413}" presName="Child6" presStyleLbl="node1" presStyleIdx="5" presStyleCnt="6">
        <dgm:presLayoutVars>
          <dgm:chMax val="0"/>
          <dgm:chPref val="0"/>
          <dgm:bulletEnabled val="1"/>
        </dgm:presLayoutVars>
      </dgm:prSet>
      <dgm:spPr/>
      <dgm:t>
        <a:bodyPr/>
        <a:lstStyle/>
        <a:p>
          <a:endParaRPr lang="en-AU"/>
        </a:p>
      </dgm:t>
    </dgm:pt>
  </dgm:ptLst>
  <dgm:cxnLst>
    <dgm:cxn modelId="{1E94FBA9-CB7E-41CF-90E9-2A51717D557D}" srcId="{734FF24E-114B-43B3-9CEA-97B7CB42863B}" destId="{D556341F-AA75-495E-BF5B-F539E4140BCE}" srcOrd="2" destOrd="0" parTransId="{269D9B6C-06BA-49ED-8B74-9BB89551EF0A}" sibTransId="{A6FAD6D6-4B0B-490D-856B-6B087435053F}"/>
    <dgm:cxn modelId="{803BC63F-3A4E-4854-BE0D-2F7774069B6E}" type="presOf" srcId="{734FF24E-114B-43B3-9CEA-97B7CB42863B}" destId="{2C2E3747-BD04-4C91-A75E-B712789455ED}" srcOrd="0" destOrd="0" presId="urn:microsoft.com/office/officeart/2011/layout/HexagonRadial"/>
    <dgm:cxn modelId="{648C7E70-20FD-4692-8873-AA4E3A614D2F}" srcId="{734FF24E-114B-43B3-9CEA-97B7CB42863B}" destId="{A4692DA7-2680-4E6F-BA34-1EA160CBB3B7}" srcOrd="4" destOrd="0" parTransId="{B9713508-E69C-441D-90B5-C225C91A1A0A}" sibTransId="{25F38C64-7743-42CC-8E9A-2F7FCF230F61}"/>
    <dgm:cxn modelId="{1ADB8F16-CC3C-492A-AFC7-CBB0D543A7BF}" type="presOf" srcId="{D556341F-AA75-495E-BF5B-F539E4140BCE}" destId="{F3CF01A1-F367-4BC6-ABC0-5F7047E24BD0}" srcOrd="0" destOrd="0" presId="urn:microsoft.com/office/officeart/2011/layout/HexagonRadial"/>
    <dgm:cxn modelId="{DB8BDE2A-B960-41B1-8BE2-74FAE08B7FF9}" srcId="{734FF24E-114B-43B3-9CEA-97B7CB42863B}" destId="{9F5DEAB4-AF9C-40B5-B40C-9024C6995413}" srcOrd="5" destOrd="0" parTransId="{97A96DFF-AB9A-49BF-82A4-17016AC3E7DE}" sibTransId="{B17DFA35-13E0-4434-B195-2A4828AB624F}"/>
    <dgm:cxn modelId="{11DC95E1-AF66-4CBA-81B7-635DAC3245FF}" srcId="{734FF24E-114B-43B3-9CEA-97B7CB42863B}" destId="{6240259B-7144-4B32-95CE-AFCB04CF44E9}" srcOrd="1" destOrd="0" parTransId="{F1198B29-ABFD-424A-9A21-C65023E392FF}" sibTransId="{D4CF7551-7435-41FC-A4A2-9E6BEAC64F2E}"/>
    <dgm:cxn modelId="{43D1B399-102A-43E0-B048-56FF9186180B}" type="presOf" srcId="{608100F5-8043-4A37-8ACC-8D7010B285C6}" destId="{62F195A2-1D4C-47F4-8944-D7E00C29D214}" srcOrd="0" destOrd="0" presId="urn:microsoft.com/office/officeart/2011/layout/HexagonRadial"/>
    <dgm:cxn modelId="{096CEC3F-A40D-4C22-99D4-E4C25C3AC018}" type="presOf" srcId="{9F5DEAB4-AF9C-40B5-B40C-9024C6995413}" destId="{45015304-97C7-42A6-8AA9-0407C02952FE}" srcOrd="0" destOrd="0" presId="urn:microsoft.com/office/officeart/2011/layout/HexagonRadial"/>
    <dgm:cxn modelId="{2DD661C8-AFAB-47E9-B8EE-1113C91AAB24}" srcId="{1857E170-A2A3-419F-91F3-86ACA5BB830D}" destId="{734FF24E-114B-43B3-9CEA-97B7CB42863B}" srcOrd="0" destOrd="0" parTransId="{60E2C55C-B664-41E4-9145-50272C81AEEA}" sibTransId="{A0C34156-99D6-4BC2-8726-D4114F9EC9C0}"/>
    <dgm:cxn modelId="{3B9D38C1-C98E-4BAF-9EF8-62DB2516BC10}" srcId="{734FF24E-114B-43B3-9CEA-97B7CB42863B}" destId="{608100F5-8043-4A37-8ACC-8D7010B285C6}" srcOrd="3" destOrd="0" parTransId="{8B094B15-8829-46E8-8F61-92F1944098AC}" sibTransId="{DA0C9971-3AD8-47A7-8E1D-70B33367B6F8}"/>
    <dgm:cxn modelId="{E8BE5241-77B1-426E-B89F-EC6BAFF8B2FB}" type="presOf" srcId="{1857E170-A2A3-419F-91F3-86ACA5BB830D}" destId="{B7A8D07C-BD8C-48E0-9252-B379C38D90B9}" srcOrd="0" destOrd="0" presId="urn:microsoft.com/office/officeart/2011/layout/HexagonRadial"/>
    <dgm:cxn modelId="{C9C13FA5-D38E-4673-B249-9C5068146FD1}" type="presOf" srcId="{54C0943C-82CF-4C30-A359-DB020449289B}" destId="{AB1A095D-9BB0-4135-AA63-6A2E45D49394}" srcOrd="0" destOrd="0" presId="urn:microsoft.com/office/officeart/2011/layout/HexagonRadial"/>
    <dgm:cxn modelId="{DFAC1BD2-8EAC-411A-83A6-A829B9E90A60}" type="presOf" srcId="{6240259B-7144-4B32-95CE-AFCB04CF44E9}" destId="{E137EF1E-F9F0-4346-A524-E2EB08FA16B6}" srcOrd="0" destOrd="0" presId="urn:microsoft.com/office/officeart/2011/layout/HexagonRadial"/>
    <dgm:cxn modelId="{3060C742-0B2E-4666-BBF0-A39D25C45E48}" srcId="{734FF24E-114B-43B3-9CEA-97B7CB42863B}" destId="{54C0943C-82CF-4C30-A359-DB020449289B}" srcOrd="0" destOrd="0" parTransId="{A9EFB057-3A10-4746-A48F-CC14AD8B6775}" sibTransId="{B8905A6C-EBAD-43A9-A9D0-4023E029F577}"/>
    <dgm:cxn modelId="{04CF231E-F595-4063-A042-5F8402819371}" type="presOf" srcId="{A4692DA7-2680-4E6F-BA34-1EA160CBB3B7}" destId="{A36E965C-1476-4798-AA14-C1D359C1BDE0}" srcOrd="0" destOrd="0" presId="urn:microsoft.com/office/officeart/2011/layout/HexagonRadial"/>
    <dgm:cxn modelId="{58BBFE21-1421-4ACA-A485-4CBCD38A6F42}" type="presParOf" srcId="{B7A8D07C-BD8C-48E0-9252-B379C38D90B9}" destId="{2C2E3747-BD04-4C91-A75E-B712789455ED}" srcOrd="0" destOrd="0" presId="urn:microsoft.com/office/officeart/2011/layout/HexagonRadial"/>
    <dgm:cxn modelId="{71648E94-3256-482A-B02F-F8171061F803}" type="presParOf" srcId="{B7A8D07C-BD8C-48E0-9252-B379C38D90B9}" destId="{8B53CE17-96E8-41CC-97CA-0219FF948399}" srcOrd="1" destOrd="0" presId="urn:microsoft.com/office/officeart/2011/layout/HexagonRadial"/>
    <dgm:cxn modelId="{795357B4-CC47-46D1-967B-5AD6C51960BC}" type="presParOf" srcId="{8B53CE17-96E8-41CC-97CA-0219FF948399}" destId="{20DEBE4F-6C01-48FE-AE29-6D1C6C07BE86}" srcOrd="0" destOrd="0" presId="urn:microsoft.com/office/officeart/2011/layout/HexagonRadial"/>
    <dgm:cxn modelId="{94933C66-38AD-4EB7-8C89-A79FB35A26B2}" type="presParOf" srcId="{B7A8D07C-BD8C-48E0-9252-B379C38D90B9}" destId="{AB1A095D-9BB0-4135-AA63-6A2E45D49394}" srcOrd="2" destOrd="0" presId="urn:microsoft.com/office/officeart/2011/layout/HexagonRadial"/>
    <dgm:cxn modelId="{60022CF5-20C4-4F5A-956D-2EC24DF07048}" type="presParOf" srcId="{B7A8D07C-BD8C-48E0-9252-B379C38D90B9}" destId="{AECD1FA8-E519-42FA-BB49-331865E44F4D}" srcOrd="3" destOrd="0" presId="urn:microsoft.com/office/officeart/2011/layout/HexagonRadial"/>
    <dgm:cxn modelId="{3688C0CB-31C6-4273-8181-DC66AD69D643}" type="presParOf" srcId="{AECD1FA8-E519-42FA-BB49-331865E44F4D}" destId="{A375F684-0651-453C-9FFE-DA4DD5C14468}" srcOrd="0" destOrd="0" presId="urn:microsoft.com/office/officeart/2011/layout/HexagonRadial"/>
    <dgm:cxn modelId="{3935F770-1523-4A92-893F-A7549B65B285}" type="presParOf" srcId="{B7A8D07C-BD8C-48E0-9252-B379C38D90B9}" destId="{E137EF1E-F9F0-4346-A524-E2EB08FA16B6}" srcOrd="4" destOrd="0" presId="urn:microsoft.com/office/officeart/2011/layout/HexagonRadial"/>
    <dgm:cxn modelId="{5650589D-31D0-4F24-842F-7F45373DE876}" type="presParOf" srcId="{B7A8D07C-BD8C-48E0-9252-B379C38D90B9}" destId="{63057876-C6B1-4FD3-A953-2BC3D257EF6D}" srcOrd="5" destOrd="0" presId="urn:microsoft.com/office/officeart/2011/layout/HexagonRadial"/>
    <dgm:cxn modelId="{0372CCCD-A58E-4D0F-97DB-111EFD400850}" type="presParOf" srcId="{63057876-C6B1-4FD3-A953-2BC3D257EF6D}" destId="{2C68C2F7-8BF5-4226-B9C8-C8FE425855A3}" srcOrd="0" destOrd="0" presId="urn:microsoft.com/office/officeart/2011/layout/HexagonRadial"/>
    <dgm:cxn modelId="{FBBBA16A-DBF6-414A-8A8D-8AAC868742A6}" type="presParOf" srcId="{B7A8D07C-BD8C-48E0-9252-B379C38D90B9}" destId="{F3CF01A1-F367-4BC6-ABC0-5F7047E24BD0}" srcOrd="6" destOrd="0" presId="urn:microsoft.com/office/officeart/2011/layout/HexagonRadial"/>
    <dgm:cxn modelId="{328FAF78-D8CC-4FFC-9D6F-87FEBAAFFD5E}" type="presParOf" srcId="{B7A8D07C-BD8C-48E0-9252-B379C38D90B9}" destId="{CD7E83C6-60D2-45F7-AFBF-DF4AE2804E0A}" srcOrd="7" destOrd="0" presId="urn:microsoft.com/office/officeart/2011/layout/HexagonRadial"/>
    <dgm:cxn modelId="{742DFCE3-D319-4804-9C27-9D7909E6B03D}" type="presParOf" srcId="{CD7E83C6-60D2-45F7-AFBF-DF4AE2804E0A}" destId="{A1FFD33F-DFC9-41A0-813F-AF9B67DBB5BC}" srcOrd="0" destOrd="0" presId="urn:microsoft.com/office/officeart/2011/layout/HexagonRadial"/>
    <dgm:cxn modelId="{4397C4B2-B5B7-4B43-B4A0-1C9A461C7A3A}" type="presParOf" srcId="{B7A8D07C-BD8C-48E0-9252-B379C38D90B9}" destId="{62F195A2-1D4C-47F4-8944-D7E00C29D214}" srcOrd="8" destOrd="0" presId="urn:microsoft.com/office/officeart/2011/layout/HexagonRadial"/>
    <dgm:cxn modelId="{B5374259-BA15-491C-B15B-F001FFF10759}" type="presParOf" srcId="{B7A8D07C-BD8C-48E0-9252-B379C38D90B9}" destId="{EE6B07CE-C149-481C-8888-F11D0096FE55}" srcOrd="9" destOrd="0" presId="urn:microsoft.com/office/officeart/2011/layout/HexagonRadial"/>
    <dgm:cxn modelId="{D127EAFD-92D8-4D0A-87A0-3CBF088A1DDC}" type="presParOf" srcId="{EE6B07CE-C149-481C-8888-F11D0096FE55}" destId="{34E78A7E-FED4-402A-B673-4F084B413598}" srcOrd="0" destOrd="0" presId="urn:microsoft.com/office/officeart/2011/layout/HexagonRadial"/>
    <dgm:cxn modelId="{14E8C593-1103-4EB2-B9B6-84B032DA8A2A}" type="presParOf" srcId="{B7A8D07C-BD8C-48E0-9252-B379C38D90B9}" destId="{A36E965C-1476-4798-AA14-C1D359C1BDE0}" srcOrd="10" destOrd="0" presId="urn:microsoft.com/office/officeart/2011/layout/HexagonRadial"/>
    <dgm:cxn modelId="{2FE105E4-3FB6-482F-AEFA-311B51B1D220}" type="presParOf" srcId="{B7A8D07C-BD8C-48E0-9252-B379C38D90B9}" destId="{06081AA6-4116-47F4-B631-66823C573EE8}" srcOrd="11" destOrd="0" presId="urn:microsoft.com/office/officeart/2011/layout/HexagonRadial"/>
    <dgm:cxn modelId="{DF4CECD0-DF5A-4480-91F2-A6799618F41C}" type="presParOf" srcId="{06081AA6-4116-47F4-B631-66823C573EE8}" destId="{065AAEAB-15D9-4C73-8992-587F8D91EAD4}" srcOrd="0" destOrd="0" presId="urn:microsoft.com/office/officeart/2011/layout/HexagonRadial"/>
    <dgm:cxn modelId="{9CEFDF62-016F-4C57-8DCF-F4F8E87C2AE5}" type="presParOf" srcId="{B7A8D07C-BD8C-48E0-9252-B379C38D90B9}" destId="{45015304-97C7-42A6-8AA9-0407C02952FE}"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E3747-BD04-4C91-A75E-B712789455ED}">
      <dsp:nvSpPr>
        <dsp:cNvPr id="0" name=""/>
        <dsp:cNvSpPr/>
      </dsp:nvSpPr>
      <dsp:spPr>
        <a:xfrm>
          <a:off x="2214607" y="1311046"/>
          <a:ext cx="1666396" cy="1441500"/>
        </a:xfrm>
        <a:prstGeom prst="hexagon">
          <a:avLst>
            <a:gd name="adj" fmla="val 2857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AU" sz="1300" kern="1200" dirty="0" smtClean="0"/>
            <a:t>Control cycle</a:t>
          </a:r>
          <a:endParaRPr lang="en-AU" sz="1300" kern="1200" dirty="0"/>
        </a:p>
      </dsp:txBody>
      <dsp:txXfrm>
        <a:off x="2490752" y="1549923"/>
        <a:ext cx="1114106" cy="963746"/>
      </dsp:txXfrm>
    </dsp:sp>
    <dsp:sp modelId="{A375F684-0651-453C-9FFE-DA4DD5C14468}">
      <dsp:nvSpPr>
        <dsp:cNvPr id="0" name=""/>
        <dsp:cNvSpPr/>
      </dsp:nvSpPr>
      <dsp:spPr>
        <a:xfrm>
          <a:off x="3258092" y="621385"/>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1A095D-9BB0-4135-AA63-6A2E45D49394}">
      <dsp:nvSpPr>
        <dsp:cNvPr id="0" name=""/>
        <dsp:cNvSpPr/>
      </dsp:nvSpPr>
      <dsp:spPr>
        <a:xfrm>
          <a:off x="2368106" y="0"/>
          <a:ext cx="1365600" cy="1181404"/>
        </a:xfrm>
        <a:prstGeom prst="hexagon">
          <a:avLst>
            <a:gd name="adj" fmla="val 2857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AU" sz="1300" kern="1200" dirty="0" smtClean="0"/>
            <a:t>Purchasing</a:t>
          </a:r>
          <a:endParaRPr lang="en-AU" sz="1300" kern="1200" dirty="0"/>
        </a:p>
      </dsp:txBody>
      <dsp:txXfrm>
        <a:off x="2594415" y="195784"/>
        <a:ext cx="912982" cy="789836"/>
      </dsp:txXfrm>
    </dsp:sp>
    <dsp:sp modelId="{2C68C2F7-8BF5-4226-B9C8-C8FE425855A3}">
      <dsp:nvSpPr>
        <dsp:cNvPr id="0" name=""/>
        <dsp:cNvSpPr/>
      </dsp:nvSpPr>
      <dsp:spPr>
        <a:xfrm>
          <a:off x="3991865" y="1634134"/>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37EF1E-F9F0-4346-A524-E2EB08FA16B6}">
      <dsp:nvSpPr>
        <dsp:cNvPr id="0" name=""/>
        <dsp:cNvSpPr/>
      </dsp:nvSpPr>
      <dsp:spPr>
        <a:xfrm>
          <a:off x="3620521" y="726643"/>
          <a:ext cx="1365600" cy="1181404"/>
        </a:xfrm>
        <a:prstGeom prst="hexagon">
          <a:avLst>
            <a:gd name="adj" fmla="val 2857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AU" sz="1300" kern="1200" dirty="0" err="1" smtClean="0"/>
            <a:t>Receival</a:t>
          </a:r>
          <a:endParaRPr lang="en-AU" sz="1300" kern="1200" dirty="0"/>
        </a:p>
      </dsp:txBody>
      <dsp:txXfrm>
        <a:off x="3846830" y="922427"/>
        <a:ext cx="912982" cy="789836"/>
      </dsp:txXfrm>
    </dsp:sp>
    <dsp:sp modelId="{A1FFD33F-DFC9-41A0-813F-AF9B67DBB5BC}">
      <dsp:nvSpPr>
        <dsp:cNvPr id="0" name=""/>
        <dsp:cNvSpPr/>
      </dsp:nvSpPr>
      <dsp:spPr>
        <a:xfrm>
          <a:off x="3482139" y="2777337"/>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CF01A1-F367-4BC6-ABC0-5F7047E24BD0}">
      <dsp:nvSpPr>
        <dsp:cNvPr id="0" name=""/>
        <dsp:cNvSpPr/>
      </dsp:nvSpPr>
      <dsp:spPr>
        <a:xfrm>
          <a:off x="3620521" y="2155139"/>
          <a:ext cx="1365600" cy="1181404"/>
        </a:xfrm>
        <a:prstGeom prst="hexagon">
          <a:avLst>
            <a:gd name="adj" fmla="val 2857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AU" sz="1300" kern="1200" dirty="0" smtClean="0"/>
            <a:t>Issuing</a:t>
          </a:r>
          <a:endParaRPr lang="en-AU" sz="1300" kern="1200" dirty="0"/>
        </a:p>
      </dsp:txBody>
      <dsp:txXfrm>
        <a:off x="3846830" y="2350923"/>
        <a:ext cx="912982" cy="789836"/>
      </dsp:txXfrm>
    </dsp:sp>
    <dsp:sp modelId="{34E78A7E-FED4-402A-B673-4F084B413598}">
      <dsp:nvSpPr>
        <dsp:cNvPr id="0" name=""/>
        <dsp:cNvSpPr/>
      </dsp:nvSpPr>
      <dsp:spPr>
        <a:xfrm>
          <a:off x="2217708" y="2896006"/>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F195A2-1D4C-47F4-8944-D7E00C29D214}">
      <dsp:nvSpPr>
        <dsp:cNvPr id="0" name=""/>
        <dsp:cNvSpPr/>
      </dsp:nvSpPr>
      <dsp:spPr>
        <a:xfrm>
          <a:off x="2368106" y="2882595"/>
          <a:ext cx="1365600" cy="1181404"/>
        </a:xfrm>
        <a:prstGeom prst="hexagon">
          <a:avLst>
            <a:gd name="adj" fmla="val 2857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AU" sz="1300" kern="1200" dirty="0" smtClean="0"/>
            <a:t>Production</a:t>
          </a:r>
          <a:endParaRPr lang="en-AU" sz="1300" kern="1200" dirty="0"/>
        </a:p>
      </dsp:txBody>
      <dsp:txXfrm>
        <a:off x="2594415" y="3078379"/>
        <a:ext cx="912982" cy="789836"/>
      </dsp:txXfrm>
    </dsp:sp>
    <dsp:sp modelId="{065AAEAB-15D9-4C73-8992-587F8D91EAD4}">
      <dsp:nvSpPr>
        <dsp:cNvPr id="0" name=""/>
        <dsp:cNvSpPr/>
      </dsp:nvSpPr>
      <dsp:spPr>
        <a:xfrm>
          <a:off x="1471919" y="1883664"/>
          <a:ext cx="628726" cy="541731"/>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6E965C-1476-4798-AA14-C1D359C1BDE0}">
      <dsp:nvSpPr>
        <dsp:cNvPr id="0" name=""/>
        <dsp:cNvSpPr/>
      </dsp:nvSpPr>
      <dsp:spPr>
        <a:xfrm>
          <a:off x="1109878" y="2155952"/>
          <a:ext cx="1365600" cy="1181404"/>
        </a:xfrm>
        <a:prstGeom prst="hexagon">
          <a:avLst>
            <a:gd name="adj" fmla="val 2857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AU" sz="1300" kern="1200" dirty="0" smtClean="0"/>
            <a:t>Service</a:t>
          </a:r>
          <a:endParaRPr lang="en-AU" sz="1300" kern="1200" dirty="0"/>
        </a:p>
      </dsp:txBody>
      <dsp:txXfrm>
        <a:off x="1336187" y="2351736"/>
        <a:ext cx="912982" cy="789836"/>
      </dsp:txXfrm>
    </dsp:sp>
    <dsp:sp modelId="{45015304-97C7-42A6-8AA9-0407C02952FE}">
      <dsp:nvSpPr>
        <dsp:cNvPr id="0" name=""/>
        <dsp:cNvSpPr/>
      </dsp:nvSpPr>
      <dsp:spPr>
        <a:xfrm>
          <a:off x="1109878" y="725017"/>
          <a:ext cx="1365600" cy="1181404"/>
        </a:xfrm>
        <a:prstGeom prst="hexagon">
          <a:avLst>
            <a:gd name="adj" fmla="val 28570"/>
            <a:gd name="vf" fmla="val 1154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AU" sz="1300" kern="1200" dirty="0" smtClean="0"/>
            <a:t>Sales</a:t>
          </a:r>
          <a:endParaRPr lang="en-AU" sz="1300" kern="1200" dirty="0"/>
        </a:p>
      </dsp:txBody>
      <dsp:txXfrm>
        <a:off x="1336187" y="920801"/>
        <a:ext cx="912982" cy="789836"/>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3/24/2015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3/24/2015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accountantnextdoor.com/budgeting-and-budgetary-processes/"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accounting-financial-tax.com/2009/02/essential-five-steps-on-budgeting-process/"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3" Type="http://schemas.openxmlformats.org/officeDocument/2006/relationships/hyperlink" Target="http://www.business.qld.gov.au/business/business-improvement/becoming-innovative-business/innovation-types" TargetMode="External"/><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332276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635260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05753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dirty="0" smtClean="0"/>
              <a:t>What is a budget</a:t>
            </a:r>
            <a:r>
              <a:rPr lang="en-US" baseline="0" dirty="0" smtClean="0"/>
              <a:t>?</a:t>
            </a:r>
          </a:p>
          <a:p>
            <a:pPr marL="171450" indent="-171450">
              <a:buFont typeface="Arial" pitchFamily="34" charset="0"/>
              <a:buChar char="•"/>
            </a:pPr>
            <a:r>
              <a:rPr lang="en-US" baseline="0" dirty="0" smtClean="0"/>
              <a:t>What are budgets used for?</a:t>
            </a:r>
          </a:p>
          <a:p>
            <a:pPr marL="171450" indent="-171450">
              <a:buFont typeface="Arial" pitchFamily="34" charset="0"/>
              <a:buChar char="•"/>
            </a:pPr>
            <a:r>
              <a:rPr lang="en-US" baseline="0" dirty="0" smtClean="0"/>
              <a:t>What types of budgets are there?</a:t>
            </a:r>
          </a:p>
          <a:p>
            <a:pPr marL="171450" indent="-171450">
              <a:buFont typeface="Arial" pitchFamily="34" charset="0"/>
              <a:buChar char="•"/>
            </a:pPr>
            <a:r>
              <a:rPr lang="en-US" baseline="0" dirty="0" smtClean="0"/>
              <a:t>What experience have you had of working with budgets?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27805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introduces budgets and budgeting stating:</a:t>
            </a:r>
          </a:p>
          <a:p>
            <a:pPr marL="171450" indent="-171450">
              <a:buFont typeface="Arial" pitchFamily="34" charset="0"/>
              <a:buChar char="•"/>
            </a:pPr>
            <a:r>
              <a:rPr lang="en-AU" sz="1200" kern="1200" dirty="0" smtClean="0">
                <a:solidFill>
                  <a:schemeClr val="tx1"/>
                </a:solidFill>
                <a:latin typeface="+mn-lt"/>
                <a:ea typeface="+mn-ea"/>
                <a:cs typeface="+mn-cs"/>
              </a:rPr>
              <a:t>One of the tools that assists owners and managers of a business to plan and monitor the flow of money through their business is a good budgeting system. </a:t>
            </a:r>
          </a:p>
          <a:p>
            <a:pPr marL="628650" lvl="1" indent="-171450">
              <a:buFont typeface="Arial" pitchFamily="34" charset="0"/>
              <a:buChar char="•"/>
            </a:pPr>
            <a:r>
              <a:rPr lang="en-AU" sz="1200" kern="1200" dirty="0" smtClean="0">
                <a:solidFill>
                  <a:schemeClr val="tx1"/>
                </a:solidFill>
                <a:latin typeface="+mn-lt"/>
                <a:ea typeface="+mn-ea"/>
                <a:cs typeface="+mn-cs"/>
              </a:rPr>
              <a:t>The product of this system is a document called a budget. They are expressed in:</a:t>
            </a:r>
          </a:p>
          <a:p>
            <a:pPr marL="1085850" lvl="2" indent="-171450">
              <a:buFont typeface="Arial" pitchFamily="34" charset="0"/>
              <a:buChar char="•"/>
            </a:pPr>
            <a:r>
              <a:rPr lang="en-AU" sz="1200" kern="1200" dirty="0" smtClean="0">
                <a:solidFill>
                  <a:schemeClr val="tx1"/>
                </a:solidFill>
                <a:latin typeface="+mn-lt"/>
                <a:ea typeface="+mn-ea"/>
                <a:cs typeface="+mn-cs"/>
              </a:rPr>
              <a:t>Monetary terms </a:t>
            </a:r>
          </a:p>
          <a:p>
            <a:pPr marL="1085850" lvl="2" indent="-171450">
              <a:buFont typeface="Arial" pitchFamily="34" charset="0"/>
              <a:buChar char="•"/>
            </a:pPr>
            <a:r>
              <a:rPr lang="en-AU" sz="1200" kern="1200" dirty="0" smtClean="0">
                <a:solidFill>
                  <a:schemeClr val="tx1"/>
                </a:solidFill>
                <a:latin typeface="+mn-lt"/>
                <a:ea typeface="+mn-ea"/>
                <a:cs typeface="+mn-cs"/>
              </a:rPr>
              <a:t>In terms of quantities such as number of customers to be served per day, number of tickets sold or the number of clients on a tour. </a:t>
            </a:r>
          </a:p>
          <a:p>
            <a:pPr marL="171450" indent="-171450">
              <a:buFont typeface="Arial" pitchFamily="34" charset="0"/>
              <a:buChar char="•"/>
            </a:pPr>
            <a:r>
              <a:rPr lang="en-AU" sz="1200" kern="1200" dirty="0" smtClean="0">
                <a:solidFill>
                  <a:schemeClr val="tx1"/>
                </a:solidFill>
                <a:latin typeface="+mn-lt"/>
                <a:ea typeface="+mn-ea"/>
                <a:cs typeface="+mn-cs"/>
              </a:rPr>
              <a:t>The plan or budget should help managers monitor the performance of the business.</a:t>
            </a:r>
          </a:p>
          <a:p>
            <a:pPr marL="171450" indent="-171450">
              <a:buFont typeface="Arial" pitchFamily="34" charset="0"/>
              <a:buChar char="•"/>
            </a:pPr>
            <a:r>
              <a:rPr lang="en-AU" sz="1200" kern="1200" dirty="0" smtClean="0">
                <a:solidFill>
                  <a:schemeClr val="tx1"/>
                </a:solidFill>
                <a:latin typeface="+mn-lt"/>
                <a:ea typeface="+mn-ea"/>
                <a:cs typeface="+mn-cs"/>
              </a:rPr>
              <a:t>Budgets are short-term plans of up to one year. </a:t>
            </a:r>
          </a:p>
          <a:p>
            <a:pPr marL="171450" indent="-171450">
              <a:buFont typeface="Arial" pitchFamily="34" charset="0"/>
              <a:buChar char="•"/>
            </a:pPr>
            <a:r>
              <a:rPr lang="en-AU" sz="1200" kern="1200" dirty="0" smtClean="0">
                <a:solidFill>
                  <a:schemeClr val="tx1"/>
                </a:solidFill>
                <a:latin typeface="+mn-lt"/>
                <a:ea typeface="+mn-ea"/>
                <a:cs typeface="+mn-cs"/>
              </a:rPr>
              <a:t>Plans for the longer term are not usually made into budgets because there are so many unknown factors as the term grows longer that putting precise quantity or monetary values on plans becomes difficult. </a:t>
            </a:r>
          </a:p>
          <a:p>
            <a:pPr marL="171450" indent="-171450">
              <a:buFont typeface="Arial" pitchFamily="34" charset="0"/>
              <a:buChar char="•"/>
            </a:pPr>
            <a:r>
              <a:rPr lang="en-AU" sz="1200" kern="1200" dirty="0" smtClean="0">
                <a:solidFill>
                  <a:schemeClr val="tx1"/>
                </a:solidFill>
                <a:latin typeface="+mn-lt"/>
                <a:ea typeface="+mn-ea"/>
                <a:cs typeface="+mn-cs"/>
              </a:rPr>
              <a:t>Long-term plans are usually more about decisions to take on new kinds of business and other such major changes in business direction.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48735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the basis for budgets stating </a:t>
            </a:r>
            <a:r>
              <a:rPr lang="en-AU" sz="1200" kern="1200" dirty="0" smtClean="0">
                <a:solidFill>
                  <a:schemeClr val="tx1"/>
                </a:solidFill>
                <a:latin typeface="+mn-lt"/>
                <a:ea typeface="+mn-ea"/>
                <a:cs typeface="+mn-cs"/>
              </a:rPr>
              <a:t>they function on the basis that:</a:t>
            </a:r>
          </a:p>
          <a:p>
            <a:pPr marL="171450" indent="-171450">
              <a:buFont typeface="Arial" pitchFamily="34" charset="0"/>
              <a:buChar char="•"/>
            </a:pPr>
            <a:r>
              <a:rPr lang="en-AU" sz="1200" kern="1200" dirty="0" smtClean="0">
                <a:solidFill>
                  <a:schemeClr val="tx1"/>
                </a:solidFill>
                <a:latin typeface="+mn-lt"/>
                <a:ea typeface="+mn-ea"/>
                <a:cs typeface="+mn-cs"/>
              </a:rPr>
              <a:t>A business will have a budgetary goal – that is, what it wants to achieve in terms of a financial outcome for the period in question</a:t>
            </a:r>
          </a:p>
          <a:p>
            <a:pPr marL="171450" indent="-171450">
              <a:buFont typeface="Arial" pitchFamily="34" charset="0"/>
              <a:buChar char="•"/>
            </a:pPr>
            <a:r>
              <a:rPr lang="en-AU" sz="1200" kern="1200" dirty="0" smtClean="0">
                <a:solidFill>
                  <a:schemeClr val="tx1"/>
                </a:solidFill>
                <a:latin typeface="+mn-lt"/>
                <a:ea typeface="+mn-ea"/>
                <a:cs typeface="+mn-cs"/>
              </a:rPr>
              <a:t>This goal will be achieved in theory by following a budgetary plan – that is, a forecast of what income and expenditures are expected for the period</a:t>
            </a:r>
          </a:p>
          <a:p>
            <a:pPr marL="171450" indent="-171450">
              <a:buFont typeface="Arial" pitchFamily="34" charset="0"/>
              <a:buChar char="•"/>
            </a:pPr>
            <a:r>
              <a:rPr lang="en-AU" sz="1200" kern="1200" dirty="0" smtClean="0">
                <a:solidFill>
                  <a:schemeClr val="tx1"/>
                </a:solidFill>
                <a:latin typeface="+mn-lt"/>
                <a:ea typeface="+mn-ea"/>
                <a:cs typeface="+mn-cs"/>
              </a:rPr>
              <a:t>Progress for the period will be monitored by budgetary control – that is, on–going comparisons between predicted and actual figures, combined with action to rectify variances.</a:t>
            </a:r>
          </a:p>
          <a:p>
            <a:pPr marL="171450" indent="-171450">
              <a:buFont typeface="Arial" pitchFamily="34" charset="0"/>
              <a:buChar char="•"/>
            </a:pPr>
            <a:r>
              <a:rPr lang="en-AU" sz="1200" kern="1200" dirty="0" smtClean="0">
                <a:solidFill>
                  <a:schemeClr val="tx1"/>
                </a:solidFill>
                <a:latin typeface="+mn-lt"/>
                <a:ea typeface="+mn-ea"/>
                <a:cs typeface="+mn-cs"/>
              </a:rPr>
              <a:t>In essence, a budget can be seen as a guide, a map of the upcoming period in a financial sense.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759728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noProof="0" dirty="0" smtClean="0"/>
              <a:t>Trainer introduces concept of Centres stating:</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For a small business, there is usually one budget showing the planned revenue and expenses for the whole operation</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For a larger business, budgets can be compiled a number of different ways </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Managers can find it useful to divide the business into segments or activity centres of two types. </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Profit Centre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One approach is the use of Profit Centres.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are parts of a business selling goods or services to customers and also incurring expenses. </a:t>
            </a:r>
          </a:p>
          <a:p>
            <a:r>
              <a:rPr lang="en-AU" sz="1200" kern="1200" dirty="0" smtClean="0">
                <a:solidFill>
                  <a:schemeClr val="tx1"/>
                </a:solidFill>
                <a:latin typeface="+mn-lt"/>
                <a:ea typeface="+mn-ea"/>
                <a:cs typeface="+mn-cs"/>
              </a:rPr>
              <a:t>Part of the planning and managing the financial performance is about </a:t>
            </a:r>
            <a:r>
              <a:rPr lang="en-AU" sz="1200" i="1" kern="1200" dirty="0" smtClean="0">
                <a:solidFill>
                  <a:schemeClr val="tx1"/>
                </a:solidFill>
                <a:latin typeface="+mn-lt"/>
                <a:ea typeface="+mn-ea"/>
                <a:cs typeface="+mn-cs"/>
              </a:rPr>
              <a:t>how to make each profit centre earn a profit/maximise its profit</a:t>
            </a:r>
            <a:r>
              <a:rPr lang="en-AU" sz="1200" kern="1200" dirty="0" smtClean="0">
                <a:solidFill>
                  <a:schemeClr val="tx1"/>
                </a:solidFill>
                <a:latin typeface="+mn-lt"/>
                <a:ea typeface="+mn-ea"/>
                <a:cs typeface="+mn-cs"/>
              </a:rPr>
              <a:t>.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rooms area of a hotel, the dining room, conference centre, bars and gymnasium could all be Profit Centres. </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Cost Centres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other type of segment/the other approach is the Cost Centre approach.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are parts of a business which do not sell anything but nonetheless incur expenses.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Planning and managing the financial performance in this context is about </a:t>
            </a:r>
            <a:r>
              <a:rPr lang="en-AU" sz="1200" i="1" kern="1200" dirty="0" smtClean="0">
                <a:solidFill>
                  <a:schemeClr val="tx1"/>
                </a:solidFill>
                <a:latin typeface="+mn-lt"/>
                <a:ea typeface="+mn-ea"/>
                <a:cs typeface="+mn-cs"/>
              </a:rPr>
              <a:t>managing</a:t>
            </a:r>
            <a:r>
              <a:rPr lang="en-AU" sz="1200" kern="1200" dirty="0" smtClean="0">
                <a:solidFill>
                  <a:schemeClr val="tx1"/>
                </a:solidFill>
                <a:latin typeface="+mn-lt"/>
                <a:ea typeface="+mn-ea"/>
                <a:cs typeface="+mn-cs"/>
              </a:rPr>
              <a:t> </a:t>
            </a:r>
            <a:r>
              <a:rPr lang="en-AU" sz="1200" i="1" kern="1200" dirty="0" smtClean="0">
                <a:solidFill>
                  <a:schemeClr val="tx1"/>
                </a:solidFill>
                <a:latin typeface="+mn-lt"/>
                <a:ea typeface="+mn-ea"/>
                <a:cs typeface="+mn-cs"/>
              </a:rPr>
              <a:t>expenses</a:t>
            </a:r>
            <a:r>
              <a:rPr lang="en-AU" sz="1200" kern="1200" dirty="0" smtClean="0">
                <a:solidFill>
                  <a:schemeClr val="tx1"/>
                </a:solidFill>
                <a:latin typeface="+mn-lt"/>
                <a:ea typeface="+mn-ea"/>
                <a:cs typeface="+mn-cs"/>
              </a:rPr>
              <a:t>. </a:t>
            </a:r>
          </a:p>
          <a:p>
            <a:r>
              <a:rPr lang="en-AU" sz="1200" kern="1200" dirty="0" smtClean="0">
                <a:solidFill>
                  <a:schemeClr val="tx1"/>
                </a:solidFill>
                <a:latin typeface="+mn-lt"/>
                <a:ea typeface="+mn-ea"/>
                <a:cs typeface="+mn-cs"/>
              </a:rPr>
              <a:t>Examples of cost centres are Finance and Marketing departments.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182512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and describes various budgets which may be used:</a:t>
            </a:r>
          </a:p>
          <a:p>
            <a:pPr marL="171450" lvl="0" indent="-171450">
              <a:buFont typeface="Arial" pitchFamily="34" charset="0"/>
              <a:buChar char="•"/>
            </a:pPr>
            <a:r>
              <a:rPr lang="en-AU" sz="1200" kern="1200" dirty="0" smtClean="0">
                <a:solidFill>
                  <a:schemeClr val="tx1"/>
                </a:solidFill>
                <a:latin typeface="+mn-lt"/>
                <a:ea typeface="+mn-ea"/>
                <a:cs typeface="+mn-cs"/>
              </a:rPr>
              <a:t>Cash budgets – concerns the estimated cash inflow, cash outflow and cash position of a business</a:t>
            </a:r>
          </a:p>
          <a:p>
            <a:pPr marL="171450" lvl="0" indent="-171450">
              <a:buFont typeface="Arial" pitchFamily="34" charset="0"/>
              <a:buChar char="•"/>
            </a:pPr>
            <a:r>
              <a:rPr lang="en-AU" sz="1200" kern="1200" dirty="0" smtClean="0">
                <a:solidFill>
                  <a:schemeClr val="tx1"/>
                </a:solidFill>
                <a:latin typeface="+mn-lt"/>
                <a:ea typeface="+mn-ea"/>
                <a:cs typeface="+mn-cs"/>
              </a:rPr>
              <a:t>Departmental budgets –  budgets established for specific departments as named by the budget title</a:t>
            </a:r>
          </a:p>
          <a:p>
            <a:pPr marL="171450" lvl="0" indent="-171450">
              <a:buFont typeface="Arial" pitchFamily="34" charset="0"/>
              <a:buChar char="•"/>
            </a:pPr>
            <a:r>
              <a:rPr lang="en-AU" sz="1200" kern="1200" dirty="0" smtClean="0">
                <a:solidFill>
                  <a:schemeClr val="tx1"/>
                </a:solidFill>
                <a:latin typeface="+mn-lt"/>
                <a:ea typeface="+mn-ea"/>
                <a:cs typeface="+mn-cs"/>
              </a:rPr>
              <a:t>Wages budgets – to forecast labour expenses </a:t>
            </a:r>
          </a:p>
          <a:p>
            <a:pPr marL="171450" lvl="0" indent="-171450">
              <a:buFont typeface="Arial" pitchFamily="34" charset="0"/>
              <a:buChar char="•"/>
            </a:pPr>
            <a:r>
              <a:rPr lang="en-AU" sz="1200" kern="1200" dirty="0" smtClean="0">
                <a:solidFill>
                  <a:schemeClr val="tx1"/>
                </a:solidFill>
                <a:latin typeface="+mn-lt"/>
                <a:ea typeface="+mn-ea"/>
                <a:cs typeface="+mn-cs"/>
              </a:rPr>
              <a:t>Project budget – developed to accommodate the needs of specific event/project</a:t>
            </a:r>
          </a:p>
          <a:p>
            <a:pPr marL="171450" lvl="0" indent="-171450">
              <a:buFont typeface="Arial" pitchFamily="34" charset="0"/>
              <a:buChar char="•"/>
            </a:pPr>
            <a:r>
              <a:rPr lang="en-AU" sz="1200" kern="1200" dirty="0" smtClean="0">
                <a:solidFill>
                  <a:schemeClr val="tx1"/>
                </a:solidFill>
                <a:latin typeface="+mn-lt"/>
                <a:ea typeface="+mn-ea"/>
                <a:cs typeface="+mn-cs"/>
              </a:rPr>
              <a:t>Purchasing/purchases (or ‘Materials’) budget – to address inventory required for a period in order to attain a nominated outcome or sales figure/outcome (such as buying the raw materials or products required to prepare a finished product/saleable item)</a:t>
            </a:r>
          </a:p>
          <a:p>
            <a:pPr>
              <a:buFont typeface="Arial" pitchFamily="34" charset="0"/>
              <a:buNone/>
            </a:pPr>
            <a:endParaRPr lang="en-US" noProof="0" dirty="0" smtClean="0"/>
          </a:p>
          <a:p>
            <a:pPr>
              <a:buFont typeface="Arial" pitchFamily="34" charset="0"/>
              <a:buNone/>
            </a:pPr>
            <a:r>
              <a:rPr lang="en-US" b="1" noProof="0" dirty="0" smtClean="0"/>
              <a:t>Class Activity – Handouts </a:t>
            </a:r>
          </a:p>
          <a:p>
            <a:pPr>
              <a:buFont typeface="Arial" pitchFamily="34" charset="0"/>
              <a:buNone/>
            </a:pPr>
            <a:endParaRPr lang="en-US" b="1" noProof="0" dirty="0" smtClean="0"/>
          </a:p>
          <a:p>
            <a:pPr>
              <a:buFont typeface="Arial" pitchFamily="34" charset="0"/>
              <a:buNone/>
            </a:pPr>
            <a:r>
              <a:rPr lang="en-US" b="0" noProof="0" dirty="0" smtClean="0"/>
              <a:t>Trainer distributes and discusses</a:t>
            </a:r>
            <a:r>
              <a:rPr lang="en-US" b="0" baseline="0" noProof="0" dirty="0" smtClean="0"/>
              <a:t> sample budgets as identified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81120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and describing various budgets which may be used:</a:t>
            </a:r>
          </a:p>
          <a:p>
            <a:pPr marL="171450" lvl="0" indent="-171450">
              <a:buFont typeface="Arial" pitchFamily="34" charset="0"/>
              <a:buChar char="•"/>
            </a:pPr>
            <a:r>
              <a:rPr lang="en-AU" sz="1200" kern="1200" dirty="0" smtClean="0">
                <a:solidFill>
                  <a:schemeClr val="tx1"/>
                </a:solidFill>
                <a:latin typeface="+mn-lt"/>
                <a:ea typeface="+mn-ea"/>
                <a:cs typeface="+mn-cs"/>
              </a:rPr>
              <a:t>Sales budgets – to forecast sales revenue</a:t>
            </a:r>
          </a:p>
          <a:p>
            <a:pPr marL="171450" lvl="0" indent="-171450">
              <a:buFont typeface="Arial" pitchFamily="34" charset="0"/>
              <a:buChar char="•"/>
            </a:pPr>
            <a:r>
              <a:rPr lang="en-AU" sz="1200" kern="1200" dirty="0" smtClean="0">
                <a:solidFill>
                  <a:schemeClr val="tx1"/>
                </a:solidFill>
                <a:latin typeface="+mn-lt"/>
                <a:ea typeface="+mn-ea"/>
                <a:cs typeface="+mn-cs"/>
              </a:rPr>
              <a:t>Cash flow budgets – showing actual cash coming in to the business and flowing out from the business for the budget period</a:t>
            </a:r>
          </a:p>
          <a:p>
            <a:pPr marL="171450" lvl="0" indent="-171450">
              <a:buFont typeface="Arial" pitchFamily="34" charset="0"/>
              <a:buChar char="•"/>
            </a:pPr>
            <a:r>
              <a:rPr lang="en-AU" sz="1200" kern="1200" dirty="0" smtClean="0">
                <a:solidFill>
                  <a:schemeClr val="tx1"/>
                </a:solidFill>
                <a:latin typeface="+mn-lt"/>
                <a:ea typeface="+mn-ea"/>
                <a:cs typeface="+mn-cs"/>
              </a:rPr>
              <a:t>Inventory budget – planning quantities to be held in stock, and the amount of money invested in stock</a:t>
            </a:r>
          </a:p>
          <a:p>
            <a:pPr marL="171450" lvl="0" indent="-171450">
              <a:buFont typeface="Arial" pitchFamily="34" charset="0"/>
              <a:buChar char="•"/>
            </a:pPr>
            <a:r>
              <a:rPr lang="en-AU" sz="1200" kern="1200" dirty="0" smtClean="0">
                <a:solidFill>
                  <a:schemeClr val="tx1"/>
                </a:solidFill>
                <a:latin typeface="+mn-lt"/>
                <a:ea typeface="+mn-ea"/>
                <a:cs typeface="+mn-cs"/>
              </a:rPr>
              <a:t>Overhead budgets – concerns other estimated operating expenses (such as rent, rates and other direct costs except goods/materials and labour</a:t>
            </a:r>
          </a:p>
          <a:p>
            <a:pPr marL="171450" lvl="0" indent="-171450">
              <a:buFont typeface="Arial" pitchFamily="34" charset="0"/>
              <a:buChar char="•"/>
            </a:pPr>
            <a:r>
              <a:rPr lang="en-AU" sz="1200" kern="1200" dirty="0" smtClean="0">
                <a:solidFill>
                  <a:schemeClr val="tx1"/>
                </a:solidFill>
                <a:latin typeface="+mn-lt"/>
                <a:ea typeface="+mn-ea"/>
                <a:cs typeface="+mn-cs"/>
              </a:rPr>
              <a:t>Capital Expenditure budgets – plans for long-term assets to be purchased, replaced, upgraded</a:t>
            </a:r>
          </a:p>
          <a:p>
            <a:pPr>
              <a:buFont typeface="Arial" pitchFamily="34" charset="0"/>
              <a:buNone/>
            </a:pPr>
            <a:endParaRPr lang="en-US" noProof="0" dirty="0" smtClean="0"/>
          </a:p>
          <a:p>
            <a:pPr>
              <a:buFont typeface="Arial" pitchFamily="34" charset="0"/>
              <a:buNone/>
            </a:pPr>
            <a:r>
              <a:rPr lang="en-US" b="1" noProof="0" dirty="0" smtClean="0"/>
              <a:t>Class Activity – Handouts </a:t>
            </a:r>
          </a:p>
          <a:p>
            <a:pPr>
              <a:buFont typeface="Arial" pitchFamily="34" charset="0"/>
              <a:buNone/>
            </a:pPr>
            <a:endParaRPr lang="en-US" b="1" noProof="0" dirty="0" smtClean="0"/>
          </a:p>
          <a:p>
            <a:pPr>
              <a:buFont typeface="Arial" pitchFamily="34" charset="0"/>
              <a:buNone/>
            </a:pPr>
            <a:r>
              <a:rPr lang="en-US" b="0" noProof="0" dirty="0" smtClean="0"/>
              <a:t>Trainer distributes and discusses</a:t>
            </a:r>
            <a:r>
              <a:rPr lang="en-US" b="0" baseline="0" noProof="0" dirty="0" smtClean="0"/>
              <a:t> sample budgets as identified on slide.</a:t>
            </a:r>
            <a:endParaRPr lang="en-AU" b="0" noProof="0" dirty="0" smtClean="0"/>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044472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introduces concept of Fixed and Flexible budgets stating:</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Fixed budget</a:t>
            </a:r>
          </a:p>
          <a:p>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 fixed budget is one where the budget is prepared based on fixed revenue or other relevant levels of activity.</a:t>
            </a:r>
          </a:p>
          <a:p>
            <a:pPr marL="171450" indent="-171450">
              <a:buFont typeface="Arial" pitchFamily="34" charset="0"/>
              <a:buChar char="•"/>
            </a:pPr>
            <a:r>
              <a:rPr lang="en-AU" sz="1200" kern="1200" dirty="0" smtClean="0">
                <a:solidFill>
                  <a:schemeClr val="tx1"/>
                </a:solidFill>
                <a:latin typeface="+mn-lt"/>
                <a:ea typeface="+mn-ea"/>
                <a:cs typeface="+mn-cs"/>
              </a:rPr>
              <a:t>The budget does not look at any variations that might occur in trade (that is, increases or decreases in revenue or levels of activity) – the budget is prepared based only on one set of possibilities.</a:t>
            </a:r>
          </a:p>
          <a:p>
            <a:pPr marL="171450" indent="-171450">
              <a:buFont typeface="Arial" pitchFamily="34" charset="0"/>
              <a:buChar char="•"/>
            </a:pPr>
            <a:r>
              <a:rPr lang="en-AU" sz="1200" kern="1200" dirty="0" smtClean="0">
                <a:solidFill>
                  <a:schemeClr val="tx1"/>
                </a:solidFill>
                <a:latin typeface="+mn-lt"/>
                <a:ea typeface="+mn-ea"/>
                <a:cs typeface="+mn-cs"/>
              </a:rPr>
              <a:t>This type of budget is an alternative to the ‘Flexible budget’ below.</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Flexible budget</a:t>
            </a:r>
          </a:p>
          <a:p>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advent of computer programmes to assist in budgeting processes has seen an increase in the incidence of these budgets.</a:t>
            </a:r>
          </a:p>
          <a:p>
            <a:pPr marL="171450" indent="-171450">
              <a:buFont typeface="Arial" pitchFamily="34" charset="0"/>
              <a:buChar char="•"/>
            </a:pPr>
            <a:r>
              <a:rPr lang="en-AU" sz="1200" kern="1200" dirty="0" smtClean="0">
                <a:solidFill>
                  <a:schemeClr val="tx1"/>
                </a:solidFill>
                <a:latin typeface="+mn-lt"/>
                <a:ea typeface="+mn-ea"/>
                <a:cs typeface="+mn-cs"/>
              </a:rPr>
              <a:t>A flexible budget creates a number of different scenarios that could possibly arise in terms of revenue or other relevant levels of activity.</a:t>
            </a:r>
          </a:p>
          <a:p>
            <a:pPr marL="171450" indent="-171450">
              <a:buFont typeface="Arial" pitchFamily="34" charset="0"/>
              <a:buChar char="•"/>
            </a:pPr>
            <a:r>
              <a:rPr lang="en-AU" sz="1200" kern="1200" dirty="0" smtClean="0">
                <a:solidFill>
                  <a:schemeClr val="tx1"/>
                </a:solidFill>
                <a:latin typeface="+mn-lt"/>
                <a:ea typeface="+mn-ea"/>
                <a:cs typeface="+mn-cs"/>
              </a:rPr>
              <a:t>For example, the dining room may create a flexible budget based on different projections for patronage at, say, 50% of seats sold (given that we know the average sale per patron), 60%, 70%.</a:t>
            </a:r>
          </a:p>
          <a:p>
            <a:pPr>
              <a:buFont typeface="Arial" pitchFamily="34" charset="0"/>
              <a:buNone/>
            </a:pPr>
            <a:endParaRPr lang="en-US" noProof="0" dirty="0" smtClean="0"/>
          </a:p>
          <a:p>
            <a:pPr>
              <a:buFont typeface="Arial" pitchFamily="34" charset="0"/>
              <a:buNone/>
            </a:pPr>
            <a:r>
              <a:rPr lang="en-US" b="1" noProof="0" dirty="0" smtClean="0"/>
              <a:t>Class Activity – Handouts </a:t>
            </a:r>
          </a:p>
          <a:p>
            <a:pPr>
              <a:buFont typeface="Arial" pitchFamily="34" charset="0"/>
              <a:buNone/>
            </a:pPr>
            <a:endParaRPr lang="en-US" b="1" noProof="0" dirty="0" smtClean="0"/>
          </a:p>
          <a:p>
            <a:pPr>
              <a:buFont typeface="Arial" pitchFamily="34" charset="0"/>
              <a:buNone/>
            </a:pPr>
            <a:r>
              <a:rPr lang="en-US" b="0" noProof="0" dirty="0" smtClean="0"/>
              <a:t>Trainer distributes and discusses</a:t>
            </a:r>
            <a:r>
              <a:rPr lang="en-US" b="0" baseline="0" noProof="0" dirty="0" smtClean="0"/>
              <a:t> sample budgets as identified on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211935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discusses other factors implicit in allocating funds to budgets highlighting: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Priorities</a:t>
            </a:r>
          </a:p>
          <a:p>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Every organisation will have different priorities for its allocation of funds – and these allocations/priorities will even change within the organisation over time.</a:t>
            </a:r>
          </a:p>
          <a:p>
            <a:pPr marL="171450" indent="-171450">
              <a:buFont typeface="Arial" pitchFamily="34" charset="0"/>
              <a:buChar char="•"/>
            </a:pPr>
            <a:r>
              <a:rPr lang="en-AU" sz="1200" kern="1200" dirty="0" smtClean="0">
                <a:solidFill>
                  <a:schemeClr val="tx1"/>
                </a:solidFill>
                <a:latin typeface="+mn-lt"/>
                <a:ea typeface="+mn-ea"/>
                <a:cs typeface="+mn-cs"/>
              </a:rPr>
              <a:t>It is traditional for the objectives and plans businesses have set for themselves to guide this resource allocation: the objectives and plans deemed to be most important will attract a higher level of funding than lesser ones.</a:t>
            </a:r>
          </a:p>
          <a:p>
            <a:pPr marL="171450" indent="-171450">
              <a:buFont typeface="Arial" pitchFamily="34" charset="0"/>
              <a:buChar char="•"/>
            </a:pPr>
            <a:r>
              <a:rPr lang="en-AU" sz="1200" kern="1200" dirty="0" smtClean="0">
                <a:solidFill>
                  <a:schemeClr val="tx1"/>
                </a:solidFill>
                <a:latin typeface="+mn-lt"/>
                <a:ea typeface="+mn-ea"/>
                <a:cs typeface="+mn-cs"/>
              </a:rPr>
              <a:t>Nonetheless, areas where the premises are required to adhere to various legal requirements (such as safety and other compliance issues/demands from government authorities) will also be allocated sufficient funding to achieve compliance.</a:t>
            </a:r>
          </a:p>
          <a:p>
            <a:pPr marL="171450" indent="-171450">
              <a:buFont typeface="Arial" pitchFamily="34" charset="0"/>
              <a:buChar char="•"/>
            </a:pPr>
            <a:r>
              <a:rPr lang="en-AU" sz="1200" kern="1200" dirty="0" smtClean="0">
                <a:solidFill>
                  <a:schemeClr val="tx1"/>
                </a:solidFill>
                <a:latin typeface="+mn-lt"/>
                <a:ea typeface="+mn-ea"/>
                <a:cs typeface="+mn-cs"/>
              </a:rPr>
              <a:t>These requirements are absolutely necessary for the operation of the business and may well take a large part of available funding: the point being these necessities reduce the amount of </a:t>
            </a:r>
            <a:r>
              <a:rPr lang="en-AU" sz="1200" i="1" kern="1200" dirty="0" smtClean="0">
                <a:solidFill>
                  <a:schemeClr val="tx1"/>
                </a:solidFill>
                <a:latin typeface="+mn-lt"/>
                <a:ea typeface="+mn-ea"/>
                <a:cs typeface="+mn-cs"/>
              </a:rPr>
              <a:t>discretionary</a:t>
            </a:r>
            <a:r>
              <a:rPr lang="en-AU" sz="1200" kern="1200" dirty="0" smtClean="0">
                <a:solidFill>
                  <a:schemeClr val="tx1"/>
                </a:solidFill>
                <a:latin typeface="+mn-lt"/>
                <a:ea typeface="+mn-ea"/>
                <a:cs typeface="+mn-cs"/>
              </a:rPr>
              <a:t> funding available for distribution elsewhere/to other budgets.</a:t>
            </a:r>
          </a:p>
          <a:p>
            <a:pPr marL="0" indent="0">
              <a:buFont typeface="Arial" pitchFamily="34" charset="0"/>
              <a:buNone/>
            </a:pPr>
            <a:endParaRPr lang="en-US" b="1" noProof="0" dirty="0" smtClean="0"/>
          </a:p>
          <a:p>
            <a:pPr marL="0" indent="0">
              <a:buFont typeface="Arial" pitchFamily="34" charset="0"/>
              <a:buNone/>
            </a:pPr>
            <a:r>
              <a:rPr lang="en-US" b="1" noProof="0" dirty="0" smtClean="0"/>
              <a:t>Involvement of relevant others</a:t>
            </a:r>
          </a:p>
          <a:p>
            <a:pPr marL="0" indent="0">
              <a:buFont typeface="Arial" pitchFamily="34" charset="0"/>
              <a:buNone/>
            </a:pPr>
            <a:endParaRPr lang="en-US" b="1" noProof="0" dirty="0" smtClean="0"/>
          </a:p>
          <a:p>
            <a:pPr>
              <a:buFont typeface="Arial" pitchFamily="34" charset="0"/>
              <a:buNone/>
            </a:pPr>
            <a:r>
              <a:rPr lang="en-US" b="0" noProof="0" dirty="0" smtClean="0"/>
              <a:t>May include input from:</a:t>
            </a:r>
          </a:p>
          <a:p>
            <a:pPr marL="171450" indent="-171450">
              <a:buFont typeface="Arial" pitchFamily="34" charset="0"/>
              <a:buChar char="•"/>
            </a:pPr>
            <a:r>
              <a:rPr lang="en-US" b="0" noProof="0" dirty="0" smtClean="0"/>
              <a:t>Departments</a:t>
            </a:r>
          </a:p>
          <a:p>
            <a:pPr marL="171450" indent="-171450">
              <a:buFont typeface="Arial" pitchFamily="34" charset="0"/>
              <a:buChar char="•"/>
            </a:pPr>
            <a:r>
              <a:rPr lang="en-US" b="0" noProof="0" dirty="0" smtClean="0"/>
              <a:t>A budget committee</a:t>
            </a:r>
          </a:p>
          <a:p>
            <a:pPr marL="171450" indent="-171450">
              <a:buFont typeface="Arial" pitchFamily="34" charset="0"/>
              <a:buChar char="•"/>
            </a:pPr>
            <a:r>
              <a:rPr lang="en-US" b="0" noProof="0" dirty="0" smtClean="0"/>
              <a:t>Head office</a:t>
            </a:r>
          </a:p>
          <a:p>
            <a:pPr marL="171450" indent="-171450">
              <a:buFont typeface="Arial" pitchFamily="34" charset="0"/>
              <a:buChar char="•"/>
            </a:pPr>
            <a:r>
              <a:rPr lang="en-US" b="0" noProof="0" dirty="0" smtClean="0"/>
              <a:t>Owner</a:t>
            </a:r>
          </a:p>
          <a:p>
            <a:pPr marL="171450" indent="-171450">
              <a:buFont typeface="Arial" pitchFamily="34" charset="0"/>
              <a:buChar char="•"/>
            </a:pPr>
            <a:r>
              <a:rPr lang="en-US" b="0" noProof="0" dirty="0" smtClean="0"/>
              <a:t>Senior management</a:t>
            </a:r>
          </a:p>
          <a:p>
            <a:pPr>
              <a:buFont typeface="Arial" pitchFamily="34" charset="0"/>
              <a:buNone/>
            </a:pPr>
            <a:r>
              <a:rPr lang="en-US" b="0" noProof="0" dirty="0" smtClean="0"/>
              <a:t>More on this on following slides.</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350733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noProof="0" dirty="0" smtClean="0"/>
              <a:t>Trainer continues discussing other factors implicit in allocating funds to budgets highlighting: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Need for flexibility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Plans of the organisation must be set 'in jelly', and not 'in concrete' in order to allow the operation to respond as required to the dynamic environment in which all businesses function.  </a:t>
            </a:r>
          </a:p>
          <a:p>
            <a:r>
              <a:rPr lang="en-AU" sz="1200" kern="1200" dirty="0" smtClean="0">
                <a:solidFill>
                  <a:schemeClr val="tx1"/>
                </a:solidFill>
                <a:latin typeface="+mn-lt"/>
                <a:ea typeface="+mn-ea"/>
                <a:cs typeface="+mn-cs"/>
              </a:rPr>
              <a:t>The same applies to budgets.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Changes in legislation, world events, markets, supplies/suppliers, as well as demands from government authorities may individually, or in combination, cause such a situation.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b="1"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latin typeface="+mn-lt"/>
                <a:ea typeface="+mn-ea"/>
                <a:cs typeface="+mn-cs"/>
              </a:rPr>
              <a:t>Other factors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Projected future plans, activities and directions of the business and of each component department – there may at certain times be a change of organisational (or departmental direction). </a:t>
            </a:r>
          </a:p>
          <a:p>
            <a:pPr marL="628650" lvl="1" indent="-171450">
              <a:buFont typeface="Arial" pitchFamily="34" charset="0"/>
              <a:buChar char="•"/>
            </a:pPr>
            <a:r>
              <a:rPr lang="en-AU" sz="1200" kern="1200" dirty="0" smtClean="0">
                <a:solidFill>
                  <a:schemeClr val="tx1"/>
                </a:solidFill>
                <a:latin typeface="+mn-lt"/>
                <a:ea typeface="+mn-ea"/>
                <a:cs typeface="+mn-cs"/>
              </a:rPr>
              <a:t>This change may involve a new target market for a </a:t>
            </a:r>
            <a:r>
              <a:rPr lang="en-AU" sz="1200" i="1" kern="1200" dirty="0" smtClean="0">
                <a:solidFill>
                  <a:schemeClr val="tx1"/>
                </a:solidFill>
                <a:latin typeface="+mn-lt"/>
                <a:ea typeface="+mn-ea"/>
                <a:cs typeface="+mn-cs"/>
              </a:rPr>
              <a:t>department</a:t>
            </a:r>
            <a:r>
              <a:rPr lang="en-AU" sz="1200" kern="1200" dirty="0" smtClean="0">
                <a:solidFill>
                  <a:schemeClr val="tx1"/>
                </a:solidFill>
                <a:latin typeface="+mn-lt"/>
                <a:ea typeface="+mn-ea"/>
                <a:cs typeface="+mn-cs"/>
              </a:rPr>
              <a:t> or perhaps the business has decided to reorient its </a:t>
            </a:r>
            <a:r>
              <a:rPr lang="en-AU" sz="1200" i="1" kern="1200" dirty="0" smtClean="0">
                <a:solidFill>
                  <a:schemeClr val="tx1"/>
                </a:solidFill>
                <a:latin typeface="+mn-lt"/>
                <a:ea typeface="+mn-ea"/>
                <a:cs typeface="+mn-cs"/>
              </a:rPr>
              <a:t>overall</a:t>
            </a:r>
            <a:r>
              <a:rPr lang="en-AU" sz="1200" kern="1200" dirty="0" smtClean="0">
                <a:solidFill>
                  <a:schemeClr val="tx1"/>
                </a:solidFill>
                <a:latin typeface="+mn-lt"/>
                <a:ea typeface="+mn-ea"/>
                <a:cs typeface="+mn-cs"/>
              </a:rPr>
              <a:t> image to attract a different demographic/customer profile.</a:t>
            </a:r>
          </a:p>
          <a:p>
            <a:pPr marL="171450" lvl="0" indent="-171450">
              <a:buFont typeface="Arial" pitchFamily="34" charset="0"/>
              <a:buChar char="•"/>
            </a:pPr>
            <a:r>
              <a:rPr lang="en-AU" sz="1200" kern="1200" dirty="0" smtClean="0">
                <a:solidFill>
                  <a:schemeClr val="tx1"/>
                </a:solidFill>
                <a:latin typeface="+mn-lt"/>
                <a:ea typeface="+mn-ea"/>
                <a:cs typeface="+mn-cs"/>
              </a:rPr>
              <a:t>Priority ranking – using a process of negotiation and consultation at the budget meetings it is to be expected reasonable adults can eventually agree on a set of establishment-wide priorities for budget allocations to benefit the entire organisation. </a:t>
            </a:r>
          </a:p>
          <a:p>
            <a:pPr marL="628650" lvl="1" indent="-171450">
              <a:buFont typeface="Arial" pitchFamily="34" charset="0"/>
              <a:buChar char="•"/>
            </a:pPr>
            <a:r>
              <a:rPr lang="en-AU" sz="1200" kern="1200" dirty="0" smtClean="0">
                <a:solidFill>
                  <a:schemeClr val="tx1"/>
                </a:solidFill>
                <a:latin typeface="+mn-lt"/>
                <a:ea typeface="+mn-ea"/>
                <a:cs typeface="+mn-cs"/>
              </a:rPr>
              <a:t>By using reasoned argument, and with reference to valid data, those involved in determining resource allocations should be able to agree on the way resources are allocated.</a:t>
            </a:r>
          </a:p>
          <a:p>
            <a:pPr marL="171450" lvl="0" indent="-171450">
              <a:buFont typeface="Arial" pitchFamily="34" charset="0"/>
              <a:buChar char="•"/>
            </a:pPr>
            <a:r>
              <a:rPr lang="en-AU" sz="1200" kern="1200" dirty="0" smtClean="0">
                <a:solidFill>
                  <a:schemeClr val="tx1"/>
                </a:solidFill>
                <a:latin typeface="+mn-lt"/>
                <a:ea typeface="+mn-ea"/>
                <a:cs typeface="+mn-cs"/>
              </a:rPr>
              <a:t>Nature of the individual business/department(s) – precise budget allocations are, regardless of anything else, going to be influenced by characteristics such as size of businesses/departments (traditionally the bigger departments tend to be allocated an increasingly large proportion of the cake – size can also be based on number of staff, revenue generated, customers serviced).</a:t>
            </a:r>
          </a:p>
          <a:p>
            <a:pPr marL="171450" lvl="0" indent="-171450">
              <a:buFont typeface="Arial" pitchFamily="34" charset="0"/>
              <a:buChar char="•"/>
            </a:pPr>
            <a:r>
              <a:rPr lang="en-AU" sz="1200" kern="1200" dirty="0" smtClean="0">
                <a:solidFill>
                  <a:schemeClr val="tx1"/>
                </a:solidFill>
                <a:latin typeface="+mn-lt"/>
                <a:ea typeface="+mn-ea"/>
                <a:cs typeface="+mn-cs"/>
              </a:rPr>
              <a:t>Specified marketing aims – while it is a given organisations seek to create a return on investment there will be times when profit is not the aim of certain activities for a given period.</a:t>
            </a:r>
          </a:p>
          <a:p>
            <a:pPr marL="628650" lvl="1" indent="-171450">
              <a:buFont typeface="Arial" pitchFamily="34" charset="0"/>
              <a:buChar char="•"/>
            </a:pPr>
            <a:r>
              <a:rPr lang="en-AU" sz="1200" kern="1200" dirty="0" smtClean="0">
                <a:solidFill>
                  <a:schemeClr val="tx1"/>
                </a:solidFill>
                <a:latin typeface="+mn-lt"/>
                <a:ea typeface="+mn-ea"/>
                <a:cs typeface="+mn-cs"/>
              </a:rPr>
              <a:t>At some stage it </a:t>
            </a:r>
            <a:r>
              <a:rPr lang="en-AU" sz="1200" i="1" kern="1200" dirty="0" smtClean="0">
                <a:solidFill>
                  <a:schemeClr val="tx1"/>
                </a:solidFill>
                <a:latin typeface="+mn-lt"/>
                <a:ea typeface="+mn-ea"/>
                <a:cs typeface="+mn-cs"/>
              </a:rPr>
              <a:t>may</a:t>
            </a:r>
            <a:r>
              <a:rPr lang="en-AU" sz="1200" kern="1200" dirty="0" smtClean="0">
                <a:solidFill>
                  <a:schemeClr val="tx1"/>
                </a:solidFill>
                <a:latin typeface="+mn-lt"/>
                <a:ea typeface="+mn-ea"/>
                <a:cs typeface="+mn-cs"/>
              </a:rPr>
              <a:t> be the case an operation (or a department within an operation) seeks to achieve a goal which is not (at least in the short term) profit related.  </a:t>
            </a:r>
          </a:p>
          <a:p>
            <a:pPr marL="628650" lvl="1" indent="-171450">
              <a:buFont typeface="Arial" pitchFamily="34" charset="0"/>
              <a:buChar char="•"/>
            </a:pPr>
            <a:r>
              <a:rPr lang="en-AU" sz="1200" kern="1200" dirty="0" smtClean="0">
                <a:solidFill>
                  <a:schemeClr val="tx1"/>
                </a:solidFill>
                <a:latin typeface="+mn-lt"/>
                <a:ea typeface="+mn-ea"/>
                <a:cs typeface="+mn-cs"/>
              </a:rPr>
              <a:t>It may be the case management is determined to raise their profile, carve out a revised market niche, or attract a fresh market segment – in order to achieve this aim, extra funding may be allocated with no immediate expectation of increasing profit, or of even returning any profit. </a:t>
            </a:r>
          </a:p>
          <a:p>
            <a:pPr marL="628650" lvl="1" indent="-171450">
              <a:buFont typeface="Arial" pitchFamily="34" charset="0"/>
              <a:buChar char="•"/>
            </a:pPr>
            <a:r>
              <a:rPr lang="en-AU" sz="1200" kern="1200" dirty="0" smtClean="0">
                <a:solidFill>
                  <a:schemeClr val="tx1"/>
                </a:solidFill>
                <a:latin typeface="+mn-lt"/>
                <a:ea typeface="+mn-ea"/>
                <a:cs typeface="+mn-cs"/>
              </a:rPr>
              <a:t>The intention may be this short-term loss (or break-even) will be replaced by a substantial and long-term profit.</a:t>
            </a:r>
          </a:p>
          <a:p>
            <a:pPr marL="171450" lvl="0" indent="-171450">
              <a:buFont typeface="Arial" pitchFamily="34" charset="0"/>
              <a:buChar char="•"/>
            </a:pPr>
            <a:r>
              <a:rPr lang="en-AU" sz="1200" kern="1200" dirty="0" smtClean="0">
                <a:solidFill>
                  <a:schemeClr val="tx1"/>
                </a:solidFill>
                <a:latin typeface="+mn-lt"/>
                <a:ea typeface="+mn-ea"/>
                <a:cs typeface="+mn-cs"/>
              </a:rPr>
              <a:t>"I have the power and I call the shots" – in the same way owner–operators may unilaterally determine budget allocations regardless of petitions made to them by staff or departments, some managers will also be single–minded in resource allocation.  </a:t>
            </a:r>
          </a:p>
          <a:p>
            <a:pPr marL="628650" lvl="1" indent="-171450">
              <a:buFont typeface="Arial" pitchFamily="34" charset="0"/>
              <a:buChar char="•"/>
            </a:pPr>
            <a:r>
              <a:rPr lang="en-AU" sz="1200" kern="1200" dirty="0" smtClean="0">
                <a:solidFill>
                  <a:schemeClr val="tx1"/>
                </a:solidFill>
                <a:latin typeface="+mn-lt"/>
                <a:ea typeface="+mn-ea"/>
                <a:cs typeface="+mn-cs"/>
              </a:rPr>
              <a:t>This approach may be based on their years of experience in the industry, a qualification they have earned, or on simple gut feel – in many cases their thinking may be "it's my neck that's on the line, so I'm the one who'll make the decisions!"</a:t>
            </a: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621642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Budget Notes stating:</a:t>
            </a:r>
          </a:p>
          <a:p>
            <a:pPr marL="171450" indent="-171450">
              <a:buFont typeface="Arial" pitchFamily="34" charset="0"/>
              <a:buChar char="•"/>
            </a:pPr>
            <a:r>
              <a:rPr lang="en-AU" sz="1200" kern="1200" dirty="0" smtClean="0">
                <a:solidFill>
                  <a:schemeClr val="tx1"/>
                </a:solidFill>
                <a:latin typeface="+mn-lt"/>
                <a:ea typeface="+mn-ea"/>
                <a:cs typeface="+mn-cs"/>
              </a:rPr>
              <a:t>Many budgets (which are statistical in nature) will have written notes attached to them. </a:t>
            </a:r>
          </a:p>
          <a:p>
            <a:pPr marL="171450" indent="-171450">
              <a:buFont typeface="Arial" pitchFamily="34" charset="0"/>
              <a:buChar char="•"/>
            </a:pPr>
            <a:r>
              <a:rPr lang="en-AU" sz="1200" kern="1200" dirty="0" smtClean="0">
                <a:solidFill>
                  <a:schemeClr val="tx1"/>
                </a:solidFill>
                <a:latin typeface="+mn-lt"/>
                <a:ea typeface="+mn-ea"/>
                <a:cs typeface="+mn-cs"/>
              </a:rPr>
              <a:t>These notes may be called ‘Explanatory notes’ or simply ‘Budget notes’.</a:t>
            </a:r>
          </a:p>
          <a:p>
            <a:pPr marL="171450" indent="-171450">
              <a:buFont typeface="Arial" pitchFamily="34" charset="0"/>
              <a:buChar char="•"/>
            </a:pPr>
            <a:r>
              <a:rPr lang="en-AU" sz="1200" kern="1200" dirty="0" smtClean="0">
                <a:solidFill>
                  <a:schemeClr val="tx1"/>
                </a:solidFill>
                <a:latin typeface="+mn-lt"/>
                <a:ea typeface="+mn-ea"/>
                <a:cs typeface="+mn-cs"/>
              </a:rPr>
              <a:t>Where they are used, they comprise numerous relatively short notes for (nearly) every budget figure.  </a:t>
            </a:r>
          </a:p>
          <a:p>
            <a:pPr marL="171450" indent="-171450">
              <a:buFont typeface="Arial" pitchFamily="34" charset="0"/>
              <a:buChar char="•"/>
            </a:pPr>
            <a:r>
              <a:rPr lang="en-AU" sz="1200" kern="1200" dirty="0" smtClean="0">
                <a:solidFill>
                  <a:schemeClr val="tx1"/>
                </a:solidFill>
                <a:latin typeface="+mn-lt"/>
                <a:ea typeface="+mn-ea"/>
                <a:cs typeface="+mn-cs"/>
              </a:rPr>
              <a:t>They function to tell the reader how the figures listed in the budget were arrived at.  </a:t>
            </a:r>
          </a:p>
          <a:p>
            <a:pPr marL="171450" indent="-171450">
              <a:buFont typeface="Arial" pitchFamily="34" charset="0"/>
              <a:buChar char="•"/>
            </a:pPr>
            <a:r>
              <a:rPr lang="en-AU" sz="1200" kern="1200" dirty="0" smtClean="0">
                <a:solidFill>
                  <a:schemeClr val="tx1"/>
                </a:solidFill>
                <a:latin typeface="+mn-lt"/>
                <a:ea typeface="+mn-ea"/>
                <a:cs typeface="+mn-cs"/>
              </a:rPr>
              <a:t>They explain the thinking of the person(s) who set the budget at the outset, and present the rationale behind the budget decisions/figures that were finally utilised.</a:t>
            </a:r>
          </a:p>
          <a:p>
            <a:pPr marL="171450" indent="-171450">
              <a:buFont typeface="Arial" pitchFamily="34" charset="0"/>
              <a:buChar char="•"/>
            </a:pPr>
            <a:r>
              <a:rPr lang="en-AU" sz="1200" kern="1200" dirty="0" smtClean="0">
                <a:solidFill>
                  <a:schemeClr val="tx1"/>
                </a:solidFill>
                <a:latin typeface="+mn-lt"/>
                <a:ea typeface="+mn-ea"/>
                <a:cs typeface="+mn-cs"/>
              </a:rPr>
              <a:t>This means they will not only state the expected increases or falls in certain areas, but explain why they think this will occur.</a:t>
            </a:r>
          </a:p>
          <a:p>
            <a:pPr marL="171450" indent="-171450">
              <a:buFont typeface="Arial" pitchFamily="34" charset="0"/>
              <a:buChar char="•"/>
            </a:pPr>
            <a:r>
              <a:rPr lang="en-AU" sz="1200" kern="1200" dirty="0" smtClean="0">
                <a:solidFill>
                  <a:schemeClr val="tx1"/>
                </a:solidFill>
                <a:latin typeface="+mn-lt"/>
                <a:ea typeface="+mn-ea"/>
                <a:cs typeface="+mn-cs"/>
              </a:rPr>
              <a:t>The notes assist understanding of the overall budget by including the thought processes that underpinned the decision making at the time: their inclusion is beneficial as it gives the raw statistics a basis in real life, and demonstrates how the stated expectations were arrived at.</a:t>
            </a:r>
          </a:p>
          <a:p>
            <a:pPr>
              <a:buFont typeface="Arial" pitchFamily="34" charset="0"/>
              <a:buNone/>
            </a:pPr>
            <a:endParaRPr lang="en-US" noProof="0" dirty="0" smtClean="0"/>
          </a:p>
          <a:p>
            <a:pPr>
              <a:buFont typeface="Arial" pitchFamily="34" charset="0"/>
              <a:buNone/>
            </a:pPr>
            <a:r>
              <a:rPr lang="en-US" b="1" noProof="0" dirty="0" smtClean="0"/>
              <a:t>Class Activity – Handouts</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a:t>
            </a:r>
            <a:r>
              <a:rPr lang="en-US" b="0" baseline="0" noProof="0" dirty="0" smtClean="0"/>
              <a:t> sample Budget Notes.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952141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businesses must operate using sound financial strategies explaining </a:t>
            </a:r>
            <a:r>
              <a:rPr lang="en-AU" sz="1200" kern="1200" dirty="0" smtClean="0">
                <a:solidFill>
                  <a:schemeClr val="tx1"/>
                </a:solidFill>
                <a:latin typeface="+mn-lt"/>
                <a:ea typeface="+mn-ea"/>
                <a:cs typeface="+mn-cs"/>
              </a:rPr>
              <a:t>strategies inherent in the budget process may be seen as comprising the following steps/stages:</a:t>
            </a:r>
          </a:p>
          <a:p>
            <a:pPr marL="171450" indent="-171450">
              <a:buFont typeface="Arial" pitchFamily="34" charset="0"/>
              <a:buChar char="•"/>
            </a:pPr>
            <a:r>
              <a:rPr lang="en-AU" sz="1200" kern="1200" dirty="0" smtClean="0">
                <a:solidFill>
                  <a:schemeClr val="tx1"/>
                </a:solidFill>
                <a:latin typeface="+mn-lt"/>
                <a:ea typeface="+mn-ea"/>
                <a:cs typeface="+mn-cs"/>
              </a:rPr>
              <a:t>Planning – relating to the development of written plans with goals, objectives and KPIs to identify what the business wants to achieve and identify what it must consider</a:t>
            </a:r>
          </a:p>
          <a:p>
            <a:pPr marL="171450" indent="-171450">
              <a:buFont typeface="Arial" pitchFamily="34" charset="0"/>
              <a:buChar char="•"/>
            </a:pPr>
            <a:r>
              <a:rPr lang="en-AU" sz="1200" kern="1200" dirty="0" smtClean="0">
                <a:solidFill>
                  <a:schemeClr val="tx1"/>
                </a:solidFill>
                <a:latin typeface="+mn-lt"/>
                <a:ea typeface="+mn-ea"/>
                <a:cs typeface="+mn-cs"/>
              </a:rPr>
              <a:t>Allocating resources– relating to allocating physical resources and funding to identified objectives for the business to enable attainment of the agreed plans</a:t>
            </a:r>
          </a:p>
          <a:p>
            <a:pPr marL="171450" indent="-171450">
              <a:buFont typeface="Arial" pitchFamily="34" charset="0"/>
              <a:buChar char="•"/>
            </a:pPr>
            <a:r>
              <a:rPr lang="en-AU" sz="1200" kern="1200" dirty="0" smtClean="0">
                <a:solidFill>
                  <a:schemeClr val="tx1"/>
                </a:solidFill>
                <a:latin typeface="+mn-lt"/>
                <a:ea typeface="+mn-ea"/>
                <a:cs typeface="+mn-cs"/>
              </a:rPr>
              <a:t>Projecting revenue – forecasting sales in each identified revenue category for the business</a:t>
            </a:r>
          </a:p>
          <a:p>
            <a:pPr marL="171450" indent="-171450">
              <a:buFont typeface="Arial" pitchFamily="34" charset="0"/>
              <a:buChar char="•"/>
            </a:pPr>
            <a:r>
              <a:rPr lang="en-AU" sz="1200" kern="1200" dirty="0" smtClean="0">
                <a:solidFill>
                  <a:schemeClr val="tx1"/>
                </a:solidFill>
                <a:latin typeface="+mn-lt"/>
                <a:ea typeface="+mn-ea"/>
                <a:cs typeface="+mn-cs"/>
              </a:rPr>
              <a:t>Projecting expenses – in relation to projected sales and identified other costs expected during the budget period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840866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and explaining sound financial strategies relating to budgeting;</a:t>
            </a:r>
          </a:p>
          <a:p>
            <a:pPr marL="171450" indent="-171450">
              <a:buFont typeface="Arial" pitchFamily="34" charset="0"/>
              <a:buChar char="•"/>
            </a:pPr>
            <a:r>
              <a:rPr lang="en-AU" sz="1200" kern="1200" dirty="0" smtClean="0">
                <a:solidFill>
                  <a:schemeClr val="tx1"/>
                </a:solidFill>
                <a:latin typeface="+mn-lt"/>
                <a:ea typeface="+mn-ea"/>
                <a:cs typeface="+mn-cs"/>
              </a:rPr>
              <a:t>Developing controls – for implementation of budgets such as creation of budget lines, determination of ‘red flags’ for variances and protocols for obtaining/releasing money and safe-guarding/banking money</a:t>
            </a:r>
          </a:p>
          <a:p>
            <a:pPr marL="171450" indent="-171450">
              <a:buFont typeface="Arial" pitchFamily="34" charset="0"/>
              <a:buChar char="•"/>
            </a:pPr>
            <a:r>
              <a:rPr lang="en-AU" sz="1200" kern="1200" dirty="0" smtClean="0">
                <a:solidFill>
                  <a:schemeClr val="tx1"/>
                </a:solidFill>
                <a:latin typeface="+mn-lt"/>
                <a:ea typeface="+mn-ea"/>
                <a:cs typeface="+mn-cs"/>
              </a:rPr>
              <a:t>Establishing monitoring activities and systems – to enable tracking and analysis of income and expenditure against budgets/targets</a:t>
            </a:r>
          </a:p>
          <a:p>
            <a:pPr marL="171450" indent="-171450">
              <a:buFont typeface="Arial" pitchFamily="34" charset="0"/>
              <a:buChar char="•"/>
            </a:pPr>
            <a:r>
              <a:rPr lang="en-AU" sz="1200" kern="1200" dirty="0" smtClean="0">
                <a:solidFill>
                  <a:schemeClr val="tx1"/>
                </a:solidFill>
                <a:latin typeface="+mn-lt"/>
                <a:ea typeface="+mn-ea"/>
                <a:cs typeface="+mn-cs"/>
              </a:rPr>
              <a:t>Creating reporting protocols – such as identifying depth, regularity and nature of reports to share and communicate progress of budgets and the valuation of ‘actual’ against ‘projected’ figures</a:t>
            </a:r>
          </a:p>
          <a:p>
            <a:pPr marL="171450" indent="-171450">
              <a:buFont typeface="Arial" pitchFamily="34" charset="0"/>
              <a:buChar char="•"/>
            </a:pPr>
            <a:r>
              <a:rPr lang="en-AU" sz="1200" kern="1200" dirty="0" smtClean="0">
                <a:solidFill>
                  <a:schemeClr val="tx1"/>
                </a:solidFill>
                <a:latin typeface="+mn-lt"/>
                <a:ea typeface="+mn-ea"/>
                <a:cs typeface="+mn-cs"/>
              </a:rPr>
              <a:t>Responding to variations – when unacceptable issues are identified in order to retrieve ‘out of control’ situations or take other appropriate remedial action, and taking other actions to optimise and/or extend positive/acceptable results.</a:t>
            </a:r>
          </a:p>
          <a:p>
            <a:pPr>
              <a:buFont typeface="Arial" pitchFamily="34" charset="0"/>
              <a:buNone/>
            </a:pPr>
            <a:endParaRPr lang="en-US" noProof="0" dirty="0" smtClean="0"/>
          </a:p>
          <a:p>
            <a:pPr>
              <a:buFont typeface="Arial" pitchFamily="34" charset="0"/>
              <a:buNone/>
            </a:pPr>
            <a:r>
              <a:rPr lang="en-US" b="1" noProof="0" dirty="0" smtClean="0"/>
              <a:t>Classroom Activity – Internet research</a:t>
            </a:r>
          </a:p>
          <a:p>
            <a:pPr>
              <a:buFont typeface="Arial" pitchFamily="34" charset="0"/>
              <a:buNone/>
            </a:pPr>
            <a:endParaRPr lang="en-US" b="1" noProof="0" dirty="0" smtClean="0"/>
          </a:p>
          <a:p>
            <a:pPr>
              <a:buFont typeface="Arial" pitchFamily="34" charset="0"/>
              <a:buNone/>
            </a:pPr>
            <a:r>
              <a:rPr lang="en-US" b="0" noProof="0" dirty="0" smtClean="0"/>
              <a:t>Trainer facilitates student internet research into relevant websites such as:</a:t>
            </a:r>
          </a:p>
          <a:p>
            <a:r>
              <a:rPr lang="en-AU" sz="1200" u="sng" kern="1200" dirty="0" smtClean="0">
                <a:solidFill>
                  <a:schemeClr val="tx1"/>
                </a:solidFill>
                <a:latin typeface="+mn-lt"/>
                <a:ea typeface="+mn-ea"/>
                <a:cs typeface="+mn-cs"/>
                <a:hlinkClick r:id="rId3"/>
              </a:rPr>
              <a:t>http://www.accountantnextdoor.com/budgeting-and-budgetary-processes/</a:t>
            </a:r>
            <a:r>
              <a:rPr lang="en-AU" sz="1200" u="sng"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4"/>
              </a:rPr>
              <a:t>http://accounting-financial-tax.com/2009/02/essential-five-steps-on-budgeting-process/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694535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t>
            </a:r>
            <a:r>
              <a:rPr lang="en-AU" sz="1200" kern="1200" dirty="0" smtClean="0">
                <a:solidFill>
                  <a:schemeClr val="tx1"/>
                </a:solidFill>
                <a:latin typeface="+mn-lt"/>
                <a:ea typeface="+mn-ea"/>
                <a:cs typeface="+mn-cs"/>
              </a:rPr>
              <a:t>states it is always recommended the business utilise specialist financial skills explaining this is necessary to:</a:t>
            </a:r>
          </a:p>
          <a:p>
            <a:pPr marL="171450" indent="-171450">
              <a:buFont typeface="Arial" pitchFamily="34" charset="0"/>
              <a:buChar char="•"/>
            </a:pPr>
            <a:r>
              <a:rPr lang="en-SG" sz="1200" kern="1200" dirty="0" smtClean="0">
                <a:solidFill>
                  <a:schemeClr val="tx1"/>
                </a:solidFill>
                <a:latin typeface="+mn-lt"/>
                <a:ea typeface="+mn-ea"/>
                <a:cs typeface="+mn-cs"/>
              </a:rPr>
              <a:t>Maintain suitable/necessary financial records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Analyse results/outcomes and compare them to projections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Identify and advise the business in relation to relevant legal and taxation obligations.  </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546113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specialist</a:t>
            </a:r>
            <a:r>
              <a:rPr lang="en-US" baseline="0" noProof="0" dirty="0" smtClean="0"/>
              <a:t> financial skills </a:t>
            </a:r>
            <a:r>
              <a:rPr lang="en-AU" sz="1200" kern="1200" dirty="0" smtClean="0">
                <a:solidFill>
                  <a:schemeClr val="tx1"/>
                </a:solidFill>
                <a:latin typeface="+mn-lt"/>
                <a:ea typeface="+mn-ea"/>
                <a:cs typeface="+mn-cs"/>
              </a:rPr>
              <a:t>may require:</a:t>
            </a:r>
          </a:p>
          <a:p>
            <a:pPr marL="171450" indent="-171450">
              <a:buFont typeface="Arial" pitchFamily="34" charset="0"/>
              <a:buChar char="•"/>
            </a:pPr>
            <a:r>
              <a:rPr lang="en-SG" sz="1200" kern="1200" dirty="0" smtClean="0">
                <a:solidFill>
                  <a:schemeClr val="tx1"/>
                </a:solidFill>
                <a:latin typeface="+mn-lt"/>
                <a:ea typeface="+mn-ea"/>
                <a:cs typeface="+mn-cs"/>
              </a:rPr>
              <a:t>Studying a specific accounting/financial qualification – as distinct to this generalist unit</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Engaging the services of a paid external professional organisation – preferably with demonstrated experience in a relevant industry type/sector.</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 Activity – Guest Speaker </a:t>
            </a:r>
          </a:p>
          <a:p>
            <a:pPr>
              <a:buFont typeface="Arial" pitchFamily="34" charset="0"/>
              <a:buNone/>
            </a:pPr>
            <a:endParaRPr lang="en-US" b="1" noProof="0" dirty="0" smtClean="0"/>
          </a:p>
          <a:p>
            <a:pPr>
              <a:buFont typeface="Arial" pitchFamily="34" charset="0"/>
              <a:buNone/>
            </a:pPr>
            <a:r>
              <a:rPr lang="en-US" b="0" noProof="0" dirty="0" smtClean="0"/>
              <a:t>Trainer arranges for professional accountant to attend and describe the services they can provide for businesses.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058421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talks</a:t>
            </a:r>
            <a:r>
              <a:rPr lang="en-AU" sz="1200" kern="1200" dirty="0" smtClean="0">
                <a:solidFill>
                  <a:schemeClr val="tx1"/>
                </a:solidFill>
                <a:latin typeface="+mn-lt"/>
                <a:ea typeface="+mn-ea"/>
                <a:cs typeface="+mn-cs"/>
              </a:rPr>
              <a:t> regarding budgets are referred to as ‘budget discussions’ and they are essentially a forum for relevant people (see next slides) to:</a:t>
            </a:r>
          </a:p>
          <a:p>
            <a:pPr marL="171450" indent="-171450">
              <a:buFont typeface="Arial" pitchFamily="34" charset="0"/>
              <a:buChar char="•"/>
            </a:pPr>
            <a:r>
              <a:rPr lang="en-SG" sz="1200" kern="1200" dirty="0" smtClean="0">
                <a:solidFill>
                  <a:schemeClr val="tx1"/>
                </a:solidFill>
                <a:latin typeface="+mn-lt"/>
                <a:ea typeface="+mn-ea"/>
                <a:cs typeface="+mn-cs"/>
              </a:rPr>
              <a:t>Make input into budget decisions – by presenting their thoughts and concerns about certain issues which will, or are likely to, affect the business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Advise people and be advised of new/revised plans/directions – which will impact the business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Notify people and be notified of parameters and restrictions impacting on thoughts and operations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Be told what the budget situation is – in general terms and with respect to individual budgets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Be told of the budgets which have been formulated – and/or approved by those responsible for budget preparations.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135080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informs about people</a:t>
            </a:r>
            <a:r>
              <a:rPr lang="en-US" baseline="0" noProof="0" dirty="0" smtClean="0"/>
              <a:t> involved in budget discussions</a:t>
            </a:r>
            <a:r>
              <a:rPr lang="en-US" noProof="0" dirty="0" smtClean="0"/>
              <a:t>:</a:t>
            </a:r>
          </a:p>
          <a:p>
            <a:pPr marL="171450" indent="-171450">
              <a:buFont typeface="Arial" pitchFamily="34" charset="0"/>
              <a:buChar char="•"/>
            </a:pPr>
            <a:r>
              <a:rPr lang="en-AU" sz="1200" kern="1200" dirty="0" smtClean="0">
                <a:solidFill>
                  <a:schemeClr val="tx1"/>
                </a:solidFill>
                <a:latin typeface="+mn-lt"/>
                <a:ea typeface="+mn-ea"/>
                <a:cs typeface="+mn-cs"/>
              </a:rPr>
              <a:t>Personnel involved in budget discussions will very between organisations, and are likely to alter over time/as different circumstances change</a:t>
            </a:r>
          </a:p>
          <a:p>
            <a:pPr marL="171450" indent="-171450">
              <a:buFont typeface="Arial" pitchFamily="34" charset="0"/>
              <a:buChar char="•"/>
            </a:pPr>
            <a:r>
              <a:rPr lang="en-AU" sz="1200" kern="1200" dirty="0" smtClean="0">
                <a:solidFill>
                  <a:schemeClr val="tx1"/>
                </a:solidFill>
                <a:latin typeface="+mn-lt"/>
                <a:ea typeface="+mn-ea"/>
                <a:cs typeface="+mn-cs"/>
              </a:rPr>
              <a:t>Those on following slides are indicative of what may apply. </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205126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advises of those involved in budget discussions and their role/s identifying: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Owners and senior management</a:t>
            </a:r>
          </a:p>
          <a:p>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The owner/s and/or senior management will always be at these meetings because:</a:t>
            </a:r>
          </a:p>
          <a:p>
            <a:pPr marL="171450" lvl="0" indent="-171450">
              <a:buFont typeface="Arial" pitchFamily="34" charset="0"/>
              <a:buChar char="•"/>
            </a:pPr>
            <a:r>
              <a:rPr lang="en-SG" sz="1200" kern="1200" dirty="0" smtClean="0">
                <a:solidFill>
                  <a:schemeClr val="tx1"/>
                </a:solidFill>
                <a:latin typeface="+mn-lt"/>
                <a:ea typeface="+mn-ea"/>
                <a:cs typeface="+mn-cs"/>
              </a:rPr>
              <a:t>It is their money/business and they have responsibility for it</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SG" sz="1200" kern="1200" dirty="0" smtClean="0">
                <a:solidFill>
                  <a:schemeClr val="tx1"/>
                </a:solidFill>
                <a:latin typeface="+mn-lt"/>
                <a:ea typeface="+mn-ea"/>
                <a:cs typeface="+mn-cs"/>
              </a:rPr>
              <a:t>They may have knowledge about the business and its future proposed direction/s which will dramatically impact on resource allocation and the spending of money – for example they may have ‘inside information’ about: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Changes in direction of the business</a:t>
            </a:r>
          </a:p>
          <a:p>
            <a:pPr marL="628650" lvl="1" indent="-171450">
              <a:buFont typeface="Arial" pitchFamily="34" charset="0"/>
              <a:buChar char="•"/>
            </a:pPr>
            <a:r>
              <a:rPr lang="en-AU" sz="1200" kern="1200" dirty="0" smtClean="0">
                <a:solidFill>
                  <a:schemeClr val="tx1"/>
                </a:solidFill>
                <a:latin typeface="+mn-lt"/>
                <a:ea typeface="+mn-ea"/>
                <a:cs typeface="+mn-cs"/>
              </a:rPr>
              <a:t>Strategic plans for the business</a:t>
            </a:r>
          </a:p>
          <a:p>
            <a:pPr marL="628650" lvl="1" indent="-171450">
              <a:buFont typeface="Arial" pitchFamily="34" charset="0"/>
              <a:buChar char="•"/>
            </a:pPr>
            <a:r>
              <a:rPr lang="en-AU" sz="1200" kern="1200" dirty="0" smtClean="0">
                <a:solidFill>
                  <a:schemeClr val="tx1"/>
                </a:solidFill>
                <a:latin typeface="+mn-lt"/>
                <a:ea typeface="+mn-ea"/>
                <a:cs typeface="+mn-cs"/>
              </a:rPr>
              <a:t>Movements into or out of certain target markets</a:t>
            </a:r>
          </a:p>
          <a:p>
            <a:pPr marL="628650" lvl="1" indent="-171450">
              <a:buFont typeface="Arial" pitchFamily="34" charset="0"/>
              <a:buChar char="•"/>
            </a:pPr>
            <a:r>
              <a:rPr lang="en-AU" sz="1200" kern="1200" dirty="0" smtClean="0">
                <a:solidFill>
                  <a:schemeClr val="tx1"/>
                </a:solidFill>
                <a:latin typeface="+mn-lt"/>
                <a:ea typeface="+mn-ea"/>
                <a:cs typeface="+mn-cs"/>
              </a:rPr>
              <a:t>Building new relationships with other businesses – such as mergers, agencies, franchises or joint ventures.</a:t>
            </a:r>
          </a:p>
          <a:p>
            <a:pPr>
              <a:buFont typeface="Arial" pitchFamily="34" charset="0"/>
              <a:buNone/>
            </a:pPr>
            <a:endParaRPr lang="en-US" noProof="0" dirty="0" smtClean="0"/>
          </a:p>
          <a:p>
            <a:pPr>
              <a:buFont typeface="Arial" pitchFamily="34" charset="0"/>
              <a:buNone/>
            </a:pPr>
            <a:r>
              <a:rPr lang="en-US" b="1" noProof="0" dirty="0" smtClean="0"/>
              <a:t>Class Activity – Guest Speaker </a:t>
            </a:r>
          </a:p>
          <a:p>
            <a:pPr>
              <a:buFont typeface="Arial" pitchFamily="34" charset="0"/>
              <a:buNone/>
            </a:pPr>
            <a:endParaRPr lang="en-US" b="1" noProof="0" dirty="0" smtClean="0"/>
          </a:p>
          <a:p>
            <a:pPr>
              <a:buFont typeface="Arial" pitchFamily="34" charset="0"/>
              <a:buNone/>
            </a:pPr>
            <a:r>
              <a:rPr lang="en-US" b="0" noProof="0" dirty="0" smtClean="0"/>
              <a:t>Trainer arranges for business owner and/or senior manager</a:t>
            </a:r>
            <a:r>
              <a:rPr lang="en-US" b="0" baseline="0" noProof="0" dirty="0" smtClean="0"/>
              <a:t> </a:t>
            </a:r>
            <a:r>
              <a:rPr lang="en-US" b="0" noProof="0" dirty="0" smtClean="0"/>
              <a:t>to attend and describe their role at budget discussions.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87773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of those involved in budget discussions and their role/s identifying: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Accountants</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pPr lvl="0">
              <a:buFont typeface="Arial" pitchFamily="34" charset="0"/>
              <a:buNone/>
            </a:pPr>
            <a:r>
              <a:rPr lang="en-AU" sz="1200" kern="1200" dirty="0" smtClean="0">
                <a:solidFill>
                  <a:schemeClr val="tx1"/>
                </a:solidFill>
                <a:latin typeface="+mn-lt"/>
                <a:ea typeface="+mn-ea"/>
                <a:cs typeface="+mn-cs"/>
              </a:rPr>
              <a:t>They are commonly involved because:</a:t>
            </a:r>
          </a:p>
          <a:p>
            <a:pPr marL="171450" lvl="0" indent="-171450">
              <a:buFont typeface="Arial" pitchFamily="34" charset="0"/>
              <a:buChar char="•"/>
            </a:pPr>
            <a:r>
              <a:rPr lang="en-SG" sz="1200" kern="1200" dirty="0" smtClean="0">
                <a:solidFill>
                  <a:schemeClr val="tx1"/>
                </a:solidFill>
                <a:latin typeface="+mn-lt"/>
                <a:ea typeface="+mn-ea"/>
                <a:cs typeface="+mn-cs"/>
              </a:rPr>
              <a:t>They can bring their knowledge of the previous trading periods and financial results to the table </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SG" sz="1200" kern="1200" dirty="0" smtClean="0">
                <a:solidFill>
                  <a:schemeClr val="tx1"/>
                </a:solidFill>
                <a:latin typeface="+mn-lt"/>
                <a:ea typeface="+mn-ea"/>
                <a:cs typeface="+mn-cs"/>
              </a:rPr>
              <a:t>They are also able to contribute suggestions relating to accounting issues such as: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The types of budget and financial reports to be prepared </a:t>
            </a:r>
          </a:p>
          <a:p>
            <a:pPr marL="628650" lvl="1" indent="-171450">
              <a:buFont typeface="Arial" pitchFamily="34" charset="0"/>
              <a:buChar char="•"/>
            </a:pPr>
            <a:r>
              <a:rPr lang="en-AU" sz="1200" kern="1200" dirty="0" smtClean="0">
                <a:solidFill>
                  <a:schemeClr val="tx1"/>
                </a:solidFill>
                <a:latin typeface="+mn-lt"/>
                <a:ea typeface="+mn-ea"/>
                <a:cs typeface="+mn-cs"/>
              </a:rPr>
              <a:t>The nature of the accounting process and internal requirements relating to compliance with both legally imposed, and internally required, obligations</a:t>
            </a:r>
          </a:p>
          <a:p>
            <a:pPr marL="628650" lvl="1" indent="-171450">
              <a:buFont typeface="Arial" pitchFamily="34" charset="0"/>
              <a:buChar char="•"/>
            </a:pPr>
            <a:r>
              <a:rPr lang="en-AU" sz="1200" kern="1200" dirty="0" smtClean="0">
                <a:solidFill>
                  <a:schemeClr val="tx1"/>
                </a:solidFill>
                <a:latin typeface="+mn-lt"/>
                <a:ea typeface="+mn-ea"/>
                <a:cs typeface="+mn-cs"/>
              </a:rPr>
              <a:t>Acceptable ways to structure budgets.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Guest Speaker </a:t>
            </a:r>
          </a:p>
          <a:p>
            <a:pPr>
              <a:buFont typeface="Arial" pitchFamily="34" charset="0"/>
              <a:buNone/>
            </a:pPr>
            <a:endParaRPr lang="en-US" b="1" noProof="0" dirty="0" smtClean="0"/>
          </a:p>
          <a:p>
            <a:pPr>
              <a:buFont typeface="Arial" pitchFamily="34" charset="0"/>
              <a:buNone/>
            </a:pPr>
            <a:r>
              <a:rPr lang="en-US" b="0" noProof="0" dirty="0" smtClean="0"/>
              <a:t>Trainer arranges for accountant to attend and describe their role at budget discussions.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003482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of those involved in budget discussions and their role/s identifying: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Legal advisors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Legal advisors are not </a:t>
            </a:r>
            <a:r>
              <a:rPr lang="en-AU" sz="1200" i="1" kern="1200" dirty="0" smtClean="0">
                <a:solidFill>
                  <a:schemeClr val="tx1"/>
                </a:solidFill>
                <a:latin typeface="+mn-lt"/>
                <a:ea typeface="+mn-ea"/>
                <a:cs typeface="+mn-cs"/>
              </a:rPr>
              <a:t>always</a:t>
            </a:r>
            <a:r>
              <a:rPr lang="en-AU" sz="1200" kern="1200" dirty="0" smtClean="0">
                <a:solidFill>
                  <a:schemeClr val="tx1"/>
                </a:solidFill>
                <a:latin typeface="+mn-lt"/>
                <a:ea typeface="+mn-ea"/>
                <a:cs typeface="+mn-cs"/>
              </a:rPr>
              <a:t> present at budget meeting/discussions.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They tend to be contacted/involved only when an issue arises where it is believed legal input or advice is necessary.</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They can advise on financial aspects such as:</a:t>
            </a:r>
          </a:p>
          <a:p>
            <a:pPr marL="171450" indent="-171450">
              <a:buFont typeface="Arial" pitchFamily="34" charset="0"/>
              <a:buChar char="•"/>
            </a:pPr>
            <a:r>
              <a:rPr lang="en-SG" sz="1200" kern="1200" dirty="0" smtClean="0">
                <a:solidFill>
                  <a:schemeClr val="tx1"/>
                </a:solidFill>
                <a:latin typeface="+mn-lt"/>
                <a:ea typeface="+mn-ea"/>
                <a:cs typeface="+mn-cs"/>
              </a:rPr>
              <a:t>Legal responsibilities relating to reporting, record keeping and general compliance</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The legality of proposed plans to determine whether or not they breach legislated requirements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Issues such as legal tax minimisation (in conjunction with financial advisors and accountants).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Guest Speaker</a:t>
            </a:r>
          </a:p>
          <a:p>
            <a:pPr>
              <a:buFont typeface="Arial" pitchFamily="34" charset="0"/>
              <a:buNone/>
            </a:pPr>
            <a:r>
              <a:rPr lang="en-US" b="1" noProof="0" dirty="0" smtClean="0"/>
              <a:t> </a:t>
            </a:r>
          </a:p>
          <a:p>
            <a:pPr>
              <a:buFont typeface="Arial" pitchFamily="34" charset="0"/>
              <a:buNone/>
            </a:pPr>
            <a:r>
              <a:rPr lang="en-US" b="0" noProof="0" dirty="0" smtClean="0"/>
              <a:t>Trainer arranges for a legal advisor/professional to attend and describe their role at budget discussions.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187385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of those involved in budget discussions and their role/s identifying: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Bankers</a:t>
            </a:r>
          </a:p>
          <a:p>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Again, bankers are not always present at these meetings.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Where the business is seeking a loan, or has an existing loan it needs to service, there may be a requirement the banking institution involved be included in budget discussions.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Bankers can:</a:t>
            </a:r>
          </a:p>
          <a:p>
            <a:pPr marL="171450" indent="-171450">
              <a:buFont typeface="Arial" pitchFamily="34" charset="0"/>
              <a:buChar char="•"/>
            </a:pPr>
            <a:r>
              <a:rPr lang="en-SG" sz="1200" kern="1200" dirty="0" smtClean="0">
                <a:solidFill>
                  <a:schemeClr val="tx1"/>
                </a:solidFill>
                <a:latin typeface="+mn-lt"/>
                <a:ea typeface="+mn-ea"/>
                <a:cs typeface="+mn-cs"/>
              </a:rPr>
              <a:t>Provide advice regarding loan alternatives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Provide investment advice for surpluses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Give an insight (without naming names/businesses) into the financial performance and arrangements of similar other businesses for the purpose of comparison.</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Guest Speaker </a:t>
            </a:r>
          </a:p>
          <a:p>
            <a:pPr>
              <a:buFont typeface="Arial" pitchFamily="34" charset="0"/>
              <a:buNone/>
            </a:pPr>
            <a:endParaRPr lang="en-US" b="1" noProof="0" dirty="0" smtClean="0"/>
          </a:p>
          <a:p>
            <a:pPr>
              <a:buFont typeface="Arial" pitchFamily="34" charset="0"/>
              <a:buNone/>
            </a:pPr>
            <a:r>
              <a:rPr lang="en-US" b="0" noProof="0" dirty="0" smtClean="0"/>
              <a:t>Trainer arranges for banker/person from a financial institution to attend and describe their role at budget discussions.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4244712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of those involved in budget discussions and their role/s identifying: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Investors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Where the business has shareholders there may also be a need for those shareholders (or certain of them, or their representatives) to be present to make budget input.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Shareholders/investors who are entitled to attend this meeting may make comment on any aspect of the budget process but seem commonly interested in only two things: </a:t>
            </a:r>
          </a:p>
          <a:p>
            <a:pPr marL="171450" indent="-171450">
              <a:buFont typeface="Arial" pitchFamily="34" charset="0"/>
              <a:buChar char="•"/>
            </a:pPr>
            <a:r>
              <a:rPr lang="en-SG" sz="1200" kern="1200" dirty="0" smtClean="0">
                <a:solidFill>
                  <a:schemeClr val="tx1"/>
                </a:solidFill>
                <a:latin typeface="+mn-lt"/>
                <a:ea typeface="+mn-ea"/>
                <a:cs typeface="+mn-cs"/>
              </a:rPr>
              <a:t>The amount of money being paid to management </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The return they can expect on their investment.</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Guest Speaker </a:t>
            </a:r>
          </a:p>
          <a:p>
            <a:pPr>
              <a:buFont typeface="Arial" pitchFamily="34" charset="0"/>
              <a:buNone/>
            </a:pPr>
            <a:endParaRPr lang="en-US" b="1" noProof="0" dirty="0" smtClean="0"/>
          </a:p>
          <a:p>
            <a:pPr>
              <a:buFont typeface="Arial" pitchFamily="34" charset="0"/>
              <a:buNone/>
            </a:pPr>
            <a:r>
              <a:rPr lang="en-US" b="0" noProof="0" dirty="0" smtClean="0"/>
              <a:t>Trainer arranges for business investor to attend and describe their role at budget discussions.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0374516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of those involved in budget discussions and their role/s identifying: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Department managers and supervisors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For departments (managers and supervisors), participation in making input to the budget process in incredibly vital because it has the potential to have tremendous on-going impact on the running of their department, section or area in terms of:</a:t>
            </a:r>
          </a:p>
          <a:p>
            <a:pPr marL="171450" indent="-171450">
              <a:buFont typeface="Arial" pitchFamily="34" charset="0"/>
              <a:buChar char="•"/>
            </a:pPr>
            <a:r>
              <a:rPr lang="en-SG" sz="1200" kern="1200" dirty="0" smtClean="0">
                <a:solidFill>
                  <a:schemeClr val="tx1"/>
                </a:solidFill>
                <a:latin typeface="+mn-lt"/>
                <a:ea typeface="+mn-ea"/>
                <a:cs typeface="+mn-cs"/>
              </a:rPr>
              <a:t>Funding allocation – this is (usually) the amount of money the department is allowed to spend as allocated by their various budgets and budget lines.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As a general rule most supervisors prefer to have a bigger expenditure budget than a smaller one however many expenditure budgets are calculated as a set percentage of expected/projected income/revenue figures.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Where ‘project work’ is being undertaken (such as the refurbishing of guest rooms) it is common for a nominated amount to be allocated independent of revenue projections.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Revenue targets – the budget process will need to determine potential revenue for each revenue-generating centre.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Supervisors will commonly strive to keep this ‘projected revenue’ figure as small as possible to make it easier to hit their targets (being able to attain the ‘projected’ revenue figure may be a KPI) which, in turn, can have implications for the promotion undertaken by the business, continued employment (job security for employees) and their own annual bonuses.  </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Guest Speaker </a:t>
            </a:r>
          </a:p>
          <a:p>
            <a:pPr>
              <a:buFont typeface="Arial" pitchFamily="34" charset="0"/>
              <a:buNone/>
            </a:pPr>
            <a:endParaRPr lang="en-US" b="1" noProof="0" dirty="0" smtClean="0"/>
          </a:p>
          <a:p>
            <a:pPr>
              <a:buFont typeface="Arial" pitchFamily="34" charset="0"/>
              <a:buNone/>
            </a:pPr>
            <a:r>
              <a:rPr lang="en-US" b="0" noProof="0" dirty="0" smtClean="0"/>
              <a:t>Trainer arranges for relevant Department Manager or Supervisor to attend and describe their role at budget discussions.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473172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of those involved in budget discussions and their role/s identifying: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Workers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Some businesses (but certainly not all) include workers in budget discussions.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They may do this to:</a:t>
            </a:r>
          </a:p>
          <a:p>
            <a:pPr marL="171450" indent="-171450">
              <a:buFont typeface="Arial" panose="020B0604020202020204" pitchFamily="34" charset="0"/>
              <a:buChar char="•"/>
            </a:pPr>
            <a:r>
              <a:rPr lang="en-SG" sz="1200" kern="1200" dirty="0" smtClean="0">
                <a:solidFill>
                  <a:schemeClr val="tx1"/>
                </a:solidFill>
                <a:latin typeface="+mn-lt"/>
                <a:ea typeface="+mn-ea"/>
                <a:cs typeface="+mn-cs"/>
              </a:rPr>
              <a:t>Capture their input and insight – which is regarded as unique and relevant as it is always directly related to business operations</a:t>
            </a:r>
            <a:endParaRPr lang="en-AU" sz="1200" kern="1200" dirty="0" smtClean="0">
              <a:solidFill>
                <a:schemeClr val="tx1"/>
              </a:solidFill>
              <a:latin typeface="+mn-lt"/>
              <a:ea typeface="+mn-ea"/>
              <a:cs typeface="+mn-cs"/>
            </a:endParaRPr>
          </a:p>
          <a:p>
            <a:pPr marL="171450" indent="-171450">
              <a:buFont typeface="Arial" panose="020B0604020202020204" pitchFamily="34" charset="0"/>
              <a:buChar char="•"/>
            </a:pPr>
            <a:r>
              <a:rPr lang="en-SG" sz="1200" kern="1200" dirty="0" smtClean="0">
                <a:solidFill>
                  <a:schemeClr val="tx1"/>
                </a:solidFill>
                <a:latin typeface="+mn-lt"/>
                <a:ea typeface="+mn-ea"/>
                <a:cs typeface="+mn-cs"/>
              </a:rPr>
              <a:t>Make sure they receive first-hand information about how the business is performing – and what it expects into the future.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Guest Speaker </a:t>
            </a:r>
          </a:p>
          <a:p>
            <a:pPr>
              <a:buFont typeface="Arial" pitchFamily="34" charset="0"/>
              <a:buNone/>
            </a:pPr>
            <a:endParaRPr lang="en-US" b="1" noProof="0" dirty="0" smtClean="0"/>
          </a:p>
          <a:p>
            <a:pPr>
              <a:buFont typeface="Arial" pitchFamily="34" charset="0"/>
              <a:buNone/>
            </a:pPr>
            <a:r>
              <a:rPr lang="en-US" b="0" noProof="0" dirty="0" smtClean="0"/>
              <a:t>Trainer arranges for an employee who works in a relevant business to attend and describe their role at budget discussions.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766095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AU" sz="1200" kern="1200" dirty="0" smtClean="0">
                <a:solidFill>
                  <a:schemeClr val="tx1"/>
                </a:solidFill>
                <a:latin typeface="+mn-lt"/>
                <a:ea typeface="+mn-ea"/>
                <a:cs typeface="+mn-cs"/>
              </a:rPr>
              <a:t>those who may be informed include:</a:t>
            </a:r>
          </a:p>
          <a:p>
            <a:pPr marL="171450" indent="-171450">
              <a:buFont typeface="Arial" pitchFamily="34" charset="0"/>
              <a:buChar char="•"/>
            </a:pPr>
            <a:r>
              <a:rPr lang="en-SG" sz="1200" kern="1200" dirty="0" smtClean="0">
                <a:solidFill>
                  <a:schemeClr val="tx1"/>
                </a:solidFill>
                <a:latin typeface="+mn-lt"/>
                <a:ea typeface="+mn-ea"/>
                <a:cs typeface="+mn-cs"/>
              </a:rPr>
              <a:t>Senior management – who are very likely to have been involved in discussions but who will still need to be notified of: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The </a:t>
            </a:r>
            <a:r>
              <a:rPr lang="en-AU" sz="1200" i="1" kern="1200" dirty="0" smtClean="0">
                <a:solidFill>
                  <a:schemeClr val="tx1"/>
                </a:solidFill>
                <a:latin typeface="+mn-lt"/>
                <a:ea typeface="+mn-ea"/>
                <a:cs typeface="+mn-cs"/>
              </a:rPr>
              <a:t>final</a:t>
            </a:r>
            <a:r>
              <a:rPr lang="en-AU" sz="1200" kern="1200" dirty="0" smtClean="0">
                <a:solidFill>
                  <a:schemeClr val="tx1"/>
                </a:solidFill>
                <a:latin typeface="+mn-lt"/>
                <a:ea typeface="+mn-ea"/>
                <a:cs typeface="+mn-cs"/>
              </a:rPr>
              <a:t> result(s) and the actual figures which have been allocated to individual budgets</a:t>
            </a:r>
          </a:p>
          <a:p>
            <a:pPr marL="628650" lvl="1" indent="-171450">
              <a:buFont typeface="Arial" pitchFamily="34" charset="0"/>
              <a:buChar char="•"/>
            </a:pPr>
            <a:r>
              <a:rPr lang="en-AU" sz="1200" kern="1200" dirty="0" smtClean="0">
                <a:solidFill>
                  <a:schemeClr val="tx1"/>
                </a:solidFill>
                <a:latin typeface="+mn-lt"/>
                <a:ea typeface="+mn-ea"/>
                <a:cs typeface="+mn-cs"/>
              </a:rPr>
              <a:t>Rationale for decisions made</a:t>
            </a:r>
          </a:p>
          <a:p>
            <a:pPr marL="171450" indent="-171450">
              <a:buFont typeface="Arial" pitchFamily="34" charset="0"/>
              <a:buChar char="•"/>
            </a:pPr>
            <a:r>
              <a:rPr lang="en-SG" sz="1200" kern="1200" dirty="0" smtClean="0">
                <a:solidFill>
                  <a:schemeClr val="tx1"/>
                </a:solidFill>
                <a:latin typeface="+mn-lt"/>
                <a:ea typeface="+mn-ea"/>
                <a:cs typeface="+mn-cs"/>
              </a:rPr>
              <a:t>The accounts department – so they can: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Enter the figures into appropriate software </a:t>
            </a:r>
          </a:p>
          <a:p>
            <a:pPr marL="628650" lvl="1" indent="-171450">
              <a:buFont typeface="Arial" pitchFamily="34" charset="0"/>
              <a:buChar char="•"/>
            </a:pPr>
            <a:r>
              <a:rPr lang="en-AU" sz="1200" kern="1200" dirty="0" smtClean="0">
                <a:solidFill>
                  <a:schemeClr val="tx1"/>
                </a:solidFill>
                <a:latin typeface="+mn-lt"/>
                <a:ea typeface="+mn-ea"/>
                <a:cs typeface="+mn-cs"/>
              </a:rPr>
              <a:t>Create the required budgets </a:t>
            </a:r>
          </a:p>
          <a:p>
            <a:pPr marL="628650" lvl="1" indent="-171450">
              <a:buFont typeface="Arial" pitchFamily="34" charset="0"/>
              <a:buChar char="•"/>
            </a:pPr>
            <a:r>
              <a:rPr lang="en-AU" sz="1200" kern="1200" dirty="0" smtClean="0">
                <a:solidFill>
                  <a:schemeClr val="tx1"/>
                </a:solidFill>
                <a:latin typeface="+mn-lt"/>
                <a:ea typeface="+mn-ea"/>
                <a:cs typeface="+mn-cs"/>
              </a:rPr>
              <a:t>Generate necessary budget lines and codes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5229550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a:t>
            </a:r>
            <a:r>
              <a:rPr lang="en-AU" sz="1200" kern="1200" dirty="0" smtClean="0">
                <a:solidFill>
                  <a:schemeClr val="tx1"/>
                </a:solidFill>
                <a:latin typeface="+mn-lt"/>
                <a:ea typeface="+mn-ea"/>
                <a:cs typeface="+mn-cs"/>
              </a:rPr>
              <a:t>those who may be informed include:</a:t>
            </a:r>
          </a:p>
          <a:p>
            <a:pPr marL="171450" indent="-171450">
              <a:buFont typeface="Arial" pitchFamily="34" charset="0"/>
              <a:buChar char="•"/>
            </a:pPr>
            <a:r>
              <a:rPr lang="en-SG" sz="1200" kern="1200" dirty="0" smtClean="0">
                <a:solidFill>
                  <a:schemeClr val="tx1"/>
                </a:solidFill>
                <a:latin typeface="+mn-lt"/>
                <a:ea typeface="+mn-ea"/>
                <a:cs typeface="+mn-cs"/>
              </a:rPr>
              <a:t>Heads of Departments and Supervisors – middle-level management commonly have daily control over the revenue raising areas of the property and power over relevant areas of expenditure: it is therefore essential these personnel are informed of decisions.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It is predominantly these individuals who are responsible for generating the bulk of the income, and whose decisions have immense impact on the profitability and viability of the business: while they operate under direction from senior management, they make numerous day-to-day and on-the-spot decisions which have the potential to greatly impact on budget figures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Board of Directors – not all organisations/businesses have a Board of Directors but where they do there is a need to advise them of the budget allocations to:</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Give them a better understanding of the organisation and its financial parameters and position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Help compliance with legally imposed fiduciary obligations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Assist them make business management and/or investment decisions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Enable them better monitor, analyse and oversee the operation of the business.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187252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a:t>
            </a:r>
            <a:r>
              <a:rPr lang="en-AU" sz="1200" kern="1200" dirty="0" smtClean="0">
                <a:solidFill>
                  <a:schemeClr val="tx1"/>
                </a:solidFill>
                <a:latin typeface="+mn-lt"/>
                <a:ea typeface="+mn-ea"/>
                <a:cs typeface="+mn-cs"/>
              </a:rPr>
              <a:t>those who may be informed include:</a:t>
            </a:r>
          </a:p>
          <a:p>
            <a:pPr marL="171450" indent="-171450">
              <a:buFont typeface="Arial" pitchFamily="34" charset="0"/>
              <a:buChar char="•"/>
            </a:pPr>
            <a:r>
              <a:rPr lang="en-SG" sz="1200" kern="1200" dirty="0" smtClean="0">
                <a:solidFill>
                  <a:schemeClr val="tx1"/>
                </a:solidFill>
                <a:latin typeface="+mn-lt"/>
                <a:ea typeface="+mn-ea"/>
                <a:cs typeface="+mn-cs"/>
              </a:rPr>
              <a:t>Establishment staff – it will commonly fall to the head of department to explain the latest budget allocations to departmental staff.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This news is traditionally passed on verbally in a formal departmental meeting – it is not usual to have printed material passed around. The head of department/supervisor commonly sets the scene by explaining the general budgetary context and the trading situation the business finds itself in – </a:t>
            </a:r>
            <a:r>
              <a:rPr lang="en-SG" sz="1200" i="1" kern="1200" dirty="0" smtClean="0">
                <a:solidFill>
                  <a:schemeClr val="tx1"/>
                </a:solidFill>
                <a:latin typeface="+mn-lt"/>
                <a:ea typeface="+mn-ea"/>
                <a:cs typeface="+mn-cs"/>
              </a:rPr>
              <a:t>general</a:t>
            </a:r>
            <a:r>
              <a:rPr lang="en-SG" sz="1200" kern="1200" dirty="0" smtClean="0">
                <a:solidFill>
                  <a:schemeClr val="tx1"/>
                </a:solidFill>
                <a:latin typeface="+mn-lt"/>
                <a:ea typeface="+mn-ea"/>
                <a:cs typeface="+mn-cs"/>
              </a:rPr>
              <a:t> statements are normally used to describe the current situation as it compares to the last period.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Next, further general statements are made about what management expects from the department (and by association, the staff): it is not common to pass on exact monetary figures to the staff as this is usually seen as material which is 'commercial in confidence'.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Staff may thus be told there is an expectation, for example, they are expected to increase revenue in the upcoming 12-month period by an average of 10% over the previous year: this indicates management requirements without disclosing the actual figures involved.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Similarly, staff may be informed, for example, there is an expectation expenses are reduced by 5%.</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It is always important to couch this sort of news within a positive context wherever possible to reduce the possibility of staff disillusionment, and the likelihood employees may misinterpret 'economic imperatives' as signalling their job is in jeopardy: when staff pick up this sort of message they commonly start looking for employment elsewhere because they can 'see the writing on the wall'. </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Strategic alliance partners – will be informed only in relation to budgets in which they have a contractual or other financial interest.</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4145399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traditional </a:t>
            </a:r>
            <a:r>
              <a:rPr lang="en-AU" sz="1200" kern="1200" dirty="0" smtClean="0">
                <a:solidFill>
                  <a:schemeClr val="tx1"/>
                </a:solidFill>
                <a:latin typeface="+mn-lt"/>
                <a:ea typeface="+mn-ea"/>
                <a:cs typeface="+mn-cs"/>
              </a:rPr>
              <a:t>ways to inform those concerned about budget allocations include:</a:t>
            </a:r>
          </a:p>
          <a:p>
            <a:pPr marL="171450" indent="-171450">
              <a:buFont typeface="Arial" pitchFamily="34" charset="0"/>
              <a:buChar char="•"/>
            </a:pPr>
            <a:r>
              <a:rPr lang="en-SG" sz="1200" kern="1200" dirty="0" smtClean="0">
                <a:solidFill>
                  <a:schemeClr val="tx1"/>
                </a:solidFill>
                <a:latin typeface="+mn-lt"/>
                <a:ea typeface="+mn-ea"/>
                <a:cs typeface="+mn-cs"/>
              </a:rPr>
              <a:t>At departmental meetings – where information is delivered verbally, face-to-face. The information may be shared: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 a special meeting convened just for this purpose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SG" sz="1200" kern="1200" dirty="0" smtClean="0">
                <a:solidFill>
                  <a:schemeClr val="tx1"/>
                </a:solidFill>
                <a:latin typeface="+mn-lt"/>
                <a:ea typeface="+mn-ea"/>
                <a:cs typeface="+mn-cs"/>
              </a:rPr>
              <a:t>As an agenda item within a normal/regular staff meeting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Through all-staff meetings – where a series of  overhead projections (or a PowerPoint presentation) is used to communicate relevant information to workers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Via internal memos or emails – sent to staff, which should be headed ‘Confidential – Not for Release’ (or similar) </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Using paper-based documentation – outlining, without being too specific, the allocations which have been decided on.</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7535464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not </a:t>
            </a:r>
            <a:r>
              <a:rPr lang="en-AU" sz="1200" kern="1200" dirty="0" smtClean="0">
                <a:solidFill>
                  <a:schemeClr val="tx1"/>
                </a:solidFill>
                <a:latin typeface="+mn-lt"/>
                <a:ea typeface="+mn-ea"/>
                <a:cs typeface="+mn-cs"/>
              </a:rPr>
              <a:t>all workers know about budgets and not all employees are particularly interested in them so supervisors and managers have a duty/responsibility to educate staff, and to promote an awareness of the importance of budget control highlighting it is necessary to do this in order to:</a:t>
            </a:r>
          </a:p>
          <a:p>
            <a:pPr marL="171450" indent="-171450">
              <a:buFont typeface="Arial" pitchFamily="34" charset="0"/>
              <a:buChar char="•"/>
            </a:pPr>
            <a:r>
              <a:rPr lang="en-SG" sz="1200" kern="1200" dirty="0" smtClean="0">
                <a:solidFill>
                  <a:schemeClr val="tx1"/>
                </a:solidFill>
                <a:latin typeface="+mn-lt"/>
                <a:ea typeface="+mn-ea"/>
                <a:cs typeface="+mn-cs"/>
              </a:rPr>
              <a:t>Give insight into the operating parameters of the business – it is important staff understand the need to pay attention to budgets and how these impact the work of the business</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Share targets to be achieved – in terms of maximum costs/expenses they need to help control and necessary sales and they need to strive to achieve</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Let them know the business monitors and checks the performance of staff and cost/revenue centres – which helps motivate them</a:t>
            </a:r>
            <a:endParaRPr lang="en-AU" sz="1200" kern="1200" dirty="0" smtClean="0">
              <a:solidFill>
                <a:schemeClr val="tx1"/>
              </a:solidFill>
              <a:latin typeface="+mn-lt"/>
              <a:ea typeface="+mn-ea"/>
              <a:cs typeface="+mn-cs"/>
            </a:endParaRPr>
          </a:p>
          <a:p>
            <a:pPr marL="171450" indent="-171450">
              <a:buFont typeface="Arial" pitchFamily="34" charset="0"/>
              <a:buChar char="•"/>
            </a:pPr>
            <a:r>
              <a:rPr lang="en-SG" sz="1200" kern="1200" dirty="0" smtClean="0">
                <a:solidFill>
                  <a:schemeClr val="tx1"/>
                </a:solidFill>
                <a:latin typeface="+mn-lt"/>
                <a:ea typeface="+mn-ea"/>
                <a:cs typeface="+mn-cs"/>
              </a:rPr>
              <a:t>Demonstrate respect for their understanding of these issues – as this communication implicitly indicates the organisation acknowledges their appreciation of the factors which impact viable business operation.</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5305660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the </a:t>
            </a:r>
            <a:r>
              <a:rPr lang="en-AU" sz="1200" kern="1200" dirty="0" smtClean="0">
                <a:solidFill>
                  <a:schemeClr val="tx1"/>
                </a:solidFill>
                <a:latin typeface="+mn-lt"/>
                <a:ea typeface="+mn-ea"/>
                <a:cs typeface="+mn-cs"/>
              </a:rPr>
              <a:t>following points often need to be communicated to others:</a:t>
            </a:r>
          </a:p>
          <a:p>
            <a:pPr marL="171450" indent="-171450">
              <a:buFont typeface="Arial" pitchFamily="34" charset="0"/>
              <a:buChar char="•"/>
            </a:pPr>
            <a:r>
              <a:rPr lang="en-AU" sz="1200" kern="1200" dirty="0" smtClean="0">
                <a:solidFill>
                  <a:schemeClr val="tx1"/>
                </a:solidFill>
                <a:latin typeface="+mn-lt"/>
                <a:ea typeface="+mn-ea"/>
                <a:cs typeface="+mn-cs"/>
              </a:rPr>
              <a:t>Importance of allocating costs to correct budgets and budget lines – as per the Schedule of Accounts</a:t>
            </a:r>
          </a:p>
          <a:p>
            <a:pPr marL="171450" indent="-171450">
              <a:buFont typeface="Arial" pitchFamily="34" charset="0"/>
              <a:buChar char="•"/>
            </a:pPr>
            <a:r>
              <a:rPr lang="en-AU" sz="1200" kern="1200" dirty="0" smtClean="0">
                <a:solidFill>
                  <a:schemeClr val="tx1"/>
                </a:solidFill>
                <a:latin typeface="+mn-lt"/>
                <a:ea typeface="+mn-ea"/>
                <a:cs typeface="+mn-cs"/>
              </a:rPr>
              <a:t>Need to allocate revenues to correct revenue centres – in accordance with correct Schedule of Accounts coding</a:t>
            </a:r>
          </a:p>
          <a:p>
            <a:pPr marL="171450" indent="-171450">
              <a:buFont typeface="Arial" pitchFamily="34" charset="0"/>
              <a:buChar char="•"/>
            </a:pPr>
            <a:r>
              <a:rPr lang="en-AU" sz="1200" kern="1200" dirty="0" smtClean="0">
                <a:solidFill>
                  <a:schemeClr val="tx1"/>
                </a:solidFill>
                <a:latin typeface="+mn-lt"/>
                <a:ea typeface="+mn-ea"/>
                <a:cs typeface="+mn-cs"/>
              </a:rPr>
              <a:t>Necessity of obtaining authorisation prior to making purchases – in-line with internal protocols</a:t>
            </a:r>
          </a:p>
          <a:p>
            <a:pPr marL="171450" indent="-171450">
              <a:buFont typeface="Arial" pitchFamily="34" charset="0"/>
              <a:buChar char="•"/>
            </a:pPr>
            <a:r>
              <a:rPr lang="en-AU" sz="1200" kern="1200" dirty="0" smtClean="0">
                <a:solidFill>
                  <a:schemeClr val="tx1"/>
                </a:solidFill>
                <a:latin typeface="+mn-lt"/>
                <a:ea typeface="+mn-ea"/>
                <a:cs typeface="+mn-cs"/>
              </a:rPr>
              <a:t>Need to complete required documentation – to assist in monitoring and tracking</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254124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noting the </a:t>
            </a:r>
            <a:r>
              <a:rPr lang="en-AU" sz="1200" kern="1200" dirty="0" smtClean="0">
                <a:solidFill>
                  <a:schemeClr val="tx1"/>
                </a:solidFill>
                <a:latin typeface="+mn-lt"/>
                <a:ea typeface="+mn-ea"/>
                <a:cs typeface="+mn-cs"/>
              </a:rPr>
              <a:t>points which often need to be communicated to others:</a:t>
            </a:r>
          </a:p>
          <a:p>
            <a:pPr marL="171450" indent="-171450">
              <a:buFont typeface="Arial" pitchFamily="34" charset="0"/>
              <a:buChar char="•"/>
            </a:pPr>
            <a:r>
              <a:rPr lang="en-AU" sz="1200" kern="1200" dirty="0" smtClean="0">
                <a:solidFill>
                  <a:schemeClr val="tx1"/>
                </a:solidFill>
                <a:latin typeface="+mn-lt"/>
                <a:ea typeface="+mn-ea"/>
                <a:cs typeface="+mn-cs"/>
              </a:rPr>
              <a:t>Requirement to regularly compare actual performance with budgetary performance – in order to:</a:t>
            </a:r>
          </a:p>
          <a:p>
            <a:pPr marL="628650" lvl="1" indent="-171450">
              <a:buFont typeface="Arial" pitchFamily="34" charset="0"/>
              <a:buChar char="•"/>
            </a:pPr>
            <a:r>
              <a:rPr lang="en-AU" sz="1200" kern="1200" dirty="0" smtClean="0">
                <a:solidFill>
                  <a:schemeClr val="tx1"/>
                </a:solidFill>
                <a:latin typeface="+mn-lt"/>
                <a:ea typeface="+mn-ea"/>
                <a:cs typeface="+mn-cs"/>
              </a:rPr>
              <a:t>Maintain awareness of actual business performance</a:t>
            </a:r>
          </a:p>
          <a:p>
            <a:pPr marL="628650" lvl="1" indent="-171450">
              <a:buFont typeface="Arial" pitchFamily="34" charset="0"/>
              <a:buChar char="•"/>
            </a:pPr>
            <a:r>
              <a:rPr lang="en-AU" sz="1200" kern="1200" dirty="0" smtClean="0">
                <a:solidFill>
                  <a:schemeClr val="tx1"/>
                </a:solidFill>
                <a:latin typeface="+mn-lt"/>
                <a:ea typeface="+mn-ea"/>
                <a:cs typeface="+mn-cs"/>
              </a:rPr>
              <a:t>Promptly identify and rectify posting errors</a:t>
            </a:r>
          </a:p>
          <a:p>
            <a:pPr marL="628650" lvl="1" indent="-171450">
              <a:buFont typeface="Arial" pitchFamily="34" charset="0"/>
              <a:buChar char="•"/>
            </a:pPr>
            <a:r>
              <a:rPr lang="en-AU" sz="1200" kern="1200" dirty="0" smtClean="0">
                <a:solidFill>
                  <a:schemeClr val="tx1"/>
                </a:solidFill>
                <a:latin typeface="+mn-lt"/>
                <a:ea typeface="+mn-ea"/>
                <a:cs typeface="+mn-cs"/>
              </a:rPr>
              <a:t>Enable appropriate corrective action to be taken at the earliest opportunity</a:t>
            </a:r>
          </a:p>
          <a:p>
            <a:pPr marL="171450" indent="-171450">
              <a:buFont typeface="Arial" pitchFamily="34" charset="0"/>
              <a:buChar char="•"/>
            </a:pPr>
            <a:r>
              <a:rPr lang="en-AU" sz="1200" kern="1200" dirty="0" smtClean="0">
                <a:solidFill>
                  <a:schemeClr val="tx1"/>
                </a:solidFill>
                <a:latin typeface="+mn-lt"/>
                <a:ea typeface="+mn-ea"/>
                <a:cs typeface="+mn-cs"/>
              </a:rPr>
              <a:t>Need to review budgets in the light of changed circumstances – as this applies in relation to:</a:t>
            </a:r>
          </a:p>
          <a:p>
            <a:pPr marL="628650" lvl="1" indent="-171450">
              <a:buFont typeface="Arial" pitchFamily="34" charset="0"/>
              <a:buChar char="•"/>
            </a:pPr>
            <a:r>
              <a:rPr lang="en-AU" sz="1200" kern="1200" dirty="0" smtClean="0">
                <a:solidFill>
                  <a:schemeClr val="tx1"/>
                </a:solidFill>
                <a:latin typeface="+mn-lt"/>
                <a:ea typeface="+mn-ea"/>
                <a:cs typeface="+mn-cs"/>
              </a:rPr>
              <a:t>Internal and external causal factors</a:t>
            </a:r>
          </a:p>
          <a:p>
            <a:pPr marL="628650" lvl="1" indent="-171450">
              <a:buFont typeface="Arial" pitchFamily="34" charset="0"/>
              <a:buChar char="•"/>
            </a:pPr>
            <a:r>
              <a:rPr lang="en-AU" sz="1200" kern="1200" dirty="0" smtClean="0">
                <a:solidFill>
                  <a:schemeClr val="tx1"/>
                </a:solidFill>
                <a:latin typeface="+mn-lt"/>
                <a:ea typeface="+mn-ea"/>
                <a:cs typeface="+mn-cs"/>
              </a:rPr>
              <a:t>Sales and expenditure issues</a:t>
            </a:r>
          </a:p>
          <a:p>
            <a:pPr marL="171450" indent="-171450">
              <a:buFont typeface="Arial" pitchFamily="34" charset="0"/>
              <a:buChar char="•"/>
            </a:pPr>
            <a:r>
              <a:rPr lang="en-AU" sz="1200" kern="1200" dirty="0" smtClean="0">
                <a:solidFill>
                  <a:schemeClr val="tx1"/>
                </a:solidFill>
                <a:latin typeface="+mn-lt"/>
                <a:ea typeface="+mn-ea"/>
                <a:cs typeface="+mn-cs"/>
              </a:rPr>
              <a:t>Changes to organisational priorities – as these may apply to:</a:t>
            </a:r>
          </a:p>
          <a:p>
            <a:pPr marL="628650" lvl="1" indent="-171450">
              <a:buFont typeface="Arial" pitchFamily="34" charset="0"/>
              <a:buChar char="•"/>
            </a:pPr>
            <a:r>
              <a:rPr lang="en-AU" sz="1200" kern="1200" dirty="0" smtClean="0">
                <a:solidFill>
                  <a:schemeClr val="tx1"/>
                </a:solidFill>
                <a:latin typeface="+mn-lt"/>
                <a:ea typeface="+mn-ea"/>
                <a:cs typeface="+mn-cs"/>
              </a:rPr>
              <a:t>Plans in relation to business direction, goals and objectives</a:t>
            </a:r>
          </a:p>
          <a:p>
            <a:pPr marL="628650" lvl="1" indent="-171450">
              <a:buFont typeface="Arial" pitchFamily="34" charset="0"/>
              <a:buChar char="•"/>
            </a:pPr>
            <a:r>
              <a:rPr lang="en-AU" sz="1200" kern="1200" dirty="0" smtClean="0">
                <a:solidFill>
                  <a:schemeClr val="tx1"/>
                </a:solidFill>
                <a:latin typeface="+mn-lt"/>
                <a:ea typeface="+mn-ea"/>
                <a:cs typeface="+mn-cs"/>
              </a:rPr>
              <a:t>Need for increased income</a:t>
            </a:r>
          </a:p>
          <a:p>
            <a:pPr marL="628650" lvl="1" indent="-171450">
              <a:buFont typeface="Arial" pitchFamily="34" charset="0"/>
              <a:buChar char="•"/>
            </a:pPr>
            <a:r>
              <a:rPr lang="en-AU" sz="1200" kern="1200" dirty="0" smtClean="0">
                <a:solidFill>
                  <a:schemeClr val="tx1"/>
                </a:solidFill>
                <a:latin typeface="+mn-lt"/>
                <a:ea typeface="+mn-ea"/>
                <a:cs typeface="+mn-cs"/>
              </a:rPr>
              <a:t>Need for decreased expenditure</a:t>
            </a:r>
          </a:p>
          <a:p>
            <a:pPr marL="628650" lvl="1" indent="-171450">
              <a:buFont typeface="Arial" pitchFamily="34" charset="0"/>
              <a:buChar char="•"/>
            </a:pPr>
            <a:r>
              <a:rPr lang="en-AU" sz="1200" kern="1200" dirty="0" smtClean="0">
                <a:solidFill>
                  <a:schemeClr val="tx1"/>
                </a:solidFill>
                <a:latin typeface="+mn-lt"/>
                <a:ea typeface="+mn-ea"/>
                <a:cs typeface="+mn-cs"/>
              </a:rPr>
              <a:t>Need to generate increased trade/turnover regardless of profit outcomes</a:t>
            </a:r>
          </a:p>
          <a:p>
            <a:pPr marL="628650" lvl="1" indent="-171450">
              <a:buFont typeface="Arial" pitchFamily="34" charset="0"/>
              <a:buChar char="•"/>
            </a:pPr>
            <a:r>
              <a:rPr lang="en-AU" sz="1200" kern="1200" dirty="0" smtClean="0">
                <a:solidFill>
                  <a:schemeClr val="tx1"/>
                </a:solidFill>
                <a:latin typeface="+mn-lt"/>
                <a:ea typeface="+mn-ea"/>
                <a:cs typeface="+mn-cs"/>
              </a:rPr>
              <a:t>Need to respond to opposition activities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1874997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noting the </a:t>
            </a:r>
            <a:r>
              <a:rPr lang="en-AU" sz="1200" kern="1200" dirty="0" smtClean="0">
                <a:solidFill>
                  <a:schemeClr val="tx1"/>
                </a:solidFill>
                <a:latin typeface="+mn-lt"/>
                <a:ea typeface="+mn-ea"/>
                <a:cs typeface="+mn-cs"/>
              </a:rPr>
              <a:t>points which often need to be communicated to others:</a:t>
            </a:r>
          </a:p>
          <a:p>
            <a:pPr marL="171450" indent="-171450">
              <a:buFont typeface="Arial" pitchFamily="34" charset="0"/>
              <a:buChar char="•"/>
            </a:pPr>
            <a:r>
              <a:rPr lang="en-AU" sz="1200" kern="1200" dirty="0" smtClean="0">
                <a:solidFill>
                  <a:schemeClr val="tx1"/>
                </a:solidFill>
                <a:latin typeface="+mn-lt"/>
                <a:ea typeface="+mn-ea"/>
                <a:cs typeface="+mn-cs"/>
              </a:rPr>
              <a:t>Importance of accuracy – when completing budget-related documentation</a:t>
            </a:r>
          </a:p>
          <a:p>
            <a:pPr marL="171450" indent="-171450">
              <a:buFont typeface="Arial" pitchFamily="34" charset="0"/>
              <a:buChar char="•"/>
            </a:pPr>
            <a:r>
              <a:rPr lang="en-AU" sz="1200" kern="1200" dirty="0" smtClean="0">
                <a:solidFill>
                  <a:schemeClr val="tx1"/>
                </a:solidFill>
                <a:latin typeface="+mn-lt"/>
                <a:ea typeface="+mn-ea"/>
                <a:cs typeface="+mn-cs"/>
              </a:rPr>
              <a:t>Need to forward information/data promptly – to others and/or administration so they can process it in a timely manner</a:t>
            </a:r>
          </a:p>
          <a:p>
            <a:pPr marL="171450" indent="-171450">
              <a:buFont typeface="Arial" pitchFamily="34" charset="0"/>
              <a:buChar char="•"/>
            </a:pPr>
            <a:r>
              <a:rPr lang="en-AU" sz="1200" kern="1200" dirty="0" smtClean="0">
                <a:solidFill>
                  <a:schemeClr val="tx1"/>
                </a:solidFill>
                <a:latin typeface="+mn-lt"/>
                <a:ea typeface="+mn-ea"/>
                <a:cs typeface="+mn-cs"/>
              </a:rPr>
              <a:t>Critical role played by budgets – in relation to:</a:t>
            </a:r>
          </a:p>
          <a:p>
            <a:pPr marL="628650" lvl="1" indent="-171450">
              <a:buFont typeface="Arial" pitchFamily="34" charset="0"/>
              <a:buChar char="•"/>
            </a:pPr>
            <a:r>
              <a:rPr lang="en-AU" sz="1200" kern="1200" dirty="0" smtClean="0">
                <a:solidFill>
                  <a:schemeClr val="tx1"/>
                </a:solidFill>
                <a:latin typeface="+mn-lt"/>
                <a:ea typeface="+mn-ea"/>
                <a:cs typeface="+mn-cs"/>
              </a:rPr>
              <a:t>The overall viability of the business</a:t>
            </a:r>
          </a:p>
          <a:p>
            <a:pPr marL="628650" lvl="1" indent="-171450">
              <a:buFont typeface="Arial" pitchFamily="34" charset="0"/>
              <a:buChar char="•"/>
            </a:pPr>
            <a:r>
              <a:rPr lang="en-AU" sz="1200" kern="1200" dirty="0" smtClean="0">
                <a:solidFill>
                  <a:schemeClr val="tx1"/>
                </a:solidFill>
                <a:latin typeface="+mn-lt"/>
                <a:ea typeface="+mn-ea"/>
                <a:cs typeface="+mn-cs"/>
              </a:rPr>
              <a:t>Job security</a:t>
            </a:r>
          </a:p>
          <a:p>
            <a:pPr marL="628650" lvl="1" indent="-171450">
              <a:buFont typeface="Arial" pitchFamily="34" charset="0"/>
              <a:buChar char="•"/>
            </a:pPr>
            <a:r>
              <a:rPr lang="en-AU" sz="1200" kern="1200" dirty="0" smtClean="0">
                <a:solidFill>
                  <a:schemeClr val="tx1"/>
                </a:solidFill>
                <a:latin typeface="+mn-lt"/>
                <a:ea typeface="+mn-ea"/>
                <a:cs typeface="+mn-cs"/>
              </a:rPr>
              <a:t>Growth potential.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2734943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a:t>
            </a:r>
            <a:r>
              <a:rPr lang="en-AU" sz="1200" kern="1200" dirty="0" smtClean="0">
                <a:solidFill>
                  <a:schemeClr val="tx1"/>
                </a:solidFill>
                <a:latin typeface="+mn-lt"/>
                <a:ea typeface="+mn-ea"/>
                <a:cs typeface="+mn-cs"/>
              </a:rPr>
              <a:t>standard ways to communicate need for/importance of budget control include:</a:t>
            </a:r>
          </a:p>
          <a:p>
            <a:pPr marL="171450" indent="-171450">
              <a:buFont typeface="Arial" pitchFamily="34" charset="0"/>
              <a:buChar char="•"/>
            </a:pPr>
            <a:r>
              <a:rPr lang="en-AU" sz="1200" kern="1200" dirty="0" smtClean="0">
                <a:solidFill>
                  <a:schemeClr val="tx1"/>
                </a:solidFill>
                <a:latin typeface="+mn-lt"/>
                <a:ea typeface="+mn-ea"/>
                <a:cs typeface="+mn-cs"/>
              </a:rPr>
              <a:t>Meetings and discussions – with individual staff and groups of staff at staff meetings and briefings</a:t>
            </a:r>
          </a:p>
          <a:p>
            <a:pPr marL="171450" indent="-171450">
              <a:buFont typeface="Arial" pitchFamily="34" charset="0"/>
              <a:buChar char="•"/>
            </a:pPr>
            <a:r>
              <a:rPr lang="en-AU" sz="1200" kern="1200" dirty="0" smtClean="0">
                <a:solidFill>
                  <a:schemeClr val="tx1"/>
                </a:solidFill>
                <a:latin typeface="+mn-lt"/>
                <a:ea typeface="+mn-ea"/>
                <a:cs typeface="+mn-cs"/>
              </a:rPr>
              <a:t>As part of standard internal training – with a special focus on budgets/financial matters</a:t>
            </a:r>
          </a:p>
          <a:p>
            <a:pPr marL="171450" indent="-171450">
              <a:buFont typeface="Arial" pitchFamily="34" charset="0"/>
              <a:buChar char="•"/>
            </a:pPr>
            <a:r>
              <a:rPr lang="en-AU" sz="1200" kern="1200" dirty="0" smtClean="0">
                <a:solidFill>
                  <a:schemeClr val="tx1"/>
                </a:solidFill>
                <a:latin typeface="+mn-lt"/>
                <a:ea typeface="+mn-ea"/>
                <a:cs typeface="+mn-cs"/>
              </a:rPr>
              <a:t>Use of actual budgets and statistics – to:</a:t>
            </a:r>
          </a:p>
          <a:p>
            <a:pPr marL="628650" lvl="1" indent="-171450">
              <a:buFont typeface="Arial" pitchFamily="34" charset="0"/>
              <a:buChar char="•"/>
            </a:pPr>
            <a:r>
              <a:rPr lang="en-AU" sz="1200" kern="1200" dirty="0" smtClean="0">
                <a:solidFill>
                  <a:schemeClr val="tx1"/>
                </a:solidFill>
                <a:latin typeface="+mn-lt"/>
                <a:ea typeface="+mn-ea"/>
                <a:cs typeface="+mn-cs"/>
              </a:rPr>
              <a:t>Illustrate points</a:t>
            </a:r>
          </a:p>
          <a:p>
            <a:pPr marL="628650" lvl="1" indent="-171450">
              <a:buFont typeface="Arial" pitchFamily="34" charset="0"/>
              <a:buChar char="•"/>
            </a:pPr>
            <a:r>
              <a:rPr lang="en-AU" sz="1200" kern="1200" dirty="0" smtClean="0">
                <a:solidFill>
                  <a:schemeClr val="tx1"/>
                </a:solidFill>
                <a:latin typeface="+mn-lt"/>
                <a:ea typeface="+mn-ea"/>
                <a:cs typeface="+mn-cs"/>
              </a:rPr>
              <a:t>Make comparisons</a:t>
            </a:r>
          </a:p>
          <a:p>
            <a:pPr marL="628650" lvl="1" indent="-171450">
              <a:buFont typeface="Arial" pitchFamily="34" charset="0"/>
              <a:buChar char="•"/>
            </a:pPr>
            <a:r>
              <a:rPr lang="en-AU" sz="1200" kern="1200" dirty="0" smtClean="0">
                <a:solidFill>
                  <a:schemeClr val="tx1"/>
                </a:solidFill>
                <a:latin typeface="+mn-lt"/>
                <a:ea typeface="+mn-ea"/>
                <a:cs typeface="+mn-cs"/>
              </a:rPr>
              <a:t>Undertake calculations</a:t>
            </a:r>
          </a:p>
          <a:p>
            <a:pPr marL="628650" lvl="1" indent="-171450">
              <a:buFont typeface="Arial" pitchFamily="34" charset="0"/>
              <a:buChar char="•"/>
            </a:pPr>
            <a:r>
              <a:rPr lang="en-AU" sz="1200" kern="1200" dirty="0" smtClean="0">
                <a:solidFill>
                  <a:schemeClr val="tx1"/>
                </a:solidFill>
                <a:latin typeface="+mn-lt"/>
                <a:ea typeface="+mn-ea"/>
                <a:cs typeface="+mn-cs"/>
              </a:rPr>
              <a:t>Draw conclusions</a:t>
            </a:r>
          </a:p>
          <a:p>
            <a:pPr marL="628650" lvl="1" indent="-171450">
              <a:buFont typeface="Arial" pitchFamily="34" charset="0"/>
              <a:buChar char="•"/>
            </a:pPr>
            <a:r>
              <a:rPr lang="en-AU" sz="1200" kern="1200" dirty="0" smtClean="0">
                <a:solidFill>
                  <a:schemeClr val="tx1"/>
                </a:solidFill>
                <a:latin typeface="+mn-lt"/>
                <a:ea typeface="+mn-ea"/>
                <a:cs typeface="+mn-cs"/>
              </a:rPr>
              <a:t>Determine action required</a:t>
            </a:r>
          </a:p>
          <a:p>
            <a:pPr marL="628650" lvl="1" indent="-171450">
              <a:buFont typeface="Arial" pitchFamily="34" charset="0"/>
              <a:buChar char="•"/>
            </a:pPr>
            <a:r>
              <a:rPr lang="en-AU" sz="1200" kern="1200" dirty="0" smtClean="0">
                <a:solidFill>
                  <a:schemeClr val="tx1"/>
                </a:solidFill>
                <a:latin typeface="+mn-lt"/>
                <a:ea typeface="+mn-ea"/>
                <a:cs typeface="+mn-cs"/>
              </a:rPr>
              <a:t>Discuss outcomes</a:t>
            </a:r>
          </a:p>
          <a:p>
            <a:pPr marL="171450" indent="-171450">
              <a:buFont typeface="Arial" pitchFamily="34" charset="0"/>
              <a:buChar char="•"/>
            </a:pPr>
            <a:r>
              <a:rPr lang="en-AU" sz="1200" kern="1200" dirty="0" smtClean="0">
                <a:solidFill>
                  <a:schemeClr val="tx1"/>
                </a:solidFill>
                <a:latin typeface="+mn-lt"/>
                <a:ea typeface="+mn-ea"/>
                <a:cs typeface="+mn-cs"/>
              </a:rPr>
              <a:t>Involvement of others – as part of the information/education process, such as inclusion of owners, senior managers and/or specialist accounting staff/personnel.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3470210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latin typeface="+mn-lt"/>
                <a:ea typeface="+mn-ea"/>
                <a:cs typeface="+mn-cs"/>
              </a:rPr>
              <a:t>income records that need to be kept include:</a:t>
            </a:r>
          </a:p>
          <a:p>
            <a:pPr marL="171450" indent="-171450">
              <a:buFont typeface="Arial" pitchFamily="34" charset="0"/>
              <a:buChar char="•"/>
            </a:pPr>
            <a:r>
              <a:rPr lang="en-AU" sz="1200" kern="1200" dirty="0" smtClean="0">
                <a:solidFill>
                  <a:schemeClr val="tx1"/>
                </a:solidFill>
                <a:latin typeface="+mn-lt"/>
                <a:ea typeface="+mn-ea"/>
                <a:cs typeface="+mn-cs"/>
              </a:rPr>
              <a:t>Audit rolls – from cash registers as evidence sales occurred, and from which register sales were made and from which department, the income was generated</a:t>
            </a:r>
          </a:p>
          <a:p>
            <a:pPr marL="171450" indent="-171450">
              <a:buFont typeface="Arial" pitchFamily="34" charset="0"/>
              <a:buChar char="•"/>
            </a:pPr>
            <a:r>
              <a:rPr lang="en-AU" sz="1200" kern="1200" dirty="0" smtClean="0">
                <a:solidFill>
                  <a:schemeClr val="tx1"/>
                </a:solidFill>
                <a:latin typeface="+mn-lt"/>
                <a:ea typeface="+mn-ea"/>
                <a:cs typeface="+mn-cs"/>
              </a:rPr>
              <a:t>Daily takings sheets – these are the sheets completed at the end of each day's trading by those counting the tills, and which show an overview of income on a register-by-register and department-by-department basis</a:t>
            </a:r>
          </a:p>
          <a:p>
            <a:pPr marL="171450" indent="-171450">
              <a:buFont typeface="Arial" pitchFamily="34" charset="0"/>
              <a:buChar char="•"/>
            </a:pPr>
            <a:r>
              <a:rPr lang="en-AU" sz="1200" kern="1200" dirty="0" smtClean="0">
                <a:solidFill>
                  <a:schemeClr val="tx1"/>
                </a:solidFill>
                <a:latin typeface="+mn-lt"/>
                <a:ea typeface="+mn-ea"/>
                <a:cs typeface="+mn-cs"/>
              </a:rPr>
              <a:t>Daily cash/cash receipt book – a more permanent record of what was contained in the Daily takings sheet together with a record of what debtors have paid to us</a:t>
            </a:r>
          </a:p>
          <a:p>
            <a:pPr marL="171450" indent="-171450">
              <a:buFont typeface="Arial" pitchFamily="34" charset="0"/>
              <a:buChar char="•"/>
            </a:pPr>
            <a:r>
              <a:rPr lang="en-AU" sz="1200" kern="1200" dirty="0" smtClean="0">
                <a:solidFill>
                  <a:schemeClr val="tx1"/>
                </a:solidFill>
                <a:latin typeface="+mn-lt"/>
                <a:ea typeface="+mn-ea"/>
                <a:cs typeface="+mn-cs"/>
              </a:rPr>
              <a:t>Individual accounts – these may be for in-house guests or they may be for individuals or organisations who use business facilities (such as dining, accommodation, functions, account purchases) and have established credit facilities with the organisation.</a:t>
            </a:r>
          </a:p>
          <a:p>
            <a:pPr marL="628650" lvl="1" indent="-171450">
              <a:buFont typeface="Arial" pitchFamily="34" charset="0"/>
              <a:buChar char="•"/>
            </a:pPr>
            <a:r>
              <a:rPr lang="en-AU" sz="1200" kern="1200" dirty="0" smtClean="0">
                <a:solidFill>
                  <a:schemeClr val="tx1"/>
                </a:solidFill>
                <a:latin typeface="+mn-lt"/>
                <a:ea typeface="+mn-ea"/>
                <a:cs typeface="+mn-cs"/>
              </a:rPr>
              <a:t>Terms of these credit facilities differ, but 7 days nett and 30 days nett are common.</a:t>
            </a:r>
          </a:p>
          <a:p>
            <a:pPr marL="171450" indent="-171450">
              <a:buFont typeface="Arial" pitchFamily="34" charset="0"/>
              <a:buChar char="•"/>
            </a:pPr>
            <a:r>
              <a:rPr lang="en-AU" sz="1200" kern="1200" dirty="0" smtClean="0">
                <a:solidFill>
                  <a:schemeClr val="tx1"/>
                </a:solidFill>
                <a:latin typeface="+mn-lt"/>
                <a:ea typeface="+mn-ea"/>
                <a:cs typeface="+mn-cs"/>
              </a:rPr>
              <a:t>Debtors ledger – this is a breakdown of what each company that deals with the business owes the organisation</a:t>
            </a:r>
          </a:p>
          <a:p>
            <a:pPr marL="171450" indent="-171450">
              <a:buFont typeface="Arial" pitchFamily="34" charset="0"/>
              <a:buChar char="•"/>
            </a:pPr>
            <a:r>
              <a:rPr lang="en-AU" sz="1200" kern="1200" dirty="0" smtClean="0">
                <a:solidFill>
                  <a:schemeClr val="tx1"/>
                </a:solidFill>
                <a:latin typeface="+mn-lt"/>
                <a:ea typeface="+mn-ea"/>
                <a:cs typeface="+mn-cs"/>
              </a:rPr>
              <a:t>Banking receipts – this is a stamped bank receipt verifying takings were paid into the bank.</a:t>
            </a:r>
          </a:p>
          <a:p>
            <a:pPr>
              <a:buFont typeface="Arial" pitchFamily="34" charset="0"/>
              <a:buNone/>
            </a:pPr>
            <a:endParaRPr lang="en-US" noProof="0" dirty="0" smtClean="0"/>
          </a:p>
          <a:p>
            <a:pPr>
              <a:buFont typeface="Arial" pitchFamily="34" charset="0"/>
              <a:buNone/>
            </a:pPr>
            <a:r>
              <a:rPr lang="en-US" b="1" noProof="0" dirty="0" smtClean="0"/>
              <a:t>Class Activity – Handouts</a:t>
            </a:r>
          </a:p>
          <a:p>
            <a:pPr>
              <a:buFont typeface="Arial" pitchFamily="34" charset="0"/>
              <a:buNone/>
            </a:pPr>
            <a:endParaRPr lang="en-US" b="1" noProof="0" dirty="0" smtClean="0"/>
          </a:p>
          <a:p>
            <a:pPr>
              <a:buFont typeface="Arial" pitchFamily="34" charset="0"/>
              <a:buNone/>
            </a:pPr>
            <a:r>
              <a:rPr lang="en-US" b="0" noProof="0" dirty="0" smtClean="0"/>
              <a:t>Trainer distributes and discusses documents/records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8422961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latin typeface="+mn-lt"/>
                <a:ea typeface="+mn-ea"/>
                <a:cs typeface="+mn-cs"/>
              </a:rPr>
              <a:t>expenses records that need to be kept include:</a:t>
            </a:r>
          </a:p>
          <a:p>
            <a:pPr marL="171450" indent="-171450">
              <a:buFont typeface="Arial" pitchFamily="34" charset="0"/>
              <a:buChar char="•"/>
            </a:pPr>
            <a:r>
              <a:rPr lang="en-AU" sz="1200" kern="1200" dirty="0" smtClean="0">
                <a:solidFill>
                  <a:schemeClr val="tx1"/>
                </a:solidFill>
                <a:latin typeface="+mn-lt"/>
                <a:ea typeface="+mn-ea"/>
                <a:cs typeface="+mn-cs"/>
              </a:rPr>
              <a:t>Purchase Orders – as proof a valid purchase was authorised, and as an initial indication as to which department (and perhaps budget line/code) the purchase was intended for</a:t>
            </a:r>
          </a:p>
          <a:p>
            <a:pPr marL="171450" indent="-171450">
              <a:buFont typeface="Arial" pitchFamily="34" charset="0"/>
              <a:buChar char="•"/>
            </a:pPr>
            <a:r>
              <a:rPr lang="en-AU" sz="1200" kern="1200" dirty="0" smtClean="0">
                <a:solidFill>
                  <a:schemeClr val="tx1"/>
                </a:solidFill>
                <a:latin typeface="+mn-lt"/>
                <a:ea typeface="+mn-ea"/>
                <a:cs typeface="+mn-cs"/>
              </a:rPr>
              <a:t>Delivery dockets, invoices and statements – these documents demonstrate the goods which were ordered were in fact received, and provide evidence about how much was spent and with whom it was spent</a:t>
            </a:r>
          </a:p>
          <a:p>
            <a:pPr marL="171450" indent="-171450">
              <a:buFont typeface="Arial" pitchFamily="34" charset="0"/>
              <a:buChar char="•"/>
            </a:pPr>
            <a:r>
              <a:rPr lang="en-AU" sz="1200" kern="1200" dirty="0" smtClean="0">
                <a:solidFill>
                  <a:schemeClr val="tx1"/>
                </a:solidFill>
                <a:latin typeface="+mn-lt"/>
                <a:ea typeface="+mn-ea"/>
                <a:cs typeface="+mn-cs"/>
              </a:rPr>
              <a:t>Requisition sheets – these will prove stock was issued from a central store to a specified department describing the quantity and quality of each item thereby enabling the appropriate amounts to be charged against relevant departments by correct budget line/code</a:t>
            </a:r>
          </a:p>
          <a:p>
            <a:pPr marL="171450" indent="-171450">
              <a:buFont typeface="Arial" pitchFamily="34" charset="0"/>
              <a:buChar char="•"/>
            </a:pPr>
            <a:r>
              <a:rPr lang="en-AU" sz="1200" kern="1200" dirty="0" smtClean="0">
                <a:solidFill>
                  <a:schemeClr val="tx1"/>
                </a:solidFill>
                <a:latin typeface="+mn-lt"/>
                <a:ea typeface="+mn-ea"/>
                <a:cs typeface="+mn-cs"/>
              </a:rPr>
              <a:t>Interdepartmental transfers – similar to internal requisitions, these documents show stock issued to a certain department has been ‘on-sold’ to another department and must now be charged against them</a:t>
            </a:r>
          </a:p>
          <a:p>
            <a:pPr marL="171450" indent="-171450">
              <a:buFont typeface="Arial" pitchFamily="34" charset="0"/>
              <a:buChar char="•"/>
            </a:pPr>
            <a:r>
              <a:rPr lang="en-AU" sz="1200" kern="1200" dirty="0" smtClean="0">
                <a:solidFill>
                  <a:schemeClr val="tx1"/>
                </a:solidFill>
                <a:latin typeface="+mn-lt"/>
                <a:ea typeface="+mn-ea"/>
                <a:cs typeface="+mn-cs"/>
              </a:rPr>
              <a:t>Creditors ledger – a detailed explanation of who the business owes money to, and how much.</a:t>
            </a:r>
          </a:p>
          <a:p>
            <a:pPr marL="171450" indent="-171450">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None/>
            </a:pPr>
            <a:r>
              <a:rPr lang="en-US" b="1" noProof="0" dirty="0" smtClean="0"/>
              <a:t>Class Activity – Handouts</a:t>
            </a:r>
          </a:p>
          <a:p>
            <a:pPr>
              <a:buFont typeface="Arial" pitchFamily="34" charset="0"/>
              <a:buNone/>
            </a:pPr>
            <a:endParaRPr lang="en-US" b="1" noProof="0" dirty="0" smtClean="0"/>
          </a:p>
          <a:p>
            <a:pPr>
              <a:buFont typeface="Arial" pitchFamily="34" charset="0"/>
              <a:buNone/>
            </a:pPr>
            <a:r>
              <a:rPr lang="en-US" b="0" noProof="0" dirty="0" smtClean="0"/>
              <a:t>Trainer distributes and discusses documents/records as identified on the slide.</a:t>
            </a:r>
            <a:endParaRPr lang="en-AU" b="0" noProof="0" dirty="0" smtClean="0"/>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4726062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discusses </a:t>
            </a:r>
            <a:r>
              <a:rPr lang="en-AU" sz="1200" kern="1200" dirty="0" smtClean="0">
                <a:solidFill>
                  <a:schemeClr val="tx1"/>
                </a:solidFill>
                <a:latin typeface="+mn-lt"/>
                <a:ea typeface="+mn-ea"/>
                <a:cs typeface="+mn-cs"/>
              </a:rPr>
              <a:t>physical assets records that need to be kept stating:</a:t>
            </a:r>
          </a:p>
          <a:p>
            <a:pPr marL="171450" indent="-171450">
              <a:buFont typeface="Arial" pitchFamily="34" charset="0"/>
              <a:buChar char="•"/>
            </a:pPr>
            <a:r>
              <a:rPr lang="en-AU" sz="1200" kern="1200" dirty="0" smtClean="0">
                <a:solidFill>
                  <a:schemeClr val="tx1"/>
                </a:solidFill>
                <a:latin typeface="+mn-lt"/>
                <a:ea typeface="+mn-ea"/>
                <a:cs typeface="+mn-cs"/>
              </a:rPr>
              <a:t>While plant and equipment are obviously not cash, most businesses keep a record of their physical stock in some form of asset register.</a:t>
            </a:r>
          </a:p>
          <a:p>
            <a:pPr marL="171450" indent="-171450">
              <a:buFont typeface="Arial" pitchFamily="34" charset="0"/>
              <a:buChar char="•"/>
            </a:pPr>
            <a:r>
              <a:rPr lang="en-AU" sz="1200" kern="1200" dirty="0" smtClean="0">
                <a:solidFill>
                  <a:schemeClr val="tx1"/>
                </a:solidFill>
                <a:latin typeface="+mn-lt"/>
                <a:ea typeface="+mn-ea"/>
                <a:cs typeface="+mn-cs"/>
              </a:rPr>
              <a:t>Every item of equipment bought is given an identifying number or code and when the item is issued to a department its whereabouts is recorded in the register.</a:t>
            </a:r>
          </a:p>
          <a:p>
            <a:pPr marL="171450" indent="-171450">
              <a:buFont typeface="Arial" pitchFamily="34" charset="0"/>
              <a:buChar char="•"/>
            </a:pPr>
            <a:r>
              <a:rPr lang="en-AU" sz="1200" kern="1200" dirty="0" smtClean="0">
                <a:solidFill>
                  <a:schemeClr val="tx1"/>
                </a:solidFill>
                <a:latin typeface="+mn-lt"/>
                <a:ea typeface="+mn-ea"/>
                <a:cs typeface="+mn-cs"/>
              </a:rPr>
              <a:t>The asset/assets register may also record the date of purchase, the supplier, when warranties/guarantees expire, the price paid, date issued to the department, and may also include details about when the item requires maintenance/service and/or replacement.</a:t>
            </a:r>
          </a:p>
          <a:p>
            <a:pPr marL="171450" indent="-171450">
              <a:buFont typeface="Arial" pitchFamily="34" charset="0"/>
              <a:buChar char="•"/>
            </a:pPr>
            <a:r>
              <a:rPr lang="en-AU" sz="1200" kern="1200" dirty="0" smtClean="0">
                <a:solidFill>
                  <a:schemeClr val="tx1"/>
                </a:solidFill>
                <a:latin typeface="+mn-lt"/>
                <a:ea typeface="+mn-ea"/>
                <a:cs typeface="+mn-cs"/>
              </a:rPr>
              <a:t>These asset registers can also be used to allocate expenses against departments when a purchase has been made, for purposes of calculating depreciation and/or for determining replacement costs.</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endParaRPr lang="en-US" b="1" noProof="0" dirty="0" smtClean="0"/>
          </a:p>
          <a:p>
            <a:pPr>
              <a:buFont typeface="Arial" pitchFamily="34" charset="0"/>
              <a:buNone/>
            </a:pPr>
            <a:r>
              <a:rPr lang="en-US" b="0" noProof="0" dirty="0" smtClean="0"/>
              <a:t>Trainer distributes and discusses Asset Register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5679800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noProof="0" dirty="0" smtClean="0"/>
              <a:t>Trainer explains </a:t>
            </a:r>
            <a:r>
              <a:rPr lang="en-AU" sz="1200" kern="1200" dirty="0" smtClean="0">
                <a:solidFill>
                  <a:schemeClr val="tx1"/>
                </a:solidFill>
                <a:latin typeface="+mn-lt"/>
                <a:ea typeface="+mn-ea"/>
                <a:cs typeface="+mn-cs"/>
              </a:rPr>
              <a:t>financial procedures and systems must address the following: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Transaction recording</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Requirements in this regard relate to recording sales made and may include:</a:t>
            </a:r>
          </a:p>
          <a:p>
            <a:pPr marL="171450" indent="-171450">
              <a:buFont typeface="Arial" pitchFamily="34" charset="0"/>
              <a:buChar char="•"/>
            </a:pPr>
            <a:r>
              <a:rPr lang="en-AU" sz="1200" kern="1200" dirty="0" smtClean="0">
                <a:solidFill>
                  <a:schemeClr val="tx1"/>
                </a:solidFill>
                <a:latin typeface="+mn-lt"/>
                <a:ea typeface="+mn-ea"/>
                <a:cs typeface="+mn-cs"/>
              </a:rPr>
              <a:t>Ensuring all incoming money is recorded and receipted</a:t>
            </a:r>
          </a:p>
          <a:p>
            <a:pPr marL="171450" indent="-171450">
              <a:buFont typeface="Arial" pitchFamily="34" charset="0"/>
              <a:buChar char="•"/>
            </a:pPr>
            <a:r>
              <a:rPr lang="en-AU" sz="1200" kern="1200" dirty="0" smtClean="0">
                <a:solidFill>
                  <a:schemeClr val="tx1"/>
                </a:solidFill>
                <a:latin typeface="+mn-lt"/>
                <a:ea typeface="+mn-ea"/>
                <a:cs typeface="+mn-cs"/>
              </a:rPr>
              <a:t>Identifying forms of accepted methods of payment – and not accepting payment ion other forms</a:t>
            </a:r>
          </a:p>
          <a:p>
            <a:pPr marL="171450" indent="-171450">
              <a:buFont typeface="Arial" pitchFamily="34" charset="0"/>
              <a:buChar char="•"/>
            </a:pPr>
            <a:r>
              <a:rPr lang="en-AU" sz="1200" kern="1200" dirty="0" smtClean="0">
                <a:solidFill>
                  <a:schemeClr val="tx1"/>
                </a:solidFill>
                <a:latin typeface="+mn-lt"/>
                <a:ea typeface="+mn-ea"/>
                <a:cs typeface="+mn-cs"/>
              </a:rPr>
              <a:t>Ensuring supporting documentation to validate/authorise all expenses paid</a:t>
            </a:r>
          </a:p>
          <a:p>
            <a:pPr marL="171450" indent="-171450">
              <a:buFont typeface="Arial" pitchFamily="34" charset="0"/>
              <a:buChar char="•"/>
            </a:pPr>
            <a:r>
              <a:rPr lang="en-AU" sz="1200" kern="1200" dirty="0" smtClean="0">
                <a:solidFill>
                  <a:schemeClr val="tx1"/>
                </a:solidFill>
                <a:latin typeface="+mn-lt"/>
                <a:ea typeface="+mn-ea"/>
                <a:cs typeface="+mn-cs"/>
              </a:rPr>
              <a:t>Providing </a:t>
            </a:r>
            <a:r>
              <a:rPr lang="en-AU" sz="1200" i="1" kern="1200" dirty="0" smtClean="0">
                <a:solidFill>
                  <a:schemeClr val="tx1"/>
                </a:solidFill>
                <a:latin typeface="+mn-lt"/>
                <a:ea typeface="+mn-ea"/>
                <a:cs typeface="+mn-cs"/>
              </a:rPr>
              <a:t>pro forma</a:t>
            </a:r>
            <a:r>
              <a:rPr lang="en-AU" sz="1200" kern="1200" dirty="0" smtClean="0">
                <a:solidFill>
                  <a:schemeClr val="tx1"/>
                </a:solidFill>
                <a:latin typeface="+mn-lt"/>
                <a:ea typeface="+mn-ea"/>
                <a:cs typeface="+mn-cs"/>
              </a:rPr>
              <a:t> documentation to support sales and receipts</a:t>
            </a:r>
          </a:p>
          <a:p>
            <a:pPr marL="171450" indent="-171450">
              <a:buFont typeface="Arial" pitchFamily="34" charset="0"/>
              <a:buChar char="•"/>
            </a:pPr>
            <a:r>
              <a:rPr lang="en-AU" sz="1200" kern="1200" dirty="0" smtClean="0">
                <a:solidFill>
                  <a:schemeClr val="tx1"/>
                </a:solidFill>
                <a:latin typeface="+mn-lt"/>
                <a:ea typeface="+mn-ea"/>
                <a:cs typeface="+mn-cs"/>
              </a:rPr>
              <a:t>Setting maximum limits for spending – for certain staff so expenditure is restricted</a:t>
            </a:r>
          </a:p>
          <a:p>
            <a:pPr marL="171450" indent="-171450">
              <a:buFont typeface="Arial" pitchFamily="34" charset="0"/>
              <a:buChar char="•"/>
            </a:pPr>
            <a:r>
              <a:rPr lang="en-AU" sz="1200" kern="1200" dirty="0" smtClean="0">
                <a:solidFill>
                  <a:schemeClr val="tx1"/>
                </a:solidFill>
                <a:latin typeface="+mn-lt"/>
                <a:ea typeface="+mn-ea"/>
                <a:cs typeface="+mn-cs"/>
              </a:rPr>
              <a:t>Requiring multiple quotes – for expenditure above a nominated amount</a:t>
            </a:r>
          </a:p>
          <a:p>
            <a:pPr marL="171450" indent="-171450">
              <a:buFont typeface="Arial" pitchFamily="34" charset="0"/>
              <a:buChar char="•"/>
            </a:pPr>
            <a:r>
              <a:rPr lang="en-AU" sz="1200" kern="1200" dirty="0" smtClean="0">
                <a:solidFill>
                  <a:schemeClr val="tx1"/>
                </a:solidFill>
                <a:latin typeface="+mn-lt"/>
                <a:ea typeface="+mn-ea"/>
                <a:cs typeface="+mn-cs"/>
              </a:rPr>
              <a:t>Appropriate staff training – in transaction recording protocols </a:t>
            </a:r>
          </a:p>
          <a:p>
            <a:pPr marL="171450" indent="-171450">
              <a:buFont typeface="Arial" pitchFamily="34" charset="0"/>
              <a:buChar char="•"/>
            </a:pPr>
            <a:r>
              <a:rPr lang="en-AU" sz="1200" kern="1200" dirty="0" smtClean="0">
                <a:solidFill>
                  <a:schemeClr val="tx1"/>
                </a:solidFill>
                <a:latin typeface="+mn-lt"/>
                <a:ea typeface="+mn-ea"/>
                <a:cs typeface="+mn-cs"/>
              </a:rPr>
              <a:t>Forwarding all documentation – to nominated persons/departments within designated times.</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Checking processes</a:t>
            </a:r>
          </a:p>
          <a:p>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Requirements in this regard relate to checking of income/revenue and may include:</a:t>
            </a:r>
          </a:p>
          <a:p>
            <a:pPr marL="171450" indent="-171450">
              <a:buFont typeface="Arial" pitchFamily="34" charset="0"/>
              <a:buChar char="•"/>
            </a:pPr>
            <a:r>
              <a:rPr lang="en-AU" sz="1200" kern="1200" dirty="0" smtClean="0">
                <a:solidFill>
                  <a:schemeClr val="tx1"/>
                </a:solidFill>
                <a:latin typeface="+mn-lt"/>
                <a:ea typeface="+mn-ea"/>
                <a:cs typeface="+mn-cs"/>
              </a:rPr>
              <a:t>Using Daily takings sheets – to record sales on a daily basis</a:t>
            </a:r>
          </a:p>
          <a:p>
            <a:pPr marL="171450" indent="-171450">
              <a:buFont typeface="Arial" pitchFamily="34" charset="0"/>
              <a:buChar char="•"/>
            </a:pPr>
            <a:r>
              <a:rPr lang="en-AU" sz="1200" kern="1200" dirty="0" smtClean="0">
                <a:solidFill>
                  <a:schemeClr val="tx1"/>
                </a:solidFill>
                <a:latin typeface="+mn-lt"/>
                <a:ea typeface="+mn-ea"/>
                <a:cs typeface="+mn-cs"/>
              </a:rPr>
              <a:t>Reconciling takings – every day when takings are counted and entered on Daily takings sheet</a:t>
            </a:r>
          </a:p>
          <a:p>
            <a:pPr marL="171450" indent="-171450">
              <a:buFont typeface="Arial" pitchFamily="34" charset="0"/>
              <a:buChar char="•"/>
            </a:pPr>
            <a:r>
              <a:rPr lang="en-AU" sz="1200" kern="1200" dirty="0" smtClean="0">
                <a:solidFill>
                  <a:schemeClr val="tx1"/>
                </a:solidFill>
                <a:latin typeface="+mn-lt"/>
                <a:ea typeface="+mn-ea"/>
                <a:cs typeface="+mn-cs"/>
              </a:rPr>
              <a:t>Recording variances – the unders and overs from each register/POS terminal</a:t>
            </a:r>
          </a:p>
          <a:p>
            <a:pPr marL="171450" indent="-171450">
              <a:buFont typeface="Arial" pitchFamily="34" charset="0"/>
              <a:buChar char="•"/>
            </a:pPr>
            <a:r>
              <a:rPr lang="en-AU" sz="1200" kern="1200" dirty="0" smtClean="0">
                <a:solidFill>
                  <a:schemeClr val="tx1"/>
                </a:solidFill>
                <a:latin typeface="+mn-lt"/>
                <a:ea typeface="+mn-ea"/>
                <a:cs typeface="+mn-cs"/>
              </a:rPr>
              <a:t>Investigating variances – and reporting/recording findings</a:t>
            </a:r>
          </a:p>
          <a:p>
            <a:pPr marL="171450" indent="-171450">
              <a:buFont typeface="Arial" pitchFamily="34" charset="0"/>
              <a:buChar char="•"/>
            </a:pPr>
            <a:r>
              <a:rPr lang="en-AU" sz="1200" kern="1200" dirty="0" smtClean="0">
                <a:solidFill>
                  <a:schemeClr val="tx1"/>
                </a:solidFill>
                <a:latin typeface="+mn-lt"/>
                <a:ea typeface="+mn-ea"/>
                <a:cs typeface="+mn-cs"/>
              </a:rPr>
              <a:t>Forwarding supporting reconciliation documentation – with cash/payments received</a:t>
            </a:r>
          </a:p>
          <a:p>
            <a:pPr marL="171450" indent="-171450">
              <a:buFont typeface="Arial" pitchFamily="34" charset="0"/>
              <a:buChar char="•"/>
            </a:pPr>
            <a:r>
              <a:rPr lang="en-AU" sz="1200" kern="1200" dirty="0" smtClean="0">
                <a:solidFill>
                  <a:schemeClr val="tx1"/>
                </a:solidFill>
                <a:latin typeface="+mn-lt"/>
                <a:ea typeface="+mn-ea"/>
                <a:cs typeface="+mn-cs"/>
              </a:rPr>
              <a:t>Appropriate staff training – in checking and reconciliation protocols. </a:t>
            </a:r>
          </a:p>
          <a:p>
            <a:pPr>
              <a:buFont typeface="Arial" pitchFamily="34" charset="0"/>
              <a:buNone/>
            </a:pPr>
            <a:endParaRPr lang="en-US" noProof="0" dirty="0" smtClean="0"/>
          </a:p>
          <a:p>
            <a:pPr>
              <a:buFont typeface="Arial" pitchFamily="34" charset="0"/>
              <a:buNone/>
            </a:pPr>
            <a:r>
              <a:rPr lang="en-US" b="1" noProof="0" dirty="0" smtClean="0"/>
              <a:t>Class</a:t>
            </a:r>
            <a:r>
              <a:rPr lang="en-US" b="1" baseline="0" noProof="0" dirty="0" smtClean="0"/>
              <a:t> Activity – Demonstration and Exercise</a:t>
            </a:r>
          </a:p>
          <a:p>
            <a:pPr>
              <a:buFont typeface="Arial" pitchFamily="34" charset="0"/>
              <a:buNone/>
            </a:pPr>
            <a:endParaRPr lang="en-US" b="1" baseline="0" noProof="0" dirty="0" smtClean="0"/>
          </a:p>
          <a:p>
            <a:pPr>
              <a:buFont typeface="Arial" pitchFamily="34" charset="0"/>
              <a:buNone/>
            </a:pPr>
            <a:r>
              <a:rPr lang="en-US" b="0" baseline="0" noProof="0" dirty="0" smtClean="0"/>
              <a:t>Trainer shows students how to apply/implement the practices identified above and provides an opportunity for them to practice same.</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8952357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noProof="0" dirty="0" smtClean="0"/>
              <a:t>Trainer continues explaining </a:t>
            </a:r>
            <a:r>
              <a:rPr lang="en-AU" sz="1200" kern="1200" dirty="0" smtClean="0">
                <a:solidFill>
                  <a:schemeClr val="tx1"/>
                </a:solidFill>
                <a:latin typeface="+mn-lt"/>
                <a:ea typeface="+mn-ea"/>
                <a:cs typeface="+mn-cs"/>
              </a:rPr>
              <a:t>financial procedures and systems must address the following: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Banking procedures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may include:</a:t>
            </a:r>
          </a:p>
          <a:p>
            <a:pPr marL="171450" indent="-171450">
              <a:buFont typeface="Arial" pitchFamily="34" charset="0"/>
              <a:buChar char="•"/>
            </a:pPr>
            <a:r>
              <a:rPr lang="en-AU" sz="1200" kern="1200" dirty="0" smtClean="0">
                <a:solidFill>
                  <a:schemeClr val="tx1"/>
                </a:solidFill>
                <a:latin typeface="+mn-lt"/>
                <a:ea typeface="+mn-ea"/>
                <a:cs typeface="+mn-cs"/>
              </a:rPr>
              <a:t>Designating banks/branches to be used – for depositing takings</a:t>
            </a:r>
          </a:p>
          <a:p>
            <a:pPr marL="171450" indent="-171450">
              <a:buFont typeface="Arial" pitchFamily="34" charset="0"/>
              <a:buChar char="•"/>
            </a:pPr>
            <a:r>
              <a:rPr lang="en-AU" sz="1200" kern="1200" dirty="0" smtClean="0">
                <a:solidFill>
                  <a:schemeClr val="tx1"/>
                </a:solidFill>
                <a:latin typeface="+mn-lt"/>
                <a:ea typeface="+mn-ea"/>
                <a:cs typeface="+mn-cs"/>
              </a:rPr>
              <a:t>Implementing security cash pick-ups – when takings are high and/or on days banks are closed</a:t>
            </a:r>
          </a:p>
          <a:p>
            <a:pPr marL="171450" indent="-171450">
              <a:buFont typeface="Arial" pitchFamily="34" charset="0"/>
              <a:buChar char="•"/>
            </a:pPr>
            <a:r>
              <a:rPr lang="en-AU" sz="1200" kern="1200" dirty="0" smtClean="0">
                <a:solidFill>
                  <a:schemeClr val="tx1"/>
                </a:solidFill>
                <a:latin typeface="+mn-lt"/>
                <a:ea typeface="+mn-ea"/>
                <a:cs typeface="+mn-cs"/>
              </a:rPr>
              <a:t>Developing operational protocols for banking the takings – to be adhered to by staff with responsibility for banking money</a:t>
            </a:r>
          </a:p>
          <a:p>
            <a:pPr marL="171450" indent="-171450">
              <a:buFont typeface="Arial" pitchFamily="34" charset="0"/>
              <a:buChar char="•"/>
            </a:pPr>
            <a:r>
              <a:rPr lang="en-AU" sz="1200" kern="1200" dirty="0" smtClean="0">
                <a:solidFill>
                  <a:schemeClr val="tx1"/>
                </a:solidFill>
                <a:latin typeface="+mn-lt"/>
                <a:ea typeface="+mn-ea"/>
                <a:cs typeface="+mn-cs"/>
              </a:rPr>
              <a:t>Generating paper-trail of documentation – form sales to banking</a:t>
            </a:r>
          </a:p>
          <a:p>
            <a:pPr marL="171450" indent="-171450">
              <a:buFont typeface="Arial" pitchFamily="34" charset="0"/>
              <a:buChar char="•"/>
            </a:pPr>
            <a:r>
              <a:rPr lang="en-AU" sz="1200" kern="1200" dirty="0" smtClean="0">
                <a:solidFill>
                  <a:schemeClr val="tx1"/>
                </a:solidFill>
                <a:latin typeface="+mn-lt"/>
                <a:ea typeface="+mn-ea"/>
                <a:cs typeface="+mn-cs"/>
              </a:rPr>
              <a:t>Requiring receipts – for all money banked</a:t>
            </a:r>
          </a:p>
          <a:p>
            <a:pPr marL="171450" indent="-171450">
              <a:buFont typeface="Arial" pitchFamily="34" charset="0"/>
              <a:buChar char="•"/>
            </a:pPr>
            <a:r>
              <a:rPr lang="en-AU" sz="1200" kern="1200" dirty="0" smtClean="0">
                <a:solidFill>
                  <a:schemeClr val="tx1"/>
                </a:solidFill>
                <a:latin typeface="+mn-lt"/>
                <a:ea typeface="+mn-ea"/>
                <a:cs typeface="+mn-cs"/>
              </a:rPr>
              <a:t>Appropriate staff training – in banking protocols. </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Invoicing</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relate to outgoing invoices and may include:</a:t>
            </a:r>
          </a:p>
          <a:p>
            <a:pPr marL="171450" indent="-171450">
              <a:buFont typeface="Arial" pitchFamily="34" charset="0"/>
              <a:buChar char="•"/>
            </a:pPr>
            <a:r>
              <a:rPr lang="en-AU" sz="1200" kern="1200" dirty="0" smtClean="0">
                <a:solidFill>
                  <a:schemeClr val="tx1"/>
                </a:solidFill>
                <a:latin typeface="+mn-lt"/>
                <a:ea typeface="+mn-ea"/>
                <a:cs typeface="+mn-cs"/>
              </a:rPr>
              <a:t>Requiring all invoices to be prepared for all sales – as appropriate to the sale type/transaction</a:t>
            </a:r>
          </a:p>
          <a:p>
            <a:pPr marL="171450" indent="-171450">
              <a:buFont typeface="Arial" pitchFamily="34" charset="0"/>
              <a:buChar char="•"/>
            </a:pPr>
            <a:r>
              <a:rPr lang="en-AU" sz="1200" kern="1200" dirty="0" smtClean="0">
                <a:solidFill>
                  <a:schemeClr val="tx1"/>
                </a:solidFill>
                <a:latin typeface="+mn-lt"/>
                <a:ea typeface="+mn-ea"/>
                <a:cs typeface="+mn-cs"/>
              </a:rPr>
              <a:t>Insisting invoices are prepared at all times- where required</a:t>
            </a:r>
          </a:p>
          <a:p>
            <a:pPr marL="171450" indent="-171450">
              <a:buFont typeface="Arial" pitchFamily="34" charset="0"/>
              <a:buChar char="•"/>
            </a:pPr>
            <a:r>
              <a:rPr lang="en-AU" sz="1200" kern="1200" dirty="0" smtClean="0">
                <a:solidFill>
                  <a:schemeClr val="tx1"/>
                </a:solidFill>
                <a:latin typeface="+mn-lt"/>
                <a:ea typeface="+mn-ea"/>
                <a:cs typeface="+mn-cs"/>
              </a:rPr>
              <a:t>Checking invoices – to verify correct charges are levied and all legitimate charges are being included</a:t>
            </a:r>
          </a:p>
          <a:p>
            <a:pPr marL="171450" indent="-171450">
              <a:buFont typeface="Arial" pitchFamily="34" charset="0"/>
              <a:buChar char="•"/>
            </a:pPr>
            <a:r>
              <a:rPr lang="en-AU" sz="1200" kern="1200" dirty="0" smtClean="0">
                <a:solidFill>
                  <a:schemeClr val="tx1"/>
                </a:solidFill>
                <a:latin typeface="+mn-lt"/>
                <a:ea typeface="+mn-ea"/>
                <a:cs typeface="+mn-cs"/>
              </a:rPr>
              <a:t>Processing invoices – within designated timelines</a:t>
            </a:r>
          </a:p>
          <a:p>
            <a:pPr marL="171450" indent="-171450">
              <a:buFont typeface="Arial" pitchFamily="34" charset="0"/>
              <a:buChar char="•"/>
            </a:pPr>
            <a:r>
              <a:rPr lang="en-AU" sz="1200" kern="1200" dirty="0" smtClean="0">
                <a:solidFill>
                  <a:schemeClr val="tx1"/>
                </a:solidFill>
                <a:latin typeface="+mn-lt"/>
                <a:ea typeface="+mn-ea"/>
                <a:cs typeface="+mn-cs"/>
              </a:rPr>
              <a:t>Forwarding invoices and/or duplicates – to nominated personnel and/or customers</a:t>
            </a:r>
          </a:p>
          <a:p>
            <a:pPr marL="171450" indent="-171450">
              <a:buFont typeface="Arial" pitchFamily="34" charset="0"/>
              <a:buChar char="•"/>
            </a:pPr>
            <a:r>
              <a:rPr lang="en-AU" sz="1200" kern="1200" dirty="0" smtClean="0">
                <a:solidFill>
                  <a:schemeClr val="tx1"/>
                </a:solidFill>
                <a:latin typeface="+mn-lt"/>
                <a:ea typeface="+mn-ea"/>
                <a:cs typeface="+mn-cs"/>
              </a:rPr>
              <a:t>Appropriate staff training – in invoicing protocols.</a:t>
            </a:r>
          </a:p>
          <a:p>
            <a:endParaRPr lang="en-US" sz="1200" kern="1200" dirty="0" smtClean="0">
              <a:solidFill>
                <a:schemeClr val="tx1"/>
              </a:solidFill>
              <a:latin typeface="+mn-lt"/>
              <a:ea typeface="+mn-ea"/>
              <a:cs typeface="+mn-cs"/>
            </a:endParaRPr>
          </a:p>
          <a:p>
            <a:pPr>
              <a:buFont typeface="Arial" pitchFamily="34" charset="0"/>
              <a:buNone/>
            </a:pPr>
            <a:r>
              <a:rPr lang="en-US" b="1" noProof="0" dirty="0" smtClean="0"/>
              <a:t>Class</a:t>
            </a:r>
            <a:r>
              <a:rPr lang="en-US" b="1" baseline="0" noProof="0" dirty="0" smtClean="0"/>
              <a:t> Activity – Demonstration and Exercise</a:t>
            </a:r>
          </a:p>
          <a:p>
            <a:pPr>
              <a:buFont typeface="Arial" pitchFamily="34" charset="0"/>
              <a:buNone/>
            </a:pPr>
            <a:endParaRPr lang="en-US" b="1" baseline="0" noProof="0" dirty="0" smtClean="0"/>
          </a:p>
          <a:p>
            <a:pPr>
              <a:buFont typeface="Arial" pitchFamily="34" charset="0"/>
              <a:buNone/>
            </a:pPr>
            <a:r>
              <a:rPr lang="en-US" b="0" baseline="0" noProof="0" dirty="0" smtClean="0"/>
              <a:t>Trainer shows students how to apply/implement the practices identified above and provides an opportunity for them to practice same.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755573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noProof="0" dirty="0" smtClean="0"/>
              <a:t>Trainer continues explaining </a:t>
            </a:r>
            <a:r>
              <a:rPr lang="en-AU" sz="1200" kern="1200" dirty="0" smtClean="0">
                <a:solidFill>
                  <a:schemeClr val="tx1"/>
                </a:solidFill>
                <a:latin typeface="+mn-lt"/>
                <a:ea typeface="+mn-ea"/>
                <a:cs typeface="+mn-cs"/>
              </a:rPr>
              <a:t>financial procedures and systems must address the following: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Accounts payable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relates to money owed by the business to its suppliers and requirements in this regard may include:</a:t>
            </a:r>
          </a:p>
          <a:p>
            <a:pPr marL="171450" indent="-171450">
              <a:buFont typeface="Arial" pitchFamily="34" charset="0"/>
              <a:buChar char="•"/>
            </a:pPr>
            <a:r>
              <a:rPr lang="en-AU" sz="1200" kern="1200" dirty="0" smtClean="0">
                <a:solidFill>
                  <a:schemeClr val="tx1"/>
                </a:solidFill>
                <a:latin typeface="+mn-lt"/>
                <a:ea typeface="+mn-ea"/>
                <a:cs typeface="+mn-cs"/>
              </a:rPr>
              <a:t>Verifying accounts received – by matching them with purchase orders and/or other internal authorisations to purchase</a:t>
            </a:r>
          </a:p>
          <a:p>
            <a:pPr marL="171450" indent="-171450">
              <a:buFont typeface="Arial" pitchFamily="34" charset="0"/>
              <a:buChar char="•"/>
            </a:pPr>
            <a:r>
              <a:rPr lang="en-AU" sz="1200" kern="1200" dirty="0" smtClean="0">
                <a:solidFill>
                  <a:schemeClr val="tx1"/>
                </a:solidFill>
                <a:latin typeface="+mn-lt"/>
                <a:ea typeface="+mn-ea"/>
                <a:cs typeface="+mn-cs"/>
              </a:rPr>
              <a:t>Checking the amounts payable – to confirm they are correct</a:t>
            </a:r>
          </a:p>
          <a:p>
            <a:pPr marL="171450" indent="-171450">
              <a:buFont typeface="Arial" pitchFamily="34" charset="0"/>
              <a:buChar char="•"/>
            </a:pPr>
            <a:r>
              <a:rPr lang="en-AU" sz="1200" kern="1200" dirty="0" smtClean="0">
                <a:solidFill>
                  <a:schemeClr val="tx1"/>
                </a:solidFill>
                <a:latin typeface="+mn-lt"/>
                <a:ea typeface="+mn-ea"/>
                <a:cs typeface="+mn-cs"/>
              </a:rPr>
              <a:t>Following up discrepancies – and resolving them as appropriate</a:t>
            </a:r>
          </a:p>
          <a:p>
            <a:pPr marL="171450" indent="-171450">
              <a:buFont typeface="Arial" pitchFamily="34" charset="0"/>
              <a:buChar char="•"/>
            </a:pPr>
            <a:r>
              <a:rPr lang="en-AU" sz="1200" kern="1200" dirty="0" smtClean="0">
                <a:solidFill>
                  <a:schemeClr val="tx1"/>
                </a:solidFill>
                <a:latin typeface="+mn-lt"/>
                <a:ea typeface="+mn-ea"/>
                <a:cs typeface="+mn-cs"/>
              </a:rPr>
              <a:t>Posting charges to the correct budget line/code – according the Schedule of Accounts</a:t>
            </a:r>
          </a:p>
          <a:p>
            <a:pPr marL="171450" indent="-171450">
              <a:buFont typeface="Arial" pitchFamily="34" charset="0"/>
              <a:buChar char="•"/>
            </a:pPr>
            <a:r>
              <a:rPr lang="en-AU" sz="1200" kern="1200" dirty="0" smtClean="0">
                <a:solidFill>
                  <a:schemeClr val="tx1"/>
                </a:solidFill>
                <a:latin typeface="+mn-lt"/>
                <a:ea typeface="+mn-ea"/>
                <a:cs typeface="+mn-cs"/>
              </a:rPr>
              <a:t>Posting charges internally in accordance with bookkeeping protocols in use – as designed/developed for the business </a:t>
            </a:r>
          </a:p>
          <a:p>
            <a:pPr marL="171450" indent="-171450">
              <a:buFont typeface="Arial" pitchFamily="34" charset="0"/>
              <a:buChar char="•"/>
            </a:pPr>
            <a:r>
              <a:rPr lang="en-AU" sz="1200" kern="1200" dirty="0" smtClean="0">
                <a:solidFill>
                  <a:schemeClr val="tx1"/>
                </a:solidFill>
                <a:latin typeface="+mn-lt"/>
                <a:ea typeface="+mn-ea"/>
                <a:cs typeface="+mn-cs"/>
              </a:rPr>
              <a:t>Noting payment of accounts – by type/cheque number and date</a:t>
            </a:r>
          </a:p>
          <a:p>
            <a:pPr marL="171450" indent="-171450">
              <a:buFont typeface="Arial" pitchFamily="34" charset="0"/>
              <a:buChar char="•"/>
            </a:pPr>
            <a:r>
              <a:rPr lang="en-AU" sz="1200" kern="1200" dirty="0" smtClean="0">
                <a:solidFill>
                  <a:schemeClr val="tx1"/>
                </a:solidFill>
                <a:latin typeface="+mn-lt"/>
                <a:ea typeface="+mn-ea"/>
                <a:cs typeface="+mn-cs"/>
              </a:rPr>
              <a:t>Appropriate staff training – in accounts payable protocols. </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Cash management and security measures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may include:</a:t>
            </a:r>
          </a:p>
          <a:p>
            <a:pPr marL="171450" indent="-171450">
              <a:buFont typeface="Arial" pitchFamily="34" charset="0"/>
              <a:buChar char="•"/>
            </a:pPr>
            <a:r>
              <a:rPr lang="en-AU" sz="1200" kern="1200" dirty="0" smtClean="0">
                <a:solidFill>
                  <a:schemeClr val="tx1"/>
                </a:solidFill>
                <a:latin typeface="+mn-lt"/>
                <a:ea typeface="+mn-ea"/>
                <a:cs typeface="+mn-cs"/>
              </a:rPr>
              <a:t>Designating currencies which the business accepts – and does not accept</a:t>
            </a:r>
          </a:p>
          <a:p>
            <a:pPr marL="171450" indent="-171450">
              <a:buFont typeface="Arial" pitchFamily="34" charset="0"/>
              <a:buChar char="•"/>
            </a:pPr>
            <a:r>
              <a:rPr lang="en-AU" sz="1200" kern="1200" dirty="0" smtClean="0">
                <a:solidFill>
                  <a:schemeClr val="tx1"/>
                </a:solidFill>
                <a:latin typeface="+mn-lt"/>
                <a:ea typeface="+mn-ea"/>
                <a:cs typeface="+mn-cs"/>
              </a:rPr>
              <a:t>Identifying currency conversion rates – to be used when processing sales</a:t>
            </a:r>
          </a:p>
          <a:p>
            <a:pPr marL="171450" indent="-171450">
              <a:buFont typeface="Arial" pitchFamily="34" charset="0"/>
              <a:buChar char="•"/>
            </a:pPr>
            <a:r>
              <a:rPr lang="en-AU" sz="1200" kern="1200" dirty="0" smtClean="0">
                <a:solidFill>
                  <a:schemeClr val="tx1"/>
                </a:solidFill>
                <a:latin typeface="+mn-lt"/>
                <a:ea typeface="+mn-ea"/>
                <a:cs typeface="+mn-cs"/>
              </a:rPr>
              <a:t>Insisting cash registers are never left unattended – at any time the business is open</a:t>
            </a:r>
          </a:p>
          <a:p>
            <a:pPr marL="171450" indent="-171450">
              <a:buFont typeface="Arial" pitchFamily="34" charset="0"/>
              <a:buChar char="•"/>
            </a:pPr>
            <a:r>
              <a:rPr lang="en-AU" sz="1200" kern="1200" dirty="0" smtClean="0">
                <a:solidFill>
                  <a:schemeClr val="tx1"/>
                </a:solidFill>
                <a:latin typeface="+mn-lt"/>
                <a:ea typeface="+mn-ea"/>
                <a:cs typeface="+mn-cs"/>
              </a:rPr>
              <a:t>Requiring registers to be locked – if the cash area is left unattended</a:t>
            </a:r>
          </a:p>
          <a:p>
            <a:pPr marL="171450" indent="-171450">
              <a:buFont typeface="Arial" pitchFamily="34" charset="0"/>
              <a:buChar char="•"/>
            </a:pPr>
            <a:r>
              <a:rPr lang="en-AU" sz="1200" kern="1200" dirty="0" smtClean="0">
                <a:solidFill>
                  <a:schemeClr val="tx1"/>
                </a:solidFill>
                <a:latin typeface="+mn-lt"/>
                <a:ea typeface="+mn-ea"/>
                <a:cs typeface="+mn-cs"/>
              </a:rPr>
              <a:t>Stipulating protocols for cash handling and giving change – such as:</a:t>
            </a:r>
          </a:p>
          <a:p>
            <a:pPr marL="628650" lvl="1" indent="-171450">
              <a:buFont typeface="Arial" pitchFamily="34" charset="0"/>
              <a:buChar char="•"/>
            </a:pPr>
            <a:r>
              <a:rPr lang="en-AU" sz="1200" kern="1200" dirty="0" smtClean="0">
                <a:solidFill>
                  <a:schemeClr val="tx1"/>
                </a:solidFill>
                <a:latin typeface="+mn-lt"/>
                <a:ea typeface="+mn-ea"/>
                <a:cs typeface="+mn-cs"/>
              </a:rPr>
              <a:t>Stating aloud the cash tendered by customers</a:t>
            </a:r>
          </a:p>
          <a:p>
            <a:pPr marL="628650" lvl="1" indent="-171450">
              <a:buFont typeface="Arial" pitchFamily="34" charset="0"/>
              <a:buChar char="•"/>
            </a:pPr>
            <a:r>
              <a:rPr lang="en-AU" sz="1200" kern="1200" dirty="0" smtClean="0">
                <a:solidFill>
                  <a:schemeClr val="tx1"/>
                </a:solidFill>
                <a:latin typeface="+mn-lt"/>
                <a:ea typeface="+mn-ea"/>
                <a:cs typeface="+mn-cs"/>
              </a:rPr>
              <a:t>Counting out the change into customer’s hand</a:t>
            </a:r>
          </a:p>
          <a:p>
            <a:pPr marL="628650" lvl="1" indent="-171450">
              <a:buFont typeface="Arial" pitchFamily="34" charset="0"/>
              <a:buChar char="•"/>
            </a:pPr>
            <a:r>
              <a:rPr lang="en-AU" sz="1200" kern="1200" dirty="0" smtClean="0">
                <a:solidFill>
                  <a:schemeClr val="tx1"/>
                </a:solidFill>
                <a:latin typeface="+mn-lt"/>
                <a:ea typeface="+mn-ea"/>
                <a:cs typeface="+mn-cs"/>
              </a:rPr>
              <a:t>Leaving notes on register until transaction has been completed</a:t>
            </a:r>
          </a:p>
          <a:p>
            <a:pPr marL="171450" indent="-171450">
              <a:buFont typeface="Arial" pitchFamily="34" charset="0"/>
              <a:buChar char="•"/>
            </a:pPr>
            <a:r>
              <a:rPr lang="en-AU" sz="1200" kern="1200" dirty="0" smtClean="0">
                <a:solidFill>
                  <a:schemeClr val="tx1"/>
                </a:solidFill>
                <a:latin typeface="+mn-lt"/>
                <a:ea typeface="+mn-ea"/>
                <a:cs typeface="+mn-cs"/>
              </a:rPr>
              <a:t>Never paying accounts using cash – but always by cheque/card</a:t>
            </a:r>
          </a:p>
          <a:p>
            <a:pPr marL="171450" indent="-171450">
              <a:buFont typeface="Arial" pitchFamily="34" charset="0"/>
              <a:buChar char="•"/>
            </a:pPr>
            <a:r>
              <a:rPr lang="en-AU" sz="1200" kern="1200" dirty="0" smtClean="0">
                <a:solidFill>
                  <a:schemeClr val="tx1"/>
                </a:solidFill>
                <a:latin typeface="+mn-lt"/>
                <a:ea typeface="+mn-ea"/>
                <a:cs typeface="+mn-cs"/>
              </a:rPr>
              <a:t>Closing the business before registers are counted – to guard against theft</a:t>
            </a:r>
          </a:p>
          <a:p>
            <a:pPr marL="171450" indent="-171450">
              <a:buFont typeface="Arial" pitchFamily="34" charset="0"/>
              <a:buChar char="•"/>
            </a:pPr>
            <a:r>
              <a:rPr lang="en-AU" sz="1200" kern="1200" dirty="0" smtClean="0">
                <a:solidFill>
                  <a:schemeClr val="tx1"/>
                </a:solidFill>
                <a:latin typeface="+mn-lt"/>
                <a:ea typeface="+mn-ea"/>
                <a:cs typeface="+mn-cs"/>
              </a:rPr>
              <a:t>Taking money from register cash drawers when large amounts are present – to limit loss in the event of theft and to reduce temptation for theft</a:t>
            </a:r>
          </a:p>
          <a:p>
            <a:pPr marL="171450" indent="-171450">
              <a:buFont typeface="Arial" pitchFamily="34" charset="0"/>
              <a:buChar char="•"/>
            </a:pPr>
            <a:r>
              <a:rPr lang="en-AU" sz="1200" kern="1200" dirty="0" smtClean="0">
                <a:solidFill>
                  <a:schemeClr val="tx1"/>
                </a:solidFill>
                <a:latin typeface="+mn-lt"/>
                <a:ea typeface="+mn-ea"/>
                <a:cs typeface="+mn-cs"/>
              </a:rPr>
              <a:t>Dismissing any staff found to be stealing – and taking follow-up legal action</a:t>
            </a:r>
          </a:p>
          <a:p>
            <a:pPr marL="171450" indent="-171450">
              <a:buFont typeface="Arial" pitchFamily="34" charset="0"/>
              <a:buChar char="•"/>
            </a:pPr>
            <a:r>
              <a:rPr lang="en-AU" sz="1200" kern="1200" dirty="0" smtClean="0">
                <a:solidFill>
                  <a:schemeClr val="tx1"/>
                </a:solidFill>
                <a:latin typeface="+mn-lt"/>
                <a:ea typeface="+mn-ea"/>
                <a:cs typeface="+mn-cs"/>
              </a:rPr>
              <a:t>Keeping cash in safes while on the premises – as opposed to drawers/cupboards</a:t>
            </a:r>
          </a:p>
          <a:p>
            <a:pPr marL="171450" indent="-171450">
              <a:buFont typeface="Arial" pitchFamily="34" charset="0"/>
              <a:buChar char="•"/>
            </a:pPr>
            <a:r>
              <a:rPr lang="en-AU" sz="1200" kern="1200" dirty="0" smtClean="0">
                <a:solidFill>
                  <a:schemeClr val="tx1"/>
                </a:solidFill>
                <a:latin typeface="+mn-lt"/>
                <a:ea typeface="+mn-ea"/>
                <a:cs typeface="+mn-cs"/>
              </a:rPr>
              <a:t>Appropriate staff training – in cash handling and cash security protocols. </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b="1" noProof="0" dirty="0" smtClean="0"/>
              <a:t>Class</a:t>
            </a:r>
            <a:r>
              <a:rPr lang="en-US" b="1" baseline="0" noProof="0" dirty="0" smtClean="0"/>
              <a:t> Activity – Demonstration and Exercise</a:t>
            </a:r>
          </a:p>
          <a:p>
            <a:pPr>
              <a:buFont typeface="Arial" pitchFamily="34" charset="0"/>
              <a:buNone/>
            </a:pPr>
            <a:endParaRPr lang="en-US" b="1" baseline="0" noProof="0" dirty="0" smtClean="0"/>
          </a:p>
          <a:p>
            <a:pPr>
              <a:buFont typeface="Arial" pitchFamily="34" charset="0"/>
              <a:buNone/>
            </a:pPr>
            <a:r>
              <a:rPr lang="en-US" b="0" baseline="0" noProof="0" dirty="0" smtClean="0"/>
              <a:t>Trainer shows students how to apply/implement the practices identified above and provides an opportunity for them to practice same.</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425136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smtClean="0"/>
              <a:t>Trainer continues explaining </a:t>
            </a:r>
            <a:r>
              <a:rPr lang="en-AU" sz="1200" kern="1200" dirty="0" smtClean="0">
                <a:solidFill>
                  <a:schemeClr val="tx1"/>
                </a:solidFill>
                <a:latin typeface="+mn-lt"/>
                <a:ea typeface="+mn-ea"/>
                <a:cs typeface="+mn-cs"/>
              </a:rPr>
              <a:t>financial procedures and systems must address the following: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Cash flow management</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may include:</a:t>
            </a:r>
          </a:p>
          <a:p>
            <a:pPr marL="171450" indent="-171450">
              <a:buFont typeface="Arial" pitchFamily="34" charset="0"/>
              <a:buChar char="•"/>
            </a:pPr>
            <a:r>
              <a:rPr lang="en-AU" sz="1200" kern="1200" dirty="0" smtClean="0">
                <a:solidFill>
                  <a:schemeClr val="tx1"/>
                </a:solidFill>
                <a:latin typeface="+mn-lt"/>
                <a:ea typeface="+mn-ea"/>
                <a:cs typeface="+mn-cs"/>
              </a:rPr>
              <a:t>Realising and communicating the importance of liquidity to the business – by appreciating ‘cash is king’</a:t>
            </a:r>
          </a:p>
          <a:p>
            <a:pPr marL="171450" indent="-171450">
              <a:buFont typeface="Arial" pitchFamily="34" charset="0"/>
              <a:buChar char="•"/>
            </a:pPr>
            <a:r>
              <a:rPr lang="en-AU" sz="1200" kern="1200" dirty="0" smtClean="0">
                <a:solidFill>
                  <a:schemeClr val="tx1"/>
                </a:solidFill>
                <a:latin typeface="+mn-lt"/>
                <a:ea typeface="+mn-ea"/>
                <a:cs typeface="+mn-cs"/>
              </a:rPr>
              <a:t>Identifying major known, expected or anticipated cash outflows – by date/timing and amount</a:t>
            </a:r>
          </a:p>
          <a:p>
            <a:pPr marL="171450" indent="-171450">
              <a:buFont typeface="Arial" pitchFamily="34" charset="0"/>
              <a:buChar char="•"/>
            </a:pPr>
            <a:r>
              <a:rPr lang="en-AU" sz="1200" kern="1200" dirty="0" smtClean="0">
                <a:solidFill>
                  <a:schemeClr val="tx1"/>
                </a:solidFill>
                <a:latin typeface="+mn-lt"/>
                <a:ea typeface="+mn-ea"/>
                <a:cs typeface="+mn-cs"/>
              </a:rPr>
              <a:t>Identifying major projected cash inflows – by date/timing and amount</a:t>
            </a:r>
          </a:p>
          <a:p>
            <a:pPr marL="171450" indent="-171450">
              <a:buFont typeface="Arial" pitchFamily="34" charset="0"/>
              <a:buChar char="•"/>
            </a:pPr>
            <a:r>
              <a:rPr lang="en-AU" sz="1200" kern="1200" dirty="0" smtClean="0">
                <a:solidFill>
                  <a:schemeClr val="tx1"/>
                </a:solidFill>
                <a:latin typeface="+mn-lt"/>
                <a:ea typeface="+mn-ea"/>
                <a:cs typeface="+mn-cs"/>
              </a:rPr>
              <a:t>Determining cash flow status (positive or negative) – across the year/budget period</a:t>
            </a:r>
          </a:p>
          <a:p>
            <a:pPr marL="171450" indent="-171450">
              <a:buFont typeface="Arial" pitchFamily="34" charset="0"/>
              <a:buChar char="•"/>
            </a:pPr>
            <a:r>
              <a:rPr lang="en-AU" sz="1200" kern="1200" dirty="0" smtClean="0">
                <a:solidFill>
                  <a:schemeClr val="tx1"/>
                </a:solidFill>
                <a:latin typeface="+mn-lt"/>
                <a:ea typeface="+mn-ea"/>
                <a:cs typeface="+mn-cs"/>
              </a:rPr>
              <a:t>Tracking actual income and expenditure – on a regular basis</a:t>
            </a:r>
          </a:p>
          <a:p>
            <a:pPr marL="171450" indent="-171450">
              <a:buFont typeface="Arial" pitchFamily="34" charset="0"/>
              <a:buChar char="•"/>
            </a:pPr>
            <a:r>
              <a:rPr lang="en-AU" sz="1200" kern="1200" dirty="0" smtClean="0">
                <a:solidFill>
                  <a:schemeClr val="tx1"/>
                </a:solidFill>
                <a:latin typeface="+mn-lt"/>
                <a:ea typeface="+mn-ea"/>
                <a:cs typeface="+mn-cs"/>
              </a:rPr>
              <a:t>Planning in advance – to:</a:t>
            </a:r>
          </a:p>
          <a:p>
            <a:pPr marL="628650" lvl="1" indent="-171450">
              <a:buFont typeface="Arial" pitchFamily="34" charset="0"/>
              <a:buChar char="•"/>
            </a:pPr>
            <a:r>
              <a:rPr lang="en-AU" sz="1200" kern="1200" dirty="0" smtClean="0">
                <a:solidFill>
                  <a:schemeClr val="tx1"/>
                </a:solidFill>
                <a:latin typeface="+mn-lt"/>
                <a:ea typeface="+mn-ea"/>
                <a:cs typeface="+mn-cs"/>
              </a:rPr>
              <a:t>Capitalise on investment opportunities</a:t>
            </a:r>
          </a:p>
          <a:p>
            <a:pPr marL="628650" lvl="1" indent="-171450">
              <a:buFont typeface="Arial" pitchFamily="34" charset="0"/>
              <a:buChar char="•"/>
            </a:pPr>
            <a:r>
              <a:rPr lang="en-AU" sz="1200" kern="1200" dirty="0" smtClean="0">
                <a:solidFill>
                  <a:schemeClr val="tx1"/>
                </a:solidFill>
                <a:latin typeface="+mn-lt"/>
                <a:ea typeface="+mn-ea"/>
                <a:cs typeface="+mn-cs"/>
              </a:rPr>
              <a:t>Source alternate funds/arrangements where deficiencies are anticipated</a:t>
            </a:r>
          </a:p>
          <a:p>
            <a:pPr marL="171450" indent="-171450">
              <a:buFont typeface="Arial" pitchFamily="34" charset="0"/>
              <a:buChar char="•"/>
            </a:pPr>
            <a:r>
              <a:rPr lang="en-AU" sz="1200" kern="1200" dirty="0" smtClean="0">
                <a:solidFill>
                  <a:schemeClr val="tx1"/>
                </a:solidFill>
                <a:latin typeface="+mn-lt"/>
                <a:ea typeface="+mn-ea"/>
                <a:cs typeface="+mn-cs"/>
              </a:rPr>
              <a:t>Ensuring collectibles are received – when they are due</a:t>
            </a:r>
          </a:p>
          <a:p>
            <a:pPr marL="171450" indent="-171450">
              <a:buFont typeface="Arial" pitchFamily="34" charset="0"/>
              <a:buChar char="•"/>
            </a:pPr>
            <a:r>
              <a:rPr lang="en-AU" sz="1200" kern="1200" dirty="0" smtClean="0">
                <a:solidFill>
                  <a:schemeClr val="tx1"/>
                </a:solidFill>
                <a:latin typeface="+mn-lt"/>
                <a:ea typeface="+mn-ea"/>
                <a:cs typeface="+mn-cs"/>
              </a:rPr>
              <a:t>Taking action to increase sales/cash flow – where decreased cash flow/negative cash flow is anticipated. </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Budget management</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may include:</a:t>
            </a:r>
          </a:p>
          <a:p>
            <a:pPr marL="171450" indent="-171450">
              <a:buFont typeface="Arial" pitchFamily="34" charset="0"/>
              <a:buChar char="•"/>
            </a:pPr>
            <a:r>
              <a:rPr lang="en-AU" sz="1200" kern="1200" dirty="0" smtClean="0">
                <a:solidFill>
                  <a:schemeClr val="tx1"/>
                </a:solidFill>
                <a:latin typeface="+mn-lt"/>
                <a:ea typeface="+mn-ea"/>
                <a:cs typeface="+mn-cs"/>
              </a:rPr>
              <a:t>Developing budgets – as appropriate for the business</a:t>
            </a:r>
          </a:p>
          <a:p>
            <a:pPr marL="171450" indent="-171450">
              <a:buFont typeface="Arial" pitchFamily="34" charset="0"/>
              <a:buChar char="•"/>
            </a:pPr>
            <a:r>
              <a:rPr lang="en-AU" sz="1200" kern="1200" dirty="0" smtClean="0">
                <a:solidFill>
                  <a:schemeClr val="tx1"/>
                </a:solidFill>
                <a:latin typeface="+mn-lt"/>
                <a:ea typeface="+mn-ea"/>
                <a:cs typeface="+mn-cs"/>
              </a:rPr>
              <a:t>Preparing a Schedule of Accounts – to support the budget process</a:t>
            </a:r>
          </a:p>
          <a:p>
            <a:pPr marL="171450" indent="-171450">
              <a:buFont typeface="Arial" pitchFamily="34" charset="0"/>
              <a:buChar char="•"/>
            </a:pPr>
            <a:r>
              <a:rPr lang="en-AU" sz="1200" kern="1200" dirty="0" smtClean="0">
                <a:solidFill>
                  <a:schemeClr val="tx1"/>
                </a:solidFill>
                <a:latin typeface="+mn-lt"/>
                <a:ea typeface="+mn-ea"/>
                <a:cs typeface="+mn-cs"/>
              </a:rPr>
              <a:t>Including all relevant persons in the budget process – as appropriate to the individual business</a:t>
            </a:r>
          </a:p>
          <a:p>
            <a:pPr marL="171450" indent="-171450">
              <a:buFont typeface="Arial" pitchFamily="34" charset="0"/>
              <a:buChar char="•"/>
            </a:pPr>
            <a:r>
              <a:rPr lang="en-AU" sz="1200" kern="1200" dirty="0" smtClean="0">
                <a:solidFill>
                  <a:schemeClr val="tx1"/>
                </a:solidFill>
                <a:latin typeface="+mn-lt"/>
                <a:ea typeface="+mn-ea"/>
                <a:cs typeface="+mn-cs"/>
              </a:rPr>
              <a:t>Allocating appropriate funds to budgets – based on business plans, reason, logic, historic data and sound financial planning</a:t>
            </a:r>
          </a:p>
          <a:p>
            <a:pPr marL="171450" indent="-171450">
              <a:buFont typeface="Arial" pitchFamily="34" charset="0"/>
              <a:buChar char="•"/>
            </a:pPr>
            <a:r>
              <a:rPr lang="en-AU" sz="1200" kern="1200" dirty="0" smtClean="0">
                <a:solidFill>
                  <a:schemeClr val="tx1"/>
                </a:solidFill>
                <a:latin typeface="+mn-lt"/>
                <a:ea typeface="+mn-ea"/>
                <a:cs typeface="+mn-cs"/>
              </a:rPr>
              <a:t>Insisting budgets are read and reviewed regularly – by all relevant supervisors/managers</a:t>
            </a:r>
          </a:p>
          <a:p>
            <a:pPr marL="171450" indent="-171450">
              <a:buFont typeface="Arial" pitchFamily="34" charset="0"/>
              <a:buChar char="•"/>
            </a:pPr>
            <a:r>
              <a:rPr lang="en-AU" sz="1200" kern="1200" dirty="0" smtClean="0">
                <a:solidFill>
                  <a:schemeClr val="tx1"/>
                </a:solidFill>
                <a:latin typeface="+mn-lt"/>
                <a:ea typeface="+mn-ea"/>
                <a:cs typeface="+mn-cs"/>
              </a:rPr>
              <a:t>Determining ‘red flags’  for each budget – which serve as triggers for remedial action</a:t>
            </a:r>
          </a:p>
          <a:p>
            <a:pPr marL="171450" indent="-171450">
              <a:buFont typeface="Arial" pitchFamily="34" charset="0"/>
              <a:buChar char="•"/>
            </a:pPr>
            <a:r>
              <a:rPr lang="en-AU" sz="1200" kern="1200" dirty="0" smtClean="0">
                <a:solidFill>
                  <a:schemeClr val="tx1"/>
                </a:solidFill>
                <a:latin typeface="+mn-lt"/>
                <a:ea typeface="+mn-ea"/>
                <a:cs typeface="+mn-cs"/>
              </a:rPr>
              <a:t>Creating schedules for senior management/the Board to review all budgets – to check, verify and endorse them</a:t>
            </a:r>
          </a:p>
          <a:p>
            <a:pPr marL="171450" indent="-171450">
              <a:buFont typeface="Arial" pitchFamily="34" charset="0"/>
              <a:buChar char="•"/>
            </a:pPr>
            <a:r>
              <a:rPr lang="en-AU" sz="1200" kern="1200" dirty="0" smtClean="0">
                <a:solidFill>
                  <a:schemeClr val="tx1"/>
                </a:solidFill>
                <a:latin typeface="+mn-lt"/>
                <a:ea typeface="+mn-ea"/>
                <a:cs typeface="+mn-cs"/>
              </a:rPr>
              <a:t>Appropriate staff training – in budget protocols. </a:t>
            </a:r>
          </a:p>
          <a:p>
            <a:endParaRPr lang="en-US" sz="1200" kern="1200" dirty="0" smtClean="0">
              <a:solidFill>
                <a:schemeClr val="tx1"/>
              </a:solidFill>
              <a:latin typeface="+mn-lt"/>
              <a:ea typeface="+mn-ea"/>
              <a:cs typeface="+mn-cs"/>
            </a:endParaRPr>
          </a:p>
          <a:p>
            <a:pPr>
              <a:buFont typeface="Arial" pitchFamily="34" charset="0"/>
              <a:buNone/>
            </a:pPr>
            <a:r>
              <a:rPr lang="en-US" b="1" noProof="0" dirty="0" smtClean="0"/>
              <a:t>Class</a:t>
            </a:r>
            <a:r>
              <a:rPr lang="en-US" b="1" baseline="0" noProof="0" dirty="0" smtClean="0"/>
              <a:t> Activity – Demonstration and Exercise</a:t>
            </a:r>
          </a:p>
          <a:p>
            <a:pPr>
              <a:buFont typeface="Arial" pitchFamily="34" charset="0"/>
              <a:buNone/>
            </a:pPr>
            <a:endParaRPr lang="en-US" b="1" baseline="0" noProof="0" dirty="0" smtClean="0"/>
          </a:p>
          <a:p>
            <a:pPr>
              <a:buFont typeface="Arial" pitchFamily="34" charset="0"/>
              <a:buNone/>
            </a:pPr>
            <a:r>
              <a:rPr lang="en-US" b="0" baseline="0" noProof="0" dirty="0" smtClean="0"/>
              <a:t>Trainer shows students how to apply/implement the practices identified above and provides an opportunity for them to practice same.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2138919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noProof="0" dirty="0" smtClean="0"/>
              <a:t>Trainer continues explaining </a:t>
            </a:r>
            <a:r>
              <a:rPr lang="en-AU" sz="1200" kern="1200" dirty="0" smtClean="0">
                <a:solidFill>
                  <a:schemeClr val="tx1"/>
                </a:solidFill>
                <a:latin typeface="+mn-lt"/>
                <a:ea typeface="+mn-ea"/>
                <a:cs typeface="+mn-cs"/>
              </a:rPr>
              <a:t>financial procedures and systems must address the following: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Reporting requirements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relate to internal business performance reporting and may include:</a:t>
            </a:r>
          </a:p>
          <a:p>
            <a:pPr marL="171450" indent="-171450">
              <a:buFont typeface="Arial" pitchFamily="34" charset="0"/>
              <a:buChar char="•"/>
            </a:pPr>
            <a:r>
              <a:rPr lang="en-AU" sz="1200" kern="1200" dirty="0" smtClean="0">
                <a:solidFill>
                  <a:schemeClr val="tx1"/>
                </a:solidFill>
                <a:latin typeface="+mn-lt"/>
                <a:ea typeface="+mn-ea"/>
                <a:cs typeface="+mn-cs"/>
              </a:rPr>
              <a:t>Determining reporting frequency – with which financial and performance reports need to be prepared</a:t>
            </a:r>
          </a:p>
          <a:p>
            <a:pPr marL="171450" indent="-171450">
              <a:buFont typeface="Arial" pitchFamily="34" charset="0"/>
              <a:buChar char="•"/>
            </a:pPr>
            <a:r>
              <a:rPr lang="en-AU" sz="1200" kern="1200" dirty="0" smtClean="0">
                <a:solidFill>
                  <a:schemeClr val="tx1"/>
                </a:solidFill>
                <a:latin typeface="+mn-lt"/>
                <a:ea typeface="+mn-ea"/>
                <a:cs typeface="+mn-cs"/>
              </a:rPr>
              <a:t>Identifying responsible persons – who are required to generate the nominated reports</a:t>
            </a:r>
          </a:p>
          <a:p>
            <a:pPr marL="171450" indent="-171450">
              <a:buFont typeface="Arial" pitchFamily="34" charset="0"/>
              <a:buChar char="•"/>
            </a:pPr>
            <a:r>
              <a:rPr lang="en-AU" sz="1200" kern="1200" dirty="0" smtClean="0">
                <a:solidFill>
                  <a:schemeClr val="tx1"/>
                </a:solidFill>
                <a:latin typeface="+mn-lt"/>
                <a:ea typeface="+mn-ea"/>
                <a:cs typeface="+mn-cs"/>
              </a:rPr>
              <a:t>Providing standards report formats – to facilitate reporting and interpretations and understanding of same</a:t>
            </a:r>
          </a:p>
          <a:p>
            <a:pPr marL="171450" indent="-171450">
              <a:buFont typeface="Arial" pitchFamily="34" charset="0"/>
              <a:buChar char="•"/>
            </a:pPr>
            <a:r>
              <a:rPr lang="en-AU" sz="1200" kern="1200" dirty="0" smtClean="0">
                <a:solidFill>
                  <a:schemeClr val="tx1"/>
                </a:solidFill>
                <a:latin typeface="+mn-lt"/>
                <a:ea typeface="+mn-ea"/>
                <a:cs typeface="+mn-cs"/>
              </a:rPr>
              <a:t>Creating a distribution list – identifying those who are to receive nominated reports</a:t>
            </a:r>
          </a:p>
          <a:p>
            <a:pPr marL="171450" indent="-171450">
              <a:buFont typeface="Arial" pitchFamily="34" charset="0"/>
              <a:buChar char="•"/>
            </a:pPr>
            <a:r>
              <a:rPr lang="en-AU" sz="1200" kern="1200" dirty="0" smtClean="0">
                <a:solidFill>
                  <a:schemeClr val="tx1"/>
                </a:solidFill>
                <a:latin typeface="+mn-lt"/>
                <a:ea typeface="+mn-ea"/>
                <a:cs typeface="+mn-cs"/>
              </a:rPr>
              <a:t>Requiring reports to be discussed – at identified meetings by nominated persons and for the discussion to be recorded/minuted</a:t>
            </a:r>
          </a:p>
          <a:p>
            <a:pPr marL="171450" indent="-171450">
              <a:buFont typeface="Arial" pitchFamily="34" charset="0"/>
              <a:buChar char="•"/>
            </a:pPr>
            <a:r>
              <a:rPr lang="en-AU" sz="1200" kern="1200" dirty="0" smtClean="0">
                <a:solidFill>
                  <a:schemeClr val="tx1"/>
                </a:solidFill>
                <a:latin typeface="+mn-lt"/>
                <a:ea typeface="+mn-ea"/>
                <a:cs typeface="+mn-cs"/>
              </a:rPr>
              <a:t>Requiring the outcomes of reports to be incorporated into future budgets and actions – as appropriate to the results, the plans of the business and interpretation of prevailing market/business conditions</a:t>
            </a:r>
          </a:p>
          <a:p>
            <a:pPr marL="171450" indent="-171450">
              <a:buFont typeface="Arial" pitchFamily="34" charset="0"/>
              <a:buChar char="•"/>
            </a:pPr>
            <a:r>
              <a:rPr lang="en-AU" sz="1200" kern="1200" dirty="0" smtClean="0">
                <a:solidFill>
                  <a:schemeClr val="tx1"/>
                </a:solidFill>
                <a:latin typeface="+mn-lt"/>
                <a:ea typeface="+mn-ea"/>
                <a:cs typeface="+mn-cs"/>
              </a:rPr>
              <a:t>Filing requirements for reports – for future reference.</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Taxation requirements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may include:</a:t>
            </a:r>
          </a:p>
          <a:p>
            <a:pPr marL="171450" indent="-171450">
              <a:buFont typeface="Arial" pitchFamily="34" charset="0"/>
              <a:buChar char="•"/>
            </a:pPr>
            <a:r>
              <a:rPr lang="en-AU" sz="1200" kern="1200" dirty="0" smtClean="0">
                <a:solidFill>
                  <a:schemeClr val="tx1"/>
                </a:solidFill>
                <a:latin typeface="+mn-lt"/>
                <a:ea typeface="+mn-ea"/>
                <a:cs typeface="+mn-cs"/>
              </a:rPr>
              <a:t>Establishing protocols to determine taxation obligations – as imposed by current legislation and as laws change over time</a:t>
            </a:r>
          </a:p>
          <a:p>
            <a:pPr marL="171450" indent="-171450">
              <a:buFont typeface="Arial" pitchFamily="34" charset="0"/>
              <a:buChar char="•"/>
            </a:pPr>
            <a:r>
              <a:rPr lang="en-AU" sz="1200" kern="1200" dirty="0" smtClean="0">
                <a:solidFill>
                  <a:schemeClr val="tx1"/>
                </a:solidFill>
                <a:latin typeface="+mn-lt"/>
                <a:ea typeface="+mn-ea"/>
                <a:cs typeface="+mn-cs"/>
              </a:rPr>
              <a:t>Setting up a compliant record keeping system – as required by the taxation authority for financial and business records/information and data</a:t>
            </a:r>
          </a:p>
          <a:p>
            <a:pPr marL="171450" indent="-171450">
              <a:buFont typeface="Arial" pitchFamily="34" charset="0"/>
              <a:buChar char="•"/>
            </a:pPr>
            <a:r>
              <a:rPr lang="en-AU" sz="1200" kern="1200" dirty="0" smtClean="0">
                <a:solidFill>
                  <a:schemeClr val="tx1"/>
                </a:solidFill>
                <a:latin typeface="+mn-lt"/>
                <a:ea typeface="+mn-ea"/>
                <a:cs typeface="+mn-cs"/>
              </a:rPr>
              <a:t>Hiring external professionals with suitable qualifications and experience and expertise – in managing the taxation obligations of other businesses in the same industry/industry sector</a:t>
            </a:r>
          </a:p>
          <a:p>
            <a:pPr marL="171450" indent="-171450">
              <a:buFont typeface="Arial" pitchFamily="34" charset="0"/>
              <a:buChar char="•"/>
            </a:pPr>
            <a:r>
              <a:rPr lang="en-AU" sz="1200" kern="1200" dirty="0" smtClean="0">
                <a:solidFill>
                  <a:schemeClr val="tx1"/>
                </a:solidFill>
                <a:latin typeface="+mn-lt"/>
                <a:ea typeface="+mn-ea"/>
                <a:cs typeface="+mn-cs"/>
              </a:rPr>
              <a:t>Calculating required taxation payments on a regular/ongoing basis – instead on just once a year at the end of the financial year</a:t>
            </a:r>
          </a:p>
          <a:p>
            <a:pPr marL="171450" indent="-171450">
              <a:buFont typeface="Arial" pitchFamily="34" charset="0"/>
              <a:buChar char="•"/>
            </a:pPr>
            <a:r>
              <a:rPr lang="en-AU" sz="1200" kern="1200" dirty="0" smtClean="0">
                <a:solidFill>
                  <a:schemeClr val="tx1"/>
                </a:solidFill>
                <a:latin typeface="+mn-lt"/>
                <a:ea typeface="+mn-ea"/>
                <a:cs typeface="+mn-cs"/>
              </a:rPr>
              <a:t>Setting aside money for taxation payment throughout the financial year – instead of trying to find lump sums at the end of the period</a:t>
            </a:r>
          </a:p>
          <a:p>
            <a:pPr marL="171450" indent="-171450">
              <a:buFont typeface="Arial" pitchFamily="34" charset="0"/>
              <a:buChar char="•"/>
            </a:pPr>
            <a:r>
              <a:rPr lang="en-AU" sz="1200" kern="1200" dirty="0" smtClean="0">
                <a:solidFill>
                  <a:schemeClr val="tx1"/>
                </a:solidFill>
                <a:latin typeface="+mn-lt"/>
                <a:ea typeface="+mn-ea"/>
                <a:cs typeface="+mn-cs"/>
              </a:rPr>
              <a:t>Identifying and aligning with requirements for deducting taxation from employee wages – and forwarding same to the authority</a:t>
            </a:r>
          </a:p>
          <a:p>
            <a:pPr marL="171450" indent="-171450">
              <a:buFont typeface="Arial" pitchFamily="34" charset="0"/>
              <a:buChar char="•"/>
            </a:pPr>
            <a:r>
              <a:rPr lang="en-AU" sz="1200" kern="1200" dirty="0" smtClean="0">
                <a:solidFill>
                  <a:schemeClr val="tx1"/>
                </a:solidFill>
                <a:latin typeface="+mn-lt"/>
                <a:ea typeface="+mn-ea"/>
                <a:cs typeface="+mn-cs"/>
              </a:rPr>
              <a:t>Seeking advice from the taxation authority – about what is required and regarding compliance procedures.</a:t>
            </a:r>
          </a:p>
          <a:p>
            <a:endParaRPr lang="en-US" sz="1200" kern="1200" dirty="0" smtClean="0">
              <a:solidFill>
                <a:schemeClr val="tx1"/>
              </a:solidFill>
              <a:latin typeface="+mn-lt"/>
              <a:ea typeface="+mn-ea"/>
              <a:cs typeface="+mn-cs"/>
            </a:endParaRPr>
          </a:p>
          <a:p>
            <a:pPr>
              <a:buFont typeface="Arial" pitchFamily="34" charset="0"/>
              <a:buNone/>
            </a:pPr>
            <a:r>
              <a:rPr lang="en-US" b="1" noProof="0" dirty="0" smtClean="0"/>
              <a:t>Class</a:t>
            </a:r>
            <a:r>
              <a:rPr lang="en-US" b="1" baseline="0" noProof="0" dirty="0" smtClean="0"/>
              <a:t> Activity – Demonstration and Exercise</a:t>
            </a:r>
          </a:p>
          <a:p>
            <a:pPr>
              <a:buFont typeface="Arial" pitchFamily="34" charset="0"/>
              <a:buNone/>
            </a:pPr>
            <a:endParaRPr lang="en-US" b="1" baseline="0" noProof="0" dirty="0" smtClean="0"/>
          </a:p>
          <a:p>
            <a:pPr>
              <a:buFont typeface="Arial" pitchFamily="34" charset="0"/>
              <a:buNone/>
            </a:pPr>
            <a:r>
              <a:rPr lang="en-US" b="0" baseline="0" noProof="0" dirty="0" smtClean="0"/>
              <a:t>Trainer shows students how to apply/implement the practices identified above and provides an opportunity for them to practice same.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40728463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noProof="0" dirty="0" smtClean="0"/>
              <a:t>Trainer continues explaining </a:t>
            </a:r>
            <a:r>
              <a:rPr lang="en-AU" sz="1200" kern="1200" dirty="0" smtClean="0">
                <a:solidFill>
                  <a:schemeClr val="tx1"/>
                </a:solidFill>
                <a:latin typeface="+mn-lt"/>
                <a:ea typeface="+mn-ea"/>
                <a:cs typeface="+mn-cs"/>
              </a:rPr>
              <a:t>financial procedures and systems must address the following:</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Statutory requirements</a:t>
            </a:r>
          </a:p>
          <a:p>
            <a:r>
              <a:rPr lang="en-AU" sz="1200" b="1"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refers to obligations imposed on businesses by their specific business structure. For example, a business may operate as:</a:t>
            </a:r>
          </a:p>
          <a:p>
            <a:pPr marL="171450" indent="-171450">
              <a:buFont typeface="Arial" pitchFamily="34" charset="0"/>
              <a:buChar char="•"/>
            </a:pPr>
            <a:r>
              <a:rPr lang="en-AU" sz="1200" kern="1200" dirty="0" smtClean="0">
                <a:solidFill>
                  <a:schemeClr val="tx1"/>
                </a:solidFill>
                <a:latin typeface="+mn-lt"/>
                <a:ea typeface="+mn-ea"/>
                <a:cs typeface="+mn-cs"/>
              </a:rPr>
              <a:t>A sole trade</a:t>
            </a:r>
          </a:p>
          <a:p>
            <a:pPr marL="171450" indent="-171450">
              <a:buFont typeface="Arial" pitchFamily="34" charset="0"/>
              <a:buChar char="•"/>
            </a:pPr>
            <a:r>
              <a:rPr lang="en-AU" sz="1200" kern="1200" dirty="0" smtClean="0">
                <a:solidFill>
                  <a:schemeClr val="tx1"/>
                </a:solidFill>
                <a:latin typeface="+mn-lt"/>
                <a:ea typeface="+mn-ea"/>
                <a:cs typeface="+mn-cs"/>
              </a:rPr>
              <a:t>A partnership</a:t>
            </a:r>
          </a:p>
          <a:p>
            <a:pPr marL="171450" indent="-171450">
              <a:buFont typeface="Arial" pitchFamily="34" charset="0"/>
              <a:buChar char="•"/>
            </a:pPr>
            <a:r>
              <a:rPr lang="en-AU" sz="1200" kern="1200" dirty="0" smtClean="0">
                <a:solidFill>
                  <a:schemeClr val="tx1"/>
                </a:solidFill>
                <a:latin typeface="+mn-lt"/>
                <a:ea typeface="+mn-ea"/>
                <a:cs typeface="+mn-cs"/>
              </a:rPr>
              <a:t>A company/corporation.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Different statutory requirements can apply to different business structures in terms of issues such as:</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Taxation</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Reporting.</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Requirements in this regard may relate to:</a:t>
            </a:r>
          </a:p>
          <a:p>
            <a:pPr marL="171450" indent="-171450">
              <a:buFont typeface="Arial" pitchFamily="34" charset="0"/>
              <a:buChar char="•"/>
            </a:pPr>
            <a:r>
              <a:rPr lang="en-AU" sz="1200" kern="1200" dirty="0" smtClean="0">
                <a:solidFill>
                  <a:schemeClr val="tx1"/>
                </a:solidFill>
                <a:latin typeface="+mn-lt"/>
                <a:ea typeface="+mn-ea"/>
                <a:cs typeface="+mn-cs"/>
              </a:rPr>
              <a:t>Sourcing suitable/experienced professional assistance – to help determine the range of obligations which apply to the business structure being operated</a:t>
            </a:r>
          </a:p>
          <a:p>
            <a:pPr marL="171450" indent="-171450">
              <a:buFont typeface="Arial" pitchFamily="34" charset="0"/>
              <a:buChar char="•"/>
            </a:pPr>
            <a:r>
              <a:rPr lang="en-AU" sz="1200" kern="1200" dirty="0" smtClean="0">
                <a:solidFill>
                  <a:schemeClr val="tx1"/>
                </a:solidFill>
                <a:latin typeface="+mn-lt"/>
                <a:ea typeface="+mn-ea"/>
                <a:cs typeface="+mn-cs"/>
              </a:rPr>
              <a:t>Establishing appropriate internal polices and polices – to ensure compliance with what is required</a:t>
            </a:r>
          </a:p>
          <a:p>
            <a:pPr marL="171450" indent="-171450">
              <a:buFont typeface="Arial" pitchFamily="34" charset="0"/>
              <a:buChar char="•"/>
            </a:pPr>
            <a:r>
              <a:rPr lang="en-AU" sz="1200" kern="1200" dirty="0" smtClean="0">
                <a:solidFill>
                  <a:schemeClr val="tx1"/>
                </a:solidFill>
                <a:latin typeface="+mn-lt"/>
                <a:ea typeface="+mn-ea"/>
                <a:cs typeface="+mn-cs"/>
              </a:rPr>
              <a:t>Liaising with appropriate government/statutory agencies – to determine their requirements and obtain advice on compliance.</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Sector-specific and/or business-specific requirements </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Requirements in this regard relate to funds, schemes or initiatives imposed by government, semi-government bodies, industry bodies or joint venture partners and may include:</a:t>
            </a:r>
          </a:p>
          <a:p>
            <a:pPr marL="171450" indent="-171450">
              <a:buFont typeface="Arial" pitchFamily="34" charset="0"/>
              <a:buChar char="•"/>
            </a:pPr>
            <a:r>
              <a:rPr lang="en-AU" sz="1200" kern="1200" dirty="0" smtClean="0">
                <a:solidFill>
                  <a:schemeClr val="tx1"/>
                </a:solidFill>
                <a:latin typeface="+mn-lt"/>
                <a:ea typeface="+mn-ea"/>
                <a:cs typeface="+mn-cs"/>
              </a:rPr>
              <a:t>Paying membership, subscriptions or other fees, levies and charges – as directed</a:t>
            </a:r>
          </a:p>
          <a:p>
            <a:pPr marL="171450" indent="-171450">
              <a:buFont typeface="Arial" pitchFamily="34" charset="0"/>
              <a:buChar char="•"/>
            </a:pPr>
            <a:r>
              <a:rPr lang="en-AU" sz="1200" kern="1200" dirty="0" smtClean="0">
                <a:solidFill>
                  <a:schemeClr val="tx1"/>
                </a:solidFill>
                <a:latin typeface="+mn-lt"/>
                <a:ea typeface="+mn-ea"/>
                <a:cs typeface="+mn-cs"/>
              </a:rPr>
              <a:t>Maintaining for sale nominated services, standards, products or offers – as required</a:t>
            </a:r>
          </a:p>
          <a:p>
            <a:pPr marL="171450" indent="-171450">
              <a:buFont typeface="Arial" pitchFamily="34" charset="0"/>
              <a:buChar char="•"/>
            </a:pPr>
            <a:r>
              <a:rPr lang="en-AU" sz="1200" kern="1200" dirty="0" smtClean="0">
                <a:solidFill>
                  <a:schemeClr val="tx1"/>
                </a:solidFill>
                <a:latin typeface="+mn-lt"/>
                <a:ea typeface="+mn-ea"/>
                <a:cs typeface="+mn-cs"/>
              </a:rPr>
              <a:t>Participating in schemes/initiatives – as appropriate to the business, industry, contract or sector</a:t>
            </a:r>
          </a:p>
          <a:p>
            <a:pPr marL="171450" indent="-171450">
              <a:buFont typeface="Arial" pitchFamily="34" charset="0"/>
              <a:buChar char="•"/>
            </a:pPr>
            <a:r>
              <a:rPr lang="en-AU" sz="1200" kern="1200" dirty="0" smtClean="0">
                <a:solidFill>
                  <a:schemeClr val="tx1"/>
                </a:solidFill>
                <a:latin typeface="+mn-lt"/>
                <a:ea typeface="+mn-ea"/>
                <a:cs typeface="+mn-cs"/>
              </a:rPr>
              <a:t>Collecting monies – on behalf of a third party</a:t>
            </a:r>
          </a:p>
          <a:p>
            <a:pPr marL="171450" indent="-171450">
              <a:buFont typeface="Arial" pitchFamily="34" charset="0"/>
              <a:buChar char="•"/>
            </a:pPr>
            <a:r>
              <a:rPr lang="en-AU" sz="1200" kern="1200" dirty="0" smtClean="0">
                <a:solidFill>
                  <a:schemeClr val="tx1"/>
                </a:solidFill>
                <a:latin typeface="+mn-lt"/>
                <a:ea typeface="+mn-ea"/>
                <a:cs typeface="+mn-cs"/>
              </a:rPr>
              <a:t>Forwarding monies collected – with supporting documentation and evidence of reconciliation.</a:t>
            </a:r>
          </a:p>
          <a:p>
            <a:pPr marL="171450" indent="-171450">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849497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1851015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7276066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41966283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AU" sz="1200" kern="1200" dirty="0" smtClean="0">
                <a:solidFill>
                  <a:schemeClr val="tx1"/>
                </a:solidFill>
                <a:latin typeface="+mn-lt"/>
                <a:ea typeface="+mn-ea"/>
                <a:cs typeface="+mn-cs"/>
              </a:rPr>
              <a:t>the focus of this section are individual budgets as developed for the department/business highlighting checks must be undertaken to address all of the following on every occasion:</a:t>
            </a:r>
          </a:p>
          <a:p>
            <a:pPr marL="171450" lvl="0" indent="-171450">
              <a:buFont typeface="Arial" pitchFamily="34" charset="0"/>
              <a:buChar char="•"/>
            </a:pPr>
            <a:r>
              <a:rPr lang="en-AU" sz="1200" kern="1200" dirty="0" smtClean="0">
                <a:solidFill>
                  <a:schemeClr val="tx1"/>
                </a:solidFill>
                <a:latin typeface="+mn-lt"/>
                <a:ea typeface="+mn-ea"/>
                <a:cs typeface="+mn-cs"/>
              </a:rPr>
              <a:t>Determination of </a:t>
            </a:r>
            <a:r>
              <a:rPr lang="en-AU" sz="1200" i="1" kern="1200" dirty="0" smtClean="0">
                <a:solidFill>
                  <a:schemeClr val="tx1"/>
                </a:solidFill>
                <a:latin typeface="+mn-lt"/>
                <a:ea typeface="+mn-ea"/>
                <a:cs typeface="+mn-cs"/>
              </a:rPr>
              <a:t>actual</a:t>
            </a:r>
            <a:r>
              <a:rPr lang="en-AU" sz="1200" kern="1200" dirty="0" smtClean="0">
                <a:solidFill>
                  <a:schemeClr val="tx1"/>
                </a:solidFill>
                <a:latin typeface="+mn-lt"/>
                <a:ea typeface="+mn-ea"/>
                <a:cs typeface="+mn-cs"/>
              </a:rPr>
              <a:t> performance and outcomes against </a:t>
            </a:r>
            <a:r>
              <a:rPr lang="en-AU" sz="1200" i="1" kern="1200" dirty="0" smtClean="0">
                <a:solidFill>
                  <a:schemeClr val="tx1"/>
                </a:solidFill>
                <a:latin typeface="+mn-lt"/>
                <a:ea typeface="+mn-ea"/>
                <a:cs typeface="+mn-cs"/>
              </a:rPr>
              <a:t>predicted</a:t>
            </a:r>
            <a:r>
              <a:rPr lang="en-AU" sz="1200" kern="1200" dirty="0" smtClean="0">
                <a:solidFill>
                  <a:schemeClr val="tx1"/>
                </a:solidFill>
                <a:latin typeface="+mn-lt"/>
                <a:ea typeface="+mn-ea"/>
                <a:cs typeface="+mn-cs"/>
              </a:rPr>
              <a:t> performance/expected results – in order to identify if the budget is ‘on track’ or not</a:t>
            </a:r>
          </a:p>
          <a:p>
            <a:pPr marL="171450" lvl="0" indent="-171450">
              <a:buFont typeface="Arial" pitchFamily="34" charset="0"/>
              <a:buChar char="•"/>
            </a:pPr>
            <a:r>
              <a:rPr lang="en-AU" sz="1200" kern="1200" dirty="0" smtClean="0">
                <a:solidFill>
                  <a:schemeClr val="tx1"/>
                </a:solidFill>
                <a:latin typeface="+mn-lt"/>
                <a:ea typeface="+mn-ea"/>
                <a:cs typeface="+mn-cs"/>
              </a:rPr>
              <a:t>Evaluation of how different revenue and cost centres are performing – in comparative and real-world terms</a:t>
            </a:r>
          </a:p>
          <a:p>
            <a:pPr marL="171450" lvl="0" indent="-171450">
              <a:buFont typeface="Arial" pitchFamily="34" charset="0"/>
              <a:buChar char="•"/>
            </a:pPr>
            <a:r>
              <a:rPr lang="en-AU" sz="1200" kern="1200" dirty="0" smtClean="0">
                <a:solidFill>
                  <a:schemeClr val="tx1"/>
                </a:solidFill>
                <a:latin typeface="+mn-lt"/>
                <a:ea typeface="+mn-ea"/>
                <a:cs typeface="+mn-cs"/>
              </a:rPr>
              <a:t>Identification of how much money has actually been spent – in certain areas/budgets and budget lines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2224879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advising </a:t>
            </a:r>
            <a:r>
              <a:rPr lang="en-AU" sz="1200" kern="1200" dirty="0" smtClean="0">
                <a:solidFill>
                  <a:schemeClr val="tx1"/>
                </a:solidFill>
                <a:latin typeface="+mn-lt"/>
                <a:ea typeface="+mn-ea"/>
                <a:cs typeface="+mn-cs"/>
              </a:rPr>
              <a:t>checks must be undertaken to address all of the following on every occasion:</a:t>
            </a:r>
          </a:p>
          <a:p>
            <a:pPr marL="171450" lvl="0" indent="-171450">
              <a:buFont typeface="Arial" pitchFamily="34" charset="0"/>
              <a:buChar char="•"/>
            </a:pPr>
            <a:r>
              <a:rPr lang="en-AU" sz="1200" kern="1200" dirty="0" smtClean="0">
                <a:solidFill>
                  <a:schemeClr val="tx1"/>
                </a:solidFill>
                <a:latin typeface="+mn-lt"/>
                <a:ea typeface="+mn-ea"/>
                <a:cs typeface="+mn-cs"/>
              </a:rPr>
              <a:t>Identification of how much money is left/available to spend – by individual budget and different budget lines</a:t>
            </a:r>
          </a:p>
          <a:p>
            <a:pPr marL="171450" lvl="0" indent="-171450">
              <a:buFont typeface="Arial" pitchFamily="34" charset="0"/>
              <a:buChar char="•"/>
            </a:pPr>
            <a:r>
              <a:rPr lang="en-AU" sz="1200" kern="1200" dirty="0" smtClean="0">
                <a:solidFill>
                  <a:schemeClr val="tx1"/>
                </a:solidFill>
                <a:latin typeface="+mn-lt"/>
                <a:ea typeface="+mn-ea"/>
                <a:cs typeface="+mn-cs"/>
              </a:rPr>
              <a:t>Validation of income shown on revenue budgets – by verifying revenue generated has in fact been allocated/posted to the correct department or budget line</a:t>
            </a:r>
          </a:p>
          <a:p>
            <a:pPr marL="171450" lvl="0" indent="-171450">
              <a:buFont typeface="Arial" pitchFamily="34" charset="0"/>
              <a:buChar char="•"/>
            </a:pPr>
            <a:r>
              <a:rPr lang="en-AU" sz="1200" kern="1200" dirty="0" smtClean="0">
                <a:solidFill>
                  <a:schemeClr val="tx1"/>
                </a:solidFill>
                <a:latin typeface="+mn-lt"/>
                <a:ea typeface="+mn-ea"/>
                <a:cs typeface="+mn-cs"/>
              </a:rPr>
              <a:t>Validation of costs shown on expenditure budgets – giving an opportunity to verify costs recorded against a department have in fact been created by that department and not by another department, and have been charged against the correct budget and budget line/s</a:t>
            </a:r>
          </a:p>
          <a:p>
            <a:pPr marL="171450" lvl="0" indent="-171450">
              <a:buFont typeface="Arial" pitchFamily="34" charset="0"/>
              <a:buChar char="•"/>
            </a:pPr>
            <a:r>
              <a:rPr lang="en-AU" sz="1200" kern="1200" dirty="0" smtClean="0">
                <a:solidFill>
                  <a:schemeClr val="tx1"/>
                </a:solidFill>
                <a:latin typeface="+mn-lt"/>
                <a:ea typeface="+mn-ea"/>
                <a:cs typeface="+mn-cs"/>
              </a:rPr>
              <a:t>Identification of warning situations – in circumstances where performance/reality is not matching or meeting expectations and ‘red flags’ are being raised to indicate the need for appropriate remedial action to be taken to improve, retrieve or redress outcomes.</a:t>
            </a:r>
          </a:p>
          <a:p>
            <a:pPr marL="171450" indent="-171450">
              <a:buFont typeface="Arial" panose="020B0604020202020204"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5436553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t>
            </a:r>
            <a:r>
              <a:rPr lang="en-AU" sz="1200" kern="1200" dirty="0" smtClean="0">
                <a:solidFill>
                  <a:schemeClr val="tx1"/>
                </a:solidFill>
                <a:latin typeface="+mn-lt"/>
                <a:ea typeface="+mn-ea"/>
                <a:cs typeface="+mn-cs"/>
              </a:rPr>
              <a:t>states to gain a full appreciation of the business and how it is performing:</a:t>
            </a:r>
          </a:p>
          <a:p>
            <a:pPr marL="171450" indent="-171450">
              <a:buFont typeface="Arial" pitchFamily="34" charset="0"/>
              <a:buChar char="•"/>
            </a:pPr>
            <a:r>
              <a:rPr lang="en-AU" sz="1200" kern="1200" dirty="0" smtClean="0">
                <a:solidFill>
                  <a:schemeClr val="tx1"/>
                </a:solidFill>
                <a:latin typeface="+mn-lt"/>
                <a:ea typeface="+mn-ea"/>
                <a:cs typeface="+mn-cs"/>
              </a:rPr>
              <a:t>There will be a need to consider more than just budgets for the department or business explaining there can be a need to prepare nominated financial and/or statistical reports.</a:t>
            </a:r>
          </a:p>
          <a:p>
            <a:pPr marL="171450" indent="-171450">
              <a:buFont typeface="Arial" pitchFamily="34" charset="0"/>
              <a:buChar char="•"/>
            </a:pPr>
            <a:r>
              <a:rPr lang="en-AU" sz="1200" kern="1200" dirty="0" smtClean="0">
                <a:solidFill>
                  <a:schemeClr val="tx1"/>
                </a:solidFill>
                <a:latin typeface="+mn-lt"/>
                <a:ea typeface="+mn-ea"/>
                <a:cs typeface="+mn-cs"/>
              </a:rPr>
              <a:t>The information on following slides provides information and detail regarding the areas of Financial and Management accounting, identifying and explaining relevant reports commonly prepared.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9390814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latin typeface="+mn-lt"/>
                <a:ea typeface="+mn-ea"/>
                <a:cs typeface="+mn-cs"/>
              </a:rPr>
              <a:t>Financial accounting includes:</a:t>
            </a:r>
          </a:p>
          <a:p>
            <a:pPr marL="171450" indent="-171450">
              <a:buFont typeface="Arial" pitchFamily="34" charset="0"/>
              <a:buChar char="•"/>
            </a:pPr>
            <a:r>
              <a:rPr lang="en-AU" sz="1200" kern="1200" dirty="0" smtClean="0">
                <a:solidFill>
                  <a:schemeClr val="tx1"/>
                </a:solidFill>
                <a:latin typeface="+mn-lt"/>
                <a:ea typeface="+mn-ea"/>
                <a:cs typeface="+mn-cs"/>
              </a:rPr>
              <a:t>The preparation of financial reports or statements that accurately represent what the business own and owes. </a:t>
            </a:r>
          </a:p>
          <a:p>
            <a:pPr marL="628650" lvl="1" indent="-171450">
              <a:buFont typeface="Arial" pitchFamily="34" charset="0"/>
              <a:buChar char="•"/>
            </a:pPr>
            <a:r>
              <a:rPr lang="en-AU" sz="1200" kern="1200" dirty="0" smtClean="0">
                <a:solidFill>
                  <a:schemeClr val="tx1"/>
                </a:solidFill>
                <a:latin typeface="+mn-lt"/>
                <a:ea typeface="+mn-ea"/>
                <a:cs typeface="+mn-cs"/>
              </a:rPr>
              <a:t>This is called the financial position of the business. </a:t>
            </a:r>
          </a:p>
          <a:p>
            <a:pPr marL="171450" indent="-171450">
              <a:buFont typeface="Arial" pitchFamily="34" charset="0"/>
              <a:buChar char="•"/>
            </a:pPr>
            <a:r>
              <a:rPr lang="en-AU" sz="1200" kern="1200" dirty="0" smtClean="0">
                <a:solidFill>
                  <a:schemeClr val="tx1"/>
                </a:solidFill>
                <a:latin typeface="+mn-lt"/>
                <a:ea typeface="+mn-ea"/>
                <a:cs typeface="+mn-cs"/>
              </a:rPr>
              <a:t>Reports also summarise the results from buying and then selling goods or services that is the profit or loss of the organisation. </a:t>
            </a:r>
          </a:p>
          <a:p>
            <a:pPr marL="171450" indent="-171450">
              <a:buFont typeface="Arial" pitchFamily="34" charset="0"/>
              <a:buChar char="•"/>
            </a:pPr>
            <a:r>
              <a:rPr lang="en-AU" sz="1200" kern="1200" dirty="0" smtClean="0">
                <a:solidFill>
                  <a:schemeClr val="tx1"/>
                </a:solidFill>
                <a:latin typeface="+mn-lt"/>
                <a:ea typeface="+mn-ea"/>
                <a:cs typeface="+mn-cs"/>
              </a:rPr>
              <a:t>It is important to appreciate these reports are produced for a given period of time, usually determined by organisational and external requirements.</a:t>
            </a:r>
          </a:p>
          <a:p>
            <a:pPr marL="171450" indent="-171450">
              <a:buFont typeface="Arial" pitchFamily="34" charset="0"/>
              <a:buChar char="•"/>
            </a:pPr>
            <a:r>
              <a:rPr lang="en-AU" sz="1200" kern="1200" dirty="0" smtClean="0">
                <a:solidFill>
                  <a:schemeClr val="tx1"/>
                </a:solidFill>
                <a:latin typeface="+mn-lt"/>
                <a:ea typeface="+mn-ea"/>
                <a:cs typeface="+mn-cs"/>
              </a:rPr>
              <a:t>There are generally four financial statements or reports (see following slides) produced and whilst their names may differ across countries and regions, the accounting information contained therein remains similar.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229247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first of the four Financial accounting statements/reports:</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Profit and Loss Statement/Income Statement/Statement of Financial Performance</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profit and loss statement presents:</a:t>
            </a:r>
          </a:p>
          <a:p>
            <a:pPr marL="171450" lvl="0" indent="-171450">
              <a:buFont typeface="Arial" pitchFamily="34" charset="0"/>
              <a:buChar char="•"/>
            </a:pPr>
            <a:r>
              <a:rPr lang="en-AU" sz="1200" kern="1200" dirty="0" smtClean="0">
                <a:solidFill>
                  <a:schemeClr val="tx1"/>
                </a:solidFill>
                <a:latin typeface="+mn-lt"/>
                <a:ea typeface="+mn-ea"/>
                <a:cs typeface="+mn-cs"/>
              </a:rPr>
              <a:t>Revenues earned from sales </a:t>
            </a:r>
          </a:p>
          <a:p>
            <a:pPr marL="171450" lvl="0" indent="-171450">
              <a:buFont typeface="Arial" pitchFamily="34" charset="0"/>
              <a:buChar char="•"/>
            </a:pPr>
            <a:r>
              <a:rPr lang="en-AU" sz="1200" kern="1200" dirty="0" smtClean="0">
                <a:solidFill>
                  <a:schemeClr val="tx1"/>
                </a:solidFill>
                <a:latin typeface="+mn-lt"/>
                <a:ea typeface="+mn-ea"/>
                <a:cs typeface="+mn-cs"/>
              </a:rPr>
              <a:t>Operating expenses and other expenses been incurred </a:t>
            </a:r>
          </a:p>
          <a:p>
            <a:pPr marL="171450" lvl="0" indent="-171450">
              <a:buFont typeface="Arial" pitchFamily="34" charset="0"/>
              <a:buChar char="•"/>
            </a:pPr>
            <a:r>
              <a:rPr lang="en-AU" sz="1200" kern="1200" dirty="0" smtClean="0">
                <a:solidFill>
                  <a:schemeClr val="tx1"/>
                </a:solidFill>
                <a:latin typeface="+mn-lt"/>
                <a:ea typeface="+mn-ea"/>
                <a:cs typeface="+mn-cs"/>
              </a:rPr>
              <a:t>Resulting profit or loss over a given period of time – such as six months or one year.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contents and format of this statement is standardised even though the title may differ.</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statement/report</a:t>
            </a:r>
            <a:r>
              <a:rPr lang="en-US" b="0" baseline="0" noProof="0" dirty="0" smtClean="0"/>
              <a:t>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219522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discusses second of the four Financial accounting statements/reports:</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Balance Sheet/Statement of Financial Position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balance sheet provides a snapshot of what is owned and what is owed by an organisation at a particular point in time. </a:t>
            </a:r>
          </a:p>
          <a:p>
            <a:pPr marL="171450" indent="-171450">
              <a:buFont typeface="Arial" pitchFamily="34" charset="0"/>
              <a:buChar char="•"/>
            </a:pPr>
            <a:r>
              <a:rPr lang="en-AU" sz="1200" kern="1200" dirty="0" smtClean="0">
                <a:solidFill>
                  <a:schemeClr val="tx1"/>
                </a:solidFill>
                <a:latin typeface="+mn-lt"/>
                <a:ea typeface="+mn-ea"/>
                <a:cs typeface="+mn-cs"/>
              </a:rPr>
              <a:t>Balance sheets are produced at least annually and often every six months. </a:t>
            </a:r>
          </a:p>
          <a:p>
            <a:pPr marL="171450" indent="-171450">
              <a:buFont typeface="Arial" pitchFamily="34" charset="0"/>
              <a:buChar char="•"/>
            </a:pPr>
            <a:r>
              <a:rPr lang="en-AU" sz="1200" kern="1200" dirty="0" smtClean="0">
                <a:solidFill>
                  <a:schemeClr val="tx1"/>
                </a:solidFill>
                <a:latin typeface="+mn-lt"/>
                <a:ea typeface="+mn-ea"/>
                <a:cs typeface="+mn-cs"/>
              </a:rPr>
              <a:t>There are three main sections in a balance sheet:</a:t>
            </a:r>
          </a:p>
          <a:p>
            <a:pPr marL="628650" lvl="1" indent="-171450">
              <a:buFont typeface="Arial" pitchFamily="34" charset="0"/>
              <a:buChar char="•"/>
            </a:pPr>
            <a:r>
              <a:rPr lang="en-AU" sz="1200" kern="1200" dirty="0" smtClean="0">
                <a:solidFill>
                  <a:schemeClr val="tx1"/>
                </a:solidFill>
                <a:latin typeface="+mn-lt"/>
                <a:ea typeface="+mn-ea"/>
                <a:cs typeface="+mn-cs"/>
              </a:rPr>
              <a:t>Assets</a:t>
            </a:r>
          </a:p>
          <a:p>
            <a:pPr marL="628650" lvl="1" indent="-171450">
              <a:buFont typeface="Arial" pitchFamily="34" charset="0"/>
              <a:buChar char="•"/>
            </a:pPr>
            <a:r>
              <a:rPr lang="en-AU" sz="1200" kern="1200" dirty="0" smtClean="0">
                <a:solidFill>
                  <a:schemeClr val="tx1"/>
                </a:solidFill>
                <a:latin typeface="+mn-lt"/>
                <a:ea typeface="+mn-ea"/>
                <a:cs typeface="+mn-cs"/>
              </a:rPr>
              <a:t>Liabilities </a:t>
            </a:r>
          </a:p>
          <a:p>
            <a:pPr marL="628650" lvl="1" indent="-171450">
              <a:buFont typeface="Arial" pitchFamily="34" charset="0"/>
              <a:buChar char="•"/>
            </a:pPr>
            <a:r>
              <a:rPr lang="en-AU" sz="1200" kern="1200" dirty="0" smtClean="0">
                <a:solidFill>
                  <a:schemeClr val="tx1"/>
                </a:solidFill>
                <a:latin typeface="+mn-lt"/>
                <a:ea typeface="+mn-ea"/>
                <a:cs typeface="+mn-cs"/>
              </a:rPr>
              <a:t>Owner’s equity. </a:t>
            </a:r>
          </a:p>
          <a:p>
            <a:pPr>
              <a:buFont typeface="Arial" pitchFamily="34" charset="0"/>
              <a:buNone/>
            </a:pPr>
            <a:endParaRPr lang="en-US" noProof="0" dirty="0" smtClean="0"/>
          </a:p>
          <a:p>
            <a:pPr>
              <a:buFont typeface="Arial" pitchFamily="34" charset="0"/>
              <a:buNone/>
            </a:pPr>
            <a:r>
              <a:rPr lang="en-US" b="1" noProof="0" dirty="0" smtClean="0"/>
              <a:t>Class Activity – Handout </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statement/report</a:t>
            </a:r>
            <a:r>
              <a:rPr lang="en-US" b="0" baseline="0" noProof="0" dirty="0" smtClean="0"/>
              <a:t>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9485733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discusses third of the four Financial accounting statements/reports:</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Statement of Owner’s Equity/Statement of changes in Equity</a:t>
            </a:r>
          </a:p>
          <a:p>
            <a:pPr marL="171450" indent="-171450">
              <a:buFont typeface="Arial" panose="020B0604020202020204" pitchFamily="34" charset="0"/>
              <a:buChar char="•"/>
            </a:pPr>
            <a:endParaRPr lang="en-AU" sz="1200" kern="1200" dirty="0" smtClean="0">
              <a:solidFill>
                <a:schemeClr val="tx1"/>
              </a:solidFill>
              <a:latin typeface="+mn-lt"/>
              <a:ea typeface="+mn-ea"/>
              <a:cs typeface="+mn-cs"/>
            </a:endParaRPr>
          </a:p>
          <a:p>
            <a:pPr marL="171450" indent="-171450">
              <a:buFont typeface="Arial" panose="020B0604020202020204" pitchFamily="34" charset="0"/>
              <a:buChar char="•"/>
            </a:pPr>
            <a:r>
              <a:rPr lang="en-AU" sz="1200" kern="1200" dirty="0" smtClean="0">
                <a:solidFill>
                  <a:schemeClr val="tx1"/>
                </a:solidFill>
                <a:latin typeface="+mn-lt"/>
                <a:ea typeface="+mn-ea"/>
                <a:cs typeface="+mn-cs"/>
              </a:rPr>
              <a:t>This report summarises the changes to owner’s interests in an organisation. </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Owner’s interests are the difference between what is owned and owed as well as any profits made by the business, either current or past profits.</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Sometimes organisations include all details of changes to Owner’s Equity in the Balance Sheet and others summarise Owner’s Equity in the balance sheet and produce a Statement of Owner’s Equity separately.</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statement/report</a:t>
            </a:r>
            <a:r>
              <a:rPr lang="en-US" b="0" baseline="0" noProof="0" dirty="0" smtClean="0"/>
              <a:t>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5614378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discusses fourth of the four Financial accounting statements/reports:</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Cash Flow Statement/Statement of Cash Flows/Statement of Cash flow</a:t>
            </a:r>
          </a:p>
          <a:p>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cash flow statement details the movement of cash both in and out of the organisation.</a:t>
            </a:r>
          </a:p>
          <a:p>
            <a:pPr marL="171450" indent="-171450">
              <a:buFont typeface="Arial" pitchFamily="34" charset="0"/>
              <a:buChar char="•"/>
            </a:pPr>
            <a:r>
              <a:rPr lang="en-AU" sz="1200" kern="1200" dirty="0" smtClean="0">
                <a:solidFill>
                  <a:schemeClr val="tx1"/>
                </a:solidFill>
                <a:latin typeface="+mn-lt"/>
                <a:ea typeface="+mn-ea"/>
                <a:cs typeface="+mn-cs"/>
              </a:rPr>
              <a:t>These movements are classified into three categories:</a:t>
            </a:r>
          </a:p>
          <a:p>
            <a:pPr marL="628650" lvl="1" indent="-171450">
              <a:buFont typeface="Arial" pitchFamily="34" charset="0"/>
              <a:buChar char="•"/>
            </a:pPr>
            <a:r>
              <a:rPr lang="en-AU" sz="1200" kern="1200" dirty="0" smtClean="0">
                <a:solidFill>
                  <a:schemeClr val="tx1"/>
                </a:solidFill>
                <a:latin typeface="+mn-lt"/>
                <a:ea typeface="+mn-ea"/>
                <a:cs typeface="+mn-cs"/>
              </a:rPr>
              <a:t>Operating </a:t>
            </a:r>
          </a:p>
          <a:p>
            <a:pPr marL="628650" lvl="1" indent="-171450">
              <a:buFont typeface="Arial" pitchFamily="34" charset="0"/>
              <a:buChar char="•"/>
            </a:pPr>
            <a:r>
              <a:rPr lang="en-AU" sz="1200" kern="1200" dirty="0" smtClean="0">
                <a:solidFill>
                  <a:schemeClr val="tx1"/>
                </a:solidFill>
                <a:latin typeface="+mn-lt"/>
                <a:ea typeface="+mn-ea"/>
                <a:cs typeface="+mn-cs"/>
              </a:rPr>
              <a:t>Investing </a:t>
            </a:r>
          </a:p>
          <a:p>
            <a:pPr marL="628650" lvl="1" indent="-171450">
              <a:buFont typeface="Arial" pitchFamily="34" charset="0"/>
              <a:buChar char="•"/>
            </a:pPr>
            <a:r>
              <a:rPr lang="en-AU" sz="1200" kern="1200" dirty="0" smtClean="0">
                <a:solidFill>
                  <a:schemeClr val="tx1"/>
                </a:solidFill>
                <a:latin typeface="+mn-lt"/>
                <a:ea typeface="+mn-ea"/>
                <a:cs typeface="+mn-cs"/>
              </a:rPr>
              <a:t>Financing.</a:t>
            </a:r>
          </a:p>
          <a:p>
            <a:pPr marL="171450" indent="-171450">
              <a:buFont typeface="Arial" pitchFamily="34" charset="0"/>
              <a:buChar char="•"/>
            </a:pPr>
            <a:r>
              <a:rPr lang="en-AU" sz="1200" kern="1200" dirty="0" smtClean="0">
                <a:solidFill>
                  <a:schemeClr val="tx1"/>
                </a:solidFill>
                <a:latin typeface="+mn-lt"/>
                <a:ea typeface="+mn-ea"/>
                <a:cs typeface="+mn-cs"/>
              </a:rPr>
              <a:t>The change in cash balances over the reporting period is also summarised.</a:t>
            </a:r>
          </a:p>
          <a:p>
            <a:pPr marL="171450" indent="-171450">
              <a:buFont typeface="Arial" pitchFamily="34" charset="0"/>
              <a:buChar char="•"/>
            </a:pPr>
            <a:endParaRPr lang="en-US" noProof="0" dirty="0" smtClean="0"/>
          </a:p>
          <a:p>
            <a:pPr>
              <a:buFont typeface="Arial" pitchFamily="34" charset="0"/>
              <a:buNone/>
            </a:pPr>
            <a:r>
              <a:rPr lang="en-US" b="1" noProof="0" dirty="0" smtClean="0"/>
              <a:t>Class Activity – Handout </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statement/report</a:t>
            </a:r>
            <a:r>
              <a:rPr lang="en-US" b="0" baseline="0" noProof="0" dirty="0" smtClean="0"/>
              <a:t>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9771048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latin typeface="+mn-lt"/>
                <a:ea typeface="+mn-ea"/>
                <a:cs typeface="+mn-cs"/>
              </a:rPr>
              <a:t>Management accounting includes:</a:t>
            </a:r>
          </a:p>
          <a:p>
            <a:pPr marL="171450" indent="-171450">
              <a:buFont typeface="Arial" pitchFamily="34" charset="0"/>
              <a:buChar char="•"/>
            </a:pPr>
            <a:r>
              <a:rPr lang="en-AU" sz="1200" kern="1200" dirty="0" smtClean="0">
                <a:solidFill>
                  <a:schemeClr val="tx1"/>
                </a:solidFill>
                <a:latin typeface="+mn-lt"/>
                <a:ea typeface="+mn-ea"/>
                <a:cs typeface="+mn-cs"/>
              </a:rPr>
              <a:t>Management accounting includes the preparation of financial information to support internal management. </a:t>
            </a:r>
          </a:p>
          <a:p>
            <a:pPr marL="171450" indent="-171450">
              <a:buFont typeface="Arial" pitchFamily="34" charset="0"/>
              <a:buChar char="•"/>
            </a:pPr>
            <a:r>
              <a:rPr lang="en-AU" sz="1200" kern="1200" dirty="0" smtClean="0">
                <a:solidFill>
                  <a:schemeClr val="tx1"/>
                </a:solidFill>
                <a:latin typeface="+mn-lt"/>
                <a:ea typeface="+mn-ea"/>
                <a:cs typeface="+mn-cs"/>
              </a:rPr>
              <a:t>The provision of information that addresses the key characteristics of the tourism and hospitality industries will assist managers with decision-making and the control of the business. </a:t>
            </a:r>
          </a:p>
          <a:p>
            <a:pPr marL="171450" indent="-171450">
              <a:buFont typeface="Arial" pitchFamily="34" charset="0"/>
              <a:buChar char="•"/>
            </a:pPr>
            <a:r>
              <a:rPr lang="en-AU" sz="1200" kern="1200" dirty="0" smtClean="0">
                <a:solidFill>
                  <a:schemeClr val="tx1"/>
                </a:solidFill>
                <a:latin typeface="+mn-lt"/>
                <a:ea typeface="+mn-ea"/>
                <a:cs typeface="+mn-cs"/>
              </a:rPr>
              <a:t>There are also a wide variety of reports, tools and techniques that management accounting offers that are generic to all organisations, large or small.</a:t>
            </a:r>
          </a:p>
          <a:p>
            <a:pPr marL="171450" indent="-171450">
              <a:buFont typeface="Arial" pitchFamily="34" charset="0"/>
              <a:buChar char="•"/>
            </a:pPr>
            <a:r>
              <a:rPr lang="en-AU" sz="1200" kern="1200" dirty="0" smtClean="0">
                <a:solidFill>
                  <a:schemeClr val="tx1"/>
                </a:solidFill>
                <a:latin typeface="+mn-lt"/>
                <a:ea typeface="+mn-ea"/>
                <a:cs typeface="+mn-cs"/>
              </a:rPr>
              <a:t>Management accounting reports also include the same or similar reports as discussed under financial reporting. It is simply the purpose for which the report is produced that changes. For example, a profit and loss statement for financial accounting purposes may be prepared annually but for management accounting purposes may be prepared monthly. </a:t>
            </a:r>
          </a:p>
          <a:p>
            <a:pPr marL="171450" indent="-171450">
              <a:buFont typeface="Arial" pitchFamily="34" charset="0"/>
              <a:buChar char="•"/>
            </a:pPr>
            <a:r>
              <a:rPr lang="en-AU" sz="1200" kern="1200" dirty="0" smtClean="0">
                <a:solidFill>
                  <a:schemeClr val="tx1"/>
                </a:solidFill>
                <a:latin typeface="+mn-lt"/>
                <a:ea typeface="+mn-ea"/>
                <a:cs typeface="+mn-cs"/>
              </a:rPr>
              <a:t>It is likely the format and content will differ slightly as is required by users of the data.</a:t>
            </a:r>
          </a:p>
          <a:p>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0193166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discusses Management accounting statements/reports:</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Revenue report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revenue report for an establishment offering accommodation services provides information to the front office manager regarding occupancy, average daily rates, and comparisons between different periods of time and summarises other revenue sources as required</a:t>
            </a:r>
          </a:p>
          <a:p>
            <a:pPr marL="171450" indent="-171450">
              <a:buFont typeface="Arial" pitchFamily="34" charset="0"/>
              <a:buChar char="•"/>
            </a:pPr>
            <a:r>
              <a:rPr lang="en-AU" sz="1200" kern="1200" dirty="0" smtClean="0">
                <a:solidFill>
                  <a:schemeClr val="tx1"/>
                </a:solidFill>
                <a:latin typeface="+mn-lt"/>
                <a:ea typeface="+mn-ea"/>
                <a:cs typeface="+mn-cs"/>
              </a:rPr>
              <a:t>A restaurant may seek a report detailing the number of covers and the average spend from each cover</a:t>
            </a:r>
          </a:p>
          <a:p>
            <a:pPr marL="171450" indent="-171450">
              <a:buFont typeface="Arial" pitchFamily="34" charset="0"/>
              <a:buChar char="•"/>
            </a:pPr>
            <a:r>
              <a:rPr lang="en-AU" sz="1200" kern="1200" dirty="0" smtClean="0">
                <a:solidFill>
                  <a:schemeClr val="tx1"/>
                </a:solidFill>
                <a:latin typeface="+mn-lt"/>
                <a:ea typeface="+mn-ea"/>
                <a:cs typeface="+mn-cs"/>
              </a:rPr>
              <a:t>The revenue report is produced for the period of time as required by managers using the information </a:t>
            </a:r>
          </a:p>
          <a:p>
            <a:pPr marL="171450" indent="-171450">
              <a:buFont typeface="Arial" pitchFamily="34" charset="0"/>
              <a:buChar char="•"/>
            </a:pPr>
            <a:r>
              <a:rPr lang="en-AU" sz="1200" kern="1200" dirty="0" smtClean="0">
                <a:solidFill>
                  <a:schemeClr val="tx1"/>
                </a:solidFill>
                <a:latin typeface="+mn-lt"/>
                <a:ea typeface="+mn-ea"/>
                <a:cs typeface="+mn-cs"/>
              </a:rPr>
              <a:t>This may be daily, especially in larger accommodation venues, but perhaps only weekly in smaller, owner operated establishments.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report</a:t>
            </a:r>
            <a:r>
              <a:rPr lang="en-US" b="0" baseline="0" noProof="0" dirty="0" smtClean="0"/>
              <a:t> as identified on the slide.</a:t>
            </a:r>
            <a:endParaRPr lang="en-AU" b="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9975747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discusses Management accounting statements/reports:</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Bank reconciliation statement</a:t>
            </a:r>
          </a:p>
          <a:p>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 bank reconciliation statement summarises the differences between the cash balance recorded by the accounting system and the cash held in the organisation’s bank account and shown on a bank statement</a:t>
            </a:r>
          </a:p>
          <a:p>
            <a:pPr marL="171450" indent="-171450">
              <a:buFont typeface="Arial" pitchFamily="34" charset="0"/>
              <a:buChar char="•"/>
            </a:pPr>
            <a:r>
              <a:rPr lang="en-AU" sz="1200" kern="1200" dirty="0" smtClean="0">
                <a:solidFill>
                  <a:schemeClr val="tx1"/>
                </a:solidFill>
                <a:latin typeface="+mn-lt"/>
                <a:ea typeface="+mn-ea"/>
                <a:cs typeface="+mn-cs"/>
              </a:rPr>
              <a:t>Cash is often at risk from being lost or stolen and preparing a bank reconciliation will reveal any funds that are missing and any errors made either by the financial organisation or within the accounting information system</a:t>
            </a:r>
          </a:p>
          <a:p>
            <a:pPr marL="171450" indent="-171450">
              <a:buFont typeface="Arial" pitchFamily="34" charset="0"/>
              <a:buChar char="•"/>
            </a:pPr>
            <a:r>
              <a:rPr lang="en-AU" sz="1200" kern="1200" dirty="0" smtClean="0">
                <a:solidFill>
                  <a:schemeClr val="tx1"/>
                </a:solidFill>
                <a:latin typeface="+mn-lt"/>
                <a:ea typeface="+mn-ea"/>
                <a:cs typeface="+mn-cs"/>
              </a:rPr>
              <a:t>It is also important for an organisation to appreciate exactly the funds available </a:t>
            </a:r>
          </a:p>
          <a:p>
            <a:pPr marL="171450" indent="-171450">
              <a:buFont typeface="Arial" pitchFamily="34" charset="0"/>
              <a:buChar char="•"/>
            </a:pPr>
            <a:r>
              <a:rPr lang="en-AU" sz="1200" kern="1200" dirty="0" smtClean="0">
                <a:solidFill>
                  <a:schemeClr val="tx1"/>
                </a:solidFill>
                <a:latin typeface="+mn-lt"/>
                <a:ea typeface="+mn-ea"/>
                <a:cs typeface="+mn-cs"/>
              </a:rPr>
              <a:t>Differences between the balances from the two sources arise due to timing, errors, fees and charges and delays to deposits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Reconciling these differences helps to ensure the organisation does not spend funds that are not available </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statement</a:t>
            </a:r>
            <a:r>
              <a:rPr lang="en-US" b="0" baseline="0" noProof="0" dirty="0" smtClean="0"/>
              <a:t> as identified on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0397835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 </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4332084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345199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0430810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9449292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 </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41224371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8989760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 </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662189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a:t>
            </a:r>
          </a:p>
          <a:p>
            <a:pPr>
              <a:buFont typeface="Arial" pitchFamily="34" charset="0"/>
              <a:buNone/>
            </a:pPr>
            <a:r>
              <a:rPr lang="en-US" b="1" noProof="0" dirty="0" smtClean="0"/>
              <a:t> </a:t>
            </a:r>
          </a:p>
          <a:p>
            <a:pPr>
              <a:buFont typeface="Arial" pitchFamily="34" charset="0"/>
              <a:buNone/>
            </a:pPr>
            <a:r>
              <a:rPr lang="en-US" b="0" noProof="0" dirty="0" smtClean="0"/>
              <a:t>Trainer distributes and discusses example of report</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2701411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additional Management accounting reports which may be required/produced as indicated on side.</a:t>
            </a:r>
          </a:p>
          <a:p>
            <a:pPr>
              <a:buFont typeface="Arial" pitchFamily="34" charset="0"/>
              <a:buNone/>
            </a:pPr>
            <a:endParaRPr lang="en-US" noProof="0" dirty="0" smtClean="0"/>
          </a:p>
          <a:p>
            <a:pPr>
              <a:buFont typeface="Arial" pitchFamily="34" charset="0"/>
              <a:buNone/>
            </a:pPr>
            <a:r>
              <a:rPr lang="en-US" b="1" noProof="0" dirty="0" smtClean="0"/>
              <a:t>Class Activity – Handout </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0365490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when </a:t>
            </a:r>
            <a:r>
              <a:rPr lang="en-AU" sz="1200" kern="1200" dirty="0" smtClean="0">
                <a:solidFill>
                  <a:schemeClr val="tx1"/>
                </a:solidFill>
                <a:latin typeface="+mn-lt"/>
                <a:ea typeface="+mn-ea"/>
                <a:cs typeface="+mn-cs"/>
              </a:rPr>
              <a:t>checking actual income and expenditure against budgets possible discrepancies may relate to factors not related to business performance explaining these may relate to:</a:t>
            </a:r>
          </a:p>
          <a:p>
            <a:pPr marL="171450" lvl="0" indent="-171450">
              <a:buFont typeface="Arial" pitchFamily="34" charset="0"/>
              <a:buChar char="•"/>
            </a:pPr>
            <a:r>
              <a:rPr lang="en-AU" sz="1200" kern="1200" dirty="0" smtClean="0">
                <a:solidFill>
                  <a:schemeClr val="tx1"/>
                </a:solidFill>
                <a:latin typeface="+mn-lt"/>
                <a:ea typeface="+mn-ea"/>
                <a:cs typeface="+mn-cs"/>
              </a:rPr>
              <a:t>Data entry errors – due to simple mistakes made by staff when entering information into systems and files, such as:</a:t>
            </a:r>
          </a:p>
          <a:p>
            <a:pPr marL="628650" lvl="1" indent="-171450">
              <a:buFont typeface="Arial" pitchFamily="34" charset="0"/>
              <a:buChar char="•"/>
            </a:pPr>
            <a:r>
              <a:rPr lang="en-US" sz="1200" kern="1200" dirty="0" smtClean="0">
                <a:solidFill>
                  <a:schemeClr val="tx1"/>
                </a:solidFill>
                <a:latin typeface="+mn-lt"/>
                <a:ea typeface="+mn-ea"/>
                <a:cs typeface="+mn-cs"/>
              </a:rPr>
              <a:t>Transpositional or transcription errors – where figures/numbers are inadvertently mixed up and put/entered in the wrong sequence: for example, entering ‘1234’ when it should have been ‘1324’, or entering ‘123’ when ‘1234’ should have been entered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Errors in reading and/or interpreting hand-written figures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Hitting the wrong key when entering an amount or code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Rushing the work being done – and not undertaking proper checks of the completed work</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Sales that should have had an invoice raised – but by error or oversight did not.</a:t>
            </a:r>
          </a:p>
          <a:p>
            <a:pPr marL="628650" lvl="1" indent="-171450">
              <a:buFont typeface="Arial" pitchFamily="34" charset="0"/>
              <a:buChar char="•"/>
            </a:pPr>
            <a:r>
              <a:rPr lang="en-AU" sz="1200" kern="1200" dirty="0" smtClean="0">
                <a:solidFill>
                  <a:schemeClr val="tx1"/>
                </a:solidFill>
                <a:latin typeface="+mn-lt"/>
                <a:ea typeface="+mn-ea"/>
                <a:cs typeface="+mn-cs"/>
              </a:rPr>
              <a:t>Obviously important where the sale was man account sale and not a cash (on-the-spot) transaction where payment was received at the time for products/services provided.</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40719558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identifying factors which should be identified</a:t>
            </a:r>
            <a:r>
              <a:rPr lang="en-US" baseline="0" noProof="0" dirty="0" smtClean="0"/>
              <a:t> when </a:t>
            </a:r>
            <a:r>
              <a:rPr lang="en-US" noProof="0" dirty="0" smtClean="0"/>
              <a:t>states when </a:t>
            </a:r>
            <a:r>
              <a:rPr lang="en-AU" sz="1200" kern="1200" dirty="0" smtClean="0">
                <a:solidFill>
                  <a:schemeClr val="tx1"/>
                </a:solidFill>
                <a:latin typeface="+mn-lt"/>
                <a:ea typeface="+mn-ea"/>
                <a:cs typeface="+mn-cs"/>
              </a:rPr>
              <a:t>checking actual income and expenditure against budgets:</a:t>
            </a:r>
          </a:p>
          <a:p>
            <a:pPr marL="171450" lvl="0" indent="-171450">
              <a:buFont typeface="Arial" pitchFamily="34" charset="0"/>
              <a:buChar char="•"/>
            </a:pPr>
            <a:r>
              <a:rPr lang="en-AU" sz="1200" kern="1200" dirty="0" smtClean="0">
                <a:solidFill>
                  <a:schemeClr val="tx1"/>
                </a:solidFill>
                <a:latin typeface="+mn-lt"/>
                <a:ea typeface="+mn-ea"/>
                <a:cs typeface="+mn-cs"/>
              </a:rPr>
              <a:t>Goods not delivered to the business but charged for – for example in situations where an invoice/delivery docket indicates:</a:t>
            </a:r>
          </a:p>
          <a:p>
            <a:pPr marL="628650" lvl="1" indent="-171450">
              <a:buFont typeface="Arial" pitchFamily="34" charset="0"/>
              <a:buChar char="•"/>
            </a:pPr>
            <a:r>
              <a:rPr lang="en-US" sz="1200" kern="1200" dirty="0" smtClean="0">
                <a:solidFill>
                  <a:schemeClr val="tx1"/>
                </a:solidFill>
                <a:latin typeface="+mn-lt"/>
                <a:ea typeface="+mn-ea"/>
                <a:cs typeface="+mn-cs"/>
              </a:rPr>
              <a:t>The business received goods which, in fact, were not supplied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amount/number of items received were less than shown on the accompanying documentation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Goods provided were not the same as shown as good ordered/listed on Purchase Orders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Goods were returned to the suppliers but no credit has been received for those items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Posting errors – which might include:</a:t>
            </a:r>
          </a:p>
          <a:p>
            <a:pPr marL="628650" lvl="1" indent="-171450">
              <a:buFont typeface="Arial" pitchFamily="34" charset="0"/>
              <a:buChar char="•"/>
            </a:pPr>
            <a:r>
              <a:rPr lang="en-AU" sz="1200" kern="1200" dirty="0" smtClean="0">
                <a:solidFill>
                  <a:schemeClr val="tx1"/>
                </a:solidFill>
                <a:latin typeface="+mn-lt"/>
                <a:ea typeface="+mn-ea"/>
                <a:cs typeface="+mn-cs"/>
              </a:rPr>
              <a:t>Posting of the wrong amount – due to human error or misinterpretation</a:t>
            </a:r>
          </a:p>
          <a:p>
            <a:pPr marL="628650" lvl="1" indent="-171450">
              <a:buFont typeface="Arial" pitchFamily="34" charset="0"/>
              <a:buChar char="•"/>
            </a:pPr>
            <a:r>
              <a:rPr lang="en-AU" sz="1200" kern="1200" dirty="0" smtClean="0">
                <a:solidFill>
                  <a:schemeClr val="tx1"/>
                </a:solidFill>
                <a:latin typeface="+mn-lt"/>
                <a:ea typeface="+mn-ea"/>
                <a:cs typeface="+mn-cs"/>
              </a:rPr>
              <a:t>Omitting a posting – where a source documents was simply overlooked, lost or assumed to have been already processed</a:t>
            </a:r>
          </a:p>
          <a:p>
            <a:pPr marL="628650" lvl="1" indent="-171450">
              <a:buFont typeface="Arial" pitchFamily="34" charset="0"/>
              <a:buChar char="•"/>
            </a:pPr>
            <a:r>
              <a:rPr lang="en-AU" sz="1200" kern="1200" dirty="0" smtClean="0">
                <a:solidFill>
                  <a:schemeClr val="tx1"/>
                </a:solidFill>
                <a:latin typeface="+mn-lt"/>
                <a:ea typeface="+mn-ea"/>
                <a:cs typeface="+mn-cs"/>
              </a:rPr>
              <a:t>Posting in the wrong column – meaning, for example:</a:t>
            </a:r>
          </a:p>
          <a:p>
            <a:pPr marL="1085850" lvl="2" indent="-171450">
              <a:buFont typeface="Arial" pitchFamily="34" charset="0"/>
              <a:buChar char="•"/>
            </a:pPr>
            <a:r>
              <a:rPr lang="en-AU" sz="1200" kern="1200" dirty="0" smtClean="0">
                <a:solidFill>
                  <a:schemeClr val="tx1"/>
                </a:solidFill>
                <a:latin typeface="+mn-lt"/>
                <a:ea typeface="+mn-ea"/>
                <a:cs typeface="+mn-cs"/>
              </a:rPr>
              <a:t>Income was shown as an expenses</a:t>
            </a:r>
          </a:p>
          <a:p>
            <a:pPr marL="1085850" lvl="2" indent="-171450">
              <a:buFont typeface="Arial" pitchFamily="34" charset="0"/>
              <a:buChar char="•"/>
            </a:pPr>
            <a:r>
              <a:rPr lang="en-AU" sz="1200" kern="1200" dirty="0" smtClean="0">
                <a:solidFill>
                  <a:schemeClr val="tx1"/>
                </a:solidFill>
                <a:latin typeface="+mn-lt"/>
                <a:ea typeface="+mn-ea"/>
                <a:cs typeface="+mn-cs"/>
              </a:rPr>
              <a:t>Expenditure on food was shown as expenditure on another classification/category of materials</a:t>
            </a:r>
          </a:p>
          <a:p>
            <a:pPr marL="628650" lvl="1" indent="-171450">
              <a:buFont typeface="Arial" pitchFamily="34" charset="0"/>
              <a:buChar char="•"/>
            </a:pPr>
            <a:r>
              <a:rPr lang="en-AU" sz="1200" kern="1200" dirty="0" smtClean="0">
                <a:solidFill>
                  <a:schemeClr val="tx1"/>
                </a:solidFill>
                <a:latin typeface="+mn-lt"/>
                <a:ea typeface="+mn-ea"/>
                <a:cs typeface="+mn-cs"/>
              </a:rPr>
              <a:t>Posting a transaction more than once – caused by human error of failure by data entry staff to note the source document had already been processed.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2052876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discusses significance of deviation offering:</a:t>
            </a:r>
          </a:p>
          <a:p>
            <a:pPr marL="171450" indent="-171450">
              <a:buFont typeface="Arial" pitchFamily="34" charset="0"/>
              <a:buChar char="•"/>
            </a:pPr>
            <a:r>
              <a:rPr lang="en-AU" sz="1200" kern="1200" dirty="0" smtClean="0">
                <a:solidFill>
                  <a:schemeClr val="tx1"/>
                </a:solidFill>
                <a:latin typeface="+mn-lt"/>
                <a:ea typeface="+mn-ea"/>
                <a:cs typeface="+mn-cs"/>
              </a:rPr>
              <a:t>When checking budgets there will rarely (if ever) be a situation where ‘actual’ figures exactly meet ‘projected’ figures.</a:t>
            </a:r>
          </a:p>
          <a:p>
            <a:pPr marL="171450" indent="-171450">
              <a:buFont typeface="Arial" pitchFamily="34" charset="0"/>
              <a:buChar char="•"/>
            </a:pPr>
            <a:r>
              <a:rPr lang="en-AU" sz="1200" kern="1200" dirty="0" smtClean="0">
                <a:solidFill>
                  <a:schemeClr val="tx1"/>
                </a:solidFill>
                <a:latin typeface="+mn-lt"/>
                <a:ea typeface="+mn-ea"/>
                <a:cs typeface="+mn-cs"/>
              </a:rPr>
              <a:t>There will (nearly) always be a variation between the two sets of figures.</a:t>
            </a:r>
          </a:p>
          <a:p>
            <a:pPr marL="171450" indent="-171450">
              <a:buFont typeface="Arial" pitchFamily="34" charset="0"/>
              <a:buChar char="•"/>
            </a:pPr>
            <a:r>
              <a:rPr lang="en-AU" sz="1200" kern="1200" dirty="0" smtClean="0">
                <a:solidFill>
                  <a:schemeClr val="tx1"/>
                </a:solidFill>
                <a:latin typeface="+mn-lt"/>
                <a:ea typeface="+mn-ea"/>
                <a:cs typeface="+mn-cs"/>
              </a:rPr>
              <a:t>This variation is called a ‘discrepancy’.</a:t>
            </a:r>
          </a:p>
          <a:p>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Management by exception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most cases discrepancies are to be expected and can be effectively noted but otherwise ignored.</a:t>
            </a:r>
          </a:p>
          <a:p>
            <a:pPr marL="171450" indent="-171450">
              <a:buFont typeface="Arial" pitchFamily="34" charset="0"/>
              <a:buChar char="•"/>
            </a:pPr>
            <a:r>
              <a:rPr lang="en-AU" sz="1200" kern="1200" dirty="0" smtClean="0">
                <a:solidFill>
                  <a:schemeClr val="tx1"/>
                </a:solidFill>
                <a:latin typeface="+mn-lt"/>
                <a:ea typeface="+mn-ea"/>
                <a:cs typeface="+mn-cs"/>
              </a:rPr>
              <a:t>However where these deviations are ‘significant’ they must be acted on in accordance with whatever action is deemed necessary to retrieve/resolve the situation. This is known as ‘management by exception’.</a:t>
            </a:r>
          </a:p>
          <a:p>
            <a:pPr marL="171450" indent="-171450">
              <a:buFont typeface="Arial" pitchFamily="34" charset="0"/>
              <a:buChar char="•"/>
            </a:pPr>
            <a:r>
              <a:rPr lang="en-AU" sz="1200" kern="1200" dirty="0" smtClean="0">
                <a:solidFill>
                  <a:schemeClr val="tx1"/>
                </a:solidFill>
                <a:latin typeface="+mn-lt"/>
                <a:ea typeface="+mn-ea"/>
                <a:cs typeface="+mn-cs"/>
              </a:rPr>
              <a:t>This is where (in the context of talking about budgets), management only concerns itself with those figures which fall outside acceptable parameters – that is, figures which are the exception (to the rule).</a:t>
            </a:r>
          </a:p>
          <a:p>
            <a:pPr marL="171450" indent="-171450">
              <a:buFont typeface="Arial" pitchFamily="34" charset="0"/>
              <a:buChar char="•"/>
            </a:pPr>
            <a:r>
              <a:rPr lang="en-AU" sz="1200" kern="1200" dirty="0" smtClean="0">
                <a:solidFill>
                  <a:schemeClr val="tx1"/>
                </a:solidFill>
                <a:latin typeface="+mn-lt"/>
                <a:ea typeface="+mn-ea"/>
                <a:cs typeface="+mn-cs"/>
              </a:rPr>
              <a:t>It is up to each organisation/manager to set the parameters for what constitutes 'exception', and these parameters will vary between businesses and may even be set at different levels for different revenue centres within the one organisation.</a:t>
            </a:r>
          </a:p>
          <a:p>
            <a:pPr marL="628650" lvl="1" indent="-171450">
              <a:buFont typeface="Arial" pitchFamily="34" charset="0"/>
              <a:buChar char="•"/>
            </a:pPr>
            <a:r>
              <a:rPr lang="en-AU" sz="1200" kern="1200" dirty="0" smtClean="0">
                <a:solidFill>
                  <a:schemeClr val="tx1"/>
                </a:solidFill>
                <a:latin typeface="+mn-lt"/>
                <a:ea typeface="+mn-ea"/>
                <a:cs typeface="+mn-cs"/>
              </a:rPr>
              <a:t>For example, management may determine 5% (or 1%, or 2½%) is their 'exception' limit.  Therefore when any report shows figures falling outside this limit, the printout will flag (‘red flag’) them for attention.  </a:t>
            </a:r>
          </a:p>
          <a:p>
            <a:pPr marL="1085850" marR="0" lvl="2"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In other cases, management may elect to set a monetary figure as their exception limit: in these cases, where revenue is X below budget – or expenditure is X above budget – these lines will be flagged for attention.</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US" sz="1200" b="1" kern="1200" noProof="0" dirty="0" smtClean="0">
                <a:solidFill>
                  <a:schemeClr val="tx1"/>
                </a:solidFill>
                <a:latin typeface="+mn-lt"/>
                <a:ea typeface="+mn-ea"/>
                <a:cs typeface="+mn-cs"/>
              </a:rPr>
              <a:t>Class</a:t>
            </a:r>
            <a:r>
              <a:rPr lang="en-US" sz="1200" b="1" kern="1200" baseline="0" noProof="0" dirty="0" smtClean="0">
                <a:solidFill>
                  <a:schemeClr val="tx1"/>
                </a:solidFill>
                <a:latin typeface="+mn-lt"/>
                <a:ea typeface="+mn-ea"/>
                <a:cs typeface="+mn-cs"/>
              </a:rPr>
              <a:t> Activity – Guest Speaker</a:t>
            </a:r>
          </a:p>
          <a:p>
            <a:pPr>
              <a:buFont typeface="Arial" pitchFamily="34" charset="0"/>
              <a:buNone/>
            </a:pPr>
            <a:endParaRPr lang="en-US" sz="1200" b="1" kern="1200" baseline="0" noProof="0" dirty="0" smtClean="0">
              <a:solidFill>
                <a:schemeClr val="tx1"/>
              </a:solidFill>
              <a:latin typeface="+mn-lt"/>
              <a:ea typeface="+mn-ea"/>
              <a:cs typeface="+mn-cs"/>
            </a:endParaRPr>
          </a:p>
          <a:p>
            <a:pPr>
              <a:buFont typeface="Arial" pitchFamily="34" charset="0"/>
              <a:buNone/>
            </a:pPr>
            <a:r>
              <a:rPr lang="en-US" sz="1200" b="0" kern="1200" baseline="0" noProof="0" dirty="0" smtClean="0">
                <a:solidFill>
                  <a:schemeClr val="tx1"/>
                </a:solidFill>
                <a:latin typeface="+mn-lt"/>
                <a:ea typeface="+mn-ea"/>
                <a:cs typeface="+mn-cs"/>
              </a:rPr>
              <a:t>Trainer arranges for manager/suitable person from local business to attend and talk about identifying and reporting discrepancies and the organisational policies and protocols which apply.</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7652166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provides an overview</a:t>
            </a:r>
            <a:r>
              <a:rPr lang="en-US" baseline="0" noProof="0" dirty="0" smtClean="0"/>
              <a:t> of </a:t>
            </a:r>
            <a:r>
              <a:rPr lang="en-AU" sz="1200" kern="1200" dirty="0" smtClean="0">
                <a:solidFill>
                  <a:schemeClr val="tx1"/>
                </a:solidFill>
                <a:latin typeface="+mn-lt"/>
                <a:ea typeface="+mn-ea"/>
                <a:cs typeface="+mn-cs"/>
              </a:rPr>
              <a:t>general considerations which apply, in practice, when considering comparisons of actual figures against budgeted projections:</a:t>
            </a:r>
          </a:p>
          <a:p>
            <a:pPr marL="171450" lvl="0" indent="-171450">
              <a:buFont typeface="Arial" pitchFamily="34" charset="0"/>
              <a:buChar char="•"/>
            </a:pPr>
            <a:r>
              <a:rPr lang="en-AU" sz="1200" kern="1200" dirty="0" smtClean="0">
                <a:solidFill>
                  <a:schemeClr val="tx1"/>
                </a:solidFill>
                <a:latin typeface="+mn-lt"/>
                <a:ea typeface="+mn-ea"/>
                <a:cs typeface="+mn-cs"/>
              </a:rPr>
              <a:t>An increase in costs is unfavourable</a:t>
            </a:r>
          </a:p>
          <a:p>
            <a:pPr marL="171450" lvl="0" indent="-171450">
              <a:buFont typeface="Arial" pitchFamily="34" charset="0"/>
              <a:buChar char="•"/>
            </a:pPr>
            <a:r>
              <a:rPr lang="en-AU" sz="1200" kern="1200" dirty="0" smtClean="0">
                <a:solidFill>
                  <a:schemeClr val="tx1"/>
                </a:solidFill>
                <a:latin typeface="+mn-lt"/>
                <a:ea typeface="+mn-ea"/>
                <a:cs typeface="+mn-cs"/>
              </a:rPr>
              <a:t>A decrease in costs is favourable</a:t>
            </a:r>
          </a:p>
          <a:p>
            <a:pPr marL="171450" lvl="0" indent="-171450">
              <a:buFont typeface="Arial" pitchFamily="34" charset="0"/>
              <a:buChar char="•"/>
            </a:pPr>
            <a:r>
              <a:rPr lang="en-AU" sz="1200" kern="1200" dirty="0" smtClean="0">
                <a:solidFill>
                  <a:schemeClr val="tx1"/>
                </a:solidFill>
                <a:latin typeface="+mn-lt"/>
                <a:ea typeface="+mn-ea"/>
                <a:cs typeface="+mn-cs"/>
              </a:rPr>
              <a:t>An increase in revenue is favourable</a:t>
            </a:r>
          </a:p>
          <a:p>
            <a:pPr marL="171450" lvl="0" indent="-171450">
              <a:buFont typeface="Arial" pitchFamily="34" charset="0"/>
              <a:buChar char="•"/>
            </a:pPr>
            <a:r>
              <a:rPr lang="en-AU" sz="1200" kern="1200" dirty="0" smtClean="0">
                <a:solidFill>
                  <a:schemeClr val="tx1"/>
                </a:solidFill>
                <a:latin typeface="+mn-lt"/>
                <a:ea typeface="+mn-ea"/>
                <a:cs typeface="+mn-cs"/>
              </a:rPr>
              <a:t>A decrease in revenue is unfavourable.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There are certain circumstances, however, in which these generalities do not apply.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76441569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a:t>
            </a:r>
            <a:r>
              <a:rPr lang="en-AU" sz="1200" kern="1200" dirty="0" smtClean="0">
                <a:solidFill>
                  <a:schemeClr val="tx1"/>
                </a:solidFill>
                <a:latin typeface="+mn-lt"/>
                <a:ea typeface="+mn-ea"/>
                <a:cs typeface="+mn-cs"/>
              </a:rPr>
              <a:t>enterprise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policy in relation to checking budgets and identifying and reporting discrepancies are usually supported by a range of operational procedures and commonly address:</a:t>
            </a:r>
          </a:p>
          <a:p>
            <a:pPr marL="171450" lvl="0" indent="-171450">
              <a:buFont typeface="Arial" pitchFamily="34" charset="0"/>
              <a:buChar char="•"/>
            </a:pPr>
            <a:r>
              <a:rPr lang="en-AU" sz="1200" kern="1200" dirty="0" smtClean="0">
                <a:solidFill>
                  <a:schemeClr val="tx1"/>
                </a:solidFill>
                <a:latin typeface="+mn-lt"/>
                <a:ea typeface="+mn-ea"/>
                <a:cs typeface="+mn-cs"/>
              </a:rPr>
              <a:t>Frequency with which nominated budgets and reports need to be prepared – and distributed for checking/analysis</a:t>
            </a:r>
          </a:p>
          <a:p>
            <a:pPr marL="171450" lvl="0" indent="-171450">
              <a:buFont typeface="Arial" pitchFamily="34" charset="0"/>
              <a:buChar char="•"/>
            </a:pPr>
            <a:r>
              <a:rPr lang="en-AU" sz="1200" kern="1200" dirty="0" smtClean="0">
                <a:solidFill>
                  <a:schemeClr val="tx1"/>
                </a:solidFill>
                <a:latin typeface="+mn-lt"/>
                <a:ea typeface="+mn-ea"/>
                <a:cs typeface="+mn-cs"/>
              </a:rPr>
              <a:t>Frequency with which checks are to be made – for nominated budgets and other reports/statements</a:t>
            </a:r>
          </a:p>
          <a:p>
            <a:pPr marL="171450" lvl="0" indent="-171450">
              <a:buFont typeface="Arial" pitchFamily="34" charset="0"/>
              <a:buChar char="•"/>
            </a:pPr>
            <a:r>
              <a:rPr lang="en-AU" sz="1200" kern="1200" dirty="0" smtClean="0">
                <a:solidFill>
                  <a:schemeClr val="tx1"/>
                </a:solidFill>
                <a:latin typeface="+mn-lt"/>
                <a:ea typeface="+mn-ea"/>
                <a:cs typeface="+mn-cs"/>
              </a:rPr>
              <a:t>Processes/protocols for analysing the documents and statistics – which will be supported by appropriate in-house and on-the-job training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113596219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enterprise polices which apply:</a:t>
            </a:r>
          </a:p>
          <a:p>
            <a:pPr marL="171450" lvl="0" indent="-171450">
              <a:buFont typeface="Arial" pitchFamily="34" charset="0"/>
              <a:buChar char="•"/>
            </a:pPr>
            <a:r>
              <a:rPr lang="en-AU" sz="1200" kern="1200" dirty="0" smtClean="0">
                <a:solidFill>
                  <a:schemeClr val="tx1"/>
                </a:solidFill>
                <a:latin typeface="+mn-lt"/>
                <a:ea typeface="+mn-ea"/>
                <a:cs typeface="+mn-cs"/>
              </a:rPr>
              <a:t>Basis for determining parameters which constitute notifiable deviations – these are the discrepancies which need to be reported and have recommended action developed to address the situation</a:t>
            </a:r>
          </a:p>
          <a:p>
            <a:pPr marL="171450" lvl="0" indent="-171450">
              <a:buFont typeface="Arial" pitchFamily="34" charset="0"/>
              <a:buChar char="•"/>
            </a:pPr>
            <a:r>
              <a:rPr lang="en-AU" sz="1200" kern="1200" dirty="0" smtClean="0">
                <a:solidFill>
                  <a:schemeClr val="tx1"/>
                </a:solidFill>
                <a:latin typeface="+mn-lt"/>
                <a:ea typeface="+mn-ea"/>
                <a:cs typeface="+mn-cs"/>
              </a:rPr>
              <a:t>Timeframe within which notifications must be made – when unacceptable situations have been identified</a:t>
            </a:r>
          </a:p>
          <a:p>
            <a:pPr marL="171450" lvl="0" indent="-171450">
              <a:buFont typeface="Arial" pitchFamily="34" charset="0"/>
              <a:buChar char="•"/>
            </a:pPr>
            <a:r>
              <a:rPr lang="en-AU" sz="1200" kern="1200" dirty="0" smtClean="0">
                <a:solidFill>
                  <a:schemeClr val="tx1"/>
                </a:solidFill>
                <a:latin typeface="+mn-lt"/>
                <a:ea typeface="+mn-ea"/>
                <a:cs typeface="+mn-cs"/>
              </a:rPr>
              <a:t>Personnel/departments who must be informed – when notifiable deviations are identified</a:t>
            </a:r>
          </a:p>
          <a:p>
            <a:pPr marL="171450" lvl="0" indent="-171450">
              <a:buFont typeface="Arial" pitchFamily="34" charset="0"/>
              <a:buChar char="•"/>
            </a:pPr>
            <a:r>
              <a:rPr lang="en-AU" sz="1200" kern="1200" dirty="0" smtClean="0">
                <a:solidFill>
                  <a:schemeClr val="tx1"/>
                </a:solidFill>
                <a:latin typeface="+mn-lt"/>
                <a:ea typeface="+mn-ea"/>
                <a:cs typeface="+mn-cs"/>
              </a:rPr>
              <a:t>Form of notification – detailing how reports are to be made and identifying required content and/or supporting or allied information and evidence.</a:t>
            </a:r>
          </a:p>
          <a:p>
            <a:pPr>
              <a:buFont typeface="Arial" pitchFamily="34" charset="0"/>
              <a:buNone/>
            </a:pPr>
            <a:endParaRPr lang="en-US" noProof="0" dirty="0" smtClean="0"/>
          </a:p>
          <a:p>
            <a:pPr>
              <a:buFont typeface="Arial" pitchFamily="34" charset="0"/>
              <a:buNone/>
            </a:pPr>
            <a:r>
              <a:rPr lang="en-US" b="1" noProof="0" dirty="0" smtClean="0"/>
              <a:t>Class Activity – Guest Speaker</a:t>
            </a:r>
          </a:p>
          <a:p>
            <a:pPr>
              <a:buFont typeface="Arial" pitchFamily="34" charset="0"/>
              <a:buNone/>
            </a:pPr>
            <a:endParaRPr lang="en-US" b="1" noProof="0" dirty="0" smtClean="0"/>
          </a:p>
          <a:p>
            <a:pPr>
              <a:buFont typeface="Arial" pitchFamily="34" charset="0"/>
              <a:buNone/>
            </a:pPr>
            <a:r>
              <a:rPr lang="en-US" b="0" noProof="0" dirty="0" smtClean="0"/>
              <a:t>Trainer arranges for suitable person to attend and discuss enterprise policies and procedures for identifying and reporting significant deviations.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6126619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where </a:t>
            </a:r>
            <a:r>
              <a:rPr lang="en-AU" sz="1200" kern="1200" dirty="0" smtClean="0">
                <a:solidFill>
                  <a:schemeClr val="tx1"/>
                </a:solidFill>
                <a:latin typeface="+mn-lt"/>
                <a:ea typeface="+mn-ea"/>
                <a:cs typeface="+mn-cs"/>
              </a:rPr>
              <a:t>notifications are required in relation to budgetary discrepancies the standard options and requirements are:</a:t>
            </a:r>
          </a:p>
          <a:p>
            <a:pPr marL="171450" lvl="0" indent="-171450">
              <a:buFont typeface="Arial" pitchFamily="34" charset="0"/>
              <a:buChar char="•"/>
            </a:pPr>
            <a:r>
              <a:rPr lang="en-AU" sz="1200" kern="1200" dirty="0" smtClean="0">
                <a:solidFill>
                  <a:schemeClr val="tx1"/>
                </a:solidFill>
                <a:latin typeface="+mn-lt"/>
                <a:ea typeface="+mn-ea"/>
                <a:cs typeface="+mn-cs"/>
              </a:rPr>
              <a:t>Immediate verbal report made face-to-face or using the telephone – to the nominated person (such as immediate super-ordinate) or department (accounts, finance, purchasing or other as appropriate to the type of discrepancy)</a:t>
            </a:r>
          </a:p>
          <a:p>
            <a:pPr marL="171450" lvl="0" indent="-171450">
              <a:buFont typeface="Arial" pitchFamily="34" charset="0"/>
              <a:buChar char="•"/>
            </a:pPr>
            <a:r>
              <a:rPr lang="en-AU" sz="1200" kern="1200" dirty="0" smtClean="0">
                <a:solidFill>
                  <a:schemeClr val="tx1"/>
                </a:solidFill>
                <a:latin typeface="+mn-lt"/>
                <a:ea typeface="+mn-ea"/>
                <a:cs typeface="+mn-cs"/>
              </a:rPr>
              <a:t>Formal presentation – to nominated group/committee </a:t>
            </a:r>
          </a:p>
          <a:p>
            <a:pPr marL="171450" lvl="0" indent="-171450">
              <a:buFont typeface="Arial" pitchFamily="34" charset="0"/>
              <a:buChar char="•"/>
            </a:pPr>
            <a:r>
              <a:rPr lang="en-AU" sz="1200" kern="1200" dirty="0" smtClean="0">
                <a:solidFill>
                  <a:schemeClr val="tx1"/>
                </a:solidFill>
                <a:latin typeface="+mn-lt"/>
                <a:ea typeface="+mn-ea"/>
                <a:cs typeface="+mn-cs"/>
              </a:rPr>
              <a:t>Being available and prepared to:</a:t>
            </a:r>
          </a:p>
          <a:p>
            <a:pPr marL="628650" lvl="1" indent="-171450">
              <a:buFont typeface="Arial" pitchFamily="34" charset="0"/>
              <a:buChar char="•"/>
            </a:pPr>
            <a:r>
              <a:rPr lang="en-US" sz="1200" kern="1200" dirty="0" smtClean="0">
                <a:solidFill>
                  <a:schemeClr val="tx1"/>
                </a:solidFill>
                <a:latin typeface="+mn-lt"/>
                <a:ea typeface="+mn-ea"/>
                <a:cs typeface="+mn-cs"/>
              </a:rPr>
              <a:t>Respond to questions – form management and relevant others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Recommend action – to take in response.</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3643168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t>
            </a:r>
            <a:r>
              <a:rPr lang="en-AU" sz="1200" kern="1200" dirty="0" smtClean="0">
                <a:solidFill>
                  <a:schemeClr val="tx1"/>
                </a:solidFill>
                <a:latin typeface="+mn-lt"/>
                <a:ea typeface="+mn-ea"/>
                <a:cs typeface="+mn-cs"/>
              </a:rPr>
              <a:t>states some organisations require ‘others’ to be advised of analysis of budgets (and other financial and management/operational reports) and some do not explaining there is a wide variation in orientations to sharing/disclosing this information with others within the industry and industry sectors advising notification may be required to:</a:t>
            </a:r>
          </a:p>
          <a:p>
            <a:pPr marL="171450" lvl="0" indent="-171450">
              <a:buFont typeface="Arial" pitchFamily="34" charset="0"/>
              <a:buChar char="•"/>
            </a:pPr>
            <a:r>
              <a:rPr lang="en-AU" sz="1200" kern="1200" dirty="0" smtClean="0">
                <a:solidFill>
                  <a:schemeClr val="tx1"/>
                </a:solidFill>
                <a:latin typeface="+mn-lt"/>
                <a:ea typeface="+mn-ea"/>
                <a:cs typeface="+mn-cs"/>
              </a:rPr>
              <a:t>Motivate others – to change their actions to what is required on the basis of recent results/financial performances</a:t>
            </a:r>
          </a:p>
          <a:p>
            <a:pPr marL="171450" lvl="0" indent="-171450">
              <a:buFont typeface="Arial" pitchFamily="34" charset="0"/>
              <a:buChar char="•"/>
            </a:pPr>
            <a:r>
              <a:rPr lang="en-AU" sz="1200" kern="1200" dirty="0" smtClean="0">
                <a:solidFill>
                  <a:schemeClr val="tx1"/>
                </a:solidFill>
                <a:latin typeface="+mn-lt"/>
                <a:ea typeface="+mn-ea"/>
                <a:cs typeface="+mn-cs"/>
              </a:rPr>
              <a:t>Acknowledge the work of others – whose efforts have enables achievement of positive outcomes</a:t>
            </a:r>
          </a:p>
          <a:p>
            <a:pPr marL="171450" lvl="0" indent="-171450">
              <a:buFont typeface="Arial" pitchFamily="34" charset="0"/>
              <a:buChar char="•"/>
            </a:pPr>
            <a:r>
              <a:rPr lang="en-AU" sz="1200" kern="1200" dirty="0" smtClean="0">
                <a:solidFill>
                  <a:schemeClr val="tx1"/>
                </a:solidFill>
                <a:latin typeface="+mn-lt"/>
                <a:ea typeface="+mn-ea"/>
                <a:cs typeface="+mn-cs"/>
              </a:rPr>
              <a:t>Keep others informed – of the performance/results of other areas within the larger organisation so they can factor this knowledge into their planning and preparation</a:t>
            </a:r>
          </a:p>
          <a:p>
            <a:pPr marL="171450" lvl="0" indent="-171450">
              <a:buFont typeface="Arial" pitchFamily="34" charset="0"/>
              <a:buChar char="•"/>
            </a:pPr>
            <a:r>
              <a:rPr lang="en-AU" sz="1200" kern="1200" dirty="0" smtClean="0">
                <a:solidFill>
                  <a:schemeClr val="tx1"/>
                </a:solidFill>
                <a:latin typeface="+mn-lt"/>
                <a:ea typeface="+mn-ea"/>
                <a:cs typeface="+mn-cs"/>
              </a:rPr>
              <a:t>Allow others to learn lessons contained within the results – this can:</a:t>
            </a:r>
          </a:p>
          <a:p>
            <a:pPr marL="628650" lvl="1" indent="-171450">
              <a:buFont typeface="Arial" pitchFamily="34" charset="0"/>
              <a:buChar char="•"/>
            </a:pPr>
            <a:r>
              <a:rPr lang="en-US" sz="1200" kern="1200" dirty="0" smtClean="0">
                <a:solidFill>
                  <a:schemeClr val="tx1"/>
                </a:solidFill>
                <a:latin typeface="+mn-lt"/>
                <a:ea typeface="+mn-ea"/>
                <a:cs typeface="+mn-cs"/>
              </a:rPr>
              <a:t>Prevent others making similar mistakes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Enable positive actions to be spread throughout the wider organisation.</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90907124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those </a:t>
            </a:r>
            <a:r>
              <a:rPr lang="en-AU" sz="1200" kern="1200" dirty="0" smtClean="0">
                <a:solidFill>
                  <a:schemeClr val="tx1"/>
                </a:solidFill>
                <a:latin typeface="+mn-lt"/>
                <a:ea typeface="+mn-ea"/>
                <a:cs typeface="+mn-cs"/>
              </a:rPr>
              <a:t>who may need to be informed in relation to findings may include:</a:t>
            </a:r>
          </a:p>
          <a:p>
            <a:pPr marL="171450" lvl="0" indent="-171450">
              <a:buFont typeface="Arial" pitchFamily="34" charset="0"/>
              <a:buChar char="•"/>
            </a:pPr>
            <a:r>
              <a:rPr lang="en-AU" sz="1200" kern="1200" dirty="0" smtClean="0">
                <a:solidFill>
                  <a:schemeClr val="tx1"/>
                </a:solidFill>
                <a:latin typeface="+mn-lt"/>
                <a:ea typeface="+mn-ea"/>
                <a:cs typeface="+mn-cs"/>
              </a:rPr>
              <a:t>Owner</a:t>
            </a:r>
          </a:p>
          <a:p>
            <a:pPr marL="171450" lvl="0" indent="-171450">
              <a:buFont typeface="Arial" pitchFamily="34" charset="0"/>
              <a:buChar char="•"/>
            </a:pPr>
            <a:r>
              <a:rPr lang="en-AU" sz="1200" kern="1200" dirty="0" smtClean="0">
                <a:solidFill>
                  <a:schemeClr val="tx1"/>
                </a:solidFill>
                <a:latin typeface="+mn-lt"/>
                <a:ea typeface="+mn-ea"/>
                <a:cs typeface="+mn-cs"/>
              </a:rPr>
              <a:t>Senior management </a:t>
            </a:r>
          </a:p>
          <a:p>
            <a:pPr marL="171450" lvl="0" indent="-171450">
              <a:buFont typeface="Arial" pitchFamily="34" charset="0"/>
              <a:buChar char="•"/>
            </a:pPr>
            <a:r>
              <a:rPr lang="en-AU" sz="1200" kern="1200" dirty="0" smtClean="0">
                <a:solidFill>
                  <a:schemeClr val="tx1"/>
                </a:solidFill>
                <a:latin typeface="+mn-lt"/>
                <a:ea typeface="+mn-ea"/>
                <a:cs typeface="+mn-cs"/>
              </a:rPr>
              <a:t>The accounts/finance department </a:t>
            </a:r>
          </a:p>
          <a:p>
            <a:pPr marL="171450" lvl="0" indent="-171450">
              <a:buFont typeface="Arial" pitchFamily="34" charset="0"/>
              <a:buChar char="•"/>
            </a:pPr>
            <a:r>
              <a:rPr lang="en-AU" sz="1200" kern="1200" dirty="0" smtClean="0">
                <a:solidFill>
                  <a:schemeClr val="tx1"/>
                </a:solidFill>
                <a:latin typeface="+mn-lt"/>
                <a:ea typeface="+mn-ea"/>
                <a:cs typeface="+mn-cs"/>
              </a:rPr>
              <a:t>Budget committee </a:t>
            </a:r>
          </a:p>
          <a:p>
            <a:pPr marL="171450" lvl="0" indent="-171450">
              <a:buFont typeface="Arial" pitchFamily="34" charset="0"/>
              <a:buChar char="•"/>
            </a:pPr>
            <a:r>
              <a:rPr lang="en-AU" sz="1200" kern="1200" dirty="0" smtClean="0">
                <a:solidFill>
                  <a:schemeClr val="tx1"/>
                </a:solidFill>
                <a:latin typeface="+mn-lt"/>
                <a:ea typeface="+mn-ea"/>
                <a:cs typeface="+mn-cs"/>
              </a:rPr>
              <a:t>Supervisors</a:t>
            </a:r>
          </a:p>
          <a:p>
            <a:pPr marL="171450" lvl="0" indent="-171450">
              <a:buFont typeface="Arial" pitchFamily="34" charset="0"/>
              <a:buChar char="•"/>
            </a:pPr>
            <a:r>
              <a:rPr lang="en-AU" sz="1200" kern="1200" dirty="0" smtClean="0">
                <a:solidFill>
                  <a:schemeClr val="tx1"/>
                </a:solidFill>
                <a:latin typeface="+mn-lt"/>
                <a:ea typeface="+mn-ea"/>
                <a:cs typeface="+mn-cs"/>
              </a:rPr>
              <a:t>Staff – which may relate to:</a:t>
            </a:r>
          </a:p>
          <a:p>
            <a:pPr marL="628650" lvl="1" indent="-171450">
              <a:buFont typeface="Arial" pitchFamily="34" charset="0"/>
              <a:buChar char="•"/>
            </a:pPr>
            <a:r>
              <a:rPr lang="en-AU" sz="1200" kern="1200" dirty="0" smtClean="0">
                <a:solidFill>
                  <a:schemeClr val="tx1"/>
                </a:solidFill>
                <a:latin typeface="+mn-lt"/>
                <a:ea typeface="+mn-ea"/>
                <a:cs typeface="+mn-cs"/>
              </a:rPr>
              <a:t>All staff – regardless of role/position or capacity</a:t>
            </a:r>
          </a:p>
          <a:p>
            <a:pPr marL="628650" lvl="1" indent="-171450">
              <a:buFont typeface="Arial" pitchFamily="34" charset="0"/>
              <a:buChar char="•"/>
            </a:pPr>
            <a:r>
              <a:rPr lang="en-AU" sz="1200" kern="1200" dirty="0" smtClean="0">
                <a:solidFill>
                  <a:schemeClr val="tx1"/>
                </a:solidFill>
                <a:latin typeface="+mn-lt"/>
                <a:ea typeface="+mn-ea"/>
                <a:cs typeface="+mn-cs"/>
              </a:rPr>
              <a:t>Nominated/key staff – as identified by management.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26141162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discusses timelines for notification/advisement stating:</a:t>
            </a:r>
          </a:p>
          <a:p>
            <a:pPr marL="171450" indent="-171450">
              <a:buFont typeface="Arial" pitchFamily="34" charset="0"/>
              <a:buChar char="•"/>
            </a:pPr>
            <a:r>
              <a:rPr lang="en-AU" sz="1200" kern="1200" dirty="0" smtClean="0">
                <a:solidFill>
                  <a:schemeClr val="tx1"/>
                </a:solidFill>
                <a:latin typeface="+mn-lt"/>
                <a:ea typeface="+mn-ea"/>
                <a:cs typeface="+mn-cs"/>
              </a:rPr>
              <a:t>Agreed timelines are traditionally relatively short for the advising of budget results.</a:t>
            </a:r>
          </a:p>
          <a:p>
            <a:pPr marL="171450" indent="-171450">
              <a:buFont typeface="Arial" pitchFamily="34" charset="0"/>
              <a:buChar char="•"/>
            </a:pPr>
            <a:r>
              <a:rPr lang="en-AU" sz="1200" kern="1200" dirty="0" smtClean="0">
                <a:solidFill>
                  <a:schemeClr val="tx1"/>
                </a:solidFill>
                <a:latin typeface="+mn-lt"/>
                <a:ea typeface="+mn-ea"/>
                <a:cs typeface="+mn-cs"/>
              </a:rPr>
              <a:t>Within 24 hours would be a common timeline</a:t>
            </a:r>
          </a:p>
          <a:p>
            <a:pPr marL="171450" indent="-171450">
              <a:buFont typeface="Arial" pitchFamily="34" charset="0"/>
              <a:buChar char="•"/>
            </a:pPr>
            <a:r>
              <a:rPr lang="en-AU" sz="1200" kern="1200" dirty="0" smtClean="0">
                <a:solidFill>
                  <a:schemeClr val="tx1"/>
                </a:solidFill>
                <a:latin typeface="+mn-lt"/>
                <a:ea typeface="+mn-ea"/>
                <a:cs typeface="+mn-cs"/>
              </a:rPr>
              <a:t>In most cases – especially where there is a problem or 'crisis' – such information should be communicated ‘immediately/as soon as possible’ </a:t>
            </a:r>
          </a:p>
          <a:p>
            <a:pPr marL="171450" indent="-171450">
              <a:buFont typeface="Arial" pitchFamily="34" charset="0"/>
              <a:buChar char="•"/>
            </a:pPr>
            <a:r>
              <a:rPr lang="en-AU" sz="1200" kern="1200" dirty="0" smtClean="0">
                <a:solidFill>
                  <a:schemeClr val="tx1"/>
                </a:solidFill>
                <a:latin typeface="+mn-lt"/>
                <a:ea typeface="+mn-ea"/>
                <a:cs typeface="+mn-cs"/>
              </a:rPr>
              <a:t>It is also common for departmental heads to communicate the thrust of the report/budget to staff immediately in a condensed/short-form verbal manner and to then follow-up with a more detailed discussion of the situation at a formal and scheduled departmental meeting.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6045654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noProof="0" dirty="0" smtClean="0"/>
              <a:t>Trainer states </a:t>
            </a:r>
            <a:r>
              <a:rPr lang="en-AU" sz="1200" kern="1200" dirty="0" smtClean="0">
                <a:solidFill>
                  <a:schemeClr val="tx1"/>
                </a:solidFill>
                <a:latin typeface="+mn-lt"/>
                <a:ea typeface="+mn-ea"/>
                <a:cs typeface="+mn-cs"/>
              </a:rPr>
              <a:t>colleagues can be advised of the status of their budget in the following ways:</a:t>
            </a:r>
          </a:p>
          <a:p>
            <a:pPr marL="171450" lvl="0" indent="-171450">
              <a:buFont typeface="Arial" pitchFamily="34" charset="0"/>
              <a:buChar char="•"/>
            </a:pPr>
            <a:r>
              <a:rPr lang="en-AU" sz="1200" kern="1200" dirty="0" smtClean="0">
                <a:solidFill>
                  <a:schemeClr val="tx1"/>
                </a:solidFill>
                <a:latin typeface="+mn-lt"/>
                <a:ea typeface="+mn-ea"/>
                <a:cs typeface="+mn-cs"/>
              </a:rPr>
              <a:t>Using written/printed documents such as reports, financial statements and spreadsheets – note there may be internal guidelines and requirements limiting or controlling the detail of financial matters which can be passed on to staff, and these must be adhered to</a:t>
            </a:r>
          </a:p>
          <a:p>
            <a:pPr marL="628650" lvl="1" indent="-171450">
              <a:buFont typeface="Arial" pitchFamily="34" charset="0"/>
              <a:buChar char="•"/>
            </a:pPr>
            <a:r>
              <a:rPr lang="en-AU" sz="1200" kern="1200" dirty="0" smtClean="0">
                <a:solidFill>
                  <a:schemeClr val="tx1"/>
                </a:solidFill>
                <a:latin typeface="+mn-lt"/>
                <a:ea typeface="+mn-ea"/>
                <a:cs typeface="+mn-cs"/>
              </a:rPr>
              <a:t>Nonetheless these hard copy documents may contain tabulated statistics, ratio calculations, and various percentages </a:t>
            </a:r>
          </a:p>
          <a:p>
            <a:pPr marL="628650" lvl="1" indent="-171450">
              <a:buFont typeface="Arial" pitchFamily="34" charset="0"/>
              <a:buChar char="•"/>
            </a:pPr>
            <a:r>
              <a:rPr lang="en-AU" sz="1200" kern="1200" dirty="0" smtClean="0">
                <a:solidFill>
                  <a:schemeClr val="tx1"/>
                </a:solidFill>
                <a:latin typeface="+mn-lt"/>
                <a:ea typeface="+mn-ea"/>
                <a:cs typeface="+mn-cs"/>
              </a:rPr>
              <a:t>The astute reader will no doubt realise almost any situation can be revealed to staff using percentages, as these statistics do not disclose actual monetary figures  </a:t>
            </a:r>
          </a:p>
          <a:p>
            <a:pPr marL="628650" lvl="1" indent="-171450">
              <a:buFont typeface="Arial" pitchFamily="34" charset="0"/>
              <a:buChar char="•"/>
            </a:pPr>
            <a:r>
              <a:rPr lang="en-AU" sz="1200" kern="1200" dirty="0" smtClean="0">
                <a:solidFill>
                  <a:schemeClr val="tx1"/>
                </a:solidFill>
                <a:latin typeface="+mn-lt"/>
                <a:ea typeface="+mn-ea"/>
                <a:cs typeface="+mn-cs"/>
              </a:rPr>
              <a:t>However, internal protocols in this respect should be identified and followed to the letter</a:t>
            </a:r>
          </a:p>
          <a:p>
            <a:pPr marL="171450" lvl="0" indent="-171450">
              <a:buFont typeface="Arial" pitchFamily="34" charset="0"/>
              <a:buChar char="•"/>
            </a:pPr>
            <a:r>
              <a:rPr lang="en-AU" sz="1200" kern="1200" dirty="0" smtClean="0">
                <a:solidFill>
                  <a:schemeClr val="tx1"/>
                </a:solidFill>
                <a:latin typeface="+mn-lt"/>
                <a:ea typeface="+mn-ea"/>
                <a:cs typeface="+mn-cs"/>
              </a:rPr>
              <a:t>Using graphs, charts or diagrams – graphical representation of the printed word/statistic is often the best way to communicate accounting-based information  </a:t>
            </a:r>
          </a:p>
          <a:p>
            <a:pPr marL="628650" lvl="1" indent="-171450">
              <a:buFont typeface="Arial" pitchFamily="34" charset="0"/>
              <a:buChar char="•"/>
            </a:pPr>
            <a:r>
              <a:rPr lang="en-AU" sz="1200" kern="1200" dirty="0" smtClean="0">
                <a:solidFill>
                  <a:schemeClr val="tx1"/>
                </a:solidFill>
                <a:latin typeface="+mn-lt"/>
                <a:ea typeface="+mn-ea"/>
                <a:cs typeface="+mn-cs"/>
              </a:rPr>
              <a:t>Many people will have trouble reading and understanding a written word/statistic-based budget but will quickly appreciate a well-drawn pie chart, bar graph or line graph</a:t>
            </a:r>
          </a:p>
          <a:p>
            <a:pPr marL="628650" lvl="1" indent="-171450">
              <a:buFont typeface="Arial" pitchFamily="34" charset="0"/>
              <a:buChar char="•"/>
            </a:pPr>
            <a:r>
              <a:rPr lang="en-AU" sz="1200" kern="1200" dirty="0" smtClean="0">
                <a:solidFill>
                  <a:schemeClr val="tx1"/>
                </a:solidFill>
                <a:latin typeface="+mn-lt"/>
                <a:ea typeface="+mn-ea"/>
                <a:cs typeface="+mn-cs"/>
              </a:rPr>
              <a:t>These graphical representations may be printed on paper as a handout, converted to an overhead projection sheet, or used in a PowerPoint presentation</a:t>
            </a:r>
          </a:p>
          <a:p>
            <a:pPr marL="171450" lvl="0" indent="-171450">
              <a:buFont typeface="Arial" pitchFamily="34" charset="0"/>
              <a:buChar char="•"/>
            </a:pPr>
            <a:r>
              <a:rPr lang="en-AU" sz="1200" kern="1200" dirty="0" smtClean="0">
                <a:solidFill>
                  <a:schemeClr val="tx1"/>
                </a:solidFill>
                <a:latin typeface="+mn-lt"/>
                <a:ea typeface="+mn-ea"/>
                <a:cs typeface="+mn-cs"/>
              </a:rPr>
              <a:t>Providing a verbal presentation/discussion – where information is considered appropriate for release at the time an effective approach in sharing information can be to discuss matters verbally with suitable examples, illustrations and explanations</a:t>
            </a:r>
          </a:p>
          <a:p>
            <a:pPr marL="628650" lvl="1" indent="-171450">
              <a:buFont typeface="Arial" pitchFamily="34" charset="0"/>
              <a:buChar char="•"/>
            </a:pPr>
            <a:r>
              <a:rPr lang="en-AU" sz="1200" kern="1200" dirty="0" smtClean="0">
                <a:solidFill>
                  <a:schemeClr val="tx1"/>
                </a:solidFill>
                <a:latin typeface="+mn-lt"/>
                <a:ea typeface="+mn-ea"/>
                <a:cs typeface="+mn-cs"/>
              </a:rPr>
              <a:t>This said, it is a fact of business life much of the accounting/finance information available to management-level personnel does not need to be passed on to staff</a:t>
            </a:r>
          </a:p>
          <a:p>
            <a:pPr marL="628650" lvl="1" indent="-171450">
              <a:buFont typeface="Arial" pitchFamily="34" charset="0"/>
              <a:buChar char="•"/>
            </a:pPr>
            <a:r>
              <a:rPr lang="en-AU" sz="1200" kern="1200" dirty="0" smtClean="0">
                <a:solidFill>
                  <a:schemeClr val="tx1"/>
                </a:solidFill>
                <a:latin typeface="+mn-lt"/>
                <a:ea typeface="+mn-ea"/>
                <a:cs typeface="+mn-cs"/>
              </a:rPr>
              <a:t>Talking to staff about the situation can be an appropriate way of disseminating information which is especially useful where things are going well</a:t>
            </a:r>
          </a:p>
          <a:p>
            <a:pPr marL="628650" lvl="1" indent="-171450">
              <a:buFont typeface="Arial" pitchFamily="34" charset="0"/>
              <a:buChar char="•"/>
            </a:pPr>
            <a:r>
              <a:rPr lang="en-AU" sz="1200" kern="1200" dirty="0" smtClean="0">
                <a:solidFill>
                  <a:schemeClr val="tx1"/>
                </a:solidFill>
                <a:latin typeface="+mn-lt"/>
                <a:ea typeface="+mn-ea"/>
                <a:cs typeface="+mn-cs"/>
              </a:rPr>
              <a:t>It is quick to do, requires little or no preparation and can send a very positive message to staff in the simplest of forms.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92783753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91543550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54171750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endParaRPr lang="en-AU" sz="1200" b="1"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01741359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noProof="0" dirty="0" smtClean="0"/>
          </a:p>
          <a:p>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there a need to improve budget performance?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might happen if this is </a:t>
            </a:r>
            <a:r>
              <a:rPr lang="en-US" sz="1200" b="1" kern="1200" baseline="0" dirty="0" smtClean="0">
                <a:solidFill>
                  <a:schemeClr val="tx1"/>
                </a:solidFill>
                <a:ea typeface="+mn-ea"/>
                <a:cs typeface="+mn-cs"/>
              </a:rPr>
              <a:t>not </a:t>
            </a:r>
            <a:r>
              <a:rPr lang="en-US" sz="1200" kern="1200" baseline="0" dirty="0" smtClean="0">
                <a:solidFill>
                  <a:schemeClr val="tx1"/>
                </a:solidFill>
                <a:ea typeface="+mn-ea"/>
                <a:cs typeface="+mn-cs"/>
              </a:rPr>
              <a:t>done?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can it be done?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Who would be involved?</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9634159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a:t>
            </a:r>
          </a:p>
          <a:p>
            <a:pPr marL="171450" indent="-171450">
              <a:buFont typeface="Arial" pitchFamily="34" charset="0"/>
              <a:buChar char="•"/>
            </a:pPr>
            <a:r>
              <a:rPr lang="en-AU" sz="1200" kern="1200" dirty="0" smtClean="0">
                <a:solidFill>
                  <a:schemeClr val="tx1"/>
                </a:solidFill>
                <a:latin typeface="+mn-lt"/>
                <a:ea typeface="+mn-ea"/>
                <a:cs typeface="+mn-cs"/>
              </a:rPr>
              <a:t>Part of the requirements of most managerial roles is to identify and evaluate workplace options for improved budget performance.  </a:t>
            </a:r>
          </a:p>
          <a:p>
            <a:pPr marL="171450" indent="-171450">
              <a:buFont typeface="Arial" pitchFamily="34" charset="0"/>
              <a:buChar char="•"/>
            </a:pPr>
            <a:r>
              <a:rPr lang="en-AU" sz="1200" kern="1200" dirty="0" smtClean="0">
                <a:solidFill>
                  <a:schemeClr val="tx1"/>
                </a:solidFill>
                <a:latin typeface="+mn-lt"/>
                <a:ea typeface="+mn-ea"/>
                <a:cs typeface="+mn-cs"/>
              </a:rPr>
              <a:t>This will traditionally require assessment of existing costs and practices so areas for improvement can be identified.</a:t>
            </a:r>
          </a:p>
          <a:p>
            <a:pPr marL="171450" indent="-171450">
              <a:buFont typeface="Arial" pitchFamily="34" charset="0"/>
              <a:buChar char="•"/>
            </a:pPr>
            <a:r>
              <a:rPr lang="en-AU" sz="1200" kern="1200" dirty="0" smtClean="0">
                <a:solidFill>
                  <a:schemeClr val="tx1"/>
                </a:solidFill>
                <a:latin typeface="+mn-lt"/>
                <a:ea typeface="+mn-ea"/>
                <a:cs typeface="+mn-cs"/>
              </a:rPr>
              <a:t>Attention will commonly need to be paid to all areas where:</a:t>
            </a:r>
          </a:p>
          <a:p>
            <a:pPr marL="628650" lvl="1" indent="-171450">
              <a:buFont typeface="Arial" pitchFamily="34" charset="0"/>
              <a:buChar char="•"/>
            </a:pPr>
            <a:r>
              <a:rPr lang="en-AU" sz="1200" kern="1200" dirty="0" smtClean="0">
                <a:solidFill>
                  <a:schemeClr val="tx1"/>
                </a:solidFill>
                <a:latin typeface="+mn-lt"/>
                <a:ea typeface="+mn-ea"/>
                <a:cs typeface="+mn-cs"/>
              </a:rPr>
              <a:t>Actual costs are exceeding projected costs</a:t>
            </a:r>
          </a:p>
          <a:p>
            <a:pPr marL="628650" lvl="1" indent="-171450">
              <a:buFont typeface="Arial" pitchFamily="34" charset="0"/>
              <a:buChar char="•"/>
            </a:pPr>
            <a:r>
              <a:rPr lang="en-AU" sz="1200" kern="1200" dirty="0" smtClean="0">
                <a:solidFill>
                  <a:schemeClr val="tx1"/>
                </a:solidFill>
                <a:latin typeface="+mn-lt"/>
                <a:ea typeface="+mn-ea"/>
                <a:cs typeface="+mn-cs"/>
              </a:rPr>
              <a:t>Red flags have been raised</a:t>
            </a:r>
          </a:p>
          <a:p>
            <a:pPr marL="628650" lvl="1" indent="-171450">
              <a:buFont typeface="Arial" pitchFamily="34" charset="0"/>
              <a:buChar char="•"/>
            </a:pPr>
            <a:r>
              <a:rPr lang="en-AU" sz="1200" kern="1200" dirty="0" smtClean="0">
                <a:solidFill>
                  <a:schemeClr val="tx1"/>
                </a:solidFill>
                <a:latin typeface="+mn-lt"/>
                <a:ea typeface="+mn-ea"/>
                <a:cs typeface="+mn-cs"/>
              </a:rPr>
              <a:t>Unacceptable trends are emerging/have emerged</a:t>
            </a:r>
          </a:p>
          <a:p>
            <a:pPr marL="628650" lvl="1" indent="-171450">
              <a:buFont typeface="Arial" pitchFamily="34" charset="0"/>
              <a:buChar char="•"/>
            </a:pPr>
            <a:r>
              <a:rPr lang="en-AU" sz="1200" kern="1200" dirty="0" smtClean="0">
                <a:solidFill>
                  <a:schemeClr val="tx1"/>
                </a:solidFill>
                <a:latin typeface="+mn-lt"/>
                <a:ea typeface="+mn-ea"/>
                <a:cs typeface="+mn-cs"/>
              </a:rPr>
              <a:t>Unexplained costs have been identified.</a:t>
            </a:r>
          </a:p>
          <a:p>
            <a:pPr marL="171450" indent="-171450">
              <a:buFont typeface="Arial" pitchFamily="34" charset="0"/>
              <a:buChar char="•"/>
            </a:pPr>
            <a:r>
              <a:rPr lang="en-AU" sz="1200" kern="1200" dirty="0" smtClean="0">
                <a:solidFill>
                  <a:schemeClr val="tx1"/>
                </a:solidFill>
                <a:latin typeface="+mn-lt"/>
                <a:ea typeface="+mn-ea"/>
                <a:cs typeface="+mn-cs"/>
              </a:rPr>
              <a:t>The following slides  will indicate possible actions – or possible areas for investigation – that may be able to reduce costs and/or increase revenue.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36508272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reduced </a:t>
            </a:r>
            <a:r>
              <a:rPr lang="en-AU" sz="1200" kern="1200" dirty="0" smtClean="0">
                <a:solidFill>
                  <a:schemeClr val="tx1"/>
                </a:solidFill>
                <a:latin typeface="+mn-lt"/>
                <a:ea typeface="+mn-ea"/>
                <a:cs typeface="+mn-cs"/>
              </a:rPr>
              <a:t>returns – that is, less revenue than projected – may be caused by operational issues such as:</a:t>
            </a:r>
          </a:p>
          <a:p>
            <a:pPr marL="171450" lvl="0" indent="-171450">
              <a:buFont typeface="Arial" pitchFamily="34" charset="0"/>
              <a:buChar char="•"/>
            </a:pPr>
            <a:r>
              <a:rPr lang="en-AU" sz="1200" kern="1200" dirty="0" smtClean="0">
                <a:solidFill>
                  <a:schemeClr val="tx1"/>
                </a:solidFill>
                <a:latin typeface="+mn-lt"/>
                <a:ea typeface="+mn-ea"/>
                <a:cs typeface="+mn-cs"/>
              </a:rPr>
              <a:t>Theft – either of stock (liquor, non-liquor, commodities, food – raw or prepared) or of cash</a:t>
            </a:r>
          </a:p>
          <a:p>
            <a:pPr marL="171450" lvl="0" indent="-171450">
              <a:buFont typeface="Arial" pitchFamily="34" charset="0"/>
              <a:buChar char="•"/>
            </a:pPr>
            <a:r>
              <a:rPr lang="en-AU" sz="1200" kern="1200" dirty="0" smtClean="0">
                <a:solidFill>
                  <a:schemeClr val="tx1"/>
                </a:solidFill>
                <a:latin typeface="+mn-lt"/>
                <a:ea typeface="+mn-ea"/>
                <a:cs typeface="+mn-cs"/>
              </a:rPr>
              <a:t>Service staff giving serve sizes (food and/or drinks) to friends or other staff that are intentionally or accidentally too big </a:t>
            </a:r>
          </a:p>
          <a:p>
            <a:pPr marL="171450" lvl="0" indent="-171450">
              <a:buFont typeface="Arial" pitchFamily="34" charset="0"/>
              <a:buChar char="•"/>
            </a:pPr>
            <a:r>
              <a:rPr lang="en-AU" sz="1200" kern="1200" dirty="0" smtClean="0">
                <a:solidFill>
                  <a:schemeClr val="tx1"/>
                </a:solidFill>
                <a:latin typeface="+mn-lt"/>
                <a:ea typeface="+mn-ea"/>
                <a:cs typeface="+mn-cs"/>
              </a:rPr>
              <a:t>Staff undercharging customers or other staff – intentionally or accidentally</a:t>
            </a:r>
          </a:p>
          <a:p>
            <a:pPr marL="171450" lvl="0" indent="-171450">
              <a:buFont typeface="Arial" pitchFamily="34" charset="0"/>
              <a:buChar char="•"/>
            </a:pPr>
            <a:r>
              <a:rPr lang="en-AU" sz="1200" kern="1200" dirty="0" smtClean="0">
                <a:solidFill>
                  <a:schemeClr val="tx1"/>
                </a:solidFill>
                <a:latin typeface="+mn-lt"/>
                <a:ea typeface="+mn-ea"/>
                <a:cs typeface="+mn-cs"/>
              </a:rPr>
              <a:t>Staff bringing in their own stock (such as bottles of spirits), selling it and pocketing the cash – a 700ml bottle of scotch costing the staff member 25 can be converted into around 100 making this an attractive/tempting means of defrauding the business by robbing it of revenue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51726131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explaining possible reasons for reduced </a:t>
            </a:r>
            <a:r>
              <a:rPr lang="en-AU" sz="1200" kern="1200" dirty="0" smtClean="0">
                <a:solidFill>
                  <a:schemeClr val="tx1"/>
                </a:solidFill>
                <a:latin typeface="+mn-lt"/>
                <a:ea typeface="+mn-ea"/>
                <a:cs typeface="+mn-cs"/>
              </a:rPr>
              <a:t>returns:</a:t>
            </a:r>
          </a:p>
          <a:p>
            <a:pPr marL="171450" lvl="0" indent="-171450">
              <a:buFont typeface="Arial" pitchFamily="34" charset="0"/>
              <a:buChar char="•"/>
            </a:pPr>
            <a:r>
              <a:rPr lang="en-AU" sz="1200" kern="1200" dirty="0" smtClean="0">
                <a:solidFill>
                  <a:schemeClr val="tx1"/>
                </a:solidFill>
                <a:latin typeface="+mn-lt"/>
                <a:ea typeface="+mn-ea"/>
                <a:cs typeface="+mn-cs"/>
              </a:rPr>
              <a:t>Staff giving away stock – such as meals, drinks, or in-room complimentary gifts to each other or friends</a:t>
            </a:r>
          </a:p>
          <a:p>
            <a:pPr marL="171450" lvl="0" indent="-171450">
              <a:buFont typeface="Arial" pitchFamily="34" charset="0"/>
              <a:buChar char="•"/>
            </a:pPr>
            <a:r>
              <a:rPr lang="en-AU" sz="1200" kern="1200" dirty="0" smtClean="0">
                <a:solidFill>
                  <a:schemeClr val="tx1"/>
                </a:solidFill>
                <a:latin typeface="+mn-lt"/>
                <a:ea typeface="+mn-ea"/>
                <a:cs typeface="+mn-cs"/>
              </a:rPr>
              <a:t>Setting selling prices calculated on out-of-date cost prices – meaning a lower-than-expected return is achieved</a:t>
            </a:r>
          </a:p>
          <a:p>
            <a:pPr marL="171450" lvl="0" indent="-171450">
              <a:buFont typeface="Arial" pitchFamily="34" charset="0"/>
              <a:buChar char="•"/>
            </a:pPr>
            <a:r>
              <a:rPr lang="en-AU" sz="1200" kern="1200" dirty="0" smtClean="0">
                <a:solidFill>
                  <a:schemeClr val="tx1"/>
                </a:solidFill>
                <a:latin typeface="+mn-lt"/>
                <a:ea typeface="+mn-ea"/>
                <a:cs typeface="+mn-cs"/>
              </a:rPr>
              <a:t>Incorrect stock takes being done resulting in stock not being included in the stock take and hence not being attributed to the department – which will give a misleading lower performance figure for the department</a:t>
            </a:r>
          </a:p>
          <a:p>
            <a:pPr marL="171450" lvl="0" indent="-171450">
              <a:buFont typeface="Arial" pitchFamily="34" charset="0"/>
              <a:buChar char="•"/>
            </a:pPr>
            <a:r>
              <a:rPr lang="en-AU" sz="1200" kern="1200" dirty="0" smtClean="0">
                <a:solidFill>
                  <a:schemeClr val="tx1"/>
                </a:solidFill>
                <a:latin typeface="+mn-lt"/>
                <a:ea typeface="+mn-ea"/>
                <a:cs typeface="+mn-cs"/>
              </a:rPr>
              <a:t>Stock being transferred/taken from one department to another without the appropriate internal paperwork (such as an interdepartmental transfer being completed) – this results in a lower performance figure for the department from which the stock was taken, and a higher performance figure for the department that received the stock</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41815227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explaining possible reasons for reduced </a:t>
            </a:r>
            <a:r>
              <a:rPr lang="en-AU" sz="1200" kern="1200" dirty="0" smtClean="0">
                <a:solidFill>
                  <a:schemeClr val="tx1"/>
                </a:solidFill>
                <a:latin typeface="+mn-lt"/>
                <a:ea typeface="+mn-ea"/>
                <a:cs typeface="+mn-cs"/>
              </a:rPr>
              <a:t>returns:</a:t>
            </a:r>
          </a:p>
          <a:p>
            <a:pPr marL="171450" lvl="0" indent="-171450">
              <a:buFont typeface="Arial" pitchFamily="34" charset="0"/>
              <a:buChar char="•"/>
            </a:pPr>
            <a:r>
              <a:rPr lang="en-AU" sz="1200" kern="1200" dirty="0" smtClean="0">
                <a:solidFill>
                  <a:schemeClr val="tx1"/>
                </a:solidFill>
                <a:latin typeface="+mn-lt"/>
                <a:ea typeface="+mn-ea"/>
                <a:cs typeface="+mn-cs"/>
              </a:rPr>
              <a:t>Where staff are entitled, according to house policy to a free ‘knock off’ drink or free staff meal, this privilege may be abused – and staff may be consuming more than one drink for free, or drinking a more expensive drink than what is allowed</a:t>
            </a:r>
          </a:p>
          <a:p>
            <a:pPr marL="171450" lvl="0" indent="-171450">
              <a:buFont typeface="Arial" pitchFamily="34" charset="0"/>
              <a:buChar char="•"/>
            </a:pPr>
            <a:r>
              <a:rPr lang="en-AU" sz="1200" kern="1200" dirty="0" smtClean="0">
                <a:solidFill>
                  <a:schemeClr val="tx1"/>
                </a:solidFill>
                <a:latin typeface="+mn-lt"/>
                <a:ea typeface="+mn-ea"/>
                <a:cs typeface="+mn-cs"/>
              </a:rPr>
              <a:t>Excessive waste – which may be caused by reasons such as incompetence, inattention/lack of concentration, poor attitude, incorrect techniques, and/or faulty equipment</a:t>
            </a:r>
          </a:p>
          <a:p>
            <a:pPr marL="171450" lvl="0" indent="-171450">
              <a:buFont typeface="Arial" pitchFamily="34" charset="0"/>
              <a:buChar char="•"/>
            </a:pPr>
            <a:r>
              <a:rPr lang="en-AU" sz="1200" kern="1200" dirty="0" smtClean="0">
                <a:solidFill>
                  <a:schemeClr val="tx1"/>
                </a:solidFill>
                <a:latin typeface="+mn-lt"/>
                <a:ea typeface="+mn-ea"/>
                <a:cs typeface="+mn-cs"/>
              </a:rPr>
              <a:t>Inappropriate selling prices – where selling prices do not reflect the required return such as when 'package deals' are put together, or where items are offered 'on special'</a:t>
            </a:r>
          </a:p>
          <a:p>
            <a:pPr marL="171450" lvl="0" indent="-171450">
              <a:buFont typeface="Arial" pitchFamily="34" charset="0"/>
              <a:buChar char="•"/>
            </a:pPr>
            <a:r>
              <a:rPr lang="en-AU" sz="1200" kern="1200" dirty="0" smtClean="0">
                <a:solidFill>
                  <a:schemeClr val="tx1"/>
                </a:solidFill>
                <a:latin typeface="+mn-lt"/>
                <a:ea typeface="+mn-ea"/>
                <a:cs typeface="+mn-cs"/>
              </a:rPr>
              <a:t>Failure to bill for all charges – a failure on the part of staff/the property to charge customers for all items sold/used</a:t>
            </a:r>
          </a:p>
          <a:p>
            <a:pPr marL="171450" lvl="0" indent="-171450">
              <a:buFont typeface="Arial" pitchFamily="34" charset="0"/>
              <a:buChar char="•"/>
            </a:pPr>
            <a:r>
              <a:rPr lang="en-AU" sz="1200" kern="1200" dirty="0" smtClean="0">
                <a:solidFill>
                  <a:schemeClr val="tx1"/>
                </a:solidFill>
                <a:latin typeface="+mn-lt"/>
                <a:ea typeface="+mn-ea"/>
                <a:cs typeface="+mn-cs"/>
              </a:rPr>
              <a:t>Failure to check deliveries – to ensure what is being paid for has actually been delivered to and received by the business.</a:t>
            </a:r>
          </a:p>
          <a:p>
            <a:r>
              <a:rPr lang="en-AU" sz="1200" kern="1200" dirty="0" smtClean="0">
                <a:solidFill>
                  <a:schemeClr val="tx1"/>
                </a:solidFill>
                <a:latin typeface="+mn-lt"/>
                <a:ea typeface="+mn-ea"/>
                <a:cs typeface="+mn-cs"/>
              </a:rPr>
              <a:t>It is an unfortunate fact all aspects of the features cash and other items people are commonly tempted to steal.</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32031994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informs:</a:t>
            </a:r>
          </a:p>
          <a:p>
            <a:pPr marL="171450" indent="-171450">
              <a:buFont typeface="Arial" pitchFamily="34" charset="0"/>
              <a:buChar char="•"/>
            </a:pPr>
            <a:r>
              <a:rPr lang="en-AU" sz="1200" kern="1200" dirty="0" smtClean="0">
                <a:solidFill>
                  <a:schemeClr val="tx1"/>
                </a:solidFill>
                <a:latin typeface="+mn-lt"/>
                <a:ea typeface="+mn-ea"/>
                <a:cs typeface="+mn-cs"/>
              </a:rPr>
              <a:t>Effective control of revenue and costs requires an integrated approach – that is, each aspect of the control system must function in co–operation with every other aspect.  </a:t>
            </a:r>
          </a:p>
          <a:p>
            <a:pPr marL="171450" indent="-171450">
              <a:buFont typeface="Arial" pitchFamily="34" charset="0"/>
              <a:buChar char="•"/>
            </a:pPr>
            <a:r>
              <a:rPr lang="en-AU" sz="1200" kern="1200" dirty="0" smtClean="0">
                <a:solidFill>
                  <a:schemeClr val="tx1"/>
                </a:solidFill>
                <a:latin typeface="+mn-lt"/>
                <a:ea typeface="+mn-ea"/>
                <a:cs typeface="+mn-cs"/>
              </a:rPr>
              <a:t>In addition, control must be applied at every stage where stock and cash/revenue is involved.  </a:t>
            </a:r>
          </a:p>
          <a:p>
            <a:pPr marL="171450" indent="-171450">
              <a:buFont typeface="Arial" pitchFamily="34" charset="0"/>
              <a:buChar char="•"/>
            </a:pPr>
            <a:r>
              <a:rPr lang="en-AU" sz="1200" kern="1200" dirty="0" smtClean="0">
                <a:solidFill>
                  <a:schemeClr val="tx1"/>
                </a:solidFill>
                <a:latin typeface="+mn-lt"/>
                <a:ea typeface="+mn-ea"/>
                <a:cs typeface="+mn-cs"/>
              </a:rPr>
              <a:t>No part of the operation can be allowed to take place without some form of control being in place.</a:t>
            </a:r>
          </a:p>
          <a:p>
            <a:endParaRPr lang="en-US" sz="1200" b="0" kern="1200" noProof="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The Control Cycle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total control cycle has seven integrated elements – purchasing, receival, storage, issuing, production, service and sales.</a:t>
            </a:r>
          </a:p>
          <a:p>
            <a:pPr>
              <a:buFont typeface="Arial" pitchFamily="34" charset="0"/>
              <a:buNone/>
            </a:pPr>
            <a:endParaRPr lang="en-US" noProof="0" dirty="0" smtClean="0"/>
          </a:p>
          <a:p>
            <a:pPr>
              <a:buFont typeface="Arial" pitchFamily="34" charset="0"/>
              <a:buNone/>
            </a:pPr>
            <a:r>
              <a:rPr lang="en-US" b="1" noProof="0" dirty="0" smtClean="0"/>
              <a:t>Class Activity (1) – Discussion</a:t>
            </a:r>
          </a:p>
          <a:p>
            <a:pPr>
              <a:buFont typeface="Arial" pitchFamily="34" charset="0"/>
              <a:buNone/>
            </a:pPr>
            <a:endParaRPr lang="en-US" b="1" noProof="0" dirty="0" smtClean="0"/>
          </a:p>
          <a:p>
            <a:pPr>
              <a:buFont typeface="Arial" pitchFamily="34" charset="0"/>
              <a:buNone/>
            </a:pPr>
            <a:r>
              <a:rPr lang="en-US" b="0" noProof="0" dirty="0" smtClean="0"/>
              <a:t>Trainer discusses relevant industry examples of application of principles to be applied for each of the seven elements of the control cycle.</a:t>
            </a:r>
          </a:p>
          <a:p>
            <a:pPr>
              <a:buFont typeface="Arial" pitchFamily="34" charset="0"/>
              <a:buNone/>
            </a:pPr>
            <a:endParaRPr lang="en-US" b="0" noProof="0" dirty="0" smtClean="0"/>
          </a:p>
          <a:p>
            <a:pPr>
              <a:buFont typeface="Arial" pitchFamily="34" charset="0"/>
              <a:buNone/>
            </a:pPr>
            <a:r>
              <a:rPr lang="en-US" b="1" noProof="0" dirty="0" smtClean="0"/>
              <a:t>Class Activity (2) – Guest Speaker/s</a:t>
            </a:r>
          </a:p>
          <a:p>
            <a:pPr>
              <a:buFont typeface="Arial" pitchFamily="34" charset="0"/>
              <a:buNone/>
            </a:pPr>
            <a:endParaRPr lang="en-US" b="1" noProof="0" dirty="0" smtClean="0"/>
          </a:p>
          <a:p>
            <a:pPr>
              <a:buFont typeface="Arial" pitchFamily="34" charset="0"/>
              <a:buNone/>
            </a:pPr>
            <a:r>
              <a:rPr lang="en-US" b="0" noProof="0" dirty="0" smtClean="0"/>
              <a:t>Trainer arranges for Guest Speaker/s to attend and discuss various elements of the control cycle explaining/illustrating how they are applied in practice</a:t>
            </a:r>
            <a:r>
              <a:rPr lang="en-US" b="0" baseline="0" noProof="0" dirty="0" smtClean="0"/>
              <a:t> to the operation of a business and the financial control and management of same.</a:t>
            </a:r>
            <a:endParaRPr lang="en-US" b="0" noProof="0" dirty="0" smtClean="0"/>
          </a:p>
          <a:p>
            <a:pPr>
              <a:buFont typeface="Arial" pitchFamily="34" charset="0"/>
              <a:buNone/>
            </a:pPr>
            <a:endParaRPr lang="en-US" b="0" noProof="0" dirty="0" smtClean="0"/>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62118631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in </a:t>
            </a:r>
            <a:r>
              <a:rPr lang="en-AU" sz="1200" kern="1200" dirty="0" smtClean="0">
                <a:solidFill>
                  <a:schemeClr val="tx1"/>
                </a:solidFill>
                <a:latin typeface="+mn-lt"/>
                <a:ea typeface="+mn-ea"/>
                <a:cs typeface="+mn-cs"/>
              </a:rPr>
              <a:t>relation to budget performance only three possibilities (plus their combinations) exist in relation to making adjustments to projected budget outcomes: </a:t>
            </a:r>
          </a:p>
          <a:p>
            <a:pPr marL="171450" lvl="0" indent="-171450">
              <a:buFont typeface="Arial" pitchFamily="34" charset="0"/>
              <a:buChar char="•"/>
            </a:pPr>
            <a:r>
              <a:rPr lang="en-AU" sz="1200" kern="1200" dirty="0" smtClean="0">
                <a:solidFill>
                  <a:schemeClr val="tx1"/>
                </a:solidFill>
                <a:latin typeface="+mn-lt"/>
                <a:ea typeface="+mn-ea"/>
                <a:cs typeface="+mn-cs"/>
              </a:rPr>
              <a:t>Raise targets </a:t>
            </a:r>
          </a:p>
          <a:p>
            <a:pPr marL="171450" lvl="0" indent="-171450">
              <a:buFont typeface="Arial" pitchFamily="34" charset="0"/>
              <a:buChar char="•"/>
            </a:pPr>
            <a:r>
              <a:rPr lang="en-AU" sz="1200" kern="1200" dirty="0" smtClean="0">
                <a:solidFill>
                  <a:schemeClr val="tx1"/>
                </a:solidFill>
                <a:latin typeface="+mn-lt"/>
                <a:ea typeface="+mn-ea"/>
                <a:cs typeface="+mn-cs"/>
              </a:rPr>
              <a:t>Lower targets </a:t>
            </a:r>
          </a:p>
          <a:p>
            <a:pPr marL="171450" lvl="0" indent="-171450">
              <a:buFont typeface="Arial" pitchFamily="34" charset="0"/>
              <a:buChar char="•"/>
            </a:pPr>
            <a:r>
              <a:rPr lang="en-AU" sz="1200" kern="1200" dirty="0" smtClean="0">
                <a:solidFill>
                  <a:schemeClr val="tx1"/>
                </a:solidFill>
                <a:latin typeface="+mn-lt"/>
                <a:ea typeface="+mn-ea"/>
                <a:cs typeface="+mn-cs"/>
              </a:rPr>
              <a:t>Leave them as they are.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Debate often takes place not over which option to select but by </a:t>
            </a:r>
            <a:r>
              <a:rPr lang="en-AU" sz="1200" i="1" kern="1200" dirty="0" smtClean="0">
                <a:solidFill>
                  <a:schemeClr val="tx1"/>
                </a:solidFill>
                <a:latin typeface="+mn-lt"/>
                <a:ea typeface="+mn-ea"/>
                <a:cs typeface="+mn-cs"/>
              </a:rPr>
              <a:t>how much</a:t>
            </a:r>
            <a:r>
              <a:rPr lang="en-AU" sz="1200" kern="1200" dirty="0" smtClean="0">
                <a:solidFill>
                  <a:schemeClr val="tx1"/>
                </a:solidFill>
                <a:latin typeface="+mn-lt"/>
                <a:ea typeface="+mn-ea"/>
                <a:cs typeface="+mn-cs"/>
              </a:rPr>
              <a:t> initial targets will be modified.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402933978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discusses raising targets </a:t>
            </a:r>
            <a:r>
              <a:rPr lang="en-AU" sz="1200" kern="1200" dirty="0" smtClean="0">
                <a:solidFill>
                  <a:schemeClr val="tx1"/>
                </a:solidFill>
                <a:latin typeface="+mn-lt"/>
                <a:ea typeface="+mn-ea"/>
                <a:cs typeface="+mn-cs"/>
              </a:rPr>
              <a:t>observing this means setting a higher level for income on the revenue budgets, and increasing the amount available for spending on the expenditure budgets stating examples include:</a:t>
            </a:r>
          </a:p>
          <a:p>
            <a:pPr marL="171450" lvl="0" indent="-171450">
              <a:buFont typeface="Arial" pitchFamily="34" charset="0"/>
              <a:buChar char="•"/>
            </a:pPr>
            <a:r>
              <a:rPr lang="en-AU" sz="1200" kern="1200" dirty="0" smtClean="0">
                <a:solidFill>
                  <a:schemeClr val="tx1"/>
                </a:solidFill>
                <a:latin typeface="+mn-lt"/>
                <a:ea typeface="+mn-ea"/>
                <a:cs typeface="+mn-cs"/>
              </a:rPr>
              <a:t>All revenue budgets to-date have been achieved or exceeded – so it appears logical to revise the figures to make them more representative of the actual situation</a:t>
            </a:r>
          </a:p>
          <a:p>
            <a:pPr marL="171450" lvl="0" indent="-171450">
              <a:buFont typeface="Arial" pitchFamily="34" charset="0"/>
              <a:buChar char="•"/>
            </a:pPr>
            <a:r>
              <a:rPr lang="en-AU" sz="1200" kern="1200" dirty="0" smtClean="0">
                <a:solidFill>
                  <a:schemeClr val="tx1"/>
                </a:solidFill>
                <a:latin typeface="+mn-lt"/>
                <a:ea typeface="+mn-ea"/>
                <a:cs typeface="+mn-cs"/>
              </a:rPr>
              <a:t>A special event has been announced – which will draw more people into the area and present the opportunity for increased sales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2754538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giving information</a:t>
            </a:r>
            <a:r>
              <a:rPr lang="en-US" baseline="0" noProof="0" dirty="0" smtClean="0"/>
              <a:t> about raising budget targets and when this can apply:</a:t>
            </a:r>
          </a:p>
          <a:p>
            <a:pPr marL="171450" lvl="0" indent="-171450">
              <a:buFont typeface="Arial" pitchFamily="34" charset="0"/>
              <a:buChar char="•"/>
            </a:pPr>
            <a:r>
              <a:rPr lang="en-AU" sz="1200" kern="1200" dirty="0" smtClean="0">
                <a:solidFill>
                  <a:schemeClr val="tx1"/>
                </a:solidFill>
                <a:latin typeface="+mn-lt"/>
                <a:ea typeface="+mn-ea"/>
                <a:cs typeface="+mn-cs"/>
              </a:rPr>
              <a:t>A major competitor has withdrawn from the marketplace – meaning the potential for more sales based on less opposition for the same money in the same geographic area or market space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Where there has been a significant increase in selling prices – which should mean projected sales volumes will return substantially more revenue</a:t>
            </a:r>
          </a:p>
          <a:p>
            <a:pPr marL="171450" lvl="0" indent="-171450">
              <a:buFont typeface="Arial" pitchFamily="34" charset="0"/>
              <a:buChar char="•"/>
            </a:pPr>
            <a:r>
              <a:rPr lang="en-AU" sz="1200" kern="1200" dirty="0" smtClean="0">
                <a:solidFill>
                  <a:schemeClr val="tx1"/>
                </a:solidFill>
                <a:latin typeface="+mn-lt"/>
                <a:ea typeface="+mn-ea"/>
                <a:cs typeface="+mn-cs"/>
              </a:rPr>
              <a:t>An increase in sales has meant a corresponding increase in purchases – so extra money for materials will need to be allocated</a:t>
            </a:r>
          </a:p>
          <a:p>
            <a:pPr marL="171450" lvl="0" indent="-171450">
              <a:buFont typeface="Arial" pitchFamily="34" charset="0"/>
              <a:buChar char="•"/>
            </a:pPr>
            <a:r>
              <a:rPr lang="en-AU" sz="1200" kern="1200" dirty="0" smtClean="0">
                <a:solidFill>
                  <a:schemeClr val="tx1"/>
                </a:solidFill>
                <a:latin typeface="+mn-lt"/>
                <a:ea typeface="+mn-ea"/>
                <a:cs typeface="+mn-cs"/>
              </a:rPr>
              <a:t>Limited supply of a prime item has caused a spike in purchasing costs which the business is unable to control – due to the basic economic law of ‘supply and demand’, so more money for materials is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40835531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smtClean="0"/>
              <a:t>Trainer discusses lowering targets </a:t>
            </a:r>
            <a:r>
              <a:rPr lang="en-AU" sz="1200" kern="1200" dirty="0" smtClean="0">
                <a:solidFill>
                  <a:schemeClr val="tx1"/>
                </a:solidFill>
                <a:latin typeface="+mn-lt"/>
                <a:ea typeface="+mn-ea"/>
                <a:cs typeface="+mn-cs"/>
              </a:rPr>
              <a:t>observing this means setting a lower level for income on the revenue budgets, and reducing the amount available for spending on the expenditure budgets stating examples include:</a:t>
            </a:r>
          </a:p>
          <a:p>
            <a:pPr marL="171450" lvl="0" indent="-171450">
              <a:buFont typeface="Arial" pitchFamily="34" charset="0"/>
              <a:buChar char="•"/>
            </a:pPr>
            <a:r>
              <a:rPr lang="en-AU" sz="1200" kern="1200" dirty="0" smtClean="0">
                <a:solidFill>
                  <a:schemeClr val="tx1"/>
                </a:solidFill>
                <a:latin typeface="+mn-lt"/>
                <a:ea typeface="+mn-ea"/>
                <a:cs typeface="+mn-cs"/>
              </a:rPr>
              <a:t>Situations where there have been consistent below-budget sales figures</a:t>
            </a:r>
          </a:p>
          <a:p>
            <a:pPr marL="171450" lvl="0" indent="-171450">
              <a:buFont typeface="Arial" pitchFamily="34" charset="0"/>
              <a:buChar char="•"/>
            </a:pPr>
            <a:r>
              <a:rPr lang="en-AU" sz="1200" kern="1200" dirty="0" smtClean="0">
                <a:solidFill>
                  <a:schemeClr val="tx1"/>
                </a:solidFill>
                <a:latin typeface="+mn-lt"/>
                <a:ea typeface="+mn-ea"/>
                <a:cs typeface="+mn-cs"/>
              </a:rPr>
              <a:t>Information indicating events will be taking place which are going to impact </a:t>
            </a:r>
            <a:r>
              <a:rPr lang="en-AU" sz="1200" i="1" kern="1200" dirty="0" smtClean="0">
                <a:solidFill>
                  <a:schemeClr val="tx1"/>
                </a:solidFill>
                <a:latin typeface="+mn-lt"/>
                <a:ea typeface="+mn-ea"/>
                <a:cs typeface="+mn-cs"/>
              </a:rPr>
              <a:t>negatively</a:t>
            </a:r>
            <a:r>
              <a:rPr lang="en-AU" sz="1200" kern="1200" dirty="0" smtClean="0">
                <a:solidFill>
                  <a:schemeClr val="tx1"/>
                </a:solidFill>
                <a:latin typeface="+mn-lt"/>
                <a:ea typeface="+mn-ea"/>
                <a:cs typeface="+mn-cs"/>
              </a:rPr>
              <a:t> on trade – such as being advised about road works, knowing the area will not be attracting as many tourists as hoped because of a specific regional problem, losing a significant local sporting or other event</a:t>
            </a:r>
          </a:p>
          <a:p>
            <a:pPr marL="171450" lvl="0" indent="-171450">
              <a:buFont typeface="Arial" pitchFamily="34" charset="0"/>
              <a:buChar char="•"/>
            </a:pPr>
            <a:r>
              <a:rPr lang="en-AU" sz="1200" kern="1200" dirty="0" smtClean="0">
                <a:solidFill>
                  <a:schemeClr val="tx1"/>
                </a:solidFill>
                <a:latin typeface="+mn-lt"/>
                <a:ea typeface="+mn-ea"/>
                <a:cs typeface="+mn-cs"/>
              </a:rPr>
              <a:t>The realisation of any unexpected event – strike, natural disaster, outbreak of some disease</a:t>
            </a:r>
          </a:p>
          <a:p>
            <a:pPr marL="171450" lvl="0" indent="-171450">
              <a:buFont typeface="Arial" pitchFamily="34" charset="0"/>
              <a:buChar char="•"/>
            </a:pPr>
            <a:r>
              <a:rPr lang="en-AU" sz="1200" kern="1200" dirty="0" smtClean="0">
                <a:solidFill>
                  <a:schemeClr val="tx1"/>
                </a:solidFill>
                <a:latin typeface="+mn-lt"/>
                <a:ea typeface="+mn-ea"/>
                <a:cs typeface="+mn-cs"/>
              </a:rPr>
              <a:t>Major repairs to some part of the premises that have necessitated reduced expenditure in other areas – while still striving to maintain the same income stream.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214643401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offers </a:t>
            </a:r>
            <a:r>
              <a:rPr lang="en-AU" sz="1200" kern="1200" dirty="0" smtClean="0">
                <a:solidFill>
                  <a:schemeClr val="tx1"/>
                </a:solidFill>
                <a:latin typeface="+mn-lt"/>
                <a:ea typeface="+mn-ea"/>
                <a:cs typeface="+mn-cs"/>
              </a:rPr>
              <a:t>in many aspects of management doing nothing is a valid managerial response suggesting</a:t>
            </a:r>
            <a:r>
              <a:rPr lang="en-AU" sz="1200" kern="1200" baseline="0" dirty="0" smtClean="0">
                <a:solidFill>
                  <a:schemeClr val="tx1"/>
                </a:solidFill>
                <a:latin typeface="+mn-lt"/>
                <a:ea typeface="+mn-ea"/>
                <a:cs typeface="+mn-cs"/>
              </a:rPr>
              <a:t> in </a:t>
            </a:r>
            <a:r>
              <a:rPr lang="en-AU" sz="1200" kern="1200" dirty="0" smtClean="0">
                <a:solidFill>
                  <a:schemeClr val="tx1"/>
                </a:solidFill>
                <a:latin typeface="+mn-lt"/>
                <a:ea typeface="+mn-ea"/>
                <a:cs typeface="+mn-cs"/>
              </a:rPr>
              <a:t>reality it is probably the most common managerial response:</a:t>
            </a:r>
          </a:p>
          <a:p>
            <a:pPr marL="171450" indent="-171450">
              <a:buFont typeface="Arial" pitchFamily="34" charset="0"/>
              <a:buChar char="•"/>
            </a:pPr>
            <a:r>
              <a:rPr lang="en-AU" sz="1200" kern="1200" dirty="0" smtClean="0">
                <a:solidFill>
                  <a:schemeClr val="tx1"/>
                </a:solidFill>
                <a:latin typeface="+mn-lt"/>
                <a:ea typeface="+mn-ea"/>
                <a:cs typeface="+mn-cs"/>
              </a:rPr>
              <a:t>Where an adequate amount of planning and preparation has gone into creating the budgets, and information, feedback and statistics have been sought from a wide variety of sources, it is most likely predictions will be fairly accurate and there will be no need to amend the projections.</a:t>
            </a:r>
          </a:p>
          <a:p>
            <a:pPr marL="171450" indent="-171450">
              <a:buFont typeface="Arial" pitchFamily="34" charset="0"/>
              <a:buChar char="•"/>
            </a:pPr>
            <a:r>
              <a:rPr lang="en-AU" sz="1200" kern="1200" dirty="0" smtClean="0">
                <a:solidFill>
                  <a:schemeClr val="tx1"/>
                </a:solidFill>
                <a:latin typeface="+mn-lt"/>
                <a:ea typeface="+mn-ea"/>
                <a:cs typeface="+mn-cs"/>
              </a:rPr>
              <a:t>While constant fine-tuning of budgets may be seen as active, hands-on management, it can also be counter-productive in that it has the potential to unsettle staff and send messages to staff there are problems (and they may decide to seek employment elsewhere).  </a:t>
            </a:r>
          </a:p>
          <a:p>
            <a:pPr marL="171450" indent="-171450">
              <a:buFont typeface="Arial" pitchFamily="34" charset="0"/>
              <a:buChar char="•"/>
            </a:pPr>
            <a:r>
              <a:rPr lang="en-AU" sz="1200" kern="1200" dirty="0" smtClean="0">
                <a:solidFill>
                  <a:schemeClr val="tx1"/>
                </a:solidFill>
                <a:latin typeface="+mn-lt"/>
                <a:ea typeface="+mn-ea"/>
                <a:cs typeface="+mn-cs"/>
              </a:rPr>
              <a:t>Such constant alterations may also give the impression of 'change for change's sake', and a sense management are unable to get it right in the first place.  </a:t>
            </a:r>
          </a:p>
          <a:p>
            <a:pPr marL="171450" indent="-171450">
              <a:buFont typeface="Arial" pitchFamily="34" charset="0"/>
              <a:buChar char="•"/>
            </a:pPr>
            <a:r>
              <a:rPr lang="en-AU" sz="1200" kern="1200" dirty="0" smtClean="0">
                <a:solidFill>
                  <a:schemeClr val="tx1"/>
                </a:solidFill>
                <a:latin typeface="+mn-lt"/>
                <a:ea typeface="+mn-ea"/>
                <a:cs typeface="+mn-cs"/>
              </a:rPr>
              <a:t>This can destroy staff loyalty to the company, commitment to its aims and credibility in the management.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324217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latin typeface="+mn-lt"/>
                <a:ea typeface="+mn-ea"/>
                <a:cs typeface="+mn-cs"/>
              </a:rPr>
              <a:t>in this context ‘relevant colleagues’ include:</a:t>
            </a:r>
          </a:p>
          <a:p>
            <a:pPr marL="171450" lvl="0" indent="-171450">
              <a:buFont typeface="Arial" pitchFamily="34" charset="0"/>
              <a:buChar char="•"/>
            </a:pPr>
            <a:r>
              <a:rPr lang="en-AU" sz="1200" kern="1200" dirty="0" smtClean="0">
                <a:solidFill>
                  <a:schemeClr val="tx1"/>
                </a:solidFill>
                <a:latin typeface="+mn-lt"/>
                <a:ea typeface="+mn-ea"/>
                <a:cs typeface="+mn-cs"/>
              </a:rPr>
              <a:t>Owners and senior managers</a:t>
            </a:r>
          </a:p>
          <a:p>
            <a:pPr marL="171450" lvl="0" indent="-171450">
              <a:buFont typeface="Arial" pitchFamily="34" charset="0"/>
              <a:buChar char="•"/>
            </a:pPr>
            <a:r>
              <a:rPr lang="en-AU" sz="1200" kern="1200" dirty="0" smtClean="0">
                <a:solidFill>
                  <a:schemeClr val="tx1"/>
                </a:solidFill>
                <a:latin typeface="+mn-lt"/>
                <a:ea typeface="+mn-ea"/>
                <a:cs typeface="+mn-cs"/>
              </a:rPr>
              <a:t>Middle-level managers and supervisors</a:t>
            </a:r>
          </a:p>
          <a:p>
            <a:pPr marL="171450" lvl="0" indent="-171450">
              <a:buFont typeface="Arial" pitchFamily="34" charset="0"/>
              <a:buChar char="•"/>
            </a:pPr>
            <a:r>
              <a:rPr lang="en-AU" sz="1200" kern="1200" dirty="0" smtClean="0">
                <a:solidFill>
                  <a:schemeClr val="tx1"/>
                </a:solidFill>
                <a:latin typeface="+mn-lt"/>
                <a:ea typeface="+mn-ea"/>
                <a:cs typeface="+mn-cs"/>
              </a:rPr>
              <a:t>Administration and office staff with bookkeeping/accounting responsibilities</a:t>
            </a:r>
          </a:p>
          <a:p>
            <a:pPr marL="171450" lvl="0" indent="-171450">
              <a:buFont typeface="Arial" pitchFamily="34" charset="0"/>
              <a:buChar char="•"/>
            </a:pPr>
            <a:r>
              <a:rPr lang="en-AU" sz="1200" kern="1200" dirty="0" smtClean="0">
                <a:solidFill>
                  <a:schemeClr val="tx1"/>
                </a:solidFill>
                <a:latin typeface="+mn-lt"/>
                <a:ea typeface="+mn-ea"/>
                <a:cs typeface="+mn-cs"/>
              </a:rPr>
              <a:t>Operational staff – who have responsibilities for:</a:t>
            </a:r>
          </a:p>
          <a:p>
            <a:pPr marL="628650" lvl="1" indent="-171450">
              <a:buFont typeface="Arial" pitchFamily="34" charset="0"/>
              <a:buChar char="•"/>
            </a:pPr>
            <a:r>
              <a:rPr lang="en-US" sz="1200" kern="1200" dirty="0" smtClean="0">
                <a:solidFill>
                  <a:schemeClr val="tx1"/>
                </a:solidFill>
                <a:latin typeface="+mn-lt"/>
                <a:ea typeface="+mn-ea"/>
                <a:cs typeface="+mn-cs"/>
              </a:rPr>
              <a:t>Spending money on behalf of the business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Making sales and/or processing transactions for the organisation.</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 Activity – Guest Speaker</a:t>
            </a:r>
          </a:p>
          <a:p>
            <a:pPr>
              <a:buFont typeface="Arial" pitchFamily="34" charset="0"/>
              <a:buNone/>
            </a:pPr>
            <a:endParaRPr lang="en-US" b="1" noProof="0" dirty="0" smtClean="0"/>
          </a:p>
          <a:p>
            <a:pPr>
              <a:buFont typeface="Arial" pitchFamily="34" charset="0"/>
              <a:buNone/>
            </a:pPr>
            <a:r>
              <a:rPr lang="en-US" b="0" noProof="0" dirty="0" smtClean="0"/>
              <a:t>Trainer arranges Guest Speaker to discuss management responses to situations where budget projections (income and expenditure) are not being met/realised.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71681702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kern="1200" dirty="0" smtClean="0">
                <a:solidFill>
                  <a:schemeClr val="tx1"/>
                </a:solidFill>
                <a:latin typeface="+mn-lt"/>
                <a:ea typeface="+mn-ea"/>
                <a:cs typeface="+mn-cs"/>
              </a:rPr>
              <a:t>discussion of desired budget outcomes will usually require/involve the following activities:</a:t>
            </a:r>
          </a:p>
          <a:p>
            <a:pPr marL="171450" lvl="0" indent="-171450">
              <a:buFont typeface="Arial" pitchFamily="34" charset="0"/>
              <a:buChar char="•"/>
            </a:pPr>
            <a:r>
              <a:rPr lang="en-AU" sz="1200" kern="1200" dirty="0" smtClean="0">
                <a:solidFill>
                  <a:schemeClr val="tx1"/>
                </a:solidFill>
                <a:latin typeface="+mn-lt"/>
                <a:ea typeface="+mn-ea"/>
                <a:cs typeface="+mn-cs"/>
              </a:rPr>
              <a:t>A special meeting with all relevant colleagues – convened just for the purposes of discussing budgets, outcomes and action to be taken</a:t>
            </a:r>
          </a:p>
          <a:p>
            <a:pPr marL="171450" lvl="0" indent="-171450">
              <a:buFont typeface="Arial" pitchFamily="34" charset="0"/>
              <a:buChar char="•"/>
            </a:pPr>
            <a:r>
              <a:rPr lang="en-AU" sz="1200" kern="1200" dirty="0" smtClean="0">
                <a:solidFill>
                  <a:schemeClr val="tx1"/>
                </a:solidFill>
                <a:latin typeface="+mn-lt"/>
                <a:ea typeface="+mn-ea"/>
                <a:cs typeface="+mn-cs"/>
              </a:rPr>
              <a:t>Presentation of figures and budgets – which are the focus of the discussion/ the reason for the meeting: presenting ‘projections’ and ‘actual’ figures</a:t>
            </a:r>
          </a:p>
          <a:p>
            <a:pPr marL="171450" lvl="0" indent="-171450">
              <a:buFont typeface="Arial" pitchFamily="34" charset="0"/>
              <a:buChar char="•"/>
            </a:pPr>
            <a:r>
              <a:rPr lang="en-AU" sz="1200" kern="1200" dirty="0" smtClean="0">
                <a:solidFill>
                  <a:schemeClr val="tx1"/>
                </a:solidFill>
                <a:latin typeface="+mn-lt"/>
                <a:ea typeface="+mn-ea"/>
                <a:cs typeface="+mn-cs"/>
              </a:rPr>
              <a:t>Identification of the rationale/s which underpinned the establishment of allocations/projections – explaining the economic/trading environment at the time and the assumptions on which figures were determined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59284985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providing information on activities related to these discussions:</a:t>
            </a:r>
          </a:p>
          <a:p>
            <a:pPr marL="171450" lvl="0" indent="-171450">
              <a:buFont typeface="Arial" pitchFamily="34" charset="0"/>
              <a:buChar char="•"/>
            </a:pPr>
            <a:r>
              <a:rPr lang="en-AU" sz="1200" kern="1200" dirty="0" smtClean="0">
                <a:solidFill>
                  <a:schemeClr val="tx1"/>
                </a:solidFill>
                <a:latin typeface="+mn-lt"/>
                <a:ea typeface="+mn-ea"/>
                <a:cs typeface="+mn-cs"/>
              </a:rPr>
              <a:t>Validation of the facts and figures as presented – to prove/verify the situation and demonstrate it is genuine</a:t>
            </a:r>
          </a:p>
          <a:p>
            <a:pPr marL="171450" lvl="0" indent="-171450">
              <a:buFont typeface="Arial" pitchFamily="34" charset="0"/>
              <a:buChar char="•"/>
            </a:pPr>
            <a:r>
              <a:rPr lang="en-AU" sz="1200" kern="1200" dirty="0" smtClean="0">
                <a:solidFill>
                  <a:schemeClr val="tx1"/>
                </a:solidFill>
                <a:latin typeface="+mn-lt"/>
                <a:ea typeface="+mn-ea"/>
                <a:cs typeface="+mn-cs"/>
              </a:rPr>
              <a:t>Explanation of the facts – describing how the current situation has occurred</a:t>
            </a:r>
          </a:p>
          <a:p>
            <a:pPr marL="171450" lvl="0" indent="-171450">
              <a:buFont typeface="Arial" pitchFamily="34" charset="0"/>
              <a:buChar char="•"/>
            </a:pPr>
            <a:r>
              <a:rPr lang="en-AU" sz="1200" kern="1200" dirty="0" smtClean="0">
                <a:solidFill>
                  <a:schemeClr val="tx1"/>
                </a:solidFill>
                <a:latin typeface="+mn-lt"/>
                <a:ea typeface="+mn-ea"/>
                <a:cs typeface="+mn-cs"/>
              </a:rPr>
              <a:t>Comparison of results – to:</a:t>
            </a:r>
          </a:p>
          <a:p>
            <a:pPr marL="628650" lvl="1" indent="-171450">
              <a:buFont typeface="Arial" pitchFamily="34" charset="0"/>
              <a:buChar char="•"/>
            </a:pPr>
            <a:r>
              <a:rPr lang="en-US" sz="1200" kern="1200" dirty="0" smtClean="0">
                <a:solidFill>
                  <a:schemeClr val="tx1"/>
                </a:solidFill>
                <a:latin typeface="+mn-lt"/>
                <a:ea typeface="+mn-ea"/>
                <a:cs typeface="+mn-cs"/>
              </a:rPr>
              <a:t>Previous periods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Other departments, branches, offices, revenue/cost centres or businesses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Request for suggestions – to address the identified problem, unacceptable or out-of-control situations</a:t>
            </a:r>
          </a:p>
          <a:p>
            <a:pPr marL="171450" indent="-171450">
              <a:buFont typeface="Arial" pitchFamily="34" charset="0"/>
              <a:buChar char="•"/>
            </a:pPr>
            <a:r>
              <a:rPr lang="en-AU" sz="1200" kern="1200" dirty="0" smtClean="0">
                <a:solidFill>
                  <a:schemeClr val="tx1"/>
                </a:solidFill>
                <a:latin typeface="+mn-lt"/>
                <a:ea typeface="+mn-ea"/>
                <a:cs typeface="+mn-cs"/>
              </a:rPr>
              <a:t>Recommendations for action – to address/retrieve identified situations.</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52510070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a:t>
            </a:r>
          </a:p>
          <a:p>
            <a:pPr marL="171450" indent="-171450">
              <a:buFont typeface="Arial" pitchFamily="34" charset="0"/>
              <a:buChar char="•"/>
            </a:pPr>
            <a:r>
              <a:rPr lang="en-AU" sz="1200" kern="1200" dirty="0" smtClean="0">
                <a:solidFill>
                  <a:schemeClr val="tx1"/>
                </a:solidFill>
                <a:latin typeface="+mn-lt"/>
                <a:ea typeface="+mn-ea"/>
                <a:cs typeface="+mn-cs"/>
              </a:rPr>
              <a:t>Investigation in this situation should address two primary goals:</a:t>
            </a:r>
          </a:p>
          <a:p>
            <a:pPr marL="628650" lvl="1" indent="-171450">
              <a:buFont typeface="Arial" pitchFamily="34" charset="0"/>
              <a:buChar char="•"/>
            </a:pPr>
            <a:r>
              <a:rPr lang="en-AU" sz="1200" kern="1200" dirty="0" smtClean="0">
                <a:solidFill>
                  <a:schemeClr val="tx1"/>
                </a:solidFill>
                <a:latin typeface="+mn-lt"/>
                <a:ea typeface="+mn-ea"/>
                <a:cs typeface="+mn-cs"/>
              </a:rPr>
              <a:t>Looking into new approaches to setting the budgets – to make them more realistic</a:t>
            </a:r>
          </a:p>
          <a:p>
            <a:pPr marL="628650" lvl="1" indent="-171450">
              <a:buFont typeface="Arial" pitchFamily="34" charset="0"/>
              <a:buChar char="•"/>
            </a:pPr>
            <a:r>
              <a:rPr lang="en-AU" sz="1200" kern="1200" dirty="0" smtClean="0">
                <a:solidFill>
                  <a:schemeClr val="tx1"/>
                </a:solidFill>
                <a:latin typeface="+mn-lt"/>
                <a:ea typeface="+mn-ea"/>
                <a:cs typeface="+mn-cs"/>
              </a:rPr>
              <a:t>Investigating the operation of the business – so targets can be achieved.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45295213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states research </a:t>
            </a:r>
            <a:r>
              <a:rPr lang="en-AU" sz="1200" kern="1200" dirty="0" smtClean="0">
                <a:solidFill>
                  <a:schemeClr val="tx1"/>
                </a:solidFill>
                <a:latin typeface="+mn-lt"/>
                <a:ea typeface="+mn-ea"/>
                <a:cs typeface="+mn-cs"/>
              </a:rPr>
              <a:t>can take place into:</a:t>
            </a:r>
          </a:p>
          <a:p>
            <a:pPr marL="171450" lvl="0" indent="-171450">
              <a:buFont typeface="Arial" pitchFamily="34" charset="0"/>
              <a:buChar char="•"/>
            </a:pPr>
            <a:r>
              <a:rPr lang="en-AU" sz="1200" kern="1200" dirty="0" smtClean="0">
                <a:solidFill>
                  <a:schemeClr val="tx1"/>
                </a:solidFill>
                <a:latin typeface="+mn-lt"/>
                <a:ea typeface="+mn-ea"/>
                <a:cs typeface="+mn-cs"/>
              </a:rPr>
              <a:t>Verifying the variances/discrepancies are accurate – by:</a:t>
            </a:r>
          </a:p>
          <a:p>
            <a:pPr marL="628650" lvl="1" indent="-171450">
              <a:buFont typeface="Arial" pitchFamily="34" charset="0"/>
              <a:buChar char="•"/>
            </a:pPr>
            <a:r>
              <a:rPr lang="en-US" sz="1200" kern="1200" dirty="0" smtClean="0">
                <a:solidFill>
                  <a:schemeClr val="tx1"/>
                </a:solidFill>
                <a:latin typeface="+mn-lt"/>
                <a:ea typeface="+mn-ea"/>
                <a:cs typeface="+mn-cs"/>
              </a:rPr>
              <a:t>Checking all data has been included for the period and according to the type of document, budget or report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Checking there are no arithmetic/calculation errors in the information provided</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The cause of variances – where there appears no obvious reason for the discrepancies, all possibilities are open to investigation from theft to a simple downturn in trade.</a:t>
            </a:r>
          </a:p>
          <a:p>
            <a:pPr marL="171450" indent="-171450">
              <a:buFont typeface="Arial" pitchFamily="34" charset="0"/>
              <a:buChar char="•"/>
            </a:pPr>
            <a:r>
              <a:rPr lang="en-AU" sz="1200" kern="1200" dirty="0" smtClean="0">
                <a:solidFill>
                  <a:schemeClr val="tx1"/>
                </a:solidFill>
                <a:latin typeface="+mn-lt"/>
                <a:ea typeface="+mn-ea"/>
                <a:cs typeface="+mn-cs"/>
              </a:rPr>
              <a:t>The aim is to determine actual causal factors.</a:t>
            </a:r>
          </a:p>
          <a:p>
            <a:pPr marL="171450" lvl="0" indent="-171450">
              <a:buFont typeface="Arial" pitchFamily="34" charset="0"/>
              <a:buChar char="•"/>
            </a:pPr>
            <a:r>
              <a:rPr lang="en-AU" sz="1200" kern="1200" dirty="0" smtClean="0">
                <a:solidFill>
                  <a:schemeClr val="tx1"/>
                </a:solidFill>
                <a:latin typeface="+mn-lt"/>
                <a:ea typeface="+mn-ea"/>
                <a:cs typeface="+mn-cs"/>
              </a:rPr>
              <a:t>Identifying whether or not the intended customer/guest profile has changed – and if the business has failed to alter facilities and operations (including image, price levels, service standards, promotions, products) to match such change.</a:t>
            </a:r>
          </a:p>
          <a:p>
            <a:pPr marL="171450" lvl="0" indent="-171450">
              <a:buFont typeface="Arial" pitchFamily="34" charset="0"/>
              <a:buChar char="•"/>
            </a:pPr>
            <a:r>
              <a:rPr lang="en-AU" sz="1200" kern="1200" dirty="0" smtClean="0">
                <a:solidFill>
                  <a:schemeClr val="tx1"/>
                </a:solidFill>
                <a:latin typeface="+mn-lt"/>
                <a:ea typeface="+mn-ea"/>
                <a:cs typeface="+mn-cs"/>
              </a:rPr>
              <a:t>The nature of the historical data used to generate the budget – commonly some form of historical data is used to guide the development of budgets for this current period:  problematic is the figures being used may relate to a time which is not in-keeping with all the circumstances existing/applying today.  </a:t>
            </a:r>
          </a:p>
          <a:p>
            <a:pPr marL="628650" lvl="1" indent="-171450">
              <a:buFont typeface="Arial" pitchFamily="34" charset="0"/>
              <a:buChar char="•"/>
            </a:pPr>
            <a:r>
              <a:rPr lang="en-AU" sz="1200" kern="1200" dirty="0" smtClean="0">
                <a:solidFill>
                  <a:schemeClr val="tx1"/>
                </a:solidFill>
                <a:latin typeface="+mn-lt"/>
                <a:ea typeface="+mn-ea"/>
                <a:cs typeface="+mn-cs"/>
              </a:rPr>
              <a:t>Businesses often pay </a:t>
            </a:r>
            <a:r>
              <a:rPr lang="en-AU" sz="1200" i="1" kern="1200" dirty="0" smtClean="0">
                <a:solidFill>
                  <a:schemeClr val="tx1"/>
                </a:solidFill>
                <a:latin typeface="+mn-lt"/>
                <a:ea typeface="+mn-ea"/>
                <a:cs typeface="+mn-cs"/>
              </a:rPr>
              <a:t>lip service</a:t>
            </a:r>
            <a:r>
              <a:rPr lang="en-AU" sz="1200" kern="1200" dirty="0" smtClean="0">
                <a:solidFill>
                  <a:schemeClr val="tx1"/>
                </a:solidFill>
                <a:latin typeface="+mn-lt"/>
                <a:ea typeface="+mn-ea"/>
                <a:cs typeface="+mn-cs"/>
              </a:rPr>
              <a:t> to the fact they operate in a dynamic environment, but often forget to factor this dynamism into their predictions.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44217404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observes there are a range of standard reviews which should be undertaken given certain outcomes identifying these outcomes and giving examples of the reviews:</a:t>
            </a:r>
          </a:p>
          <a:p>
            <a:endParaRPr lang="en-AU" sz="1200" b="1" i="0" kern="1200" dirty="0" smtClean="0">
              <a:solidFill>
                <a:schemeClr val="tx1"/>
              </a:solidFill>
              <a:latin typeface="+mn-lt"/>
              <a:ea typeface="+mn-ea"/>
              <a:cs typeface="+mn-cs"/>
            </a:endParaRPr>
          </a:p>
          <a:p>
            <a:r>
              <a:rPr lang="en-AU" sz="1200" b="1" i="0" kern="1200" dirty="0" smtClean="0">
                <a:solidFill>
                  <a:schemeClr val="tx1"/>
                </a:solidFill>
                <a:latin typeface="+mn-lt"/>
                <a:ea typeface="+mn-ea"/>
                <a:cs typeface="+mn-cs"/>
              </a:rPr>
              <a:t>For unfavourable variances in cost of goods sold </a:t>
            </a:r>
            <a:r>
              <a:rPr lang="en-AU" sz="1200" kern="1200" dirty="0" smtClean="0">
                <a:solidFill>
                  <a:schemeClr val="tx1"/>
                </a:solidFill>
                <a:latin typeface="+mn-lt"/>
                <a:ea typeface="+mn-ea"/>
                <a:cs typeface="+mn-cs"/>
              </a:rPr>
              <a:t>there is a need to review:</a:t>
            </a:r>
          </a:p>
          <a:p>
            <a:pPr marL="171450" lvl="0" indent="-171450">
              <a:buFont typeface="Arial" pitchFamily="34" charset="0"/>
              <a:buChar char="•"/>
            </a:pPr>
            <a:r>
              <a:rPr lang="en-AU" sz="1200" kern="1200" dirty="0" smtClean="0">
                <a:solidFill>
                  <a:schemeClr val="tx1"/>
                </a:solidFill>
                <a:latin typeface="+mn-lt"/>
                <a:ea typeface="+mn-ea"/>
                <a:cs typeface="+mn-cs"/>
              </a:rPr>
              <a:t>Purchase specifications</a:t>
            </a:r>
          </a:p>
          <a:p>
            <a:pPr marL="171450" lvl="0" indent="-171450">
              <a:buFont typeface="Arial" pitchFamily="34" charset="0"/>
              <a:buChar char="•"/>
            </a:pPr>
            <a:r>
              <a:rPr lang="en-AU" sz="1200" kern="1200" dirty="0" smtClean="0">
                <a:solidFill>
                  <a:schemeClr val="tx1"/>
                </a:solidFill>
                <a:latin typeface="+mn-lt"/>
                <a:ea typeface="+mn-ea"/>
                <a:cs typeface="+mn-cs"/>
              </a:rPr>
              <a:t>Receiving and storing practices</a:t>
            </a:r>
          </a:p>
          <a:p>
            <a:pPr marL="171450" lvl="0" indent="-171450">
              <a:buFont typeface="Arial" pitchFamily="34" charset="0"/>
              <a:buChar char="•"/>
            </a:pPr>
            <a:r>
              <a:rPr lang="en-AU" sz="1200" kern="1200" dirty="0" smtClean="0">
                <a:solidFill>
                  <a:schemeClr val="tx1"/>
                </a:solidFill>
                <a:latin typeface="+mn-lt"/>
                <a:ea typeface="+mn-ea"/>
                <a:cs typeface="+mn-cs"/>
              </a:rPr>
              <a:t>Issuing practices</a:t>
            </a:r>
          </a:p>
          <a:p>
            <a:pPr marL="171450" lvl="0" indent="-171450">
              <a:buFont typeface="Arial" pitchFamily="34" charset="0"/>
              <a:buChar char="•"/>
            </a:pPr>
            <a:r>
              <a:rPr lang="en-AU" sz="1200" kern="1200" dirty="0" smtClean="0">
                <a:solidFill>
                  <a:schemeClr val="tx1"/>
                </a:solidFill>
                <a:latin typeface="+mn-lt"/>
                <a:ea typeface="+mn-ea"/>
                <a:cs typeface="+mn-cs"/>
              </a:rPr>
              <a:t>Production practices</a:t>
            </a:r>
          </a:p>
          <a:p>
            <a:pPr marL="171450" lvl="0" indent="-171450">
              <a:buFont typeface="Arial" pitchFamily="34" charset="0"/>
              <a:buChar char="•"/>
            </a:pPr>
            <a:r>
              <a:rPr lang="en-AU" sz="1200" kern="1200" dirty="0" smtClean="0">
                <a:solidFill>
                  <a:schemeClr val="tx1"/>
                </a:solidFill>
                <a:latin typeface="+mn-lt"/>
                <a:ea typeface="+mn-ea"/>
                <a:cs typeface="+mn-cs"/>
              </a:rPr>
              <a:t>Front of House practices/wastage</a:t>
            </a:r>
          </a:p>
          <a:p>
            <a:pPr marL="171450" lvl="0" indent="-171450">
              <a:buFont typeface="Arial" pitchFamily="34" charset="0"/>
              <a:buChar char="•"/>
            </a:pPr>
            <a:r>
              <a:rPr lang="en-AU" sz="1200" kern="1200" dirty="0" smtClean="0">
                <a:solidFill>
                  <a:schemeClr val="tx1"/>
                </a:solidFill>
                <a:latin typeface="+mn-lt"/>
                <a:ea typeface="+mn-ea"/>
                <a:cs typeface="+mn-cs"/>
              </a:rPr>
              <a:t>Bookkeeping.</a:t>
            </a:r>
          </a:p>
          <a:p>
            <a:endParaRPr lang="en-AU" sz="1200" b="1" i="0" kern="1200" dirty="0" smtClean="0">
              <a:solidFill>
                <a:schemeClr val="tx1"/>
              </a:solidFill>
              <a:latin typeface="+mn-lt"/>
              <a:ea typeface="+mn-ea"/>
              <a:cs typeface="+mn-cs"/>
            </a:endParaRPr>
          </a:p>
          <a:p>
            <a:r>
              <a:rPr lang="en-AU" sz="1200" b="1" i="0" kern="1200" dirty="0" smtClean="0">
                <a:solidFill>
                  <a:schemeClr val="tx1"/>
                </a:solidFill>
                <a:latin typeface="+mn-lt"/>
                <a:ea typeface="+mn-ea"/>
                <a:cs typeface="+mn-cs"/>
              </a:rPr>
              <a:t>For unfavourable variances in labour cost</a:t>
            </a:r>
            <a:endParaRPr lang="en-AU" sz="1200" i="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these situations there is a need to review:</a:t>
            </a:r>
          </a:p>
          <a:p>
            <a:pPr marL="171450" lvl="0" indent="-171450">
              <a:buFont typeface="Arial" pitchFamily="34" charset="0"/>
              <a:buChar char="•"/>
            </a:pPr>
            <a:r>
              <a:rPr lang="en-AU" sz="1200" kern="1200" dirty="0" smtClean="0">
                <a:solidFill>
                  <a:schemeClr val="tx1"/>
                </a:solidFill>
                <a:latin typeface="+mn-lt"/>
                <a:ea typeface="+mn-ea"/>
                <a:cs typeface="+mn-cs"/>
              </a:rPr>
              <a:t>Mix of casual and full time staff</a:t>
            </a:r>
          </a:p>
          <a:p>
            <a:pPr marL="171450" lvl="0" indent="-171450">
              <a:buFont typeface="Arial" pitchFamily="34" charset="0"/>
              <a:buChar char="•"/>
            </a:pPr>
            <a:r>
              <a:rPr lang="en-AU" sz="1200" kern="1200" dirty="0" smtClean="0">
                <a:solidFill>
                  <a:schemeClr val="tx1"/>
                </a:solidFill>
                <a:latin typeface="+mn-lt"/>
                <a:ea typeface="+mn-ea"/>
                <a:cs typeface="+mn-cs"/>
              </a:rPr>
              <a:t>Specific training of individuals</a:t>
            </a:r>
          </a:p>
          <a:p>
            <a:pPr marL="171450" lvl="0" indent="-171450">
              <a:buFont typeface="Arial" pitchFamily="34" charset="0"/>
              <a:buChar char="•"/>
            </a:pPr>
            <a:r>
              <a:rPr lang="en-AU" sz="1200" kern="1200" dirty="0" smtClean="0">
                <a:solidFill>
                  <a:schemeClr val="tx1"/>
                </a:solidFill>
                <a:latin typeface="+mn-lt"/>
                <a:ea typeface="+mn-ea"/>
                <a:cs typeface="+mn-cs"/>
              </a:rPr>
              <a:t>Multi-skilling of labour force</a:t>
            </a:r>
          </a:p>
          <a:p>
            <a:pPr marL="171450" lvl="0" indent="-171450">
              <a:buFont typeface="Arial" pitchFamily="34" charset="0"/>
              <a:buChar char="•"/>
            </a:pPr>
            <a:r>
              <a:rPr lang="en-AU" sz="1200" kern="1200" dirty="0" smtClean="0">
                <a:solidFill>
                  <a:schemeClr val="tx1"/>
                </a:solidFill>
                <a:latin typeface="+mn-lt"/>
                <a:ea typeface="+mn-ea"/>
                <a:cs typeface="+mn-cs"/>
              </a:rPr>
              <a:t>Motivation of staff</a:t>
            </a:r>
          </a:p>
          <a:p>
            <a:pPr marL="171450" lvl="0" indent="-171450">
              <a:buFont typeface="Arial" pitchFamily="34" charset="0"/>
              <a:buChar char="•"/>
            </a:pPr>
            <a:r>
              <a:rPr lang="en-AU" sz="1200" kern="1200" dirty="0" smtClean="0">
                <a:solidFill>
                  <a:schemeClr val="tx1"/>
                </a:solidFill>
                <a:latin typeface="+mn-lt"/>
                <a:ea typeface="+mn-ea"/>
                <a:cs typeface="+mn-cs"/>
              </a:rPr>
              <a:t>Changes to workplace productivity.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238904566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noProof="0" dirty="0" smtClean="0"/>
              <a:t>Trainer continues observing there are a range of standard reviews which should be undertaken given certain outcomes identifying these outcomes and giving examples of the reviews:</a:t>
            </a:r>
          </a:p>
          <a:p>
            <a:endParaRPr lang="en-AU" sz="1200" b="1" i="0" kern="1200" dirty="0" smtClean="0">
              <a:solidFill>
                <a:schemeClr val="tx1"/>
              </a:solidFill>
              <a:latin typeface="+mn-lt"/>
              <a:ea typeface="+mn-ea"/>
              <a:cs typeface="+mn-cs"/>
            </a:endParaRPr>
          </a:p>
          <a:p>
            <a:r>
              <a:rPr lang="en-AU" sz="1200" b="1" i="0" kern="1200" dirty="0" smtClean="0">
                <a:solidFill>
                  <a:schemeClr val="tx1"/>
                </a:solidFill>
                <a:latin typeface="+mn-lt"/>
                <a:ea typeface="+mn-ea"/>
                <a:cs typeface="+mn-cs"/>
              </a:rPr>
              <a:t>For cash flow/liquidity problems </a:t>
            </a:r>
            <a:endParaRPr lang="en-AU" sz="1200" i="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these situations there is a need to consider:</a:t>
            </a:r>
          </a:p>
          <a:p>
            <a:pPr marL="171450" lvl="0" indent="-171450">
              <a:buFont typeface="Arial" pitchFamily="34" charset="0"/>
              <a:buChar char="•"/>
            </a:pPr>
            <a:r>
              <a:rPr lang="en-AU" sz="1200" kern="1200" dirty="0" smtClean="0">
                <a:solidFill>
                  <a:schemeClr val="tx1"/>
                </a:solidFill>
                <a:latin typeface="+mn-lt"/>
                <a:ea typeface="+mn-ea"/>
                <a:cs typeface="+mn-cs"/>
              </a:rPr>
              <a:t>Reducing average inventory to free up cash</a:t>
            </a:r>
          </a:p>
          <a:p>
            <a:pPr marL="171450" lvl="0" indent="-171450">
              <a:buFont typeface="Arial" pitchFamily="34" charset="0"/>
              <a:buChar char="•"/>
            </a:pPr>
            <a:r>
              <a:rPr lang="en-AU" sz="1200" kern="1200" dirty="0" smtClean="0">
                <a:solidFill>
                  <a:schemeClr val="tx1"/>
                </a:solidFill>
                <a:latin typeface="+mn-lt"/>
                <a:ea typeface="+mn-ea"/>
                <a:cs typeface="+mn-cs"/>
              </a:rPr>
              <a:t>Offering no or restricted credit sales</a:t>
            </a:r>
          </a:p>
          <a:p>
            <a:pPr marL="171450" lvl="0" indent="-171450">
              <a:buFont typeface="Arial" pitchFamily="34" charset="0"/>
              <a:buChar char="•"/>
            </a:pPr>
            <a:r>
              <a:rPr lang="en-AU" sz="1200" kern="1200" dirty="0" smtClean="0">
                <a:solidFill>
                  <a:schemeClr val="tx1"/>
                </a:solidFill>
                <a:latin typeface="+mn-lt"/>
                <a:ea typeface="+mn-ea"/>
                <a:cs typeface="+mn-cs"/>
              </a:rPr>
              <a:t>Leasing versus buying equipment</a:t>
            </a:r>
          </a:p>
          <a:p>
            <a:pPr marL="171450" lvl="0" indent="-171450">
              <a:buFont typeface="Arial" pitchFamily="34" charset="0"/>
              <a:buChar char="•"/>
            </a:pPr>
            <a:r>
              <a:rPr lang="en-AU" sz="1200" kern="1200" dirty="0" smtClean="0">
                <a:solidFill>
                  <a:schemeClr val="tx1"/>
                </a:solidFill>
                <a:latin typeface="+mn-lt"/>
                <a:ea typeface="+mn-ea"/>
                <a:cs typeface="+mn-cs"/>
              </a:rPr>
              <a:t>Delaying payments to creditors</a:t>
            </a:r>
          </a:p>
          <a:p>
            <a:pPr marL="171450" lvl="0" indent="-171450">
              <a:buFont typeface="Arial" pitchFamily="34" charset="0"/>
              <a:buChar char="•"/>
            </a:pPr>
            <a:r>
              <a:rPr lang="en-AU" sz="1200" kern="1200" dirty="0" smtClean="0">
                <a:solidFill>
                  <a:schemeClr val="tx1"/>
                </a:solidFill>
                <a:latin typeface="+mn-lt"/>
                <a:ea typeface="+mn-ea"/>
                <a:cs typeface="+mn-cs"/>
              </a:rPr>
              <a:t>Selling unused assets</a:t>
            </a:r>
          </a:p>
          <a:p>
            <a:pPr marL="171450" lvl="0" indent="-171450">
              <a:buFont typeface="Arial" pitchFamily="34" charset="0"/>
              <a:buChar char="•"/>
            </a:pPr>
            <a:r>
              <a:rPr lang="en-AU" sz="1200" kern="1200" dirty="0" smtClean="0">
                <a:solidFill>
                  <a:schemeClr val="tx1"/>
                </a:solidFill>
                <a:latin typeface="+mn-lt"/>
                <a:ea typeface="+mn-ea"/>
                <a:cs typeface="+mn-cs"/>
              </a:rPr>
              <a:t>Increasing sales.</a:t>
            </a:r>
          </a:p>
          <a:p>
            <a:endParaRPr lang="en-AU" sz="1200" b="1" i="0" kern="1200" dirty="0" smtClean="0">
              <a:solidFill>
                <a:schemeClr val="tx1"/>
              </a:solidFill>
              <a:latin typeface="+mn-lt"/>
              <a:ea typeface="+mn-ea"/>
              <a:cs typeface="+mn-cs"/>
            </a:endParaRPr>
          </a:p>
          <a:p>
            <a:r>
              <a:rPr lang="en-AU" sz="1200" b="1" i="0" kern="1200" dirty="0" smtClean="0">
                <a:solidFill>
                  <a:schemeClr val="tx1"/>
                </a:solidFill>
                <a:latin typeface="+mn-lt"/>
                <a:ea typeface="+mn-ea"/>
                <a:cs typeface="+mn-cs"/>
              </a:rPr>
              <a:t>For unfavourable variance with sales</a:t>
            </a:r>
            <a:endParaRPr lang="en-AU" sz="1200" i="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these situations there is a need to consider:</a:t>
            </a:r>
          </a:p>
          <a:p>
            <a:pPr marL="171450" lvl="0" indent="-171450">
              <a:buFont typeface="Arial" pitchFamily="34" charset="0"/>
              <a:buChar char="•"/>
            </a:pPr>
            <a:r>
              <a:rPr lang="en-AU" sz="1200" kern="1200" dirty="0" smtClean="0">
                <a:solidFill>
                  <a:schemeClr val="tx1"/>
                </a:solidFill>
                <a:latin typeface="+mn-lt"/>
                <a:ea typeface="+mn-ea"/>
                <a:cs typeface="+mn-cs"/>
              </a:rPr>
              <a:t>Auditing internal controls around sales</a:t>
            </a:r>
          </a:p>
          <a:p>
            <a:pPr marL="171450" lvl="0" indent="-171450">
              <a:buFont typeface="Arial" pitchFamily="34" charset="0"/>
              <a:buChar char="•"/>
            </a:pPr>
            <a:r>
              <a:rPr lang="en-AU" sz="1200" kern="1200" dirty="0" smtClean="0">
                <a:solidFill>
                  <a:schemeClr val="tx1"/>
                </a:solidFill>
                <a:latin typeface="+mn-lt"/>
                <a:ea typeface="+mn-ea"/>
                <a:cs typeface="+mn-cs"/>
              </a:rPr>
              <a:t>Reviewing quality of products being sold</a:t>
            </a:r>
          </a:p>
          <a:p>
            <a:pPr marL="171450" lvl="0" indent="-171450">
              <a:buFont typeface="Arial" pitchFamily="34" charset="0"/>
              <a:buChar char="•"/>
            </a:pPr>
            <a:r>
              <a:rPr lang="en-AU" sz="1200" kern="1200" dirty="0" smtClean="0">
                <a:solidFill>
                  <a:schemeClr val="tx1"/>
                </a:solidFill>
                <a:latin typeface="+mn-lt"/>
                <a:ea typeface="+mn-ea"/>
                <a:cs typeface="+mn-cs"/>
              </a:rPr>
              <a:t>Analysing competition actions</a:t>
            </a:r>
          </a:p>
          <a:p>
            <a:pPr marL="171450" lvl="0" indent="-171450">
              <a:buFont typeface="Arial" pitchFamily="34" charset="0"/>
              <a:buChar char="•"/>
            </a:pPr>
            <a:r>
              <a:rPr lang="en-AU" sz="1200" kern="1200" dirty="0" smtClean="0">
                <a:solidFill>
                  <a:schemeClr val="tx1"/>
                </a:solidFill>
                <a:latin typeface="+mn-lt"/>
                <a:ea typeface="+mn-ea"/>
                <a:cs typeface="+mn-cs"/>
              </a:rPr>
              <a:t>Reviewing marketing strategies</a:t>
            </a:r>
          </a:p>
          <a:p>
            <a:pPr marL="171450" lvl="0" indent="-171450">
              <a:buFont typeface="Arial" pitchFamily="34" charset="0"/>
              <a:buChar char="•"/>
            </a:pPr>
            <a:r>
              <a:rPr lang="en-AU" sz="1200" kern="1200" dirty="0" smtClean="0">
                <a:solidFill>
                  <a:schemeClr val="tx1"/>
                </a:solidFill>
                <a:latin typeface="+mn-lt"/>
                <a:ea typeface="+mn-ea"/>
                <a:cs typeface="+mn-cs"/>
              </a:rPr>
              <a:t>Reviewing adequacy of initial forecast</a:t>
            </a:r>
          </a:p>
          <a:p>
            <a:pPr marL="171450" lvl="0" indent="-171450">
              <a:buFont typeface="Arial" pitchFamily="34" charset="0"/>
              <a:buChar char="•"/>
            </a:pPr>
            <a:r>
              <a:rPr lang="en-AU" sz="1200" kern="1200" dirty="0" smtClean="0">
                <a:solidFill>
                  <a:schemeClr val="tx1"/>
                </a:solidFill>
                <a:latin typeface="+mn-lt"/>
                <a:ea typeface="+mn-ea"/>
                <a:cs typeface="+mn-cs"/>
              </a:rPr>
              <a:t>Reviewing adequacy of record keeping.</a:t>
            </a:r>
          </a:p>
          <a:p>
            <a:endParaRPr lang="en-US" noProof="0" dirty="0" smtClean="0"/>
          </a:p>
          <a:p>
            <a:r>
              <a:rPr lang="en-US" b="1" noProof="0" dirty="0" smtClean="0"/>
              <a:t>Class Activity – Small Group Exercise</a:t>
            </a:r>
          </a:p>
          <a:p>
            <a:endParaRPr lang="en-US" b="1" noProof="0" dirty="0" smtClean="0"/>
          </a:p>
          <a:p>
            <a:r>
              <a:rPr lang="en-US" b="0" noProof="0" dirty="0" smtClean="0"/>
              <a:t>Trainer divides students</a:t>
            </a:r>
            <a:r>
              <a:rPr lang="en-US" b="0" baseline="0" noProof="0" dirty="0" smtClean="0"/>
              <a:t> into small groups and asks them to generate possi9ble actions to take in response to the identified variances.</a:t>
            </a:r>
          </a:p>
          <a:p>
            <a:endParaRPr lang="en-US" b="0" baseline="0" noProof="0" dirty="0" smtClean="0"/>
          </a:p>
          <a:p>
            <a:r>
              <a:rPr lang="en-US" b="0" baseline="0" noProof="0" dirty="0" smtClean="0"/>
              <a:t>Trainer assists students with their deliberations and then facilitates sharing of suggestions and provision of feedback about ideas produced.</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74140713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changes in the internal and external environments can impact budget outcomes offering examples </a:t>
            </a:r>
            <a:r>
              <a:rPr lang="en-AU" sz="1200" kern="1200" dirty="0" smtClean="0">
                <a:solidFill>
                  <a:schemeClr val="tx1"/>
                </a:solidFill>
                <a:latin typeface="+mn-lt"/>
                <a:ea typeface="+mn-ea"/>
                <a:cs typeface="+mn-cs"/>
              </a:rPr>
              <a:t>of changes to the Internal Environment may be due to:</a:t>
            </a:r>
          </a:p>
          <a:p>
            <a:pPr marL="171450" lvl="0" indent="-171450">
              <a:buFont typeface="Arial" pitchFamily="34" charset="0"/>
              <a:buChar char="•"/>
            </a:pPr>
            <a:r>
              <a:rPr lang="en-AU" sz="1200" kern="1200" dirty="0" smtClean="0">
                <a:solidFill>
                  <a:schemeClr val="tx1"/>
                </a:solidFill>
                <a:latin typeface="+mn-lt"/>
                <a:ea typeface="+mn-ea"/>
                <a:cs typeface="+mn-cs"/>
              </a:rPr>
              <a:t>Labour unrest – staff unhappy with management</a:t>
            </a:r>
          </a:p>
          <a:p>
            <a:pPr marL="171450" lvl="0" indent="-171450">
              <a:buFont typeface="Arial" pitchFamily="34" charset="0"/>
              <a:buChar char="•"/>
            </a:pPr>
            <a:r>
              <a:rPr lang="en-AU" sz="1200" kern="1200" dirty="0" smtClean="0">
                <a:solidFill>
                  <a:schemeClr val="tx1"/>
                </a:solidFill>
                <a:latin typeface="+mn-lt"/>
                <a:ea typeface="+mn-ea"/>
                <a:cs typeface="+mn-cs"/>
              </a:rPr>
              <a:t>Inadequate finances – such as inadequate working capital</a:t>
            </a:r>
          </a:p>
          <a:p>
            <a:pPr marL="171450" lvl="0" indent="-171450">
              <a:buFont typeface="Arial" pitchFamily="34" charset="0"/>
              <a:buChar char="•"/>
            </a:pPr>
            <a:r>
              <a:rPr lang="en-AU" sz="1200" kern="1200" dirty="0" smtClean="0">
                <a:solidFill>
                  <a:schemeClr val="tx1"/>
                </a:solidFill>
                <a:latin typeface="+mn-lt"/>
                <a:ea typeface="+mn-ea"/>
                <a:cs typeface="+mn-cs"/>
              </a:rPr>
              <a:t>Absenteeism – staff unhappy and using up their sick leave</a:t>
            </a:r>
          </a:p>
          <a:p>
            <a:pPr marL="171450" lvl="0" indent="-171450">
              <a:buFont typeface="Arial" pitchFamily="34" charset="0"/>
              <a:buChar char="•"/>
            </a:pPr>
            <a:r>
              <a:rPr lang="en-AU" sz="1200" kern="1200" dirty="0" smtClean="0">
                <a:solidFill>
                  <a:schemeClr val="tx1"/>
                </a:solidFill>
                <a:latin typeface="+mn-lt"/>
                <a:ea typeface="+mn-ea"/>
                <a:cs typeface="+mn-cs"/>
              </a:rPr>
              <a:t>Poor quality food produced – due to poor quality staff, training, ingredients</a:t>
            </a:r>
          </a:p>
          <a:p>
            <a:pPr marL="171450" lvl="0" indent="-171450">
              <a:buFont typeface="Arial" pitchFamily="34" charset="0"/>
              <a:buChar char="•"/>
            </a:pPr>
            <a:r>
              <a:rPr lang="en-AU" sz="1200" kern="1200" dirty="0" smtClean="0">
                <a:solidFill>
                  <a:schemeClr val="tx1"/>
                </a:solidFill>
                <a:latin typeface="+mn-lt"/>
                <a:ea typeface="+mn-ea"/>
                <a:cs typeface="+mn-cs"/>
              </a:rPr>
              <a:t>Machinery break down – caused by inadequate maintenance, inferior machinery, improper operation.</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01506819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causes of changes in the external environment which might impact budget outcomes:</a:t>
            </a:r>
          </a:p>
          <a:p>
            <a:pPr marL="171450" lvl="0" indent="-171450">
              <a:buFont typeface="Arial" pitchFamily="34" charset="0"/>
              <a:buChar char="•"/>
            </a:pPr>
            <a:r>
              <a:rPr lang="en-AU" sz="1200" kern="1200" dirty="0" smtClean="0">
                <a:solidFill>
                  <a:schemeClr val="tx1"/>
                </a:solidFill>
                <a:latin typeface="+mn-lt"/>
                <a:ea typeface="+mn-ea"/>
                <a:cs typeface="+mn-cs"/>
              </a:rPr>
              <a:t>Economic conditions – such as decline in general economic outlook</a:t>
            </a:r>
          </a:p>
          <a:p>
            <a:pPr marL="171450" lvl="0" indent="-171450">
              <a:buFont typeface="Arial" pitchFamily="34" charset="0"/>
              <a:buChar char="•"/>
            </a:pPr>
            <a:r>
              <a:rPr lang="en-AU" sz="1200" kern="1200" dirty="0" smtClean="0">
                <a:solidFill>
                  <a:schemeClr val="tx1"/>
                </a:solidFill>
                <a:latin typeface="+mn-lt"/>
                <a:ea typeface="+mn-ea"/>
                <a:cs typeface="+mn-cs"/>
              </a:rPr>
              <a:t>Changing legislation – such as new employment laws requiring increased labour cost</a:t>
            </a:r>
          </a:p>
          <a:p>
            <a:pPr marL="171450" lvl="0" indent="-171450">
              <a:buFont typeface="Arial" pitchFamily="34" charset="0"/>
              <a:buChar char="•"/>
            </a:pPr>
            <a:r>
              <a:rPr lang="en-AU" sz="1200" kern="1200" dirty="0" smtClean="0">
                <a:solidFill>
                  <a:schemeClr val="tx1"/>
                </a:solidFill>
                <a:latin typeface="+mn-lt"/>
                <a:ea typeface="+mn-ea"/>
                <a:cs typeface="+mn-cs"/>
              </a:rPr>
              <a:t>Population change – such as reduced or increased numbers in the local area</a:t>
            </a:r>
          </a:p>
          <a:p>
            <a:pPr marL="171450" lvl="0" indent="-171450">
              <a:buFont typeface="Arial" pitchFamily="34" charset="0"/>
              <a:buChar char="•"/>
            </a:pPr>
            <a:r>
              <a:rPr lang="en-AU" sz="1200" kern="1200" dirty="0" smtClean="0">
                <a:solidFill>
                  <a:schemeClr val="tx1"/>
                </a:solidFill>
                <a:latin typeface="+mn-lt"/>
                <a:ea typeface="+mn-ea"/>
                <a:cs typeface="+mn-cs"/>
              </a:rPr>
              <a:t>Fashion/taste changes – for example, a style of cuisine is no longer fashionable, or is becoming fashionable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64778987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causes of changes in the external environment which might impact budget outcomes:</a:t>
            </a:r>
          </a:p>
          <a:p>
            <a:pPr marL="171450" lvl="0" indent="-171450">
              <a:buFont typeface="Arial" pitchFamily="34" charset="0"/>
              <a:buChar char="•"/>
            </a:pPr>
            <a:r>
              <a:rPr lang="en-AU" sz="1200" kern="1200" dirty="0" smtClean="0">
                <a:solidFill>
                  <a:schemeClr val="tx1"/>
                </a:solidFill>
                <a:latin typeface="+mn-lt"/>
                <a:ea typeface="+mn-ea"/>
                <a:cs typeface="+mn-cs"/>
              </a:rPr>
              <a:t>The appearance of a strong new competitor into the marketplace</a:t>
            </a:r>
          </a:p>
          <a:p>
            <a:pPr marL="171450" lvl="0" indent="-171450">
              <a:buFont typeface="Arial" pitchFamily="34" charset="0"/>
              <a:buChar char="•"/>
            </a:pPr>
            <a:r>
              <a:rPr lang="en-AU" sz="1200" kern="1200" dirty="0" smtClean="0">
                <a:solidFill>
                  <a:schemeClr val="tx1"/>
                </a:solidFill>
                <a:latin typeface="+mn-lt"/>
                <a:ea typeface="+mn-ea"/>
                <a:cs typeface="+mn-cs"/>
              </a:rPr>
              <a:t>Opportunity available through the advent of new technology</a:t>
            </a:r>
          </a:p>
          <a:p>
            <a:pPr marL="171450" lvl="0" indent="-171450">
              <a:buFont typeface="Arial" pitchFamily="34" charset="0"/>
              <a:buChar char="•"/>
            </a:pPr>
            <a:r>
              <a:rPr lang="en-AU" sz="1200" kern="1200" dirty="0" smtClean="0">
                <a:solidFill>
                  <a:schemeClr val="tx1"/>
                </a:solidFill>
                <a:latin typeface="+mn-lt"/>
                <a:ea typeface="+mn-ea"/>
                <a:cs typeface="+mn-cs"/>
              </a:rPr>
              <a:t>Synergies created as a result of new business partnerships/relationships</a:t>
            </a:r>
          </a:p>
          <a:p>
            <a:pPr marL="171450" lvl="0" indent="-171450">
              <a:buFont typeface="Arial" pitchFamily="34" charset="0"/>
              <a:buChar char="•"/>
            </a:pPr>
            <a:r>
              <a:rPr lang="en-AU" sz="1200" kern="1200" dirty="0" smtClean="0">
                <a:solidFill>
                  <a:schemeClr val="tx1"/>
                </a:solidFill>
                <a:latin typeface="+mn-lt"/>
                <a:ea typeface="+mn-ea"/>
                <a:cs typeface="+mn-cs"/>
              </a:rPr>
              <a:t>Suppliers – which may require action to:</a:t>
            </a:r>
          </a:p>
          <a:p>
            <a:pPr marL="628650" lvl="1" indent="-171450">
              <a:buFont typeface="Arial" pitchFamily="34" charset="0"/>
              <a:buChar char="•"/>
            </a:pPr>
            <a:r>
              <a:rPr lang="en-AU" sz="1200" kern="1200" dirty="0" smtClean="0">
                <a:solidFill>
                  <a:schemeClr val="tx1"/>
                </a:solidFill>
                <a:latin typeface="+mn-lt"/>
                <a:ea typeface="+mn-ea"/>
                <a:cs typeface="+mn-cs"/>
              </a:rPr>
              <a:t>Determine if current suppliers can reduce their selling prices – or generate some cost-saving protocols (such as quantity-based discounts or standing orders)</a:t>
            </a:r>
          </a:p>
          <a:p>
            <a:pPr marL="628650" lvl="1" indent="-171450">
              <a:buFont typeface="Arial" pitchFamily="34" charset="0"/>
              <a:buChar char="•"/>
            </a:pPr>
            <a:r>
              <a:rPr lang="en-AU" sz="1200" kern="1200" dirty="0" smtClean="0">
                <a:solidFill>
                  <a:schemeClr val="tx1"/>
                </a:solidFill>
                <a:latin typeface="+mn-lt"/>
                <a:ea typeface="+mn-ea"/>
                <a:cs typeface="+mn-cs"/>
              </a:rPr>
              <a:t>Identify if new, lower-priced suppliers are available – to provide the same products at a lesser cost</a:t>
            </a:r>
          </a:p>
          <a:p>
            <a:pPr marL="628650" lvl="1" indent="-171450">
              <a:buFont typeface="Arial" pitchFamily="34" charset="0"/>
              <a:buChar char="•"/>
            </a:pPr>
            <a:r>
              <a:rPr lang="en-AU" sz="1200" kern="1200" dirty="0" smtClean="0">
                <a:solidFill>
                  <a:schemeClr val="tx1"/>
                </a:solidFill>
                <a:latin typeface="+mn-lt"/>
                <a:ea typeface="+mn-ea"/>
                <a:cs typeface="+mn-cs"/>
              </a:rPr>
              <a:t>Evaluate alternative lower-priced products – so the same suppliers provide different products/materials at a reduced cost</a:t>
            </a:r>
          </a:p>
          <a:p>
            <a:pPr marL="628650" lvl="1" indent="-171450">
              <a:buFont typeface="Arial" pitchFamily="34" charset="0"/>
              <a:buChar char="•"/>
            </a:pPr>
            <a:r>
              <a:rPr lang="en-AU" sz="1200" kern="1200" dirty="0" smtClean="0">
                <a:solidFill>
                  <a:schemeClr val="tx1"/>
                </a:solidFill>
                <a:latin typeface="+mn-lt"/>
                <a:ea typeface="+mn-ea"/>
                <a:cs typeface="+mn-cs"/>
              </a:rPr>
              <a:t>Discuss with them whether processing of certain items can occur on-site – as opposed to buying in pre-processed, and hence more expensive, products.</a:t>
            </a:r>
          </a:p>
          <a:p>
            <a:pPr>
              <a:buFont typeface="Arial" pitchFamily="34" charset="0"/>
              <a:buNone/>
            </a:pPr>
            <a:endParaRPr lang="en-US" noProof="0" dirty="0" smtClean="0"/>
          </a:p>
          <a:p>
            <a:pPr>
              <a:buFont typeface="Arial" pitchFamily="34" charset="0"/>
              <a:buNone/>
            </a:pPr>
            <a:r>
              <a:rPr lang="en-US" b="1" noProof="0" dirty="0" smtClean="0"/>
              <a:t>Class Activity – Guest Speaker</a:t>
            </a:r>
          </a:p>
          <a:p>
            <a:pPr>
              <a:buFont typeface="Arial" pitchFamily="34" charset="0"/>
              <a:buNone/>
            </a:pPr>
            <a:endParaRPr lang="en-US" b="1" noProof="0" dirty="0" smtClean="0"/>
          </a:p>
          <a:p>
            <a:pPr>
              <a:buFont typeface="Arial" pitchFamily="34" charset="0"/>
              <a:buNone/>
            </a:pPr>
            <a:r>
              <a:rPr lang="en-US" b="0" noProof="0" dirty="0" smtClean="0"/>
              <a:t>Trainer arranges for relevant business manager/owner to attend and talk to students</a:t>
            </a:r>
            <a:r>
              <a:rPr lang="en-US" b="0" baseline="0" noProof="0" dirty="0" smtClean="0"/>
              <a:t> about their efforts and actions at identifying causes of budget variances and taking appropriate remedial action based on findings. </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3663819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a:t>
            </a:r>
            <a:r>
              <a:rPr lang="en-AU" sz="1200" kern="1200" dirty="0" smtClean="0">
                <a:solidFill>
                  <a:schemeClr val="tx1"/>
                </a:solidFill>
                <a:latin typeface="+mn-lt"/>
                <a:ea typeface="+mn-ea"/>
                <a:cs typeface="+mn-cs"/>
              </a:rPr>
              <a:t>standard market research techniques coupled with basic research activities can be used to provide feedback/data on which to base future action/responses to budget circumstances identifying</a:t>
            </a:r>
            <a:r>
              <a:rPr lang="en-AU" sz="1200" kern="1200" baseline="0" dirty="0" smtClean="0">
                <a:solidFill>
                  <a:schemeClr val="tx1"/>
                </a:solidFill>
                <a:latin typeface="+mn-lt"/>
                <a:ea typeface="+mn-ea"/>
                <a:cs typeface="+mn-cs"/>
              </a:rPr>
              <a:t> in </a:t>
            </a:r>
            <a:r>
              <a:rPr lang="en-AU" sz="1200" kern="1200" dirty="0" smtClean="0">
                <a:solidFill>
                  <a:schemeClr val="tx1"/>
                </a:solidFill>
                <a:latin typeface="+mn-lt"/>
                <a:ea typeface="+mn-ea"/>
                <a:cs typeface="+mn-cs"/>
              </a:rPr>
              <a:t>practice this can involve:</a:t>
            </a:r>
          </a:p>
          <a:p>
            <a:pPr marL="171450" lvl="0" indent="-171450">
              <a:buFont typeface="Arial" pitchFamily="34" charset="0"/>
              <a:buChar char="•"/>
            </a:pPr>
            <a:r>
              <a:rPr lang="en-AU" sz="1200" kern="1200" dirty="0" smtClean="0">
                <a:solidFill>
                  <a:schemeClr val="tx1"/>
                </a:solidFill>
                <a:latin typeface="+mn-lt"/>
                <a:ea typeface="+mn-ea"/>
                <a:cs typeface="+mn-cs"/>
              </a:rPr>
              <a:t>Personal, targeted observation – take a proactive approach to monitoring and observing what is happening within the business with a view to identifying changes which can (or need to be) made</a:t>
            </a:r>
          </a:p>
          <a:p>
            <a:pPr marL="171450" lvl="0" indent="-171450">
              <a:buFont typeface="Arial" pitchFamily="34" charset="0"/>
              <a:buChar char="•"/>
            </a:pPr>
            <a:r>
              <a:rPr lang="en-AU" sz="1200" kern="1200" dirty="0" smtClean="0">
                <a:solidFill>
                  <a:schemeClr val="tx1"/>
                </a:solidFill>
                <a:latin typeface="+mn-lt"/>
                <a:ea typeface="+mn-ea"/>
                <a:cs typeface="+mn-cs"/>
              </a:rPr>
              <a:t>Questionnaires – asking guests/customers to complete questionnaires designed to elicit their thoughts about why things are the way they are, and what the organisation can do to better serve them</a:t>
            </a:r>
          </a:p>
          <a:p>
            <a:pPr marL="171450" lvl="0" indent="-171450">
              <a:buFont typeface="Arial" pitchFamily="34" charset="0"/>
              <a:buChar char="•"/>
            </a:pPr>
            <a:r>
              <a:rPr lang="en-AU" sz="1200" kern="1200" dirty="0" smtClean="0">
                <a:solidFill>
                  <a:schemeClr val="tx1"/>
                </a:solidFill>
                <a:latin typeface="+mn-lt"/>
                <a:ea typeface="+mn-ea"/>
                <a:cs typeface="+mn-cs"/>
              </a:rPr>
              <a:t>Panel interviews/focus groups – assembling groups of past and present customers and asking them about their thoughts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339529774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possible research techniques:</a:t>
            </a:r>
          </a:p>
          <a:p>
            <a:pPr marL="171450" lvl="0" indent="-171450">
              <a:buFont typeface="Arial" pitchFamily="34" charset="0"/>
              <a:buChar char="•"/>
            </a:pPr>
            <a:r>
              <a:rPr lang="en-AU" sz="1200" kern="1200" dirty="0" smtClean="0">
                <a:solidFill>
                  <a:schemeClr val="tx1"/>
                </a:solidFill>
                <a:latin typeface="+mn-lt"/>
                <a:ea typeface="+mn-ea"/>
                <a:cs typeface="+mn-cs"/>
              </a:rPr>
              <a:t>Analysis of industry information provided by reputable industry sources – such as peak industry bodies/groups, banks, government authorities and suppliers</a:t>
            </a:r>
          </a:p>
          <a:p>
            <a:pPr marL="171450" lvl="0" indent="-171450">
              <a:buFont typeface="Arial" pitchFamily="34" charset="0"/>
              <a:buChar char="•"/>
            </a:pPr>
            <a:r>
              <a:rPr lang="en-AU" sz="1200" kern="1200" dirty="0" smtClean="0">
                <a:solidFill>
                  <a:schemeClr val="tx1"/>
                </a:solidFill>
                <a:latin typeface="+mn-lt"/>
                <a:ea typeface="+mn-ea"/>
                <a:cs typeface="+mn-cs"/>
              </a:rPr>
              <a:t>Literature and internet research – involving:</a:t>
            </a:r>
          </a:p>
          <a:p>
            <a:pPr marL="628650" lvl="1" indent="-171450">
              <a:buFont typeface="Arial" pitchFamily="34" charset="0"/>
              <a:buChar char="•"/>
            </a:pPr>
            <a:r>
              <a:rPr lang="en-AU" sz="1200" kern="1200" dirty="0" smtClean="0">
                <a:solidFill>
                  <a:schemeClr val="tx1"/>
                </a:solidFill>
                <a:latin typeface="+mn-lt"/>
                <a:ea typeface="+mn-ea"/>
                <a:cs typeface="+mn-cs"/>
              </a:rPr>
              <a:t>Reading texts, industry reports and industry journals and reports</a:t>
            </a:r>
          </a:p>
          <a:p>
            <a:pPr marL="628650" lvl="1" indent="-171450">
              <a:buFont typeface="Arial" pitchFamily="34" charset="0"/>
              <a:buChar char="•"/>
            </a:pPr>
            <a:r>
              <a:rPr lang="en-AU" sz="1200" kern="1200" dirty="0" smtClean="0">
                <a:solidFill>
                  <a:schemeClr val="tx1"/>
                </a:solidFill>
                <a:latin typeface="+mn-lt"/>
                <a:ea typeface="+mn-ea"/>
                <a:cs typeface="+mn-cs"/>
              </a:rPr>
              <a:t>Visiting relevant websites.</a:t>
            </a:r>
          </a:p>
          <a:p>
            <a:pPr marL="171450" lvl="0" indent="-171450">
              <a:buFont typeface="Arial" pitchFamily="34" charset="0"/>
              <a:buChar char="•"/>
            </a:pPr>
            <a:r>
              <a:rPr lang="en-AU" sz="1200" kern="1200" dirty="0" smtClean="0">
                <a:solidFill>
                  <a:schemeClr val="tx1"/>
                </a:solidFill>
                <a:latin typeface="+mn-lt"/>
                <a:ea typeface="+mn-ea"/>
                <a:cs typeface="+mn-cs"/>
              </a:rPr>
              <a:t>Discussion with others – who may be:</a:t>
            </a:r>
          </a:p>
          <a:p>
            <a:pPr marL="628650" lvl="1" indent="-171450">
              <a:buFont typeface="Arial" pitchFamily="34" charset="0"/>
              <a:buChar char="•"/>
            </a:pPr>
            <a:r>
              <a:rPr lang="en-AU" sz="1200" kern="1200" dirty="0" smtClean="0">
                <a:solidFill>
                  <a:schemeClr val="tx1"/>
                </a:solidFill>
                <a:latin typeface="+mn-lt"/>
                <a:ea typeface="+mn-ea"/>
                <a:cs typeface="+mn-cs"/>
              </a:rPr>
              <a:t>Managers/supervisors within the same business</a:t>
            </a:r>
          </a:p>
          <a:p>
            <a:pPr marL="628650" lvl="1" indent="-171450">
              <a:buFont typeface="Arial" pitchFamily="34" charset="0"/>
              <a:buChar char="•"/>
            </a:pPr>
            <a:r>
              <a:rPr lang="en-AU" sz="1200" kern="1200" dirty="0" smtClean="0">
                <a:solidFill>
                  <a:schemeClr val="tx1"/>
                </a:solidFill>
                <a:latin typeface="+mn-lt"/>
                <a:ea typeface="+mn-ea"/>
                <a:cs typeface="+mn-cs"/>
              </a:rPr>
              <a:t>Managers at other offices/operations within the same organisation</a:t>
            </a:r>
          </a:p>
          <a:p>
            <a:pPr marL="628650" lvl="1" indent="-171450">
              <a:buFont typeface="Arial" pitchFamily="34" charset="0"/>
              <a:buChar char="•"/>
            </a:pPr>
            <a:r>
              <a:rPr lang="en-AU" sz="1200" kern="1200" dirty="0" smtClean="0">
                <a:solidFill>
                  <a:schemeClr val="tx1"/>
                </a:solidFill>
                <a:latin typeface="+mn-lt"/>
                <a:ea typeface="+mn-ea"/>
                <a:cs typeface="+mn-cs"/>
              </a:rPr>
              <a:t>Previous incumbents</a:t>
            </a:r>
          </a:p>
          <a:p>
            <a:pPr marL="628650" lvl="1" indent="-171450">
              <a:buFont typeface="Arial" pitchFamily="34" charset="0"/>
              <a:buChar char="•"/>
            </a:pPr>
            <a:r>
              <a:rPr lang="en-AU" sz="1200" kern="1200" dirty="0" smtClean="0">
                <a:solidFill>
                  <a:schemeClr val="tx1"/>
                </a:solidFill>
                <a:latin typeface="+mn-lt"/>
                <a:ea typeface="+mn-ea"/>
                <a:cs typeface="+mn-cs"/>
              </a:rPr>
              <a:t>Owner-operators of competitor businesses – strange as this sounds, much useful information can be exchanged with those who are essentially competing for the same market especially when the problem being discussed is one of mutual concern.</a:t>
            </a: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88037873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innovation as important in developing new approaches observing:</a:t>
            </a:r>
          </a:p>
          <a:p>
            <a:pPr marL="171450" indent="-171450">
              <a:buFont typeface="Arial" pitchFamily="34" charset="0"/>
              <a:buChar char="•"/>
            </a:pPr>
            <a:r>
              <a:rPr lang="en-AU" sz="1200" kern="1200" dirty="0" smtClean="0">
                <a:solidFill>
                  <a:schemeClr val="tx1"/>
                </a:solidFill>
                <a:latin typeface="+mn-lt"/>
                <a:ea typeface="+mn-ea"/>
                <a:cs typeface="+mn-cs"/>
              </a:rPr>
              <a:t>Innovation can be seen as:</a:t>
            </a:r>
          </a:p>
          <a:p>
            <a:pPr marL="628650" lvl="1" indent="-171450">
              <a:buFont typeface="Arial" pitchFamily="34" charset="0"/>
              <a:buChar char="•"/>
            </a:pPr>
            <a:r>
              <a:rPr lang="en-AU" sz="1200" kern="1200" dirty="0" smtClean="0">
                <a:solidFill>
                  <a:schemeClr val="tx1"/>
                </a:solidFill>
                <a:latin typeface="+mn-lt"/>
                <a:ea typeface="+mn-ea"/>
                <a:cs typeface="+mn-cs"/>
              </a:rPr>
              <a:t>Anything done for the first time </a:t>
            </a:r>
          </a:p>
          <a:p>
            <a:pPr marL="628650" lvl="1" indent="-171450">
              <a:buFont typeface="Arial" pitchFamily="34" charset="0"/>
              <a:buChar char="•"/>
            </a:pPr>
            <a:r>
              <a:rPr lang="en-AU" sz="1200" kern="1200" dirty="0" smtClean="0">
                <a:solidFill>
                  <a:schemeClr val="tx1"/>
                </a:solidFill>
                <a:latin typeface="+mn-lt"/>
                <a:ea typeface="+mn-ea"/>
                <a:cs typeface="+mn-cs"/>
              </a:rPr>
              <a:t>Revisions and improvements to existing things</a:t>
            </a:r>
          </a:p>
          <a:p>
            <a:pPr marL="171450" indent="-171450">
              <a:buFont typeface="Arial" pitchFamily="34" charset="0"/>
              <a:buChar char="•"/>
            </a:pPr>
            <a:r>
              <a:rPr lang="en-AU" sz="1200" kern="1200" dirty="0" smtClean="0">
                <a:solidFill>
                  <a:schemeClr val="tx1"/>
                </a:solidFill>
                <a:latin typeface="+mn-lt"/>
                <a:ea typeface="+mn-ea"/>
                <a:cs typeface="+mn-cs"/>
              </a:rPr>
              <a:t>Innovation in the workplace is generally driven either by:</a:t>
            </a:r>
          </a:p>
          <a:p>
            <a:pPr marL="628650" lvl="1" indent="-171450">
              <a:buFont typeface="Arial" pitchFamily="34" charset="0"/>
              <a:buChar char="•"/>
            </a:pPr>
            <a:r>
              <a:rPr lang="en-AU" sz="1200" kern="1200" dirty="0" smtClean="0">
                <a:solidFill>
                  <a:schemeClr val="tx1"/>
                </a:solidFill>
                <a:latin typeface="+mn-lt"/>
                <a:ea typeface="+mn-ea"/>
                <a:cs typeface="+mn-cs"/>
              </a:rPr>
              <a:t>A problem, or </a:t>
            </a:r>
          </a:p>
          <a:p>
            <a:pPr marL="628650" lvl="1" indent="-171450">
              <a:buFont typeface="Arial" pitchFamily="34" charset="0"/>
              <a:buChar char="•"/>
            </a:pPr>
            <a:r>
              <a:rPr lang="en-AU" sz="1200" kern="1200" dirty="0" smtClean="0">
                <a:solidFill>
                  <a:schemeClr val="tx1"/>
                </a:solidFill>
                <a:latin typeface="+mn-lt"/>
                <a:ea typeface="+mn-ea"/>
                <a:cs typeface="+mn-cs"/>
              </a:rPr>
              <a:t>An opportunity.</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424845317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discusses innovation noting:</a:t>
            </a:r>
          </a:p>
          <a:p>
            <a:pPr marL="171450" indent="-171450">
              <a:buFont typeface="Arial" pitchFamily="34" charset="0"/>
              <a:buChar char="•"/>
            </a:pPr>
            <a:r>
              <a:rPr lang="en-AU" sz="1200" kern="1200" dirty="0" smtClean="0">
                <a:solidFill>
                  <a:schemeClr val="tx1"/>
                </a:solidFill>
                <a:latin typeface="+mn-lt"/>
                <a:ea typeface="+mn-ea"/>
                <a:cs typeface="+mn-cs"/>
              </a:rPr>
              <a:t>It is a process embracing concepts such as:</a:t>
            </a:r>
          </a:p>
          <a:p>
            <a:pPr marL="628650" lvl="1" indent="-171450">
              <a:buFont typeface="Arial" pitchFamily="34" charset="0"/>
              <a:buChar char="•"/>
            </a:pPr>
            <a:r>
              <a:rPr lang="en-AU" sz="1200" kern="1200" dirty="0" smtClean="0">
                <a:solidFill>
                  <a:schemeClr val="tx1"/>
                </a:solidFill>
                <a:latin typeface="+mn-lt"/>
                <a:ea typeface="+mn-ea"/>
                <a:cs typeface="+mn-cs"/>
              </a:rPr>
              <a:t>Initiative – being proactive and seizing the moment when a problem or opportunity presents </a:t>
            </a:r>
          </a:p>
          <a:p>
            <a:pPr marL="628650" lvl="1" indent="-171450">
              <a:buFont typeface="Arial" pitchFamily="34" charset="0"/>
              <a:buChar char="•"/>
            </a:pPr>
            <a:r>
              <a:rPr lang="en-AU" sz="1200" kern="1200" dirty="0" smtClean="0">
                <a:solidFill>
                  <a:schemeClr val="tx1"/>
                </a:solidFill>
                <a:latin typeface="+mn-lt"/>
                <a:ea typeface="+mn-ea"/>
                <a:cs typeface="+mn-cs"/>
              </a:rPr>
              <a:t>Invention – being creative in developing a new (or revised or improved) product, service or response to a given situation or set of circumstances </a:t>
            </a:r>
          </a:p>
          <a:p>
            <a:pPr marL="628650" lvl="1" indent="-171450">
              <a:buFont typeface="Arial" pitchFamily="34" charset="0"/>
              <a:buChar char="•"/>
            </a:pPr>
            <a:r>
              <a:rPr lang="en-AU" sz="1200" kern="1200" dirty="0" smtClean="0">
                <a:solidFill>
                  <a:schemeClr val="tx1"/>
                </a:solidFill>
                <a:latin typeface="+mn-lt"/>
                <a:ea typeface="+mn-ea"/>
                <a:cs typeface="+mn-cs"/>
              </a:rPr>
              <a:t>Initiation – implementing, monitoring, supporting and reviewing the new, revised or improved product, service or response.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813720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further notes:</a:t>
            </a:r>
          </a:p>
          <a:p>
            <a:pPr marL="171450" indent="-171450">
              <a:buFont typeface="Arial" pitchFamily="34" charset="0"/>
              <a:buChar char="•"/>
            </a:pPr>
            <a:r>
              <a:rPr lang="en-AU" sz="1200" kern="1200" dirty="0" smtClean="0">
                <a:solidFill>
                  <a:schemeClr val="tx1"/>
                </a:solidFill>
                <a:latin typeface="+mn-lt"/>
                <a:ea typeface="+mn-ea"/>
                <a:cs typeface="+mn-cs"/>
              </a:rPr>
              <a:t>Innovation can be applied to just about anything in the workplace and can be effectively and successfully applied to:</a:t>
            </a:r>
          </a:p>
          <a:p>
            <a:pPr marL="628650" lvl="1" indent="-171450">
              <a:buFont typeface="Arial" pitchFamily="34" charset="0"/>
              <a:buChar char="•"/>
            </a:pPr>
            <a:r>
              <a:rPr lang="en-AU" sz="1200" kern="1200" dirty="0" smtClean="0">
                <a:solidFill>
                  <a:schemeClr val="tx1"/>
                </a:solidFill>
                <a:latin typeface="+mn-lt"/>
                <a:ea typeface="+mn-ea"/>
                <a:cs typeface="+mn-cs"/>
              </a:rPr>
              <a:t>Systems</a:t>
            </a:r>
          </a:p>
          <a:p>
            <a:pPr marL="628650" lvl="1" indent="-171450">
              <a:buFont typeface="Arial" pitchFamily="34" charset="0"/>
              <a:buChar char="•"/>
            </a:pPr>
            <a:r>
              <a:rPr lang="en-AU" sz="1200" kern="1200" dirty="0" smtClean="0">
                <a:solidFill>
                  <a:schemeClr val="tx1"/>
                </a:solidFill>
                <a:latin typeface="+mn-lt"/>
                <a:ea typeface="+mn-ea"/>
                <a:cs typeface="+mn-cs"/>
              </a:rPr>
              <a:t>Processes</a:t>
            </a:r>
          </a:p>
          <a:p>
            <a:pPr marL="628650" lvl="1" indent="-171450">
              <a:buFont typeface="Arial" pitchFamily="34" charset="0"/>
              <a:buChar char="•"/>
            </a:pPr>
            <a:r>
              <a:rPr lang="en-AU" sz="1200" kern="1200" dirty="0" smtClean="0">
                <a:solidFill>
                  <a:schemeClr val="tx1"/>
                </a:solidFill>
                <a:latin typeface="+mn-lt"/>
                <a:ea typeface="+mn-ea"/>
                <a:cs typeface="+mn-cs"/>
              </a:rPr>
              <a:t>Products and services.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47104715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types of innovations stating:</a:t>
            </a:r>
          </a:p>
          <a:p>
            <a:pPr marL="171450" indent="-171450">
              <a:buFont typeface="Arial" pitchFamily="34" charset="0"/>
              <a:buChar char="•"/>
            </a:pPr>
            <a:r>
              <a:rPr lang="en-AU" sz="1200" kern="1200" dirty="0" smtClean="0">
                <a:solidFill>
                  <a:schemeClr val="tx1"/>
                </a:solidFill>
                <a:latin typeface="+mn-lt"/>
                <a:ea typeface="+mn-ea"/>
                <a:cs typeface="+mn-cs"/>
              </a:rPr>
              <a:t>Debate exists about the different types of innovation which exist. Some sources will suggest there are two types and other sources offer up to 15 different types.</a:t>
            </a:r>
          </a:p>
          <a:p>
            <a:pPr marL="171450" lvl="0" indent="-171450">
              <a:buFont typeface="Arial" pitchFamily="34" charset="0"/>
              <a:buChar char="•"/>
            </a:pPr>
            <a:r>
              <a:rPr lang="en-AU" sz="1200" kern="1200" dirty="0" smtClean="0">
                <a:solidFill>
                  <a:schemeClr val="tx1"/>
                </a:solidFill>
                <a:latin typeface="+mn-lt"/>
                <a:ea typeface="+mn-ea"/>
                <a:cs typeface="+mn-cs"/>
              </a:rPr>
              <a:t>Incremental innovation – where small/modest changes and improvements are made</a:t>
            </a:r>
          </a:p>
          <a:p>
            <a:pPr marL="171450" lvl="0" indent="-171450">
              <a:buFont typeface="Arial" pitchFamily="34" charset="0"/>
              <a:buChar char="•"/>
            </a:pPr>
            <a:r>
              <a:rPr lang="en-AU" sz="1200" kern="1200" dirty="0" smtClean="0">
                <a:solidFill>
                  <a:schemeClr val="tx1"/>
                </a:solidFill>
                <a:latin typeface="+mn-lt"/>
                <a:ea typeface="+mn-ea"/>
                <a:cs typeface="+mn-cs"/>
              </a:rPr>
              <a:t>Radical innovation – focussing on totally new products and processes.</a:t>
            </a:r>
          </a:p>
          <a:p>
            <a:pPr>
              <a:buFont typeface="Arial" pitchFamily="34" charset="0"/>
              <a:buNone/>
            </a:pPr>
            <a:endParaRPr lang="en-US" noProof="0" dirty="0" smtClean="0"/>
          </a:p>
          <a:p>
            <a:pPr>
              <a:buFont typeface="Arial" pitchFamily="34" charset="0"/>
              <a:buNone/>
            </a:pPr>
            <a:r>
              <a:rPr lang="en-US" b="1" noProof="0" dirty="0" smtClean="0"/>
              <a:t>Classroom Activity – Internet research</a:t>
            </a:r>
          </a:p>
          <a:p>
            <a:pPr>
              <a:buFont typeface="Arial" pitchFamily="34" charset="0"/>
              <a:buNone/>
            </a:pPr>
            <a:endParaRPr lang="en-US" b="1" noProof="0" dirty="0" smtClean="0"/>
          </a:p>
          <a:p>
            <a:pPr>
              <a:buFont typeface="Arial" pitchFamily="34" charset="0"/>
              <a:buNone/>
            </a:pPr>
            <a:r>
              <a:rPr lang="en-US" b="0" noProof="0" dirty="0" smtClean="0"/>
              <a:t>Trainer facilitates student internet research into relevant websites such as:</a:t>
            </a:r>
          </a:p>
          <a:p>
            <a:pPr>
              <a:buFont typeface="Arial" pitchFamily="34" charset="0"/>
              <a:buNone/>
            </a:pPr>
            <a:r>
              <a:rPr lang="en-AU" sz="1200" u="sng" kern="1200" dirty="0" smtClean="0">
                <a:solidFill>
                  <a:schemeClr val="tx1"/>
                </a:solidFill>
                <a:latin typeface="+mn-lt"/>
                <a:ea typeface="+mn-ea"/>
                <a:cs typeface="+mn-cs"/>
                <a:hlinkClick r:id="rId3"/>
              </a:rPr>
              <a:t>http://www.business.qld.gov.au/business/business-improvement/becoming-innovative-business/innovation-types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27306323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highlights:</a:t>
            </a:r>
          </a:p>
          <a:p>
            <a:pPr marL="171450" indent="-171450">
              <a:buFont typeface="Arial" pitchFamily="34" charset="0"/>
              <a:buChar char="•"/>
            </a:pPr>
            <a:r>
              <a:rPr lang="en-US" noProof="0" dirty="0" smtClean="0"/>
              <a:t>Analysis </a:t>
            </a:r>
            <a:r>
              <a:rPr lang="en-AU" sz="1200" kern="1200" dirty="0" smtClean="0">
                <a:solidFill>
                  <a:schemeClr val="tx1"/>
                </a:solidFill>
                <a:latin typeface="+mn-lt"/>
                <a:ea typeface="+mn-ea"/>
                <a:cs typeface="+mn-cs"/>
              </a:rPr>
              <a:t>underpins investigation and innovation offering it may be defined as:</a:t>
            </a:r>
          </a:p>
          <a:p>
            <a:pPr marL="628650" lvl="1" indent="-171450">
              <a:buFont typeface="Arial" pitchFamily="34" charset="0"/>
              <a:buChar char="•"/>
            </a:pPr>
            <a:r>
              <a:rPr lang="en-AU" sz="1200" kern="1200" dirty="0" smtClean="0">
                <a:solidFill>
                  <a:schemeClr val="tx1"/>
                </a:solidFill>
                <a:latin typeface="+mn-lt"/>
                <a:ea typeface="+mn-ea"/>
                <a:cs typeface="+mn-cs"/>
              </a:rPr>
              <a:t>‘</a:t>
            </a:r>
            <a:r>
              <a:rPr lang="en-US" sz="1200" dirty="0" smtClean="0">
                <a:latin typeface="Helvetica" pitchFamily="34" charset="0"/>
              </a:rPr>
              <a:t>A systematic examination and evaluation of data or information by breaking it into its component parts to uncover their interrelationships</a:t>
            </a:r>
            <a:r>
              <a:rPr lang="en-AU" sz="1200" kern="1200" noProof="0" dirty="0" smtClean="0">
                <a:solidFill>
                  <a:schemeClr val="tx1"/>
                </a:solidFill>
                <a:latin typeface="+mn-lt"/>
                <a:ea typeface="+mn-ea"/>
                <a:cs typeface="+mn-cs"/>
              </a:rPr>
              <a:t>’. </a:t>
            </a:r>
          </a:p>
          <a:p>
            <a:pPr marL="171450" indent="-171450">
              <a:buFont typeface="Arial" pitchFamily="34" charset="0"/>
              <a:buChar char="•"/>
            </a:pPr>
            <a:r>
              <a:rPr lang="en-AU" sz="1200" kern="1200" dirty="0" smtClean="0">
                <a:solidFill>
                  <a:schemeClr val="tx1"/>
                </a:solidFill>
                <a:latin typeface="+mn-lt"/>
                <a:ea typeface="+mn-ea"/>
                <a:cs typeface="+mn-cs"/>
              </a:rPr>
              <a:t>Analysis may be:</a:t>
            </a:r>
          </a:p>
          <a:p>
            <a:pPr marL="628650" lvl="1" indent="-171450">
              <a:buFont typeface="Arial" pitchFamily="34" charset="0"/>
              <a:buChar char="•"/>
            </a:pPr>
            <a:r>
              <a:rPr lang="en-AU" sz="1200" kern="1200" dirty="0" smtClean="0">
                <a:solidFill>
                  <a:schemeClr val="tx1"/>
                </a:solidFill>
                <a:latin typeface="+mn-lt"/>
                <a:ea typeface="+mn-ea"/>
                <a:cs typeface="+mn-cs"/>
              </a:rPr>
              <a:t>Quantitative – focussed on statistics, numbers, figures, ratios, percentages and hard data</a:t>
            </a:r>
          </a:p>
          <a:p>
            <a:pPr marL="628650" lvl="1" indent="-171450">
              <a:buFont typeface="Arial" pitchFamily="34" charset="0"/>
              <a:buChar char="•"/>
            </a:pPr>
            <a:r>
              <a:rPr lang="en-AU" sz="1200" kern="1200" dirty="0" smtClean="0">
                <a:solidFill>
                  <a:schemeClr val="tx1"/>
                </a:solidFill>
                <a:latin typeface="+mn-lt"/>
                <a:ea typeface="+mn-ea"/>
                <a:cs typeface="+mn-cs"/>
              </a:rPr>
              <a:t>and/or</a:t>
            </a:r>
          </a:p>
          <a:p>
            <a:pPr marL="628650" lvl="1" indent="-171450">
              <a:buFont typeface="Arial" pitchFamily="34" charset="0"/>
              <a:buChar char="•"/>
            </a:pPr>
            <a:r>
              <a:rPr lang="en-AU" sz="1200" kern="1200" dirty="0" smtClean="0">
                <a:solidFill>
                  <a:schemeClr val="tx1"/>
                </a:solidFill>
                <a:latin typeface="+mn-lt"/>
                <a:ea typeface="+mn-ea"/>
                <a:cs typeface="+mn-cs"/>
              </a:rPr>
              <a:t>Qualitative – focussed on personal thoughts, opinions and reasons (soft data) which answers business questions such as ‘Why do customers think this way? Why do they act this way? Why do they come to our venue? Why don’t they come to our venue? What would make them visit us?</a:t>
            </a:r>
          </a:p>
          <a:p>
            <a:pPr marL="171450" indent="-171450">
              <a:buFont typeface="Arial" pitchFamily="34" charset="0"/>
              <a:buChar char="•"/>
            </a:pPr>
            <a:r>
              <a:rPr lang="en-AU" sz="1200" kern="1200" dirty="0" smtClean="0">
                <a:solidFill>
                  <a:schemeClr val="tx1"/>
                </a:solidFill>
                <a:latin typeface="+mn-lt"/>
                <a:ea typeface="+mn-ea"/>
                <a:cs typeface="+mn-cs"/>
              </a:rPr>
              <a:t>The purpose of analysis is to enable fact-based:</a:t>
            </a:r>
          </a:p>
          <a:p>
            <a:pPr marL="628650" lvl="1" indent="-171450">
              <a:buFont typeface="Arial" pitchFamily="34" charset="0"/>
              <a:buChar char="•"/>
            </a:pPr>
            <a:r>
              <a:rPr lang="en-AU" sz="1200" kern="1200" dirty="0" smtClean="0">
                <a:solidFill>
                  <a:schemeClr val="tx1"/>
                </a:solidFill>
                <a:latin typeface="+mn-lt"/>
                <a:ea typeface="+mn-ea"/>
                <a:cs typeface="+mn-cs"/>
              </a:rPr>
              <a:t>Decision making, and</a:t>
            </a:r>
          </a:p>
          <a:p>
            <a:pPr marL="628650" lvl="1" indent="-171450">
              <a:buFont typeface="Arial" pitchFamily="34" charset="0"/>
              <a:buChar char="•"/>
            </a:pPr>
            <a:r>
              <a:rPr lang="en-AU" sz="1200" kern="1200" dirty="0" smtClean="0">
                <a:solidFill>
                  <a:schemeClr val="tx1"/>
                </a:solidFill>
                <a:latin typeface="+mn-lt"/>
                <a:ea typeface="+mn-ea"/>
                <a:cs typeface="+mn-cs"/>
              </a:rPr>
              <a:t>Problem solving.</a:t>
            </a:r>
          </a:p>
          <a:p>
            <a:pPr marL="628650" lvl="1" indent="-171450">
              <a:buFont typeface="Arial" pitchFamily="34" charset="0"/>
              <a:buChar char="•"/>
            </a:pPr>
            <a:r>
              <a:rPr lang="en-AU" sz="1200" kern="1200" dirty="0" smtClean="0">
                <a:solidFill>
                  <a:schemeClr val="tx1"/>
                </a:solidFill>
                <a:latin typeface="+mn-lt"/>
                <a:ea typeface="+mn-ea"/>
                <a:cs typeface="+mn-cs"/>
              </a:rPr>
              <a:t>In relation to ‘innovation’ with respect to managing financial performances within budgets, analysis is seeking to provide facts about:</a:t>
            </a:r>
          </a:p>
          <a:p>
            <a:pPr marL="1085850" lvl="2" indent="-171450">
              <a:buFont typeface="Arial" pitchFamily="34" charset="0"/>
              <a:buChar char="•"/>
            </a:pPr>
            <a:r>
              <a:rPr lang="en-AU" sz="1200" kern="1200" dirty="0" smtClean="0">
                <a:solidFill>
                  <a:schemeClr val="tx1"/>
                </a:solidFill>
                <a:latin typeface="+mn-lt"/>
                <a:ea typeface="+mn-ea"/>
                <a:cs typeface="+mn-cs"/>
              </a:rPr>
              <a:t>What has caused the budget problem to be addressed?</a:t>
            </a:r>
          </a:p>
          <a:p>
            <a:pPr marL="1085850" lvl="2" indent="-171450">
              <a:buFont typeface="Arial" pitchFamily="34" charset="0"/>
              <a:buChar char="•"/>
            </a:pPr>
            <a:r>
              <a:rPr lang="en-AU" sz="1200" kern="1200" dirty="0" smtClean="0">
                <a:solidFill>
                  <a:schemeClr val="tx1"/>
                </a:solidFill>
                <a:latin typeface="+mn-lt"/>
                <a:ea typeface="+mn-ea"/>
                <a:cs typeface="+mn-cs"/>
              </a:rPr>
              <a:t>What is the most effective response to the problem?</a:t>
            </a:r>
          </a:p>
          <a:p>
            <a:pPr marL="1085850" lvl="2" indent="-171450">
              <a:buFont typeface="Arial" pitchFamily="34" charset="0"/>
              <a:buChar char="•"/>
            </a:pPr>
            <a:r>
              <a:rPr lang="en-AU" sz="1200" kern="1200" dirty="0" smtClean="0">
                <a:solidFill>
                  <a:schemeClr val="tx1"/>
                </a:solidFill>
                <a:latin typeface="+mn-lt"/>
                <a:ea typeface="+mn-ea"/>
                <a:cs typeface="+mn-cs"/>
              </a:rPr>
              <a:t>What opportunities in relation to budgets have arisen?</a:t>
            </a:r>
          </a:p>
          <a:p>
            <a:pPr marL="1085850" lvl="2" indent="-171450">
              <a:buFont typeface="Arial" pitchFamily="34" charset="0"/>
              <a:buChar char="•"/>
            </a:pPr>
            <a:r>
              <a:rPr lang="en-AU" sz="1200" kern="1200" dirty="0" smtClean="0">
                <a:solidFill>
                  <a:schemeClr val="tx1"/>
                </a:solidFill>
                <a:latin typeface="+mn-lt"/>
                <a:ea typeface="+mn-ea"/>
                <a:cs typeface="+mn-cs"/>
              </a:rPr>
              <a:t>What is the best response to capitalise on those opportunities?</a:t>
            </a:r>
          </a:p>
          <a:p>
            <a:pPr>
              <a:buFont typeface="Arial" pitchFamily="34" charset="0"/>
              <a:buNone/>
            </a:pPr>
            <a:endParaRPr lang="en-US" noProof="0" dirty="0" smtClean="0"/>
          </a:p>
          <a:p>
            <a:pPr>
              <a:buFont typeface="Arial" pitchFamily="34" charset="0"/>
              <a:buNone/>
            </a:pPr>
            <a:r>
              <a:rPr lang="en-US" b="1" noProof="0" dirty="0" smtClean="0"/>
              <a:t>Class Activity – Discussion</a:t>
            </a:r>
          </a:p>
          <a:p>
            <a:pPr>
              <a:buFont typeface="Arial" pitchFamily="34" charset="0"/>
              <a:buNone/>
            </a:pPr>
            <a:endParaRPr lang="en-US" b="1" noProof="0" dirty="0" smtClean="0"/>
          </a:p>
          <a:p>
            <a:pPr>
              <a:buFont typeface="Arial" pitchFamily="34" charset="0"/>
              <a:buNone/>
            </a:pPr>
            <a:r>
              <a:rPr lang="en-US" b="0" noProof="0" dirty="0" smtClean="0"/>
              <a:t>Trainer asks students to identify situations where analysis might be used to address problems with budget performance, and to identify examples of quantitative and qualitative analysis.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9407814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smtClean="0"/>
              <a:t>Trainer notes investigation </a:t>
            </a:r>
            <a:r>
              <a:rPr lang="en-AU" sz="1200" kern="1200" dirty="0" smtClean="0">
                <a:solidFill>
                  <a:schemeClr val="tx1"/>
                </a:solidFill>
                <a:latin typeface="+mn-lt"/>
                <a:ea typeface="+mn-ea"/>
                <a:cs typeface="+mn-cs"/>
              </a:rPr>
              <a:t>should involve a </a:t>
            </a:r>
            <a:r>
              <a:rPr lang="en-AU" sz="1200" b="1" kern="1200" dirty="0" smtClean="0">
                <a:solidFill>
                  <a:schemeClr val="tx1"/>
                </a:solidFill>
                <a:latin typeface="+mn-lt"/>
                <a:ea typeface="+mn-ea"/>
                <a:cs typeface="+mn-cs"/>
              </a:rPr>
              <a:t>range </a:t>
            </a:r>
            <a:r>
              <a:rPr lang="en-AU" sz="1200" kern="1200" dirty="0" smtClean="0">
                <a:solidFill>
                  <a:schemeClr val="tx1"/>
                </a:solidFill>
                <a:latin typeface="+mn-lt"/>
                <a:ea typeface="+mn-ea"/>
                <a:cs typeface="+mn-cs"/>
              </a:rPr>
              <a:t>or combination of activities highlighting action relying on just one method/option is highly likely to be flawed and unreliable and identifying activities which are necessary and have proved effective in the process of investigations of this nature include:</a:t>
            </a:r>
          </a:p>
          <a:p>
            <a:pPr marL="171450" lvl="0" indent="-171450">
              <a:buFont typeface="Arial" pitchFamily="34" charset="0"/>
              <a:buChar char="•"/>
            </a:pPr>
            <a:r>
              <a:rPr lang="en-AU" sz="1200" kern="1200" dirty="0" smtClean="0">
                <a:solidFill>
                  <a:schemeClr val="tx1"/>
                </a:solidFill>
                <a:latin typeface="+mn-lt"/>
                <a:ea typeface="+mn-ea"/>
                <a:cs typeface="+mn-cs"/>
              </a:rPr>
              <a:t>Establishment of team to conduct the investigation – comprising relevant management, support and operational staff appropriate to the nature of the topic (problem or opportunity) being addressed</a:t>
            </a:r>
          </a:p>
          <a:p>
            <a:pPr marL="171450" lvl="0" indent="-171450">
              <a:buFont typeface="Arial" pitchFamily="34" charset="0"/>
              <a:buChar char="•"/>
            </a:pPr>
            <a:r>
              <a:rPr lang="en-AU" sz="1200" kern="1200" dirty="0" smtClean="0">
                <a:solidFill>
                  <a:schemeClr val="tx1"/>
                </a:solidFill>
                <a:latin typeface="+mn-lt"/>
                <a:ea typeface="+mn-ea"/>
                <a:cs typeface="+mn-cs"/>
              </a:rPr>
              <a:t>Determination and development of strategies to constitute the investigation process – which may include:</a:t>
            </a:r>
          </a:p>
          <a:p>
            <a:pPr marL="628650" lvl="1" indent="-171450">
              <a:buFont typeface="Arial" pitchFamily="34" charset="0"/>
              <a:buChar char="•"/>
            </a:pPr>
            <a:r>
              <a:rPr lang="en-US" sz="1200" kern="1200" dirty="0" smtClean="0">
                <a:solidFill>
                  <a:schemeClr val="tx1"/>
                </a:solidFill>
                <a:latin typeface="+mn-lt"/>
                <a:ea typeface="+mn-ea"/>
                <a:cs typeface="+mn-cs"/>
              </a:rPr>
              <a:t>Observation and targeted examination – of:</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AU" sz="1200" kern="1200" dirty="0" smtClean="0">
                <a:solidFill>
                  <a:schemeClr val="tx1"/>
                </a:solidFill>
                <a:latin typeface="+mn-lt"/>
                <a:ea typeface="+mn-ea"/>
                <a:cs typeface="+mn-cs"/>
              </a:rPr>
              <a:t>Staff practice</a:t>
            </a:r>
          </a:p>
          <a:p>
            <a:pPr marL="1085850" lvl="2" indent="-171450">
              <a:buFont typeface="Arial" pitchFamily="34" charset="0"/>
              <a:buChar char="•"/>
            </a:pPr>
            <a:r>
              <a:rPr lang="en-AU" sz="1200" kern="1200" dirty="0" smtClean="0">
                <a:solidFill>
                  <a:schemeClr val="tx1"/>
                </a:solidFill>
                <a:latin typeface="+mn-lt"/>
                <a:ea typeface="+mn-ea"/>
                <a:cs typeface="+mn-cs"/>
              </a:rPr>
              <a:t>Customer/guest responses to service delivery and products</a:t>
            </a:r>
          </a:p>
          <a:p>
            <a:pPr marL="1085850" lvl="2" indent="-171450">
              <a:buFont typeface="Arial" pitchFamily="34" charset="0"/>
              <a:buChar char="•"/>
            </a:pPr>
            <a:r>
              <a:rPr lang="en-AU" sz="1200" kern="1200" dirty="0" smtClean="0">
                <a:solidFill>
                  <a:schemeClr val="tx1"/>
                </a:solidFill>
                <a:latin typeface="+mn-lt"/>
                <a:ea typeface="+mn-ea"/>
                <a:cs typeface="+mn-cs"/>
              </a:rPr>
              <a:t>Queues and waiting times</a:t>
            </a:r>
          </a:p>
          <a:p>
            <a:pPr marL="1085850" lvl="2" indent="-171450">
              <a:buFont typeface="Arial" pitchFamily="34" charset="0"/>
              <a:buChar char="•"/>
            </a:pPr>
            <a:r>
              <a:rPr lang="en-AU" sz="1200" kern="1200" dirty="0" smtClean="0">
                <a:solidFill>
                  <a:schemeClr val="tx1"/>
                </a:solidFill>
                <a:latin typeface="+mn-lt"/>
                <a:ea typeface="+mn-ea"/>
                <a:cs typeface="+mn-cs"/>
              </a:rPr>
              <a:t>Bottlenecks</a:t>
            </a:r>
          </a:p>
          <a:p>
            <a:pPr marL="1085850" lvl="2" indent="-171450">
              <a:buFont typeface="Arial" pitchFamily="34" charset="0"/>
              <a:buChar char="•"/>
            </a:pPr>
            <a:r>
              <a:rPr lang="en-AU" sz="1200" kern="1200" dirty="0" smtClean="0">
                <a:solidFill>
                  <a:schemeClr val="tx1"/>
                </a:solidFill>
                <a:latin typeface="+mn-lt"/>
                <a:ea typeface="+mn-ea"/>
                <a:cs typeface="+mn-cs"/>
              </a:rPr>
              <a:t>The actions of competitors</a:t>
            </a:r>
          </a:p>
          <a:p>
            <a:pPr marL="1085850" lvl="2" indent="-171450">
              <a:buFont typeface="Arial" pitchFamily="34" charset="0"/>
              <a:buChar char="•"/>
            </a:pPr>
            <a:r>
              <a:rPr lang="en-AU" sz="1200" kern="1200" dirty="0" smtClean="0">
                <a:solidFill>
                  <a:schemeClr val="tx1"/>
                </a:solidFill>
                <a:latin typeface="+mn-lt"/>
                <a:ea typeface="+mn-ea"/>
                <a:cs typeface="+mn-cs"/>
              </a:rPr>
              <a:t>The wider (national and international) business environment</a:t>
            </a:r>
          </a:p>
          <a:p>
            <a:pPr marL="628650" lvl="1" indent="-171450">
              <a:buFont typeface="Arial" pitchFamily="34" charset="0"/>
              <a:buChar char="•"/>
            </a:pPr>
            <a:r>
              <a:rPr lang="en-US" sz="1200" kern="1200" dirty="0" smtClean="0">
                <a:solidFill>
                  <a:schemeClr val="tx1"/>
                </a:solidFill>
                <a:latin typeface="+mn-lt"/>
                <a:ea typeface="+mn-ea"/>
                <a:cs typeface="+mn-cs"/>
              </a:rPr>
              <a:t>Evaluation of statistical and written reports – such as: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AU" sz="1200" kern="1200" dirty="0" smtClean="0">
                <a:solidFill>
                  <a:schemeClr val="tx1"/>
                </a:solidFill>
                <a:latin typeface="+mn-lt"/>
                <a:ea typeface="+mn-ea"/>
                <a:cs typeface="+mn-cs"/>
              </a:rPr>
              <a:t>All other budgets associated with the budget which is the subject of investigation/action</a:t>
            </a:r>
          </a:p>
          <a:p>
            <a:pPr marL="1085850" lvl="2" indent="-171450">
              <a:buFont typeface="Arial" pitchFamily="34" charset="0"/>
              <a:buChar char="•"/>
            </a:pPr>
            <a:r>
              <a:rPr lang="en-AU" sz="1200" kern="1200" dirty="0" smtClean="0">
                <a:solidFill>
                  <a:schemeClr val="tx1"/>
                </a:solidFill>
                <a:latin typeface="+mn-lt"/>
                <a:ea typeface="+mn-ea"/>
                <a:cs typeface="+mn-cs"/>
              </a:rPr>
              <a:t>All relevant financial and statistical reports</a:t>
            </a:r>
          </a:p>
          <a:p>
            <a:pPr marL="1085850" lvl="2" indent="-171450">
              <a:buFont typeface="Arial" pitchFamily="34" charset="0"/>
              <a:buChar char="•"/>
            </a:pPr>
            <a:r>
              <a:rPr lang="en-AU" sz="1200" kern="1200" dirty="0" smtClean="0">
                <a:solidFill>
                  <a:schemeClr val="tx1"/>
                </a:solidFill>
                <a:latin typeface="+mn-lt"/>
                <a:ea typeface="+mn-ea"/>
                <a:cs typeface="+mn-cs"/>
              </a:rPr>
              <a:t>Costs – this focuses not an amount of expenditure but on type of cost, suppliers used, terms of trade, special deals</a:t>
            </a:r>
          </a:p>
          <a:p>
            <a:pPr marL="1085850" lvl="2" indent="-171450">
              <a:buFont typeface="Arial" pitchFamily="34" charset="0"/>
              <a:buChar char="•"/>
            </a:pPr>
            <a:r>
              <a:rPr lang="en-AU" sz="1200" kern="1200" dirty="0" smtClean="0">
                <a:solidFill>
                  <a:schemeClr val="tx1"/>
                </a:solidFill>
                <a:latin typeface="+mn-lt"/>
                <a:ea typeface="+mn-ea"/>
                <a:cs typeface="+mn-cs"/>
              </a:rPr>
              <a:t>Revenue – with a focus on identification/breakdown (composition) of sources  rather than totals looking at (for example) number of persons/tickets sold; types of tickets; number and type of rooms sold; menu items ordered by guests</a:t>
            </a:r>
          </a:p>
          <a:p>
            <a:pPr marL="1085850" lvl="2" indent="-171450">
              <a:buFont typeface="Arial" pitchFamily="34" charset="0"/>
              <a:buChar char="•"/>
            </a:pPr>
            <a:r>
              <a:rPr lang="en-AU" sz="1200" kern="1200" dirty="0" smtClean="0">
                <a:solidFill>
                  <a:schemeClr val="tx1"/>
                </a:solidFill>
                <a:latin typeface="+mn-lt"/>
                <a:ea typeface="+mn-ea"/>
                <a:cs typeface="+mn-cs"/>
              </a:rPr>
              <a:t>Incident and accident reports</a:t>
            </a:r>
          </a:p>
          <a:p>
            <a:pPr marL="628650" lvl="1" indent="-171450">
              <a:buFont typeface="Arial" pitchFamily="34" charset="0"/>
              <a:buChar char="•"/>
            </a:pPr>
            <a:r>
              <a:rPr lang="en-US" sz="1200" kern="1200" dirty="0" smtClean="0">
                <a:solidFill>
                  <a:schemeClr val="tx1"/>
                </a:solidFill>
                <a:latin typeface="+mn-lt"/>
                <a:ea typeface="+mn-ea"/>
                <a:cs typeface="+mn-cs"/>
              </a:rPr>
              <a:t>Conducting surveys – face-to-face interviews of, and the application of questionnaires to customers (individuals, families, school groups, tourist groups):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AU" sz="1200" kern="1200" dirty="0" smtClean="0">
                <a:solidFill>
                  <a:schemeClr val="tx1"/>
                </a:solidFill>
                <a:latin typeface="+mn-lt"/>
                <a:ea typeface="+mn-ea"/>
                <a:cs typeface="+mn-cs"/>
              </a:rPr>
              <a:t>On arrival – what are they expecting? How did they buy their ticket?</a:t>
            </a:r>
          </a:p>
          <a:p>
            <a:pPr marL="1085850" lvl="2" indent="-171450">
              <a:buFont typeface="Arial" pitchFamily="34" charset="0"/>
              <a:buChar char="•"/>
            </a:pPr>
            <a:r>
              <a:rPr lang="en-AU" sz="1200" kern="1200" dirty="0" smtClean="0">
                <a:solidFill>
                  <a:schemeClr val="tx1"/>
                </a:solidFill>
                <a:latin typeface="+mn-lt"/>
                <a:ea typeface="+mn-ea"/>
                <a:cs typeface="+mn-cs"/>
              </a:rPr>
              <a:t>During their tour, visit or stay</a:t>
            </a:r>
          </a:p>
          <a:p>
            <a:pPr marL="1085850" lvl="2" indent="-171450">
              <a:buFont typeface="Arial" pitchFamily="34" charset="0"/>
              <a:buChar char="•"/>
            </a:pPr>
            <a:r>
              <a:rPr lang="en-AU" sz="1200" kern="1200" dirty="0" smtClean="0">
                <a:solidFill>
                  <a:schemeClr val="tx1"/>
                </a:solidFill>
                <a:latin typeface="+mn-lt"/>
                <a:ea typeface="+mn-ea"/>
                <a:cs typeface="+mn-cs"/>
              </a:rPr>
              <a:t>On departure – to identify visitor satisfaction, suggestions for improvement</a:t>
            </a:r>
          </a:p>
          <a:p>
            <a:pPr marL="628650" lvl="1" indent="-171450">
              <a:buFont typeface="Arial" pitchFamily="34" charset="0"/>
              <a:buChar char="•"/>
            </a:pPr>
            <a:r>
              <a:rPr lang="en-US" sz="1200" kern="1200" dirty="0" smtClean="0">
                <a:solidFill>
                  <a:schemeClr val="tx1"/>
                </a:solidFill>
                <a:latin typeface="+mn-lt"/>
                <a:ea typeface="+mn-ea"/>
                <a:cs typeface="+mn-cs"/>
              </a:rPr>
              <a:t>Collection/capture of data and information – involving:</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AU" sz="1200" kern="1200" dirty="0" smtClean="0">
                <a:solidFill>
                  <a:schemeClr val="tx1"/>
                </a:solidFill>
                <a:latin typeface="+mn-lt"/>
                <a:ea typeface="+mn-ea"/>
                <a:cs typeface="+mn-cs"/>
              </a:rPr>
              <a:t>Review of secondary data – business records and statistics which are available/on file</a:t>
            </a:r>
          </a:p>
          <a:p>
            <a:pPr marL="1085850" lvl="2" indent="-171450">
              <a:buFont typeface="Arial" pitchFamily="34" charset="0"/>
              <a:buChar char="•"/>
            </a:pPr>
            <a:r>
              <a:rPr lang="en-AU" sz="1200" kern="1200" dirty="0" smtClean="0">
                <a:solidFill>
                  <a:schemeClr val="tx1"/>
                </a:solidFill>
                <a:latin typeface="+mn-lt"/>
                <a:ea typeface="+mn-ea"/>
                <a:cs typeface="+mn-cs"/>
              </a:rPr>
              <a:t>Generation of primary data – to fill the gaps left by consideration of your secondary data</a:t>
            </a:r>
          </a:p>
          <a:p>
            <a:pPr marL="1085850" lvl="2" indent="-171450">
              <a:buFont typeface="Arial" pitchFamily="34" charset="0"/>
              <a:buChar char="•"/>
            </a:pPr>
            <a:r>
              <a:rPr lang="en-AU" sz="1200" kern="1200" dirty="0" smtClean="0">
                <a:solidFill>
                  <a:schemeClr val="tx1"/>
                </a:solidFill>
                <a:latin typeface="+mn-lt"/>
                <a:ea typeface="+mn-ea"/>
                <a:cs typeface="+mn-cs"/>
              </a:rPr>
              <a:t>Compilation, manipulation and consideration of soft and hard data.</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352210277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noProof="0" dirty="0" smtClean="0"/>
              <a:t>Trainer continues discussing investigation activities:</a:t>
            </a:r>
          </a:p>
          <a:p>
            <a:pPr marL="171450" lvl="0" indent="-171450">
              <a:buFont typeface="Arial" pitchFamily="34" charset="0"/>
              <a:buChar char="•"/>
            </a:pPr>
            <a:r>
              <a:rPr lang="en-AU" sz="1200" kern="1200" dirty="0" smtClean="0">
                <a:solidFill>
                  <a:schemeClr val="tx1"/>
                </a:solidFill>
                <a:latin typeface="+mn-lt"/>
                <a:ea typeface="+mn-ea"/>
                <a:cs typeface="+mn-cs"/>
              </a:rPr>
              <a:t>Identification of support for implementation of the investigation process – such as:</a:t>
            </a:r>
          </a:p>
          <a:p>
            <a:pPr marL="628650" lvl="1" indent="-171450">
              <a:buFont typeface="Arial" pitchFamily="34" charset="0"/>
              <a:buChar char="•"/>
            </a:pPr>
            <a:r>
              <a:rPr lang="en-US" sz="1200" kern="1200" dirty="0" smtClean="0">
                <a:solidFill>
                  <a:schemeClr val="tx1"/>
                </a:solidFill>
                <a:latin typeface="+mn-lt"/>
                <a:ea typeface="+mn-ea"/>
                <a:cs typeface="+mn-cs"/>
              </a:rPr>
              <a:t>Allocation of responsibility for action to nominated persons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Allocation of resources required to undertake the identified activities which comprise the agreed research/investigation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Determination of timelines for action, reporting and final analysis and decision making </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Decision making based on analysis and investigation – which may indicate need to:</a:t>
            </a:r>
          </a:p>
          <a:p>
            <a:pPr marL="628650" lvl="1" indent="-171450">
              <a:buFont typeface="Arial" pitchFamily="34" charset="0"/>
              <a:buChar char="•"/>
            </a:pPr>
            <a:r>
              <a:rPr lang="en-US" sz="1200" kern="1200" dirty="0" smtClean="0">
                <a:solidFill>
                  <a:schemeClr val="tx1"/>
                </a:solidFill>
                <a:latin typeface="+mn-lt"/>
                <a:ea typeface="+mn-ea"/>
                <a:cs typeface="+mn-cs"/>
              </a:rPr>
              <a:t>Conduct a trial, test or pilot of a proposed initiative – to monitor and evaluate results/outcomes in order to determine viability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Revise the budget – as appropriate based on findings/analysis, for example in terms of:</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Changing basis on which funds are allocated</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Allocating more/less funds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Re-calculating projections/expectations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US" sz="1200" kern="1200" dirty="0" smtClean="0">
                <a:solidFill>
                  <a:schemeClr val="tx1"/>
                </a:solidFill>
                <a:latin typeface="+mn-lt"/>
                <a:ea typeface="+mn-ea"/>
                <a:cs typeface="+mn-cs"/>
              </a:rPr>
              <a:t>Take operational action to reflect indicators/facts revealed by the research/analysis/investigation – which can cover an extremely wide range of options such as: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Altering prices, service standards, suppliers, product mix</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Targeting new markets and revised market positioning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Closing departments, areas, offices, individual businesses – or </a:t>
            </a:r>
            <a:r>
              <a:rPr lang="en-US" sz="1200" i="1" kern="1200" dirty="0" smtClean="0">
                <a:solidFill>
                  <a:schemeClr val="tx1"/>
                </a:solidFill>
                <a:latin typeface="+mn-lt"/>
                <a:ea typeface="+mn-ea"/>
                <a:cs typeface="+mn-cs"/>
              </a:rPr>
              <a:t>expanding</a:t>
            </a:r>
            <a:r>
              <a:rPr lang="en-US" sz="1200" kern="1200" dirty="0" smtClean="0">
                <a:solidFill>
                  <a:schemeClr val="tx1"/>
                </a:solidFill>
                <a:latin typeface="+mn-lt"/>
                <a:ea typeface="+mn-ea"/>
                <a:cs typeface="+mn-cs"/>
              </a:rPr>
              <a:t> the services/hours.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Practical Exercise</a:t>
            </a:r>
          </a:p>
          <a:p>
            <a:pPr>
              <a:buFont typeface="Arial" pitchFamily="34" charset="0"/>
              <a:buNone/>
            </a:pPr>
            <a:endParaRPr lang="en-US" b="1" noProof="0" dirty="0" smtClean="0"/>
          </a:p>
          <a:p>
            <a:pPr>
              <a:buFont typeface="Arial" pitchFamily="34" charset="0"/>
              <a:buNone/>
            </a:pPr>
            <a:r>
              <a:rPr lang="en-US" b="0" noProof="0" dirty="0" smtClean="0"/>
              <a:t>Trainer provides student with</a:t>
            </a:r>
            <a:r>
              <a:rPr lang="en-US" b="0" baseline="0" noProof="0" dirty="0" smtClean="0"/>
              <a:t> an ‘unacceptable budget outcome/performance’ for a nominated business and asks students to undertake research to identify new approaches to retrieve/improve the budget results.</a:t>
            </a:r>
            <a:endParaRPr lang="en-US" b="0" noProof="0" dirty="0" smtClean="0"/>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391793012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communication </a:t>
            </a:r>
            <a:r>
              <a:rPr lang="en-AU" sz="1200" kern="1200" dirty="0" smtClean="0">
                <a:solidFill>
                  <a:schemeClr val="tx1"/>
                </a:solidFill>
                <a:latin typeface="+mn-lt"/>
                <a:ea typeface="+mn-ea"/>
                <a:cs typeface="+mn-cs"/>
              </a:rPr>
              <a:t>methods used will generally involve:</a:t>
            </a:r>
          </a:p>
          <a:p>
            <a:pPr marL="171450" lvl="0" indent="-171450">
              <a:buFont typeface="Arial" pitchFamily="34" charset="0"/>
              <a:buChar char="•"/>
            </a:pPr>
            <a:r>
              <a:rPr lang="en-AU" sz="1200" kern="1200" dirty="0" smtClean="0">
                <a:solidFill>
                  <a:schemeClr val="tx1"/>
                </a:solidFill>
                <a:latin typeface="+mn-lt"/>
                <a:ea typeface="+mn-ea"/>
                <a:cs typeface="+mn-cs"/>
              </a:rPr>
              <a:t>Written information – which may take the form of:</a:t>
            </a:r>
          </a:p>
          <a:p>
            <a:pPr marL="628650" lvl="1" indent="-171450">
              <a:buFont typeface="Arial" pitchFamily="34" charset="0"/>
              <a:buChar char="•"/>
            </a:pPr>
            <a:r>
              <a:rPr lang="en-US" sz="1200" kern="1200" dirty="0" smtClean="0">
                <a:solidFill>
                  <a:schemeClr val="tx1"/>
                </a:solidFill>
                <a:latin typeface="+mn-lt"/>
                <a:ea typeface="+mn-ea"/>
                <a:cs typeface="+mn-cs"/>
              </a:rPr>
              <a:t>Hard copy handouts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Memorandum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Emails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Verbal information – provided at:</a:t>
            </a:r>
          </a:p>
          <a:p>
            <a:pPr marL="628650" lvl="1" indent="-171450">
              <a:buFont typeface="Arial" pitchFamily="34" charset="0"/>
              <a:buChar char="•"/>
            </a:pPr>
            <a:r>
              <a:rPr lang="en-US" sz="1200" kern="1200" dirty="0" smtClean="0">
                <a:solidFill>
                  <a:schemeClr val="tx1"/>
                </a:solidFill>
                <a:latin typeface="+mn-lt"/>
                <a:ea typeface="+mn-ea"/>
                <a:cs typeface="+mn-cs"/>
              </a:rPr>
              <a:t>Budget meetings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Specially convened meetings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Staff meetings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Management meetings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Formal presentation – featuring:</a:t>
            </a:r>
          </a:p>
          <a:p>
            <a:pPr marL="628650" lvl="1" indent="-171450">
              <a:buFont typeface="Arial" pitchFamily="34" charset="0"/>
              <a:buChar char="•"/>
            </a:pPr>
            <a:r>
              <a:rPr lang="en-US" sz="1200" kern="1200" dirty="0" smtClean="0">
                <a:solidFill>
                  <a:schemeClr val="tx1"/>
                </a:solidFill>
                <a:latin typeface="+mn-lt"/>
                <a:ea typeface="+mn-ea"/>
                <a:cs typeface="+mn-cs"/>
              </a:rPr>
              <a:t>Written information on boards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Handouts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Overhead slides or PowerPoint slides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Verbal explanations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US" sz="1200" kern="1200" dirty="0" smtClean="0">
                <a:solidFill>
                  <a:schemeClr val="tx1"/>
                </a:solidFill>
                <a:latin typeface="+mn-lt"/>
                <a:ea typeface="+mn-ea"/>
                <a:cs typeface="+mn-cs"/>
              </a:rPr>
              <a:t>Training – which may comprise: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Theory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Practical demonstrations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Case studies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Exercises. </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256382085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those who may need to be communicated with can include</a:t>
            </a:r>
            <a:r>
              <a:rPr lang="en-AU" sz="1200" kern="1200" dirty="0" smtClean="0">
                <a:solidFill>
                  <a:schemeClr val="tx1"/>
                </a:solidFill>
                <a:latin typeface="+mn-lt"/>
                <a:ea typeface="+mn-ea"/>
                <a:cs typeface="+mn-cs"/>
              </a:rPr>
              <a:t>:</a:t>
            </a:r>
          </a:p>
          <a:p>
            <a:pPr marL="171450" lvl="0" indent="-171450">
              <a:buFont typeface="Arial" pitchFamily="34" charset="0"/>
              <a:buChar char="•"/>
            </a:pPr>
            <a:r>
              <a:rPr lang="en-AU" sz="1200" kern="1200" dirty="0" smtClean="0">
                <a:solidFill>
                  <a:schemeClr val="tx1"/>
                </a:solidFill>
                <a:latin typeface="+mn-lt"/>
                <a:ea typeface="+mn-ea"/>
                <a:cs typeface="+mn-cs"/>
              </a:rPr>
              <a:t>Owners</a:t>
            </a:r>
          </a:p>
          <a:p>
            <a:pPr marL="171450" lvl="0" indent="-171450">
              <a:buFont typeface="Arial" pitchFamily="34" charset="0"/>
              <a:buChar char="•"/>
            </a:pPr>
            <a:r>
              <a:rPr lang="en-AU" sz="1200" kern="1200" dirty="0" smtClean="0">
                <a:solidFill>
                  <a:schemeClr val="tx1"/>
                </a:solidFill>
                <a:latin typeface="+mn-lt"/>
                <a:ea typeface="+mn-ea"/>
                <a:cs typeface="+mn-cs"/>
              </a:rPr>
              <a:t>Senior managers</a:t>
            </a:r>
          </a:p>
          <a:p>
            <a:pPr marL="171450" lvl="0" indent="-171450">
              <a:buFont typeface="Arial" pitchFamily="34" charset="0"/>
              <a:buChar char="•"/>
            </a:pPr>
            <a:r>
              <a:rPr lang="en-AU" sz="1200" kern="1200" dirty="0" smtClean="0">
                <a:solidFill>
                  <a:schemeClr val="tx1"/>
                </a:solidFill>
                <a:latin typeface="+mn-lt"/>
                <a:ea typeface="+mn-ea"/>
                <a:cs typeface="+mn-cs"/>
              </a:rPr>
              <a:t>Head office representatives</a:t>
            </a:r>
          </a:p>
          <a:p>
            <a:pPr marL="171450" lvl="0" indent="-171450">
              <a:buFont typeface="Arial" pitchFamily="34" charset="0"/>
              <a:buChar char="•"/>
            </a:pPr>
            <a:r>
              <a:rPr lang="en-AU" sz="1200" kern="1200" dirty="0" smtClean="0">
                <a:solidFill>
                  <a:schemeClr val="tx1"/>
                </a:solidFill>
                <a:latin typeface="+mn-lt"/>
                <a:ea typeface="+mn-ea"/>
                <a:cs typeface="+mn-cs"/>
              </a:rPr>
              <a:t>Administration and office/support (accounting and bookkeeping) staff</a:t>
            </a:r>
          </a:p>
          <a:p>
            <a:pPr marL="171450" lvl="0" indent="-171450">
              <a:buFont typeface="Arial" pitchFamily="34" charset="0"/>
              <a:buChar char="•"/>
            </a:pPr>
            <a:r>
              <a:rPr lang="en-AU" sz="1200" kern="1200" dirty="0" smtClean="0">
                <a:solidFill>
                  <a:schemeClr val="tx1"/>
                </a:solidFill>
                <a:latin typeface="+mn-lt"/>
                <a:ea typeface="+mn-ea"/>
                <a:cs typeface="+mn-cs"/>
              </a:rPr>
              <a:t>Operational staff – with direct involvement with the initiative to be introduced.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93953192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content </a:t>
            </a:r>
            <a:r>
              <a:rPr lang="en-AU" sz="1200" kern="1200" dirty="0" smtClean="0">
                <a:solidFill>
                  <a:schemeClr val="tx1"/>
                </a:solidFill>
                <a:latin typeface="+mn-lt"/>
                <a:ea typeface="+mn-ea"/>
                <a:cs typeface="+mn-cs"/>
              </a:rPr>
              <a:t>of communication relating to new approaches should address:</a:t>
            </a:r>
          </a:p>
          <a:p>
            <a:pPr marL="171450" lvl="0" indent="-171450">
              <a:buFont typeface="Arial" pitchFamily="34" charset="0"/>
              <a:buChar char="•"/>
            </a:pPr>
            <a:r>
              <a:rPr lang="en-AU" sz="1200" kern="1200" dirty="0" smtClean="0">
                <a:solidFill>
                  <a:schemeClr val="tx1"/>
                </a:solidFill>
                <a:latin typeface="+mn-lt"/>
                <a:ea typeface="+mn-ea"/>
                <a:cs typeface="+mn-cs"/>
              </a:rPr>
              <a:t>Rationale for the changes – explaining why the changes were needed, what triggered them and what was likely to happen if the changes were not introduced</a:t>
            </a:r>
          </a:p>
          <a:p>
            <a:pPr marL="171450" lvl="0" indent="-171450">
              <a:buFont typeface="Arial" pitchFamily="34" charset="0"/>
              <a:buChar char="•"/>
            </a:pPr>
            <a:r>
              <a:rPr lang="en-AU" sz="1200" kern="1200" dirty="0" smtClean="0">
                <a:solidFill>
                  <a:schemeClr val="tx1"/>
                </a:solidFill>
                <a:latin typeface="+mn-lt"/>
                <a:ea typeface="+mn-ea"/>
                <a:cs typeface="+mn-cs"/>
              </a:rPr>
              <a:t>Identification of options considered but rejected – as part of the investigation process, together with:</a:t>
            </a:r>
          </a:p>
          <a:p>
            <a:pPr marL="628650" lvl="1" indent="-171450">
              <a:buFont typeface="Arial" pitchFamily="34" charset="0"/>
              <a:buChar char="•"/>
            </a:pPr>
            <a:r>
              <a:rPr lang="en-US" sz="1200" kern="1200" dirty="0" smtClean="0">
                <a:solidFill>
                  <a:schemeClr val="tx1"/>
                </a:solidFill>
                <a:latin typeface="+mn-lt"/>
                <a:ea typeface="+mn-ea"/>
                <a:cs typeface="+mn-cs"/>
              </a:rPr>
              <a:t>Details of the research undertaken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Reasons for rejection</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New/revised roles and responsibilities – of individual staff impacted by the initiatives</a:t>
            </a:r>
          </a:p>
          <a:p>
            <a:pPr marL="171450" lvl="0" indent="-171450">
              <a:buFont typeface="Arial" pitchFamily="34" charset="0"/>
              <a:buChar char="•"/>
            </a:pPr>
            <a:r>
              <a:rPr lang="en-AU" sz="1200" kern="1200" dirty="0" smtClean="0">
                <a:solidFill>
                  <a:schemeClr val="tx1"/>
                </a:solidFill>
                <a:latin typeface="+mn-lt"/>
                <a:ea typeface="+mn-ea"/>
                <a:cs typeface="+mn-cs"/>
              </a:rPr>
              <a:t>Schedule for introduction – which may detail:</a:t>
            </a:r>
          </a:p>
          <a:p>
            <a:pPr marL="628650" lvl="1" indent="-171450">
              <a:buFont typeface="Arial" pitchFamily="34" charset="0"/>
              <a:buChar char="•"/>
            </a:pPr>
            <a:r>
              <a:rPr lang="en-US" sz="1200" kern="1200" dirty="0" smtClean="0">
                <a:solidFill>
                  <a:schemeClr val="tx1"/>
                </a:solidFill>
                <a:latin typeface="+mn-lt"/>
                <a:ea typeface="+mn-ea"/>
                <a:cs typeface="+mn-cs"/>
              </a:rPr>
              <a:t>Transitional arrangements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Dates for implementation</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215515085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advising content </a:t>
            </a:r>
            <a:r>
              <a:rPr lang="en-AU" sz="1200" kern="1200" dirty="0" smtClean="0">
                <a:solidFill>
                  <a:schemeClr val="tx1"/>
                </a:solidFill>
                <a:latin typeface="+mn-lt"/>
                <a:ea typeface="+mn-ea"/>
                <a:cs typeface="+mn-cs"/>
              </a:rPr>
              <a:t>of communication relating to new approaches:</a:t>
            </a:r>
          </a:p>
          <a:p>
            <a:pPr marL="171450" lvl="0" indent="-171450">
              <a:buFont typeface="Arial" pitchFamily="34" charset="0"/>
              <a:buChar char="•"/>
            </a:pPr>
            <a:r>
              <a:rPr lang="en-AU" sz="1200" kern="1200" dirty="0" smtClean="0">
                <a:solidFill>
                  <a:schemeClr val="tx1"/>
                </a:solidFill>
                <a:latin typeface="+mn-lt"/>
                <a:ea typeface="+mn-ea"/>
                <a:cs typeface="+mn-cs"/>
              </a:rPr>
              <a:t>Support for the change – for example in terms of:</a:t>
            </a:r>
          </a:p>
          <a:p>
            <a:pPr marL="628650" lvl="1" indent="-171450">
              <a:buFont typeface="Arial" pitchFamily="34" charset="0"/>
              <a:buChar char="•"/>
            </a:pPr>
            <a:r>
              <a:rPr lang="en-US" sz="1200" kern="1200" dirty="0" smtClean="0">
                <a:solidFill>
                  <a:schemeClr val="tx1"/>
                </a:solidFill>
                <a:latin typeface="+mn-lt"/>
                <a:ea typeface="+mn-ea"/>
                <a:cs typeface="+mn-cs"/>
              </a:rPr>
              <a:t>Resources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Training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New/revised authorisations/scopes of authority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Policies and procedures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Benefits and disadvantages attaching to the new approach – as appropriate to:</a:t>
            </a:r>
          </a:p>
          <a:p>
            <a:pPr marL="628650" lvl="1" indent="-171450">
              <a:buFont typeface="Arial" pitchFamily="34" charset="0"/>
              <a:buChar char="•"/>
            </a:pPr>
            <a:r>
              <a:rPr lang="en-US" sz="1200" kern="1200" dirty="0" smtClean="0">
                <a:solidFill>
                  <a:schemeClr val="tx1"/>
                </a:solidFill>
                <a:latin typeface="+mn-lt"/>
                <a:ea typeface="+mn-ea"/>
                <a:cs typeface="+mn-cs"/>
              </a:rPr>
              <a:t>Business viability and expected results/outcomes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Operations on a practical day-to-day basis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Customers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Strategies/advice for dealing with identified potential customer disappointment/dissatisfaction as a result of the new approaches must also be included.</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Distribution of relevant documentation – such as:</a:t>
            </a:r>
          </a:p>
          <a:p>
            <a:pPr marL="628650" lvl="1" indent="-171450">
              <a:buFont typeface="Arial" pitchFamily="34" charset="0"/>
              <a:buChar char="•"/>
            </a:pPr>
            <a:r>
              <a:rPr lang="en-US" sz="1200" kern="1200" dirty="0" smtClean="0">
                <a:solidFill>
                  <a:schemeClr val="tx1"/>
                </a:solidFill>
                <a:latin typeface="+mn-lt"/>
                <a:ea typeface="+mn-ea"/>
                <a:cs typeface="+mn-cs"/>
              </a:rPr>
              <a:t>New/revised budgets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New/revised formulae for determining budget percentages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New/revised </a:t>
            </a:r>
            <a:r>
              <a:rPr lang="en-US" sz="1200" i="1" kern="1200" dirty="0" smtClean="0">
                <a:solidFill>
                  <a:schemeClr val="tx1"/>
                </a:solidFill>
                <a:latin typeface="+mn-lt"/>
                <a:ea typeface="+mn-ea"/>
                <a:cs typeface="+mn-cs"/>
              </a:rPr>
              <a:t>pro forma </a:t>
            </a:r>
            <a:r>
              <a:rPr lang="en-US" sz="1200" kern="1200" dirty="0" smtClean="0">
                <a:solidFill>
                  <a:schemeClr val="tx1"/>
                </a:solidFill>
                <a:latin typeface="+mn-lt"/>
                <a:ea typeface="+mn-ea"/>
                <a:cs typeface="+mn-cs"/>
              </a:rPr>
              <a:t>documents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New/revised policies and procedures to support the new/revised approaches.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a:t>
            </a:r>
            <a:r>
              <a:rPr lang="en-US" b="1" baseline="0" noProof="0" dirty="0" smtClean="0"/>
              <a:t> Activity – Guest Speaker</a:t>
            </a:r>
          </a:p>
          <a:p>
            <a:pPr>
              <a:buFont typeface="Arial" pitchFamily="34" charset="0"/>
              <a:buNone/>
            </a:pPr>
            <a:endParaRPr lang="en-US" b="1" baseline="0" noProof="0" dirty="0" smtClean="0"/>
          </a:p>
          <a:p>
            <a:pPr>
              <a:buFont typeface="Arial" pitchFamily="34" charset="0"/>
              <a:buNone/>
            </a:pPr>
            <a:r>
              <a:rPr lang="en-US" b="0" noProof="0" dirty="0" smtClean="0"/>
              <a:t>Trainer arranges Guest Speaker to attend and talk to students about addressing unacceptable budget results and the action they take to identify causal factors and determine appropriate action to take in response/to retrieve the situation.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5035345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information about need for customer focus in business stating:</a:t>
            </a:r>
          </a:p>
          <a:p>
            <a:pPr marL="171450" indent="-171450">
              <a:buFont typeface="Arial" pitchFamily="34" charset="0"/>
              <a:buChar char="•"/>
            </a:pPr>
            <a:r>
              <a:rPr lang="en-AU" sz="1200" kern="1200" dirty="0" smtClean="0">
                <a:solidFill>
                  <a:schemeClr val="tx1"/>
                </a:solidFill>
                <a:latin typeface="+mn-lt"/>
                <a:ea typeface="+mn-ea"/>
                <a:cs typeface="+mn-cs"/>
              </a:rPr>
              <a:t>In what is essentially an accounting/financial-based unit it is important to be reminded of the customer in a business sense.</a:t>
            </a:r>
          </a:p>
          <a:p>
            <a:pPr marL="171450" indent="-171450">
              <a:buFont typeface="Arial" pitchFamily="34" charset="0"/>
              <a:buChar char="•"/>
            </a:pPr>
            <a:r>
              <a:rPr lang="en-AU" sz="1200" kern="1200" dirty="0" smtClean="0">
                <a:solidFill>
                  <a:schemeClr val="tx1"/>
                </a:solidFill>
                <a:latin typeface="+mn-lt"/>
                <a:ea typeface="+mn-ea"/>
                <a:cs typeface="+mn-cs"/>
              </a:rPr>
              <a:t>A customer can be seen as:</a:t>
            </a:r>
          </a:p>
          <a:p>
            <a:pPr marL="628650" lvl="1" indent="-171450">
              <a:buFont typeface="Arial" pitchFamily="34" charset="0"/>
              <a:buChar char="•"/>
            </a:pPr>
            <a:r>
              <a:rPr lang="en-AU" sz="1200" kern="1200" dirty="0" smtClean="0">
                <a:solidFill>
                  <a:schemeClr val="tx1"/>
                </a:solidFill>
                <a:latin typeface="+mn-lt"/>
                <a:ea typeface="+mn-ea"/>
                <a:cs typeface="+mn-cs"/>
              </a:rPr>
              <a:t>A person on the receiving end of what the business offers</a:t>
            </a:r>
          </a:p>
          <a:p>
            <a:pPr marL="628650" lvl="1" indent="-171450">
              <a:buFont typeface="Arial" pitchFamily="34" charset="0"/>
              <a:buChar char="•"/>
            </a:pPr>
            <a:r>
              <a:rPr lang="en-AU" sz="1200" kern="1200" dirty="0" smtClean="0">
                <a:solidFill>
                  <a:schemeClr val="tx1"/>
                </a:solidFill>
                <a:latin typeface="+mn-lt"/>
                <a:ea typeface="+mn-ea"/>
                <a:cs typeface="+mn-cs"/>
              </a:rPr>
              <a:t>Someone who is willing to pay a fair price for a quality product and wants to be neither over-charged nor under-served</a:t>
            </a:r>
          </a:p>
          <a:p>
            <a:pPr marL="628650" lvl="1" indent="-171450">
              <a:buFont typeface="Arial" pitchFamily="34" charset="0"/>
              <a:buChar char="•"/>
            </a:pPr>
            <a:r>
              <a:rPr lang="en-AU" sz="1200" kern="1200" dirty="0" smtClean="0">
                <a:solidFill>
                  <a:schemeClr val="tx1"/>
                </a:solidFill>
                <a:latin typeface="+mn-lt"/>
                <a:ea typeface="+mn-ea"/>
                <a:cs typeface="+mn-cs"/>
              </a:rPr>
              <a:t>The reason the company is in business</a:t>
            </a:r>
          </a:p>
          <a:p>
            <a:pPr marL="628650" lvl="1" indent="-171450">
              <a:buFont typeface="Arial" pitchFamily="34" charset="0"/>
              <a:buChar char="•"/>
            </a:pPr>
            <a:r>
              <a:rPr lang="en-AU" sz="1200" kern="1200" dirty="0" smtClean="0">
                <a:solidFill>
                  <a:schemeClr val="tx1"/>
                </a:solidFill>
                <a:latin typeface="+mn-lt"/>
                <a:ea typeface="+mn-ea"/>
                <a:cs typeface="+mn-cs"/>
              </a:rPr>
              <a:t>Someone who has certain needs and wants them filled and who, if the business cannot fill those needs will go to a competitor who will</a:t>
            </a:r>
          </a:p>
          <a:p>
            <a:pPr marL="628650" lvl="1" indent="-171450">
              <a:buFont typeface="Arial" pitchFamily="34" charset="0"/>
              <a:buChar char="•"/>
            </a:pPr>
            <a:r>
              <a:rPr lang="en-US" sz="1200" kern="1200" dirty="0" smtClean="0">
                <a:solidFill>
                  <a:schemeClr val="tx1"/>
                </a:solidFill>
                <a:latin typeface="+mn-lt"/>
                <a:ea typeface="+mn-ea"/>
                <a:cs typeface="+mn-cs"/>
              </a:rPr>
              <a:t>Unique</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 Activity – Handout</a:t>
            </a:r>
            <a:r>
              <a:rPr lang="en-US" b="1" baseline="0" noProof="0" dirty="0" smtClean="0"/>
              <a:t> and Discussion</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‘The Customer is …’ from Trainee Manual and leads a discussion about exactly what customers are and their importance to business.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38625589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highlights </a:t>
            </a:r>
            <a:r>
              <a:rPr lang="en-AU" sz="1200" kern="1200" dirty="0" smtClean="0">
                <a:solidFill>
                  <a:schemeClr val="tx1"/>
                </a:solidFill>
                <a:latin typeface="+mn-lt"/>
                <a:ea typeface="+mn-ea"/>
                <a:cs typeface="+mn-cs"/>
              </a:rPr>
              <a:t>reasons to consider the customer when developing new approaches are to make sure:</a:t>
            </a:r>
          </a:p>
          <a:p>
            <a:pPr marL="171450" lvl="0" indent="-171450">
              <a:buFont typeface="Arial" pitchFamily="34" charset="0"/>
              <a:buChar char="•"/>
            </a:pPr>
            <a:r>
              <a:rPr lang="en-AU" sz="1200" kern="1200" dirty="0" smtClean="0">
                <a:solidFill>
                  <a:schemeClr val="tx1"/>
                </a:solidFill>
                <a:latin typeface="+mn-lt"/>
                <a:ea typeface="+mn-ea"/>
                <a:cs typeface="+mn-cs"/>
              </a:rPr>
              <a:t>Their opinions and thoughts are captured – and factored into decisions</a:t>
            </a:r>
          </a:p>
          <a:p>
            <a:pPr marL="171450" lvl="0" indent="-171450">
              <a:buFont typeface="Arial" pitchFamily="34" charset="0"/>
              <a:buChar char="•"/>
            </a:pPr>
            <a:r>
              <a:rPr lang="en-AU" sz="1200" kern="1200" dirty="0" smtClean="0">
                <a:solidFill>
                  <a:schemeClr val="tx1"/>
                </a:solidFill>
                <a:latin typeface="+mn-lt"/>
                <a:ea typeface="+mn-ea"/>
                <a:cs typeface="+mn-cs"/>
              </a:rPr>
              <a:t>Negative impacts on them are eliminated or at least minimised</a:t>
            </a:r>
          </a:p>
          <a:p>
            <a:pPr marL="171450" lvl="0" indent="-171450">
              <a:buFont typeface="Arial" pitchFamily="34" charset="0"/>
              <a:buChar char="•"/>
            </a:pPr>
            <a:r>
              <a:rPr lang="en-AU" sz="1200" kern="1200" dirty="0" smtClean="0">
                <a:solidFill>
                  <a:schemeClr val="tx1"/>
                </a:solidFill>
                <a:latin typeface="+mn-lt"/>
                <a:ea typeface="+mn-ea"/>
                <a:cs typeface="+mn-cs"/>
              </a:rPr>
              <a:t>Action is developed to address potentially negative impacts</a:t>
            </a:r>
          </a:p>
          <a:p>
            <a:pPr marL="171450" lvl="0" indent="-171450">
              <a:buFont typeface="Arial" pitchFamily="34" charset="0"/>
              <a:buChar char="•"/>
            </a:pPr>
            <a:r>
              <a:rPr lang="en-AU" sz="1200" kern="1200" dirty="0" smtClean="0">
                <a:solidFill>
                  <a:schemeClr val="tx1"/>
                </a:solidFill>
                <a:latin typeface="+mn-lt"/>
                <a:ea typeface="+mn-ea"/>
                <a:cs typeface="+mn-cs"/>
              </a:rPr>
              <a:t>The business and what is provides remains attractive to the customers the organisation wants to serve.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48776317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introduces consideration of staff when new approaches are considered stating:</a:t>
            </a:r>
          </a:p>
          <a:p>
            <a:pPr marL="171450" indent="-171450">
              <a:buFont typeface="Arial" pitchFamily="34" charset="0"/>
              <a:buChar char="•"/>
            </a:pPr>
            <a:r>
              <a:rPr lang="en-AU" sz="1200" kern="1200" dirty="0" smtClean="0">
                <a:solidFill>
                  <a:schemeClr val="tx1"/>
                </a:solidFill>
                <a:latin typeface="+mn-lt"/>
                <a:ea typeface="+mn-ea"/>
                <a:cs typeface="+mn-cs"/>
              </a:rPr>
              <a:t>Any changes made in the workplace – regardless of how small they may appear – are likely to have repercussions.</a:t>
            </a:r>
          </a:p>
          <a:p>
            <a:pPr marL="171450" indent="-171450">
              <a:buFont typeface="Arial" pitchFamily="34" charset="0"/>
              <a:buChar char="•"/>
            </a:pPr>
            <a:r>
              <a:rPr lang="en-AU" sz="1200" kern="1200" dirty="0" smtClean="0">
                <a:solidFill>
                  <a:schemeClr val="tx1"/>
                </a:solidFill>
                <a:latin typeface="+mn-lt"/>
                <a:ea typeface="+mn-ea"/>
                <a:cs typeface="+mn-cs"/>
              </a:rPr>
              <a:t>The impacts of the changes will vary depending on the nature and size of the changes, together with those who are affected, and how the change is explained and introduced.</a:t>
            </a:r>
          </a:p>
          <a:p>
            <a:pPr marL="171450" indent="-171450">
              <a:buFont typeface="Arial" pitchFamily="34" charset="0"/>
              <a:buChar char="•"/>
            </a:pPr>
            <a:r>
              <a:rPr lang="en-AU" sz="1200" kern="1200" dirty="0" smtClean="0">
                <a:solidFill>
                  <a:schemeClr val="tx1"/>
                </a:solidFill>
                <a:latin typeface="+mn-lt"/>
                <a:ea typeface="+mn-ea"/>
                <a:cs typeface="+mn-cs"/>
              </a:rPr>
              <a:t>Any change that is explained to those whom it affects stands a much greater chance of being accepted and genuinely complied with</a:t>
            </a:r>
          </a:p>
          <a:p>
            <a:pPr marL="171450" indent="-171450">
              <a:buFont typeface="Arial" pitchFamily="34" charset="0"/>
              <a:buChar char="•"/>
            </a:pPr>
            <a:r>
              <a:rPr lang="en-AU" sz="1200" kern="1200" dirty="0" smtClean="0">
                <a:solidFill>
                  <a:schemeClr val="tx1"/>
                </a:solidFill>
                <a:latin typeface="+mn-lt"/>
                <a:ea typeface="+mn-ea"/>
                <a:cs typeface="+mn-cs"/>
              </a:rPr>
              <a:t>Change may be planned or unplanned.</a:t>
            </a:r>
          </a:p>
          <a:p>
            <a:pPr marL="628650" lvl="1" indent="-171450">
              <a:buFont typeface="Arial" pitchFamily="34" charset="0"/>
              <a:buChar char="•"/>
            </a:pPr>
            <a:r>
              <a:rPr lang="en-AU" sz="1200" kern="1200" dirty="0" smtClean="0">
                <a:solidFill>
                  <a:schemeClr val="tx1"/>
                </a:solidFill>
                <a:latin typeface="+mn-lt"/>
                <a:ea typeface="+mn-ea"/>
                <a:cs typeface="+mn-cs"/>
              </a:rPr>
              <a:t>While it is not possible to plan all changes required in the workplace, planned change stands a far better chance of effective implementation than unplanned change does.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95861297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provides further information regarding ensuring changes impacting</a:t>
            </a:r>
            <a:r>
              <a:rPr lang="en-US" baseline="0" noProof="0" dirty="0" smtClean="0"/>
              <a:t> on staff are considered before implementation and are effectively implemented stating:</a:t>
            </a:r>
          </a:p>
          <a:p>
            <a:pPr marL="171450" indent="-171450">
              <a:buFont typeface="Arial" pitchFamily="34" charset="0"/>
              <a:buChar char="•"/>
            </a:pPr>
            <a:r>
              <a:rPr lang="en-AU" sz="1200" kern="1200" dirty="0" smtClean="0">
                <a:solidFill>
                  <a:schemeClr val="tx1"/>
                </a:solidFill>
                <a:latin typeface="+mn-lt"/>
                <a:ea typeface="+mn-ea"/>
                <a:cs typeface="+mn-cs"/>
              </a:rPr>
              <a:t>Whether the change is planned or unplanned, it may be seen as requiring the supervisor to work through three phases:</a:t>
            </a:r>
          </a:p>
          <a:p>
            <a:pPr marL="628650" lvl="1" indent="-171450">
              <a:buFont typeface="Arial" pitchFamily="34" charset="0"/>
              <a:buChar char="•"/>
            </a:pPr>
            <a:r>
              <a:rPr lang="en-AU" sz="1200" kern="1200" dirty="0" smtClean="0">
                <a:solidFill>
                  <a:schemeClr val="tx1"/>
                </a:solidFill>
                <a:latin typeface="+mn-lt"/>
                <a:ea typeface="+mn-ea"/>
                <a:cs typeface="+mn-cs"/>
              </a:rPr>
              <a:t>Unfreezing the present situation/mind set</a:t>
            </a:r>
          </a:p>
          <a:p>
            <a:pPr marL="628650" lvl="1" indent="-171450">
              <a:buFont typeface="Arial" pitchFamily="34" charset="0"/>
              <a:buChar char="•"/>
            </a:pPr>
            <a:r>
              <a:rPr lang="en-AU" sz="1200" kern="1200" dirty="0" smtClean="0">
                <a:solidFill>
                  <a:schemeClr val="tx1"/>
                </a:solidFill>
                <a:latin typeface="+mn-lt"/>
                <a:ea typeface="+mn-ea"/>
                <a:cs typeface="+mn-cs"/>
              </a:rPr>
              <a:t>Changing the situation to the way it is to be</a:t>
            </a:r>
          </a:p>
          <a:p>
            <a:pPr marL="628650" lvl="1" indent="-171450">
              <a:buFont typeface="Arial" pitchFamily="34" charset="0"/>
              <a:buChar char="•"/>
            </a:pPr>
            <a:r>
              <a:rPr lang="en-AU" sz="1200" kern="1200" dirty="0" smtClean="0">
                <a:solidFill>
                  <a:schemeClr val="tx1"/>
                </a:solidFill>
                <a:latin typeface="+mn-lt"/>
                <a:ea typeface="+mn-ea"/>
                <a:cs typeface="+mn-cs"/>
              </a:rPr>
              <a:t>Resetting the change into the established and accepted working routine of staff.</a:t>
            </a:r>
          </a:p>
          <a:p>
            <a:pPr marL="171450" indent="-171450">
              <a:buFont typeface="Arial" pitchFamily="34" charset="0"/>
              <a:buChar char="•"/>
            </a:pPr>
            <a:r>
              <a:rPr lang="en-AU" sz="1200" kern="1200" dirty="0" smtClean="0">
                <a:solidFill>
                  <a:schemeClr val="tx1"/>
                </a:solidFill>
                <a:latin typeface="+mn-lt"/>
                <a:ea typeface="+mn-ea"/>
                <a:cs typeface="+mn-cs"/>
              </a:rPr>
              <a:t>The basis for successfully implementing change is the provision of sound, honest, accurate, up-to-date information about the topic in question.</a:t>
            </a:r>
          </a:p>
          <a:p>
            <a:pPr marL="171450" indent="-171450">
              <a:buFont typeface="Arial" pitchFamily="34" charset="0"/>
              <a:buChar char="•"/>
            </a:pPr>
            <a:r>
              <a:rPr lang="en-AU" sz="1200" kern="1200" dirty="0" smtClean="0">
                <a:solidFill>
                  <a:schemeClr val="tx1"/>
                </a:solidFill>
                <a:latin typeface="+mn-lt"/>
                <a:ea typeface="+mn-ea"/>
                <a:cs typeface="+mn-cs"/>
              </a:rPr>
              <a:t>Supervisors and managers wanting to implement workplace change must be able to access/source sufficient information to pass on to staff to allay their fears, explain the change and ‘prove’ its worth.</a:t>
            </a:r>
          </a:p>
          <a:p>
            <a:pPr marL="171450" indent="-171450">
              <a:buFont typeface="Arial" pitchFamily="34" charset="0"/>
              <a:buChar char="•"/>
            </a:pPr>
            <a:r>
              <a:rPr lang="en-AU" sz="1200" kern="1200" dirty="0" smtClean="0">
                <a:solidFill>
                  <a:schemeClr val="tx1"/>
                </a:solidFill>
                <a:latin typeface="+mn-lt"/>
                <a:ea typeface="+mn-ea"/>
                <a:cs typeface="+mn-cs"/>
              </a:rPr>
              <a:t>Explanation and a timeline for introduction will smooth the transitions:  adjustments can always be made to anything provided sufficient attention and support is provided.</a:t>
            </a: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289099367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latin typeface="+mn-lt"/>
                <a:ea typeface="+mn-ea"/>
                <a:cs typeface="+mn-cs"/>
              </a:rPr>
              <a:t>keys to implementing the changes include being able to provide answers to the following questions:</a:t>
            </a:r>
          </a:p>
          <a:p>
            <a:pPr marL="171450" lvl="0" indent="-171450">
              <a:buFont typeface="Arial" pitchFamily="34" charset="0"/>
              <a:buChar char="•"/>
            </a:pPr>
            <a:r>
              <a:rPr lang="en-AU" sz="1200" kern="1200" dirty="0" smtClean="0">
                <a:solidFill>
                  <a:schemeClr val="tx1"/>
                </a:solidFill>
                <a:latin typeface="+mn-lt"/>
                <a:ea typeface="+mn-ea"/>
                <a:cs typeface="+mn-cs"/>
              </a:rPr>
              <a:t>How will this improve customer service?</a:t>
            </a:r>
          </a:p>
          <a:p>
            <a:pPr marL="171450" lvl="0" indent="-171450">
              <a:buFont typeface="Arial" pitchFamily="34" charset="0"/>
              <a:buChar char="•"/>
            </a:pPr>
            <a:r>
              <a:rPr lang="en-AU" sz="1200" kern="1200" dirty="0" smtClean="0">
                <a:solidFill>
                  <a:schemeClr val="tx1"/>
                </a:solidFill>
                <a:latin typeface="+mn-lt"/>
                <a:ea typeface="+mn-ea"/>
                <a:cs typeface="+mn-cs"/>
              </a:rPr>
              <a:t>What effects will it have on products and services?</a:t>
            </a:r>
          </a:p>
          <a:p>
            <a:pPr marL="171450" lvl="0" indent="-171450">
              <a:buFont typeface="Arial" pitchFamily="34" charset="0"/>
              <a:buChar char="•"/>
            </a:pPr>
            <a:r>
              <a:rPr lang="en-AU" sz="1200" kern="1200" dirty="0" smtClean="0">
                <a:solidFill>
                  <a:schemeClr val="tx1"/>
                </a:solidFill>
                <a:latin typeface="+mn-lt"/>
                <a:ea typeface="+mn-ea"/>
                <a:cs typeface="+mn-cs"/>
              </a:rPr>
              <a:t>How will the staff cope?</a:t>
            </a:r>
          </a:p>
          <a:p>
            <a:pPr marL="171450" lvl="0" indent="-171450">
              <a:buFont typeface="Arial" pitchFamily="34" charset="0"/>
              <a:buChar char="•"/>
            </a:pPr>
            <a:r>
              <a:rPr lang="en-AU" sz="1200" kern="1200" dirty="0" smtClean="0">
                <a:solidFill>
                  <a:schemeClr val="tx1"/>
                </a:solidFill>
                <a:latin typeface="+mn-lt"/>
                <a:ea typeface="+mn-ea"/>
                <a:cs typeface="+mn-cs"/>
              </a:rPr>
              <a:t>Are extra training/resources required?</a:t>
            </a:r>
          </a:p>
          <a:p>
            <a:pPr marL="171450" lvl="0" indent="-171450">
              <a:buFont typeface="Arial" pitchFamily="34" charset="0"/>
              <a:buChar char="•"/>
            </a:pPr>
            <a:r>
              <a:rPr lang="en-AU" sz="1200" kern="1200" dirty="0" smtClean="0">
                <a:solidFill>
                  <a:schemeClr val="tx1"/>
                </a:solidFill>
                <a:latin typeface="+mn-lt"/>
                <a:ea typeface="+mn-ea"/>
                <a:cs typeface="+mn-cs"/>
              </a:rPr>
              <a:t>Is there now too much emphasis on financial goals?</a:t>
            </a:r>
          </a:p>
          <a:p>
            <a:pPr>
              <a:buFont typeface="Arial" pitchFamily="34" charset="0"/>
              <a:buNone/>
            </a:pPr>
            <a:endParaRPr lang="en-US" noProof="0" dirty="0" smtClean="0"/>
          </a:p>
          <a:p>
            <a:pPr>
              <a:buFont typeface="Arial" pitchFamily="34" charset="0"/>
              <a:buNone/>
            </a:pPr>
            <a:r>
              <a:rPr lang="en-US" b="1" noProof="0" dirty="0" smtClean="0"/>
              <a:t>Class Activity- Small group work</a:t>
            </a:r>
          </a:p>
          <a:p>
            <a:pPr>
              <a:buFont typeface="Arial" pitchFamily="34" charset="0"/>
              <a:buNone/>
            </a:pPr>
            <a:endParaRPr lang="en-US" b="1" noProof="0" dirty="0" smtClean="0"/>
          </a:p>
          <a:p>
            <a:pPr>
              <a:buFont typeface="Arial" pitchFamily="34" charset="0"/>
              <a:buNone/>
            </a:pPr>
            <a:r>
              <a:rPr lang="en-US" b="0" noProof="0" dirty="0" smtClean="0"/>
              <a:t>Trainer presents several options for change to be introduced to a business and asks groups to consider:</a:t>
            </a:r>
          </a:p>
          <a:p>
            <a:pPr marL="171450" indent="-171450">
              <a:buFont typeface="Arial" pitchFamily="34" charset="0"/>
              <a:buChar char="•"/>
            </a:pPr>
            <a:r>
              <a:rPr lang="en-US" b="0" noProof="0" dirty="0" smtClean="0"/>
              <a:t>Impacts of these on customers</a:t>
            </a:r>
          </a:p>
          <a:p>
            <a:pPr marL="171450" indent="-171450">
              <a:buFont typeface="Arial" pitchFamily="34" charset="0"/>
              <a:buChar char="•"/>
            </a:pPr>
            <a:r>
              <a:rPr lang="en-US" b="0" noProof="0" dirty="0" smtClean="0"/>
              <a:t>Responses to optimise acceptance and minimise negative impact on them</a:t>
            </a:r>
          </a:p>
          <a:p>
            <a:pPr marL="171450" indent="-171450">
              <a:buFont typeface="Arial" pitchFamily="34" charset="0"/>
              <a:buChar char="•"/>
            </a:pPr>
            <a:r>
              <a:rPr lang="en-US" b="0" noProof="0" dirty="0" smtClean="0"/>
              <a:t>Impacts of changes on staff</a:t>
            </a:r>
          </a:p>
          <a:p>
            <a:pPr marL="171450" indent="-171450">
              <a:buFont typeface="Arial" pitchFamily="34" charset="0"/>
              <a:buChar char="•"/>
            </a:pPr>
            <a:r>
              <a:rPr lang="en-US" b="0" noProof="0" dirty="0" smtClean="0"/>
              <a:t>Ways to minimise negative impact on staff and optimise compliance with new approaches.</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41501252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AU" sz="1200" kern="1200" dirty="0" smtClean="0">
                <a:solidFill>
                  <a:schemeClr val="tx1"/>
                </a:solidFill>
                <a:latin typeface="+mn-lt"/>
                <a:ea typeface="+mn-ea"/>
                <a:cs typeface="+mn-cs"/>
              </a:rPr>
              <a:t>recommendations may need be presented to:</a:t>
            </a:r>
          </a:p>
          <a:p>
            <a:pPr marL="171450" lvl="0" indent="-171450">
              <a:buFont typeface="Arial" pitchFamily="34" charset="0"/>
              <a:buChar char="•"/>
            </a:pPr>
            <a:r>
              <a:rPr lang="en-AU" sz="1200" kern="1200" dirty="0" smtClean="0">
                <a:solidFill>
                  <a:schemeClr val="tx1"/>
                </a:solidFill>
                <a:latin typeface="+mn-lt"/>
                <a:ea typeface="+mn-ea"/>
                <a:cs typeface="+mn-cs"/>
              </a:rPr>
              <a:t>Senior management</a:t>
            </a:r>
          </a:p>
          <a:p>
            <a:pPr marL="171450" lvl="0" indent="-171450">
              <a:buFont typeface="Arial" pitchFamily="34" charset="0"/>
              <a:buChar char="•"/>
            </a:pPr>
            <a:r>
              <a:rPr lang="en-AU" sz="1200" kern="1200" dirty="0" smtClean="0">
                <a:solidFill>
                  <a:schemeClr val="tx1"/>
                </a:solidFill>
                <a:latin typeface="+mn-lt"/>
                <a:ea typeface="+mn-ea"/>
                <a:cs typeface="+mn-cs"/>
              </a:rPr>
              <a:t>Owners</a:t>
            </a:r>
          </a:p>
          <a:p>
            <a:pPr marL="171450" lvl="0" indent="-171450">
              <a:buFont typeface="Arial" pitchFamily="34" charset="0"/>
              <a:buChar char="•"/>
            </a:pPr>
            <a:r>
              <a:rPr lang="en-AU" sz="1200" kern="1200" dirty="0" smtClean="0">
                <a:solidFill>
                  <a:schemeClr val="tx1"/>
                </a:solidFill>
                <a:latin typeface="+mn-lt"/>
                <a:ea typeface="+mn-ea"/>
                <a:cs typeface="+mn-cs"/>
              </a:rPr>
              <a:t>Personnel manager</a:t>
            </a:r>
          </a:p>
          <a:p>
            <a:pPr marL="171450" lvl="0" indent="-171450">
              <a:buFont typeface="Arial" pitchFamily="34" charset="0"/>
              <a:buChar char="•"/>
            </a:pPr>
            <a:r>
              <a:rPr lang="en-AU" sz="1200" kern="1200" dirty="0" smtClean="0">
                <a:solidFill>
                  <a:schemeClr val="tx1"/>
                </a:solidFill>
                <a:latin typeface="+mn-lt"/>
                <a:ea typeface="+mn-ea"/>
                <a:cs typeface="+mn-cs"/>
              </a:rPr>
              <a:t>Sales manager</a:t>
            </a:r>
          </a:p>
          <a:p>
            <a:pPr marL="171450" lvl="0" indent="-171450">
              <a:buFont typeface="Arial" pitchFamily="34" charset="0"/>
              <a:buChar char="•"/>
            </a:pPr>
            <a:r>
              <a:rPr lang="en-AU" sz="1200" kern="1200" dirty="0" smtClean="0">
                <a:solidFill>
                  <a:schemeClr val="tx1"/>
                </a:solidFill>
                <a:latin typeface="+mn-lt"/>
                <a:ea typeface="+mn-ea"/>
                <a:cs typeface="+mn-cs"/>
              </a:rPr>
              <a:t>Finance manager</a:t>
            </a:r>
          </a:p>
          <a:p>
            <a:pPr marL="171450" lvl="0" indent="-171450">
              <a:buFont typeface="Arial" pitchFamily="34" charset="0"/>
              <a:buChar char="•"/>
            </a:pPr>
            <a:r>
              <a:rPr lang="en-AU" sz="1200" kern="1200" dirty="0" smtClean="0">
                <a:solidFill>
                  <a:schemeClr val="tx1"/>
                </a:solidFill>
                <a:latin typeface="+mn-lt"/>
                <a:ea typeface="+mn-ea"/>
                <a:cs typeface="+mn-cs"/>
              </a:rPr>
              <a:t>Heads of departments</a:t>
            </a:r>
          </a:p>
          <a:p>
            <a:pPr marL="171450" lvl="0" indent="-171450">
              <a:buFont typeface="Arial" pitchFamily="34" charset="0"/>
              <a:buChar char="•"/>
            </a:pPr>
            <a:r>
              <a:rPr lang="en-AU" sz="1200" kern="1200" dirty="0" smtClean="0">
                <a:solidFill>
                  <a:schemeClr val="tx1"/>
                </a:solidFill>
                <a:latin typeface="+mn-lt"/>
                <a:ea typeface="+mn-ea"/>
                <a:cs typeface="+mn-cs"/>
              </a:rPr>
              <a:t>Supervisors</a:t>
            </a:r>
          </a:p>
          <a:p>
            <a:pPr marL="171450" lvl="0" indent="-171450">
              <a:buFont typeface="Arial" pitchFamily="34" charset="0"/>
              <a:buChar char="•"/>
            </a:pPr>
            <a:r>
              <a:rPr lang="en-AU" sz="1200" kern="1200" dirty="0" smtClean="0">
                <a:solidFill>
                  <a:schemeClr val="tx1"/>
                </a:solidFill>
                <a:latin typeface="+mn-lt"/>
                <a:ea typeface="+mn-ea"/>
                <a:cs typeface="+mn-cs"/>
              </a:rPr>
              <a:t>General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28800953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stresses it </a:t>
            </a:r>
            <a:r>
              <a:rPr lang="en-AU" sz="1200" kern="1200" dirty="0" smtClean="0">
                <a:solidFill>
                  <a:schemeClr val="tx1"/>
                </a:solidFill>
                <a:latin typeface="+mn-lt"/>
                <a:ea typeface="+mn-ea"/>
                <a:cs typeface="+mn-cs"/>
              </a:rPr>
              <a:t>is essential recommendations are made in a clear, logical and in a timely fashion highlighting they should address the following points:</a:t>
            </a:r>
          </a:p>
          <a:p>
            <a:pPr marL="171450" lvl="0" indent="-171450">
              <a:buFont typeface="Arial" pitchFamily="34" charset="0"/>
              <a:buChar char="•"/>
            </a:pPr>
            <a:r>
              <a:rPr lang="en-AU" sz="1200" kern="1200" dirty="0" smtClean="0">
                <a:solidFill>
                  <a:schemeClr val="tx1"/>
                </a:solidFill>
                <a:latin typeface="+mn-lt"/>
                <a:ea typeface="+mn-ea"/>
                <a:cs typeface="+mn-cs"/>
              </a:rPr>
              <a:t>An overview of the position being faced – and some background to the problem/issue being addressed</a:t>
            </a:r>
          </a:p>
          <a:p>
            <a:pPr marL="171450" lvl="0" indent="-171450">
              <a:buFont typeface="Arial" pitchFamily="34" charset="0"/>
              <a:buChar char="•"/>
            </a:pPr>
            <a:r>
              <a:rPr lang="en-AU" sz="1200" kern="1200" dirty="0" smtClean="0">
                <a:solidFill>
                  <a:schemeClr val="tx1"/>
                </a:solidFill>
                <a:latin typeface="+mn-lt"/>
                <a:ea typeface="+mn-ea"/>
                <a:cs typeface="+mn-cs"/>
              </a:rPr>
              <a:t>Explanation of the steps which have been taken – to investigate, research and illuminate the issue</a:t>
            </a:r>
          </a:p>
          <a:p>
            <a:pPr marL="171450" lvl="0" indent="-171450">
              <a:buFont typeface="Arial" pitchFamily="34" charset="0"/>
              <a:buChar char="•"/>
            </a:pPr>
            <a:r>
              <a:rPr lang="en-AU" sz="1200" kern="1200" dirty="0" smtClean="0">
                <a:solidFill>
                  <a:schemeClr val="tx1"/>
                </a:solidFill>
                <a:latin typeface="+mn-lt"/>
                <a:ea typeface="+mn-ea"/>
                <a:cs typeface="+mn-cs"/>
              </a:rPr>
              <a:t>Detail of any collaboration that was undertaken as part of the research/investigation process – including co-operation from various areas, and input made from different sources</a:t>
            </a:r>
          </a:p>
          <a:p>
            <a:pPr marL="171450" lvl="0" indent="-171450">
              <a:buFont typeface="Arial" pitchFamily="34" charset="0"/>
              <a:buChar char="•"/>
            </a:pPr>
            <a:r>
              <a:rPr lang="en-AU" sz="1200" kern="1200" dirty="0" smtClean="0">
                <a:solidFill>
                  <a:schemeClr val="tx1"/>
                </a:solidFill>
                <a:latin typeface="+mn-lt"/>
                <a:ea typeface="+mn-ea"/>
                <a:cs typeface="+mn-cs"/>
              </a:rPr>
              <a:t>An overview/outline of all the possible solutions which were identified – this should include relevant costs, any perceived difficulties with implementation (legislative problems; staff training requirements; alterations to policies, procedures and practices; changes to service times or standards)</a:t>
            </a: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47459627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content of recommendations:</a:t>
            </a:r>
          </a:p>
          <a:p>
            <a:pPr marL="171450" lvl="0" indent="-171450">
              <a:buFont typeface="Arial" pitchFamily="34" charset="0"/>
              <a:buChar char="•"/>
            </a:pPr>
            <a:r>
              <a:rPr lang="en-AU" sz="1200" kern="1200" dirty="0" smtClean="0">
                <a:solidFill>
                  <a:schemeClr val="tx1"/>
                </a:solidFill>
                <a:latin typeface="+mn-lt"/>
                <a:ea typeface="+mn-ea"/>
                <a:cs typeface="+mn-cs"/>
              </a:rPr>
              <a:t>Presentation of preferred options – and why they were chosen over the others identified above</a:t>
            </a:r>
          </a:p>
          <a:p>
            <a:pPr marL="171450" lvl="0" indent="-171450">
              <a:buFont typeface="Arial" pitchFamily="34" charset="0"/>
              <a:buChar char="•"/>
            </a:pPr>
            <a:r>
              <a:rPr lang="en-AU" sz="1200" kern="1200" dirty="0" smtClean="0">
                <a:solidFill>
                  <a:schemeClr val="tx1"/>
                </a:solidFill>
                <a:latin typeface="+mn-lt"/>
                <a:ea typeface="+mn-ea"/>
                <a:cs typeface="+mn-cs"/>
              </a:rPr>
              <a:t>Detailed costings for the preferred options – together with timelines for implementation, identification of problems with implementation, and plans to overcome the identified problems</a:t>
            </a:r>
          </a:p>
          <a:p>
            <a:pPr marL="171450" lvl="0" indent="-171450">
              <a:buFont typeface="Arial" pitchFamily="34" charset="0"/>
              <a:buChar char="•"/>
            </a:pPr>
            <a:r>
              <a:rPr lang="en-AU" sz="1200" kern="1200" dirty="0" smtClean="0">
                <a:solidFill>
                  <a:schemeClr val="tx1"/>
                </a:solidFill>
                <a:latin typeface="+mn-lt"/>
                <a:ea typeface="+mn-ea"/>
                <a:cs typeface="+mn-cs"/>
              </a:rPr>
              <a:t>A final paragraph urging the suggested recommendations – giving personal endorsement and noting expectation of unanimous support from others</a:t>
            </a:r>
          </a:p>
          <a:p>
            <a:pPr marL="171450" lvl="0" indent="-171450">
              <a:buFont typeface="Arial" pitchFamily="34" charset="0"/>
              <a:buChar char="•"/>
            </a:pPr>
            <a:r>
              <a:rPr lang="en-AU" sz="1200" kern="1200" dirty="0" smtClean="0">
                <a:solidFill>
                  <a:schemeClr val="tx1"/>
                </a:solidFill>
                <a:latin typeface="+mn-lt"/>
                <a:ea typeface="+mn-ea"/>
                <a:cs typeface="+mn-cs"/>
              </a:rPr>
              <a:t>Attachments of relevant documentation the processes uncovered – such as:</a:t>
            </a:r>
          </a:p>
          <a:p>
            <a:pPr marL="628650" lvl="1" indent="-171450">
              <a:buFont typeface="Arial" pitchFamily="34" charset="0"/>
              <a:buChar char="•"/>
            </a:pPr>
            <a:r>
              <a:rPr lang="en-US" sz="1200" kern="1200" dirty="0" smtClean="0">
                <a:solidFill>
                  <a:schemeClr val="tx1"/>
                </a:solidFill>
                <a:latin typeface="+mn-lt"/>
                <a:ea typeface="+mn-ea"/>
                <a:cs typeface="+mn-cs"/>
              </a:rPr>
              <a:t>Quotes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Written recommendations from others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Relevant extracts from pieces of legislation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Reports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Articles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Suppliers data – terms of trade, purchasing guides.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328547616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55176561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132328882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43281980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725488"/>
            <a:ext cx="5118100" cy="3838575"/>
          </a:xfrm>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dirty="0" smtClean="0"/>
              <a:t>What reports need to be completed?</a:t>
            </a:r>
          </a:p>
          <a:p>
            <a:pPr marL="171450" indent="-171450">
              <a:buFont typeface="Arial" pitchFamily="34" charset="0"/>
              <a:buChar char="•"/>
            </a:pPr>
            <a:r>
              <a:rPr lang="en-US" dirty="0" smtClean="0"/>
              <a:t>What timelines apply preparing these</a:t>
            </a:r>
            <a:r>
              <a:rPr lang="en-US" baseline="0" dirty="0" smtClean="0"/>
              <a:t> reports?</a:t>
            </a:r>
          </a:p>
          <a:p>
            <a:pPr marL="171450" indent="-171450">
              <a:buFont typeface="Arial" pitchFamily="34" charset="0"/>
              <a:buChar char="•"/>
            </a:pPr>
            <a:r>
              <a:rPr lang="en-US" baseline="0" dirty="0" smtClean="0"/>
              <a:t>Who might be responsible for their preparation?</a:t>
            </a:r>
          </a:p>
          <a:p>
            <a:pPr marL="171450" indent="-171450">
              <a:buFont typeface="Arial" pitchFamily="34" charset="0"/>
              <a:buChar char="•"/>
            </a:pPr>
            <a:r>
              <a:rPr lang="en-US" baseline="0" dirty="0" smtClean="0"/>
              <a:t>Why do they need to be prepared?</a:t>
            </a:r>
          </a:p>
          <a:p>
            <a:pPr marL="171450" indent="-171450">
              <a:buFont typeface="Arial" pitchFamily="34" charset="0"/>
              <a:buChar char="•"/>
            </a:pPr>
            <a:r>
              <a:rPr lang="en-US" baseline="0" dirty="0" smtClean="0"/>
              <a:t>What decisions might flow as a result of information contained in these reports?</a:t>
            </a:r>
          </a:p>
          <a:p>
            <a:pPr marL="171450" indent="-171450">
              <a:buFont typeface="Arial" pitchFamily="34" charset="0"/>
              <a:buChar char="•"/>
            </a:pPr>
            <a:r>
              <a:rPr lang="en-US" baseline="0" dirty="0" smtClean="0"/>
              <a:t>How might these reports be forwarded?</a:t>
            </a:r>
          </a:p>
          <a:p>
            <a:pPr marL="171450" indent="-171450">
              <a:buFont typeface="Arial" pitchFamily="34" charset="0"/>
              <a:buChar char="•"/>
            </a:pPr>
            <a:r>
              <a:rPr lang="en-US" dirty="0" smtClean="0"/>
              <a:t>Who might they be forwarded to?</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7934778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latin typeface="+mn-lt"/>
                <a:ea typeface="+mn-ea"/>
                <a:cs typeface="+mn-cs"/>
              </a:rPr>
              <a:t>operational reports can be seen as providing:</a:t>
            </a:r>
          </a:p>
          <a:p>
            <a:pPr marL="171450" lvl="0" indent="-171450">
              <a:buFont typeface="Arial" pitchFamily="34" charset="0"/>
              <a:buChar char="•"/>
            </a:pPr>
            <a:r>
              <a:rPr lang="en-AU" sz="1200" kern="1200" dirty="0" smtClean="0">
                <a:solidFill>
                  <a:schemeClr val="tx1"/>
                </a:solidFill>
                <a:latin typeface="+mn-lt"/>
                <a:ea typeface="+mn-ea"/>
                <a:cs typeface="+mn-cs"/>
              </a:rPr>
              <a:t>A communication link between management and staff – in an organisation where, say, the business operates 24 hours per day, seven days each week no-one can be there all the time so these reports provide one way of making sure everyone receives vital information they need in order to do their job </a:t>
            </a:r>
          </a:p>
          <a:p>
            <a:pPr marL="171450" lvl="0" indent="-171450">
              <a:buFont typeface="Arial" pitchFamily="34" charset="0"/>
              <a:buChar char="•"/>
            </a:pPr>
            <a:r>
              <a:rPr lang="en-AU" sz="1200" kern="1200" dirty="0" smtClean="0">
                <a:solidFill>
                  <a:schemeClr val="tx1"/>
                </a:solidFill>
                <a:latin typeface="+mn-lt"/>
                <a:ea typeface="+mn-ea"/>
                <a:cs typeface="+mn-cs"/>
              </a:rPr>
              <a:t>An historical database – which builds into a useful management tool available to be used to assist with future deliberations and predictions</a:t>
            </a:r>
          </a:p>
          <a:p>
            <a:pPr marL="171450" lvl="0" indent="-171450">
              <a:buFont typeface="Arial" pitchFamily="34" charset="0"/>
              <a:buChar char="•"/>
            </a:pPr>
            <a:r>
              <a:rPr lang="en-AU" sz="1200" kern="1200" dirty="0" smtClean="0">
                <a:solidFill>
                  <a:schemeClr val="tx1"/>
                </a:solidFill>
                <a:latin typeface="+mn-lt"/>
                <a:ea typeface="+mn-ea"/>
                <a:cs typeface="+mn-cs"/>
              </a:rPr>
              <a:t>Business data to managers – which can inform and assess operational performance against budgets.</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338013294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 </a:t>
            </a:r>
            <a:r>
              <a:rPr lang="en-AU" sz="1200" kern="1200" dirty="0" smtClean="0">
                <a:solidFill>
                  <a:schemeClr val="tx1"/>
                </a:solidFill>
                <a:latin typeface="+mn-lt"/>
                <a:ea typeface="+mn-ea"/>
                <a:cs typeface="+mn-cs"/>
              </a:rPr>
              <a:t>‘typical’ report probably does not exist as their format and content varies widely depending on:</a:t>
            </a:r>
          </a:p>
          <a:p>
            <a:pPr marL="171450" lvl="0" indent="-171450">
              <a:buFont typeface="Arial" pitchFamily="34" charset="0"/>
              <a:buChar char="•"/>
            </a:pPr>
            <a:r>
              <a:rPr lang="en-AU" sz="1200" kern="1200" dirty="0" smtClean="0">
                <a:solidFill>
                  <a:schemeClr val="tx1"/>
                </a:solidFill>
                <a:latin typeface="+mn-lt"/>
                <a:ea typeface="+mn-ea"/>
                <a:cs typeface="+mn-cs"/>
              </a:rPr>
              <a:t>The software in use – to produce the reports </a:t>
            </a:r>
          </a:p>
          <a:p>
            <a:pPr marL="171450" lvl="0" indent="-171450">
              <a:buFont typeface="Arial" pitchFamily="34" charset="0"/>
              <a:buChar char="•"/>
            </a:pPr>
            <a:r>
              <a:rPr lang="en-AU" sz="1200" kern="1200" dirty="0" smtClean="0">
                <a:solidFill>
                  <a:schemeClr val="tx1"/>
                </a:solidFill>
                <a:latin typeface="+mn-lt"/>
                <a:ea typeface="+mn-ea"/>
                <a:cs typeface="+mn-cs"/>
              </a:rPr>
              <a:t>Historical use of paper-based documents – and how they have changed/emerged over time to best suit the needs of the business</a:t>
            </a:r>
          </a:p>
          <a:p>
            <a:pPr marL="171450" lvl="0" indent="-171450">
              <a:buFont typeface="Arial" pitchFamily="34" charset="0"/>
              <a:buChar char="•"/>
            </a:pPr>
            <a:r>
              <a:rPr lang="en-AU" sz="1200" kern="1200" dirty="0" smtClean="0">
                <a:solidFill>
                  <a:schemeClr val="tx1"/>
                </a:solidFill>
                <a:latin typeface="+mn-lt"/>
                <a:ea typeface="+mn-ea"/>
                <a:cs typeface="+mn-cs"/>
              </a:rPr>
              <a:t>User preference – for layout and content.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98809571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latin typeface="+mn-lt"/>
                <a:ea typeface="+mn-ea"/>
                <a:cs typeface="+mn-cs"/>
              </a:rPr>
              <a:t>explains all reports will/should contain certain basic elements:</a:t>
            </a:r>
          </a:p>
          <a:p>
            <a:pPr marL="171450" lvl="0" indent="-171450">
              <a:buFont typeface="Arial" pitchFamily="34" charset="0"/>
              <a:buChar char="•"/>
            </a:pPr>
            <a:r>
              <a:rPr lang="en-AU" sz="1200" kern="1200" dirty="0" smtClean="0">
                <a:solidFill>
                  <a:schemeClr val="tx1"/>
                </a:solidFill>
                <a:latin typeface="+mn-lt"/>
                <a:ea typeface="+mn-ea"/>
                <a:cs typeface="+mn-cs"/>
              </a:rPr>
              <a:t>A statement of purpose – identifying the type of report and its intention – so readers are clear about what each report is all about</a:t>
            </a:r>
          </a:p>
          <a:p>
            <a:pPr marL="171450" lvl="0" indent="-171450">
              <a:buFont typeface="Arial" pitchFamily="34" charset="0"/>
              <a:buChar char="•"/>
            </a:pPr>
            <a:r>
              <a:rPr lang="en-AU" sz="1200" kern="1200" dirty="0" smtClean="0">
                <a:solidFill>
                  <a:schemeClr val="tx1"/>
                </a:solidFill>
                <a:latin typeface="+mn-lt"/>
                <a:ea typeface="+mn-ea"/>
                <a:cs typeface="+mn-cs"/>
              </a:rPr>
              <a:t>Subject topic – a note explaining the exact focus of the document</a:t>
            </a:r>
          </a:p>
          <a:p>
            <a:pPr marL="171450" lvl="0" indent="-171450">
              <a:buFont typeface="Arial" pitchFamily="34" charset="0"/>
              <a:buChar char="•"/>
            </a:pPr>
            <a:r>
              <a:rPr lang="en-AU" sz="1200" kern="1200" dirty="0" smtClean="0">
                <a:solidFill>
                  <a:schemeClr val="tx1"/>
                </a:solidFill>
                <a:latin typeface="+mn-lt"/>
                <a:ea typeface="+mn-ea"/>
                <a:cs typeface="+mn-cs"/>
              </a:rPr>
              <a:t>The nature of the contributory evidence – explanation or verification of sources, information and the period used as the basis for the report</a:t>
            </a:r>
          </a:p>
          <a:p>
            <a:pPr marL="171450" lvl="0" indent="-171450">
              <a:buFont typeface="Arial" pitchFamily="34" charset="0"/>
              <a:buChar char="•"/>
            </a:pPr>
            <a:r>
              <a:rPr lang="en-AU" sz="1200" kern="1200" dirty="0" smtClean="0">
                <a:solidFill>
                  <a:schemeClr val="tx1"/>
                </a:solidFill>
                <a:latin typeface="+mn-lt"/>
                <a:ea typeface="+mn-ea"/>
                <a:cs typeface="+mn-cs"/>
              </a:rPr>
              <a:t>A conclusion – a plan of action flowing from the evidence contained and logical in nature, formulated from the proof/facts provided in the report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264636306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explaining contents of reports:</a:t>
            </a:r>
          </a:p>
          <a:p>
            <a:pPr marL="171450" lvl="0" indent="-171450">
              <a:buFont typeface="Arial" pitchFamily="34" charset="0"/>
              <a:buChar char="•"/>
            </a:pPr>
            <a:r>
              <a:rPr lang="en-AU" sz="1200" kern="1200" dirty="0" smtClean="0">
                <a:solidFill>
                  <a:schemeClr val="tx1"/>
                </a:solidFill>
                <a:latin typeface="+mn-lt"/>
                <a:ea typeface="+mn-ea"/>
                <a:cs typeface="+mn-cs"/>
              </a:rPr>
              <a:t>Identification as to who generated the report – together with its intended target audience (by individual names or positions/titles)</a:t>
            </a:r>
          </a:p>
          <a:p>
            <a:pPr marL="171450" lvl="0" indent="-171450">
              <a:buFont typeface="Arial" pitchFamily="34" charset="0"/>
              <a:buChar char="•"/>
            </a:pPr>
            <a:r>
              <a:rPr lang="en-AU" sz="1200" kern="1200" dirty="0" smtClean="0">
                <a:solidFill>
                  <a:schemeClr val="tx1"/>
                </a:solidFill>
                <a:latin typeface="+mn-lt"/>
                <a:ea typeface="+mn-ea"/>
                <a:cs typeface="+mn-cs"/>
              </a:rPr>
              <a:t>Authorisation – an indication as to who has authorised the report.</a:t>
            </a:r>
          </a:p>
          <a:p>
            <a:pPr marL="171450" lvl="0" indent="-171450">
              <a:buFont typeface="Arial" pitchFamily="34" charset="0"/>
              <a:buChar char="•"/>
            </a:pPr>
            <a:r>
              <a:rPr lang="en-AU" sz="1200" kern="1200" dirty="0" smtClean="0">
                <a:solidFill>
                  <a:schemeClr val="tx1"/>
                </a:solidFill>
                <a:latin typeface="+mn-lt"/>
                <a:ea typeface="+mn-ea"/>
                <a:cs typeface="+mn-cs"/>
              </a:rPr>
              <a:t>Date of the report – in terms of:</a:t>
            </a:r>
          </a:p>
          <a:p>
            <a:pPr marL="628650" lvl="1" indent="-171450">
              <a:buFont typeface="Arial" pitchFamily="34" charset="0"/>
              <a:buChar char="•"/>
            </a:pPr>
            <a:r>
              <a:rPr lang="en-AU" sz="1200" kern="1200" dirty="0" smtClean="0">
                <a:solidFill>
                  <a:schemeClr val="tx1"/>
                </a:solidFill>
                <a:latin typeface="+mn-lt"/>
                <a:ea typeface="+mn-ea"/>
                <a:cs typeface="+mn-cs"/>
              </a:rPr>
              <a:t>Date report was prepared</a:t>
            </a:r>
          </a:p>
          <a:p>
            <a:pPr marL="628650" lvl="1" indent="-171450">
              <a:buFont typeface="Arial" pitchFamily="34" charset="0"/>
              <a:buChar char="•"/>
            </a:pPr>
            <a:r>
              <a:rPr lang="en-AU" sz="1200" kern="1200" dirty="0" smtClean="0">
                <a:solidFill>
                  <a:schemeClr val="tx1"/>
                </a:solidFill>
                <a:latin typeface="+mn-lt"/>
                <a:ea typeface="+mn-ea"/>
                <a:cs typeface="+mn-cs"/>
              </a:rPr>
              <a:t>Period to which report relates.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239120489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a:t>
            </a:r>
            <a:r>
              <a:rPr lang="en-AU" sz="1200" kern="1200" dirty="0" smtClean="0">
                <a:solidFill>
                  <a:schemeClr val="tx1"/>
                </a:solidFill>
                <a:latin typeface="+mn-lt"/>
                <a:ea typeface="+mn-ea"/>
                <a:cs typeface="+mn-cs"/>
              </a:rPr>
              <a:t>each business will determine what it regards as ‘designated timelines’ for budget reports noting these timelines commonly include:</a:t>
            </a:r>
          </a:p>
          <a:p>
            <a:pPr marL="171450" lvl="0" indent="-171450">
              <a:buFont typeface="Arial" pitchFamily="34" charset="0"/>
              <a:buChar char="•"/>
            </a:pPr>
            <a:r>
              <a:rPr lang="en-AU" sz="1200" kern="1200" dirty="0" smtClean="0">
                <a:solidFill>
                  <a:schemeClr val="tx1"/>
                </a:solidFill>
                <a:latin typeface="+mn-lt"/>
                <a:ea typeface="+mn-ea"/>
                <a:cs typeface="+mn-cs"/>
              </a:rPr>
              <a:t>Daily </a:t>
            </a:r>
          </a:p>
          <a:p>
            <a:pPr marL="171450" lvl="0" indent="-171450">
              <a:buFont typeface="Arial" pitchFamily="34" charset="0"/>
              <a:buChar char="•"/>
            </a:pPr>
            <a:r>
              <a:rPr lang="en-AU" sz="1200" kern="1200" dirty="0" smtClean="0">
                <a:solidFill>
                  <a:schemeClr val="tx1"/>
                </a:solidFill>
                <a:latin typeface="+mn-lt"/>
                <a:ea typeface="+mn-ea"/>
                <a:cs typeface="+mn-cs"/>
              </a:rPr>
              <a:t>Weekly </a:t>
            </a:r>
          </a:p>
          <a:p>
            <a:pPr marL="171450" lvl="0" indent="-171450">
              <a:buFont typeface="Arial" pitchFamily="34" charset="0"/>
              <a:buChar char="•"/>
            </a:pPr>
            <a:r>
              <a:rPr lang="en-AU" sz="1200" kern="1200" dirty="0" smtClean="0">
                <a:solidFill>
                  <a:schemeClr val="tx1"/>
                </a:solidFill>
                <a:latin typeface="+mn-lt"/>
                <a:ea typeface="+mn-ea"/>
                <a:cs typeface="+mn-cs"/>
              </a:rPr>
              <a:t>Monthly.</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is not </a:t>
            </a:r>
            <a:r>
              <a:rPr lang="en-AU" sz="1200" i="1" kern="1200" dirty="0" smtClean="0">
                <a:solidFill>
                  <a:schemeClr val="tx1"/>
                </a:solidFill>
                <a:latin typeface="+mn-lt"/>
                <a:ea typeface="+mn-ea"/>
                <a:cs typeface="+mn-cs"/>
              </a:rPr>
              <a:t>common</a:t>
            </a:r>
            <a:r>
              <a:rPr lang="en-AU" sz="1200" kern="1200" dirty="0" smtClean="0">
                <a:solidFill>
                  <a:schemeClr val="tx1"/>
                </a:solidFill>
                <a:latin typeface="+mn-lt"/>
                <a:ea typeface="+mn-ea"/>
                <a:cs typeface="+mn-cs"/>
              </a:rPr>
              <a:t> for budget-related reports to be prepared on a daily basis even though other operational reports (for example, ‘exception reports’) are often generated on this basis.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63452665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emphasises </a:t>
            </a:r>
            <a:r>
              <a:rPr lang="en-AU" sz="1200" kern="1200" dirty="0" smtClean="0">
                <a:solidFill>
                  <a:schemeClr val="tx1"/>
                </a:solidFill>
                <a:latin typeface="+mn-lt"/>
                <a:ea typeface="+mn-ea"/>
                <a:cs typeface="+mn-cs"/>
              </a:rPr>
              <a:t>it is essential all reports prepared are:</a:t>
            </a:r>
          </a:p>
          <a:p>
            <a:pPr marL="171450" lvl="0" indent="-171450">
              <a:buFont typeface="Arial" pitchFamily="34" charset="0"/>
              <a:buChar char="•"/>
            </a:pPr>
            <a:r>
              <a:rPr lang="en-AU" sz="1200" kern="1200" dirty="0" smtClean="0">
                <a:solidFill>
                  <a:schemeClr val="tx1"/>
                </a:solidFill>
                <a:latin typeface="+mn-lt"/>
                <a:ea typeface="+mn-ea"/>
                <a:cs typeface="+mn-cs"/>
              </a:rPr>
              <a:t>Accurate – they must:</a:t>
            </a:r>
          </a:p>
          <a:p>
            <a:pPr marL="628650" lvl="1" indent="-171450">
              <a:buFont typeface="Arial" pitchFamily="34" charset="0"/>
              <a:buChar char="•"/>
            </a:pPr>
            <a:r>
              <a:rPr lang="en-AU" sz="1200" kern="1200" dirty="0" smtClean="0">
                <a:solidFill>
                  <a:schemeClr val="tx1"/>
                </a:solidFill>
                <a:latin typeface="+mn-lt"/>
                <a:ea typeface="+mn-ea"/>
                <a:cs typeface="+mn-cs"/>
              </a:rPr>
              <a:t>Be honest in what they contain</a:t>
            </a:r>
          </a:p>
          <a:p>
            <a:pPr marL="628650" lvl="1" indent="-171450">
              <a:buFont typeface="Arial" pitchFamily="34" charset="0"/>
              <a:buChar char="•"/>
            </a:pPr>
            <a:r>
              <a:rPr lang="en-AU" sz="1200" kern="1200" dirty="0" smtClean="0">
                <a:solidFill>
                  <a:schemeClr val="tx1"/>
                </a:solidFill>
                <a:latin typeface="+mn-lt"/>
                <a:ea typeface="+mn-ea"/>
                <a:cs typeface="+mn-cs"/>
              </a:rPr>
              <a:t>Contain all relevant data for the period in question</a:t>
            </a:r>
          </a:p>
          <a:p>
            <a:pPr marL="628650" lvl="1" indent="-171450">
              <a:buFont typeface="Arial" pitchFamily="34" charset="0"/>
              <a:buChar char="•"/>
            </a:pPr>
            <a:r>
              <a:rPr lang="en-AU" sz="1200" kern="1200" dirty="0" smtClean="0">
                <a:solidFill>
                  <a:schemeClr val="tx1"/>
                </a:solidFill>
                <a:latin typeface="+mn-lt"/>
                <a:ea typeface="+mn-ea"/>
                <a:cs typeface="+mn-cs"/>
              </a:rPr>
              <a:t>Never intentionally include misleading information</a:t>
            </a:r>
          </a:p>
          <a:p>
            <a:pPr marL="628650" lvl="1" indent="-171450">
              <a:buFont typeface="Arial" pitchFamily="34" charset="0"/>
              <a:buChar char="•"/>
            </a:pPr>
            <a:r>
              <a:rPr lang="en-AU" sz="1200" kern="1200" dirty="0" smtClean="0">
                <a:solidFill>
                  <a:schemeClr val="tx1"/>
                </a:solidFill>
                <a:latin typeface="+mn-lt"/>
                <a:ea typeface="+mn-ea"/>
                <a:cs typeface="+mn-cs"/>
              </a:rPr>
              <a:t>Never intentionally exclude important negative data</a:t>
            </a:r>
          </a:p>
          <a:p>
            <a:pPr marL="628650" lvl="1" indent="-171450">
              <a:buFont typeface="Arial" pitchFamily="34" charset="0"/>
              <a:buChar char="•"/>
            </a:pPr>
            <a:r>
              <a:rPr lang="en-AU" sz="1200" kern="1200" dirty="0" smtClean="0">
                <a:solidFill>
                  <a:schemeClr val="tx1"/>
                </a:solidFill>
                <a:latin typeface="+mn-lt"/>
                <a:ea typeface="+mn-ea"/>
                <a:cs typeface="+mn-cs"/>
              </a:rPr>
              <a:t>Reflect actual performance, results and outcomes </a:t>
            </a:r>
          </a:p>
          <a:p>
            <a:pPr marL="171450" lvl="0" indent="-171450">
              <a:buFont typeface="Arial" pitchFamily="34" charset="0"/>
              <a:buChar char="•"/>
            </a:pPr>
            <a:r>
              <a:rPr lang="en-AU" sz="1200" kern="1200" dirty="0" smtClean="0">
                <a:solidFill>
                  <a:schemeClr val="tx1"/>
                </a:solidFill>
                <a:latin typeface="+mn-lt"/>
                <a:ea typeface="+mn-ea"/>
                <a:cs typeface="+mn-cs"/>
              </a:rPr>
              <a:t>Clear – they must:</a:t>
            </a:r>
          </a:p>
          <a:p>
            <a:pPr marL="628650" lvl="1" indent="-171450">
              <a:buFont typeface="Arial" pitchFamily="34" charset="0"/>
              <a:buChar char="•"/>
            </a:pPr>
            <a:r>
              <a:rPr lang="en-US" sz="1200" kern="1200" dirty="0" smtClean="0">
                <a:solidFill>
                  <a:schemeClr val="tx1"/>
                </a:solidFill>
                <a:latin typeface="+mn-lt"/>
                <a:ea typeface="+mn-ea"/>
                <a:cs typeface="+mn-cs"/>
              </a:rPr>
              <a:t>Easily understood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 prepared in accordance with the accepted format/layout for the individual business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Use simple language and standard accounting-based terminology (see below)</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Concise – they should:</a:t>
            </a:r>
          </a:p>
          <a:p>
            <a:pPr marL="628650" lvl="1" indent="-171450">
              <a:buFont typeface="Arial" pitchFamily="34" charset="0"/>
              <a:buChar char="•"/>
            </a:pPr>
            <a:r>
              <a:rPr lang="en-US" sz="1200" kern="1200" dirty="0" smtClean="0">
                <a:solidFill>
                  <a:schemeClr val="tx1"/>
                </a:solidFill>
                <a:latin typeface="+mn-lt"/>
                <a:ea typeface="+mn-ea"/>
                <a:cs typeface="+mn-cs"/>
              </a:rPr>
              <a:t>Avoid unnecessary information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Provide the basics – the reader is then obliged to follow-up issues/figures doing their own research and investigation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Include additional/supplementary and/or explanatory information as Appendices to the report</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Time-relevant – they must:</a:t>
            </a:r>
          </a:p>
          <a:p>
            <a:pPr marL="628650" lvl="1" indent="-171450">
              <a:buFont typeface="Arial" pitchFamily="34" charset="0"/>
              <a:buChar char="•"/>
            </a:pPr>
            <a:r>
              <a:rPr lang="en-US" sz="1200" kern="1200" dirty="0" smtClean="0">
                <a:solidFill>
                  <a:schemeClr val="tx1"/>
                </a:solidFill>
                <a:latin typeface="+mn-lt"/>
                <a:ea typeface="+mn-ea"/>
                <a:cs typeface="+mn-cs"/>
              </a:rPr>
              <a:t>Be prepared in a timely manner – by the times required by the organisation or as imposed by external requirements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 clearly annotated to show the period to which they relate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Contain comparative data to allow evaluations with other time periods.</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480905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notifies </a:t>
            </a:r>
            <a:r>
              <a:rPr lang="en-AU" sz="1200" kern="1200" dirty="0" smtClean="0">
                <a:solidFill>
                  <a:schemeClr val="tx1"/>
                </a:solidFill>
                <a:latin typeface="+mn-lt"/>
                <a:ea typeface="+mn-ea"/>
                <a:cs typeface="+mn-cs"/>
              </a:rPr>
              <a:t>to help achieve what is required for reports the following should apply:</a:t>
            </a:r>
          </a:p>
          <a:p>
            <a:pPr marL="171450" lvl="0" indent="-171450">
              <a:buFont typeface="Arial" pitchFamily="34" charset="0"/>
              <a:buChar char="•"/>
            </a:pPr>
            <a:r>
              <a:rPr lang="en-AU" sz="1200" kern="1200" dirty="0" smtClean="0">
                <a:solidFill>
                  <a:schemeClr val="tx1"/>
                </a:solidFill>
                <a:latin typeface="+mn-lt"/>
                <a:ea typeface="+mn-ea"/>
                <a:cs typeface="+mn-cs"/>
              </a:rPr>
              <a:t>Use </a:t>
            </a:r>
            <a:r>
              <a:rPr lang="en-AU" sz="1200" i="1" kern="1200" dirty="0" smtClean="0">
                <a:solidFill>
                  <a:schemeClr val="tx1"/>
                </a:solidFill>
                <a:latin typeface="+mn-lt"/>
                <a:ea typeface="+mn-ea"/>
                <a:cs typeface="+mn-cs"/>
              </a:rPr>
              <a:t>pro forma</a:t>
            </a:r>
            <a:r>
              <a:rPr lang="en-AU" sz="1200" kern="1200" dirty="0" smtClean="0">
                <a:solidFill>
                  <a:schemeClr val="tx1"/>
                </a:solidFill>
                <a:latin typeface="+mn-lt"/>
                <a:ea typeface="+mn-ea"/>
                <a:cs typeface="+mn-cs"/>
              </a:rPr>
              <a:t> templates – as the basis for preparing reports</a:t>
            </a:r>
          </a:p>
          <a:p>
            <a:pPr marL="171450" lvl="0" indent="-171450">
              <a:buFont typeface="Arial" pitchFamily="34" charset="0"/>
              <a:buChar char="•"/>
            </a:pPr>
            <a:r>
              <a:rPr lang="en-AU" sz="1200" kern="1200" dirty="0" smtClean="0">
                <a:solidFill>
                  <a:schemeClr val="tx1"/>
                </a:solidFill>
                <a:latin typeface="+mn-lt"/>
                <a:ea typeface="+mn-ea"/>
                <a:cs typeface="+mn-cs"/>
              </a:rPr>
              <a:t>Refer to previous sample reports for the purposes of modelling production of reports – in terms of topics such as layout, information contained, detail</a:t>
            </a:r>
          </a:p>
          <a:p>
            <a:pPr marL="171450" lvl="0" indent="-171450">
              <a:buFont typeface="Arial" pitchFamily="34" charset="0"/>
              <a:buChar char="•"/>
            </a:pPr>
            <a:r>
              <a:rPr lang="en-AU" sz="1200" kern="1200" dirty="0" smtClean="0">
                <a:solidFill>
                  <a:schemeClr val="tx1"/>
                </a:solidFill>
                <a:latin typeface="+mn-lt"/>
                <a:ea typeface="+mn-ea"/>
                <a:cs typeface="+mn-cs"/>
              </a:rPr>
              <a:t>Double-check all figures used – looking for transposition errors</a:t>
            </a:r>
          </a:p>
          <a:p>
            <a:pPr marL="171450" lvl="0" indent="-171450">
              <a:buFont typeface="Arial" pitchFamily="34" charset="0"/>
              <a:buChar char="•"/>
            </a:pPr>
            <a:r>
              <a:rPr lang="en-AU" sz="1200" kern="1200" dirty="0" smtClean="0">
                <a:solidFill>
                  <a:schemeClr val="tx1"/>
                </a:solidFill>
                <a:latin typeface="+mn-lt"/>
                <a:ea typeface="+mn-ea"/>
                <a:cs typeface="+mn-cs"/>
              </a:rPr>
              <a:t>Use source documentation – as the basis for statistics included.</a:t>
            </a: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19697519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identifying and describing activities to ensure proper reports:</a:t>
            </a:r>
          </a:p>
          <a:p>
            <a:pPr marL="171450" lvl="0" indent="-171450">
              <a:buFont typeface="Arial" pitchFamily="34" charset="0"/>
              <a:buChar char="•"/>
            </a:pPr>
            <a:r>
              <a:rPr lang="en-AU" sz="1200" kern="1200" dirty="0" smtClean="0">
                <a:solidFill>
                  <a:schemeClr val="tx1"/>
                </a:solidFill>
                <a:latin typeface="+mn-lt"/>
                <a:ea typeface="+mn-ea"/>
                <a:cs typeface="+mn-cs"/>
              </a:rPr>
              <a:t>Verify the period to which source data relates – to ensure only statistics for the period in question are being used</a:t>
            </a:r>
          </a:p>
          <a:p>
            <a:pPr marL="171450" lvl="0" indent="-171450">
              <a:buFont typeface="Arial" pitchFamily="34" charset="0"/>
              <a:buChar char="•"/>
            </a:pPr>
            <a:r>
              <a:rPr lang="en-AU" sz="1200" kern="1200" dirty="0" smtClean="0">
                <a:solidFill>
                  <a:schemeClr val="tx1"/>
                </a:solidFill>
                <a:latin typeface="+mn-lt"/>
                <a:ea typeface="+mn-ea"/>
                <a:cs typeface="+mn-cs"/>
              </a:rPr>
              <a:t>Ensure all source materials are filed – and available for further reference if required</a:t>
            </a:r>
          </a:p>
          <a:p>
            <a:pPr marL="171450" lvl="0" indent="-171450">
              <a:buFont typeface="Arial" pitchFamily="34" charset="0"/>
              <a:buChar char="•"/>
            </a:pPr>
            <a:r>
              <a:rPr lang="en-AU" sz="1200" kern="1200" dirty="0" smtClean="0">
                <a:solidFill>
                  <a:schemeClr val="tx1"/>
                </a:solidFill>
                <a:latin typeface="+mn-lt"/>
                <a:ea typeface="+mn-ea"/>
                <a:cs typeface="+mn-cs"/>
              </a:rPr>
              <a:t>Double-check all calculations – to verify totals, extensions and percentages correct</a:t>
            </a:r>
          </a:p>
          <a:p>
            <a:pPr marL="171450" lvl="0" indent="-171450">
              <a:buFont typeface="Arial" pitchFamily="34" charset="0"/>
              <a:buChar char="•"/>
            </a:pPr>
            <a:r>
              <a:rPr lang="en-AU" sz="1200" kern="1200" dirty="0" smtClean="0">
                <a:solidFill>
                  <a:schemeClr val="tx1"/>
                </a:solidFill>
                <a:latin typeface="+mn-lt"/>
                <a:ea typeface="+mn-ea"/>
                <a:cs typeface="+mn-cs"/>
              </a:rPr>
              <a:t>Review reports prior to release/distribution – to check for errors and omissions</a:t>
            </a:r>
          </a:p>
          <a:p>
            <a:pPr marL="171450" lvl="0" indent="-171450">
              <a:buFont typeface="Arial" pitchFamily="34" charset="0"/>
              <a:buChar char="•"/>
            </a:pPr>
            <a:r>
              <a:rPr lang="en-AU" sz="1200" kern="1200" dirty="0" smtClean="0">
                <a:solidFill>
                  <a:schemeClr val="tx1"/>
                </a:solidFill>
                <a:latin typeface="+mn-lt"/>
                <a:ea typeface="+mn-ea"/>
                <a:cs typeface="+mn-cs"/>
              </a:rPr>
              <a:t>Provide a ‘draft’ version of the report to a trusted colleague (or designated internal person) for their perusal and approval – prior to finalising the report and releasing it for general consumption.</a:t>
            </a: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75865431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29490803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66692025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292414475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43086794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85755226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364316055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3832727899"/>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426670660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3423157959"/>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352390364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285644018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03184461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329861598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2077174805"/>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18296417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2669668134"/>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 range of terms relevant to accounting and report preparation.</a:t>
            </a:r>
          </a:p>
          <a:p>
            <a:endParaRPr lang="en-US" sz="1200"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 Activity</a:t>
            </a:r>
          </a:p>
          <a:p>
            <a:endParaRPr lang="en-US" sz="1200" b="1"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asks students to describe the terms presented and either confirms their answers or provides the correct explanation/definition.</a:t>
            </a:r>
          </a:p>
          <a:p>
            <a:endParaRPr lang="en-US" sz="1200" b="0" kern="1200" dirty="0" smtClean="0">
              <a:solidFill>
                <a:schemeClr val="tx1"/>
              </a:solidFill>
              <a:latin typeface="+mn-lt"/>
              <a:ea typeface="+mn-ea"/>
              <a:cs typeface="+mn-cs"/>
            </a:endParaRPr>
          </a:p>
          <a:p>
            <a:r>
              <a:rPr lang="en-US" sz="1200" b="0" kern="1200" dirty="0" smtClean="0">
                <a:solidFill>
                  <a:schemeClr val="tx1"/>
                </a:solidFill>
                <a:latin typeface="+mn-lt"/>
                <a:ea typeface="+mn-ea"/>
                <a:cs typeface="+mn-cs"/>
              </a:rPr>
              <a:t>Trainer should cover the ‘Explanation/definition’ column and reveal one-by-one as required.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72786908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a:t>
            </a:r>
          </a:p>
          <a:p>
            <a:pPr>
              <a:buFont typeface="Arial" pitchFamily="34" charset="0"/>
              <a:buNone/>
            </a:pPr>
            <a:r>
              <a:rPr lang="en-US" b="1" baseline="0" noProof="0" dirty="0" smtClean="0"/>
              <a:t> </a:t>
            </a:r>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a:t>
            </a:r>
          </a:p>
          <a:p>
            <a:pPr>
              <a:buFont typeface="Arial" pitchFamily="34" charset="0"/>
              <a:buNone/>
            </a:pPr>
            <a:r>
              <a:rPr lang="en-US" b="1" baseline="0" noProof="0" dirty="0" smtClean="0"/>
              <a:t> </a:t>
            </a:r>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74781314"/>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 </a:t>
            </a:r>
          </a:p>
          <a:p>
            <a:pPr>
              <a:buFont typeface="Arial" pitchFamily="34" charset="0"/>
              <a:buNone/>
            </a:pPr>
            <a:endParaRPr lang="en-US" b="1" baseline="0" noProof="0" dirty="0" smtClean="0"/>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35960094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 </a:t>
            </a:r>
          </a:p>
          <a:p>
            <a:pPr>
              <a:buFont typeface="Arial" pitchFamily="34" charset="0"/>
              <a:buNone/>
            </a:pPr>
            <a:endParaRPr lang="en-US" b="1" baseline="0" noProof="0" dirty="0" smtClean="0"/>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294559688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0"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 </a:t>
            </a:r>
          </a:p>
          <a:p>
            <a:pPr>
              <a:buFont typeface="Arial" pitchFamily="34" charset="0"/>
              <a:buNone/>
            </a:pPr>
            <a:endParaRPr lang="en-US" b="1" baseline="0" noProof="0" dirty="0" smtClean="0"/>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129041673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 </a:t>
            </a:r>
          </a:p>
          <a:p>
            <a:pPr>
              <a:buFont typeface="Arial" pitchFamily="34" charset="0"/>
              <a:buNone/>
            </a:pPr>
            <a:endParaRPr lang="en-US" b="1" baseline="0" noProof="0" dirty="0" smtClean="0"/>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270347423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a:t>
            </a:r>
          </a:p>
          <a:p>
            <a:pPr>
              <a:buFont typeface="Arial" pitchFamily="34" charset="0"/>
              <a:buNone/>
            </a:pPr>
            <a:r>
              <a:rPr lang="en-US" b="1" baseline="0" noProof="0" dirty="0" smtClean="0"/>
              <a:t> </a:t>
            </a:r>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a:t>
            </a:r>
          </a:p>
          <a:p>
            <a:pPr>
              <a:buFont typeface="Arial" pitchFamily="34" charset="0"/>
              <a:buNone/>
            </a:pPr>
            <a:r>
              <a:rPr lang="en-US" b="1" baseline="0" noProof="0" dirty="0" smtClean="0"/>
              <a:t> </a:t>
            </a:r>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2019575605"/>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 </a:t>
            </a:r>
          </a:p>
          <a:p>
            <a:pPr>
              <a:buFont typeface="Arial" pitchFamily="34" charset="0"/>
              <a:buNone/>
            </a:pPr>
            <a:endParaRPr lang="en-US" b="1" baseline="0" noProof="0" dirty="0" smtClean="0"/>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2514243270"/>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 </a:t>
            </a:r>
          </a:p>
          <a:p>
            <a:pPr>
              <a:buFont typeface="Arial" pitchFamily="34" charset="0"/>
              <a:buNone/>
            </a:pPr>
            <a:endParaRPr lang="en-US" b="1" baseline="0" noProof="0" dirty="0" smtClean="0"/>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1217689429"/>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a:t>
            </a:r>
          </a:p>
          <a:p>
            <a:pPr>
              <a:buFont typeface="Arial" pitchFamily="34" charset="0"/>
              <a:buNone/>
            </a:pPr>
            <a:r>
              <a:rPr lang="en-US" b="1" baseline="0" noProof="0" dirty="0" smtClean="0"/>
              <a:t> </a:t>
            </a:r>
          </a:p>
          <a:p>
            <a:pPr>
              <a:buFont typeface="Arial" pitchFamily="34" charset="0"/>
              <a:buNone/>
            </a:pPr>
            <a:r>
              <a:rPr lang="en-US" b="0" baseline="0" noProof="0" dirty="0" smtClean="0"/>
              <a:t>Trainer provides relevant raw/base data and asks students to prepare report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232482686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examples of</a:t>
            </a:r>
            <a:r>
              <a:rPr lang="en-US" baseline="0" noProof="0" dirty="0" smtClean="0"/>
              <a:t> financial/statistical reports which may need to be completed.</a:t>
            </a:r>
          </a:p>
          <a:p>
            <a:pPr>
              <a:buFont typeface="Arial" pitchFamily="34" charset="0"/>
              <a:buNone/>
            </a:pPr>
            <a:endParaRPr lang="en-US" noProof="0" dirty="0" smtClean="0"/>
          </a:p>
          <a:p>
            <a:pPr>
              <a:buFont typeface="Arial" pitchFamily="34" charset="0"/>
              <a:buNone/>
            </a:pPr>
            <a:r>
              <a:rPr lang="en-US" b="1" noProof="0" dirty="0" smtClean="0"/>
              <a:t>Class Activity (1) – Question and Answer session</a:t>
            </a:r>
          </a:p>
          <a:p>
            <a:pPr>
              <a:buFont typeface="Arial" pitchFamily="34" charset="0"/>
              <a:buNone/>
            </a:pPr>
            <a:endParaRPr lang="en-US" b="1" noProof="0" dirty="0" smtClean="0"/>
          </a:p>
          <a:p>
            <a:pPr>
              <a:buFont typeface="Arial" pitchFamily="34" charset="0"/>
              <a:buNone/>
            </a:pPr>
            <a:r>
              <a:rPr lang="en-US" b="0" noProof="0" dirty="0" smtClean="0"/>
              <a:t>Trainer distributes and discusses example of reports</a:t>
            </a:r>
            <a:r>
              <a:rPr lang="en-US" b="0" baseline="0" noProof="0" dirty="0" smtClean="0"/>
              <a:t> as identified on the slide such as:</a:t>
            </a:r>
          </a:p>
          <a:p>
            <a:pPr marL="171450" indent="-171450">
              <a:buFont typeface="Arial" pitchFamily="34" charset="0"/>
              <a:buChar char="•"/>
            </a:pPr>
            <a:r>
              <a:rPr lang="en-US" b="0" baseline="0" noProof="0" dirty="0" smtClean="0"/>
              <a:t>With what frequency should/might they be prepared?</a:t>
            </a:r>
          </a:p>
          <a:p>
            <a:pPr marL="171450" indent="-171450">
              <a:buFont typeface="Arial" pitchFamily="34" charset="0"/>
              <a:buChar char="•"/>
            </a:pPr>
            <a:r>
              <a:rPr lang="en-US" b="0" baseline="0" noProof="0" dirty="0" smtClean="0"/>
              <a:t>What information do they contain?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Handout </a:t>
            </a:r>
          </a:p>
          <a:p>
            <a:pPr>
              <a:buFont typeface="Arial" pitchFamily="34" charset="0"/>
              <a:buNone/>
            </a:pPr>
            <a:endParaRPr lang="en-US" b="1" baseline="0" noProof="0" dirty="0" smtClean="0"/>
          </a:p>
          <a:p>
            <a:pPr>
              <a:buFont typeface="Arial" pitchFamily="34" charset="0"/>
              <a:buNone/>
            </a:pPr>
            <a:r>
              <a:rPr lang="en-US" b="0" baseline="0" noProof="0" dirty="0" smtClean="0"/>
              <a:t>Trainer distributes and discusses examples of reports identified on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Major Exercise </a:t>
            </a:r>
          </a:p>
          <a:p>
            <a:pPr>
              <a:buFont typeface="Arial" pitchFamily="34" charset="0"/>
              <a:buNone/>
            </a:pPr>
            <a:endParaRPr lang="en-US" b="1" baseline="0" noProof="0" dirty="0" smtClean="0"/>
          </a:p>
          <a:p>
            <a:pPr>
              <a:buFont typeface="Arial" pitchFamily="34" charset="0"/>
              <a:buNone/>
            </a:pPr>
            <a:r>
              <a:rPr lang="en-US" b="0" baseline="0" noProof="0" dirty="0" smtClean="0"/>
              <a:t>Trainer provides relevant raw/base data and asks students to prepare reports identified on slide from such information.</a:t>
            </a:r>
            <a:endParaRPr lang="en-AU" b="0"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52203334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a:t>
            </a:r>
            <a:r>
              <a:rPr lang="en-AU" sz="1200" kern="1200" dirty="0" smtClean="0">
                <a:solidFill>
                  <a:schemeClr val="tx1"/>
                </a:solidFill>
                <a:latin typeface="+mn-lt"/>
                <a:ea typeface="+mn-ea"/>
                <a:cs typeface="+mn-cs"/>
              </a:rPr>
              <a:t>stakeholders who may seek to obtain financial/statistical reports of the business can include:</a:t>
            </a:r>
          </a:p>
          <a:p>
            <a:pPr marL="171450" lvl="0" indent="-171450">
              <a:buFont typeface="Arial" pitchFamily="34" charset="0"/>
              <a:buChar char="•"/>
            </a:pPr>
            <a:r>
              <a:rPr lang="en-AU" sz="1200" kern="1200" dirty="0" smtClean="0">
                <a:solidFill>
                  <a:schemeClr val="tx1"/>
                </a:solidFill>
                <a:latin typeface="+mn-lt"/>
                <a:ea typeface="+mn-ea"/>
                <a:cs typeface="+mn-cs"/>
              </a:rPr>
              <a:t>Owners of the business</a:t>
            </a:r>
          </a:p>
          <a:p>
            <a:pPr marL="171450" lvl="0" indent="-171450">
              <a:buFont typeface="Arial" pitchFamily="34" charset="0"/>
              <a:buChar char="•"/>
            </a:pPr>
            <a:r>
              <a:rPr lang="en-AU" sz="1200" kern="1200" dirty="0" smtClean="0">
                <a:solidFill>
                  <a:schemeClr val="tx1"/>
                </a:solidFill>
                <a:latin typeface="+mn-lt"/>
                <a:ea typeface="+mn-ea"/>
                <a:cs typeface="+mn-cs"/>
              </a:rPr>
              <a:t>Managers</a:t>
            </a:r>
          </a:p>
          <a:p>
            <a:pPr marL="171450" lvl="0" indent="-171450">
              <a:buFont typeface="Arial" pitchFamily="34" charset="0"/>
              <a:buChar char="•"/>
            </a:pPr>
            <a:r>
              <a:rPr lang="en-AU" sz="1200" kern="1200" dirty="0" smtClean="0">
                <a:solidFill>
                  <a:schemeClr val="tx1"/>
                </a:solidFill>
                <a:latin typeface="+mn-lt"/>
                <a:ea typeface="+mn-ea"/>
                <a:cs typeface="+mn-cs"/>
              </a:rPr>
              <a:t>Shareholders and investors</a:t>
            </a:r>
          </a:p>
          <a:p>
            <a:pPr marL="171450" lvl="0" indent="-171450">
              <a:buFont typeface="Arial" pitchFamily="34" charset="0"/>
              <a:buChar char="•"/>
            </a:pPr>
            <a:r>
              <a:rPr lang="en-AU" sz="1200" kern="1200" dirty="0" smtClean="0">
                <a:solidFill>
                  <a:schemeClr val="tx1"/>
                </a:solidFill>
                <a:latin typeface="+mn-lt"/>
                <a:ea typeface="+mn-ea"/>
                <a:cs typeface="+mn-cs"/>
              </a:rPr>
              <a:t>Joint business partners</a:t>
            </a:r>
          </a:p>
          <a:p>
            <a:pPr marL="171450" lvl="0" indent="-171450">
              <a:buFont typeface="Arial" pitchFamily="34" charset="0"/>
              <a:buChar char="•"/>
            </a:pPr>
            <a:r>
              <a:rPr lang="en-AU" sz="1200" kern="1200" dirty="0" smtClean="0">
                <a:solidFill>
                  <a:schemeClr val="tx1"/>
                </a:solidFill>
                <a:latin typeface="+mn-lt"/>
                <a:ea typeface="+mn-ea"/>
                <a:cs typeface="+mn-cs"/>
              </a:rPr>
              <a:t>Creditors</a:t>
            </a:r>
          </a:p>
          <a:p>
            <a:pPr marL="171450" lvl="0" indent="-171450">
              <a:buFont typeface="Arial" pitchFamily="34" charset="0"/>
              <a:buChar char="•"/>
            </a:pPr>
            <a:r>
              <a:rPr lang="en-AU" sz="1200" kern="1200" dirty="0" smtClean="0">
                <a:solidFill>
                  <a:schemeClr val="tx1"/>
                </a:solidFill>
                <a:latin typeface="+mn-lt"/>
                <a:ea typeface="+mn-ea"/>
                <a:cs typeface="+mn-cs"/>
              </a:rPr>
              <a:t>Employees</a:t>
            </a:r>
          </a:p>
          <a:p>
            <a:pPr marL="171450" lvl="0" indent="-171450">
              <a:buFont typeface="Arial" pitchFamily="34" charset="0"/>
              <a:buChar char="•"/>
            </a:pPr>
            <a:r>
              <a:rPr lang="en-AU" sz="1200" kern="1200" dirty="0" smtClean="0">
                <a:solidFill>
                  <a:schemeClr val="tx1"/>
                </a:solidFill>
                <a:latin typeface="+mn-lt"/>
                <a:ea typeface="+mn-ea"/>
                <a:cs typeface="+mn-cs"/>
              </a:rPr>
              <a:t>Government agencies/authorities.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2721319848"/>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owners </a:t>
            </a:r>
            <a:r>
              <a:rPr lang="en-AU" sz="1200" kern="1200" dirty="0" smtClean="0">
                <a:solidFill>
                  <a:schemeClr val="tx1"/>
                </a:solidFill>
                <a:latin typeface="+mn-lt"/>
                <a:ea typeface="+mn-ea"/>
                <a:cs typeface="+mn-cs"/>
              </a:rPr>
              <a:t>may use this information to decide:</a:t>
            </a:r>
          </a:p>
          <a:p>
            <a:pPr marL="171450" lvl="0" indent="-171450">
              <a:buFont typeface="Arial" pitchFamily="34" charset="0"/>
              <a:buChar char="•"/>
            </a:pPr>
            <a:r>
              <a:rPr lang="en-AU" sz="1200" kern="1200" dirty="0" smtClean="0">
                <a:solidFill>
                  <a:schemeClr val="tx1"/>
                </a:solidFill>
                <a:latin typeface="+mn-lt"/>
                <a:ea typeface="+mn-ea"/>
                <a:cs typeface="+mn-cs"/>
              </a:rPr>
              <a:t>If the business is earning a satisfactory profit </a:t>
            </a:r>
          </a:p>
          <a:p>
            <a:pPr marL="171450" lvl="0" indent="-171450">
              <a:buFont typeface="Arial" pitchFamily="34" charset="0"/>
              <a:buChar char="•"/>
            </a:pPr>
            <a:r>
              <a:rPr lang="en-AU" sz="1200" kern="1200" dirty="0" smtClean="0">
                <a:solidFill>
                  <a:schemeClr val="tx1"/>
                </a:solidFill>
                <a:latin typeface="+mn-lt"/>
                <a:ea typeface="+mn-ea"/>
                <a:cs typeface="+mn-cs"/>
              </a:rPr>
              <a:t>Whether the operation is using its short-term and long-term assets efficiently</a:t>
            </a:r>
          </a:p>
          <a:p>
            <a:pPr marL="171450" lvl="0" indent="-171450">
              <a:buFont typeface="Arial" pitchFamily="34" charset="0"/>
              <a:buChar char="•"/>
            </a:pPr>
            <a:r>
              <a:rPr lang="en-AU" sz="1200" kern="1200" dirty="0" smtClean="0">
                <a:solidFill>
                  <a:schemeClr val="tx1"/>
                </a:solidFill>
                <a:latin typeface="+mn-lt"/>
                <a:ea typeface="+mn-ea"/>
                <a:cs typeface="+mn-cs"/>
              </a:rPr>
              <a:t>If the ROI is acceptable</a:t>
            </a:r>
          </a:p>
          <a:p>
            <a:pPr marL="171450" lvl="0" indent="-171450">
              <a:buFont typeface="Arial" pitchFamily="34" charset="0"/>
              <a:buChar char="•"/>
            </a:pPr>
            <a:r>
              <a:rPr lang="en-AU" sz="1200" kern="1200" dirty="0" smtClean="0">
                <a:solidFill>
                  <a:schemeClr val="tx1"/>
                </a:solidFill>
                <a:latin typeface="+mn-lt"/>
                <a:ea typeface="+mn-ea"/>
                <a:cs typeface="+mn-cs"/>
              </a:rPr>
              <a:t>Whether or not continue operating the business – or to sell it, or move into another business</a:t>
            </a:r>
          </a:p>
          <a:p>
            <a:pPr marL="171450" lvl="0" indent="-171450">
              <a:buFont typeface="Arial" pitchFamily="34" charset="0"/>
              <a:buChar char="•"/>
            </a:pPr>
            <a:r>
              <a:rPr lang="en-AU" sz="1200" kern="1200" dirty="0" smtClean="0">
                <a:solidFill>
                  <a:schemeClr val="tx1"/>
                </a:solidFill>
                <a:latin typeface="+mn-lt"/>
                <a:ea typeface="+mn-ea"/>
                <a:cs typeface="+mn-cs"/>
              </a:rPr>
              <a:t>About trade/results for ‘this period’ with historic data</a:t>
            </a:r>
          </a:p>
          <a:p>
            <a:pPr marL="171450" lvl="0" indent="-171450">
              <a:buFont typeface="Arial" pitchFamily="34" charset="0"/>
              <a:buChar char="•"/>
            </a:pPr>
            <a:r>
              <a:rPr lang="en-AU" sz="1200" kern="1200" dirty="0" smtClean="0">
                <a:solidFill>
                  <a:schemeClr val="tx1"/>
                </a:solidFill>
                <a:latin typeface="+mn-lt"/>
                <a:ea typeface="+mn-ea"/>
                <a:cs typeface="+mn-cs"/>
              </a:rPr>
              <a:t>On issues regarding further investment in the business, expansions, refurbishment, upgrades – or contraction and/or deferment of plans for improvements/maintenance.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277318316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managers </a:t>
            </a:r>
            <a:r>
              <a:rPr lang="en-AU" sz="1200" kern="1200" dirty="0" smtClean="0">
                <a:solidFill>
                  <a:schemeClr val="tx1"/>
                </a:solidFill>
                <a:latin typeface="+mn-lt"/>
                <a:ea typeface="+mn-ea"/>
                <a:cs typeface="+mn-cs"/>
              </a:rPr>
              <a:t>may use this information to decide:</a:t>
            </a:r>
          </a:p>
          <a:p>
            <a:pPr marL="171450" lvl="0" indent="-171450">
              <a:buFont typeface="Arial" pitchFamily="34" charset="0"/>
              <a:buChar char="•"/>
            </a:pPr>
            <a:r>
              <a:rPr lang="en-AU" sz="1200" kern="1200" dirty="0" smtClean="0">
                <a:solidFill>
                  <a:schemeClr val="tx1"/>
                </a:solidFill>
                <a:latin typeface="+mn-lt"/>
                <a:ea typeface="+mn-ea"/>
                <a:cs typeface="+mn-cs"/>
              </a:rPr>
              <a:t>If the organisation will be able to pay its debts on time</a:t>
            </a:r>
          </a:p>
          <a:p>
            <a:pPr marL="171450" lvl="0" indent="-171450">
              <a:buFont typeface="Arial" pitchFamily="34" charset="0"/>
              <a:buChar char="•"/>
            </a:pPr>
            <a:r>
              <a:rPr lang="en-AU" sz="1200" kern="1200" dirty="0" smtClean="0">
                <a:solidFill>
                  <a:schemeClr val="tx1"/>
                </a:solidFill>
                <a:latin typeface="+mn-lt"/>
                <a:ea typeface="+mn-ea"/>
                <a:cs typeface="+mn-cs"/>
              </a:rPr>
              <a:t>Size and value of inventory</a:t>
            </a:r>
          </a:p>
          <a:p>
            <a:pPr marL="171450" lvl="0" indent="-171450">
              <a:buFont typeface="Arial" pitchFamily="34" charset="0"/>
              <a:buChar char="•"/>
            </a:pPr>
            <a:r>
              <a:rPr lang="en-AU" sz="1200" kern="1200" dirty="0" smtClean="0">
                <a:solidFill>
                  <a:schemeClr val="tx1"/>
                </a:solidFill>
                <a:latin typeface="+mn-lt"/>
                <a:ea typeface="+mn-ea"/>
                <a:cs typeface="+mn-cs"/>
              </a:rPr>
              <a:t>Business performance outcomes</a:t>
            </a:r>
          </a:p>
          <a:p>
            <a:pPr marL="171450" lvl="0" indent="-171450">
              <a:buFont typeface="Arial" pitchFamily="34" charset="0"/>
              <a:buChar char="•"/>
            </a:pPr>
            <a:r>
              <a:rPr lang="en-AU" sz="1200" kern="1200" dirty="0" smtClean="0">
                <a:solidFill>
                  <a:schemeClr val="tx1"/>
                </a:solidFill>
                <a:latin typeface="+mn-lt"/>
                <a:ea typeface="+mn-ea"/>
                <a:cs typeface="+mn-cs"/>
              </a:rPr>
              <a:t>Effectiveness/success of business initiatives</a:t>
            </a:r>
          </a:p>
          <a:p>
            <a:pPr marL="171450" lvl="0" indent="-171450">
              <a:buFont typeface="Arial" pitchFamily="34" charset="0"/>
              <a:buChar char="•"/>
            </a:pPr>
            <a:r>
              <a:rPr lang="en-AU" sz="1200" kern="1200" dirty="0" smtClean="0">
                <a:solidFill>
                  <a:schemeClr val="tx1"/>
                </a:solidFill>
                <a:latin typeface="+mn-lt"/>
                <a:ea typeface="+mn-ea"/>
                <a:cs typeface="+mn-cs"/>
              </a:rPr>
              <a:t>Accuracy of predictions/projections – against actual results</a:t>
            </a:r>
          </a:p>
          <a:p>
            <a:pPr marL="171450" indent="-171450">
              <a:buFont typeface="Arial" pitchFamily="34" charset="0"/>
              <a:buChar char="•"/>
            </a:pPr>
            <a:r>
              <a:rPr lang="en-AU" sz="1200" kern="1200" dirty="0" smtClean="0">
                <a:solidFill>
                  <a:schemeClr val="tx1"/>
                </a:solidFill>
                <a:latin typeface="+mn-lt"/>
                <a:ea typeface="+mn-ea"/>
                <a:cs typeface="+mn-cs"/>
              </a:rPr>
              <a:t>Areas which require/demand remedial attention – and areas indicating where positive results may be able to translated to other sections of the business.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137806742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shareholders and investors </a:t>
            </a:r>
            <a:r>
              <a:rPr lang="en-AU" sz="1200" kern="1200" dirty="0" smtClean="0">
                <a:solidFill>
                  <a:schemeClr val="tx1"/>
                </a:solidFill>
                <a:latin typeface="+mn-lt"/>
                <a:ea typeface="+mn-ea"/>
                <a:cs typeface="+mn-cs"/>
              </a:rPr>
              <a:t>may use this information to decide:</a:t>
            </a:r>
          </a:p>
          <a:p>
            <a:pPr marL="171450" lvl="0" indent="-171450">
              <a:buFont typeface="Arial" pitchFamily="34" charset="0"/>
              <a:buChar char="•"/>
            </a:pPr>
            <a:r>
              <a:rPr lang="en-AU" sz="1200" kern="1200" dirty="0" smtClean="0">
                <a:solidFill>
                  <a:schemeClr val="tx1"/>
                </a:solidFill>
                <a:latin typeface="+mn-lt"/>
                <a:ea typeface="+mn-ea"/>
                <a:cs typeface="+mn-cs"/>
              </a:rPr>
              <a:t>If they should buy or sell their stake/interest in the business</a:t>
            </a:r>
          </a:p>
          <a:p>
            <a:pPr marL="171450" lvl="0" indent="-171450">
              <a:buFont typeface="Arial" pitchFamily="34" charset="0"/>
              <a:buChar char="•"/>
            </a:pPr>
            <a:r>
              <a:rPr lang="en-AU" sz="1200" kern="1200" dirty="0" smtClean="0">
                <a:solidFill>
                  <a:schemeClr val="tx1"/>
                </a:solidFill>
                <a:latin typeface="+mn-lt"/>
                <a:ea typeface="+mn-ea"/>
                <a:cs typeface="+mn-cs"/>
              </a:rPr>
              <a:t>Their voting at AGMs – and other meetings</a:t>
            </a:r>
          </a:p>
          <a:p>
            <a:pPr marL="171450" lvl="0" indent="-171450">
              <a:buFont typeface="Arial" pitchFamily="34" charset="0"/>
              <a:buChar char="•"/>
            </a:pPr>
            <a:r>
              <a:rPr lang="en-AU" sz="1200" kern="1200" dirty="0" smtClean="0">
                <a:solidFill>
                  <a:schemeClr val="tx1"/>
                </a:solidFill>
                <a:latin typeface="+mn-lt"/>
                <a:ea typeface="+mn-ea"/>
                <a:cs typeface="+mn-cs"/>
              </a:rPr>
              <a:t>Orientation to further/future investment in the business</a:t>
            </a:r>
          </a:p>
          <a:p>
            <a:pPr marL="171450" lvl="0" indent="-171450">
              <a:buFont typeface="Arial" pitchFamily="34" charset="0"/>
              <a:buChar char="•"/>
            </a:pPr>
            <a:r>
              <a:rPr lang="en-AU" sz="1200" kern="1200" dirty="0" smtClean="0">
                <a:solidFill>
                  <a:schemeClr val="tx1"/>
                </a:solidFill>
                <a:latin typeface="+mn-lt"/>
                <a:ea typeface="+mn-ea"/>
                <a:cs typeface="+mn-cs"/>
              </a:rPr>
              <a:t>Comparisons between individual companies in the same industry/sector</a:t>
            </a:r>
          </a:p>
          <a:p>
            <a:pPr marL="171450" lvl="0" indent="-171450">
              <a:buFont typeface="Arial" pitchFamily="34" charset="0"/>
              <a:buChar char="•"/>
            </a:pPr>
            <a:r>
              <a:rPr lang="en-AU" sz="1200" kern="1200" dirty="0" smtClean="0">
                <a:solidFill>
                  <a:schemeClr val="tx1"/>
                </a:solidFill>
                <a:latin typeface="+mn-lt"/>
                <a:ea typeface="+mn-ea"/>
                <a:cs typeface="+mn-cs"/>
              </a:rPr>
              <a:t>What they believe will be the future returns, earnings or dividends.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90476458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joint venture partners </a:t>
            </a:r>
            <a:r>
              <a:rPr lang="en-AU" sz="1200" kern="1200" dirty="0" smtClean="0">
                <a:solidFill>
                  <a:schemeClr val="tx1"/>
                </a:solidFill>
                <a:latin typeface="+mn-lt"/>
                <a:ea typeface="+mn-ea"/>
                <a:cs typeface="+mn-cs"/>
              </a:rPr>
              <a:t>may use this information to decide:</a:t>
            </a:r>
          </a:p>
          <a:p>
            <a:pPr marL="171450" lvl="0" indent="-171450">
              <a:buFont typeface="Arial" pitchFamily="34" charset="0"/>
              <a:buChar char="•"/>
            </a:pPr>
            <a:r>
              <a:rPr lang="en-AU" sz="1200" kern="1200" dirty="0" smtClean="0">
                <a:solidFill>
                  <a:schemeClr val="tx1"/>
                </a:solidFill>
                <a:latin typeface="+mn-lt"/>
                <a:ea typeface="+mn-ea"/>
                <a:cs typeface="+mn-cs"/>
              </a:rPr>
              <a:t>Ongoing viability of the organisation and the current arrangements</a:t>
            </a:r>
          </a:p>
          <a:p>
            <a:pPr marL="171450" lvl="0" indent="-171450">
              <a:buFont typeface="Arial" pitchFamily="34" charset="0"/>
              <a:buChar char="•"/>
            </a:pPr>
            <a:r>
              <a:rPr lang="en-AU" sz="1200" kern="1200" dirty="0" smtClean="0">
                <a:solidFill>
                  <a:schemeClr val="tx1"/>
                </a:solidFill>
                <a:latin typeface="+mn-lt"/>
                <a:ea typeface="+mn-ea"/>
                <a:cs typeface="+mn-cs"/>
              </a:rPr>
              <a:t>Degree of alignment with promises made about performance and actual outcomes</a:t>
            </a:r>
          </a:p>
          <a:p>
            <a:pPr marL="171450" lvl="0" indent="-171450">
              <a:buFont typeface="Arial" pitchFamily="34" charset="0"/>
              <a:buChar char="•"/>
            </a:pPr>
            <a:r>
              <a:rPr lang="en-AU" sz="1200" kern="1200" dirty="0" smtClean="0">
                <a:solidFill>
                  <a:schemeClr val="tx1"/>
                </a:solidFill>
                <a:latin typeface="+mn-lt"/>
                <a:ea typeface="+mn-ea"/>
                <a:cs typeface="+mn-cs"/>
              </a:rPr>
              <a:t>Comparisons between this company and other options for partnerships</a:t>
            </a:r>
          </a:p>
          <a:p>
            <a:pPr marL="171450" lvl="0" indent="-171450">
              <a:buFont typeface="Arial" pitchFamily="34" charset="0"/>
              <a:buChar char="•"/>
            </a:pPr>
            <a:r>
              <a:rPr lang="en-AU" sz="1200" kern="1200" dirty="0" smtClean="0">
                <a:solidFill>
                  <a:schemeClr val="tx1"/>
                </a:solidFill>
                <a:latin typeface="+mn-lt"/>
                <a:ea typeface="+mn-ea"/>
                <a:cs typeface="+mn-cs"/>
              </a:rPr>
              <a:t>Capacity of the business to pay levies, charges, fees, dues, commissions, returns</a:t>
            </a:r>
          </a:p>
          <a:p>
            <a:pPr marL="171450" lvl="0" indent="-171450">
              <a:buFont typeface="Arial" pitchFamily="34" charset="0"/>
              <a:buChar char="•"/>
            </a:pPr>
            <a:r>
              <a:rPr lang="en-AU" sz="1200" kern="1200" dirty="0" smtClean="0">
                <a:solidFill>
                  <a:schemeClr val="tx1"/>
                </a:solidFill>
                <a:latin typeface="+mn-lt"/>
                <a:ea typeface="+mn-ea"/>
                <a:cs typeface="+mn-cs"/>
              </a:rPr>
              <a:t>Possible future performance on the basis of past performance</a:t>
            </a:r>
          </a:p>
          <a:p>
            <a:pPr marL="171450" lvl="0" indent="-171450">
              <a:buFont typeface="Arial" pitchFamily="34" charset="0"/>
              <a:buChar char="•"/>
            </a:pPr>
            <a:r>
              <a:rPr lang="en-AU" sz="1200" kern="1200" dirty="0" smtClean="0">
                <a:solidFill>
                  <a:schemeClr val="tx1"/>
                </a:solidFill>
                <a:latin typeface="+mn-lt"/>
                <a:ea typeface="+mn-ea"/>
                <a:cs typeface="+mn-cs"/>
              </a:rPr>
              <a:t>How the financial results reflects on the brand/image of the partner.</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156034704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creditors </a:t>
            </a:r>
            <a:r>
              <a:rPr lang="en-AU" sz="1200" kern="1200" dirty="0" smtClean="0">
                <a:solidFill>
                  <a:schemeClr val="tx1"/>
                </a:solidFill>
                <a:latin typeface="+mn-lt"/>
                <a:ea typeface="+mn-ea"/>
                <a:cs typeface="+mn-cs"/>
              </a:rPr>
              <a:t>may use this information to decide:</a:t>
            </a:r>
          </a:p>
          <a:p>
            <a:pPr marL="171450" lvl="0" indent="-171450">
              <a:buFont typeface="Arial" pitchFamily="34" charset="0"/>
              <a:buChar char="•"/>
            </a:pPr>
            <a:r>
              <a:rPr lang="en-AU" sz="1200" kern="1200" dirty="0" smtClean="0">
                <a:solidFill>
                  <a:schemeClr val="tx1"/>
                </a:solidFill>
                <a:latin typeface="+mn-lt"/>
                <a:ea typeface="+mn-ea"/>
                <a:cs typeface="+mn-cs"/>
              </a:rPr>
              <a:t>Capacity of business to pay/re-pay principle, interest, money owed</a:t>
            </a:r>
          </a:p>
          <a:p>
            <a:pPr marL="171450" lvl="0" indent="-171450">
              <a:buFont typeface="Arial" pitchFamily="34" charset="0"/>
              <a:buChar char="•"/>
            </a:pPr>
            <a:r>
              <a:rPr lang="en-AU" sz="1200" kern="1200" dirty="0" smtClean="0">
                <a:solidFill>
                  <a:schemeClr val="tx1"/>
                </a:solidFill>
                <a:latin typeface="+mn-lt"/>
                <a:ea typeface="+mn-ea"/>
                <a:cs typeface="+mn-cs"/>
              </a:rPr>
              <a:t>Security</a:t>
            </a:r>
          </a:p>
          <a:p>
            <a:pPr marL="171450" lvl="0" indent="-171450">
              <a:buFont typeface="Arial" pitchFamily="34" charset="0"/>
              <a:buChar char="•"/>
            </a:pPr>
            <a:r>
              <a:rPr lang="en-AU" sz="1200" kern="1200" dirty="0" smtClean="0">
                <a:solidFill>
                  <a:schemeClr val="tx1"/>
                </a:solidFill>
                <a:latin typeface="+mn-lt"/>
                <a:ea typeface="+mn-ea"/>
                <a:cs typeface="+mn-cs"/>
              </a:rPr>
              <a:t>Whether or not to continue a business relationship with the organisation</a:t>
            </a:r>
          </a:p>
          <a:p>
            <a:pPr marL="171450" lvl="0" indent="-171450">
              <a:buFont typeface="Arial" pitchFamily="34" charset="0"/>
              <a:buChar char="•"/>
            </a:pPr>
            <a:r>
              <a:rPr lang="en-AU" sz="1200" kern="1200" dirty="0" smtClean="0">
                <a:solidFill>
                  <a:schemeClr val="tx1"/>
                </a:solidFill>
                <a:latin typeface="+mn-lt"/>
                <a:ea typeface="+mn-ea"/>
                <a:cs typeface="+mn-cs"/>
              </a:rPr>
              <a:t>Interest rates based on degree of risk</a:t>
            </a:r>
          </a:p>
          <a:p>
            <a:pPr marL="171450" lvl="0" indent="-171450">
              <a:buFont typeface="Arial" pitchFamily="34" charset="0"/>
              <a:buChar char="•"/>
            </a:pPr>
            <a:r>
              <a:rPr lang="en-AU" sz="1200" kern="1200" dirty="0" smtClean="0">
                <a:solidFill>
                  <a:schemeClr val="tx1"/>
                </a:solidFill>
                <a:latin typeface="+mn-lt"/>
                <a:ea typeface="+mn-ea"/>
                <a:cs typeface="+mn-cs"/>
              </a:rPr>
              <a:t>Restrictions/limitations on further borrowings.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324531054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employees </a:t>
            </a:r>
            <a:r>
              <a:rPr lang="en-AU" sz="1200" kern="1200" dirty="0" smtClean="0">
                <a:solidFill>
                  <a:schemeClr val="tx1"/>
                </a:solidFill>
                <a:latin typeface="+mn-lt"/>
                <a:ea typeface="+mn-ea"/>
                <a:cs typeface="+mn-cs"/>
              </a:rPr>
              <a:t>may use this information to decide:</a:t>
            </a:r>
          </a:p>
          <a:p>
            <a:pPr marL="171450" lvl="0" indent="-171450">
              <a:buFont typeface="Arial" pitchFamily="34" charset="0"/>
              <a:buChar char="•"/>
            </a:pPr>
            <a:r>
              <a:rPr lang="en-AU" sz="1200" kern="1200" dirty="0" smtClean="0">
                <a:solidFill>
                  <a:schemeClr val="tx1"/>
                </a:solidFill>
                <a:latin typeface="+mn-lt"/>
                <a:ea typeface="+mn-ea"/>
                <a:cs typeface="+mn-cs"/>
              </a:rPr>
              <a:t>Job security issues</a:t>
            </a:r>
          </a:p>
          <a:p>
            <a:pPr marL="171450" lvl="0" indent="-171450">
              <a:buFont typeface="Arial" pitchFamily="34" charset="0"/>
              <a:buChar char="•"/>
            </a:pPr>
            <a:r>
              <a:rPr lang="en-AU" sz="1200" kern="1200" dirty="0" smtClean="0">
                <a:solidFill>
                  <a:schemeClr val="tx1"/>
                </a:solidFill>
                <a:latin typeface="+mn-lt"/>
                <a:ea typeface="+mn-ea"/>
                <a:cs typeface="+mn-cs"/>
              </a:rPr>
              <a:t>Potential of the business for career development and promotion/job prospects</a:t>
            </a:r>
          </a:p>
          <a:p>
            <a:pPr marL="171450" lvl="0" indent="-171450">
              <a:buFont typeface="Arial" pitchFamily="34" charset="0"/>
              <a:buChar char="•"/>
            </a:pPr>
            <a:r>
              <a:rPr lang="en-AU" sz="1200" kern="1200" dirty="0" smtClean="0">
                <a:solidFill>
                  <a:schemeClr val="tx1"/>
                </a:solidFill>
                <a:latin typeface="+mn-lt"/>
                <a:ea typeface="+mn-ea"/>
                <a:cs typeface="+mn-cs"/>
              </a:rPr>
              <a:t>Capacity of the organisation to pay wages and meet employment-related obligations</a:t>
            </a:r>
          </a:p>
          <a:p>
            <a:pPr marL="171450" lvl="0" indent="-171450">
              <a:buFont typeface="Arial" pitchFamily="34" charset="0"/>
              <a:buChar char="•"/>
            </a:pPr>
            <a:r>
              <a:rPr lang="en-AU" sz="1200" kern="1200" dirty="0" smtClean="0">
                <a:solidFill>
                  <a:schemeClr val="tx1"/>
                </a:solidFill>
                <a:latin typeface="+mn-lt"/>
                <a:ea typeface="+mn-ea"/>
                <a:cs typeface="+mn-cs"/>
              </a:rPr>
              <a:t>Effectiveness of business management</a:t>
            </a:r>
          </a:p>
          <a:p>
            <a:pPr marL="171450" lvl="0" indent="-171450">
              <a:buFont typeface="Arial" pitchFamily="34" charset="0"/>
              <a:buChar char="•"/>
            </a:pPr>
            <a:r>
              <a:rPr lang="en-AU" sz="1200" kern="1200" dirty="0" smtClean="0">
                <a:solidFill>
                  <a:schemeClr val="tx1"/>
                </a:solidFill>
                <a:latin typeface="+mn-lt"/>
                <a:ea typeface="+mn-ea"/>
                <a:cs typeface="+mn-cs"/>
              </a:rPr>
              <a:t>Outcomes of workplace initiatives they have been associated with</a:t>
            </a:r>
          </a:p>
          <a:p>
            <a:pPr marL="171450" lvl="0" indent="-171450">
              <a:buFont typeface="Arial" pitchFamily="34" charset="0"/>
              <a:buChar char="•"/>
            </a:pPr>
            <a:r>
              <a:rPr lang="en-AU" sz="1200" kern="1200" dirty="0" smtClean="0">
                <a:solidFill>
                  <a:schemeClr val="tx1"/>
                </a:solidFill>
                <a:latin typeface="+mn-lt"/>
                <a:ea typeface="+mn-ea"/>
                <a:cs typeface="+mn-cs"/>
              </a:rPr>
              <a:t>Evaluations between different organisations in the same industry/sector.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789110905"/>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Government agencies/authorities </a:t>
            </a:r>
            <a:r>
              <a:rPr lang="en-AU" sz="1200" kern="1200" dirty="0" smtClean="0">
                <a:solidFill>
                  <a:schemeClr val="tx1"/>
                </a:solidFill>
                <a:latin typeface="+mn-lt"/>
                <a:ea typeface="+mn-ea"/>
                <a:cs typeface="+mn-cs"/>
              </a:rPr>
              <a:t>may use this information to decide:</a:t>
            </a:r>
          </a:p>
          <a:p>
            <a:pPr marL="171450" lvl="0" indent="-171450">
              <a:buFont typeface="Arial" pitchFamily="34" charset="0"/>
              <a:buChar char="•"/>
            </a:pPr>
            <a:r>
              <a:rPr lang="en-AU" sz="1200" kern="1200" dirty="0" smtClean="0">
                <a:solidFill>
                  <a:schemeClr val="tx1"/>
                </a:solidFill>
                <a:latin typeface="+mn-lt"/>
                <a:ea typeface="+mn-ea"/>
                <a:cs typeface="+mn-cs"/>
              </a:rPr>
              <a:t>Determine compliance-related issues</a:t>
            </a:r>
          </a:p>
          <a:p>
            <a:pPr marL="171450" lvl="0" indent="-171450">
              <a:buFont typeface="Arial" pitchFamily="34" charset="0"/>
              <a:buChar char="•"/>
            </a:pPr>
            <a:r>
              <a:rPr lang="en-AU" sz="1200" kern="1200" dirty="0" smtClean="0">
                <a:solidFill>
                  <a:schemeClr val="tx1"/>
                </a:solidFill>
                <a:latin typeface="+mn-lt"/>
                <a:ea typeface="+mn-ea"/>
                <a:cs typeface="+mn-cs"/>
              </a:rPr>
              <a:t>Decide ability to pay government-imposed charges, taxes and similar</a:t>
            </a:r>
          </a:p>
          <a:p>
            <a:pPr marL="171450" lvl="0" indent="-171450">
              <a:buFont typeface="Arial" pitchFamily="34" charset="0"/>
              <a:buChar char="•"/>
            </a:pPr>
            <a:r>
              <a:rPr lang="en-AU" sz="1200" kern="1200" dirty="0" smtClean="0">
                <a:solidFill>
                  <a:schemeClr val="tx1"/>
                </a:solidFill>
                <a:latin typeface="+mn-lt"/>
                <a:ea typeface="+mn-ea"/>
                <a:cs typeface="+mn-cs"/>
              </a:rPr>
              <a:t>Source evidence in relation to payments made – by government to the business, and by the business to government</a:t>
            </a:r>
          </a:p>
          <a:p>
            <a:pPr marL="171450" lvl="0" indent="-171450">
              <a:buFont typeface="Arial" pitchFamily="34" charset="0"/>
              <a:buChar char="•"/>
            </a:pPr>
            <a:r>
              <a:rPr lang="en-AU" sz="1200" kern="1200" dirty="0" smtClean="0">
                <a:solidFill>
                  <a:schemeClr val="tx1"/>
                </a:solidFill>
                <a:latin typeface="+mn-lt"/>
                <a:ea typeface="+mn-ea"/>
                <a:cs typeface="+mn-cs"/>
              </a:rPr>
              <a:t>Capture required/specified industry-specific data.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2825605923"/>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all </a:t>
            </a:r>
            <a:r>
              <a:rPr lang="en-AU" sz="1200" kern="1200" dirty="0" smtClean="0">
                <a:solidFill>
                  <a:schemeClr val="tx1"/>
                </a:solidFill>
                <a:latin typeface="+mn-lt"/>
                <a:ea typeface="+mn-ea"/>
                <a:cs typeface="+mn-cs"/>
              </a:rPr>
              <a:t>financial reports contain information regarded as confidential/commercial-in confidence and it is therefore potentially dangerous to the viability of a business if it falls into the wrong hands so it needs to be protected to ensure it is not accessed by unauthorised persons or the competition. Keys to ensuring this are:</a:t>
            </a:r>
          </a:p>
          <a:p>
            <a:pPr marL="171450" lvl="0" indent="-171450">
              <a:buFont typeface="Arial" pitchFamily="34" charset="0"/>
              <a:buChar char="•"/>
            </a:pPr>
            <a:r>
              <a:rPr lang="en-AU" sz="1200" kern="1200" dirty="0" smtClean="0">
                <a:solidFill>
                  <a:schemeClr val="tx1"/>
                </a:solidFill>
                <a:latin typeface="+mn-lt"/>
                <a:ea typeface="+mn-ea"/>
                <a:cs typeface="+mn-cs"/>
              </a:rPr>
              <a:t>Limiting the people involved in preparing the reports – to the minimum required to do the job properly</a:t>
            </a:r>
          </a:p>
          <a:p>
            <a:pPr marL="171450" lvl="0" indent="-171450">
              <a:buFont typeface="Arial" pitchFamily="34" charset="0"/>
              <a:buChar char="•"/>
            </a:pPr>
            <a:r>
              <a:rPr lang="en-AU" sz="1200" kern="1200" dirty="0" smtClean="0">
                <a:solidFill>
                  <a:schemeClr val="tx1"/>
                </a:solidFill>
                <a:latin typeface="+mn-lt"/>
                <a:ea typeface="+mn-ea"/>
                <a:cs typeface="+mn-cs"/>
              </a:rPr>
              <a:t>Training staff regarding the need to keep report information confidential – through specific on-the-job training highlighting why confidentiality of this information is critical</a:t>
            </a:r>
          </a:p>
          <a:p>
            <a:pPr marL="171450" lvl="0" indent="-171450">
              <a:buFont typeface="Arial" pitchFamily="34" charset="0"/>
              <a:buChar char="•"/>
            </a:pPr>
            <a:r>
              <a:rPr lang="en-AU" sz="1200" kern="1200" dirty="0" smtClean="0">
                <a:solidFill>
                  <a:schemeClr val="tx1"/>
                </a:solidFill>
                <a:latin typeface="+mn-lt"/>
                <a:ea typeface="+mn-ea"/>
                <a:cs typeface="+mn-cs"/>
              </a:rPr>
              <a:t>Printing/producing only the required number of copies of reports – and no extras/spare copies.</a:t>
            </a:r>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376234941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protocols to optimise confidentiality of reports produced:</a:t>
            </a:r>
          </a:p>
          <a:p>
            <a:pPr marL="171450" lvl="0" indent="-171450">
              <a:buFont typeface="Arial" pitchFamily="34" charset="0"/>
              <a:buChar char="•"/>
            </a:pPr>
            <a:r>
              <a:rPr lang="en-AU" sz="1200" kern="1200" dirty="0" smtClean="0">
                <a:solidFill>
                  <a:schemeClr val="tx1"/>
                </a:solidFill>
                <a:latin typeface="+mn-lt"/>
                <a:ea typeface="+mn-ea"/>
                <a:cs typeface="+mn-cs"/>
              </a:rPr>
              <a:t>Distributing reports strictly in accordance with the approved Distribution List – for the report type (see following slides)</a:t>
            </a:r>
          </a:p>
          <a:p>
            <a:pPr marL="171450" lvl="0" indent="-171450">
              <a:buFont typeface="Arial" pitchFamily="34" charset="0"/>
              <a:buChar char="•"/>
            </a:pPr>
            <a:r>
              <a:rPr lang="en-AU" sz="1200" kern="1200" dirty="0" smtClean="0">
                <a:solidFill>
                  <a:schemeClr val="tx1"/>
                </a:solidFill>
                <a:latin typeface="+mn-lt"/>
                <a:ea typeface="+mn-ea"/>
                <a:cs typeface="+mn-cs"/>
              </a:rPr>
              <a:t>Protecting computers with passwords – and not disclosing same to others</a:t>
            </a:r>
          </a:p>
          <a:p>
            <a:pPr marL="171450" lvl="0" indent="-171450">
              <a:buFont typeface="Arial" pitchFamily="34" charset="0"/>
              <a:buChar char="•"/>
            </a:pPr>
            <a:r>
              <a:rPr lang="en-AU" sz="1200" kern="1200" dirty="0" smtClean="0">
                <a:solidFill>
                  <a:schemeClr val="tx1"/>
                </a:solidFill>
                <a:latin typeface="+mn-lt"/>
                <a:ea typeface="+mn-ea"/>
                <a:cs typeface="+mn-cs"/>
              </a:rPr>
              <a:t>Requiring signing out and signing back in of confidential information – to deter unauthorised access and enable identification of breaches</a:t>
            </a:r>
          </a:p>
          <a:p>
            <a:pPr marL="171450" lvl="0" indent="-171450">
              <a:buFont typeface="Arial" pitchFamily="34" charset="0"/>
              <a:buChar char="•"/>
            </a:pPr>
            <a:r>
              <a:rPr lang="en-AU" sz="1200" kern="1200" dirty="0" smtClean="0">
                <a:solidFill>
                  <a:schemeClr val="tx1"/>
                </a:solidFill>
                <a:latin typeface="+mn-lt"/>
                <a:ea typeface="+mn-ea"/>
                <a:cs typeface="+mn-cs"/>
              </a:rPr>
              <a:t>Maintaining security of the office environment – through closed and locked doors, use of lockable filing cabinets and restricted access to administration areas.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1112358509"/>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a:t>
            </a:r>
            <a:r>
              <a:rPr lang="en-AU" sz="1200" kern="1200" dirty="0" smtClean="0">
                <a:solidFill>
                  <a:schemeClr val="tx1"/>
                </a:solidFill>
                <a:latin typeface="+mn-lt"/>
                <a:ea typeface="+mn-ea"/>
                <a:cs typeface="+mn-cs"/>
              </a:rPr>
              <a:t>two critical elements of the distribution process for reports are:</a:t>
            </a:r>
          </a:p>
          <a:p>
            <a:pPr marL="171450" lvl="0" indent="-171450">
              <a:buFont typeface="Arial" pitchFamily="34" charset="0"/>
              <a:buChar char="•"/>
            </a:pPr>
            <a:r>
              <a:rPr lang="en-AU" sz="1200" kern="1200" dirty="0" smtClean="0">
                <a:solidFill>
                  <a:schemeClr val="tx1"/>
                </a:solidFill>
                <a:latin typeface="+mn-lt"/>
                <a:ea typeface="+mn-ea"/>
                <a:cs typeface="+mn-cs"/>
              </a:rPr>
              <a:t>The Distribution Schedule</a:t>
            </a:r>
          </a:p>
          <a:p>
            <a:pPr marL="171450" lvl="0" indent="-171450">
              <a:buFont typeface="Arial" pitchFamily="34" charset="0"/>
              <a:buChar char="•"/>
            </a:pPr>
            <a:r>
              <a:rPr lang="en-AU" sz="1200" kern="1200" dirty="0" smtClean="0">
                <a:solidFill>
                  <a:schemeClr val="tx1"/>
                </a:solidFill>
                <a:latin typeface="+mn-lt"/>
                <a:ea typeface="+mn-ea"/>
                <a:cs typeface="+mn-cs"/>
              </a:rPr>
              <a:t>The Distribution List.</a:t>
            </a:r>
          </a:p>
          <a:p>
            <a:pPr marL="171450" indent="-171450">
              <a:buFont typeface="Arial" panose="020B0604020202020204" pitchFamily="34" charset="0"/>
              <a:buChar char="•"/>
            </a:pPr>
            <a:r>
              <a:rPr lang="en-AU" sz="1200" kern="1200" dirty="0" smtClean="0">
                <a:solidFill>
                  <a:schemeClr val="tx1"/>
                </a:solidFill>
                <a:latin typeface="+mn-lt"/>
                <a:ea typeface="+mn-ea"/>
                <a:cs typeface="+mn-cs"/>
              </a:rPr>
              <a:t>Trainer provides information about Distribution schedules identifying they contain: </a:t>
            </a:r>
          </a:p>
          <a:p>
            <a:pPr marL="171450" lvl="0" indent="-171450">
              <a:buFont typeface="Arial" pitchFamily="34" charset="0"/>
              <a:buChar char="•"/>
            </a:pPr>
            <a:r>
              <a:rPr lang="en-AU" sz="1200" kern="1200" dirty="0" smtClean="0">
                <a:solidFill>
                  <a:schemeClr val="tx1"/>
                </a:solidFill>
                <a:latin typeface="+mn-lt"/>
                <a:ea typeface="+mn-ea"/>
                <a:cs typeface="+mn-cs"/>
              </a:rPr>
              <a:t>Name of report to be prepared</a:t>
            </a:r>
          </a:p>
          <a:p>
            <a:pPr marL="171450" lvl="0" indent="-171450">
              <a:buFont typeface="Arial" pitchFamily="34" charset="0"/>
              <a:buChar char="•"/>
            </a:pPr>
            <a:r>
              <a:rPr lang="en-AU" sz="1200" kern="1200" dirty="0" smtClean="0">
                <a:solidFill>
                  <a:schemeClr val="tx1"/>
                </a:solidFill>
                <a:latin typeface="+mn-lt"/>
                <a:ea typeface="+mn-ea"/>
                <a:cs typeface="+mn-cs"/>
              </a:rPr>
              <a:t>Reporting period covered by the report</a:t>
            </a:r>
          </a:p>
          <a:p>
            <a:pPr marL="171450" lvl="0" indent="-171450">
              <a:buFont typeface="Arial" pitchFamily="34" charset="0"/>
              <a:buChar char="•"/>
            </a:pPr>
            <a:r>
              <a:rPr lang="en-AU" sz="1200" kern="1200" dirty="0" smtClean="0">
                <a:solidFill>
                  <a:schemeClr val="tx1"/>
                </a:solidFill>
                <a:latin typeface="+mn-lt"/>
                <a:ea typeface="+mn-ea"/>
                <a:cs typeface="+mn-cs"/>
              </a:rPr>
              <a:t>Date report is to be completed.</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endParaRPr lang="en-US" b="1" dirty="0" smtClean="0"/>
          </a:p>
          <a:p>
            <a:pPr>
              <a:buFont typeface="Arial" pitchFamily="34" charset="0"/>
              <a:buNone/>
            </a:pPr>
            <a:r>
              <a:rPr lang="en-US" b="0" dirty="0" smtClean="0"/>
              <a:t>Trainer distributes and discusses example of Distribution Schedule.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335577004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a:t>
            </a:r>
            <a:r>
              <a:rPr lang="en-AU" sz="1200" b="0" kern="1200" dirty="0" smtClean="0">
                <a:solidFill>
                  <a:schemeClr val="tx1"/>
                </a:solidFill>
                <a:latin typeface="+mn-lt"/>
                <a:ea typeface="+mn-ea"/>
                <a:cs typeface="+mn-cs"/>
              </a:rPr>
              <a:t>Distribution List identifying they contain:</a:t>
            </a:r>
          </a:p>
          <a:p>
            <a:pPr marL="171450" lvl="0" indent="-171450">
              <a:buFont typeface="Arial" pitchFamily="34" charset="0"/>
              <a:buChar char="•"/>
            </a:pPr>
            <a:r>
              <a:rPr lang="en-AU" sz="1200" kern="1200" dirty="0" smtClean="0">
                <a:solidFill>
                  <a:schemeClr val="tx1"/>
                </a:solidFill>
                <a:latin typeface="+mn-lt"/>
                <a:ea typeface="+mn-ea"/>
                <a:cs typeface="+mn-cs"/>
              </a:rPr>
              <a:t>Personnel to receive report – by position and name</a:t>
            </a:r>
          </a:p>
          <a:p>
            <a:pPr marL="171450" lvl="0" indent="-171450">
              <a:buFont typeface="Arial" pitchFamily="34" charset="0"/>
              <a:buChar char="•"/>
            </a:pPr>
            <a:r>
              <a:rPr lang="en-AU" sz="1200" kern="1200" dirty="0" smtClean="0">
                <a:solidFill>
                  <a:schemeClr val="tx1"/>
                </a:solidFill>
                <a:latin typeface="+mn-lt"/>
                <a:ea typeface="+mn-ea"/>
                <a:cs typeface="+mn-cs"/>
              </a:rPr>
              <a:t>Distribution method to be used for each person – such as electronic or hard copy.</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endParaRPr lang="en-US" b="1" dirty="0" smtClean="0"/>
          </a:p>
          <a:p>
            <a:pPr>
              <a:buFont typeface="Arial" pitchFamily="34" charset="0"/>
              <a:buNone/>
            </a:pPr>
            <a:r>
              <a:rPr lang="en-US" b="0" dirty="0" smtClean="0"/>
              <a:t>Trainer distributes and discusses example of Distribution List.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4078743750"/>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the </a:t>
            </a:r>
            <a:r>
              <a:rPr lang="en-AU" sz="1200" kern="1200" dirty="0" smtClean="0">
                <a:solidFill>
                  <a:schemeClr val="tx1"/>
                </a:solidFill>
                <a:latin typeface="+mn-lt"/>
                <a:ea typeface="+mn-ea"/>
                <a:cs typeface="+mn-cs"/>
              </a:rPr>
              <a:t>following are an indication of who may be named on a Distribution List:</a:t>
            </a:r>
          </a:p>
          <a:p>
            <a:pPr marL="171450" lvl="0" indent="-171450">
              <a:buFont typeface="Arial" pitchFamily="34" charset="0"/>
              <a:buChar char="•"/>
            </a:pPr>
            <a:r>
              <a:rPr lang="en-AU" sz="1200" kern="1200" dirty="0" smtClean="0">
                <a:solidFill>
                  <a:schemeClr val="tx1"/>
                </a:solidFill>
                <a:latin typeface="+mn-lt"/>
                <a:ea typeface="+mn-ea"/>
                <a:cs typeface="+mn-cs"/>
              </a:rPr>
              <a:t>Senior management</a:t>
            </a:r>
          </a:p>
          <a:p>
            <a:pPr marL="171450" lvl="0" indent="-171450">
              <a:buFont typeface="Arial" pitchFamily="34" charset="0"/>
              <a:buChar char="•"/>
            </a:pPr>
            <a:r>
              <a:rPr lang="en-AU" sz="1200" kern="1200" dirty="0" smtClean="0">
                <a:solidFill>
                  <a:schemeClr val="tx1"/>
                </a:solidFill>
                <a:latin typeface="+mn-lt"/>
                <a:ea typeface="+mn-ea"/>
                <a:cs typeface="+mn-cs"/>
              </a:rPr>
              <a:t>Owners</a:t>
            </a:r>
          </a:p>
          <a:p>
            <a:pPr marL="171450" lvl="0" indent="-171450">
              <a:buFont typeface="Arial" pitchFamily="34" charset="0"/>
              <a:buChar char="•"/>
            </a:pPr>
            <a:r>
              <a:rPr lang="en-AU" sz="1200" kern="1200" dirty="0" smtClean="0">
                <a:solidFill>
                  <a:schemeClr val="tx1"/>
                </a:solidFill>
                <a:latin typeface="+mn-lt"/>
                <a:ea typeface="+mn-ea"/>
                <a:cs typeface="+mn-cs"/>
              </a:rPr>
              <a:t>Personnel manager</a:t>
            </a:r>
          </a:p>
          <a:p>
            <a:pPr marL="171450" lvl="0" indent="-171450">
              <a:buFont typeface="Arial" pitchFamily="34" charset="0"/>
              <a:buChar char="•"/>
            </a:pPr>
            <a:r>
              <a:rPr lang="en-AU" sz="1200" kern="1200" dirty="0" smtClean="0">
                <a:solidFill>
                  <a:schemeClr val="tx1"/>
                </a:solidFill>
                <a:latin typeface="+mn-lt"/>
                <a:ea typeface="+mn-ea"/>
                <a:cs typeface="+mn-cs"/>
              </a:rPr>
              <a:t>Sales manager</a:t>
            </a:r>
          </a:p>
          <a:p>
            <a:pPr marL="171450" lvl="0" indent="-171450">
              <a:buFont typeface="Arial" pitchFamily="34" charset="0"/>
              <a:buChar char="•"/>
            </a:pPr>
            <a:r>
              <a:rPr lang="en-AU" sz="1200" kern="1200" dirty="0" smtClean="0">
                <a:solidFill>
                  <a:schemeClr val="tx1"/>
                </a:solidFill>
                <a:latin typeface="+mn-lt"/>
                <a:ea typeface="+mn-ea"/>
                <a:cs typeface="+mn-cs"/>
              </a:rPr>
              <a:t>Finance manager</a:t>
            </a:r>
          </a:p>
          <a:p>
            <a:pPr marL="171450" lvl="0" indent="-171450">
              <a:buFont typeface="Arial" pitchFamily="34" charset="0"/>
              <a:buChar char="•"/>
            </a:pPr>
            <a:r>
              <a:rPr lang="en-AU" sz="1200" kern="1200" dirty="0" smtClean="0">
                <a:solidFill>
                  <a:schemeClr val="tx1"/>
                </a:solidFill>
                <a:latin typeface="+mn-lt"/>
                <a:ea typeface="+mn-ea"/>
                <a:cs typeface="+mn-cs"/>
              </a:rPr>
              <a:t>Heads of departments/sections</a:t>
            </a:r>
          </a:p>
          <a:p>
            <a:pPr marL="171450" lvl="0" indent="-171450">
              <a:buFont typeface="Arial" pitchFamily="34" charset="0"/>
              <a:buChar char="•"/>
            </a:pPr>
            <a:r>
              <a:rPr lang="en-AU" sz="1200" kern="1200" dirty="0" smtClean="0">
                <a:solidFill>
                  <a:schemeClr val="tx1"/>
                </a:solidFill>
                <a:latin typeface="+mn-lt"/>
                <a:ea typeface="+mn-ea"/>
                <a:cs typeface="+mn-cs"/>
              </a:rPr>
              <a:t>Supervisors</a:t>
            </a:r>
          </a:p>
          <a:p>
            <a:pPr marL="171450" lvl="0" indent="-171450">
              <a:buFont typeface="Arial" pitchFamily="34" charset="0"/>
              <a:buChar char="•"/>
            </a:pPr>
            <a:r>
              <a:rPr lang="en-AU" sz="1200" kern="1200" dirty="0" smtClean="0">
                <a:solidFill>
                  <a:schemeClr val="tx1"/>
                </a:solidFill>
                <a:latin typeface="+mn-lt"/>
                <a:ea typeface="+mn-ea"/>
                <a:cs typeface="+mn-cs"/>
              </a:rPr>
              <a:t>General staff.</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endParaRPr lang="en-US" b="1" dirty="0" smtClean="0"/>
          </a:p>
          <a:p>
            <a:pPr>
              <a:buFont typeface="Arial" pitchFamily="34" charset="0"/>
              <a:buNone/>
            </a:pPr>
            <a:r>
              <a:rPr lang="en-US" b="0" dirty="0" smtClean="0"/>
              <a:t>Trainer arranges manager/owner from a relevant business to attend and discuss completion and distribution of financial and statistical reports.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299496053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421332580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523785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3/24/2015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b="1">
                <a:solidFill>
                  <a:srgbClr val="FF6600"/>
                </a:solidFill>
                <a:latin typeface="Helvetica" panose="020B0604020202020204" pitchFamily="34" charset="0"/>
                <a:cs typeface="Helvetica" panose="020B0604020202020204" pitchFamily="34" charset="0"/>
              </a:defRPr>
            </a:lvl1pPr>
          </a:lstStyle>
          <a:p>
            <a:r>
              <a:rPr kumimoji="0" lang="en-US" dirty="0" smtClean="0"/>
              <a:t>Click to edit Master title style</a:t>
            </a:r>
            <a:endParaRPr kumimoji="0" lang="en-US" dirty="0"/>
          </a:p>
        </p:txBody>
      </p:sp>
      <p:sp>
        <p:nvSpPr>
          <p:cNvPr id="3" name="Content Placeholder 2"/>
          <p:cNvSpPr>
            <a:spLocks noGrp="1"/>
          </p:cNvSpPr>
          <p:nvPr>
            <p:ph idx="1"/>
          </p:nvPr>
        </p:nvSpPr>
        <p:spPr>
          <a:xfrm>
            <a:off x="457200" y="1988840"/>
            <a:ext cx="4114800" cy="4137323"/>
          </a:xfrm>
        </p:spPr>
        <p:txBody>
          <a:bodyPr/>
          <a:lstStyle>
            <a:lvl1pPr>
              <a:defRPr sz="2000"/>
            </a:lvl1pPr>
            <a:lvl2pPr marL="722376" indent="-274320">
              <a:buFont typeface="Wingdings 2" panose="05020102010507070707" pitchFamily="18" charset="2"/>
              <a:buChar char=""/>
              <a:defRPr sz="1800"/>
            </a:lvl2pPr>
            <a:lvl3pPr>
              <a:defRPr sz="1600"/>
            </a:lvl3pPr>
            <a:lvl4pPr>
              <a:defRPr sz="1400"/>
            </a:lvl4pPr>
            <a:lvl5pPr>
              <a:defRPr sz="14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3/24/2015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3/24/2015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3/24/2015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3/24/2015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3/24/2015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microsoft.com/office/2007/relationships/hdphoto" Target="../media/hdphoto1.wdp"/></Relationships>
</file>

<file path=ppt/slides/_rels/slide9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microsoft.com/office/2007/relationships/hdphoto" Target="../media/hdphoto2.wdp"/></Relationships>
</file>

<file path=ppt/slides/_rels/slide9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microsoft.com/office/2007/relationships/hdphoto" Target="../media/hdphoto3.wdp"/></Relationships>
</file>

<file path=ppt/slides/_rels/slide9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microsoft.com/office/2007/relationships/hdphoto" Target="../media/hdphoto4.wdp"/></Relationships>
</file>

<file path=ppt/slides/_rels/slide10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microsoft.com/office/2007/relationships/hdphoto" Target="../media/hdphoto5.wdp"/></Relationships>
</file>

<file path=ppt/slides/_rels/slide10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332656"/>
            <a:ext cx="7488160" cy="936104"/>
          </a:xfrm>
        </p:spPr>
        <p:txBody>
          <a:bodyPr>
            <a:normAutofit fontScale="90000"/>
          </a:bodyPr>
          <a:lstStyle/>
          <a:p>
            <a:r>
              <a:rPr lang="en-AU" sz="4000" dirty="0" smtClean="0">
                <a:ln w="5000" cmpd="sng">
                  <a:noFill/>
                  <a:prstDash val="solid"/>
                </a:ln>
                <a:solidFill>
                  <a:srgbClr val="FF6600"/>
                </a:solidFill>
                <a:latin typeface="Helvetica" pitchFamily="34" charset="0"/>
              </a:rPr>
              <a:t>Manage financial performance with a budget</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484784"/>
            <a:ext cx="5493592" cy="4176464"/>
            <a:chOff x="0" y="0"/>
            <a:chExt cx="7585544" cy="6098650"/>
          </a:xfrm>
        </p:grpSpPr>
        <p:pic>
          <p:nvPicPr>
            <p:cNvPr id="22" name="Picture 2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775148" y="1484784"/>
            <a:ext cx="2541268" cy="994509"/>
          </a:xfrm>
        </p:spPr>
        <p:txBody>
          <a:bodyPr>
            <a:noAutofit/>
          </a:bodyPr>
          <a:lstStyle/>
          <a:p>
            <a:r>
              <a:rPr lang="en-AU" b="1" dirty="0" smtClean="0">
                <a:latin typeface="Helvetica" pitchFamily="34" charset="0"/>
              </a:rPr>
              <a:t>D1.HFI.CL8.03</a:t>
            </a:r>
            <a:br>
              <a:rPr lang="en-AU" b="1" dirty="0" smtClean="0">
                <a:latin typeface="Helvetica" pitchFamily="34" charset="0"/>
              </a:rPr>
            </a:br>
            <a:r>
              <a:rPr lang="en-AU" b="1" dirty="0" smtClean="0">
                <a:latin typeface="Helvetica" pitchFamily="34" charset="0"/>
              </a:rPr>
              <a:t>D1.HFA.CL7.02</a:t>
            </a:r>
            <a:br>
              <a:rPr lang="en-AU" b="1" dirty="0" smtClean="0">
                <a:latin typeface="Helvetica" pitchFamily="34" charset="0"/>
              </a:rPr>
            </a:br>
            <a:r>
              <a:rPr lang="en-AU" b="1" dirty="0" smtClean="0">
                <a:latin typeface="Helvetica" pitchFamily="34" charset="0"/>
              </a:rPr>
              <a:t>D2.TRM.CL9.09</a:t>
            </a:r>
            <a:endParaRPr lang="en-AU" b="1" dirty="0">
              <a:latin typeface="Helvetic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financial performance within a budget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This Unit comprises four Elements:</a:t>
            </a:r>
          </a:p>
          <a:p>
            <a:pPr marL="365125" indent="-365125">
              <a:spcBef>
                <a:spcPts val="600"/>
              </a:spcBef>
              <a:spcAft>
                <a:spcPts val="1200"/>
              </a:spcAft>
              <a:buNone/>
            </a:pPr>
            <a:r>
              <a:rPr lang="en-US" sz="2200" dirty="0" smtClean="0">
                <a:latin typeface="Helvetica" pitchFamily="34" charset="0"/>
              </a:rPr>
              <a:t>1. 	Allocate budget resources</a:t>
            </a:r>
          </a:p>
          <a:p>
            <a:pPr marL="365125" indent="-365125">
              <a:spcBef>
                <a:spcPts val="600"/>
              </a:spcBef>
              <a:spcAft>
                <a:spcPts val="1200"/>
              </a:spcAft>
              <a:buNone/>
            </a:pPr>
            <a:r>
              <a:rPr lang="en-US" sz="2200" dirty="0" smtClean="0">
                <a:latin typeface="Helvetica" pitchFamily="34" charset="0"/>
              </a:rPr>
              <a:t>2. 	Monitor financial activities against budget</a:t>
            </a:r>
          </a:p>
          <a:p>
            <a:pPr marL="365125" indent="-365125">
              <a:spcBef>
                <a:spcPts val="600"/>
              </a:spcBef>
              <a:spcAft>
                <a:spcPts val="1200"/>
              </a:spcAft>
              <a:buNone/>
            </a:pPr>
            <a:r>
              <a:rPr lang="en-US" sz="2200" dirty="0" smtClean="0">
                <a:latin typeface="Helvetica" pitchFamily="34" charset="0"/>
              </a:rPr>
              <a:t>3. 	Identify and evaluate options for improved budget performance</a:t>
            </a:r>
          </a:p>
          <a:p>
            <a:pPr marL="365125" indent="-365125">
              <a:spcBef>
                <a:spcPts val="600"/>
              </a:spcBef>
              <a:spcAft>
                <a:spcPts val="1200"/>
              </a:spcAft>
              <a:buNone/>
            </a:pPr>
            <a:r>
              <a:rPr lang="en-US" sz="2200" dirty="0" smtClean="0">
                <a:latin typeface="Helvetica" pitchFamily="34" charset="0"/>
              </a:rPr>
              <a:t>4. 	Complete financial/statistical reports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75313" y="1988840"/>
            <a:ext cx="3920683" cy="30600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00B050"/>
              </a:buClr>
            </a:pPr>
            <a:r>
              <a:rPr lang="en-US" sz="2200" dirty="0" smtClean="0"/>
              <a:t>Oral questions</a:t>
            </a:r>
          </a:p>
          <a:p>
            <a:pPr marL="360000" indent="-360000">
              <a:spcBef>
                <a:spcPts val="600"/>
              </a:spcBef>
              <a:spcAft>
                <a:spcPts val="1200"/>
              </a:spcAft>
              <a:buClr>
                <a:srgbClr val="00B050"/>
              </a:buClr>
            </a:pPr>
            <a:r>
              <a:rPr lang="en-US" sz="2200" dirty="0" smtClean="0"/>
              <a:t>Written questions</a:t>
            </a:r>
          </a:p>
          <a:p>
            <a:pPr marL="360000" indent="-360000">
              <a:spcBef>
                <a:spcPts val="600"/>
              </a:spcBef>
              <a:spcAft>
                <a:spcPts val="1200"/>
              </a:spcAft>
              <a:buClr>
                <a:srgbClr val="00B050"/>
              </a:buClr>
            </a:pPr>
            <a:r>
              <a:rPr lang="en-US" sz="2200" dirty="0" smtClean="0"/>
              <a:t>Work projects</a:t>
            </a:r>
          </a:p>
          <a:p>
            <a:pPr marL="360000" indent="-360000">
              <a:spcBef>
                <a:spcPts val="600"/>
              </a:spcBef>
              <a:spcAft>
                <a:spcPts val="1200"/>
              </a:spcAft>
              <a:buClr>
                <a:srgbClr val="00B050"/>
              </a:buClr>
            </a:pPr>
            <a:r>
              <a:rPr lang="en-US" sz="2200" dirty="0" smtClean="0"/>
              <a:t>Workplace observation of practical skills</a:t>
            </a:r>
          </a:p>
          <a:p>
            <a:pPr marL="360000" indent="-360000">
              <a:spcBef>
                <a:spcPts val="600"/>
              </a:spcBef>
              <a:spcAft>
                <a:spcPts val="1200"/>
              </a:spcAft>
              <a:buClr>
                <a:srgbClr val="00B050"/>
              </a:buClr>
            </a:pPr>
            <a:r>
              <a:rPr lang="en-US" sz="2200" dirty="0" smtClean="0"/>
              <a:t>Practical exercises</a:t>
            </a:r>
          </a:p>
          <a:p>
            <a:pPr marL="360000" indent="-360000">
              <a:spcBef>
                <a:spcPts val="600"/>
              </a:spcBef>
              <a:spcAft>
                <a:spcPts val="1200"/>
              </a:spcAft>
              <a:buClr>
                <a:srgbClr val="00B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486970" y="1988840"/>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Allocate budget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760640" cy="4608512"/>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t>Allocate funds according to agreed </a:t>
            </a:r>
            <a:br>
              <a:rPr lang="en-AU" sz="2200" dirty="0" smtClean="0"/>
            </a:br>
            <a:r>
              <a:rPr lang="en-AU" sz="2200" dirty="0" smtClean="0"/>
              <a:t>priorities and adopt sound financial management strategies</a:t>
            </a:r>
          </a:p>
          <a:p>
            <a:pPr marL="360000" indent="-360000">
              <a:spcBef>
                <a:spcPts val="600"/>
              </a:spcBef>
              <a:spcAft>
                <a:spcPts val="1200"/>
              </a:spcAft>
            </a:pPr>
            <a:r>
              <a:rPr lang="en-AU" sz="2200" dirty="0" smtClean="0"/>
              <a:t>Discuss with appropriate colleagues prior </a:t>
            </a:r>
            <a:br>
              <a:rPr lang="en-AU" sz="2200" dirty="0" smtClean="0"/>
            </a:br>
            <a:r>
              <a:rPr lang="en-AU" sz="2200" dirty="0" smtClean="0"/>
              <a:t>to implementation</a:t>
            </a:r>
          </a:p>
          <a:p>
            <a:pPr marL="360000" indent="-360000">
              <a:spcBef>
                <a:spcPts val="600"/>
              </a:spcBef>
              <a:spcAft>
                <a:spcPts val="1200"/>
              </a:spcAft>
            </a:pPr>
            <a:r>
              <a:rPr lang="en-AU" sz="2200" dirty="0" smtClean="0"/>
              <a:t>Consult and inform all relevant stakeholders </a:t>
            </a:r>
            <a:br>
              <a:rPr lang="en-AU" sz="2200" dirty="0" smtClean="0"/>
            </a:br>
            <a:r>
              <a:rPr lang="en-AU" sz="2200" dirty="0" smtClean="0"/>
              <a:t>in relation to resource decisions</a:t>
            </a:r>
          </a:p>
          <a:p>
            <a:pPr marL="360000" indent="-360000">
              <a:spcBef>
                <a:spcPts val="600"/>
              </a:spcBef>
              <a:spcAft>
                <a:spcPts val="1200"/>
              </a:spcAft>
            </a:pPr>
            <a:r>
              <a:rPr lang="en-AU" sz="2200" dirty="0" smtClean="0"/>
              <a:t>Promote awareness of the importance </a:t>
            </a:r>
            <a:br>
              <a:rPr lang="en-AU" sz="2200" dirty="0" smtClean="0"/>
            </a:br>
            <a:r>
              <a:rPr lang="en-AU" sz="2200" dirty="0" smtClean="0"/>
              <a:t>of budget control</a:t>
            </a:r>
          </a:p>
          <a:p>
            <a:pPr marL="360000" indent="-360000">
              <a:spcBef>
                <a:spcPts val="600"/>
              </a:spcBef>
              <a:spcAft>
                <a:spcPts val="1200"/>
              </a:spcAft>
            </a:pPr>
            <a:r>
              <a:rPr lang="en-AU" sz="2200" dirty="0" smtClean="0"/>
              <a:t>Maintain detailed records of resource allocation in accordance with enterprise financial procedures and systems</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01173" y="1988840"/>
            <a:ext cx="2052228" cy="136815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Budgeting:</a:t>
            </a:r>
          </a:p>
          <a:p>
            <a:pPr marL="360000" indent="-360000">
              <a:spcBef>
                <a:spcPts val="600"/>
              </a:spcBef>
              <a:spcAft>
                <a:spcPts val="1200"/>
              </a:spcAft>
            </a:pPr>
            <a:r>
              <a:rPr lang="en-US" sz="2000" dirty="0" smtClean="0">
                <a:latin typeface="Helvetica" pitchFamily="34" charset="0"/>
              </a:rPr>
              <a:t>Helps management plan and monitor money flow</a:t>
            </a:r>
          </a:p>
          <a:p>
            <a:pPr marL="0" indent="0">
              <a:spcBef>
                <a:spcPts val="600"/>
              </a:spcBef>
              <a:spcAft>
                <a:spcPts val="1200"/>
              </a:spcAft>
              <a:buNone/>
            </a:pPr>
            <a:r>
              <a:rPr lang="en-US" sz="2000" dirty="0" smtClean="0">
                <a:latin typeface="Helvetica" pitchFamily="34" charset="0"/>
              </a:rPr>
              <a:t>Budgets:</a:t>
            </a:r>
          </a:p>
          <a:p>
            <a:pPr marL="360000" indent="-360000">
              <a:spcBef>
                <a:spcPts val="600"/>
              </a:spcBef>
              <a:spcAft>
                <a:spcPts val="1200"/>
              </a:spcAft>
            </a:pPr>
            <a:r>
              <a:rPr lang="en-US" sz="2000" dirty="0" smtClean="0">
                <a:latin typeface="Helvetica" pitchFamily="34" charset="0"/>
              </a:rPr>
              <a:t>Are the products of budgeting</a:t>
            </a:r>
          </a:p>
          <a:p>
            <a:pPr marL="360000" indent="-360000">
              <a:spcBef>
                <a:spcPts val="600"/>
              </a:spcBef>
              <a:spcAft>
                <a:spcPts val="1200"/>
              </a:spcAft>
            </a:pPr>
            <a:r>
              <a:rPr lang="en-US" sz="2000" dirty="0" smtClean="0">
                <a:latin typeface="Helvetica" pitchFamily="34" charset="0"/>
              </a:rPr>
              <a:t>Are short-term 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9160" y="1988840"/>
            <a:ext cx="3240000" cy="2160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Budgets function on basis that:</a:t>
            </a:r>
          </a:p>
          <a:p>
            <a:pPr marL="360000" indent="-360000">
              <a:spcBef>
                <a:spcPts val="600"/>
              </a:spcBef>
              <a:spcAft>
                <a:spcPts val="1200"/>
              </a:spcAft>
            </a:pPr>
            <a:r>
              <a:rPr lang="en-AU" sz="2000" dirty="0" smtClean="0">
                <a:latin typeface="Helvetica" pitchFamily="34" charset="0"/>
              </a:rPr>
              <a:t>A business will have a budgetary goal</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This goal will be achieved in theory by following a budgetary plan</a:t>
            </a:r>
          </a:p>
          <a:p>
            <a:pPr marL="360000" indent="-360000">
              <a:spcBef>
                <a:spcPts val="600"/>
              </a:spcBef>
              <a:spcAft>
                <a:spcPts val="1200"/>
              </a:spcAft>
            </a:pPr>
            <a:r>
              <a:rPr lang="en-AU" sz="2000" dirty="0" smtClean="0">
                <a:latin typeface="Helvetica" pitchFamily="34" charset="0"/>
              </a:rPr>
              <a:t>Progress for the period will be monitored by budgetary control</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83507" y="1958360"/>
            <a:ext cx="3477101" cy="284029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Management may divide businesses into ‘Centres’ for purposes of budgeting:</a:t>
            </a:r>
          </a:p>
          <a:p>
            <a:pPr marL="360000" indent="-360000">
              <a:spcBef>
                <a:spcPts val="600"/>
              </a:spcBef>
              <a:spcAft>
                <a:spcPts val="1200"/>
              </a:spcAft>
            </a:pPr>
            <a:r>
              <a:rPr lang="en-US" sz="2000" dirty="0" smtClean="0">
                <a:latin typeface="Helvetica" pitchFamily="34" charset="0"/>
              </a:rPr>
              <a:t>Profit or Revenue Centres</a:t>
            </a:r>
          </a:p>
          <a:p>
            <a:pPr marL="360000" indent="-360000">
              <a:spcBef>
                <a:spcPts val="600"/>
              </a:spcBef>
              <a:spcAft>
                <a:spcPts val="1200"/>
              </a:spcAft>
            </a:pPr>
            <a:r>
              <a:rPr lang="en-US" sz="2000" dirty="0" smtClean="0">
                <a:latin typeface="Helvetica" pitchFamily="34" charset="0"/>
              </a:rPr>
              <a:t>Cost </a:t>
            </a:r>
            <a:r>
              <a:rPr lang="en-US" sz="2000" dirty="0" err="1" smtClean="0">
                <a:latin typeface="Helvetica" pitchFamily="34" charset="0"/>
              </a:rPr>
              <a:t>Centres</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1988840"/>
            <a:ext cx="3240000" cy="21600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Budgets may include:</a:t>
            </a:r>
          </a:p>
          <a:p>
            <a:pPr marL="360000" indent="-360000">
              <a:spcBef>
                <a:spcPts val="600"/>
              </a:spcBef>
              <a:spcAft>
                <a:spcPts val="1200"/>
              </a:spcAft>
            </a:pPr>
            <a:r>
              <a:rPr lang="en-US" sz="2000" dirty="0" smtClean="0">
                <a:latin typeface="Helvetica" pitchFamily="34" charset="0"/>
              </a:rPr>
              <a:t>Cash budgets</a:t>
            </a:r>
          </a:p>
          <a:p>
            <a:pPr marL="360000" indent="-360000">
              <a:spcBef>
                <a:spcPts val="600"/>
              </a:spcBef>
              <a:spcAft>
                <a:spcPts val="1200"/>
              </a:spcAft>
            </a:pPr>
            <a:r>
              <a:rPr lang="en-US" sz="2000" dirty="0" smtClean="0">
                <a:latin typeface="Helvetica" pitchFamily="34" charset="0"/>
              </a:rPr>
              <a:t>Departmental budgets</a:t>
            </a:r>
          </a:p>
          <a:p>
            <a:pPr marL="360000" indent="-360000">
              <a:spcBef>
                <a:spcPts val="600"/>
              </a:spcBef>
              <a:spcAft>
                <a:spcPts val="1200"/>
              </a:spcAft>
            </a:pPr>
            <a:r>
              <a:rPr lang="en-US" sz="2000" dirty="0" smtClean="0">
                <a:latin typeface="Helvetica" pitchFamily="34" charset="0"/>
              </a:rPr>
              <a:t>Wages budgets</a:t>
            </a:r>
          </a:p>
          <a:p>
            <a:pPr marL="360000" indent="-360000">
              <a:spcBef>
                <a:spcPts val="600"/>
              </a:spcBef>
              <a:spcAft>
                <a:spcPts val="1200"/>
              </a:spcAft>
            </a:pPr>
            <a:r>
              <a:rPr lang="en-US" sz="2000" dirty="0" smtClean="0">
                <a:latin typeface="Helvetica" pitchFamily="34" charset="0"/>
              </a:rPr>
              <a:t>Project budgets</a:t>
            </a:r>
          </a:p>
          <a:p>
            <a:pPr marL="360000" indent="-360000">
              <a:spcBef>
                <a:spcPts val="600"/>
              </a:spcBef>
              <a:spcAft>
                <a:spcPts val="1200"/>
              </a:spcAft>
            </a:pPr>
            <a:r>
              <a:rPr lang="en-US" sz="2000" dirty="0" smtClean="0">
                <a:latin typeface="Helvetica" pitchFamily="34" charset="0"/>
              </a:rPr>
              <a:t>Purchasing budgets</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39"/>
            <a:ext cx="3581400" cy="238731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Sales budgets</a:t>
            </a:r>
          </a:p>
          <a:p>
            <a:pPr marL="360000" indent="-360000">
              <a:spcBef>
                <a:spcPts val="600"/>
              </a:spcBef>
              <a:spcAft>
                <a:spcPts val="1200"/>
              </a:spcAft>
            </a:pPr>
            <a:r>
              <a:rPr lang="en-US" sz="2000" dirty="0" smtClean="0">
                <a:latin typeface="Helvetica" pitchFamily="34" charset="0"/>
              </a:rPr>
              <a:t>Cash flow budgets</a:t>
            </a:r>
          </a:p>
          <a:p>
            <a:pPr marL="360000" indent="-360000">
              <a:spcBef>
                <a:spcPts val="600"/>
              </a:spcBef>
              <a:spcAft>
                <a:spcPts val="1200"/>
              </a:spcAft>
            </a:pPr>
            <a:r>
              <a:rPr lang="en-US" sz="2000" dirty="0" smtClean="0">
                <a:latin typeface="Helvetica" pitchFamily="34" charset="0"/>
              </a:rPr>
              <a:t>Inventory budgets</a:t>
            </a:r>
          </a:p>
          <a:p>
            <a:pPr marL="360000" indent="-360000">
              <a:spcBef>
                <a:spcPts val="600"/>
              </a:spcBef>
              <a:spcAft>
                <a:spcPts val="1200"/>
              </a:spcAft>
            </a:pPr>
            <a:r>
              <a:rPr lang="en-US" sz="2000" dirty="0" smtClean="0">
                <a:latin typeface="Helvetica" pitchFamily="34" charset="0"/>
              </a:rPr>
              <a:t>Overhead budgets</a:t>
            </a:r>
          </a:p>
          <a:p>
            <a:pPr marL="360000" indent="-360000">
              <a:spcBef>
                <a:spcPts val="600"/>
              </a:spcBef>
              <a:spcAft>
                <a:spcPts val="1200"/>
              </a:spcAft>
            </a:pPr>
            <a:r>
              <a:rPr lang="en-US" sz="2000" dirty="0" smtClean="0">
                <a:latin typeface="Helvetica" pitchFamily="34" charset="0"/>
              </a:rPr>
              <a:t>Capital expenditure budgets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58328" y="1988839"/>
            <a:ext cx="3520832" cy="2347221"/>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Fixed budget:</a:t>
            </a:r>
          </a:p>
          <a:p>
            <a:pPr marL="360000" indent="-360000">
              <a:spcBef>
                <a:spcPts val="600"/>
              </a:spcBef>
              <a:spcAft>
                <a:spcPts val="1200"/>
              </a:spcAft>
            </a:pPr>
            <a:r>
              <a:rPr lang="en-AU" sz="2000" dirty="0" smtClean="0">
                <a:latin typeface="Helvetica" pitchFamily="34" charset="0"/>
              </a:rPr>
              <a:t>Budget is prepared based on fixed revenue or other relevant levels of activity</a:t>
            </a:r>
            <a:endParaRPr lang="en-US" sz="2000" dirty="0" smtClean="0">
              <a:latin typeface="Helvetica" pitchFamily="34" charset="0"/>
            </a:endParaRPr>
          </a:p>
          <a:p>
            <a:pPr marL="0" indent="0">
              <a:spcBef>
                <a:spcPts val="600"/>
              </a:spcBef>
              <a:spcAft>
                <a:spcPts val="1200"/>
              </a:spcAft>
              <a:buNone/>
            </a:pPr>
            <a:r>
              <a:rPr lang="en-US" sz="2000" dirty="0" smtClean="0">
                <a:latin typeface="Helvetica" pitchFamily="34" charset="0"/>
              </a:rPr>
              <a:t>Flexible budget:</a:t>
            </a:r>
          </a:p>
          <a:p>
            <a:pPr marL="360000" indent="-360000">
              <a:spcBef>
                <a:spcPts val="600"/>
              </a:spcBef>
              <a:spcAft>
                <a:spcPts val="1200"/>
              </a:spcAft>
            </a:pPr>
            <a:r>
              <a:rPr lang="en-AU" sz="2000" dirty="0" smtClean="0">
                <a:latin typeface="Helvetica" pitchFamily="34" charset="0"/>
              </a:rPr>
              <a:t>Creates a number of different scenarios that could possibly arise in terms of revenue or other relevant levels of activity</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0032" y="1978576"/>
            <a:ext cx="3219128" cy="321912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Other factors:</a:t>
            </a:r>
          </a:p>
          <a:p>
            <a:pPr marL="360000" indent="-360000">
              <a:spcBef>
                <a:spcPts val="600"/>
              </a:spcBef>
              <a:spcAft>
                <a:spcPts val="1200"/>
              </a:spcAft>
            </a:pPr>
            <a:r>
              <a:rPr lang="en-US" sz="2000" dirty="0" smtClean="0">
                <a:latin typeface="Helvetica" pitchFamily="34" charset="0"/>
              </a:rPr>
              <a:t>Funds will be allocated according to priorities</a:t>
            </a:r>
          </a:p>
          <a:p>
            <a:pPr marL="360000" indent="-360000">
              <a:spcBef>
                <a:spcPts val="600"/>
              </a:spcBef>
              <a:spcAft>
                <a:spcPts val="1200"/>
              </a:spcAft>
            </a:pPr>
            <a:r>
              <a:rPr lang="en-US" sz="2000" dirty="0" smtClean="0">
                <a:latin typeface="Helvetica" pitchFamily="34" charset="0"/>
              </a:rPr>
              <a:t>The involvement of ‘relevant others’ is required</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77016" y="1988840"/>
            <a:ext cx="3702144" cy="245207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360000" indent="-360000">
              <a:spcBef>
                <a:spcPts val="600"/>
              </a:spcBef>
              <a:spcAft>
                <a:spcPts val="1200"/>
              </a:spcAft>
            </a:pPr>
            <a:r>
              <a:rPr lang="en-US" sz="2200" dirty="0" smtClean="0">
                <a:latin typeface="Helvetica" pitchFamily="34" charset="0"/>
              </a:rPr>
              <a:t>Need for flexibility</a:t>
            </a:r>
          </a:p>
          <a:p>
            <a:pPr marL="360000" indent="-360000">
              <a:spcBef>
                <a:spcPts val="600"/>
              </a:spcBef>
              <a:spcAft>
                <a:spcPts val="1200"/>
              </a:spcAft>
            </a:pPr>
            <a:r>
              <a:rPr lang="en-US" sz="2200" dirty="0" smtClean="0">
                <a:latin typeface="Helvetica" pitchFamily="34" charset="0"/>
              </a:rPr>
              <a:t>Other factors: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Plans for the future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Weighting/ranking of priorities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Nature/type of business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Marketing aims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Preferences of owner-operator</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87280" y="1988840"/>
            <a:ext cx="3491880" cy="232792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Budget Notes:</a:t>
            </a:r>
          </a:p>
          <a:p>
            <a:pPr marL="360000" indent="-360000">
              <a:spcBef>
                <a:spcPts val="600"/>
              </a:spcBef>
              <a:spcAft>
                <a:spcPts val="1200"/>
              </a:spcAft>
            </a:pPr>
            <a:r>
              <a:rPr lang="en-US" sz="2000" dirty="0" smtClean="0">
                <a:latin typeface="Helvetica" pitchFamily="34" charset="0"/>
              </a:rPr>
              <a:t>‘Explanatory Notes’</a:t>
            </a:r>
          </a:p>
          <a:p>
            <a:pPr marL="360000" indent="-360000">
              <a:spcBef>
                <a:spcPts val="600"/>
              </a:spcBef>
              <a:spcAft>
                <a:spcPts val="1200"/>
              </a:spcAft>
            </a:pPr>
            <a:r>
              <a:rPr lang="en-US" sz="2000" dirty="0" smtClean="0">
                <a:latin typeface="Helvetica" pitchFamily="34" charset="0"/>
              </a:rPr>
              <a:t>Give information regarding formulation of and rationale for budget determination</a:t>
            </a:r>
          </a:p>
          <a:p>
            <a:pPr marL="360000" indent="-360000">
              <a:spcBef>
                <a:spcPts val="600"/>
              </a:spcBef>
              <a:spcAft>
                <a:spcPts val="1200"/>
              </a:spcAft>
            </a:pPr>
            <a:r>
              <a:rPr lang="en-US" sz="2000" dirty="0" smtClean="0">
                <a:latin typeface="Helvetica" pitchFamily="34" charset="0"/>
              </a:rPr>
              <a:t>Enable understanding of ‘budget thinking’</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40447" y="2023160"/>
            <a:ext cx="3235697" cy="21600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Sound financial strategies underpinning budget preparation:</a:t>
            </a:r>
          </a:p>
          <a:p>
            <a:pPr marL="360000" indent="-360000">
              <a:spcBef>
                <a:spcPts val="600"/>
              </a:spcBef>
              <a:spcAft>
                <a:spcPts val="1200"/>
              </a:spcAft>
            </a:pPr>
            <a:r>
              <a:rPr lang="en-US" sz="2000" dirty="0" smtClean="0">
                <a:latin typeface="Helvetica" pitchFamily="34" charset="0"/>
              </a:rPr>
              <a:t>Planning</a:t>
            </a:r>
          </a:p>
          <a:p>
            <a:pPr marL="360000" indent="-360000">
              <a:spcBef>
                <a:spcPts val="600"/>
              </a:spcBef>
              <a:spcAft>
                <a:spcPts val="1200"/>
              </a:spcAft>
            </a:pPr>
            <a:r>
              <a:rPr lang="en-US" sz="2000" dirty="0" smtClean="0">
                <a:latin typeface="Helvetica" pitchFamily="34" charset="0"/>
              </a:rPr>
              <a:t>Allocating resources</a:t>
            </a:r>
          </a:p>
          <a:p>
            <a:pPr marL="360000" indent="-360000">
              <a:spcBef>
                <a:spcPts val="600"/>
              </a:spcBef>
              <a:spcAft>
                <a:spcPts val="1200"/>
              </a:spcAft>
            </a:pPr>
            <a:r>
              <a:rPr lang="en-US" sz="2000" dirty="0" smtClean="0">
                <a:latin typeface="Helvetica" pitchFamily="34" charset="0"/>
              </a:rPr>
              <a:t>Projecting revenue</a:t>
            </a:r>
          </a:p>
          <a:p>
            <a:pPr marL="360000" indent="-360000">
              <a:spcBef>
                <a:spcPts val="600"/>
              </a:spcBef>
              <a:spcAft>
                <a:spcPts val="1200"/>
              </a:spcAft>
            </a:pPr>
            <a:r>
              <a:rPr lang="en-US" sz="2000" dirty="0" smtClean="0">
                <a:latin typeface="Helvetica" pitchFamily="34" charset="0"/>
              </a:rPr>
              <a:t>Projecting expenses</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160000" cy="32400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Developing controls</a:t>
            </a:r>
          </a:p>
          <a:p>
            <a:pPr marL="360000" indent="-360000">
              <a:spcBef>
                <a:spcPts val="600"/>
              </a:spcBef>
              <a:spcAft>
                <a:spcPts val="1200"/>
              </a:spcAft>
            </a:pPr>
            <a:r>
              <a:rPr lang="en-US" sz="2000" dirty="0" smtClean="0">
                <a:latin typeface="Helvetica" pitchFamily="34" charset="0"/>
              </a:rPr>
              <a:t>Establishing monitoring activities and systems</a:t>
            </a:r>
          </a:p>
          <a:p>
            <a:pPr marL="360000" indent="-360000">
              <a:spcBef>
                <a:spcPts val="600"/>
              </a:spcBef>
              <a:spcAft>
                <a:spcPts val="1200"/>
              </a:spcAft>
            </a:pPr>
            <a:r>
              <a:rPr lang="en-US" sz="2000" dirty="0" smtClean="0">
                <a:latin typeface="Helvetica" pitchFamily="34" charset="0"/>
              </a:rPr>
              <a:t>Creating reporting protocols</a:t>
            </a:r>
          </a:p>
          <a:p>
            <a:pPr marL="360000" indent="-360000">
              <a:spcBef>
                <a:spcPts val="600"/>
              </a:spcBef>
              <a:spcAft>
                <a:spcPts val="1200"/>
              </a:spcAft>
            </a:pPr>
            <a:r>
              <a:rPr lang="en-US" sz="2000" dirty="0" smtClean="0">
                <a:latin typeface="Helvetica" pitchFamily="34" charset="0"/>
              </a:rPr>
              <a:t>Responding to variations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581400" cy="287951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Specialist financial skills need to be applied to:</a:t>
            </a:r>
          </a:p>
          <a:p>
            <a:pPr marL="360000" indent="-360000">
              <a:spcBef>
                <a:spcPts val="600"/>
              </a:spcBef>
              <a:spcAft>
                <a:spcPts val="1200"/>
              </a:spcAft>
            </a:pPr>
            <a:r>
              <a:rPr lang="en-US" sz="2000" dirty="0" smtClean="0">
                <a:latin typeface="Helvetica" pitchFamily="34" charset="0"/>
              </a:rPr>
              <a:t>Maintain required records</a:t>
            </a:r>
          </a:p>
          <a:p>
            <a:pPr marL="360000" indent="-360000">
              <a:spcBef>
                <a:spcPts val="600"/>
              </a:spcBef>
              <a:spcAft>
                <a:spcPts val="1200"/>
              </a:spcAft>
            </a:pPr>
            <a:r>
              <a:rPr lang="en-US" sz="2000" dirty="0" smtClean="0">
                <a:latin typeface="Helvetica" pitchFamily="34" charset="0"/>
              </a:rPr>
              <a:t>Analyse and evaluate results</a:t>
            </a:r>
          </a:p>
          <a:p>
            <a:pPr marL="360000" indent="-360000">
              <a:spcBef>
                <a:spcPts val="600"/>
              </a:spcBef>
              <a:spcAft>
                <a:spcPts val="1200"/>
              </a:spcAft>
            </a:pPr>
            <a:r>
              <a:rPr lang="en-US" sz="2000" dirty="0" smtClean="0">
                <a:latin typeface="Helvetica" pitchFamily="34" charset="0"/>
              </a:rPr>
              <a:t>Identify legislated obligations imposed on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2003728"/>
            <a:ext cx="3240000" cy="21600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Allocate funds and adopt sound financial management strategies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Specialist financial skills ay require:</a:t>
            </a:r>
          </a:p>
          <a:p>
            <a:pPr marL="360000" indent="-360000">
              <a:spcBef>
                <a:spcPts val="600"/>
              </a:spcBef>
              <a:spcAft>
                <a:spcPts val="1200"/>
              </a:spcAft>
            </a:pPr>
            <a:r>
              <a:rPr lang="en-US" sz="2000" dirty="0" smtClean="0">
                <a:latin typeface="Helvetica" pitchFamily="34" charset="0"/>
              </a:rPr>
              <a:t>Specific accounting qualification</a:t>
            </a:r>
          </a:p>
          <a:p>
            <a:pPr marL="360000" indent="-360000">
              <a:spcBef>
                <a:spcPts val="600"/>
              </a:spcBef>
              <a:spcAft>
                <a:spcPts val="1200"/>
              </a:spcAft>
            </a:pPr>
            <a:r>
              <a:rPr lang="en-US" sz="2000" dirty="0" smtClean="0">
                <a:latin typeface="Helvetica" pitchFamily="34" charset="0"/>
              </a:rPr>
              <a:t>Engaging external professionals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54880" y="1988840"/>
            <a:ext cx="3524280" cy="235210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Talks about budgets = ‘budget discussions’ which are a forum for people to:</a:t>
            </a:r>
          </a:p>
          <a:p>
            <a:pPr marL="360000" indent="-360000">
              <a:spcBef>
                <a:spcPts val="600"/>
              </a:spcBef>
              <a:spcAft>
                <a:spcPts val="1200"/>
              </a:spcAft>
            </a:pPr>
            <a:r>
              <a:rPr lang="en-US" sz="2200" dirty="0" smtClean="0">
                <a:latin typeface="Helvetica" pitchFamily="34" charset="0"/>
              </a:rPr>
              <a:t>Make input</a:t>
            </a:r>
          </a:p>
          <a:p>
            <a:pPr marL="360000" indent="-360000">
              <a:spcBef>
                <a:spcPts val="600"/>
              </a:spcBef>
              <a:spcAft>
                <a:spcPts val="1200"/>
              </a:spcAft>
            </a:pPr>
            <a:r>
              <a:rPr lang="en-US" sz="2200" dirty="0" smtClean="0">
                <a:latin typeface="Helvetica" pitchFamily="34" charset="0"/>
              </a:rPr>
              <a:t>Advise others and be advised of plans/directions</a:t>
            </a:r>
          </a:p>
          <a:p>
            <a:pPr marL="360000" indent="-360000">
              <a:spcBef>
                <a:spcPts val="600"/>
              </a:spcBef>
              <a:spcAft>
                <a:spcPts val="1200"/>
              </a:spcAft>
            </a:pPr>
            <a:r>
              <a:rPr lang="en-US" sz="2200" dirty="0" smtClean="0">
                <a:latin typeface="Helvetica" pitchFamily="34" charset="0"/>
              </a:rPr>
              <a:t>Notify others and be notified of parameters/limits</a:t>
            </a:r>
          </a:p>
          <a:p>
            <a:pPr marL="360000" indent="-360000">
              <a:spcBef>
                <a:spcPts val="600"/>
              </a:spcBef>
              <a:spcAft>
                <a:spcPts val="1200"/>
              </a:spcAft>
            </a:pPr>
            <a:r>
              <a:rPr lang="en-US" sz="2200" dirty="0" smtClean="0">
                <a:latin typeface="Helvetica" pitchFamily="34" charset="0"/>
              </a:rPr>
              <a:t>Be told about the budget situation</a:t>
            </a:r>
          </a:p>
          <a:p>
            <a:pPr marL="360000" indent="-360000">
              <a:spcBef>
                <a:spcPts val="600"/>
              </a:spcBef>
              <a:spcAft>
                <a:spcPts val="1200"/>
              </a:spcAft>
            </a:pPr>
            <a:r>
              <a:rPr lang="en-US" sz="2200" dirty="0" smtClean="0">
                <a:latin typeface="Helvetica" pitchFamily="34" charset="0"/>
              </a:rPr>
              <a:t>Be told about budgets already formulated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40582" y="1956480"/>
            <a:ext cx="3236482" cy="21600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Those involved in budget discussions will:</a:t>
            </a:r>
          </a:p>
          <a:p>
            <a:pPr marL="360000" indent="-360000">
              <a:spcBef>
                <a:spcPts val="600"/>
              </a:spcBef>
              <a:spcAft>
                <a:spcPts val="1200"/>
              </a:spcAft>
            </a:pPr>
            <a:r>
              <a:rPr lang="en-US" sz="2000" dirty="0" smtClean="0">
                <a:latin typeface="Helvetica" pitchFamily="34" charset="0"/>
              </a:rPr>
              <a:t>Vary between businesses</a:t>
            </a:r>
          </a:p>
          <a:p>
            <a:pPr marL="360000" indent="-360000">
              <a:spcBef>
                <a:spcPts val="600"/>
              </a:spcBef>
              <a:spcAft>
                <a:spcPts val="1200"/>
              </a:spcAft>
            </a:pPr>
            <a:r>
              <a:rPr lang="en-US" sz="2000" dirty="0" smtClean="0">
                <a:latin typeface="Helvetica" pitchFamily="34" charset="0"/>
              </a:rPr>
              <a:t>Change over time</a:t>
            </a:r>
          </a:p>
          <a:p>
            <a:pPr marL="360000" indent="-360000">
              <a:spcBef>
                <a:spcPts val="600"/>
              </a:spcBef>
              <a:spcAft>
                <a:spcPts val="1200"/>
              </a:spcAft>
            </a:pPr>
            <a:r>
              <a:rPr lang="en-US" sz="2000" dirty="0" smtClean="0">
                <a:latin typeface="Helvetica" pitchFamily="34" charset="0"/>
              </a:rPr>
              <a:t>Differ as circumstances alter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630688" y="2132856"/>
            <a:ext cx="3522712" cy="270417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104456" cy="4093915"/>
          </a:xfrm>
        </p:spPr>
        <p:txBody>
          <a:bodyPr>
            <a:normAutofit/>
          </a:bodyPr>
          <a:lstStyle/>
          <a:p>
            <a:pPr marL="0" indent="0">
              <a:spcBef>
                <a:spcPts val="600"/>
              </a:spcBef>
              <a:spcAft>
                <a:spcPts val="1200"/>
              </a:spcAft>
              <a:buNone/>
            </a:pPr>
            <a:r>
              <a:rPr lang="en-US" sz="2000" dirty="0" smtClean="0">
                <a:latin typeface="Helvetica" pitchFamily="34" charset="0"/>
              </a:rPr>
              <a:t>Those involved in budget discussions may include:</a:t>
            </a:r>
          </a:p>
          <a:p>
            <a:pPr marL="360000" indent="-360000">
              <a:spcBef>
                <a:spcPts val="600"/>
              </a:spcBef>
              <a:spcAft>
                <a:spcPts val="1200"/>
              </a:spcAft>
            </a:pPr>
            <a:r>
              <a:rPr lang="en-US" sz="2000" dirty="0" smtClean="0">
                <a:latin typeface="Helvetica" pitchFamily="34" charset="0"/>
              </a:rPr>
              <a:t>Owners</a:t>
            </a:r>
          </a:p>
          <a:p>
            <a:pPr marL="360000" indent="-360000">
              <a:spcBef>
                <a:spcPts val="600"/>
              </a:spcBef>
              <a:spcAft>
                <a:spcPts val="1200"/>
              </a:spcAft>
            </a:pPr>
            <a:r>
              <a:rPr lang="en-US" sz="2000" dirty="0" smtClean="0">
                <a:latin typeface="Helvetica" pitchFamily="34" charset="0"/>
              </a:rPr>
              <a:t>Senior management</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39"/>
            <a:ext cx="3507160" cy="2338107"/>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Professional external accountant</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8024" y="2132856"/>
            <a:ext cx="2162348" cy="32400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Professional external legal advisors</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995936" y="1844824"/>
            <a:ext cx="3698638" cy="32400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Professional external accountant</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1" y="2022024"/>
            <a:ext cx="3546768" cy="2364748"/>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marL="360000" indent="-360000">
              <a:spcBef>
                <a:spcPts val="600"/>
              </a:spcBef>
              <a:spcAft>
                <a:spcPts val="1200"/>
              </a:spcAft>
            </a:pPr>
            <a:r>
              <a:rPr lang="en-US" sz="2000" dirty="0" smtClean="0">
                <a:latin typeface="Helvetica" pitchFamily="34" charset="0"/>
              </a:rPr>
              <a:t>Business investor</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565536" y="1988840"/>
            <a:ext cx="2366627" cy="324000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Departmental managers and/or Supervisors</a:t>
            </a:r>
          </a:p>
          <a:p>
            <a:pPr marL="360000" indent="-360000">
              <a:spcBef>
                <a:spcPts val="600"/>
              </a:spcBef>
              <a:spcAft>
                <a:spcPts val="1200"/>
              </a:spcAft>
              <a:buNone/>
            </a:pPr>
            <a:r>
              <a:rPr lang="en-US" sz="18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2018968"/>
            <a:ext cx="3507160" cy="233834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 with appropriate colleagues prior to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Employees who work in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584184" y="1988840"/>
            <a:ext cx="3199707" cy="30960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Consult and inform stakeholders in relation to resource decisions</a:t>
            </a:r>
            <a:endParaRPr lang="en-US" dirty="0"/>
          </a:p>
        </p:txBody>
      </p:sp>
      <p:sp>
        <p:nvSpPr>
          <p:cNvPr id="3" name="Content Placeholder 2"/>
          <p:cNvSpPr>
            <a:spLocks noGrp="1"/>
          </p:cNvSpPr>
          <p:nvPr>
            <p:ph idx="1"/>
          </p:nvPr>
        </p:nvSpPr>
        <p:spPr/>
        <p:txBody>
          <a:bodyPr/>
          <a:lstStyle/>
          <a:p>
            <a:pPr marL="36576" indent="0">
              <a:buNone/>
            </a:pPr>
            <a:r>
              <a:rPr lang="en-US" dirty="0" smtClean="0"/>
              <a:t>Those who may need to be consulted and informed may include:</a:t>
            </a:r>
          </a:p>
          <a:p>
            <a:r>
              <a:rPr lang="en-US" dirty="0" smtClean="0"/>
              <a:t>Senior management</a:t>
            </a:r>
          </a:p>
          <a:p>
            <a:r>
              <a:rPr lang="en-US" dirty="0" smtClean="0"/>
              <a:t>The accounts department</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2012111"/>
            <a:ext cx="3581400" cy="2378691"/>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Consult and inform stakeholders in relation to resource decisions</a:t>
            </a:r>
            <a:endParaRPr lang="en-US" dirty="0"/>
          </a:p>
        </p:txBody>
      </p:sp>
      <p:sp>
        <p:nvSpPr>
          <p:cNvPr id="3" name="Content Placeholder 2"/>
          <p:cNvSpPr>
            <a:spLocks noGrp="1"/>
          </p:cNvSpPr>
          <p:nvPr>
            <p:ph idx="1"/>
          </p:nvPr>
        </p:nvSpPr>
        <p:spPr/>
        <p:txBody>
          <a:bodyPr/>
          <a:lstStyle/>
          <a:p>
            <a:r>
              <a:rPr lang="en-US" dirty="0" smtClean="0"/>
              <a:t>Heads of Department and/or Supervisors</a:t>
            </a:r>
          </a:p>
          <a:p>
            <a:r>
              <a:rPr lang="en-US" dirty="0" smtClean="0"/>
              <a:t>Board of Directors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20072" y="1988840"/>
            <a:ext cx="2160000" cy="32400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Consult and inform stakeholders in relation to resource decisions</a:t>
            </a:r>
            <a:endParaRPr lang="en-US" dirty="0"/>
          </a:p>
        </p:txBody>
      </p:sp>
      <p:sp>
        <p:nvSpPr>
          <p:cNvPr id="3" name="Content Placeholder 2"/>
          <p:cNvSpPr>
            <a:spLocks noGrp="1"/>
          </p:cNvSpPr>
          <p:nvPr>
            <p:ph idx="1"/>
          </p:nvPr>
        </p:nvSpPr>
        <p:spPr/>
        <p:txBody>
          <a:bodyPr/>
          <a:lstStyle/>
          <a:p>
            <a:r>
              <a:rPr lang="en-US" dirty="0" smtClean="0"/>
              <a:t>Staff employed by the business</a:t>
            </a:r>
          </a:p>
          <a:p>
            <a:r>
              <a:rPr lang="en-US" dirty="0" smtClean="0"/>
              <a:t>Strategic business partners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581400" cy="23876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Consult and inform stakeholders in relation to resource decisions</a:t>
            </a:r>
            <a:endParaRPr lang="en-US" dirty="0"/>
          </a:p>
        </p:txBody>
      </p:sp>
      <p:sp>
        <p:nvSpPr>
          <p:cNvPr id="3" name="Content Placeholder 2"/>
          <p:cNvSpPr>
            <a:spLocks noGrp="1"/>
          </p:cNvSpPr>
          <p:nvPr>
            <p:ph idx="1"/>
          </p:nvPr>
        </p:nvSpPr>
        <p:spPr/>
        <p:txBody>
          <a:bodyPr/>
          <a:lstStyle/>
          <a:p>
            <a:pPr marL="36576" indent="0">
              <a:buNone/>
            </a:pPr>
            <a:r>
              <a:rPr lang="en-US" dirty="0" smtClean="0"/>
              <a:t>Traditional ways to communicate budget allocation decisions include:</a:t>
            </a:r>
          </a:p>
          <a:p>
            <a:r>
              <a:rPr lang="en-US" dirty="0" smtClean="0"/>
              <a:t>Departmental meetings</a:t>
            </a:r>
          </a:p>
          <a:p>
            <a:r>
              <a:rPr lang="en-US" dirty="0" smtClean="0"/>
              <a:t>All staff’ meetings</a:t>
            </a:r>
          </a:p>
          <a:p>
            <a:r>
              <a:rPr lang="en-US" dirty="0" smtClean="0"/>
              <a:t>Internal memos and emails</a:t>
            </a:r>
          </a:p>
          <a:p>
            <a:r>
              <a:rPr lang="en-US" dirty="0" smtClean="0"/>
              <a:t>Other paper-based documentation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2007920"/>
            <a:ext cx="3643788" cy="2429192"/>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Promote awareness of the importance of budget control</a:t>
            </a:r>
            <a:endParaRPr lang="en-US" dirty="0"/>
          </a:p>
        </p:txBody>
      </p:sp>
      <p:sp>
        <p:nvSpPr>
          <p:cNvPr id="3" name="Content Placeholder 2"/>
          <p:cNvSpPr>
            <a:spLocks noGrp="1"/>
          </p:cNvSpPr>
          <p:nvPr>
            <p:ph idx="1"/>
          </p:nvPr>
        </p:nvSpPr>
        <p:spPr/>
        <p:txBody>
          <a:bodyPr/>
          <a:lstStyle/>
          <a:p>
            <a:pPr marL="36576" indent="0">
              <a:buNone/>
            </a:pPr>
            <a:r>
              <a:rPr lang="en-US" dirty="0" smtClean="0"/>
              <a:t>It is necessary to promote importance of budget control to staff to:</a:t>
            </a:r>
          </a:p>
          <a:p>
            <a:r>
              <a:rPr lang="en-SG" dirty="0" smtClean="0"/>
              <a:t>Give them insight into business operating parameters</a:t>
            </a:r>
            <a:endParaRPr lang="en-US" dirty="0" smtClean="0"/>
          </a:p>
          <a:p>
            <a:r>
              <a:rPr lang="en-SG" dirty="0" smtClean="0"/>
              <a:t>Share targets to be achieved</a:t>
            </a:r>
          </a:p>
          <a:p>
            <a:r>
              <a:rPr lang="en-SG" dirty="0" smtClean="0"/>
              <a:t>Let them know business monitors/checks performance of staff and cost/revenue centres</a:t>
            </a:r>
          </a:p>
          <a:p>
            <a:r>
              <a:rPr lang="en-SG" dirty="0" smtClean="0"/>
              <a:t>Demonstrate respect for staff understanding of issues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1986960"/>
            <a:ext cx="3240000" cy="21600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Promote awareness of the importance of budget control</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Points to communicate in this regard:</a:t>
            </a:r>
          </a:p>
          <a:p>
            <a:r>
              <a:rPr lang="en-AU" dirty="0" smtClean="0"/>
              <a:t>Importance of allocating costs to correct budgets and budget lines</a:t>
            </a:r>
          </a:p>
          <a:p>
            <a:r>
              <a:rPr lang="en-AU" dirty="0" smtClean="0"/>
              <a:t>Need to allocate revenues to correct revenue centres</a:t>
            </a:r>
          </a:p>
          <a:p>
            <a:r>
              <a:rPr lang="en-AU" dirty="0" smtClean="0"/>
              <a:t>Necessity of obtaining authorisation prior to making purchases</a:t>
            </a:r>
          </a:p>
          <a:p>
            <a:r>
              <a:rPr lang="en-AU" dirty="0" smtClean="0"/>
              <a:t>Need to complete required documentation</a:t>
            </a:r>
          </a:p>
          <a:p>
            <a:pPr marL="36576" indent="0">
              <a:buNone/>
            </a:pPr>
            <a:endParaRPr lang="en-US" sz="1400" dirty="0" smtClean="0"/>
          </a:p>
          <a:p>
            <a:pPr marL="36576" indent="0">
              <a:buNone/>
            </a:pPr>
            <a:r>
              <a:rPr lang="en-US" sz="1400" dirty="0" smtClean="0"/>
              <a:t>(Continued)</a:t>
            </a:r>
            <a:endParaRPr lang="en-AU" sz="1400"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53968" y="2132855"/>
            <a:ext cx="3499432" cy="233295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Promote awareness of the importance of budget control</a:t>
            </a:r>
            <a:endParaRPr lang="en-US" dirty="0"/>
          </a:p>
        </p:txBody>
      </p:sp>
      <p:sp>
        <p:nvSpPr>
          <p:cNvPr id="3" name="Content Placeholder 2"/>
          <p:cNvSpPr>
            <a:spLocks noGrp="1"/>
          </p:cNvSpPr>
          <p:nvPr>
            <p:ph idx="1"/>
          </p:nvPr>
        </p:nvSpPr>
        <p:spPr/>
        <p:txBody>
          <a:bodyPr/>
          <a:lstStyle/>
          <a:p>
            <a:r>
              <a:rPr lang="en-AU" dirty="0" smtClean="0"/>
              <a:t>Requirement to regularly compare actual performance with budgetary performance</a:t>
            </a:r>
            <a:endParaRPr lang="en-US" dirty="0" smtClean="0"/>
          </a:p>
          <a:p>
            <a:r>
              <a:rPr lang="en-AU" dirty="0" smtClean="0"/>
              <a:t>Need to review budgets in the light of changed circumstances</a:t>
            </a:r>
            <a:endParaRPr lang="en-US" dirty="0" smtClean="0"/>
          </a:p>
          <a:p>
            <a:r>
              <a:rPr lang="en-AU" dirty="0" smtClean="0"/>
              <a:t>Changes to organisational priorities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4312" y="1988839"/>
            <a:ext cx="3579088" cy="2386059"/>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Promote awareness of the importance of budget control</a:t>
            </a:r>
            <a:endParaRPr lang="en-US" dirty="0"/>
          </a:p>
        </p:txBody>
      </p:sp>
      <p:sp>
        <p:nvSpPr>
          <p:cNvPr id="3" name="Content Placeholder 2"/>
          <p:cNvSpPr>
            <a:spLocks noGrp="1"/>
          </p:cNvSpPr>
          <p:nvPr>
            <p:ph idx="1"/>
          </p:nvPr>
        </p:nvSpPr>
        <p:spPr/>
        <p:txBody>
          <a:bodyPr/>
          <a:lstStyle/>
          <a:p>
            <a:r>
              <a:rPr lang="en-US" dirty="0" smtClean="0"/>
              <a:t>Importance of accuracy</a:t>
            </a:r>
          </a:p>
          <a:p>
            <a:r>
              <a:rPr lang="en-US" dirty="0" smtClean="0"/>
              <a:t>Need to forward information/data promptly</a:t>
            </a:r>
          </a:p>
          <a:p>
            <a:r>
              <a:rPr lang="en-US" dirty="0" smtClean="0"/>
              <a:t>Critical role played by budgets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581400" cy="238760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Promote awareness of the importance of budget control</a:t>
            </a:r>
            <a:endParaRPr lang="en-US" dirty="0"/>
          </a:p>
        </p:txBody>
      </p:sp>
      <p:sp>
        <p:nvSpPr>
          <p:cNvPr id="3" name="Content Placeholder 2"/>
          <p:cNvSpPr>
            <a:spLocks noGrp="1"/>
          </p:cNvSpPr>
          <p:nvPr>
            <p:ph idx="1"/>
          </p:nvPr>
        </p:nvSpPr>
        <p:spPr/>
        <p:txBody>
          <a:bodyPr/>
          <a:lstStyle/>
          <a:p>
            <a:pPr marL="36576" indent="0">
              <a:buNone/>
            </a:pPr>
            <a:r>
              <a:rPr lang="en-US" dirty="0" smtClean="0"/>
              <a:t>Ways to communicate importance of/need for budget control:</a:t>
            </a:r>
          </a:p>
          <a:p>
            <a:r>
              <a:rPr lang="en-US" dirty="0" smtClean="0"/>
              <a:t>Meetings and discussions</a:t>
            </a:r>
          </a:p>
          <a:p>
            <a:r>
              <a:rPr lang="en-US" dirty="0" smtClean="0"/>
              <a:t>Including it in mandatory internal training</a:t>
            </a:r>
          </a:p>
          <a:p>
            <a:r>
              <a:rPr lang="en-US" dirty="0" smtClean="0"/>
              <a:t>Use of actual budgets and statistics for practical exercises and demonstrations</a:t>
            </a:r>
          </a:p>
          <a:p>
            <a:r>
              <a:rPr lang="en-US" dirty="0" smtClean="0"/>
              <a:t>Involvement of relevant internal personnel</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29816" y="1988840"/>
            <a:ext cx="3240000" cy="21600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pPr marL="36576" indent="0">
              <a:buNone/>
            </a:pPr>
            <a:r>
              <a:rPr lang="en-US" dirty="0" smtClean="0"/>
              <a:t>‘Income’ records to be kept may include:</a:t>
            </a:r>
          </a:p>
          <a:p>
            <a:r>
              <a:rPr lang="en-US" dirty="0" smtClean="0"/>
              <a:t>Cash register audit rolls</a:t>
            </a:r>
          </a:p>
          <a:p>
            <a:r>
              <a:rPr lang="en-US" dirty="0" smtClean="0"/>
              <a:t>Daily takings sheets</a:t>
            </a:r>
          </a:p>
          <a:p>
            <a:r>
              <a:rPr lang="en-US" dirty="0" smtClean="0"/>
              <a:t>Daily cash/cash receipt book</a:t>
            </a:r>
          </a:p>
          <a:p>
            <a:r>
              <a:rPr lang="en-US" dirty="0" smtClean="0"/>
              <a:t>Individual accounts</a:t>
            </a:r>
          </a:p>
          <a:p>
            <a:r>
              <a:rPr lang="en-US" dirty="0" smtClean="0"/>
              <a:t>Debtors ledger</a:t>
            </a:r>
          </a:p>
          <a:p>
            <a:r>
              <a:rPr lang="en-US" dirty="0" smtClean="0"/>
              <a:t>Banking receipts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581400" cy="268605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pPr marL="36576" indent="0">
              <a:buNone/>
            </a:pPr>
            <a:r>
              <a:rPr lang="en-US" dirty="0" smtClean="0"/>
              <a:t>‘Expenses’ records to be kept may include:</a:t>
            </a:r>
          </a:p>
          <a:p>
            <a:r>
              <a:rPr lang="en-US" dirty="0" smtClean="0"/>
              <a:t>Purchase orders</a:t>
            </a:r>
          </a:p>
          <a:p>
            <a:r>
              <a:rPr lang="en-US" dirty="0" smtClean="0"/>
              <a:t>Delivery dockets</a:t>
            </a:r>
          </a:p>
          <a:p>
            <a:r>
              <a:rPr lang="en-US" dirty="0" smtClean="0"/>
              <a:t>Invoices</a:t>
            </a:r>
          </a:p>
          <a:p>
            <a:r>
              <a:rPr lang="en-US" dirty="0" smtClean="0"/>
              <a:t>Statements</a:t>
            </a:r>
          </a:p>
          <a:p>
            <a:r>
              <a:rPr lang="en-US" dirty="0" smtClean="0"/>
              <a:t>Requisitions</a:t>
            </a:r>
          </a:p>
          <a:p>
            <a:r>
              <a:rPr lang="en-US" dirty="0" smtClean="0"/>
              <a:t>Inter-departmental transfers</a:t>
            </a:r>
          </a:p>
          <a:p>
            <a:r>
              <a:rPr lang="en-US" dirty="0" smtClean="0"/>
              <a:t>Creditors ledger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82960" y="2001064"/>
            <a:ext cx="3240000" cy="216000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pPr marL="36576" indent="0">
              <a:buNone/>
            </a:pPr>
            <a:r>
              <a:rPr lang="en-US" dirty="0" smtClean="0"/>
              <a:t>Records required for physical assets:</a:t>
            </a:r>
          </a:p>
          <a:p>
            <a:r>
              <a:rPr lang="en-US" dirty="0" smtClean="0"/>
              <a:t>Every item given a number</a:t>
            </a:r>
          </a:p>
          <a:p>
            <a:r>
              <a:rPr lang="en-US" dirty="0" smtClean="0"/>
              <a:t>Relevant details of acquisition and allocation recorded</a:t>
            </a:r>
          </a:p>
          <a:p>
            <a:r>
              <a:rPr lang="en-US" dirty="0" smtClean="0"/>
              <a:t>Can be used to allocate expense share to department/sections where plant and equipment has been purchased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0032" y="1988840"/>
            <a:ext cx="3293368" cy="2470026"/>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pPr marL="36576" indent="0">
              <a:buNone/>
            </a:pPr>
            <a:r>
              <a:rPr lang="en-AU" dirty="0" smtClean="0"/>
              <a:t>Financial procedures and systems must address the following</a:t>
            </a:r>
            <a:r>
              <a:rPr lang="en-US" dirty="0" smtClean="0"/>
              <a:t>:</a:t>
            </a:r>
          </a:p>
          <a:p>
            <a:r>
              <a:rPr lang="en-US" dirty="0" smtClean="0"/>
              <a:t>Transaction recording</a:t>
            </a:r>
          </a:p>
          <a:p>
            <a:r>
              <a:rPr lang="en-US" dirty="0" smtClean="0"/>
              <a:t>Checking processes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84800" y="1988840"/>
            <a:ext cx="3559608" cy="237307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r>
              <a:rPr lang="en-US" dirty="0" smtClean="0"/>
              <a:t>Banking procedures</a:t>
            </a:r>
          </a:p>
          <a:p>
            <a:r>
              <a:rPr lang="en-US" dirty="0" smtClean="0"/>
              <a:t>Invoicing</a:t>
            </a:r>
          </a:p>
          <a:p>
            <a:pPr marL="36576" indent="0">
              <a:buNone/>
            </a:pP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41952" y="1988840"/>
            <a:ext cx="3611448" cy="270858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r>
              <a:rPr lang="en-US" dirty="0" smtClean="0"/>
              <a:t>Accounts payable</a:t>
            </a:r>
          </a:p>
          <a:p>
            <a:r>
              <a:rPr lang="en-US" dirty="0" smtClean="0"/>
              <a:t>Cash management and security measures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70736" y="1990016"/>
            <a:ext cx="3482664" cy="2321776"/>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r>
              <a:rPr lang="en-US" dirty="0" smtClean="0"/>
              <a:t>Cash flow management</a:t>
            </a:r>
          </a:p>
          <a:p>
            <a:r>
              <a:rPr lang="en-US" dirty="0" smtClean="0"/>
              <a:t>Budget management</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02128" y="1988840"/>
            <a:ext cx="3551272" cy="2369946"/>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r>
              <a:rPr lang="en-US" dirty="0" smtClean="0"/>
              <a:t>Reporting requirements</a:t>
            </a:r>
          </a:p>
          <a:p>
            <a:r>
              <a:rPr lang="en-US" dirty="0" smtClean="0"/>
              <a:t>Taxation requirements</a:t>
            </a:r>
          </a:p>
          <a:p>
            <a:pPr marL="36576" indent="0">
              <a:buNone/>
            </a:pP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95664" y="1988840"/>
            <a:ext cx="3557736" cy="284162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Maintain detailed records of resource allocation</a:t>
            </a:r>
            <a:endParaRPr lang="en-US" dirty="0"/>
          </a:p>
        </p:txBody>
      </p:sp>
      <p:sp>
        <p:nvSpPr>
          <p:cNvPr id="3" name="Content Placeholder 2"/>
          <p:cNvSpPr>
            <a:spLocks noGrp="1"/>
          </p:cNvSpPr>
          <p:nvPr>
            <p:ph idx="1"/>
          </p:nvPr>
        </p:nvSpPr>
        <p:spPr/>
        <p:txBody>
          <a:bodyPr/>
          <a:lstStyle/>
          <a:p>
            <a:r>
              <a:rPr lang="en-US" dirty="0" smtClean="0"/>
              <a:t>Statutory requirements</a:t>
            </a:r>
          </a:p>
          <a:p>
            <a:r>
              <a:rPr lang="en-US" dirty="0" smtClean="0"/>
              <a:t>Sector-specific and/or business-specific requirements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44</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88024" y="1988840"/>
            <a:ext cx="2297700" cy="32400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When allocating budget resources:</a:t>
            </a:r>
          </a:p>
          <a:p>
            <a:r>
              <a:rPr lang="en-AU" dirty="0" smtClean="0"/>
              <a:t>Identify the budgets used</a:t>
            </a:r>
          </a:p>
          <a:p>
            <a:r>
              <a:rPr lang="en-AU" dirty="0" smtClean="0"/>
              <a:t>Identify the terms used within budgets</a:t>
            </a:r>
          </a:p>
          <a:p>
            <a:r>
              <a:rPr lang="en-AU" dirty="0" smtClean="0"/>
              <a:t>Identify profit and cost centres</a:t>
            </a:r>
          </a:p>
          <a:p>
            <a:r>
              <a:rPr lang="en-AU" dirty="0" smtClean="0"/>
              <a:t>Identify how budget allocations and projections are determined</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45</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88024" y="1998400"/>
            <a:ext cx="2954086" cy="216000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Learn relevant percentages which apply to budgets and how they are used</a:t>
            </a:r>
          </a:p>
          <a:p>
            <a:r>
              <a:rPr lang="en-AU" dirty="0" smtClean="0"/>
              <a:t>Involve relevant others in the process</a:t>
            </a:r>
          </a:p>
          <a:p>
            <a:r>
              <a:rPr lang="en-AU" dirty="0" smtClean="0"/>
              <a:t>Use budget notes to record necessary details</a:t>
            </a:r>
          </a:p>
          <a:p>
            <a:r>
              <a:rPr lang="en-AU" dirty="0" smtClean="0"/>
              <a:t>Identify applicable internal financial strategies</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46</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1988840"/>
            <a:ext cx="2841120" cy="32400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lstStyle/>
          <a:p>
            <a:r>
              <a:rPr lang="en-AU" dirty="0" smtClean="0"/>
              <a:t>Communicate resource decisions and allocations to relevant stakeholders</a:t>
            </a:r>
          </a:p>
          <a:p>
            <a:r>
              <a:rPr lang="en-AU" dirty="0" smtClean="0"/>
              <a:t>Promote awareness of the need for and importance of budget control</a:t>
            </a:r>
          </a:p>
          <a:p>
            <a:r>
              <a:rPr lang="en-AU" dirty="0" smtClean="0"/>
              <a:t>Establish and maintain comprehensive records</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47</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330013" cy="32400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Checks required to address:</a:t>
            </a:r>
          </a:p>
          <a:p>
            <a:r>
              <a:rPr lang="en-AU" dirty="0" smtClean="0"/>
              <a:t>Determination of actual performance/outcomes against predicted performance/expected results</a:t>
            </a:r>
          </a:p>
          <a:p>
            <a:r>
              <a:rPr lang="en-AU" dirty="0" smtClean="0"/>
              <a:t>Evaluation of how different revenue and cost centres are performing</a:t>
            </a:r>
            <a:endParaRPr lang="en-US" dirty="0" smtClean="0"/>
          </a:p>
          <a:p>
            <a:r>
              <a:rPr lang="en-AU" dirty="0" smtClean="0"/>
              <a:t>Identification of how much money has actually been spent</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48</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837611" y="2204864"/>
            <a:ext cx="3315789" cy="252000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r>
              <a:rPr lang="en-AU" dirty="0" smtClean="0"/>
              <a:t>Identification of how much money is left/available to spend</a:t>
            </a:r>
            <a:endParaRPr lang="en-US" dirty="0" smtClean="0"/>
          </a:p>
          <a:p>
            <a:r>
              <a:rPr lang="en-AU" dirty="0" smtClean="0"/>
              <a:t>Validation of income shown on revenue budgets</a:t>
            </a:r>
          </a:p>
          <a:p>
            <a:r>
              <a:rPr lang="en-AU" dirty="0" smtClean="0"/>
              <a:t>Validation of costs shown on expenditure budgets</a:t>
            </a:r>
          </a:p>
          <a:p>
            <a:r>
              <a:rPr lang="en-AU" dirty="0" smtClean="0"/>
              <a:t>Identification of warning situations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1" y="2022023"/>
            <a:ext cx="3581400" cy="2720321"/>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When checking figures and business performance:</a:t>
            </a:r>
          </a:p>
          <a:p>
            <a:r>
              <a:rPr lang="en-US" dirty="0" smtClean="0"/>
              <a:t>Need to check more than individual budgets</a:t>
            </a:r>
          </a:p>
          <a:p>
            <a:r>
              <a:rPr lang="en-US" dirty="0" smtClean="0"/>
              <a:t>Need to check a range of financial/statistical reports relating to Financial and Management accounting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581400" cy="2387600"/>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Financial accounting:</a:t>
            </a:r>
          </a:p>
          <a:p>
            <a:r>
              <a:rPr lang="en-US" dirty="0" smtClean="0"/>
              <a:t>Preparation of reports/statements showing what the business owes and owns</a:t>
            </a:r>
          </a:p>
          <a:p>
            <a:r>
              <a:rPr lang="en-US" dirty="0" err="1" smtClean="0"/>
              <a:t>Summarises</a:t>
            </a:r>
            <a:r>
              <a:rPr lang="en-US" dirty="0" smtClean="0"/>
              <a:t> trading results</a:t>
            </a:r>
          </a:p>
          <a:p>
            <a:r>
              <a:rPr lang="en-US" dirty="0" smtClean="0"/>
              <a:t>Prepared for nominated times</a:t>
            </a:r>
          </a:p>
          <a:p>
            <a:r>
              <a:rPr lang="en-US" dirty="0" smtClean="0"/>
              <a:t>Four reports/statements usually prepared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581400" cy="238760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‘Profit and Loss Statement’ presents:</a:t>
            </a:r>
          </a:p>
          <a:p>
            <a:r>
              <a:rPr lang="en-US" dirty="0" smtClean="0"/>
              <a:t>Revenues</a:t>
            </a:r>
          </a:p>
          <a:p>
            <a:r>
              <a:rPr lang="en-US" dirty="0" smtClean="0"/>
              <a:t>Operating expenses</a:t>
            </a:r>
          </a:p>
          <a:p>
            <a:r>
              <a:rPr lang="en-US" dirty="0" smtClean="0"/>
              <a:t>Resulting profit and loss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52</a:t>
            </a:fld>
            <a:endParaRPr lang="en-US" dirty="0"/>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586091" cy="1876552"/>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‘Balance Sheet’ presents:</a:t>
            </a:r>
          </a:p>
          <a:p>
            <a:r>
              <a:rPr lang="en-US" dirty="0" smtClean="0"/>
              <a:t>Details of what is owned and owed</a:t>
            </a:r>
          </a:p>
          <a:p>
            <a:pPr marL="36576" indent="0">
              <a:buNone/>
            </a:pPr>
            <a:r>
              <a:rPr lang="en-US" dirty="0" smtClean="0"/>
              <a:t>Identifies:</a:t>
            </a:r>
          </a:p>
          <a:p>
            <a:r>
              <a:rPr lang="en-US" dirty="0" smtClean="0"/>
              <a:t>Assets</a:t>
            </a:r>
          </a:p>
          <a:p>
            <a:r>
              <a:rPr lang="en-US" dirty="0" smtClean="0"/>
              <a:t>Liabilities</a:t>
            </a:r>
          </a:p>
          <a:p>
            <a:r>
              <a:rPr lang="en-US" dirty="0" smtClean="0"/>
              <a:t>Owner’s equity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98008"/>
            <a:ext cx="3581400" cy="23876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‘Statement of Owner’s Equity’ presents:</a:t>
            </a:r>
          </a:p>
          <a:p>
            <a:r>
              <a:rPr lang="en-US" dirty="0" smtClean="0"/>
              <a:t>Changes in owner’s interest in the business</a:t>
            </a:r>
          </a:p>
          <a:p>
            <a:r>
              <a:rPr lang="en-US" dirty="0" smtClean="0"/>
              <a:t>Owner’s equity = difference between what is owned and what is owed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2012112"/>
            <a:ext cx="3240000" cy="216000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‘Cash Flow Statement’ presents:</a:t>
            </a:r>
          </a:p>
          <a:p>
            <a:r>
              <a:rPr lang="en-US" dirty="0" smtClean="0"/>
              <a:t>Details of cash ‘in’ and ‘out’ of the business – in categories of:</a:t>
            </a:r>
          </a:p>
          <a:p>
            <a:pPr lvl="1">
              <a:buFont typeface="Arial" panose="020B0604020202020204" pitchFamily="34" charset="0"/>
              <a:buChar char="•"/>
            </a:pPr>
            <a:r>
              <a:rPr lang="en-US" sz="2000" dirty="0" smtClean="0"/>
              <a:t>Operating</a:t>
            </a:r>
          </a:p>
          <a:p>
            <a:pPr lvl="1">
              <a:buFont typeface="Arial" panose="020B0604020202020204" pitchFamily="34" charset="0"/>
              <a:buChar char="•"/>
            </a:pPr>
            <a:r>
              <a:rPr lang="en-US" sz="2000" dirty="0" smtClean="0"/>
              <a:t>Investing</a:t>
            </a:r>
          </a:p>
          <a:p>
            <a:pPr lvl="1">
              <a:buFont typeface="Arial" panose="020B0604020202020204" pitchFamily="34" charset="0"/>
              <a:buChar char="•"/>
            </a:pPr>
            <a:r>
              <a:rPr lang="en-US" sz="2000" dirty="0" smtClean="0"/>
              <a:t>Financing</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26733" y="2023160"/>
            <a:ext cx="3226667" cy="216000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Management accounting:</a:t>
            </a:r>
          </a:p>
          <a:p>
            <a:r>
              <a:rPr lang="en-US" dirty="0" smtClean="0"/>
              <a:t>Financial information to support internal management</a:t>
            </a:r>
          </a:p>
          <a:p>
            <a:r>
              <a:rPr lang="en-US" dirty="0" smtClean="0"/>
              <a:t>Addresses key points to aid decision making</a:t>
            </a:r>
          </a:p>
          <a:p>
            <a:r>
              <a:rPr lang="en-US" dirty="0" smtClean="0"/>
              <a:t>Comprises a wide range of tools/reports including reports/data similar to information in Financial accounting reports/statements</a:t>
            </a:r>
          </a:p>
          <a:p>
            <a:r>
              <a:rPr lang="en-US" dirty="0" smtClean="0"/>
              <a:t>Names of reports/statements can vary between businesses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90015"/>
            <a:ext cx="3603928" cy="2402619"/>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‘Revenue report’ presents:</a:t>
            </a:r>
          </a:p>
          <a:p>
            <a:r>
              <a:rPr lang="en-US" dirty="0" smtClean="0"/>
              <a:t>Data regarding sales in a format appropriate to the type of business to which the report applies:</a:t>
            </a:r>
          </a:p>
          <a:p>
            <a:pPr lvl="1">
              <a:buFont typeface="Arial" panose="020B0604020202020204" pitchFamily="34" charset="0"/>
              <a:buChar char="•"/>
            </a:pPr>
            <a:r>
              <a:rPr lang="en-US" sz="2000" dirty="0" smtClean="0"/>
              <a:t>Number of meals sold</a:t>
            </a:r>
          </a:p>
          <a:p>
            <a:pPr lvl="1">
              <a:buFont typeface="Arial" panose="020B0604020202020204" pitchFamily="34" charset="0"/>
              <a:buChar char="•"/>
            </a:pPr>
            <a:r>
              <a:rPr lang="en-US" sz="2000" dirty="0" smtClean="0"/>
              <a:t>Type and number of rooms sold</a:t>
            </a:r>
          </a:p>
          <a:p>
            <a:pPr lvl="1">
              <a:buFont typeface="Arial" panose="020B0604020202020204" pitchFamily="34" charset="0"/>
              <a:buChar char="•"/>
            </a:pPr>
            <a:r>
              <a:rPr lang="en-US" sz="2000" dirty="0" smtClean="0"/>
              <a:t>Type and number of tickets sold</a:t>
            </a:r>
          </a:p>
          <a:p>
            <a:pPr lvl="1">
              <a:buFont typeface="Arial" panose="020B0604020202020204" pitchFamily="34" charset="0"/>
              <a:buChar char="•"/>
            </a:pPr>
            <a:r>
              <a:rPr lang="en-US" sz="2000" dirty="0" smtClean="0"/>
              <a:t>Information for time periods as required by management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1897501"/>
            <a:ext cx="3240000" cy="216000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pPr marL="36576" indent="0">
              <a:buNone/>
            </a:pPr>
            <a:r>
              <a:rPr lang="en-US" dirty="0" smtClean="0"/>
              <a:t>‘Bank reconciliation statement’ presents:</a:t>
            </a:r>
          </a:p>
          <a:p>
            <a:r>
              <a:rPr lang="en-US" dirty="0" smtClean="0"/>
              <a:t>Actual position of ‘cash at the bank’</a:t>
            </a:r>
          </a:p>
          <a:p>
            <a:r>
              <a:rPr lang="en-US" dirty="0" smtClean="0"/>
              <a:t>Information to allow identification of missing funds and/or banking (and other/related) errors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1996872"/>
            <a:ext cx="3240000" cy="2160000"/>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59</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264306138"/>
              </p:ext>
            </p:extLst>
          </p:nvPr>
        </p:nvGraphicFramePr>
        <p:xfrm>
          <a:off x="611560" y="1700808"/>
          <a:ext cx="6596066" cy="3688080"/>
        </p:xfrm>
        <a:graphic>
          <a:graphicData uri="http://schemas.openxmlformats.org/drawingml/2006/table">
            <a:tbl>
              <a:tblPr firstRow="1" bandRow="1">
                <a:tableStyleId>{5C22544A-7EE6-4342-B048-85BDC9FD1C3A}</a:tableStyleId>
              </a:tblPr>
              <a:tblGrid>
                <a:gridCol w="1643074"/>
                <a:gridCol w="2214578"/>
                <a:gridCol w="2738414"/>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Department operating schedule</a:t>
                      </a:r>
                    </a:p>
                  </a:txBody>
                  <a:tcPr marL="68580" marR="68580" marT="0" marB="0"/>
                </a:tc>
                <a:tc>
                  <a:txBody>
                    <a:bodyPr/>
                    <a:lstStyle/>
                    <a:p>
                      <a:pPr>
                        <a:spcBef>
                          <a:spcPts val="400"/>
                        </a:spcBef>
                        <a:spcAft>
                          <a:spcPts val="400"/>
                        </a:spcAft>
                      </a:pPr>
                      <a:r>
                        <a:rPr lang="en-AU" sz="2200" dirty="0">
                          <a:latin typeface="Helvetica"/>
                          <a:ea typeface="Calibri"/>
                          <a:cs typeface="Calibri"/>
                        </a:rPr>
                        <a:t>Daily, </a:t>
                      </a:r>
                      <a:r>
                        <a:rPr lang="en-AU" sz="2200" dirty="0" smtClean="0">
                          <a:latin typeface="Helvetica"/>
                          <a:ea typeface="Calibri"/>
                          <a:cs typeface="Calibri"/>
                        </a:rPr>
                        <a:t>Weekly</a:t>
                      </a:r>
                      <a:r>
                        <a:rPr lang="en-AU" sz="2200" dirty="0">
                          <a:latin typeface="Helvetica"/>
                          <a:ea typeface="Calibri"/>
                          <a:cs typeface="Calibri"/>
                        </a:rPr>
                        <a:t>, Monthly</a:t>
                      </a:r>
                    </a:p>
                  </a:txBody>
                  <a:tcPr marL="68580" marR="68580" marT="0" marB="0"/>
                </a:tc>
                <a:tc>
                  <a:txBody>
                    <a:bodyPr/>
                    <a:lstStyle/>
                    <a:p>
                      <a:pPr>
                        <a:spcBef>
                          <a:spcPts val="400"/>
                        </a:spcBef>
                        <a:spcAft>
                          <a:spcPts val="400"/>
                        </a:spcAft>
                      </a:pPr>
                      <a:r>
                        <a:rPr lang="en-AU" sz="2200" dirty="0">
                          <a:latin typeface="Helvetica"/>
                          <a:ea typeface="Calibri"/>
                          <a:cs typeface="Calibri"/>
                        </a:rPr>
                        <a:t>Revenue and expense for each department</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Fixed asset schedule</a:t>
                      </a:r>
                    </a:p>
                  </a:txBody>
                  <a:tcPr marL="68580" marR="68580" marT="0" marB="0"/>
                </a:tc>
                <a:tc>
                  <a:txBody>
                    <a:bodyPr/>
                    <a:lstStyle/>
                    <a:p>
                      <a:pPr>
                        <a:spcBef>
                          <a:spcPts val="400"/>
                        </a:spcBef>
                        <a:spcAft>
                          <a:spcPts val="400"/>
                        </a:spcAft>
                      </a:pPr>
                      <a:r>
                        <a:rPr lang="en-AU" sz="2200" dirty="0">
                          <a:latin typeface="Helvetica"/>
                          <a:ea typeface="Calibri"/>
                          <a:cs typeface="Calibri"/>
                        </a:rPr>
                        <a:t>Annually (or as requested)</a:t>
                      </a:r>
                    </a:p>
                  </a:txBody>
                  <a:tcPr marL="68580" marR="68580" marT="0" marB="0"/>
                </a:tc>
                <a:tc>
                  <a:txBody>
                    <a:bodyPr/>
                    <a:lstStyle/>
                    <a:p>
                      <a:pPr>
                        <a:spcBef>
                          <a:spcPts val="400"/>
                        </a:spcBef>
                        <a:spcAft>
                          <a:spcPts val="400"/>
                        </a:spcAft>
                      </a:pPr>
                      <a:r>
                        <a:rPr lang="en-AU" sz="2200" dirty="0">
                          <a:latin typeface="Helvetica"/>
                          <a:ea typeface="Calibri"/>
                          <a:cs typeface="Calibri"/>
                        </a:rPr>
                        <a:t>Lists </a:t>
                      </a:r>
                      <a:r>
                        <a:rPr lang="en-AU" sz="2200" dirty="0" smtClean="0">
                          <a:latin typeface="Helvetica"/>
                          <a:ea typeface="Calibri"/>
                          <a:cs typeface="Calibri"/>
                        </a:rPr>
                        <a:t>fixed </a:t>
                      </a:r>
                      <a:r>
                        <a:rPr lang="en-AU" sz="2200" dirty="0">
                          <a:latin typeface="Helvetica"/>
                          <a:ea typeface="Calibri"/>
                          <a:cs typeface="Calibri"/>
                        </a:rPr>
                        <a:t>assets by location and description</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Exception </a:t>
                      </a:r>
                      <a:r>
                        <a:rPr lang="en-AU" sz="2200" dirty="0" smtClean="0">
                          <a:latin typeface="Helvetica"/>
                          <a:ea typeface="Calibri"/>
                          <a:cs typeface="Calibri"/>
                        </a:rPr>
                        <a:t>reports</a:t>
                      </a:r>
                      <a:endParaRPr lang="en-AU" sz="2200" dirty="0">
                        <a:latin typeface="Helvetica"/>
                        <a:ea typeface="Calibri"/>
                        <a:cs typeface="Calibri"/>
                      </a:endParaRPr>
                    </a:p>
                  </a:txBody>
                  <a:tcPr marL="68580" marR="68580" marT="0" marB="0"/>
                </a:tc>
                <a:tc>
                  <a:txBody>
                    <a:bodyPr/>
                    <a:lstStyle/>
                    <a:p>
                      <a:pPr>
                        <a:spcBef>
                          <a:spcPts val="400"/>
                        </a:spcBef>
                        <a:spcAft>
                          <a:spcPts val="400"/>
                        </a:spcAft>
                      </a:pPr>
                      <a:r>
                        <a:rPr lang="en-AU" sz="2200" dirty="0">
                          <a:latin typeface="Helvetica"/>
                          <a:ea typeface="Calibri"/>
                          <a:cs typeface="Calibri"/>
                        </a:rPr>
                        <a:t>Daily, Weekly, Monthly</a:t>
                      </a:r>
                    </a:p>
                  </a:txBody>
                  <a:tcPr marL="68580" marR="68580" marT="0" marB="0"/>
                </a:tc>
                <a:tc>
                  <a:txBody>
                    <a:bodyPr/>
                    <a:lstStyle/>
                    <a:p>
                      <a:pPr>
                        <a:spcBef>
                          <a:spcPts val="400"/>
                        </a:spcBef>
                        <a:spcAft>
                          <a:spcPts val="400"/>
                        </a:spcAft>
                      </a:pPr>
                      <a:r>
                        <a:rPr lang="en-AU" sz="2200" dirty="0">
                          <a:latin typeface="Helvetica"/>
                          <a:ea typeface="Calibri"/>
                          <a:cs typeface="Calibri"/>
                        </a:rPr>
                        <a:t>Differences between actual and budgeted results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60</a:t>
            </a:fld>
            <a:endParaRPr lang="en-US" dirty="0"/>
          </a:p>
        </p:txBody>
      </p:sp>
      <p:graphicFrame>
        <p:nvGraphicFramePr>
          <p:cNvPr id="6" name="Table 5"/>
          <p:cNvGraphicFramePr>
            <a:graphicFrameLocks noGrp="1"/>
          </p:cNvGraphicFramePr>
          <p:nvPr/>
        </p:nvGraphicFramePr>
        <p:xfrm>
          <a:off x="714348" y="2143116"/>
          <a:ext cx="6596066" cy="3352800"/>
        </p:xfrm>
        <a:graphic>
          <a:graphicData uri="http://schemas.openxmlformats.org/drawingml/2006/table">
            <a:tbl>
              <a:tblPr firstRow="1" bandRow="1">
                <a:tableStyleId>{5C22544A-7EE6-4342-B048-85BDC9FD1C3A}</a:tableStyleId>
              </a:tblPr>
              <a:tblGrid>
                <a:gridCol w="2087051"/>
                <a:gridCol w="1556287"/>
                <a:gridCol w="2952728"/>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Cash flow summary</a:t>
                      </a:r>
                    </a:p>
                  </a:txBody>
                  <a:tcPr marL="68580" marR="68580" marT="0" marB="0"/>
                </a:tc>
                <a:tc>
                  <a:txBody>
                    <a:bodyPr/>
                    <a:lstStyle/>
                    <a:p>
                      <a:pPr>
                        <a:spcBef>
                          <a:spcPts val="400"/>
                        </a:spcBef>
                        <a:spcAft>
                          <a:spcPts val="400"/>
                        </a:spcAft>
                      </a:pPr>
                      <a:r>
                        <a:rPr lang="en-AU" sz="2200" dirty="0">
                          <a:latin typeface="Helvetica"/>
                          <a:ea typeface="Calibri"/>
                          <a:cs typeface="Calibri"/>
                        </a:rPr>
                        <a:t>Daily, Weekly, Monthly</a:t>
                      </a:r>
                    </a:p>
                  </a:txBody>
                  <a:tcPr marL="68580" marR="68580" marT="0" marB="0"/>
                </a:tc>
                <a:tc>
                  <a:txBody>
                    <a:bodyPr/>
                    <a:lstStyle/>
                    <a:p>
                      <a:pPr>
                        <a:spcBef>
                          <a:spcPts val="400"/>
                        </a:spcBef>
                        <a:spcAft>
                          <a:spcPts val="400"/>
                        </a:spcAft>
                      </a:pPr>
                      <a:r>
                        <a:rPr lang="en-AU" sz="2200" dirty="0">
                          <a:latin typeface="Helvetica"/>
                          <a:ea typeface="Calibri"/>
                          <a:cs typeface="Calibri"/>
                        </a:rPr>
                        <a:t>Actual cash flows compared to budget</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Cash budget</a:t>
                      </a:r>
                    </a:p>
                  </a:txBody>
                  <a:tcPr marL="68580" marR="68580" marT="0" marB="0"/>
                </a:tc>
                <a:tc>
                  <a:txBody>
                    <a:bodyPr/>
                    <a:lstStyle/>
                    <a:p>
                      <a:pPr>
                        <a:spcBef>
                          <a:spcPts val="400"/>
                        </a:spcBef>
                        <a:spcAft>
                          <a:spcPts val="400"/>
                        </a:spcAft>
                      </a:pPr>
                      <a:r>
                        <a:rPr lang="en-AU" sz="2200" dirty="0">
                          <a:latin typeface="Helvetica"/>
                          <a:ea typeface="Calibri"/>
                          <a:cs typeface="Calibri"/>
                        </a:rPr>
                        <a:t>Daily, Weekly, Monthly</a:t>
                      </a:r>
                    </a:p>
                  </a:txBody>
                  <a:tcPr marL="68580" marR="68580" marT="0" marB="0"/>
                </a:tc>
                <a:tc>
                  <a:txBody>
                    <a:bodyPr/>
                    <a:lstStyle/>
                    <a:p>
                      <a:pPr>
                        <a:spcBef>
                          <a:spcPts val="400"/>
                        </a:spcBef>
                        <a:spcAft>
                          <a:spcPts val="400"/>
                        </a:spcAft>
                      </a:pPr>
                      <a:r>
                        <a:rPr lang="en-AU" sz="2200" dirty="0">
                          <a:latin typeface="Helvetica"/>
                          <a:ea typeface="Calibri"/>
                          <a:cs typeface="Calibri"/>
                        </a:rPr>
                        <a:t>Plans for future cash inflows and outflows</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Payroll cost report</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Labour cost by department</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61</a:t>
            </a:fld>
            <a:endParaRPr lang="en-US" dirty="0"/>
          </a:p>
        </p:txBody>
      </p:sp>
      <p:graphicFrame>
        <p:nvGraphicFramePr>
          <p:cNvPr id="6" name="Table 5"/>
          <p:cNvGraphicFramePr>
            <a:graphicFrameLocks noGrp="1"/>
          </p:cNvGraphicFramePr>
          <p:nvPr/>
        </p:nvGraphicFramePr>
        <p:xfrm>
          <a:off x="714348" y="2143116"/>
          <a:ext cx="6596066" cy="4023360"/>
        </p:xfrm>
        <a:graphic>
          <a:graphicData uri="http://schemas.openxmlformats.org/drawingml/2006/table">
            <a:tbl>
              <a:tblPr firstRow="1" bandRow="1">
                <a:tableStyleId>{5C22544A-7EE6-4342-B048-85BDC9FD1C3A}</a:tableStyleId>
              </a:tblPr>
              <a:tblGrid>
                <a:gridCol w="2087051"/>
                <a:gridCol w="1770601"/>
                <a:gridCol w="2738414"/>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Food/Beverage cost report</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Food and beverage costs by department</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Room cost report</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Summarises all costs associated with preparing rooms for guests</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Other operating cost summaries</a:t>
                      </a:r>
                    </a:p>
                  </a:txBody>
                  <a:tcPr marL="68580" marR="68580" marT="0" marB="0"/>
                </a:tc>
                <a:tc>
                  <a:txBody>
                    <a:bodyPr/>
                    <a:lstStyle/>
                    <a:p>
                      <a:pPr>
                        <a:spcBef>
                          <a:spcPts val="400"/>
                        </a:spcBef>
                        <a:spcAft>
                          <a:spcPts val="400"/>
                        </a:spcAft>
                      </a:pPr>
                      <a:r>
                        <a:rPr lang="en-AU" sz="2200" dirty="0">
                          <a:latin typeface="Helvetica"/>
                          <a:ea typeface="Calibri"/>
                          <a:cs typeface="Calibri"/>
                        </a:rPr>
                        <a:t>Daily, Monthly</a:t>
                      </a:r>
                    </a:p>
                  </a:txBody>
                  <a:tcPr marL="68580" marR="68580" marT="0" marB="0"/>
                </a:tc>
                <a:tc>
                  <a:txBody>
                    <a:bodyPr/>
                    <a:lstStyle/>
                    <a:p>
                      <a:pPr>
                        <a:spcBef>
                          <a:spcPts val="400"/>
                        </a:spcBef>
                        <a:spcAft>
                          <a:spcPts val="400"/>
                        </a:spcAft>
                      </a:pPr>
                      <a:r>
                        <a:rPr lang="en-AU" sz="2200" dirty="0">
                          <a:latin typeface="Helvetica"/>
                          <a:ea typeface="Calibri"/>
                          <a:cs typeface="Calibri"/>
                        </a:rPr>
                        <a:t>Details any other operating costs management wish to monitor</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62</a:t>
            </a:fld>
            <a:endParaRPr lang="en-US" dirty="0"/>
          </a:p>
        </p:txBody>
      </p:sp>
      <p:graphicFrame>
        <p:nvGraphicFramePr>
          <p:cNvPr id="6" name="Table 5"/>
          <p:cNvGraphicFramePr>
            <a:graphicFrameLocks noGrp="1"/>
          </p:cNvGraphicFramePr>
          <p:nvPr/>
        </p:nvGraphicFramePr>
        <p:xfrm>
          <a:off x="714348" y="2143116"/>
          <a:ext cx="6596066" cy="3688080"/>
        </p:xfrm>
        <a:graphic>
          <a:graphicData uri="http://schemas.openxmlformats.org/drawingml/2006/table">
            <a:tbl>
              <a:tblPr firstRow="1" bandRow="1">
                <a:tableStyleId>{5C22544A-7EE6-4342-B048-85BDC9FD1C3A}</a:tableStyleId>
              </a:tblPr>
              <a:tblGrid>
                <a:gridCol w="2087051"/>
                <a:gridCol w="1556287"/>
                <a:gridCol w="2952728"/>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Purchase order reports</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Summarises the supplies ordered by department</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Goods received reports</a:t>
                      </a:r>
                    </a:p>
                  </a:txBody>
                  <a:tcPr marL="68580" marR="68580" marT="0" marB="0"/>
                </a:tc>
                <a:tc>
                  <a:txBody>
                    <a:bodyPr/>
                    <a:lstStyle/>
                    <a:p>
                      <a:pPr>
                        <a:spcBef>
                          <a:spcPts val="400"/>
                        </a:spcBef>
                        <a:spcAft>
                          <a:spcPts val="400"/>
                        </a:spcAft>
                      </a:pPr>
                      <a:r>
                        <a:rPr lang="en-AU" sz="2200" dirty="0">
                          <a:latin typeface="Helvetica"/>
                          <a:ea typeface="Calibri"/>
                          <a:cs typeface="Calibri"/>
                        </a:rPr>
                        <a:t>Daily, Weekly</a:t>
                      </a:r>
                    </a:p>
                  </a:txBody>
                  <a:tcPr marL="68580" marR="68580" marT="0" marB="0"/>
                </a:tc>
                <a:tc>
                  <a:txBody>
                    <a:bodyPr/>
                    <a:lstStyle/>
                    <a:p>
                      <a:pPr>
                        <a:spcBef>
                          <a:spcPts val="400"/>
                        </a:spcBef>
                        <a:spcAft>
                          <a:spcPts val="400"/>
                        </a:spcAft>
                      </a:pPr>
                      <a:r>
                        <a:rPr lang="en-AU" sz="2200" dirty="0">
                          <a:latin typeface="Helvetica"/>
                          <a:ea typeface="Calibri"/>
                          <a:cs typeface="Calibri"/>
                        </a:rPr>
                        <a:t>Records the stock received for the period of time required </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Wastage reports</a:t>
                      </a:r>
                    </a:p>
                  </a:txBody>
                  <a:tcPr marL="68580" marR="68580" marT="0" marB="0"/>
                </a:tc>
                <a:tc>
                  <a:txBody>
                    <a:bodyPr/>
                    <a:lstStyle/>
                    <a:p>
                      <a:pPr>
                        <a:spcBef>
                          <a:spcPts val="400"/>
                        </a:spcBef>
                        <a:spcAft>
                          <a:spcPts val="400"/>
                        </a:spcAft>
                      </a:pPr>
                      <a:r>
                        <a:rPr lang="en-AU" sz="2200" dirty="0">
                          <a:latin typeface="Helvetica"/>
                          <a:ea typeface="Calibri"/>
                          <a:cs typeface="Calibri"/>
                        </a:rPr>
                        <a:t>Daily, Weekly</a:t>
                      </a:r>
                    </a:p>
                  </a:txBody>
                  <a:tcPr marL="68580" marR="68580" marT="0" marB="0"/>
                </a:tc>
                <a:tc>
                  <a:txBody>
                    <a:bodyPr/>
                    <a:lstStyle/>
                    <a:p>
                      <a:pPr>
                        <a:spcBef>
                          <a:spcPts val="400"/>
                        </a:spcBef>
                        <a:spcAft>
                          <a:spcPts val="400"/>
                        </a:spcAft>
                      </a:pPr>
                      <a:r>
                        <a:rPr lang="en-AU" sz="2200" dirty="0">
                          <a:latin typeface="Helvetica"/>
                          <a:ea typeface="Calibri"/>
                          <a:cs typeface="Calibri"/>
                        </a:rPr>
                        <a:t>Lists stock that could not be resold to customers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63</a:t>
            </a:fld>
            <a:endParaRPr lang="en-US" dirty="0"/>
          </a:p>
        </p:txBody>
      </p:sp>
      <p:graphicFrame>
        <p:nvGraphicFramePr>
          <p:cNvPr id="6" name="Table 5"/>
          <p:cNvGraphicFramePr>
            <a:graphicFrameLocks noGrp="1"/>
          </p:cNvGraphicFramePr>
          <p:nvPr/>
        </p:nvGraphicFramePr>
        <p:xfrm>
          <a:off x="714348" y="2143116"/>
          <a:ext cx="6596066" cy="3352800"/>
        </p:xfrm>
        <a:graphic>
          <a:graphicData uri="http://schemas.openxmlformats.org/drawingml/2006/table">
            <a:tbl>
              <a:tblPr firstRow="1" bandRow="1">
                <a:tableStyleId>{5C22544A-7EE6-4342-B048-85BDC9FD1C3A}</a:tableStyleId>
              </a:tblPr>
              <a:tblGrid>
                <a:gridCol w="2087051"/>
                <a:gridCol w="1556287"/>
                <a:gridCol w="2952728"/>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Accounts payable schedules</a:t>
                      </a:r>
                    </a:p>
                  </a:txBody>
                  <a:tcPr marL="68580" marR="68580" marT="0" marB="0"/>
                </a:tc>
                <a:tc>
                  <a:txBody>
                    <a:bodyPr/>
                    <a:lstStyle/>
                    <a:p>
                      <a:pPr>
                        <a:spcBef>
                          <a:spcPts val="400"/>
                        </a:spcBef>
                        <a:spcAft>
                          <a:spcPts val="400"/>
                        </a:spcAft>
                      </a:pPr>
                      <a:r>
                        <a:rPr lang="en-AU" sz="2200" dirty="0">
                          <a:latin typeface="Helvetica"/>
                          <a:ea typeface="Calibri"/>
                          <a:cs typeface="Calibri"/>
                        </a:rPr>
                        <a:t>Weekly, Monthly</a:t>
                      </a:r>
                    </a:p>
                  </a:txBody>
                  <a:tcPr marL="68580" marR="68580" marT="0" marB="0"/>
                </a:tc>
                <a:tc>
                  <a:txBody>
                    <a:bodyPr/>
                    <a:lstStyle/>
                    <a:p>
                      <a:pPr>
                        <a:spcBef>
                          <a:spcPts val="400"/>
                        </a:spcBef>
                        <a:spcAft>
                          <a:spcPts val="400"/>
                        </a:spcAft>
                      </a:pPr>
                      <a:r>
                        <a:rPr lang="en-AU" sz="2200" dirty="0">
                          <a:latin typeface="Helvetica"/>
                          <a:ea typeface="Calibri"/>
                          <a:cs typeface="Calibri"/>
                        </a:rPr>
                        <a:t>Detail </a:t>
                      </a:r>
                      <a:r>
                        <a:rPr lang="en-AU" sz="2200" dirty="0" smtClean="0">
                          <a:latin typeface="Helvetica"/>
                          <a:ea typeface="Calibri"/>
                          <a:cs typeface="Calibri"/>
                        </a:rPr>
                        <a:t>amounts </a:t>
                      </a:r>
                      <a:r>
                        <a:rPr lang="en-AU" sz="2200" dirty="0">
                          <a:latin typeface="Helvetica"/>
                          <a:ea typeface="Calibri"/>
                          <a:cs typeface="Calibri"/>
                        </a:rPr>
                        <a:t>owed to creditors and the due dates</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Inventory or stock sheets</a:t>
                      </a:r>
                    </a:p>
                  </a:txBody>
                  <a:tcPr marL="68580" marR="68580" marT="0" marB="0"/>
                </a:tc>
                <a:tc>
                  <a:txBody>
                    <a:bodyPr/>
                    <a:lstStyle/>
                    <a:p>
                      <a:pPr>
                        <a:spcBef>
                          <a:spcPts val="400"/>
                        </a:spcBef>
                        <a:spcAft>
                          <a:spcPts val="400"/>
                        </a:spcAft>
                      </a:pPr>
                      <a:r>
                        <a:rPr lang="en-AU" sz="2200" dirty="0">
                          <a:latin typeface="Helvetica"/>
                          <a:ea typeface="Calibri"/>
                          <a:cs typeface="Calibri"/>
                        </a:rPr>
                        <a:t>Daily, Monthly, Annually</a:t>
                      </a:r>
                    </a:p>
                  </a:txBody>
                  <a:tcPr marL="68580" marR="68580" marT="0" marB="0"/>
                </a:tc>
                <a:tc>
                  <a:txBody>
                    <a:bodyPr/>
                    <a:lstStyle/>
                    <a:p>
                      <a:pPr>
                        <a:spcBef>
                          <a:spcPts val="400"/>
                        </a:spcBef>
                        <a:spcAft>
                          <a:spcPts val="400"/>
                        </a:spcAft>
                      </a:pPr>
                      <a:r>
                        <a:rPr lang="en-AU" sz="2200" dirty="0">
                          <a:latin typeface="Helvetica"/>
                          <a:ea typeface="Calibri"/>
                          <a:cs typeface="Calibri"/>
                        </a:rPr>
                        <a:t>Lists item by item the stock or inventory held on </a:t>
                      </a:r>
                      <a:r>
                        <a:rPr lang="en-AU" sz="2200" dirty="0" smtClean="0">
                          <a:latin typeface="Helvetica"/>
                          <a:ea typeface="Calibri"/>
                          <a:cs typeface="Calibri"/>
                        </a:rPr>
                        <a:t>premises</a:t>
                      </a: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Daily revenue report</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Details revenue by department</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64</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724376528"/>
              </p:ext>
            </p:extLst>
          </p:nvPr>
        </p:nvGraphicFramePr>
        <p:xfrm>
          <a:off x="714348" y="2143116"/>
          <a:ext cx="6596066" cy="3444240"/>
        </p:xfrm>
        <a:graphic>
          <a:graphicData uri="http://schemas.openxmlformats.org/drawingml/2006/table">
            <a:tbl>
              <a:tblPr firstRow="1" bandRow="1">
                <a:tableStyleId>{5C22544A-7EE6-4342-B048-85BDC9FD1C3A}</a:tableStyleId>
              </a:tblPr>
              <a:tblGrid>
                <a:gridCol w="2087051"/>
                <a:gridCol w="1556287"/>
                <a:gridCol w="2952728"/>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r>
                        <a:rPr kumimoji="0" lang="en-AU" sz="2200" kern="1200" dirty="0" smtClean="0">
                          <a:solidFill>
                            <a:schemeClr val="dk1"/>
                          </a:solidFill>
                          <a:latin typeface="+mn-lt"/>
                          <a:ea typeface="+mn-ea"/>
                          <a:cs typeface="+mn-cs"/>
                        </a:rPr>
                        <a:t>Sales analysis reports:</a:t>
                      </a:r>
                    </a:p>
                    <a:p>
                      <a:pPr marL="174625" lvl="0" indent="-174625">
                        <a:buFont typeface="Arial" pitchFamily="34" charset="0"/>
                        <a:buChar char="•"/>
                      </a:pPr>
                      <a:r>
                        <a:rPr kumimoji="0" lang="en-AU" sz="2200" kern="1200" dirty="0" smtClean="0">
                          <a:solidFill>
                            <a:schemeClr val="dk1"/>
                          </a:solidFill>
                          <a:latin typeface="+mn-lt"/>
                          <a:ea typeface="+mn-ea"/>
                          <a:cs typeface="+mn-cs"/>
                        </a:rPr>
                        <a:t>Occupancy reports</a:t>
                      </a:r>
                    </a:p>
                    <a:p>
                      <a:pPr marL="174625" indent="-174625">
                        <a:buFont typeface="Arial" pitchFamily="34" charset="0"/>
                        <a:buChar char="•"/>
                      </a:pPr>
                      <a:r>
                        <a:rPr kumimoji="0" lang="en-AU" sz="2200" kern="1200" dirty="0" smtClean="0">
                          <a:solidFill>
                            <a:schemeClr val="dk1"/>
                          </a:solidFill>
                          <a:latin typeface="+mn-lt"/>
                          <a:ea typeface="+mn-ea"/>
                          <a:cs typeface="+mn-cs"/>
                        </a:rPr>
                        <a:t>Food and Beverage menu abstracts</a:t>
                      </a:r>
                      <a:endParaRPr kumimoji="0" lang="en-AU" sz="2200" b="1" kern="1200" dirty="0">
                        <a:solidFill>
                          <a:srgbClr val="FFFFFF"/>
                        </a:solidFill>
                        <a:latin typeface="Helvetica"/>
                        <a:ea typeface="Calibri"/>
                        <a:cs typeface="Calibri"/>
                      </a:endParaRPr>
                    </a:p>
                  </a:txBody>
                  <a:tcPr/>
                </a:tc>
                <a:tc>
                  <a:txBody>
                    <a:bodyPr/>
                    <a:lstStyle/>
                    <a:p>
                      <a:pPr>
                        <a:spcBef>
                          <a:spcPts val="400"/>
                        </a:spcBef>
                        <a:spcAft>
                          <a:spcPts val="400"/>
                        </a:spcAft>
                      </a:pPr>
                      <a:r>
                        <a:rPr lang="en-AU" sz="2200" dirty="0">
                          <a:latin typeface="Helvetica"/>
                          <a:ea typeface="Calibri"/>
                          <a:cs typeface="Calibri"/>
                        </a:rPr>
                        <a:t>Daily, Weekly</a:t>
                      </a:r>
                    </a:p>
                    <a:p>
                      <a:pPr>
                        <a:spcBef>
                          <a:spcPts val="400"/>
                        </a:spcBef>
                        <a:spcAft>
                          <a:spcPts val="400"/>
                        </a:spcAft>
                      </a:pPr>
                      <a:r>
                        <a:rPr lang="en-AU" sz="2200" dirty="0">
                          <a:latin typeface="Helvetica"/>
                          <a:ea typeface="Calibri"/>
                          <a:cs typeface="Calibri"/>
                        </a:rPr>
                        <a:t>Monthly</a:t>
                      </a:r>
                    </a:p>
                  </a:txBody>
                  <a:tcPr marL="68580" marR="68580" marT="0" marB="0"/>
                </a:tc>
                <a:tc>
                  <a:txBody>
                    <a:bodyPr/>
                    <a:lstStyle/>
                    <a:p>
                      <a:pPr>
                        <a:spcBef>
                          <a:spcPts val="400"/>
                        </a:spcBef>
                        <a:spcAft>
                          <a:spcPts val="400"/>
                        </a:spcAft>
                      </a:pPr>
                      <a:r>
                        <a:rPr lang="en-AU" sz="2200" dirty="0">
                          <a:latin typeface="Helvetica"/>
                          <a:ea typeface="Calibri"/>
                          <a:cs typeface="Calibri"/>
                        </a:rPr>
                        <a:t>Includes statistical data to analyse specific nature and timing of sales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65</a:t>
            </a:fld>
            <a:endParaRPr lang="en-US" dirty="0"/>
          </a:p>
        </p:txBody>
      </p:sp>
      <p:graphicFrame>
        <p:nvGraphicFramePr>
          <p:cNvPr id="6" name="Table 5"/>
          <p:cNvGraphicFramePr>
            <a:graphicFrameLocks noGrp="1"/>
          </p:cNvGraphicFramePr>
          <p:nvPr/>
        </p:nvGraphicFramePr>
        <p:xfrm>
          <a:off x="714348" y="2143116"/>
          <a:ext cx="6596066" cy="3688080"/>
        </p:xfrm>
        <a:graphic>
          <a:graphicData uri="http://schemas.openxmlformats.org/drawingml/2006/table">
            <a:tbl>
              <a:tblPr firstRow="1" bandRow="1">
                <a:tableStyleId>{5C22544A-7EE6-4342-B048-85BDC9FD1C3A}</a:tableStyleId>
              </a:tblPr>
              <a:tblGrid>
                <a:gridCol w="2087051"/>
                <a:gridCol w="1556287"/>
                <a:gridCol w="2952728"/>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Daily Takings report</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Summarises cash movements at each point of sale for each shift or day</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Daily Cash Received report</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All cash received for the day identifying daily takings and accounts receivable amounts separately</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66</a:t>
            </a:fld>
            <a:endParaRPr lang="en-US" dirty="0"/>
          </a:p>
        </p:txBody>
      </p:sp>
      <p:graphicFrame>
        <p:nvGraphicFramePr>
          <p:cNvPr id="6" name="Table 5"/>
          <p:cNvGraphicFramePr>
            <a:graphicFrameLocks noGrp="1"/>
          </p:cNvGraphicFramePr>
          <p:nvPr/>
        </p:nvGraphicFramePr>
        <p:xfrm>
          <a:off x="714348" y="2143116"/>
          <a:ext cx="6596066" cy="2682240"/>
        </p:xfrm>
        <a:graphic>
          <a:graphicData uri="http://schemas.openxmlformats.org/drawingml/2006/table">
            <a:tbl>
              <a:tblPr firstRow="1" bandRow="1">
                <a:tableStyleId>{5C22544A-7EE6-4342-B048-85BDC9FD1C3A}</a:tableStyleId>
              </a:tblPr>
              <a:tblGrid>
                <a:gridCol w="2286016"/>
                <a:gridCol w="2143140"/>
                <a:gridCol w="2166910"/>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City ledger report (accommodation venues)</a:t>
                      </a:r>
                    </a:p>
                  </a:txBody>
                  <a:tcPr marL="68580" marR="68580" marT="0" marB="0"/>
                </a:tc>
                <a:tc>
                  <a:txBody>
                    <a:bodyPr/>
                    <a:lstStyle/>
                    <a:p>
                      <a:pPr>
                        <a:spcBef>
                          <a:spcPts val="400"/>
                        </a:spcBef>
                        <a:spcAft>
                          <a:spcPts val="400"/>
                        </a:spcAft>
                      </a:pPr>
                      <a:r>
                        <a:rPr lang="en-AU" sz="2200" dirty="0">
                          <a:latin typeface="Helvetica"/>
                          <a:ea typeface="Calibri"/>
                          <a:cs typeface="Calibri"/>
                        </a:rPr>
                        <a:t>Daily</a:t>
                      </a:r>
                    </a:p>
                  </a:txBody>
                  <a:tcPr marL="68580" marR="68580" marT="0" marB="0"/>
                </a:tc>
                <a:tc>
                  <a:txBody>
                    <a:bodyPr/>
                    <a:lstStyle/>
                    <a:p>
                      <a:pPr>
                        <a:spcBef>
                          <a:spcPts val="400"/>
                        </a:spcBef>
                        <a:spcAft>
                          <a:spcPts val="400"/>
                        </a:spcAft>
                      </a:pPr>
                      <a:r>
                        <a:rPr lang="en-AU" sz="2200" dirty="0">
                          <a:latin typeface="Helvetica"/>
                          <a:ea typeface="Calibri"/>
                          <a:cs typeface="Calibri"/>
                        </a:rPr>
                        <a:t>All guest accounts </a:t>
                      </a:r>
                      <a:r>
                        <a:rPr lang="en-AU" sz="2200" dirty="0" smtClean="0">
                          <a:latin typeface="Helvetica"/>
                          <a:ea typeface="Calibri"/>
                          <a:cs typeface="Calibri"/>
                        </a:rPr>
                        <a:t>who have </a:t>
                      </a:r>
                      <a:r>
                        <a:rPr lang="en-AU" sz="2200" dirty="0">
                          <a:latin typeface="Helvetica"/>
                          <a:ea typeface="Calibri"/>
                          <a:cs typeface="Calibri"/>
                        </a:rPr>
                        <a:t>not settled their account the previous day</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67</a:t>
            </a:fld>
            <a:endParaRPr lang="en-US" dirty="0"/>
          </a:p>
        </p:txBody>
      </p:sp>
      <p:graphicFrame>
        <p:nvGraphicFramePr>
          <p:cNvPr id="6" name="Table 5"/>
          <p:cNvGraphicFramePr>
            <a:graphicFrameLocks noGrp="1"/>
          </p:cNvGraphicFramePr>
          <p:nvPr/>
        </p:nvGraphicFramePr>
        <p:xfrm>
          <a:off x="714348" y="2143116"/>
          <a:ext cx="6596066" cy="3017520"/>
        </p:xfrm>
        <a:graphic>
          <a:graphicData uri="http://schemas.openxmlformats.org/drawingml/2006/table">
            <a:tbl>
              <a:tblPr firstRow="1" bandRow="1">
                <a:tableStyleId>{5C22544A-7EE6-4342-B048-85BDC9FD1C3A}</a:tableStyleId>
              </a:tblPr>
              <a:tblGrid>
                <a:gridCol w="2286016"/>
                <a:gridCol w="2000264"/>
                <a:gridCol w="2309786"/>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Accounts receivable aging schedule</a:t>
                      </a:r>
                    </a:p>
                  </a:txBody>
                  <a:tcPr marL="68580" marR="68580" marT="0" marB="0"/>
                </a:tc>
                <a:tc>
                  <a:txBody>
                    <a:bodyPr/>
                    <a:lstStyle/>
                    <a:p>
                      <a:pPr>
                        <a:spcBef>
                          <a:spcPts val="400"/>
                        </a:spcBef>
                        <a:spcAft>
                          <a:spcPts val="400"/>
                        </a:spcAft>
                      </a:pPr>
                      <a:r>
                        <a:rPr lang="en-AU" sz="2200" dirty="0">
                          <a:latin typeface="Helvetica"/>
                          <a:ea typeface="Calibri"/>
                          <a:cs typeface="Calibri"/>
                        </a:rPr>
                        <a:t>Monthly (or as needed)</a:t>
                      </a:r>
                    </a:p>
                  </a:txBody>
                  <a:tcPr marL="68580" marR="68580" marT="0" marB="0"/>
                </a:tc>
                <a:tc>
                  <a:txBody>
                    <a:bodyPr/>
                    <a:lstStyle/>
                    <a:p>
                      <a:pPr>
                        <a:spcBef>
                          <a:spcPts val="400"/>
                        </a:spcBef>
                        <a:spcAft>
                          <a:spcPts val="400"/>
                        </a:spcAft>
                      </a:pPr>
                      <a:r>
                        <a:rPr lang="en-AU" sz="2200" dirty="0">
                          <a:latin typeface="Helvetica"/>
                          <a:ea typeface="Calibri"/>
                          <a:cs typeface="Calibri"/>
                        </a:rPr>
                        <a:t>Accounts receivable amounts by days outstanding</a:t>
                      </a:r>
                    </a:p>
                  </a:txBody>
                  <a:tcPr marL="68580" marR="68580" marT="0" marB="0"/>
                </a:tc>
              </a:tr>
              <a:tr h="370840">
                <a:tc>
                  <a:txBody>
                    <a:bodyPr/>
                    <a:lstStyle/>
                    <a:p>
                      <a:pPr>
                        <a:spcBef>
                          <a:spcPts val="400"/>
                        </a:spcBef>
                        <a:spcAft>
                          <a:spcPts val="400"/>
                        </a:spcAft>
                      </a:pPr>
                      <a:r>
                        <a:rPr lang="en-AU" sz="2200" dirty="0">
                          <a:latin typeface="Helvetica"/>
                          <a:ea typeface="Calibri"/>
                          <a:cs typeface="Calibri"/>
                        </a:rPr>
                        <a:t>Accounts receivable schedule</a:t>
                      </a:r>
                    </a:p>
                  </a:txBody>
                  <a:tcPr marL="68580" marR="68580" marT="0" marB="0"/>
                </a:tc>
                <a:tc>
                  <a:txBody>
                    <a:bodyPr/>
                    <a:lstStyle/>
                    <a:p>
                      <a:pPr>
                        <a:spcBef>
                          <a:spcPts val="400"/>
                        </a:spcBef>
                        <a:spcAft>
                          <a:spcPts val="400"/>
                        </a:spcAft>
                      </a:pPr>
                      <a:r>
                        <a:rPr lang="en-AU" sz="2200" dirty="0">
                          <a:latin typeface="Helvetica"/>
                          <a:ea typeface="Calibri"/>
                          <a:cs typeface="Calibri"/>
                        </a:rPr>
                        <a:t>Daily, Weekly, Monthly</a:t>
                      </a:r>
                    </a:p>
                  </a:txBody>
                  <a:tcPr marL="68580" marR="68580" marT="0" marB="0"/>
                </a:tc>
                <a:tc>
                  <a:txBody>
                    <a:bodyPr/>
                    <a:lstStyle/>
                    <a:p>
                      <a:pPr>
                        <a:spcBef>
                          <a:spcPts val="400"/>
                        </a:spcBef>
                        <a:spcAft>
                          <a:spcPts val="400"/>
                        </a:spcAft>
                      </a:pPr>
                      <a:r>
                        <a:rPr lang="en-AU" sz="2200" dirty="0">
                          <a:latin typeface="Helvetica"/>
                          <a:ea typeface="Calibri"/>
                          <a:cs typeface="Calibri"/>
                        </a:rPr>
                        <a:t>Lists </a:t>
                      </a:r>
                      <a:r>
                        <a:rPr lang="en-AU" sz="2200" dirty="0" smtClean="0">
                          <a:latin typeface="Helvetica"/>
                          <a:ea typeface="Calibri"/>
                          <a:cs typeface="Calibri"/>
                        </a:rPr>
                        <a:t>individual </a:t>
                      </a:r>
                      <a:r>
                        <a:rPr lang="en-AU" sz="2200" dirty="0">
                          <a:latin typeface="Helvetica"/>
                          <a:ea typeface="Calibri"/>
                          <a:cs typeface="Calibri"/>
                        </a:rPr>
                        <a:t>accounts receivable details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and report discrepancies according to policy and significance</a:t>
            </a:r>
            <a:endParaRPr lang="en-US" dirty="0"/>
          </a:p>
        </p:txBody>
      </p:sp>
      <p:sp>
        <p:nvSpPr>
          <p:cNvPr id="3" name="Content Placeholder 2"/>
          <p:cNvSpPr>
            <a:spLocks noGrp="1"/>
          </p:cNvSpPr>
          <p:nvPr>
            <p:ph idx="1"/>
          </p:nvPr>
        </p:nvSpPr>
        <p:spPr/>
        <p:txBody>
          <a:bodyPr/>
          <a:lstStyle/>
          <a:p>
            <a:r>
              <a:rPr lang="en-US" dirty="0" smtClean="0"/>
              <a:t>Checking actual income and expenditure against budgets may relate to issues NOT related to business performance – such as:</a:t>
            </a:r>
          </a:p>
          <a:p>
            <a:pPr lvl="1">
              <a:buFont typeface="Arial" panose="020B0604020202020204" pitchFamily="34" charset="0"/>
              <a:buChar char="•"/>
            </a:pPr>
            <a:r>
              <a:rPr lang="en-US" sz="2000" dirty="0" smtClean="0"/>
              <a:t>Data entry errors</a:t>
            </a:r>
          </a:p>
          <a:p>
            <a:pPr lvl="1">
              <a:buFont typeface="Arial" panose="020B0604020202020204" pitchFamily="34" charset="0"/>
              <a:buChar char="•"/>
            </a:pPr>
            <a:r>
              <a:rPr lang="en-US" sz="2000" dirty="0" smtClean="0"/>
              <a:t>Sales for which an invoice should have been raised</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73881" y="2019638"/>
            <a:ext cx="3252135" cy="2160000"/>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and report discrepancies according to policy and significance</a:t>
            </a:r>
            <a:endParaRPr lang="en-US" dirty="0"/>
          </a:p>
        </p:txBody>
      </p:sp>
      <p:sp>
        <p:nvSpPr>
          <p:cNvPr id="3" name="Content Placeholder 2"/>
          <p:cNvSpPr>
            <a:spLocks noGrp="1"/>
          </p:cNvSpPr>
          <p:nvPr>
            <p:ph idx="1"/>
          </p:nvPr>
        </p:nvSpPr>
        <p:spPr/>
        <p:txBody>
          <a:bodyPr/>
          <a:lstStyle/>
          <a:p>
            <a:r>
              <a:rPr lang="en-US" dirty="0" smtClean="0"/>
              <a:t>Goods not delivered but paid for</a:t>
            </a:r>
          </a:p>
          <a:p>
            <a:r>
              <a:rPr lang="en-US" dirty="0" smtClean="0"/>
              <a:t>Posting errors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1" y="1988839"/>
            <a:ext cx="3573760" cy="2373617"/>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and report discrepancies according to policy and significance</a:t>
            </a:r>
            <a:endParaRPr lang="en-US" dirty="0"/>
          </a:p>
        </p:txBody>
      </p:sp>
      <p:sp>
        <p:nvSpPr>
          <p:cNvPr id="3" name="Content Placeholder 2"/>
          <p:cNvSpPr>
            <a:spLocks noGrp="1"/>
          </p:cNvSpPr>
          <p:nvPr>
            <p:ph idx="1"/>
          </p:nvPr>
        </p:nvSpPr>
        <p:spPr/>
        <p:txBody>
          <a:bodyPr/>
          <a:lstStyle/>
          <a:p>
            <a:pPr marL="36576" indent="0">
              <a:buNone/>
            </a:pPr>
            <a:r>
              <a:rPr lang="en-US" dirty="0" smtClean="0"/>
              <a:t>When addressing ‘significance of deviation’:</a:t>
            </a:r>
          </a:p>
          <a:p>
            <a:r>
              <a:rPr lang="en-US" dirty="0" smtClean="0"/>
              <a:t>‘Actual’ figures will never match ‘projected’ figures</a:t>
            </a:r>
          </a:p>
          <a:p>
            <a:r>
              <a:rPr lang="en-US" dirty="0" smtClean="0"/>
              <a:t>Variations are to be expected</a:t>
            </a:r>
          </a:p>
          <a:p>
            <a:r>
              <a:rPr lang="en-US" dirty="0" smtClean="0"/>
              <a:t>Variations are called ‘discrepancies’</a:t>
            </a:r>
          </a:p>
          <a:p>
            <a:r>
              <a:rPr lang="en-US" dirty="0" smtClean="0"/>
              <a:t>Only significant discrepancies (as identified/prescribed by the </a:t>
            </a:r>
            <a:r>
              <a:rPr lang="en-US" dirty="0" err="1" smtClean="0"/>
              <a:t>organisation</a:t>
            </a:r>
            <a:r>
              <a:rPr lang="en-US" dirty="0" smtClean="0"/>
              <a:t>) must be addressed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2132856"/>
            <a:ext cx="3240000" cy="2160000"/>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and report discrepancies according to policy and significance</a:t>
            </a:r>
            <a:endParaRPr lang="en-US" dirty="0"/>
          </a:p>
        </p:txBody>
      </p:sp>
      <p:sp>
        <p:nvSpPr>
          <p:cNvPr id="3" name="Content Placeholder 2"/>
          <p:cNvSpPr>
            <a:spLocks noGrp="1"/>
          </p:cNvSpPr>
          <p:nvPr>
            <p:ph idx="1"/>
          </p:nvPr>
        </p:nvSpPr>
        <p:spPr/>
        <p:txBody>
          <a:bodyPr/>
          <a:lstStyle/>
          <a:p>
            <a:pPr marL="36576" indent="0">
              <a:buNone/>
            </a:pPr>
            <a:r>
              <a:rPr lang="en-US" dirty="0" smtClean="0"/>
              <a:t>In general terms:</a:t>
            </a:r>
          </a:p>
          <a:p>
            <a:r>
              <a:rPr lang="en-AU" dirty="0" smtClean="0"/>
              <a:t>An increase in costs is unfavourable</a:t>
            </a:r>
          </a:p>
          <a:p>
            <a:r>
              <a:rPr lang="en-AU" dirty="0" smtClean="0"/>
              <a:t>A decrease in costs is favourable</a:t>
            </a:r>
          </a:p>
          <a:p>
            <a:r>
              <a:rPr lang="en-AU" dirty="0" smtClean="0"/>
              <a:t>An increase in revenue is favourable</a:t>
            </a:r>
          </a:p>
          <a:p>
            <a:r>
              <a:rPr lang="en-AU" dirty="0" smtClean="0"/>
              <a:t>A decrease in revenue is unfavourable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71</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195432" y="1994944"/>
            <a:ext cx="3883728" cy="28800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and report discrepancies according to policy and significance</a:t>
            </a:r>
            <a:endParaRPr lang="en-US" dirty="0"/>
          </a:p>
        </p:txBody>
      </p:sp>
      <p:sp>
        <p:nvSpPr>
          <p:cNvPr id="3" name="Content Placeholder 2"/>
          <p:cNvSpPr>
            <a:spLocks noGrp="1"/>
          </p:cNvSpPr>
          <p:nvPr>
            <p:ph idx="1"/>
          </p:nvPr>
        </p:nvSpPr>
        <p:spPr/>
        <p:txBody>
          <a:bodyPr/>
          <a:lstStyle/>
          <a:p>
            <a:pPr marL="36576" indent="0">
              <a:buNone/>
            </a:pPr>
            <a:r>
              <a:rPr lang="en-US" dirty="0" smtClean="0"/>
              <a:t>Enterprise polices commonly address:</a:t>
            </a:r>
          </a:p>
          <a:p>
            <a:r>
              <a:rPr lang="en-US" dirty="0" smtClean="0"/>
              <a:t>Frequency of preparation of reports</a:t>
            </a:r>
          </a:p>
          <a:p>
            <a:r>
              <a:rPr lang="en-US" dirty="0" smtClean="0"/>
              <a:t>Frequency with which checks are to be made</a:t>
            </a:r>
          </a:p>
          <a:p>
            <a:r>
              <a:rPr lang="en-US" dirty="0" smtClean="0"/>
              <a:t>Processed to be used for analysis/evaluation</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72</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64088" y="2708920"/>
            <a:ext cx="1919808" cy="288000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and report discrepancies according to policy and significance</a:t>
            </a:r>
            <a:endParaRPr lang="en-US" dirty="0"/>
          </a:p>
        </p:txBody>
      </p:sp>
      <p:sp>
        <p:nvSpPr>
          <p:cNvPr id="3" name="Content Placeholder 2"/>
          <p:cNvSpPr>
            <a:spLocks noGrp="1"/>
          </p:cNvSpPr>
          <p:nvPr>
            <p:ph idx="1"/>
          </p:nvPr>
        </p:nvSpPr>
        <p:spPr/>
        <p:txBody>
          <a:bodyPr/>
          <a:lstStyle/>
          <a:p>
            <a:r>
              <a:rPr lang="en-US" dirty="0" smtClean="0"/>
              <a:t>Basis for determining what is ‘notifiable’ (a significant discrepancy)</a:t>
            </a:r>
          </a:p>
          <a:p>
            <a:r>
              <a:rPr lang="en-US" dirty="0" smtClean="0"/>
              <a:t>Timeframes for notification</a:t>
            </a:r>
          </a:p>
          <a:p>
            <a:r>
              <a:rPr lang="en-US" dirty="0" smtClean="0"/>
              <a:t>Identification of who needs to be informed</a:t>
            </a:r>
          </a:p>
          <a:p>
            <a:r>
              <a:rPr lang="en-US" dirty="0" smtClean="0"/>
              <a:t>Form of notification to be used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73</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67242" y="1431270"/>
            <a:ext cx="2766150" cy="3240000"/>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Identify and report discrepancies according to policy and significance</a:t>
            </a:r>
            <a:endParaRPr lang="en-US" dirty="0"/>
          </a:p>
        </p:txBody>
      </p:sp>
      <p:sp>
        <p:nvSpPr>
          <p:cNvPr id="3" name="Content Placeholder 2"/>
          <p:cNvSpPr>
            <a:spLocks noGrp="1"/>
          </p:cNvSpPr>
          <p:nvPr>
            <p:ph idx="1"/>
          </p:nvPr>
        </p:nvSpPr>
        <p:spPr/>
        <p:txBody>
          <a:bodyPr/>
          <a:lstStyle/>
          <a:p>
            <a:pPr marL="36576" indent="0">
              <a:buNone/>
            </a:pPr>
            <a:r>
              <a:rPr lang="en-US" dirty="0" smtClean="0"/>
              <a:t>Notification requirements/options may include:</a:t>
            </a:r>
          </a:p>
          <a:p>
            <a:r>
              <a:rPr lang="en-US" dirty="0" smtClean="0"/>
              <a:t>Immediate verbal reports</a:t>
            </a:r>
          </a:p>
          <a:p>
            <a:r>
              <a:rPr lang="en-US" dirty="0" smtClean="0"/>
              <a:t>Formal presentation</a:t>
            </a:r>
          </a:p>
          <a:p>
            <a:r>
              <a:rPr lang="en-US" dirty="0" smtClean="0"/>
              <a:t>Being available to answer questions and/or make suggestions about action to take to address the situation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74</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348880"/>
            <a:ext cx="2430000" cy="324000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Advise colleagues of budget status in relation to targets</a:t>
            </a:r>
            <a:endParaRPr lang="en-US" dirty="0"/>
          </a:p>
        </p:txBody>
      </p:sp>
      <p:sp>
        <p:nvSpPr>
          <p:cNvPr id="3" name="Content Placeholder 2"/>
          <p:cNvSpPr>
            <a:spLocks noGrp="1"/>
          </p:cNvSpPr>
          <p:nvPr>
            <p:ph idx="1"/>
          </p:nvPr>
        </p:nvSpPr>
        <p:spPr/>
        <p:txBody>
          <a:bodyPr/>
          <a:lstStyle/>
          <a:p>
            <a:pPr marL="36576" indent="0">
              <a:buNone/>
            </a:pPr>
            <a:r>
              <a:rPr lang="en-US" dirty="0" smtClean="0"/>
              <a:t>Reasons to advise colleagues of budget status:</a:t>
            </a:r>
          </a:p>
          <a:p>
            <a:r>
              <a:rPr lang="en-US" dirty="0" smtClean="0"/>
              <a:t>Motivate others</a:t>
            </a:r>
          </a:p>
          <a:p>
            <a:r>
              <a:rPr lang="en-US" dirty="0" smtClean="0"/>
              <a:t>Acknowledge work done/efforts</a:t>
            </a:r>
          </a:p>
          <a:p>
            <a:r>
              <a:rPr lang="en-US" dirty="0" smtClean="0"/>
              <a:t>Keep people informed</a:t>
            </a:r>
          </a:p>
          <a:p>
            <a:r>
              <a:rPr lang="en-US" dirty="0" smtClean="0"/>
              <a:t>Enable lessons to be learned from the results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1988840"/>
            <a:ext cx="2160000" cy="32400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Advise colleagues of budget status in relation to targets</a:t>
            </a:r>
            <a:endParaRPr lang="en-US" dirty="0"/>
          </a:p>
        </p:txBody>
      </p:sp>
      <p:sp>
        <p:nvSpPr>
          <p:cNvPr id="3" name="Content Placeholder 2"/>
          <p:cNvSpPr>
            <a:spLocks noGrp="1"/>
          </p:cNvSpPr>
          <p:nvPr>
            <p:ph idx="1"/>
          </p:nvPr>
        </p:nvSpPr>
        <p:spPr/>
        <p:txBody>
          <a:bodyPr/>
          <a:lstStyle/>
          <a:p>
            <a:pPr marL="36576" indent="0">
              <a:buNone/>
            </a:pPr>
            <a:r>
              <a:rPr lang="en-US" dirty="0" smtClean="0"/>
              <a:t>Those who may need to be advised:</a:t>
            </a:r>
          </a:p>
          <a:p>
            <a:r>
              <a:rPr lang="en-US" dirty="0" smtClean="0"/>
              <a:t>Owner</a:t>
            </a:r>
          </a:p>
          <a:p>
            <a:r>
              <a:rPr lang="en-US" dirty="0" smtClean="0"/>
              <a:t>Senior management</a:t>
            </a:r>
          </a:p>
          <a:p>
            <a:r>
              <a:rPr lang="en-US" dirty="0" smtClean="0"/>
              <a:t>Accounts/finance department</a:t>
            </a:r>
          </a:p>
          <a:p>
            <a:r>
              <a:rPr lang="en-US" dirty="0" smtClean="0"/>
              <a:t>Budget committee</a:t>
            </a:r>
          </a:p>
          <a:p>
            <a:r>
              <a:rPr lang="en-US" dirty="0" smtClean="0"/>
              <a:t>Supervisors</a:t>
            </a:r>
          </a:p>
          <a:p>
            <a:r>
              <a:rPr lang="en-US" dirty="0" smtClean="0"/>
              <a:t>Staff</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79" y="2006622"/>
            <a:ext cx="2889993" cy="1926434"/>
          </a:xfrm>
          <a:prstGeom prst="rect">
            <a:avLst/>
          </a:prstGeom>
          <a:ln>
            <a:noFill/>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Advise colleagues of budget status in relation to targets</a:t>
            </a:r>
            <a:endParaRPr lang="en-US" dirty="0"/>
          </a:p>
        </p:txBody>
      </p:sp>
      <p:sp>
        <p:nvSpPr>
          <p:cNvPr id="3" name="Content Placeholder 2"/>
          <p:cNvSpPr>
            <a:spLocks noGrp="1"/>
          </p:cNvSpPr>
          <p:nvPr>
            <p:ph idx="1"/>
          </p:nvPr>
        </p:nvSpPr>
        <p:spPr/>
        <p:txBody>
          <a:bodyPr/>
          <a:lstStyle/>
          <a:p>
            <a:pPr marL="36576" indent="0">
              <a:buNone/>
            </a:pPr>
            <a:r>
              <a:rPr lang="en-US" dirty="0" smtClean="0"/>
              <a:t>Timelines for notification:</a:t>
            </a:r>
          </a:p>
          <a:p>
            <a:r>
              <a:rPr lang="en-US" dirty="0" smtClean="0"/>
              <a:t>Usually relatively short – within 24 hours</a:t>
            </a:r>
          </a:p>
          <a:p>
            <a:r>
              <a:rPr lang="en-US" dirty="0" smtClean="0"/>
              <a:t>‘Immediately’ in crisis/serious situations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77</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560189" cy="324000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Advise colleagues of budget status in relation to targets</a:t>
            </a:r>
            <a:endParaRPr lang="en-US" dirty="0"/>
          </a:p>
        </p:txBody>
      </p:sp>
      <p:sp>
        <p:nvSpPr>
          <p:cNvPr id="3" name="Content Placeholder 2"/>
          <p:cNvSpPr>
            <a:spLocks noGrp="1"/>
          </p:cNvSpPr>
          <p:nvPr>
            <p:ph idx="1"/>
          </p:nvPr>
        </p:nvSpPr>
        <p:spPr/>
        <p:txBody>
          <a:bodyPr/>
          <a:lstStyle/>
          <a:p>
            <a:pPr marL="36576" indent="0">
              <a:buNone/>
            </a:pPr>
            <a:r>
              <a:rPr lang="en-US" dirty="0" smtClean="0"/>
              <a:t>Ways to advise/notify:</a:t>
            </a:r>
          </a:p>
          <a:p>
            <a:r>
              <a:rPr lang="en-US" dirty="0" smtClean="0"/>
              <a:t>Using statistical reports/documents</a:t>
            </a:r>
          </a:p>
          <a:p>
            <a:r>
              <a:rPr lang="en-US" dirty="0" smtClean="0"/>
              <a:t>Providing charts/graphs</a:t>
            </a:r>
          </a:p>
          <a:p>
            <a:r>
              <a:rPr lang="en-US" dirty="0" smtClean="0"/>
              <a:t>Presenting/discussing findings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3400" y="2060848"/>
            <a:ext cx="3240000" cy="2160000"/>
          </a:xfrm>
          <a:prstGeom prst="rect">
            <a:avLst/>
          </a:prstGeom>
          <a:ln>
            <a:noFill/>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2</a:t>
            </a:r>
            <a:endParaRPr lang="en-US" dirty="0"/>
          </a:p>
        </p:txBody>
      </p:sp>
      <p:sp>
        <p:nvSpPr>
          <p:cNvPr id="3" name="Content Placeholder 2"/>
          <p:cNvSpPr>
            <a:spLocks noGrp="1"/>
          </p:cNvSpPr>
          <p:nvPr>
            <p:ph idx="1"/>
          </p:nvPr>
        </p:nvSpPr>
        <p:spPr/>
        <p:txBody>
          <a:bodyPr/>
          <a:lstStyle/>
          <a:p>
            <a:pPr marL="36576" indent="0">
              <a:buNone/>
            </a:pPr>
            <a:r>
              <a:rPr lang="en-US" dirty="0" smtClean="0"/>
              <a:t>When monitoring financial activities against budgets:</a:t>
            </a:r>
          </a:p>
          <a:p>
            <a:r>
              <a:rPr lang="en-AU" dirty="0" smtClean="0"/>
              <a:t>Check all budgets frequently on a regular basis</a:t>
            </a:r>
          </a:p>
          <a:p>
            <a:r>
              <a:rPr lang="en-AU" dirty="0" smtClean="0"/>
              <a:t>Analyse the figures and determine what they mean</a:t>
            </a:r>
          </a:p>
          <a:p>
            <a:r>
              <a:rPr lang="en-AU" dirty="0" smtClean="0"/>
              <a:t>Ensure full understanding of the purpose/s of all reports generated</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2</a:t>
            </a:r>
            <a:endParaRPr lang="en-US" dirty="0"/>
          </a:p>
        </p:txBody>
      </p:sp>
      <p:sp>
        <p:nvSpPr>
          <p:cNvPr id="3" name="Content Placeholder 2"/>
          <p:cNvSpPr>
            <a:spLocks noGrp="1"/>
          </p:cNvSpPr>
          <p:nvPr>
            <p:ph idx="1"/>
          </p:nvPr>
        </p:nvSpPr>
        <p:spPr/>
        <p:txBody>
          <a:bodyPr/>
          <a:lstStyle/>
          <a:p>
            <a:r>
              <a:rPr lang="en-AU" dirty="0" smtClean="0"/>
              <a:t>Identify and investigate variances/discrepancies</a:t>
            </a:r>
          </a:p>
          <a:p>
            <a:r>
              <a:rPr lang="en-AU" dirty="0" smtClean="0"/>
              <a:t>Report identified variances/discrepancies in accordance with internal protocols</a:t>
            </a:r>
          </a:p>
          <a:p>
            <a:r>
              <a:rPr lang="en-AU" dirty="0" smtClean="0"/>
              <a:t>Appreciate degree, amount and significance of all variances/discrepancies</a:t>
            </a:r>
          </a:p>
          <a:p>
            <a:r>
              <a:rPr lang="en-AU" dirty="0" smtClean="0"/>
              <a:t>Communicate budget/report information, analysis and findings to relevant others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27984" y="1844824"/>
            <a:ext cx="2383474" cy="306000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1512168"/>
          </a:xfrm>
        </p:spPr>
        <p:txBody>
          <a:bodyPr>
            <a:normAutofit fontScale="90000"/>
          </a:bodyPr>
          <a:lstStyle/>
          <a:p>
            <a:r>
              <a:rPr lang="en-US" dirty="0" smtClean="0"/>
              <a:t>Element 3 – Identify and evaluate options for improved budget performance</a:t>
            </a:r>
            <a:endParaRPr lang="en-US" dirty="0"/>
          </a:p>
        </p:txBody>
      </p:sp>
      <p:sp>
        <p:nvSpPr>
          <p:cNvPr id="3" name="Content Placeholder 2"/>
          <p:cNvSpPr>
            <a:spLocks noGrp="1"/>
          </p:cNvSpPr>
          <p:nvPr>
            <p:ph idx="1"/>
          </p:nvPr>
        </p:nvSpPr>
        <p:spPr/>
        <p:txBody>
          <a:bodyPr/>
          <a:lstStyle/>
          <a:p>
            <a:pPr marL="36576" indent="0">
              <a:buNone/>
            </a:pPr>
            <a:r>
              <a:rPr lang="en-US" dirty="0" smtClean="0"/>
              <a:t>Performance Criteria for this Element are:</a:t>
            </a:r>
          </a:p>
          <a:p>
            <a:r>
              <a:rPr lang="en-US" dirty="0" smtClean="0"/>
              <a:t>Assess existing costs and resources and identify areas for improvement</a:t>
            </a:r>
          </a:p>
          <a:p>
            <a:r>
              <a:rPr lang="en-US" dirty="0" smtClean="0"/>
              <a:t>Discuss desired outcomes with relevant colleagues</a:t>
            </a:r>
          </a:p>
          <a:p>
            <a:r>
              <a:rPr lang="en-US" dirty="0" smtClean="0"/>
              <a:t>Undertake appropriate research to investigate new approaches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7398" y="1988840"/>
            <a:ext cx="2880000" cy="2160000"/>
          </a:xfrm>
          <a:prstGeom prst="rect">
            <a:avLst/>
          </a:prstGeom>
          <a:ln>
            <a:noFill/>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and evaluate options for improved budget performance</a:t>
            </a:r>
          </a:p>
        </p:txBody>
      </p:sp>
      <p:sp>
        <p:nvSpPr>
          <p:cNvPr id="3" name="Content Placeholder 2"/>
          <p:cNvSpPr>
            <a:spLocks noGrp="1"/>
          </p:cNvSpPr>
          <p:nvPr>
            <p:ph idx="1"/>
          </p:nvPr>
        </p:nvSpPr>
        <p:spPr>
          <a:xfrm>
            <a:off x="457200" y="1988840"/>
            <a:ext cx="4258816" cy="4137323"/>
          </a:xfrm>
        </p:spPr>
        <p:txBody>
          <a:bodyPr>
            <a:normAutofit lnSpcReduction="10000"/>
          </a:bodyPr>
          <a:lstStyle/>
          <a:p>
            <a:r>
              <a:rPr lang="en-US" dirty="0" smtClean="0"/>
              <a:t>Undertake appropriate research to investigate new approaches</a:t>
            </a:r>
          </a:p>
          <a:p>
            <a:r>
              <a:rPr lang="en-US" dirty="0" smtClean="0"/>
              <a:t>Define and communicate clearly the benefits and disadvantages of new approaches</a:t>
            </a:r>
          </a:p>
          <a:p>
            <a:r>
              <a:rPr lang="en-US" dirty="0" smtClean="0"/>
              <a:t>Take account of impacts on customer service levels and colleagues in developing new approaches</a:t>
            </a:r>
          </a:p>
          <a:p>
            <a:r>
              <a:rPr lang="en-US" dirty="0" smtClean="0"/>
              <a:t>Present recommendations clearly and logically to the appropriate relevant stakeholders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860032" y="1988840"/>
            <a:ext cx="2460832" cy="324000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Assess existing costs and resources and identify areas for improvement</a:t>
            </a:r>
            <a:endParaRPr lang="en-US" dirty="0"/>
          </a:p>
        </p:txBody>
      </p:sp>
      <p:sp>
        <p:nvSpPr>
          <p:cNvPr id="3" name="Content Placeholder 2"/>
          <p:cNvSpPr>
            <a:spLocks noGrp="1"/>
          </p:cNvSpPr>
          <p:nvPr>
            <p:ph idx="1"/>
          </p:nvPr>
        </p:nvSpPr>
        <p:spPr/>
        <p:txBody>
          <a:bodyPr/>
          <a:lstStyle/>
          <a:p>
            <a:pPr marL="36576" indent="0">
              <a:buNone/>
            </a:pPr>
            <a:r>
              <a:rPr lang="en-US" dirty="0" smtClean="0"/>
              <a:t>Attention commonly paid to areas where:</a:t>
            </a:r>
          </a:p>
          <a:p>
            <a:r>
              <a:rPr lang="en-US" dirty="0" smtClean="0"/>
              <a:t>Actual costs exceed projected costs</a:t>
            </a:r>
          </a:p>
          <a:p>
            <a:r>
              <a:rPr lang="en-US" dirty="0" smtClean="0"/>
              <a:t>‘Red flags’ are raised</a:t>
            </a:r>
          </a:p>
          <a:p>
            <a:r>
              <a:rPr lang="en-US" dirty="0" smtClean="0"/>
              <a:t>Unacceptable trends emerge</a:t>
            </a:r>
          </a:p>
          <a:p>
            <a:r>
              <a:rPr lang="en-US" dirty="0" smtClean="0"/>
              <a:t>Unexplained costs are identified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54800" y="1988840"/>
            <a:ext cx="2970000" cy="1980000"/>
          </a:xfrm>
          <a:prstGeom prst="rect">
            <a:avLst/>
          </a:prstGeom>
          <a:ln>
            <a:noFill/>
          </a:ln>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Assess existing costs and resources and identify areas for improvement</a:t>
            </a:r>
            <a:endParaRPr lang="en-US" dirty="0"/>
          </a:p>
        </p:txBody>
      </p:sp>
      <p:sp>
        <p:nvSpPr>
          <p:cNvPr id="3" name="Content Placeholder 2"/>
          <p:cNvSpPr>
            <a:spLocks noGrp="1"/>
          </p:cNvSpPr>
          <p:nvPr>
            <p:ph idx="1"/>
          </p:nvPr>
        </p:nvSpPr>
        <p:spPr/>
        <p:txBody>
          <a:bodyPr/>
          <a:lstStyle/>
          <a:p>
            <a:pPr marL="36576" indent="0">
              <a:buNone/>
            </a:pPr>
            <a:r>
              <a:rPr lang="en-US" dirty="0" smtClean="0"/>
              <a:t>Possible causes of reduced returns:</a:t>
            </a:r>
          </a:p>
          <a:p>
            <a:r>
              <a:rPr lang="en-US" dirty="0" smtClean="0"/>
              <a:t>Theft = stock and/or cash</a:t>
            </a:r>
          </a:p>
          <a:p>
            <a:r>
              <a:rPr lang="en-US" dirty="0" smtClean="0"/>
              <a:t>Serve sizes which are over-size</a:t>
            </a:r>
          </a:p>
          <a:p>
            <a:r>
              <a:rPr lang="en-US" dirty="0" smtClean="0"/>
              <a:t>Staff under-charging customers</a:t>
            </a:r>
          </a:p>
          <a:p>
            <a:r>
              <a:rPr lang="en-US" dirty="0" smtClean="0"/>
              <a:t>Staff bringing and selling their own stock</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13400" y="1959496"/>
            <a:ext cx="2040000" cy="3060000"/>
          </a:xfrm>
          <a:prstGeom prst="rect">
            <a:avLst/>
          </a:prstGeom>
          <a:ln>
            <a:noFill/>
          </a:ln>
          <a:effec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Assess existing costs and resources and identify areas for improvement</a:t>
            </a:r>
            <a:endParaRPr lang="en-US" dirty="0"/>
          </a:p>
        </p:txBody>
      </p:sp>
      <p:sp>
        <p:nvSpPr>
          <p:cNvPr id="3" name="Content Placeholder 2"/>
          <p:cNvSpPr>
            <a:spLocks noGrp="1"/>
          </p:cNvSpPr>
          <p:nvPr>
            <p:ph idx="1"/>
          </p:nvPr>
        </p:nvSpPr>
        <p:spPr/>
        <p:txBody>
          <a:bodyPr/>
          <a:lstStyle/>
          <a:p>
            <a:r>
              <a:rPr lang="en-US" dirty="0" smtClean="0"/>
              <a:t>Staff giving away stock</a:t>
            </a:r>
          </a:p>
          <a:p>
            <a:r>
              <a:rPr lang="en-US" dirty="0" smtClean="0"/>
              <a:t>Setting selling prices based on out-of-date cost prices</a:t>
            </a:r>
          </a:p>
          <a:p>
            <a:r>
              <a:rPr lang="en-US" dirty="0" smtClean="0"/>
              <a:t>Incorrect stock takes</a:t>
            </a:r>
          </a:p>
          <a:p>
            <a:r>
              <a:rPr lang="en-US" dirty="0" smtClean="0"/>
              <a:t>Stock transfers between departments not recorded</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580112" y="1988840"/>
            <a:ext cx="2040000" cy="3060000"/>
          </a:xfrm>
          <a:prstGeom prst="rect">
            <a:avLst/>
          </a:prstGeom>
          <a:ln>
            <a:noFill/>
          </a:ln>
          <a:effec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Assess existing costs and resources and identify areas for improvement</a:t>
            </a:r>
            <a:endParaRPr lang="en-US" dirty="0"/>
          </a:p>
        </p:txBody>
      </p:sp>
      <p:sp>
        <p:nvSpPr>
          <p:cNvPr id="3" name="Content Placeholder 2"/>
          <p:cNvSpPr>
            <a:spLocks noGrp="1"/>
          </p:cNvSpPr>
          <p:nvPr>
            <p:ph idx="1"/>
          </p:nvPr>
        </p:nvSpPr>
        <p:spPr/>
        <p:txBody>
          <a:bodyPr/>
          <a:lstStyle/>
          <a:p>
            <a:r>
              <a:rPr lang="en-US" dirty="0" smtClean="0"/>
              <a:t>Staff abusing </a:t>
            </a:r>
            <a:r>
              <a:rPr lang="en-US" dirty="0" err="1" smtClean="0"/>
              <a:t>organisational</a:t>
            </a:r>
            <a:r>
              <a:rPr lang="en-US" dirty="0" smtClean="0"/>
              <a:t> entitlements</a:t>
            </a:r>
          </a:p>
          <a:p>
            <a:r>
              <a:rPr lang="en-US" dirty="0" smtClean="0"/>
              <a:t>Excessive waste</a:t>
            </a:r>
          </a:p>
          <a:p>
            <a:r>
              <a:rPr lang="en-US" dirty="0" smtClean="0"/>
              <a:t>Inappropriate selling prices</a:t>
            </a:r>
          </a:p>
          <a:p>
            <a:r>
              <a:rPr lang="en-US" dirty="0" smtClean="0"/>
              <a:t>Not billing all legitimate charges</a:t>
            </a:r>
          </a:p>
          <a:p>
            <a:r>
              <a:rPr lang="en-US" dirty="0" smtClean="0"/>
              <a:t>Not verifying deliveries into the business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Assess existing costs and resources and identify areas for improvement</a:t>
            </a:r>
            <a:endParaRPr lang="en-US" dirty="0"/>
          </a:p>
        </p:txBody>
      </p:sp>
      <p:sp>
        <p:nvSpPr>
          <p:cNvPr id="3" name="Content Placeholder 2"/>
          <p:cNvSpPr>
            <a:spLocks noGrp="1"/>
          </p:cNvSpPr>
          <p:nvPr>
            <p:ph idx="1"/>
          </p:nvPr>
        </p:nvSpPr>
        <p:spPr/>
        <p:txBody>
          <a:bodyPr/>
          <a:lstStyle/>
          <a:p>
            <a:pPr marL="36576" indent="0">
              <a:buNone/>
            </a:pPr>
            <a:r>
              <a:rPr lang="en-US" dirty="0" smtClean="0"/>
              <a:t>The ‘Control Cycle’ provides controls in:</a:t>
            </a:r>
          </a:p>
          <a:p>
            <a:r>
              <a:rPr lang="en-US" dirty="0" smtClean="0"/>
              <a:t>Purchasing</a:t>
            </a:r>
          </a:p>
          <a:p>
            <a:r>
              <a:rPr lang="en-US" dirty="0" err="1" smtClean="0"/>
              <a:t>Receival</a:t>
            </a:r>
            <a:endParaRPr lang="en-US" dirty="0" smtClean="0"/>
          </a:p>
          <a:p>
            <a:r>
              <a:rPr lang="en-US" dirty="0" smtClean="0"/>
              <a:t>Storage</a:t>
            </a:r>
          </a:p>
          <a:p>
            <a:r>
              <a:rPr lang="en-US" dirty="0" smtClean="0"/>
              <a:t>Issuing</a:t>
            </a:r>
          </a:p>
          <a:p>
            <a:r>
              <a:rPr lang="en-US" dirty="0" smtClean="0"/>
              <a:t>Production</a:t>
            </a:r>
          </a:p>
          <a:p>
            <a:r>
              <a:rPr lang="en-US" dirty="0" smtClean="0"/>
              <a:t>Service</a:t>
            </a:r>
          </a:p>
          <a:p>
            <a:r>
              <a:rPr lang="en-US" dirty="0" smtClean="0"/>
              <a:t>Sales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87</a:t>
            </a:fld>
            <a:endParaRPr lang="en-US" dirty="0"/>
          </a:p>
        </p:txBody>
      </p:sp>
      <p:graphicFrame>
        <p:nvGraphicFramePr>
          <p:cNvPr id="5" name="Diagram 4"/>
          <p:cNvGraphicFramePr/>
          <p:nvPr>
            <p:extLst>
              <p:ext uri="{D42A27DB-BD31-4B8C-83A1-F6EECF244321}">
                <p14:modId xmlns:p14="http://schemas.microsoft.com/office/powerpoint/2010/main" val="2622437989"/>
              </p:ext>
            </p:extLst>
          </p:nvPr>
        </p:nvGraphicFramePr>
        <p:xfrm>
          <a:off x="2339752" y="198884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p:txBody>
          <a:bodyPr/>
          <a:lstStyle/>
          <a:p>
            <a:pPr marL="36576" indent="0">
              <a:buNone/>
            </a:pPr>
            <a:r>
              <a:rPr lang="en-US" dirty="0" smtClean="0"/>
              <a:t>Three generic responses exist in relation to making adjustments to budget outcomes:</a:t>
            </a:r>
          </a:p>
          <a:p>
            <a:r>
              <a:rPr lang="en-US" dirty="0" smtClean="0"/>
              <a:t>Raise targets </a:t>
            </a:r>
          </a:p>
          <a:p>
            <a:r>
              <a:rPr lang="en-US" dirty="0" smtClean="0"/>
              <a:t>Lower targets</a:t>
            </a:r>
          </a:p>
          <a:p>
            <a:r>
              <a:rPr lang="en-US" dirty="0" smtClean="0"/>
              <a:t>Leave them as they are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88</a:t>
            </a:fld>
            <a:endParaRPr lang="en-US" dirty="0"/>
          </a:p>
        </p:txBody>
      </p:sp>
      <p:pic>
        <p:nvPicPr>
          <p:cNvPr id="5" name="Picture 4"/>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49344" y="1988840"/>
            <a:ext cx="3461370" cy="3461370"/>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p:txBody>
          <a:bodyPr/>
          <a:lstStyle/>
          <a:p>
            <a:pPr marL="36576" indent="0">
              <a:buNone/>
            </a:pPr>
            <a:r>
              <a:rPr lang="en-US" dirty="0" smtClean="0"/>
              <a:t>Raising targets = setting higher levels for income in revenue budgets, and increasing funds available for spending in expenditure budgets – this may apply if:</a:t>
            </a:r>
          </a:p>
          <a:p>
            <a:r>
              <a:rPr lang="en-AU" dirty="0" smtClean="0"/>
              <a:t>All revenue budgets to-date have been achieved or exceeded</a:t>
            </a:r>
            <a:endParaRPr lang="en-US" dirty="0" smtClean="0"/>
          </a:p>
          <a:p>
            <a:r>
              <a:rPr lang="en-AU" dirty="0" smtClean="0"/>
              <a:t>A special event has been announced</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89</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716016" y="1988840"/>
            <a:ext cx="3101145" cy="2736305"/>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p:txBody>
          <a:bodyPr/>
          <a:lstStyle/>
          <a:p>
            <a:r>
              <a:rPr lang="en-AU" dirty="0" smtClean="0"/>
              <a:t>A major competitor has withdrawn from the marketplace</a:t>
            </a:r>
            <a:endParaRPr lang="en-US" dirty="0" smtClean="0"/>
          </a:p>
          <a:p>
            <a:pPr lvl="0"/>
            <a:r>
              <a:rPr lang="en-AU" dirty="0" smtClean="0"/>
              <a:t>Where there has been a significant increase in selling prices</a:t>
            </a:r>
            <a:endParaRPr lang="en-US" dirty="0" smtClean="0"/>
          </a:p>
          <a:p>
            <a:r>
              <a:rPr lang="en-AU" dirty="0" smtClean="0"/>
              <a:t>An increase in sales has meant a corresponding increase in purchases</a:t>
            </a:r>
          </a:p>
          <a:p>
            <a:r>
              <a:rPr lang="en-AU" dirty="0" smtClean="0"/>
              <a:t>Limited supply of a prime item has caused a spike in purchasing costs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54534" y="1700808"/>
            <a:ext cx="3451522" cy="3451522"/>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Lowering targets = setting lower levels for income in revenue budgets, and reducing funds available for spending in expenditure budgets – this may apply if:</a:t>
            </a:r>
          </a:p>
          <a:p>
            <a:r>
              <a:rPr lang="en-US" dirty="0" smtClean="0"/>
              <a:t>Sales are consistently below projections</a:t>
            </a:r>
          </a:p>
          <a:p>
            <a:r>
              <a:rPr lang="en-US" dirty="0" smtClean="0"/>
              <a:t>There is strong belief trade will decrease</a:t>
            </a:r>
          </a:p>
          <a:p>
            <a:r>
              <a:rPr lang="en-US" dirty="0" smtClean="0"/>
              <a:t>There is an unexpected event which impacts trade</a:t>
            </a:r>
          </a:p>
          <a:p>
            <a:r>
              <a:rPr lang="en-US" dirty="0" smtClean="0"/>
              <a:t>Significant expenditure required on the business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91</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88024" y="2008110"/>
            <a:ext cx="3136776" cy="3136776"/>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p:txBody>
          <a:bodyPr/>
          <a:lstStyle/>
          <a:p>
            <a:pPr marL="36576" indent="0">
              <a:buNone/>
            </a:pPr>
            <a:r>
              <a:rPr lang="en-US" dirty="0" smtClean="0"/>
              <a:t>Doing nothing:</a:t>
            </a:r>
          </a:p>
          <a:p>
            <a:r>
              <a:rPr lang="en-US" dirty="0" smtClean="0"/>
              <a:t>Can be a valid response</a:t>
            </a:r>
          </a:p>
          <a:p>
            <a:r>
              <a:rPr lang="en-US" dirty="0" smtClean="0"/>
              <a:t>Is a valid response if sufficient and appropriate research has underpinned original projections</a:t>
            </a:r>
          </a:p>
          <a:p>
            <a:r>
              <a:rPr lang="en-US" dirty="0" smtClean="0"/>
              <a:t>Can avoid sending ‘panic’ messages to staff and others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04048" y="2007118"/>
            <a:ext cx="2440901" cy="2520000"/>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p:txBody>
          <a:bodyPr/>
          <a:lstStyle/>
          <a:p>
            <a:pPr marL="36576" indent="0">
              <a:buNone/>
            </a:pPr>
            <a:r>
              <a:rPr lang="en-US" dirty="0" smtClean="0"/>
              <a:t>‘Relevant colleagues’ may include:</a:t>
            </a:r>
          </a:p>
          <a:p>
            <a:r>
              <a:rPr lang="en-US" dirty="0" smtClean="0"/>
              <a:t>Owners and senior management</a:t>
            </a:r>
          </a:p>
          <a:p>
            <a:r>
              <a:rPr lang="en-US" dirty="0" smtClean="0"/>
              <a:t>Administration and accounting staff</a:t>
            </a:r>
          </a:p>
          <a:p>
            <a:r>
              <a:rPr lang="en-US" dirty="0" smtClean="0"/>
              <a:t>Nominated operational staff</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93</a:t>
            </a:fld>
            <a:endParaRPr lang="en-US" dirty="0"/>
          </a:p>
        </p:txBody>
      </p:sp>
      <p:pic>
        <p:nvPicPr>
          <p:cNvPr id="5" name="Picture 4"/>
          <p:cNvPicPr>
            <a:picLocks noChangeAspect="1"/>
          </p:cNvPicPr>
          <p:nvPr/>
        </p:nvPicPr>
        <p:blipFill rotWithShape="1">
          <a:blip r:embed="rId3" cstate="screen">
            <a:extLst>
              <a:ext uri="{BEBA8EAE-BF5A-486C-A8C5-ECC9F3942E4B}">
                <a14:imgProps xmlns:a14="http://schemas.microsoft.com/office/drawing/2010/main">
                  <a14:imgLayer r:embed="rId4">
                    <a14:imgEffect>
                      <a14:backgroundRemoval t="610" b="100000" l="4888" r="99172">
                        <a14:foregroundMark x1="55369" y1="41649" x2="55369" y2="41649"/>
                        <a14:backgroundMark x1="36004" y1="67859" x2="36004" y2="67859"/>
                        <a14:backgroundMark x1="34081" y1="79091" x2="34081" y2="79091"/>
                      </a14:backgroundRemoval>
                    </a14:imgEffect>
                  </a14:imgLayer>
                </a14:imgProps>
              </a:ext>
              <a:ext uri="{28A0092B-C50C-407E-A947-70E740481C1C}">
                <a14:useLocalDpi xmlns:a14="http://schemas.microsoft.com/office/drawing/2010/main"/>
              </a:ext>
            </a:extLst>
          </a:blip>
          <a:srcRect/>
          <a:stretch/>
        </p:blipFill>
        <p:spPr>
          <a:xfrm>
            <a:off x="4716016" y="1772816"/>
            <a:ext cx="2693459" cy="3420000"/>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p:txBody>
          <a:bodyPr/>
          <a:lstStyle/>
          <a:p>
            <a:pPr marL="36576" indent="0">
              <a:buNone/>
            </a:pPr>
            <a:r>
              <a:rPr lang="en-US" dirty="0" smtClean="0"/>
              <a:t>Discussion of desired budget outcomes may involve:</a:t>
            </a:r>
          </a:p>
          <a:p>
            <a:r>
              <a:rPr lang="en-US" dirty="0" smtClean="0"/>
              <a:t>Meeting with relevant colleagues</a:t>
            </a:r>
          </a:p>
          <a:p>
            <a:r>
              <a:rPr lang="en-US" dirty="0" smtClean="0"/>
              <a:t>Presentation of facts and figures</a:t>
            </a:r>
          </a:p>
          <a:p>
            <a:r>
              <a:rPr lang="en-US" dirty="0" smtClean="0"/>
              <a:t>Identification of rationale which underpinned original projections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94</a:t>
            </a:fld>
            <a:endParaRPr lang="en-US" dirty="0"/>
          </a:p>
        </p:txBody>
      </p:sp>
      <p:pic>
        <p:nvPicPr>
          <p:cNvPr id="5" name="Picture 4"/>
          <p:cNvPicPr>
            <a:picLocks noChangeAspect="1"/>
          </p:cNvPicPr>
          <p:nvPr/>
        </p:nvPicPr>
        <p:blipFill>
          <a:blip r:embed="rId3" cstate="screen">
            <a:extLst>
              <a:ext uri="{BEBA8EAE-BF5A-486C-A8C5-ECC9F3942E4B}">
                <a14:imgProps xmlns:a14="http://schemas.microsoft.com/office/drawing/2010/main">
                  <a14:imgLayer r:embed="rId4">
                    <a14:imgEffect>
                      <a14:backgroundRemoval t="5389" b="100000" l="9964" r="95086">
                        <a14:foregroundMark x1="62875" y1="72578" x2="62875" y2="72578"/>
                      </a14:backgroundRemoval>
                    </a14:imgEffect>
                  </a14:imgLayer>
                </a14:imgProps>
              </a:ext>
              <a:ext uri="{28A0092B-C50C-407E-A947-70E740481C1C}">
                <a14:useLocalDpi xmlns:a14="http://schemas.microsoft.com/office/drawing/2010/main"/>
              </a:ext>
            </a:extLst>
          </a:blip>
          <a:stretch>
            <a:fillRect/>
          </a:stretch>
        </p:blipFill>
        <p:spPr>
          <a:xfrm>
            <a:off x="3530352" y="1700808"/>
            <a:ext cx="5004048" cy="3336032"/>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Discuss desired outcomes with relevant colleagues</a:t>
            </a:r>
            <a:endParaRPr lang="en-US" dirty="0"/>
          </a:p>
        </p:txBody>
      </p:sp>
      <p:sp>
        <p:nvSpPr>
          <p:cNvPr id="3" name="Content Placeholder 2"/>
          <p:cNvSpPr>
            <a:spLocks noGrp="1"/>
          </p:cNvSpPr>
          <p:nvPr>
            <p:ph idx="1"/>
          </p:nvPr>
        </p:nvSpPr>
        <p:spPr/>
        <p:txBody>
          <a:bodyPr/>
          <a:lstStyle/>
          <a:p>
            <a:r>
              <a:rPr lang="en-US" dirty="0" smtClean="0"/>
              <a:t>Validation of facts and figures presented</a:t>
            </a:r>
          </a:p>
          <a:p>
            <a:r>
              <a:rPr lang="en-US" dirty="0" smtClean="0"/>
              <a:t>Explanation of facts</a:t>
            </a:r>
          </a:p>
          <a:p>
            <a:r>
              <a:rPr lang="en-US" dirty="0" smtClean="0"/>
              <a:t>Comparison of results to previous periods and/or areas</a:t>
            </a:r>
          </a:p>
          <a:p>
            <a:r>
              <a:rPr lang="en-US" dirty="0" smtClean="0"/>
              <a:t>Request for suggestions</a:t>
            </a:r>
          </a:p>
          <a:p>
            <a:r>
              <a:rPr lang="en-US" dirty="0" smtClean="0"/>
              <a:t>Recommendations for action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95</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851920" y="2276872"/>
            <a:ext cx="3691981" cy="3240000"/>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pPr marL="36576" indent="0">
              <a:buNone/>
            </a:pPr>
            <a:r>
              <a:rPr lang="en-US" dirty="0" smtClean="0"/>
              <a:t>Investigation should address:</a:t>
            </a:r>
          </a:p>
          <a:p>
            <a:r>
              <a:rPr lang="en-US" dirty="0" smtClean="0"/>
              <a:t>Looking into new approaches to setting budgets</a:t>
            </a:r>
          </a:p>
          <a:p>
            <a:r>
              <a:rPr lang="en-US" dirty="0" smtClean="0"/>
              <a:t>Investigating new ways to operate the business to produce different results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96</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155210" y="2132856"/>
            <a:ext cx="2823049" cy="3240000"/>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pPr marL="36576" indent="0">
              <a:buNone/>
            </a:pPr>
            <a:r>
              <a:rPr lang="en-US" dirty="0" smtClean="0"/>
              <a:t>Research topics:</a:t>
            </a:r>
          </a:p>
          <a:p>
            <a:r>
              <a:rPr lang="en-US" dirty="0" smtClean="0"/>
              <a:t>Verifying variances are (indeed) accurate/correct</a:t>
            </a:r>
          </a:p>
          <a:p>
            <a:r>
              <a:rPr lang="en-US" dirty="0" smtClean="0"/>
              <a:t>Cause of discrepancies</a:t>
            </a:r>
          </a:p>
          <a:p>
            <a:r>
              <a:rPr lang="en-US" dirty="0" smtClean="0"/>
              <a:t>Customer demographics/profile</a:t>
            </a:r>
          </a:p>
          <a:p>
            <a:r>
              <a:rPr lang="en-US" dirty="0" smtClean="0"/>
              <a:t>Nature of data used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97</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94966" y="1405197"/>
            <a:ext cx="2271492" cy="342000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pPr marL="36576" indent="0">
              <a:buNone/>
            </a:pPr>
            <a:r>
              <a:rPr lang="en-US" dirty="0" smtClean="0"/>
              <a:t>There are standard reviews which can be applied for:</a:t>
            </a:r>
          </a:p>
          <a:p>
            <a:r>
              <a:rPr lang="en-US" dirty="0" err="1" smtClean="0"/>
              <a:t>Unfavourable</a:t>
            </a:r>
            <a:r>
              <a:rPr lang="en-US" dirty="0" smtClean="0"/>
              <a:t> variances in cost of goods sold</a:t>
            </a:r>
          </a:p>
          <a:p>
            <a:r>
              <a:rPr lang="en-US" dirty="0" err="1" smtClean="0"/>
              <a:t>Unfavourable</a:t>
            </a:r>
            <a:r>
              <a:rPr lang="en-US" dirty="0" smtClean="0"/>
              <a:t> variances in </a:t>
            </a:r>
            <a:r>
              <a:rPr lang="en-US" dirty="0" err="1" smtClean="0"/>
              <a:t>labour</a:t>
            </a:r>
            <a:r>
              <a:rPr lang="en-US" dirty="0" smtClean="0"/>
              <a:t> cost</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98</a:t>
            </a:fld>
            <a:endParaRPr lang="en-US" dirty="0"/>
          </a:p>
        </p:txBody>
      </p:sp>
      <p:pic>
        <p:nvPicPr>
          <p:cNvPr id="5" name="Picture 4"/>
          <p:cNvPicPr>
            <a:picLocks noChangeAspect="1"/>
          </p:cNvPicPr>
          <p:nvPr/>
        </p:nvPicPr>
        <p:blipFill>
          <a:blip r:embed="rId3" cstate="screen">
            <a:extLst>
              <a:ext uri="{BEBA8EAE-BF5A-486C-A8C5-ECC9F3942E4B}">
                <a14:imgProps xmlns:a14="http://schemas.microsoft.com/office/drawing/2010/main">
                  <a14:imgLayer r:embed="rId4">
                    <a14:imgEffect>
                      <a14:backgroundRemoval t="9036" b="100000" l="4741" r="92308">
                        <a14:foregroundMark x1="31574" y1="93329" x2="31574" y2="93329"/>
                      </a14:backgroundRemoval>
                    </a14:imgEffect>
                  </a14:imgLayer>
                </a14:imgProps>
              </a:ext>
              <a:ext uri="{28A0092B-C50C-407E-A947-70E740481C1C}">
                <a14:useLocalDpi xmlns:a14="http://schemas.microsoft.com/office/drawing/2010/main"/>
              </a:ext>
            </a:extLst>
          </a:blip>
          <a:stretch>
            <a:fillRect/>
          </a:stretch>
        </p:blipFill>
        <p:spPr>
          <a:xfrm>
            <a:off x="4427984" y="1700808"/>
            <a:ext cx="2667319" cy="3933056"/>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r>
              <a:rPr lang="en-US" dirty="0" err="1" smtClean="0"/>
              <a:t>Cashflow</a:t>
            </a:r>
            <a:r>
              <a:rPr lang="en-US" dirty="0" smtClean="0"/>
              <a:t>/liquidity problems</a:t>
            </a:r>
          </a:p>
          <a:p>
            <a:r>
              <a:rPr lang="en-US" dirty="0" err="1" smtClean="0"/>
              <a:t>Unfavourable</a:t>
            </a:r>
            <a:r>
              <a:rPr lang="en-US" dirty="0" smtClean="0"/>
              <a:t> variances with sales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99</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201705" y="1700808"/>
            <a:ext cx="2466766" cy="342000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pPr marL="36576" indent="0">
              <a:buNone/>
            </a:pPr>
            <a:r>
              <a:rPr lang="en-US" dirty="0" smtClean="0"/>
              <a:t>Changes in internal environment which might impact budget results:</a:t>
            </a:r>
          </a:p>
          <a:p>
            <a:r>
              <a:rPr lang="en-US" dirty="0" err="1" smtClean="0"/>
              <a:t>Labour</a:t>
            </a:r>
            <a:r>
              <a:rPr lang="en-US" dirty="0" smtClean="0"/>
              <a:t> unrest</a:t>
            </a:r>
          </a:p>
          <a:p>
            <a:r>
              <a:rPr lang="en-US" dirty="0" smtClean="0"/>
              <a:t>Inadequate finances</a:t>
            </a:r>
          </a:p>
          <a:p>
            <a:r>
              <a:rPr lang="en-US" dirty="0" smtClean="0"/>
              <a:t>Absenteeism</a:t>
            </a:r>
          </a:p>
          <a:p>
            <a:r>
              <a:rPr lang="en-US" dirty="0" smtClean="0"/>
              <a:t>Poor quality product produced</a:t>
            </a:r>
          </a:p>
          <a:p>
            <a:r>
              <a:rPr lang="en-US" dirty="0" smtClean="0"/>
              <a:t>Machinery breakdown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100</a:t>
            </a:fld>
            <a:endParaRPr lang="en-US" dirty="0"/>
          </a:p>
        </p:txBody>
      </p:sp>
      <p:pic>
        <p:nvPicPr>
          <p:cNvPr id="5" name="Picture 4"/>
          <p:cNvPicPr>
            <a:picLocks noChangeAspect="1"/>
          </p:cNvPicPr>
          <p:nvPr/>
        </p:nvPicPr>
        <p:blipFill>
          <a:blip r:embed="rId3" cstate="screen">
            <a:extLst>
              <a:ext uri="{BEBA8EAE-BF5A-486C-A8C5-ECC9F3942E4B}">
                <a14:imgProps xmlns:a14="http://schemas.microsoft.com/office/drawing/2010/main">
                  <a14:imgLayer r:embed="rId4">
                    <a14:imgEffect>
                      <a14:backgroundRemoval t="6788" b="100000" l="36000" r="90000">
                        <a14:foregroundMark x1="54091" y1="28970" x2="54091" y2="28970"/>
                        <a14:foregroundMark x1="70909" y1="29394" x2="70909" y2="29394"/>
                        <a14:foregroundMark x1="71909" y1="32606" x2="71909" y2="32606"/>
                        <a14:foregroundMark x1="72818" y1="31091" x2="72818" y2="31091"/>
                        <a14:foregroundMark x1="72182" y1="28788" x2="72182" y2="28788"/>
                      </a14:backgroundRemoval>
                    </a14:imgEffect>
                  </a14:imgLayer>
                </a14:imgProps>
              </a:ext>
              <a:ext uri="{28A0092B-C50C-407E-A947-70E740481C1C}">
                <a14:useLocalDpi xmlns:a14="http://schemas.microsoft.com/office/drawing/2010/main"/>
              </a:ext>
            </a:extLst>
          </a:blip>
          <a:stretch>
            <a:fillRect/>
          </a:stretch>
        </p:blipFill>
        <p:spPr>
          <a:xfrm>
            <a:off x="4283968" y="1700808"/>
            <a:ext cx="2280000" cy="3420000"/>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pPr marL="36576" indent="0">
              <a:buNone/>
            </a:pPr>
            <a:r>
              <a:rPr lang="en-US" dirty="0" smtClean="0"/>
              <a:t>Changes in external environment which might impact budget results:</a:t>
            </a:r>
          </a:p>
          <a:p>
            <a:r>
              <a:rPr lang="en-US" dirty="0" smtClean="0"/>
              <a:t>Changes in economic conditions</a:t>
            </a:r>
          </a:p>
          <a:p>
            <a:r>
              <a:rPr lang="en-US" dirty="0" smtClean="0"/>
              <a:t>Population changes</a:t>
            </a:r>
          </a:p>
          <a:p>
            <a:r>
              <a:rPr lang="en-US" dirty="0" smtClean="0"/>
              <a:t>Changes in taste/fashion</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191000" y="1988840"/>
            <a:ext cx="2871141" cy="3420000"/>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r>
              <a:rPr lang="en-US" dirty="0" smtClean="0"/>
              <a:t>New competitor/s in marketplace</a:t>
            </a:r>
          </a:p>
          <a:p>
            <a:r>
              <a:rPr lang="en-US" dirty="0" smtClean="0"/>
              <a:t>Opportunity presented by new technology</a:t>
            </a:r>
          </a:p>
          <a:p>
            <a:r>
              <a:rPr lang="en-US" dirty="0" smtClean="0"/>
              <a:t>Synergies through new business relationships</a:t>
            </a:r>
          </a:p>
          <a:p>
            <a:r>
              <a:rPr lang="en-US" dirty="0" smtClean="0"/>
              <a:t>Suppliers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548606" y="1844824"/>
            <a:ext cx="2693459" cy="3420000"/>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pPr marL="36576" indent="0">
              <a:buNone/>
            </a:pPr>
            <a:r>
              <a:rPr lang="en-US" dirty="0" smtClean="0"/>
              <a:t>Research techniques which could be used:</a:t>
            </a:r>
          </a:p>
          <a:p>
            <a:r>
              <a:rPr lang="en-US" dirty="0" smtClean="0"/>
              <a:t>Personal, targeted observation</a:t>
            </a:r>
          </a:p>
          <a:p>
            <a:r>
              <a:rPr lang="en-US" dirty="0" smtClean="0"/>
              <a:t>Questionnaires</a:t>
            </a:r>
          </a:p>
          <a:p>
            <a:r>
              <a:rPr lang="en-US" dirty="0" smtClean="0"/>
              <a:t>Panel interviews/focus groups</a:t>
            </a:r>
          </a:p>
          <a:p>
            <a:pPr marL="36576" indent="0">
              <a:buNone/>
            </a:pPr>
            <a:endParaRPr lang="en-US" sz="1400" dirty="0" smtClean="0"/>
          </a:p>
          <a:p>
            <a:pPr marL="36576" indent="0">
              <a:buNone/>
            </a:pPr>
            <a:r>
              <a:rPr lang="en-US" sz="1400" dirty="0"/>
              <a:t>(</a:t>
            </a: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923928" y="1988840"/>
            <a:ext cx="3839219" cy="3240000"/>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Research new approaches to manage discrepancies</a:t>
            </a:r>
            <a:endParaRPr lang="en-US" dirty="0"/>
          </a:p>
        </p:txBody>
      </p:sp>
      <p:sp>
        <p:nvSpPr>
          <p:cNvPr id="3" name="Content Placeholder 2"/>
          <p:cNvSpPr>
            <a:spLocks noGrp="1"/>
          </p:cNvSpPr>
          <p:nvPr>
            <p:ph idx="1"/>
          </p:nvPr>
        </p:nvSpPr>
        <p:spPr/>
        <p:txBody>
          <a:bodyPr/>
          <a:lstStyle/>
          <a:p>
            <a:r>
              <a:rPr lang="en-US" dirty="0" smtClean="0"/>
              <a:t>Analysis of industry information</a:t>
            </a:r>
          </a:p>
          <a:p>
            <a:r>
              <a:rPr lang="en-US" dirty="0" smtClean="0"/>
              <a:t>Literature and internet information</a:t>
            </a:r>
          </a:p>
          <a:p>
            <a:r>
              <a:rPr lang="en-US" dirty="0" smtClean="0"/>
              <a:t>Discussion with others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104</a:t>
            </a:fld>
            <a:endParaRPr lang="en-US" dirty="0"/>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14143" r="99773">
                        <a14:foregroundMark x1="53161" y1="75017" x2="53161" y2="75017"/>
                        <a14:foregroundMark x1="72215" y1="72621" x2="72215" y2="72621"/>
                        <a14:foregroundMark x1="76808" y1="59274" x2="76808" y2="59274"/>
                        <a14:foregroundMark x1="79354" y1="65229" x2="79354" y2="65229"/>
                        <a14:foregroundMark x1="82856" y1="70500" x2="82856" y2="70500"/>
                        <a14:foregroundMark x1="88904" y1="72895" x2="88904" y2="72895"/>
                        <a14:foregroundMark x1="93952" y1="76934" x2="93952" y2="76934"/>
                        <a14:foregroundMark x1="97317" y1="80767" x2="97317" y2="80767"/>
                        <a14:foregroundMark x1="98590" y1="81725" x2="98590" y2="81725"/>
                        <a14:foregroundMark x1="98590" y1="90828" x2="98590" y2="90828"/>
                        <a14:foregroundMark x1="99045" y1="96988" x2="99045" y2="96988"/>
                        <a14:foregroundMark x1="95725" y1="98905" x2="95725" y2="98905"/>
                        <a14:foregroundMark x1="84447" y1="96988" x2="83947" y2="96988"/>
                        <a14:foregroundMark x1="70941" y1="97467" x2="70941" y2="97467"/>
                        <a14:foregroundMark x1="63029" y1="94661" x2="63029" y2="94661"/>
                        <a14:foregroundMark x1="62210" y1="93908" x2="62210" y2="93908"/>
                        <a14:foregroundMark x1="62710" y1="91034" x2="63483" y2="90349"/>
                        <a14:foregroundMark x1="65075" y1="83641" x2="65075" y2="83641"/>
                        <a14:foregroundMark x1="64939" y1="78850" x2="64939" y2="78850"/>
                        <a14:foregroundMark x1="64939" y1="78166" x2="66348" y2="75975"/>
                        <a14:foregroundMark x1="67303" y1="74333" x2="68395" y2="74333"/>
                        <a14:foregroundMark x1="70487" y1="73101" x2="73670" y2="69747"/>
                        <a14:foregroundMark x1="74443" y1="68104" x2="75398" y2="68104"/>
                        <a14:foregroundMark x1="76035" y1="68104" x2="76489" y2="69062"/>
                        <a14:foregroundMark x1="76808" y1="69747" x2="77626" y2="71184"/>
                        <a14:foregroundMark x1="77626" y1="73374" x2="77626" y2="78166"/>
                        <a14:foregroundMark x1="72851" y1="78166" x2="64120" y2="80287"/>
                        <a14:foregroundMark x1="63347" y1="79808" x2="63347" y2="79808"/>
                        <a14:foregroundMark x1="66212" y1="77413" x2="66803" y2="76728"/>
                        <a14:foregroundMark x1="68076" y1="73580" x2="69668" y2="72142"/>
                        <a14:foregroundMark x1="70487" y1="69541" x2="72715" y2="66940"/>
                        <a14:foregroundMark x1="72851" y1="66461" x2="73352" y2="65503"/>
                        <a14:foregroundMark x1="73670" y1="65024" x2="74307" y2="65229"/>
                        <a14:foregroundMark x1="75080" y1="66461" x2="76489" y2="69062"/>
                        <a14:foregroundMark x1="77126" y1="69268" x2="77444" y2="70705"/>
                        <a14:foregroundMark x1="77626" y1="72621" x2="77308" y2="75291"/>
                        <a14:foregroundMark x1="73806" y1="78850" x2="73806" y2="78850"/>
                        <a14:foregroundMark x1="73488" y1="79329" x2="73488" y2="79329"/>
                        <a14:foregroundMark x1="73988" y1="79329" x2="74443" y2="78371"/>
                        <a14:foregroundMark x1="75853" y1="74812" x2="76808" y2="73580"/>
                        <a14:foregroundMark x1="76990" y1="72416" x2="76990" y2="72416"/>
                        <a14:foregroundMark x1="76171" y1="67420" x2="76171" y2="65024"/>
                        <a14:foregroundMark x1="76171" y1="63107" x2="76171" y2="63107"/>
                        <a14:foregroundMark x1="76671" y1="62834" x2="77444" y2="63313"/>
                        <a14:foregroundMark x1="81128" y1="68789" x2="81128" y2="68789"/>
                        <a14:foregroundMark x1="78899" y1="60233" x2="78899" y2="60233"/>
                        <a14:foregroundMark x1="80628" y1="64271" x2="80628" y2="64271"/>
                        <a14:foregroundMark x1="81446" y1="66940" x2="81446" y2="66940"/>
                        <a14:foregroundMark x1="79673" y1="62355" x2="79673" y2="62355"/>
                        <a14:foregroundMark x1="79036" y1="59959" x2="79036" y2="59959"/>
                        <a14:foregroundMark x1="81128" y1="67625" x2="81128" y2="67625"/>
                        <a14:foregroundMark x1="82219" y1="67830" x2="82219" y2="67830"/>
                        <a14:foregroundMark x1="84766" y1="70500" x2="84766" y2="70500"/>
                        <a14:foregroundMark x1="85857" y1="75017" x2="85857" y2="75017"/>
                        <a14:foregroundMark x1="86176" y1="81246" x2="86176" y2="81246"/>
                        <a14:foregroundMark x1="85721" y1="82204" x2="85721" y2="82204"/>
                        <a14:foregroundMark x1="83492" y1="83368" x2="82719" y2="84326"/>
                        <a14:foregroundMark x1="82538" y1="84600" x2="81901" y2="86242"/>
                        <a14:foregroundMark x1="80946" y1="87953" x2="81128" y2="88912"/>
                        <a14:foregroundMark x1="81128" y1="89391" x2="81901" y2="92266"/>
                        <a14:foregroundMark x1="82401" y1="92471" x2="84584" y2="92745"/>
                        <a14:foregroundMark x1="87631" y1="92745" x2="89222" y2="92745"/>
                        <a14:foregroundMark x1="89222" y1="92745" x2="89222" y2="92745"/>
                        <a14:foregroundMark x1="89677" y1="91307" x2="89541" y2="90554"/>
                        <a14:foregroundMark x1="84266" y1="85079" x2="83038" y2="85079"/>
                        <a14:foregroundMark x1="81128" y1="85079" x2="81128" y2="85079"/>
                        <a14:foregroundMark x1="54934" y1="76728" x2="54934" y2="76728"/>
                        <a14:foregroundMark x1="53979" y1="71937" x2="53979" y2="71937"/>
                        <a14:foregroundMark x1="53342" y1="78645" x2="53342" y2="78645"/>
                        <a14:foregroundMark x1="51432" y1="81999" x2="51432" y2="81999"/>
                        <a14:foregroundMark x1="45884" y1="81725" x2="45884" y2="81725"/>
                        <a14:foregroundMark x1="43156" y1="82683" x2="43156" y2="82683"/>
                        <a14:foregroundMark x1="39836" y1="84120" x2="39836" y2="84120"/>
                        <a14:foregroundMark x1="37790" y1="86037" x2="37790" y2="86037"/>
                        <a14:foregroundMark x1="37153" y1="87201" x2="37153" y2="87201"/>
                        <a14:foregroundMark x1="35061" y1="83847" x2="35061" y2="83847"/>
                        <a14:foregroundMark x1="28877" y1="86516" x2="28877" y2="86516"/>
                        <a14:foregroundMark x1="25239" y1="88159" x2="25239" y2="88159"/>
                        <a14:foregroundMark x1="23010" y1="79603" x2="23010" y2="79603"/>
                        <a14:foregroundMark x1="20009" y1="87680" x2="20009" y2="87680"/>
                        <a14:foregroundMark x1="17599" y1="93224" x2="17599" y2="93224"/>
                        <a14:foregroundMark x1="16189" y1="96509" x2="16189" y2="96509"/>
                        <a14:foregroundMark x1="15416" y1="98426" x2="15416" y2="98426"/>
                        <a14:foregroundMark x1="20009" y1="98700" x2="20009" y2="98700"/>
                        <a14:foregroundMark x1="25557" y1="98905" x2="25557" y2="98905"/>
                        <a14:foregroundMark x1="30650" y1="97467" x2="30650" y2="97467"/>
                        <a14:foregroundMark x1="35380" y1="96988" x2="35380" y2="96988"/>
                        <a14:foregroundMark x1="39382" y1="96988" x2="39382" y2="96988"/>
                        <a14:foregroundMark x1="43474" y1="96988" x2="43474" y2="96988"/>
                        <a14:foregroundMark x1="46839" y1="96988" x2="46839" y2="96988"/>
                        <a14:foregroundMark x1="49204" y1="93908" x2="49204" y2="93908"/>
                        <a14:foregroundMark x1="51251" y1="87474" x2="51251" y2="87474"/>
                        <a14:foregroundMark x1="50796" y1="86242" x2="50796" y2="86242"/>
                        <a14:foregroundMark x1="49068" y1="83641" x2="49068" y2="83641"/>
                        <a14:foregroundMark x1="22237" y1="90349" x2="22237" y2="90349"/>
                        <a14:foregroundMark x1="23010" y1="84326" x2="23010" y2="84326"/>
                        <a14:foregroundMark x1="23010" y1="82409" x2="23010" y2="82409"/>
                        <a14:foregroundMark x1="22556" y1="81999" x2="22556" y2="81999"/>
                        <a14:foregroundMark x1="21737" y1="86242" x2="21737" y2="86242"/>
                        <a14:foregroundMark x1="23511" y1="89117" x2="23511" y2="89117"/>
                        <a14:foregroundMark x1="24147" y1="91513" x2="24147" y2="91513"/>
                      </a14:backgroundRemoval>
                    </a14:imgEffect>
                  </a14:imgLayer>
                </a14:imgProps>
              </a:ext>
              <a:ext uri="{28A0092B-C50C-407E-A947-70E740481C1C}">
                <a14:useLocalDpi xmlns:a14="http://schemas.microsoft.com/office/drawing/2010/main" val="0"/>
              </a:ext>
            </a:extLst>
          </a:blip>
          <a:stretch>
            <a:fillRect/>
          </a:stretch>
        </p:blipFill>
        <p:spPr>
          <a:xfrm>
            <a:off x="3244383" y="1988840"/>
            <a:ext cx="4680417" cy="3108635"/>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Undertake appropriate research to investigate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Innovation:</a:t>
            </a:r>
          </a:p>
          <a:p>
            <a:r>
              <a:rPr lang="en-US" dirty="0" smtClean="0"/>
              <a:t>May be:</a:t>
            </a:r>
          </a:p>
          <a:p>
            <a:pPr lvl="1">
              <a:buFont typeface="Arial" panose="020B0604020202020204" pitchFamily="34" charset="0"/>
              <a:buChar char="•"/>
            </a:pPr>
            <a:r>
              <a:rPr lang="en-US" sz="2000" dirty="0" smtClean="0"/>
              <a:t>Anything done for first time</a:t>
            </a:r>
          </a:p>
          <a:p>
            <a:pPr lvl="1">
              <a:buFont typeface="Arial" panose="020B0604020202020204" pitchFamily="34" charset="0"/>
              <a:buChar char="•"/>
            </a:pPr>
            <a:r>
              <a:rPr lang="en-US" sz="2000" dirty="0" smtClean="0"/>
              <a:t>Revisions/improvements to existing things</a:t>
            </a:r>
          </a:p>
          <a:p>
            <a:r>
              <a:rPr lang="en-US" dirty="0" smtClean="0"/>
              <a:t>Generally driven by:</a:t>
            </a:r>
          </a:p>
          <a:p>
            <a:pPr lvl="1">
              <a:buFont typeface="Arial" panose="020B0604020202020204" pitchFamily="34" charset="0"/>
              <a:buChar char="•"/>
            </a:pPr>
            <a:r>
              <a:rPr lang="en-US" sz="2000" dirty="0" smtClean="0"/>
              <a:t>Problem</a:t>
            </a:r>
          </a:p>
          <a:p>
            <a:pPr lvl="1">
              <a:buFont typeface="Arial" panose="020B0604020202020204" pitchFamily="34" charset="0"/>
              <a:buChar char="•"/>
            </a:pPr>
            <a:r>
              <a:rPr lang="en-US" sz="2000" dirty="0" smtClean="0"/>
              <a:t>Opportunity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105</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21270" y="2276871"/>
            <a:ext cx="3532130" cy="2309469"/>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Undertake appropriate research to investigate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Innovation = a process embracing:</a:t>
            </a:r>
          </a:p>
          <a:p>
            <a:r>
              <a:rPr lang="en-US" dirty="0" smtClean="0"/>
              <a:t>Initiative</a:t>
            </a:r>
          </a:p>
          <a:p>
            <a:r>
              <a:rPr lang="en-US" dirty="0" smtClean="0"/>
              <a:t>Invention</a:t>
            </a:r>
          </a:p>
          <a:p>
            <a:r>
              <a:rPr lang="en-US" dirty="0" smtClean="0"/>
              <a:t>Initiation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88840"/>
            <a:ext cx="2232000" cy="3348000"/>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Undertake appropriate research to investigate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Innovation can be applied to:</a:t>
            </a:r>
          </a:p>
          <a:p>
            <a:r>
              <a:rPr lang="en-US" dirty="0" smtClean="0"/>
              <a:t>Systems</a:t>
            </a:r>
          </a:p>
          <a:p>
            <a:r>
              <a:rPr lang="en-US" dirty="0" smtClean="0"/>
              <a:t>Processes</a:t>
            </a:r>
          </a:p>
          <a:p>
            <a:r>
              <a:rPr lang="en-US" dirty="0" smtClean="0"/>
              <a:t>Products and services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988840"/>
            <a:ext cx="3581400" cy="2387600"/>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Undertake appropriate research to investigate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Many types of innovation exist – two which are applicable to budgets and managing financial performance are:</a:t>
            </a:r>
          </a:p>
          <a:p>
            <a:r>
              <a:rPr lang="en-US" dirty="0" smtClean="0"/>
              <a:t>Incremental innovation</a:t>
            </a:r>
          </a:p>
          <a:p>
            <a:r>
              <a:rPr lang="en-US" dirty="0" smtClean="0"/>
              <a:t>Radical innovation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87752" y="1998592"/>
            <a:ext cx="3465648" cy="2310432"/>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Undertake appropriate research to investigate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Analysis may be defined as:</a:t>
            </a:r>
          </a:p>
          <a:p>
            <a:r>
              <a:rPr lang="en-US" dirty="0" smtClean="0"/>
              <a:t>A systematic examination and evaluation of data or information by breaking it into its component parts to uncover their interrelationships</a:t>
            </a:r>
          </a:p>
          <a:p>
            <a:pPr marL="36576" indent="0">
              <a:buNone/>
            </a:pPr>
            <a:r>
              <a:rPr lang="en-US" dirty="0" smtClean="0"/>
              <a:t>Analysis may be: </a:t>
            </a:r>
          </a:p>
          <a:p>
            <a:r>
              <a:rPr lang="en-US" dirty="0" smtClean="0"/>
              <a:t>Quantitative or Qualitative</a:t>
            </a:r>
          </a:p>
          <a:p>
            <a:pPr marL="36576" indent="0">
              <a:buNone/>
            </a:pPr>
            <a:r>
              <a:rPr lang="en-US" dirty="0" smtClean="0"/>
              <a:t>Purpose of analysis:</a:t>
            </a:r>
          </a:p>
          <a:p>
            <a:r>
              <a:rPr lang="en-US" dirty="0" smtClean="0"/>
              <a:t>Decision making and problem solving</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3400" y="2024449"/>
            <a:ext cx="3240000" cy="2160000"/>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Undertake appropriate research to investigate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Activities involved in investigation:</a:t>
            </a:r>
          </a:p>
          <a:p>
            <a:r>
              <a:rPr lang="en-US" dirty="0" smtClean="0"/>
              <a:t>Establishment of a team</a:t>
            </a:r>
          </a:p>
          <a:p>
            <a:r>
              <a:rPr lang="en-US" dirty="0" smtClean="0"/>
              <a:t>Determination of investigation strategies:</a:t>
            </a:r>
          </a:p>
          <a:p>
            <a:r>
              <a:rPr lang="en-US" dirty="0" smtClean="0"/>
              <a:t>Observation</a:t>
            </a:r>
          </a:p>
          <a:p>
            <a:r>
              <a:rPr lang="en-US" dirty="0" smtClean="0"/>
              <a:t>Statistical and other evaluations</a:t>
            </a:r>
          </a:p>
          <a:p>
            <a:r>
              <a:rPr lang="en-US" dirty="0" smtClean="0"/>
              <a:t>Surveys</a:t>
            </a:r>
          </a:p>
          <a:p>
            <a:r>
              <a:rPr lang="en-US" dirty="0" smtClean="0"/>
              <a:t>Data collection</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40"/>
            <a:ext cx="2280000" cy="3420000"/>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Undertake appropriate research to investigate new approaches</a:t>
            </a:r>
            <a:endParaRPr lang="en-US" dirty="0"/>
          </a:p>
        </p:txBody>
      </p:sp>
      <p:sp>
        <p:nvSpPr>
          <p:cNvPr id="3" name="Content Placeholder 2"/>
          <p:cNvSpPr>
            <a:spLocks noGrp="1"/>
          </p:cNvSpPr>
          <p:nvPr>
            <p:ph idx="1"/>
          </p:nvPr>
        </p:nvSpPr>
        <p:spPr/>
        <p:txBody>
          <a:bodyPr/>
          <a:lstStyle/>
          <a:p>
            <a:r>
              <a:rPr lang="en-US" dirty="0" smtClean="0"/>
              <a:t>Establishment of support/underpinning protocols</a:t>
            </a:r>
          </a:p>
          <a:p>
            <a:r>
              <a:rPr lang="en-US" dirty="0" smtClean="0"/>
              <a:t>Evidence-based decision making</a:t>
            </a:r>
          </a:p>
          <a:p>
            <a:r>
              <a:rPr lang="en-US" dirty="0" smtClean="0"/>
              <a:t>Action to reflect findings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01265" y="2009935"/>
            <a:ext cx="3252135" cy="2160000"/>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Define and communicate the benefits and disadvantages of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Methods of communication:</a:t>
            </a:r>
          </a:p>
          <a:p>
            <a:r>
              <a:rPr lang="en-US" dirty="0" smtClean="0"/>
              <a:t>Written information</a:t>
            </a:r>
          </a:p>
          <a:p>
            <a:r>
              <a:rPr lang="en-US" dirty="0" smtClean="0"/>
              <a:t>Verbal information</a:t>
            </a:r>
          </a:p>
          <a:p>
            <a:r>
              <a:rPr lang="en-US" dirty="0" smtClean="0"/>
              <a:t>Formal presentation</a:t>
            </a:r>
          </a:p>
          <a:p>
            <a:r>
              <a:rPr lang="en-US" dirty="0" smtClean="0"/>
              <a:t>In-house training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112</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1888"/>
          <a:stretch/>
        </p:blipFill>
        <p:spPr>
          <a:xfrm>
            <a:off x="4574817" y="1990349"/>
            <a:ext cx="3093527" cy="3027871"/>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Define and communicate the benefits and disadvantages of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May be a need to communicate with:</a:t>
            </a:r>
          </a:p>
          <a:p>
            <a:r>
              <a:rPr lang="en-US" dirty="0" smtClean="0"/>
              <a:t>Owners</a:t>
            </a:r>
          </a:p>
          <a:p>
            <a:r>
              <a:rPr lang="en-US" dirty="0" smtClean="0"/>
              <a:t>Senior managers</a:t>
            </a:r>
          </a:p>
          <a:p>
            <a:r>
              <a:rPr lang="en-US" dirty="0" smtClean="0"/>
              <a:t>Head office</a:t>
            </a:r>
          </a:p>
          <a:p>
            <a:r>
              <a:rPr lang="en-US" dirty="0" smtClean="0"/>
              <a:t>Administration, office and accounting staff</a:t>
            </a:r>
          </a:p>
          <a:p>
            <a:r>
              <a:rPr lang="en-US" dirty="0" smtClean="0"/>
              <a:t>Operational staff</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01265" y="1988840"/>
            <a:ext cx="3252135" cy="2160000"/>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Define and communicate the benefits and disadvantages of new approaches</a:t>
            </a:r>
            <a:endParaRPr lang="en-US" dirty="0"/>
          </a:p>
        </p:txBody>
      </p:sp>
      <p:sp>
        <p:nvSpPr>
          <p:cNvPr id="3" name="Content Placeholder 2"/>
          <p:cNvSpPr>
            <a:spLocks noGrp="1"/>
          </p:cNvSpPr>
          <p:nvPr>
            <p:ph idx="1"/>
          </p:nvPr>
        </p:nvSpPr>
        <p:spPr/>
        <p:txBody>
          <a:bodyPr/>
          <a:lstStyle/>
          <a:p>
            <a:pPr marL="36576" indent="0">
              <a:buNone/>
            </a:pPr>
            <a:r>
              <a:rPr lang="en-US" dirty="0" smtClean="0"/>
              <a:t>Communication should address:</a:t>
            </a:r>
          </a:p>
          <a:p>
            <a:r>
              <a:rPr lang="en-US" dirty="0" smtClean="0"/>
              <a:t>Rationale for change</a:t>
            </a:r>
          </a:p>
          <a:p>
            <a:r>
              <a:rPr lang="en-US" dirty="0" smtClean="0"/>
              <a:t>New/revised roles and responsibilities</a:t>
            </a:r>
          </a:p>
          <a:p>
            <a:r>
              <a:rPr lang="en-US" dirty="0" smtClean="0"/>
              <a:t>Schedule for introduction/implementation</a:t>
            </a:r>
          </a:p>
          <a:p>
            <a:pPr marL="36576" indent="0">
              <a:buNone/>
            </a:pPr>
            <a:endParaRPr lang="en-US" sz="1400" dirty="0" smtClean="0"/>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4210" y="2132856"/>
            <a:ext cx="3252135" cy="2160000"/>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Define and communicate the benefits and disadvantages of new approaches</a:t>
            </a:r>
            <a:endParaRPr lang="en-US" dirty="0"/>
          </a:p>
        </p:txBody>
      </p:sp>
      <p:sp>
        <p:nvSpPr>
          <p:cNvPr id="3" name="Content Placeholder 2"/>
          <p:cNvSpPr>
            <a:spLocks noGrp="1"/>
          </p:cNvSpPr>
          <p:nvPr>
            <p:ph idx="1"/>
          </p:nvPr>
        </p:nvSpPr>
        <p:spPr/>
        <p:txBody>
          <a:bodyPr/>
          <a:lstStyle/>
          <a:p>
            <a:r>
              <a:rPr lang="en-US" dirty="0" smtClean="0"/>
              <a:t>Support provided for implementation of the change</a:t>
            </a:r>
          </a:p>
          <a:p>
            <a:r>
              <a:rPr lang="en-US" dirty="0" smtClean="0"/>
              <a:t>Benefits and disadvantages associated with the change</a:t>
            </a:r>
          </a:p>
          <a:p>
            <a:r>
              <a:rPr lang="en-US" dirty="0" smtClean="0"/>
              <a:t>Distribution of relevant documentation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1831" y="1977526"/>
            <a:ext cx="3240000" cy="216000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Take account impact on customer service and colleagues</a:t>
            </a:r>
            <a:endParaRPr lang="en-US" dirty="0"/>
          </a:p>
        </p:txBody>
      </p:sp>
      <p:sp>
        <p:nvSpPr>
          <p:cNvPr id="3" name="Content Placeholder 2"/>
          <p:cNvSpPr>
            <a:spLocks noGrp="1"/>
          </p:cNvSpPr>
          <p:nvPr>
            <p:ph idx="1"/>
          </p:nvPr>
        </p:nvSpPr>
        <p:spPr/>
        <p:txBody>
          <a:bodyPr/>
          <a:lstStyle/>
          <a:p>
            <a:pPr marL="36576" indent="0">
              <a:buNone/>
            </a:pPr>
            <a:r>
              <a:rPr lang="en-US" dirty="0" smtClean="0"/>
              <a:t>Need for ‘customer focus’:</a:t>
            </a:r>
          </a:p>
          <a:p>
            <a:r>
              <a:rPr lang="en-US" dirty="0" smtClean="0"/>
              <a:t>Business is not just about accounting information</a:t>
            </a:r>
          </a:p>
          <a:p>
            <a:r>
              <a:rPr lang="en-US" dirty="0" smtClean="0"/>
              <a:t>Customers are the reason the business exists</a:t>
            </a:r>
          </a:p>
          <a:p>
            <a:r>
              <a:rPr lang="en-US" dirty="0" smtClean="0"/>
              <a:t>Customers are unique</a:t>
            </a:r>
          </a:p>
          <a:p>
            <a:r>
              <a:rPr lang="en-US" dirty="0" smtClean="0"/>
              <a:t>Customers decide what they want and prefer</a:t>
            </a:r>
          </a:p>
          <a:p>
            <a:r>
              <a:rPr lang="en-US" dirty="0" smtClean="0"/>
              <a:t>Customers decide where they spend their money – and they have lots of options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98801"/>
            <a:ext cx="2280000" cy="3420000"/>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Take account impact on customer service and colleagues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Reasons to consider customers when developing new approaches to business operation – to:</a:t>
            </a:r>
          </a:p>
          <a:p>
            <a:r>
              <a:rPr lang="en-US" dirty="0" smtClean="0"/>
              <a:t>Obtain their opinions/thoughts</a:t>
            </a:r>
          </a:p>
          <a:p>
            <a:r>
              <a:rPr lang="en-US" dirty="0" err="1" smtClean="0"/>
              <a:t>Minimise</a:t>
            </a:r>
            <a:r>
              <a:rPr lang="en-US" dirty="0" smtClean="0"/>
              <a:t> negative impact on them caused by change</a:t>
            </a:r>
          </a:p>
          <a:p>
            <a:r>
              <a:rPr lang="en-US" dirty="0" smtClean="0"/>
              <a:t>Make sure unavoidable negative impacts can be addressed (to some extent/best extent possible)</a:t>
            </a:r>
          </a:p>
          <a:p>
            <a:r>
              <a:rPr lang="en-US" dirty="0" smtClean="0"/>
              <a:t>Ensure business remains attractive to customers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9" y="1988840"/>
            <a:ext cx="3533056" cy="2840648"/>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Take account impact on customer service and colleagues</a:t>
            </a:r>
            <a:endParaRPr lang="en-US" dirty="0"/>
          </a:p>
        </p:txBody>
      </p:sp>
      <p:sp>
        <p:nvSpPr>
          <p:cNvPr id="3" name="Content Placeholder 2"/>
          <p:cNvSpPr>
            <a:spLocks noGrp="1"/>
          </p:cNvSpPr>
          <p:nvPr>
            <p:ph idx="1"/>
          </p:nvPr>
        </p:nvSpPr>
        <p:spPr/>
        <p:txBody>
          <a:bodyPr/>
          <a:lstStyle/>
          <a:p>
            <a:pPr marL="36576" indent="0">
              <a:buNone/>
            </a:pPr>
            <a:r>
              <a:rPr lang="en-US" dirty="0" smtClean="0"/>
              <a:t>Consideration of staff when changes are made:</a:t>
            </a:r>
          </a:p>
          <a:p>
            <a:r>
              <a:rPr lang="en-US" dirty="0" smtClean="0"/>
              <a:t>All workplace change impact and affect staff</a:t>
            </a:r>
          </a:p>
          <a:p>
            <a:r>
              <a:rPr lang="en-US" dirty="0" smtClean="0"/>
              <a:t>Actual impact varies depending on nature and size of the change</a:t>
            </a:r>
          </a:p>
          <a:p>
            <a:r>
              <a:rPr lang="en-US" dirty="0" smtClean="0"/>
              <a:t>Changes which are planned and explained to staff stand a greater chance of being accepted and complied with</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69209"/>
            <a:ext cx="2160000" cy="3240000"/>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Take account impact on customer service and colleagues</a:t>
            </a:r>
            <a:endParaRPr lang="en-US" dirty="0"/>
          </a:p>
        </p:txBody>
      </p:sp>
      <p:sp>
        <p:nvSpPr>
          <p:cNvPr id="3" name="Content Placeholder 2"/>
          <p:cNvSpPr>
            <a:spLocks noGrp="1"/>
          </p:cNvSpPr>
          <p:nvPr>
            <p:ph idx="1"/>
          </p:nvPr>
        </p:nvSpPr>
        <p:spPr/>
        <p:txBody>
          <a:bodyPr/>
          <a:lstStyle/>
          <a:p>
            <a:pPr marL="36576" indent="0">
              <a:buNone/>
            </a:pPr>
            <a:r>
              <a:rPr lang="en-US" dirty="0" smtClean="0"/>
              <a:t>Management needs to address three stages when addressing/implementing workplace change:</a:t>
            </a:r>
          </a:p>
          <a:p>
            <a:r>
              <a:rPr lang="en-US" dirty="0" smtClean="0"/>
              <a:t>Unfreezing present situation/mind set</a:t>
            </a:r>
          </a:p>
          <a:p>
            <a:r>
              <a:rPr lang="en-US" dirty="0" smtClean="0"/>
              <a:t>Changing the situation to what is required to be</a:t>
            </a:r>
          </a:p>
          <a:p>
            <a:r>
              <a:rPr lang="en-US" dirty="0" smtClean="0"/>
              <a:t>Cementing the change in place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119</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88024" y="1700808"/>
            <a:ext cx="2156237" cy="3240000"/>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Take account impact on customer service and colleagues</a:t>
            </a:r>
            <a:endParaRPr lang="en-US" dirty="0"/>
          </a:p>
        </p:txBody>
      </p:sp>
      <p:sp>
        <p:nvSpPr>
          <p:cNvPr id="3" name="Content Placeholder 2"/>
          <p:cNvSpPr>
            <a:spLocks noGrp="1"/>
          </p:cNvSpPr>
          <p:nvPr>
            <p:ph idx="1"/>
          </p:nvPr>
        </p:nvSpPr>
        <p:spPr/>
        <p:txBody>
          <a:bodyPr/>
          <a:lstStyle/>
          <a:p>
            <a:pPr marL="36576" indent="0">
              <a:buNone/>
            </a:pPr>
            <a:r>
              <a:rPr lang="en-US" dirty="0" smtClean="0"/>
              <a:t>Keys in implementing changes – answering:</a:t>
            </a:r>
          </a:p>
          <a:p>
            <a:r>
              <a:rPr lang="en-US" dirty="0" smtClean="0"/>
              <a:t>How will changes improve service provision/delivery?</a:t>
            </a:r>
          </a:p>
          <a:p>
            <a:r>
              <a:rPr lang="en-US" dirty="0" smtClean="0"/>
              <a:t>What effects will there be on products and services?</a:t>
            </a:r>
          </a:p>
          <a:p>
            <a:r>
              <a:rPr lang="en-US" dirty="0" smtClean="0"/>
              <a:t>How will staff cope?</a:t>
            </a:r>
          </a:p>
          <a:p>
            <a:r>
              <a:rPr lang="en-US" dirty="0" smtClean="0"/>
              <a:t>Extra training/resources needed?</a:t>
            </a:r>
          </a:p>
          <a:p>
            <a:r>
              <a:rPr lang="en-US" dirty="0" smtClean="0"/>
              <a:t>Is too much emphasis on financial goals?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3400" y="1988840"/>
            <a:ext cx="3240000" cy="216000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Present recommendations to the relevant stakeholders</a:t>
            </a:r>
            <a:endParaRPr lang="en-US" dirty="0"/>
          </a:p>
        </p:txBody>
      </p:sp>
      <p:sp>
        <p:nvSpPr>
          <p:cNvPr id="3" name="Content Placeholder 2"/>
          <p:cNvSpPr>
            <a:spLocks noGrp="1"/>
          </p:cNvSpPr>
          <p:nvPr>
            <p:ph idx="1"/>
          </p:nvPr>
        </p:nvSpPr>
        <p:spPr/>
        <p:txBody>
          <a:bodyPr/>
          <a:lstStyle/>
          <a:p>
            <a:pPr marL="36576" indent="0">
              <a:buNone/>
            </a:pPr>
            <a:r>
              <a:rPr lang="en-US" dirty="0" smtClean="0"/>
              <a:t>Recommendations may need to be made to:</a:t>
            </a:r>
          </a:p>
          <a:p>
            <a:r>
              <a:rPr lang="en-US" dirty="0" smtClean="0"/>
              <a:t>Owners and senior management</a:t>
            </a:r>
          </a:p>
          <a:p>
            <a:r>
              <a:rPr lang="en-US" dirty="0" smtClean="0"/>
              <a:t>Nominated managers </a:t>
            </a:r>
          </a:p>
          <a:p>
            <a:r>
              <a:rPr lang="en-US" dirty="0" smtClean="0"/>
              <a:t>HODs and Supervisors</a:t>
            </a:r>
          </a:p>
          <a:p>
            <a:r>
              <a:rPr lang="en-US" dirty="0" smtClean="0"/>
              <a:t>General staff</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5259" y="1988840"/>
            <a:ext cx="3558141" cy="2372094"/>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Present recommendations to the relevant stakeholders</a:t>
            </a:r>
            <a:endParaRPr lang="en-US" dirty="0"/>
          </a:p>
        </p:txBody>
      </p:sp>
      <p:sp>
        <p:nvSpPr>
          <p:cNvPr id="3" name="Content Placeholder 2"/>
          <p:cNvSpPr>
            <a:spLocks noGrp="1"/>
          </p:cNvSpPr>
          <p:nvPr>
            <p:ph idx="1"/>
          </p:nvPr>
        </p:nvSpPr>
        <p:spPr/>
        <p:txBody>
          <a:bodyPr/>
          <a:lstStyle/>
          <a:p>
            <a:pPr marL="36576" indent="0">
              <a:buNone/>
            </a:pPr>
            <a:r>
              <a:rPr lang="en-US" dirty="0" smtClean="0"/>
              <a:t>Recommendations should address:</a:t>
            </a:r>
          </a:p>
          <a:p>
            <a:r>
              <a:rPr lang="en-US" dirty="0" smtClean="0"/>
              <a:t>Overview of position being faced</a:t>
            </a:r>
          </a:p>
          <a:p>
            <a:r>
              <a:rPr lang="en-US" dirty="0" smtClean="0"/>
              <a:t>Explanation of steps taken</a:t>
            </a:r>
          </a:p>
          <a:p>
            <a:r>
              <a:rPr lang="en-US" dirty="0" smtClean="0"/>
              <a:t>Details of any collaboration in investigation phase</a:t>
            </a:r>
          </a:p>
          <a:p>
            <a:r>
              <a:rPr lang="en-US" dirty="0" smtClean="0"/>
              <a:t>Outline of all options considered</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3593" y="1988840"/>
            <a:ext cx="3207830" cy="2160000"/>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Present recommendations to the relevant stakeholders</a:t>
            </a:r>
            <a:endParaRPr lang="en-US" dirty="0"/>
          </a:p>
        </p:txBody>
      </p:sp>
      <p:sp>
        <p:nvSpPr>
          <p:cNvPr id="3" name="Content Placeholder 2"/>
          <p:cNvSpPr>
            <a:spLocks noGrp="1"/>
          </p:cNvSpPr>
          <p:nvPr>
            <p:ph idx="1"/>
          </p:nvPr>
        </p:nvSpPr>
        <p:spPr/>
        <p:txBody>
          <a:bodyPr/>
          <a:lstStyle/>
          <a:p>
            <a:r>
              <a:rPr lang="en-US" dirty="0" smtClean="0"/>
              <a:t>Presentation of preferred options and reasons for same</a:t>
            </a:r>
          </a:p>
          <a:p>
            <a:r>
              <a:rPr lang="en-US" dirty="0" smtClean="0"/>
              <a:t>Detailed costing of preferred options</a:t>
            </a:r>
          </a:p>
          <a:p>
            <a:r>
              <a:rPr lang="en-US" dirty="0" smtClean="0"/>
              <a:t>Statement supporting identified recommendations</a:t>
            </a:r>
          </a:p>
          <a:p>
            <a:r>
              <a:rPr lang="en-US" dirty="0" smtClean="0"/>
              <a:t>Attachment of relevant associated/supporting documents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160000" cy="3240000"/>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lstStyle/>
          <a:p>
            <a:pPr marL="36576" indent="0">
              <a:buNone/>
            </a:pPr>
            <a:r>
              <a:rPr lang="en-US" dirty="0" smtClean="0"/>
              <a:t>When identifying and evaluating options for improved budget performance:</a:t>
            </a:r>
          </a:p>
          <a:p>
            <a:r>
              <a:rPr lang="en-AU" dirty="0" smtClean="0"/>
              <a:t>Focus on areas of importance/significance</a:t>
            </a:r>
          </a:p>
          <a:p>
            <a:r>
              <a:rPr lang="en-AU" dirty="0" smtClean="0"/>
              <a:t>Pay attention to red flags</a:t>
            </a:r>
          </a:p>
          <a:p>
            <a:r>
              <a:rPr lang="en-AU" dirty="0" smtClean="0"/>
              <a:t>Identify, determine and/or acknowledge possible reasons for outcomes</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124</a:t>
            </a:fld>
            <a:endParaRPr lang="en-US" dirty="0"/>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04048" y="1988840"/>
            <a:ext cx="2336936" cy="3240000"/>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r>
              <a:rPr lang="en-AU" dirty="0" smtClean="0"/>
              <a:t>Use ‘The Control Cycle’ to provide operational parameters and context for deliberations</a:t>
            </a:r>
          </a:p>
          <a:p>
            <a:r>
              <a:rPr lang="en-AU" dirty="0" smtClean="0"/>
              <a:t>Discuss situations and finding with relevant others</a:t>
            </a:r>
          </a:p>
          <a:p>
            <a:r>
              <a:rPr lang="en-AU" dirty="0" smtClean="0"/>
              <a:t>Investigate and analyse options for action to respond to unacceptable results</a:t>
            </a:r>
          </a:p>
          <a:p>
            <a:r>
              <a:rPr lang="en-AU" dirty="0" smtClean="0"/>
              <a:t>Research and analyse options for action to extend/consolidate acceptable outcomes</a:t>
            </a:r>
          </a:p>
          <a:p>
            <a:pPr marL="36576" indent="0">
              <a:buNone/>
            </a:pPr>
            <a:endParaRPr lang="en-US" sz="1500"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lstStyle/>
          <a:p>
            <a:r>
              <a:rPr lang="en-AU" dirty="0" smtClean="0"/>
              <a:t>Communicate research into new approaches to relevant others </a:t>
            </a:r>
          </a:p>
          <a:p>
            <a:r>
              <a:rPr lang="en-AU" dirty="0" smtClean="0"/>
              <a:t>Explain decisions made</a:t>
            </a:r>
          </a:p>
          <a:p>
            <a:r>
              <a:rPr lang="en-AU" dirty="0" smtClean="0"/>
              <a:t>Integrate effects on customer service into decisions made</a:t>
            </a:r>
          </a:p>
          <a:p>
            <a:r>
              <a:rPr lang="en-AU" dirty="0" smtClean="0"/>
              <a:t>Present and promote recommendations for action</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27984" y="1844824"/>
            <a:ext cx="2383474" cy="3060000"/>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a:t>
            </a:r>
            <a:r>
              <a:rPr lang="en-US" dirty="0" smtClean="0"/>
              <a:t>4 </a:t>
            </a:r>
            <a:r>
              <a:rPr lang="en-US" dirty="0" smtClean="0"/>
              <a:t>– Complete financial/statistical reports</a:t>
            </a:r>
            <a:endParaRPr lang="en-US" dirty="0"/>
          </a:p>
        </p:txBody>
      </p:sp>
      <p:sp>
        <p:nvSpPr>
          <p:cNvPr id="3" name="Content Placeholder 2"/>
          <p:cNvSpPr>
            <a:spLocks noGrp="1"/>
          </p:cNvSpPr>
          <p:nvPr>
            <p:ph idx="1"/>
          </p:nvPr>
        </p:nvSpPr>
        <p:spPr/>
        <p:txBody>
          <a:bodyPr/>
          <a:lstStyle/>
          <a:p>
            <a:pPr marL="36576" indent="0">
              <a:buNone/>
            </a:pPr>
            <a:r>
              <a:rPr lang="en-US" dirty="0" smtClean="0"/>
              <a:t>Performance Criteria for this Element are:</a:t>
            </a:r>
          </a:p>
          <a:p>
            <a:r>
              <a:rPr lang="en-US" dirty="0" smtClean="0"/>
              <a:t>Complete all required financial and statistical reports accurately and within designated timelines</a:t>
            </a:r>
          </a:p>
          <a:p>
            <a:r>
              <a:rPr lang="en-US" dirty="0" smtClean="0"/>
              <a:t>Produce clear and concise information to enable informed decision making</a:t>
            </a:r>
          </a:p>
          <a:p>
            <a:r>
              <a:rPr lang="en-US" dirty="0" smtClean="0"/>
              <a:t>Forward reports promptly to the appropriate person/department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7398" y="1988840"/>
            <a:ext cx="2880000" cy="2160000"/>
          </a:xfrm>
          <a:prstGeom prst="rect">
            <a:avLst/>
          </a:prstGeom>
          <a:ln>
            <a:noFill/>
          </a:ln>
          <a:effectLst/>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pPr marL="36576" indent="0">
              <a:buNone/>
            </a:pPr>
            <a:r>
              <a:rPr lang="en-US" dirty="0" smtClean="0"/>
              <a:t>Financial/statistical reports provide:</a:t>
            </a:r>
          </a:p>
          <a:p>
            <a:r>
              <a:rPr lang="en-AU" dirty="0" smtClean="0"/>
              <a:t>A communication link between management and staff</a:t>
            </a:r>
            <a:endParaRPr lang="en-US" dirty="0" smtClean="0"/>
          </a:p>
          <a:p>
            <a:r>
              <a:rPr lang="en-AU" dirty="0" smtClean="0"/>
              <a:t>An historical database</a:t>
            </a:r>
          </a:p>
          <a:p>
            <a:r>
              <a:rPr lang="en-AU" dirty="0" smtClean="0"/>
              <a:t>Business data to managers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723" y="1988840"/>
            <a:ext cx="3239677" cy="2160000"/>
          </a:xfrm>
          <a:prstGeom prst="rect">
            <a:avLst/>
          </a:prstGeom>
          <a:ln>
            <a:noFill/>
          </a:ln>
          <a:effectLst/>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pPr marL="36576" indent="0">
              <a:buNone/>
            </a:pPr>
            <a:r>
              <a:rPr lang="en-US" dirty="0" smtClean="0"/>
              <a:t>Reports will vary depending on:</a:t>
            </a:r>
          </a:p>
          <a:p>
            <a:r>
              <a:rPr lang="en-US" dirty="0" smtClean="0"/>
              <a:t>The software used</a:t>
            </a:r>
          </a:p>
          <a:p>
            <a:r>
              <a:rPr lang="en-US" dirty="0" smtClean="0"/>
              <a:t>The previous reports prepared and how they have developed over time</a:t>
            </a:r>
          </a:p>
          <a:p>
            <a:r>
              <a:rPr lang="en-US" dirty="0" smtClean="0"/>
              <a:t>User preference for layout and content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129</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52120" y="1772816"/>
            <a:ext cx="2283525" cy="324000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pPr marL="36576" indent="0">
              <a:buNone/>
            </a:pPr>
            <a:r>
              <a:rPr lang="en-US" dirty="0" smtClean="0"/>
              <a:t>All reports will/should contain the following:</a:t>
            </a:r>
          </a:p>
          <a:p>
            <a:r>
              <a:rPr lang="en-US" dirty="0" smtClean="0"/>
              <a:t>Statement of purpose</a:t>
            </a:r>
          </a:p>
          <a:p>
            <a:r>
              <a:rPr lang="en-US" dirty="0" smtClean="0"/>
              <a:t>Subject topic</a:t>
            </a:r>
          </a:p>
          <a:p>
            <a:r>
              <a:rPr lang="en-US" dirty="0" smtClean="0"/>
              <a:t>Nature of contributory evidence</a:t>
            </a:r>
          </a:p>
          <a:p>
            <a:r>
              <a:rPr lang="en-US" dirty="0" smtClean="0"/>
              <a:t>A conclusion</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130</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76872"/>
            <a:ext cx="2340900" cy="324000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r>
              <a:rPr lang="en-US" dirty="0" smtClean="0"/>
              <a:t>Names of those who prepared the report</a:t>
            </a:r>
          </a:p>
          <a:p>
            <a:r>
              <a:rPr lang="en-US" dirty="0" smtClean="0"/>
              <a:t>Name of person/s who </a:t>
            </a:r>
            <a:r>
              <a:rPr lang="en-US" dirty="0" err="1" smtClean="0"/>
              <a:t>authorised</a:t>
            </a:r>
            <a:r>
              <a:rPr lang="en-US" dirty="0" smtClean="0"/>
              <a:t> the report</a:t>
            </a:r>
          </a:p>
          <a:p>
            <a:r>
              <a:rPr lang="en-US" dirty="0" smtClean="0"/>
              <a:t>Dates:</a:t>
            </a:r>
          </a:p>
          <a:p>
            <a:pPr lvl="1">
              <a:buFont typeface="Arial" panose="020B0604020202020204" pitchFamily="34" charset="0"/>
              <a:buChar char="•"/>
            </a:pPr>
            <a:r>
              <a:rPr lang="en-US" sz="2000" dirty="0" smtClean="0"/>
              <a:t>Report was prepared</a:t>
            </a:r>
          </a:p>
          <a:p>
            <a:pPr lvl="1">
              <a:buFont typeface="Arial" panose="020B0604020202020204" pitchFamily="34" charset="0"/>
              <a:buChar char="•"/>
            </a:pPr>
            <a:r>
              <a:rPr lang="en-US" sz="2000" dirty="0" smtClean="0"/>
              <a:t>Period to which report applies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598893" cy="3240000"/>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pPr marL="36576" indent="0">
              <a:buNone/>
            </a:pPr>
            <a:r>
              <a:rPr lang="en-US" dirty="0" smtClean="0"/>
              <a:t>Common timelines for report preparation:</a:t>
            </a:r>
          </a:p>
          <a:p>
            <a:r>
              <a:rPr lang="en-US" dirty="0" smtClean="0"/>
              <a:t>Daily</a:t>
            </a:r>
          </a:p>
          <a:p>
            <a:r>
              <a:rPr lang="en-US" dirty="0" smtClean="0"/>
              <a:t>Weekly</a:t>
            </a:r>
          </a:p>
          <a:p>
            <a:r>
              <a:rPr lang="en-US" dirty="0" smtClean="0"/>
              <a:t>Monthly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132</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415913" cy="3240000"/>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pPr marL="36576" indent="0">
              <a:buNone/>
            </a:pPr>
            <a:r>
              <a:rPr lang="en-US" dirty="0" smtClean="0"/>
              <a:t>All reports prepared must be:</a:t>
            </a:r>
          </a:p>
          <a:p>
            <a:r>
              <a:rPr lang="en-US" dirty="0" smtClean="0"/>
              <a:t>Accurate</a:t>
            </a:r>
          </a:p>
          <a:p>
            <a:r>
              <a:rPr lang="en-US" dirty="0" smtClean="0"/>
              <a:t>Clear</a:t>
            </a:r>
          </a:p>
          <a:p>
            <a:r>
              <a:rPr lang="en-US" dirty="0" smtClean="0"/>
              <a:t>Concise</a:t>
            </a:r>
          </a:p>
          <a:p>
            <a:r>
              <a:rPr lang="en-US" dirty="0" smtClean="0"/>
              <a:t>Time-relevant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133</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69529" y="1772816"/>
            <a:ext cx="4064871" cy="324000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pPr marL="36576" indent="0">
              <a:buNone/>
            </a:pPr>
            <a:r>
              <a:rPr lang="en-US" dirty="0" smtClean="0"/>
              <a:t>Activities to ensure proper reports:</a:t>
            </a:r>
          </a:p>
          <a:p>
            <a:r>
              <a:rPr lang="en-US" dirty="0" smtClean="0"/>
              <a:t>Use templates</a:t>
            </a:r>
          </a:p>
          <a:p>
            <a:r>
              <a:rPr lang="en-US" dirty="0" smtClean="0"/>
              <a:t>Refer to previous reports</a:t>
            </a:r>
          </a:p>
          <a:p>
            <a:r>
              <a:rPr lang="en-US" dirty="0" smtClean="0"/>
              <a:t>Double-check all figures</a:t>
            </a:r>
          </a:p>
          <a:p>
            <a:r>
              <a:rPr lang="en-US" dirty="0" smtClean="0"/>
              <a:t>Use source documentation as basis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505797"/>
            <a:ext cx="2040000" cy="3060000"/>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r>
              <a:rPr lang="en-US" smtClean="0"/>
              <a:t>Verify dates for documents and source data</a:t>
            </a:r>
          </a:p>
          <a:p>
            <a:r>
              <a:rPr lang="en-US" smtClean="0"/>
              <a:t>File all documentation</a:t>
            </a:r>
          </a:p>
          <a:p>
            <a:r>
              <a:rPr lang="en-US" smtClean="0"/>
              <a:t>Double-check all calculations</a:t>
            </a:r>
          </a:p>
          <a:p>
            <a:r>
              <a:rPr lang="en-US" smtClean="0"/>
              <a:t>Review reports prior to release</a:t>
            </a:r>
          </a:p>
          <a:p>
            <a:r>
              <a:rPr lang="en-US" smtClean="0"/>
              <a:t>Prepare a ‘draft’ and revise as/if necessary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136</a:t>
            </a:fld>
            <a:endParaRPr lang="en-US" dirty="0"/>
          </a:p>
        </p:txBody>
      </p:sp>
      <p:graphicFrame>
        <p:nvGraphicFramePr>
          <p:cNvPr id="5" name="Table 4"/>
          <p:cNvGraphicFramePr>
            <a:graphicFrameLocks noGrp="1"/>
          </p:cNvGraphicFramePr>
          <p:nvPr/>
        </p:nvGraphicFramePr>
        <p:xfrm>
          <a:off x="1428728" y="1785926"/>
          <a:ext cx="6096000" cy="359156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Accounting </a:t>
                      </a:r>
                    </a:p>
                  </a:txBody>
                  <a:tcPr marL="68580" marR="68580" marT="0" marB="0" anchor="ctr"/>
                </a:tc>
                <a:tc>
                  <a:txBody>
                    <a:bodyPr/>
                    <a:lstStyle/>
                    <a:p>
                      <a:pPr>
                        <a:spcBef>
                          <a:spcPts val="400"/>
                        </a:spcBef>
                        <a:spcAft>
                          <a:spcPts val="400"/>
                        </a:spcAft>
                      </a:pPr>
                      <a:r>
                        <a:rPr lang="en-AU" sz="1800" dirty="0">
                          <a:latin typeface="Helvetica"/>
                          <a:ea typeface="Calibri"/>
                          <a:cs typeface="Calibri"/>
                        </a:rPr>
                        <a:t>The process of recording, </a:t>
                      </a:r>
                      <a:r>
                        <a:rPr lang="en-AU" sz="1800" dirty="0" smtClean="0">
                          <a:latin typeface="Helvetica"/>
                          <a:ea typeface="Calibri"/>
                          <a:cs typeface="Calibri"/>
                        </a:rPr>
                        <a:t>analysing/interpreting </a:t>
                      </a:r>
                      <a:r>
                        <a:rPr lang="en-AU" sz="1800" dirty="0">
                          <a:latin typeface="Helvetica"/>
                          <a:ea typeface="Calibri"/>
                          <a:cs typeface="Calibri"/>
                        </a:rPr>
                        <a:t>the financial effect of business transactions</a:t>
                      </a:r>
                    </a:p>
                  </a:txBody>
                  <a:tcPr marL="68580" marR="68580" marT="0" marB="0" anchor="ctr"/>
                </a:tc>
              </a:tr>
              <a:tr h="370840">
                <a:tc>
                  <a:txBody>
                    <a:bodyPr/>
                    <a:lstStyle/>
                    <a:p>
                      <a:pPr>
                        <a:spcBef>
                          <a:spcPts val="400"/>
                        </a:spcBef>
                        <a:spcAft>
                          <a:spcPts val="400"/>
                        </a:spcAft>
                      </a:pPr>
                      <a:r>
                        <a:rPr lang="en-AU" sz="1800" dirty="0">
                          <a:latin typeface="Helvetica"/>
                          <a:ea typeface="Calibri"/>
                          <a:cs typeface="Calibri"/>
                        </a:rPr>
                        <a:t>Accounting equation </a:t>
                      </a:r>
                    </a:p>
                  </a:txBody>
                  <a:tcPr marL="68580" marR="68580" marT="0" marB="0" anchor="ctr"/>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The </a:t>
                      </a:r>
                      <a:r>
                        <a:rPr lang="en-AU" sz="1800" dirty="0">
                          <a:latin typeface="Helvetica"/>
                          <a:ea typeface="Calibri"/>
                          <a:cs typeface="Calibri"/>
                        </a:rPr>
                        <a:t>relationship between the accounting elements of a Business: Assets = Liabilities + Owner’s </a:t>
                      </a:r>
                      <a:r>
                        <a:rPr lang="en-AU" sz="1800" dirty="0" smtClean="0">
                          <a:latin typeface="Helvetica"/>
                          <a:ea typeface="Calibri"/>
                          <a:cs typeface="Calibri"/>
                        </a:rPr>
                        <a:t>Equity</a:t>
                      </a:r>
                      <a:endParaRPr lang="en-AU" sz="1800" dirty="0">
                        <a:latin typeface="Helvetica"/>
                        <a:ea typeface="Calibri"/>
                        <a:cs typeface="Calibri"/>
                      </a:endParaRPr>
                    </a:p>
                  </a:txBody>
                  <a:tcPr marL="68580" marR="68580" marT="0" marB="0" anchor="ctr"/>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Accounting </a:t>
                      </a:r>
                      <a:r>
                        <a:rPr lang="en-AU" sz="1800" dirty="0">
                          <a:latin typeface="Helvetica"/>
                          <a:ea typeface="Calibri"/>
                          <a:cs typeface="Calibri"/>
                        </a:rPr>
                        <a:t>period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The </a:t>
                      </a:r>
                      <a:r>
                        <a:rPr lang="en-AU" sz="1800" dirty="0">
                          <a:latin typeface="Helvetica"/>
                          <a:ea typeface="Calibri"/>
                          <a:cs typeface="Calibri"/>
                        </a:rPr>
                        <a:t>period in which the reporting process takes place </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137</a:t>
            </a:fld>
            <a:endParaRPr lang="en-US" dirty="0"/>
          </a:p>
        </p:txBody>
      </p:sp>
      <p:graphicFrame>
        <p:nvGraphicFramePr>
          <p:cNvPr id="5" name="Table 4"/>
          <p:cNvGraphicFramePr>
            <a:graphicFrameLocks noGrp="1"/>
          </p:cNvGraphicFramePr>
          <p:nvPr/>
        </p:nvGraphicFramePr>
        <p:xfrm>
          <a:off x="1428728" y="1785926"/>
          <a:ext cx="6096000" cy="331724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Accounts payable</a:t>
                      </a:r>
                    </a:p>
                  </a:txBody>
                  <a:tcPr marL="68580" marR="68580" marT="0" marB="0"/>
                </a:tc>
                <a:tc>
                  <a:txBody>
                    <a:bodyPr/>
                    <a:lstStyle/>
                    <a:p>
                      <a:pPr>
                        <a:spcBef>
                          <a:spcPts val="400"/>
                        </a:spcBef>
                        <a:spcAft>
                          <a:spcPts val="400"/>
                        </a:spcAft>
                      </a:pPr>
                      <a:r>
                        <a:rPr lang="en-AU" sz="1800" dirty="0">
                          <a:latin typeface="Helvetica"/>
                          <a:ea typeface="Calibri"/>
                          <a:cs typeface="Calibri"/>
                        </a:rPr>
                        <a:t>A current liability owed to a supplier for good or services purchased on </a:t>
                      </a:r>
                      <a:r>
                        <a:rPr lang="en-AU" sz="1800" dirty="0" smtClean="0">
                          <a:latin typeface="Helvetica"/>
                          <a:ea typeface="Calibri"/>
                          <a:cs typeface="Calibri"/>
                        </a:rPr>
                        <a:t>credit</a:t>
                      </a:r>
                      <a:endParaRPr lang="en-AU" sz="1800" dirty="0">
                        <a:latin typeface="Helvetica"/>
                        <a:ea typeface="Calibri"/>
                        <a:cs typeface="Calibri"/>
                      </a:endParaRP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Accounts </a:t>
                      </a:r>
                      <a:r>
                        <a:rPr lang="en-AU" sz="1800" dirty="0">
                          <a:latin typeface="Helvetica"/>
                          <a:ea typeface="Calibri"/>
                          <a:cs typeface="Calibri"/>
                        </a:rPr>
                        <a:t>receivable</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current asset representing money due for services performed or merchandise sold on </a:t>
                      </a:r>
                      <a:r>
                        <a:rPr lang="en-AU" sz="1800" dirty="0" smtClean="0">
                          <a:latin typeface="Helvetica"/>
                          <a:ea typeface="Calibri"/>
                          <a:cs typeface="Calibri"/>
                        </a:rPr>
                        <a:t>credit</a:t>
                      </a:r>
                      <a:endParaRPr lang="en-AU" sz="1800" dirty="0">
                        <a:latin typeface="Helvetica"/>
                        <a:ea typeface="Calibri"/>
                        <a:cs typeface="Calibri"/>
                      </a:endParaRP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Assets</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Economic </a:t>
                      </a:r>
                      <a:r>
                        <a:rPr lang="en-AU" sz="1800" dirty="0">
                          <a:latin typeface="Helvetica"/>
                          <a:ea typeface="Calibri"/>
                          <a:cs typeface="Calibri"/>
                        </a:rPr>
                        <a:t>resources that are owned or controlled by an entity</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138</a:t>
            </a:fld>
            <a:endParaRPr lang="en-US" dirty="0"/>
          </a:p>
        </p:txBody>
      </p:sp>
      <p:graphicFrame>
        <p:nvGraphicFramePr>
          <p:cNvPr id="5" name="Table 4"/>
          <p:cNvGraphicFramePr>
            <a:graphicFrameLocks noGrp="1"/>
          </p:cNvGraphicFramePr>
          <p:nvPr/>
        </p:nvGraphicFramePr>
        <p:xfrm>
          <a:off x="1428728" y="1785926"/>
          <a:ext cx="6096000" cy="231648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Balance day </a:t>
                      </a:r>
                    </a:p>
                  </a:txBody>
                  <a:tcPr marL="68580" marR="68580" marT="0" marB="0"/>
                </a:tc>
                <a:tc>
                  <a:txBody>
                    <a:bodyPr/>
                    <a:lstStyle/>
                    <a:p>
                      <a:pPr>
                        <a:spcBef>
                          <a:spcPts val="400"/>
                        </a:spcBef>
                        <a:spcAft>
                          <a:spcPts val="400"/>
                        </a:spcAft>
                      </a:pPr>
                      <a:r>
                        <a:rPr lang="en-AU" sz="1800" dirty="0">
                          <a:latin typeface="Helvetica"/>
                          <a:ea typeface="Calibri"/>
                          <a:cs typeface="Calibri"/>
                        </a:rPr>
                        <a:t>The end of each reporting period</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Balance </a:t>
                      </a:r>
                      <a:r>
                        <a:rPr lang="en-AU" sz="1800" dirty="0">
                          <a:latin typeface="Helvetica"/>
                          <a:ea typeface="Calibri"/>
                          <a:cs typeface="Calibri"/>
                        </a:rPr>
                        <a:t>sheet report</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See </a:t>
                      </a:r>
                      <a:r>
                        <a:rPr lang="en-AU" sz="1800" dirty="0">
                          <a:latin typeface="Helvetica"/>
                          <a:ea typeface="Calibri"/>
                          <a:cs typeface="Calibri"/>
                        </a:rPr>
                        <a:t>statement of financial position</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Capital</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The </a:t>
                      </a:r>
                      <a:r>
                        <a:rPr lang="en-AU" sz="1800" dirty="0">
                          <a:latin typeface="Helvetica"/>
                          <a:ea typeface="Calibri"/>
                          <a:cs typeface="Calibri"/>
                        </a:rPr>
                        <a:t>owner’s investment in the business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139</a:t>
            </a:fld>
            <a:endParaRPr lang="en-US" dirty="0"/>
          </a:p>
        </p:txBody>
      </p:sp>
      <p:graphicFrame>
        <p:nvGraphicFramePr>
          <p:cNvPr id="5" name="Table 4"/>
          <p:cNvGraphicFramePr>
            <a:graphicFrameLocks noGrp="1"/>
          </p:cNvGraphicFramePr>
          <p:nvPr/>
        </p:nvGraphicFramePr>
        <p:xfrm>
          <a:off x="1428728" y="1785926"/>
          <a:ext cx="6096000" cy="276860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Cash flow </a:t>
                      </a:r>
                    </a:p>
                  </a:txBody>
                  <a:tcPr marL="68580" marR="68580" marT="0" marB="0"/>
                </a:tc>
                <a:tc>
                  <a:txBody>
                    <a:bodyPr/>
                    <a:lstStyle/>
                    <a:p>
                      <a:pPr>
                        <a:spcBef>
                          <a:spcPts val="400"/>
                        </a:spcBef>
                        <a:spcAft>
                          <a:spcPts val="400"/>
                        </a:spcAft>
                      </a:pPr>
                      <a:r>
                        <a:rPr lang="en-AU" sz="1800" dirty="0">
                          <a:latin typeface="Helvetica"/>
                          <a:ea typeface="Calibri"/>
                          <a:cs typeface="Calibri"/>
                        </a:rPr>
                        <a:t>The recording of all receipts and payments made by a business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Cash </a:t>
                      </a:r>
                      <a:r>
                        <a:rPr lang="en-AU" sz="1800" dirty="0">
                          <a:latin typeface="Helvetica"/>
                          <a:ea typeface="Calibri"/>
                          <a:cs typeface="Calibri"/>
                        </a:rPr>
                        <a:t>payments journal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journal that records cash payments to all sources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Cash </a:t>
                      </a:r>
                      <a:r>
                        <a:rPr lang="en-AU" sz="1800" dirty="0">
                          <a:latin typeface="Helvetica"/>
                          <a:ea typeface="Calibri"/>
                          <a:cs typeface="Calibri"/>
                        </a:rPr>
                        <a:t>receipts journal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journal that records cash received from all sources </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140</a:t>
            </a:fld>
            <a:endParaRPr lang="en-US" dirty="0"/>
          </a:p>
        </p:txBody>
      </p:sp>
      <p:graphicFrame>
        <p:nvGraphicFramePr>
          <p:cNvPr id="5" name="Table 4"/>
          <p:cNvGraphicFramePr>
            <a:graphicFrameLocks noGrp="1"/>
          </p:cNvGraphicFramePr>
          <p:nvPr/>
        </p:nvGraphicFramePr>
        <p:xfrm>
          <a:off x="1428728" y="1785926"/>
          <a:ext cx="6096000" cy="331724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Chart of accounts</a:t>
                      </a:r>
                    </a:p>
                  </a:txBody>
                  <a:tcPr marL="68580" marR="68580" marT="0" marB="0"/>
                </a:tc>
                <a:tc>
                  <a:txBody>
                    <a:bodyPr/>
                    <a:lstStyle/>
                    <a:p>
                      <a:pPr>
                        <a:spcBef>
                          <a:spcPts val="400"/>
                        </a:spcBef>
                        <a:spcAft>
                          <a:spcPts val="400"/>
                        </a:spcAft>
                      </a:pPr>
                      <a:r>
                        <a:rPr lang="en-AU" sz="1800" dirty="0">
                          <a:latin typeface="Helvetica"/>
                          <a:ea typeface="Calibri"/>
                          <a:cs typeface="Calibri"/>
                        </a:rPr>
                        <a:t>A list of ledger accounts classified in a numerical sequence according to type (assets, liabilities, owner’s equity, revenue and expense)</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Cost </a:t>
                      </a:r>
                      <a:r>
                        <a:rPr lang="en-AU" sz="1800" dirty="0">
                          <a:latin typeface="Helvetica"/>
                          <a:ea typeface="Calibri"/>
                          <a:cs typeface="Calibri"/>
                        </a:rPr>
                        <a:t>of goods sold</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Expense </a:t>
                      </a:r>
                      <a:r>
                        <a:rPr lang="en-AU" sz="1800" dirty="0">
                          <a:latin typeface="Helvetica"/>
                          <a:ea typeface="Calibri"/>
                          <a:cs typeface="Calibri"/>
                        </a:rPr>
                        <a:t>incurred to purchase or manufacture the product sold to customers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Creditors</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See </a:t>
                      </a:r>
                      <a:r>
                        <a:rPr lang="en-AU" sz="1800" dirty="0">
                          <a:latin typeface="Helvetica"/>
                          <a:ea typeface="Calibri"/>
                          <a:cs typeface="Calibri"/>
                        </a:rPr>
                        <a:t>accounts payable</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141</a:t>
            </a:fld>
            <a:endParaRPr lang="en-US" dirty="0"/>
          </a:p>
        </p:txBody>
      </p:sp>
      <p:graphicFrame>
        <p:nvGraphicFramePr>
          <p:cNvPr id="5" name="Table 4"/>
          <p:cNvGraphicFramePr>
            <a:graphicFrameLocks noGrp="1"/>
          </p:cNvGraphicFramePr>
          <p:nvPr/>
        </p:nvGraphicFramePr>
        <p:xfrm>
          <a:off x="1428728" y="1785926"/>
          <a:ext cx="6096000" cy="276860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Current asset</a:t>
                      </a:r>
                    </a:p>
                  </a:txBody>
                  <a:tcPr marL="68580" marR="68580" marT="0" marB="0"/>
                </a:tc>
                <a:tc>
                  <a:txBody>
                    <a:bodyPr/>
                    <a:lstStyle/>
                    <a:p>
                      <a:pPr>
                        <a:spcBef>
                          <a:spcPts val="400"/>
                        </a:spcBef>
                        <a:spcAft>
                          <a:spcPts val="400"/>
                        </a:spcAft>
                      </a:pPr>
                      <a:r>
                        <a:rPr lang="en-AU" sz="1800" dirty="0">
                          <a:latin typeface="Helvetica"/>
                          <a:ea typeface="Calibri"/>
                          <a:cs typeface="Calibri"/>
                        </a:rPr>
                        <a:t>Asset of the business readily converted to cash within 12 months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Current </a:t>
                      </a:r>
                      <a:r>
                        <a:rPr lang="en-AU" sz="1800" dirty="0">
                          <a:latin typeface="Helvetica"/>
                          <a:ea typeface="Calibri"/>
                          <a:cs typeface="Calibri"/>
                        </a:rPr>
                        <a:t>liability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Debt </a:t>
                      </a:r>
                      <a:r>
                        <a:rPr lang="en-AU" sz="1800" dirty="0">
                          <a:latin typeface="Helvetica"/>
                          <a:ea typeface="Calibri"/>
                          <a:cs typeface="Calibri"/>
                        </a:rPr>
                        <a:t>of the business that must be paid within 12 months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Debits </a:t>
                      </a:r>
                      <a:r>
                        <a:rPr lang="en-AU" sz="1800" dirty="0">
                          <a:latin typeface="Helvetica"/>
                          <a:ea typeface="Calibri"/>
                          <a:cs typeface="Calibri"/>
                        </a:rPr>
                        <a:t>and credits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How </a:t>
                      </a:r>
                      <a:r>
                        <a:rPr lang="en-AU" sz="1800" dirty="0">
                          <a:latin typeface="Helvetica"/>
                          <a:ea typeface="Calibri"/>
                          <a:cs typeface="Calibri"/>
                        </a:rPr>
                        <a:t>increases and decreases in ledger accounts are expressed</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142</a:t>
            </a:fld>
            <a:endParaRPr lang="en-US" dirty="0"/>
          </a:p>
        </p:txBody>
      </p:sp>
      <p:graphicFrame>
        <p:nvGraphicFramePr>
          <p:cNvPr id="5" name="Table 4"/>
          <p:cNvGraphicFramePr>
            <a:graphicFrameLocks noGrp="1"/>
          </p:cNvGraphicFramePr>
          <p:nvPr/>
        </p:nvGraphicFramePr>
        <p:xfrm>
          <a:off x="1428728" y="1785926"/>
          <a:ext cx="6096000" cy="286512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Debtors </a:t>
                      </a:r>
                    </a:p>
                  </a:txBody>
                  <a:tcPr marL="68580" marR="68580" marT="0" marB="0"/>
                </a:tc>
                <a:tc>
                  <a:txBody>
                    <a:bodyPr/>
                    <a:lstStyle/>
                    <a:p>
                      <a:pPr>
                        <a:spcBef>
                          <a:spcPts val="400"/>
                        </a:spcBef>
                        <a:spcAft>
                          <a:spcPts val="400"/>
                        </a:spcAft>
                      </a:pPr>
                      <a:r>
                        <a:rPr lang="en-AU" sz="1800" dirty="0">
                          <a:latin typeface="Helvetica"/>
                          <a:ea typeface="Calibri"/>
                          <a:cs typeface="Calibri"/>
                        </a:rPr>
                        <a:t>See accounts receivable</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Drawings</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Withdrawals </a:t>
                      </a:r>
                      <a:r>
                        <a:rPr lang="en-AU" sz="1800" dirty="0">
                          <a:latin typeface="Helvetica"/>
                          <a:ea typeface="Calibri"/>
                          <a:cs typeface="Calibri"/>
                        </a:rPr>
                        <a:t>of earnings by the owners for their own use</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Expense </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Costs </a:t>
                      </a:r>
                      <a:r>
                        <a:rPr lang="en-AU" sz="1800" dirty="0">
                          <a:latin typeface="Helvetica"/>
                          <a:ea typeface="Calibri"/>
                          <a:cs typeface="Calibri"/>
                        </a:rPr>
                        <a:t>or outgoings incurred in the normal course of business to generate revenues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143</a:t>
            </a:fld>
            <a:endParaRPr lang="en-US" dirty="0"/>
          </a:p>
        </p:txBody>
      </p:sp>
      <p:graphicFrame>
        <p:nvGraphicFramePr>
          <p:cNvPr id="5" name="Table 4"/>
          <p:cNvGraphicFramePr>
            <a:graphicFrameLocks noGrp="1"/>
          </p:cNvGraphicFramePr>
          <p:nvPr/>
        </p:nvGraphicFramePr>
        <p:xfrm>
          <a:off x="1428728" y="1785926"/>
          <a:ext cx="6096000" cy="276860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Gross profit </a:t>
                      </a:r>
                    </a:p>
                  </a:txBody>
                  <a:tcPr marL="68580" marR="68580" marT="0" marB="0"/>
                </a:tc>
                <a:tc>
                  <a:txBody>
                    <a:bodyPr/>
                    <a:lstStyle/>
                    <a:p>
                      <a:pPr>
                        <a:spcBef>
                          <a:spcPts val="400"/>
                        </a:spcBef>
                        <a:spcAft>
                          <a:spcPts val="400"/>
                        </a:spcAft>
                      </a:pPr>
                      <a:r>
                        <a:rPr lang="en-AU" sz="1800" dirty="0">
                          <a:latin typeface="Helvetica"/>
                          <a:ea typeface="Calibri"/>
                          <a:cs typeface="Calibri"/>
                        </a:rPr>
                        <a:t>The excess of sales revenue over the cost of goods sold</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Interest </a:t>
                      </a:r>
                      <a:r>
                        <a:rPr lang="en-AU" sz="1800" dirty="0">
                          <a:latin typeface="Helvetica"/>
                          <a:ea typeface="Calibri"/>
                          <a:cs typeface="Calibri"/>
                        </a:rPr>
                        <a:t>paid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An </a:t>
                      </a:r>
                      <a:r>
                        <a:rPr lang="en-AU" sz="1800" dirty="0">
                          <a:latin typeface="Helvetica"/>
                          <a:ea typeface="Calibri"/>
                          <a:cs typeface="Calibri"/>
                        </a:rPr>
                        <a:t>expense relating to money owed </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Interest </a:t>
                      </a:r>
                      <a:r>
                        <a:rPr lang="en-AU" sz="1800" dirty="0">
                          <a:latin typeface="Helvetica"/>
                          <a:ea typeface="Calibri"/>
                          <a:cs typeface="Calibri"/>
                        </a:rPr>
                        <a:t>received</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revenue derived from investments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144</a:t>
            </a:fld>
            <a:endParaRPr lang="en-US" dirty="0"/>
          </a:p>
        </p:txBody>
      </p:sp>
      <p:graphicFrame>
        <p:nvGraphicFramePr>
          <p:cNvPr id="5" name="Table 4"/>
          <p:cNvGraphicFramePr>
            <a:graphicFrameLocks noGrp="1"/>
          </p:cNvGraphicFramePr>
          <p:nvPr/>
        </p:nvGraphicFramePr>
        <p:xfrm>
          <a:off x="1428728" y="1785926"/>
          <a:ext cx="6096000" cy="359156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Internal control </a:t>
                      </a:r>
                    </a:p>
                  </a:txBody>
                  <a:tcPr marL="68580" marR="68580" marT="0" marB="0"/>
                </a:tc>
                <a:tc>
                  <a:txBody>
                    <a:bodyPr/>
                    <a:lstStyle/>
                    <a:p>
                      <a:pPr>
                        <a:spcBef>
                          <a:spcPts val="400"/>
                        </a:spcBef>
                        <a:spcAft>
                          <a:spcPts val="400"/>
                        </a:spcAft>
                      </a:pPr>
                      <a:r>
                        <a:rPr lang="en-AU" sz="1800" dirty="0">
                          <a:latin typeface="Helvetica"/>
                          <a:ea typeface="Calibri"/>
                          <a:cs typeface="Calibri"/>
                        </a:rPr>
                        <a:t>Safeguards in the form of policies and procedures established to protect assets and ensure accurate financial reports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Inventory</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kumimoji="0" lang="en-AU" sz="1800" kern="1200" dirty="0" smtClean="0">
                          <a:solidFill>
                            <a:schemeClr val="dk1"/>
                          </a:solidFill>
                          <a:latin typeface="+mn-lt"/>
                          <a:ea typeface="+mn-ea"/>
                          <a:cs typeface="+mn-cs"/>
                        </a:rPr>
                        <a:t>Goods that can be sold to customers</a:t>
                      </a:r>
                      <a:endParaRPr lang="en-AU" sz="1800" dirty="0">
                        <a:latin typeface="Helvetica"/>
                        <a:ea typeface="Calibri"/>
                        <a:cs typeface="Calibri"/>
                      </a:endParaRP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Journal </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An </a:t>
                      </a:r>
                      <a:r>
                        <a:rPr lang="en-AU" sz="1800" dirty="0">
                          <a:latin typeface="Helvetica"/>
                          <a:ea typeface="Calibri"/>
                          <a:cs typeface="Calibri"/>
                        </a:rPr>
                        <a:t>accounting record in which transactions are first summarised chronologically</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145</a:t>
            </a:fld>
            <a:endParaRPr lang="en-US" dirty="0"/>
          </a:p>
        </p:txBody>
      </p:sp>
      <p:graphicFrame>
        <p:nvGraphicFramePr>
          <p:cNvPr id="5" name="Table 4"/>
          <p:cNvGraphicFramePr>
            <a:graphicFrameLocks noGrp="1"/>
          </p:cNvGraphicFramePr>
          <p:nvPr/>
        </p:nvGraphicFramePr>
        <p:xfrm>
          <a:off x="1428728" y="1785926"/>
          <a:ext cx="6096000" cy="386588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Ledger </a:t>
                      </a:r>
                    </a:p>
                  </a:txBody>
                  <a:tcPr marL="68580" marR="68580" marT="0" marB="0"/>
                </a:tc>
                <a:tc>
                  <a:txBody>
                    <a:bodyPr/>
                    <a:lstStyle/>
                    <a:p>
                      <a:pPr>
                        <a:spcBef>
                          <a:spcPts val="400"/>
                        </a:spcBef>
                        <a:spcAft>
                          <a:spcPts val="400"/>
                        </a:spcAft>
                      </a:pPr>
                      <a:r>
                        <a:rPr lang="en-AU" sz="1800" dirty="0">
                          <a:latin typeface="Helvetica"/>
                          <a:ea typeface="Calibri"/>
                          <a:cs typeface="Calibri"/>
                        </a:rPr>
                        <a:t>A record of accounts used by a business for recording its financial transactions (Assets, Liabilities, Owner’s Equity, Revenue and Expenses)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Liabilities </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Amounts </a:t>
                      </a:r>
                      <a:r>
                        <a:rPr lang="en-AU" sz="1800" dirty="0">
                          <a:latin typeface="Helvetica"/>
                          <a:ea typeface="Calibri"/>
                          <a:cs typeface="Calibri"/>
                        </a:rPr>
                        <a:t>owed by the business to creditors, governments, employees, and other parties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Mortgage </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bank loan secured by property or other assets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146</a:t>
            </a:fld>
            <a:endParaRPr lang="en-US" dirty="0"/>
          </a:p>
        </p:txBody>
      </p:sp>
      <p:graphicFrame>
        <p:nvGraphicFramePr>
          <p:cNvPr id="5" name="Table 4"/>
          <p:cNvGraphicFramePr>
            <a:graphicFrameLocks noGrp="1"/>
          </p:cNvGraphicFramePr>
          <p:nvPr/>
        </p:nvGraphicFramePr>
        <p:xfrm>
          <a:off x="1428728" y="1785926"/>
          <a:ext cx="6096000" cy="359156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Net profit</a:t>
                      </a:r>
                    </a:p>
                  </a:txBody>
                  <a:tcPr marL="68580" marR="68580" marT="0" marB="0"/>
                </a:tc>
                <a:tc>
                  <a:txBody>
                    <a:bodyPr/>
                    <a:lstStyle/>
                    <a:p>
                      <a:pPr>
                        <a:spcBef>
                          <a:spcPts val="400"/>
                        </a:spcBef>
                        <a:spcAft>
                          <a:spcPts val="400"/>
                        </a:spcAft>
                      </a:pPr>
                      <a:r>
                        <a:rPr lang="en-AU" sz="1800" dirty="0">
                          <a:latin typeface="Helvetica"/>
                          <a:ea typeface="Calibri"/>
                          <a:cs typeface="Calibri"/>
                        </a:rPr>
                        <a:t>A measure of the overall performance of a business; equal to revenues minus expenses for the period</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Non-current </a:t>
                      </a:r>
                      <a:r>
                        <a:rPr lang="en-AU" sz="1800" dirty="0">
                          <a:latin typeface="Helvetica"/>
                          <a:ea typeface="Calibri"/>
                          <a:cs typeface="Calibri"/>
                        </a:rPr>
                        <a:t>asset</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Asset </a:t>
                      </a:r>
                      <a:r>
                        <a:rPr lang="en-AU" sz="1800" dirty="0">
                          <a:latin typeface="Helvetica"/>
                          <a:ea typeface="Calibri"/>
                          <a:cs typeface="Calibri"/>
                        </a:rPr>
                        <a:t>of the business not likely to be converted to cash within 12 months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Non-current </a:t>
                      </a:r>
                      <a:r>
                        <a:rPr lang="en-AU" sz="1800" dirty="0">
                          <a:latin typeface="Helvetica"/>
                          <a:ea typeface="Calibri"/>
                          <a:cs typeface="Calibri"/>
                        </a:rPr>
                        <a:t>liability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debt of the business that is not to be repaid within 12 months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147</a:t>
            </a:fld>
            <a:endParaRPr lang="en-US" dirty="0"/>
          </a:p>
        </p:txBody>
      </p:sp>
      <p:graphicFrame>
        <p:nvGraphicFramePr>
          <p:cNvPr id="5" name="Table 4"/>
          <p:cNvGraphicFramePr>
            <a:graphicFrameLocks noGrp="1"/>
          </p:cNvGraphicFramePr>
          <p:nvPr/>
        </p:nvGraphicFramePr>
        <p:xfrm>
          <a:off x="1428728" y="1785926"/>
          <a:ext cx="6096000" cy="331724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Overdraft </a:t>
                      </a:r>
                    </a:p>
                  </a:txBody>
                  <a:tcPr marL="68580" marR="68580" marT="0" marB="0"/>
                </a:tc>
                <a:tc>
                  <a:txBody>
                    <a:bodyPr/>
                    <a:lstStyle/>
                    <a:p>
                      <a:pPr>
                        <a:spcBef>
                          <a:spcPts val="400"/>
                        </a:spcBef>
                        <a:spcAft>
                          <a:spcPts val="400"/>
                        </a:spcAft>
                      </a:pPr>
                      <a:r>
                        <a:rPr lang="en-AU" sz="1800" dirty="0">
                          <a:latin typeface="Helvetica"/>
                          <a:ea typeface="Calibri"/>
                          <a:cs typeface="Calibri"/>
                        </a:rPr>
                        <a:t>A negative bank balance (effectively a bank loan)</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Owner’s </a:t>
                      </a:r>
                      <a:r>
                        <a:rPr lang="en-AU" sz="1800" dirty="0">
                          <a:latin typeface="Helvetica"/>
                          <a:ea typeface="Calibri"/>
                          <a:cs typeface="Calibri"/>
                        </a:rPr>
                        <a:t>equity</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The </a:t>
                      </a:r>
                      <a:r>
                        <a:rPr lang="en-AU" sz="1800" dirty="0">
                          <a:latin typeface="Helvetica"/>
                          <a:ea typeface="Calibri"/>
                          <a:cs typeface="Calibri"/>
                        </a:rPr>
                        <a:t>ownership interest in the assets of an entity; equal total assets minus total liabilities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Petty </a:t>
                      </a:r>
                      <a:r>
                        <a:rPr lang="en-AU" sz="1800" dirty="0">
                          <a:latin typeface="Helvetica"/>
                          <a:ea typeface="Calibri"/>
                          <a:cs typeface="Calibri"/>
                        </a:rPr>
                        <a:t>cash</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small amount of cash kept on hand for making miscellaneous payments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148</a:t>
            </a:fld>
            <a:endParaRPr lang="en-US" dirty="0"/>
          </a:p>
        </p:txBody>
      </p:sp>
      <p:graphicFrame>
        <p:nvGraphicFramePr>
          <p:cNvPr id="5" name="Table 4"/>
          <p:cNvGraphicFramePr>
            <a:graphicFrameLocks noGrp="1"/>
          </p:cNvGraphicFramePr>
          <p:nvPr/>
        </p:nvGraphicFramePr>
        <p:xfrm>
          <a:off x="1428728" y="1785926"/>
          <a:ext cx="6096000" cy="304292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Profit and loss report</a:t>
                      </a:r>
                    </a:p>
                  </a:txBody>
                  <a:tcPr marL="68580" marR="68580" marT="0" marB="0"/>
                </a:tc>
                <a:tc>
                  <a:txBody>
                    <a:bodyPr/>
                    <a:lstStyle/>
                    <a:p>
                      <a:pPr>
                        <a:spcBef>
                          <a:spcPts val="400"/>
                        </a:spcBef>
                        <a:spcAft>
                          <a:spcPts val="400"/>
                        </a:spcAft>
                      </a:pPr>
                      <a:r>
                        <a:rPr lang="en-AU" sz="1800" dirty="0">
                          <a:latin typeface="Helvetica"/>
                          <a:ea typeface="Calibri"/>
                          <a:cs typeface="Calibri"/>
                        </a:rPr>
                        <a:t>The financial statement that shows the profit performance of a business over an accounting </a:t>
                      </a:r>
                      <a:r>
                        <a:rPr lang="en-AU" sz="1800" dirty="0" smtClean="0">
                          <a:latin typeface="Helvetica"/>
                          <a:ea typeface="Calibri"/>
                          <a:cs typeface="Calibri"/>
                        </a:rPr>
                        <a:t>period</a:t>
                      </a:r>
                      <a:endParaRPr lang="en-AU" sz="1800" dirty="0">
                        <a:latin typeface="Helvetica"/>
                        <a:ea typeface="Calibri"/>
                        <a:cs typeface="Calibri"/>
                      </a:endParaRP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Purchases </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Expenses </a:t>
                      </a:r>
                      <a:r>
                        <a:rPr lang="en-AU" sz="1800" dirty="0">
                          <a:latin typeface="Helvetica"/>
                          <a:ea typeface="Calibri"/>
                          <a:cs typeface="Calibri"/>
                        </a:rPr>
                        <a:t>in relation to of stock to sell to customers </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Purchases </a:t>
                      </a:r>
                      <a:r>
                        <a:rPr lang="en-AU" sz="1800" dirty="0">
                          <a:latin typeface="Helvetica"/>
                          <a:ea typeface="Calibri"/>
                          <a:cs typeface="Calibri"/>
                        </a:rPr>
                        <a:t>journal</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journal that records purchases of stock on credit</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149</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73808949"/>
              </p:ext>
            </p:extLst>
          </p:nvPr>
        </p:nvGraphicFramePr>
        <p:xfrm>
          <a:off x="1428728" y="1785926"/>
          <a:ext cx="6096000" cy="359156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Retained earnings </a:t>
                      </a:r>
                    </a:p>
                  </a:txBody>
                  <a:tcPr marL="68580" marR="68580" marT="0" marB="0"/>
                </a:tc>
                <a:tc>
                  <a:txBody>
                    <a:bodyPr/>
                    <a:lstStyle/>
                    <a:p>
                      <a:pPr>
                        <a:spcBef>
                          <a:spcPts val="400"/>
                        </a:spcBef>
                        <a:spcAft>
                          <a:spcPts val="400"/>
                        </a:spcAft>
                      </a:pPr>
                      <a:r>
                        <a:rPr lang="en-AU" sz="1800" dirty="0" smtClean="0">
                          <a:latin typeface="Helvetica"/>
                          <a:ea typeface="Calibri"/>
                          <a:cs typeface="Calibri"/>
                        </a:rPr>
                        <a:t>The </a:t>
                      </a:r>
                      <a:r>
                        <a:rPr lang="en-AU" sz="1800" dirty="0">
                          <a:latin typeface="Helvetica"/>
                          <a:ea typeface="Calibri"/>
                          <a:cs typeface="Calibri"/>
                        </a:rPr>
                        <a:t>portion of a corporation’s owners’ equity that has been earned from profits and not distributed to stockholders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Revenue </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Increases </a:t>
                      </a:r>
                      <a:r>
                        <a:rPr lang="en-AU" sz="1800" dirty="0">
                          <a:latin typeface="Helvetica"/>
                          <a:ea typeface="Calibri"/>
                          <a:cs typeface="Calibri"/>
                        </a:rPr>
                        <a:t>in a company’s resources from the sale of goods or services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Sales </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Revenue </a:t>
                      </a:r>
                      <a:r>
                        <a:rPr lang="en-AU" sz="1800" dirty="0">
                          <a:latin typeface="Helvetica"/>
                          <a:ea typeface="Calibri"/>
                          <a:cs typeface="Calibri"/>
                        </a:rPr>
                        <a:t>from the sale of goods or services to customers</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150</a:t>
            </a:fld>
            <a:endParaRPr lang="en-US" dirty="0"/>
          </a:p>
        </p:txBody>
      </p:sp>
      <p:graphicFrame>
        <p:nvGraphicFramePr>
          <p:cNvPr id="5" name="Table 4"/>
          <p:cNvGraphicFramePr>
            <a:graphicFrameLocks noGrp="1"/>
          </p:cNvGraphicFramePr>
          <p:nvPr/>
        </p:nvGraphicFramePr>
        <p:xfrm>
          <a:off x="1428728" y="1785926"/>
          <a:ext cx="6096000" cy="331724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Sales journal</a:t>
                      </a:r>
                    </a:p>
                  </a:txBody>
                  <a:tcPr marL="68580" marR="68580" marT="0" marB="0"/>
                </a:tc>
                <a:tc>
                  <a:txBody>
                    <a:bodyPr/>
                    <a:lstStyle/>
                    <a:p>
                      <a:pPr>
                        <a:spcBef>
                          <a:spcPts val="400"/>
                        </a:spcBef>
                        <a:spcAft>
                          <a:spcPts val="400"/>
                        </a:spcAft>
                      </a:pPr>
                      <a:r>
                        <a:rPr lang="en-AU" sz="1800" dirty="0">
                          <a:latin typeface="Helvetica"/>
                          <a:ea typeface="Calibri"/>
                          <a:cs typeface="Calibri"/>
                        </a:rPr>
                        <a:t>A journal that records sales of goods on credit</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Source </a:t>
                      </a:r>
                      <a:r>
                        <a:rPr lang="en-AU" sz="1800" dirty="0">
                          <a:latin typeface="Helvetica"/>
                          <a:ea typeface="Calibri"/>
                          <a:cs typeface="Calibri"/>
                        </a:rPr>
                        <a:t>document </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An </a:t>
                      </a:r>
                      <a:r>
                        <a:rPr lang="en-AU" sz="1800" dirty="0">
                          <a:latin typeface="Helvetica"/>
                          <a:ea typeface="Calibri"/>
                          <a:cs typeface="Calibri"/>
                        </a:rPr>
                        <a:t>original record of a transaction undertaken by </a:t>
                      </a:r>
                      <a:r>
                        <a:rPr lang="en-AU" sz="1800" dirty="0" smtClean="0">
                          <a:latin typeface="Helvetica"/>
                          <a:ea typeface="Calibri"/>
                          <a:cs typeface="Calibri"/>
                        </a:rPr>
                        <a:t>business - purchase </a:t>
                      </a:r>
                      <a:r>
                        <a:rPr lang="en-AU" sz="1800" dirty="0">
                          <a:latin typeface="Helvetica"/>
                          <a:ea typeface="Calibri"/>
                          <a:cs typeface="Calibri"/>
                        </a:rPr>
                        <a:t>order, invoice, receipt, cheque butt</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Statement </a:t>
                      </a:r>
                      <a:r>
                        <a:rPr lang="en-AU" sz="1800" dirty="0">
                          <a:latin typeface="Helvetica"/>
                          <a:ea typeface="Calibri"/>
                          <a:cs typeface="Calibri"/>
                        </a:rPr>
                        <a:t>of financial performance</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Shows profit </a:t>
                      </a:r>
                      <a:r>
                        <a:rPr lang="en-AU" sz="1800" dirty="0">
                          <a:latin typeface="Helvetica"/>
                          <a:ea typeface="Calibri"/>
                          <a:cs typeface="Calibri"/>
                        </a:rPr>
                        <a:t>performance of a business over an accounting period (profit and loss report)</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151</a:t>
            </a:fld>
            <a:endParaRPr lang="en-US" dirty="0"/>
          </a:p>
        </p:txBody>
      </p:sp>
      <p:graphicFrame>
        <p:nvGraphicFramePr>
          <p:cNvPr id="5" name="Table 4"/>
          <p:cNvGraphicFramePr>
            <a:graphicFrameLocks noGrp="1"/>
          </p:cNvGraphicFramePr>
          <p:nvPr/>
        </p:nvGraphicFramePr>
        <p:xfrm>
          <a:off x="1428728" y="1785926"/>
          <a:ext cx="6096000" cy="239268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a:latin typeface="Helvetica"/>
                          <a:ea typeface="Calibri"/>
                          <a:cs typeface="Calibri"/>
                        </a:rPr>
                        <a:t>Statement of financial position</a:t>
                      </a:r>
                    </a:p>
                  </a:txBody>
                  <a:tcPr marL="68580" marR="68580" marT="0" marB="0"/>
                </a:tc>
                <a:tc>
                  <a:txBody>
                    <a:bodyPr/>
                    <a:lstStyle/>
                    <a:p>
                      <a:pPr>
                        <a:spcBef>
                          <a:spcPts val="400"/>
                        </a:spcBef>
                        <a:spcAft>
                          <a:spcPts val="400"/>
                        </a:spcAft>
                      </a:pPr>
                      <a:r>
                        <a:rPr lang="en-AU" sz="1800" dirty="0">
                          <a:latin typeface="Helvetica"/>
                          <a:ea typeface="Calibri"/>
                          <a:cs typeface="Calibri"/>
                        </a:rPr>
                        <a:t>The financial statement that shows the assets, liabilities, and owners’ equity of an entity at a particular date (balance sheet report)</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Stock</a:t>
                      </a:r>
                      <a:endParaRPr lang="en-AU" sz="1800" dirty="0">
                        <a:latin typeface="Helvetica"/>
                        <a:ea typeface="Calibri"/>
                        <a:cs typeface="Calibri"/>
                      </a:endParaRP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Goods </a:t>
                      </a:r>
                      <a:r>
                        <a:rPr lang="en-AU" sz="1800" dirty="0">
                          <a:latin typeface="Helvetica"/>
                          <a:ea typeface="Calibri"/>
                          <a:cs typeface="Calibri"/>
                        </a:rPr>
                        <a:t>that can be sold to customers (inventory)</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Complete financial and statistical reports accurately within timelines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152</a:t>
            </a:fld>
            <a:endParaRPr lang="en-US" dirty="0"/>
          </a:p>
        </p:txBody>
      </p:sp>
      <p:graphicFrame>
        <p:nvGraphicFramePr>
          <p:cNvPr id="5" name="Table 4"/>
          <p:cNvGraphicFramePr>
            <a:graphicFrameLocks noGrp="1"/>
          </p:cNvGraphicFramePr>
          <p:nvPr/>
        </p:nvGraphicFramePr>
        <p:xfrm>
          <a:off x="1428728" y="1785926"/>
          <a:ext cx="6096000" cy="2941320"/>
        </p:xfrm>
        <a:graphic>
          <a:graphicData uri="http://schemas.openxmlformats.org/drawingml/2006/table">
            <a:tbl>
              <a:tblPr firstRow="1" bandRow="1">
                <a:tableStyleId>{5C22544A-7EE6-4342-B048-85BDC9FD1C3A}</a:tableStyleId>
              </a:tblPr>
              <a:tblGrid>
                <a:gridCol w="2357454"/>
                <a:gridCol w="3738546"/>
              </a:tblGrid>
              <a:tr h="370840">
                <a:tc>
                  <a:txBody>
                    <a:bodyPr/>
                    <a:lstStyle/>
                    <a:p>
                      <a:pPr algn="ctr"/>
                      <a:r>
                        <a:rPr lang="en-US" dirty="0" smtClean="0"/>
                        <a:t>Word/term</a:t>
                      </a:r>
                      <a:endParaRPr lang="en-AU" dirty="0"/>
                    </a:p>
                  </a:txBody>
                  <a:tcPr/>
                </a:tc>
                <a:tc>
                  <a:txBody>
                    <a:bodyPr/>
                    <a:lstStyle/>
                    <a:p>
                      <a:pPr algn="ctr"/>
                      <a:r>
                        <a:rPr lang="en-US" dirty="0" smtClean="0"/>
                        <a:t>Explanation/definition</a:t>
                      </a:r>
                      <a:endParaRPr lang="en-AU" dirty="0"/>
                    </a:p>
                  </a:txBody>
                  <a:tcPr/>
                </a:tc>
              </a:tr>
              <a:tr h="370840">
                <a:tc>
                  <a:txBody>
                    <a:bodyPr/>
                    <a:lstStyle/>
                    <a:p>
                      <a:pPr>
                        <a:spcBef>
                          <a:spcPts val="400"/>
                        </a:spcBef>
                        <a:spcAft>
                          <a:spcPts val="400"/>
                        </a:spcAft>
                      </a:pPr>
                      <a:r>
                        <a:rPr lang="en-AU" sz="1800" dirty="0" smtClean="0">
                          <a:latin typeface="Helvetica"/>
                          <a:ea typeface="Calibri"/>
                          <a:cs typeface="Calibri"/>
                        </a:rPr>
                        <a:t>Transactions  </a:t>
                      </a:r>
                      <a:endParaRPr lang="en-AU" sz="1800" dirty="0">
                        <a:latin typeface="Helvetica"/>
                        <a:ea typeface="Calibri"/>
                        <a:cs typeface="Calibri"/>
                      </a:endParaRPr>
                    </a:p>
                  </a:txBody>
                  <a:tcPr marL="68580" marR="68580" marT="0" marB="0"/>
                </a:tc>
                <a:tc>
                  <a:txBody>
                    <a:bodyPr/>
                    <a:lstStyle/>
                    <a:p>
                      <a:pPr>
                        <a:spcBef>
                          <a:spcPts val="400"/>
                        </a:spcBef>
                        <a:spcAft>
                          <a:spcPts val="400"/>
                        </a:spcAft>
                      </a:pPr>
                      <a:r>
                        <a:rPr lang="en-AU" sz="1800" dirty="0" smtClean="0">
                          <a:latin typeface="Helvetica"/>
                          <a:ea typeface="Calibri"/>
                          <a:cs typeface="Calibri"/>
                        </a:rPr>
                        <a:t>Exchange </a:t>
                      </a:r>
                      <a:r>
                        <a:rPr lang="en-AU" sz="1800" dirty="0">
                          <a:latin typeface="Helvetica"/>
                          <a:ea typeface="Calibri"/>
                          <a:cs typeface="Calibri"/>
                        </a:rPr>
                        <a:t>of goods or services between entities (whether individuals, businesses, or other organisations), as well as other events having an economic impact on a business</a:t>
                      </a:r>
                    </a:p>
                  </a:txBody>
                  <a:tcPr marL="68580" marR="68580" marT="0" marB="0"/>
                </a:tc>
              </a:tr>
              <a:tr h="370840">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Trial </a:t>
                      </a:r>
                      <a:r>
                        <a:rPr lang="en-AU" sz="1800" dirty="0">
                          <a:latin typeface="Helvetica"/>
                          <a:ea typeface="Calibri"/>
                          <a:cs typeface="Calibri"/>
                        </a:rPr>
                        <a:t>balance</a:t>
                      </a:r>
                    </a:p>
                  </a:txBody>
                  <a:tcPr marL="68580" marR="68580" marT="0" marB="0"/>
                </a:tc>
                <a:tc>
                  <a:txBody>
                    <a:bodyPr/>
                    <a:lstStyle/>
                    <a:p>
                      <a:pPr>
                        <a:spcBef>
                          <a:spcPts val="400"/>
                        </a:spcBef>
                        <a:spcAft>
                          <a:spcPts val="400"/>
                        </a:spcAft>
                      </a:pPr>
                      <a:endParaRPr lang="en-AU" sz="1800" dirty="0" smtClean="0">
                        <a:latin typeface="Helvetica"/>
                        <a:ea typeface="Calibri"/>
                        <a:cs typeface="Calibri"/>
                      </a:endParaRPr>
                    </a:p>
                    <a:p>
                      <a:pPr>
                        <a:spcBef>
                          <a:spcPts val="400"/>
                        </a:spcBef>
                        <a:spcAft>
                          <a:spcPts val="400"/>
                        </a:spcAft>
                      </a:pPr>
                      <a:r>
                        <a:rPr lang="en-AU" sz="1800" dirty="0" smtClean="0">
                          <a:latin typeface="Helvetica"/>
                          <a:ea typeface="Calibri"/>
                          <a:cs typeface="Calibri"/>
                        </a:rPr>
                        <a:t>A </a:t>
                      </a:r>
                      <a:r>
                        <a:rPr lang="en-AU" sz="1800" dirty="0">
                          <a:latin typeface="Helvetica"/>
                          <a:ea typeface="Calibri"/>
                          <a:cs typeface="Calibri"/>
                        </a:rPr>
                        <a:t>list of the balances of all ledgers accounts at balance</a:t>
                      </a: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153</a:t>
            </a:fld>
            <a:endParaRPr lang="en-US" dirty="0"/>
          </a:p>
        </p:txBody>
      </p:sp>
      <p:graphicFrame>
        <p:nvGraphicFramePr>
          <p:cNvPr id="6" name="Table 5"/>
          <p:cNvGraphicFramePr>
            <a:graphicFrameLocks noGrp="1"/>
          </p:cNvGraphicFramePr>
          <p:nvPr/>
        </p:nvGraphicFramePr>
        <p:xfrm>
          <a:off x="571472" y="1857364"/>
          <a:ext cx="6596066" cy="3693160"/>
        </p:xfrm>
        <a:graphic>
          <a:graphicData uri="http://schemas.openxmlformats.org/drawingml/2006/table">
            <a:tbl>
              <a:tblPr firstRow="1" bandRow="1">
                <a:tableStyleId>{5C22544A-7EE6-4342-B048-85BDC9FD1C3A}</a:tableStyleId>
              </a:tblPr>
              <a:tblGrid>
                <a:gridCol w="3286148"/>
                <a:gridCol w="1571636"/>
                <a:gridCol w="1738282"/>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US" sz="2200" dirty="0" smtClean="0">
                          <a:latin typeface="Helvetica"/>
                          <a:ea typeface="Calibri"/>
                          <a:cs typeface="Calibri"/>
                        </a:rPr>
                        <a:t>Balance Sheet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US" sz="2200" dirty="0" smtClean="0">
                          <a:latin typeface="Helvetica"/>
                          <a:ea typeface="Calibri"/>
                          <a:cs typeface="Calibri"/>
                        </a:rPr>
                        <a:t>Statement of Owner’s Equity</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US" sz="2200" dirty="0" smtClean="0">
                          <a:latin typeface="Helvetica"/>
                          <a:ea typeface="Calibri"/>
                          <a:cs typeface="Calibri"/>
                        </a:rPr>
                        <a:t>Cash flow</a:t>
                      </a:r>
                      <a:r>
                        <a:rPr lang="en-US" sz="2200" baseline="0" dirty="0" smtClean="0">
                          <a:latin typeface="Helvetica"/>
                          <a:ea typeface="Calibri"/>
                          <a:cs typeface="Calibri"/>
                        </a:rPr>
                        <a:t> Statement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US" sz="2200" dirty="0" smtClean="0">
                          <a:latin typeface="Helvetica"/>
                          <a:ea typeface="Calibri"/>
                          <a:cs typeface="Calibri"/>
                        </a:rPr>
                        <a:t>Bank Reconciliation</a:t>
                      </a: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154</a:t>
            </a:fld>
            <a:endParaRPr lang="en-US" dirty="0"/>
          </a:p>
        </p:txBody>
      </p:sp>
      <p:graphicFrame>
        <p:nvGraphicFramePr>
          <p:cNvPr id="6" name="Table 5"/>
          <p:cNvGraphicFramePr>
            <a:graphicFrameLocks noGrp="1"/>
          </p:cNvGraphicFramePr>
          <p:nvPr/>
        </p:nvGraphicFramePr>
        <p:xfrm>
          <a:off x="714348" y="2143116"/>
          <a:ext cx="6596066" cy="3322320"/>
        </p:xfrm>
        <a:graphic>
          <a:graphicData uri="http://schemas.openxmlformats.org/drawingml/2006/table">
            <a:tbl>
              <a:tblPr firstRow="1" bandRow="1">
                <a:tableStyleId>{5C22544A-7EE6-4342-B048-85BDC9FD1C3A}</a:tableStyleId>
              </a:tblPr>
              <a:tblGrid>
                <a:gridCol w="2857520"/>
                <a:gridCol w="1571636"/>
                <a:gridCol w="2166910"/>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Department operating schedule</a:t>
                      </a: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endParaRPr lang="en-AU" sz="2200" dirty="0" smtClean="0">
                        <a:latin typeface="Helvetica"/>
                        <a:ea typeface="Calibri"/>
                        <a:cs typeface="Calibri"/>
                      </a:endParaRPr>
                    </a:p>
                    <a:p>
                      <a:pPr>
                        <a:spcBef>
                          <a:spcPts val="400"/>
                        </a:spcBef>
                        <a:spcAft>
                          <a:spcPts val="400"/>
                        </a:spcAft>
                      </a:pPr>
                      <a:r>
                        <a:rPr lang="en-AU" sz="2200" dirty="0" smtClean="0">
                          <a:latin typeface="Helvetica"/>
                          <a:ea typeface="Calibri"/>
                          <a:cs typeface="Calibri"/>
                        </a:rPr>
                        <a:t>Fixed </a:t>
                      </a:r>
                      <a:r>
                        <a:rPr lang="en-AU" sz="2200" dirty="0">
                          <a:latin typeface="Helvetica"/>
                          <a:ea typeface="Calibri"/>
                          <a:cs typeface="Calibri"/>
                        </a:rPr>
                        <a:t>asset </a:t>
                      </a:r>
                      <a:r>
                        <a:rPr lang="en-AU" sz="2200" dirty="0" smtClean="0">
                          <a:latin typeface="Helvetica"/>
                          <a:ea typeface="Calibri"/>
                          <a:cs typeface="Calibri"/>
                        </a:rPr>
                        <a:t>schedule</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Exception </a:t>
                      </a:r>
                      <a:r>
                        <a:rPr lang="en-AU" sz="2200" dirty="0" smtClean="0">
                          <a:latin typeface="Helvetica"/>
                          <a:ea typeface="Calibri"/>
                          <a:cs typeface="Calibri"/>
                        </a:rPr>
                        <a:t>reports</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155</a:t>
            </a:fld>
            <a:endParaRPr lang="en-US" dirty="0"/>
          </a:p>
        </p:txBody>
      </p:sp>
      <p:graphicFrame>
        <p:nvGraphicFramePr>
          <p:cNvPr id="6" name="Table 5"/>
          <p:cNvGraphicFramePr>
            <a:graphicFrameLocks noGrp="1"/>
          </p:cNvGraphicFramePr>
          <p:nvPr/>
        </p:nvGraphicFramePr>
        <p:xfrm>
          <a:off x="714348" y="2143116"/>
          <a:ext cx="6596066" cy="2987040"/>
        </p:xfrm>
        <a:graphic>
          <a:graphicData uri="http://schemas.openxmlformats.org/drawingml/2006/table">
            <a:tbl>
              <a:tblPr firstRow="1" bandRow="1">
                <a:tableStyleId>{5C22544A-7EE6-4342-B048-85BDC9FD1C3A}</a:tableStyleId>
              </a:tblPr>
              <a:tblGrid>
                <a:gridCol w="3000396"/>
                <a:gridCol w="1571636"/>
                <a:gridCol w="2024034"/>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Cash flow </a:t>
                      </a:r>
                      <a:r>
                        <a:rPr lang="en-AU" sz="2200" dirty="0" smtClean="0">
                          <a:latin typeface="Helvetica"/>
                          <a:ea typeface="Calibri"/>
                          <a:cs typeface="Calibri"/>
                        </a:rPr>
                        <a:t>summary</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Cash </a:t>
                      </a:r>
                      <a:r>
                        <a:rPr lang="en-AU" sz="2200" dirty="0" smtClean="0">
                          <a:latin typeface="Helvetica"/>
                          <a:ea typeface="Calibri"/>
                          <a:cs typeface="Calibri"/>
                        </a:rPr>
                        <a:t>budget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Payroll cost </a:t>
                      </a:r>
                      <a:r>
                        <a:rPr lang="en-AU" sz="2200" dirty="0" smtClean="0">
                          <a:latin typeface="Helvetica"/>
                          <a:ea typeface="Calibri"/>
                          <a:cs typeface="Calibri"/>
                        </a:rPr>
                        <a:t>report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156</a:t>
            </a:fld>
            <a:endParaRPr lang="en-US" dirty="0"/>
          </a:p>
        </p:txBody>
      </p:sp>
      <p:graphicFrame>
        <p:nvGraphicFramePr>
          <p:cNvPr id="6" name="Table 5"/>
          <p:cNvGraphicFramePr>
            <a:graphicFrameLocks noGrp="1"/>
          </p:cNvGraphicFramePr>
          <p:nvPr/>
        </p:nvGraphicFramePr>
        <p:xfrm>
          <a:off x="714348" y="2143116"/>
          <a:ext cx="6596066" cy="3220720"/>
        </p:xfrm>
        <a:graphic>
          <a:graphicData uri="http://schemas.openxmlformats.org/drawingml/2006/table">
            <a:tbl>
              <a:tblPr firstRow="1" bandRow="1">
                <a:tableStyleId>{5C22544A-7EE6-4342-B048-85BDC9FD1C3A}</a:tableStyleId>
              </a:tblPr>
              <a:tblGrid>
                <a:gridCol w="3143272"/>
                <a:gridCol w="1571636"/>
                <a:gridCol w="1881158"/>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Food/Beverage cost </a:t>
                      </a:r>
                      <a:r>
                        <a:rPr lang="en-AU" sz="2200" dirty="0" smtClean="0">
                          <a:latin typeface="Helvetica"/>
                          <a:ea typeface="Calibri"/>
                          <a:cs typeface="Calibri"/>
                        </a:rPr>
                        <a:t>report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Room cost </a:t>
                      </a:r>
                      <a:r>
                        <a:rPr lang="en-AU" sz="2200" dirty="0" smtClean="0">
                          <a:latin typeface="Helvetica"/>
                          <a:ea typeface="Calibri"/>
                          <a:cs typeface="Calibri"/>
                        </a:rPr>
                        <a:t>report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Other operating cost summaries</a:t>
                      </a: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157</a:t>
            </a:fld>
            <a:endParaRPr lang="en-US" dirty="0"/>
          </a:p>
        </p:txBody>
      </p:sp>
      <p:graphicFrame>
        <p:nvGraphicFramePr>
          <p:cNvPr id="6" name="Table 5"/>
          <p:cNvGraphicFramePr>
            <a:graphicFrameLocks noGrp="1"/>
          </p:cNvGraphicFramePr>
          <p:nvPr/>
        </p:nvGraphicFramePr>
        <p:xfrm>
          <a:off x="714348" y="2143116"/>
          <a:ext cx="6596066" cy="2987040"/>
        </p:xfrm>
        <a:graphic>
          <a:graphicData uri="http://schemas.openxmlformats.org/drawingml/2006/table">
            <a:tbl>
              <a:tblPr firstRow="1" bandRow="1">
                <a:tableStyleId>{5C22544A-7EE6-4342-B048-85BDC9FD1C3A}</a:tableStyleId>
              </a:tblPr>
              <a:tblGrid>
                <a:gridCol w="3143272"/>
                <a:gridCol w="1643074"/>
                <a:gridCol w="1809720"/>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Purchase order </a:t>
                      </a:r>
                      <a:r>
                        <a:rPr lang="en-AU" sz="2200" dirty="0" smtClean="0">
                          <a:latin typeface="Helvetica"/>
                          <a:ea typeface="Calibri"/>
                          <a:cs typeface="Calibri"/>
                        </a:rPr>
                        <a:t>reports</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Goods received </a:t>
                      </a:r>
                      <a:r>
                        <a:rPr lang="en-AU" sz="2200" dirty="0" smtClean="0">
                          <a:latin typeface="Helvetica"/>
                          <a:ea typeface="Calibri"/>
                          <a:cs typeface="Calibri"/>
                        </a:rPr>
                        <a:t>reports</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Wastage </a:t>
                      </a:r>
                      <a:r>
                        <a:rPr lang="en-AU" sz="2200" dirty="0" smtClean="0">
                          <a:latin typeface="Helvetica"/>
                          <a:ea typeface="Calibri"/>
                          <a:cs typeface="Calibri"/>
                        </a:rPr>
                        <a:t>reports</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158</a:t>
            </a:fld>
            <a:endParaRPr lang="en-US" dirty="0"/>
          </a:p>
        </p:txBody>
      </p:sp>
      <p:graphicFrame>
        <p:nvGraphicFramePr>
          <p:cNvPr id="6" name="Table 5"/>
          <p:cNvGraphicFramePr>
            <a:graphicFrameLocks noGrp="1"/>
          </p:cNvGraphicFramePr>
          <p:nvPr/>
        </p:nvGraphicFramePr>
        <p:xfrm>
          <a:off x="714348" y="2143116"/>
          <a:ext cx="6596066" cy="3322320"/>
        </p:xfrm>
        <a:graphic>
          <a:graphicData uri="http://schemas.openxmlformats.org/drawingml/2006/table">
            <a:tbl>
              <a:tblPr firstRow="1" bandRow="1">
                <a:tableStyleId>{5C22544A-7EE6-4342-B048-85BDC9FD1C3A}</a:tableStyleId>
              </a:tblPr>
              <a:tblGrid>
                <a:gridCol w="3286148"/>
                <a:gridCol w="1571636"/>
                <a:gridCol w="1738282"/>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Accounts payable </a:t>
                      </a:r>
                      <a:r>
                        <a:rPr lang="en-AU" sz="2200" dirty="0" smtClean="0">
                          <a:latin typeface="Helvetica"/>
                          <a:ea typeface="Calibri"/>
                          <a:cs typeface="Calibri"/>
                        </a:rPr>
                        <a:t>schedules</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Inventory or stock </a:t>
                      </a:r>
                      <a:r>
                        <a:rPr lang="en-AU" sz="2200" dirty="0" smtClean="0">
                          <a:latin typeface="Helvetica"/>
                          <a:ea typeface="Calibri"/>
                          <a:cs typeface="Calibri"/>
                        </a:rPr>
                        <a:t>sheets</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Daily revenue </a:t>
                      </a:r>
                      <a:r>
                        <a:rPr lang="en-AU" sz="2200" dirty="0" smtClean="0">
                          <a:latin typeface="Helvetica"/>
                          <a:ea typeface="Calibri"/>
                          <a:cs typeface="Calibri"/>
                        </a:rPr>
                        <a:t>report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159</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313146182"/>
              </p:ext>
            </p:extLst>
          </p:nvPr>
        </p:nvGraphicFramePr>
        <p:xfrm>
          <a:off x="714348" y="2143116"/>
          <a:ext cx="6596066" cy="3108960"/>
        </p:xfrm>
        <a:graphic>
          <a:graphicData uri="http://schemas.openxmlformats.org/drawingml/2006/table">
            <a:tbl>
              <a:tblPr firstRow="1" bandRow="1">
                <a:tableStyleId>{5C22544A-7EE6-4342-B048-85BDC9FD1C3A}</a:tableStyleId>
              </a:tblPr>
              <a:tblGrid>
                <a:gridCol w="3143272"/>
                <a:gridCol w="1643074"/>
                <a:gridCol w="1809720"/>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r>
                        <a:rPr kumimoji="0" lang="en-AU" sz="2200" kern="1200" dirty="0" smtClean="0">
                          <a:solidFill>
                            <a:schemeClr val="dk1"/>
                          </a:solidFill>
                          <a:latin typeface="+mn-lt"/>
                          <a:ea typeface="+mn-ea"/>
                          <a:cs typeface="+mn-cs"/>
                        </a:rPr>
                        <a:t>Sales analysis reports:</a:t>
                      </a:r>
                    </a:p>
                    <a:p>
                      <a:endParaRPr kumimoji="0" lang="en-AU" sz="2200" kern="1200" dirty="0" smtClean="0">
                        <a:solidFill>
                          <a:schemeClr val="dk1"/>
                        </a:solidFill>
                        <a:latin typeface="+mn-lt"/>
                        <a:ea typeface="+mn-ea"/>
                        <a:cs typeface="+mn-cs"/>
                      </a:endParaRPr>
                    </a:p>
                    <a:p>
                      <a:pPr lvl="1">
                        <a:buFont typeface="Arial" pitchFamily="34" charset="0"/>
                        <a:buNone/>
                      </a:pPr>
                      <a:r>
                        <a:rPr kumimoji="0" lang="en-AU" sz="2200" kern="1200" dirty="0" smtClean="0">
                          <a:solidFill>
                            <a:schemeClr val="dk1"/>
                          </a:solidFill>
                          <a:latin typeface="+mn-lt"/>
                          <a:ea typeface="+mn-ea"/>
                          <a:cs typeface="+mn-cs"/>
                        </a:rPr>
                        <a:t>Occupancy reports</a:t>
                      </a:r>
                    </a:p>
                    <a:p>
                      <a:pPr lvl="1">
                        <a:buFont typeface="Arial" pitchFamily="34" charset="0"/>
                        <a:buNone/>
                      </a:pPr>
                      <a:endParaRPr kumimoji="0" lang="en-AU" sz="2200" kern="1200" dirty="0" smtClean="0">
                        <a:solidFill>
                          <a:schemeClr val="dk1"/>
                        </a:solidFill>
                        <a:latin typeface="+mn-lt"/>
                        <a:ea typeface="+mn-ea"/>
                        <a:cs typeface="+mn-cs"/>
                      </a:endParaRPr>
                    </a:p>
                    <a:p>
                      <a:pPr lvl="1">
                        <a:buFont typeface="Arial" pitchFamily="34" charset="0"/>
                        <a:buNone/>
                      </a:pPr>
                      <a:r>
                        <a:rPr kumimoji="0" lang="en-AU" sz="2200" kern="1200" dirty="0" smtClean="0">
                          <a:solidFill>
                            <a:schemeClr val="dk1"/>
                          </a:solidFill>
                          <a:latin typeface="+mn-lt"/>
                          <a:ea typeface="+mn-ea"/>
                          <a:cs typeface="+mn-cs"/>
                        </a:rPr>
                        <a:t>Food and Beverage menu abstracts</a:t>
                      </a:r>
                    </a:p>
                    <a:p>
                      <a:pPr>
                        <a:buFont typeface="Arial" pitchFamily="34" charset="0"/>
                        <a:buChar char="•"/>
                      </a:pPr>
                      <a:endParaRPr kumimoji="0" lang="en-AU" sz="2200" b="1" kern="1200" dirty="0">
                        <a:solidFill>
                          <a:srgbClr val="FFFFFF"/>
                        </a:solidFill>
                        <a:latin typeface="Helvetica"/>
                        <a:ea typeface="Calibri"/>
                        <a:cs typeface="Calibri"/>
                      </a:endParaRPr>
                    </a:p>
                  </a:txBody>
                  <a:tcPr/>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160</a:t>
            </a:fld>
            <a:endParaRPr lang="en-US" dirty="0"/>
          </a:p>
        </p:txBody>
      </p:sp>
      <p:graphicFrame>
        <p:nvGraphicFramePr>
          <p:cNvPr id="6" name="Table 5"/>
          <p:cNvGraphicFramePr>
            <a:graphicFrameLocks noGrp="1"/>
          </p:cNvGraphicFramePr>
          <p:nvPr/>
        </p:nvGraphicFramePr>
        <p:xfrm>
          <a:off x="714348" y="2143116"/>
          <a:ext cx="6596066" cy="2550160"/>
        </p:xfrm>
        <a:graphic>
          <a:graphicData uri="http://schemas.openxmlformats.org/drawingml/2006/table">
            <a:tbl>
              <a:tblPr firstRow="1" bandRow="1">
                <a:tableStyleId>{5C22544A-7EE6-4342-B048-85BDC9FD1C3A}</a:tableStyleId>
              </a:tblPr>
              <a:tblGrid>
                <a:gridCol w="3143272"/>
                <a:gridCol w="1714512"/>
                <a:gridCol w="1738282"/>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Daily Takings </a:t>
                      </a:r>
                      <a:r>
                        <a:rPr lang="en-AU" sz="2200" dirty="0" smtClean="0">
                          <a:latin typeface="Helvetica"/>
                          <a:ea typeface="Calibri"/>
                          <a:cs typeface="Calibri"/>
                        </a:rPr>
                        <a:t>report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Daily Cash Received </a:t>
                      </a:r>
                      <a:r>
                        <a:rPr lang="en-AU" sz="2200" dirty="0" smtClean="0">
                          <a:latin typeface="Helvetica"/>
                          <a:ea typeface="Calibri"/>
                          <a:cs typeface="Calibri"/>
                        </a:rPr>
                        <a:t>report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161</a:t>
            </a:fld>
            <a:endParaRPr lang="en-US" dirty="0"/>
          </a:p>
        </p:txBody>
      </p:sp>
      <p:graphicFrame>
        <p:nvGraphicFramePr>
          <p:cNvPr id="6" name="Table 5"/>
          <p:cNvGraphicFramePr>
            <a:graphicFrameLocks noGrp="1"/>
          </p:cNvGraphicFramePr>
          <p:nvPr/>
        </p:nvGraphicFramePr>
        <p:xfrm>
          <a:off x="714348" y="2143116"/>
          <a:ext cx="6596066" cy="1778000"/>
        </p:xfrm>
        <a:graphic>
          <a:graphicData uri="http://schemas.openxmlformats.org/drawingml/2006/table">
            <a:tbl>
              <a:tblPr firstRow="1" bandRow="1">
                <a:tableStyleId>{5C22544A-7EE6-4342-B048-85BDC9FD1C3A}</a:tableStyleId>
              </a:tblPr>
              <a:tblGrid>
                <a:gridCol w="3286148"/>
                <a:gridCol w="1571636"/>
                <a:gridCol w="1738282"/>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City ledger report (accommodation venues</a:t>
                      </a:r>
                      <a:r>
                        <a:rPr lang="en-AU" sz="2200" dirty="0" smtClean="0">
                          <a:latin typeface="Helvetica"/>
                          <a:ea typeface="Calibri"/>
                          <a:cs typeface="Calibri"/>
                        </a:rPr>
                        <a:t>)</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Check actual income and expenditure against budgets</a:t>
            </a:r>
            <a:endParaRPr lang="en-US" dirty="0"/>
          </a:p>
        </p:txBody>
      </p:sp>
      <p:sp>
        <p:nvSpPr>
          <p:cNvPr id="3" name="Content Placeholder 2"/>
          <p:cNvSpPr>
            <a:spLocks noGrp="1"/>
          </p:cNvSpPr>
          <p:nvPr>
            <p:ph idx="1"/>
          </p:nvPr>
        </p:nvSpPr>
        <p:spPr/>
        <p:txBody>
          <a:bodyPr/>
          <a:lstStyle/>
          <a:p>
            <a:endParaRPr lang="en-US" smtClean="0"/>
          </a:p>
          <a:p>
            <a:endParaRPr lang="en-US" smtClean="0"/>
          </a:p>
          <a:p>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162</a:t>
            </a:fld>
            <a:endParaRPr lang="en-US" dirty="0"/>
          </a:p>
        </p:txBody>
      </p:sp>
      <p:graphicFrame>
        <p:nvGraphicFramePr>
          <p:cNvPr id="6" name="Table 5"/>
          <p:cNvGraphicFramePr>
            <a:graphicFrameLocks noGrp="1"/>
          </p:cNvGraphicFramePr>
          <p:nvPr/>
        </p:nvGraphicFramePr>
        <p:xfrm>
          <a:off x="714348" y="2143116"/>
          <a:ext cx="6596066" cy="2885440"/>
        </p:xfrm>
        <a:graphic>
          <a:graphicData uri="http://schemas.openxmlformats.org/drawingml/2006/table">
            <a:tbl>
              <a:tblPr firstRow="1" bandRow="1">
                <a:tableStyleId>{5C22544A-7EE6-4342-B048-85BDC9FD1C3A}</a:tableStyleId>
              </a:tblPr>
              <a:tblGrid>
                <a:gridCol w="3214710"/>
                <a:gridCol w="1571636"/>
                <a:gridCol w="1809720"/>
              </a:tblGrid>
              <a:tr h="370840">
                <a:tc>
                  <a:txBody>
                    <a:bodyPr/>
                    <a:lstStyle/>
                    <a:p>
                      <a:pPr algn="ctr">
                        <a:spcBef>
                          <a:spcPts val="400"/>
                        </a:spcBef>
                        <a:spcAft>
                          <a:spcPts val="400"/>
                        </a:spcAft>
                      </a:pPr>
                      <a:r>
                        <a:rPr lang="en-AU" sz="2200" b="1" dirty="0" smtClean="0">
                          <a:solidFill>
                            <a:srgbClr val="FFFFFF"/>
                          </a:solidFill>
                          <a:latin typeface="Helvetica"/>
                          <a:ea typeface="Calibri"/>
                          <a:cs typeface="Calibri"/>
                        </a:rPr>
                        <a:t>Name </a:t>
                      </a:r>
                      <a:r>
                        <a:rPr lang="en-AU" sz="2200" b="1" dirty="0">
                          <a:solidFill>
                            <a:srgbClr val="FFFFFF"/>
                          </a:solidFill>
                          <a:latin typeface="Helvetica"/>
                          <a:ea typeface="Calibri"/>
                          <a:cs typeface="Calibri"/>
                        </a:rPr>
                        <a:t>of Report</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smtClean="0">
                          <a:solidFill>
                            <a:srgbClr val="FFFFFF"/>
                          </a:solidFill>
                          <a:latin typeface="Helvetica"/>
                          <a:ea typeface="Calibri"/>
                          <a:cs typeface="Calibri"/>
                        </a:rPr>
                        <a:t>Frequency</a:t>
                      </a:r>
                      <a:endParaRPr lang="en-AU" sz="2200" b="1" dirty="0">
                        <a:solidFill>
                          <a:srgbClr val="000000"/>
                        </a:solidFill>
                        <a:latin typeface="Helvetica"/>
                        <a:ea typeface="Calibri"/>
                        <a:cs typeface="Calibri"/>
                      </a:endParaRPr>
                    </a:p>
                  </a:txBody>
                  <a:tcPr marL="68580" marR="68580" marT="0" marB="0"/>
                </a:tc>
                <a:tc>
                  <a:txBody>
                    <a:bodyPr/>
                    <a:lstStyle/>
                    <a:p>
                      <a:pPr algn="ctr">
                        <a:spcBef>
                          <a:spcPts val="400"/>
                        </a:spcBef>
                        <a:spcAft>
                          <a:spcPts val="400"/>
                        </a:spcAft>
                      </a:pPr>
                      <a:r>
                        <a:rPr lang="en-AU" sz="2200" b="1" dirty="0">
                          <a:solidFill>
                            <a:srgbClr val="FFFFFF"/>
                          </a:solidFill>
                          <a:latin typeface="Helvetica"/>
                          <a:ea typeface="Calibri"/>
                          <a:cs typeface="Calibri"/>
                        </a:rPr>
                        <a:t>Information Contained</a:t>
                      </a:r>
                      <a:endParaRPr lang="en-AU" sz="2200" b="1" dirty="0">
                        <a:solidFill>
                          <a:srgbClr val="000000"/>
                        </a:solidFill>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Accounts receivable aging </a:t>
                      </a:r>
                      <a:r>
                        <a:rPr lang="en-AU" sz="2200" dirty="0" smtClean="0">
                          <a:latin typeface="Helvetica"/>
                          <a:ea typeface="Calibri"/>
                          <a:cs typeface="Calibri"/>
                        </a:rPr>
                        <a:t>schedule</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r h="370840">
                <a:tc>
                  <a:txBody>
                    <a:bodyPr/>
                    <a:lstStyle/>
                    <a:p>
                      <a:pPr>
                        <a:spcBef>
                          <a:spcPts val="400"/>
                        </a:spcBef>
                        <a:spcAft>
                          <a:spcPts val="400"/>
                        </a:spcAft>
                      </a:pPr>
                      <a:r>
                        <a:rPr lang="en-AU" sz="2200" dirty="0">
                          <a:latin typeface="Helvetica"/>
                          <a:ea typeface="Calibri"/>
                          <a:cs typeface="Calibri"/>
                        </a:rPr>
                        <a:t>Accounts receivable </a:t>
                      </a:r>
                      <a:r>
                        <a:rPr lang="en-AU" sz="2200" dirty="0" smtClean="0">
                          <a:latin typeface="Helvetica"/>
                          <a:ea typeface="Calibri"/>
                          <a:cs typeface="Calibri"/>
                        </a:rPr>
                        <a:t>schedule</a:t>
                      </a:r>
                    </a:p>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c>
                  <a:txBody>
                    <a:bodyPr/>
                    <a:lstStyle/>
                    <a:p>
                      <a:pPr>
                        <a:spcBef>
                          <a:spcPts val="400"/>
                        </a:spcBef>
                        <a:spcAft>
                          <a:spcPts val="400"/>
                        </a:spcAft>
                      </a:pPr>
                      <a:endParaRPr lang="en-AU" sz="2200" dirty="0">
                        <a:latin typeface="Helvetica"/>
                        <a:ea typeface="Calibri"/>
                        <a:cs typeface="Calibri"/>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Stakeholders who may seek information may include:</a:t>
            </a:r>
          </a:p>
          <a:p>
            <a:r>
              <a:rPr lang="en-US" dirty="0" smtClean="0"/>
              <a:t>Owners and managers</a:t>
            </a:r>
          </a:p>
          <a:p>
            <a:r>
              <a:rPr lang="en-US" dirty="0" smtClean="0"/>
              <a:t>Shareholders and investors</a:t>
            </a:r>
          </a:p>
          <a:p>
            <a:r>
              <a:rPr lang="en-US" dirty="0" smtClean="0"/>
              <a:t>Joint business partners</a:t>
            </a:r>
          </a:p>
          <a:p>
            <a:r>
              <a:rPr lang="en-US" dirty="0" smtClean="0"/>
              <a:t>Creditors</a:t>
            </a:r>
          </a:p>
          <a:p>
            <a:r>
              <a:rPr lang="en-US" dirty="0" smtClean="0"/>
              <a:t>Employees</a:t>
            </a:r>
          </a:p>
          <a:p>
            <a:r>
              <a:rPr lang="en-US" dirty="0" smtClean="0"/>
              <a:t>Government agencies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040000" cy="3060000"/>
          </a:xfrm>
          <a:prstGeom prst="rect">
            <a:avLst/>
          </a:prstGeom>
          <a:ln>
            <a:noFill/>
          </a:ln>
          <a:effectLst/>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Owners may use report information to decide:</a:t>
            </a:r>
          </a:p>
          <a:p>
            <a:r>
              <a:rPr lang="en-US" dirty="0" smtClean="0"/>
              <a:t>If business is earning required profit</a:t>
            </a:r>
          </a:p>
          <a:p>
            <a:r>
              <a:rPr lang="en-US" dirty="0" smtClean="0"/>
              <a:t>Use of assets</a:t>
            </a:r>
          </a:p>
          <a:p>
            <a:r>
              <a:rPr lang="en-US" dirty="0" smtClean="0"/>
              <a:t>If ROI is acceptable</a:t>
            </a:r>
          </a:p>
          <a:p>
            <a:r>
              <a:rPr lang="en-US" dirty="0" smtClean="0"/>
              <a:t>If they should continue the business</a:t>
            </a:r>
          </a:p>
          <a:p>
            <a:r>
              <a:rPr lang="en-US" dirty="0" smtClean="0"/>
              <a:t>Trending of the business</a:t>
            </a:r>
          </a:p>
          <a:p>
            <a:r>
              <a:rPr lang="en-US" dirty="0" smtClean="0"/>
              <a:t>Issues for future attention/investment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Managers may use report information to decide:</a:t>
            </a:r>
          </a:p>
          <a:p>
            <a:r>
              <a:rPr lang="en-US" dirty="0" smtClean="0"/>
              <a:t>Capacity to pay bills on time</a:t>
            </a:r>
          </a:p>
          <a:p>
            <a:r>
              <a:rPr lang="en-US" dirty="0" smtClean="0"/>
              <a:t>Inventory issues</a:t>
            </a:r>
          </a:p>
          <a:p>
            <a:r>
              <a:rPr lang="en-US" dirty="0" smtClean="0"/>
              <a:t>Business performance</a:t>
            </a:r>
          </a:p>
          <a:p>
            <a:r>
              <a:rPr lang="en-US" dirty="0" smtClean="0"/>
              <a:t>Results of initiatives/campaigns</a:t>
            </a:r>
          </a:p>
          <a:p>
            <a:r>
              <a:rPr lang="en-US" dirty="0" smtClean="0"/>
              <a:t>Accuracy of predictions/projections</a:t>
            </a:r>
          </a:p>
          <a:p>
            <a:r>
              <a:rPr lang="en-US" dirty="0" smtClean="0"/>
              <a:t>Areas for attention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723" y="1988840"/>
            <a:ext cx="3239677" cy="2160000"/>
          </a:xfrm>
          <a:prstGeom prst="rect">
            <a:avLst/>
          </a:prstGeom>
          <a:ln>
            <a:noFill/>
          </a:ln>
          <a:effectLst/>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Shareholders/investors may use report information to decide: </a:t>
            </a:r>
          </a:p>
          <a:p>
            <a:r>
              <a:rPr lang="en-US" dirty="0" smtClean="0"/>
              <a:t>Whether to buy or sell</a:t>
            </a:r>
          </a:p>
          <a:p>
            <a:r>
              <a:rPr lang="en-US" dirty="0" smtClean="0"/>
              <a:t>Voting at AGMs</a:t>
            </a:r>
          </a:p>
          <a:p>
            <a:r>
              <a:rPr lang="en-US" dirty="0" smtClean="0"/>
              <a:t>Future investment decisions</a:t>
            </a:r>
          </a:p>
          <a:p>
            <a:r>
              <a:rPr lang="en-US" dirty="0" smtClean="0"/>
              <a:t>Comparisons between investment options</a:t>
            </a:r>
          </a:p>
          <a:p>
            <a:r>
              <a:rPr lang="en-US" dirty="0" smtClean="0"/>
              <a:t>Decisions/predictions on future returns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1968136" cy="3060000"/>
          </a:xfrm>
          <a:prstGeom prst="rect">
            <a:avLst/>
          </a:prstGeom>
          <a:ln>
            <a:noFill/>
          </a:ln>
          <a:effectLst/>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Joint venture partners may use report information to decide:</a:t>
            </a:r>
          </a:p>
          <a:p>
            <a:r>
              <a:rPr lang="en-US" dirty="0" smtClean="0"/>
              <a:t>Ongoing viability of the </a:t>
            </a:r>
            <a:r>
              <a:rPr lang="en-US" dirty="0" err="1" smtClean="0"/>
              <a:t>organisation</a:t>
            </a:r>
            <a:r>
              <a:rPr lang="en-US" dirty="0" smtClean="0"/>
              <a:t> and arrangements</a:t>
            </a:r>
          </a:p>
          <a:p>
            <a:r>
              <a:rPr lang="en-US" dirty="0" smtClean="0"/>
              <a:t>Alignment between promises and outcomes</a:t>
            </a:r>
          </a:p>
          <a:p>
            <a:r>
              <a:rPr lang="en-US" dirty="0" smtClean="0"/>
              <a:t>Capacity of business to pay</a:t>
            </a:r>
          </a:p>
          <a:p>
            <a:r>
              <a:rPr lang="en-US" dirty="0" smtClean="0"/>
              <a:t>Possible future performance of the </a:t>
            </a:r>
            <a:r>
              <a:rPr lang="en-US" dirty="0" err="1" smtClean="0"/>
              <a:t>organisation</a:t>
            </a:r>
            <a:endParaRPr lang="en-US" dirty="0" smtClean="0"/>
          </a:p>
          <a:p>
            <a:r>
              <a:rPr lang="en-US" dirty="0" smtClean="0"/>
              <a:t>Impact of financial results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167</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45360" y="1844824"/>
            <a:ext cx="2858550" cy="3060000"/>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Creditors may use report information to decide:</a:t>
            </a:r>
          </a:p>
          <a:p>
            <a:r>
              <a:rPr lang="en-US" dirty="0" smtClean="0"/>
              <a:t>Capacity of business to pay/re-pay</a:t>
            </a:r>
          </a:p>
          <a:p>
            <a:r>
              <a:rPr lang="en-US" dirty="0" smtClean="0"/>
              <a:t>Security</a:t>
            </a:r>
          </a:p>
          <a:p>
            <a:r>
              <a:rPr lang="en-US" dirty="0" smtClean="0"/>
              <a:t>Ongoing viability of relationship/arrangements</a:t>
            </a:r>
          </a:p>
          <a:p>
            <a:r>
              <a:rPr lang="en-US" dirty="0" smtClean="0"/>
              <a:t>Interest rates based on degree of risk</a:t>
            </a:r>
          </a:p>
          <a:p>
            <a:r>
              <a:rPr lang="en-US" dirty="0" smtClean="0"/>
              <a:t>Future arrangements and/or restrictions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168</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16016" y="1844824"/>
            <a:ext cx="2612475" cy="3060000"/>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Creditors may use report information to decide:</a:t>
            </a:r>
          </a:p>
          <a:p>
            <a:r>
              <a:rPr lang="en-US" dirty="0" smtClean="0"/>
              <a:t>Job security issues</a:t>
            </a:r>
          </a:p>
          <a:p>
            <a:r>
              <a:rPr lang="en-US" dirty="0" smtClean="0"/>
              <a:t>Career path</a:t>
            </a:r>
          </a:p>
          <a:p>
            <a:r>
              <a:rPr lang="en-US" dirty="0" smtClean="0"/>
              <a:t>Capacity to pay</a:t>
            </a:r>
          </a:p>
          <a:p>
            <a:r>
              <a:rPr lang="en-US" dirty="0" smtClean="0"/>
              <a:t>Management effectiveness</a:t>
            </a:r>
          </a:p>
          <a:p>
            <a:r>
              <a:rPr lang="en-US" dirty="0" smtClean="0"/>
              <a:t>Outcomes of workplace initiatives</a:t>
            </a:r>
          </a:p>
          <a:p>
            <a:r>
              <a:rPr lang="en-US" dirty="0" smtClean="0"/>
              <a:t>Comparisons between businesses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169</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844824"/>
            <a:ext cx="1993371" cy="3060000"/>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Produce information to enable informed decision making</a:t>
            </a:r>
            <a:endParaRPr lang="en-US" dirty="0"/>
          </a:p>
        </p:txBody>
      </p:sp>
      <p:sp>
        <p:nvSpPr>
          <p:cNvPr id="3" name="Content Placeholder 2"/>
          <p:cNvSpPr>
            <a:spLocks noGrp="1"/>
          </p:cNvSpPr>
          <p:nvPr>
            <p:ph idx="1"/>
          </p:nvPr>
        </p:nvSpPr>
        <p:spPr/>
        <p:txBody>
          <a:bodyPr/>
          <a:lstStyle/>
          <a:p>
            <a:pPr marL="36576" indent="0">
              <a:buNone/>
            </a:pPr>
            <a:r>
              <a:rPr lang="en-US" dirty="0" smtClean="0"/>
              <a:t>Government agencies/authorities may use report information to decide:</a:t>
            </a:r>
          </a:p>
          <a:p>
            <a:r>
              <a:rPr lang="en-US" dirty="0" smtClean="0"/>
              <a:t>Compliance-related issues</a:t>
            </a:r>
          </a:p>
          <a:p>
            <a:r>
              <a:rPr lang="en-US" dirty="0" smtClean="0"/>
              <a:t>Ability to pay</a:t>
            </a:r>
          </a:p>
          <a:p>
            <a:r>
              <a:rPr lang="en-US" dirty="0" smtClean="0"/>
              <a:t>Evidence of payments made</a:t>
            </a:r>
          </a:p>
          <a:p>
            <a:r>
              <a:rPr lang="en-US" dirty="0" smtClean="0"/>
              <a:t>Comparisons of data against industry-wide data and/or to obtain raw data to generate industry statistics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170</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2019282"/>
            <a:ext cx="2200596" cy="3060000"/>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Forward reports promptly to the appropriate person/department</a:t>
            </a:r>
            <a:endParaRPr lang="en-US" dirty="0"/>
          </a:p>
        </p:txBody>
      </p:sp>
      <p:sp>
        <p:nvSpPr>
          <p:cNvPr id="3" name="Content Placeholder 2"/>
          <p:cNvSpPr>
            <a:spLocks noGrp="1"/>
          </p:cNvSpPr>
          <p:nvPr>
            <p:ph idx="1"/>
          </p:nvPr>
        </p:nvSpPr>
        <p:spPr/>
        <p:txBody>
          <a:bodyPr/>
          <a:lstStyle/>
          <a:p>
            <a:pPr marL="36576" indent="0">
              <a:buNone/>
            </a:pPr>
            <a:r>
              <a:rPr lang="en-US" dirty="0" smtClean="0"/>
              <a:t>Keys to ensuring confidentiality of reports produced:</a:t>
            </a:r>
          </a:p>
          <a:p>
            <a:r>
              <a:rPr lang="en-US" dirty="0" smtClean="0"/>
              <a:t>Limit people involved in report preparation</a:t>
            </a:r>
          </a:p>
          <a:p>
            <a:r>
              <a:rPr lang="en-US" dirty="0" smtClean="0"/>
              <a:t>Train staff in relation to confidentiality and requirements</a:t>
            </a:r>
          </a:p>
          <a:p>
            <a:r>
              <a:rPr lang="en-US" dirty="0" smtClean="0"/>
              <a:t>Print/produce only the exact number of copies needed</a:t>
            </a:r>
          </a:p>
          <a:p>
            <a:pPr marL="36576" indent="0">
              <a:buNone/>
            </a:pPr>
            <a:endParaRPr lang="en-US" sz="1400" dirty="0" smtClean="0"/>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2132856"/>
            <a:ext cx="2211182" cy="3060000"/>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Forward reports promptly to the appropriate person/department</a:t>
            </a:r>
            <a:endParaRPr lang="en-US" dirty="0"/>
          </a:p>
        </p:txBody>
      </p:sp>
      <p:sp>
        <p:nvSpPr>
          <p:cNvPr id="3" name="Content Placeholder 2"/>
          <p:cNvSpPr>
            <a:spLocks noGrp="1"/>
          </p:cNvSpPr>
          <p:nvPr>
            <p:ph idx="1"/>
          </p:nvPr>
        </p:nvSpPr>
        <p:spPr/>
        <p:txBody>
          <a:bodyPr/>
          <a:lstStyle/>
          <a:p>
            <a:r>
              <a:rPr lang="en-US" dirty="0" smtClean="0"/>
              <a:t>Distribute reports in accordance with Distribution List</a:t>
            </a:r>
          </a:p>
          <a:p>
            <a:r>
              <a:rPr lang="en-US" dirty="0" smtClean="0"/>
              <a:t>Protect computers used to produce reports with passwords</a:t>
            </a:r>
          </a:p>
          <a:p>
            <a:r>
              <a:rPr lang="en-US" dirty="0" smtClean="0"/>
              <a:t>Require ‘signing out’ and ‘signing in’ protocols for relevant documents</a:t>
            </a:r>
          </a:p>
          <a:p>
            <a:r>
              <a:rPr lang="en-US" dirty="0" smtClean="0"/>
              <a:t>Keep offices secure from </a:t>
            </a:r>
            <a:r>
              <a:rPr lang="en-US" dirty="0" err="1" smtClean="0"/>
              <a:t>unauthorised</a:t>
            </a:r>
            <a:r>
              <a:rPr lang="en-US" dirty="0" smtClean="0"/>
              <a:t> access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61136"/>
            <a:ext cx="2129760" cy="3060000"/>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Forward reports promptly to the appropriate person/department</a:t>
            </a:r>
            <a:endParaRPr lang="en-US" dirty="0"/>
          </a:p>
        </p:txBody>
      </p:sp>
      <p:sp>
        <p:nvSpPr>
          <p:cNvPr id="3" name="Content Placeholder 2"/>
          <p:cNvSpPr>
            <a:spLocks noGrp="1"/>
          </p:cNvSpPr>
          <p:nvPr>
            <p:ph idx="1"/>
          </p:nvPr>
        </p:nvSpPr>
        <p:spPr/>
        <p:txBody>
          <a:bodyPr/>
          <a:lstStyle/>
          <a:p>
            <a:pPr marL="36576" indent="0">
              <a:buNone/>
            </a:pPr>
            <a:r>
              <a:rPr lang="en-US" dirty="0" smtClean="0"/>
              <a:t>Distribution Schedule:</a:t>
            </a:r>
          </a:p>
          <a:p>
            <a:r>
              <a:rPr lang="en-US" dirty="0" smtClean="0"/>
              <a:t>Lists names of reports to be produced</a:t>
            </a:r>
          </a:p>
          <a:p>
            <a:r>
              <a:rPr lang="en-US" dirty="0" smtClean="0"/>
              <a:t>Identifies reporting period for the report</a:t>
            </a:r>
          </a:p>
          <a:p>
            <a:r>
              <a:rPr lang="en-US" dirty="0" smtClean="0"/>
              <a:t>Names date report is to be completed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173</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64088" y="1990919"/>
            <a:ext cx="2040000" cy="3060000"/>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Forward reports promptly to the appropriate person/department</a:t>
            </a:r>
            <a:endParaRPr lang="en-US" dirty="0"/>
          </a:p>
        </p:txBody>
      </p:sp>
      <p:sp>
        <p:nvSpPr>
          <p:cNvPr id="3" name="Content Placeholder 2"/>
          <p:cNvSpPr>
            <a:spLocks noGrp="1"/>
          </p:cNvSpPr>
          <p:nvPr>
            <p:ph idx="1"/>
          </p:nvPr>
        </p:nvSpPr>
        <p:spPr/>
        <p:txBody>
          <a:bodyPr/>
          <a:lstStyle/>
          <a:p>
            <a:pPr marL="36576" indent="0">
              <a:buNone/>
            </a:pPr>
            <a:r>
              <a:rPr lang="en-US" dirty="0" smtClean="0"/>
              <a:t>Distribution List:</a:t>
            </a:r>
          </a:p>
          <a:p>
            <a:r>
              <a:rPr lang="en-US" dirty="0" smtClean="0"/>
              <a:t>Names of those to receive report/s</a:t>
            </a:r>
          </a:p>
          <a:p>
            <a:r>
              <a:rPr lang="en-US" dirty="0" smtClean="0"/>
              <a:t>Position/role of the person – to confirm the individual more specifically</a:t>
            </a:r>
          </a:p>
          <a:p>
            <a:r>
              <a:rPr lang="en-US" dirty="0" smtClean="0"/>
              <a:t>Method to be used to present report/s to each person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988840"/>
            <a:ext cx="2156635" cy="3060000"/>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Forward reports promptly to the appropriate person/department</a:t>
            </a:r>
            <a:endParaRPr lang="en-US" dirty="0"/>
          </a:p>
        </p:txBody>
      </p:sp>
      <p:sp>
        <p:nvSpPr>
          <p:cNvPr id="3" name="Content Placeholder 2"/>
          <p:cNvSpPr>
            <a:spLocks noGrp="1"/>
          </p:cNvSpPr>
          <p:nvPr>
            <p:ph idx="1"/>
          </p:nvPr>
        </p:nvSpPr>
        <p:spPr/>
        <p:txBody>
          <a:bodyPr/>
          <a:lstStyle/>
          <a:p>
            <a:pPr marL="36576" indent="0">
              <a:buNone/>
            </a:pPr>
            <a:r>
              <a:rPr lang="en-US" dirty="0" smtClean="0"/>
              <a:t>Reports may need to be forwarded to:</a:t>
            </a:r>
          </a:p>
          <a:p>
            <a:r>
              <a:rPr lang="en-US" dirty="0" smtClean="0"/>
              <a:t>Owner/s</a:t>
            </a:r>
          </a:p>
          <a:p>
            <a:r>
              <a:rPr lang="en-US" dirty="0" smtClean="0"/>
              <a:t>Senior management</a:t>
            </a:r>
          </a:p>
          <a:p>
            <a:r>
              <a:rPr lang="en-US" dirty="0" smtClean="0"/>
              <a:t>Nominated section/departmental managers</a:t>
            </a:r>
          </a:p>
          <a:p>
            <a:r>
              <a:rPr lang="en-US" dirty="0" smtClean="0"/>
              <a:t>HODs and Supervisors</a:t>
            </a:r>
          </a:p>
          <a:p>
            <a:r>
              <a:rPr lang="en-US" dirty="0" smtClean="0"/>
              <a:t>General staff</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4</a:t>
            </a:r>
            <a:endParaRPr lang="en-US" dirty="0"/>
          </a:p>
        </p:txBody>
      </p:sp>
      <p:sp>
        <p:nvSpPr>
          <p:cNvPr id="3" name="Content Placeholder 2"/>
          <p:cNvSpPr>
            <a:spLocks noGrp="1"/>
          </p:cNvSpPr>
          <p:nvPr>
            <p:ph idx="1"/>
          </p:nvPr>
        </p:nvSpPr>
        <p:spPr/>
        <p:txBody>
          <a:bodyPr/>
          <a:lstStyle/>
          <a:p>
            <a:pPr marL="36576" indent="0">
              <a:buNone/>
            </a:pPr>
            <a:r>
              <a:rPr lang="en-US" dirty="0" smtClean="0"/>
              <a:t>When completing financial/statistical reports:</a:t>
            </a:r>
          </a:p>
          <a:p>
            <a:r>
              <a:rPr lang="en-AU" dirty="0" smtClean="0"/>
              <a:t>Adhere to designated timelines</a:t>
            </a:r>
          </a:p>
          <a:p>
            <a:r>
              <a:rPr lang="en-AU" dirty="0" smtClean="0"/>
              <a:t>Make sure all required reports are produced</a:t>
            </a:r>
          </a:p>
          <a:p>
            <a:r>
              <a:rPr lang="en-AU" dirty="0" smtClean="0"/>
              <a:t>Ensure accuracy, clarity and conciseness</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73400" y="1988840"/>
            <a:ext cx="2880000" cy="2160000"/>
          </a:xfrm>
          <a:prstGeom prst="rect">
            <a:avLst/>
          </a:prstGeom>
          <a:ln>
            <a:noFill/>
          </a:ln>
          <a:effectLst/>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a:t>
            </a:r>
            <a:r>
              <a:rPr lang="en-US" dirty="0" smtClean="0"/>
              <a:t>4</a:t>
            </a:r>
            <a:endParaRPr lang="en-US" dirty="0"/>
          </a:p>
        </p:txBody>
      </p:sp>
      <p:sp>
        <p:nvSpPr>
          <p:cNvPr id="3" name="Content Placeholder 2"/>
          <p:cNvSpPr>
            <a:spLocks noGrp="1"/>
          </p:cNvSpPr>
          <p:nvPr>
            <p:ph idx="1"/>
          </p:nvPr>
        </p:nvSpPr>
        <p:spPr/>
        <p:txBody>
          <a:bodyPr/>
          <a:lstStyle/>
          <a:p>
            <a:r>
              <a:rPr lang="en-AU" dirty="0" smtClean="0"/>
              <a:t>Use accepted internal templates</a:t>
            </a:r>
          </a:p>
          <a:p>
            <a:r>
              <a:rPr lang="en-AU" dirty="0" smtClean="0"/>
              <a:t>Understand all terms used</a:t>
            </a:r>
          </a:p>
          <a:p>
            <a:r>
              <a:rPr lang="en-AU" dirty="0" smtClean="0"/>
              <a:t>Distribute reports according to approved Distribution List and Schedule only</a:t>
            </a:r>
          </a:p>
          <a:p>
            <a:r>
              <a:rPr lang="en-AU" dirty="0" smtClean="0"/>
              <a:t>Maintain confidentiality provisions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1625" y="1988840"/>
            <a:ext cx="3236176" cy="2160000"/>
          </a:xfrm>
          <a:prstGeom prst="rect">
            <a:avLst/>
          </a:prstGeom>
          <a:ln>
            <a:noFill/>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2642</TotalTime>
  <Words>24873</Words>
  <Application>Microsoft Office PowerPoint</Application>
  <PresentationFormat>On-screen Show (4:3)</PresentationFormat>
  <Paragraphs>3311</Paragraphs>
  <Slides>177</Slides>
  <Notes>177</Notes>
  <HiddenSlides>0</HiddenSlides>
  <MMClips>0</MMClips>
  <ScaleCrop>false</ScaleCrop>
  <HeadingPairs>
    <vt:vector size="4" baseType="variant">
      <vt:variant>
        <vt:lpstr>Theme</vt:lpstr>
      </vt:variant>
      <vt:variant>
        <vt:i4>1</vt:i4>
      </vt:variant>
      <vt:variant>
        <vt:lpstr>Slide Titles</vt:lpstr>
      </vt:variant>
      <vt:variant>
        <vt:i4>177</vt:i4>
      </vt:variant>
    </vt:vector>
  </HeadingPairs>
  <TitlesOfParts>
    <vt:vector size="178" baseType="lpstr">
      <vt:lpstr>PPT_Tour_operation_&amp;_travel_agencies_template_130214</vt:lpstr>
      <vt:lpstr>Manage financial performance with a budget</vt:lpstr>
      <vt:lpstr>Manage financial performance within a budget</vt:lpstr>
      <vt:lpstr>Assessment</vt:lpstr>
      <vt:lpstr>Element 1 – Allocate budget resources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Allocate funds and adopt sound financial management strategies</vt:lpstr>
      <vt:lpstr>Discuss with appropriate colleagues prior to implementation</vt:lpstr>
      <vt:lpstr>Discuss with appropriate colleagues prior to implementation</vt:lpstr>
      <vt:lpstr>Discuss with appropriate colleagues prior to implementation</vt:lpstr>
      <vt:lpstr>Discuss with appropriate colleagues prior to implementation</vt:lpstr>
      <vt:lpstr>Discuss with appropriate colleagues prior to implementation</vt:lpstr>
      <vt:lpstr>Discuss with appropriate colleagues prior to implementation</vt:lpstr>
      <vt:lpstr>Discuss with appropriate colleagues prior to implementation</vt:lpstr>
      <vt:lpstr>Discuss with appropriate colleagues prior to implementation</vt:lpstr>
      <vt:lpstr>Discuss with appropriate colleagues prior to implementation</vt:lpstr>
      <vt:lpstr>Consult and inform stakeholders in relation to resource decisions</vt:lpstr>
      <vt:lpstr>Consult and inform stakeholders in relation to resource decisions</vt:lpstr>
      <vt:lpstr>Consult and inform stakeholders in relation to resource decisions</vt:lpstr>
      <vt:lpstr>Consult and inform stakeholders in relation to resource decisions</vt:lpstr>
      <vt:lpstr>Promote awareness of the importance of budget control</vt:lpstr>
      <vt:lpstr>Promote awareness of the importance of budget control</vt:lpstr>
      <vt:lpstr>Promote awareness of the importance of budget control</vt:lpstr>
      <vt:lpstr>Promote awareness of the importance of budget control</vt:lpstr>
      <vt:lpstr>Promote awareness of the importance of budget control</vt:lpstr>
      <vt:lpstr>Maintain detailed records of resource allocation</vt:lpstr>
      <vt:lpstr>Maintain detailed records of resource allocation</vt:lpstr>
      <vt:lpstr>Maintain detailed records of resource allocation</vt:lpstr>
      <vt:lpstr>Maintain detailed records of resource allocation</vt:lpstr>
      <vt:lpstr>Maintain detailed records of resource allocation</vt:lpstr>
      <vt:lpstr>Maintain detailed records of resource allocation</vt:lpstr>
      <vt:lpstr>Maintain detailed records of resource allocation</vt:lpstr>
      <vt:lpstr>Maintain detailed records of resource allocation</vt:lpstr>
      <vt:lpstr>Maintain detailed records of resource allocation</vt:lpstr>
      <vt:lpstr>Summary – Element 1</vt:lpstr>
      <vt:lpstr>Summary – Element 1</vt:lpstr>
      <vt:lpstr>Summary – Element 1</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Identify and report discrepancies according to policy and significance</vt:lpstr>
      <vt:lpstr>Identify and report discrepancies according to policy and significance</vt:lpstr>
      <vt:lpstr>Identify and report discrepancies according to policy and significance</vt:lpstr>
      <vt:lpstr>Identify and report discrepancies according to policy and significance</vt:lpstr>
      <vt:lpstr>Identify and report discrepancies according to policy and significance</vt:lpstr>
      <vt:lpstr>Identify and report discrepancies according to policy and significance</vt:lpstr>
      <vt:lpstr>Identify and report discrepancies according to policy and significance</vt:lpstr>
      <vt:lpstr>Advise colleagues of budget status in relation to targets</vt:lpstr>
      <vt:lpstr>Advise colleagues of budget status in relation to targets</vt:lpstr>
      <vt:lpstr>Advise colleagues of budget status in relation to targets</vt:lpstr>
      <vt:lpstr>Advise colleagues of budget status in relation to targets</vt:lpstr>
      <vt:lpstr>Summary – Element 2</vt:lpstr>
      <vt:lpstr>Summary – Element 2</vt:lpstr>
      <vt:lpstr>Element 3 – Identify and evaluate options for improved budget performance</vt:lpstr>
      <vt:lpstr>Identify and evaluate options for improved budget performance</vt:lpstr>
      <vt:lpstr>Assess existing costs and resources and identify areas for improvement</vt:lpstr>
      <vt:lpstr>Assess existing costs and resources and identify areas for improvement</vt:lpstr>
      <vt:lpstr>Assess existing costs and resources and identify areas for improvement</vt:lpstr>
      <vt:lpstr>Assess existing costs and resources and identify areas for improvement</vt:lpstr>
      <vt:lpstr>Assess existing costs and resources and identify areas for improvement</vt:lpstr>
      <vt:lpstr>Discuss desired outcomes with relevant colleagues</vt:lpstr>
      <vt:lpstr>Discuss desired outcomes with relevant colleagues</vt:lpstr>
      <vt:lpstr>Discuss desired outcomes with relevant colleagues</vt:lpstr>
      <vt:lpstr>Discuss desired outcomes with relevant colleagues</vt:lpstr>
      <vt:lpstr>Discuss desired outcomes with relevant colleagues</vt:lpstr>
      <vt:lpstr>Discuss desired outcomes with relevant colleagues</vt:lpstr>
      <vt:lpstr>Discuss desired outcomes with relevant colleagues</vt:lpstr>
      <vt:lpstr>Discuss desired outcomes with relevant colleagues</vt:lpstr>
      <vt:lpstr>Research new approaches to manage discrepancies</vt:lpstr>
      <vt:lpstr>Research new approaches to manage discrepancies</vt:lpstr>
      <vt:lpstr>Research new approaches to manage discrepancies</vt:lpstr>
      <vt:lpstr>Research new approaches to manage discrepancies</vt:lpstr>
      <vt:lpstr>Research new approaches to manage discrepancies</vt:lpstr>
      <vt:lpstr>Research new approaches to manage discrepancies</vt:lpstr>
      <vt:lpstr>Research new approaches to manage discrepancies</vt:lpstr>
      <vt:lpstr>Research new approaches to manage discrepancies</vt:lpstr>
      <vt:lpstr>Research new approaches to manage discrepancies</vt:lpstr>
      <vt:lpstr>Undertake appropriate research to investigate new approaches</vt:lpstr>
      <vt:lpstr>Undertake appropriate research to investigate new approaches</vt:lpstr>
      <vt:lpstr>Undertake appropriate research to investigate new approaches</vt:lpstr>
      <vt:lpstr>Undertake appropriate research to investigate new approaches</vt:lpstr>
      <vt:lpstr>Undertake appropriate research to investigate new approaches</vt:lpstr>
      <vt:lpstr>Undertake appropriate research to investigate new approaches</vt:lpstr>
      <vt:lpstr>Undertake appropriate research to investigate new approaches</vt:lpstr>
      <vt:lpstr>Define and communicate the benefits and disadvantages of new approaches</vt:lpstr>
      <vt:lpstr>Define and communicate the benefits and disadvantages of new approaches</vt:lpstr>
      <vt:lpstr>Define and communicate the benefits and disadvantages of new approaches</vt:lpstr>
      <vt:lpstr>Define and communicate the benefits and disadvantages of new approaches</vt:lpstr>
      <vt:lpstr>Take account impact on customer service and colleagues</vt:lpstr>
      <vt:lpstr>Take account impact on customer service and colleagues</vt:lpstr>
      <vt:lpstr>Take account impact on customer service and colleagues</vt:lpstr>
      <vt:lpstr>Take account impact on customer service and colleagues</vt:lpstr>
      <vt:lpstr>Take account impact on customer service and colleagues</vt:lpstr>
      <vt:lpstr>Present recommendations to the relevant stakeholders</vt:lpstr>
      <vt:lpstr>Present recommendations to the relevant stakeholders</vt:lpstr>
      <vt:lpstr>Present recommendations to the relevant stakeholders</vt:lpstr>
      <vt:lpstr>Summary – Element 3</vt:lpstr>
      <vt:lpstr>Summary – Element 3</vt:lpstr>
      <vt:lpstr>Summary – Element 3</vt:lpstr>
      <vt:lpstr>Element 4 – Complete financial/statistical reports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Complete financial and statistical reports accurately within timelines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Check actual income and expenditure against budgets</vt:lpstr>
      <vt:lpstr>Produce information to enable informed decision making</vt:lpstr>
      <vt:lpstr>Produce information to enable informed decision making</vt:lpstr>
      <vt:lpstr>Produce information to enable informed decision making</vt:lpstr>
      <vt:lpstr>Produce information to enable informed decision making</vt:lpstr>
      <vt:lpstr>Produce information to enable informed decision making</vt:lpstr>
      <vt:lpstr>Produce information to enable informed decision making</vt:lpstr>
      <vt:lpstr>Produce information to enable informed decision making</vt:lpstr>
      <vt:lpstr>Produce information to enable informed decision making</vt:lpstr>
      <vt:lpstr>Forward reports promptly to the appropriate person/department</vt:lpstr>
      <vt:lpstr>Forward reports promptly to the appropriate person/department</vt:lpstr>
      <vt:lpstr>Forward reports promptly to the appropriate person/department</vt:lpstr>
      <vt:lpstr>Forward reports promptly to the appropriate person/department</vt:lpstr>
      <vt:lpstr>Forward reports promptly to the appropriate person/department</vt:lpstr>
      <vt:lpstr>Summary – Element 4</vt:lpstr>
      <vt:lpstr>Summary – Element 4</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Kaly Quach</dc:creator>
  <cp:lastModifiedBy>Daniel James Chee</cp:lastModifiedBy>
  <cp:revision>129</cp:revision>
  <dcterms:created xsi:type="dcterms:W3CDTF">2014-03-20T22:20:16Z</dcterms:created>
  <dcterms:modified xsi:type="dcterms:W3CDTF">2015-03-23T22:33:23Z</dcterms:modified>
</cp:coreProperties>
</file>