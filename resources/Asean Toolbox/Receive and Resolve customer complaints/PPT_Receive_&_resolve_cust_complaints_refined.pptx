
<file path=[Content_Types].xml><?xml version="1.0" encoding="utf-8"?>
<Types xmlns="http://schemas.openxmlformats.org/package/2006/content-types">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33"/>
  </p:notesMasterIdLst>
  <p:handoutMasterIdLst>
    <p:handoutMasterId r:id="rId134"/>
  </p:handoutMasterIdLst>
  <p:sldIdLst>
    <p:sldId id="256" r:id="rId2"/>
    <p:sldId id="257" r:id="rId3"/>
    <p:sldId id="258" r:id="rId4"/>
    <p:sldId id="387"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298" r:id="rId43"/>
    <p:sldId id="296" r:id="rId44"/>
    <p:sldId id="300" r:id="rId45"/>
    <p:sldId id="299"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6" r:id="rId60"/>
    <p:sldId id="314" r:id="rId61"/>
    <p:sldId id="315"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68" autoAdjust="0"/>
    <p:restoredTop sz="86380" autoAdjust="0"/>
  </p:normalViewPr>
  <p:slideViewPr>
    <p:cSldViewPr>
      <p:cViewPr varScale="1">
        <p:scale>
          <a:sx n="79" d="100"/>
          <a:sy n="79" d="100"/>
        </p:scale>
        <p:origin x="1554" y="96"/>
      </p:cViewPr>
      <p:guideLst>
        <p:guide orient="horz" pos="2160"/>
        <p:guide pos="2880"/>
      </p:guideLst>
    </p:cSldViewPr>
  </p:slideViewPr>
  <p:outlineViewPr>
    <p:cViewPr>
      <p:scale>
        <a:sx n="33" d="100"/>
        <a:sy n="33" d="100"/>
      </p:scale>
      <p:origin x="0" y="63312"/>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13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4/7/2015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6603087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4/7/2015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120162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introduces himself/herself, students and topic</a:t>
            </a:r>
            <a:r>
              <a:rPr lang="en-AU" baseline="0" dirty="0" smtClean="0"/>
              <a:t> area.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14286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this Unit comprises four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875693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582074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is a complaint?</a:t>
            </a:r>
          </a:p>
          <a:p>
            <a:pPr>
              <a:buFont typeface="Arial" pitchFamily="34" charset="0"/>
              <a:buChar char="•"/>
            </a:pPr>
            <a:r>
              <a:rPr lang="en-AU" sz="1200" kern="1200" baseline="0" dirty="0" smtClean="0">
                <a:solidFill>
                  <a:schemeClr val="tx1"/>
                </a:solidFill>
                <a:latin typeface="+mn-lt"/>
                <a:ea typeface="+mn-ea"/>
                <a:cs typeface="+mn-cs"/>
              </a:rPr>
              <a:t>What causes complaints?</a:t>
            </a:r>
          </a:p>
          <a:p>
            <a:pPr>
              <a:buFont typeface="Arial" pitchFamily="34" charset="0"/>
              <a:buChar char="•"/>
            </a:pPr>
            <a:r>
              <a:rPr lang="en-AU" sz="1200" kern="1200" baseline="0" dirty="0" smtClean="0">
                <a:solidFill>
                  <a:schemeClr val="tx1"/>
                </a:solidFill>
                <a:latin typeface="+mn-lt"/>
                <a:ea typeface="+mn-ea"/>
                <a:cs typeface="+mn-cs"/>
              </a:rPr>
              <a:t>What are common complaints?</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1957952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27245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Answer the question in the slide</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181026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identify complaints?</a:t>
            </a:r>
          </a:p>
          <a:p>
            <a:pPr>
              <a:buFont typeface="Arial" pitchFamily="34" charset="0"/>
              <a:buChar char="•"/>
            </a:pPr>
            <a:r>
              <a:rPr lang="en-AU" sz="1200" b="0" kern="1200" baseline="0" dirty="0" smtClean="0">
                <a:solidFill>
                  <a:schemeClr val="tx1"/>
                </a:solidFill>
                <a:latin typeface="+mn-lt"/>
                <a:ea typeface="+mn-ea"/>
                <a:cs typeface="+mn-cs"/>
              </a:rPr>
              <a:t>Who normally handles complaints in the workplace?</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063512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difference between these three factors?</a:t>
            </a:r>
          </a:p>
          <a:p>
            <a:pPr>
              <a:buFont typeface="Arial" pitchFamily="34" charset="0"/>
              <a:buChar char="•"/>
            </a:pPr>
            <a:r>
              <a:rPr lang="en-AU" sz="1200" b="0" kern="1200" baseline="0" dirty="0" smtClean="0">
                <a:solidFill>
                  <a:schemeClr val="tx1"/>
                </a:solidFill>
                <a:latin typeface="+mn-lt"/>
                <a:ea typeface="+mn-ea"/>
                <a:cs typeface="+mn-cs"/>
              </a:rPr>
              <a:t>Are they the same for everyone?</a:t>
            </a:r>
          </a:p>
          <a:p>
            <a:pPr>
              <a:buFont typeface="Arial" pitchFamily="34" charset="0"/>
              <a:buChar char="•"/>
            </a:pPr>
            <a:r>
              <a:rPr lang="en-AU" sz="1200" b="0" kern="1200" baseline="0" dirty="0" smtClean="0">
                <a:solidFill>
                  <a:schemeClr val="tx1"/>
                </a:solidFill>
                <a:latin typeface="+mn-lt"/>
                <a:ea typeface="+mn-ea"/>
                <a:cs typeface="+mn-cs"/>
              </a:rPr>
              <a:t>Where do they come from?</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21221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does an organisation try to understand a customer’s </a:t>
            </a:r>
            <a:r>
              <a:rPr lang="en-AU" sz="1200" dirty="0" smtClean="0">
                <a:latin typeface="Helvetica" pitchFamily="34" charset="0"/>
              </a:rPr>
              <a:t>needs, wishes and expectations?</a:t>
            </a:r>
          </a:p>
          <a:p>
            <a:pPr>
              <a:buFont typeface="Arial" pitchFamily="34" charset="0"/>
              <a:buChar char="•"/>
            </a:pPr>
            <a:r>
              <a:rPr lang="en-AU" sz="1200" b="0" dirty="0" smtClean="0">
                <a:latin typeface="Helvetica" pitchFamily="34" charset="0"/>
              </a:rPr>
              <a:t>How can they meet or exceed these?</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730409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other common needs of customers in general?</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3485618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common needs of customers when visiting hotels?</a:t>
            </a:r>
          </a:p>
          <a:p>
            <a:pPr>
              <a:buFont typeface="Arial" pitchFamily="34" charset="0"/>
              <a:buChar char="•"/>
            </a:pPr>
            <a:r>
              <a:rPr lang="en-AU" sz="1200" b="0" kern="1200" baseline="0" dirty="0" smtClean="0">
                <a:solidFill>
                  <a:schemeClr val="tx1"/>
                </a:solidFill>
                <a:latin typeface="+mn-lt"/>
                <a:ea typeface="+mn-ea"/>
                <a:cs typeface="+mn-cs"/>
              </a:rPr>
              <a:t>What do you expect as a minimum?</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1788370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generic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Which hotels do you know of that provide for these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GB" sz="1200" dirty="0" smtClean="0"/>
              <a:t>Value for money</a:t>
            </a:r>
            <a:endParaRPr lang="en-AU" sz="1200" dirty="0" smtClean="0"/>
          </a:p>
          <a:p>
            <a:pPr>
              <a:buFont typeface="Arial" pitchFamily="34" charset="0"/>
              <a:buChar char="•"/>
            </a:pPr>
            <a:r>
              <a:rPr lang="en-GB" sz="1200" dirty="0" smtClean="0"/>
              <a:t>‘Offering’ reflecting what was advertised</a:t>
            </a:r>
            <a:endParaRPr lang="en-AU" sz="1200" dirty="0" smtClean="0"/>
          </a:p>
          <a:p>
            <a:pPr>
              <a:buFont typeface="Arial" pitchFamily="34" charset="0"/>
              <a:buChar char="•"/>
            </a:pPr>
            <a:r>
              <a:rPr lang="en-GB" sz="1200" dirty="0" smtClean="0"/>
              <a:t>Expectations met</a:t>
            </a:r>
            <a:r>
              <a:rPr lang="en-GB" sz="1200" baseline="0" dirty="0" smtClean="0"/>
              <a:t> or </a:t>
            </a:r>
            <a:r>
              <a:rPr lang="en-GB" sz="1200" dirty="0" smtClean="0"/>
              <a:t>exceeded </a:t>
            </a:r>
            <a:endParaRPr lang="en-AU" sz="1200" dirty="0" smtClean="0"/>
          </a:p>
          <a:p>
            <a:pPr>
              <a:buFont typeface="Arial" pitchFamily="34" charset="0"/>
              <a:buChar char="•"/>
            </a:pPr>
            <a:r>
              <a:rPr lang="en-GB" sz="1200" dirty="0" smtClean="0"/>
              <a:t>To feel respected which is why we use “Sir” and “Madam”</a:t>
            </a:r>
            <a:endParaRPr lang="en-AU" sz="1200" dirty="0" smtClean="0"/>
          </a:p>
          <a:p>
            <a:pPr>
              <a:buFont typeface="Arial" pitchFamily="34" charset="0"/>
              <a:buChar char="•"/>
            </a:pPr>
            <a:r>
              <a:rPr lang="en-GB" sz="1200" dirty="0" smtClean="0"/>
              <a:t>To feel welcomed which is why we give all our customers a warm, genuine and sincere smile and welcome. We really are pleased to see them</a:t>
            </a:r>
            <a:endParaRPr lang="en-AU" sz="1200" dirty="0" smtClean="0"/>
          </a:p>
          <a:p>
            <a:pPr>
              <a:buFont typeface="Arial" pitchFamily="34" charset="0"/>
              <a:buChar char="•"/>
            </a:pPr>
            <a:r>
              <a:rPr lang="en-GB" sz="1200" dirty="0" smtClean="0"/>
              <a:t>To be served by friendly staff</a:t>
            </a:r>
            <a:r>
              <a:rPr lang="en-GB" sz="1200" baseline="0" dirty="0" smtClean="0"/>
              <a:t> </a:t>
            </a:r>
            <a:r>
              <a:rPr lang="en-GB" sz="1200" dirty="0" smtClean="0"/>
              <a:t>which is again why we smile and why we spend that extra few seconds with them, talking about how their day went and so on</a:t>
            </a:r>
            <a:endParaRPr lang="en-AU" sz="1200" dirty="0" smtClean="0"/>
          </a:p>
          <a:p>
            <a:pPr>
              <a:buFont typeface="Arial" pitchFamily="34" charset="0"/>
              <a:buChar char="•"/>
            </a:pPr>
            <a:r>
              <a:rPr lang="en-GB" sz="1200" dirty="0" smtClean="0"/>
              <a:t>To be dealt with in a prompt and courteous manner</a:t>
            </a:r>
            <a:r>
              <a:rPr lang="en-GB" sz="1200" baseline="0" dirty="0" smtClean="0"/>
              <a:t> </a:t>
            </a:r>
            <a:r>
              <a:rPr lang="en-GB" sz="1200" dirty="0" smtClean="0"/>
              <a:t>which is why we don’t keep them waiting at reception, the bar, for room service</a:t>
            </a:r>
            <a:r>
              <a:rPr lang="en-GB" sz="1200" baseline="0" dirty="0" smtClean="0"/>
              <a:t> or</a:t>
            </a:r>
            <a:r>
              <a:rPr lang="en-GB" sz="1200" dirty="0" smtClean="0"/>
              <a:t> meals </a:t>
            </a:r>
            <a:endParaRPr lang="en-AU" sz="120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7655596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generic customer needs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0" kern="1200" baseline="0" dirty="0" smtClean="0">
                <a:solidFill>
                  <a:schemeClr val="tx1"/>
                </a:solidFill>
                <a:latin typeface="+mn-lt"/>
                <a:ea typeface="+mn-ea"/>
                <a:cs typeface="+mn-cs"/>
              </a:rPr>
              <a:t>Which hotels do you know of that provide for these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To be dealt with in a prompt and courteous manner which is why we don’t keep them waiting at reception, the bar, for room service, meals etc</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To receive assistance when necessary which is why we have excellent product and local knowledge and why we look for opportunities to pass this on to them whenever we can, even without their having to ask</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To be in comfortable, clean surroundings which is why we make sure the facilities, rooms, grounds and equipment are spotless</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To feel remembered and recognised which is why we use the customer’s name as often as we can</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To be heard and understood which is why we listen to complaints and adopt the role of their advocate whenever there is a complaint, problem or dispute. We want to fix their problems, not create new ones.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690046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how hotels cater to specific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ways can a hotel cater to the needs of this particular market segment?</a:t>
            </a:r>
          </a:p>
          <a:p>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9928822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how hotels cater to specific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ways can a hotel cater to the needs of this particular market segment?</a:t>
            </a:r>
          </a:p>
          <a:p>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8860357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how hotels cater to specific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ways can a hotel cater to the needs of this particular market segment?</a:t>
            </a:r>
          </a:p>
          <a:p>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9055770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how hotels cater to specific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ways can a hotel cater to the needs of this particular market segment?</a:t>
            </a:r>
          </a:p>
          <a:p>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554398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how hotels cater to specific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ways can a hotel cater to the needs of this particular market segment?</a:t>
            </a:r>
          </a:p>
          <a:p>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552641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how hotels cater to specific customer needs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ways can a hotel cater to the needs of this particular market segment?</a:t>
            </a:r>
          </a:p>
          <a:p>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8116317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difference between a need and a wish?</a:t>
            </a:r>
          </a:p>
          <a:p>
            <a:pPr>
              <a:buFont typeface="Arial" pitchFamily="34" charset="0"/>
              <a:buChar char="•"/>
            </a:pPr>
            <a:r>
              <a:rPr lang="en-AU" sz="1200" b="0" kern="1200" baseline="0" dirty="0" smtClean="0">
                <a:solidFill>
                  <a:schemeClr val="tx1"/>
                </a:solidFill>
                <a:latin typeface="+mn-lt"/>
                <a:ea typeface="+mn-ea"/>
                <a:cs typeface="+mn-cs"/>
              </a:rPr>
              <a:t>Can hotels provide both?</a:t>
            </a:r>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8839750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customer expectations</a:t>
            </a:r>
          </a:p>
          <a:p>
            <a:endParaRPr lang="en-AU" sz="1200" b="1" kern="1200" baseline="0" dirty="0" smtClean="0">
              <a:solidFill>
                <a:schemeClr val="tx1"/>
              </a:solidFill>
              <a:latin typeface="+mn-lt"/>
              <a:ea typeface="+mn-ea"/>
              <a:cs typeface="+mn-cs"/>
            </a:endParaRPr>
          </a:p>
          <a:p>
            <a:pPr>
              <a:buFont typeface="Arial" pitchFamily="34" charset="0"/>
              <a:buChar char="•"/>
            </a:pPr>
            <a:r>
              <a:rPr lang="en-GB" sz="1200" dirty="0" smtClean="0"/>
              <a:t>Where do expectations come from?</a:t>
            </a:r>
            <a:endParaRPr lang="en-AU" sz="1200" dirty="0" smtClean="0"/>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903629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about customer expectations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Where else do expectations come from?</a:t>
            </a:r>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501619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Complaints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should complaints be handled?</a:t>
            </a:r>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879159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Complaints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should complaints be seen as a positive thing?</a:t>
            </a:r>
          </a:p>
          <a:p>
            <a:pPr>
              <a:buFont typeface="Arial" pitchFamily="34" charset="0"/>
              <a:buChar char="•"/>
            </a:pPr>
            <a:r>
              <a:rPr lang="en-AU" sz="1200" b="0" kern="1200" baseline="0" dirty="0" smtClean="0">
                <a:solidFill>
                  <a:schemeClr val="tx1"/>
                </a:solidFill>
                <a:latin typeface="+mn-lt"/>
                <a:ea typeface="+mn-ea"/>
                <a:cs typeface="+mn-cs"/>
              </a:rPr>
              <a:t>How can you show sensitivity?</a:t>
            </a:r>
            <a:endParaRPr lang="en-AU" sz="1200" b="1" kern="1200" baseline="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396765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 the common types of complaints</a:t>
            </a:r>
          </a:p>
          <a:p>
            <a:endParaRPr lang="en-AU" sz="1200" b="1" kern="1200" baseline="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Rude staff and management.</a:t>
            </a:r>
            <a:r>
              <a:rPr lang="en-GB" sz="1200" kern="1200" baseline="0" dirty="0" smtClean="0">
                <a:solidFill>
                  <a:schemeClr val="tx1"/>
                </a:solidFill>
                <a:latin typeface="+mn-lt"/>
                <a:ea typeface="+mn-ea"/>
                <a:cs typeface="+mn-cs"/>
              </a:rPr>
              <a:t> T</a:t>
            </a:r>
            <a:r>
              <a:rPr lang="en-GB" sz="1200" kern="1200" dirty="0" smtClean="0">
                <a:solidFill>
                  <a:schemeClr val="tx1"/>
                </a:solidFill>
                <a:latin typeface="+mn-lt"/>
                <a:ea typeface="+mn-ea"/>
                <a:cs typeface="+mn-cs"/>
              </a:rPr>
              <a:t>his is a major cause of customer complaints</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Difficult or demanding customers.</a:t>
            </a:r>
            <a:r>
              <a:rPr lang="en-GB" sz="1200" kern="1200" baseline="0" dirty="0" smtClean="0">
                <a:solidFill>
                  <a:schemeClr val="tx1"/>
                </a:solidFill>
                <a:latin typeface="+mn-lt"/>
                <a:ea typeface="+mn-ea"/>
                <a:cs typeface="+mn-cs"/>
              </a:rPr>
              <a:t> S</a:t>
            </a:r>
            <a:r>
              <a:rPr lang="en-GB" sz="1200" kern="1200" dirty="0" smtClean="0">
                <a:solidFill>
                  <a:schemeClr val="tx1"/>
                </a:solidFill>
                <a:latin typeface="+mn-lt"/>
                <a:ea typeface="+mn-ea"/>
                <a:cs typeface="+mn-cs"/>
              </a:rPr>
              <a:t>ome customers are especially difficult to deal with and extremely demanding in their orders and the way they ‘ask’ for service.  </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Lack of or poor service. This can involve the customer having to wait ‘too long’, the quality of products being sub-standard, staff who are disrespectful, rude or offensive when they deliver service</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Expectations not being met.</a:t>
            </a:r>
            <a:r>
              <a:rPr lang="en-GB" sz="1200" kern="1200" baseline="0" dirty="0" smtClean="0">
                <a:solidFill>
                  <a:schemeClr val="tx1"/>
                </a:solidFill>
                <a:latin typeface="+mn-lt"/>
                <a:ea typeface="+mn-ea"/>
                <a:cs typeface="+mn-cs"/>
              </a:rPr>
              <a:t> T</a:t>
            </a:r>
            <a:r>
              <a:rPr lang="en-GB" sz="1200" kern="1200" dirty="0" smtClean="0">
                <a:solidFill>
                  <a:schemeClr val="tx1"/>
                </a:solidFill>
                <a:latin typeface="+mn-lt"/>
                <a:ea typeface="+mn-ea"/>
                <a:cs typeface="+mn-cs"/>
              </a:rPr>
              <a:t>he advertisements that your venue runs, coupled with word-of-mouth advertising, create these expectations and they may often be unrealistic. Customers can be frustrated and disappointed when reality fails to match either the advertisements or the expectations, and conflict can often result. This classification is a common one with special needs customers</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Dissatisfaction with the accommodation.</a:t>
            </a:r>
            <a:r>
              <a:rPr lang="en-GB" sz="1200" kern="1200" baseline="0" dirty="0" smtClean="0">
                <a:solidFill>
                  <a:schemeClr val="tx1"/>
                </a:solidFill>
                <a:latin typeface="+mn-lt"/>
                <a:ea typeface="+mn-ea"/>
                <a:cs typeface="+mn-cs"/>
              </a:rPr>
              <a:t> For example t</a:t>
            </a:r>
            <a:r>
              <a:rPr lang="en-GB" sz="1200" kern="1200" dirty="0" smtClean="0">
                <a:solidFill>
                  <a:schemeClr val="tx1"/>
                </a:solidFill>
                <a:latin typeface="+mn-lt"/>
                <a:ea typeface="+mn-ea"/>
                <a:cs typeface="+mn-cs"/>
              </a:rPr>
              <a:t>he room facilities are not working</a:t>
            </a:r>
            <a:r>
              <a:rPr lang="en-GB" sz="1200" kern="1200" baseline="0" dirty="0" smtClean="0">
                <a:solidFill>
                  <a:schemeClr val="tx1"/>
                </a:solidFill>
                <a:latin typeface="+mn-lt"/>
                <a:ea typeface="+mn-ea"/>
                <a:cs typeface="+mn-cs"/>
              </a:rPr>
              <a:t> or are</a:t>
            </a:r>
            <a:r>
              <a:rPr lang="en-GB" sz="1200" kern="1200" dirty="0" smtClean="0">
                <a:solidFill>
                  <a:schemeClr val="tx1"/>
                </a:solidFill>
                <a:latin typeface="+mn-lt"/>
                <a:ea typeface="+mn-ea"/>
                <a:cs typeface="+mn-cs"/>
              </a:rPr>
              <a:t> outdated, the room may smell of smoke, is too noisy or the view is not what was anticipated</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Services are poor.</a:t>
            </a:r>
            <a:r>
              <a:rPr lang="en-GB" sz="1200" kern="1200" baseline="0" dirty="0" smtClean="0">
                <a:solidFill>
                  <a:schemeClr val="tx1"/>
                </a:solidFill>
                <a:latin typeface="+mn-lt"/>
                <a:ea typeface="+mn-ea"/>
                <a:cs typeface="+mn-cs"/>
              </a:rPr>
              <a:t> D</a:t>
            </a:r>
            <a:r>
              <a:rPr lang="en-GB" sz="1200" kern="1200" dirty="0" smtClean="0">
                <a:solidFill>
                  <a:schemeClr val="tx1"/>
                </a:solidFill>
                <a:latin typeface="+mn-lt"/>
                <a:ea typeface="+mn-ea"/>
                <a:cs typeface="+mn-cs"/>
              </a:rPr>
              <a:t>etails may have been forgotten or the general level of service is insufficient and slow</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811066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 the common types of complaints</a:t>
            </a:r>
          </a:p>
          <a:p>
            <a:endParaRPr lang="en-AU" sz="1200" b="1" kern="1200" baseline="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Unhygienic conditions – perhaps where the guest room or any facility enjoyed by customers shows a lack of proper attention to detail and incorrect housekeeping practices. </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Low comfort levels – an area of the property could have been too cold, too noisy, or too crowded</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Rowdy and unacceptable behaviour displayed by other customers – the room or table next to the customer may have been patronised by a noisy and boisterous customer</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A mistake with an account – the guest account may have charged for items that should have been on someone else’s bill, or over-charged for a product or service</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Error in the reservation or booking or not found – the guest may have arrived to find there was a problem with a booking or reservation that they had been led to believe was guaranteed and problem-free</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Special requests not being adhered to – the flowers and champagne that were ordered for 4:00 PM were not delivered and spoiled a very special occasion.</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0794113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 the common types of complaints</a:t>
            </a:r>
          </a:p>
          <a:p>
            <a:endParaRPr lang="en-AU" sz="1200" b="1" kern="1200" baseline="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Limited or no rooms/tables available.</a:t>
            </a:r>
            <a:r>
              <a:rPr lang="en-GB" sz="1200" kern="1200" baseline="0" dirty="0" smtClean="0">
                <a:solidFill>
                  <a:schemeClr val="tx1"/>
                </a:solidFill>
                <a:latin typeface="+mn-lt"/>
                <a:ea typeface="+mn-ea"/>
                <a:cs typeface="+mn-cs"/>
              </a:rPr>
              <a:t> E</a:t>
            </a:r>
            <a:r>
              <a:rPr lang="en-GB" sz="1200" kern="1200" dirty="0" smtClean="0">
                <a:solidFill>
                  <a:schemeClr val="tx1"/>
                </a:solidFill>
                <a:latin typeface="+mn-lt"/>
                <a:ea typeface="+mn-ea"/>
                <a:cs typeface="+mn-cs"/>
              </a:rPr>
              <a:t>very business has a capacity on how many customers can be served, seated or accommodated at one time.</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Requirement to guarantee a reservation.</a:t>
            </a:r>
            <a:r>
              <a:rPr lang="en-GB" sz="1200" kern="1200" baseline="0" dirty="0" smtClean="0">
                <a:solidFill>
                  <a:schemeClr val="tx1"/>
                </a:solidFill>
                <a:latin typeface="+mn-lt"/>
                <a:ea typeface="+mn-ea"/>
                <a:cs typeface="+mn-cs"/>
              </a:rPr>
              <a:t> M</a:t>
            </a:r>
            <a:r>
              <a:rPr lang="en-GB" sz="1200" kern="1200" dirty="0" smtClean="0">
                <a:solidFill>
                  <a:schemeClr val="tx1"/>
                </a:solidFill>
                <a:latin typeface="+mn-lt"/>
                <a:ea typeface="+mn-ea"/>
                <a:cs typeface="+mn-cs"/>
              </a:rPr>
              <a:t>any organisations will have a guarantee policy to ensure they can maximise revenues for outlets. If inflexible conditions exist, it may irritate potential or existing customers</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Inflexibility of methods of payment.</a:t>
            </a:r>
            <a:r>
              <a:rPr lang="en-GB" sz="1200" kern="1200" baseline="0" dirty="0" smtClean="0">
                <a:solidFill>
                  <a:schemeClr val="tx1"/>
                </a:solidFill>
                <a:latin typeface="+mn-lt"/>
                <a:ea typeface="+mn-ea"/>
                <a:cs typeface="+mn-cs"/>
              </a:rPr>
              <a:t> A</a:t>
            </a:r>
            <a:r>
              <a:rPr lang="en-GB" sz="1200" kern="1200" dirty="0" smtClean="0">
                <a:solidFill>
                  <a:schemeClr val="tx1"/>
                </a:solidFill>
                <a:latin typeface="+mn-lt"/>
                <a:ea typeface="+mn-ea"/>
                <a:cs typeface="+mn-cs"/>
              </a:rPr>
              <a:t> customer may wish to offer payment which the establishment may accept. Possible situations may include an organisation’s refusal to take cheques or American Express payments</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Hidden charges.</a:t>
            </a:r>
            <a:r>
              <a:rPr lang="en-GB" sz="1200" kern="1200" baseline="0" dirty="0" smtClean="0">
                <a:solidFill>
                  <a:schemeClr val="tx1"/>
                </a:solidFill>
                <a:latin typeface="+mn-lt"/>
                <a:ea typeface="+mn-ea"/>
                <a:cs typeface="+mn-cs"/>
              </a:rPr>
              <a:t> T</a:t>
            </a:r>
            <a:r>
              <a:rPr lang="en-GB" sz="1200" kern="1200" dirty="0" smtClean="0">
                <a:solidFill>
                  <a:schemeClr val="tx1"/>
                </a:solidFill>
                <a:latin typeface="+mn-lt"/>
                <a:ea typeface="+mn-ea"/>
                <a:cs typeface="+mn-cs"/>
              </a:rPr>
              <a:t>his may include taxes or service fees the customer did not expect or was not told about</a:t>
            </a:r>
            <a:endParaRPr lang="en-AU" sz="1200" kern="1200" dirty="0" smtClean="0">
              <a:solidFill>
                <a:schemeClr val="tx1"/>
              </a:solidFill>
              <a:latin typeface="+mn-lt"/>
              <a:ea typeface="+mn-ea"/>
              <a:cs typeface="+mn-cs"/>
            </a:endParaRPr>
          </a:p>
          <a:p>
            <a:pPr>
              <a:buFont typeface="Arial" pitchFamily="34" charset="0"/>
              <a:buChar char="•"/>
            </a:pPr>
            <a:r>
              <a:rPr lang="en-GB" sz="1200" kern="1200" dirty="0" smtClean="0">
                <a:solidFill>
                  <a:schemeClr val="tx1"/>
                </a:solidFill>
                <a:latin typeface="+mn-lt"/>
                <a:ea typeface="+mn-ea"/>
                <a:cs typeface="+mn-cs"/>
              </a:rPr>
              <a:t>Ejection from the premises</a:t>
            </a:r>
            <a:r>
              <a:rPr lang="en-GB" sz="1200" kern="1200" baseline="0" dirty="0" smtClean="0">
                <a:solidFill>
                  <a:schemeClr val="tx1"/>
                </a:solidFill>
                <a:latin typeface="+mn-lt"/>
                <a:ea typeface="+mn-ea"/>
                <a:cs typeface="+mn-cs"/>
              </a:rPr>
              <a:t> e.g. i</a:t>
            </a:r>
            <a:r>
              <a:rPr lang="en-GB" sz="1200" kern="1200" dirty="0" smtClean="0">
                <a:solidFill>
                  <a:schemeClr val="tx1"/>
                </a:solidFill>
                <a:latin typeface="+mn-lt"/>
                <a:ea typeface="+mn-ea"/>
                <a:cs typeface="+mn-cs"/>
              </a:rPr>
              <a:t>f a customer has to be removed from the premises for whatever reason. </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2637860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Discuss questions in the slide</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4940453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What</a:t>
            </a:r>
            <a:r>
              <a:rPr lang="en-AU" sz="1200" kern="1200" baseline="0" dirty="0" smtClean="0">
                <a:solidFill>
                  <a:schemeClr val="tx1"/>
                </a:solidFill>
                <a:latin typeface="+mn-lt"/>
                <a:ea typeface="+mn-ea"/>
                <a:cs typeface="+mn-cs"/>
              </a:rPr>
              <a:t> changes are evident?</a:t>
            </a:r>
          </a:p>
          <a:p>
            <a:pPr>
              <a:buFont typeface="Arial" pitchFamily="34" charset="0"/>
              <a:buChar char="•"/>
            </a:pPr>
            <a:r>
              <a:rPr lang="en-AU" sz="1200" kern="1200" baseline="0" dirty="0" smtClean="0">
                <a:solidFill>
                  <a:schemeClr val="tx1"/>
                </a:solidFill>
                <a:latin typeface="+mn-lt"/>
                <a:ea typeface="+mn-ea"/>
                <a:cs typeface="+mn-cs"/>
              </a:rPr>
              <a:t>What should you do if a customer looks happy but has not come up to you to complain?</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8165322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Discuss these warning signs</a:t>
            </a:r>
          </a:p>
          <a:p>
            <a:pPr>
              <a:buFont typeface="Arial" pitchFamily="34" charset="0"/>
              <a:buChar char="•"/>
            </a:pPr>
            <a:r>
              <a:rPr lang="en-AU" sz="1200" kern="1200" baseline="0" dirty="0" smtClean="0">
                <a:solidFill>
                  <a:schemeClr val="tx1"/>
                </a:solidFill>
                <a:latin typeface="+mn-lt"/>
                <a:ea typeface="+mn-ea"/>
                <a:cs typeface="+mn-cs"/>
              </a:rPr>
              <a:t>As a customer what do </a:t>
            </a:r>
            <a:r>
              <a:rPr lang="en-AU" sz="1200" b="0" i="1" kern="1200" baseline="0" dirty="0" smtClean="0">
                <a:solidFill>
                  <a:schemeClr val="tx1"/>
                </a:solidFill>
                <a:latin typeface="+mn-lt"/>
                <a:ea typeface="+mn-ea"/>
                <a:cs typeface="+mn-cs"/>
              </a:rPr>
              <a:t>you</a:t>
            </a:r>
            <a:r>
              <a:rPr lang="en-AU" sz="1200" kern="1200" baseline="0" dirty="0" smtClean="0">
                <a:solidFill>
                  <a:schemeClr val="tx1"/>
                </a:solidFill>
                <a:latin typeface="+mn-lt"/>
                <a:ea typeface="+mn-ea"/>
                <a:cs typeface="+mn-cs"/>
              </a:rPr>
              <a:t> do?</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6881248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Questions</a:t>
            </a:r>
          </a:p>
          <a:p>
            <a:endParaRPr lang="en-AU" sz="1200" b="1" kern="1200" baseline="0" dirty="0" smtClean="0">
              <a:solidFill>
                <a:schemeClr val="tx1"/>
              </a:solidFill>
              <a:latin typeface="+mn-lt"/>
              <a:ea typeface="+mn-ea"/>
              <a:cs typeface="+mn-cs"/>
            </a:endParaRPr>
          </a:p>
          <a:p>
            <a:pPr>
              <a:buFont typeface="Arial" pitchFamily="34" charset="0"/>
              <a:buChar char="•"/>
            </a:pPr>
            <a:r>
              <a:rPr lang="en-SG" sz="1200" dirty="0" smtClean="0"/>
              <a:t>Written complaints including by letter, email, complaint or customer feedback forms</a:t>
            </a:r>
            <a:endParaRPr lang="en-AU" sz="1200" dirty="0" smtClean="0"/>
          </a:p>
          <a:p>
            <a:pPr>
              <a:buFont typeface="Arial" pitchFamily="34" charset="0"/>
              <a:buChar char="•"/>
            </a:pPr>
            <a:r>
              <a:rPr lang="en-SG" sz="1200" dirty="0" smtClean="0"/>
              <a:t>Verbal – face to</a:t>
            </a:r>
            <a:r>
              <a:rPr lang="en-SG" sz="1200" baseline="0" dirty="0" smtClean="0"/>
              <a:t> </a:t>
            </a:r>
            <a:r>
              <a:rPr lang="en-SG" sz="1200" dirty="0" smtClean="0"/>
              <a:t>face complaints</a:t>
            </a:r>
            <a:endParaRPr lang="en-AU" sz="1200" dirty="0" smtClean="0"/>
          </a:p>
          <a:p>
            <a:pPr>
              <a:buFont typeface="Arial" pitchFamily="34" charset="0"/>
              <a:buChar char="•"/>
            </a:pPr>
            <a:r>
              <a:rPr lang="en-SG" sz="1200" dirty="0" smtClean="0"/>
              <a:t>Verbal - complaints over the telephone</a:t>
            </a:r>
          </a:p>
          <a:p>
            <a:pPr>
              <a:buFont typeface="Arial" pitchFamily="34" charset="0"/>
              <a:buChar char="•"/>
            </a:pPr>
            <a:endParaRPr lang="en-SG" sz="1200" dirty="0" smtClean="0"/>
          </a:p>
          <a:p>
            <a:pPr>
              <a:buFont typeface="Arial" pitchFamily="34" charset="0"/>
              <a:buChar char="•"/>
            </a:pPr>
            <a:r>
              <a:rPr lang="en-SG" sz="1200" dirty="0" smtClean="0"/>
              <a:t>Which is the most popular method</a:t>
            </a:r>
            <a:r>
              <a:rPr lang="en-SG" sz="1200" baseline="0" dirty="0" smtClean="0"/>
              <a:t> and why?</a:t>
            </a:r>
            <a:endParaRPr lang="en-AU" sz="1200" dirty="0" smtClean="0"/>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5046284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t>Discuss the importance</a:t>
            </a:r>
            <a:r>
              <a:rPr lang="en-AU" sz="1200" baseline="0" dirty="0" smtClean="0"/>
              <a:t> of each of these points when handling complaints</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8317168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t>Discuss the importance</a:t>
            </a:r>
            <a:r>
              <a:rPr lang="en-AU" sz="1200" baseline="0" dirty="0" smtClean="0"/>
              <a:t> of each of these points when handling complaints</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3979296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t>Discuss the importance</a:t>
            </a:r>
            <a:r>
              <a:rPr lang="en-AU" sz="1200" baseline="0" dirty="0" smtClean="0"/>
              <a:t> of each of these points when handling complaints</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7738524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t>Discuss the importance</a:t>
            </a:r>
            <a:r>
              <a:rPr lang="en-AU" sz="1200" baseline="0" dirty="0" smtClean="0"/>
              <a:t> of each of these points when handling complaints</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5904569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to generate interest in techniques used to handle customer complaints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dirty="0" smtClean="0"/>
              <a:t>Discuss the questions in the slide</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4675018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 and Role Play</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initial customer resolution steps</a:t>
            </a:r>
          </a:p>
          <a:p>
            <a:pPr>
              <a:buFont typeface="Arial" pitchFamily="34" charset="0"/>
              <a:buChar char="•"/>
            </a:pPr>
            <a:r>
              <a:rPr lang="en-AU" sz="1200" dirty="0" smtClean="0"/>
              <a:t>Trainer</a:t>
            </a:r>
            <a:r>
              <a:rPr lang="en-AU" sz="1200" baseline="0" dirty="0" smtClean="0"/>
              <a:t> may role play the scenario</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992468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 and Role Play</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initial customer resolution steps</a:t>
            </a:r>
          </a:p>
          <a:p>
            <a:pPr>
              <a:buFont typeface="Arial" pitchFamily="34" charset="0"/>
              <a:buChar char="•"/>
            </a:pPr>
            <a:r>
              <a:rPr lang="en-AU" sz="1200" dirty="0" smtClean="0"/>
              <a:t>Trainer</a:t>
            </a:r>
            <a:r>
              <a:rPr lang="en-AU" sz="1200" baseline="0" dirty="0" smtClean="0"/>
              <a:t> may role play the scenario</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5861531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and demonstration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do we communicate with each other?</a:t>
            </a:r>
          </a:p>
          <a:p>
            <a:pPr>
              <a:buFont typeface="Arial" pitchFamily="34" charset="0"/>
              <a:buChar char="•"/>
            </a:pPr>
            <a:r>
              <a:rPr lang="en-AU" sz="1200" dirty="0" smtClean="0"/>
              <a:t>Trainer</a:t>
            </a:r>
            <a:r>
              <a:rPr lang="en-AU" sz="1200" baseline="0" dirty="0" smtClean="0"/>
              <a:t> to demonstrate different communication methods</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0767760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and demonstration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examples of each type of communication?</a:t>
            </a:r>
          </a:p>
          <a:p>
            <a:pPr>
              <a:buFont typeface="Arial" pitchFamily="34" charset="0"/>
              <a:buChar char="•"/>
            </a:pPr>
            <a:r>
              <a:rPr lang="en-AU" sz="1200" b="0" kern="1200" baseline="0" dirty="0" smtClean="0">
                <a:solidFill>
                  <a:schemeClr val="tx1"/>
                </a:solidFill>
                <a:latin typeface="+mn-lt"/>
                <a:ea typeface="+mn-ea"/>
                <a:cs typeface="+mn-cs"/>
              </a:rPr>
              <a:t>Which type is more evident?</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820652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purpose of each of these communication methods?</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602955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Can you hide non-verbal communication?</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8859743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and demonstration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the use of interpersonal skills so important when handling complaints?</a:t>
            </a: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4326765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difference between hearing and listening?</a:t>
            </a:r>
          </a:p>
          <a:p>
            <a:pPr>
              <a:buFont typeface="Arial" pitchFamily="34" charset="0"/>
              <a:buChar char="•"/>
            </a:pPr>
            <a:r>
              <a:rPr lang="en-AU" sz="1200" b="0" kern="1200" baseline="0" dirty="0" smtClean="0">
                <a:solidFill>
                  <a:schemeClr val="tx1"/>
                </a:solidFill>
                <a:latin typeface="+mn-lt"/>
                <a:ea typeface="+mn-ea"/>
                <a:cs typeface="+mn-cs"/>
              </a:rPr>
              <a:t>Why should you not interrupt someone?</a:t>
            </a: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0032376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types of questions can you ask?</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2632347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Trainer asks the trainees to provide some examples of closed and open questions</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4784727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this important?</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9344815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this important?</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8169071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this important?</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21110871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writing information down</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21927833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this important?</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4190969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take out the ‘emotion’ and to identify just the facts?</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7646985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should the focus of your discussion be on?</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4327847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should the focus on your discussion be on?</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0542112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else can you keep this delicate situation positive?</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669133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this important?</a:t>
            </a:r>
          </a:p>
          <a:p>
            <a:pPr>
              <a:buFont typeface="Arial" pitchFamily="34" charset="0"/>
              <a:buChar char="•"/>
            </a:pPr>
            <a:r>
              <a:rPr lang="en-AU" sz="1200" b="0" kern="1200" baseline="0" dirty="0" smtClean="0">
                <a:solidFill>
                  <a:schemeClr val="tx1"/>
                </a:solidFill>
                <a:latin typeface="+mn-lt"/>
                <a:ea typeface="+mn-ea"/>
                <a:cs typeface="+mn-cs"/>
              </a:rPr>
              <a:t>Do you always need to apologise?</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8006215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define the nature and details of the complaint?</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1261793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Is there any other information you would like to know?</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0614456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agree on the nature of the complaint?</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7942062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1749023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else can help when trying to negotiate with a drunk person?</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94854145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Outline the benefits</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5611089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these benefits</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416931247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these benefits</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9102176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forms or records are used when recording complaint information?</a:t>
            </a:r>
          </a:p>
          <a:p>
            <a:pPr>
              <a:buFont typeface="Arial" pitchFamily="34" charset="0"/>
              <a:buChar char="•"/>
            </a:pPr>
            <a:r>
              <a:rPr lang="en-AU" sz="1200" b="0" kern="1200" baseline="0" dirty="0" smtClean="0">
                <a:solidFill>
                  <a:schemeClr val="tx1"/>
                </a:solidFill>
                <a:latin typeface="+mn-lt"/>
                <a:ea typeface="+mn-ea"/>
                <a:cs typeface="+mn-cs"/>
              </a:rPr>
              <a:t>Who keeps this information?</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7011157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Does a written record need to be completed for each and every complaint?</a:t>
            </a:r>
          </a:p>
          <a:p>
            <a:pPr>
              <a:buFont typeface="Arial" pitchFamily="34" charset="0"/>
              <a:buChar char="•"/>
            </a:pPr>
            <a:r>
              <a:rPr lang="en-AU" sz="1200" b="0" kern="1200" baseline="0" dirty="0" smtClean="0">
                <a:solidFill>
                  <a:schemeClr val="tx1"/>
                </a:solidFill>
                <a:latin typeface="+mn-lt"/>
                <a:ea typeface="+mn-ea"/>
                <a:cs typeface="+mn-cs"/>
              </a:rPr>
              <a:t>Why/why not?</a:t>
            </a:r>
          </a:p>
          <a:p>
            <a:pPr>
              <a:buFont typeface="Arial" pitchFamily="34" charset="0"/>
              <a:buNone/>
            </a:pPr>
            <a:endParaRPr lang="en-SG" sz="1200" dirty="0" smtClean="0"/>
          </a:p>
          <a:p>
            <a:pPr>
              <a:buFont typeface="Arial" pitchFamily="34" charset="0"/>
              <a:buChar char="•"/>
            </a:pPr>
            <a:endParaRPr lang="en-SG" sz="1200" dirty="0" smtClean="0"/>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33279542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Once you have received a complaint and have agreed on its nature, what is the next step?</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14197489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53181882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these points.</a:t>
            </a:r>
          </a:p>
          <a:p>
            <a:pPr>
              <a:buFont typeface="Arial" pitchFamily="34" charset="0"/>
              <a:buChar char="•"/>
            </a:pPr>
            <a:r>
              <a:rPr lang="en-AU" sz="1200" b="0" kern="1200" baseline="0" dirty="0" smtClean="0">
                <a:solidFill>
                  <a:schemeClr val="tx1"/>
                </a:solidFill>
                <a:latin typeface="+mn-lt"/>
                <a:ea typeface="+mn-ea"/>
                <a:cs typeface="+mn-cs"/>
              </a:rPr>
              <a:t>What considerations are there that will impact on how a solution is made?</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40428495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and Provide examples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difference between </a:t>
            </a:r>
            <a:r>
              <a:rPr lang="en-AU" sz="1200" b="0" dirty="0" smtClean="0"/>
              <a:t>standards, policies and procedures?</a:t>
            </a:r>
          </a:p>
          <a:p>
            <a:pPr>
              <a:buFont typeface="Arial" pitchFamily="34" charset="0"/>
              <a:buChar char="•"/>
            </a:pPr>
            <a:r>
              <a:rPr lang="en-AU" sz="1200" b="0" dirty="0" smtClean="0"/>
              <a:t>Trainer</a:t>
            </a:r>
            <a:r>
              <a:rPr lang="en-AU" sz="1200" b="0" baseline="0" dirty="0" smtClean="0"/>
              <a:t> to show examples of organisational </a:t>
            </a:r>
            <a:r>
              <a:rPr lang="en-AU" sz="1200" b="0" dirty="0" smtClean="0"/>
              <a:t>standards, policies and procedures?</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51051622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possible topics that are included in a </a:t>
            </a:r>
            <a:r>
              <a:rPr lang="en-AU" sz="1200" b="0" dirty="0" smtClean="0">
                <a:latin typeface="Helvetica" pitchFamily="34" charset="0"/>
              </a:rPr>
              <a:t>‘Code of Ethics’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69174787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how to ensure these topics can be measured or maintained?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41160672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how to ensure these topics can be measured or maintained?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1101195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examples of ‘</a:t>
            </a:r>
            <a:r>
              <a:rPr lang="en-AU" sz="1200" dirty="0" smtClean="0">
                <a:latin typeface="Helvetica" pitchFamily="34" charset="0"/>
              </a:rPr>
              <a:t>an accepted level of performance’?</a:t>
            </a:r>
          </a:p>
          <a:p>
            <a:pPr>
              <a:buFont typeface="Arial" pitchFamily="34" charset="0"/>
              <a:buChar char="•"/>
            </a:pPr>
            <a:r>
              <a:rPr lang="en-AU" sz="1200" b="0" dirty="0" smtClean="0">
                <a:latin typeface="Helvetica" pitchFamily="34" charset="0"/>
              </a:rPr>
              <a:t>Is this possible to measure?</a:t>
            </a:r>
          </a:p>
          <a:p>
            <a:pPr>
              <a:buFont typeface="Arial" pitchFamily="34" charset="0"/>
              <a:buChar char="•"/>
            </a:pPr>
            <a:r>
              <a:rPr lang="en-AU" sz="1200" b="0" dirty="0" smtClean="0">
                <a:latin typeface="Helvetica" pitchFamily="34" charset="0"/>
              </a:rPr>
              <a:t>Where</a:t>
            </a:r>
            <a:r>
              <a:rPr lang="en-AU" sz="1200" b="0" baseline="0" dirty="0" smtClean="0">
                <a:latin typeface="Helvetica" pitchFamily="34" charset="0"/>
              </a:rPr>
              <a:t> is this information held?</a:t>
            </a:r>
          </a:p>
          <a:p>
            <a:pPr>
              <a:buFont typeface="Arial" pitchFamily="34" charset="0"/>
              <a:buChar char="•"/>
            </a:pPr>
            <a:r>
              <a:rPr lang="en-AU" sz="1200" b="0" baseline="0" dirty="0" smtClean="0">
                <a:latin typeface="Helvetica" pitchFamily="34" charset="0"/>
              </a:rPr>
              <a:t>How do staff know about these standards?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36852300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examples of complaints which can be managed by:</a:t>
            </a:r>
          </a:p>
          <a:p>
            <a:pPr marL="228600" indent="-228600">
              <a:buFont typeface="Arial" pitchFamily="34" charset="0"/>
              <a:buAutoNum type="alphaLcParenR"/>
            </a:pPr>
            <a:r>
              <a:rPr lang="en-AU" sz="1200" b="0" kern="1200" baseline="0" dirty="0" smtClean="0">
                <a:solidFill>
                  <a:schemeClr val="tx1"/>
                </a:solidFill>
                <a:latin typeface="+mn-lt"/>
                <a:ea typeface="+mn-ea"/>
                <a:cs typeface="+mn-cs"/>
              </a:rPr>
              <a:t>Staff themselves?</a:t>
            </a:r>
          </a:p>
          <a:p>
            <a:pPr marL="228600" indent="-228600">
              <a:buFont typeface="Arial" pitchFamily="34" charset="0"/>
              <a:buAutoNum type="alphaLcParenR"/>
            </a:pPr>
            <a:r>
              <a:rPr lang="en-AU" sz="1200" b="0" kern="1200" baseline="0" dirty="0" smtClean="0">
                <a:solidFill>
                  <a:schemeClr val="tx1"/>
                </a:solidFill>
                <a:latin typeface="+mn-lt"/>
                <a:ea typeface="+mn-ea"/>
                <a:cs typeface="+mn-cs"/>
              </a:rPr>
              <a:t>Supervisors?</a:t>
            </a:r>
          </a:p>
          <a:p>
            <a:pPr marL="228600" indent="-228600">
              <a:buFont typeface="Arial" pitchFamily="34" charset="0"/>
              <a:buAutoNum type="alphaLcParenR"/>
            </a:pPr>
            <a:r>
              <a:rPr lang="en-AU" sz="1200" b="0" kern="1200" baseline="0" dirty="0" smtClean="0">
                <a:solidFill>
                  <a:schemeClr val="tx1"/>
                </a:solidFill>
                <a:latin typeface="+mn-lt"/>
                <a:ea typeface="+mn-ea"/>
                <a:cs typeface="+mn-cs"/>
              </a:rPr>
              <a:t>Senior Management?</a:t>
            </a:r>
          </a:p>
          <a:p>
            <a:pPr marL="228600" indent="-228600">
              <a:buFont typeface="Arial" pitchFamily="34" charset="0"/>
              <a:buAutoNum type="alphaLcParenR"/>
            </a:pPr>
            <a:endParaRPr lang="en-AU" sz="1200" b="0" kern="1200" baseline="0" dirty="0" smtClean="0">
              <a:solidFill>
                <a:schemeClr val="tx1"/>
              </a:solidFill>
              <a:latin typeface="+mn-lt"/>
              <a:ea typeface="+mn-ea"/>
              <a:cs typeface="+mn-cs"/>
            </a:endParaRPr>
          </a:p>
          <a:p>
            <a:pPr marL="228600" indent="-228600">
              <a:buFont typeface="Arial" pitchFamily="34" charset="0"/>
              <a:buNone/>
            </a:pPr>
            <a:r>
              <a:rPr lang="en-AU" sz="1200" b="0" kern="1200" baseline="0" dirty="0" smtClean="0">
                <a:solidFill>
                  <a:schemeClr val="tx1"/>
                </a:solidFill>
                <a:latin typeface="+mn-lt"/>
                <a:ea typeface="+mn-ea"/>
                <a:cs typeface="+mn-cs"/>
              </a:rPr>
              <a:t>Foe each of these positions what is included in their ‘scope of authority’ when handling complaints and taking action?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38580841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 in the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204345192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different procedural inclusions.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47422319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When are these external parties involved?</a:t>
            </a:r>
          </a:p>
          <a:p>
            <a:pPr>
              <a:buFont typeface="Arial" pitchFamily="34" charset="0"/>
              <a:buChar char="•"/>
            </a:pPr>
            <a:r>
              <a:rPr lang="en-AU" sz="1200" b="0" kern="1200" baseline="0" dirty="0" smtClean="0">
                <a:solidFill>
                  <a:schemeClr val="tx1"/>
                </a:solidFill>
                <a:latin typeface="+mn-lt"/>
                <a:ea typeface="+mn-ea"/>
                <a:cs typeface="+mn-cs"/>
              </a:rPr>
              <a:t>What types of information or documentation will they require?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41012542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 in the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140717999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collect evidence?</a:t>
            </a:r>
          </a:p>
          <a:p>
            <a:pPr>
              <a:buFont typeface="Arial" pitchFamily="34" charset="0"/>
              <a:buChar char="•"/>
            </a:pPr>
            <a:r>
              <a:rPr lang="en-AU" sz="1200" b="0" kern="1200" baseline="0" dirty="0" smtClean="0">
                <a:solidFill>
                  <a:schemeClr val="tx1"/>
                </a:solidFill>
                <a:latin typeface="+mn-lt"/>
                <a:ea typeface="+mn-ea"/>
                <a:cs typeface="+mn-cs"/>
              </a:rPr>
              <a:t>What are you looking for when collecting evidence?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05750600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the common sources of problems which lead to complaints?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22001968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the common problems or reasons for complaints stemming from each of these sources?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405180789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these causes or problems be reduced?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95480844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these causes or problems be reduced?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49418758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these causes or problems be reduced?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97993156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these causes or problems be reduced?</a:t>
            </a:r>
          </a:p>
          <a:p>
            <a:pPr>
              <a:buFont typeface="Arial" pitchFamily="34" charset="0"/>
              <a:buChar char="•"/>
            </a:pPr>
            <a:r>
              <a:rPr lang="en-AU" sz="1200" b="0" kern="1200" baseline="0" dirty="0" smtClean="0">
                <a:solidFill>
                  <a:schemeClr val="tx1"/>
                </a:solidFill>
                <a:latin typeface="+mn-lt"/>
                <a:ea typeface="+mn-ea"/>
                <a:cs typeface="+mn-cs"/>
              </a:rPr>
              <a:t>What do we do if we find out the customer himself/herself is the cause of the problem?</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145976620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access this evidence?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37108715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65184665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this information important?</a:t>
            </a:r>
          </a:p>
          <a:p>
            <a:pPr>
              <a:buFont typeface="Arial" pitchFamily="34" charset="0"/>
              <a:buChar char="•"/>
            </a:pPr>
            <a:r>
              <a:rPr lang="en-AU" sz="1200" b="0" kern="1200" baseline="0" dirty="0" smtClean="0">
                <a:solidFill>
                  <a:schemeClr val="tx1"/>
                </a:solidFill>
                <a:latin typeface="+mn-lt"/>
                <a:ea typeface="+mn-ea"/>
                <a:cs typeface="+mn-cs"/>
              </a:rPr>
              <a:t>Where should these files or information be kept?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76406147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Once you have received a complaint and have agreed on its nature, what is the next step?</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58938727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38474703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identify a range of solutions to complaints?</a:t>
            </a: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207792894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needs to be taken into consideration?</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274168063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consider these points when identifying options?</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337177352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this the easiest method?</a:t>
            </a:r>
          </a:p>
          <a:p>
            <a:pPr>
              <a:buFont typeface="Arial" pitchFamily="34" charset="0"/>
              <a:buChar char="•"/>
            </a:pPr>
            <a:r>
              <a:rPr lang="en-AU" sz="1200" b="0" kern="1200" baseline="0" dirty="0" smtClean="0">
                <a:solidFill>
                  <a:schemeClr val="tx1"/>
                </a:solidFill>
                <a:latin typeface="+mn-lt"/>
                <a:ea typeface="+mn-ea"/>
                <a:cs typeface="+mn-cs"/>
              </a:rPr>
              <a:t>How do you ask the customer?</a:t>
            </a:r>
          </a:p>
          <a:p>
            <a:pPr>
              <a:buFont typeface="Arial" pitchFamily="34" charset="0"/>
              <a:buChar char="•"/>
            </a:pPr>
            <a:r>
              <a:rPr lang="en-AU" sz="1200" b="0" kern="1200" baseline="0" dirty="0" smtClean="0">
                <a:solidFill>
                  <a:schemeClr val="tx1"/>
                </a:solidFill>
                <a:latin typeface="+mn-lt"/>
                <a:ea typeface="+mn-ea"/>
                <a:cs typeface="+mn-cs"/>
              </a:rPr>
              <a:t>What do you say if there ideas are not realistic?</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92021412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this important?</a:t>
            </a:r>
          </a:p>
          <a:p>
            <a:pPr>
              <a:buFont typeface="Arial" pitchFamily="34" charset="0"/>
              <a:buChar char="•"/>
            </a:pPr>
            <a:r>
              <a:rPr lang="en-AU" sz="1200" b="0" kern="1200" baseline="0" dirty="0" smtClean="0">
                <a:solidFill>
                  <a:schemeClr val="tx1"/>
                </a:solidFill>
                <a:latin typeface="+mn-lt"/>
                <a:ea typeface="+mn-ea"/>
                <a:cs typeface="+mn-cs"/>
              </a:rPr>
              <a:t>How should this be approached and managed?</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55191503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Who prepares these policies?</a:t>
            </a:r>
          </a:p>
          <a:p>
            <a:pPr>
              <a:buFont typeface="Arial" pitchFamily="34" charset="0"/>
              <a:buChar char="•"/>
            </a:pPr>
            <a:r>
              <a:rPr lang="en-AU" sz="1200" b="0" kern="1200" baseline="0" dirty="0" smtClean="0">
                <a:solidFill>
                  <a:schemeClr val="tx1"/>
                </a:solidFill>
                <a:latin typeface="+mn-lt"/>
                <a:ea typeface="+mn-ea"/>
                <a:cs typeface="+mn-cs"/>
              </a:rPr>
              <a:t>Where are they normally located?</a:t>
            </a:r>
          </a:p>
          <a:p>
            <a:pPr>
              <a:buFont typeface="Arial" pitchFamily="34" charset="0"/>
              <a:buChar char="•"/>
            </a:pPr>
            <a:r>
              <a:rPr lang="en-AU" sz="1200" b="0" kern="1200" baseline="0" dirty="0" smtClean="0">
                <a:solidFill>
                  <a:schemeClr val="tx1"/>
                </a:solidFill>
                <a:latin typeface="+mn-lt"/>
                <a:ea typeface="+mn-ea"/>
                <a:cs typeface="+mn-cs"/>
              </a:rPr>
              <a:t>How are staff made aware of them?</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320191622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 and Review or create policies</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benefit of having policies?</a:t>
            </a:r>
          </a:p>
          <a:p>
            <a:pPr>
              <a:buFont typeface="Arial" pitchFamily="34" charset="0"/>
              <a:buChar char="•"/>
            </a:pPr>
            <a:r>
              <a:rPr lang="en-AU" sz="1200" b="0" kern="1200" baseline="0" dirty="0" smtClean="0">
                <a:solidFill>
                  <a:schemeClr val="tx1"/>
                </a:solidFill>
                <a:latin typeface="+mn-lt"/>
                <a:ea typeface="+mn-ea"/>
                <a:cs typeface="+mn-cs"/>
              </a:rPr>
              <a:t>Trainer to show audience some policies that are used in the workplace OR get the audience to create some policies they would implement.</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89430088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For what common complaints would p</a:t>
            </a:r>
            <a:r>
              <a:rPr lang="en-AU" sz="1200" b="0" dirty="0" smtClean="0">
                <a:latin typeface="Helvetica" pitchFamily="34" charset="0"/>
              </a:rPr>
              <a:t>re-programmed decisions be established?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9915141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–Review or create p</a:t>
            </a:r>
            <a:r>
              <a:rPr lang="en-AU" sz="1200" b="1" dirty="0" smtClean="0">
                <a:latin typeface="Helvetica" pitchFamily="34" charset="0"/>
              </a:rPr>
              <a:t>re programmed decisions</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Trainer to show audience some policies that are used in the workplace OR get the audience to create their own</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347041398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–Review or create p</a:t>
            </a:r>
            <a:r>
              <a:rPr lang="en-AU" sz="1200" b="1" dirty="0" smtClean="0">
                <a:latin typeface="Helvetica" pitchFamily="34" charset="0"/>
              </a:rPr>
              <a:t>re programmed decisions</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 in the slide.</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277111382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possible solution techniques</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75899457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After discussing options, how can you reach an agreement?</a:t>
            </a:r>
          </a:p>
          <a:p>
            <a:pPr>
              <a:buFont typeface="Arial" pitchFamily="34" charset="0"/>
              <a:buChar char="•"/>
            </a:pPr>
            <a:r>
              <a:rPr lang="en-AU" sz="1200" b="0" kern="1200" baseline="0" dirty="0" smtClean="0">
                <a:solidFill>
                  <a:schemeClr val="tx1"/>
                </a:solidFill>
                <a:latin typeface="+mn-lt"/>
                <a:ea typeface="+mn-ea"/>
                <a:cs typeface="+mn-cs"/>
              </a:rPr>
              <a:t>What processes or techniques would you use?</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238499349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consider these constraints?</a:t>
            </a:r>
          </a:p>
          <a:p>
            <a:pPr>
              <a:buFont typeface="Arial" pitchFamily="34" charset="0"/>
              <a:buChar char="•"/>
            </a:pPr>
            <a:r>
              <a:rPr lang="en-AU" sz="1200" b="0" kern="1200" baseline="0" dirty="0" smtClean="0">
                <a:solidFill>
                  <a:schemeClr val="tx1"/>
                </a:solidFill>
                <a:latin typeface="+mn-lt"/>
                <a:ea typeface="+mn-ea"/>
                <a:cs typeface="+mn-cs"/>
              </a:rPr>
              <a:t>What constraints exist?</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47348607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136426186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points.</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248164442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a:t>
            </a:r>
            <a:r>
              <a:rPr lang="en-AU" sz="1200" b="0" kern="1200" baseline="0" dirty="0" smtClean="0">
                <a:solidFill>
                  <a:schemeClr val="tx1"/>
                </a:solidFill>
                <a:latin typeface="Helvetica" pitchFamily="34" charset="0"/>
                <a:ea typeface="+mn-ea"/>
                <a:cs typeface="+mn-cs"/>
              </a:rPr>
              <a:t>d</a:t>
            </a:r>
            <a:r>
              <a:rPr lang="en-AU" sz="1200" b="0" dirty="0" smtClean="0">
                <a:latin typeface="Helvetica" pitchFamily="34" charset="0"/>
              </a:rPr>
              <a:t>emonstrate a commitment to resolve the complaint?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What action would you take?</a:t>
            </a:r>
            <a:endParaRPr lang="en-GB" sz="1200" b="0" dirty="0" smtClean="0">
              <a:latin typeface="Helvetica" pitchFamily="34" charset="0"/>
            </a:endParaRPr>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154555919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If activities are delegated to another person for their follow up what should the manager do?</a:t>
            </a:r>
            <a:endParaRPr lang="en-GB" sz="1200" b="0" dirty="0" smtClean="0">
              <a:latin typeface="Helvetica" pitchFamily="34" charset="0"/>
            </a:endParaRPr>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44499059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importance of these points.</a:t>
            </a:r>
            <a:endParaRPr lang="en-GB" sz="1200" b="0" dirty="0" smtClean="0">
              <a:latin typeface="Helvetica" pitchFamily="34" charset="0"/>
            </a:endParaRPr>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4125002580"/>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importance of these points.</a:t>
            </a:r>
            <a:endParaRPr lang="en-GB" sz="1200" b="0" dirty="0" smtClean="0">
              <a:latin typeface="Helvetica" pitchFamily="34" charset="0"/>
            </a:endParaRPr>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91712634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Do all complaints need thorough investigation?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ways can you investigate complaints?</a:t>
            </a:r>
            <a:endParaRPr lang="en-GB" sz="1200" b="0" dirty="0" smtClean="0">
              <a:latin typeface="Helvetica" pitchFamily="34" charset="0"/>
            </a:endParaRPr>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91347427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 about complaints not requiring investigation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lvl="0">
              <a:buFont typeface="Arial" pitchFamily="34" charset="0"/>
              <a:buChar char="•"/>
            </a:pPr>
            <a:r>
              <a:rPr lang="en-GB" sz="1200" dirty="0" smtClean="0"/>
              <a:t>Human error – a bed sheet was dirty or meal undercooked</a:t>
            </a:r>
            <a:endParaRPr lang="en-AU" sz="1200" dirty="0" smtClean="0"/>
          </a:p>
          <a:p>
            <a:pPr lvl="0">
              <a:buFont typeface="Arial" pitchFamily="34" charset="0"/>
              <a:buChar char="•"/>
            </a:pPr>
            <a:r>
              <a:rPr lang="en-GB" sz="1200" dirty="0" smtClean="0"/>
              <a:t>Cultural or language misunderstanding – customer with limited local language ability misunderstood menu item</a:t>
            </a:r>
            <a:endParaRPr lang="en-AU" sz="1200" dirty="0" smtClean="0"/>
          </a:p>
          <a:p>
            <a:pPr lvl="0">
              <a:buFont typeface="Arial" pitchFamily="34" charset="0"/>
              <a:buChar char="•"/>
            </a:pPr>
            <a:r>
              <a:rPr lang="en-GB" sz="1200" dirty="0" smtClean="0"/>
              <a:t>Communication error - someone forgot to pass on a message</a:t>
            </a:r>
            <a:endParaRPr lang="en-AU" sz="1200" dirty="0" smtClean="0"/>
          </a:p>
          <a:p>
            <a:pPr lvl="0">
              <a:buFont typeface="Arial" pitchFamily="34" charset="0"/>
              <a:buChar char="•"/>
            </a:pPr>
            <a:r>
              <a:rPr lang="en-GB" sz="1200" dirty="0" smtClean="0"/>
              <a:t>Problem with machinery – television in room didn’t work or internet didn’t connect</a:t>
            </a:r>
            <a:endParaRPr lang="en-AU" sz="1200" dirty="0" smtClean="0"/>
          </a:p>
          <a:p>
            <a:pPr lvl="0">
              <a:buFont typeface="Arial" pitchFamily="34" charset="0"/>
              <a:buChar char="•"/>
            </a:pPr>
            <a:r>
              <a:rPr lang="en-GB" sz="1200" dirty="0" smtClean="0"/>
              <a:t>Simple procedural error – there was a delay in getting room service to a room</a:t>
            </a:r>
            <a:endParaRPr lang="en-AU" sz="1200" dirty="0" smtClean="0"/>
          </a:p>
          <a:p>
            <a:pPr lvl="0">
              <a:buFont typeface="Arial" pitchFamily="34" charset="0"/>
              <a:buChar char="•"/>
            </a:pPr>
            <a:r>
              <a:rPr lang="en-GB" sz="1200" dirty="0" smtClean="0"/>
              <a:t>Uncontrollable event – everyone checked-out at the same time causing delays</a:t>
            </a:r>
            <a:endParaRPr lang="en-AU" sz="1200" dirty="0" smtClean="0"/>
          </a:p>
          <a:p>
            <a:pPr>
              <a:buFont typeface="Arial" pitchFamily="34" charset="0"/>
              <a:buChar char="•"/>
            </a:pPr>
            <a:r>
              <a:rPr lang="en-GB" sz="1200" dirty="0" smtClean="0"/>
              <a:t>Something out of the control of the organization, like a power cut or internet was slow</a:t>
            </a:r>
            <a:endParaRPr lang="en-AU" sz="1200" b="1" dirty="0" smtClean="0"/>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67139007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 about complaints requiring investigation</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latin typeface="+mn-lt"/>
              <a:ea typeface="+mn-ea"/>
              <a:cs typeface="+mn-cs"/>
            </a:endParaRPr>
          </a:p>
          <a:p>
            <a:pPr lvl="0">
              <a:buFont typeface="Arial" pitchFamily="34" charset="0"/>
              <a:buChar char="•"/>
            </a:pPr>
            <a:r>
              <a:rPr lang="en-GB" sz="1200" kern="1200" dirty="0" smtClean="0">
                <a:solidFill>
                  <a:schemeClr val="tx1"/>
                </a:solidFill>
                <a:latin typeface="+mn-lt"/>
                <a:ea typeface="+mn-ea"/>
                <a:cs typeface="+mn-cs"/>
              </a:rPr>
              <a:t>Occur on a regular basis – delays in check-in or check-out</a:t>
            </a:r>
            <a:endParaRPr lang="en-AU" sz="1200" kern="1200" dirty="0" smtClean="0">
              <a:solidFill>
                <a:schemeClr val="tx1"/>
              </a:solidFill>
              <a:latin typeface="+mn-lt"/>
              <a:ea typeface="+mn-ea"/>
              <a:cs typeface="+mn-cs"/>
            </a:endParaRPr>
          </a:p>
          <a:p>
            <a:pPr lvl="0">
              <a:buFont typeface="Arial" pitchFamily="34" charset="0"/>
              <a:buChar char="•"/>
            </a:pPr>
            <a:r>
              <a:rPr lang="en-GB" sz="1200" kern="1200" dirty="0" smtClean="0">
                <a:solidFill>
                  <a:schemeClr val="tx1"/>
                </a:solidFill>
                <a:latin typeface="+mn-lt"/>
                <a:ea typeface="+mn-ea"/>
                <a:cs typeface="+mn-cs"/>
              </a:rPr>
              <a:t>Are of a serious nature – such as food poisoning, sexual harassment or death</a:t>
            </a:r>
            <a:endParaRPr lang="en-AU" sz="1200" kern="1200" dirty="0" smtClean="0">
              <a:solidFill>
                <a:schemeClr val="tx1"/>
              </a:solidFill>
              <a:latin typeface="+mn-lt"/>
              <a:ea typeface="+mn-ea"/>
              <a:cs typeface="+mn-cs"/>
            </a:endParaRPr>
          </a:p>
          <a:p>
            <a:pPr lvl="0">
              <a:buFont typeface="Arial" pitchFamily="34" charset="0"/>
              <a:buChar char="•"/>
            </a:pPr>
            <a:r>
              <a:rPr lang="en-GB" sz="1200" kern="1200" dirty="0" smtClean="0">
                <a:solidFill>
                  <a:schemeClr val="tx1"/>
                </a:solidFill>
                <a:latin typeface="+mn-lt"/>
                <a:ea typeface="+mn-ea"/>
                <a:cs typeface="+mn-cs"/>
              </a:rPr>
              <a:t>Can be improved – furniture and furnishings are outdated</a:t>
            </a:r>
            <a:endParaRPr lang="en-AU" sz="1200" kern="1200" dirty="0" smtClean="0">
              <a:solidFill>
                <a:schemeClr val="tx1"/>
              </a:solidFill>
              <a:latin typeface="+mn-lt"/>
              <a:ea typeface="+mn-ea"/>
              <a:cs typeface="+mn-cs"/>
            </a:endParaRPr>
          </a:p>
          <a:p>
            <a:pPr lvl="0">
              <a:buFont typeface="Arial" pitchFamily="34" charset="0"/>
              <a:buChar char="•"/>
            </a:pPr>
            <a:r>
              <a:rPr lang="en-GB" sz="1200" kern="1200" dirty="0" smtClean="0">
                <a:solidFill>
                  <a:schemeClr val="tx1"/>
                </a:solidFill>
                <a:latin typeface="+mn-lt"/>
                <a:ea typeface="+mn-ea"/>
                <a:cs typeface="+mn-cs"/>
              </a:rPr>
              <a:t>Can be solved through training.</a:t>
            </a:r>
            <a:endParaRPr lang="en-AU" sz="1200" kern="1200" dirty="0" smtClean="0">
              <a:solidFill>
                <a:schemeClr val="tx1"/>
              </a:solidFill>
              <a:latin typeface="+mn-lt"/>
              <a:ea typeface="+mn-ea"/>
              <a:cs typeface="+mn-cs"/>
            </a:endParaRPr>
          </a:p>
          <a:p>
            <a:pPr>
              <a:buFont typeface="Arial" pitchFamily="34" charset="0"/>
              <a:buChar cha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39350105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When would you refer a complaint?</a:t>
            </a:r>
          </a:p>
          <a:p>
            <a:pPr>
              <a:buFont typeface="Arial" pitchFamily="34" charset="0"/>
              <a:buChar char="•"/>
            </a:pPr>
            <a:r>
              <a:rPr lang="en-AU" sz="1200" kern="1200" baseline="0" dirty="0" smtClean="0">
                <a:solidFill>
                  <a:schemeClr val="tx1"/>
                </a:solidFill>
                <a:latin typeface="+mn-lt"/>
                <a:ea typeface="+mn-ea"/>
                <a:cs typeface="+mn-cs"/>
              </a:rPr>
              <a:t>How is this decided?</a:t>
            </a:r>
          </a:p>
          <a:p>
            <a:pPr>
              <a:buFont typeface="Arial" pitchFamily="34" charset="0"/>
              <a:buChar char="•"/>
            </a:pPr>
            <a:r>
              <a:rPr lang="en-AU" sz="1200" kern="1200" baseline="0" dirty="0" smtClean="0">
                <a:solidFill>
                  <a:schemeClr val="tx1"/>
                </a:solidFill>
                <a:latin typeface="+mn-lt"/>
                <a:ea typeface="+mn-ea"/>
                <a:cs typeface="+mn-cs"/>
              </a:rPr>
              <a:t>Who are complaints referred to?</a:t>
            </a:r>
          </a:p>
          <a:p>
            <a:pPr>
              <a:buFont typeface="Arial" pitchFamily="34" charset="0"/>
              <a:buChar char="•"/>
            </a:pPr>
            <a:r>
              <a:rPr lang="en-AU" sz="1200" kern="1200" baseline="0" dirty="0" smtClean="0">
                <a:solidFill>
                  <a:schemeClr val="tx1"/>
                </a:solidFill>
                <a:latin typeface="+mn-lt"/>
                <a:ea typeface="+mn-ea"/>
                <a:cs typeface="+mn-cs"/>
              </a:rPr>
              <a:t>What is your role once a complaint has been referred to someone else?</a:t>
            </a:r>
            <a:endParaRPr lang="en-AU" sz="1200" kern="1200" dirty="0" smtClean="0">
              <a:solidFill>
                <a:schemeClr val="tx1"/>
              </a:solidFill>
              <a:latin typeface="+mn-lt"/>
              <a:ea typeface="+mn-ea"/>
              <a:cs typeface="+mn-cs"/>
            </a:endParaRP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926659123"/>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212117410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baseline="0" dirty="0" smtClean="0">
                <a:solidFill>
                  <a:schemeClr val="tx1"/>
                </a:solidFill>
                <a:latin typeface="+mn-lt"/>
                <a:ea typeface="+mn-ea"/>
                <a:cs typeface="+mn-cs"/>
              </a:rPr>
              <a:t>Activity – 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 in the slide.</a:t>
            </a: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157680644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 about c</a:t>
            </a:r>
            <a:r>
              <a:rPr lang="en-AU" sz="1200" b="1" dirty="0" smtClean="0"/>
              <a:t>ommon complaints for referral</a:t>
            </a:r>
            <a:endParaRPr lang="en-AU" sz="1200" dirty="0" smtClean="0"/>
          </a:p>
          <a:p>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Of a serious nature – such as death, assault, theft etc.</a:t>
            </a:r>
          </a:p>
          <a:p>
            <a:pPr lvl="0">
              <a:buFont typeface="Arial" pitchFamily="34" charset="0"/>
              <a:buChar char="•"/>
            </a:pPr>
            <a:r>
              <a:rPr lang="en-AU" sz="1200" dirty="0" smtClean="0"/>
              <a:t>Where specialist skills, knowledge and equipment is needed to determine evidence such as financial statements and records from banks or security surveillance equipment</a:t>
            </a:r>
          </a:p>
          <a:p>
            <a:pPr lvl="0">
              <a:buFont typeface="Arial" pitchFamily="34" charset="0"/>
              <a:buChar char="•"/>
            </a:pPr>
            <a:r>
              <a:rPr lang="en-AU" sz="1200" dirty="0" smtClean="0"/>
              <a:t>Where criminal activity has taken place</a:t>
            </a:r>
          </a:p>
          <a:p>
            <a:pPr lvl="0">
              <a:buFont typeface="Arial" pitchFamily="34" charset="0"/>
              <a:buChar char="•"/>
            </a:pPr>
            <a:r>
              <a:rPr lang="en-AU" sz="1200" dirty="0" smtClean="0"/>
              <a:t>Where scope of authority is exceeded</a:t>
            </a: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2834770183"/>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are complaints normally referred to and why?</a:t>
            </a:r>
            <a:endParaRPr lang="en-AU" sz="1200" b="0" dirty="0" smtClean="0"/>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295739878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Who else could you refer the matter to within the company?</a:t>
            </a:r>
            <a:endParaRPr lang="en-AU" sz="1200" b="0" dirty="0" smtClean="0"/>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87720094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If an intoxicated customer gets out of control, who can you contact?</a:t>
            </a:r>
            <a:endParaRPr lang="en-AU" sz="1200" b="0" dirty="0" smtClean="0"/>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081015064"/>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Supervisor/Management – they will make or authorise courses of action to take</a:t>
            </a:r>
          </a:p>
          <a:p>
            <a:pPr lvl="0">
              <a:buFont typeface="Arial" pitchFamily="34" charset="0"/>
              <a:buChar char="•"/>
            </a:pPr>
            <a:r>
              <a:rPr lang="en-AU" sz="1200" kern="1200" dirty="0" smtClean="0">
                <a:solidFill>
                  <a:schemeClr val="tx1"/>
                </a:solidFill>
                <a:latin typeface="+mn-lt"/>
                <a:ea typeface="+mn-ea"/>
                <a:cs typeface="+mn-cs"/>
              </a:rPr>
              <a:t>Security – they will have the expertise to deal with the matter</a:t>
            </a:r>
          </a:p>
          <a:p>
            <a:pPr lvl="0">
              <a:buFont typeface="Arial" pitchFamily="34" charset="0"/>
              <a:buChar char="•"/>
            </a:pPr>
            <a:r>
              <a:rPr lang="en-AU" sz="1200" kern="1200" dirty="0" smtClean="0">
                <a:solidFill>
                  <a:schemeClr val="tx1"/>
                </a:solidFill>
                <a:latin typeface="+mn-lt"/>
                <a:ea typeface="+mn-ea"/>
                <a:cs typeface="+mn-cs"/>
              </a:rPr>
              <a:t>DJ – they have the capacity to communicate not only with different authorities but can also communicate directly to the patrons within the venue</a:t>
            </a:r>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111558652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Police – in the event of any activity that is breaking the law or likely to increase the risk of harm to all patrons and staff</a:t>
            </a:r>
          </a:p>
          <a:p>
            <a:pPr lvl="0">
              <a:buFont typeface="Arial" pitchFamily="34" charset="0"/>
              <a:buChar char="•"/>
            </a:pPr>
            <a:r>
              <a:rPr lang="en-AU" sz="1200" dirty="0" smtClean="0"/>
              <a:t>Fire – if there appears to be a likelihood of fire </a:t>
            </a:r>
          </a:p>
          <a:p>
            <a:pPr lvl="0">
              <a:buFont typeface="Arial" pitchFamily="34" charset="0"/>
              <a:buChar char="•"/>
            </a:pPr>
            <a:r>
              <a:rPr lang="en-AU" sz="1200" dirty="0" smtClean="0"/>
              <a:t>Ambulance – in the event a person requires medical assistance</a:t>
            </a:r>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2412236647"/>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Why is it important to have easy to reach numbers?</a:t>
            </a:r>
          </a:p>
          <a:p>
            <a:pPr lvl="0">
              <a:buFont typeface="Arial" pitchFamily="34" charset="0"/>
              <a:buChar char="•"/>
            </a:pPr>
            <a:r>
              <a:rPr lang="en-AU" sz="1200" dirty="0" smtClean="0"/>
              <a:t>What is the best way to contact external</a:t>
            </a:r>
            <a:r>
              <a:rPr lang="en-AU" sz="1200" baseline="0" dirty="0" smtClean="0"/>
              <a:t> people in emergency situations?</a:t>
            </a:r>
            <a:endParaRPr lang="en-AU" sz="1200" dirty="0" smtClean="0"/>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166169423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What else can you do to help ensure the person responsible for resolving the complaint</a:t>
            </a:r>
            <a:r>
              <a:rPr lang="en-AU" sz="1200" baseline="0" dirty="0" smtClean="0"/>
              <a:t> has all the information they need?</a:t>
            </a:r>
            <a:endParaRPr lang="en-AU" sz="1200" dirty="0" smtClean="0"/>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4423591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What would be discussed in a handover?</a:t>
            </a:r>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59049974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What would be discussed in a handover?</a:t>
            </a:r>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310509601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What do you do in these escalated</a:t>
            </a:r>
            <a:r>
              <a:rPr lang="en-AU" sz="1200" baseline="0" dirty="0" smtClean="0"/>
              <a:t> </a:t>
            </a:r>
            <a:r>
              <a:rPr lang="en-AU" sz="1200" dirty="0" smtClean="0"/>
              <a:t>situations?</a:t>
            </a:r>
          </a:p>
          <a:p>
            <a:pPr lvl="0">
              <a:buFont typeface="Arial" pitchFamily="34" charset="0"/>
              <a:buChar char="•"/>
            </a:pPr>
            <a:r>
              <a:rPr lang="en-AU" sz="1200" dirty="0" smtClean="0"/>
              <a:t>Who should handle these situations?</a:t>
            </a:r>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83241059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What do you do in these escalated</a:t>
            </a:r>
            <a:r>
              <a:rPr lang="en-AU" sz="1200" baseline="0" dirty="0" smtClean="0"/>
              <a:t> </a:t>
            </a:r>
            <a:r>
              <a:rPr lang="en-AU" sz="1200" dirty="0" smtClean="0"/>
              <a:t>situations?</a:t>
            </a:r>
          </a:p>
          <a:p>
            <a:pPr lvl="0">
              <a:buFont typeface="Arial" pitchFamily="34" charset="0"/>
              <a:buChar char="•"/>
            </a:pPr>
            <a:r>
              <a:rPr lang="en-AU" sz="1200" dirty="0" smtClean="0"/>
              <a:t>Who should handle these situations?</a:t>
            </a:r>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99179835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Activity – 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the importance of why a customer</a:t>
            </a:r>
            <a:r>
              <a:rPr lang="en-AU" sz="1200" baseline="0" dirty="0" smtClean="0"/>
              <a:t> complaining</a:t>
            </a:r>
            <a:r>
              <a:rPr lang="en-AU" sz="1200" dirty="0" smtClean="0"/>
              <a:t> can be seen as a positive interaction.</a:t>
            </a:r>
          </a:p>
          <a:p>
            <a:endParaRPr lang="en-AU" sz="1200" b="1" kern="1200" baseline="0" dirty="0" smtClean="0">
              <a:solidFill>
                <a:schemeClr val="tx1"/>
              </a:solidFill>
              <a:latin typeface="+mn-lt"/>
              <a:ea typeface="+mn-ea"/>
              <a:cs typeface="+mn-cs"/>
            </a:endParaRP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1813210606"/>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Trainer to give trainees time to undertake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spcBef>
                <a:spcPts val="600"/>
              </a:spcBef>
              <a:spcAft>
                <a:spcPts val="1200"/>
              </a:spcAft>
            </a:pP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u="non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2473130148"/>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This</a:t>
            </a:r>
            <a:r>
              <a:rPr lang="en-AU" sz="1200" b="1" kern="1200" baseline="0" dirty="0" smtClean="0">
                <a:solidFill>
                  <a:schemeClr val="tx1"/>
                </a:solidFill>
                <a:latin typeface="+mn-lt"/>
                <a:ea typeface="+mn-ea"/>
                <a:cs typeface="+mn-cs"/>
              </a:rPr>
              <a:t> is the conclusion of the subject.</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Thank the trainees and deliver assessments as required.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3178825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4/7/2015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4/7/2015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4/7/2015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4/7/2015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4/7/2015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javascript:void(0)"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7.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0.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4.xml"/><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476672"/>
            <a:ext cx="7704184" cy="1285884"/>
          </a:xfrm>
        </p:spPr>
        <p:txBody>
          <a:bodyPr>
            <a:normAutofit fontScale="90000"/>
          </a:bodyPr>
          <a:lstStyle/>
          <a:p>
            <a:r>
              <a:rPr lang="en-AU" sz="4000" dirty="0" smtClean="0">
                <a:ln w="5000" cmpd="sng">
                  <a:noFill/>
                  <a:prstDash val="solid"/>
                </a:ln>
                <a:solidFill>
                  <a:srgbClr val="FF6600"/>
                </a:solidFill>
                <a:latin typeface="Helvetica" pitchFamily="34" charset="0"/>
              </a:rPr>
              <a:t>RECEIVE AND RESOLVE CUSTOMER COMPLAINTS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436096" y="1700808"/>
            <a:ext cx="2901308" cy="793798"/>
          </a:xfrm>
        </p:spPr>
        <p:txBody>
          <a:bodyPr>
            <a:normAutofit/>
          </a:bodyPr>
          <a:lstStyle/>
          <a:p>
            <a:r>
              <a:rPr lang="en-AU" sz="2400" b="1" dirty="0" smtClean="0">
                <a:latin typeface="Helvetica" pitchFamily="34" charset="0"/>
              </a:rPr>
              <a:t>D1.HRS.CL1.15</a:t>
            </a:r>
            <a:endParaRPr lang="en-US" sz="24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a:t>
            </a:fld>
            <a:endParaRPr lang="en-US" dirty="0">
              <a:latin typeface="Helvetica" pitchFamily="34" charset="0"/>
            </a:endParaRPr>
          </a:p>
        </p:txBody>
      </p:sp>
      <p:pic>
        <p:nvPicPr>
          <p:cNvPr id="8" name="Picture 7" descr="Front Cover - Food and Beverage.jpg"/>
          <p:cNvPicPr>
            <a:picLocks noChangeAspect="1"/>
          </p:cNvPicPr>
          <p:nvPr/>
        </p:nvPicPr>
        <p:blipFill>
          <a:blip r:embed="rId3" cstate="print"/>
          <a:stretch>
            <a:fillRect/>
          </a:stretch>
        </p:blipFill>
        <p:spPr>
          <a:xfrm>
            <a:off x="755576" y="1988840"/>
            <a:ext cx="5216015" cy="4284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112568"/>
          </a:xfrm>
        </p:spPr>
        <p:txBody>
          <a:bodyPr>
            <a:normAutofit/>
          </a:bodyPr>
          <a:lstStyle/>
          <a:p>
            <a:pPr marL="0" indent="0">
              <a:spcBef>
                <a:spcPts val="600"/>
              </a:spcBef>
              <a:spcAft>
                <a:spcPts val="1200"/>
              </a:spcAft>
              <a:buNone/>
            </a:pPr>
            <a:r>
              <a:rPr lang="en-US" sz="2200" dirty="0" smtClean="0">
                <a:latin typeface="Helvetica" pitchFamily="34" charset="0"/>
              </a:rPr>
              <a:t>This unit comprises four Elements:</a:t>
            </a:r>
          </a:p>
          <a:p>
            <a:pPr lvl="0">
              <a:spcBef>
                <a:spcPts val="600"/>
              </a:spcBef>
              <a:spcAft>
                <a:spcPts val="1200"/>
              </a:spcAft>
            </a:pPr>
            <a:r>
              <a:rPr lang="en-AU" sz="2200" dirty="0" smtClean="0">
                <a:latin typeface="Helvetica" pitchFamily="34" charset="0"/>
              </a:rPr>
              <a:t>Identify and analyse the complaint </a:t>
            </a:r>
          </a:p>
          <a:p>
            <a:pPr>
              <a:spcBef>
                <a:spcPts val="600"/>
              </a:spcBef>
              <a:spcAft>
                <a:spcPts val="1200"/>
              </a:spcAft>
            </a:pPr>
            <a:r>
              <a:rPr lang="en-AU" sz="2200" dirty="0" smtClean="0">
                <a:latin typeface="Helvetica" pitchFamily="34" charset="0"/>
              </a:rPr>
              <a:t>Respond to complaints</a:t>
            </a:r>
          </a:p>
          <a:p>
            <a:pPr lvl="0">
              <a:spcBef>
                <a:spcPts val="600"/>
              </a:spcBef>
              <a:spcAft>
                <a:spcPts val="1200"/>
              </a:spcAft>
            </a:pPr>
            <a:r>
              <a:rPr lang="en-AU" sz="2200" dirty="0" smtClean="0">
                <a:latin typeface="Helvetica" pitchFamily="34" charset="0"/>
              </a:rPr>
              <a:t>Determine and agree upon appropriate </a:t>
            </a:r>
            <a:br>
              <a:rPr lang="en-AU" sz="2200" dirty="0" smtClean="0">
                <a:latin typeface="Helvetica" pitchFamily="34" charset="0"/>
              </a:rPr>
            </a:br>
            <a:r>
              <a:rPr lang="en-AU" sz="2200" dirty="0" smtClean="0">
                <a:latin typeface="Helvetica" pitchFamily="34" charset="0"/>
              </a:rPr>
              <a:t>action to resolve complaint</a:t>
            </a:r>
          </a:p>
          <a:p>
            <a:pPr lvl="0">
              <a:spcBef>
                <a:spcPts val="600"/>
              </a:spcBef>
              <a:spcAft>
                <a:spcPts val="1200"/>
              </a:spcAft>
            </a:pPr>
            <a:r>
              <a:rPr lang="en-AU" sz="2200" dirty="0" smtClean="0">
                <a:latin typeface="Helvetica" pitchFamily="34" charset="0"/>
              </a:rPr>
              <a:t>Refer complaints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7" name="Picture 6" descr="MB900386364.JPG"/>
          <p:cNvPicPr>
            <a:picLocks noChangeAspect="1"/>
          </p:cNvPicPr>
          <p:nvPr/>
        </p:nvPicPr>
        <p:blipFill>
          <a:blip r:embed="rId3" cstate="print"/>
          <a:srcRect l="14815" r="18518"/>
          <a:stretch>
            <a:fillRect/>
          </a:stretch>
        </p:blipFill>
        <p:spPr>
          <a:xfrm>
            <a:off x="7020272" y="3140968"/>
            <a:ext cx="1296144" cy="194421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Assessment for this unit may include:</a:t>
            </a:r>
          </a:p>
          <a:p>
            <a:pPr marL="360000" indent="-360000">
              <a:spcBef>
                <a:spcPts val="600"/>
              </a:spcBef>
              <a:spcAft>
                <a:spcPts val="1200"/>
              </a:spcAft>
            </a:pPr>
            <a:r>
              <a:rPr lang="en-US" sz="2200" dirty="0" smtClean="0">
                <a:latin typeface="Helvetica" pitchFamily="34" charset="0"/>
              </a:rPr>
              <a:t>Oral questions</a:t>
            </a:r>
          </a:p>
          <a:p>
            <a:pPr marL="360000" indent="-360000">
              <a:spcBef>
                <a:spcPts val="600"/>
              </a:spcBef>
              <a:spcAft>
                <a:spcPts val="1200"/>
              </a:spcAft>
            </a:pPr>
            <a:r>
              <a:rPr lang="en-US" sz="2200" dirty="0" smtClean="0">
                <a:latin typeface="Helvetica" pitchFamily="34" charset="0"/>
              </a:rPr>
              <a:t>Written questions</a:t>
            </a:r>
          </a:p>
          <a:p>
            <a:pPr marL="360000" indent="-360000">
              <a:spcBef>
                <a:spcPts val="600"/>
              </a:spcBef>
              <a:spcAft>
                <a:spcPts val="1200"/>
              </a:spcAft>
            </a:pPr>
            <a:r>
              <a:rPr lang="en-US" sz="2200" dirty="0" smtClean="0">
                <a:latin typeface="Helvetica" pitchFamily="34" charset="0"/>
              </a:rPr>
              <a:t>Work projects</a:t>
            </a:r>
          </a:p>
          <a:p>
            <a:pPr marL="360000" indent="-360000">
              <a:spcBef>
                <a:spcPts val="600"/>
              </a:spcBef>
              <a:spcAft>
                <a:spcPts val="1200"/>
              </a:spcAft>
            </a:pPr>
            <a:r>
              <a:rPr lang="en-US" sz="2200" dirty="0" smtClean="0">
                <a:latin typeface="Helvetica" pitchFamily="34" charset="0"/>
              </a:rPr>
              <a:t>Workplace observation of practical skills</a:t>
            </a:r>
          </a:p>
          <a:p>
            <a:pPr marL="360000" indent="-360000">
              <a:spcBef>
                <a:spcPts val="600"/>
              </a:spcBef>
              <a:spcAft>
                <a:spcPts val="1200"/>
              </a:spcAft>
            </a:pPr>
            <a:r>
              <a:rPr lang="en-US" sz="2200" dirty="0" smtClean="0">
                <a:latin typeface="Helvetica" pitchFamily="34" charset="0"/>
              </a:rPr>
              <a:t>Practical exercises</a:t>
            </a:r>
          </a:p>
          <a:p>
            <a:pPr marL="360000" indent="-360000">
              <a:spcBef>
                <a:spcPts val="600"/>
              </a:spcBef>
              <a:spcAft>
                <a:spcPts val="1200"/>
              </a:spcAft>
            </a:pPr>
            <a:r>
              <a:rPr lang="en-US" sz="2200" dirty="0" smtClean="0">
                <a:latin typeface="Helvetica" pitchFamily="34" charset="0"/>
              </a:rPr>
              <a:t>Formal report from 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6" name="Picture 5" descr="698.jpg"/>
          <p:cNvPicPr>
            <a:picLocks noChangeAspect="1"/>
          </p:cNvPicPr>
          <p:nvPr/>
        </p:nvPicPr>
        <p:blipFill>
          <a:blip r:embed="rId3" cstate="print"/>
          <a:stretch>
            <a:fillRect/>
          </a:stretch>
        </p:blipFill>
        <p:spPr>
          <a:xfrm>
            <a:off x="4860032" y="1772816"/>
            <a:ext cx="3203848" cy="153198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shutterstock_105269162.jpg"/>
          <p:cNvPicPr>
            <a:picLocks noGrp="1" noChangeAspect="1"/>
          </p:cNvPicPr>
          <p:nvPr>
            <p:ph type="pic" idx="1"/>
          </p:nvPr>
        </p:nvPicPr>
        <p:blipFill>
          <a:blip r:embed="rId3" cstate="print"/>
          <a:srcRect t="1550" b="1550"/>
          <a:stretch>
            <a:fillRect/>
          </a:stretch>
        </p:blipFill>
        <p:spPr>
          <a:xfrm>
            <a:off x="971968" y="1413144"/>
            <a:ext cx="3312000" cy="3312000"/>
          </a:xfrm>
        </p:spPr>
      </p:pic>
      <p:sp>
        <p:nvSpPr>
          <p:cNvPr id="5" name="Slide Number Placeholder 4"/>
          <p:cNvSpPr>
            <a:spLocks noGrp="1"/>
          </p:cNvSpPr>
          <p:nvPr>
            <p:ph type="sldNum" sz="quarter" idx="12"/>
          </p:nvPr>
        </p:nvSpPr>
        <p:spPr/>
        <p:txBody>
          <a:bodyPr/>
          <a:lstStyle/>
          <a:p>
            <a:r>
              <a:rPr lang="en-US" dirty="0" smtClean="0">
                <a:latin typeface="Helvetica" pitchFamily="34" charset="0"/>
              </a:rPr>
              <a:t> Slide </a:t>
            </a:r>
            <a:fld id="{90BDF71C-F485-43AE-8825-5070AF1EA8C9}" type="slidenum">
              <a:rPr lang="en-US" smtClean="0">
                <a:latin typeface="Helvetica" pitchFamily="34" charset="0"/>
              </a:rPr>
              <a:pPr/>
              <a:t>4</a:t>
            </a:fld>
            <a:endParaRPr lang="en-US" dirty="0">
              <a:latin typeface="Helvetica" pitchFamily="34" charset="0"/>
            </a:endParaRPr>
          </a:p>
        </p:txBody>
      </p:sp>
      <p:sp>
        <p:nvSpPr>
          <p:cNvPr id="7" name="Content Placeholder 2"/>
          <p:cNvSpPr>
            <a:spLocks noGrp="1"/>
          </p:cNvSpPr>
          <p:nvPr>
            <p:ph type="body" sz="half" idx="2"/>
          </p:nvPr>
        </p:nvSpPr>
        <p:spPr>
          <a:xfrm>
            <a:off x="4427984" y="2204864"/>
            <a:ext cx="4032448" cy="1728192"/>
          </a:xfrm>
        </p:spPr>
        <p:txBody>
          <a:bodyPr>
            <a:normAutofit/>
          </a:bodyPr>
          <a:lstStyle/>
          <a:p>
            <a:pPr>
              <a:spcBef>
                <a:spcPts val="600"/>
              </a:spcBef>
              <a:spcAft>
                <a:spcPts val="1200"/>
              </a:spcAft>
            </a:pPr>
            <a:r>
              <a:rPr lang="en-AU" sz="3200" b="1" dirty="0" smtClean="0">
                <a:solidFill>
                  <a:srgbClr val="FF6600"/>
                </a:solidFill>
                <a:latin typeface="Helvetica" pitchFamily="34" charset="0"/>
              </a:rPr>
              <a:t>Element 1:</a:t>
            </a:r>
            <a:br>
              <a:rPr lang="en-AU" sz="3200" b="1" dirty="0" smtClean="0">
                <a:solidFill>
                  <a:srgbClr val="FF6600"/>
                </a:solidFill>
                <a:latin typeface="Helvetica" pitchFamily="34" charset="0"/>
              </a:rPr>
            </a:br>
            <a:r>
              <a:rPr lang="en-AU" sz="3200" b="1" i="1" dirty="0" smtClean="0">
                <a:solidFill>
                  <a:srgbClr val="FF6600"/>
                </a:solidFill>
                <a:latin typeface="Helvetica" pitchFamily="34" charset="0"/>
              </a:rPr>
              <a:t>Identify and analyse the complaint </a:t>
            </a:r>
            <a:endParaRPr lang="en-AU" sz="4000" i="1" dirty="0" smtClean="0">
              <a:solidFill>
                <a:srgbClr val="FF6600"/>
              </a:solidFill>
              <a:latin typeface="Helvetica" pitchFamily="34" charset="0"/>
            </a:endParaRPr>
          </a:p>
          <a:p>
            <a:pPr>
              <a:buNone/>
            </a:pPr>
            <a:endParaRPr lang="en-AU" sz="4000" dirty="0" smtClean="0">
              <a:solidFill>
                <a:srgbClr val="FF6600"/>
              </a:solidFill>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Identify and analyse the complaint </a:t>
            </a: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Receive and accurately record a verbal complaint using active listening and empathy techniques</a:t>
            </a:r>
          </a:p>
          <a:p>
            <a:pPr>
              <a:spcBef>
                <a:spcPts val="600"/>
              </a:spcBef>
              <a:spcAft>
                <a:spcPts val="1200"/>
              </a:spcAft>
            </a:pPr>
            <a:r>
              <a:rPr lang="en-AU" sz="2200" dirty="0" smtClean="0">
                <a:latin typeface="Helvetica" pitchFamily="34" charset="0"/>
              </a:rPr>
              <a:t>Identify through appropriate communication techniques the exact nature of the customer’s complaint</a:t>
            </a:r>
          </a:p>
          <a:p>
            <a:pPr>
              <a:spcBef>
                <a:spcPts val="600"/>
              </a:spcBef>
              <a:spcAft>
                <a:spcPts val="1200"/>
              </a:spcAft>
            </a:pPr>
            <a:r>
              <a:rPr lang="en-AU" sz="2200" dirty="0" smtClean="0">
                <a:latin typeface="Helvetica" pitchFamily="34" charset="0"/>
              </a:rPr>
              <a:t>Maintain register or complaint file/s in                     accordance with the requirements of the                  enterprise’s information system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7" name="Picture 6" descr="MB900386333.JPG"/>
          <p:cNvPicPr>
            <a:picLocks noChangeAspect="1"/>
          </p:cNvPicPr>
          <p:nvPr/>
        </p:nvPicPr>
        <p:blipFill>
          <a:blip r:embed="rId3" cstate="print"/>
          <a:srcRect l="17521" r="17522" b="2564"/>
          <a:stretch>
            <a:fillRect/>
          </a:stretch>
        </p:blipFill>
        <p:spPr>
          <a:xfrm>
            <a:off x="7092280" y="3284984"/>
            <a:ext cx="1344149" cy="2016224"/>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Complaints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indent="0">
              <a:spcBef>
                <a:spcPts val="600"/>
              </a:spcBef>
              <a:spcAft>
                <a:spcPts val="1200"/>
              </a:spcAft>
              <a:buNone/>
            </a:pPr>
            <a:r>
              <a:rPr lang="en-AU" sz="2200" dirty="0" smtClean="0">
                <a:latin typeface="Helvetica" pitchFamily="34" charset="0"/>
              </a:rPr>
              <a:t>Regardless of how well a business operates, problems will occur. </a:t>
            </a:r>
          </a:p>
          <a:p>
            <a:pPr marL="0" indent="0">
              <a:spcBef>
                <a:spcPts val="600"/>
              </a:spcBef>
              <a:spcAft>
                <a:spcPts val="1200"/>
              </a:spcAft>
              <a:buNone/>
            </a:pPr>
            <a:r>
              <a:rPr lang="en-AU" sz="2200" dirty="0" smtClean="0">
                <a:latin typeface="Helvetica" pitchFamily="34" charset="0"/>
              </a:rPr>
              <a:t>When problems occur, complaints are the common outcome that needs to be addressed:</a:t>
            </a:r>
          </a:p>
          <a:p>
            <a:pPr marL="360000" indent="-360000">
              <a:spcBef>
                <a:spcPts val="600"/>
              </a:spcBef>
              <a:spcAft>
                <a:spcPts val="1200"/>
              </a:spcAft>
            </a:pPr>
            <a:r>
              <a:rPr lang="en-AU" sz="2200" dirty="0" smtClean="0">
                <a:latin typeface="Helvetica" pitchFamily="34" charset="0"/>
              </a:rPr>
              <a:t>Who is normally the cause of problems?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MP900443013[1].JPG"/>
          <p:cNvPicPr/>
          <p:nvPr/>
        </p:nvPicPr>
        <p:blipFill>
          <a:blip r:embed="rId3" cstate="print"/>
          <a:stretch>
            <a:fillRect/>
          </a:stretch>
        </p:blipFill>
        <p:spPr>
          <a:xfrm>
            <a:off x="6372200" y="3789040"/>
            <a:ext cx="2039094" cy="135939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US" sz="3400" b="1" dirty="0" smtClean="0">
                <a:solidFill>
                  <a:srgbClr val="FF6600"/>
                </a:solidFill>
                <a:latin typeface="Helvetica" pitchFamily="34" charset="0"/>
              </a:rPr>
              <a:t>Complaints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indent="0">
              <a:spcBef>
                <a:spcPts val="600"/>
              </a:spcBef>
              <a:spcAft>
                <a:spcPts val="1200"/>
              </a:spcAft>
              <a:buNone/>
            </a:pPr>
            <a:r>
              <a:rPr lang="en-AU" sz="2200" dirty="0" smtClean="0">
                <a:latin typeface="Helvetica" pitchFamily="34" charset="0"/>
              </a:rPr>
              <a:t>Regardless of the complaint they must be:</a:t>
            </a:r>
          </a:p>
          <a:p>
            <a:pPr marL="360000" indent="-360000">
              <a:spcBef>
                <a:spcPts val="600"/>
              </a:spcBef>
              <a:spcAft>
                <a:spcPts val="1200"/>
              </a:spcAft>
            </a:pPr>
            <a:r>
              <a:rPr lang="en-AU" sz="2200" dirty="0" smtClean="0">
                <a:latin typeface="Helvetica" pitchFamily="34" charset="0"/>
              </a:rPr>
              <a:t>Identified</a:t>
            </a:r>
          </a:p>
          <a:p>
            <a:pPr marL="360000" indent="-360000">
              <a:spcBef>
                <a:spcPts val="600"/>
              </a:spcBef>
              <a:spcAft>
                <a:spcPts val="1200"/>
              </a:spcAft>
            </a:pPr>
            <a:r>
              <a:rPr lang="en-AU" sz="2200" dirty="0" smtClean="0">
                <a:latin typeface="Helvetica" pitchFamily="34" charset="0"/>
              </a:rPr>
              <a:t>Addressed in a timely manner</a:t>
            </a:r>
          </a:p>
          <a:p>
            <a:pPr marL="360000" indent="-360000">
              <a:spcBef>
                <a:spcPts val="600"/>
              </a:spcBef>
              <a:spcAft>
                <a:spcPts val="1200"/>
              </a:spcAft>
            </a:pPr>
            <a:r>
              <a:rPr lang="en-AU" sz="2200" dirty="0" smtClean="0">
                <a:latin typeface="Helvetica" pitchFamily="34" charset="0"/>
              </a:rPr>
              <a:t>Resolved hopefully to the satisfaction of both the organisation and customer</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MB900316809.JPG"/>
          <p:cNvPicPr>
            <a:picLocks noChangeAspect="1"/>
          </p:cNvPicPr>
          <p:nvPr/>
        </p:nvPicPr>
        <p:blipFill>
          <a:blip r:embed="rId3" cstate="print"/>
          <a:srcRect t="16246" b="18768"/>
          <a:stretch>
            <a:fillRect/>
          </a:stretch>
        </p:blipFill>
        <p:spPr>
          <a:xfrm>
            <a:off x="6228184" y="3789040"/>
            <a:ext cx="2138863" cy="138994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Complaints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dirty="0" smtClean="0">
                <a:latin typeface="Helvetica" pitchFamily="34" charset="0"/>
              </a:rPr>
              <a:t>Quite often complaints arise when the customer’s:</a:t>
            </a:r>
          </a:p>
          <a:p>
            <a:pPr>
              <a:spcBef>
                <a:spcPts val="600"/>
              </a:spcBef>
              <a:spcAft>
                <a:spcPts val="1200"/>
              </a:spcAft>
            </a:pPr>
            <a:r>
              <a:rPr lang="en-AU" sz="2200" dirty="0" smtClean="0">
                <a:latin typeface="Helvetica" pitchFamily="34" charset="0"/>
              </a:rPr>
              <a:t>Needs</a:t>
            </a:r>
          </a:p>
          <a:p>
            <a:pPr>
              <a:spcBef>
                <a:spcPts val="600"/>
              </a:spcBef>
              <a:spcAft>
                <a:spcPts val="1200"/>
              </a:spcAft>
            </a:pPr>
            <a:r>
              <a:rPr lang="en-AU" sz="2200" dirty="0" smtClean="0">
                <a:latin typeface="Helvetica" pitchFamily="34" charset="0"/>
              </a:rPr>
              <a:t>Wishes </a:t>
            </a:r>
          </a:p>
          <a:p>
            <a:pPr>
              <a:spcBef>
                <a:spcPts val="600"/>
              </a:spcBef>
              <a:spcAft>
                <a:spcPts val="1200"/>
              </a:spcAft>
            </a:pPr>
            <a:r>
              <a:rPr lang="en-AU" sz="2200" dirty="0" smtClean="0">
                <a:latin typeface="Helvetica" pitchFamily="34" charset="0"/>
              </a:rPr>
              <a:t>Expectations </a:t>
            </a:r>
          </a:p>
          <a:p>
            <a:pPr>
              <a:spcBef>
                <a:spcPts val="600"/>
              </a:spcBef>
              <a:spcAft>
                <a:spcPts val="1200"/>
              </a:spcAft>
              <a:buNone/>
            </a:pPr>
            <a:r>
              <a:rPr lang="en-AU" sz="2200" dirty="0" smtClean="0">
                <a:latin typeface="Helvetica" pitchFamily="34" charset="0"/>
              </a:rPr>
              <a:t>are not met!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6" name="Picture 5" descr="MP900422224[1].JPG"/>
          <p:cNvPicPr>
            <a:picLocks noChangeAspect="1"/>
          </p:cNvPicPr>
          <p:nvPr/>
        </p:nvPicPr>
        <p:blipFill>
          <a:blip r:embed="rId3" cstate="print"/>
          <a:stretch>
            <a:fillRect/>
          </a:stretch>
        </p:blipFill>
        <p:spPr>
          <a:xfrm>
            <a:off x="6948334" y="3140968"/>
            <a:ext cx="1422599" cy="213285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GB" sz="3400" b="1" dirty="0" smtClean="0">
                <a:solidFill>
                  <a:srgbClr val="FF6600"/>
                </a:solidFill>
                <a:latin typeface="Helvetica" pitchFamily="34" charset="0"/>
              </a:rPr>
              <a:t>Customer needs, wishes and expectations </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229200"/>
          </a:xfrm>
        </p:spPr>
        <p:txBody>
          <a:bodyPr>
            <a:normAutofit/>
          </a:bodyPr>
          <a:lstStyle/>
          <a:p>
            <a:pPr>
              <a:spcBef>
                <a:spcPts val="600"/>
              </a:spcBef>
              <a:spcAft>
                <a:spcPts val="1200"/>
              </a:spcAft>
            </a:pPr>
            <a:r>
              <a:rPr lang="en-AU" sz="2200" dirty="0" smtClean="0">
                <a:latin typeface="Helvetica" pitchFamily="34" charset="0"/>
              </a:rPr>
              <a:t>Common problems in relation to customer service revolve around the concepts of customer needs, wishes and expectations</a:t>
            </a:r>
          </a:p>
          <a:p>
            <a:pPr>
              <a:spcBef>
                <a:spcPts val="600"/>
              </a:spcBef>
              <a:spcAft>
                <a:spcPts val="1200"/>
              </a:spcAft>
            </a:pPr>
            <a:r>
              <a:rPr lang="en-AU" sz="2200" dirty="0" smtClean="0">
                <a:latin typeface="Helvetica" pitchFamily="34" charset="0"/>
              </a:rPr>
              <a:t>Customer service centres around an organisation’s ability to meet or exceed customer needs, wishes and expectations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7" name="Picture 6" descr="MP900422132[1].JPG"/>
          <p:cNvPicPr>
            <a:picLocks noChangeAspect="1"/>
          </p:cNvPicPr>
          <p:nvPr/>
        </p:nvPicPr>
        <p:blipFill>
          <a:blip r:embed="rId3" cstate="print"/>
          <a:stretch>
            <a:fillRect/>
          </a:stretch>
        </p:blipFill>
        <p:spPr>
          <a:xfrm>
            <a:off x="6156176" y="3789040"/>
            <a:ext cx="2267744" cy="151123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Needs</a:t>
            </a:r>
            <a:endParaRPr lang="en-AU" sz="2200" dirty="0" smtClean="0">
              <a:latin typeface="Helvetica" pitchFamily="34" charset="0"/>
            </a:endParaRPr>
          </a:p>
          <a:p>
            <a:pPr marL="0">
              <a:spcBef>
                <a:spcPts val="600"/>
              </a:spcBef>
              <a:spcAft>
                <a:spcPts val="1200"/>
              </a:spcAft>
              <a:buNone/>
            </a:pPr>
            <a:r>
              <a:rPr lang="en-GB" sz="2200" dirty="0" smtClean="0">
                <a:latin typeface="Helvetica" pitchFamily="34" charset="0"/>
              </a:rPr>
              <a:t>These underlie wishes and expectations and are the things customers are unable to do without. </a:t>
            </a:r>
          </a:p>
          <a:p>
            <a:pPr marL="0">
              <a:spcBef>
                <a:spcPts val="600"/>
              </a:spcBef>
              <a:spcAft>
                <a:spcPts val="1200"/>
              </a:spcAft>
              <a:buNone/>
            </a:pPr>
            <a:r>
              <a:rPr lang="en-GB" sz="2200" dirty="0" smtClean="0">
                <a:latin typeface="Helvetica" pitchFamily="34" charset="0"/>
              </a:rPr>
              <a:t>They may be in a foreign town and simply cannot do without:</a:t>
            </a:r>
          </a:p>
          <a:p>
            <a:pPr>
              <a:spcBef>
                <a:spcPts val="600"/>
              </a:spcBef>
              <a:spcAft>
                <a:spcPts val="1200"/>
              </a:spcAft>
            </a:pPr>
            <a:r>
              <a:rPr lang="en-GB" sz="2200" dirty="0" smtClean="0">
                <a:latin typeface="Helvetica" pitchFamily="34" charset="0"/>
              </a:rPr>
              <a:t>A bed for the night</a:t>
            </a:r>
          </a:p>
          <a:p>
            <a:pPr>
              <a:spcBef>
                <a:spcPts val="600"/>
              </a:spcBef>
              <a:spcAft>
                <a:spcPts val="1200"/>
              </a:spcAft>
            </a:pPr>
            <a:r>
              <a:rPr lang="en-GB" sz="2200" dirty="0" smtClean="0">
                <a:latin typeface="Helvetica" pitchFamily="34" charset="0"/>
              </a:rPr>
              <a:t>A meal or beverage</a:t>
            </a:r>
          </a:p>
          <a:p>
            <a:pPr>
              <a:spcBef>
                <a:spcPts val="600"/>
              </a:spcBef>
              <a:spcAft>
                <a:spcPts val="1200"/>
              </a:spcAft>
            </a:pPr>
            <a:r>
              <a:rPr lang="en-GB" sz="2200" dirty="0" smtClean="0">
                <a:latin typeface="Helvetica" pitchFamily="34" charset="0"/>
              </a:rPr>
              <a:t>A clean and hygienic environment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descr="MP900408908[1].JPG"/>
          <p:cNvPicPr/>
          <p:nvPr/>
        </p:nvPicPr>
        <p:blipFill>
          <a:blip r:embed="rId3" cstate="print"/>
          <a:stretch>
            <a:fillRect/>
          </a:stretch>
        </p:blipFill>
        <p:spPr>
          <a:xfrm>
            <a:off x="6300192" y="3717032"/>
            <a:ext cx="2064177" cy="159447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Generic customer needs</a:t>
            </a:r>
            <a:endParaRPr lang="en-AU" sz="2200" b="1" dirty="0" smtClean="0">
              <a:latin typeface="Helvetica" pitchFamily="34" charset="0"/>
            </a:endParaRPr>
          </a:p>
          <a:p>
            <a:pPr marL="0">
              <a:spcBef>
                <a:spcPts val="600"/>
              </a:spcBef>
              <a:spcAft>
                <a:spcPts val="1200"/>
              </a:spcAft>
              <a:buNone/>
            </a:pPr>
            <a:r>
              <a:rPr lang="en-GB" sz="2200" dirty="0" smtClean="0">
                <a:latin typeface="Helvetica" pitchFamily="34" charset="0"/>
              </a:rPr>
              <a:t>Whilst all the organisation’s customers have their own individual needs, there are a number of generic or common needs that staff must address when providing quality customer service.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7" name="Picture 6" descr="MP900408868[1].JPG"/>
          <p:cNvPicPr>
            <a:picLocks noChangeAspect="1"/>
          </p:cNvPicPr>
          <p:nvPr/>
        </p:nvPicPr>
        <p:blipFill>
          <a:blip r:embed="rId3" cstate="print"/>
          <a:stretch>
            <a:fillRect/>
          </a:stretch>
        </p:blipFill>
        <p:spPr>
          <a:xfrm>
            <a:off x="6588224" y="3573016"/>
            <a:ext cx="1772816" cy="177281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Generic customer needs</a:t>
            </a:r>
            <a:endParaRPr lang="en-AU" sz="2200" b="1" dirty="0" smtClean="0">
              <a:latin typeface="Helvetica" pitchFamily="34" charset="0"/>
            </a:endParaRPr>
          </a:p>
          <a:p>
            <a:pPr>
              <a:spcBef>
                <a:spcPts val="600"/>
              </a:spcBef>
              <a:spcAft>
                <a:spcPts val="1200"/>
              </a:spcAft>
            </a:pPr>
            <a:r>
              <a:rPr lang="en-GB" sz="2200" dirty="0" smtClean="0">
                <a:latin typeface="Helvetica" pitchFamily="34" charset="0"/>
              </a:rPr>
              <a:t>Value for money</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‘Offering’ reflecting what was advertised</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Expectations met or exceeded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To feel respected</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To feel welcomed</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To be served by friendly staff</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 name="Picture 4" descr="MP900442941[1].JPG"/>
          <p:cNvPicPr/>
          <p:nvPr/>
        </p:nvPicPr>
        <p:blipFill>
          <a:blip r:embed="rId3" cstate="print"/>
          <a:stretch>
            <a:fillRect/>
          </a:stretch>
        </p:blipFill>
        <p:spPr>
          <a:xfrm>
            <a:off x="6156176" y="3645024"/>
            <a:ext cx="2239119" cy="163676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Generic customer needs</a:t>
            </a:r>
            <a:endParaRPr lang="en-AU" sz="2200" b="1" dirty="0" smtClean="0">
              <a:latin typeface="Helvetica" pitchFamily="34" charset="0"/>
            </a:endParaRPr>
          </a:p>
          <a:p>
            <a:pPr>
              <a:spcBef>
                <a:spcPts val="600"/>
              </a:spcBef>
              <a:spcAft>
                <a:spcPts val="1200"/>
              </a:spcAft>
            </a:pPr>
            <a:r>
              <a:rPr lang="en-GB" sz="2200" dirty="0" smtClean="0">
                <a:latin typeface="Helvetica" pitchFamily="34" charset="0"/>
              </a:rPr>
              <a:t>To be dealt with in a prompt and courteous manner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To receive assistance when necessary</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To be in comfortable, clean surroundings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To feel remembered and recognised</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To be heard and understood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 name="Picture 4" descr="MP900424431[1].JPG"/>
          <p:cNvPicPr>
            <a:picLocks noChangeAspect="1"/>
          </p:cNvPicPr>
          <p:nvPr/>
        </p:nvPicPr>
        <p:blipFill>
          <a:blip r:embed="rId3" cstate="print"/>
          <a:stretch>
            <a:fillRect/>
          </a:stretch>
        </p:blipFill>
        <p:spPr>
          <a:xfrm>
            <a:off x="7020272" y="3068960"/>
            <a:ext cx="1426369" cy="213538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GB" sz="2200" b="1" dirty="0" smtClean="0">
                <a:latin typeface="Helvetica" pitchFamily="34" charset="0"/>
              </a:rPr>
              <a:t>Specific target market needs</a:t>
            </a:r>
            <a:endParaRPr lang="en-AU" sz="2200" b="1" dirty="0" smtClean="0">
              <a:latin typeface="Helvetica" pitchFamily="34" charset="0"/>
            </a:endParaRPr>
          </a:p>
          <a:p>
            <a:pPr>
              <a:spcBef>
                <a:spcPts val="600"/>
              </a:spcBef>
              <a:spcAft>
                <a:spcPts val="1200"/>
              </a:spcAft>
              <a:buNone/>
            </a:pPr>
            <a:r>
              <a:rPr lang="en-GB" sz="2200" dirty="0" smtClean="0">
                <a:latin typeface="Helvetica" pitchFamily="34" charset="0"/>
              </a:rPr>
              <a:t>Business: </a:t>
            </a:r>
          </a:p>
          <a:p>
            <a:pPr>
              <a:spcBef>
                <a:spcPts val="600"/>
              </a:spcBef>
              <a:spcAft>
                <a:spcPts val="1200"/>
              </a:spcAft>
            </a:pPr>
            <a:r>
              <a:rPr lang="en-GB" sz="2200" dirty="0" smtClean="0">
                <a:latin typeface="Helvetica" pitchFamily="34" charset="0"/>
              </a:rPr>
              <a:t>Computer and internet access</a:t>
            </a:r>
          </a:p>
          <a:p>
            <a:pPr>
              <a:spcBef>
                <a:spcPts val="600"/>
              </a:spcBef>
              <a:spcAft>
                <a:spcPts val="1200"/>
              </a:spcAft>
            </a:pPr>
            <a:r>
              <a:rPr lang="en-GB" sz="2200" dirty="0" smtClean="0">
                <a:latin typeface="Helvetica" pitchFamily="34" charset="0"/>
              </a:rPr>
              <a:t>Newspapers</a:t>
            </a:r>
          </a:p>
          <a:p>
            <a:pPr>
              <a:spcBef>
                <a:spcPts val="600"/>
              </a:spcBef>
              <a:spcAft>
                <a:spcPts val="1200"/>
              </a:spcAft>
            </a:pPr>
            <a:r>
              <a:rPr lang="en-GB" sz="2200" dirty="0" smtClean="0">
                <a:latin typeface="Helvetica" pitchFamily="34" charset="0"/>
              </a:rPr>
              <a:t>Executive lounges</a:t>
            </a:r>
          </a:p>
          <a:p>
            <a:pPr>
              <a:spcBef>
                <a:spcPts val="600"/>
              </a:spcBef>
              <a:spcAft>
                <a:spcPts val="1200"/>
              </a:spcAft>
            </a:pPr>
            <a:r>
              <a:rPr lang="en-GB" sz="2200" dirty="0" smtClean="0">
                <a:latin typeface="Helvetica" pitchFamily="34" charset="0"/>
              </a:rPr>
              <a:t>Laundry services</a:t>
            </a:r>
          </a:p>
          <a:p>
            <a:pPr>
              <a:spcBef>
                <a:spcPts val="600"/>
              </a:spcBef>
              <a:spcAft>
                <a:spcPts val="1200"/>
              </a:spcAft>
            </a:pPr>
            <a:r>
              <a:rPr lang="en-GB" sz="2200" dirty="0" smtClean="0">
                <a:latin typeface="Helvetica" pitchFamily="34" charset="0"/>
              </a:rPr>
              <a:t>Business and news channels</a:t>
            </a:r>
          </a:p>
          <a:p>
            <a:endParaRPr lang="en-AU" sz="24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4576512342_f2cc8a5397_m.jpg"/>
          <p:cNvPicPr>
            <a:picLocks noChangeAspect="1"/>
          </p:cNvPicPr>
          <p:nvPr/>
        </p:nvPicPr>
        <p:blipFill>
          <a:blip r:embed="rId3" cstate="print"/>
          <a:stretch>
            <a:fillRect/>
          </a:stretch>
        </p:blipFill>
        <p:spPr>
          <a:xfrm>
            <a:off x="5940152" y="3573016"/>
            <a:ext cx="2496108" cy="1664072"/>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Specific target market needs</a:t>
            </a:r>
            <a:endParaRPr lang="en-AU" sz="2200" b="1" dirty="0" smtClean="0">
              <a:latin typeface="Helvetica" pitchFamily="34" charset="0"/>
            </a:endParaRPr>
          </a:p>
          <a:p>
            <a:pPr>
              <a:spcBef>
                <a:spcPts val="600"/>
              </a:spcBef>
              <a:spcAft>
                <a:spcPts val="1200"/>
              </a:spcAft>
              <a:buNone/>
            </a:pPr>
            <a:r>
              <a:rPr lang="en-GB" sz="2200" dirty="0" smtClean="0">
                <a:latin typeface="Helvetica" pitchFamily="34" charset="0"/>
              </a:rPr>
              <a:t>Women:</a:t>
            </a:r>
          </a:p>
          <a:p>
            <a:pPr>
              <a:spcBef>
                <a:spcPts val="600"/>
              </a:spcBef>
              <a:spcAft>
                <a:spcPts val="1200"/>
              </a:spcAft>
            </a:pPr>
            <a:r>
              <a:rPr lang="en-GB" sz="2200" dirty="0" smtClean="0">
                <a:latin typeface="Helvetica" pitchFamily="34" charset="0"/>
              </a:rPr>
              <a:t>Hairdryers</a:t>
            </a:r>
          </a:p>
          <a:p>
            <a:pPr>
              <a:spcBef>
                <a:spcPts val="600"/>
              </a:spcBef>
              <a:spcAft>
                <a:spcPts val="1200"/>
              </a:spcAft>
            </a:pPr>
            <a:r>
              <a:rPr lang="en-GB" sz="2200" dirty="0" smtClean="0">
                <a:latin typeface="Helvetica" pitchFamily="34" charset="0"/>
              </a:rPr>
              <a:t>Larger mirrors</a:t>
            </a:r>
          </a:p>
          <a:p>
            <a:pPr>
              <a:spcBef>
                <a:spcPts val="600"/>
              </a:spcBef>
              <a:spcAft>
                <a:spcPts val="1200"/>
              </a:spcAft>
            </a:pPr>
            <a:r>
              <a:rPr lang="en-GB" sz="2200" dirty="0" smtClean="0">
                <a:latin typeface="Helvetica" pitchFamily="34" charset="0"/>
              </a:rPr>
              <a:t>Healthier food options</a:t>
            </a:r>
          </a:p>
          <a:p>
            <a:pPr>
              <a:spcBef>
                <a:spcPts val="600"/>
              </a:spcBef>
              <a:spcAft>
                <a:spcPts val="1200"/>
              </a:spcAft>
            </a:pPr>
            <a:r>
              <a:rPr lang="en-GB" sz="2200" dirty="0" smtClean="0">
                <a:latin typeface="Helvetica" pitchFamily="34" charset="0"/>
              </a:rPr>
              <a:t>Specific bathroom amenities</a:t>
            </a:r>
          </a:p>
          <a:p>
            <a:pPr>
              <a:spcBef>
                <a:spcPts val="600"/>
              </a:spcBef>
              <a:spcAft>
                <a:spcPts val="1200"/>
              </a:spcAft>
            </a:pPr>
            <a:r>
              <a:rPr lang="en-GB" sz="2200" dirty="0" smtClean="0">
                <a:latin typeface="Helvetica" pitchFamily="34" charset="0"/>
              </a:rPr>
              <a:t>Fashion magazines</a:t>
            </a:r>
          </a:p>
          <a:p>
            <a:pPr>
              <a:spcBef>
                <a:spcPts val="600"/>
              </a:spcBef>
              <a:spcAft>
                <a:spcPts val="1200"/>
              </a:spcAft>
            </a:pPr>
            <a:r>
              <a:rPr lang="en-GB" sz="2200" dirty="0" smtClean="0">
                <a:latin typeface="Helvetica" pitchFamily="34" charset="0"/>
              </a:rPr>
              <a:t>Bath </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descr="71443147_78a938f4df_m.jpg"/>
          <p:cNvPicPr>
            <a:picLocks noChangeAspect="1"/>
          </p:cNvPicPr>
          <p:nvPr/>
        </p:nvPicPr>
        <p:blipFill>
          <a:blip r:embed="rId3" cstate="print"/>
          <a:stretch>
            <a:fillRect/>
          </a:stretch>
        </p:blipFill>
        <p:spPr>
          <a:xfrm>
            <a:off x="6876256" y="2996952"/>
            <a:ext cx="1539984" cy="230997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GB" sz="2200" b="1" dirty="0" smtClean="0">
                <a:latin typeface="Helvetica" pitchFamily="34" charset="0"/>
              </a:rPr>
              <a:t>Specific target market needs</a:t>
            </a:r>
            <a:endParaRPr lang="en-AU" sz="2200" b="1" dirty="0" smtClean="0">
              <a:latin typeface="Helvetica" pitchFamily="34" charset="0"/>
            </a:endParaRPr>
          </a:p>
          <a:p>
            <a:pPr>
              <a:spcBef>
                <a:spcPts val="600"/>
              </a:spcBef>
              <a:spcAft>
                <a:spcPts val="1200"/>
              </a:spcAft>
              <a:buNone/>
            </a:pPr>
            <a:r>
              <a:rPr lang="en-GB" sz="2200" dirty="0" smtClean="0">
                <a:latin typeface="Helvetica" pitchFamily="34" charset="0"/>
              </a:rPr>
              <a:t>Family:</a:t>
            </a:r>
          </a:p>
          <a:p>
            <a:pPr>
              <a:spcBef>
                <a:spcPts val="600"/>
              </a:spcBef>
              <a:spcAft>
                <a:spcPts val="1200"/>
              </a:spcAft>
            </a:pPr>
            <a:r>
              <a:rPr lang="en-GB" sz="2200" dirty="0" smtClean="0">
                <a:latin typeface="Helvetica" pitchFamily="34" charset="0"/>
              </a:rPr>
              <a:t>Interconnecting rooms </a:t>
            </a:r>
          </a:p>
          <a:p>
            <a:pPr>
              <a:spcBef>
                <a:spcPts val="600"/>
              </a:spcBef>
              <a:spcAft>
                <a:spcPts val="1200"/>
              </a:spcAft>
            </a:pPr>
            <a:r>
              <a:rPr lang="en-GB" sz="2200" dirty="0" smtClean="0">
                <a:latin typeface="Helvetica" pitchFamily="34" charset="0"/>
              </a:rPr>
              <a:t>All inclusive packages</a:t>
            </a:r>
          </a:p>
          <a:p>
            <a:pPr>
              <a:spcBef>
                <a:spcPts val="600"/>
              </a:spcBef>
              <a:spcAft>
                <a:spcPts val="1200"/>
              </a:spcAft>
            </a:pPr>
            <a:r>
              <a:rPr lang="en-GB" sz="2200" dirty="0" smtClean="0">
                <a:latin typeface="Helvetica" pitchFamily="34" charset="0"/>
              </a:rPr>
              <a:t>Entertainment options</a:t>
            </a:r>
          </a:p>
          <a:p>
            <a:pPr>
              <a:spcBef>
                <a:spcPts val="600"/>
              </a:spcBef>
              <a:spcAft>
                <a:spcPts val="1200"/>
              </a:spcAft>
            </a:pPr>
            <a:r>
              <a:rPr lang="en-GB" sz="2200" dirty="0" smtClean="0">
                <a:latin typeface="Helvetica" pitchFamily="34" charset="0"/>
              </a:rPr>
              <a:t>Child care facilities &amp; Children’s television programs</a:t>
            </a:r>
          </a:p>
          <a:p>
            <a:pPr>
              <a:spcBef>
                <a:spcPts val="600"/>
              </a:spcBef>
              <a:spcAft>
                <a:spcPts val="1200"/>
              </a:spcAft>
            </a:pPr>
            <a:r>
              <a:rPr lang="en-GB" sz="2200" dirty="0" smtClean="0">
                <a:latin typeface="Helvetica" pitchFamily="34" charset="0"/>
              </a:rPr>
              <a:t>Handicapped facilities &amp;/or disabled toilets</a:t>
            </a:r>
          </a:p>
          <a:p>
            <a:pPr>
              <a:spcBef>
                <a:spcPts val="600"/>
              </a:spcBef>
              <a:spcAft>
                <a:spcPts val="1200"/>
              </a:spcAft>
            </a:pPr>
            <a:r>
              <a:rPr lang="en-GB" sz="2200" dirty="0" smtClean="0">
                <a:latin typeface="Helvetica" pitchFamily="34" charset="0"/>
              </a:rPr>
              <a:t>Safety</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descr="MP900439246[1].JPG"/>
          <p:cNvPicPr>
            <a:picLocks noChangeAspect="1"/>
          </p:cNvPicPr>
          <p:nvPr/>
        </p:nvPicPr>
        <p:blipFill>
          <a:blip r:embed="rId3" cstate="print"/>
          <a:stretch>
            <a:fillRect/>
          </a:stretch>
        </p:blipFill>
        <p:spPr>
          <a:xfrm>
            <a:off x="6372200" y="2132856"/>
            <a:ext cx="1618386" cy="1780224"/>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Specific target market needs</a:t>
            </a:r>
            <a:endParaRPr lang="en-AU" sz="2200" b="1" dirty="0" smtClean="0">
              <a:latin typeface="Helvetica" pitchFamily="34" charset="0"/>
            </a:endParaRPr>
          </a:p>
          <a:p>
            <a:pPr>
              <a:spcBef>
                <a:spcPts val="600"/>
              </a:spcBef>
              <a:spcAft>
                <a:spcPts val="1200"/>
              </a:spcAft>
              <a:buNone/>
            </a:pPr>
            <a:r>
              <a:rPr lang="en-GB" sz="2200" dirty="0" smtClean="0">
                <a:latin typeface="Helvetica" pitchFamily="34" charset="0"/>
              </a:rPr>
              <a:t>Leisure:</a:t>
            </a:r>
          </a:p>
          <a:p>
            <a:pPr>
              <a:spcBef>
                <a:spcPts val="600"/>
              </a:spcBef>
              <a:spcAft>
                <a:spcPts val="1200"/>
              </a:spcAft>
            </a:pPr>
            <a:r>
              <a:rPr lang="en-GB" sz="2200" dirty="0" smtClean="0">
                <a:latin typeface="Helvetica" pitchFamily="34" charset="0"/>
              </a:rPr>
              <a:t>Cheaper rates </a:t>
            </a:r>
          </a:p>
          <a:p>
            <a:pPr>
              <a:spcBef>
                <a:spcPts val="600"/>
              </a:spcBef>
              <a:spcAft>
                <a:spcPts val="1200"/>
              </a:spcAft>
            </a:pPr>
            <a:r>
              <a:rPr lang="en-GB" sz="2200" dirty="0" smtClean="0">
                <a:latin typeface="Helvetica" pitchFamily="34" charset="0"/>
              </a:rPr>
              <a:t>Local attractions </a:t>
            </a:r>
          </a:p>
          <a:p>
            <a:pPr>
              <a:spcBef>
                <a:spcPts val="600"/>
              </a:spcBef>
              <a:spcAft>
                <a:spcPts val="1200"/>
              </a:spcAft>
            </a:pPr>
            <a:r>
              <a:rPr lang="en-GB" sz="2200" dirty="0" smtClean="0">
                <a:latin typeface="Helvetica" pitchFamily="34" charset="0"/>
              </a:rPr>
              <a:t>Concierge services</a:t>
            </a:r>
          </a:p>
          <a:p>
            <a:pPr>
              <a:spcBef>
                <a:spcPts val="600"/>
              </a:spcBef>
              <a:spcAft>
                <a:spcPts val="1200"/>
              </a:spcAft>
            </a:pPr>
            <a:r>
              <a:rPr lang="en-GB" sz="2200" dirty="0" smtClean="0">
                <a:latin typeface="Helvetica" pitchFamily="34" charset="0"/>
              </a:rPr>
              <a:t>Activities</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descr="MP900422525[1].JPG"/>
          <p:cNvPicPr>
            <a:picLocks noChangeAspect="1"/>
          </p:cNvPicPr>
          <p:nvPr/>
        </p:nvPicPr>
        <p:blipFill>
          <a:blip r:embed="rId3" cstate="print"/>
          <a:stretch>
            <a:fillRect/>
          </a:stretch>
        </p:blipFill>
        <p:spPr>
          <a:xfrm>
            <a:off x="6732240" y="3212976"/>
            <a:ext cx="1665010" cy="201057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GB" sz="2200" b="1" dirty="0" smtClean="0">
                <a:latin typeface="Helvetica" pitchFamily="34" charset="0"/>
              </a:rPr>
              <a:t>Specific target market needs</a:t>
            </a:r>
            <a:endParaRPr lang="en-AU" sz="2200" b="1" dirty="0" smtClean="0">
              <a:latin typeface="Helvetica" pitchFamily="34" charset="0"/>
            </a:endParaRPr>
          </a:p>
          <a:p>
            <a:pPr>
              <a:spcBef>
                <a:spcPts val="600"/>
              </a:spcBef>
              <a:spcAft>
                <a:spcPts val="1200"/>
              </a:spcAft>
              <a:buNone/>
            </a:pPr>
            <a:r>
              <a:rPr lang="en-GB" sz="2200" dirty="0" smtClean="0">
                <a:latin typeface="Helvetica" pitchFamily="34" charset="0"/>
              </a:rPr>
              <a:t>Elderly:</a:t>
            </a:r>
          </a:p>
          <a:p>
            <a:pPr>
              <a:spcBef>
                <a:spcPts val="600"/>
              </a:spcBef>
              <a:spcAft>
                <a:spcPts val="1200"/>
              </a:spcAft>
            </a:pPr>
            <a:r>
              <a:rPr lang="en-GB" sz="2200" dirty="0" smtClean="0">
                <a:latin typeface="Helvetica" pitchFamily="34" charset="0"/>
              </a:rPr>
              <a:t>Single beds</a:t>
            </a:r>
          </a:p>
          <a:p>
            <a:pPr>
              <a:spcBef>
                <a:spcPts val="600"/>
              </a:spcBef>
              <a:spcAft>
                <a:spcPts val="1200"/>
              </a:spcAft>
            </a:pPr>
            <a:r>
              <a:rPr lang="en-GB" sz="2200" dirty="0" smtClean="0">
                <a:latin typeface="Helvetica" pitchFamily="34" charset="0"/>
              </a:rPr>
              <a:t>Medical facilities</a:t>
            </a:r>
          </a:p>
          <a:p>
            <a:pPr>
              <a:spcBef>
                <a:spcPts val="600"/>
              </a:spcBef>
              <a:spcAft>
                <a:spcPts val="1200"/>
              </a:spcAft>
            </a:pPr>
            <a:r>
              <a:rPr lang="en-GB" sz="2200" dirty="0" smtClean="0">
                <a:latin typeface="Helvetica" pitchFamily="34" charset="0"/>
              </a:rPr>
              <a:t>Suitable food options</a:t>
            </a:r>
          </a:p>
          <a:p>
            <a:pPr>
              <a:spcBef>
                <a:spcPts val="600"/>
              </a:spcBef>
              <a:spcAft>
                <a:spcPts val="1200"/>
              </a:spcAft>
            </a:pPr>
            <a:r>
              <a:rPr lang="en-GB" sz="2200" dirty="0" smtClean="0">
                <a:latin typeface="Helvetica" pitchFamily="34" charset="0"/>
              </a:rPr>
              <a:t>Cheaper rates</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5" name="Picture 4" descr="5725720322_dd718cdf26_m.jpg"/>
          <p:cNvPicPr>
            <a:picLocks noChangeAspect="1"/>
          </p:cNvPicPr>
          <p:nvPr/>
        </p:nvPicPr>
        <p:blipFill>
          <a:blip r:embed="rId3" cstate="print"/>
          <a:stretch>
            <a:fillRect/>
          </a:stretch>
        </p:blipFill>
        <p:spPr>
          <a:xfrm>
            <a:off x="6012160" y="3904663"/>
            <a:ext cx="2388096" cy="1370767"/>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Customer needs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Specific target market needs</a:t>
            </a:r>
            <a:endParaRPr lang="en-AU" sz="2200" b="1" dirty="0" smtClean="0">
              <a:latin typeface="Helvetica" pitchFamily="34" charset="0"/>
            </a:endParaRPr>
          </a:p>
          <a:p>
            <a:pPr>
              <a:spcBef>
                <a:spcPts val="600"/>
              </a:spcBef>
              <a:spcAft>
                <a:spcPts val="1200"/>
              </a:spcAft>
              <a:buNone/>
            </a:pPr>
            <a:r>
              <a:rPr lang="en-GB" sz="2200" dirty="0" smtClean="0">
                <a:latin typeface="Helvetica" pitchFamily="34" charset="0"/>
              </a:rPr>
              <a:t>Groups:</a:t>
            </a:r>
          </a:p>
          <a:p>
            <a:pPr>
              <a:spcBef>
                <a:spcPts val="600"/>
              </a:spcBef>
              <a:spcAft>
                <a:spcPts val="1200"/>
              </a:spcAft>
            </a:pPr>
            <a:r>
              <a:rPr lang="en-GB" sz="2200" dirty="0" smtClean="0">
                <a:latin typeface="Helvetica" pitchFamily="34" charset="0"/>
              </a:rPr>
              <a:t>Need for large allocation of rooms</a:t>
            </a:r>
          </a:p>
          <a:p>
            <a:pPr>
              <a:spcBef>
                <a:spcPts val="600"/>
              </a:spcBef>
              <a:spcAft>
                <a:spcPts val="1200"/>
              </a:spcAft>
            </a:pPr>
            <a:r>
              <a:rPr lang="en-GB" sz="2200" dirty="0" smtClean="0">
                <a:latin typeface="Helvetica" pitchFamily="34" charset="0"/>
              </a:rPr>
              <a:t>Cheap rates</a:t>
            </a:r>
          </a:p>
          <a:p>
            <a:pPr>
              <a:spcBef>
                <a:spcPts val="600"/>
              </a:spcBef>
              <a:spcAft>
                <a:spcPts val="1200"/>
              </a:spcAft>
            </a:pPr>
            <a:r>
              <a:rPr lang="en-GB" sz="2200" dirty="0" smtClean="0">
                <a:latin typeface="Helvetica" pitchFamily="34" charset="0"/>
              </a:rPr>
              <a:t>Meeting rooms</a:t>
            </a:r>
          </a:p>
          <a:p>
            <a:pPr>
              <a:spcBef>
                <a:spcPts val="600"/>
              </a:spcBef>
              <a:spcAft>
                <a:spcPts val="1200"/>
              </a:spcAft>
            </a:pPr>
            <a:r>
              <a:rPr lang="en-GB" sz="2200" dirty="0" smtClean="0">
                <a:latin typeface="Helvetica" pitchFamily="34" charset="0"/>
              </a:rPr>
              <a:t>Specialised menus</a:t>
            </a:r>
          </a:p>
          <a:p>
            <a:pPr>
              <a:spcBef>
                <a:spcPts val="600"/>
              </a:spcBef>
              <a:spcAft>
                <a:spcPts val="1200"/>
              </a:spcAft>
            </a:pPr>
            <a:r>
              <a:rPr lang="en-GB" sz="2200" dirty="0" smtClean="0">
                <a:latin typeface="Helvetica" pitchFamily="34" charset="0"/>
              </a:rPr>
              <a:t>Bus access and parking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descr="IMG_2370.jpg"/>
          <p:cNvPicPr>
            <a:picLocks noChangeAspect="1"/>
          </p:cNvPicPr>
          <p:nvPr/>
        </p:nvPicPr>
        <p:blipFill>
          <a:blip r:embed="rId3" cstate="print"/>
          <a:stretch>
            <a:fillRect/>
          </a:stretch>
        </p:blipFill>
        <p:spPr>
          <a:xfrm>
            <a:off x="6444208" y="3789040"/>
            <a:ext cx="1955709" cy="146678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GB" sz="3400" b="1" dirty="0" smtClean="0">
                <a:solidFill>
                  <a:srgbClr val="FF6600"/>
                </a:solidFill>
                <a:latin typeface="Helvetica" pitchFamily="34" charset="0"/>
              </a:rPr>
              <a:t>Customer wishes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Wishes</a:t>
            </a:r>
            <a:endParaRPr lang="en-AU" sz="2200" dirty="0" smtClean="0">
              <a:latin typeface="Helvetica" pitchFamily="34" charset="0"/>
            </a:endParaRPr>
          </a:p>
          <a:p>
            <a:pPr marL="0">
              <a:spcBef>
                <a:spcPts val="600"/>
              </a:spcBef>
              <a:spcAft>
                <a:spcPts val="1200"/>
              </a:spcAft>
              <a:buNone/>
            </a:pPr>
            <a:r>
              <a:rPr lang="en-GB" sz="2200" dirty="0" smtClean="0">
                <a:latin typeface="Helvetica" pitchFamily="34" charset="0"/>
              </a:rPr>
              <a:t>These refer to the way in which our customer would prefer to satisfy a specific need, but they may not have the resources to meet these wishes. </a:t>
            </a:r>
          </a:p>
          <a:p>
            <a:pPr>
              <a:spcBef>
                <a:spcPts val="600"/>
              </a:spcBef>
              <a:spcAft>
                <a:spcPts val="1200"/>
              </a:spcAft>
              <a:buNone/>
            </a:pPr>
            <a:r>
              <a:rPr lang="en-GB" sz="2200" dirty="0" smtClean="0">
                <a:latin typeface="Helvetica" pitchFamily="34" charset="0"/>
              </a:rPr>
              <a:t>They may wish to:</a:t>
            </a:r>
          </a:p>
          <a:p>
            <a:pPr>
              <a:spcBef>
                <a:spcPts val="600"/>
              </a:spcBef>
              <a:spcAft>
                <a:spcPts val="1200"/>
              </a:spcAft>
            </a:pPr>
            <a:r>
              <a:rPr lang="en-GB" sz="2200" dirty="0" smtClean="0">
                <a:latin typeface="Helvetica" pitchFamily="34" charset="0"/>
              </a:rPr>
              <a:t>Stay in the luxury suite</a:t>
            </a:r>
          </a:p>
          <a:p>
            <a:pPr>
              <a:spcBef>
                <a:spcPts val="600"/>
              </a:spcBef>
              <a:spcAft>
                <a:spcPts val="1200"/>
              </a:spcAft>
            </a:pPr>
            <a:r>
              <a:rPr lang="en-GB" sz="2200" dirty="0" smtClean="0">
                <a:latin typeface="Helvetica" pitchFamily="34" charset="0"/>
              </a:rPr>
              <a:t>Dine at an internationally renowned, 5 star                              fine dining restaurant</a:t>
            </a:r>
          </a:p>
          <a:p>
            <a:pPr>
              <a:spcBef>
                <a:spcPts val="600"/>
              </a:spcBef>
              <a:spcAft>
                <a:spcPts val="1200"/>
              </a:spcAft>
            </a:pPr>
            <a:r>
              <a:rPr lang="en-GB" sz="2200" dirty="0" smtClean="0">
                <a:latin typeface="Helvetica" pitchFamily="34" charset="0"/>
              </a:rPr>
              <a:t>Drink expensive champagne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6" name="Picture 5" descr="MP900409565[1].JPG"/>
          <p:cNvPicPr>
            <a:picLocks noChangeAspect="1"/>
          </p:cNvPicPr>
          <p:nvPr/>
        </p:nvPicPr>
        <p:blipFill>
          <a:blip r:embed="rId3" cstate="print"/>
          <a:stretch>
            <a:fillRect/>
          </a:stretch>
        </p:blipFill>
        <p:spPr>
          <a:xfrm>
            <a:off x="7020560" y="3212976"/>
            <a:ext cx="1422732" cy="2129838"/>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GB" sz="3400" b="1" dirty="0" smtClean="0">
                <a:solidFill>
                  <a:srgbClr val="FF6600"/>
                </a:solidFill>
                <a:latin typeface="Helvetica" pitchFamily="34" charset="0"/>
              </a:rPr>
              <a:t>Customer expectations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GB" sz="2200" dirty="0" smtClean="0">
                <a:latin typeface="Helvetica" pitchFamily="34" charset="0"/>
              </a:rPr>
              <a:t>Customers have perceived expectations of what level of service they expect when visiting a venue:</a:t>
            </a:r>
          </a:p>
          <a:p>
            <a:pPr>
              <a:spcBef>
                <a:spcPts val="600"/>
              </a:spcBef>
              <a:spcAft>
                <a:spcPts val="1200"/>
              </a:spcAft>
            </a:pPr>
            <a:r>
              <a:rPr lang="en-GB" sz="2200" dirty="0" smtClean="0">
                <a:latin typeface="Helvetica" pitchFamily="34" charset="0"/>
              </a:rPr>
              <a:t>Where do expectations come from?</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7" name="Picture 6" descr="MP900423126[1].JPG"/>
          <p:cNvPicPr>
            <a:picLocks noChangeAspect="1"/>
          </p:cNvPicPr>
          <p:nvPr/>
        </p:nvPicPr>
        <p:blipFill>
          <a:blip r:embed="rId3" cstate="print"/>
          <a:stretch>
            <a:fillRect/>
          </a:stretch>
        </p:blipFill>
        <p:spPr>
          <a:xfrm>
            <a:off x="6516216" y="3429000"/>
            <a:ext cx="1916832" cy="1916832"/>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GB" sz="3400" b="1" dirty="0" smtClean="0">
                <a:solidFill>
                  <a:srgbClr val="FF6600"/>
                </a:solidFill>
                <a:latin typeface="Helvetica" pitchFamily="34" charset="0"/>
              </a:rPr>
              <a:t>Customer expectations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Origins of customer expectations</a:t>
            </a:r>
          </a:p>
          <a:p>
            <a:pPr>
              <a:spcBef>
                <a:spcPts val="600"/>
              </a:spcBef>
              <a:spcAft>
                <a:spcPts val="1200"/>
              </a:spcAft>
            </a:pPr>
            <a:r>
              <a:rPr lang="en-GB" sz="2200" dirty="0" smtClean="0">
                <a:latin typeface="Helvetica" pitchFamily="34" charset="0"/>
              </a:rPr>
              <a:t>The company’s image or reputation in the market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Past visits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Advertisements and promotional messages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Competing hotels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Industry standards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Comments from family, friends                                                 and colleagues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Price charged for the offering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7" name="Picture 6" descr="MP910218793[1].JPG"/>
          <p:cNvPicPr>
            <a:picLocks noChangeAspect="1"/>
          </p:cNvPicPr>
          <p:nvPr/>
        </p:nvPicPr>
        <p:blipFill>
          <a:blip r:embed="rId3" cstate="print"/>
          <a:stretch>
            <a:fillRect/>
          </a:stretch>
        </p:blipFill>
        <p:spPr>
          <a:xfrm>
            <a:off x="6372200" y="3933056"/>
            <a:ext cx="2015653" cy="1347608"/>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pPr>
            <a:r>
              <a:rPr lang="en-AU" sz="2200" dirty="0" smtClean="0">
                <a:latin typeface="Helvetica" pitchFamily="34" charset="0"/>
              </a:rPr>
              <a:t>As mentioned, complaints arise when customers’ needs, wishes or expectations are not met</a:t>
            </a:r>
          </a:p>
          <a:p>
            <a:pPr>
              <a:spcBef>
                <a:spcPts val="600"/>
              </a:spcBef>
              <a:spcAft>
                <a:spcPts val="1200"/>
              </a:spcAft>
            </a:pPr>
            <a:r>
              <a:rPr lang="en-GB" sz="2200" dirty="0" smtClean="0">
                <a:latin typeface="Helvetica" pitchFamily="34" charset="0"/>
              </a:rPr>
              <a:t>Complaints are a common part of any organisation</a:t>
            </a:r>
          </a:p>
          <a:p>
            <a:pPr>
              <a:spcBef>
                <a:spcPts val="600"/>
              </a:spcBef>
              <a:spcAft>
                <a:spcPts val="1200"/>
              </a:spcAft>
            </a:pPr>
            <a:r>
              <a:rPr lang="en-GB" sz="2200" dirty="0" smtClean="0">
                <a:latin typeface="Helvetica" pitchFamily="34" charset="0"/>
              </a:rPr>
              <a:t>It is unrealistic to think that everyone will be happy, every day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MP900444381[1].JPG"/>
          <p:cNvPicPr>
            <a:picLocks noChangeAspect="1"/>
          </p:cNvPicPr>
          <p:nvPr/>
        </p:nvPicPr>
        <p:blipFill>
          <a:blip r:embed="rId3" cstate="print"/>
          <a:stretch>
            <a:fillRect/>
          </a:stretch>
        </p:blipFill>
        <p:spPr>
          <a:xfrm>
            <a:off x="6732240" y="3356992"/>
            <a:ext cx="1592193" cy="2060177"/>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Keys to handling complaints</a:t>
            </a:r>
          </a:p>
          <a:p>
            <a:pPr marL="0">
              <a:spcBef>
                <a:spcPts val="600"/>
              </a:spcBef>
              <a:spcAft>
                <a:spcPts val="1200"/>
              </a:spcAft>
              <a:buNone/>
            </a:pPr>
            <a:r>
              <a:rPr lang="en-GB" sz="2200" dirty="0" smtClean="0">
                <a:latin typeface="Helvetica" pitchFamily="34" charset="0"/>
              </a:rPr>
              <a:t>Three keys to respond to customer complaints are to be: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Positive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Sensitive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Polite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7" name="Picture 6" descr="MP900443186[1].JPG"/>
          <p:cNvPicPr/>
          <p:nvPr/>
        </p:nvPicPr>
        <p:blipFill>
          <a:blip r:embed="rId3" cstate="print"/>
          <a:stretch>
            <a:fillRect/>
          </a:stretch>
        </p:blipFill>
        <p:spPr>
          <a:xfrm>
            <a:off x="6300192" y="3789040"/>
            <a:ext cx="2143934" cy="1550467"/>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83568" y="1124744"/>
            <a:ext cx="7467600" cy="5733256"/>
          </a:xfrm>
        </p:spPr>
        <p:txBody>
          <a:bodyPr>
            <a:normAutofit/>
          </a:bodyPr>
          <a:lstStyle/>
          <a:p>
            <a:pPr>
              <a:spcBef>
                <a:spcPts val="600"/>
              </a:spcBef>
              <a:spcAft>
                <a:spcPts val="1200"/>
              </a:spcAft>
              <a:buNone/>
            </a:pPr>
            <a:r>
              <a:rPr lang="en-GB" sz="2200" b="1" dirty="0" smtClean="0">
                <a:latin typeface="Helvetica" pitchFamily="34" charset="0"/>
              </a:rPr>
              <a:t>Types of complaints</a:t>
            </a:r>
          </a:p>
          <a:p>
            <a:pPr>
              <a:spcBef>
                <a:spcPts val="600"/>
              </a:spcBef>
              <a:spcAft>
                <a:spcPts val="1200"/>
              </a:spcAft>
            </a:pPr>
            <a:r>
              <a:rPr lang="en-GB" sz="2200" dirty="0" smtClean="0">
                <a:latin typeface="Helvetica" pitchFamily="34" charset="0"/>
              </a:rPr>
              <a:t>Rude staff and management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Difficult or demanding customers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Lack of service, or poor, service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Expectations not being met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Dissatisfaction with the accommodation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Services are poor</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6" name="Picture 5" descr="MB900443085.JPG"/>
          <p:cNvPicPr/>
          <p:nvPr/>
        </p:nvPicPr>
        <p:blipFill>
          <a:blip r:embed="rId3" cstate="print"/>
          <a:srcRect l="19157" t="18182" r="6951" b="21212"/>
          <a:stretch>
            <a:fillRect/>
          </a:stretch>
        </p:blipFill>
        <p:spPr>
          <a:xfrm>
            <a:off x="6444208" y="3933056"/>
            <a:ext cx="1944216" cy="144016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Types of complaints</a:t>
            </a:r>
          </a:p>
          <a:p>
            <a:pPr>
              <a:spcBef>
                <a:spcPts val="600"/>
              </a:spcBef>
              <a:spcAft>
                <a:spcPts val="1200"/>
              </a:spcAft>
            </a:pPr>
            <a:r>
              <a:rPr lang="en-GB" sz="2200" dirty="0" smtClean="0">
                <a:latin typeface="Helvetica" pitchFamily="34" charset="0"/>
              </a:rPr>
              <a:t>Unhygienic conditions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Low comfort levels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Rowdy and unacceptable behaviour</a:t>
            </a:r>
            <a:br>
              <a:rPr lang="en-GB" sz="2200" dirty="0" smtClean="0">
                <a:latin typeface="Helvetica" pitchFamily="34" charset="0"/>
              </a:rPr>
            </a:br>
            <a:r>
              <a:rPr lang="en-GB" sz="2200" dirty="0" smtClean="0">
                <a:latin typeface="Helvetica" pitchFamily="34" charset="0"/>
              </a:rPr>
              <a:t>displayed by other customers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A mistake with an account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Error in the reservation or booking</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Special requests not being adhered to</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7" name="Picture 6" descr="2467846596_6d141b8d81_m.jpg"/>
          <p:cNvPicPr>
            <a:picLocks noChangeAspect="1"/>
          </p:cNvPicPr>
          <p:nvPr/>
        </p:nvPicPr>
        <p:blipFill>
          <a:blip r:embed="rId3" cstate="print"/>
          <a:stretch>
            <a:fillRect/>
          </a:stretch>
        </p:blipFill>
        <p:spPr>
          <a:xfrm>
            <a:off x="6156176" y="3789040"/>
            <a:ext cx="2280084" cy="152005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Types of complaints</a:t>
            </a:r>
          </a:p>
          <a:p>
            <a:pPr>
              <a:spcBef>
                <a:spcPts val="600"/>
              </a:spcBef>
              <a:spcAft>
                <a:spcPts val="1200"/>
              </a:spcAft>
            </a:pPr>
            <a:r>
              <a:rPr lang="en-GB" sz="2200" dirty="0" smtClean="0">
                <a:latin typeface="Helvetica" pitchFamily="34" charset="0"/>
              </a:rPr>
              <a:t>Limited or no rooms/tables available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Requirement to guarantee a reservation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Inflexibility in methods of payment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Hidden charges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Ejection from the premises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MP900341625[1].JPG"/>
          <p:cNvPicPr>
            <a:picLocks noChangeAspect="1"/>
          </p:cNvPicPr>
          <p:nvPr/>
        </p:nvPicPr>
        <p:blipFill>
          <a:blip r:embed="rId3" cstate="print"/>
          <a:stretch>
            <a:fillRect/>
          </a:stretch>
        </p:blipFill>
        <p:spPr>
          <a:xfrm>
            <a:off x="6876256" y="2996952"/>
            <a:ext cx="1592576" cy="2232583"/>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Warning signs of a complaint</a:t>
            </a:r>
            <a:endParaRPr lang="en-AU" sz="2200" b="1" dirty="0" smtClean="0">
              <a:latin typeface="Helvetica" pitchFamily="34" charset="0"/>
            </a:endParaRPr>
          </a:p>
          <a:p>
            <a:pPr marL="0">
              <a:spcBef>
                <a:spcPts val="600"/>
              </a:spcBef>
              <a:spcAft>
                <a:spcPts val="1200"/>
              </a:spcAft>
              <a:buNone/>
            </a:pPr>
            <a:r>
              <a:rPr lang="en-GB" sz="2200" dirty="0" smtClean="0">
                <a:latin typeface="Helvetica" pitchFamily="34" charset="0"/>
              </a:rPr>
              <a:t>Usually, before someone makes a complaint, they give outward signs of their dissatisfaction:</a:t>
            </a:r>
          </a:p>
          <a:p>
            <a:pPr>
              <a:spcBef>
                <a:spcPts val="600"/>
              </a:spcBef>
              <a:spcAft>
                <a:spcPts val="1200"/>
              </a:spcAft>
            </a:pPr>
            <a:r>
              <a:rPr lang="en-GB" sz="2200" dirty="0" smtClean="0">
                <a:latin typeface="Helvetica" pitchFamily="34" charset="0"/>
              </a:rPr>
              <a:t>What are possible warning signs that a customer is about to complain?</a:t>
            </a:r>
          </a:p>
          <a:p>
            <a:pPr>
              <a:spcBef>
                <a:spcPts val="600"/>
              </a:spcBef>
              <a:spcAft>
                <a:spcPts val="1200"/>
              </a:spcAft>
            </a:pPr>
            <a:r>
              <a:rPr lang="en-GB" sz="2200" dirty="0" smtClean="0">
                <a:latin typeface="Helvetica" pitchFamily="34" charset="0"/>
              </a:rPr>
              <a:t>Can all complaints be predicted?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7" name="Picture 6" descr="MB900227499.JPG"/>
          <p:cNvPicPr>
            <a:picLocks noChangeAspect="1"/>
          </p:cNvPicPr>
          <p:nvPr/>
        </p:nvPicPr>
        <p:blipFill>
          <a:blip r:embed="rId3" cstate="print"/>
          <a:srcRect l="17974" r="18478"/>
          <a:stretch>
            <a:fillRect/>
          </a:stretch>
        </p:blipFill>
        <p:spPr>
          <a:xfrm>
            <a:off x="6948264" y="3284984"/>
            <a:ext cx="1446898" cy="2276872"/>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Warning signs of a complaint</a:t>
            </a:r>
            <a:endParaRPr lang="en-AU" sz="2200" b="1" dirty="0" smtClean="0">
              <a:latin typeface="Helvetica" pitchFamily="34" charset="0"/>
            </a:endParaRPr>
          </a:p>
          <a:p>
            <a:pPr>
              <a:spcBef>
                <a:spcPts val="600"/>
              </a:spcBef>
              <a:spcAft>
                <a:spcPts val="1200"/>
              </a:spcAft>
              <a:buNone/>
            </a:pPr>
            <a:r>
              <a:rPr lang="en-GB" sz="2200" dirty="0" smtClean="0">
                <a:latin typeface="Helvetica" pitchFamily="34" charset="0"/>
              </a:rPr>
              <a:t>Some signs of dissatisfaction include negative changes in: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Body language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Voice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Actions</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MB900443001.JPG"/>
          <p:cNvPicPr>
            <a:picLocks noChangeAspect="1"/>
          </p:cNvPicPr>
          <p:nvPr/>
        </p:nvPicPr>
        <p:blipFill>
          <a:blip r:embed="rId3" cstate="print"/>
          <a:stretch>
            <a:fillRect/>
          </a:stretch>
        </p:blipFill>
        <p:spPr>
          <a:xfrm>
            <a:off x="6588224" y="3501008"/>
            <a:ext cx="1828800" cy="1828800"/>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600"/>
              </a:spcAft>
              <a:buNone/>
            </a:pPr>
            <a:r>
              <a:rPr lang="en-GB" sz="2200" b="1" dirty="0" smtClean="0">
                <a:latin typeface="Helvetica" pitchFamily="34" charset="0"/>
              </a:rPr>
              <a:t>Warning signs of a complaint</a:t>
            </a:r>
            <a:endParaRPr lang="en-AU" sz="2200" b="1" dirty="0" smtClean="0">
              <a:latin typeface="Helvetica" pitchFamily="34" charset="0"/>
            </a:endParaRPr>
          </a:p>
          <a:p>
            <a:pPr marL="0">
              <a:spcBef>
                <a:spcPts val="600"/>
              </a:spcBef>
              <a:spcAft>
                <a:spcPts val="600"/>
              </a:spcAft>
              <a:buNone/>
            </a:pPr>
            <a:r>
              <a:rPr lang="en-GB" sz="2200" dirty="0" smtClean="0">
                <a:latin typeface="Helvetica" pitchFamily="34" charset="0"/>
              </a:rPr>
              <a:t>Common actions a guest may make when about to complain includes:</a:t>
            </a:r>
            <a:endParaRPr lang="en-AU" sz="2200" dirty="0" smtClean="0">
              <a:latin typeface="Helvetica" pitchFamily="34" charset="0"/>
            </a:endParaRPr>
          </a:p>
          <a:p>
            <a:pPr>
              <a:spcBef>
                <a:spcPts val="600"/>
              </a:spcBef>
              <a:spcAft>
                <a:spcPts val="600"/>
              </a:spcAft>
            </a:pPr>
            <a:r>
              <a:rPr lang="en-GB" sz="2200" dirty="0" smtClean="0">
                <a:latin typeface="Helvetica" pitchFamily="34" charset="0"/>
              </a:rPr>
              <a:t>Look angry or aggressive</a:t>
            </a:r>
            <a:endParaRPr lang="en-AU" sz="2200" dirty="0" smtClean="0">
              <a:latin typeface="Helvetica" pitchFamily="34" charset="0"/>
            </a:endParaRPr>
          </a:p>
          <a:p>
            <a:pPr>
              <a:spcBef>
                <a:spcPts val="600"/>
              </a:spcBef>
              <a:spcAft>
                <a:spcPts val="600"/>
              </a:spcAft>
            </a:pPr>
            <a:r>
              <a:rPr lang="en-GB" sz="2200" dirty="0" smtClean="0">
                <a:latin typeface="Helvetica" pitchFamily="34" charset="0"/>
              </a:rPr>
              <a:t>Appear flustered or frustrated</a:t>
            </a:r>
            <a:endParaRPr lang="en-AU" sz="2200" dirty="0" smtClean="0">
              <a:latin typeface="Helvetica" pitchFamily="34" charset="0"/>
            </a:endParaRPr>
          </a:p>
          <a:p>
            <a:pPr>
              <a:spcBef>
                <a:spcPts val="600"/>
              </a:spcBef>
              <a:spcAft>
                <a:spcPts val="600"/>
              </a:spcAft>
            </a:pPr>
            <a:r>
              <a:rPr lang="en-GB" sz="2200" dirty="0" smtClean="0">
                <a:latin typeface="Helvetica" pitchFamily="34" charset="0"/>
              </a:rPr>
              <a:t>Display contorted facial expressions</a:t>
            </a:r>
            <a:endParaRPr lang="en-AU" sz="2200" dirty="0" smtClean="0">
              <a:latin typeface="Helvetica" pitchFamily="34" charset="0"/>
            </a:endParaRPr>
          </a:p>
          <a:p>
            <a:pPr>
              <a:spcBef>
                <a:spcPts val="600"/>
              </a:spcBef>
              <a:spcAft>
                <a:spcPts val="600"/>
              </a:spcAft>
            </a:pPr>
            <a:r>
              <a:rPr lang="en-GB" sz="2200" dirty="0" smtClean="0">
                <a:latin typeface="Helvetica" pitchFamily="34" charset="0"/>
              </a:rPr>
              <a:t>Glance around as if seeking assistance</a:t>
            </a:r>
            <a:endParaRPr lang="en-AU" sz="2200" dirty="0" smtClean="0">
              <a:latin typeface="Helvetica" pitchFamily="34" charset="0"/>
            </a:endParaRPr>
          </a:p>
          <a:p>
            <a:pPr>
              <a:spcBef>
                <a:spcPts val="600"/>
              </a:spcBef>
              <a:spcAft>
                <a:spcPts val="600"/>
              </a:spcAft>
            </a:pPr>
            <a:r>
              <a:rPr lang="en-GB" sz="2200" dirty="0" smtClean="0">
                <a:latin typeface="Helvetica" pitchFamily="34" charset="0"/>
              </a:rPr>
              <a:t>Physically touch another guest or colleague </a:t>
            </a:r>
            <a:endParaRPr lang="en-AU" sz="2200" dirty="0" smtClean="0">
              <a:latin typeface="Helvetica" pitchFamily="34" charset="0"/>
            </a:endParaRPr>
          </a:p>
          <a:p>
            <a:pPr>
              <a:spcBef>
                <a:spcPts val="600"/>
              </a:spcBef>
              <a:spcAft>
                <a:spcPts val="600"/>
              </a:spcAft>
            </a:pPr>
            <a:r>
              <a:rPr lang="en-GB" sz="2200" dirty="0" smtClean="0">
                <a:latin typeface="Helvetica" pitchFamily="34" charset="0"/>
              </a:rPr>
              <a:t>Become too loud</a:t>
            </a:r>
            <a:endParaRPr lang="en-AU" sz="2200" dirty="0" smtClean="0">
              <a:latin typeface="Helvetica" pitchFamily="34" charset="0"/>
            </a:endParaRPr>
          </a:p>
          <a:p>
            <a:pPr>
              <a:spcBef>
                <a:spcPts val="600"/>
              </a:spcBef>
              <a:spcAft>
                <a:spcPts val="600"/>
              </a:spcAft>
            </a:pPr>
            <a:r>
              <a:rPr lang="en-GB" sz="2200" dirty="0" smtClean="0">
                <a:latin typeface="Helvetica" pitchFamily="34" charset="0"/>
              </a:rPr>
              <a:t>Become argumentative</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7" name="Picture 6" descr="MB900442931.JPG"/>
          <p:cNvPicPr>
            <a:picLocks noChangeAspect="1"/>
          </p:cNvPicPr>
          <p:nvPr/>
        </p:nvPicPr>
        <p:blipFill>
          <a:blip r:embed="rId3" cstate="print"/>
          <a:srcRect l="13607" r="14958"/>
          <a:stretch>
            <a:fillRect/>
          </a:stretch>
        </p:blipFill>
        <p:spPr>
          <a:xfrm>
            <a:off x="6876256" y="3284984"/>
            <a:ext cx="1512168" cy="2116832"/>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Delivery of complaints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are a number of ways in which a complaint is brought to the attention of staff and management:</a:t>
            </a:r>
          </a:p>
          <a:p>
            <a:pPr>
              <a:spcBef>
                <a:spcPts val="600"/>
              </a:spcBef>
              <a:spcAft>
                <a:spcPts val="1200"/>
              </a:spcAft>
            </a:pPr>
            <a:r>
              <a:rPr lang="en-SG" sz="2200" dirty="0" smtClean="0">
                <a:latin typeface="Helvetica" pitchFamily="34" charset="0"/>
              </a:rPr>
              <a:t>Written complaints</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Verbal – face to face</a:t>
            </a:r>
            <a:endParaRPr lang="en-AU" sz="2200" dirty="0" smtClean="0">
              <a:latin typeface="Helvetica" pitchFamily="34" charset="0"/>
            </a:endParaRPr>
          </a:p>
          <a:p>
            <a:pPr>
              <a:spcBef>
                <a:spcPts val="600"/>
              </a:spcBef>
              <a:spcAft>
                <a:spcPts val="1200"/>
              </a:spcAft>
            </a:pPr>
            <a:r>
              <a:rPr lang="en-SG" sz="2200" dirty="0" smtClean="0">
                <a:latin typeface="Helvetica" pitchFamily="34" charset="0"/>
              </a:rPr>
              <a:t>Verbal - telephone</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6" name="Picture 5" descr="j0443084.jpg"/>
          <p:cNvPicPr>
            <a:picLocks noChangeAspect="1"/>
          </p:cNvPicPr>
          <p:nvPr/>
        </p:nvPicPr>
        <p:blipFill>
          <a:blip r:embed="rId3" cstate="print"/>
          <a:stretch>
            <a:fillRect/>
          </a:stretch>
        </p:blipFill>
        <p:spPr>
          <a:xfrm>
            <a:off x="6084168" y="3789040"/>
            <a:ext cx="2314482" cy="153392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marL="0">
              <a:spcBef>
                <a:spcPts val="600"/>
              </a:spcBef>
              <a:spcAft>
                <a:spcPts val="1200"/>
              </a:spcAft>
              <a:buNone/>
            </a:pPr>
            <a:r>
              <a:rPr lang="en-AU" sz="2200" b="1" dirty="0" smtClean="0">
                <a:latin typeface="Helvetica" pitchFamily="34" charset="0"/>
              </a:rPr>
              <a:t>Deal with complaints sensitively, courteously and discreetly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handling all compliant situations it is important to deal with them in a manner that is:</a:t>
            </a:r>
          </a:p>
          <a:p>
            <a:pPr>
              <a:spcBef>
                <a:spcPts val="600"/>
              </a:spcBef>
              <a:spcAft>
                <a:spcPts val="1200"/>
              </a:spcAft>
            </a:pPr>
            <a:r>
              <a:rPr lang="en-AU" sz="2200" dirty="0" smtClean="0">
                <a:latin typeface="Helvetica" pitchFamily="34" charset="0"/>
              </a:rPr>
              <a:t>Friendly</a:t>
            </a:r>
          </a:p>
          <a:p>
            <a:pPr>
              <a:spcBef>
                <a:spcPts val="600"/>
              </a:spcBef>
              <a:spcAft>
                <a:spcPts val="1200"/>
              </a:spcAft>
            </a:pPr>
            <a:r>
              <a:rPr lang="en-AU" sz="2200" dirty="0" smtClean="0">
                <a:latin typeface="Helvetica" pitchFamily="34" charset="0"/>
              </a:rPr>
              <a:t>Efficient</a:t>
            </a:r>
          </a:p>
          <a:p>
            <a:pPr>
              <a:spcBef>
                <a:spcPts val="600"/>
              </a:spcBef>
              <a:spcAft>
                <a:spcPts val="1200"/>
              </a:spcAft>
            </a:pPr>
            <a:r>
              <a:rPr lang="en-AU" sz="2200" dirty="0" smtClean="0">
                <a:latin typeface="Helvetica" pitchFamily="34" charset="0"/>
              </a:rPr>
              <a:t>Respectful</a:t>
            </a:r>
          </a:p>
          <a:p>
            <a:pPr>
              <a:spcBef>
                <a:spcPts val="600"/>
              </a:spcBef>
              <a:spcAft>
                <a:spcPts val="1200"/>
              </a:spcAft>
            </a:pPr>
            <a:r>
              <a:rPr lang="en-AU" sz="2200" dirty="0" smtClean="0">
                <a:latin typeface="Helvetica" pitchFamily="34" charset="0"/>
              </a:rPr>
              <a:t>Courteous</a:t>
            </a:r>
          </a:p>
          <a:p>
            <a:pPr>
              <a:spcBef>
                <a:spcPts val="600"/>
              </a:spcBef>
              <a:spcAft>
                <a:spcPts val="1200"/>
              </a:spcAft>
            </a:pPr>
            <a:r>
              <a:rPr lang="en-AU" sz="2200" dirty="0" smtClean="0">
                <a:latin typeface="Helvetica" pitchFamily="34" charset="0"/>
              </a:rPr>
              <a:t>Thorough</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7" name="Picture 6" descr="MP900316785[1].JPG"/>
          <p:cNvPicPr>
            <a:picLocks noChangeAspect="1"/>
          </p:cNvPicPr>
          <p:nvPr/>
        </p:nvPicPr>
        <p:blipFill>
          <a:blip r:embed="rId3" cstate="print"/>
          <a:stretch>
            <a:fillRect/>
          </a:stretch>
        </p:blipFill>
        <p:spPr>
          <a:xfrm>
            <a:off x="6012160" y="3717032"/>
            <a:ext cx="2370213" cy="1576192"/>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Being sensitive</a:t>
            </a:r>
          </a:p>
          <a:p>
            <a:pPr marL="0">
              <a:spcBef>
                <a:spcPts val="600"/>
              </a:spcBef>
              <a:spcAft>
                <a:spcPts val="1200"/>
              </a:spcAft>
              <a:buNone/>
            </a:pPr>
            <a:r>
              <a:rPr lang="en-AU" sz="2200" dirty="0" smtClean="0">
                <a:latin typeface="Helvetica" pitchFamily="34" charset="0"/>
              </a:rPr>
              <a:t>Being sensitive when dealing with a customer complaint asks you to:</a:t>
            </a:r>
          </a:p>
          <a:p>
            <a:pPr>
              <a:spcBef>
                <a:spcPts val="600"/>
              </a:spcBef>
              <a:spcAft>
                <a:spcPts val="1200"/>
              </a:spcAft>
            </a:pPr>
            <a:r>
              <a:rPr lang="en-AU" sz="2200" dirty="0" smtClean="0">
                <a:latin typeface="Helvetica" pitchFamily="34" charset="0"/>
              </a:rPr>
              <a:t>Take all complaints seriously</a:t>
            </a:r>
          </a:p>
          <a:p>
            <a:pPr>
              <a:spcBef>
                <a:spcPts val="600"/>
              </a:spcBef>
              <a:spcAft>
                <a:spcPts val="1200"/>
              </a:spcAft>
            </a:pPr>
            <a:r>
              <a:rPr lang="en-AU" sz="2200" dirty="0" smtClean="0">
                <a:latin typeface="Helvetica" pitchFamily="34" charset="0"/>
              </a:rPr>
              <a:t>Take time to assess the environment </a:t>
            </a:r>
          </a:p>
          <a:p>
            <a:pPr>
              <a:spcBef>
                <a:spcPts val="600"/>
              </a:spcBef>
              <a:spcAft>
                <a:spcPts val="1200"/>
              </a:spcAft>
            </a:pPr>
            <a:r>
              <a:rPr lang="en-AU" sz="2200" dirty="0" smtClean="0">
                <a:latin typeface="Helvetica" pitchFamily="34" charset="0"/>
              </a:rPr>
              <a:t>Factor in relevant issues </a:t>
            </a:r>
          </a:p>
          <a:p>
            <a:pPr>
              <a:spcBef>
                <a:spcPts val="600"/>
              </a:spcBef>
              <a:spcAft>
                <a:spcPts val="1200"/>
              </a:spcAft>
            </a:pPr>
            <a:r>
              <a:rPr lang="en-AU" sz="2200" dirty="0" smtClean="0">
                <a:latin typeface="Helvetica" pitchFamily="34" charset="0"/>
              </a:rPr>
              <a:t>Approach each situation appropriately </a:t>
            </a:r>
          </a:p>
          <a:p>
            <a:pPr>
              <a:spcBef>
                <a:spcPts val="600"/>
              </a:spcBef>
              <a:spcAft>
                <a:spcPts val="1200"/>
              </a:spcAft>
            </a:pPr>
            <a:r>
              <a:rPr lang="en-AU" sz="2200" dirty="0" smtClean="0">
                <a:latin typeface="Helvetica" pitchFamily="34" charset="0"/>
              </a:rPr>
              <a:t>Make requests and suggestions to people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6" name="Picture 5" descr="MP900443443.JPG"/>
          <p:cNvPicPr/>
          <p:nvPr/>
        </p:nvPicPr>
        <p:blipFill>
          <a:blip r:embed="rId3" cstate="print"/>
          <a:stretch>
            <a:fillRect/>
          </a:stretch>
        </p:blipFill>
        <p:spPr>
          <a:xfrm>
            <a:off x="6732240" y="3284984"/>
            <a:ext cx="1652191" cy="1971849"/>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Being courteous </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Being courteous means being polite:</a:t>
            </a:r>
          </a:p>
          <a:p>
            <a:pPr lvl="0">
              <a:spcBef>
                <a:spcPts val="600"/>
              </a:spcBef>
              <a:spcAft>
                <a:spcPts val="1200"/>
              </a:spcAft>
            </a:pPr>
            <a:r>
              <a:rPr lang="en-AU" sz="2200" dirty="0" smtClean="0">
                <a:latin typeface="Helvetica" pitchFamily="34" charset="0"/>
              </a:rPr>
              <a:t>Use people’s name, where known</a:t>
            </a:r>
          </a:p>
          <a:p>
            <a:pPr lvl="0">
              <a:spcBef>
                <a:spcPts val="600"/>
              </a:spcBef>
              <a:spcAft>
                <a:spcPts val="1200"/>
              </a:spcAft>
            </a:pPr>
            <a:r>
              <a:rPr lang="en-AU" sz="2200" dirty="0" smtClean="0">
                <a:latin typeface="Helvetica" pitchFamily="34" charset="0"/>
              </a:rPr>
              <a:t>Say ‘please’ when asking them to do something</a:t>
            </a:r>
          </a:p>
          <a:p>
            <a:pPr lvl="0">
              <a:spcBef>
                <a:spcPts val="600"/>
              </a:spcBef>
              <a:spcAft>
                <a:spcPts val="1200"/>
              </a:spcAft>
            </a:pPr>
            <a:r>
              <a:rPr lang="en-AU" sz="2200" dirty="0" smtClean="0">
                <a:latin typeface="Helvetica" pitchFamily="34" charset="0"/>
              </a:rPr>
              <a:t>Say ‘thank you’ if they comply with a request</a:t>
            </a:r>
          </a:p>
          <a:p>
            <a:pPr>
              <a:spcBef>
                <a:spcPts val="600"/>
              </a:spcBef>
              <a:spcAft>
                <a:spcPts val="1200"/>
              </a:spcAft>
            </a:pPr>
            <a:r>
              <a:rPr lang="en-AU" sz="2200" dirty="0" smtClean="0">
                <a:latin typeface="Helvetica" pitchFamily="34" charset="0"/>
              </a:rPr>
              <a:t>Demonstrate respect for them </a:t>
            </a:r>
          </a:p>
          <a:p>
            <a:pPr>
              <a:spcBef>
                <a:spcPts val="600"/>
              </a:spcBef>
              <a:spcAft>
                <a:spcPts val="1200"/>
              </a:spcAft>
            </a:pPr>
            <a:r>
              <a:rPr lang="en-AU" sz="2200" dirty="0" smtClean="0">
                <a:latin typeface="Helvetica" pitchFamily="34" charset="0"/>
              </a:rPr>
              <a:t>Use open gestures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7" name="Picture 6" descr="MP900442744[1].JPG"/>
          <p:cNvPicPr/>
          <p:nvPr/>
        </p:nvPicPr>
        <p:blipFill>
          <a:blip r:embed="rId3" cstate="print"/>
          <a:stretch>
            <a:fillRect/>
          </a:stretch>
        </p:blipFill>
        <p:spPr>
          <a:xfrm>
            <a:off x="6228184" y="3933056"/>
            <a:ext cx="2163490" cy="1464742"/>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GB" sz="3400" b="1" dirty="0" smtClean="0">
                <a:solidFill>
                  <a:srgbClr val="FF6600"/>
                </a:solidFill>
                <a:latin typeface="Helvetica" pitchFamily="34" charset="0"/>
              </a:rPr>
              <a:t>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Being discreet</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Being discreet when dealing with complaints asks you to:</a:t>
            </a:r>
          </a:p>
          <a:p>
            <a:pPr lvl="0">
              <a:spcBef>
                <a:spcPts val="600"/>
              </a:spcBef>
              <a:spcAft>
                <a:spcPts val="1200"/>
              </a:spcAft>
            </a:pPr>
            <a:r>
              <a:rPr lang="en-AU" sz="2200" dirty="0" smtClean="0">
                <a:latin typeface="Helvetica" pitchFamily="34" charset="0"/>
              </a:rPr>
              <a:t>Talk quietly to the person</a:t>
            </a:r>
          </a:p>
          <a:p>
            <a:pPr lvl="0">
              <a:spcBef>
                <a:spcPts val="600"/>
              </a:spcBef>
              <a:spcAft>
                <a:spcPts val="1200"/>
              </a:spcAft>
            </a:pPr>
            <a:r>
              <a:rPr lang="en-AU" sz="2200" dirty="0" smtClean="0">
                <a:latin typeface="Helvetica" pitchFamily="34" charset="0"/>
              </a:rPr>
              <a:t>Remove the person to another area, if possible</a:t>
            </a:r>
          </a:p>
          <a:p>
            <a:pPr lvl="0">
              <a:spcBef>
                <a:spcPts val="600"/>
              </a:spcBef>
              <a:spcAft>
                <a:spcPts val="1200"/>
              </a:spcAft>
            </a:pPr>
            <a:r>
              <a:rPr lang="en-AU" sz="2200" dirty="0" smtClean="0">
                <a:latin typeface="Helvetica" pitchFamily="34" charset="0"/>
              </a:rPr>
              <a:t>Take whatever action is appropriate to deal with the situation without drawing unnecessary attention to it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6" name="Picture 5" descr="MP900443225[1].JPG"/>
          <p:cNvPicPr/>
          <p:nvPr/>
        </p:nvPicPr>
        <p:blipFill>
          <a:blip r:embed="rId3" cstate="print"/>
          <a:stretch>
            <a:fillRect/>
          </a:stretch>
        </p:blipFill>
        <p:spPr>
          <a:xfrm>
            <a:off x="6444208" y="4221088"/>
            <a:ext cx="1944216" cy="1296144"/>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Handling complaints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Handling complaints</a:t>
            </a:r>
          </a:p>
          <a:p>
            <a:pPr>
              <a:spcBef>
                <a:spcPts val="600"/>
              </a:spcBef>
              <a:spcAft>
                <a:spcPts val="1200"/>
              </a:spcAft>
            </a:pPr>
            <a:r>
              <a:rPr lang="en-AU" sz="2200" dirty="0" smtClean="0">
                <a:latin typeface="Helvetica" pitchFamily="34" charset="0"/>
              </a:rPr>
              <a:t>What, in your opinion is the best way to handle complaints?</a:t>
            </a:r>
          </a:p>
          <a:p>
            <a:pPr>
              <a:spcBef>
                <a:spcPts val="600"/>
              </a:spcBef>
              <a:spcAft>
                <a:spcPts val="1200"/>
              </a:spcAft>
            </a:pPr>
            <a:r>
              <a:rPr lang="en-AU" sz="2200" dirty="0" smtClean="0">
                <a:latin typeface="Helvetica" pitchFamily="34" charset="0"/>
              </a:rPr>
              <a:t>What would you do first?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7" name="Picture 6" descr="MP900443206[1].JPG"/>
          <p:cNvPicPr>
            <a:picLocks noChangeAspect="1"/>
          </p:cNvPicPr>
          <p:nvPr/>
        </p:nvPicPr>
        <p:blipFill>
          <a:blip r:embed="rId3" cstate="print"/>
          <a:stretch>
            <a:fillRect/>
          </a:stretch>
        </p:blipFill>
        <p:spPr>
          <a:xfrm>
            <a:off x="6660232" y="2564904"/>
            <a:ext cx="1654973" cy="2479536"/>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Greeting the customer</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Handling complaints</a:t>
            </a:r>
          </a:p>
          <a:p>
            <a:pPr>
              <a:spcBef>
                <a:spcPts val="600"/>
              </a:spcBef>
              <a:spcAft>
                <a:spcPts val="1200"/>
              </a:spcAft>
            </a:pPr>
            <a:r>
              <a:rPr lang="en-GB" sz="2200" dirty="0" smtClean="0">
                <a:latin typeface="Helvetica" pitchFamily="34" charset="0"/>
              </a:rPr>
              <a:t>Greet them</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Identify yourself</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Identify who the guest is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Thank them for bringing the complaint </a:t>
            </a:r>
            <a:br>
              <a:rPr lang="en-GB" sz="2200" dirty="0" smtClean="0">
                <a:latin typeface="Helvetica" pitchFamily="34" charset="0"/>
              </a:rPr>
            </a:br>
            <a:r>
              <a:rPr lang="en-GB" sz="2200" dirty="0" smtClean="0">
                <a:latin typeface="Helvetica" pitchFamily="34" charset="0"/>
              </a:rPr>
              <a:t>to their attention</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8" name="Picture 7" descr="j0442995.jpg"/>
          <p:cNvPicPr>
            <a:picLocks noChangeAspect="1"/>
          </p:cNvPicPr>
          <p:nvPr/>
        </p:nvPicPr>
        <p:blipFill>
          <a:blip r:embed="rId3" cstate="print"/>
          <a:stretch>
            <a:fillRect/>
          </a:stretch>
        </p:blipFill>
        <p:spPr>
          <a:xfrm>
            <a:off x="6876256" y="3212976"/>
            <a:ext cx="1516353" cy="2015917"/>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Greeting the customer</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Handling complaints</a:t>
            </a:r>
          </a:p>
          <a:p>
            <a:pPr>
              <a:spcBef>
                <a:spcPts val="600"/>
              </a:spcBef>
              <a:spcAft>
                <a:spcPts val="1200"/>
              </a:spcAft>
            </a:pPr>
            <a:r>
              <a:rPr lang="en-GB" sz="2200" dirty="0" smtClean="0">
                <a:latin typeface="Helvetica" pitchFamily="34" charset="0"/>
              </a:rPr>
              <a:t>Offer assistance in trying to find a suitable solution to their complaint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Take the person to a suitable location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Depending on the situation, you may wish to offer them a refreshment</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6" name="Picture 5" descr="MP900443061[1].JPG"/>
          <p:cNvPicPr/>
          <p:nvPr/>
        </p:nvPicPr>
        <p:blipFill>
          <a:blip r:embed="rId3" cstate="print"/>
          <a:stretch>
            <a:fillRect/>
          </a:stretch>
        </p:blipFill>
        <p:spPr>
          <a:xfrm>
            <a:off x="6300192" y="3789040"/>
            <a:ext cx="2047488" cy="1436365"/>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Use effective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Once we have greeted the customer, one of the most important aspects of handling customer complaints effectively is through the use of effective communication:</a:t>
            </a:r>
          </a:p>
          <a:p>
            <a:pPr>
              <a:spcBef>
                <a:spcPts val="600"/>
              </a:spcBef>
              <a:spcAft>
                <a:spcPts val="1200"/>
              </a:spcAft>
            </a:pPr>
            <a:r>
              <a:rPr lang="en-AU" sz="2200" dirty="0" smtClean="0">
                <a:latin typeface="Helvetica" pitchFamily="34" charset="0"/>
              </a:rPr>
              <a:t>What ways do we communicate with each other?</a:t>
            </a:r>
          </a:p>
          <a:p>
            <a:pPr>
              <a:spcBef>
                <a:spcPts val="600"/>
              </a:spcBef>
              <a:spcAft>
                <a:spcPts val="1200"/>
              </a:spcAft>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7" name="Picture 6" descr="j0409289.jpg"/>
          <p:cNvPicPr>
            <a:picLocks noChangeAspect="1"/>
          </p:cNvPicPr>
          <p:nvPr/>
        </p:nvPicPr>
        <p:blipFill>
          <a:blip r:embed="rId3" cstate="print"/>
          <a:stretch>
            <a:fillRect/>
          </a:stretch>
        </p:blipFill>
        <p:spPr>
          <a:xfrm>
            <a:off x="6660232" y="3645024"/>
            <a:ext cx="1700808" cy="1700808"/>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GB" sz="3400" b="1" dirty="0" smtClean="0">
                <a:solidFill>
                  <a:srgbClr val="FF6600"/>
                </a:solidFill>
                <a:latin typeface="Helvetica" pitchFamily="34" charset="0"/>
              </a:rPr>
              <a:t>Use effective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Communication skills</a:t>
            </a:r>
            <a:endParaRPr lang="en-AU" sz="2200" dirty="0" smtClean="0">
              <a:latin typeface="Helvetica" pitchFamily="34" charset="0"/>
            </a:endParaRPr>
          </a:p>
          <a:p>
            <a:pPr marL="63500" indent="0">
              <a:spcBef>
                <a:spcPts val="600"/>
              </a:spcBef>
              <a:spcAft>
                <a:spcPts val="1200"/>
              </a:spcAft>
              <a:buNone/>
            </a:pPr>
            <a:r>
              <a:rPr lang="en-AU" sz="2200" dirty="0" smtClean="0">
                <a:latin typeface="Helvetica" pitchFamily="34" charset="0"/>
              </a:rPr>
              <a:t>Communication involves sending and receiving messages:</a:t>
            </a:r>
          </a:p>
          <a:p>
            <a:pPr lvl="0">
              <a:spcBef>
                <a:spcPts val="600"/>
              </a:spcBef>
              <a:spcAft>
                <a:spcPts val="1200"/>
              </a:spcAft>
            </a:pPr>
            <a:r>
              <a:rPr lang="en-AU" sz="2200" dirty="0" smtClean="0">
                <a:latin typeface="Helvetica" pitchFamily="34" charset="0"/>
              </a:rPr>
              <a:t>Verbally</a:t>
            </a:r>
          </a:p>
          <a:p>
            <a:pPr lvl="0">
              <a:spcBef>
                <a:spcPts val="600"/>
              </a:spcBef>
              <a:spcAft>
                <a:spcPts val="1200"/>
              </a:spcAft>
            </a:pPr>
            <a:r>
              <a:rPr lang="en-AU" sz="2200" dirty="0" smtClean="0">
                <a:latin typeface="Helvetica" pitchFamily="34" charset="0"/>
              </a:rPr>
              <a:t>Non-verbally</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6" name="Picture 5" descr="2369412952_797e2f8141_m.jpg"/>
          <p:cNvPicPr>
            <a:picLocks noChangeAspect="1"/>
          </p:cNvPicPr>
          <p:nvPr/>
        </p:nvPicPr>
        <p:blipFill>
          <a:blip r:embed="rId3" cstate="print"/>
          <a:stretch>
            <a:fillRect/>
          </a:stretch>
        </p:blipFill>
        <p:spPr>
          <a:xfrm>
            <a:off x="6228184" y="3573016"/>
            <a:ext cx="2196075" cy="1647056"/>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Use effective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Communication skills – verbal</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Listening</a:t>
            </a:r>
          </a:p>
          <a:p>
            <a:pPr>
              <a:spcBef>
                <a:spcPts val="600"/>
              </a:spcBef>
              <a:spcAft>
                <a:spcPts val="1200"/>
              </a:spcAft>
            </a:pPr>
            <a:r>
              <a:rPr lang="en-AU" sz="2200" dirty="0" smtClean="0">
                <a:latin typeface="Helvetica" pitchFamily="34" charset="0"/>
              </a:rPr>
              <a:t>Questioning</a:t>
            </a:r>
          </a:p>
          <a:p>
            <a:pPr>
              <a:spcBef>
                <a:spcPts val="600"/>
              </a:spcBef>
              <a:spcAft>
                <a:spcPts val="1200"/>
              </a:spcAft>
            </a:pPr>
            <a:r>
              <a:rPr lang="en-AU" sz="2200" dirty="0" smtClean="0">
                <a:latin typeface="Helvetica" pitchFamily="34" charset="0"/>
              </a:rPr>
              <a:t>Speaking </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5" name="imgHvThumb" descr="View details">
            <a:hlinkClick r:id="rId3"/>
          </p:cNvPr>
          <p:cNvPicPr/>
          <p:nvPr/>
        </p:nvPicPr>
        <p:blipFill>
          <a:blip r:embed="rId4" cstate="print"/>
          <a:srcRect l="18750" r="15625" b="3226"/>
          <a:stretch>
            <a:fillRect/>
          </a:stretch>
        </p:blipFill>
        <p:spPr bwMode="auto">
          <a:xfrm>
            <a:off x="6732240" y="2852936"/>
            <a:ext cx="1512168" cy="21602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Use effective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Communication skills – non-verbal</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Facial expressions</a:t>
            </a:r>
          </a:p>
          <a:p>
            <a:pPr lvl="0">
              <a:spcBef>
                <a:spcPts val="600"/>
              </a:spcBef>
              <a:spcAft>
                <a:spcPts val="1200"/>
              </a:spcAft>
            </a:pPr>
            <a:r>
              <a:rPr lang="en-AU" sz="2200" dirty="0" smtClean="0">
                <a:latin typeface="Helvetica" pitchFamily="34" charset="0"/>
              </a:rPr>
              <a:t>Eye contact</a:t>
            </a:r>
          </a:p>
          <a:p>
            <a:pPr lvl="0">
              <a:spcBef>
                <a:spcPts val="600"/>
              </a:spcBef>
              <a:spcAft>
                <a:spcPts val="1200"/>
              </a:spcAft>
            </a:pPr>
            <a:r>
              <a:rPr lang="en-AU" sz="2200" dirty="0" smtClean="0">
                <a:latin typeface="Helvetica" pitchFamily="34" charset="0"/>
              </a:rPr>
              <a:t>Gestures</a:t>
            </a:r>
          </a:p>
          <a:p>
            <a:pPr lvl="0">
              <a:spcBef>
                <a:spcPts val="600"/>
              </a:spcBef>
              <a:spcAft>
                <a:spcPts val="1200"/>
              </a:spcAft>
            </a:pPr>
            <a:r>
              <a:rPr lang="en-AU" sz="2200" dirty="0" smtClean="0">
                <a:latin typeface="Helvetica" pitchFamily="34" charset="0"/>
              </a:rPr>
              <a:t>Posture</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5" name="Picture 4" descr="MP900422777[1].JPG"/>
          <p:cNvPicPr>
            <a:picLocks noChangeAspect="1"/>
          </p:cNvPicPr>
          <p:nvPr/>
        </p:nvPicPr>
        <p:blipFill>
          <a:blip r:embed="rId3" cstate="print"/>
          <a:stretch>
            <a:fillRect/>
          </a:stretch>
        </p:blipFill>
        <p:spPr>
          <a:xfrm>
            <a:off x="6372200" y="3140968"/>
            <a:ext cx="2060848" cy="2060848"/>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GB" sz="3400" b="1" dirty="0" smtClean="0">
                <a:solidFill>
                  <a:srgbClr val="FF6600"/>
                </a:solidFill>
                <a:latin typeface="Helvetica" pitchFamily="34" charset="0"/>
              </a:rPr>
              <a:t>Use effective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Interpersonal skills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following skills are important for effective workplace communication:</a:t>
            </a:r>
          </a:p>
          <a:p>
            <a:pPr lvl="0">
              <a:spcBef>
                <a:spcPts val="600"/>
              </a:spcBef>
              <a:spcAft>
                <a:spcPts val="1200"/>
              </a:spcAft>
            </a:pPr>
            <a:r>
              <a:rPr lang="en-AU" sz="2200" dirty="0" smtClean="0">
                <a:latin typeface="Helvetica" pitchFamily="34" charset="0"/>
              </a:rPr>
              <a:t>Face the person you are talking with</a:t>
            </a:r>
          </a:p>
          <a:p>
            <a:pPr lvl="0">
              <a:spcBef>
                <a:spcPts val="600"/>
              </a:spcBef>
              <a:spcAft>
                <a:spcPts val="1200"/>
              </a:spcAft>
            </a:pPr>
            <a:r>
              <a:rPr lang="en-AU" sz="2200" dirty="0" smtClean="0">
                <a:latin typeface="Helvetica" pitchFamily="34" charset="0"/>
              </a:rPr>
              <a:t>Maintain eye contact if possible</a:t>
            </a:r>
          </a:p>
          <a:p>
            <a:pPr lvl="0">
              <a:spcBef>
                <a:spcPts val="600"/>
              </a:spcBef>
              <a:spcAft>
                <a:spcPts val="1200"/>
              </a:spcAft>
            </a:pPr>
            <a:r>
              <a:rPr lang="en-AU" sz="2200" dirty="0" smtClean="0">
                <a:latin typeface="Helvetica" pitchFamily="34" charset="0"/>
              </a:rPr>
              <a:t>Address the person by their name</a:t>
            </a:r>
          </a:p>
          <a:p>
            <a:pPr lvl="0">
              <a:spcBef>
                <a:spcPts val="600"/>
              </a:spcBef>
              <a:spcAft>
                <a:spcPts val="1200"/>
              </a:spcAft>
            </a:pPr>
            <a:r>
              <a:rPr lang="en-AU" sz="2200" dirty="0" smtClean="0">
                <a:latin typeface="Helvetica" pitchFamily="34" charset="0"/>
              </a:rPr>
              <a:t>Establish a rapport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5" name="Picture 4" descr="MP900443186[1].JPG"/>
          <p:cNvPicPr/>
          <p:nvPr/>
        </p:nvPicPr>
        <p:blipFill>
          <a:blip r:embed="rId3" cstate="print"/>
          <a:stretch>
            <a:fillRect/>
          </a:stretch>
        </p:blipFill>
        <p:spPr>
          <a:xfrm>
            <a:off x="6084168" y="3717032"/>
            <a:ext cx="2270041" cy="1584945"/>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Verbal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Listening</a:t>
            </a:r>
          </a:p>
          <a:p>
            <a:pPr marL="0">
              <a:spcBef>
                <a:spcPts val="600"/>
              </a:spcBef>
              <a:spcAft>
                <a:spcPts val="1200"/>
              </a:spcAft>
              <a:buNone/>
            </a:pPr>
            <a:r>
              <a:rPr lang="en-GB" sz="2200" dirty="0" smtClean="0">
                <a:latin typeface="Helvetica" pitchFamily="34" charset="0"/>
              </a:rPr>
              <a:t>At this time the most important thing to do is to listen so you can: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Identify the main points of the complaint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Separate the actual aspects of the </a:t>
            </a:r>
            <a:br>
              <a:rPr lang="en-GB" sz="2200" dirty="0" smtClean="0">
                <a:latin typeface="Helvetica" pitchFamily="34" charset="0"/>
              </a:rPr>
            </a:br>
            <a:r>
              <a:rPr lang="en-GB" sz="2200" dirty="0" smtClean="0">
                <a:latin typeface="Helvetica" pitchFamily="34" charset="0"/>
              </a:rPr>
              <a:t>complaint from the emotion</a:t>
            </a:r>
          </a:p>
          <a:p>
            <a:pPr>
              <a:spcBef>
                <a:spcPts val="600"/>
              </a:spcBef>
              <a:spcAft>
                <a:spcPts val="1200"/>
              </a:spcAft>
            </a:pPr>
            <a:r>
              <a:rPr lang="en-GB" sz="2200" dirty="0" smtClean="0">
                <a:latin typeface="Helvetica" pitchFamily="34" charset="0"/>
              </a:rPr>
              <a:t>Identify a possible suggested solution</a:t>
            </a:r>
          </a:p>
          <a:p>
            <a:pPr>
              <a:spcBef>
                <a:spcPts val="600"/>
              </a:spcBef>
              <a:spcAft>
                <a:spcPts val="1200"/>
              </a:spcAft>
            </a:pPr>
            <a:r>
              <a:rPr lang="en-GB" sz="2200" i="1" dirty="0" smtClean="0">
                <a:latin typeface="Helvetica" pitchFamily="34" charset="0"/>
              </a:rPr>
              <a:t>The customer must be given the                                  time to say their piece!</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7" name="Picture 6" descr="00385537.jpg"/>
          <p:cNvPicPr/>
          <p:nvPr/>
        </p:nvPicPr>
        <p:blipFill>
          <a:blip r:embed="rId3" cstate="print"/>
          <a:stretch>
            <a:fillRect/>
          </a:stretch>
        </p:blipFill>
        <p:spPr>
          <a:xfrm>
            <a:off x="7040066" y="3366492"/>
            <a:ext cx="1276350" cy="1790700"/>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GB" sz="3400" b="1" dirty="0" smtClean="0">
                <a:solidFill>
                  <a:srgbClr val="FF6600"/>
                </a:solidFill>
                <a:latin typeface="Helvetica" pitchFamily="34" charset="0"/>
              </a:rPr>
              <a:t>Verbal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Questioning</a:t>
            </a:r>
          </a:p>
          <a:p>
            <a:pPr>
              <a:spcBef>
                <a:spcPts val="600"/>
              </a:spcBef>
              <a:spcAft>
                <a:spcPts val="1200"/>
              </a:spcAft>
              <a:buNone/>
            </a:pPr>
            <a:r>
              <a:rPr lang="en-GB" sz="2200" dirty="0" smtClean="0">
                <a:latin typeface="Helvetica" pitchFamily="34" charset="0"/>
              </a:rPr>
              <a:t>Asking questions also enables you to:</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Acquire more accurate information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Identify what the other person wants in order</a:t>
            </a:r>
            <a:br>
              <a:rPr lang="en-GB" sz="2200" dirty="0" smtClean="0">
                <a:latin typeface="Helvetica" pitchFamily="34" charset="0"/>
              </a:rPr>
            </a:br>
            <a:r>
              <a:rPr lang="en-GB" sz="2200" dirty="0" smtClean="0">
                <a:latin typeface="Helvetica" pitchFamily="34" charset="0"/>
              </a:rPr>
              <a:t>to solve the complaint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Demonstrate you are actively and genuinely </a:t>
            </a:r>
            <a:br>
              <a:rPr lang="en-GB" sz="2200" dirty="0" smtClean="0">
                <a:latin typeface="Helvetica" pitchFamily="34" charset="0"/>
              </a:rPr>
            </a:br>
            <a:r>
              <a:rPr lang="en-GB" sz="2200" dirty="0" smtClean="0">
                <a:latin typeface="Helvetica" pitchFamily="34" charset="0"/>
              </a:rPr>
              <a:t>interested in resolving the complaint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Clarify ambiguities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Better understand contexts</a:t>
            </a:r>
            <a:endParaRPr lang="en-AU" sz="2200" dirty="0" smtClean="0">
              <a:latin typeface="Helvetica" pitchFamily="34" charset="0"/>
            </a:endParaRPr>
          </a:p>
          <a:p>
            <a:pPr>
              <a:spcBef>
                <a:spcPts val="600"/>
              </a:spcBef>
              <a:spcAft>
                <a:spcPts val="1200"/>
              </a:spcAft>
              <a:buNone/>
            </a:pPr>
            <a:endParaRPr lang="en-AU" sz="2200" i="1" dirty="0" smtClean="0">
              <a:latin typeface="Helvetica" pitchFamily="34" charset="0"/>
            </a:endParaRP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7" name="Picture 6" descr="MP900285131[1].JPG"/>
          <p:cNvPicPr>
            <a:picLocks noChangeAspect="1"/>
          </p:cNvPicPr>
          <p:nvPr/>
        </p:nvPicPr>
        <p:blipFill>
          <a:blip r:embed="rId3" cstate="print"/>
          <a:stretch>
            <a:fillRect/>
          </a:stretch>
        </p:blipFill>
        <p:spPr>
          <a:xfrm>
            <a:off x="7020272" y="3212976"/>
            <a:ext cx="1352992" cy="2044824"/>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Verbal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600"/>
              </a:spcAft>
              <a:buNone/>
            </a:pPr>
            <a:r>
              <a:rPr lang="en-AU" sz="2200" b="1" dirty="0" smtClean="0">
                <a:latin typeface="Helvetica" pitchFamily="34" charset="0"/>
              </a:rPr>
              <a:t>Types of questions</a:t>
            </a:r>
          </a:p>
          <a:p>
            <a:pPr>
              <a:spcBef>
                <a:spcPts val="600"/>
              </a:spcBef>
              <a:spcAft>
                <a:spcPts val="600"/>
              </a:spcAft>
              <a:buNone/>
            </a:pPr>
            <a:r>
              <a:rPr lang="en-AU" sz="2200" dirty="0" smtClean="0">
                <a:latin typeface="Helvetica" pitchFamily="34" charset="0"/>
              </a:rPr>
              <a:t>Closed questions:</a:t>
            </a:r>
          </a:p>
          <a:p>
            <a:pPr>
              <a:spcBef>
                <a:spcPts val="600"/>
              </a:spcBef>
              <a:spcAft>
                <a:spcPts val="600"/>
              </a:spcAft>
            </a:pPr>
            <a:r>
              <a:rPr lang="en-AU" sz="2200" dirty="0" smtClean="0">
                <a:latin typeface="Helvetica" pitchFamily="34" charset="0"/>
              </a:rPr>
              <a:t>Asking closed questions clarifies or confirms information</a:t>
            </a:r>
          </a:p>
          <a:p>
            <a:pPr>
              <a:spcBef>
                <a:spcPts val="600"/>
              </a:spcBef>
              <a:spcAft>
                <a:spcPts val="600"/>
              </a:spcAft>
            </a:pPr>
            <a:r>
              <a:rPr lang="en-AU" sz="2200" dirty="0" smtClean="0">
                <a:latin typeface="Helvetica" pitchFamily="34" charset="0"/>
              </a:rPr>
              <a:t>Simple ‘Yes” or “No” answer</a:t>
            </a:r>
            <a:endParaRPr lang="en-AU" sz="2200" i="1" dirty="0" smtClean="0">
              <a:latin typeface="Helvetica" pitchFamily="34" charset="0"/>
            </a:endParaRPr>
          </a:p>
          <a:p>
            <a:pPr>
              <a:spcBef>
                <a:spcPts val="600"/>
              </a:spcBef>
              <a:spcAft>
                <a:spcPts val="600"/>
              </a:spcAft>
              <a:buNone/>
            </a:pPr>
            <a:r>
              <a:rPr lang="en-AU" sz="2200" dirty="0" smtClean="0">
                <a:latin typeface="Helvetica" pitchFamily="34" charset="0"/>
              </a:rPr>
              <a:t>Open questions:</a:t>
            </a:r>
          </a:p>
          <a:p>
            <a:pPr>
              <a:spcBef>
                <a:spcPts val="600"/>
              </a:spcBef>
              <a:spcAft>
                <a:spcPts val="600"/>
              </a:spcAft>
            </a:pPr>
            <a:r>
              <a:rPr lang="en-AU" sz="2200" dirty="0" smtClean="0">
                <a:latin typeface="Helvetica" pitchFamily="34" charset="0"/>
              </a:rPr>
              <a:t>Asking open questions is often used to                      gain more information</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00302919.jpg"/>
          <p:cNvPicPr/>
          <p:nvPr/>
        </p:nvPicPr>
        <p:blipFill>
          <a:blip r:embed="rId3" cstate="print"/>
          <a:stretch>
            <a:fillRect/>
          </a:stretch>
        </p:blipFill>
        <p:spPr>
          <a:xfrm>
            <a:off x="6876256" y="3212976"/>
            <a:ext cx="1531615" cy="199834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Verbal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Questioning techniques</a:t>
            </a:r>
          </a:p>
          <a:p>
            <a:pPr marL="0">
              <a:spcBef>
                <a:spcPts val="600"/>
              </a:spcBef>
              <a:spcAft>
                <a:spcPts val="1200"/>
              </a:spcAft>
              <a:buNone/>
            </a:pPr>
            <a:r>
              <a:rPr lang="en-AU" sz="2200" dirty="0" smtClean="0">
                <a:latin typeface="Helvetica" pitchFamily="34" charset="0"/>
              </a:rPr>
              <a:t>Useful techniques when questioning people to obtain information about a complaint or to determine a possible solution are to:</a:t>
            </a:r>
          </a:p>
          <a:p>
            <a:pPr>
              <a:spcBef>
                <a:spcPts val="600"/>
              </a:spcBef>
              <a:spcAft>
                <a:spcPts val="1200"/>
              </a:spcAft>
            </a:pPr>
            <a:r>
              <a:rPr lang="en-GB" sz="2200" dirty="0" smtClean="0">
                <a:latin typeface="Helvetica" pitchFamily="34" charset="0"/>
              </a:rPr>
              <a:t>Rephrase or repeat questions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Paraphrase the responses they have given you</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7" name="Picture 6" descr="MP900285031[1].JPG"/>
          <p:cNvPicPr>
            <a:picLocks noChangeAspect="1"/>
          </p:cNvPicPr>
          <p:nvPr/>
        </p:nvPicPr>
        <p:blipFill>
          <a:blip r:embed="rId3" cstate="print"/>
          <a:stretch>
            <a:fillRect/>
          </a:stretch>
        </p:blipFill>
        <p:spPr>
          <a:xfrm>
            <a:off x="6444208" y="4077072"/>
            <a:ext cx="1938179" cy="1275968"/>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Non verbal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Observing customer’s body language</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When we listen and question, we are also:</a:t>
            </a:r>
          </a:p>
          <a:p>
            <a:pPr lvl="0">
              <a:spcBef>
                <a:spcPts val="600"/>
              </a:spcBef>
              <a:spcAft>
                <a:spcPts val="1200"/>
              </a:spcAft>
            </a:pPr>
            <a:r>
              <a:rPr lang="en-AU" sz="2200" dirty="0" smtClean="0">
                <a:latin typeface="Helvetica" pitchFamily="34" charset="0"/>
              </a:rPr>
              <a:t>Watching to identify non-verbal communication</a:t>
            </a:r>
          </a:p>
          <a:p>
            <a:pPr lvl="0">
              <a:spcBef>
                <a:spcPts val="600"/>
              </a:spcBef>
              <a:spcAft>
                <a:spcPts val="1200"/>
              </a:spcAft>
            </a:pPr>
            <a:r>
              <a:rPr lang="en-AU" sz="2200" dirty="0" smtClean="0">
                <a:latin typeface="Helvetica" pitchFamily="34" charset="0"/>
              </a:rPr>
              <a:t>Analysing what the person is saying</a:t>
            </a:r>
          </a:p>
          <a:p>
            <a:pPr lvl="0">
              <a:spcBef>
                <a:spcPts val="600"/>
              </a:spcBef>
              <a:spcAft>
                <a:spcPts val="1200"/>
              </a:spcAft>
            </a:pPr>
            <a:r>
              <a:rPr lang="en-AU" sz="2200" dirty="0" smtClean="0">
                <a:latin typeface="Helvetica" pitchFamily="34" charset="0"/>
              </a:rPr>
              <a:t>Interpreting the words and the body language</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descr="shutterstock_101015017.jpg"/>
          <p:cNvPicPr>
            <a:picLocks noChangeAspect="1"/>
          </p:cNvPicPr>
          <p:nvPr/>
        </p:nvPicPr>
        <p:blipFill>
          <a:blip r:embed="rId3" cstate="print"/>
          <a:stretch>
            <a:fillRect/>
          </a:stretch>
        </p:blipFill>
        <p:spPr>
          <a:xfrm>
            <a:off x="6660232" y="4077072"/>
            <a:ext cx="1728192" cy="1151677"/>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Non verbal communication</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Transmitting body language</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You need to pay attention to the messages your body language is sending when dealing with a conflict situation: </a:t>
            </a:r>
          </a:p>
          <a:p>
            <a:pPr lvl="0">
              <a:spcBef>
                <a:spcPts val="600"/>
              </a:spcBef>
              <a:spcAft>
                <a:spcPts val="1200"/>
              </a:spcAft>
            </a:pPr>
            <a:r>
              <a:rPr lang="en-AU" sz="2200" dirty="0" smtClean="0">
                <a:latin typeface="Helvetica" pitchFamily="34" charset="0"/>
              </a:rPr>
              <a:t>Your stance and posture</a:t>
            </a:r>
          </a:p>
          <a:p>
            <a:pPr lvl="0">
              <a:spcBef>
                <a:spcPts val="600"/>
              </a:spcBef>
              <a:spcAft>
                <a:spcPts val="1200"/>
              </a:spcAft>
            </a:pPr>
            <a:r>
              <a:rPr lang="en-AU" sz="2200" dirty="0" smtClean="0">
                <a:latin typeface="Helvetica" pitchFamily="34" charset="0"/>
              </a:rPr>
              <a:t>Your facial expressions</a:t>
            </a:r>
          </a:p>
          <a:p>
            <a:pPr lvl="0">
              <a:spcBef>
                <a:spcPts val="600"/>
              </a:spcBef>
              <a:spcAft>
                <a:spcPts val="1200"/>
              </a:spcAft>
            </a:pPr>
            <a:r>
              <a:rPr lang="en-AU" sz="2200" dirty="0" smtClean="0">
                <a:latin typeface="Helvetica" pitchFamily="34" charset="0"/>
              </a:rPr>
              <a:t>How you hold your arms</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6" name="Picture 5" descr="MP900442954[1].JPG"/>
          <p:cNvPicPr>
            <a:picLocks noChangeAspect="1"/>
          </p:cNvPicPr>
          <p:nvPr/>
        </p:nvPicPr>
        <p:blipFill>
          <a:blip r:embed="rId3" cstate="print"/>
          <a:srcRect l="16182" t="8858" r="13039"/>
          <a:stretch>
            <a:fillRect/>
          </a:stretch>
        </p:blipFill>
        <p:spPr>
          <a:xfrm>
            <a:off x="7092280" y="2924944"/>
            <a:ext cx="1152128" cy="2222768"/>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Recording complaint details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Write information</a:t>
            </a:r>
            <a:endParaRPr lang="en-AU" sz="2200" dirty="0" smtClean="0">
              <a:latin typeface="Helvetica" pitchFamily="34" charset="0"/>
            </a:endParaRPr>
          </a:p>
          <a:p>
            <a:pPr marL="0">
              <a:spcBef>
                <a:spcPts val="600"/>
              </a:spcBef>
              <a:spcAft>
                <a:spcPts val="1200"/>
              </a:spcAft>
              <a:buNone/>
            </a:pPr>
            <a:r>
              <a:rPr lang="en-GB" sz="2200" dirty="0" smtClean="0">
                <a:latin typeface="Helvetica" pitchFamily="34" charset="0"/>
              </a:rPr>
              <a:t>When the customer is talking, it is important that you write the information down as it:</a:t>
            </a:r>
          </a:p>
          <a:p>
            <a:pPr>
              <a:spcBef>
                <a:spcPts val="600"/>
              </a:spcBef>
              <a:spcAft>
                <a:spcPts val="1200"/>
              </a:spcAft>
            </a:pPr>
            <a:r>
              <a:rPr lang="en-GB" sz="2200" dirty="0" smtClean="0">
                <a:latin typeface="Helvetica" pitchFamily="34" charset="0"/>
              </a:rPr>
              <a:t>Helps identify the actual aspects of the complaint</a:t>
            </a:r>
          </a:p>
          <a:p>
            <a:pPr>
              <a:spcBef>
                <a:spcPts val="600"/>
              </a:spcBef>
              <a:spcAft>
                <a:spcPts val="1200"/>
              </a:spcAft>
            </a:pPr>
            <a:r>
              <a:rPr lang="en-GB" sz="2200" dirty="0" smtClean="0">
                <a:latin typeface="Helvetica" pitchFamily="34" charset="0"/>
              </a:rPr>
              <a:t>Shows you have taken the complaint seriously </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7" name="Picture 6" descr="MP900424406.JPG"/>
          <p:cNvPicPr/>
          <p:nvPr/>
        </p:nvPicPr>
        <p:blipFill>
          <a:blip r:embed="rId3" cstate="print"/>
          <a:stretch>
            <a:fillRect/>
          </a:stretch>
        </p:blipFill>
        <p:spPr>
          <a:xfrm>
            <a:off x="7164288" y="3501008"/>
            <a:ext cx="1235075" cy="168592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Recording complaint details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Repeat information</a:t>
            </a:r>
            <a:endParaRPr lang="en-AU" sz="2200" dirty="0" smtClean="0">
              <a:latin typeface="Helvetica" pitchFamily="34" charset="0"/>
            </a:endParaRPr>
          </a:p>
          <a:p>
            <a:pPr marL="0">
              <a:spcBef>
                <a:spcPts val="600"/>
              </a:spcBef>
              <a:spcAft>
                <a:spcPts val="1200"/>
              </a:spcAft>
              <a:buNone/>
            </a:pPr>
            <a:r>
              <a:rPr lang="en-GB" sz="2200" dirty="0" smtClean="0">
                <a:latin typeface="Helvetica" pitchFamily="34" charset="0"/>
              </a:rPr>
              <a:t>Once the customer has finished explaining their complaint, it is worthwhile to repeat back the complaint to the customer.</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This allows you to establish:</a:t>
            </a:r>
          </a:p>
          <a:p>
            <a:pPr>
              <a:spcBef>
                <a:spcPts val="600"/>
              </a:spcBef>
              <a:spcAft>
                <a:spcPts val="1200"/>
              </a:spcAft>
            </a:pPr>
            <a:r>
              <a:rPr lang="en-GB" sz="2200" dirty="0" smtClean="0">
                <a:latin typeface="Helvetica" pitchFamily="34" charset="0"/>
              </a:rPr>
              <a:t>The scope and nature of the problem</a:t>
            </a:r>
          </a:p>
          <a:p>
            <a:pPr>
              <a:spcBef>
                <a:spcPts val="600"/>
              </a:spcBef>
              <a:spcAft>
                <a:spcPts val="1200"/>
              </a:spcAft>
            </a:pPr>
            <a:r>
              <a:rPr lang="en-GB" sz="2200" dirty="0" smtClean="0">
                <a:latin typeface="Helvetica" pitchFamily="34" charset="0"/>
              </a:rPr>
              <a:t>Any history that might accompany it</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MP900442494.JPG"/>
          <p:cNvPicPr>
            <a:picLocks noChangeAspect="1"/>
          </p:cNvPicPr>
          <p:nvPr/>
        </p:nvPicPr>
        <p:blipFill>
          <a:blip r:embed="rId3" cstate="print"/>
          <a:stretch>
            <a:fillRect/>
          </a:stretch>
        </p:blipFill>
        <p:spPr>
          <a:xfrm>
            <a:off x="7020272" y="3140968"/>
            <a:ext cx="1369858" cy="2060848"/>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GB" sz="3400" b="1" dirty="0" smtClean="0">
                <a:solidFill>
                  <a:srgbClr val="FF6600"/>
                </a:solidFill>
                <a:latin typeface="Helvetica" pitchFamily="34" charset="0"/>
              </a:rPr>
              <a:t>Recording complaint details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GB" sz="2200" b="1" dirty="0" smtClean="0">
                <a:latin typeface="Helvetica" pitchFamily="34" charset="0"/>
              </a:rPr>
              <a:t>Repeat information</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Repeating information is important as it: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Shows that you have indeed been listening</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States the complaint, without the emotion – normally making the complaint less serious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Ensures the complaint is correct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Acts as a basis to work towards a solution</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6" name="Picture 5" descr="MP900411789[1].JPG"/>
          <p:cNvPicPr>
            <a:picLocks noChangeAspect="1"/>
          </p:cNvPicPr>
          <p:nvPr/>
        </p:nvPicPr>
        <p:blipFill>
          <a:blip r:embed="rId3" cstate="print"/>
          <a:stretch>
            <a:fillRect/>
          </a:stretch>
        </p:blipFill>
        <p:spPr>
          <a:xfrm>
            <a:off x="6444208" y="4149080"/>
            <a:ext cx="2086753" cy="1390625"/>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Speaking</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pPr>
            <a:r>
              <a:rPr lang="en-GB" sz="2200" dirty="0" smtClean="0">
                <a:latin typeface="Helvetica" pitchFamily="34" charset="0"/>
              </a:rPr>
              <a:t>Now that we have listened and asked questions to identify the aspects of the complaint it is now time to work towards finding an acceptable solution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It is now our time to speak and to start the process towards reaching a solution to the complaint</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7" name="Picture 6" descr="MB900443246.JPG"/>
          <p:cNvPicPr>
            <a:picLocks noChangeAspect="1"/>
          </p:cNvPicPr>
          <p:nvPr/>
        </p:nvPicPr>
        <p:blipFill>
          <a:blip r:embed="rId3" cstate="print"/>
          <a:srcRect t="15291" b="17428"/>
          <a:stretch>
            <a:fillRect/>
          </a:stretch>
        </p:blipFill>
        <p:spPr>
          <a:xfrm>
            <a:off x="6012160" y="3717032"/>
            <a:ext cx="2354560" cy="1584176"/>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Speaking</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The effectiveness of our communication will be influenced by various elements of our speech. </a:t>
            </a:r>
          </a:p>
          <a:p>
            <a:pPr>
              <a:spcBef>
                <a:spcPts val="600"/>
              </a:spcBef>
              <a:spcAft>
                <a:spcPts val="1200"/>
              </a:spcAft>
              <a:buNone/>
            </a:pPr>
            <a:r>
              <a:rPr lang="en-AU" sz="2200" dirty="0" smtClean="0">
                <a:latin typeface="Helvetica" pitchFamily="34" charset="0"/>
              </a:rPr>
              <a:t>These elements are:</a:t>
            </a:r>
          </a:p>
          <a:p>
            <a:pPr lvl="0">
              <a:spcBef>
                <a:spcPts val="600"/>
              </a:spcBef>
              <a:spcAft>
                <a:spcPts val="1200"/>
              </a:spcAft>
            </a:pPr>
            <a:r>
              <a:rPr lang="en-AU" sz="2200" dirty="0" smtClean="0">
                <a:latin typeface="Helvetica" pitchFamily="34" charset="0"/>
              </a:rPr>
              <a:t>Pitch or tone</a:t>
            </a:r>
          </a:p>
          <a:p>
            <a:pPr lvl="0">
              <a:spcBef>
                <a:spcPts val="600"/>
              </a:spcBef>
              <a:spcAft>
                <a:spcPts val="1200"/>
              </a:spcAft>
            </a:pPr>
            <a:r>
              <a:rPr lang="en-AU" sz="2200" dirty="0" smtClean="0">
                <a:latin typeface="Helvetica" pitchFamily="34" charset="0"/>
              </a:rPr>
              <a:t>Intensity</a:t>
            </a:r>
          </a:p>
          <a:p>
            <a:pPr lvl="0">
              <a:spcBef>
                <a:spcPts val="600"/>
              </a:spcBef>
              <a:spcAft>
                <a:spcPts val="1200"/>
              </a:spcAft>
            </a:pPr>
            <a:r>
              <a:rPr lang="en-AU" sz="2200" dirty="0" smtClean="0">
                <a:latin typeface="Helvetica" pitchFamily="34" charset="0"/>
              </a:rPr>
              <a:t>Projection</a:t>
            </a:r>
          </a:p>
          <a:p>
            <a:pPr lvl="0">
              <a:spcBef>
                <a:spcPts val="600"/>
              </a:spcBef>
              <a:spcAft>
                <a:spcPts val="1200"/>
              </a:spcAft>
            </a:pPr>
            <a:r>
              <a:rPr lang="en-AU" sz="2200" dirty="0" smtClean="0">
                <a:latin typeface="Helvetica" pitchFamily="34" charset="0"/>
              </a:rPr>
              <a:t>The pauses we use in our speech</a:t>
            </a: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5" name="Picture 4" descr="MB900409142.JPG"/>
          <p:cNvPicPr>
            <a:picLocks noChangeAspect="1"/>
          </p:cNvPicPr>
          <p:nvPr/>
        </p:nvPicPr>
        <p:blipFill>
          <a:blip r:embed="rId3" cstate="print"/>
          <a:srcRect l="15925" r="17190"/>
          <a:stretch>
            <a:fillRect/>
          </a:stretch>
        </p:blipFill>
        <p:spPr>
          <a:xfrm>
            <a:off x="6876256" y="3068960"/>
            <a:ext cx="1512168" cy="2260848"/>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GB" sz="3400" b="1" dirty="0" smtClean="0">
                <a:solidFill>
                  <a:srgbClr val="FF6600"/>
                </a:solidFill>
                <a:latin typeface="Helvetica" pitchFamily="34" charset="0"/>
              </a:rPr>
              <a:t>Speaking</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Stay calm and positive</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A positive and cooperative manner can help to:</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Smooth over a potentially problematic situation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Demonstrate your willingness to resolve the issue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Create an initial friendly atmosphere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Maintain positive customer relations</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5" descr="MB900443427.JPG"/>
          <p:cNvPicPr/>
          <p:nvPr/>
        </p:nvPicPr>
        <p:blipFill>
          <a:blip r:embed="rId3" cstate="print"/>
          <a:srcRect t="17809" b="19859"/>
          <a:stretch>
            <a:fillRect/>
          </a:stretch>
        </p:blipFill>
        <p:spPr>
          <a:xfrm>
            <a:off x="6300192" y="4005064"/>
            <a:ext cx="2088232" cy="1224136"/>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Speaking</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Apologise for problem and inconvenience</a:t>
            </a:r>
            <a:endParaRPr lang="en-AU" sz="2200" b="1" dirty="0" smtClean="0">
              <a:latin typeface="Helvetica" pitchFamily="34" charset="0"/>
            </a:endParaRPr>
          </a:p>
          <a:p>
            <a:pPr marL="0">
              <a:spcBef>
                <a:spcPts val="600"/>
              </a:spcBef>
              <a:spcAft>
                <a:spcPts val="1200"/>
              </a:spcAft>
              <a:buNone/>
            </a:pPr>
            <a:r>
              <a:rPr lang="en-GB" sz="2200" dirty="0" smtClean="0">
                <a:latin typeface="Helvetica" pitchFamily="34" charset="0"/>
              </a:rPr>
              <a:t>One of the first things that we communicate in our response is to acknowledge that a complaint exists: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Thank the customer for bringing the complaint to them</a:t>
            </a:r>
          </a:p>
          <a:p>
            <a:pPr>
              <a:spcBef>
                <a:spcPts val="600"/>
              </a:spcBef>
              <a:spcAft>
                <a:spcPts val="1200"/>
              </a:spcAft>
            </a:pPr>
            <a:r>
              <a:rPr lang="en-GB" sz="2200" dirty="0" smtClean="0">
                <a:latin typeface="Helvetica" pitchFamily="34" charset="0"/>
              </a:rPr>
              <a:t>Acknowledge that a problem has occurred </a:t>
            </a:r>
          </a:p>
          <a:p>
            <a:pPr>
              <a:spcBef>
                <a:spcPts val="600"/>
              </a:spcBef>
              <a:spcAft>
                <a:spcPts val="1200"/>
              </a:spcAft>
            </a:pPr>
            <a:r>
              <a:rPr lang="en-GB" sz="2200" dirty="0" smtClean="0">
                <a:latin typeface="Helvetica" pitchFamily="34" charset="0"/>
              </a:rPr>
              <a:t>Acknowledge the inconvenience</a:t>
            </a:r>
          </a:p>
          <a:p>
            <a:pPr>
              <a:spcBef>
                <a:spcPts val="600"/>
              </a:spcBef>
              <a:spcAft>
                <a:spcPts val="1200"/>
              </a:spcAft>
            </a:pPr>
            <a:r>
              <a:rPr lang="en-GB" sz="2200" dirty="0" smtClean="0">
                <a:latin typeface="Helvetica" pitchFamily="34" charset="0"/>
              </a:rPr>
              <a:t>Apologise for it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7" name="Picture 6" descr="MB900316809.JPG"/>
          <p:cNvPicPr/>
          <p:nvPr/>
        </p:nvPicPr>
        <p:blipFill>
          <a:blip r:embed="rId3" cstate="print"/>
          <a:srcRect t="15961" b="16204"/>
          <a:stretch>
            <a:fillRect/>
          </a:stretch>
        </p:blipFill>
        <p:spPr>
          <a:xfrm>
            <a:off x="6444208" y="3933056"/>
            <a:ext cx="1944216" cy="1368152"/>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Clarify details of the complaint</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Defining the complaint</a:t>
            </a:r>
          </a:p>
          <a:p>
            <a:pPr>
              <a:spcBef>
                <a:spcPts val="600"/>
              </a:spcBef>
              <a:spcAft>
                <a:spcPts val="1200"/>
              </a:spcAft>
              <a:buNone/>
            </a:pPr>
            <a:r>
              <a:rPr lang="en-GB" sz="2200" dirty="0" smtClean="0">
                <a:latin typeface="Helvetica" pitchFamily="34" charset="0"/>
              </a:rPr>
              <a:t>An essential factor in resolving complaints is that:</a:t>
            </a:r>
          </a:p>
          <a:p>
            <a:pPr>
              <a:spcBef>
                <a:spcPts val="600"/>
              </a:spcBef>
              <a:spcAft>
                <a:spcPts val="1200"/>
              </a:spcAft>
            </a:pPr>
            <a:r>
              <a:rPr lang="en-GB" sz="2200" dirty="0" smtClean="0">
                <a:latin typeface="Helvetica" pitchFamily="34" charset="0"/>
              </a:rPr>
              <a:t>The nature and details of the conflict are identified </a:t>
            </a:r>
          </a:p>
          <a:p>
            <a:pPr>
              <a:spcBef>
                <a:spcPts val="600"/>
              </a:spcBef>
              <a:spcAft>
                <a:spcPts val="1200"/>
              </a:spcAft>
            </a:pPr>
            <a:r>
              <a:rPr lang="en-GB" sz="2200" dirty="0" smtClean="0">
                <a:latin typeface="Helvetica" pitchFamily="34" charset="0"/>
              </a:rPr>
              <a:t>Accepted by everyone as being at the heart of the issue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descr="MB900285007.JPG"/>
          <p:cNvPicPr>
            <a:picLocks noChangeAspect="1"/>
          </p:cNvPicPr>
          <p:nvPr/>
        </p:nvPicPr>
        <p:blipFill>
          <a:blip r:embed="rId3" cstate="print"/>
          <a:srcRect t="15433" b="16659"/>
          <a:stretch>
            <a:fillRect/>
          </a:stretch>
        </p:blipFill>
        <p:spPr>
          <a:xfrm>
            <a:off x="6228184" y="3861048"/>
            <a:ext cx="2188840" cy="1486379"/>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Clarify details of the complaint</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GB" sz="2200" b="1" dirty="0" smtClean="0">
                <a:latin typeface="Helvetica" pitchFamily="34" charset="0"/>
              </a:rPr>
              <a:t>Defining the complaint</a:t>
            </a:r>
          </a:p>
          <a:p>
            <a:pPr lvl="0">
              <a:spcBef>
                <a:spcPts val="600"/>
              </a:spcBef>
              <a:spcAft>
                <a:spcPts val="1200"/>
              </a:spcAft>
            </a:pPr>
            <a:r>
              <a:rPr lang="en-GB" sz="2200" dirty="0" smtClean="0">
                <a:latin typeface="Helvetica" pitchFamily="34" charset="0"/>
              </a:rPr>
              <a:t>Names of those involved</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Details of times, dates, figures, amounts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Identification of exact service or products that failed</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The factual details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Actions or inactions taken (or not taken)</a:t>
            </a:r>
            <a:br>
              <a:rPr lang="en-GB" sz="2200" dirty="0" smtClean="0">
                <a:latin typeface="Helvetica" pitchFamily="34" charset="0"/>
              </a:rPr>
            </a:br>
            <a:r>
              <a:rPr lang="en-GB" sz="2200" dirty="0" smtClean="0">
                <a:latin typeface="Helvetica" pitchFamily="34" charset="0"/>
              </a:rPr>
              <a:t>by staff or other people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MB900443244.JPG"/>
          <p:cNvPicPr/>
          <p:nvPr/>
        </p:nvPicPr>
        <p:blipFill>
          <a:blip r:embed="rId3" cstate="print"/>
          <a:srcRect l="18639" r="17989"/>
          <a:stretch>
            <a:fillRect/>
          </a:stretch>
        </p:blipFill>
        <p:spPr>
          <a:xfrm>
            <a:off x="7164288" y="3284984"/>
            <a:ext cx="1224136" cy="2003673"/>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GB" sz="3400" b="1" dirty="0" smtClean="0">
                <a:solidFill>
                  <a:srgbClr val="FF6600"/>
                </a:solidFill>
                <a:latin typeface="Helvetica" pitchFamily="34" charset="0"/>
              </a:rPr>
              <a:t>Agree on details of the complaint</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Agree on the nature and details of the complaint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Repeat back to the person what they have told you</a:t>
            </a:r>
          </a:p>
          <a:p>
            <a:pPr lvl="0">
              <a:spcBef>
                <a:spcPts val="600"/>
              </a:spcBef>
              <a:spcAft>
                <a:spcPts val="1200"/>
              </a:spcAft>
            </a:pPr>
            <a:r>
              <a:rPr lang="en-AU" sz="2200" dirty="0" smtClean="0">
                <a:latin typeface="Helvetica" pitchFamily="34" charset="0"/>
              </a:rPr>
              <a:t>Elicit additional information and clarification</a:t>
            </a:r>
          </a:p>
          <a:p>
            <a:pPr lvl="0">
              <a:spcBef>
                <a:spcPts val="600"/>
              </a:spcBef>
              <a:spcAft>
                <a:spcPts val="1200"/>
              </a:spcAft>
            </a:pPr>
            <a:r>
              <a:rPr lang="en-AU" sz="2200" dirty="0" smtClean="0">
                <a:latin typeface="Helvetica" pitchFamily="34" charset="0"/>
              </a:rPr>
              <a:t>Obtain assurance that what they have told you constitutes the entire complaint</a:t>
            </a:r>
          </a:p>
          <a:p>
            <a:pPr lvl="0">
              <a:spcBef>
                <a:spcPts val="600"/>
              </a:spcBef>
              <a:spcAft>
                <a:spcPts val="1200"/>
              </a:spcAft>
            </a:pPr>
            <a:r>
              <a:rPr lang="en-AU" sz="2200" dirty="0" smtClean="0">
                <a:latin typeface="Helvetica" pitchFamily="34" charset="0"/>
              </a:rPr>
              <a:t>Confirm they are genuinely seeking a solution to what has been described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6" name="Picture 5" descr="MB900443246.JPG"/>
          <p:cNvPicPr/>
          <p:nvPr/>
        </p:nvPicPr>
        <p:blipFill>
          <a:blip r:embed="rId3" cstate="print"/>
          <a:srcRect t="17391" b="17391"/>
          <a:stretch>
            <a:fillRect/>
          </a:stretch>
        </p:blipFill>
        <p:spPr>
          <a:xfrm>
            <a:off x="6300192" y="4437112"/>
            <a:ext cx="2160240" cy="1224136"/>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720080"/>
          </a:xfrm>
        </p:spPr>
        <p:txBody>
          <a:bodyPr>
            <a:normAutofit/>
          </a:bodyPr>
          <a:lstStyle/>
          <a:p>
            <a:r>
              <a:rPr lang="en-AU" sz="3400" b="1" dirty="0" smtClean="0">
                <a:solidFill>
                  <a:srgbClr val="FF6600"/>
                </a:solidFill>
                <a:latin typeface="Helvetica" pitchFamily="34" charset="0"/>
              </a:rPr>
              <a:t>Handling alcohol related complaints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AU" sz="2200" dirty="0" smtClean="0">
                <a:latin typeface="Helvetica" pitchFamily="34" charset="0"/>
              </a:rPr>
              <a:t>Whilst most complaints are not influenced by alcohol, it is important to handle these situations, when they arise, in a professional manner:</a:t>
            </a:r>
          </a:p>
          <a:p>
            <a:pPr>
              <a:spcBef>
                <a:spcPts val="600"/>
              </a:spcBef>
              <a:spcAft>
                <a:spcPts val="1200"/>
              </a:spcAft>
            </a:pPr>
            <a:r>
              <a:rPr lang="en-AU" sz="2200" dirty="0" smtClean="0">
                <a:latin typeface="Helvetica" pitchFamily="34" charset="0"/>
              </a:rPr>
              <a:t>Why is handling complaints involving alcohol different?</a:t>
            </a:r>
          </a:p>
          <a:p>
            <a:pPr>
              <a:spcBef>
                <a:spcPts val="600"/>
              </a:spcBef>
              <a:spcAft>
                <a:spcPts val="1200"/>
              </a:spcAft>
            </a:pPr>
            <a:r>
              <a:rPr lang="en-AU" sz="2200" dirty="0" smtClean="0">
                <a:latin typeface="Helvetica" pitchFamily="34" charset="0"/>
              </a:rPr>
              <a:t>How do you handle these situations?</a:t>
            </a:r>
            <a:endParaRPr lang="en-AU" sz="2200" dirty="0">
              <a:latin typeface="Helvetica" pitchFamily="34" charset="0"/>
            </a:endParaRPr>
          </a:p>
        </p:txBody>
      </p:sp>
      <p:sp>
        <p:nvSpPr>
          <p:cNvPr id="4" name="Slide Number Placeholder 3"/>
          <p:cNvSpPr>
            <a:spLocks noGrp="1"/>
          </p:cNvSpPr>
          <p:nvPr>
            <p:ph type="sldNum" sz="quarter" idx="12"/>
          </p:nvPr>
        </p:nvSpPr>
        <p:spPr>
          <a:xfrm>
            <a:off x="8172400" y="6492875"/>
            <a:ext cx="762000" cy="365125"/>
          </a:xfrm>
        </p:spPr>
        <p:txBody>
          <a:bodyPr/>
          <a:lstStyle/>
          <a:p>
            <a:r>
              <a:rPr lang="en-US" dirty="0" smtClean="0"/>
              <a:t> Slide </a:t>
            </a:r>
            <a:fld id="{90BDF71C-F485-43AE-8825-5070AF1EA8C9}" type="slidenum">
              <a:rPr lang="en-US" smtClean="0"/>
              <a:pPr/>
              <a:t>60</a:t>
            </a:fld>
            <a:endParaRPr lang="en-US" dirty="0"/>
          </a:p>
        </p:txBody>
      </p:sp>
      <p:pic>
        <p:nvPicPr>
          <p:cNvPr id="8" name="Picture 7" descr="MP900442598[1].JPG"/>
          <p:cNvPicPr>
            <a:picLocks noChangeAspect="1"/>
          </p:cNvPicPr>
          <p:nvPr/>
        </p:nvPicPr>
        <p:blipFill>
          <a:blip r:embed="rId3" cstate="print"/>
          <a:stretch>
            <a:fillRect/>
          </a:stretch>
        </p:blipFill>
        <p:spPr>
          <a:xfrm>
            <a:off x="7020272" y="3356992"/>
            <a:ext cx="1348828" cy="2022232"/>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720080"/>
          </a:xfrm>
        </p:spPr>
        <p:txBody>
          <a:bodyPr>
            <a:normAutofit/>
          </a:bodyPr>
          <a:lstStyle/>
          <a:p>
            <a:r>
              <a:rPr lang="en-AU" sz="3400" b="1" dirty="0" smtClean="0">
                <a:solidFill>
                  <a:srgbClr val="FF6600"/>
                </a:solidFill>
                <a:latin typeface="Helvetica" pitchFamily="34" charset="0"/>
              </a:rPr>
              <a:t>Handling alcohol related complaints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Tips for handling alcohol related complaints</a:t>
            </a:r>
          </a:p>
          <a:p>
            <a:pPr lvl="0">
              <a:spcBef>
                <a:spcPts val="600"/>
              </a:spcBef>
              <a:spcAft>
                <a:spcPts val="1200"/>
              </a:spcAft>
            </a:pPr>
            <a:r>
              <a:rPr lang="en-AU" sz="2200" dirty="0" smtClean="0">
                <a:latin typeface="Helvetica" pitchFamily="34" charset="0"/>
              </a:rPr>
              <a:t>Identify situations where problems may arise as early as possible</a:t>
            </a:r>
          </a:p>
          <a:p>
            <a:pPr lvl="0">
              <a:spcBef>
                <a:spcPts val="600"/>
              </a:spcBef>
              <a:spcAft>
                <a:spcPts val="1200"/>
              </a:spcAft>
            </a:pPr>
            <a:r>
              <a:rPr lang="en-AU" sz="2200" dirty="0" smtClean="0">
                <a:latin typeface="Helvetica" pitchFamily="34" charset="0"/>
              </a:rPr>
              <a:t>Try to involve the customer by providing options</a:t>
            </a:r>
          </a:p>
          <a:p>
            <a:pPr lvl="0">
              <a:spcBef>
                <a:spcPts val="600"/>
              </a:spcBef>
              <a:spcAft>
                <a:spcPts val="1200"/>
              </a:spcAft>
            </a:pPr>
            <a:r>
              <a:rPr lang="en-AU" sz="2200" dirty="0" smtClean="0">
                <a:latin typeface="Helvetica" pitchFamily="34" charset="0"/>
              </a:rPr>
              <a:t>Treat the customer professionally</a:t>
            </a:r>
          </a:p>
          <a:p>
            <a:pPr lvl="0">
              <a:spcBef>
                <a:spcPts val="600"/>
              </a:spcBef>
              <a:spcAft>
                <a:spcPts val="1200"/>
              </a:spcAft>
            </a:pPr>
            <a:r>
              <a:rPr lang="en-AU" sz="2200" dirty="0" smtClean="0">
                <a:latin typeface="Helvetica" pitchFamily="34" charset="0"/>
              </a:rPr>
              <a:t>Don’t touch the customer, where possible</a:t>
            </a:r>
          </a:p>
          <a:p>
            <a:pPr lvl="0">
              <a:spcBef>
                <a:spcPts val="600"/>
              </a:spcBef>
              <a:spcAft>
                <a:spcPts val="1200"/>
              </a:spcAft>
            </a:pPr>
            <a:r>
              <a:rPr lang="en-AU" sz="2200" dirty="0" smtClean="0">
                <a:latin typeface="Helvetica" pitchFamily="34" charset="0"/>
              </a:rPr>
              <a:t>Take action as early as possible</a:t>
            </a:r>
          </a:p>
          <a:p>
            <a:pPr lvl="0">
              <a:spcBef>
                <a:spcPts val="600"/>
              </a:spcBef>
              <a:spcAft>
                <a:spcPts val="1200"/>
              </a:spcAft>
            </a:pPr>
            <a:r>
              <a:rPr lang="en-AU" sz="2200" dirty="0" smtClean="0">
                <a:latin typeface="Helvetica" pitchFamily="34" charset="0"/>
              </a:rPr>
              <a:t>Follow all house policies, rules and regulations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MP900443097[1].JPG"/>
          <p:cNvPicPr/>
          <p:nvPr/>
        </p:nvPicPr>
        <p:blipFill>
          <a:blip r:embed="rId3" cstate="print"/>
          <a:stretch>
            <a:fillRect/>
          </a:stretch>
        </p:blipFill>
        <p:spPr>
          <a:xfrm>
            <a:off x="7092280" y="3501008"/>
            <a:ext cx="1285875" cy="1924050"/>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Keeping written documentation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Whenever a complaint is received it is common policy for many hospitality establishments to keep a written record of it:</a:t>
            </a:r>
          </a:p>
          <a:p>
            <a:pPr>
              <a:spcBef>
                <a:spcPts val="600"/>
              </a:spcBef>
              <a:spcAft>
                <a:spcPts val="1200"/>
              </a:spcAft>
            </a:pPr>
            <a:r>
              <a:rPr lang="en-AU" sz="2200" dirty="0" smtClean="0">
                <a:latin typeface="Helvetica" pitchFamily="34" charset="0"/>
              </a:rPr>
              <a:t>What are the benefits of keeping a written record of information?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9" name="Picture 8" descr="MP900399552[1].JPG"/>
          <p:cNvPicPr>
            <a:picLocks noChangeAspect="1"/>
          </p:cNvPicPr>
          <p:nvPr/>
        </p:nvPicPr>
        <p:blipFill>
          <a:blip r:embed="rId3" cstate="print"/>
          <a:stretch>
            <a:fillRect/>
          </a:stretch>
        </p:blipFill>
        <p:spPr>
          <a:xfrm>
            <a:off x="6876256" y="3429000"/>
            <a:ext cx="1540362" cy="1925923"/>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720080"/>
          </a:xfrm>
        </p:spPr>
        <p:txBody>
          <a:bodyPr>
            <a:normAutofit/>
          </a:bodyPr>
          <a:lstStyle/>
          <a:p>
            <a:r>
              <a:rPr lang="en-AU" sz="3400" b="1" dirty="0" smtClean="0">
                <a:solidFill>
                  <a:srgbClr val="FF6600"/>
                </a:solidFill>
                <a:latin typeface="Helvetica" pitchFamily="34" charset="0"/>
              </a:rPr>
              <a:t>Keeping written documentation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Benefits of written documentation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Establishes a clear record of facts relating to a complaint</a:t>
            </a:r>
          </a:p>
          <a:p>
            <a:pPr lvl="0">
              <a:spcBef>
                <a:spcPts val="600"/>
              </a:spcBef>
              <a:spcAft>
                <a:spcPts val="1200"/>
              </a:spcAft>
            </a:pPr>
            <a:r>
              <a:rPr lang="en-AU" sz="2200" dirty="0" smtClean="0">
                <a:latin typeface="Helvetica" pitchFamily="34" charset="0"/>
              </a:rPr>
              <a:t>Identifies any communication or action taken place to date</a:t>
            </a:r>
          </a:p>
          <a:p>
            <a:pPr lvl="0">
              <a:spcBef>
                <a:spcPts val="600"/>
              </a:spcBef>
              <a:spcAft>
                <a:spcPts val="1200"/>
              </a:spcAft>
            </a:pPr>
            <a:r>
              <a:rPr lang="en-AU" sz="2200" dirty="0" smtClean="0">
                <a:latin typeface="Helvetica" pitchFamily="34" charset="0"/>
              </a:rPr>
              <a:t>Keeps facts of a complaint accurate and impartial</a:t>
            </a:r>
          </a:p>
          <a:p>
            <a:pPr lvl="0">
              <a:spcBef>
                <a:spcPts val="600"/>
              </a:spcBef>
              <a:spcAft>
                <a:spcPts val="1200"/>
              </a:spcAft>
            </a:pPr>
            <a:r>
              <a:rPr lang="en-AU" sz="2200" dirty="0" smtClean="0">
                <a:latin typeface="Helvetica" pitchFamily="34" charset="0"/>
              </a:rPr>
              <a:t>Is helpful for additional internal and external </a:t>
            </a:r>
            <a:br>
              <a:rPr lang="en-AU" sz="2200" dirty="0" smtClean="0">
                <a:latin typeface="Helvetica" pitchFamily="34" charset="0"/>
              </a:rPr>
            </a:br>
            <a:r>
              <a:rPr lang="en-AU" sz="2200" dirty="0" smtClean="0">
                <a:latin typeface="Helvetica" pitchFamily="34" charset="0"/>
              </a:rPr>
              <a:t>parties who may later become involved in </a:t>
            </a:r>
            <a:br>
              <a:rPr lang="en-AU" sz="2200" dirty="0" smtClean="0">
                <a:latin typeface="Helvetica" pitchFamily="34" charset="0"/>
              </a:rPr>
            </a:br>
            <a:r>
              <a:rPr lang="en-AU" sz="2200" dirty="0" smtClean="0">
                <a:latin typeface="Helvetica" pitchFamily="34" charset="0"/>
              </a:rPr>
              <a:t>the complaint resolution process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5" name="Picture 4" descr="MP900410059[1].JPG"/>
          <p:cNvPicPr/>
          <p:nvPr/>
        </p:nvPicPr>
        <p:blipFill>
          <a:blip r:embed="rId3" cstate="print"/>
          <a:stretch>
            <a:fillRect/>
          </a:stretch>
        </p:blipFill>
        <p:spPr>
          <a:xfrm>
            <a:off x="6660232" y="4509120"/>
            <a:ext cx="1711325" cy="1143000"/>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648072"/>
          </a:xfrm>
        </p:spPr>
        <p:txBody>
          <a:bodyPr>
            <a:normAutofit/>
          </a:bodyPr>
          <a:lstStyle/>
          <a:p>
            <a:r>
              <a:rPr lang="en-AU" sz="3400" b="1" dirty="0" smtClean="0">
                <a:solidFill>
                  <a:srgbClr val="FF6600"/>
                </a:solidFill>
                <a:latin typeface="Helvetica" pitchFamily="34" charset="0"/>
              </a:rPr>
              <a:t>Keeping written documentation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Benefits of written documentation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Can be used as a reference for similar complaints in the future</a:t>
            </a:r>
          </a:p>
          <a:p>
            <a:pPr lvl="0">
              <a:spcBef>
                <a:spcPts val="600"/>
              </a:spcBef>
              <a:spcAft>
                <a:spcPts val="1200"/>
              </a:spcAft>
            </a:pPr>
            <a:r>
              <a:rPr lang="en-AU" sz="2200" dirty="0" smtClean="0">
                <a:latin typeface="Helvetica" pitchFamily="34" charset="0"/>
              </a:rPr>
              <a:t>Acts as an evidence source if additional costs are incurred</a:t>
            </a:r>
          </a:p>
          <a:p>
            <a:pPr lvl="0">
              <a:spcBef>
                <a:spcPts val="600"/>
              </a:spcBef>
              <a:spcAft>
                <a:spcPts val="1200"/>
              </a:spcAft>
            </a:pPr>
            <a:r>
              <a:rPr lang="en-AU" sz="2200" dirty="0" smtClean="0">
                <a:latin typeface="Helvetica" pitchFamily="34" charset="0"/>
              </a:rPr>
              <a:t>Acts as a tool to identify common problems which are to be investigated</a:t>
            </a:r>
          </a:p>
          <a:p>
            <a:pPr lvl="0">
              <a:spcBef>
                <a:spcPts val="600"/>
              </a:spcBef>
              <a:spcAft>
                <a:spcPts val="1200"/>
              </a:spcAft>
            </a:pPr>
            <a:r>
              <a:rPr lang="en-AU" sz="2200" dirty="0" smtClean="0">
                <a:latin typeface="Helvetica" pitchFamily="34" charset="0"/>
              </a:rPr>
              <a:t>Generates a pool of ‘guest preferences’ which can be used in the future to avoid further complaints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5" name="Picture 4" descr="MP900409469[1].JPG"/>
          <p:cNvPicPr>
            <a:picLocks noChangeAspect="1"/>
          </p:cNvPicPr>
          <p:nvPr/>
        </p:nvPicPr>
        <p:blipFill>
          <a:blip r:embed="rId3" cstate="print"/>
          <a:stretch>
            <a:fillRect/>
          </a:stretch>
        </p:blipFill>
        <p:spPr>
          <a:xfrm>
            <a:off x="3707904" y="5157192"/>
            <a:ext cx="1981735" cy="1322189"/>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720080"/>
          </a:xfrm>
        </p:spPr>
        <p:txBody>
          <a:bodyPr>
            <a:normAutofit/>
          </a:bodyPr>
          <a:lstStyle/>
          <a:p>
            <a:r>
              <a:rPr lang="en-AU" sz="3400" b="1" dirty="0" smtClean="0">
                <a:solidFill>
                  <a:srgbClr val="FF6600"/>
                </a:solidFill>
                <a:latin typeface="Helvetica" pitchFamily="34" charset="0"/>
              </a:rPr>
              <a:t>Keeping written documentation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Complete any necessary documentation accurately  </a:t>
            </a:r>
          </a:p>
          <a:p>
            <a:pPr marL="0">
              <a:spcBef>
                <a:spcPts val="600"/>
              </a:spcBef>
              <a:spcAft>
                <a:spcPts val="1200"/>
              </a:spcAft>
              <a:buNone/>
            </a:pPr>
            <a:r>
              <a:rPr lang="en-AU" sz="2200" dirty="0" smtClean="0">
                <a:latin typeface="Helvetica" pitchFamily="34" charset="0"/>
              </a:rPr>
              <a:t>Regardless of the documentation to be used, all information recorded should be completed:</a:t>
            </a:r>
          </a:p>
          <a:p>
            <a:pPr lvl="0">
              <a:spcBef>
                <a:spcPts val="600"/>
              </a:spcBef>
              <a:spcAft>
                <a:spcPts val="1200"/>
              </a:spcAft>
            </a:pPr>
            <a:r>
              <a:rPr lang="en-AU" sz="2200" dirty="0" smtClean="0">
                <a:latin typeface="Helvetica" pitchFamily="34" charset="0"/>
              </a:rPr>
              <a:t>Accurately and honestly</a:t>
            </a:r>
          </a:p>
          <a:p>
            <a:pPr lvl="0">
              <a:spcBef>
                <a:spcPts val="600"/>
              </a:spcBef>
              <a:spcAft>
                <a:spcPts val="1200"/>
              </a:spcAft>
            </a:pPr>
            <a:r>
              <a:rPr lang="en-AU" sz="2200" dirty="0" smtClean="0">
                <a:latin typeface="Helvetica" pitchFamily="34" charset="0"/>
              </a:rPr>
              <a:t>Clearly</a:t>
            </a:r>
          </a:p>
          <a:p>
            <a:pPr lvl="0">
              <a:spcBef>
                <a:spcPts val="600"/>
              </a:spcBef>
              <a:spcAft>
                <a:spcPts val="1200"/>
              </a:spcAft>
            </a:pPr>
            <a:r>
              <a:rPr lang="en-AU" sz="2200" dirty="0" smtClean="0">
                <a:latin typeface="Helvetica" pitchFamily="34" charset="0"/>
              </a:rPr>
              <a:t>Comprehensively</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MP900422389[1].JPG"/>
          <p:cNvPicPr>
            <a:picLocks noChangeAspect="1"/>
          </p:cNvPicPr>
          <p:nvPr/>
        </p:nvPicPr>
        <p:blipFill>
          <a:blip r:embed="rId3" cstate="print"/>
          <a:stretch>
            <a:fillRect/>
          </a:stretch>
        </p:blipFill>
        <p:spPr>
          <a:xfrm>
            <a:off x="6948264" y="3284984"/>
            <a:ext cx="1440440" cy="2140798"/>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792088"/>
          </a:xfrm>
        </p:spPr>
        <p:txBody>
          <a:bodyPr>
            <a:normAutofit/>
          </a:bodyPr>
          <a:lstStyle/>
          <a:p>
            <a:r>
              <a:rPr lang="en-AU" sz="3400" b="1" dirty="0" smtClean="0">
                <a:solidFill>
                  <a:srgbClr val="FF6600"/>
                </a:solidFill>
                <a:latin typeface="Helvetica" pitchFamily="34" charset="0"/>
              </a:rPr>
              <a:t>Keeping written documentation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Complete any necessary documentation accurately  </a:t>
            </a:r>
          </a:p>
          <a:p>
            <a:pPr>
              <a:spcBef>
                <a:spcPts val="600"/>
              </a:spcBef>
              <a:spcAft>
                <a:spcPts val="1200"/>
              </a:spcAft>
              <a:buNone/>
            </a:pPr>
            <a:r>
              <a:rPr lang="en-AU" sz="2200" dirty="0" smtClean="0">
                <a:latin typeface="Helvetica" pitchFamily="34" charset="0"/>
              </a:rPr>
              <a:t>It is imperative that all staff have an understanding of:</a:t>
            </a:r>
          </a:p>
          <a:p>
            <a:pPr lvl="0">
              <a:spcBef>
                <a:spcPts val="600"/>
              </a:spcBef>
              <a:spcAft>
                <a:spcPts val="1200"/>
              </a:spcAft>
            </a:pPr>
            <a:r>
              <a:rPr lang="en-AU" sz="2200" dirty="0" smtClean="0">
                <a:latin typeface="Helvetica" pitchFamily="34" charset="0"/>
              </a:rPr>
              <a:t>The internal forms and reports that need to be completed</a:t>
            </a:r>
          </a:p>
          <a:p>
            <a:pPr lvl="0">
              <a:spcBef>
                <a:spcPts val="600"/>
              </a:spcBef>
              <a:spcAft>
                <a:spcPts val="1200"/>
              </a:spcAft>
            </a:pPr>
            <a:r>
              <a:rPr lang="en-AU" sz="2200" dirty="0" smtClean="0">
                <a:latin typeface="Helvetica" pitchFamily="34" charset="0"/>
              </a:rPr>
              <a:t>The mandatory registers that need to be completed</a:t>
            </a:r>
          </a:p>
          <a:p>
            <a:pPr lvl="0">
              <a:spcBef>
                <a:spcPts val="600"/>
              </a:spcBef>
              <a:spcAft>
                <a:spcPts val="1200"/>
              </a:spcAft>
            </a:pPr>
            <a:r>
              <a:rPr lang="en-AU" sz="2200" dirty="0" smtClean="0">
                <a:latin typeface="Helvetica" pitchFamily="34" charset="0"/>
              </a:rPr>
              <a:t>When to complete forms, reports or registers </a:t>
            </a:r>
          </a:p>
          <a:p>
            <a:pPr lvl="0">
              <a:spcBef>
                <a:spcPts val="600"/>
              </a:spcBef>
              <a:spcAft>
                <a:spcPts val="1200"/>
              </a:spcAft>
            </a:pPr>
            <a:r>
              <a:rPr lang="en-AU" sz="2200" dirty="0" smtClean="0">
                <a:latin typeface="Helvetica" pitchFamily="34" charset="0"/>
              </a:rPr>
              <a:t>Who is allowed to complete them</a:t>
            </a:r>
          </a:p>
          <a:p>
            <a:pPr lvl="0">
              <a:spcBef>
                <a:spcPts val="600"/>
              </a:spcBef>
              <a:spcAft>
                <a:spcPts val="1200"/>
              </a:spcAft>
            </a:pPr>
            <a:r>
              <a:rPr lang="en-AU" sz="2200" dirty="0" smtClean="0">
                <a:latin typeface="Helvetica" pitchFamily="34" charset="0"/>
              </a:rPr>
              <a:t>The time within which they must be completed</a:t>
            </a: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MP900285131[1].JPG"/>
          <p:cNvPicPr/>
          <p:nvPr/>
        </p:nvPicPr>
        <p:blipFill>
          <a:blip r:embed="rId3" cstate="print"/>
          <a:stretch>
            <a:fillRect/>
          </a:stretch>
        </p:blipFill>
        <p:spPr>
          <a:xfrm>
            <a:off x="7308304" y="3861048"/>
            <a:ext cx="1123950" cy="1704975"/>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shutterstock_105269162.jpg"/>
          <p:cNvPicPr>
            <a:picLocks noGrp="1" noChangeAspect="1"/>
          </p:cNvPicPr>
          <p:nvPr>
            <p:ph type="pic" idx="1"/>
          </p:nvPr>
        </p:nvPicPr>
        <p:blipFill>
          <a:blip r:embed="rId3" cstate="print"/>
          <a:stretch>
            <a:fillRect/>
          </a:stretch>
        </p:blipFill>
        <p:spPr>
          <a:xfrm>
            <a:off x="972773" y="1019907"/>
            <a:ext cx="2735131" cy="4114800"/>
          </a:xfrm>
        </p:spPr>
      </p:pic>
      <p:sp>
        <p:nvSpPr>
          <p:cNvPr id="3" name="Content Placeholder 2"/>
          <p:cNvSpPr>
            <a:spLocks noGrp="1"/>
          </p:cNvSpPr>
          <p:nvPr>
            <p:ph type="body" sz="half" idx="2"/>
          </p:nvPr>
        </p:nvSpPr>
        <p:spPr>
          <a:xfrm>
            <a:off x="3851920" y="2348880"/>
            <a:ext cx="4680520" cy="1368152"/>
          </a:xfrm>
        </p:spPr>
        <p:txBody>
          <a:bodyPr>
            <a:normAutofit/>
          </a:bodyPr>
          <a:lstStyle/>
          <a:p>
            <a:pPr marL="0">
              <a:buNone/>
            </a:pPr>
            <a:r>
              <a:rPr lang="en-AU" sz="3200" b="1" dirty="0" smtClean="0">
                <a:solidFill>
                  <a:srgbClr val="FF6600"/>
                </a:solidFill>
                <a:latin typeface="Helvetica" pitchFamily="34" charset="0"/>
              </a:rPr>
              <a:t>Element 2:</a:t>
            </a:r>
          </a:p>
          <a:p>
            <a:pPr marL="0">
              <a:spcBef>
                <a:spcPts val="600"/>
              </a:spcBef>
              <a:spcAft>
                <a:spcPts val="1200"/>
              </a:spcAft>
              <a:buNone/>
            </a:pPr>
            <a:r>
              <a:rPr lang="en-AU" sz="3200" b="1" i="1" dirty="0" smtClean="0">
                <a:solidFill>
                  <a:srgbClr val="FF6600"/>
                </a:solidFill>
                <a:latin typeface="Helvetica" pitchFamily="34" charset="0"/>
              </a:rPr>
              <a:t>Respond to complaints</a:t>
            </a:r>
            <a:endParaRPr lang="en-AU" sz="3200" b="1" i="1" dirty="0" smtClean="0">
              <a:latin typeface="Helvetica" pitchFamily="34" charset="0"/>
            </a:endParaRPr>
          </a:p>
          <a:p>
            <a:pPr lvl="0">
              <a:spcBef>
                <a:spcPts val="600"/>
              </a:spcBef>
              <a:spcAft>
                <a:spcPts val="1200"/>
              </a:spcAft>
            </a:pPr>
            <a:endParaRPr lang="en-AU" sz="3200" b="1" dirty="0" smtClean="0">
              <a:latin typeface="Helvetica" pitchFamily="34" charset="0"/>
            </a:endParaRPr>
          </a:p>
          <a:p>
            <a:pPr marL="0">
              <a:spcBef>
                <a:spcPts val="600"/>
              </a:spcBef>
              <a:spcAft>
                <a:spcPts val="1200"/>
              </a:spcAft>
              <a:buNone/>
            </a:pPr>
            <a:endParaRPr lang="en-AU" sz="3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72008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Respond to complaints</a:t>
            </a: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Process complaints in accordance with organisational standards, policies and procedures</a:t>
            </a:r>
          </a:p>
          <a:p>
            <a:pPr>
              <a:spcBef>
                <a:spcPts val="600"/>
              </a:spcBef>
              <a:spcAft>
                <a:spcPts val="1200"/>
              </a:spcAft>
            </a:pPr>
            <a:r>
              <a:rPr lang="en-AU" sz="2200" dirty="0" smtClean="0">
                <a:latin typeface="Helvetica" pitchFamily="34" charset="0"/>
              </a:rPr>
              <a:t>Obtain and review documentation in </a:t>
            </a:r>
            <a:br>
              <a:rPr lang="en-AU" sz="2200" dirty="0" smtClean="0">
                <a:latin typeface="Helvetica" pitchFamily="34" charset="0"/>
              </a:rPr>
            </a:br>
            <a:r>
              <a:rPr lang="en-AU" sz="2200" dirty="0" smtClean="0">
                <a:latin typeface="Helvetica" pitchFamily="34" charset="0"/>
              </a:rPr>
              <a:t>relation to complaints</a:t>
            </a:r>
          </a:p>
          <a:p>
            <a:pPr>
              <a:spcBef>
                <a:spcPts val="600"/>
              </a:spcBef>
              <a:spcAft>
                <a:spcPts val="1200"/>
              </a:spcAft>
            </a:pPr>
            <a:r>
              <a:rPr lang="en-AU" sz="2200" dirty="0" smtClean="0">
                <a:latin typeface="Helvetica" pitchFamily="34" charset="0"/>
              </a:rPr>
              <a:t>Maintain register of complaints/disputes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6" name="Picture 5" descr="MP900409740[1].JPG"/>
          <p:cNvPicPr>
            <a:picLocks noChangeAspect="1"/>
          </p:cNvPicPr>
          <p:nvPr/>
        </p:nvPicPr>
        <p:blipFill>
          <a:blip r:embed="rId3" cstate="print"/>
          <a:stretch>
            <a:fillRect/>
          </a:stretch>
        </p:blipFill>
        <p:spPr>
          <a:xfrm>
            <a:off x="6948264" y="3068960"/>
            <a:ext cx="1488331" cy="2237960"/>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Processing complaints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AU" sz="2200" dirty="0" smtClean="0">
                <a:latin typeface="Helvetica" pitchFamily="34" charset="0"/>
              </a:rPr>
              <a:t>Once complaints have been received, agreed and documented it is now time to:</a:t>
            </a:r>
          </a:p>
          <a:p>
            <a:pPr>
              <a:spcBef>
                <a:spcPts val="600"/>
              </a:spcBef>
              <a:spcAft>
                <a:spcPts val="1200"/>
              </a:spcAft>
            </a:pPr>
            <a:r>
              <a:rPr lang="en-AU" sz="2200" dirty="0" smtClean="0">
                <a:latin typeface="Helvetica" pitchFamily="34" charset="0"/>
              </a:rPr>
              <a:t>Process the complaint</a:t>
            </a:r>
          </a:p>
          <a:p>
            <a:pPr>
              <a:spcBef>
                <a:spcPts val="600"/>
              </a:spcBef>
              <a:spcAft>
                <a:spcPts val="1200"/>
              </a:spcAft>
            </a:pPr>
            <a:r>
              <a:rPr lang="en-AU" sz="2200" dirty="0" smtClean="0">
                <a:latin typeface="Helvetica" pitchFamily="34" charset="0"/>
              </a:rPr>
              <a:t>Hopefully find a solution </a:t>
            </a:r>
          </a:p>
          <a:p>
            <a:pPr>
              <a:spcBef>
                <a:spcPts val="600"/>
              </a:spcBef>
              <a:spcAft>
                <a:spcPts val="1200"/>
              </a:spcAft>
            </a:pPr>
            <a:r>
              <a:rPr lang="en-AU" sz="2200" dirty="0" smtClean="0">
                <a:latin typeface="Helvetica" pitchFamily="34" charset="0"/>
              </a:rPr>
              <a:t>That is of benefit to both the customer and the organisation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MP900443013[1].JPG"/>
          <p:cNvPicPr/>
          <p:nvPr/>
        </p:nvPicPr>
        <p:blipFill>
          <a:blip r:embed="rId3" cstate="print"/>
          <a:stretch>
            <a:fillRect/>
          </a:stretch>
        </p:blipFill>
        <p:spPr>
          <a:xfrm>
            <a:off x="6372200" y="3861048"/>
            <a:ext cx="2039094" cy="1359396"/>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792088"/>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Organisational standards, policies and procedures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When processing complaints they must be done in compliance with organisational:</a:t>
            </a:r>
          </a:p>
          <a:p>
            <a:pPr>
              <a:spcBef>
                <a:spcPts val="600"/>
              </a:spcBef>
              <a:spcAft>
                <a:spcPts val="1200"/>
              </a:spcAft>
            </a:pPr>
            <a:r>
              <a:rPr lang="en-AU" sz="2200" dirty="0" smtClean="0">
                <a:latin typeface="Helvetica" pitchFamily="34" charset="0"/>
              </a:rPr>
              <a:t>Standards</a:t>
            </a:r>
          </a:p>
          <a:p>
            <a:pPr>
              <a:spcBef>
                <a:spcPts val="600"/>
              </a:spcBef>
              <a:spcAft>
                <a:spcPts val="1200"/>
              </a:spcAft>
            </a:pPr>
            <a:r>
              <a:rPr lang="en-AU" sz="2200" dirty="0" smtClean="0">
                <a:latin typeface="Helvetica" pitchFamily="34" charset="0"/>
              </a:rPr>
              <a:t>Policies</a:t>
            </a:r>
          </a:p>
          <a:p>
            <a:pPr>
              <a:spcBef>
                <a:spcPts val="600"/>
              </a:spcBef>
              <a:spcAft>
                <a:spcPts val="1200"/>
              </a:spcAft>
            </a:pPr>
            <a:r>
              <a:rPr lang="en-AU" sz="2200" dirty="0" smtClean="0">
                <a:latin typeface="Helvetica" pitchFamily="34" charset="0"/>
              </a:rPr>
              <a:t>Procedures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7" name="Picture 6" descr="MP900423070[1].JPG"/>
          <p:cNvPicPr>
            <a:picLocks noChangeAspect="1"/>
          </p:cNvPicPr>
          <p:nvPr/>
        </p:nvPicPr>
        <p:blipFill>
          <a:blip r:embed="rId3" cstate="print"/>
          <a:stretch>
            <a:fillRect/>
          </a:stretch>
        </p:blipFill>
        <p:spPr>
          <a:xfrm>
            <a:off x="6444208" y="3356992"/>
            <a:ext cx="1967475" cy="1988840"/>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Code of ethics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 code of ethics, also referred to as a code of conduct, outlines how it will handle various issues including customer complaints:</a:t>
            </a:r>
          </a:p>
          <a:p>
            <a:pPr>
              <a:spcBef>
                <a:spcPts val="600"/>
              </a:spcBef>
              <a:spcAft>
                <a:spcPts val="1200"/>
              </a:spcAft>
            </a:pPr>
            <a:r>
              <a:rPr lang="en-AU" sz="2200" dirty="0" smtClean="0">
                <a:latin typeface="Helvetica" pitchFamily="34" charset="0"/>
              </a:rPr>
              <a:t>What is included in a ‘Code of Ethics’?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6" name="Picture 5" descr="MP900399517[1].JPG"/>
          <p:cNvPicPr/>
          <p:nvPr/>
        </p:nvPicPr>
        <p:blipFill>
          <a:blip r:embed="rId3" cstate="print"/>
          <a:stretch>
            <a:fillRect/>
          </a:stretch>
        </p:blipFill>
        <p:spPr>
          <a:xfrm>
            <a:off x="6156176" y="3789040"/>
            <a:ext cx="2238747" cy="1561331"/>
          </a:xfrm>
          <a:prstGeom prst="rect">
            <a:avLst/>
          </a:prstGeom>
        </p:spPr>
      </p:pic>
      <p:sp>
        <p:nvSpPr>
          <p:cNvPr id="9"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Code of ethics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code of ethics may focus on ensuring:</a:t>
            </a:r>
          </a:p>
          <a:p>
            <a:pPr lvl="0">
              <a:spcBef>
                <a:spcPts val="600"/>
              </a:spcBef>
              <a:spcAft>
                <a:spcPts val="1200"/>
              </a:spcAft>
            </a:pPr>
            <a:r>
              <a:rPr lang="en-AU" sz="2200" dirty="0" smtClean="0">
                <a:latin typeface="Helvetica" pitchFamily="34" charset="0"/>
              </a:rPr>
              <a:t>Complaints can be submitted easily</a:t>
            </a:r>
          </a:p>
          <a:p>
            <a:pPr lvl="0">
              <a:spcBef>
                <a:spcPts val="600"/>
              </a:spcBef>
              <a:spcAft>
                <a:spcPts val="1200"/>
              </a:spcAft>
            </a:pPr>
            <a:r>
              <a:rPr lang="en-AU" sz="2200" dirty="0" smtClean="0">
                <a:latin typeface="Helvetica" pitchFamily="34" charset="0"/>
              </a:rPr>
              <a:t>All complaints are taken seriously</a:t>
            </a:r>
          </a:p>
          <a:p>
            <a:pPr lvl="0">
              <a:spcBef>
                <a:spcPts val="600"/>
              </a:spcBef>
              <a:spcAft>
                <a:spcPts val="1200"/>
              </a:spcAft>
            </a:pPr>
            <a:r>
              <a:rPr lang="en-AU" sz="2200" dirty="0" smtClean="0">
                <a:latin typeface="Helvetica" pitchFamily="34" charset="0"/>
              </a:rPr>
              <a:t>Timely responses are given in a prompt </a:t>
            </a:r>
            <a:br>
              <a:rPr lang="en-AU" sz="2200" dirty="0" smtClean="0">
                <a:latin typeface="Helvetica" pitchFamily="34" charset="0"/>
              </a:rPr>
            </a:br>
            <a:r>
              <a:rPr lang="en-AU" sz="2200" dirty="0" smtClean="0">
                <a:latin typeface="Helvetica" pitchFamily="34" charset="0"/>
              </a:rPr>
              <a:t>and polite manner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7" name="Picture 6" descr="MP900411789[1].JPG"/>
          <p:cNvPicPr/>
          <p:nvPr/>
        </p:nvPicPr>
        <p:blipFill>
          <a:blip r:embed="rId3" cstate="print"/>
          <a:stretch>
            <a:fillRect/>
          </a:stretch>
        </p:blipFill>
        <p:spPr>
          <a:xfrm>
            <a:off x="6372200" y="3861048"/>
            <a:ext cx="2060431" cy="1493317"/>
          </a:xfrm>
          <a:prstGeom prst="rect">
            <a:avLst/>
          </a:prstGeom>
        </p:spPr>
      </p:pic>
      <p:sp>
        <p:nvSpPr>
          <p:cNvPr id="9" name="Title 1"/>
          <p:cNvSpPr>
            <a:spLocks noGrp="1"/>
          </p:cNvSpPr>
          <p:nvPr>
            <p:ph type="title"/>
          </p:nvPr>
        </p:nvSpPr>
        <p:spPr>
          <a:xfrm>
            <a:off x="611560" y="332656"/>
            <a:ext cx="8208912" cy="792088"/>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Code of ethics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The code of ethics may focus on ensuring:</a:t>
            </a:r>
          </a:p>
          <a:p>
            <a:pPr lvl="0">
              <a:spcBef>
                <a:spcPts val="600"/>
              </a:spcBef>
              <a:spcAft>
                <a:spcPts val="1200"/>
              </a:spcAft>
            </a:pPr>
            <a:r>
              <a:rPr lang="en-AU" sz="2200" dirty="0" smtClean="0">
                <a:latin typeface="Helvetica" pitchFamily="34" charset="0"/>
              </a:rPr>
              <a:t>All action will be communicated in a timely manner</a:t>
            </a:r>
          </a:p>
          <a:p>
            <a:pPr lvl="0">
              <a:spcBef>
                <a:spcPts val="600"/>
              </a:spcBef>
              <a:spcAft>
                <a:spcPts val="1200"/>
              </a:spcAft>
            </a:pPr>
            <a:r>
              <a:rPr lang="en-AU" sz="2200" dirty="0" smtClean="0">
                <a:latin typeface="Helvetica" pitchFamily="34" charset="0"/>
              </a:rPr>
              <a:t>Complaints will be investigated and where possible, learnt from</a:t>
            </a:r>
          </a:p>
          <a:p>
            <a:pPr lvl="0">
              <a:spcBef>
                <a:spcPts val="600"/>
              </a:spcBef>
              <a:spcAft>
                <a:spcPts val="1200"/>
              </a:spcAft>
            </a:pPr>
            <a:r>
              <a:rPr lang="en-AU" sz="2200" dirty="0" smtClean="0">
                <a:latin typeface="Helvetica" pitchFamily="34" charset="0"/>
              </a:rPr>
              <a:t>All complaints will remain confidential</a:t>
            </a:r>
            <a:br>
              <a:rPr lang="en-AU" sz="2200" dirty="0" smtClean="0">
                <a:latin typeface="Helvetica" pitchFamily="34" charset="0"/>
              </a:rPr>
            </a:br>
            <a:r>
              <a:rPr lang="en-AU" sz="2200" dirty="0" smtClean="0">
                <a:latin typeface="Helvetica" pitchFamily="34" charset="0"/>
              </a:rPr>
              <a:t>or to protect the privacy of parties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5" name="Picture 4" descr="MP910220783[1].JPG"/>
          <p:cNvPicPr>
            <a:picLocks noChangeAspect="1"/>
          </p:cNvPicPr>
          <p:nvPr/>
        </p:nvPicPr>
        <p:blipFill>
          <a:blip r:embed="rId3" cstate="print"/>
          <a:stretch>
            <a:fillRect/>
          </a:stretch>
        </p:blipFill>
        <p:spPr>
          <a:xfrm>
            <a:off x="6732240" y="3645024"/>
            <a:ext cx="1702036" cy="1700808"/>
          </a:xfrm>
          <a:prstGeom prst="rect">
            <a:avLst/>
          </a:prstGeom>
        </p:spPr>
      </p:pic>
      <p:sp>
        <p:nvSpPr>
          <p:cNvPr id="7"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Quality systems, standards and guidelines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Each organisation will have an accepted level of performance that must be obtained in handling customer complaints.</a:t>
            </a:r>
          </a:p>
          <a:p>
            <a:pPr>
              <a:spcBef>
                <a:spcPts val="600"/>
              </a:spcBef>
              <a:spcAft>
                <a:spcPts val="1200"/>
              </a:spcAft>
              <a:buNone/>
            </a:pPr>
            <a:r>
              <a:rPr lang="en-AU" sz="2200" dirty="0" smtClean="0">
                <a:latin typeface="Helvetica" pitchFamily="34" charset="0"/>
              </a:rPr>
              <a:t>These may include stated:</a:t>
            </a:r>
          </a:p>
          <a:p>
            <a:pPr lvl="0">
              <a:spcBef>
                <a:spcPts val="600"/>
              </a:spcBef>
              <a:spcAft>
                <a:spcPts val="1200"/>
              </a:spcAft>
            </a:pPr>
            <a:r>
              <a:rPr lang="en-AU" sz="2200" dirty="0" smtClean="0">
                <a:latin typeface="Helvetica" pitchFamily="34" charset="0"/>
              </a:rPr>
              <a:t>Objectives</a:t>
            </a:r>
          </a:p>
          <a:p>
            <a:pPr lvl="0">
              <a:spcBef>
                <a:spcPts val="600"/>
              </a:spcBef>
              <a:spcAft>
                <a:spcPts val="1200"/>
              </a:spcAft>
            </a:pPr>
            <a:r>
              <a:rPr lang="en-AU" sz="2200" dirty="0" smtClean="0">
                <a:latin typeface="Helvetica" pitchFamily="34" charset="0"/>
              </a:rPr>
              <a:t>Rules</a:t>
            </a:r>
          </a:p>
          <a:p>
            <a:pPr lvl="0">
              <a:spcBef>
                <a:spcPts val="600"/>
              </a:spcBef>
              <a:spcAft>
                <a:spcPts val="1200"/>
              </a:spcAft>
            </a:pPr>
            <a:r>
              <a:rPr lang="en-AU" sz="2200" dirty="0" smtClean="0">
                <a:latin typeface="Helvetica" pitchFamily="34" charset="0"/>
              </a:rPr>
              <a:t>Guidelines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6" name="Picture 5" descr="MP900439502[1].JPG"/>
          <p:cNvPicPr>
            <a:picLocks noChangeAspect="1"/>
          </p:cNvPicPr>
          <p:nvPr/>
        </p:nvPicPr>
        <p:blipFill>
          <a:blip r:embed="rId3" cstate="print"/>
          <a:stretch>
            <a:fillRect/>
          </a:stretch>
        </p:blipFill>
        <p:spPr>
          <a:xfrm>
            <a:off x="5940152" y="3645024"/>
            <a:ext cx="2443234" cy="1626496"/>
          </a:xfrm>
          <a:prstGeom prst="rect">
            <a:avLst/>
          </a:prstGeom>
        </p:spPr>
      </p:pic>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Scope of authority</a:t>
            </a:r>
            <a:endParaRPr lang="en-AU" sz="2200" dirty="0" smtClean="0">
              <a:latin typeface="Helvetica" pitchFamily="34" charset="0"/>
            </a:endParaRPr>
          </a:p>
          <a:p>
            <a:pPr marL="0">
              <a:spcBef>
                <a:spcPts val="600"/>
              </a:spcBef>
              <a:spcAft>
                <a:spcPts val="1200"/>
              </a:spcAft>
              <a:buNone/>
            </a:pPr>
            <a:r>
              <a:rPr lang="en-GB" sz="2200" dirty="0" smtClean="0">
                <a:latin typeface="Helvetica" pitchFamily="34" charset="0"/>
              </a:rPr>
              <a:t>All staff are under a legal obligation to only act within their specifically assigned scope of authority, relating to:</a:t>
            </a:r>
          </a:p>
          <a:p>
            <a:pPr>
              <a:spcBef>
                <a:spcPts val="600"/>
              </a:spcBef>
              <a:spcAft>
                <a:spcPts val="1200"/>
              </a:spcAft>
            </a:pPr>
            <a:r>
              <a:rPr lang="en-GB" sz="2200" dirty="0" smtClean="0">
                <a:latin typeface="Helvetica" pitchFamily="34" charset="0"/>
              </a:rPr>
              <a:t>Their ability to act on behalf of the venue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Their authority to spend money on behalf of the venue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Their authority to act in given situations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sp>
        <p:nvSpPr>
          <p:cNvPr id="9"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pic>
        <p:nvPicPr>
          <p:cNvPr id="10" name="Picture 9" descr="11111.jpg"/>
          <p:cNvPicPr/>
          <p:nvPr/>
        </p:nvPicPr>
        <p:blipFill>
          <a:blip r:embed="rId3" cstate="print"/>
          <a:stretch>
            <a:fillRect/>
          </a:stretch>
        </p:blipFill>
        <p:spPr>
          <a:xfrm>
            <a:off x="7236296" y="3717032"/>
            <a:ext cx="1228725" cy="1838325"/>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Complaints procedures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All organisations will have set procedures that must be followed in the event that a customer complaint has been submitted:</a:t>
            </a:r>
          </a:p>
          <a:p>
            <a:pPr>
              <a:spcBef>
                <a:spcPts val="600"/>
              </a:spcBef>
              <a:spcAft>
                <a:spcPts val="1200"/>
              </a:spcAft>
            </a:pPr>
            <a:r>
              <a:rPr lang="en-AU" sz="2200" dirty="0" smtClean="0">
                <a:latin typeface="Helvetica" pitchFamily="34" charset="0"/>
              </a:rPr>
              <a:t>What will these procedures identify?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pic>
        <p:nvPicPr>
          <p:cNvPr id="9" name="Picture 8" descr="MP900411785[1].JPG"/>
          <p:cNvPicPr/>
          <p:nvPr/>
        </p:nvPicPr>
        <p:blipFill>
          <a:blip r:embed="rId3" cstate="print"/>
          <a:stretch>
            <a:fillRect/>
          </a:stretch>
        </p:blipFill>
        <p:spPr>
          <a:xfrm>
            <a:off x="7092280" y="3284984"/>
            <a:ext cx="1295400" cy="1943100"/>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Complaints procedures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How complaints can be lodged</a:t>
            </a:r>
          </a:p>
          <a:p>
            <a:pPr lvl="0">
              <a:spcBef>
                <a:spcPts val="600"/>
              </a:spcBef>
              <a:spcAft>
                <a:spcPts val="1200"/>
              </a:spcAft>
            </a:pPr>
            <a:r>
              <a:rPr lang="en-AU" sz="2200" dirty="0" smtClean="0">
                <a:latin typeface="Helvetica" pitchFamily="34" charset="0"/>
              </a:rPr>
              <a:t>Who can handle the complaints</a:t>
            </a:r>
          </a:p>
          <a:p>
            <a:pPr lvl="0">
              <a:spcBef>
                <a:spcPts val="600"/>
              </a:spcBef>
              <a:spcAft>
                <a:spcPts val="1200"/>
              </a:spcAft>
            </a:pPr>
            <a:r>
              <a:rPr lang="en-AU" sz="2200" dirty="0" smtClean="0">
                <a:latin typeface="Helvetica" pitchFamily="34" charset="0"/>
              </a:rPr>
              <a:t>Timelines for handling complaints</a:t>
            </a:r>
          </a:p>
          <a:p>
            <a:pPr lvl="0">
              <a:spcBef>
                <a:spcPts val="600"/>
              </a:spcBef>
              <a:spcAft>
                <a:spcPts val="1200"/>
              </a:spcAft>
            </a:pPr>
            <a:r>
              <a:rPr lang="en-AU" sz="2200" dirty="0" smtClean="0">
                <a:latin typeface="Helvetica" pitchFamily="34" charset="0"/>
              </a:rPr>
              <a:t>Timelines and documents to be completed</a:t>
            </a:r>
          </a:p>
          <a:p>
            <a:pPr lvl="0">
              <a:spcBef>
                <a:spcPts val="600"/>
              </a:spcBef>
              <a:spcAft>
                <a:spcPts val="1200"/>
              </a:spcAft>
            </a:pPr>
            <a:r>
              <a:rPr lang="en-AU" sz="2200" dirty="0" smtClean="0">
                <a:latin typeface="Helvetica" pitchFamily="34" charset="0"/>
              </a:rPr>
              <a:t>Reporting process</a:t>
            </a:r>
          </a:p>
          <a:p>
            <a:pPr lvl="0">
              <a:spcBef>
                <a:spcPts val="600"/>
              </a:spcBef>
              <a:spcAft>
                <a:spcPts val="1200"/>
              </a:spcAft>
            </a:pPr>
            <a:r>
              <a:rPr lang="en-AU" sz="2200" dirty="0" smtClean="0">
                <a:latin typeface="Helvetica" pitchFamily="34" charset="0"/>
              </a:rPr>
              <a:t>Level of authority</a:t>
            </a:r>
          </a:p>
          <a:p>
            <a:pPr lvl="0">
              <a:spcBef>
                <a:spcPts val="600"/>
              </a:spcBef>
              <a:spcAft>
                <a:spcPts val="1200"/>
              </a:spcAft>
            </a:pPr>
            <a:r>
              <a:rPr lang="en-AU" sz="2200" dirty="0" smtClean="0">
                <a:latin typeface="Helvetica" pitchFamily="34" charset="0"/>
              </a:rPr>
              <a:t>Steps to follow if complaint process </a:t>
            </a:r>
            <a:br>
              <a:rPr lang="en-AU" sz="2200" dirty="0" smtClean="0">
                <a:latin typeface="Helvetica" pitchFamily="34" charset="0"/>
              </a:rPr>
            </a:br>
            <a:r>
              <a:rPr lang="en-AU" sz="2200" dirty="0" smtClean="0">
                <a:latin typeface="Helvetica" pitchFamily="34" charset="0"/>
              </a:rPr>
              <a:t>or decision is not satisfactory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sp>
        <p:nvSpPr>
          <p:cNvPr id="8" name="Title 1"/>
          <p:cNvSpPr>
            <a:spLocks noGrp="1"/>
          </p:cNvSpPr>
          <p:nvPr>
            <p:ph type="title"/>
          </p:nvPr>
        </p:nvSpPr>
        <p:spPr>
          <a:xfrm>
            <a:off x="611560" y="332656"/>
            <a:ext cx="8208912" cy="792088"/>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pic>
        <p:nvPicPr>
          <p:cNvPr id="9" name="Picture 8" descr="MP900409079[1].JPG"/>
          <p:cNvPicPr/>
          <p:nvPr/>
        </p:nvPicPr>
        <p:blipFill>
          <a:blip r:embed="rId3" cstate="print"/>
          <a:stretch>
            <a:fillRect/>
          </a:stretch>
        </p:blipFill>
        <p:spPr>
          <a:xfrm>
            <a:off x="6732240" y="3861048"/>
            <a:ext cx="1619250" cy="161925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632848" cy="5661248"/>
          </a:xfrm>
        </p:spPr>
        <p:txBody>
          <a:bodyPr>
            <a:normAutofit/>
          </a:bodyPr>
          <a:lstStyle/>
          <a:p>
            <a:pPr>
              <a:spcBef>
                <a:spcPts val="600"/>
              </a:spcBef>
              <a:spcAft>
                <a:spcPts val="1200"/>
              </a:spcAft>
              <a:buNone/>
            </a:pPr>
            <a:r>
              <a:rPr lang="en-AU" sz="2200" b="1" dirty="0" smtClean="0">
                <a:latin typeface="Helvetica" pitchFamily="34" charset="0"/>
              </a:rPr>
              <a:t>Third party documents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Where external parties will be required to handle aspects of a complaint, they will have their own policies and procedures that must be addressed and followed:</a:t>
            </a:r>
          </a:p>
          <a:p>
            <a:pPr lvl="0">
              <a:spcBef>
                <a:spcPts val="600"/>
              </a:spcBef>
              <a:spcAft>
                <a:spcPts val="1200"/>
              </a:spcAft>
            </a:pPr>
            <a:r>
              <a:rPr lang="en-AU" sz="2200" dirty="0" smtClean="0">
                <a:latin typeface="Helvetica" pitchFamily="34" charset="0"/>
              </a:rPr>
              <a:t>Police</a:t>
            </a:r>
          </a:p>
          <a:p>
            <a:pPr lvl="0">
              <a:spcBef>
                <a:spcPts val="600"/>
              </a:spcBef>
              <a:spcAft>
                <a:spcPts val="1200"/>
              </a:spcAft>
            </a:pPr>
            <a:r>
              <a:rPr lang="en-AU" sz="2200" dirty="0" smtClean="0">
                <a:latin typeface="Helvetica" pitchFamily="34" charset="0"/>
              </a:rPr>
              <a:t>Medical/hospitals</a:t>
            </a:r>
          </a:p>
          <a:p>
            <a:pPr lvl="0">
              <a:spcBef>
                <a:spcPts val="600"/>
              </a:spcBef>
              <a:spcAft>
                <a:spcPts val="1200"/>
              </a:spcAft>
            </a:pPr>
            <a:r>
              <a:rPr lang="en-AU" sz="2200" dirty="0" smtClean="0">
                <a:latin typeface="Helvetica" pitchFamily="34" charset="0"/>
              </a:rPr>
              <a:t>Insurance companies</a:t>
            </a:r>
          </a:p>
          <a:p>
            <a:pPr lvl="0">
              <a:spcBef>
                <a:spcPts val="600"/>
              </a:spcBef>
              <a:spcAft>
                <a:spcPts val="1200"/>
              </a:spcAft>
            </a:pPr>
            <a:r>
              <a:rPr lang="en-AU" sz="2200" dirty="0" smtClean="0">
                <a:latin typeface="Helvetica" pitchFamily="34" charset="0"/>
              </a:rPr>
              <a:t>Embassies and consulates</a:t>
            </a:r>
          </a:p>
          <a:p>
            <a:pPr lvl="0">
              <a:spcBef>
                <a:spcPts val="600"/>
              </a:spcBef>
              <a:spcAft>
                <a:spcPts val="1200"/>
              </a:spcAft>
            </a:pPr>
            <a:r>
              <a:rPr lang="en-AU" sz="2200" dirty="0" smtClean="0">
                <a:latin typeface="Helvetica" pitchFamily="34" charset="0"/>
              </a:rPr>
              <a:t>Airlines, car hire and other</a:t>
            </a:r>
            <a:br>
              <a:rPr lang="en-AU" sz="2200" dirty="0" smtClean="0">
                <a:latin typeface="Helvetica" pitchFamily="34" charset="0"/>
              </a:rPr>
            </a:br>
            <a:r>
              <a:rPr lang="en-AU" sz="2200" dirty="0" smtClean="0">
                <a:latin typeface="Helvetica" pitchFamily="34" charset="0"/>
              </a:rPr>
              <a:t>transportation providers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sp>
        <p:nvSpPr>
          <p:cNvPr id="8" name="Title 1"/>
          <p:cNvSpPr>
            <a:spLocks noGrp="1"/>
          </p:cNvSpPr>
          <p:nvPr>
            <p:ph type="title"/>
          </p:nvPr>
        </p:nvSpPr>
        <p:spPr>
          <a:xfrm>
            <a:off x="611560" y="332656"/>
            <a:ext cx="8208912" cy="792088"/>
          </a:xfrm>
        </p:spPr>
        <p:txBody>
          <a:bodyPr>
            <a:normAutofit/>
          </a:bodyPr>
          <a:lstStyle/>
          <a:p>
            <a:r>
              <a:rPr lang="en-US" sz="3400" b="1" dirty="0" smtClean="0">
                <a:solidFill>
                  <a:srgbClr val="FF6600"/>
                </a:solidFill>
                <a:latin typeface="Helvetica" pitchFamily="34" charset="0"/>
              </a:rPr>
              <a:t>Processing complaints considerations</a:t>
            </a:r>
            <a:endParaRPr lang="en-US" sz="3400" b="1" dirty="0">
              <a:solidFill>
                <a:srgbClr val="FF6600"/>
              </a:solidFill>
              <a:latin typeface="Helvetica" pitchFamily="34" charset="0"/>
            </a:endParaRPr>
          </a:p>
        </p:txBody>
      </p:sp>
      <p:pic>
        <p:nvPicPr>
          <p:cNvPr id="6" name="Picture 5" descr="MP900426566[1].JPG"/>
          <p:cNvPicPr/>
          <p:nvPr/>
        </p:nvPicPr>
        <p:blipFill>
          <a:blip r:embed="rId3" cstate="print"/>
          <a:stretch>
            <a:fillRect/>
          </a:stretch>
        </p:blipFill>
        <p:spPr>
          <a:xfrm>
            <a:off x="6660232" y="3717032"/>
            <a:ext cx="1771253" cy="1699245"/>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340768"/>
            <a:ext cx="7467600" cy="5517232"/>
          </a:xfrm>
        </p:spPr>
        <p:txBody>
          <a:bodyPr>
            <a:normAutofit/>
          </a:bodyPr>
          <a:lstStyle/>
          <a:p>
            <a:pPr marL="0">
              <a:spcBef>
                <a:spcPts val="600"/>
              </a:spcBef>
              <a:spcAft>
                <a:spcPts val="1200"/>
              </a:spcAft>
              <a:buNone/>
            </a:pPr>
            <a:r>
              <a:rPr lang="en-AU" sz="2200" dirty="0" smtClean="0">
                <a:latin typeface="Helvetica" pitchFamily="34" charset="0"/>
              </a:rPr>
              <a:t>One of the key requirements of any investigatory activity in relation to a customer complaint is to collect evidence of problems that have lead to the complaint itself:</a:t>
            </a:r>
          </a:p>
          <a:p>
            <a:pPr>
              <a:spcBef>
                <a:spcPts val="600"/>
              </a:spcBef>
              <a:spcAft>
                <a:spcPts val="1200"/>
              </a:spcAft>
            </a:pPr>
            <a:r>
              <a:rPr lang="en-AU" sz="2200" dirty="0" smtClean="0">
                <a:latin typeface="Helvetica" pitchFamily="34" charset="0"/>
              </a:rPr>
              <a:t>Why is it important to collect and review evidence?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sp>
        <p:nvSpPr>
          <p:cNvPr id="8" name="Title 1"/>
          <p:cNvSpPr>
            <a:spLocks noGrp="1"/>
          </p:cNvSpPr>
          <p:nvPr>
            <p:ph type="title"/>
          </p:nvPr>
        </p:nvSpPr>
        <p:spPr>
          <a:xfrm>
            <a:off x="611560" y="332656"/>
            <a:ext cx="8208912" cy="864096"/>
          </a:xfrm>
        </p:spPr>
        <p:txBody>
          <a:bodyPr>
            <a:normAutofit/>
          </a:bodyPr>
          <a:lstStyle/>
          <a:p>
            <a:r>
              <a:rPr lang="en-US" sz="3400" b="1" dirty="0" smtClean="0">
                <a:solidFill>
                  <a:srgbClr val="FF6600"/>
                </a:solidFill>
                <a:latin typeface="Helvetica" pitchFamily="34" charset="0"/>
              </a:rPr>
              <a:t>Review documents/evidence</a:t>
            </a:r>
            <a:endParaRPr lang="en-US" sz="3400" b="1" dirty="0">
              <a:solidFill>
                <a:srgbClr val="FF6600"/>
              </a:solidFill>
              <a:latin typeface="Helvetica" pitchFamily="34" charset="0"/>
            </a:endParaRPr>
          </a:p>
        </p:txBody>
      </p:sp>
      <p:pic>
        <p:nvPicPr>
          <p:cNvPr id="7" name="Picture 6" descr="MP900409632[1].JPG"/>
          <p:cNvPicPr/>
          <p:nvPr/>
        </p:nvPicPr>
        <p:blipFill>
          <a:blip r:embed="rId3" cstate="print"/>
          <a:stretch>
            <a:fillRect/>
          </a:stretch>
        </p:blipFill>
        <p:spPr>
          <a:xfrm>
            <a:off x="6444208" y="3717032"/>
            <a:ext cx="1938511" cy="1651620"/>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Purpose of collecting evidence</a:t>
            </a:r>
          </a:p>
          <a:p>
            <a:pPr>
              <a:spcBef>
                <a:spcPts val="600"/>
              </a:spcBef>
              <a:spcAft>
                <a:spcPts val="1200"/>
              </a:spcAft>
              <a:buNone/>
            </a:pPr>
            <a:r>
              <a:rPr lang="en-AU" sz="2200" dirty="0" smtClean="0">
                <a:latin typeface="Helvetica" pitchFamily="34" charset="0"/>
              </a:rPr>
              <a:t>Helps to identify:</a:t>
            </a:r>
          </a:p>
          <a:p>
            <a:pPr lvl="0">
              <a:spcBef>
                <a:spcPts val="600"/>
              </a:spcBef>
              <a:spcAft>
                <a:spcPts val="1200"/>
              </a:spcAft>
            </a:pPr>
            <a:r>
              <a:rPr lang="en-AU" sz="2200" dirty="0" smtClean="0">
                <a:latin typeface="Helvetica" pitchFamily="34" charset="0"/>
              </a:rPr>
              <a:t>Truth behind a complaint</a:t>
            </a:r>
          </a:p>
          <a:p>
            <a:pPr lvl="0">
              <a:spcBef>
                <a:spcPts val="600"/>
              </a:spcBef>
              <a:spcAft>
                <a:spcPts val="1200"/>
              </a:spcAft>
            </a:pPr>
            <a:r>
              <a:rPr lang="en-AU" sz="2200" dirty="0" smtClean="0">
                <a:latin typeface="Helvetica" pitchFamily="34" charset="0"/>
              </a:rPr>
              <a:t>Extent of the complaint</a:t>
            </a:r>
          </a:p>
          <a:p>
            <a:pPr lvl="0">
              <a:spcBef>
                <a:spcPts val="600"/>
              </a:spcBef>
              <a:spcAft>
                <a:spcPts val="1200"/>
              </a:spcAft>
            </a:pPr>
            <a:r>
              <a:rPr lang="en-AU" sz="2200" dirty="0" smtClean="0">
                <a:latin typeface="Helvetica" pitchFamily="34" charset="0"/>
              </a:rPr>
              <a:t>Cause of the problem</a:t>
            </a:r>
          </a:p>
          <a:p>
            <a:pPr lvl="0">
              <a:spcBef>
                <a:spcPts val="600"/>
              </a:spcBef>
              <a:spcAft>
                <a:spcPts val="1200"/>
              </a:spcAft>
            </a:pPr>
            <a:r>
              <a:rPr lang="en-AU" sz="2200" dirty="0" smtClean="0">
                <a:latin typeface="Helvetica" pitchFamily="34" charset="0"/>
              </a:rPr>
              <a:t>Who is responsible</a:t>
            </a:r>
          </a:p>
          <a:p>
            <a:pPr lvl="0">
              <a:spcBef>
                <a:spcPts val="600"/>
              </a:spcBef>
              <a:spcAft>
                <a:spcPts val="1200"/>
              </a:spcAft>
            </a:pPr>
            <a:r>
              <a:rPr lang="en-AU" sz="2200" dirty="0" smtClean="0">
                <a:latin typeface="Helvetica" pitchFamily="34" charset="0"/>
              </a:rPr>
              <a:t>Level of liability </a:t>
            </a:r>
          </a:p>
          <a:p>
            <a:pPr lvl="0">
              <a:spcBef>
                <a:spcPts val="600"/>
              </a:spcBef>
              <a:spcAft>
                <a:spcPts val="1200"/>
              </a:spcAft>
            </a:pPr>
            <a:r>
              <a:rPr lang="en-AU" sz="2200" dirty="0" smtClean="0">
                <a:latin typeface="Helvetica" pitchFamily="34" charset="0"/>
              </a:rPr>
              <a:t>Areas for improvement in the future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Review documents/evidence</a:t>
            </a:r>
            <a:endParaRPr lang="en-US" sz="3400" b="1" dirty="0">
              <a:solidFill>
                <a:srgbClr val="FF6600"/>
              </a:solidFill>
              <a:latin typeface="Helvetica" pitchFamily="34" charset="0"/>
            </a:endParaRPr>
          </a:p>
        </p:txBody>
      </p:sp>
      <p:pic>
        <p:nvPicPr>
          <p:cNvPr id="6" name="Picture 5" descr="MP900422531[1].JPG"/>
          <p:cNvPicPr>
            <a:picLocks noChangeAspect="1"/>
          </p:cNvPicPr>
          <p:nvPr/>
        </p:nvPicPr>
        <p:blipFill>
          <a:blip r:embed="rId3" cstate="print"/>
          <a:stretch>
            <a:fillRect/>
          </a:stretch>
        </p:blipFill>
        <p:spPr>
          <a:xfrm>
            <a:off x="6300192" y="3789040"/>
            <a:ext cx="2037990" cy="162880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373216"/>
          </a:xfrm>
        </p:spPr>
        <p:txBody>
          <a:bodyPr>
            <a:normAutofit/>
          </a:bodyPr>
          <a:lstStyle/>
          <a:p>
            <a:pPr>
              <a:spcBef>
                <a:spcPts val="600"/>
              </a:spcBef>
              <a:spcAft>
                <a:spcPts val="1200"/>
              </a:spcAft>
              <a:buNone/>
            </a:pPr>
            <a:r>
              <a:rPr lang="en-AU" sz="2200" b="1" dirty="0" smtClean="0">
                <a:latin typeface="Helvetica" pitchFamily="34" charset="0"/>
              </a:rPr>
              <a:t>Identify sources of problems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Where complaints take place, there must be a reason why a specific problem has taken place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We need to identify the source of problems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Review documents/evidence</a:t>
            </a:r>
            <a:endParaRPr lang="en-US" sz="3400" b="1" dirty="0">
              <a:solidFill>
                <a:srgbClr val="FF6600"/>
              </a:solidFill>
              <a:latin typeface="Helvetica" pitchFamily="34" charset="0"/>
            </a:endParaRPr>
          </a:p>
        </p:txBody>
      </p:sp>
      <p:pic>
        <p:nvPicPr>
          <p:cNvPr id="7" name="Picture 6" descr="MP910220866[1].JPG"/>
          <p:cNvPicPr>
            <a:picLocks noChangeAspect="1"/>
          </p:cNvPicPr>
          <p:nvPr/>
        </p:nvPicPr>
        <p:blipFill>
          <a:blip r:embed="rId3" cstate="print"/>
          <a:stretch>
            <a:fillRect/>
          </a:stretch>
        </p:blipFill>
        <p:spPr>
          <a:xfrm>
            <a:off x="6516216" y="3573016"/>
            <a:ext cx="1848346" cy="1847012"/>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Identify sources of problems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Source of problems are normally caused by:</a:t>
            </a:r>
          </a:p>
          <a:p>
            <a:pPr>
              <a:spcBef>
                <a:spcPts val="600"/>
              </a:spcBef>
              <a:spcAft>
                <a:spcPts val="1200"/>
              </a:spcAft>
            </a:pPr>
            <a:r>
              <a:rPr lang="en-GB" sz="2200" dirty="0" smtClean="0">
                <a:latin typeface="Helvetica" pitchFamily="34" charset="0"/>
              </a:rPr>
              <a:t>Employee</a:t>
            </a:r>
          </a:p>
          <a:p>
            <a:pPr>
              <a:spcBef>
                <a:spcPts val="600"/>
              </a:spcBef>
              <a:spcAft>
                <a:spcPts val="1200"/>
              </a:spcAft>
            </a:pPr>
            <a:r>
              <a:rPr lang="en-GB" sz="2200" dirty="0" smtClean="0">
                <a:latin typeface="Helvetica" pitchFamily="34" charset="0"/>
              </a:rPr>
              <a:t>Organisation</a:t>
            </a:r>
          </a:p>
          <a:p>
            <a:pPr>
              <a:spcBef>
                <a:spcPts val="600"/>
              </a:spcBef>
              <a:spcAft>
                <a:spcPts val="1200"/>
              </a:spcAft>
            </a:pPr>
            <a:r>
              <a:rPr lang="en-GB" sz="2200" dirty="0" smtClean="0">
                <a:latin typeface="Helvetica" pitchFamily="34" charset="0"/>
              </a:rPr>
              <a:t>Customer</a:t>
            </a: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Review documents/evidence</a:t>
            </a:r>
            <a:endParaRPr lang="en-US" sz="3400" b="1" dirty="0">
              <a:solidFill>
                <a:srgbClr val="FF6600"/>
              </a:solidFill>
              <a:latin typeface="Helvetica" pitchFamily="34" charset="0"/>
            </a:endParaRPr>
          </a:p>
        </p:txBody>
      </p:sp>
      <p:pic>
        <p:nvPicPr>
          <p:cNvPr id="9" name="Picture 8" descr="00302919.jpg"/>
          <p:cNvPicPr/>
          <p:nvPr/>
        </p:nvPicPr>
        <p:blipFill>
          <a:blip r:embed="rId3" cstate="print"/>
          <a:stretch>
            <a:fillRect/>
          </a:stretch>
        </p:blipFill>
        <p:spPr>
          <a:xfrm>
            <a:off x="6876256" y="3212976"/>
            <a:ext cx="1531615" cy="1998340"/>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Identify sources of problems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Employee qualities:</a:t>
            </a:r>
            <a:endParaRPr lang="en-AU" sz="2200" dirty="0" smtClean="0">
              <a:latin typeface="Helvetica" pitchFamily="34" charset="0"/>
            </a:endParaRPr>
          </a:p>
          <a:p>
            <a:pPr marL="465138" indent="-428625">
              <a:spcBef>
                <a:spcPts val="600"/>
              </a:spcBef>
              <a:spcAft>
                <a:spcPts val="1200"/>
              </a:spcAft>
            </a:pPr>
            <a:r>
              <a:rPr lang="en-GB" sz="2200" dirty="0" smtClean="0">
                <a:latin typeface="Helvetica" pitchFamily="34" charset="0"/>
              </a:rPr>
              <a:t>Problems may stem from the employee themselves and can include: </a:t>
            </a:r>
            <a:endParaRPr lang="en-AU" sz="2200" dirty="0" smtClean="0">
              <a:latin typeface="Helvetica" pitchFamily="34" charset="0"/>
            </a:endParaRPr>
          </a:p>
          <a:p>
            <a:pPr marL="852488" indent="-382588">
              <a:spcBef>
                <a:spcPts val="600"/>
              </a:spcBef>
              <a:spcAft>
                <a:spcPts val="1200"/>
              </a:spcAft>
              <a:buSzPct val="120000"/>
              <a:buFont typeface="Wingdings" pitchFamily="2" charset="2"/>
              <a:buChar char="§"/>
            </a:pPr>
            <a:r>
              <a:rPr lang="en-GB" sz="2200" dirty="0" smtClean="0">
                <a:latin typeface="Helvetica" pitchFamily="34" charset="0"/>
              </a:rPr>
              <a:t>Person is new to the role</a:t>
            </a:r>
            <a:endParaRPr lang="en-AU" sz="2200" dirty="0" smtClean="0">
              <a:latin typeface="Helvetica" pitchFamily="34" charset="0"/>
            </a:endParaRPr>
          </a:p>
          <a:p>
            <a:pPr marL="852488" indent="-382588">
              <a:spcBef>
                <a:spcPts val="600"/>
              </a:spcBef>
              <a:spcAft>
                <a:spcPts val="1200"/>
              </a:spcAft>
              <a:buSzPct val="120000"/>
              <a:buFont typeface="Wingdings" pitchFamily="2" charset="2"/>
              <a:buChar char="§"/>
            </a:pPr>
            <a:r>
              <a:rPr lang="en-GB" sz="2200" dirty="0" smtClean="0">
                <a:latin typeface="Helvetica" pitchFamily="34" charset="0"/>
              </a:rPr>
              <a:t>Person does not understand what they need to do</a:t>
            </a:r>
            <a:endParaRPr lang="en-AU" sz="2200" dirty="0" smtClean="0">
              <a:latin typeface="Helvetica" pitchFamily="34" charset="0"/>
            </a:endParaRPr>
          </a:p>
          <a:p>
            <a:pPr marL="852488" indent="-382588">
              <a:spcBef>
                <a:spcPts val="600"/>
              </a:spcBef>
              <a:spcAft>
                <a:spcPts val="1200"/>
              </a:spcAft>
              <a:buSzPct val="120000"/>
              <a:buFont typeface="Wingdings" pitchFamily="2" charset="2"/>
              <a:buChar char="§"/>
            </a:pPr>
            <a:r>
              <a:rPr lang="en-GB" sz="2200" dirty="0" smtClean="0">
                <a:latin typeface="Helvetica" pitchFamily="34" charset="0"/>
              </a:rPr>
              <a:t>Person does not have the knowledge </a:t>
            </a:r>
            <a:br>
              <a:rPr lang="en-GB" sz="2200" dirty="0" smtClean="0">
                <a:latin typeface="Helvetica" pitchFamily="34" charset="0"/>
              </a:rPr>
            </a:br>
            <a:r>
              <a:rPr lang="en-GB" sz="2200" dirty="0" smtClean="0">
                <a:latin typeface="Helvetica" pitchFamily="34" charset="0"/>
              </a:rPr>
              <a:t>and skills to do the task</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Review documents/evidence</a:t>
            </a:r>
            <a:endParaRPr lang="en-US" sz="3400" b="1" dirty="0">
              <a:solidFill>
                <a:srgbClr val="FF6600"/>
              </a:solidFill>
              <a:latin typeface="Helvetica" pitchFamily="34" charset="0"/>
            </a:endParaRPr>
          </a:p>
        </p:txBody>
      </p:sp>
      <p:pic>
        <p:nvPicPr>
          <p:cNvPr id="6" name="Picture 5" descr="tour05_16947_65%.jpg"/>
          <p:cNvPicPr/>
          <p:nvPr/>
        </p:nvPicPr>
        <p:blipFill>
          <a:blip r:embed="rId3" cstate="print"/>
          <a:stretch>
            <a:fillRect/>
          </a:stretch>
        </p:blipFill>
        <p:spPr>
          <a:xfrm>
            <a:off x="6372200" y="4293096"/>
            <a:ext cx="1997452" cy="1368152"/>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Identify sources of problems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Employee qualities: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Person may have personal problems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Person cannot handle stressful situations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Physical problems, such as lack of energy, restricted movement, pain or illness</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sp>
        <p:nvSpPr>
          <p:cNvPr id="8" name="Title 1"/>
          <p:cNvSpPr>
            <a:spLocks noGrp="1"/>
          </p:cNvSpPr>
          <p:nvPr>
            <p:ph type="title"/>
          </p:nvPr>
        </p:nvSpPr>
        <p:spPr>
          <a:xfrm>
            <a:off x="611560" y="332656"/>
            <a:ext cx="8208912" cy="792088"/>
          </a:xfrm>
        </p:spPr>
        <p:txBody>
          <a:bodyPr>
            <a:normAutofit/>
          </a:bodyPr>
          <a:lstStyle/>
          <a:p>
            <a:r>
              <a:rPr lang="en-US" sz="3400" b="1" dirty="0" smtClean="0">
                <a:solidFill>
                  <a:srgbClr val="FF6600"/>
                </a:solidFill>
                <a:latin typeface="Helvetica" pitchFamily="34" charset="0"/>
              </a:rPr>
              <a:t>Review documents/evidence</a:t>
            </a:r>
            <a:endParaRPr lang="en-US" sz="3400" b="1" dirty="0">
              <a:solidFill>
                <a:srgbClr val="FF6600"/>
              </a:solidFill>
              <a:latin typeface="Helvetica" pitchFamily="34" charset="0"/>
            </a:endParaRPr>
          </a:p>
        </p:txBody>
      </p:sp>
      <p:pic>
        <p:nvPicPr>
          <p:cNvPr id="5" name="Picture 4" descr="Waiter.jpg"/>
          <p:cNvPicPr/>
          <p:nvPr/>
        </p:nvPicPr>
        <p:blipFill>
          <a:blip r:embed="rId3" cstate="print"/>
          <a:stretch>
            <a:fillRect/>
          </a:stretch>
        </p:blipFill>
        <p:spPr>
          <a:xfrm>
            <a:off x="6444208" y="4077072"/>
            <a:ext cx="1978149" cy="1235199"/>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Identify sources of problems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Organisational sources: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Limited training</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Lack of supervision, direction, instruction or explanation by management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Ineffective rostering of staff</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Bad physical work environment and</a:t>
            </a:r>
            <a:br>
              <a:rPr lang="en-GB" sz="2200" dirty="0" smtClean="0">
                <a:latin typeface="Helvetica" pitchFamily="34" charset="0"/>
              </a:rPr>
            </a:br>
            <a:r>
              <a:rPr lang="en-GB" sz="2200" dirty="0" smtClean="0">
                <a:latin typeface="Helvetica" pitchFamily="34" charset="0"/>
              </a:rPr>
              <a:t>unsafe conditions </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Ineffective work processes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Faulty equipment or power cuts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Review documents/evidence</a:t>
            </a:r>
            <a:endParaRPr lang="en-US" sz="3400" b="1" dirty="0">
              <a:solidFill>
                <a:srgbClr val="FF6600"/>
              </a:solidFill>
              <a:latin typeface="Helvetica" pitchFamily="34" charset="0"/>
            </a:endParaRPr>
          </a:p>
        </p:txBody>
      </p:sp>
      <p:pic>
        <p:nvPicPr>
          <p:cNvPr id="6" name="Picture 5" descr="MP900321174[1].JPG"/>
          <p:cNvPicPr>
            <a:picLocks noChangeAspect="1"/>
          </p:cNvPicPr>
          <p:nvPr/>
        </p:nvPicPr>
        <p:blipFill>
          <a:blip r:embed="rId3" cstate="print"/>
          <a:stretch>
            <a:fillRect/>
          </a:stretch>
        </p:blipFill>
        <p:spPr>
          <a:xfrm>
            <a:off x="7009710" y="3429000"/>
            <a:ext cx="1387113" cy="1944551"/>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Identify sources of problems</a:t>
            </a:r>
            <a:endParaRPr lang="en-AU" sz="2200" dirty="0" smtClean="0">
              <a:latin typeface="Helvetica" pitchFamily="34" charset="0"/>
            </a:endParaRPr>
          </a:p>
          <a:p>
            <a:pPr>
              <a:spcBef>
                <a:spcPts val="600"/>
              </a:spcBef>
              <a:spcAft>
                <a:spcPts val="1200"/>
              </a:spcAft>
              <a:buNone/>
            </a:pPr>
            <a:r>
              <a:rPr lang="en-GB" sz="2200" u="sng" dirty="0" smtClean="0">
                <a:latin typeface="Helvetica" pitchFamily="34" charset="0"/>
              </a:rPr>
              <a:t>Customer sources </a:t>
            </a:r>
            <a:endParaRPr lang="en-AU" sz="2200" u="sng" dirty="0" smtClean="0">
              <a:latin typeface="Helvetica" pitchFamily="34" charset="0"/>
            </a:endParaRPr>
          </a:p>
          <a:p>
            <a:pPr marL="0">
              <a:spcBef>
                <a:spcPts val="600"/>
              </a:spcBef>
              <a:spcAft>
                <a:spcPts val="1200"/>
              </a:spcAft>
              <a:buNone/>
            </a:pPr>
            <a:r>
              <a:rPr lang="en-GB" sz="2200" dirty="0" smtClean="0">
                <a:latin typeface="Helvetica" pitchFamily="34" charset="0"/>
              </a:rPr>
              <a:t>At times, the complaint may be influenced by the customer themselves including:</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Large amount of customers coming at the same time</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Difficult customers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Unreasonable requests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sp>
        <p:nvSpPr>
          <p:cNvPr id="8" name="Title 1"/>
          <p:cNvSpPr>
            <a:spLocks noGrp="1"/>
          </p:cNvSpPr>
          <p:nvPr>
            <p:ph type="title"/>
          </p:nvPr>
        </p:nvSpPr>
        <p:spPr>
          <a:xfrm>
            <a:off x="611560" y="332656"/>
            <a:ext cx="8208912" cy="648072"/>
          </a:xfrm>
        </p:spPr>
        <p:txBody>
          <a:bodyPr>
            <a:normAutofit/>
          </a:bodyPr>
          <a:lstStyle/>
          <a:p>
            <a:r>
              <a:rPr lang="en-US" sz="3400" b="1" dirty="0" smtClean="0">
                <a:solidFill>
                  <a:srgbClr val="FF6600"/>
                </a:solidFill>
                <a:latin typeface="Helvetica" pitchFamily="34" charset="0"/>
              </a:rPr>
              <a:t>Review documents/evidence</a:t>
            </a:r>
            <a:endParaRPr lang="en-US" sz="3400" b="1" dirty="0">
              <a:solidFill>
                <a:srgbClr val="FF6600"/>
              </a:solidFill>
              <a:latin typeface="Helvetica" pitchFamily="34" charset="0"/>
            </a:endParaRPr>
          </a:p>
        </p:txBody>
      </p:sp>
      <p:pic>
        <p:nvPicPr>
          <p:cNvPr id="7" name="Picture 6" descr="MP900289858[1].JPG"/>
          <p:cNvPicPr/>
          <p:nvPr/>
        </p:nvPicPr>
        <p:blipFill>
          <a:blip r:embed="rId3" cstate="print"/>
          <a:stretch>
            <a:fillRect/>
          </a:stretch>
        </p:blipFill>
        <p:spPr>
          <a:xfrm>
            <a:off x="6372200" y="4005064"/>
            <a:ext cx="1983482" cy="144016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GB" sz="2200" b="1" dirty="0" smtClean="0">
                <a:latin typeface="Helvetica" pitchFamily="34" charset="0"/>
              </a:rPr>
              <a:t>Collecting evidence relating to the complaint</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This evidence may come in the form of:</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Invoices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Discussions with staff </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Discussions with other customers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Reviewing of surveillance equipment</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Cashiering discrepancy reports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Observations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Findings from external investigations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Collect documents/evidence</a:t>
            </a:r>
            <a:endParaRPr lang="en-US" sz="3400" b="1" dirty="0">
              <a:solidFill>
                <a:srgbClr val="FF6600"/>
              </a:solidFill>
              <a:latin typeface="Helvetica" pitchFamily="34" charset="0"/>
            </a:endParaRPr>
          </a:p>
        </p:txBody>
      </p:sp>
      <p:pic>
        <p:nvPicPr>
          <p:cNvPr id="6" name="Picture 5" descr="MP900341625[1].JPG"/>
          <p:cNvPicPr/>
          <p:nvPr/>
        </p:nvPicPr>
        <p:blipFill>
          <a:blip r:embed="rId3" cstate="print"/>
          <a:stretch>
            <a:fillRect/>
          </a:stretch>
        </p:blipFill>
        <p:spPr>
          <a:xfrm>
            <a:off x="6876256" y="3429000"/>
            <a:ext cx="1513071" cy="1841748"/>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During the evidence collection process, any new information should be updated in the complaint file:</a:t>
            </a:r>
          </a:p>
          <a:p>
            <a:pPr>
              <a:spcBef>
                <a:spcPts val="600"/>
              </a:spcBef>
              <a:spcAft>
                <a:spcPts val="1200"/>
              </a:spcAft>
            </a:pPr>
            <a:r>
              <a:rPr lang="en-AU" sz="2200" dirty="0" smtClean="0">
                <a:latin typeface="Helvetica" pitchFamily="34" charset="0"/>
              </a:rPr>
              <a:t>Why is this important?</a:t>
            </a:r>
          </a:p>
          <a:p>
            <a:pPr>
              <a:spcBef>
                <a:spcPts val="600"/>
              </a:spcBef>
              <a:spcAft>
                <a:spcPts val="1200"/>
              </a:spcAft>
            </a:pPr>
            <a:r>
              <a:rPr lang="en-AU" sz="2200" dirty="0" smtClean="0">
                <a:latin typeface="Helvetica" pitchFamily="34" charset="0"/>
              </a:rPr>
              <a:t>What information should be recorded?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sp>
        <p:nvSpPr>
          <p:cNvPr id="8" name="Title 1"/>
          <p:cNvSpPr>
            <a:spLocks noGrp="1"/>
          </p:cNvSpPr>
          <p:nvPr>
            <p:ph type="title"/>
          </p:nvPr>
        </p:nvSpPr>
        <p:spPr>
          <a:xfrm>
            <a:off x="611560" y="332656"/>
            <a:ext cx="8208912" cy="720080"/>
          </a:xfrm>
        </p:spPr>
        <p:txBody>
          <a:bodyPr>
            <a:normAutofit/>
          </a:bodyPr>
          <a:lstStyle/>
          <a:p>
            <a:r>
              <a:rPr lang="en-US" sz="3400" b="1" dirty="0" smtClean="0">
                <a:solidFill>
                  <a:srgbClr val="FF6600"/>
                </a:solidFill>
                <a:latin typeface="Helvetica" pitchFamily="34" charset="0"/>
              </a:rPr>
              <a:t>Update register of complaints</a:t>
            </a:r>
            <a:endParaRPr lang="en-US" sz="3400" b="1" dirty="0">
              <a:solidFill>
                <a:srgbClr val="FF6600"/>
              </a:solidFill>
              <a:latin typeface="Helvetica" pitchFamily="34" charset="0"/>
            </a:endParaRPr>
          </a:p>
        </p:txBody>
      </p:sp>
      <p:pic>
        <p:nvPicPr>
          <p:cNvPr id="9" name="Picture 8" descr="MP900289901.JPG"/>
          <p:cNvPicPr>
            <a:picLocks noChangeAspect="1"/>
          </p:cNvPicPr>
          <p:nvPr/>
        </p:nvPicPr>
        <p:blipFill>
          <a:blip r:embed="rId3" cstate="print"/>
          <a:stretch>
            <a:fillRect/>
          </a:stretch>
        </p:blipFill>
        <p:spPr>
          <a:xfrm>
            <a:off x="6372200" y="4005064"/>
            <a:ext cx="1968517" cy="1318906"/>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Information to contain in file</a:t>
            </a:r>
          </a:p>
          <a:p>
            <a:pPr lvl="0">
              <a:spcBef>
                <a:spcPts val="600"/>
              </a:spcBef>
              <a:spcAft>
                <a:spcPts val="1200"/>
              </a:spcAft>
            </a:pPr>
            <a:r>
              <a:rPr lang="en-AU" sz="2200" dirty="0" smtClean="0">
                <a:latin typeface="Helvetica" pitchFamily="34" charset="0"/>
              </a:rPr>
              <a:t>Details of the person making complaint</a:t>
            </a:r>
          </a:p>
          <a:p>
            <a:pPr lvl="0">
              <a:spcBef>
                <a:spcPts val="600"/>
              </a:spcBef>
              <a:spcAft>
                <a:spcPts val="1200"/>
              </a:spcAft>
            </a:pPr>
            <a:r>
              <a:rPr lang="en-AU" sz="2200" dirty="0" smtClean="0">
                <a:latin typeface="Helvetica" pitchFamily="34" charset="0"/>
              </a:rPr>
              <a:t>Details of the complaint</a:t>
            </a:r>
          </a:p>
          <a:p>
            <a:pPr lvl="0">
              <a:spcBef>
                <a:spcPts val="600"/>
              </a:spcBef>
              <a:spcAft>
                <a:spcPts val="1200"/>
              </a:spcAft>
            </a:pPr>
            <a:r>
              <a:rPr lang="en-AU" sz="2200" dirty="0" smtClean="0">
                <a:latin typeface="Helvetica" pitchFamily="34" charset="0"/>
              </a:rPr>
              <a:t>Chronological order of events</a:t>
            </a:r>
          </a:p>
          <a:p>
            <a:pPr lvl="0">
              <a:spcBef>
                <a:spcPts val="600"/>
              </a:spcBef>
              <a:spcAft>
                <a:spcPts val="1200"/>
              </a:spcAft>
            </a:pPr>
            <a:r>
              <a:rPr lang="en-AU" sz="2200" dirty="0" smtClean="0">
                <a:latin typeface="Helvetica" pitchFamily="34" charset="0"/>
              </a:rPr>
              <a:t>Summary of discussions or activities taken</a:t>
            </a:r>
          </a:p>
          <a:p>
            <a:pPr lvl="0">
              <a:spcBef>
                <a:spcPts val="600"/>
              </a:spcBef>
              <a:spcAft>
                <a:spcPts val="1200"/>
              </a:spcAft>
            </a:pPr>
            <a:r>
              <a:rPr lang="en-AU" sz="2200" dirty="0" smtClean="0">
                <a:latin typeface="Helvetica" pitchFamily="34" charset="0"/>
              </a:rPr>
              <a:t>Record of person’s involved</a:t>
            </a:r>
          </a:p>
          <a:p>
            <a:pPr lvl="0">
              <a:spcBef>
                <a:spcPts val="600"/>
              </a:spcBef>
              <a:spcAft>
                <a:spcPts val="1200"/>
              </a:spcAft>
            </a:pPr>
            <a:r>
              <a:rPr lang="en-AU" sz="2200" dirty="0" smtClean="0">
                <a:latin typeface="Helvetica" pitchFamily="34" charset="0"/>
              </a:rPr>
              <a:t>Evidence collected</a:t>
            </a:r>
          </a:p>
          <a:p>
            <a:pPr lvl="0">
              <a:spcBef>
                <a:spcPts val="600"/>
              </a:spcBef>
              <a:spcAft>
                <a:spcPts val="1200"/>
              </a:spcAft>
            </a:pPr>
            <a:r>
              <a:rPr lang="en-AU" sz="2200" dirty="0" smtClean="0">
                <a:latin typeface="Helvetica" pitchFamily="34" charset="0"/>
              </a:rPr>
              <a:t>Recommendations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sp>
        <p:nvSpPr>
          <p:cNvPr id="8" name="Title 1"/>
          <p:cNvSpPr>
            <a:spLocks noGrp="1"/>
          </p:cNvSpPr>
          <p:nvPr>
            <p:ph type="title"/>
          </p:nvPr>
        </p:nvSpPr>
        <p:spPr>
          <a:xfrm>
            <a:off x="611560" y="332656"/>
            <a:ext cx="8208912" cy="792088"/>
          </a:xfrm>
        </p:spPr>
        <p:txBody>
          <a:bodyPr>
            <a:normAutofit/>
          </a:bodyPr>
          <a:lstStyle/>
          <a:p>
            <a:r>
              <a:rPr lang="en-US" sz="3400" b="1" dirty="0" smtClean="0">
                <a:solidFill>
                  <a:srgbClr val="FF6600"/>
                </a:solidFill>
                <a:latin typeface="Helvetica" pitchFamily="34" charset="0"/>
              </a:rPr>
              <a:t>Update register of complaints</a:t>
            </a:r>
            <a:endParaRPr lang="en-US" sz="3400" b="1" dirty="0">
              <a:solidFill>
                <a:srgbClr val="FF6600"/>
              </a:solidFill>
              <a:latin typeface="Helvetica" pitchFamily="34" charset="0"/>
            </a:endParaRPr>
          </a:p>
        </p:txBody>
      </p:sp>
      <p:pic>
        <p:nvPicPr>
          <p:cNvPr id="6" name="Picture 5" descr="MP900385355[1].JPG"/>
          <p:cNvPicPr/>
          <p:nvPr/>
        </p:nvPicPr>
        <p:blipFill>
          <a:blip r:embed="rId3" cstate="print"/>
          <a:stretch>
            <a:fillRect/>
          </a:stretch>
        </p:blipFill>
        <p:spPr>
          <a:xfrm>
            <a:off x="6660232" y="3933056"/>
            <a:ext cx="1726109" cy="1478459"/>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MP900442559.JPG"/>
          <p:cNvPicPr>
            <a:picLocks noGrp="1" noChangeAspect="1"/>
          </p:cNvPicPr>
          <p:nvPr>
            <p:ph type="pic" idx="1"/>
          </p:nvPr>
        </p:nvPicPr>
        <p:blipFill>
          <a:blip r:embed="rId3" cstate="print"/>
          <a:stretch>
            <a:fillRect/>
          </a:stretch>
        </p:blipFill>
        <p:spPr>
          <a:xfrm>
            <a:off x="899592" y="1196752"/>
            <a:ext cx="2556000" cy="3832128"/>
          </a:xfrm>
        </p:spPr>
      </p:pic>
      <p:sp>
        <p:nvSpPr>
          <p:cNvPr id="3" name="Content Placeholder 2"/>
          <p:cNvSpPr>
            <a:spLocks noGrp="1"/>
          </p:cNvSpPr>
          <p:nvPr>
            <p:ph type="body" sz="half" idx="2"/>
          </p:nvPr>
        </p:nvSpPr>
        <p:spPr>
          <a:xfrm>
            <a:off x="3707904" y="1844824"/>
            <a:ext cx="4608512" cy="2808312"/>
          </a:xfrm>
        </p:spPr>
        <p:txBody>
          <a:bodyPr>
            <a:normAutofit lnSpcReduction="10000"/>
          </a:bodyPr>
          <a:lstStyle/>
          <a:p>
            <a:pPr marL="0">
              <a:lnSpc>
                <a:spcPct val="110000"/>
              </a:lnSpc>
              <a:buNone/>
            </a:pPr>
            <a:r>
              <a:rPr lang="en-AU" sz="3200" b="1" dirty="0" smtClean="0">
                <a:solidFill>
                  <a:srgbClr val="FF6600"/>
                </a:solidFill>
                <a:latin typeface="Helvetica" pitchFamily="34" charset="0"/>
              </a:rPr>
              <a:t>Element 3:</a:t>
            </a:r>
          </a:p>
          <a:p>
            <a:pPr marL="0">
              <a:lnSpc>
                <a:spcPct val="110000"/>
              </a:lnSpc>
              <a:spcBef>
                <a:spcPts val="600"/>
              </a:spcBef>
              <a:spcAft>
                <a:spcPts val="1200"/>
              </a:spcAft>
              <a:buNone/>
            </a:pPr>
            <a:r>
              <a:rPr lang="en-AU" sz="3200" b="1" i="1" dirty="0" smtClean="0">
                <a:solidFill>
                  <a:srgbClr val="FF6600"/>
                </a:solidFill>
                <a:latin typeface="Helvetica" pitchFamily="34" charset="0"/>
              </a:rPr>
              <a:t>Determine and agree upon appropriate action to resolve complaint</a:t>
            </a:r>
            <a:endParaRPr lang="en-AU" sz="3200" b="1" dirty="0" smtClean="0">
              <a:latin typeface="Helvetica" pitchFamily="34" charset="0"/>
            </a:endParaRPr>
          </a:p>
          <a:p>
            <a:pPr>
              <a:lnSpc>
                <a:spcPct val="110000"/>
              </a:lnSpc>
              <a:spcBef>
                <a:spcPts val="600"/>
              </a:spcBef>
              <a:spcAft>
                <a:spcPts val="1200"/>
              </a:spcAft>
              <a:buNone/>
            </a:pPr>
            <a:endParaRPr lang="en-AU" sz="3200" b="1" dirty="0" smtClean="0">
              <a:latin typeface="Helvetica" pitchFamily="34" charset="0"/>
            </a:endParaRPr>
          </a:p>
          <a:p>
            <a:pPr lvl="0">
              <a:lnSpc>
                <a:spcPct val="110000"/>
              </a:lnSpc>
              <a:spcBef>
                <a:spcPts val="600"/>
              </a:spcBef>
              <a:spcAft>
                <a:spcPts val="600"/>
              </a:spcAft>
            </a:pPr>
            <a:endParaRPr lang="en-AU" sz="3200" b="1" dirty="0" smtClean="0">
              <a:latin typeface="Helvetica" pitchFamily="34" charset="0"/>
            </a:endParaRPr>
          </a:p>
          <a:p>
            <a:pPr>
              <a:lnSpc>
                <a:spcPct val="110000"/>
              </a:lnSpc>
              <a:buNone/>
            </a:pPr>
            <a:endParaRPr lang="en-AU" sz="3200" b="1" dirty="0" smtClean="0">
              <a:latin typeface="Helvetica" pitchFamily="34" charset="0"/>
            </a:endParaRPr>
          </a:p>
          <a:p>
            <a:pPr lvl="0">
              <a:lnSpc>
                <a:spcPct val="110000"/>
              </a:lnSpc>
              <a:spcBef>
                <a:spcPts val="600"/>
              </a:spcBef>
              <a:spcAft>
                <a:spcPts val="1200"/>
              </a:spcAft>
            </a:pPr>
            <a:endParaRPr lang="en-AU" sz="3200" b="1" dirty="0" smtClean="0">
              <a:latin typeface="Helvetica" pitchFamily="34" charset="0"/>
            </a:endParaRPr>
          </a:p>
          <a:p>
            <a:pPr marL="0">
              <a:lnSpc>
                <a:spcPct val="110000"/>
              </a:lnSpc>
              <a:spcBef>
                <a:spcPts val="600"/>
              </a:spcBef>
              <a:spcAft>
                <a:spcPts val="1200"/>
              </a:spcAft>
              <a:buNone/>
            </a:pPr>
            <a:endParaRPr lang="en-AU" sz="3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200" b="1" dirty="0" smtClean="0">
                <a:solidFill>
                  <a:srgbClr val="FF6600"/>
                </a:solidFill>
                <a:latin typeface="Helvetica" pitchFamily="34" charset="0"/>
              </a:rPr>
              <a:t>Determine and agree upon appropriate action to resolve complaint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and review options to resolve procedures and guidelines</a:t>
            </a:r>
          </a:p>
          <a:p>
            <a:pPr>
              <a:spcBef>
                <a:spcPts val="600"/>
              </a:spcBef>
              <a:spcAft>
                <a:spcPts val="1200"/>
              </a:spcAft>
            </a:pPr>
            <a:r>
              <a:rPr lang="en-AU" sz="2200" dirty="0" smtClean="0">
                <a:latin typeface="Helvetica" pitchFamily="34" charset="0"/>
              </a:rPr>
              <a:t>Agree and confirm action to resolve the </a:t>
            </a:r>
            <a:br>
              <a:rPr lang="en-AU" sz="2200" dirty="0" smtClean="0">
                <a:latin typeface="Helvetica" pitchFamily="34" charset="0"/>
              </a:rPr>
            </a:br>
            <a:r>
              <a:rPr lang="en-AU" sz="2200" dirty="0" smtClean="0">
                <a:latin typeface="Helvetica" pitchFamily="34" charset="0"/>
              </a:rPr>
              <a:t>complaint with the customer</a:t>
            </a:r>
          </a:p>
          <a:p>
            <a:pPr>
              <a:spcBef>
                <a:spcPts val="600"/>
              </a:spcBef>
              <a:spcAft>
                <a:spcPts val="1200"/>
              </a:spcAft>
            </a:pPr>
            <a:r>
              <a:rPr lang="en-AU" sz="2200" dirty="0" smtClean="0">
                <a:latin typeface="Helvetica" pitchFamily="34" charset="0"/>
              </a:rPr>
              <a:t>Demonstrate a commitment to the </a:t>
            </a:r>
            <a:br>
              <a:rPr lang="en-AU" sz="2200" dirty="0" smtClean="0">
                <a:latin typeface="Helvetica" pitchFamily="34" charset="0"/>
              </a:rPr>
            </a:br>
            <a:r>
              <a:rPr lang="en-AU" sz="2200" dirty="0" smtClean="0">
                <a:latin typeface="Helvetica" pitchFamily="34" charset="0"/>
              </a:rPr>
              <a:t>customer to resolve the complaint</a:t>
            </a:r>
          </a:p>
          <a:p>
            <a:pPr>
              <a:spcBef>
                <a:spcPts val="600"/>
              </a:spcBef>
              <a:spcAft>
                <a:spcPts val="1200"/>
              </a:spcAft>
            </a:pPr>
            <a:r>
              <a:rPr lang="en-AU" sz="2200" dirty="0" smtClean="0">
                <a:latin typeface="Helvetica" pitchFamily="34" charset="0"/>
              </a:rPr>
              <a:t>Inform customer of outcome of </a:t>
            </a:r>
            <a:br>
              <a:rPr lang="en-AU" sz="2200" dirty="0" smtClean="0">
                <a:latin typeface="Helvetica" pitchFamily="34" charset="0"/>
              </a:rPr>
            </a:br>
            <a:r>
              <a:rPr lang="en-AU" sz="2200" dirty="0" smtClean="0">
                <a:latin typeface="Helvetica" pitchFamily="34" charset="0"/>
              </a:rPr>
              <a:t>investigation of complaint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6" name="Picture 5" descr="MP900409740[1].JPG"/>
          <p:cNvPicPr>
            <a:picLocks noChangeAspect="1"/>
          </p:cNvPicPr>
          <p:nvPr/>
        </p:nvPicPr>
        <p:blipFill>
          <a:blip r:embed="rId3" cstate="print"/>
          <a:stretch>
            <a:fillRect/>
          </a:stretch>
        </p:blipFill>
        <p:spPr>
          <a:xfrm>
            <a:off x="6876256" y="3140968"/>
            <a:ext cx="1488331" cy="2237960"/>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600" b="1" dirty="0" smtClean="0">
                <a:solidFill>
                  <a:srgbClr val="FF6600"/>
                </a:solidFill>
                <a:latin typeface="Helvetica" pitchFamily="34" charset="0"/>
              </a:rPr>
              <a:t>Identify and review options to resolve the complaint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GB" sz="2200" dirty="0" smtClean="0">
                <a:latin typeface="Helvetica" pitchFamily="34" charset="0"/>
              </a:rPr>
              <a:t>Now is the time to discuss and identify a possible solution to the problem</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Most complaints can be effectively resolved by more than one solution</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7" name="Picture 6" descr="MP900406846[1].JPG"/>
          <p:cNvPicPr/>
          <p:nvPr/>
        </p:nvPicPr>
        <p:blipFill>
          <a:blip r:embed="rId3" cstate="print"/>
          <a:stretch>
            <a:fillRect/>
          </a:stretch>
        </p:blipFill>
        <p:spPr>
          <a:xfrm>
            <a:off x="6516216" y="3789040"/>
            <a:ext cx="1887523" cy="1546275"/>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AU" sz="3600" b="1" dirty="0" smtClean="0">
                <a:solidFill>
                  <a:srgbClr val="FF6600"/>
                </a:solidFill>
                <a:latin typeface="Helvetica" pitchFamily="34" charset="0"/>
              </a:rPr>
              <a:t>Identify and review options to resolve the complaint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GB" sz="2200" dirty="0" smtClean="0">
                <a:latin typeface="Helvetica" pitchFamily="34" charset="0"/>
              </a:rPr>
              <a:t>Your aim must be to find a resolution that is: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Quick, easy and practical to implement</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Satisfies those involved</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Meets the limitations imposed on you by the law and organisational requirements.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Satisfies both customer and organisation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7" name="Picture 6" descr="MP900443186.JPG"/>
          <p:cNvPicPr>
            <a:picLocks noChangeAspect="1"/>
          </p:cNvPicPr>
          <p:nvPr/>
        </p:nvPicPr>
        <p:blipFill>
          <a:blip r:embed="rId3" cstate="print"/>
          <a:stretch>
            <a:fillRect/>
          </a:stretch>
        </p:blipFill>
        <p:spPr>
          <a:xfrm>
            <a:off x="6372200" y="4221088"/>
            <a:ext cx="2095705" cy="1394668"/>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lvl="0">
              <a:spcBef>
                <a:spcPts val="600"/>
              </a:spcBef>
              <a:spcAft>
                <a:spcPts val="1200"/>
              </a:spcAft>
              <a:buNone/>
            </a:pPr>
            <a:r>
              <a:rPr lang="en-GB" sz="2200" b="1" dirty="0" smtClean="0">
                <a:latin typeface="Helvetica" pitchFamily="34" charset="0"/>
              </a:rPr>
              <a:t>Possible options</a:t>
            </a:r>
          </a:p>
          <a:p>
            <a:pPr lvl="0">
              <a:spcBef>
                <a:spcPts val="600"/>
              </a:spcBef>
              <a:spcAft>
                <a:spcPts val="1200"/>
              </a:spcAft>
            </a:pPr>
            <a:r>
              <a:rPr lang="en-GB" sz="2200" dirty="0" smtClean="0">
                <a:latin typeface="Helvetica" pitchFamily="34" charset="0"/>
              </a:rPr>
              <a:t>What the customer wants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Taking into account all points of view</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Organisational policies </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Pre-programmed decisions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Non-programmed decisions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6" name="Picture 5" descr="MP900422115.JPG"/>
          <p:cNvPicPr>
            <a:picLocks noChangeAspect="1"/>
          </p:cNvPicPr>
          <p:nvPr/>
        </p:nvPicPr>
        <p:blipFill>
          <a:blip r:embed="rId3" cstate="print"/>
          <a:stretch>
            <a:fillRect/>
          </a:stretch>
        </p:blipFill>
        <p:spPr>
          <a:xfrm>
            <a:off x="6300192" y="4077072"/>
            <a:ext cx="2051044" cy="1366829"/>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What the customer wants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One easy way to find out how to resolve the complaint is to encouraging the customer to identify what will solve the issue</a:t>
            </a:r>
          </a:p>
          <a:p>
            <a:pPr>
              <a:spcBef>
                <a:spcPts val="600"/>
              </a:spcBef>
              <a:spcAft>
                <a:spcPts val="1200"/>
              </a:spcAft>
            </a:pPr>
            <a:r>
              <a:rPr lang="en-GB" sz="2200" dirty="0" smtClean="0">
                <a:latin typeface="Helvetica" pitchFamily="34" charset="0"/>
              </a:rPr>
              <a:t>Quite often all they may seek is an apology or a resolution is easier than what the manager was expecting</a:t>
            </a:r>
            <a:endParaRPr lang="en-AU" sz="2200" dirty="0" smtClean="0">
              <a:latin typeface="Helvetica" pitchFamily="34" charset="0"/>
            </a:endParaRP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7" name="Picture 6" descr="MP900443233.JPG"/>
          <p:cNvPicPr>
            <a:picLocks noChangeAspect="1"/>
          </p:cNvPicPr>
          <p:nvPr/>
        </p:nvPicPr>
        <p:blipFill>
          <a:blip r:embed="rId3" cstate="print"/>
          <a:stretch>
            <a:fillRect/>
          </a:stretch>
        </p:blipFill>
        <p:spPr>
          <a:xfrm>
            <a:off x="6300192" y="4077072"/>
            <a:ext cx="2059892" cy="1370835"/>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Taking into account all points of view</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When dealing with a customer compliant it is important to consider the points of view of all parties involved</a:t>
            </a: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6" name="Picture 5" descr="MP900289901.JPG"/>
          <p:cNvPicPr>
            <a:picLocks noChangeAspect="1"/>
          </p:cNvPicPr>
          <p:nvPr/>
        </p:nvPicPr>
        <p:blipFill>
          <a:blip r:embed="rId3" cstate="print"/>
          <a:stretch>
            <a:fillRect/>
          </a:stretch>
        </p:blipFill>
        <p:spPr>
          <a:xfrm>
            <a:off x="6228184" y="3861048"/>
            <a:ext cx="2155523" cy="1444200"/>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GB" sz="2200" b="1" dirty="0" smtClean="0">
                <a:latin typeface="Helvetica" pitchFamily="34" charset="0"/>
              </a:rPr>
              <a:t>Organisation policies</a:t>
            </a:r>
            <a:endParaRPr lang="en-AU" sz="2200" b="1" dirty="0" smtClean="0">
              <a:latin typeface="Helvetica" pitchFamily="34" charset="0"/>
            </a:endParaRPr>
          </a:p>
          <a:p>
            <a:pPr marL="0">
              <a:spcBef>
                <a:spcPts val="600"/>
              </a:spcBef>
              <a:spcAft>
                <a:spcPts val="1200"/>
              </a:spcAft>
              <a:buNone/>
            </a:pPr>
            <a:r>
              <a:rPr lang="en-GB" sz="2200" dirty="0" smtClean="0">
                <a:latin typeface="Helvetica" pitchFamily="34" charset="0"/>
              </a:rPr>
              <a:t>Formal, written policies on dealing with customer complaints are useful because they:</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Provide guidance on what to do in order to resolve situations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Give consistency when dealing with </a:t>
            </a:r>
            <a:br>
              <a:rPr lang="en-GB" sz="2200" dirty="0" smtClean="0">
                <a:latin typeface="Helvetica" pitchFamily="34" charset="0"/>
              </a:rPr>
            </a:br>
            <a:r>
              <a:rPr lang="en-GB" sz="2200" dirty="0" smtClean="0">
                <a:latin typeface="Helvetica" pitchFamily="34" charset="0"/>
              </a:rPr>
              <a:t>customers </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Relieve staff from having to make </a:t>
            </a:r>
            <a:br>
              <a:rPr lang="en-GB" sz="2200" dirty="0" smtClean="0">
                <a:latin typeface="Helvetica" pitchFamily="34" charset="0"/>
              </a:rPr>
            </a:br>
            <a:r>
              <a:rPr lang="en-GB" sz="2200" dirty="0" smtClean="0">
                <a:latin typeface="Helvetica" pitchFamily="34" charset="0"/>
              </a:rPr>
              <a:t>decisions  </a:t>
            </a:r>
            <a:endParaRPr lang="en-AU" sz="2200" dirty="0" smtClean="0">
              <a:latin typeface="Helvetica" pitchFamily="34" charset="0"/>
            </a:endParaRP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7" name="Picture 6" descr="MP900386161.JPG"/>
          <p:cNvPicPr>
            <a:picLocks noChangeAspect="1"/>
          </p:cNvPicPr>
          <p:nvPr/>
        </p:nvPicPr>
        <p:blipFill>
          <a:blip r:embed="rId3" cstate="print"/>
          <a:stretch>
            <a:fillRect/>
          </a:stretch>
        </p:blipFill>
        <p:spPr>
          <a:xfrm>
            <a:off x="6948264" y="3140968"/>
            <a:ext cx="1407693" cy="2116831"/>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600"/>
              </a:spcAft>
              <a:buNone/>
            </a:pPr>
            <a:r>
              <a:rPr lang="en-GB" sz="2200" b="1" dirty="0" smtClean="0">
                <a:latin typeface="Helvetica" pitchFamily="34" charset="0"/>
              </a:rPr>
              <a:t>Organisation policies </a:t>
            </a:r>
            <a:endParaRPr lang="en-AU" sz="2200" b="1" dirty="0" smtClean="0">
              <a:latin typeface="Helvetica" pitchFamily="34" charset="0"/>
            </a:endParaRPr>
          </a:p>
          <a:p>
            <a:pPr>
              <a:spcBef>
                <a:spcPts val="600"/>
              </a:spcBef>
              <a:spcAft>
                <a:spcPts val="600"/>
              </a:spcAft>
              <a:buNone/>
            </a:pPr>
            <a:r>
              <a:rPr lang="en-GB" sz="2200" dirty="0" smtClean="0">
                <a:latin typeface="Helvetica" pitchFamily="34" charset="0"/>
              </a:rPr>
              <a:t>These policies may address issues such as:</a:t>
            </a:r>
            <a:endParaRPr lang="en-AU" sz="2200" dirty="0" smtClean="0">
              <a:latin typeface="Helvetica" pitchFamily="34" charset="0"/>
            </a:endParaRPr>
          </a:p>
          <a:p>
            <a:pPr lvl="0">
              <a:spcBef>
                <a:spcPts val="600"/>
              </a:spcBef>
              <a:spcAft>
                <a:spcPts val="600"/>
              </a:spcAft>
            </a:pPr>
            <a:r>
              <a:rPr lang="en-GB" sz="2200" dirty="0" smtClean="0">
                <a:latin typeface="Helvetica" pitchFamily="34" charset="0"/>
              </a:rPr>
              <a:t>Who should deal with problems, complaints at different levels</a:t>
            </a:r>
            <a:endParaRPr lang="en-AU" sz="2200" dirty="0" smtClean="0">
              <a:latin typeface="Helvetica" pitchFamily="34" charset="0"/>
            </a:endParaRPr>
          </a:p>
          <a:p>
            <a:pPr lvl="0">
              <a:spcBef>
                <a:spcPts val="600"/>
              </a:spcBef>
              <a:spcAft>
                <a:spcPts val="600"/>
              </a:spcAft>
            </a:pPr>
            <a:r>
              <a:rPr lang="en-GB" sz="2200" dirty="0" smtClean="0">
                <a:latin typeface="Helvetica" pitchFamily="34" charset="0"/>
              </a:rPr>
              <a:t>When management or security staff should be involved</a:t>
            </a:r>
            <a:endParaRPr lang="en-AU" sz="2200" dirty="0" smtClean="0">
              <a:latin typeface="Helvetica" pitchFamily="34" charset="0"/>
            </a:endParaRPr>
          </a:p>
          <a:p>
            <a:pPr lvl="0">
              <a:spcBef>
                <a:spcPts val="600"/>
              </a:spcBef>
              <a:spcAft>
                <a:spcPts val="600"/>
              </a:spcAft>
            </a:pPr>
            <a:r>
              <a:rPr lang="en-GB" sz="2200" dirty="0" smtClean="0">
                <a:latin typeface="Helvetica" pitchFamily="34" charset="0"/>
              </a:rPr>
              <a:t>The limits of scopes of authority</a:t>
            </a:r>
            <a:endParaRPr lang="en-AU" sz="2200" dirty="0" smtClean="0">
              <a:latin typeface="Helvetica" pitchFamily="34" charset="0"/>
            </a:endParaRPr>
          </a:p>
          <a:p>
            <a:pPr lvl="0">
              <a:spcBef>
                <a:spcPts val="600"/>
              </a:spcBef>
              <a:spcAft>
                <a:spcPts val="600"/>
              </a:spcAft>
            </a:pPr>
            <a:r>
              <a:rPr lang="en-GB" sz="2200" dirty="0" smtClean="0">
                <a:latin typeface="Helvetica" pitchFamily="34" charset="0"/>
              </a:rPr>
              <a:t>Situations under which the property will </a:t>
            </a:r>
            <a:br>
              <a:rPr lang="en-GB" sz="2200" dirty="0" smtClean="0">
                <a:latin typeface="Helvetica" pitchFamily="34" charset="0"/>
              </a:rPr>
            </a:br>
            <a:r>
              <a:rPr lang="en-GB" sz="2200" dirty="0" smtClean="0">
                <a:latin typeface="Helvetica" pitchFamily="34" charset="0"/>
              </a:rPr>
              <a:t>not try to resolve a conflict regardless of </a:t>
            </a:r>
            <a:br>
              <a:rPr lang="en-GB" sz="2200" dirty="0" smtClean="0">
                <a:latin typeface="Helvetica" pitchFamily="34" charset="0"/>
              </a:rPr>
            </a:br>
            <a:r>
              <a:rPr lang="en-GB" sz="2200" dirty="0" smtClean="0">
                <a:latin typeface="Helvetica" pitchFamily="34" charset="0"/>
              </a:rPr>
              <a:t>what the customer may allege</a:t>
            </a:r>
            <a:endParaRPr lang="en-AU" sz="2200" dirty="0" smtClean="0">
              <a:latin typeface="Helvetica" pitchFamily="34" charset="0"/>
            </a:endParaRPr>
          </a:p>
          <a:p>
            <a:pPr lvl="0">
              <a:spcBef>
                <a:spcPts val="600"/>
              </a:spcBef>
              <a:spcAft>
                <a:spcPts val="600"/>
              </a:spcAft>
            </a:pPr>
            <a:r>
              <a:rPr lang="en-GB" sz="2200" dirty="0" smtClean="0">
                <a:latin typeface="Helvetica" pitchFamily="34" charset="0"/>
              </a:rPr>
              <a:t>Documentation for completion</a:t>
            </a:r>
            <a:endParaRPr lang="en-AU" sz="2200" dirty="0" smtClean="0">
              <a:latin typeface="Helvetica" pitchFamily="34" charset="0"/>
            </a:endParaRPr>
          </a:p>
          <a:p>
            <a:pPr lvl="0">
              <a:spcBef>
                <a:spcPts val="600"/>
              </a:spcBef>
              <a:spcAft>
                <a:spcPts val="600"/>
              </a:spcAft>
            </a:pPr>
            <a:r>
              <a:rPr lang="en-GB" sz="2200" dirty="0" smtClean="0">
                <a:latin typeface="Helvetica" pitchFamily="34" charset="0"/>
              </a:rPr>
              <a:t>Staff training required</a:t>
            </a:r>
            <a:endParaRPr lang="en-AU" sz="2200" dirty="0" smtClean="0">
              <a:latin typeface="Helvetica" pitchFamily="34" charset="0"/>
            </a:endParaRP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6" name="Picture 5" descr="MB900442179.JPG"/>
          <p:cNvPicPr>
            <a:picLocks noChangeAspect="1"/>
          </p:cNvPicPr>
          <p:nvPr/>
        </p:nvPicPr>
        <p:blipFill>
          <a:blip r:embed="rId3" cstate="print"/>
          <a:srcRect r="15247"/>
          <a:stretch>
            <a:fillRect/>
          </a:stretch>
        </p:blipFill>
        <p:spPr>
          <a:xfrm>
            <a:off x="7020272" y="3573016"/>
            <a:ext cx="1224136" cy="1444365"/>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AU" sz="2200" b="1" dirty="0" smtClean="0">
                <a:latin typeface="Helvetica" pitchFamily="34" charset="0"/>
              </a:rPr>
              <a:t>Pre-programmed decisions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Pre-programmed decisions are where a set policy or procedure is used to resolve an identified complaint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Many establishments use pre-programmed decisions to assist with complaint resolution</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A pre-programmed decision is a decision that </a:t>
            </a:r>
            <a:br>
              <a:rPr lang="en-GB" sz="2200" dirty="0" smtClean="0">
                <a:latin typeface="Helvetica" pitchFamily="34" charset="0"/>
              </a:rPr>
            </a:br>
            <a:r>
              <a:rPr lang="en-GB" sz="2200" dirty="0" smtClean="0">
                <a:latin typeface="Helvetica" pitchFamily="34" charset="0"/>
              </a:rPr>
              <a:t>has been thought about and put in place to </a:t>
            </a:r>
            <a:br>
              <a:rPr lang="en-GB" sz="2200" dirty="0" smtClean="0">
                <a:latin typeface="Helvetica" pitchFamily="34" charset="0"/>
              </a:rPr>
            </a:br>
            <a:r>
              <a:rPr lang="en-GB" sz="2200" dirty="0" smtClean="0">
                <a:latin typeface="Helvetica" pitchFamily="34" charset="0"/>
              </a:rPr>
              <a:t>act as a standard establishment response to </a:t>
            </a:r>
            <a:br>
              <a:rPr lang="en-GB" sz="2200" dirty="0" smtClean="0">
                <a:latin typeface="Helvetica" pitchFamily="34" charset="0"/>
              </a:rPr>
            </a:br>
            <a:r>
              <a:rPr lang="en-GB" sz="2200" dirty="0" smtClean="0">
                <a:latin typeface="Helvetica" pitchFamily="34" charset="0"/>
              </a:rPr>
              <a:t>a given set of circumstances</a:t>
            </a:r>
            <a:endParaRPr lang="en-AU" sz="2200" dirty="0" smtClean="0">
              <a:latin typeface="Helvetica" pitchFamily="34" charset="0"/>
            </a:endParaRP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8" name="Picture 7" descr="MB900422539.JPG"/>
          <p:cNvPicPr>
            <a:picLocks noChangeAspect="1"/>
          </p:cNvPicPr>
          <p:nvPr/>
        </p:nvPicPr>
        <p:blipFill>
          <a:blip r:embed="rId3" cstate="print"/>
          <a:srcRect l="14494" r="17869"/>
          <a:stretch>
            <a:fillRect/>
          </a:stretch>
        </p:blipFill>
        <p:spPr>
          <a:xfrm>
            <a:off x="7308304" y="3645024"/>
            <a:ext cx="1080120" cy="1596926"/>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Pre-programmed decisions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Designed for common problems</a:t>
            </a:r>
          </a:p>
          <a:p>
            <a:pPr>
              <a:spcBef>
                <a:spcPts val="600"/>
              </a:spcBef>
              <a:spcAft>
                <a:spcPts val="1200"/>
              </a:spcAft>
            </a:pPr>
            <a:r>
              <a:rPr lang="en-GB" sz="2200" dirty="0" smtClean="0">
                <a:latin typeface="Helvetica" pitchFamily="34" charset="0"/>
              </a:rPr>
              <a:t>Provide consistency in decisions made</a:t>
            </a:r>
          </a:p>
          <a:p>
            <a:pPr>
              <a:spcBef>
                <a:spcPts val="600"/>
              </a:spcBef>
              <a:spcAft>
                <a:spcPts val="1200"/>
              </a:spcAft>
            </a:pPr>
            <a:r>
              <a:rPr lang="en-GB" sz="2200" dirty="0" smtClean="0">
                <a:latin typeface="Helvetica" pitchFamily="34" charset="0"/>
              </a:rPr>
              <a:t>Saves staff having to determine what action they should take</a:t>
            </a:r>
            <a:endParaRPr lang="en-AU" sz="2200" dirty="0" smtClean="0">
              <a:latin typeface="Helvetica" pitchFamily="34" charset="0"/>
            </a:endParaRP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6" name="Picture 5" descr="MB900422138.JPG"/>
          <p:cNvPicPr>
            <a:picLocks noChangeAspect="1"/>
          </p:cNvPicPr>
          <p:nvPr/>
        </p:nvPicPr>
        <p:blipFill>
          <a:blip r:embed="rId3" cstate="print"/>
          <a:srcRect t="13395" b="19633"/>
          <a:stretch>
            <a:fillRect/>
          </a:stretch>
        </p:blipFill>
        <p:spPr>
          <a:xfrm>
            <a:off x="6660232" y="4005064"/>
            <a:ext cx="1728192" cy="1157417"/>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Non-programmed decisions</a:t>
            </a:r>
            <a:endParaRPr lang="en-AU" sz="2200" dirty="0" smtClean="0">
              <a:latin typeface="Helvetica" pitchFamily="34" charset="0"/>
            </a:endParaRPr>
          </a:p>
          <a:p>
            <a:pPr marL="0">
              <a:spcBef>
                <a:spcPts val="600"/>
              </a:spcBef>
              <a:spcAft>
                <a:spcPts val="1200"/>
              </a:spcAft>
              <a:buNone/>
            </a:pPr>
            <a:r>
              <a:rPr lang="en-GB" sz="2200" dirty="0" smtClean="0">
                <a:latin typeface="Helvetica" pitchFamily="34" charset="0"/>
              </a:rPr>
              <a:t>Non-programmed decisions are where specific responses to individual complaints are determined on an individual case by case basis:</a:t>
            </a:r>
          </a:p>
          <a:p>
            <a:pPr>
              <a:spcBef>
                <a:spcPts val="600"/>
              </a:spcBef>
              <a:spcAft>
                <a:spcPts val="1200"/>
              </a:spcAft>
            </a:pPr>
            <a:r>
              <a:rPr lang="en-GB" sz="2200" dirty="0" smtClean="0">
                <a:latin typeface="Helvetica" pitchFamily="34" charset="0"/>
              </a:rPr>
              <a:t>What should be the process in these scenarios?</a:t>
            </a:r>
            <a:endParaRPr lang="en-AU" sz="2200" dirty="0" smtClean="0">
              <a:latin typeface="Helvetica" pitchFamily="34" charset="0"/>
            </a:endParaRP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8" name="Picture 7" descr="MP910220826.JPG"/>
          <p:cNvPicPr>
            <a:picLocks noChangeAspect="1"/>
          </p:cNvPicPr>
          <p:nvPr/>
        </p:nvPicPr>
        <p:blipFill>
          <a:blip r:embed="rId3" cstate="print"/>
          <a:stretch>
            <a:fillRect/>
          </a:stretch>
        </p:blipFill>
        <p:spPr>
          <a:xfrm>
            <a:off x="7236296" y="3429000"/>
            <a:ext cx="1203860" cy="1807387"/>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Determining possible solutions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Non-programmed decisions</a:t>
            </a:r>
            <a:endParaRPr lang="en-AU" sz="2200" dirty="0" smtClean="0">
              <a:latin typeface="Helvetica" pitchFamily="34" charset="0"/>
            </a:endParaRPr>
          </a:p>
          <a:p>
            <a:pPr marL="0">
              <a:spcBef>
                <a:spcPts val="600"/>
              </a:spcBef>
              <a:spcAft>
                <a:spcPts val="1200"/>
              </a:spcAft>
              <a:buNone/>
            </a:pPr>
            <a:r>
              <a:rPr lang="en-GB" sz="2200" dirty="0" smtClean="0">
                <a:latin typeface="Helvetica" pitchFamily="34" charset="0"/>
              </a:rPr>
              <a:t>If there is no pre-programmed action to follow then the manager has four basic options to choose from:</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Ask the person what it will take to fix the problem </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Meet the customer half-way or part-way</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Offer a formal apology</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Do nothing</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6" name="Picture 5" descr="MP900443187[1].JPG"/>
          <p:cNvPicPr>
            <a:picLocks noChangeAspect="1"/>
          </p:cNvPicPr>
          <p:nvPr/>
        </p:nvPicPr>
        <p:blipFill>
          <a:blip r:embed="rId3" cstate="print"/>
          <a:stretch>
            <a:fillRect/>
          </a:stretch>
        </p:blipFill>
        <p:spPr>
          <a:xfrm>
            <a:off x="6372200" y="3933056"/>
            <a:ext cx="2011688" cy="1338756"/>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Agree on solution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r>
              <a:rPr lang="en-AU" sz="2200" dirty="0" smtClean="0">
                <a:latin typeface="Helvetica" pitchFamily="34" charset="0"/>
              </a:rPr>
              <a:t>Once all possible solutions have been placed on the table for consideration, there needs to be a concerted effort to find a mutually agreed solution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7" name="Picture 6" descr="MP900442432.JPG"/>
          <p:cNvPicPr>
            <a:picLocks noChangeAspect="1"/>
          </p:cNvPicPr>
          <p:nvPr/>
        </p:nvPicPr>
        <p:blipFill>
          <a:blip r:embed="rId3" cstate="print"/>
          <a:stretch>
            <a:fillRect/>
          </a:stretch>
        </p:blipFill>
        <p:spPr>
          <a:xfrm>
            <a:off x="2843808" y="2996952"/>
            <a:ext cx="2948480" cy="1512354"/>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Agree on solution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AU" sz="2200" b="1" dirty="0" smtClean="0">
                <a:latin typeface="Helvetica" pitchFamily="34" charset="0"/>
              </a:rPr>
              <a:t>Constraints when reaching solution</a:t>
            </a:r>
          </a:p>
          <a:p>
            <a:pPr lvl="0">
              <a:spcBef>
                <a:spcPts val="600"/>
              </a:spcBef>
              <a:spcAft>
                <a:spcPts val="1200"/>
              </a:spcAft>
            </a:pPr>
            <a:r>
              <a:rPr lang="en-AU" sz="2200" dirty="0" smtClean="0">
                <a:latin typeface="Helvetica" pitchFamily="34" charset="0"/>
              </a:rPr>
              <a:t>Costs and budgets </a:t>
            </a:r>
          </a:p>
          <a:p>
            <a:pPr lvl="0">
              <a:spcBef>
                <a:spcPts val="600"/>
              </a:spcBef>
              <a:spcAft>
                <a:spcPts val="1200"/>
              </a:spcAft>
            </a:pPr>
            <a:r>
              <a:rPr lang="en-AU" sz="2200" dirty="0" smtClean="0">
                <a:latin typeface="Helvetica" pitchFamily="34" charset="0"/>
              </a:rPr>
              <a:t>Written policies</a:t>
            </a:r>
          </a:p>
          <a:p>
            <a:pPr lvl="0">
              <a:spcBef>
                <a:spcPts val="600"/>
              </a:spcBef>
              <a:spcAft>
                <a:spcPts val="1200"/>
              </a:spcAft>
            </a:pPr>
            <a:r>
              <a:rPr lang="en-AU" sz="2200" dirty="0" smtClean="0">
                <a:latin typeface="Helvetica" pitchFamily="34" charset="0"/>
              </a:rPr>
              <a:t>Availability</a:t>
            </a:r>
          </a:p>
          <a:p>
            <a:pPr>
              <a:spcBef>
                <a:spcPts val="600"/>
              </a:spcBef>
              <a:spcAft>
                <a:spcPts val="1200"/>
              </a:spcAft>
            </a:pPr>
            <a:r>
              <a:rPr lang="en-AU" sz="2200" dirty="0" smtClean="0">
                <a:latin typeface="Helvetica" pitchFamily="34" charset="0"/>
              </a:rPr>
              <a:t>Organisational constraints</a:t>
            </a:r>
          </a:p>
          <a:p>
            <a:pPr>
              <a:spcBef>
                <a:spcPts val="600"/>
              </a:spcBef>
              <a:spcAft>
                <a:spcPts val="1200"/>
              </a:spcAft>
            </a:pPr>
            <a:r>
              <a:rPr lang="en-AU" sz="2200" dirty="0" smtClean="0">
                <a:latin typeface="Helvetica" pitchFamily="34" charset="0"/>
              </a:rPr>
              <a:t>Legal constraints</a:t>
            </a: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6" name="Picture 5" descr="MP900387513.JPG"/>
          <p:cNvPicPr>
            <a:picLocks noChangeAspect="1"/>
          </p:cNvPicPr>
          <p:nvPr/>
        </p:nvPicPr>
        <p:blipFill>
          <a:blip r:embed="rId3" cstate="print"/>
          <a:stretch>
            <a:fillRect/>
          </a:stretch>
        </p:blipFill>
        <p:spPr>
          <a:xfrm>
            <a:off x="6588224" y="3933056"/>
            <a:ext cx="1828800" cy="1304544"/>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Agree on solution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Define agreed solution</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In many cases a written course of action will be documented that outlines what action is to take place to resolve the complaint, as agreed by both parties:</a:t>
            </a:r>
          </a:p>
          <a:p>
            <a:pPr>
              <a:spcBef>
                <a:spcPts val="600"/>
              </a:spcBef>
              <a:spcAft>
                <a:spcPts val="1200"/>
              </a:spcAft>
            </a:pPr>
            <a:r>
              <a:rPr lang="en-AU" sz="2200" dirty="0" smtClean="0">
                <a:latin typeface="Helvetica" pitchFamily="34" charset="0"/>
              </a:rPr>
              <a:t>Why is it important to document an agreed solution?</a:t>
            </a:r>
          </a:p>
          <a:p>
            <a:pPr>
              <a:spcBef>
                <a:spcPts val="600"/>
              </a:spcBef>
              <a:spcAft>
                <a:spcPts val="1200"/>
              </a:spcAft>
            </a:pPr>
            <a:r>
              <a:rPr lang="en-AU" sz="2200" dirty="0" smtClean="0">
                <a:latin typeface="Helvetica" pitchFamily="34" charset="0"/>
              </a:rPr>
              <a:t>What information would you wish to record?</a:t>
            </a:r>
            <a:endParaRPr lang="en-US" sz="2200" dirty="0" smtClean="0">
              <a:latin typeface="Helvetica" pitchFamily="34" charset="0"/>
            </a:endParaRP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8" name="Picture 7" descr="MP900443233.JPG"/>
          <p:cNvPicPr>
            <a:picLocks noChangeAspect="1"/>
          </p:cNvPicPr>
          <p:nvPr/>
        </p:nvPicPr>
        <p:blipFill>
          <a:blip r:embed="rId3" cstate="print"/>
          <a:stretch>
            <a:fillRect/>
          </a:stretch>
        </p:blipFill>
        <p:spPr>
          <a:xfrm>
            <a:off x="6156176" y="4077072"/>
            <a:ext cx="2203908" cy="1466676"/>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Agree on solution</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Define agreed solution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may include a record and commitment outlining:</a:t>
            </a:r>
          </a:p>
          <a:p>
            <a:pPr lvl="0">
              <a:spcBef>
                <a:spcPts val="600"/>
              </a:spcBef>
              <a:spcAft>
                <a:spcPts val="1200"/>
              </a:spcAft>
            </a:pPr>
            <a:r>
              <a:rPr lang="en-AU" sz="2200" dirty="0" smtClean="0">
                <a:latin typeface="Helvetica" pitchFamily="34" charset="0"/>
              </a:rPr>
              <a:t>Actions or activities to take place</a:t>
            </a:r>
          </a:p>
          <a:p>
            <a:pPr lvl="0">
              <a:spcBef>
                <a:spcPts val="600"/>
              </a:spcBef>
              <a:spcAft>
                <a:spcPts val="1200"/>
              </a:spcAft>
            </a:pPr>
            <a:r>
              <a:rPr lang="en-AU" sz="2200" dirty="0" smtClean="0">
                <a:latin typeface="Helvetica" pitchFamily="34" charset="0"/>
              </a:rPr>
              <a:t>Who is responsible for ensuring action takes place</a:t>
            </a:r>
          </a:p>
          <a:p>
            <a:pPr lvl="0">
              <a:spcBef>
                <a:spcPts val="600"/>
              </a:spcBef>
              <a:spcAft>
                <a:spcPts val="1200"/>
              </a:spcAft>
            </a:pPr>
            <a:r>
              <a:rPr lang="en-AU" sz="2200" dirty="0" smtClean="0">
                <a:latin typeface="Helvetica" pitchFamily="34" charset="0"/>
              </a:rPr>
              <a:t>Who will undertake action</a:t>
            </a:r>
          </a:p>
          <a:p>
            <a:pPr lvl="0">
              <a:spcBef>
                <a:spcPts val="600"/>
              </a:spcBef>
              <a:spcAft>
                <a:spcPts val="1200"/>
              </a:spcAft>
            </a:pPr>
            <a:r>
              <a:rPr lang="en-AU" sz="2200" dirty="0" smtClean="0">
                <a:latin typeface="Helvetica" pitchFamily="34" charset="0"/>
              </a:rPr>
              <a:t>Timelines</a:t>
            </a:r>
          </a:p>
          <a:p>
            <a:pPr lvl="0">
              <a:spcBef>
                <a:spcPts val="600"/>
              </a:spcBef>
              <a:spcAft>
                <a:spcPts val="1200"/>
              </a:spcAft>
            </a:pPr>
            <a:r>
              <a:rPr lang="en-AU" sz="2200" dirty="0" smtClean="0">
                <a:latin typeface="Helvetica" pitchFamily="34" charset="0"/>
              </a:rPr>
              <a:t>Agreed standard of actions</a:t>
            </a: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5" name="Picture 4" descr="MP900443061.JPG"/>
          <p:cNvPicPr>
            <a:picLocks noChangeAspect="1"/>
          </p:cNvPicPr>
          <p:nvPr/>
        </p:nvPicPr>
        <p:blipFill>
          <a:blip r:embed="rId3" cstate="print"/>
          <a:stretch>
            <a:fillRect/>
          </a:stretch>
        </p:blipFill>
        <p:spPr>
          <a:xfrm>
            <a:off x="6264378" y="4005064"/>
            <a:ext cx="2119509" cy="1410509"/>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648072"/>
          </a:xfrm>
        </p:spPr>
        <p:txBody>
          <a:bodyPr>
            <a:normAutofit/>
          </a:bodyPr>
          <a:lstStyle/>
          <a:p>
            <a:r>
              <a:rPr lang="en-AU" sz="3400" b="1" dirty="0" smtClean="0">
                <a:solidFill>
                  <a:srgbClr val="FF6600"/>
                </a:solidFill>
                <a:latin typeface="Helvetica" pitchFamily="34" charset="0"/>
              </a:rPr>
              <a:t>Resolve the complaint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Demonstrate a commitment to resolve the complaint</a:t>
            </a:r>
            <a:endParaRPr lang="en-GB" sz="2200" dirty="0" smtClean="0">
              <a:latin typeface="Helvetica" pitchFamily="34" charset="0"/>
            </a:endParaRPr>
          </a:p>
          <a:p>
            <a:pPr>
              <a:spcBef>
                <a:spcPts val="600"/>
              </a:spcBef>
              <a:spcAft>
                <a:spcPts val="1200"/>
              </a:spcAft>
            </a:pPr>
            <a:r>
              <a:rPr lang="en-GB" sz="2200" dirty="0" smtClean="0">
                <a:latin typeface="Helvetica" pitchFamily="34" charset="0"/>
              </a:rPr>
              <a:t>Now that agreement has been reached it must be actioned</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This should be done as soon as possible and must be exactly in accordance with the agreement that had been reached</a:t>
            </a:r>
            <a:endParaRPr lang="en-AU" sz="2200" dirty="0" smtClean="0">
              <a:latin typeface="Helvetica" pitchFamily="34" charset="0"/>
            </a:endParaRPr>
          </a:p>
          <a:p>
            <a:pPr>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6" name="Picture 5" descr="MP900400356.JPG"/>
          <p:cNvPicPr>
            <a:picLocks noChangeAspect="1"/>
          </p:cNvPicPr>
          <p:nvPr/>
        </p:nvPicPr>
        <p:blipFill>
          <a:blip r:embed="rId3" cstate="print"/>
          <a:stretch>
            <a:fillRect/>
          </a:stretch>
        </p:blipFill>
        <p:spPr>
          <a:xfrm>
            <a:off x="6444208" y="4077072"/>
            <a:ext cx="1914589" cy="1275894"/>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Resolve the complaint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Demonstrate a commitment to resolve the complaint</a:t>
            </a:r>
            <a:endParaRPr lang="en-GB" sz="2200" dirty="0" smtClean="0">
              <a:latin typeface="Helvetica" pitchFamily="34" charset="0"/>
            </a:endParaRPr>
          </a:p>
          <a:p>
            <a:pPr>
              <a:spcBef>
                <a:spcPts val="600"/>
              </a:spcBef>
              <a:spcAft>
                <a:spcPts val="1200"/>
              </a:spcAft>
              <a:buNone/>
            </a:pPr>
            <a:r>
              <a:rPr lang="en-AU" sz="2200" dirty="0" smtClean="0">
                <a:latin typeface="Helvetica" pitchFamily="34" charset="0"/>
              </a:rPr>
              <a:t>Complaint resolution activities can be done by:</a:t>
            </a:r>
          </a:p>
          <a:p>
            <a:pPr>
              <a:spcBef>
                <a:spcPts val="600"/>
              </a:spcBef>
              <a:spcAft>
                <a:spcPts val="1200"/>
              </a:spcAft>
            </a:pPr>
            <a:r>
              <a:rPr lang="en-AU" sz="2200" dirty="0" smtClean="0">
                <a:latin typeface="Helvetica" pitchFamily="34" charset="0"/>
              </a:rPr>
              <a:t>Manager or staff member themselves</a:t>
            </a:r>
          </a:p>
          <a:p>
            <a:pPr>
              <a:spcBef>
                <a:spcPts val="600"/>
              </a:spcBef>
              <a:spcAft>
                <a:spcPts val="1200"/>
              </a:spcAft>
            </a:pPr>
            <a:r>
              <a:rPr lang="en-AU" sz="2200" dirty="0" smtClean="0">
                <a:latin typeface="Helvetica" pitchFamily="34" charset="0"/>
              </a:rPr>
              <a:t>Delegated to another person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7" name="Picture 6" descr="MP900400319.JPG"/>
          <p:cNvPicPr>
            <a:picLocks noChangeAspect="1"/>
          </p:cNvPicPr>
          <p:nvPr/>
        </p:nvPicPr>
        <p:blipFill>
          <a:blip r:embed="rId3" cstate="print"/>
          <a:stretch>
            <a:fillRect/>
          </a:stretch>
        </p:blipFill>
        <p:spPr>
          <a:xfrm>
            <a:off x="6300192" y="3933056"/>
            <a:ext cx="2095074" cy="1396170"/>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Resolve the complaint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Delegated resolution to another person</a:t>
            </a:r>
          </a:p>
          <a:p>
            <a:pPr>
              <a:spcBef>
                <a:spcPts val="600"/>
              </a:spcBef>
              <a:spcAft>
                <a:spcPts val="1200"/>
              </a:spcAft>
              <a:buNone/>
            </a:pPr>
            <a:r>
              <a:rPr lang="en-AU" sz="2200" dirty="0" smtClean="0">
                <a:latin typeface="Helvetica" pitchFamily="34" charset="0"/>
              </a:rPr>
              <a:t>The manager or staff member must:</a:t>
            </a:r>
          </a:p>
          <a:p>
            <a:pPr lvl="0">
              <a:spcBef>
                <a:spcPts val="600"/>
              </a:spcBef>
              <a:spcAft>
                <a:spcPts val="1200"/>
              </a:spcAft>
            </a:pPr>
            <a:r>
              <a:rPr lang="en-GB" sz="2200" dirty="0" smtClean="0">
                <a:latin typeface="Helvetica" pitchFamily="34" charset="0"/>
              </a:rPr>
              <a:t>Explain the complaint to the correct individual</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Ensure it is being completed within the specified time frame</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Keep the customer informed of the </a:t>
            </a:r>
            <a:br>
              <a:rPr lang="en-GB" sz="2200" dirty="0" smtClean="0">
                <a:latin typeface="Helvetica" pitchFamily="34" charset="0"/>
              </a:rPr>
            </a:br>
            <a:r>
              <a:rPr lang="en-GB" sz="2200" dirty="0" smtClean="0">
                <a:latin typeface="Helvetica" pitchFamily="34" charset="0"/>
              </a:rPr>
              <a:t>progress of the resolution</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Ensure the complaint has been resolved </a:t>
            </a:r>
            <a:br>
              <a:rPr lang="en-GB" sz="2200" dirty="0" smtClean="0">
                <a:latin typeface="Helvetica" pitchFamily="34" charset="0"/>
              </a:rPr>
            </a:br>
            <a:r>
              <a:rPr lang="en-GB" sz="2200" dirty="0" smtClean="0">
                <a:latin typeface="Helvetica" pitchFamily="34" charset="0"/>
              </a:rPr>
              <a:t>in accordance with the agreement and to </a:t>
            </a:r>
            <a:br>
              <a:rPr lang="en-GB" sz="2200" dirty="0" smtClean="0">
                <a:latin typeface="Helvetica" pitchFamily="34" charset="0"/>
              </a:rPr>
            </a:br>
            <a:r>
              <a:rPr lang="en-GB" sz="2200" dirty="0" smtClean="0">
                <a:latin typeface="Helvetica" pitchFamily="34" charset="0"/>
              </a:rPr>
              <a:t>the customer’s satisfaction</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6" name="Picture 5" descr="MP900423037.JPG"/>
          <p:cNvPicPr>
            <a:picLocks noChangeAspect="1"/>
          </p:cNvPicPr>
          <p:nvPr/>
        </p:nvPicPr>
        <p:blipFill>
          <a:blip r:embed="rId3" cstate="print"/>
          <a:stretch>
            <a:fillRect/>
          </a:stretch>
        </p:blipFill>
        <p:spPr>
          <a:xfrm>
            <a:off x="6732240" y="3789040"/>
            <a:ext cx="1628800" cy="1628800"/>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Resolve the complaint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b="1" dirty="0" smtClean="0">
                <a:latin typeface="Helvetica" pitchFamily="34" charset="0"/>
              </a:rPr>
              <a:t>Inform customer of outcome of investigation of complaint</a:t>
            </a:r>
          </a:p>
          <a:p>
            <a:pPr>
              <a:spcBef>
                <a:spcPts val="600"/>
              </a:spcBef>
              <a:spcAft>
                <a:spcPts val="1200"/>
              </a:spcAft>
            </a:pPr>
            <a:r>
              <a:rPr lang="en-AU" sz="2200" dirty="0" smtClean="0">
                <a:latin typeface="Helvetica" pitchFamily="34" charset="0"/>
              </a:rPr>
              <a:t>Inform customer of outcome</a:t>
            </a:r>
          </a:p>
          <a:p>
            <a:pPr>
              <a:spcBef>
                <a:spcPts val="600"/>
              </a:spcBef>
              <a:spcAft>
                <a:spcPts val="1200"/>
              </a:spcAft>
            </a:pPr>
            <a:r>
              <a:rPr lang="en-GB" sz="2200" dirty="0" smtClean="0">
                <a:latin typeface="Helvetica" pitchFamily="34" charset="0"/>
              </a:rPr>
              <a:t>Keep customer informed</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Follow up with customer</a:t>
            </a:r>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8" name="Picture 7" descr="MP900400320.JPG"/>
          <p:cNvPicPr>
            <a:picLocks noChangeAspect="1"/>
          </p:cNvPicPr>
          <p:nvPr/>
        </p:nvPicPr>
        <p:blipFill>
          <a:blip r:embed="rId3" cstate="print"/>
          <a:stretch>
            <a:fillRect/>
          </a:stretch>
        </p:blipFill>
        <p:spPr>
          <a:xfrm>
            <a:off x="6228268" y="3789040"/>
            <a:ext cx="2166660" cy="1443875"/>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Investigate complaint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GB" sz="2200" dirty="0" smtClean="0">
                <a:latin typeface="Helvetica" pitchFamily="34" charset="0"/>
              </a:rPr>
              <a:t>Reasons for undertaking investigatory activities are to:</a:t>
            </a:r>
          </a:p>
          <a:p>
            <a:pPr marL="0">
              <a:spcBef>
                <a:spcPts val="600"/>
              </a:spcBef>
              <a:spcAft>
                <a:spcPts val="1200"/>
              </a:spcAft>
            </a:pPr>
            <a:r>
              <a:rPr lang="en-GB" sz="2200" dirty="0" smtClean="0">
                <a:latin typeface="Helvetica" pitchFamily="34" charset="0"/>
              </a:rPr>
              <a:t>Identify problem</a:t>
            </a:r>
          </a:p>
          <a:p>
            <a:pPr marL="0">
              <a:spcBef>
                <a:spcPts val="600"/>
              </a:spcBef>
              <a:spcAft>
                <a:spcPts val="1200"/>
              </a:spcAft>
            </a:pPr>
            <a:r>
              <a:rPr lang="en-GB" sz="2200" dirty="0" smtClean="0">
                <a:latin typeface="Helvetica" pitchFamily="34" charset="0"/>
              </a:rPr>
              <a:t>Ascertain the causes of the problem</a:t>
            </a:r>
          </a:p>
          <a:p>
            <a:pPr marL="0">
              <a:spcBef>
                <a:spcPts val="600"/>
              </a:spcBef>
              <a:spcAft>
                <a:spcPts val="1200"/>
              </a:spcAft>
            </a:pPr>
            <a:r>
              <a:rPr lang="en-GB" sz="2200" dirty="0" smtClean="0">
                <a:latin typeface="Helvetica" pitchFamily="34" charset="0"/>
              </a:rPr>
              <a:t>Seek remedies to reduce it </a:t>
            </a:r>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6" name="Picture 5" descr="Culinary Academy_017.jpg"/>
          <p:cNvPicPr/>
          <p:nvPr/>
        </p:nvPicPr>
        <p:blipFill>
          <a:blip r:embed="rId3" cstate="print"/>
          <a:stretch>
            <a:fillRect/>
          </a:stretch>
        </p:blipFill>
        <p:spPr>
          <a:xfrm>
            <a:off x="7020272" y="3284984"/>
            <a:ext cx="1435224" cy="2016224"/>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Investigate complaint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GB" sz="2200" dirty="0" smtClean="0">
                <a:latin typeface="Helvetica" pitchFamily="34" charset="0"/>
              </a:rPr>
              <a:t>Some complaints that may NOT require investigation include:</a:t>
            </a:r>
          </a:p>
          <a:p>
            <a:pPr lvl="0">
              <a:spcBef>
                <a:spcPts val="600"/>
              </a:spcBef>
              <a:spcAft>
                <a:spcPts val="1200"/>
              </a:spcAft>
            </a:pPr>
            <a:r>
              <a:rPr lang="en-GB" sz="2200" dirty="0" smtClean="0">
                <a:latin typeface="Helvetica" pitchFamily="34" charset="0"/>
              </a:rPr>
              <a:t>Human error</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Cultural or language misunderstanding</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Communication error</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Problem with machinery</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Simple procedural error</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Uncontrollable event</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Something out of the control of</a:t>
            </a:r>
            <a:br>
              <a:rPr lang="en-GB" sz="2200" dirty="0" smtClean="0">
                <a:latin typeface="Helvetica" pitchFamily="34" charset="0"/>
              </a:rPr>
            </a:br>
            <a:r>
              <a:rPr lang="en-GB" sz="2200" dirty="0" smtClean="0">
                <a:latin typeface="Helvetica" pitchFamily="34" charset="0"/>
              </a:rPr>
              <a:t>the organization</a:t>
            </a:r>
            <a:endParaRPr lang="en-AU" sz="2200" b="1"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7" name="Picture 6" descr="00302919.jpg"/>
          <p:cNvPicPr>
            <a:picLocks noChangeAspect="1"/>
          </p:cNvPicPr>
          <p:nvPr/>
        </p:nvPicPr>
        <p:blipFill>
          <a:blip r:embed="rId3" cstate="print"/>
          <a:stretch>
            <a:fillRect/>
          </a:stretch>
        </p:blipFill>
        <p:spPr>
          <a:xfrm>
            <a:off x="6876256" y="3212976"/>
            <a:ext cx="1520568" cy="2131637"/>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Investigate complaint</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GB" sz="2200" dirty="0" smtClean="0">
                <a:latin typeface="Helvetica" pitchFamily="34" charset="0"/>
              </a:rPr>
              <a:t>Some complaints requiring investigation include:</a:t>
            </a:r>
          </a:p>
          <a:p>
            <a:pPr lvl="0">
              <a:spcBef>
                <a:spcPts val="600"/>
              </a:spcBef>
              <a:spcAft>
                <a:spcPts val="1200"/>
              </a:spcAft>
            </a:pPr>
            <a:r>
              <a:rPr lang="en-GB" sz="2200" dirty="0" smtClean="0">
                <a:latin typeface="Helvetica" pitchFamily="34" charset="0"/>
              </a:rPr>
              <a:t>Those occurring on a regular basis</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 Those of a serious nature</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Those which can be improved</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Those which can be solved through </a:t>
            </a:r>
            <a:br>
              <a:rPr lang="en-GB" sz="2200" dirty="0" smtClean="0">
                <a:latin typeface="Helvetica" pitchFamily="34" charset="0"/>
              </a:rPr>
            </a:br>
            <a:r>
              <a:rPr lang="en-GB" sz="2200" dirty="0" smtClean="0">
                <a:latin typeface="Helvetica" pitchFamily="34" charset="0"/>
              </a:rPr>
              <a:t>training</a:t>
            </a:r>
            <a:endParaRPr lang="en-AU" sz="2200" dirty="0" smtClean="0">
              <a:latin typeface="Helvetica" pitchFamily="34" charset="0"/>
            </a:endParaRPr>
          </a:p>
          <a:p>
            <a:pPr marL="0">
              <a:spcBef>
                <a:spcPts val="600"/>
              </a:spcBef>
              <a:spcAft>
                <a:spcPts val="1200"/>
              </a:spcAft>
              <a:buNone/>
            </a:pPr>
            <a:endParaRPr lang="en-GB"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6" name="Picture 5" descr="MP900400454[1].JPG"/>
          <p:cNvPicPr/>
          <p:nvPr/>
        </p:nvPicPr>
        <p:blipFill>
          <a:blip r:embed="rId3" cstate="print"/>
          <a:stretch>
            <a:fillRect/>
          </a:stretch>
        </p:blipFill>
        <p:spPr>
          <a:xfrm>
            <a:off x="6300192" y="3645024"/>
            <a:ext cx="2106340" cy="1570658"/>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MP900399133.JPG"/>
          <p:cNvPicPr>
            <a:picLocks noGrp="1" noChangeAspect="1"/>
          </p:cNvPicPr>
          <p:nvPr>
            <p:ph type="pic" idx="1"/>
          </p:nvPr>
        </p:nvPicPr>
        <p:blipFill>
          <a:blip r:embed="rId3" cstate="print"/>
          <a:stretch>
            <a:fillRect/>
          </a:stretch>
        </p:blipFill>
        <p:spPr>
          <a:xfrm>
            <a:off x="756000" y="1709745"/>
            <a:ext cx="3816000" cy="2536520"/>
          </a:xfrm>
        </p:spPr>
      </p:pic>
      <p:sp>
        <p:nvSpPr>
          <p:cNvPr id="3" name="Content Placeholder 2"/>
          <p:cNvSpPr>
            <a:spLocks noGrp="1"/>
          </p:cNvSpPr>
          <p:nvPr>
            <p:ph type="body" sz="half" idx="2"/>
          </p:nvPr>
        </p:nvSpPr>
        <p:spPr>
          <a:xfrm>
            <a:off x="4716016" y="2348880"/>
            <a:ext cx="3485914" cy="1224136"/>
          </a:xfrm>
        </p:spPr>
        <p:txBody>
          <a:bodyPr>
            <a:normAutofit lnSpcReduction="10000"/>
          </a:bodyPr>
          <a:lstStyle/>
          <a:p>
            <a:pPr marL="0">
              <a:buNone/>
            </a:pPr>
            <a:r>
              <a:rPr lang="en-AU" sz="3200" b="1" dirty="0" smtClean="0">
                <a:solidFill>
                  <a:srgbClr val="FF6600"/>
                </a:solidFill>
                <a:latin typeface="Helvetica" pitchFamily="34" charset="0"/>
              </a:rPr>
              <a:t>Element 4:</a:t>
            </a:r>
          </a:p>
          <a:p>
            <a:pPr marL="0">
              <a:spcBef>
                <a:spcPts val="600"/>
              </a:spcBef>
              <a:spcAft>
                <a:spcPts val="1200"/>
              </a:spcAft>
              <a:buNone/>
            </a:pPr>
            <a:r>
              <a:rPr lang="en-AU" sz="3200" b="1" i="1" dirty="0" smtClean="0">
                <a:solidFill>
                  <a:srgbClr val="FF6600"/>
                </a:solidFill>
                <a:latin typeface="Helvetica" pitchFamily="34" charset="0"/>
              </a:rPr>
              <a:t>Refer complaints</a:t>
            </a:r>
          </a:p>
          <a:p>
            <a:pPr>
              <a:spcBef>
                <a:spcPts val="600"/>
              </a:spcBef>
              <a:spcAft>
                <a:spcPts val="1200"/>
              </a:spcAft>
            </a:pPr>
            <a:endParaRPr lang="en-AU" sz="3200" b="1" dirty="0" smtClean="0">
              <a:latin typeface="Helvetica" pitchFamily="34" charset="0"/>
            </a:endParaRPr>
          </a:p>
          <a:p>
            <a:pPr>
              <a:spcBef>
                <a:spcPts val="600"/>
              </a:spcBef>
              <a:spcAft>
                <a:spcPts val="1200"/>
              </a:spcAft>
              <a:buNone/>
            </a:pPr>
            <a:endParaRPr lang="en-AU" sz="3200" b="1" dirty="0" smtClean="0">
              <a:latin typeface="Helvetica" pitchFamily="34" charset="0"/>
            </a:endParaRPr>
          </a:p>
          <a:p>
            <a:pPr lvl="0">
              <a:spcBef>
                <a:spcPts val="600"/>
              </a:spcBef>
              <a:spcAft>
                <a:spcPts val="600"/>
              </a:spcAft>
            </a:pPr>
            <a:endParaRPr lang="en-AU" sz="3200" b="1" dirty="0" smtClean="0">
              <a:latin typeface="Helvetica" pitchFamily="34" charset="0"/>
            </a:endParaRPr>
          </a:p>
          <a:p>
            <a:pPr>
              <a:buNone/>
            </a:pPr>
            <a:endParaRPr lang="en-AU" sz="3200" b="1" dirty="0" smtClean="0">
              <a:latin typeface="Helvetica" pitchFamily="34" charset="0"/>
            </a:endParaRPr>
          </a:p>
          <a:p>
            <a:pPr lvl="0">
              <a:spcBef>
                <a:spcPts val="600"/>
              </a:spcBef>
              <a:spcAft>
                <a:spcPts val="1200"/>
              </a:spcAft>
            </a:pPr>
            <a:endParaRPr lang="en-AU" sz="3200" b="1" dirty="0" smtClean="0">
              <a:latin typeface="Helvetica" pitchFamily="34" charset="0"/>
            </a:endParaRPr>
          </a:p>
          <a:p>
            <a:pPr marL="0">
              <a:spcBef>
                <a:spcPts val="600"/>
              </a:spcBef>
              <a:spcAft>
                <a:spcPts val="1200"/>
              </a:spcAft>
              <a:buNone/>
            </a:pPr>
            <a:endParaRPr lang="en-AU" sz="3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pPr marL="0">
              <a:spcBef>
                <a:spcPts val="600"/>
              </a:spcBef>
              <a:spcAft>
                <a:spcPts val="1200"/>
              </a:spcAft>
            </a:pPr>
            <a:r>
              <a:rPr lang="en-AU" sz="3200" b="1" dirty="0" smtClean="0">
                <a:solidFill>
                  <a:srgbClr val="FF6600"/>
                </a:solidFill>
                <a:latin typeface="Helvetica" pitchFamily="34" charset="0"/>
              </a:rPr>
              <a:t>Refer complaints</a:t>
            </a: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complaints that require referral to other personnel or external bodies</a:t>
            </a:r>
          </a:p>
          <a:p>
            <a:pPr>
              <a:spcBef>
                <a:spcPts val="600"/>
              </a:spcBef>
              <a:spcAft>
                <a:spcPts val="1200"/>
              </a:spcAft>
            </a:pPr>
            <a:r>
              <a:rPr lang="en-AU" sz="2200" dirty="0" smtClean="0">
                <a:latin typeface="Helvetica" pitchFamily="34" charset="0"/>
              </a:rPr>
              <a:t>Refer complaint to appropriate personnel for follow-up in accordance with individual level of responsibility</a:t>
            </a:r>
          </a:p>
          <a:p>
            <a:pPr>
              <a:spcBef>
                <a:spcPts val="600"/>
              </a:spcBef>
              <a:spcAft>
                <a:spcPts val="1200"/>
              </a:spcAft>
            </a:pPr>
            <a:r>
              <a:rPr lang="en-AU" sz="2200" dirty="0" smtClean="0">
                <a:latin typeface="Helvetica" pitchFamily="34" charset="0"/>
              </a:rPr>
              <a:t>Forward all necessary documentation including investigation reports to appropriate personnel</a:t>
            </a:r>
          </a:p>
          <a:p>
            <a:pPr>
              <a:spcBef>
                <a:spcPts val="600"/>
              </a:spcBef>
              <a:spcAft>
                <a:spcPts val="1200"/>
              </a:spcAft>
            </a:pPr>
            <a:r>
              <a:rPr lang="en-AU" sz="2200" dirty="0" smtClean="0">
                <a:latin typeface="Helvetica" pitchFamily="34" charset="0"/>
              </a:rPr>
              <a:t>Refer escalated complaints which cannot</a:t>
            </a:r>
            <a:br>
              <a:rPr lang="en-AU" sz="2200" dirty="0" smtClean="0">
                <a:latin typeface="Helvetica" pitchFamily="34" charset="0"/>
              </a:rPr>
            </a:br>
            <a:r>
              <a:rPr lang="en-AU" sz="2200" dirty="0" smtClean="0">
                <a:latin typeface="Helvetica" pitchFamily="34" charset="0"/>
              </a:rPr>
              <a:t>be resolved to an appropriate person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7" name="Picture 6" descr="00341396.jpg"/>
          <p:cNvPicPr>
            <a:picLocks noChangeAspect="1"/>
          </p:cNvPicPr>
          <p:nvPr/>
        </p:nvPicPr>
        <p:blipFill>
          <a:blip r:embed="rId3" cstate="print"/>
          <a:stretch>
            <a:fillRect/>
          </a:stretch>
        </p:blipFill>
        <p:spPr>
          <a:xfrm>
            <a:off x="7092280" y="3717032"/>
            <a:ext cx="1376552" cy="1929746"/>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Identify complaints for referral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Whilst most complaints can be handled by individual staff members or managers within their scope of authority, at times complaints may need to be referred to executive management or external bodies:</a:t>
            </a:r>
          </a:p>
          <a:p>
            <a:pPr>
              <a:spcBef>
                <a:spcPts val="600"/>
              </a:spcBef>
              <a:spcAft>
                <a:spcPts val="1200"/>
              </a:spcAft>
            </a:pPr>
            <a:r>
              <a:rPr lang="en-AU" sz="2200" dirty="0" smtClean="0">
                <a:latin typeface="Helvetica" pitchFamily="34" charset="0"/>
              </a:rPr>
              <a:t>What complaints are commonly referred?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7" name="Picture 6" descr="MP900406846[1].JPG"/>
          <p:cNvPicPr/>
          <p:nvPr/>
        </p:nvPicPr>
        <p:blipFill>
          <a:blip r:embed="rId3" cstate="print"/>
          <a:stretch>
            <a:fillRect/>
          </a:stretch>
        </p:blipFill>
        <p:spPr>
          <a:xfrm>
            <a:off x="6228184" y="4077072"/>
            <a:ext cx="2175555" cy="1330251"/>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Identify complaints for referral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AU" sz="2200" b="1" dirty="0" smtClean="0">
                <a:latin typeface="Helvetica" pitchFamily="34" charset="0"/>
              </a:rPr>
              <a:t>Common complaints for referral</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This normally relates to matters:</a:t>
            </a:r>
          </a:p>
          <a:p>
            <a:pPr lvl="0">
              <a:spcBef>
                <a:spcPts val="600"/>
              </a:spcBef>
              <a:spcAft>
                <a:spcPts val="1200"/>
              </a:spcAft>
            </a:pPr>
            <a:r>
              <a:rPr lang="en-AU" sz="2200" dirty="0" smtClean="0">
                <a:latin typeface="Helvetica" pitchFamily="34" charset="0"/>
              </a:rPr>
              <a:t>Of a serious nature</a:t>
            </a:r>
          </a:p>
          <a:p>
            <a:pPr lvl="0">
              <a:spcBef>
                <a:spcPts val="600"/>
              </a:spcBef>
              <a:spcAft>
                <a:spcPts val="1200"/>
              </a:spcAft>
            </a:pPr>
            <a:r>
              <a:rPr lang="en-AU" sz="2200" dirty="0" smtClean="0">
                <a:latin typeface="Helvetica" pitchFamily="34" charset="0"/>
              </a:rPr>
              <a:t>Where specialist skills, knowledge and equipment is needed to determine evidence</a:t>
            </a:r>
          </a:p>
          <a:p>
            <a:pPr lvl="0">
              <a:spcBef>
                <a:spcPts val="600"/>
              </a:spcBef>
              <a:spcAft>
                <a:spcPts val="1200"/>
              </a:spcAft>
            </a:pPr>
            <a:r>
              <a:rPr lang="en-AU" sz="2200" dirty="0" smtClean="0">
                <a:latin typeface="Helvetica" pitchFamily="34" charset="0"/>
              </a:rPr>
              <a:t>Where criminal activity has taken place</a:t>
            </a:r>
          </a:p>
          <a:p>
            <a:pPr lvl="0">
              <a:spcBef>
                <a:spcPts val="600"/>
              </a:spcBef>
              <a:spcAft>
                <a:spcPts val="1200"/>
              </a:spcAft>
            </a:pPr>
            <a:r>
              <a:rPr lang="en-AU" sz="2200" dirty="0" smtClean="0">
                <a:latin typeface="Helvetica" pitchFamily="34" charset="0"/>
              </a:rPr>
              <a:t>Where scope of authority is exceeded</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6" name="Picture 5" descr="MP900402225[1].JPG"/>
          <p:cNvPicPr/>
          <p:nvPr/>
        </p:nvPicPr>
        <p:blipFill>
          <a:blip r:embed="rId3" cstate="print"/>
          <a:stretch>
            <a:fillRect/>
          </a:stretch>
        </p:blipFill>
        <p:spPr>
          <a:xfrm>
            <a:off x="6732240" y="4005064"/>
            <a:ext cx="1656184" cy="1296144"/>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Refer complaint to appropriate person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229200"/>
          </a:xfrm>
        </p:spPr>
        <p:txBody>
          <a:bodyPr>
            <a:normAutofit/>
          </a:bodyPr>
          <a:lstStyle/>
          <a:p>
            <a:pPr marL="0">
              <a:spcBef>
                <a:spcPts val="600"/>
              </a:spcBef>
              <a:spcAft>
                <a:spcPts val="1200"/>
              </a:spcAft>
              <a:buNone/>
            </a:pPr>
            <a:r>
              <a:rPr lang="en-GB" sz="2200" dirty="0" smtClean="0">
                <a:latin typeface="Helvetica" pitchFamily="34" charset="0"/>
              </a:rPr>
              <a:t>When it has been determined that a complaint needs to be referred to another person it must be done so in a timely manner:</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Who is the appropriate person?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7" name="Picture 6" descr="MP900448464.JPG"/>
          <p:cNvPicPr>
            <a:picLocks noChangeAspect="1"/>
          </p:cNvPicPr>
          <p:nvPr/>
        </p:nvPicPr>
        <p:blipFill>
          <a:blip r:embed="rId3" cstate="print"/>
          <a:stretch>
            <a:fillRect/>
          </a:stretch>
        </p:blipFill>
        <p:spPr>
          <a:xfrm>
            <a:off x="6948264" y="3140968"/>
            <a:ext cx="1469910" cy="2204864"/>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Refer complaint to appropriate person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GB" sz="2200" b="1" dirty="0" smtClean="0">
                <a:latin typeface="Helvetica" pitchFamily="34" charset="0"/>
              </a:rPr>
              <a:t>Appropriate internal persons</a:t>
            </a:r>
            <a:endParaRPr lang="en-AU" sz="2200" dirty="0" smtClean="0">
              <a:latin typeface="Helvetica" pitchFamily="34" charset="0"/>
            </a:endParaRPr>
          </a:p>
          <a:p>
            <a:pPr>
              <a:spcBef>
                <a:spcPts val="600"/>
              </a:spcBef>
              <a:spcAft>
                <a:spcPts val="1200"/>
              </a:spcAft>
              <a:buNone/>
            </a:pPr>
            <a:r>
              <a:rPr lang="en-GB" sz="2200" dirty="0" smtClean="0">
                <a:latin typeface="Helvetica" pitchFamily="34" charset="0"/>
              </a:rPr>
              <a:t>The appropriate person, in some situations, may be:</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A co-worker who has more experience than you</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Higher manager</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Security</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6" name="Picture 5" descr="MP910220783[1].JPG"/>
          <p:cNvPicPr/>
          <p:nvPr/>
        </p:nvPicPr>
        <p:blipFill>
          <a:blip r:embed="rId3" cstate="print"/>
          <a:stretch>
            <a:fillRect/>
          </a:stretch>
        </p:blipFill>
        <p:spPr>
          <a:xfrm>
            <a:off x="6804248" y="3789040"/>
            <a:ext cx="1572766" cy="1512168"/>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Refer complaint to appropriate person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100" b="1" dirty="0" smtClean="0">
                <a:latin typeface="Helvetica" pitchFamily="34" charset="0"/>
              </a:rPr>
              <a:t>Appropriate internal persons when handling intoxicated patrons</a:t>
            </a:r>
          </a:p>
          <a:p>
            <a:pPr>
              <a:spcBef>
                <a:spcPts val="600"/>
              </a:spcBef>
              <a:spcAft>
                <a:spcPts val="1200"/>
              </a:spcAft>
            </a:pPr>
            <a:r>
              <a:rPr lang="en-AU" sz="2100" dirty="0" smtClean="0">
                <a:latin typeface="Helvetica" pitchFamily="34" charset="0"/>
              </a:rPr>
              <a:t>It must be remembered, that the health and safety of staff and customers is the primary objective when handling complaints, especially instances involving intoxication</a:t>
            </a:r>
          </a:p>
          <a:p>
            <a:pPr>
              <a:spcBef>
                <a:spcPts val="600"/>
              </a:spcBef>
              <a:spcAft>
                <a:spcPts val="1200"/>
              </a:spcAft>
            </a:pPr>
            <a:r>
              <a:rPr lang="en-AU" sz="2100" dirty="0" smtClean="0">
                <a:latin typeface="Helvetica" pitchFamily="34" charset="0"/>
              </a:rPr>
              <a:t>As a staff member, it is not a requirement for you to place yourself in harm’s way if you feel you cannot handle the situation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8" name="Picture 7" descr="MP900443084.JPG"/>
          <p:cNvPicPr>
            <a:picLocks noChangeAspect="1"/>
          </p:cNvPicPr>
          <p:nvPr/>
        </p:nvPicPr>
        <p:blipFill>
          <a:blip r:embed="rId3" cstate="print"/>
          <a:stretch>
            <a:fillRect/>
          </a:stretch>
        </p:blipFill>
        <p:spPr>
          <a:xfrm>
            <a:off x="6228184" y="4437112"/>
            <a:ext cx="2167404" cy="1436446"/>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Refer complaint to appropriate person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157192"/>
          </a:xfrm>
        </p:spPr>
        <p:txBody>
          <a:bodyPr>
            <a:normAutofit/>
          </a:bodyPr>
          <a:lstStyle/>
          <a:p>
            <a:pPr marL="0">
              <a:spcBef>
                <a:spcPts val="600"/>
              </a:spcBef>
              <a:spcAft>
                <a:spcPts val="1200"/>
              </a:spcAft>
              <a:buNone/>
            </a:pPr>
            <a:r>
              <a:rPr lang="en-AU" sz="2200" b="1" dirty="0" smtClean="0">
                <a:latin typeface="Helvetica" pitchFamily="34" charset="0"/>
              </a:rPr>
              <a:t>Appropriate internal persons when handling intoxicated patrons</a:t>
            </a:r>
          </a:p>
          <a:p>
            <a:pPr lvl="0">
              <a:spcBef>
                <a:spcPts val="600"/>
              </a:spcBef>
              <a:spcAft>
                <a:spcPts val="1200"/>
              </a:spcAft>
            </a:pPr>
            <a:r>
              <a:rPr lang="en-AU" sz="2200" dirty="0" smtClean="0">
                <a:latin typeface="Helvetica" pitchFamily="34" charset="0"/>
              </a:rPr>
              <a:t>Supervisor/Management  </a:t>
            </a:r>
          </a:p>
          <a:p>
            <a:pPr lvl="0">
              <a:spcBef>
                <a:spcPts val="600"/>
              </a:spcBef>
              <a:spcAft>
                <a:spcPts val="1200"/>
              </a:spcAft>
            </a:pPr>
            <a:r>
              <a:rPr lang="en-AU" sz="2200" dirty="0" smtClean="0">
                <a:latin typeface="Helvetica" pitchFamily="34" charset="0"/>
              </a:rPr>
              <a:t>Security  </a:t>
            </a:r>
          </a:p>
          <a:p>
            <a:pPr lvl="0">
              <a:spcBef>
                <a:spcPts val="600"/>
              </a:spcBef>
              <a:spcAft>
                <a:spcPts val="1200"/>
              </a:spcAft>
            </a:pPr>
            <a:r>
              <a:rPr lang="en-AU" sz="2200" dirty="0" smtClean="0">
                <a:latin typeface="Helvetica" pitchFamily="34" charset="0"/>
              </a:rPr>
              <a:t>DJ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6" name="Picture 5" descr="00302917.jpg"/>
          <p:cNvPicPr/>
          <p:nvPr/>
        </p:nvPicPr>
        <p:blipFill>
          <a:blip r:embed="rId3" cstate="print"/>
          <a:stretch>
            <a:fillRect/>
          </a:stretch>
        </p:blipFill>
        <p:spPr>
          <a:xfrm>
            <a:off x="6804248" y="3356992"/>
            <a:ext cx="1642666" cy="1981944"/>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Refer complaint to appropriate person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229200"/>
          </a:xfrm>
        </p:spPr>
        <p:txBody>
          <a:bodyPr>
            <a:normAutofit/>
          </a:bodyPr>
          <a:lstStyle/>
          <a:p>
            <a:pPr>
              <a:spcBef>
                <a:spcPts val="600"/>
              </a:spcBef>
              <a:spcAft>
                <a:spcPts val="1200"/>
              </a:spcAft>
              <a:buNone/>
            </a:pPr>
            <a:r>
              <a:rPr lang="en-AU" sz="2200" b="1" dirty="0" smtClean="0">
                <a:latin typeface="Helvetica" pitchFamily="34" charset="0"/>
              </a:rPr>
              <a:t>Appropriate external persons</a:t>
            </a:r>
          </a:p>
          <a:p>
            <a:pPr lvl="0">
              <a:spcBef>
                <a:spcPts val="600"/>
              </a:spcBef>
              <a:spcAft>
                <a:spcPts val="1200"/>
              </a:spcAft>
            </a:pPr>
            <a:r>
              <a:rPr lang="en-AU" sz="2200" dirty="0" smtClean="0">
                <a:latin typeface="Helvetica" pitchFamily="34" charset="0"/>
              </a:rPr>
              <a:t>Police</a:t>
            </a:r>
          </a:p>
          <a:p>
            <a:pPr lvl="0">
              <a:spcBef>
                <a:spcPts val="600"/>
              </a:spcBef>
              <a:spcAft>
                <a:spcPts val="1200"/>
              </a:spcAft>
            </a:pPr>
            <a:r>
              <a:rPr lang="en-AU" sz="2200" dirty="0" smtClean="0">
                <a:latin typeface="Helvetica" pitchFamily="34" charset="0"/>
              </a:rPr>
              <a:t>Fire</a:t>
            </a:r>
          </a:p>
          <a:p>
            <a:pPr lvl="0">
              <a:spcBef>
                <a:spcPts val="600"/>
              </a:spcBef>
              <a:spcAft>
                <a:spcPts val="1200"/>
              </a:spcAft>
            </a:pPr>
            <a:r>
              <a:rPr lang="en-AU" sz="2200" dirty="0" smtClean="0">
                <a:latin typeface="Helvetica" pitchFamily="34" charset="0"/>
              </a:rPr>
              <a:t>Ambulance</a:t>
            </a:r>
          </a:p>
          <a:p>
            <a:pPr lvl="0">
              <a:spcBef>
                <a:spcPts val="600"/>
              </a:spcBef>
              <a:spcAft>
                <a:spcPts val="1200"/>
              </a:spcAft>
            </a:pPr>
            <a:r>
              <a:rPr lang="en-AU" sz="2200" dirty="0" smtClean="0">
                <a:latin typeface="Helvetica" pitchFamily="34" charset="0"/>
              </a:rPr>
              <a:t>Security company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7" name="Picture 6" descr="MP900426566[1].JPG"/>
          <p:cNvPicPr/>
          <p:nvPr/>
        </p:nvPicPr>
        <p:blipFill>
          <a:blip r:embed="rId3" cstate="print"/>
          <a:stretch>
            <a:fillRect/>
          </a:stretch>
        </p:blipFill>
        <p:spPr>
          <a:xfrm>
            <a:off x="6588224" y="3645024"/>
            <a:ext cx="1776016" cy="1776016"/>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Refer complaint to appropriate person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Reaching suitable external assistance</a:t>
            </a:r>
          </a:p>
          <a:p>
            <a:pPr>
              <a:spcBef>
                <a:spcPts val="600"/>
              </a:spcBef>
              <a:spcAft>
                <a:spcPts val="1200"/>
              </a:spcAft>
              <a:buNone/>
            </a:pPr>
            <a:r>
              <a:rPr lang="en-AU" sz="2200" dirty="0" smtClean="0">
                <a:latin typeface="Helvetica" pitchFamily="34" charset="0"/>
              </a:rPr>
              <a:t>Easy to reach contact details can include:</a:t>
            </a:r>
          </a:p>
          <a:p>
            <a:pPr lvl="0">
              <a:spcBef>
                <a:spcPts val="600"/>
              </a:spcBef>
              <a:spcAft>
                <a:spcPts val="1200"/>
              </a:spcAft>
            </a:pPr>
            <a:r>
              <a:rPr lang="en-AU" sz="2200" dirty="0" smtClean="0">
                <a:latin typeface="Helvetica" pitchFamily="34" charset="0"/>
              </a:rPr>
              <a:t>Special button</a:t>
            </a:r>
          </a:p>
          <a:p>
            <a:pPr lvl="0">
              <a:spcBef>
                <a:spcPts val="600"/>
              </a:spcBef>
              <a:spcAft>
                <a:spcPts val="1200"/>
              </a:spcAft>
            </a:pPr>
            <a:r>
              <a:rPr lang="en-AU" sz="2200" dirty="0" smtClean="0">
                <a:latin typeface="Helvetica" pitchFamily="34" charset="0"/>
              </a:rPr>
              <a:t>Posters with contact numbers</a:t>
            </a:r>
          </a:p>
          <a:p>
            <a:pPr lvl="0">
              <a:spcBef>
                <a:spcPts val="600"/>
              </a:spcBef>
              <a:spcAft>
                <a:spcPts val="1200"/>
              </a:spcAft>
            </a:pPr>
            <a:r>
              <a:rPr lang="en-AU" sz="2200" dirty="0" smtClean="0">
                <a:latin typeface="Helvetica" pitchFamily="34" charset="0"/>
              </a:rPr>
              <a:t>Speed dials</a:t>
            </a:r>
          </a:p>
          <a:p>
            <a:pPr lvl="0">
              <a:spcBef>
                <a:spcPts val="600"/>
              </a:spcBef>
              <a:spcAft>
                <a:spcPts val="1200"/>
              </a:spcAft>
            </a:pPr>
            <a:r>
              <a:rPr lang="en-AU" sz="2200" dirty="0" smtClean="0">
                <a:latin typeface="Helvetica" pitchFamily="34" charset="0"/>
              </a:rPr>
              <a:t>Other methods that are suitable</a:t>
            </a:r>
          </a:p>
          <a:p>
            <a:pPr>
              <a:buNone/>
            </a:pPr>
            <a:endParaRPr lang="en-AU" sz="2400" b="1"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MP900438367[1].JPG"/>
          <p:cNvPicPr/>
          <p:nvPr/>
        </p:nvPicPr>
        <p:blipFill>
          <a:blip r:embed="rId3" cstate="print"/>
          <a:stretch>
            <a:fillRect/>
          </a:stretch>
        </p:blipFill>
        <p:spPr>
          <a:xfrm>
            <a:off x="6372200" y="4077072"/>
            <a:ext cx="2058144" cy="1229668"/>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Forward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marL="0">
              <a:spcBef>
                <a:spcPts val="600"/>
              </a:spcBef>
              <a:spcAft>
                <a:spcPts val="1200"/>
              </a:spcAft>
              <a:buNone/>
            </a:pPr>
            <a:r>
              <a:rPr lang="en-AU" sz="2200" b="1" dirty="0" smtClean="0">
                <a:latin typeface="Helvetica" pitchFamily="34" charset="0"/>
              </a:rPr>
              <a:t>Forward all necessary documentation including investigation reports to appropriate personnel</a:t>
            </a:r>
          </a:p>
          <a:p>
            <a:pPr>
              <a:spcBef>
                <a:spcPts val="600"/>
              </a:spcBef>
              <a:spcAft>
                <a:spcPts val="1200"/>
              </a:spcAft>
            </a:pPr>
            <a:r>
              <a:rPr lang="en-GB" sz="2200" dirty="0" smtClean="0">
                <a:latin typeface="Helvetica" pitchFamily="34" charset="0"/>
              </a:rPr>
              <a:t>By having accurate and completed records and evidence, it helps them to gain an understanding of all aspects of the matter in a more effective manner</a:t>
            </a:r>
            <a:endParaRPr lang="en-AU" sz="2200" b="1" dirty="0" smtClean="0">
              <a:latin typeface="Helvetica" pitchFamily="34" charset="0"/>
            </a:endParaRPr>
          </a:p>
          <a:p>
            <a:pPr>
              <a:buNone/>
            </a:pPr>
            <a:endParaRPr lang="en-AU" sz="2400" b="1"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7" name="Picture 6" descr="MP900289901.JPG"/>
          <p:cNvPicPr>
            <a:picLocks noChangeAspect="1"/>
          </p:cNvPicPr>
          <p:nvPr/>
        </p:nvPicPr>
        <p:blipFill>
          <a:blip r:embed="rId3" cstate="print"/>
          <a:stretch>
            <a:fillRect/>
          </a:stretch>
        </p:blipFill>
        <p:spPr>
          <a:xfrm>
            <a:off x="6516216" y="4030266"/>
            <a:ext cx="1902957" cy="1274981"/>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Forward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589240"/>
          </a:xfrm>
        </p:spPr>
        <p:txBody>
          <a:bodyPr>
            <a:normAutofit/>
          </a:bodyPr>
          <a:lstStyle/>
          <a:p>
            <a:pPr>
              <a:spcBef>
                <a:spcPts val="600"/>
              </a:spcBef>
              <a:spcAft>
                <a:spcPts val="1200"/>
              </a:spcAft>
              <a:buNone/>
            </a:pPr>
            <a:r>
              <a:rPr lang="en-GB" sz="2200" b="1" dirty="0" smtClean="0">
                <a:latin typeface="Helvetica" pitchFamily="34" charset="0"/>
              </a:rPr>
              <a:t>Follow up with appropriate personnel</a:t>
            </a:r>
            <a:endParaRPr lang="en-AU" sz="2200" b="1" dirty="0" smtClean="0">
              <a:latin typeface="Helvetica" pitchFamily="34" charset="0"/>
            </a:endParaRPr>
          </a:p>
          <a:p>
            <a:pPr>
              <a:spcBef>
                <a:spcPts val="600"/>
              </a:spcBef>
              <a:spcAft>
                <a:spcPts val="1200"/>
              </a:spcAft>
            </a:pPr>
            <a:r>
              <a:rPr lang="en-GB" sz="2200" dirty="0" smtClean="0">
                <a:latin typeface="Helvetica" pitchFamily="34" charset="0"/>
              </a:rPr>
              <a:t>Whilst handing of written documentation and evidence is a great way to provide assistance to those to whom responsibility has been given for undertaking further activity, it is also worthwhile to meet with them personally to conduct a handover</a:t>
            </a:r>
            <a:endParaRPr lang="en-AU" sz="2200" b="1" dirty="0" smtClean="0">
              <a:latin typeface="Helvetica" pitchFamily="34" charset="0"/>
            </a:endParaRPr>
          </a:p>
          <a:p>
            <a:pPr>
              <a:buNone/>
            </a:pPr>
            <a:endParaRPr lang="en-AU" sz="2400" b="1"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6" name="Picture 5" descr="MP900285031[1].JPG"/>
          <p:cNvPicPr>
            <a:picLocks noChangeAspect="1"/>
          </p:cNvPicPr>
          <p:nvPr/>
        </p:nvPicPr>
        <p:blipFill>
          <a:blip r:embed="rId3" cstate="print"/>
          <a:stretch>
            <a:fillRect/>
          </a:stretch>
        </p:blipFill>
        <p:spPr>
          <a:xfrm>
            <a:off x="6300192" y="4005064"/>
            <a:ext cx="2053027" cy="1351576"/>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AU" sz="3400" b="1" dirty="0" smtClean="0">
                <a:solidFill>
                  <a:srgbClr val="FF6600"/>
                </a:solidFill>
                <a:latin typeface="Helvetica" pitchFamily="34" charset="0"/>
              </a:rPr>
              <a:t>Forward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600"/>
              </a:spcAft>
              <a:buNone/>
            </a:pPr>
            <a:r>
              <a:rPr lang="en-GB" sz="2200" b="1" dirty="0" smtClean="0">
                <a:latin typeface="Helvetica" pitchFamily="34" charset="0"/>
              </a:rPr>
              <a:t>Follow up with appropriate personnel</a:t>
            </a:r>
            <a:endParaRPr lang="en-AU" sz="2200" b="1" dirty="0" smtClean="0">
              <a:latin typeface="Helvetica" pitchFamily="34" charset="0"/>
            </a:endParaRPr>
          </a:p>
          <a:p>
            <a:pPr>
              <a:spcBef>
                <a:spcPts val="600"/>
              </a:spcBef>
              <a:spcAft>
                <a:spcPts val="600"/>
              </a:spcAft>
              <a:buNone/>
            </a:pPr>
            <a:r>
              <a:rPr lang="en-GB" sz="2200" dirty="0" smtClean="0">
                <a:latin typeface="Helvetica" pitchFamily="34" charset="0"/>
              </a:rPr>
              <a:t>Benefits of conducting a personal handover include:</a:t>
            </a:r>
            <a:endParaRPr lang="en-AU" sz="2200" b="1" dirty="0" smtClean="0">
              <a:latin typeface="Helvetica" pitchFamily="34" charset="0"/>
            </a:endParaRPr>
          </a:p>
          <a:p>
            <a:pPr lvl="0">
              <a:spcBef>
                <a:spcPts val="600"/>
              </a:spcBef>
              <a:spcAft>
                <a:spcPts val="600"/>
              </a:spcAft>
            </a:pPr>
            <a:r>
              <a:rPr lang="en-GB" sz="2200" dirty="0" smtClean="0">
                <a:latin typeface="Helvetica" pitchFamily="34" charset="0"/>
              </a:rPr>
              <a:t>Background information can be summarised</a:t>
            </a:r>
            <a:endParaRPr lang="en-AU" sz="2200" b="1" dirty="0" smtClean="0">
              <a:latin typeface="Helvetica" pitchFamily="34" charset="0"/>
            </a:endParaRPr>
          </a:p>
          <a:p>
            <a:pPr lvl="0">
              <a:spcBef>
                <a:spcPts val="600"/>
              </a:spcBef>
              <a:spcAft>
                <a:spcPts val="600"/>
              </a:spcAft>
            </a:pPr>
            <a:r>
              <a:rPr lang="en-GB" sz="2200" dirty="0" smtClean="0">
                <a:latin typeface="Helvetica" pitchFamily="34" charset="0"/>
              </a:rPr>
              <a:t>Key points can be highlighted</a:t>
            </a:r>
            <a:endParaRPr lang="en-AU" sz="2200" b="1" dirty="0" smtClean="0">
              <a:latin typeface="Helvetica" pitchFamily="34" charset="0"/>
            </a:endParaRPr>
          </a:p>
          <a:p>
            <a:pPr lvl="0">
              <a:spcBef>
                <a:spcPts val="600"/>
              </a:spcBef>
              <a:spcAft>
                <a:spcPts val="600"/>
              </a:spcAft>
            </a:pPr>
            <a:r>
              <a:rPr lang="en-GB" sz="2200" dirty="0" smtClean="0">
                <a:latin typeface="Helvetica" pitchFamily="34" charset="0"/>
              </a:rPr>
              <a:t>A first hand account of activities can be explained, including reasoning for specific actions</a:t>
            </a:r>
            <a:endParaRPr lang="en-AU" sz="2200" b="1" dirty="0" smtClean="0">
              <a:latin typeface="Helvetica" pitchFamily="34" charset="0"/>
            </a:endParaRPr>
          </a:p>
          <a:p>
            <a:pPr lvl="0">
              <a:spcBef>
                <a:spcPts val="600"/>
              </a:spcBef>
              <a:spcAft>
                <a:spcPts val="600"/>
              </a:spcAft>
            </a:pPr>
            <a:r>
              <a:rPr lang="en-GB" sz="2200" dirty="0" smtClean="0">
                <a:latin typeface="Helvetica" pitchFamily="34" charset="0"/>
              </a:rPr>
              <a:t>Sensitive or confidential information can </a:t>
            </a:r>
            <a:br>
              <a:rPr lang="en-GB" sz="2200" dirty="0" smtClean="0">
                <a:latin typeface="Helvetica" pitchFamily="34" charset="0"/>
              </a:rPr>
            </a:br>
            <a:r>
              <a:rPr lang="en-GB" sz="2200" dirty="0" smtClean="0">
                <a:latin typeface="Helvetica" pitchFamily="34" charset="0"/>
              </a:rPr>
              <a:t>be identified and explained</a:t>
            </a:r>
            <a:endParaRPr lang="en-AU" sz="2200" b="1" dirty="0" smtClean="0">
              <a:latin typeface="Helvetica" pitchFamily="34" charset="0"/>
            </a:endParaRPr>
          </a:p>
          <a:p>
            <a:pPr lvl="0">
              <a:spcBef>
                <a:spcPts val="600"/>
              </a:spcBef>
              <a:spcAft>
                <a:spcPts val="600"/>
              </a:spcAft>
            </a:pPr>
            <a:r>
              <a:rPr lang="en-GB" sz="2200" dirty="0" smtClean="0">
                <a:latin typeface="Helvetica" pitchFamily="34" charset="0"/>
              </a:rPr>
              <a:t>Any queries can be clarified</a:t>
            </a:r>
            <a:endParaRPr lang="en-AU" sz="2200" b="1" dirty="0" smtClean="0">
              <a:latin typeface="Helvetica" pitchFamily="34" charset="0"/>
            </a:endParaRPr>
          </a:p>
          <a:p>
            <a:pPr lvl="0">
              <a:spcBef>
                <a:spcPts val="600"/>
              </a:spcBef>
              <a:spcAft>
                <a:spcPts val="600"/>
              </a:spcAft>
            </a:pPr>
            <a:r>
              <a:rPr lang="en-GB" sz="2200" dirty="0" smtClean="0">
                <a:latin typeface="Helvetica" pitchFamily="34" charset="0"/>
              </a:rPr>
              <a:t>Any further information or questions that</a:t>
            </a:r>
            <a:br>
              <a:rPr lang="en-GB" sz="2200" dirty="0" smtClean="0">
                <a:latin typeface="Helvetica" pitchFamily="34" charset="0"/>
              </a:rPr>
            </a:br>
            <a:r>
              <a:rPr lang="en-GB" sz="2200" dirty="0" smtClean="0">
                <a:latin typeface="Helvetica" pitchFamily="34" charset="0"/>
              </a:rPr>
              <a:t>others may have can be answered</a:t>
            </a:r>
            <a:endParaRPr lang="en-AU" sz="2200" b="1" dirty="0" smtClean="0">
              <a:latin typeface="Helvetica" pitchFamily="34" charset="0"/>
            </a:endParaRPr>
          </a:p>
          <a:p>
            <a:pPr>
              <a:buNone/>
            </a:pPr>
            <a:endParaRPr lang="en-AU" sz="2400" b="1"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7" name="Picture 6" descr="MP900443225[1].JPG"/>
          <p:cNvPicPr>
            <a:picLocks noChangeAspect="1"/>
          </p:cNvPicPr>
          <p:nvPr/>
        </p:nvPicPr>
        <p:blipFill>
          <a:blip r:embed="rId3" cstate="print"/>
          <a:stretch>
            <a:fillRect/>
          </a:stretch>
        </p:blipFill>
        <p:spPr>
          <a:xfrm>
            <a:off x="6444208" y="4149080"/>
            <a:ext cx="1943095" cy="1293108"/>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An escalated complaint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a:spcBef>
                <a:spcPts val="600"/>
              </a:spcBef>
              <a:spcAft>
                <a:spcPts val="1200"/>
              </a:spcAft>
              <a:buNone/>
            </a:pPr>
            <a:r>
              <a:rPr lang="en-GB" sz="2200" b="1" dirty="0" smtClean="0">
                <a:latin typeface="Helvetica" pitchFamily="34" charset="0"/>
              </a:rPr>
              <a:t>Types of  escalated complains</a:t>
            </a:r>
            <a:endParaRPr lang="en-AU" sz="2200" b="1" dirty="0" smtClean="0">
              <a:latin typeface="Helvetica" pitchFamily="34" charset="0"/>
            </a:endParaRPr>
          </a:p>
          <a:p>
            <a:pPr lvl="0">
              <a:spcBef>
                <a:spcPts val="600"/>
              </a:spcBef>
              <a:spcAft>
                <a:spcPts val="1200"/>
              </a:spcAft>
            </a:pPr>
            <a:r>
              <a:rPr lang="en-GB" sz="2200" dirty="0" smtClean="0">
                <a:latin typeface="Helvetica" pitchFamily="34" charset="0"/>
              </a:rPr>
              <a:t>The organisational policies specifically call for the complaint to be handled by management or some other nominated person</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Every genuine effort on your part to resolve the issue has been unsuccessful</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Physical confrontation is likely</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Customer is swearing, making threats  </a:t>
            </a:r>
            <a:br>
              <a:rPr lang="en-GB" sz="2200" dirty="0" smtClean="0">
                <a:latin typeface="Helvetica" pitchFamily="34" charset="0"/>
              </a:rPr>
            </a:br>
            <a:r>
              <a:rPr lang="en-GB" sz="2200" dirty="0" smtClean="0">
                <a:latin typeface="Helvetica" pitchFamily="34" charset="0"/>
              </a:rPr>
              <a:t>or drawing substantial attention to themselves</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6" name="Picture 5" descr="MP900443085.JPG"/>
          <p:cNvPicPr>
            <a:picLocks noChangeAspect="1"/>
          </p:cNvPicPr>
          <p:nvPr/>
        </p:nvPicPr>
        <p:blipFill>
          <a:blip r:embed="rId3" cstate="print"/>
          <a:stretch>
            <a:fillRect/>
          </a:stretch>
        </p:blipFill>
        <p:spPr>
          <a:xfrm>
            <a:off x="2987824" y="5229200"/>
            <a:ext cx="2089012" cy="1384492"/>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An escalated complaint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733256"/>
          </a:xfrm>
        </p:spPr>
        <p:txBody>
          <a:bodyPr>
            <a:normAutofit/>
          </a:bodyPr>
          <a:lstStyle/>
          <a:p>
            <a:pPr>
              <a:spcBef>
                <a:spcPts val="600"/>
              </a:spcBef>
              <a:spcAft>
                <a:spcPts val="1200"/>
              </a:spcAft>
              <a:buNone/>
            </a:pPr>
            <a:r>
              <a:rPr lang="en-GB" sz="2200" b="1" dirty="0" smtClean="0">
                <a:latin typeface="Helvetica" pitchFamily="34" charset="0"/>
              </a:rPr>
              <a:t>Types of  escalated complains</a:t>
            </a:r>
            <a:endParaRPr lang="en-AU" sz="2200" b="1" dirty="0" smtClean="0">
              <a:latin typeface="Helvetica" pitchFamily="34" charset="0"/>
            </a:endParaRPr>
          </a:p>
          <a:p>
            <a:pPr lvl="0">
              <a:spcBef>
                <a:spcPts val="600"/>
              </a:spcBef>
              <a:spcAft>
                <a:spcPts val="1200"/>
              </a:spcAft>
            </a:pPr>
            <a:r>
              <a:rPr lang="en-GB" sz="2200" dirty="0" smtClean="0">
                <a:latin typeface="Helvetica" pitchFamily="34" charset="0"/>
              </a:rPr>
              <a:t>The customer is alleging impropriety, dishonesty or other fraudulent activity on behalf of a staff member</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Customer intends taking legal action </a:t>
            </a:r>
            <a:endParaRPr lang="en-AU" sz="2200" dirty="0" smtClean="0">
              <a:latin typeface="Helvetica" pitchFamily="34" charset="0"/>
            </a:endParaRPr>
          </a:p>
          <a:p>
            <a:pPr lvl="0">
              <a:spcBef>
                <a:spcPts val="600"/>
              </a:spcBef>
              <a:spcAft>
                <a:spcPts val="1200"/>
              </a:spcAft>
            </a:pPr>
            <a:r>
              <a:rPr lang="en-GB" sz="2200" dirty="0" smtClean="0">
                <a:latin typeface="Helvetica" pitchFamily="34" charset="0"/>
              </a:rPr>
              <a:t>Customer intends referring the complaint </a:t>
            </a:r>
            <a:br>
              <a:rPr lang="en-GB" sz="2200" dirty="0" smtClean="0">
                <a:latin typeface="Helvetica" pitchFamily="34" charset="0"/>
              </a:rPr>
            </a:br>
            <a:r>
              <a:rPr lang="en-GB" sz="2200" dirty="0" smtClean="0">
                <a:latin typeface="Helvetica" pitchFamily="34" charset="0"/>
              </a:rPr>
              <a:t>to the authorities</a:t>
            </a:r>
            <a:endParaRPr lang="en-AU" sz="2200" dirty="0" smtClean="0">
              <a:latin typeface="Helvetica" pitchFamily="34" charset="0"/>
            </a:endParaRPr>
          </a:p>
          <a:p>
            <a:pPr>
              <a:spcBef>
                <a:spcPts val="600"/>
              </a:spcBef>
              <a:spcAft>
                <a:spcPts val="1200"/>
              </a:spcAft>
            </a:pPr>
            <a:r>
              <a:rPr lang="en-GB" sz="2200" dirty="0" smtClean="0">
                <a:latin typeface="Helvetica" pitchFamily="34" charset="0"/>
              </a:rPr>
              <a:t>Customer intends taking the issue to </a:t>
            </a:r>
            <a:br>
              <a:rPr lang="en-GB" sz="2200" dirty="0" smtClean="0">
                <a:latin typeface="Helvetica" pitchFamily="34" charset="0"/>
              </a:rPr>
            </a:br>
            <a:r>
              <a:rPr lang="en-GB" sz="2200" dirty="0" smtClean="0">
                <a:latin typeface="Helvetica" pitchFamily="34" charset="0"/>
              </a:rPr>
              <a:t>the media</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5" name="Picture 4" descr="MP900443367[1].JPG"/>
          <p:cNvPicPr/>
          <p:nvPr/>
        </p:nvPicPr>
        <p:blipFill>
          <a:blip r:embed="rId3" cstate="print"/>
          <a:stretch>
            <a:fillRect/>
          </a:stretch>
        </p:blipFill>
        <p:spPr>
          <a:xfrm>
            <a:off x="7092280" y="3429000"/>
            <a:ext cx="1311910" cy="1895475"/>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AU" sz="3400" b="1" dirty="0" smtClean="0">
                <a:solidFill>
                  <a:srgbClr val="FF6600"/>
                </a:solidFill>
                <a:latin typeface="Helvetica" pitchFamily="34" charset="0"/>
              </a:rPr>
              <a:t>Summary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661248"/>
          </a:xfrm>
        </p:spPr>
        <p:txBody>
          <a:bodyPr>
            <a:normAutofit/>
          </a:bodyPr>
          <a:lstStyle/>
          <a:p>
            <a:pPr marL="0">
              <a:spcBef>
                <a:spcPts val="600"/>
              </a:spcBef>
              <a:spcAft>
                <a:spcPts val="1200"/>
              </a:spcAft>
              <a:buNone/>
            </a:pPr>
            <a:r>
              <a:rPr lang="en-AU" sz="2200" dirty="0" smtClean="0">
                <a:latin typeface="Helvetica" pitchFamily="34" charset="0"/>
              </a:rPr>
              <a:t>Whilst customer complaints are often seen in a negative light, they can be an opportunity to turn an unfortunate situation into a positive learning experience. </a:t>
            </a:r>
            <a:endParaRPr lang="en-AU"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6" name="Picture 5" descr="MP900448494[1].JPG"/>
          <p:cNvPicPr/>
          <p:nvPr/>
        </p:nvPicPr>
        <p:blipFill>
          <a:blip r:embed="rId3" cstate="print"/>
          <a:stretch>
            <a:fillRect/>
          </a:stretch>
        </p:blipFill>
        <p:spPr>
          <a:xfrm>
            <a:off x="3275856" y="2852936"/>
            <a:ext cx="2209800" cy="1476375"/>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864096"/>
          </a:xfrm>
        </p:spPr>
        <p:txBody>
          <a:bodyPr>
            <a:normAutofit/>
          </a:bodyPr>
          <a:lstStyle/>
          <a:p>
            <a:pPr marL="0" lvl="0">
              <a:spcBef>
                <a:spcPts val="600"/>
              </a:spcBef>
              <a:spcAft>
                <a:spcPts val="1200"/>
              </a:spcAft>
            </a:pPr>
            <a:r>
              <a:rPr lang="en-AU" sz="3400" b="1" dirty="0" smtClean="0">
                <a:solidFill>
                  <a:srgbClr val="FF6600"/>
                </a:solidFill>
                <a:latin typeface="Helvetica" pitchFamily="34" charset="0"/>
              </a:rPr>
              <a:t>Revision and Assessments</a:t>
            </a:r>
          </a:p>
        </p:txBody>
      </p:sp>
      <p:sp>
        <p:nvSpPr>
          <p:cNvPr id="3" name="Content Placeholder 2"/>
          <p:cNvSpPr>
            <a:spLocks noGrp="1"/>
          </p:cNvSpPr>
          <p:nvPr>
            <p:ph idx="1"/>
          </p:nvPr>
        </p:nvSpPr>
        <p:spPr>
          <a:xfrm>
            <a:off x="611560" y="1340768"/>
            <a:ext cx="7467600" cy="5256584"/>
          </a:xfrm>
        </p:spPr>
        <p:txBody>
          <a:bodyPr>
            <a:normAutofit/>
          </a:bodyPr>
          <a:lstStyle/>
          <a:p>
            <a:pPr>
              <a:spcBef>
                <a:spcPts val="600"/>
              </a:spcBef>
              <a:spcAft>
                <a:spcPts val="600"/>
              </a:spcAft>
              <a:buNone/>
            </a:pPr>
            <a:r>
              <a:rPr lang="en-AU" sz="2200" dirty="0" smtClean="0">
                <a:latin typeface="Helvetica" pitchFamily="34" charset="0"/>
              </a:rPr>
              <a:t>It is now time to complete any:</a:t>
            </a:r>
          </a:p>
          <a:p>
            <a:pPr>
              <a:spcBef>
                <a:spcPts val="600"/>
              </a:spcBef>
              <a:spcAft>
                <a:spcPts val="600"/>
              </a:spcAft>
            </a:pPr>
            <a:r>
              <a:rPr lang="en-AU" sz="2200" dirty="0" smtClean="0">
                <a:latin typeface="Helvetica" pitchFamily="34" charset="0"/>
              </a:rPr>
              <a:t>Revision</a:t>
            </a:r>
          </a:p>
          <a:p>
            <a:pPr>
              <a:spcBef>
                <a:spcPts val="600"/>
              </a:spcBef>
              <a:spcAft>
                <a:spcPts val="600"/>
              </a:spcAft>
            </a:pPr>
            <a:r>
              <a:rPr lang="en-AU" sz="2200" dirty="0" smtClean="0">
                <a:latin typeface="Helvetica" pitchFamily="34" charset="0"/>
              </a:rPr>
              <a:t>Activities</a:t>
            </a:r>
          </a:p>
          <a:p>
            <a:pPr>
              <a:spcBef>
                <a:spcPts val="600"/>
              </a:spcBef>
              <a:spcAft>
                <a:spcPts val="600"/>
              </a:spcAft>
            </a:pPr>
            <a:r>
              <a:rPr lang="en-AU" sz="2200" dirty="0" smtClean="0">
                <a:latin typeface="Helvetica" pitchFamily="34" charset="0"/>
              </a:rPr>
              <a:t>Assessments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6" name="Picture 5" descr="63118519_bbcf63d198_m.jpg"/>
          <p:cNvPicPr>
            <a:picLocks noChangeAspect="1"/>
          </p:cNvPicPr>
          <p:nvPr/>
        </p:nvPicPr>
        <p:blipFill>
          <a:blip r:embed="rId3" cstate="print"/>
          <a:stretch>
            <a:fillRect/>
          </a:stretch>
        </p:blipFill>
        <p:spPr>
          <a:xfrm>
            <a:off x="6969745" y="3645024"/>
            <a:ext cx="1316123" cy="1385900"/>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Class.JPG"/>
          <p:cNvPicPr>
            <a:picLocks noGrp="1" noChangeAspect="1"/>
          </p:cNvPicPr>
          <p:nvPr>
            <p:ph type="pic" idx="1"/>
          </p:nvPr>
        </p:nvPicPr>
        <p:blipFill>
          <a:blip r:embed="rId3" cstate="print"/>
          <a:stretch>
            <a:fillRect/>
          </a:stretch>
        </p:blipFill>
        <p:spPr>
          <a:xfrm>
            <a:off x="1259632" y="1628800"/>
            <a:ext cx="3240000" cy="3240000"/>
          </a:xfrm>
        </p:spPr>
      </p:pic>
      <p:sp>
        <p:nvSpPr>
          <p:cNvPr id="3" name="Content Placeholder 2"/>
          <p:cNvSpPr>
            <a:spLocks noGrp="1"/>
          </p:cNvSpPr>
          <p:nvPr>
            <p:ph type="body" sz="half" idx="2"/>
          </p:nvPr>
        </p:nvSpPr>
        <p:spPr>
          <a:xfrm>
            <a:off x="4572000" y="2564904"/>
            <a:ext cx="3053866" cy="1294331"/>
          </a:xfrm>
        </p:spPr>
        <p:txBody>
          <a:bodyPr>
            <a:normAutofit/>
          </a:bodyPr>
          <a:lstStyle/>
          <a:p>
            <a:pPr>
              <a:buNone/>
            </a:pPr>
            <a:r>
              <a:rPr lang="en-AU" sz="3200" b="1" i="1" dirty="0" smtClean="0">
                <a:solidFill>
                  <a:srgbClr val="FF6600"/>
                </a:solidFill>
                <a:latin typeface="Helvetica" pitchFamily="34" charset="0"/>
              </a:rPr>
              <a:t>Finish:</a:t>
            </a:r>
          </a:p>
          <a:p>
            <a:pPr>
              <a:buNone/>
            </a:pPr>
            <a:r>
              <a:rPr lang="en-AU" sz="3200" b="1" i="1" dirty="0" smtClean="0">
                <a:solidFill>
                  <a:srgbClr val="FF6600"/>
                </a:solidFill>
                <a:latin typeface="Helvetica" pitchFamily="34" charset="0"/>
              </a:rPr>
              <a:t>Thank you!</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spcBef>
                <a:spcPts val="600"/>
              </a:spcBef>
              <a:spcAft>
                <a:spcPts val="600"/>
              </a:spcAft>
            </a:pPr>
            <a:endParaRPr lang="en-AU" sz="2200" dirty="0" smtClean="0">
              <a:latin typeface="Helvetica" pitchFamily="34" charset="0"/>
            </a:endParaRPr>
          </a:p>
          <a:p>
            <a:pPr>
              <a:buNone/>
            </a:pPr>
            <a:endParaRPr lang="en-AU" sz="2400" dirty="0" smtClean="0"/>
          </a:p>
          <a:p>
            <a:pPr lvl="0">
              <a:spcBef>
                <a:spcPts val="600"/>
              </a:spcBef>
              <a:spcAft>
                <a:spcPts val="1200"/>
              </a:spcAft>
            </a:pPr>
            <a:endParaRPr lang="en-AU" sz="2200" dirty="0" smtClean="0">
              <a:latin typeface="Helvetica" pitchFamily="34" charset="0"/>
            </a:endParaRPr>
          </a:p>
          <a:p>
            <a:pPr marL="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SEAN PPT Template 010611 MV">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ASEAN PPT Template 010611 MV</Template>
  <TotalTime>2444</TotalTime>
  <Words>8174</Words>
  <Application>Microsoft Office PowerPoint</Application>
  <PresentationFormat>On-screen Show (4:3)</PresentationFormat>
  <Paragraphs>1608</Paragraphs>
  <Slides>131</Slides>
  <Notes>131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131</vt:i4>
      </vt:variant>
    </vt:vector>
  </HeadingPairs>
  <TitlesOfParts>
    <vt:vector size="138" baseType="lpstr">
      <vt:lpstr>Arial</vt:lpstr>
      <vt:lpstr>Calibri</vt:lpstr>
      <vt:lpstr>Franklin Gothic Book</vt:lpstr>
      <vt:lpstr>Helvetica</vt:lpstr>
      <vt:lpstr>Wingdings</vt:lpstr>
      <vt:lpstr>Wingdings 2</vt:lpstr>
      <vt:lpstr>ASEAN PPT Template 010611 MV</vt:lpstr>
      <vt:lpstr>RECEIVE AND RESOLVE CUSTOMER COMPLAINTS</vt:lpstr>
      <vt:lpstr>Subject Elements</vt:lpstr>
      <vt:lpstr>Assessment</vt:lpstr>
      <vt:lpstr>PowerPoint Presentation</vt:lpstr>
      <vt:lpstr>Identify and analyse the complaint </vt:lpstr>
      <vt:lpstr>Complaints</vt:lpstr>
      <vt:lpstr>Complaints</vt:lpstr>
      <vt:lpstr>Complaints</vt:lpstr>
      <vt:lpstr>Customer needs, wishes and expectations </vt:lpstr>
      <vt:lpstr>Customer needs</vt:lpstr>
      <vt:lpstr>Customer needs</vt:lpstr>
      <vt:lpstr>Customer needs</vt:lpstr>
      <vt:lpstr>Customer needs</vt:lpstr>
      <vt:lpstr>Customer needs</vt:lpstr>
      <vt:lpstr>Customer needs</vt:lpstr>
      <vt:lpstr>Customer needs</vt:lpstr>
      <vt:lpstr>Customer needs</vt:lpstr>
      <vt:lpstr>Customer needs</vt:lpstr>
      <vt:lpstr>Customer needs</vt:lpstr>
      <vt:lpstr>Customer wishes</vt:lpstr>
      <vt:lpstr>Customer expectations</vt:lpstr>
      <vt:lpstr>Customer expectations</vt:lpstr>
      <vt:lpstr>Complaints</vt:lpstr>
      <vt:lpstr>Complaints</vt:lpstr>
      <vt:lpstr>Complaints</vt:lpstr>
      <vt:lpstr>Complaints</vt:lpstr>
      <vt:lpstr>Complaints</vt:lpstr>
      <vt:lpstr>Complaints</vt:lpstr>
      <vt:lpstr>Complaints</vt:lpstr>
      <vt:lpstr>Complaints</vt:lpstr>
      <vt:lpstr>Complaints</vt:lpstr>
      <vt:lpstr>Complaints</vt:lpstr>
      <vt:lpstr>Complaints</vt:lpstr>
      <vt:lpstr>Complaints</vt:lpstr>
      <vt:lpstr>Complaints</vt:lpstr>
      <vt:lpstr>Handling complaints</vt:lpstr>
      <vt:lpstr>Greeting the customer</vt:lpstr>
      <vt:lpstr>Greeting the customer</vt:lpstr>
      <vt:lpstr>Use effective communication</vt:lpstr>
      <vt:lpstr>Use effective communication</vt:lpstr>
      <vt:lpstr>Use effective communication</vt:lpstr>
      <vt:lpstr>Use effective communication</vt:lpstr>
      <vt:lpstr>Use effective communication</vt:lpstr>
      <vt:lpstr>Verbal communication</vt:lpstr>
      <vt:lpstr>Verbal communication</vt:lpstr>
      <vt:lpstr>Verbal communication</vt:lpstr>
      <vt:lpstr>Verbal communication</vt:lpstr>
      <vt:lpstr>Non verbal communication</vt:lpstr>
      <vt:lpstr>Non verbal communication</vt:lpstr>
      <vt:lpstr>Recording complaint details</vt:lpstr>
      <vt:lpstr>Recording complaint details</vt:lpstr>
      <vt:lpstr>Recording complaint details</vt:lpstr>
      <vt:lpstr>Speaking</vt:lpstr>
      <vt:lpstr>Speaking</vt:lpstr>
      <vt:lpstr>Speaking</vt:lpstr>
      <vt:lpstr>Speaking</vt:lpstr>
      <vt:lpstr>Clarify details of the complaint</vt:lpstr>
      <vt:lpstr>Clarify details of the complaint</vt:lpstr>
      <vt:lpstr>Agree on details of the complaint</vt:lpstr>
      <vt:lpstr>Handling alcohol related complaints </vt:lpstr>
      <vt:lpstr>Handling alcohol related complaints </vt:lpstr>
      <vt:lpstr>Keeping written documentation</vt:lpstr>
      <vt:lpstr>Keeping written documentation</vt:lpstr>
      <vt:lpstr>Keeping written documentation</vt:lpstr>
      <vt:lpstr>Keeping written documentation</vt:lpstr>
      <vt:lpstr>Keeping written documentation</vt:lpstr>
      <vt:lpstr>PowerPoint Presentation</vt:lpstr>
      <vt:lpstr>Respond to complaints</vt:lpstr>
      <vt:lpstr>Processing complaints</vt:lpstr>
      <vt:lpstr>Processing complaints considerations</vt:lpstr>
      <vt:lpstr>Processing complaints considerations</vt:lpstr>
      <vt:lpstr>Processing complaints considerations</vt:lpstr>
      <vt:lpstr>Processing complaints considerations</vt:lpstr>
      <vt:lpstr>Processing complaints considerations</vt:lpstr>
      <vt:lpstr>Processing complaints considerations</vt:lpstr>
      <vt:lpstr>Processing complaints considerations</vt:lpstr>
      <vt:lpstr>Processing complaints considerations</vt:lpstr>
      <vt:lpstr>Processing complaints considerations</vt:lpstr>
      <vt:lpstr>Review documents/evidence</vt:lpstr>
      <vt:lpstr>Review documents/evidence</vt:lpstr>
      <vt:lpstr>Review documents/evidence</vt:lpstr>
      <vt:lpstr>Review documents/evidence</vt:lpstr>
      <vt:lpstr>Review documents/evidence</vt:lpstr>
      <vt:lpstr>Review documents/evidence</vt:lpstr>
      <vt:lpstr>Review documents/evidence</vt:lpstr>
      <vt:lpstr>Review documents/evidence</vt:lpstr>
      <vt:lpstr>Collect documents/evidence</vt:lpstr>
      <vt:lpstr>Update register of complaints</vt:lpstr>
      <vt:lpstr>Update register of complaints</vt:lpstr>
      <vt:lpstr>PowerPoint Presentation</vt:lpstr>
      <vt:lpstr>Determine and agree upon appropriate action to resolve complaint</vt:lpstr>
      <vt:lpstr>Identify and review options to resolve the complaint</vt:lpstr>
      <vt:lpstr>Identify and review options to resolve the complaint</vt:lpstr>
      <vt:lpstr>Determining possible solutions</vt:lpstr>
      <vt:lpstr>Determining possible solutions</vt:lpstr>
      <vt:lpstr>Determining possible solutions</vt:lpstr>
      <vt:lpstr>Determining possible solutions</vt:lpstr>
      <vt:lpstr>Determining possible solutions</vt:lpstr>
      <vt:lpstr>Determining possible solutions</vt:lpstr>
      <vt:lpstr>Determining possible solutions</vt:lpstr>
      <vt:lpstr>Determining possible solutions</vt:lpstr>
      <vt:lpstr>Determining possible solutions</vt:lpstr>
      <vt:lpstr>Agree on solution</vt:lpstr>
      <vt:lpstr>Agree on solution</vt:lpstr>
      <vt:lpstr>Agree on solution</vt:lpstr>
      <vt:lpstr>Agree on solution</vt:lpstr>
      <vt:lpstr>Resolve the complaint</vt:lpstr>
      <vt:lpstr>Resolve the complaint</vt:lpstr>
      <vt:lpstr>Resolve the complaint</vt:lpstr>
      <vt:lpstr>Resolve the complaint</vt:lpstr>
      <vt:lpstr>Investigate complaint</vt:lpstr>
      <vt:lpstr>Investigate complaint</vt:lpstr>
      <vt:lpstr>Investigate complaint</vt:lpstr>
      <vt:lpstr>PowerPoint Presentation</vt:lpstr>
      <vt:lpstr>Refer complaints</vt:lpstr>
      <vt:lpstr>Identify complaints for referral</vt:lpstr>
      <vt:lpstr>Identify complaints for referral</vt:lpstr>
      <vt:lpstr>Refer complaint to appropriate person</vt:lpstr>
      <vt:lpstr>Refer complaint to appropriate person</vt:lpstr>
      <vt:lpstr>Refer complaint to appropriate person</vt:lpstr>
      <vt:lpstr>Refer complaint to appropriate person</vt:lpstr>
      <vt:lpstr>Refer complaint to appropriate person</vt:lpstr>
      <vt:lpstr>Refer complaint to appropriate person</vt:lpstr>
      <vt:lpstr>Forward documentation</vt:lpstr>
      <vt:lpstr>Forward documentation</vt:lpstr>
      <vt:lpstr>Forward documentation</vt:lpstr>
      <vt:lpstr>An escalated complaint</vt:lpstr>
      <vt:lpstr>An escalated complaint</vt:lpstr>
      <vt:lpstr>Summary</vt:lpstr>
      <vt:lpstr>Revision and Assessments</vt:lpstr>
      <vt:lpstr>PowerPoint Presentation</vt:lpstr>
    </vt:vector>
  </TitlesOfParts>
  <Company>William Angliss Institute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RECEIVE AND RESOLVE CUSTOMER COMPLAINTS</dc:title>
  <dc:creator>Administrator</dc:creator>
  <cp:lastModifiedBy>Carla Angelica Co</cp:lastModifiedBy>
  <cp:revision>139</cp:revision>
  <dcterms:created xsi:type="dcterms:W3CDTF">2012-04-11T03:37:59Z</dcterms:created>
  <dcterms:modified xsi:type="dcterms:W3CDTF">2015-04-07T07:34:44Z</dcterms:modified>
</cp:coreProperties>
</file>