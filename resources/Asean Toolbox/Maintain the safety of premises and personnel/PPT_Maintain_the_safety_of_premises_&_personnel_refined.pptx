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8"/>
  </p:notesMasterIdLst>
  <p:handoutMasterIdLst>
    <p:handoutMasterId r:id="rId179"/>
  </p:handoutMasterIdLst>
  <p:sldIdLst>
    <p:sldId id="256" r:id="rId2"/>
    <p:sldId id="257" r:id="rId3"/>
    <p:sldId id="296" r:id="rId4"/>
    <p:sldId id="258"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4" r:id="rId31"/>
    <p:sldId id="346" r:id="rId32"/>
    <p:sldId id="347" r:id="rId33"/>
    <p:sldId id="348" r:id="rId34"/>
    <p:sldId id="349" r:id="rId35"/>
    <p:sldId id="350" r:id="rId36"/>
    <p:sldId id="351" r:id="rId37"/>
    <p:sldId id="352" r:id="rId38"/>
    <p:sldId id="353" r:id="rId39"/>
    <p:sldId id="354" r:id="rId40"/>
    <p:sldId id="299" r:id="rId41"/>
    <p:sldId id="300" r:id="rId42"/>
    <p:sldId id="355" r:id="rId43"/>
    <p:sldId id="356" r:id="rId44"/>
    <p:sldId id="357" r:id="rId45"/>
    <p:sldId id="358" r:id="rId46"/>
    <p:sldId id="359" r:id="rId47"/>
    <p:sldId id="360" r:id="rId48"/>
    <p:sldId id="361" r:id="rId49"/>
    <p:sldId id="362" r:id="rId50"/>
    <p:sldId id="363" r:id="rId51"/>
    <p:sldId id="365" r:id="rId52"/>
    <p:sldId id="367" r:id="rId53"/>
    <p:sldId id="368" r:id="rId54"/>
    <p:sldId id="369" r:id="rId55"/>
    <p:sldId id="370" r:id="rId56"/>
    <p:sldId id="371" r:id="rId57"/>
    <p:sldId id="372" r:id="rId58"/>
    <p:sldId id="373" r:id="rId59"/>
    <p:sldId id="374" r:id="rId60"/>
    <p:sldId id="375" r:id="rId61"/>
    <p:sldId id="376" r:id="rId62"/>
    <p:sldId id="377" r:id="rId63"/>
    <p:sldId id="378" r:id="rId64"/>
    <p:sldId id="379" r:id="rId65"/>
    <p:sldId id="380" r:id="rId66"/>
    <p:sldId id="381" r:id="rId67"/>
    <p:sldId id="382" r:id="rId68"/>
    <p:sldId id="383" r:id="rId69"/>
    <p:sldId id="384" r:id="rId70"/>
    <p:sldId id="385" r:id="rId71"/>
    <p:sldId id="386" r:id="rId72"/>
    <p:sldId id="387" r:id="rId73"/>
    <p:sldId id="388" r:id="rId74"/>
    <p:sldId id="389" r:id="rId75"/>
    <p:sldId id="390" r:id="rId76"/>
    <p:sldId id="391" r:id="rId77"/>
    <p:sldId id="392" r:id="rId78"/>
    <p:sldId id="393" r:id="rId79"/>
    <p:sldId id="394" r:id="rId80"/>
    <p:sldId id="395" r:id="rId81"/>
    <p:sldId id="396" r:id="rId82"/>
    <p:sldId id="302" r:id="rId83"/>
    <p:sldId id="303" r:id="rId84"/>
    <p:sldId id="397" r:id="rId85"/>
    <p:sldId id="398" r:id="rId86"/>
    <p:sldId id="399" r:id="rId87"/>
    <p:sldId id="401" r:id="rId88"/>
    <p:sldId id="304" r:id="rId89"/>
    <p:sldId id="305" r:id="rId90"/>
    <p:sldId id="404" r:id="rId91"/>
    <p:sldId id="405" r:id="rId92"/>
    <p:sldId id="406" r:id="rId93"/>
    <p:sldId id="407" r:id="rId94"/>
    <p:sldId id="408" r:id="rId95"/>
    <p:sldId id="409" r:id="rId96"/>
    <p:sldId id="517" r:id="rId97"/>
    <p:sldId id="518" r:id="rId98"/>
    <p:sldId id="519" r:id="rId99"/>
    <p:sldId id="520" r:id="rId100"/>
    <p:sldId id="521" r:id="rId101"/>
    <p:sldId id="522" r:id="rId102"/>
    <p:sldId id="523" r:id="rId103"/>
    <p:sldId id="524" r:id="rId104"/>
    <p:sldId id="525" r:id="rId105"/>
    <p:sldId id="526" r:id="rId106"/>
    <p:sldId id="411" r:id="rId107"/>
    <p:sldId id="412" r:id="rId108"/>
    <p:sldId id="413" r:id="rId109"/>
    <p:sldId id="414" r:id="rId110"/>
    <p:sldId id="306" r:id="rId111"/>
    <p:sldId id="422" r:id="rId112"/>
    <p:sldId id="423" r:id="rId113"/>
    <p:sldId id="424" r:id="rId114"/>
    <p:sldId id="307" r:id="rId115"/>
    <p:sldId id="431" r:id="rId116"/>
    <p:sldId id="432" r:id="rId117"/>
    <p:sldId id="433" r:id="rId118"/>
    <p:sldId id="434" r:id="rId119"/>
    <p:sldId id="435" r:id="rId120"/>
    <p:sldId id="436" r:id="rId121"/>
    <p:sldId id="437" r:id="rId122"/>
    <p:sldId id="308" r:id="rId123"/>
    <p:sldId id="448" r:id="rId124"/>
    <p:sldId id="449" r:id="rId125"/>
    <p:sldId id="450" r:id="rId126"/>
    <p:sldId id="451" r:id="rId127"/>
    <p:sldId id="452" r:id="rId128"/>
    <p:sldId id="309" r:id="rId129"/>
    <p:sldId id="459" r:id="rId130"/>
    <p:sldId id="460" r:id="rId131"/>
    <p:sldId id="461" r:id="rId132"/>
    <p:sldId id="462" r:id="rId133"/>
    <p:sldId id="463" r:id="rId134"/>
    <p:sldId id="464" r:id="rId135"/>
    <p:sldId id="465" r:id="rId136"/>
    <p:sldId id="310" r:id="rId137"/>
    <p:sldId id="470" r:id="rId138"/>
    <p:sldId id="472" r:id="rId139"/>
    <p:sldId id="498" r:id="rId140"/>
    <p:sldId id="499" r:id="rId141"/>
    <p:sldId id="500" r:id="rId142"/>
    <p:sldId id="501" r:id="rId143"/>
    <p:sldId id="502" r:id="rId144"/>
    <p:sldId id="503" r:id="rId145"/>
    <p:sldId id="504" r:id="rId146"/>
    <p:sldId id="505" r:id="rId147"/>
    <p:sldId id="506" r:id="rId148"/>
    <p:sldId id="507" r:id="rId149"/>
    <p:sldId id="508" r:id="rId150"/>
    <p:sldId id="509" r:id="rId151"/>
    <p:sldId id="510" r:id="rId152"/>
    <p:sldId id="511" r:id="rId153"/>
    <p:sldId id="512" r:id="rId154"/>
    <p:sldId id="513" r:id="rId155"/>
    <p:sldId id="514" r:id="rId156"/>
    <p:sldId id="516" r:id="rId157"/>
    <p:sldId id="527" r:id="rId158"/>
    <p:sldId id="312" r:id="rId159"/>
    <p:sldId id="528" r:id="rId160"/>
    <p:sldId id="529" r:id="rId161"/>
    <p:sldId id="530" r:id="rId162"/>
    <p:sldId id="313" r:id="rId163"/>
    <p:sldId id="536" r:id="rId164"/>
    <p:sldId id="537" r:id="rId165"/>
    <p:sldId id="314" r:id="rId166"/>
    <p:sldId id="543" r:id="rId167"/>
    <p:sldId id="315" r:id="rId168"/>
    <p:sldId id="552" r:id="rId169"/>
    <p:sldId id="553" r:id="rId170"/>
    <p:sldId id="554" r:id="rId171"/>
    <p:sldId id="316" r:id="rId172"/>
    <p:sldId id="559" r:id="rId173"/>
    <p:sldId id="560" r:id="rId174"/>
    <p:sldId id="561" r:id="rId175"/>
    <p:sldId id="485" r:id="rId176"/>
    <p:sldId id="496" r:id="rId17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068" autoAdjust="0"/>
    <p:restoredTop sz="68030" autoAdjust="0"/>
  </p:normalViewPr>
  <p:slideViewPr>
    <p:cSldViewPr>
      <p:cViewPr>
        <p:scale>
          <a:sx n="60" d="100"/>
          <a:sy n="60" d="100"/>
        </p:scale>
        <p:origin x="-468" y="-2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handoutMaster" Target="handoutMasters/handout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1/9/2014</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3643890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1/9/2014</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126534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six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responding to alarms by asking questions such as:</a:t>
            </a:r>
          </a:p>
          <a:p>
            <a:pPr>
              <a:buFont typeface="Arial" pitchFamily="34" charset="0"/>
              <a:buChar char="•"/>
            </a:pPr>
            <a:r>
              <a:rPr lang="en-US" b="0" dirty="0" smtClean="0"/>
              <a:t> What different types of alarms do you know of?</a:t>
            </a:r>
          </a:p>
          <a:p>
            <a:pPr>
              <a:buFont typeface="Arial" pitchFamily="34" charset="0"/>
              <a:buChar char="•"/>
            </a:pPr>
            <a:r>
              <a:rPr lang="en-US" b="0" dirty="0" smtClean="0"/>
              <a:t> How might you know when an alarm has activated?</a:t>
            </a:r>
          </a:p>
          <a:p>
            <a:pPr>
              <a:buFont typeface="Arial" pitchFamily="34" charset="0"/>
              <a:buChar char="•"/>
            </a:pPr>
            <a:r>
              <a:rPr lang="en-US" b="0" dirty="0" smtClean="0"/>
              <a:t> How might you contact emergency services in the event of an emergency such as a fire or injury to a patron?</a:t>
            </a:r>
          </a:p>
          <a:p>
            <a:pPr>
              <a:buFont typeface="Arial" pitchFamily="34" charset="0"/>
              <a:buChar char="•"/>
            </a:pPr>
            <a:r>
              <a:rPr lang="en-US" b="0" dirty="0" smtClean="0"/>
              <a:t> What first response experience do you have in relation to emergencies?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importance of establishing nature and location of alarms </a:t>
            </a:r>
            <a:r>
              <a:rPr lang="en-AU" sz="1200" kern="1200" dirty="0" smtClean="0">
                <a:solidFill>
                  <a:schemeClr val="tx1"/>
                </a:solidFill>
                <a:latin typeface="+mn-lt"/>
                <a:ea typeface="+mn-ea"/>
                <a:cs typeface="+mn-cs"/>
              </a:rPr>
              <a:t>as it provides the basis for</a:t>
            </a:r>
            <a:r>
              <a:rPr lang="en-AU" noProof="0" dirty="0" smtClean="0"/>
              <a:t>:</a:t>
            </a:r>
          </a:p>
          <a:p>
            <a:pPr>
              <a:buFont typeface="Arial" pitchFamily="34" charset="0"/>
              <a:buChar char="•"/>
            </a:pPr>
            <a:r>
              <a:rPr lang="en-AU" sz="1200" kern="1200" dirty="0" smtClean="0">
                <a:solidFill>
                  <a:schemeClr val="tx1"/>
                </a:solidFill>
                <a:latin typeface="+mn-lt"/>
                <a:ea typeface="+mn-ea"/>
                <a:cs typeface="+mn-cs"/>
              </a:rPr>
              <a:t> Contacting and advising emergency services</a:t>
            </a:r>
          </a:p>
          <a:p>
            <a:pPr>
              <a:buFont typeface="Arial" pitchFamily="34" charset="0"/>
              <a:buChar char="•"/>
            </a:pPr>
            <a:r>
              <a:rPr lang="en-AU" sz="1200" kern="1200" dirty="0" smtClean="0">
                <a:solidFill>
                  <a:schemeClr val="tx1"/>
                </a:solidFill>
                <a:latin typeface="+mn-lt"/>
                <a:ea typeface="+mn-ea"/>
                <a:cs typeface="+mn-cs"/>
              </a:rPr>
              <a:t> Initiating first response action</a:t>
            </a:r>
          </a:p>
          <a:p>
            <a:pPr>
              <a:buFont typeface="Arial" pitchFamily="34" charset="0"/>
              <a:buChar char="•"/>
            </a:pPr>
            <a:r>
              <a:rPr lang="en-AU" sz="1200" kern="1200" dirty="0" smtClean="0">
                <a:solidFill>
                  <a:schemeClr val="tx1"/>
                </a:solidFill>
                <a:latin typeface="+mn-lt"/>
                <a:ea typeface="+mn-ea"/>
                <a:cs typeface="+mn-cs"/>
              </a:rPr>
              <a:t> Internal advice/notification to staff and guests</a:t>
            </a:r>
          </a:p>
          <a:p>
            <a:pPr>
              <a:buFont typeface="Arial" pitchFamily="34" charset="0"/>
              <a:buChar char="•"/>
            </a:pPr>
            <a:r>
              <a:rPr lang="en-AU" sz="1200" kern="1200" dirty="0" smtClean="0">
                <a:solidFill>
                  <a:schemeClr val="tx1"/>
                </a:solidFill>
                <a:latin typeface="+mn-lt"/>
                <a:ea typeface="+mn-ea"/>
                <a:cs typeface="+mn-cs"/>
              </a:rPr>
              <a:t> Decisions about which EMP to implement</a:t>
            </a:r>
          </a:p>
          <a:p>
            <a:pPr>
              <a:buFont typeface="Arial" pitchFamily="34" charset="0"/>
              <a:buChar char="•"/>
            </a:pPr>
            <a:r>
              <a:rPr lang="en-AU" sz="1200" kern="1200" dirty="0" smtClean="0">
                <a:solidFill>
                  <a:schemeClr val="tx1"/>
                </a:solidFill>
                <a:latin typeface="+mn-lt"/>
                <a:ea typeface="+mn-ea"/>
                <a:cs typeface="+mn-cs"/>
              </a:rPr>
              <a:t> Assessing threats posed by the incident.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when establishing the nature and location of an alarm you must obtain precise answers to two questions:</a:t>
            </a:r>
          </a:p>
          <a:p>
            <a:pPr>
              <a:buFont typeface="Arial" pitchFamily="34" charset="0"/>
              <a:buNone/>
            </a:pPr>
            <a:r>
              <a:rPr lang="en-AU" sz="1200" b="1" kern="1200" dirty="0" smtClean="0">
                <a:solidFill>
                  <a:schemeClr val="tx1"/>
                </a:solidFill>
                <a:latin typeface="+mn-lt"/>
                <a:ea typeface="+mn-ea"/>
                <a:cs typeface="+mn-cs"/>
              </a:rPr>
              <a:t>What has triggered/activated the alarm? </a:t>
            </a:r>
          </a:p>
          <a:p>
            <a:pPr>
              <a:buFont typeface="Arial" pitchFamily="34" charset="0"/>
              <a:buChar char="•"/>
            </a:pPr>
            <a:r>
              <a:rPr lang="en-AU" sz="1200" kern="1200" dirty="0" smtClean="0">
                <a:solidFill>
                  <a:schemeClr val="tx1"/>
                </a:solidFill>
                <a:latin typeface="+mn-lt"/>
                <a:ea typeface="+mn-ea"/>
                <a:cs typeface="+mn-cs"/>
              </a:rPr>
              <a:t> This will indicate the cause/nature of the emergency: </a:t>
            </a:r>
          </a:p>
          <a:p>
            <a:pPr lvl="1">
              <a:buFont typeface="Arial" pitchFamily="34" charset="0"/>
              <a:buChar char="•"/>
            </a:pPr>
            <a:r>
              <a:rPr lang="en-AU" sz="1200" kern="1200" dirty="0" smtClean="0">
                <a:solidFill>
                  <a:schemeClr val="tx1"/>
                </a:solidFill>
                <a:latin typeface="+mn-lt"/>
                <a:ea typeface="+mn-ea"/>
                <a:cs typeface="+mn-cs"/>
              </a:rPr>
              <a:t> Fire?</a:t>
            </a:r>
          </a:p>
          <a:p>
            <a:pPr lvl="1">
              <a:buFont typeface="Arial" pitchFamily="34" charset="0"/>
              <a:buChar char="•"/>
            </a:pPr>
            <a:r>
              <a:rPr lang="en-AU" sz="1200" kern="1200" dirty="0" smtClean="0">
                <a:solidFill>
                  <a:schemeClr val="tx1"/>
                </a:solidFill>
                <a:latin typeface="+mn-lt"/>
                <a:ea typeface="+mn-ea"/>
                <a:cs typeface="+mn-cs"/>
              </a:rPr>
              <a:t> Motion/intruder?</a:t>
            </a:r>
          </a:p>
          <a:p>
            <a:pPr lvl="1">
              <a:buFont typeface="Arial" pitchFamily="34" charset="0"/>
              <a:buChar char="•"/>
            </a:pPr>
            <a:r>
              <a:rPr lang="en-AU" sz="1200" kern="1200" dirty="0" smtClean="0">
                <a:solidFill>
                  <a:schemeClr val="tx1"/>
                </a:solidFill>
                <a:latin typeface="+mn-lt"/>
                <a:ea typeface="+mn-ea"/>
                <a:cs typeface="+mn-cs"/>
              </a:rPr>
              <a:t> Smoke?</a:t>
            </a:r>
          </a:p>
          <a:p>
            <a:pPr lvl="1">
              <a:buFont typeface="Arial" pitchFamily="34" charset="0"/>
              <a:buChar char="•"/>
            </a:pPr>
            <a:r>
              <a:rPr lang="en-AU" sz="1200" kern="1200" dirty="0" smtClean="0">
                <a:solidFill>
                  <a:schemeClr val="tx1"/>
                </a:solidFill>
                <a:latin typeface="+mn-lt"/>
                <a:ea typeface="+mn-ea"/>
                <a:cs typeface="+mn-cs"/>
              </a:rPr>
              <a:t> Heat?</a:t>
            </a:r>
          </a:p>
          <a:p>
            <a:pPr lvl="1">
              <a:buFont typeface="Arial" pitchFamily="34" charset="0"/>
              <a:buChar char="•"/>
            </a:pPr>
            <a:r>
              <a:rPr lang="en-AU" sz="1200" kern="1200" dirty="0" smtClean="0">
                <a:solidFill>
                  <a:schemeClr val="tx1"/>
                </a:solidFill>
                <a:latin typeface="+mn-lt"/>
                <a:ea typeface="+mn-ea"/>
                <a:cs typeface="+mn-cs"/>
              </a:rPr>
              <a:t> Water?</a:t>
            </a:r>
          </a:p>
          <a:p>
            <a:pPr lvl="1">
              <a:buFont typeface="Arial" pitchFamily="34" charset="0"/>
              <a:buChar char="•"/>
            </a:pPr>
            <a:r>
              <a:rPr lang="en-AU" sz="1200" kern="1200" dirty="0" smtClean="0">
                <a:solidFill>
                  <a:schemeClr val="tx1"/>
                </a:solidFill>
                <a:latin typeface="+mn-lt"/>
                <a:ea typeface="+mn-ea"/>
                <a:cs typeface="+mn-cs"/>
              </a:rPr>
              <a:t> Gas?</a:t>
            </a:r>
          </a:p>
          <a:p>
            <a:r>
              <a:rPr lang="en-AU" sz="1200" b="1" kern="1200" dirty="0" smtClean="0">
                <a:solidFill>
                  <a:schemeClr val="tx1"/>
                </a:solidFill>
                <a:latin typeface="+mn-lt"/>
                <a:ea typeface="+mn-ea"/>
                <a:cs typeface="+mn-cs"/>
              </a:rPr>
              <a:t>Where is the alarm indicating the emergency exists? </a:t>
            </a:r>
          </a:p>
          <a:p>
            <a:pPr>
              <a:buFont typeface="Arial" pitchFamily="34" charset="0"/>
              <a:buChar char="•"/>
            </a:pPr>
            <a:r>
              <a:rPr lang="en-AU" sz="1200" kern="1200" dirty="0" smtClean="0">
                <a:solidFill>
                  <a:schemeClr val="tx1"/>
                </a:solidFill>
                <a:latin typeface="+mn-lt"/>
                <a:ea typeface="+mn-ea"/>
                <a:cs typeface="+mn-cs"/>
              </a:rPr>
              <a:t> This gives the location for action (evacuation), investigation, first response and attendance by emergency services. You need to be able to identify (as appropriate):</a:t>
            </a:r>
          </a:p>
          <a:p>
            <a:pPr lvl="1">
              <a:buFont typeface="Arial" pitchFamily="34" charset="0"/>
              <a:buChar char="•"/>
            </a:pPr>
            <a:r>
              <a:rPr lang="en-AU" sz="1200" kern="1200" dirty="0" smtClean="0">
                <a:solidFill>
                  <a:schemeClr val="tx1"/>
                </a:solidFill>
                <a:latin typeface="+mn-lt"/>
                <a:ea typeface="+mn-ea"/>
                <a:cs typeface="+mn-cs"/>
              </a:rPr>
              <a:t> Department/s</a:t>
            </a:r>
          </a:p>
          <a:p>
            <a:pPr lvl="1">
              <a:buFont typeface="Arial" pitchFamily="34" charset="0"/>
              <a:buChar char="•"/>
            </a:pPr>
            <a:r>
              <a:rPr lang="en-AU" sz="1200" kern="1200" dirty="0" smtClean="0">
                <a:solidFill>
                  <a:schemeClr val="tx1"/>
                </a:solidFill>
                <a:latin typeface="+mn-lt"/>
                <a:ea typeface="+mn-ea"/>
                <a:cs typeface="+mn-cs"/>
              </a:rPr>
              <a:t> Floor/s</a:t>
            </a:r>
          </a:p>
          <a:p>
            <a:pPr lvl="1">
              <a:buFont typeface="Arial" pitchFamily="34" charset="0"/>
              <a:buChar char="•"/>
            </a:pPr>
            <a:r>
              <a:rPr lang="en-AU" sz="1200" kern="1200" dirty="0" smtClean="0">
                <a:solidFill>
                  <a:schemeClr val="tx1"/>
                </a:solidFill>
                <a:latin typeface="+mn-lt"/>
                <a:ea typeface="+mn-ea"/>
                <a:cs typeface="+mn-cs"/>
              </a:rPr>
              <a:t> Room/s.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need to use venue</a:t>
            </a:r>
            <a:r>
              <a:rPr lang="en-AU" baseline="0" noProof="0" dirty="0" smtClean="0"/>
              <a:t> knowledge:</a:t>
            </a:r>
          </a:p>
          <a:p>
            <a:pPr>
              <a:buFont typeface="Arial" pitchFamily="34" charset="0"/>
              <a:buChar char="•"/>
            </a:pPr>
            <a:r>
              <a:rPr lang="en-AU" sz="1200" kern="1200" dirty="0" smtClean="0">
                <a:solidFill>
                  <a:schemeClr val="tx1"/>
                </a:solidFill>
                <a:latin typeface="+mn-lt"/>
                <a:ea typeface="+mn-ea"/>
                <a:cs typeface="+mn-cs"/>
              </a:rPr>
              <a:t> Your knowledge of internal venue alarm types should assist in determining the meaning for various audible and visual alarms</a:t>
            </a:r>
          </a:p>
          <a:p>
            <a:pPr>
              <a:buFont typeface="Arial" pitchFamily="34" charset="0"/>
              <a:buChar char="•"/>
            </a:pPr>
            <a:r>
              <a:rPr lang="en-AU" sz="1200" kern="1200" dirty="0" smtClean="0">
                <a:solidFill>
                  <a:schemeClr val="tx1"/>
                </a:solidFill>
                <a:latin typeface="+mn-lt"/>
                <a:ea typeface="+mn-ea"/>
                <a:cs typeface="+mn-cs"/>
              </a:rPr>
              <a:t> For example just by listening to an alarm you should be able to tell the difference between the fire alarm and an intruder alarm</a:t>
            </a:r>
          </a:p>
          <a:p>
            <a:pPr>
              <a:buFont typeface="Arial" pitchFamily="34" charset="0"/>
              <a:buChar char="•"/>
            </a:pPr>
            <a:r>
              <a:rPr lang="en-AU" sz="1200" kern="1200" dirty="0" smtClean="0">
                <a:solidFill>
                  <a:schemeClr val="tx1"/>
                </a:solidFill>
                <a:latin typeface="+mn-lt"/>
                <a:ea typeface="+mn-ea"/>
                <a:cs typeface="+mn-cs"/>
              </a:rPr>
              <a:t> Just by looking at a flashing light or a panel light you should be able to tell whether the alarm is a smoke alarm or a gas alert.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it </a:t>
            </a:r>
            <a:r>
              <a:rPr lang="en-AU" sz="1200" kern="1200" dirty="0" smtClean="0">
                <a:solidFill>
                  <a:schemeClr val="tx1"/>
                </a:solidFill>
                <a:latin typeface="+mn-lt"/>
                <a:ea typeface="+mn-ea"/>
                <a:cs typeface="+mn-cs"/>
              </a:rPr>
              <a:t>is a standard industry requirement the fire brigade must be called whenever a fire is suspected or detected and similar arrangements apply when other alarms are activated identifying the ‘emergency services’ are:</a:t>
            </a:r>
          </a:p>
          <a:p>
            <a:pPr>
              <a:buFont typeface="Arial" pitchFamily="34" charset="0"/>
              <a:buChar char="•"/>
            </a:pPr>
            <a:r>
              <a:rPr lang="en-AU" sz="1200" kern="1200" dirty="0" smtClean="0">
                <a:solidFill>
                  <a:schemeClr val="tx1"/>
                </a:solidFill>
                <a:latin typeface="+mn-lt"/>
                <a:ea typeface="+mn-ea"/>
                <a:cs typeface="+mn-cs"/>
              </a:rPr>
              <a:t> Fire</a:t>
            </a:r>
          </a:p>
          <a:p>
            <a:pPr>
              <a:buFont typeface="Arial" pitchFamily="34" charset="0"/>
              <a:buChar char="•"/>
            </a:pPr>
            <a:r>
              <a:rPr lang="en-AU" sz="1200" kern="1200" dirty="0" smtClean="0">
                <a:solidFill>
                  <a:schemeClr val="tx1"/>
                </a:solidFill>
                <a:latin typeface="+mn-lt"/>
                <a:ea typeface="+mn-ea"/>
                <a:cs typeface="+mn-cs"/>
              </a:rPr>
              <a:t> Police</a:t>
            </a:r>
          </a:p>
          <a:p>
            <a:pPr>
              <a:buFont typeface="Arial" pitchFamily="34" charset="0"/>
              <a:buChar char="•"/>
            </a:pPr>
            <a:r>
              <a:rPr lang="en-AU" sz="1200" kern="1200" dirty="0" smtClean="0">
                <a:solidFill>
                  <a:schemeClr val="tx1"/>
                </a:solidFill>
                <a:latin typeface="+mn-lt"/>
                <a:ea typeface="+mn-ea"/>
                <a:cs typeface="+mn-cs"/>
              </a:rPr>
              <a:t> Ambulance.</a:t>
            </a:r>
          </a:p>
          <a:p>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fundamentals </a:t>
            </a:r>
            <a:r>
              <a:rPr lang="en-AU" sz="1200" kern="1200" dirty="0" smtClean="0">
                <a:solidFill>
                  <a:schemeClr val="tx1"/>
                </a:solidFill>
                <a:latin typeface="+mn-lt"/>
                <a:ea typeface="+mn-ea"/>
                <a:cs typeface="+mn-cs"/>
              </a:rPr>
              <a:t>in relation to contacting emergency services will/may relate to using options available with in the venue for emergency response – these may include:</a:t>
            </a:r>
          </a:p>
          <a:p>
            <a:pPr>
              <a:buFont typeface="Arial" pitchFamily="34" charset="0"/>
              <a:buChar char="•"/>
            </a:pPr>
            <a:r>
              <a:rPr lang="en-AU" sz="1200" kern="1200" dirty="0" smtClean="0">
                <a:solidFill>
                  <a:schemeClr val="tx1"/>
                </a:solidFill>
                <a:latin typeface="+mn-lt"/>
                <a:ea typeface="+mn-ea"/>
                <a:cs typeface="+mn-cs"/>
              </a:rPr>
              <a:t> Make telephone contact (using landline phone or cell phone) with them as required by the type of alarm – for example:</a:t>
            </a:r>
          </a:p>
          <a:p>
            <a:pPr lvl="1">
              <a:buFont typeface="Arial" pitchFamily="34" charset="0"/>
              <a:buChar char="•"/>
            </a:pPr>
            <a:r>
              <a:rPr lang="en-US" sz="1200" kern="1200" dirty="0" smtClean="0">
                <a:solidFill>
                  <a:schemeClr val="tx1"/>
                </a:solidFill>
                <a:latin typeface="+mn-lt"/>
                <a:ea typeface="+mn-ea"/>
                <a:cs typeface="+mn-cs"/>
              </a:rPr>
              <a:t> Fire alarm or smoke detector alert requires contacting the fire brigade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Intruder alarm requires contacting police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Use direct lines to authorities or security companies – some venues have dedicated lines linked directly to emergency services or a central ‘command and control’ remote site operated by an external security company</a:t>
            </a:r>
          </a:p>
          <a:p>
            <a:pPr>
              <a:buFont typeface="Arial" pitchFamily="34" charset="0"/>
              <a:buChar char="•"/>
            </a:pPr>
            <a:r>
              <a:rPr lang="en-AU" sz="1200" kern="1200" dirty="0" smtClean="0">
                <a:solidFill>
                  <a:schemeClr val="tx1"/>
                </a:solidFill>
                <a:latin typeface="+mn-lt"/>
                <a:ea typeface="+mn-ea"/>
                <a:cs typeface="+mn-cs"/>
              </a:rPr>
              <a:t> Contact management – this relates to contacting your supervisor or the Duty Manager at the time. </a:t>
            </a:r>
          </a:p>
          <a:p>
            <a:pPr>
              <a:buFont typeface="Arial" pitchFamily="34" charset="0"/>
              <a:buChar char="•"/>
            </a:pPr>
            <a:r>
              <a:rPr lang="en-AU" sz="1200" kern="1200" dirty="0" smtClean="0">
                <a:solidFill>
                  <a:schemeClr val="tx1"/>
                </a:solidFill>
                <a:latin typeface="+mn-lt"/>
                <a:ea typeface="+mn-ea"/>
                <a:cs typeface="+mn-cs"/>
              </a:rPr>
              <a:t> The protocols which have been developed in the venue will then require that designated person to automatically contact emergency services as required by:</a:t>
            </a:r>
          </a:p>
          <a:p>
            <a:pPr lvl="1">
              <a:buFont typeface="Arial" pitchFamily="34" charset="0"/>
              <a:buChar char="•"/>
            </a:pPr>
            <a:r>
              <a:rPr lang="en-US" sz="1200" kern="1200" dirty="0" smtClean="0">
                <a:solidFill>
                  <a:schemeClr val="tx1"/>
                </a:solidFill>
                <a:latin typeface="+mn-lt"/>
                <a:ea typeface="+mn-ea"/>
                <a:cs typeface="+mn-cs"/>
              </a:rPr>
              <a:t> The type/nature of the emergency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requirements of the EMP</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Activate an alarm – many of these will automatically contact/alert:</a:t>
            </a:r>
          </a:p>
          <a:p>
            <a:pPr lvl="1">
              <a:buFont typeface="Arial" pitchFamily="34" charset="0"/>
              <a:buChar char="•"/>
            </a:pPr>
            <a:r>
              <a:rPr lang="en-US" sz="1200" kern="1200" dirty="0" smtClean="0">
                <a:solidFill>
                  <a:schemeClr val="tx1"/>
                </a:solidFill>
                <a:latin typeface="+mn-lt"/>
                <a:ea typeface="+mn-ea"/>
                <a:cs typeface="+mn-cs"/>
              </a:rPr>
              <a:t> A remote site – such as a control room, monitoring room or private security company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Emergency services.</a:t>
            </a:r>
            <a:endParaRPr lang="en-AU" sz="1200" kern="1200" dirty="0" smtClean="0">
              <a:solidFill>
                <a:schemeClr val="tx1"/>
              </a:solidFill>
              <a:latin typeface="+mn-lt"/>
              <a:ea typeface="+mn-ea"/>
              <a:cs typeface="+mn-cs"/>
            </a:endParaRP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emergency services telephone</a:t>
            </a:r>
            <a:r>
              <a:rPr lang="en-AU" baseline="0" noProof="0" dirty="0" smtClean="0"/>
              <a:t> numbers stating:</a:t>
            </a:r>
          </a:p>
          <a:p>
            <a:pPr>
              <a:buFont typeface="Arial" pitchFamily="34" charset="0"/>
              <a:buChar char="•"/>
            </a:pPr>
            <a:r>
              <a:rPr lang="en-AU" sz="1200" kern="1200" dirty="0" smtClean="0">
                <a:solidFill>
                  <a:schemeClr val="tx1"/>
                </a:solidFill>
                <a:latin typeface="+mn-lt"/>
                <a:ea typeface="+mn-ea"/>
                <a:cs typeface="+mn-cs"/>
              </a:rPr>
              <a:t> It is important to know the telephone numbers for all emergency services in advance</a:t>
            </a:r>
          </a:p>
          <a:p>
            <a:pPr lvl="1">
              <a:buFont typeface="Arial" pitchFamily="34" charset="0"/>
              <a:buChar char="•"/>
            </a:pPr>
            <a:r>
              <a:rPr lang="en-AU" sz="1200" kern="1200" dirty="0" smtClean="0">
                <a:solidFill>
                  <a:schemeClr val="tx1"/>
                </a:solidFill>
                <a:latin typeface="+mn-lt"/>
                <a:ea typeface="+mn-ea"/>
                <a:cs typeface="+mn-cs"/>
              </a:rPr>
              <a:t> You do not want to waste time when an emergency has occurred looking up the number</a:t>
            </a:r>
          </a:p>
          <a:p>
            <a:pPr>
              <a:buFont typeface="Arial" pitchFamily="34" charset="0"/>
              <a:buChar char="•"/>
            </a:pPr>
            <a:r>
              <a:rPr lang="en-AU" sz="1200" kern="1200" dirty="0" smtClean="0">
                <a:solidFill>
                  <a:schemeClr val="tx1"/>
                </a:solidFill>
                <a:latin typeface="+mn-lt"/>
                <a:ea typeface="+mn-ea"/>
                <a:cs typeface="+mn-cs"/>
              </a:rPr>
              <a:t>The emergency telephone numbers for all emergency services should be:</a:t>
            </a:r>
          </a:p>
          <a:p>
            <a:pPr lvl="1">
              <a:buFont typeface="Arial" pitchFamily="34" charset="0"/>
              <a:buChar char="•"/>
            </a:pPr>
            <a:r>
              <a:rPr lang="en-AU" sz="1200" kern="1200" dirty="0" smtClean="0">
                <a:solidFill>
                  <a:schemeClr val="tx1"/>
                </a:solidFill>
                <a:latin typeface="+mn-lt"/>
                <a:ea typeface="+mn-ea"/>
                <a:cs typeface="+mn-cs"/>
              </a:rPr>
              <a:t> Posted in various locations throughout the venue – especially near telephones</a:t>
            </a:r>
          </a:p>
          <a:p>
            <a:pPr lvl="1">
              <a:buFont typeface="Arial" pitchFamily="34" charset="0"/>
              <a:buChar char="•"/>
            </a:pPr>
            <a:r>
              <a:rPr lang="en-AU" sz="1200" kern="1200" dirty="0" smtClean="0">
                <a:solidFill>
                  <a:schemeClr val="tx1"/>
                </a:solidFill>
                <a:latin typeface="+mn-lt"/>
                <a:ea typeface="+mn-ea"/>
                <a:cs typeface="+mn-cs"/>
              </a:rPr>
              <a:t> Entered into your cell phone</a:t>
            </a:r>
          </a:p>
          <a:p>
            <a:pPr lvl="1">
              <a:buFont typeface="Arial" pitchFamily="34" charset="0"/>
              <a:buChar char="•"/>
            </a:pPr>
            <a:r>
              <a:rPr lang="en-AU" sz="1200" kern="1200" dirty="0" smtClean="0">
                <a:solidFill>
                  <a:schemeClr val="tx1"/>
                </a:solidFill>
                <a:latin typeface="+mn-lt"/>
                <a:ea typeface="+mn-ea"/>
                <a:cs typeface="+mn-cs"/>
              </a:rPr>
              <a:t> Entered into speed-dialling facilities of landline telephones</a:t>
            </a:r>
          </a:p>
          <a:p>
            <a:pPr>
              <a:buFont typeface="Arial" pitchFamily="34" charset="0"/>
              <a:buChar char="•"/>
            </a:pPr>
            <a:r>
              <a:rPr lang="en-AU" sz="1200" kern="1200" dirty="0" smtClean="0">
                <a:solidFill>
                  <a:schemeClr val="tx1"/>
                </a:solidFill>
                <a:latin typeface="+mn-lt"/>
                <a:ea typeface="+mn-ea"/>
                <a:cs typeface="+mn-cs"/>
              </a:rPr>
              <a:t> Be aware your emergency services telephone numbers may be:</a:t>
            </a:r>
          </a:p>
          <a:p>
            <a:pPr lvl="1">
              <a:buFont typeface="Arial" pitchFamily="34" charset="0"/>
              <a:buChar char="•"/>
            </a:pPr>
            <a:r>
              <a:rPr lang="en-AU" sz="1200" kern="1200" dirty="0" smtClean="0">
                <a:solidFill>
                  <a:schemeClr val="tx1"/>
                </a:solidFill>
                <a:latin typeface="+mn-lt"/>
                <a:ea typeface="+mn-ea"/>
                <a:cs typeface="+mn-cs"/>
              </a:rPr>
              <a:t> A national number – which can be called form any location/town/city in the country</a:t>
            </a:r>
          </a:p>
          <a:p>
            <a:pPr lvl="1">
              <a:buFont typeface="Arial" pitchFamily="34" charset="0"/>
              <a:buChar char="•"/>
            </a:pPr>
            <a:r>
              <a:rPr lang="en-AU" sz="1200" kern="1200" dirty="0" smtClean="0">
                <a:solidFill>
                  <a:schemeClr val="tx1"/>
                </a:solidFill>
                <a:latin typeface="+mn-lt"/>
                <a:ea typeface="+mn-ea"/>
                <a:cs typeface="+mn-cs"/>
              </a:rPr>
              <a:t> A set of local numbers – giving you direct contact with the nearest emergency services facilities/stations.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when reporting an emergency students should:</a:t>
            </a:r>
          </a:p>
          <a:p>
            <a:pPr>
              <a:buFont typeface="Arial" pitchFamily="34" charset="0"/>
              <a:buChar char="•"/>
            </a:pPr>
            <a:r>
              <a:rPr lang="en-AU" sz="1200" kern="1200" dirty="0" smtClean="0">
                <a:solidFill>
                  <a:schemeClr val="tx1"/>
                </a:solidFill>
                <a:latin typeface="+mn-lt"/>
                <a:ea typeface="+mn-ea"/>
                <a:cs typeface="+mn-cs"/>
              </a:rPr>
              <a:t> Identify yourself, position (bar attendant, Duty Manager, security staff) and venue location</a:t>
            </a:r>
          </a:p>
          <a:p>
            <a:pPr>
              <a:buFont typeface="Arial" pitchFamily="34" charset="0"/>
              <a:buChar char="•"/>
            </a:pPr>
            <a:r>
              <a:rPr lang="en-AU" sz="1200" kern="1200" dirty="0" smtClean="0">
                <a:solidFill>
                  <a:schemeClr val="tx1"/>
                </a:solidFill>
                <a:latin typeface="+mn-lt"/>
                <a:ea typeface="+mn-ea"/>
                <a:cs typeface="+mn-cs"/>
              </a:rPr>
              <a:t> State you are reporting an emergency</a:t>
            </a:r>
          </a:p>
          <a:p>
            <a:pPr>
              <a:buFont typeface="Arial" pitchFamily="34" charset="0"/>
              <a:buChar char="•"/>
            </a:pPr>
            <a:r>
              <a:rPr lang="en-AU" sz="1200" kern="1200" dirty="0" smtClean="0">
                <a:solidFill>
                  <a:schemeClr val="tx1"/>
                </a:solidFill>
                <a:latin typeface="+mn-lt"/>
                <a:ea typeface="+mn-ea"/>
                <a:cs typeface="+mn-cs"/>
              </a:rPr>
              <a:t> Describe the nature of the emergency</a:t>
            </a:r>
          </a:p>
          <a:p>
            <a:pPr>
              <a:buFont typeface="Arial" pitchFamily="34" charset="0"/>
              <a:buChar char="•"/>
            </a:pPr>
            <a:r>
              <a:rPr lang="en-AU" sz="1200" kern="1200" dirty="0" smtClean="0">
                <a:solidFill>
                  <a:schemeClr val="tx1"/>
                </a:solidFill>
                <a:latin typeface="+mn-lt"/>
                <a:ea typeface="+mn-ea"/>
                <a:cs typeface="+mn-cs"/>
              </a:rPr>
              <a:t> Be guided by the operator on the other end of the phone – as to what to do and the information to provide</a:t>
            </a:r>
          </a:p>
          <a:p>
            <a:pPr>
              <a:buFont typeface="Arial" pitchFamily="34" charset="0"/>
              <a:buChar char="•"/>
            </a:pPr>
            <a:r>
              <a:rPr lang="en-AU" sz="1200" kern="1200" dirty="0" smtClean="0">
                <a:solidFill>
                  <a:schemeClr val="tx1"/>
                </a:solidFill>
                <a:latin typeface="+mn-lt"/>
                <a:ea typeface="+mn-ea"/>
                <a:cs typeface="+mn-cs"/>
              </a:rPr>
              <a:t> Give the location of the emergency within the venue – Room number, Ballroom, cleaning cupboard on 2</a:t>
            </a:r>
            <a:r>
              <a:rPr lang="en-AU" sz="1200" kern="1200" baseline="30000" dirty="0" smtClean="0">
                <a:solidFill>
                  <a:schemeClr val="tx1"/>
                </a:solidFill>
                <a:latin typeface="+mn-lt"/>
                <a:ea typeface="+mn-ea"/>
                <a:cs typeface="+mn-cs"/>
              </a:rPr>
              <a:t>nd</a:t>
            </a:r>
            <a:r>
              <a:rPr lang="en-AU" sz="1200" kern="1200" dirty="0" smtClean="0">
                <a:solidFill>
                  <a:schemeClr val="tx1"/>
                </a:solidFill>
                <a:latin typeface="+mn-lt"/>
                <a:ea typeface="+mn-ea"/>
                <a:cs typeface="+mn-cs"/>
              </a:rPr>
              <a:t> floor.</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a representative from am</a:t>
            </a:r>
            <a:r>
              <a:rPr lang="en-AU" b="0" baseline="0" noProof="0" dirty="0" smtClean="0"/>
              <a:t> emergency service to attend and:</a:t>
            </a:r>
          </a:p>
          <a:p>
            <a:pPr>
              <a:buFont typeface="Arial" pitchFamily="34" charset="0"/>
              <a:buChar char="•"/>
            </a:pPr>
            <a:r>
              <a:rPr lang="en-AU" b="0" baseline="0" noProof="0" dirty="0" smtClean="0"/>
              <a:t> Talk to students about how to make an emergency call</a:t>
            </a:r>
          </a:p>
          <a:p>
            <a:pPr>
              <a:buFont typeface="Arial" pitchFamily="34" charset="0"/>
              <a:buChar char="•"/>
            </a:pPr>
            <a:r>
              <a:rPr lang="en-AU" b="0" baseline="0" noProof="0" dirty="0" smtClean="0"/>
              <a:t> Demonstrate how to do so.</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advising how to report an emergency to emergency services using the telephone:</a:t>
            </a:r>
          </a:p>
          <a:p>
            <a:pPr>
              <a:buFont typeface="Arial" pitchFamily="34" charset="0"/>
              <a:buChar char="•"/>
            </a:pPr>
            <a:r>
              <a:rPr lang="en-AU" sz="1200" kern="1200" dirty="0" smtClean="0">
                <a:solidFill>
                  <a:schemeClr val="tx1"/>
                </a:solidFill>
                <a:latin typeface="+mn-lt"/>
                <a:ea typeface="+mn-ea"/>
                <a:cs typeface="+mn-cs"/>
              </a:rPr>
              <a:t> Identify the threat you believe is being posed</a:t>
            </a:r>
          </a:p>
          <a:p>
            <a:pPr>
              <a:buFont typeface="Arial" pitchFamily="34" charset="0"/>
              <a:buChar char="•"/>
            </a:pPr>
            <a:r>
              <a:rPr lang="en-AU" sz="1200" kern="1200" dirty="0" smtClean="0">
                <a:solidFill>
                  <a:schemeClr val="tx1"/>
                </a:solidFill>
                <a:latin typeface="+mn-lt"/>
                <a:ea typeface="+mn-ea"/>
                <a:cs typeface="+mn-cs"/>
              </a:rPr>
              <a:t> Define the numbers of people threatened/involved – people trapped; building has collapsed</a:t>
            </a:r>
          </a:p>
          <a:p>
            <a:pPr>
              <a:buFont typeface="Arial" pitchFamily="34" charset="0"/>
              <a:buChar char="•"/>
            </a:pPr>
            <a:r>
              <a:rPr lang="en-AU" sz="1200" kern="1200" dirty="0" smtClean="0">
                <a:solidFill>
                  <a:schemeClr val="tx1"/>
                </a:solidFill>
                <a:latin typeface="+mn-lt"/>
                <a:ea typeface="+mn-ea"/>
                <a:cs typeface="+mn-cs"/>
              </a:rPr>
              <a:t> Describe any local factors relevant to the emergency – power out; escaping gas; internal comms system not operational; venue very busy/crowded</a:t>
            </a:r>
          </a:p>
          <a:p>
            <a:pPr>
              <a:buFont typeface="Arial" pitchFamily="34" charset="0"/>
              <a:buChar char="•"/>
            </a:pPr>
            <a:r>
              <a:rPr lang="en-AU" sz="1200" kern="1200" dirty="0" smtClean="0">
                <a:solidFill>
                  <a:schemeClr val="tx1"/>
                </a:solidFill>
                <a:latin typeface="+mn-lt"/>
                <a:ea typeface="+mn-ea"/>
                <a:cs typeface="+mn-cs"/>
              </a:rPr>
              <a:t> Advise of best approach or entrance to use</a:t>
            </a:r>
          </a:p>
          <a:p>
            <a:pPr>
              <a:buFont typeface="Arial" pitchFamily="34" charset="0"/>
              <a:buChar char="•"/>
            </a:pPr>
            <a:r>
              <a:rPr lang="en-AU" sz="1200" kern="1200" dirty="0" smtClean="0">
                <a:solidFill>
                  <a:schemeClr val="tx1"/>
                </a:solidFill>
                <a:latin typeface="+mn-lt"/>
                <a:ea typeface="+mn-ea"/>
                <a:cs typeface="+mn-cs"/>
              </a:rPr>
              <a:t> Give your opinion regarding the action required</a:t>
            </a:r>
          </a:p>
          <a:p>
            <a:pPr>
              <a:buFont typeface="Arial" pitchFamily="34" charset="0"/>
              <a:buChar char="•"/>
            </a:pPr>
            <a:r>
              <a:rPr lang="en-AU" sz="1200" kern="1200" dirty="0" smtClean="0">
                <a:solidFill>
                  <a:schemeClr val="tx1"/>
                </a:solidFill>
                <a:latin typeface="+mn-lt"/>
                <a:ea typeface="+mn-ea"/>
                <a:cs typeface="+mn-cs"/>
              </a:rPr>
              <a:t> Never hang up until told to do so.</a:t>
            </a:r>
          </a:p>
          <a:p>
            <a:pPr>
              <a:buFont typeface="Arial" pitchFamily="34" charset="0"/>
              <a:buNone/>
            </a:pPr>
            <a:endParaRPr lang="en-AU" noProof="0" dirty="0" smtClean="0"/>
          </a:p>
          <a:p>
            <a:pPr>
              <a:buFont typeface="Arial" pitchFamily="34" charset="0"/>
              <a:buNone/>
            </a:pPr>
            <a:r>
              <a:rPr lang="en-AU" b="1" noProof="0" dirty="0" smtClean="0"/>
              <a:t>Class Activity – Role Play</a:t>
            </a:r>
          </a:p>
          <a:p>
            <a:pPr>
              <a:buFont typeface="Arial" pitchFamily="34" charset="0"/>
              <a:buNone/>
            </a:pPr>
            <a:r>
              <a:rPr lang="en-AU" b="0" noProof="0" dirty="0" smtClean="0"/>
              <a:t>Trainer develops various emergency scenarios and asks students to practice telephoning the relevant emergency service to report the incident and request attendance.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it </a:t>
            </a:r>
            <a:r>
              <a:rPr lang="en-AU" sz="1200" kern="1200" dirty="0" smtClean="0">
                <a:solidFill>
                  <a:schemeClr val="tx1"/>
                </a:solidFill>
                <a:latin typeface="+mn-lt"/>
                <a:ea typeface="+mn-ea"/>
                <a:cs typeface="+mn-cs"/>
              </a:rPr>
              <a:t>is standard practice in all venues to ensure, after emergency services have been called, someone is designated to meet those services on their arrival on-scene stating whoever does this job must:</a:t>
            </a:r>
          </a:p>
          <a:p>
            <a:pPr>
              <a:buFont typeface="Arial" pitchFamily="34" charset="0"/>
              <a:buChar char="•"/>
            </a:pPr>
            <a:r>
              <a:rPr lang="en-AU" sz="1200" kern="1200" dirty="0" smtClean="0">
                <a:solidFill>
                  <a:schemeClr val="tx1"/>
                </a:solidFill>
                <a:latin typeface="+mn-lt"/>
                <a:ea typeface="+mn-ea"/>
                <a:cs typeface="+mn-cs"/>
              </a:rPr>
              <a:t> Know where the emergency is and know all the details available about the emergency </a:t>
            </a:r>
          </a:p>
          <a:p>
            <a:pPr>
              <a:buFont typeface="Arial" pitchFamily="34" charset="0"/>
              <a:buChar char="•"/>
            </a:pPr>
            <a:r>
              <a:rPr lang="en-AU" sz="1200" kern="1200" dirty="0" smtClean="0">
                <a:solidFill>
                  <a:schemeClr val="tx1"/>
                </a:solidFill>
                <a:latin typeface="+mn-lt"/>
                <a:ea typeface="+mn-ea"/>
                <a:cs typeface="+mn-cs"/>
              </a:rPr>
              <a:t> Be able to quickly direct/lead the emergency workers to the emergency</a:t>
            </a:r>
          </a:p>
          <a:p>
            <a:pPr>
              <a:buFont typeface="Arial" pitchFamily="34" charset="0"/>
              <a:buChar char="•"/>
            </a:pPr>
            <a:r>
              <a:rPr lang="en-AU" sz="1200" kern="1200" dirty="0" smtClean="0">
                <a:solidFill>
                  <a:schemeClr val="tx1"/>
                </a:solidFill>
                <a:latin typeface="+mn-lt"/>
                <a:ea typeface="+mn-ea"/>
                <a:cs typeface="+mn-cs"/>
              </a:rPr>
              <a:t> Be able to provide information about the venue to the Officer-In-Charge, including information such as:</a:t>
            </a:r>
          </a:p>
          <a:p>
            <a:pPr lvl="1">
              <a:buFont typeface="Arial" pitchFamily="34" charset="0"/>
              <a:buChar char="•"/>
            </a:pPr>
            <a:r>
              <a:rPr lang="en-AU" sz="1200" kern="1200" dirty="0" smtClean="0">
                <a:solidFill>
                  <a:schemeClr val="tx1"/>
                </a:solidFill>
                <a:latin typeface="+mn-lt"/>
                <a:ea typeface="+mn-ea"/>
                <a:cs typeface="+mn-cs"/>
              </a:rPr>
              <a:t> Site plans</a:t>
            </a:r>
          </a:p>
          <a:p>
            <a:pPr lvl="1">
              <a:buFont typeface="Arial" pitchFamily="34" charset="0"/>
              <a:buChar char="•"/>
            </a:pPr>
            <a:r>
              <a:rPr lang="en-AU" sz="1200" kern="1200" dirty="0" smtClean="0">
                <a:solidFill>
                  <a:schemeClr val="tx1"/>
                </a:solidFill>
                <a:latin typeface="+mn-lt"/>
                <a:ea typeface="+mn-ea"/>
                <a:cs typeface="+mn-cs"/>
              </a:rPr>
              <a:t> Copy of relevant EMP</a:t>
            </a:r>
          </a:p>
          <a:p>
            <a:pPr lvl="1">
              <a:buFont typeface="Arial" pitchFamily="34" charset="0"/>
              <a:buChar char="•"/>
            </a:pPr>
            <a:r>
              <a:rPr lang="en-AU" sz="1200" kern="1200" dirty="0" smtClean="0">
                <a:solidFill>
                  <a:schemeClr val="tx1"/>
                </a:solidFill>
                <a:latin typeface="+mn-lt"/>
                <a:ea typeface="+mn-ea"/>
                <a:cs typeface="+mn-cs"/>
              </a:rPr>
              <a:t> How many people are in the building</a:t>
            </a:r>
          </a:p>
          <a:p>
            <a:pPr lvl="1">
              <a:buFont typeface="Arial" pitchFamily="34" charset="0"/>
              <a:buChar char="•"/>
            </a:pPr>
            <a:r>
              <a:rPr lang="en-AU" sz="1200" kern="1200" dirty="0" smtClean="0">
                <a:solidFill>
                  <a:schemeClr val="tx1"/>
                </a:solidFill>
                <a:latin typeface="+mn-lt"/>
                <a:ea typeface="+mn-ea"/>
                <a:cs typeface="+mn-cs"/>
              </a:rPr>
              <a:t> Where shut off valves and switches are</a:t>
            </a:r>
          </a:p>
          <a:p>
            <a:pPr lvl="1">
              <a:buFont typeface="Arial" pitchFamily="34" charset="0"/>
              <a:buChar char="•"/>
            </a:pPr>
            <a:r>
              <a:rPr lang="en-AU" sz="1200" kern="1200" dirty="0" smtClean="0">
                <a:solidFill>
                  <a:schemeClr val="tx1"/>
                </a:solidFill>
                <a:latin typeface="+mn-lt"/>
                <a:ea typeface="+mn-ea"/>
                <a:cs typeface="+mn-cs"/>
              </a:rPr>
              <a:t> What the layout of the property is</a:t>
            </a:r>
          </a:p>
          <a:p>
            <a:pPr lvl="1">
              <a:buFont typeface="Arial" pitchFamily="34" charset="0"/>
              <a:buChar char="•"/>
            </a:pPr>
            <a:r>
              <a:rPr lang="en-AU" sz="1200" kern="1200" dirty="0" smtClean="0">
                <a:solidFill>
                  <a:schemeClr val="tx1"/>
                </a:solidFill>
                <a:latin typeface="+mn-lt"/>
                <a:ea typeface="+mn-ea"/>
                <a:cs typeface="+mn-cs"/>
              </a:rPr>
              <a:t> Where potential dangers are located – such as gas tanks, petrol, flammable material</a:t>
            </a:r>
          </a:p>
          <a:p>
            <a:pPr lvl="1">
              <a:buFont typeface="Arial" pitchFamily="34" charset="0"/>
              <a:buChar char="•"/>
            </a:pPr>
            <a:r>
              <a:rPr lang="en-AU" sz="1200" kern="1200" dirty="0" smtClean="0">
                <a:solidFill>
                  <a:schemeClr val="tx1"/>
                </a:solidFill>
                <a:latin typeface="+mn-lt"/>
                <a:ea typeface="+mn-ea"/>
                <a:cs typeface="+mn-cs"/>
              </a:rPr>
              <a:t> Other factors impacting on the emergency – such as the presence/location of elderly people, children/babies, disabled people, trapped guests/workers</a:t>
            </a:r>
          </a:p>
          <a:p>
            <a:pPr lvl="0">
              <a:buFont typeface="Arial" pitchFamily="34" charset="0"/>
              <a:buChar char="•"/>
            </a:pPr>
            <a:r>
              <a:rPr lang="en-AU" sz="1200" kern="1200" dirty="0" smtClean="0">
                <a:solidFill>
                  <a:schemeClr val="tx1"/>
                </a:solidFill>
                <a:latin typeface="+mn-lt"/>
                <a:ea typeface="+mn-ea"/>
                <a:cs typeface="+mn-cs"/>
              </a:rPr>
              <a:t> Be someone in authority who is able to give orders/direction to staff</a:t>
            </a:r>
          </a:p>
          <a:p>
            <a:pPr>
              <a:buFont typeface="Arial" pitchFamily="34" charset="0"/>
              <a:buChar char="•"/>
            </a:pPr>
            <a:r>
              <a:rPr lang="en-AU" sz="1200" kern="1200" dirty="0" smtClean="0">
                <a:solidFill>
                  <a:schemeClr val="tx1"/>
                </a:solidFill>
                <a:latin typeface="+mn-lt"/>
                <a:ea typeface="+mn-ea"/>
                <a:cs typeface="+mn-cs"/>
              </a:rPr>
              <a:t> Anyone who has been allocated the role of awaiting the arrival of the emergency services </a:t>
            </a:r>
            <a:r>
              <a:rPr lang="en-AU" sz="1200" i="1" kern="1200" dirty="0" smtClean="0">
                <a:solidFill>
                  <a:schemeClr val="tx1"/>
                </a:solidFill>
                <a:latin typeface="+mn-lt"/>
                <a:ea typeface="+mn-ea"/>
                <a:cs typeface="+mn-cs"/>
              </a:rPr>
              <a:t>must</a:t>
            </a:r>
            <a:r>
              <a:rPr lang="en-AU" sz="1200" kern="1200" dirty="0" smtClean="0">
                <a:solidFill>
                  <a:schemeClr val="tx1"/>
                </a:solidFill>
                <a:latin typeface="+mn-lt"/>
                <a:ea typeface="+mn-ea"/>
                <a:cs typeface="+mn-cs"/>
              </a:rPr>
              <a:t> understand this is a very responsible position</a:t>
            </a:r>
          </a:p>
          <a:p>
            <a:pPr>
              <a:buFont typeface="Arial" pitchFamily="34" charset="0"/>
              <a:buChar char="•"/>
            </a:pPr>
            <a:r>
              <a:rPr lang="en-AU" sz="1200" kern="1200" dirty="0" smtClean="0">
                <a:solidFill>
                  <a:schemeClr val="tx1"/>
                </a:solidFill>
                <a:latin typeface="+mn-lt"/>
                <a:ea typeface="+mn-ea"/>
                <a:cs typeface="+mn-cs"/>
              </a:rPr>
              <a:t> You must not abandon this position to do something else.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where </a:t>
            </a:r>
            <a:r>
              <a:rPr lang="en-AU" sz="1200" kern="1200" dirty="0" smtClean="0">
                <a:solidFill>
                  <a:schemeClr val="tx1"/>
                </a:solidFill>
                <a:latin typeface="+mn-lt"/>
                <a:ea typeface="+mn-ea"/>
                <a:cs typeface="+mn-cs"/>
              </a:rPr>
              <a:t>possible the expected access route for emergency vehicles should also be cleared as far as possible stating this may include:</a:t>
            </a:r>
          </a:p>
          <a:p>
            <a:pPr>
              <a:buFont typeface="Arial" pitchFamily="34" charset="0"/>
              <a:buChar char="•"/>
            </a:pPr>
            <a:r>
              <a:rPr lang="en-AU" sz="1200" kern="1200" dirty="0" smtClean="0">
                <a:solidFill>
                  <a:schemeClr val="tx1"/>
                </a:solidFill>
                <a:latin typeface="+mn-lt"/>
                <a:ea typeface="+mn-ea"/>
                <a:cs typeface="+mn-cs"/>
              </a:rPr>
              <a:t> Moving establishment vehicles parked in front of the venue or in nearby parking areas</a:t>
            </a:r>
          </a:p>
          <a:p>
            <a:pPr>
              <a:buFont typeface="Arial" pitchFamily="34" charset="0"/>
              <a:buChar char="•"/>
            </a:pPr>
            <a:r>
              <a:rPr lang="en-AU" sz="1200" kern="1200" dirty="0" smtClean="0">
                <a:solidFill>
                  <a:schemeClr val="tx1"/>
                </a:solidFill>
                <a:latin typeface="+mn-lt"/>
                <a:ea typeface="+mn-ea"/>
                <a:cs typeface="+mn-cs"/>
              </a:rPr>
              <a:t> Requesting others to move their vehicles</a:t>
            </a:r>
          </a:p>
          <a:p>
            <a:pPr>
              <a:buFont typeface="Arial" pitchFamily="34" charset="0"/>
              <a:buChar char="•"/>
            </a:pPr>
            <a:r>
              <a:rPr lang="en-AU" sz="1200" kern="1200" dirty="0" smtClean="0">
                <a:solidFill>
                  <a:schemeClr val="tx1"/>
                </a:solidFill>
                <a:latin typeface="+mn-lt"/>
                <a:ea typeface="+mn-ea"/>
                <a:cs typeface="+mn-cs"/>
              </a:rPr>
              <a:t> Asking taxis to move</a:t>
            </a:r>
          </a:p>
          <a:p>
            <a:pPr>
              <a:buFont typeface="Arial" pitchFamily="34" charset="0"/>
              <a:buChar char="•"/>
            </a:pPr>
            <a:r>
              <a:rPr lang="en-AU" sz="1200" kern="1200" dirty="0" smtClean="0">
                <a:solidFill>
                  <a:schemeClr val="tx1"/>
                </a:solidFill>
                <a:latin typeface="+mn-lt"/>
                <a:ea typeface="+mn-ea"/>
                <a:cs typeface="+mn-cs"/>
              </a:rPr>
              <a:t> Unlocking gates and barriers</a:t>
            </a:r>
          </a:p>
          <a:p>
            <a:pPr>
              <a:buFont typeface="Arial" pitchFamily="34" charset="0"/>
              <a:buChar char="•"/>
            </a:pPr>
            <a:r>
              <a:rPr lang="en-AU" sz="1200" kern="1200" dirty="0" smtClean="0">
                <a:solidFill>
                  <a:schemeClr val="tx1"/>
                </a:solidFill>
                <a:latin typeface="+mn-lt"/>
                <a:ea typeface="+mn-ea"/>
                <a:cs typeface="+mn-cs"/>
              </a:rPr>
              <a:t> Preventing non-emergency vehicles from parking in the area you expect the emergency services vehicles to occupy</a:t>
            </a:r>
          </a:p>
          <a:p>
            <a:pPr>
              <a:buFont typeface="Arial" pitchFamily="34" charset="0"/>
              <a:buChar char="•"/>
            </a:pPr>
            <a:r>
              <a:rPr lang="en-AU" sz="1200" kern="1200" dirty="0" smtClean="0">
                <a:solidFill>
                  <a:schemeClr val="tx1"/>
                </a:solidFill>
                <a:latin typeface="+mn-lt"/>
                <a:ea typeface="+mn-ea"/>
                <a:cs typeface="+mn-cs"/>
              </a:rPr>
              <a:t> Clearing away tables, chairs, fixtures and fittings</a:t>
            </a:r>
          </a:p>
          <a:p>
            <a:pPr>
              <a:buFont typeface="Arial" pitchFamily="34" charset="0"/>
              <a:buChar char="•"/>
            </a:pPr>
            <a:r>
              <a:rPr lang="en-AU" sz="1200" kern="1200" dirty="0" smtClean="0">
                <a:solidFill>
                  <a:schemeClr val="tx1"/>
                </a:solidFill>
                <a:latin typeface="+mn-lt"/>
                <a:ea typeface="+mn-ea"/>
                <a:cs typeface="+mn-cs"/>
              </a:rPr>
              <a:t> Asking people to clear the area.</a:t>
            </a:r>
          </a:p>
          <a:p>
            <a:r>
              <a:rPr lang="en-AU" sz="1200" kern="1200" dirty="0" smtClean="0">
                <a:solidFill>
                  <a:schemeClr val="tx1"/>
                </a:solidFill>
                <a:latin typeface="+mn-lt"/>
                <a:ea typeface="+mn-ea"/>
                <a:cs typeface="+mn-cs"/>
              </a:rPr>
              <a:t>A properly prepared Emergency Management Plan will have factored these considerations into the allocated duties for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when </a:t>
            </a:r>
            <a:r>
              <a:rPr lang="en-AU" sz="1200" kern="1200" dirty="0" smtClean="0">
                <a:solidFill>
                  <a:schemeClr val="tx1"/>
                </a:solidFill>
                <a:latin typeface="+mn-lt"/>
                <a:ea typeface="+mn-ea"/>
                <a:cs typeface="+mn-cs"/>
              </a:rPr>
              <a:t>asked to help emergency services students should follow the following points:</a:t>
            </a:r>
          </a:p>
          <a:p>
            <a:pPr>
              <a:buFont typeface="Arial" pitchFamily="34" charset="0"/>
              <a:buChar char="•"/>
            </a:pPr>
            <a:r>
              <a:rPr lang="en-AU" sz="1200" kern="1200" dirty="0" smtClean="0">
                <a:solidFill>
                  <a:schemeClr val="tx1"/>
                </a:solidFill>
                <a:latin typeface="+mn-lt"/>
                <a:ea typeface="+mn-ea"/>
                <a:cs typeface="+mn-cs"/>
              </a:rPr>
              <a:t> Indicate immediately whether you are prepared and/or able to help – if you feel you cannot do what you have been asked to do, say so immediately</a:t>
            </a:r>
          </a:p>
          <a:p>
            <a:pPr>
              <a:buFont typeface="Arial" pitchFamily="34" charset="0"/>
              <a:buChar char="•"/>
            </a:pPr>
            <a:r>
              <a:rPr lang="en-AU" sz="1200" kern="1200" dirty="0" smtClean="0">
                <a:solidFill>
                  <a:schemeClr val="tx1"/>
                </a:solidFill>
                <a:latin typeface="+mn-lt"/>
                <a:ea typeface="+mn-ea"/>
                <a:cs typeface="+mn-cs"/>
              </a:rPr>
              <a:t> Clarify quickly (where necessary) exactly what it is you have been asked to do – so you know with certainty what is expected of you/what you are being asked to do</a:t>
            </a:r>
          </a:p>
          <a:p>
            <a:pPr>
              <a:buFont typeface="Arial" pitchFamily="34" charset="0"/>
              <a:buChar char="•"/>
            </a:pPr>
            <a:r>
              <a:rPr lang="en-AU" sz="1200" kern="1200" dirty="0" smtClean="0">
                <a:solidFill>
                  <a:schemeClr val="tx1"/>
                </a:solidFill>
                <a:latin typeface="+mn-lt"/>
                <a:ea typeface="+mn-ea"/>
                <a:cs typeface="+mn-cs"/>
              </a:rPr>
              <a:t> Do it – do not waste time thinking about it</a:t>
            </a:r>
          </a:p>
          <a:p>
            <a:pPr>
              <a:buFont typeface="Arial" pitchFamily="34" charset="0"/>
              <a:buChar char="•"/>
            </a:pPr>
            <a:r>
              <a:rPr lang="en-AU" sz="1200" kern="1200" dirty="0" smtClean="0">
                <a:solidFill>
                  <a:schemeClr val="tx1"/>
                </a:solidFill>
                <a:latin typeface="+mn-lt"/>
                <a:ea typeface="+mn-ea"/>
                <a:cs typeface="+mn-cs"/>
              </a:rPr>
              <a:t> When your assistance is no longer needed, ask if other help is required and if it is </a:t>
            </a:r>
            <a:r>
              <a:rPr lang="en-AU" sz="1200" kern="1200" dirty="0" smtClean="0">
                <a:solidFill>
                  <a:schemeClr val="tx1"/>
                </a:solidFill>
                <a:latin typeface="+mn-lt"/>
                <a:ea typeface="+mn-ea"/>
                <a:cs typeface="+mn-cs"/>
              </a:rPr>
              <a:t>not,</a:t>
            </a:r>
            <a:r>
              <a:rPr lang="en-AU" sz="1200" kern="1200" baseline="0" dirty="0" smtClean="0">
                <a:solidFill>
                  <a:schemeClr val="tx1"/>
                </a:solidFill>
                <a:latin typeface="+mn-lt"/>
                <a:ea typeface="+mn-ea"/>
                <a:cs typeface="+mn-cs"/>
              </a:rPr>
              <a:t> m</a:t>
            </a:r>
            <a:r>
              <a:rPr lang="en-AU" sz="1200" kern="1200" dirty="0" smtClean="0">
                <a:solidFill>
                  <a:schemeClr val="tx1"/>
                </a:solidFill>
                <a:latin typeface="+mn-lt"/>
                <a:ea typeface="+mn-ea"/>
                <a:cs typeface="+mn-cs"/>
              </a:rPr>
              <a:t>ove </a:t>
            </a:r>
            <a:r>
              <a:rPr lang="en-AU" sz="1200" kern="1200" dirty="0" smtClean="0">
                <a:solidFill>
                  <a:schemeClr val="tx1"/>
                </a:solidFill>
                <a:latin typeface="+mn-lt"/>
                <a:ea typeface="+mn-ea"/>
                <a:cs typeface="+mn-cs"/>
              </a:rPr>
              <a:t>out of the area – if you are not helping, you are in the way.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all</a:t>
            </a:r>
            <a:r>
              <a:rPr lang="en-AU" sz="1200" kern="1200" dirty="0" smtClean="0">
                <a:solidFill>
                  <a:schemeClr val="tx1"/>
                </a:solidFill>
                <a:latin typeface="+mn-lt"/>
                <a:ea typeface="+mn-ea"/>
                <a:cs typeface="+mn-cs"/>
              </a:rPr>
              <a:t> staff are expected to provide first response assistance in the event of an emergency explaining the Emergency Action/Management Plan will guide staff but in other circumstances they will have to make on-the-spot decisions about what needs to be done based on:</a:t>
            </a:r>
          </a:p>
          <a:p>
            <a:pPr>
              <a:buFont typeface="Arial" pitchFamily="34" charset="0"/>
              <a:buChar char="•"/>
            </a:pPr>
            <a:r>
              <a:rPr lang="en-AU" sz="1200" kern="1200" dirty="0" smtClean="0">
                <a:solidFill>
                  <a:schemeClr val="tx1"/>
                </a:solidFill>
                <a:latin typeface="+mn-lt"/>
                <a:ea typeface="+mn-ea"/>
                <a:cs typeface="+mn-cs"/>
              </a:rPr>
              <a:t> The circumstances which apply at the time</a:t>
            </a:r>
          </a:p>
          <a:p>
            <a:pPr>
              <a:buFont typeface="Arial" pitchFamily="34" charset="0"/>
              <a:buChar char="•"/>
            </a:pPr>
            <a:r>
              <a:rPr lang="en-AU" sz="1200" kern="1200" dirty="0" smtClean="0">
                <a:solidFill>
                  <a:schemeClr val="tx1"/>
                </a:solidFill>
                <a:latin typeface="+mn-lt"/>
                <a:ea typeface="+mn-ea"/>
                <a:cs typeface="+mn-cs"/>
              </a:rPr>
              <a:t> The number of people in danger</a:t>
            </a:r>
          </a:p>
          <a:p>
            <a:pPr>
              <a:buFont typeface="Arial" pitchFamily="34" charset="0"/>
              <a:buChar char="•"/>
            </a:pPr>
            <a:r>
              <a:rPr lang="en-AU" sz="1200" kern="1200" dirty="0" smtClean="0">
                <a:solidFill>
                  <a:schemeClr val="tx1"/>
                </a:solidFill>
                <a:latin typeface="+mn-lt"/>
                <a:ea typeface="+mn-ea"/>
                <a:cs typeface="+mn-cs"/>
              </a:rPr>
              <a:t> The type of threat</a:t>
            </a:r>
          </a:p>
          <a:p>
            <a:pPr>
              <a:buFont typeface="Arial" pitchFamily="34" charset="0"/>
              <a:buChar char="•"/>
            </a:pPr>
            <a:r>
              <a:rPr lang="en-AU" sz="1200" kern="1200" dirty="0" smtClean="0">
                <a:solidFill>
                  <a:schemeClr val="tx1"/>
                </a:solidFill>
                <a:latin typeface="+mn-lt"/>
                <a:ea typeface="+mn-ea"/>
                <a:cs typeface="+mn-cs"/>
              </a:rPr>
              <a:t> Assistance available</a:t>
            </a:r>
          </a:p>
          <a:p>
            <a:pPr>
              <a:buFont typeface="Arial" pitchFamily="34" charset="0"/>
              <a:buChar char="•"/>
            </a:pPr>
            <a:r>
              <a:rPr lang="en-AU" sz="1200" kern="1200" dirty="0" smtClean="0">
                <a:solidFill>
                  <a:schemeClr val="tx1"/>
                </a:solidFill>
                <a:latin typeface="+mn-lt"/>
                <a:ea typeface="+mn-ea"/>
                <a:cs typeface="+mn-cs"/>
              </a:rPr>
              <a:t> Resources/assets available.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reminds students </a:t>
            </a:r>
            <a:r>
              <a:rPr lang="en-AU" sz="1200" kern="1200" dirty="0" smtClean="0">
                <a:solidFill>
                  <a:schemeClr val="tx1"/>
                </a:solidFill>
                <a:latin typeface="+mn-lt"/>
                <a:ea typeface="+mn-ea"/>
                <a:cs typeface="+mn-cs"/>
              </a:rPr>
              <a:t>if they are ever faced with an emergency situation, three Golden Rules apply:</a:t>
            </a:r>
          </a:p>
          <a:p>
            <a:pPr>
              <a:buFont typeface="Arial" pitchFamily="34" charset="0"/>
              <a:buChar char="•"/>
            </a:pPr>
            <a:r>
              <a:rPr lang="en-AU" sz="1200" kern="1200" dirty="0" smtClean="0">
                <a:solidFill>
                  <a:schemeClr val="tx1"/>
                </a:solidFill>
                <a:latin typeface="+mn-lt"/>
                <a:ea typeface="+mn-ea"/>
                <a:cs typeface="+mn-cs"/>
              </a:rPr>
              <a:t> Never put yourself in harm’s way </a:t>
            </a:r>
          </a:p>
          <a:p>
            <a:pPr>
              <a:buFont typeface="Arial" pitchFamily="34" charset="0"/>
              <a:buChar char="•"/>
            </a:pPr>
            <a:r>
              <a:rPr lang="en-AU" sz="1200" kern="1200" dirty="0" smtClean="0">
                <a:solidFill>
                  <a:schemeClr val="tx1"/>
                </a:solidFill>
                <a:latin typeface="+mn-lt"/>
                <a:ea typeface="+mn-ea"/>
                <a:cs typeface="+mn-cs"/>
              </a:rPr>
              <a:t> Always make sure emergency services are contacted as soon as possible </a:t>
            </a:r>
          </a:p>
          <a:p>
            <a:pPr>
              <a:buFont typeface="Arial" pitchFamily="34" charset="0"/>
              <a:buChar char="•"/>
            </a:pPr>
            <a:r>
              <a:rPr lang="en-AU" sz="1200" kern="1200" dirty="0" smtClean="0">
                <a:solidFill>
                  <a:schemeClr val="tx1"/>
                </a:solidFill>
                <a:latin typeface="+mn-lt"/>
                <a:ea typeface="+mn-ea"/>
                <a:cs typeface="+mn-cs"/>
              </a:rPr>
              <a:t> Always put saving lives above saving property.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the </a:t>
            </a:r>
            <a:r>
              <a:rPr lang="en-AU" sz="1200" kern="1200" dirty="0" smtClean="0">
                <a:solidFill>
                  <a:schemeClr val="tx1"/>
                </a:solidFill>
                <a:latin typeface="+mn-lt"/>
                <a:ea typeface="+mn-ea"/>
                <a:cs typeface="+mn-cs"/>
              </a:rPr>
              <a:t>following generic requirements/responses apply for first responders:</a:t>
            </a:r>
          </a:p>
          <a:p>
            <a:pPr>
              <a:buFont typeface="Arial" pitchFamily="34" charset="0"/>
              <a:buChar char="•"/>
            </a:pPr>
            <a:r>
              <a:rPr lang="en-AU" sz="1200" kern="1200" dirty="0" smtClean="0">
                <a:solidFill>
                  <a:schemeClr val="tx1"/>
                </a:solidFill>
                <a:latin typeface="+mn-lt"/>
                <a:ea typeface="+mn-ea"/>
                <a:cs typeface="+mn-cs"/>
              </a:rPr>
              <a:t> Follow the plan for responding to the situation if one exists:</a:t>
            </a:r>
          </a:p>
          <a:p>
            <a:pPr lvl="1">
              <a:buFont typeface="Arial" pitchFamily="34" charset="0"/>
              <a:buChar char="•"/>
            </a:pPr>
            <a:r>
              <a:rPr lang="en-AU" sz="1200" kern="1200" dirty="0" smtClean="0">
                <a:solidFill>
                  <a:schemeClr val="tx1"/>
                </a:solidFill>
                <a:latin typeface="+mn-lt"/>
                <a:ea typeface="+mn-ea"/>
                <a:cs typeface="+mn-cs"/>
              </a:rPr>
              <a:t> It is a workplace reality plans cannot be prepared for every possible risk, threat or emergency</a:t>
            </a:r>
          </a:p>
          <a:p>
            <a:pPr lvl="1">
              <a:buFont typeface="Arial" pitchFamily="34" charset="0"/>
              <a:buChar char="•"/>
            </a:pPr>
            <a:r>
              <a:rPr lang="en-AU" sz="1200" kern="1200" dirty="0" smtClean="0">
                <a:solidFill>
                  <a:schemeClr val="tx1"/>
                </a:solidFill>
                <a:latin typeface="+mn-lt"/>
                <a:ea typeface="+mn-ea"/>
                <a:cs typeface="+mn-cs"/>
              </a:rPr>
              <a:t> If time allows, access a copy of the plan to use a guide/reference – this highlights the need for you to:</a:t>
            </a:r>
          </a:p>
          <a:p>
            <a:pPr lvl="2">
              <a:buFont typeface="Arial" pitchFamily="34" charset="0"/>
              <a:buChar char="•"/>
            </a:pPr>
            <a:r>
              <a:rPr lang="en-AU" sz="1200" kern="1200" dirty="0" smtClean="0">
                <a:solidFill>
                  <a:schemeClr val="tx1"/>
                </a:solidFill>
                <a:latin typeface="+mn-lt"/>
                <a:ea typeface="+mn-ea"/>
                <a:cs typeface="+mn-cs"/>
              </a:rPr>
              <a:t> Know what the plans contain</a:t>
            </a:r>
          </a:p>
          <a:p>
            <a:pPr lvl="2">
              <a:buFont typeface="Arial" pitchFamily="34" charset="0"/>
              <a:buChar char="•"/>
            </a:pPr>
            <a:r>
              <a:rPr lang="en-AU" sz="1200" kern="1200" dirty="0" smtClean="0">
                <a:solidFill>
                  <a:schemeClr val="tx1"/>
                </a:solidFill>
                <a:latin typeface="+mn-lt"/>
                <a:ea typeface="+mn-ea"/>
                <a:cs typeface="+mn-cs"/>
              </a:rPr>
              <a:t> Know where they are physically located</a:t>
            </a:r>
          </a:p>
          <a:p>
            <a:pPr>
              <a:buFont typeface="Arial" pitchFamily="34" charset="0"/>
              <a:buChar char="•"/>
            </a:pPr>
            <a:r>
              <a:rPr lang="en-AU" sz="1200" kern="1200" dirty="0" smtClean="0">
                <a:solidFill>
                  <a:schemeClr val="tx1"/>
                </a:solidFill>
                <a:latin typeface="+mn-lt"/>
                <a:ea typeface="+mn-ea"/>
                <a:cs typeface="+mn-cs"/>
              </a:rPr>
              <a:t> Respond immediately – this means:</a:t>
            </a:r>
          </a:p>
          <a:p>
            <a:pPr lvl="1">
              <a:buFont typeface="Arial" pitchFamily="34" charset="0"/>
              <a:buChar char="•"/>
            </a:pPr>
            <a:r>
              <a:rPr lang="en-AU" sz="1200" kern="1200" dirty="0" smtClean="0">
                <a:solidFill>
                  <a:schemeClr val="tx1"/>
                </a:solidFill>
                <a:latin typeface="+mn-lt"/>
                <a:ea typeface="+mn-ea"/>
                <a:cs typeface="+mn-cs"/>
              </a:rPr>
              <a:t> You must do not delay  </a:t>
            </a:r>
          </a:p>
          <a:p>
            <a:pPr lvl="1">
              <a:buFont typeface="Arial" pitchFamily="34" charset="0"/>
              <a:buChar char="•"/>
            </a:pPr>
            <a:r>
              <a:rPr lang="en-AU" sz="1200" kern="1200" dirty="0" smtClean="0">
                <a:solidFill>
                  <a:schemeClr val="tx1"/>
                </a:solidFill>
                <a:latin typeface="+mn-lt"/>
                <a:ea typeface="+mn-ea"/>
                <a:cs typeface="+mn-cs"/>
              </a:rPr>
              <a:t> Do not procrastinate </a:t>
            </a:r>
          </a:p>
          <a:p>
            <a:pPr lvl="1">
              <a:buFont typeface="Arial" pitchFamily="34" charset="0"/>
              <a:buChar char="•"/>
            </a:pPr>
            <a:r>
              <a:rPr lang="en-AU" sz="1200" kern="1200" dirty="0" smtClean="0">
                <a:solidFill>
                  <a:schemeClr val="tx1"/>
                </a:solidFill>
                <a:latin typeface="+mn-lt"/>
                <a:ea typeface="+mn-ea"/>
                <a:cs typeface="+mn-cs"/>
              </a:rPr>
              <a:t> Do not over-think the situation</a:t>
            </a:r>
          </a:p>
          <a:p>
            <a:pPr lvl="1">
              <a:buFont typeface="Arial" pitchFamily="34" charset="0"/>
              <a:buChar char="•"/>
            </a:pPr>
            <a:r>
              <a:rPr lang="en-AU" sz="1200" kern="1200" dirty="0" smtClean="0">
                <a:solidFill>
                  <a:schemeClr val="tx1"/>
                </a:solidFill>
                <a:latin typeface="+mn-lt"/>
                <a:ea typeface="+mn-ea"/>
                <a:cs typeface="+mn-cs"/>
              </a:rPr>
              <a:t> Never feel you are over-re-acting</a:t>
            </a:r>
          </a:p>
          <a:p>
            <a:pPr>
              <a:buFont typeface="Arial" pitchFamily="34" charset="0"/>
              <a:buChar char="•"/>
            </a:pPr>
            <a:r>
              <a:rPr lang="en-AU" sz="1200" kern="1200" dirty="0" smtClean="0">
                <a:solidFill>
                  <a:schemeClr val="tx1"/>
                </a:solidFill>
                <a:latin typeface="+mn-lt"/>
                <a:ea typeface="+mn-ea"/>
                <a:cs typeface="+mn-cs"/>
              </a:rPr>
              <a:t> Verify others have been notified – as already identified/described including emergency services, other staff and/or management</a:t>
            </a:r>
          </a:p>
          <a:p>
            <a:pPr>
              <a:buFont typeface="Arial" pitchFamily="34" charset="0"/>
              <a:buChar char="•"/>
            </a:pPr>
            <a:r>
              <a:rPr lang="en-AU" sz="1200" kern="1200" dirty="0" smtClean="0">
                <a:solidFill>
                  <a:schemeClr val="tx1"/>
                </a:solidFill>
                <a:latin typeface="+mn-lt"/>
                <a:ea typeface="+mn-ea"/>
                <a:cs typeface="+mn-cs"/>
              </a:rPr>
              <a:t> Stay calm and composed – your action/response is vital in establishing the attitude/response of others: they will be looking to you for leadership:</a:t>
            </a:r>
          </a:p>
          <a:p>
            <a:pPr lvl="1">
              <a:buFont typeface="Arial" pitchFamily="34" charset="0"/>
              <a:buChar char="•"/>
            </a:pPr>
            <a:r>
              <a:rPr lang="en-AU" sz="1200" kern="1200" dirty="0" smtClean="0">
                <a:solidFill>
                  <a:schemeClr val="tx1"/>
                </a:solidFill>
                <a:latin typeface="+mn-lt"/>
                <a:ea typeface="+mn-ea"/>
                <a:cs typeface="+mn-cs"/>
              </a:rPr>
              <a:t> Do not panic or cause panic</a:t>
            </a:r>
          </a:p>
          <a:p>
            <a:pPr lvl="1">
              <a:buFont typeface="Arial" pitchFamily="34" charset="0"/>
              <a:buChar char="•"/>
            </a:pPr>
            <a:r>
              <a:rPr lang="en-AU" sz="1200" kern="1200" dirty="0" smtClean="0">
                <a:solidFill>
                  <a:schemeClr val="tx1"/>
                </a:solidFill>
                <a:latin typeface="+mn-lt"/>
                <a:ea typeface="+mn-ea"/>
                <a:cs typeface="+mn-cs"/>
              </a:rPr>
              <a:t> Do not shout – speak quietly and calmly</a:t>
            </a:r>
          </a:p>
          <a:p>
            <a:pPr lvl="1">
              <a:buFont typeface="Arial" pitchFamily="34" charset="0"/>
              <a:buChar char="•"/>
            </a:pPr>
            <a:r>
              <a:rPr lang="en-AU" sz="1200" kern="1200" dirty="0" smtClean="0">
                <a:solidFill>
                  <a:schemeClr val="tx1"/>
                </a:solidFill>
                <a:latin typeface="+mn-lt"/>
                <a:ea typeface="+mn-ea"/>
                <a:cs typeface="+mn-cs"/>
              </a:rPr>
              <a:t> Do not run around</a:t>
            </a:r>
          </a:p>
          <a:p>
            <a:pPr>
              <a:buFont typeface="Arial" pitchFamily="34" charset="0"/>
              <a:buChar char="•"/>
            </a:pPr>
            <a:r>
              <a:rPr lang="en-AU" sz="1200" kern="1200" dirty="0" smtClean="0">
                <a:solidFill>
                  <a:schemeClr val="tx1"/>
                </a:solidFill>
                <a:latin typeface="+mn-lt"/>
                <a:ea typeface="+mn-ea"/>
                <a:cs typeface="+mn-cs"/>
              </a:rPr>
              <a:t> Take action to address the situation:</a:t>
            </a:r>
          </a:p>
          <a:p>
            <a:pPr lvl="1">
              <a:buFont typeface="Arial" pitchFamily="34" charset="0"/>
              <a:buChar char="•"/>
            </a:pPr>
            <a:r>
              <a:rPr lang="en-AU" sz="1200" kern="1200" dirty="0" smtClean="0">
                <a:solidFill>
                  <a:schemeClr val="tx1"/>
                </a:solidFill>
                <a:latin typeface="+mn-lt"/>
                <a:ea typeface="+mn-ea"/>
                <a:cs typeface="+mn-cs"/>
              </a:rPr>
              <a:t> Use common sense</a:t>
            </a:r>
          </a:p>
          <a:p>
            <a:pPr lvl="1">
              <a:buFont typeface="Arial" pitchFamily="34" charset="0"/>
              <a:buChar char="•"/>
            </a:pPr>
            <a:r>
              <a:rPr lang="en-AU" sz="1200" kern="1200" dirty="0" smtClean="0">
                <a:solidFill>
                  <a:schemeClr val="tx1"/>
                </a:solidFill>
                <a:latin typeface="+mn-lt"/>
                <a:ea typeface="+mn-ea"/>
                <a:cs typeface="+mn-cs"/>
              </a:rPr>
              <a:t> If safe to do so</a:t>
            </a:r>
          </a:p>
          <a:p>
            <a:pPr lvl="1">
              <a:buFont typeface="Arial" pitchFamily="34" charset="0"/>
              <a:buChar char="•"/>
            </a:pPr>
            <a:r>
              <a:rPr lang="en-AU" sz="1200" kern="1200" dirty="0" smtClean="0">
                <a:solidFill>
                  <a:schemeClr val="tx1"/>
                </a:solidFill>
                <a:latin typeface="+mn-lt"/>
                <a:ea typeface="+mn-ea"/>
                <a:cs typeface="+mn-cs"/>
              </a:rPr>
              <a:t> As prescribed by the relevant plan</a:t>
            </a:r>
          </a:p>
          <a:p>
            <a:pPr lvl="1">
              <a:buFont typeface="Arial" pitchFamily="34" charset="0"/>
              <a:buChar char="•"/>
            </a:pPr>
            <a:r>
              <a:rPr lang="en-AU" sz="1200" kern="1200" dirty="0" smtClean="0">
                <a:solidFill>
                  <a:schemeClr val="tx1"/>
                </a:solidFill>
                <a:latin typeface="+mn-lt"/>
                <a:ea typeface="+mn-ea"/>
                <a:cs typeface="+mn-cs"/>
              </a:rPr>
              <a:t> See following slides</a:t>
            </a:r>
          </a:p>
          <a:p>
            <a:pPr>
              <a:buFont typeface="Arial" pitchFamily="34" charset="0"/>
              <a:buChar char="•"/>
            </a:pPr>
            <a:r>
              <a:rPr lang="en-AU" sz="1200" kern="1200" dirty="0" smtClean="0">
                <a:solidFill>
                  <a:schemeClr val="tx1"/>
                </a:solidFill>
                <a:latin typeface="+mn-lt"/>
                <a:ea typeface="+mn-ea"/>
                <a:cs typeface="+mn-cs"/>
              </a:rPr>
              <a:t> Continue to monitor the situation – and provide up-dates to the ‘command centre’ or relevant person/warden/manager.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indicating examples of possible action to  take as a first responder</a:t>
            </a:r>
            <a:r>
              <a:rPr lang="en-AU" sz="1200" kern="1200" dirty="0" smtClean="0">
                <a:solidFill>
                  <a:schemeClr val="tx1"/>
                </a:solidFill>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Closing doors and windows, turning of air conditioning</a:t>
            </a:r>
          </a:p>
          <a:p>
            <a:pPr>
              <a:buFont typeface="Arial" pitchFamily="34" charset="0"/>
              <a:buChar char="•"/>
            </a:pPr>
            <a:r>
              <a:rPr lang="en-AU" sz="1200" kern="1200" dirty="0" smtClean="0">
                <a:solidFill>
                  <a:schemeClr val="tx1"/>
                </a:solidFill>
                <a:latin typeface="+mn-lt"/>
                <a:ea typeface="+mn-ea"/>
                <a:cs typeface="+mn-cs"/>
              </a:rPr>
              <a:t> Fighting the fire</a:t>
            </a:r>
          </a:p>
          <a:p>
            <a:pPr>
              <a:buFont typeface="Arial" pitchFamily="34" charset="0"/>
              <a:buChar char="•"/>
            </a:pPr>
            <a:r>
              <a:rPr lang="en-AU" sz="1200" kern="1200" dirty="0" smtClean="0">
                <a:solidFill>
                  <a:schemeClr val="tx1"/>
                </a:solidFill>
                <a:latin typeface="+mn-lt"/>
                <a:ea typeface="+mn-ea"/>
                <a:cs typeface="+mn-cs"/>
              </a:rPr>
              <a:t> Knocking on doors/alerting room occupants</a:t>
            </a:r>
          </a:p>
          <a:p>
            <a:pPr>
              <a:buFont typeface="Arial" pitchFamily="34" charset="0"/>
              <a:buChar char="•"/>
            </a:pPr>
            <a:r>
              <a:rPr lang="en-AU" sz="1200" kern="1200" dirty="0" smtClean="0">
                <a:solidFill>
                  <a:schemeClr val="tx1"/>
                </a:solidFill>
                <a:latin typeface="+mn-lt"/>
                <a:ea typeface="+mn-ea"/>
                <a:cs typeface="+mn-cs"/>
              </a:rPr>
              <a:t> Providing basic first aid</a:t>
            </a:r>
          </a:p>
          <a:p>
            <a:pPr>
              <a:buFont typeface="Arial" pitchFamily="34" charset="0"/>
              <a:buChar char="•"/>
            </a:pPr>
            <a:r>
              <a:rPr lang="en-AU" sz="1200" kern="1200" dirty="0" smtClean="0">
                <a:solidFill>
                  <a:schemeClr val="tx1"/>
                </a:solidFill>
                <a:latin typeface="+mn-lt"/>
                <a:ea typeface="+mn-ea"/>
                <a:cs typeface="+mn-cs"/>
              </a:rPr>
              <a:t> Moving people/removing people form danger/the threat.</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indicating examples of possible action to  take as a first responder</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Taking common sense action to limit damage</a:t>
            </a:r>
          </a:p>
          <a:p>
            <a:pPr>
              <a:buFont typeface="Arial" pitchFamily="34" charset="0"/>
              <a:buChar char="•"/>
            </a:pPr>
            <a:r>
              <a:rPr lang="en-AU" sz="1200" kern="1200" dirty="0" smtClean="0">
                <a:solidFill>
                  <a:schemeClr val="tx1"/>
                </a:solidFill>
                <a:latin typeface="+mn-lt"/>
                <a:ea typeface="+mn-ea"/>
                <a:cs typeface="+mn-cs"/>
              </a:rPr>
              <a:t> Shutting off supply valves and taps – for gas</a:t>
            </a:r>
          </a:p>
          <a:p>
            <a:pPr>
              <a:buFont typeface="Arial" pitchFamily="34" charset="0"/>
              <a:buChar char="•"/>
            </a:pPr>
            <a:r>
              <a:rPr lang="en-AU" sz="1200" kern="1200" dirty="0" smtClean="0">
                <a:solidFill>
                  <a:schemeClr val="tx1"/>
                </a:solidFill>
                <a:latin typeface="+mn-lt"/>
                <a:ea typeface="+mn-ea"/>
                <a:cs typeface="+mn-cs"/>
              </a:rPr>
              <a:t> Close/lock doors and windows – to stop air flow to fires and to prevent access</a:t>
            </a:r>
          </a:p>
          <a:p>
            <a:pPr>
              <a:buFont typeface="Arial" pitchFamily="34" charset="0"/>
              <a:buChar char="•"/>
            </a:pPr>
            <a:r>
              <a:rPr lang="en-AU" sz="1200" kern="1200" dirty="0" smtClean="0">
                <a:solidFill>
                  <a:schemeClr val="tx1"/>
                </a:solidFill>
                <a:latin typeface="+mn-lt"/>
                <a:ea typeface="+mn-ea"/>
                <a:cs typeface="+mn-cs"/>
              </a:rPr>
              <a:t> Open doors and windows – to help disperse gas/fumes and to enable access by emergency services (as appropriate).</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Visit</a:t>
            </a:r>
          </a:p>
          <a:p>
            <a:r>
              <a:rPr lang="en-AU" sz="1200" b="0" kern="1200" dirty="0" smtClean="0">
                <a:solidFill>
                  <a:schemeClr val="tx1"/>
                </a:solidFill>
                <a:latin typeface="+mn-lt"/>
                <a:ea typeface="+mn-ea"/>
                <a:cs typeface="+mn-cs"/>
              </a:rPr>
              <a:t>Trainer takes students to shut off valves in the training building and:</a:t>
            </a:r>
          </a:p>
          <a:p>
            <a:pPr>
              <a:buFont typeface="Arial" pitchFamily="34" charset="0"/>
              <a:buChar char="•"/>
            </a:pPr>
            <a:r>
              <a:rPr lang="en-AU" sz="1200" b="0" kern="1200" dirty="0" smtClean="0">
                <a:solidFill>
                  <a:schemeClr val="tx1"/>
                </a:solidFill>
                <a:latin typeface="+mn-lt"/>
                <a:ea typeface="+mn-ea"/>
                <a:cs typeface="+mn-cs"/>
              </a:rPr>
              <a:t> Explains where they may be located in other buildings</a:t>
            </a:r>
          </a:p>
          <a:p>
            <a:pPr>
              <a:buFont typeface="Arial" pitchFamily="34" charset="0"/>
              <a:buChar char="•"/>
            </a:pPr>
            <a:r>
              <a:rPr lang="en-AU" sz="1200" b="0" kern="1200" dirty="0" smtClean="0">
                <a:solidFill>
                  <a:schemeClr val="tx1"/>
                </a:solidFill>
                <a:latin typeface="+mn-lt"/>
                <a:ea typeface="+mn-ea"/>
                <a:cs typeface="+mn-cs"/>
              </a:rPr>
              <a:t> Explains how to identify where they are</a:t>
            </a:r>
          </a:p>
          <a:p>
            <a:pPr>
              <a:buFont typeface="Arial" pitchFamily="34" charset="0"/>
              <a:buChar char="•"/>
            </a:pPr>
            <a:r>
              <a:rPr lang="en-AU" sz="1200" b="0" kern="1200" dirty="0" smtClean="0">
                <a:solidFill>
                  <a:schemeClr val="tx1"/>
                </a:solidFill>
                <a:latin typeface="+mn-lt"/>
                <a:ea typeface="+mn-ea"/>
                <a:cs typeface="+mn-cs"/>
              </a:rPr>
              <a:t> Explains how to close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discussing fire-fighting equipment advising students must:</a:t>
            </a:r>
          </a:p>
          <a:p>
            <a:pPr>
              <a:buFont typeface="Arial" pitchFamily="34" charset="0"/>
              <a:buChar char="•"/>
            </a:pPr>
            <a:r>
              <a:rPr lang="en-AU" sz="1200" b="0" kern="1200" dirty="0" smtClean="0">
                <a:solidFill>
                  <a:schemeClr val="tx1"/>
                </a:solidFill>
                <a:latin typeface="+mn-lt"/>
                <a:ea typeface="+mn-ea"/>
                <a:cs typeface="+mn-cs"/>
              </a:rPr>
              <a:t> Obtain in-house training before using </a:t>
            </a:r>
            <a:r>
              <a:rPr lang="en-AU" sz="1200" b="1" kern="1200" dirty="0" smtClean="0">
                <a:solidFill>
                  <a:schemeClr val="tx1"/>
                </a:solidFill>
                <a:latin typeface="+mn-lt"/>
                <a:ea typeface="+mn-ea"/>
                <a:cs typeface="+mn-cs"/>
              </a:rPr>
              <a:t>ANY</a:t>
            </a:r>
            <a:r>
              <a:rPr lang="en-AU" sz="1200" b="0" kern="1200" dirty="0" smtClean="0">
                <a:solidFill>
                  <a:schemeClr val="tx1"/>
                </a:solidFill>
                <a:latin typeface="+mn-lt"/>
                <a:ea typeface="+mn-ea"/>
                <a:cs typeface="+mn-cs"/>
              </a:rPr>
              <a:t> fire fighting equipment</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Make sure they:</a:t>
            </a:r>
          </a:p>
          <a:p>
            <a:pPr lvl="1">
              <a:buFont typeface="Arial" pitchFamily="34" charset="0"/>
              <a:buChar char="•"/>
            </a:pPr>
            <a:r>
              <a:rPr lang="en-AU" sz="1200" kern="1200" dirty="0" smtClean="0">
                <a:solidFill>
                  <a:schemeClr val="tx1"/>
                </a:solidFill>
                <a:latin typeface="+mn-lt"/>
                <a:ea typeface="+mn-ea"/>
                <a:cs typeface="+mn-cs"/>
              </a:rPr>
              <a:t> Know how to differentiate between the different types of portable fire extinguishers – CO</a:t>
            </a:r>
            <a:r>
              <a:rPr lang="en-AU" sz="1200" kern="1200" baseline="-25000" dirty="0" smtClean="0">
                <a:solidFill>
                  <a:schemeClr val="tx1"/>
                </a:solidFill>
                <a:latin typeface="+mn-lt"/>
                <a:ea typeface="+mn-ea"/>
                <a:cs typeface="+mn-cs"/>
              </a:rPr>
              <a:t>2</a:t>
            </a:r>
            <a:r>
              <a:rPr lang="en-AU" sz="1200" kern="1200" dirty="0" smtClean="0">
                <a:solidFill>
                  <a:schemeClr val="tx1"/>
                </a:solidFill>
                <a:latin typeface="+mn-lt"/>
                <a:ea typeface="+mn-ea"/>
                <a:cs typeface="+mn-cs"/>
              </a:rPr>
              <a:t>, dry chemical, water: their different colours is the quickest way to tell them apart</a:t>
            </a:r>
          </a:p>
          <a:p>
            <a:pPr lvl="1">
              <a:buFont typeface="Arial" pitchFamily="34" charset="0"/>
              <a:buChar char="•"/>
            </a:pPr>
            <a:r>
              <a:rPr lang="en-AU" sz="1200" kern="1200" dirty="0" smtClean="0">
                <a:solidFill>
                  <a:schemeClr val="tx1"/>
                </a:solidFill>
                <a:latin typeface="+mn-lt"/>
                <a:ea typeface="+mn-ea"/>
                <a:cs typeface="+mn-cs"/>
              </a:rPr>
              <a:t> Know what extinguishers can be used on what types of fires – never use water extinguishers or hoses on oil, fat or electrical fires</a:t>
            </a:r>
          </a:p>
          <a:p>
            <a:pPr lvl="1">
              <a:buFont typeface="Arial" pitchFamily="34" charset="0"/>
              <a:buChar char="•"/>
            </a:pPr>
            <a:r>
              <a:rPr lang="en-AU" sz="1200" kern="1200" dirty="0" smtClean="0">
                <a:solidFill>
                  <a:schemeClr val="tx1"/>
                </a:solidFill>
                <a:latin typeface="+mn-lt"/>
                <a:ea typeface="+mn-ea"/>
                <a:cs typeface="+mn-cs"/>
              </a:rPr>
              <a:t> Know how to operate the extinguishers effectively</a:t>
            </a:r>
          </a:p>
          <a:p>
            <a:pPr lvl="1">
              <a:buFont typeface="Arial" pitchFamily="34" charset="0"/>
              <a:buChar char="•"/>
            </a:pPr>
            <a:r>
              <a:rPr lang="en-AU" sz="1200" kern="1200" dirty="0" smtClean="0">
                <a:solidFill>
                  <a:schemeClr val="tx1"/>
                </a:solidFill>
                <a:latin typeface="+mn-lt"/>
                <a:ea typeface="+mn-ea"/>
                <a:cs typeface="+mn-cs"/>
              </a:rPr>
              <a:t> Know where the fire hoses are and how to operate them</a:t>
            </a:r>
          </a:p>
          <a:p>
            <a:pPr lvl="1">
              <a:buFont typeface="Arial" pitchFamily="34" charset="0"/>
              <a:buChar char="•"/>
            </a:pPr>
            <a:r>
              <a:rPr lang="en-AU" sz="1200" kern="1200" dirty="0" smtClean="0">
                <a:solidFill>
                  <a:schemeClr val="tx1"/>
                </a:solidFill>
                <a:latin typeface="+mn-lt"/>
                <a:ea typeface="+mn-ea"/>
                <a:cs typeface="+mn-cs"/>
              </a:rPr>
              <a:t> Know where sand buckets are located</a:t>
            </a:r>
          </a:p>
          <a:p>
            <a:pPr lvl="1">
              <a:buFont typeface="Arial" pitchFamily="34" charset="0"/>
              <a:buChar char="•"/>
            </a:pPr>
            <a:r>
              <a:rPr lang="en-AU" sz="1200" kern="1200" dirty="0" smtClean="0">
                <a:solidFill>
                  <a:schemeClr val="tx1"/>
                </a:solidFill>
                <a:latin typeface="+mn-lt"/>
                <a:ea typeface="+mn-ea"/>
                <a:cs typeface="+mn-cs"/>
              </a:rPr>
              <a:t> Know where the fire blankets are and how to use them.</a:t>
            </a:r>
          </a:p>
          <a:p>
            <a:pPr>
              <a:buFont typeface="Arial" pitchFamily="34" charset="0"/>
              <a:buNone/>
            </a:pPr>
            <a:endParaRPr lang="en-AU" noProof="0" dirty="0" smtClean="0"/>
          </a:p>
          <a:p>
            <a:pPr>
              <a:buFont typeface="Arial" pitchFamily="34" charset="0"/>
              <a:buNone/>
            </a:pPr>
            <a:r>
              <a:rPr lang="en-AU" b="1" noProof="0" dirty="0" smtClean="0"/>
              <a:t>Class Activity – Guest Speaker and Demonstration</a:t>
            </a:r>
          </a:p>
          <a:p>
            <a:pPr>
              <a:buFont typeface="Arial" pitchFamily="34" charset="0"/>
              <a:buNone/>
            </a:pPr>
            <a:r>
              <a:rPr lang="en-AU" b="0" noProof="0" dirty="0" smtClean="0"/>
              <a:t>Trainer arranges for local fire brigade to attend and:</a:t>
            </a:r>
          </a:p>
          <a:p>
            <a:pPr>
              <a:buFont typeface="Arial" pitchFamily="34" charset="0"/>
              <a:buChar char="•"/>
            </a:pPr>
            <a:r>
              <a:rPr lang="en-AU" b="0" noProof="0" dirty="0" smtClean="0"/>
              <a:t> Talk to trainees about fire fighting</a:t>
            </a:r>
          </a:p>
          <a:p>
            <a:pPr>
              <a:buFont typeface="Arial" pitchFamily="34" charset="0"/>
              <a:buChar char="•"/>
            </a:pPr>
            <a:r>
              <a:rPr lang="en-AU" b="0" noProof="0" dirty="0" smtClean="0"/>
              <a:t> Advise them how to summon emergency assistance</a:t>
            </a:r>
          </a:p>
          <a:p>
            <a:pPr>
              <a:buFont typeface="Arial" pitchFamily="34" charset="0"/>
              <a:buChar char="•"/>
            </a:pPr>
            <a:r>
              <a:rPr lang="en-AU" b="0" noProof="0" dirty="0" smtClean="0"/>
              <a:t> Demonstrate how to use fire fighting equipment as listed</a:t>
            </a:r>
          </a:p>
          <a:p>
            <a:pPr>
              <a:buFont typeface="Arial" pitchFamily="34" charset="0"/>
              <a:buChar char="•"/>
            </a:pPr>
            <a:r>
              <a:rPr lang="en-AU" b="0" noProof="0" dirty="0" smtClean="0"/>
              <a:t> Provide supervised practice for students in use of listed items.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fire fighting equipment identifying:</a:t>
            </a:r>
          </a:p>
          <a:p>
            <a:pPr>
              <a:buFont typeface="Arial" pitchFamily="34" charset="0"/>
              <a:buChar char="•"/>
            </a:pPr>
            <a:r>
              <a:rPr lang="en-AU" sz="1200" kern="1200" dirty="0" smtClean="0">
                <a:solidFill>
                  <a:schemeClr val="tx1"/>
                </a:solidFill>
                <a:latin typeface="+mn-lt"/>
                <a:ea typeface="+mn-ea"/>
                <a:cs typeface="+mn-cs"/>
              </a:rPr>
              <a:t> Water extinguishers – suitable for use on ordinary combustible materials but not safe for use on electrical fires or cooking oil/fat fires.</a:t>
            </a:r>
          </a:p>
          <a:p>
            <a:pPr lvl="1">
              <a:buFont typeface="Arial" pitchFamily="34" charset="0"/>
              <a:buChar char="•"/>
            </a:pPr>
            <a:r>
              <a:rPr lang="en-AU" sz="1200" kern="1200" dirty="0" smtClean="0">
                <a:solidFill>
                  <a:schemeClr val="tx1"/>
                </a:solidFill>
                <a:latin typeface="+mn-lt"/>
                <a:ea typeface="+mn-ea"/>
                <a:cs typeface="+mn-cs"/>
              </a:rPr>
              <a:t> They are ineffective on flammable and combustible liquid fires.</a:t>
            </a:r>
          </a:p>
          <a:p>
            <a:pPr>
              <a:buFont typeface="Arial" pitchFamily="34" charset="0"/>
              <a:buChar char="•"/>
            </a:pPr>
            <a:r>
              <a:rPr lang="en-AU" sz="1200" kern="1200" dirty="0" smtClean="0">
                <a:solidFill>
                  <a:schemeClr val="tx1"/>
                </a:solidFill>
                <a:latin typeface="+mn-lt"/>
                <a:ea typeface="+mn-ea"/>
                <a:cs typeface="+mn-cs"/>
              </a:rPr>
              <a:t> Foam extinguishers – dangerous if used on electrical fires.</a:t>
            </a:r>
          </a:p>
          <a:p>
            <a:pPr lvl="1">
              <a:buFont typeface="Arial" pitchFamily="34" charset="0"/>
              <a:buChar char="•"/>
            </a:pPr>
            <a:r>
              <a:rPr lang="en-AU" sz="1200" kern="1200" dirty="0" smtClean="0">
                <a:solidFill>
                  <a:schemeClr val="tx1"/>
                </a:solidFill>
                <a:latin typeface="+mn-lt"/>
                <a:ea typeface="+mn-ea"/>
                <a:cs typeface="+mn-cs"/>
              </a:rPr>
              <a:t> They are suitable for ordinary combustibles and for fires featuring flammable and combustible liquids.</a:t>
            </a:r>
          </a:p>
          <a:p>
            <a:pPr>
              <a:buFont typeface="Arial" pitchFamily="34" charset="0"/>
              <a:buChar char="•"/>
            </a:pPr>
            <a:r>
              <a:rPr lang="en-AU" sz="1200" kern="1200" dirty="0" smtClean="0">
                <a:solidFill>
                  <a:schemeClr val="tx1"/>
                </a:solidFill>
                <a:latin typeface="+mn-lt"/>
                <a:ea typeface="+mn-ea"/>
                <a:cs typeface="+mn-cs"/>
              </a:rPr>
              <a:t> Powder extinguishers – can be used on ordinary combustibles, fires featuring flammable and combustible liquids and electrical fires.</a:t>
            </a:r>
          </a:p>
          <a:p>
            <a:pPr>
              <a:buFont typeface="Arial" pitchFamily="34" charset="0"/>
              <a:buChar char="•"/>
            </a:pPr>
            <a:r>
              <a:rPr lang="en-AU" sz="1200" kern="1200" dirty="0" smtClean="0">
                <a:solidFill>
                  <a:schemeClr val="tx1"/>
                </a:solidFill>
                <a:latin typeface="+mn-lt"/>
                <a:ea typeface="+mn-ea"/>
                <a:cs typeface="+mn-cs"/>
              </a:rPr>
              <a:t> Carbon dioxide extinguishers are best for electrical fires – they have limited effectiveness on fires featuring flammable and combustible liquids, and cooking oil/fat fires.</a:t>
            </a:r>
          </a:p>
          <a:p>
            <a:pPr>
              <a:buFont typeface="Arial" pitchFamily="34" charset="0"/>
              <a:buChar char="•"/>
            </a:pPr>
            <a:r>
              <a:rPr lang="en-AU" sz="1200" kern="1200" dirty="0" smtClean="0">
                <a:solidFill>
                  <a:schemeClr val="tx1"/>
                </a:solidFill>
                <a:latin typeface="+mn-lt"/>
                <a:ea typeface="+mn-ea"/>
                <a:cs typeface="+mn-cs"/>
              </a:rPr>
              <a:t> Reels and hoses</a:t>
            </a:r>
          </a:p>
          <a:p>
            <a:pPr>
              <a:buFont typeface="Arial" pitchFamily="34" charset="0"/>
              <a:buChar char="•"/>
            </a:pPr>
            <a:r>
              <a:rPr lang="en-AU" sz="1200" kern="1200" dirty="0" smtClean="0">
                <a:solidFill>
                  <a:schemeClr val="tx1"/>
                </a:solidFill>
                <a:latin typeface="+mn-lt"/>
                <a:ea typeface="+mn-ea"/>
                <a:cs typeface="+mn-cs"/>
              </a:rPr>
              <a:t> Fire blankets</a:t>
            </a:r>
          </a:p>
          <a:p>
            <a:pPr>
              <a:buFont typeface="Arial" pitchFamily="34" charset="0"/>
              <a:buChar char="•"/>
            </a:pPr>
            <a:r>
              <a:rPr lang="en-AU" sz="1200" kern="1200" dirty="0" smtClean="0">
                <a:solidFill>
                  <a:schemeClr val="tx1"/>
                </a:solidFill>
                <a:latin typeface="+mn-lt"/>
                <a:ea typeface="+mn-ea"/>
                <a:cs typeface="+mn-cs"/>
              </a:rPr>
              <a:t> Sand buckets.</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a:t>
            </a:r>
          </a:p>
          <a:p>
            <a:pPr>
              <a:buFont typeface="Arial" pitchFamily="34" charset="0"/>
              <a:buNone/>
            </a:pPr>
            <a:r>
              <a:rPr lang="en-AU" b="0" noProof="0" dirty="0" smtClean="0"/>
              <a:t>Trainer obtains samples of each item listed on slide and:</a:t>
            </a:r>
          </a:p>
          <a:p>
            <a:pPr>
              <a:buFont typeface="Arial" pitchFamily="34" charset="0"/>
              <a:buChar char="•"/>
            </a:pPr>
            <a:r>
              <a:rPr lang="en-AU" b="0" noProof="0" dirty="0" smtClean="0"/>
              <a:t> Presents/identifies each to students</a:t>
            </a:r>
          </a:p>
          <a:p>
            <a:pPr>
              <a:buFont typeface="Arial" pitchFamily="34" charset="0"/>
              <a:buChar char="•"/>
            </a:pPr>
            <a:r>
              <a:rPr lang="en-AU" b="0" noProof="0" dirty="0" smtClean="0"/>
              <a:t> Explains use of each.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venues </a:t>
            </a:r>
            <a:r>
              <a:rPr lang="en-AU" sz="1200" b="0" kern="1200" dirty="0" smtClean="0">
                <a:solidFill>
                  <a:schemeClr val="tx1"/>
                </a:solidFill>
                <a:latin typeface="+mn-lt"/>
                <a:ea typeface="+mn-ea"/>
                <a:cs typeface="+mn-cs"/>
              </a:rPr>
              <a:t>frequently develop a ‘chain of command’ as part of their planning when they prepare their Emergency Action/Management Plans explaining this :</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Identifies position and responsibilities for action in the event of an emergency</a:t>
            </a:r>
          </a:p>
          <a:p>
            <a:pPr>
              <a:buFont typeface="Arial" pitchFamily="34" charset="0"/>
              <a:buChar char="•"/>
            </a:pPr>
            <a:r>
              <a:rPr lang="en-AU" sz="1200" kern="1200" dirty="0" smtClean="0">
                <a:solidFill>
                  <a:schemeClr val="tx1"/>
                </a:solidFill>
                <a:latin typeface="+mn-lt"/>
                <a:ea typeface="+mn-ea"/>
                <a:cs typeface="+mn-cs"/>
              </a:rPr>
              <a:t> Allocates these positions to nominated staff</a:t>
            </a:r>
          </a:p>
          <a:p>
            <a:pPr>
              <a:buFont typeface="Arial" pitchFamily="34" charset="0"/>
              <a:buChar char="•"/>
            </a:pPr>
            <a:r>
              <a:rPr lang="en-AU" sz="1200" kern="1200" dirty="0" smtClean="0">
                <a:solidFill>
                  <a:schemeClr val="tx1"/>
                </a:solidFill>
                <a:latin typeface="+mn-lt"/>
                <a:ea typeface="+mn-ea"/>
                <a:cs typeface="+mn-cs"/>
              </a:rPr>
              <a:t> Is developed to provide the best way for the venue to retain command and control over an emergency situation.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presents the following represents possible positions which may exist within a chain of command and identifies the roles and responsibilities which may attach to each position.</a:t>
            </a:r>
          </a:p>
          <a:p>
            <a:r>
              <a:rPr lang="en-AU" sz="1200" b="1" i="0" kern="1200" dirty="0" smtClean="0">
                <a:solidFill>
                  <a:schemeClr val="tx1"/>
                </a:solidFill>
                <a:latin typeface="+mn-lt"/>
                <a:ea typeface="+mn-ea"/>
                <a:cs typeface="+mn-cs"/>
              </a:rPr>
              <a:t>Chief Warden </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an emergency the Chief Warden should:</a:t>
            </a:r>
          </a:p>
          <a:p>
            <a:pPr>
              <a:buFont typeface="Arial" pitchFamily="34" charset="0"/>
              <a:buChar char="•"/>
            </a:pPr>
            <a:r>
              <a:rPr lang="en-AU" sz="1200" kern="1200" dirty="0" smtClean="0">
                <a:solidFill>
                  <a:schemeClr val="tx1"/>
                </a:solidFill>
                <a:latin typeface="+mn-lt"/>
                <a:ea typeface="+mn-ea"/>
                <a:cs typeface="+mn-cs"/>
              </a:rPr>
              <a:t> Ascertain nature of the emergency and determine action</a:t>
            </a:r>
          </a:p>
          <a:p>
            <a:pPr>
              <a:buFont typeface="Arial" pitchFamily="34" charset="0"/>
              <a:buChar char="•"/>
            </a:pPr>
            <a:r>
              <a:rPr lang="en-AU" sz="1200" kern="1200" dirty="0" smtClean="0">
                <a:solidFill>
                  <a:schemeClr val="tx1"/>
                </a:solidFill>
                <a:latin typeface="+mn-lt"/>
                <a:ea typeface="+mn-ea"/>
                <a:cs typeface="+mn-cs"/>
              </a:rPr>
              <a:t> Ensure the appropriate emergency service has been notified</a:t>
            </a:r>
          </a:p>
          <a:p>
            <a:pPr>
              <a:buFont typeface="Arial" pitchFamily="34" charset="0"/>
              <a:buChar char="•"/>
            </a:pPr>
            <a:r>
              <a:rPr lang="en-AU" sz="1200" kern="1200" dirty="0" smtClean="0">
                <a:solidFill>
                  <a:schemeClr val="tx1"/>
                </a:solidFill>
                <a:latin typeface="+mn-lt"/>
                <a:ea typeface="+mn-ea"/>
                <a:cs typeface="+mn-cs"/>
              </a:rPr>
              <a:t> Ensure Area Wardens have been advised of the situation</a:t>
            </a:r>
          </a:p>
          <a:p>
            <a:pPr>
              <a:buFont typeface="Arial" pitchFamily="34" charset="0"/>
              <a:buChar char="•"/>
            </a:pPr>
            <a:r>
              <a:rPr lang="en-AU" sz="1200" kern="1200" dirty="0" smtClean="0">
                <a:solidFill>
                  <a:schemeClr val="tx1"/>
                </a:solidFill>
                <a:latin typeface="+mn-lt"/>
                <a:ea typeface="+mn-ea"/>
                <a:cs typeface="+mn-cs"/>
              </a:rPr>
              <a:t> If necessary, initiate evacuation and controlled entry procedures</a:t>
            </a:r>
          </a:p>
          <a:p>
            <a:pPr>
              <a:buFont typeface="Arial" pitchFamily="34" charset="0"/>
              <a:buChar char="•"/>
            </a:pPr>
            <a:r>
              <a:rPr lang="en-AU" sz="1200" kern="1200" dirty="0" smtClean="0">
                <a:solidFill>
                  <a:schemeClr val="tx1"/>
                </a:solidFill>
                <a:latin typeface="+mn-lt"/>
                <a:ea typeface="+mn-ea"/>
                <a:cs typeface="+mn-cs"/>
              </a:rPr>
              <a:t> Brief emergency services upon their arrival, on the type, scope, and location of the emergency, and the status of the evacuation</a:t>
            </a:r>
          </a:p>
          <a:p>
            <a:pPr>
              <a:buFont typeface="Arial" pitchFamily="34" charset="0"/>
              <a:buChar char="•"/>
            </a:pPr>
            <a:r>
              <a:rPr lang="en-AU" sz="1200" kern="1200" dirty="0" smtClean="0">
                <a:solidFill>
                  <a:schemeClr val="tx1"/>
                </a:solidFill>
                <a:latin typeface="+mn-lt"/>
                <a:ea typeface="+mn-ea"/>
                <a:cs typeface="+mn-cs"/>
              </a:rPr>
              <a:t> Act on the senior emergency services officer’s instructions.</a:t>
            </a:r>
          </a:p>
          <a:p>
            <a:r>
              <a:rPr lang="en-AU" sz="1200" b="1" i="0" kern="1200" dirty="0" smtClean="0">
                <a:solidFill>
                  <a:schemeClr val="tx1"/>
                </a:solidFill>
                <a:latin typeface="+mn-lt"/>
                <a:ea typeface="+mn-ea"/>
                <a:cs typeface="+mn-cs"/>
              </a:rPr>
              <a:t>Deputy Chief Warden </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an emergency the Deputy Chief Warden shall assume the responsibilities normally carried out by the Chief Warden in their absence, or assist the Chief Warden as required.</a:t>
            </a:r>
          </a:p>
          <a:p>
            <a:pPr>
              <a:buFont typeface="Arial" pitchFamily="34" charset="0"/>
              <a:buNone/>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positions in sample chain of command and attendant responsibilities:</a:t>
            </a:r>
          </a:p>
          <a:p>
            <a:r>
              <a:rPr lang="en-AU" sz="1200" b="1" i="0" kern="1200" dirty="0" smtClean="0">
                <a:solidFill>
                  <a:schemeClr val="tx1"/>
                </a:solidFill>
                <a:latin typeface="+mn-lt"/>
                <a:ea typeface="+mn-ea"/>
                <a:cs typeface="+mn-cs"/>
              </a:rPr>
              <a:t>Communications Officer </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an emergency the Communications Officer is responsible for:</a:t>
            </a:r>
          </a:p>
          <a:p>
            <a:pPr>
              <a:buFont typeface="Arial" pitchFamily="34" charset="0"/>
              <a:buChar char="•"/>
            </a:pPr>
            <a:r>
              <a:rPr lang="en-AU" sz="1200" kern="1200" dirty="0" smtClean="0">
                <a:solidFill>
                  <a:schemeClr val="tx1"/>
                </a:solidFill>
                <a:latin typeface="+mn-lt"/>
                <a:ea typeface="+mn-ea"/>
                <a:cs typeface="+mn-cs"/>
              </a:rPr>
              <a:t> Ascertaining nature and location of the emergency</a:t>
            </a:r>
          </a:p>
          <a:p>
            <a:pPr>
              <a:buFont typeface="Arial" pitchFamily="34" charset="0"/>
              <a:buChar char="•"/>
            </a:pPr>
            <a:r>
              <a:rPr lang="en-AU" sz="1200" kern="1200" dirty="0" smtClean="0">
                <a:solidFill>
                  <a:schemeClr val="tx1"/>
                </a:solidFill>
                <a:latin typeface="+mn-lt"/>
                <a:ea typeface="+mn-ea"/>
                <a:cs typeface="+mn-cs"/>
              </a:rPr>
              <a:t> Notifying appropriate personnel </a:t>
            </a:r>
          </a:p>
          <a:p>
            <a:pPr>
              <a:buFont typeface="Arial" pitchFamily="34" charset="0"/>
              <a:buChar char="•"/>
            </a:pPr>
            <a:r>
              <a:rPr lang="en-AU" sz="1200" kern="1200" dirty="0" smtClean="0">
                <a:solidFill>
                  <a:schemeClr val="tx1"/>
                </a:solidFill>
                <a:latin typeface="+mn-lt"/>
                <a:ea typeface="+mn-ea"/>
                <a:cs typeface="+mn-cs"/>
              </a:rPr>
              <a:t> Transmitting and recording instructions and information between Chief Warden and Area Wardens and others</a:t>
            </a:r>
          </a:p>
          <a:p>
            <a:pPr>
              <a:buFont typeface="Arial" pitchFamily="34" charset="0"/>
              <a:buChar char="•"/>
            </a:pPr>
            <a:r>
              <a:rPr lang="en-AU" sz="1200" kern="1200" dirty="0" smtClean="0">
                <a:solidFill>
                  <a:schemeClr val="tx1"/>
                </a:solidFill>
                <a:latin typeface="+mn-lt"/>
                <a:ea typeface="+mn-ea"/>
                <a:cs typeface="+mn-cs"/>
              </a:rPr>
              <a:t> Recording the progress of the evacuation and action taken by the Area Wardens.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positions in sample chain of command and attendant responsibilities:</a:t>
            </a:r>
          </a:p>
          <a:p>
            <a:r>
              <a:rPr lang="en-AU" sz="1200" b="1" i="0" kern="1200" dirty="0" smtClean="0">
                <a:solidFill>
                  <a:schemeClr val="tx1"/>
                </a:solidFill>
                <a:latin typeface="+mn-lt"/>
                <a:ea typeface="+mn-ea"/>
                <a:cs typeface="+mn-cs"/>
              </a:rPr>
              <a:t>Area Wardens </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an emergency Area Wardens should:</a:t>
            </a:r>
          </a:p>
          <a:p>
            <a:pPr>
              <a:buFont typeface="Arial" pitchFamily="34" charset="0"/>
              <a:buChar char="•"/>
            </a:pPr>
            <a:r>
              <a:rPr lang="en-AU" sz="1200" kern="1200" dirty="0" smtClean="0">
                <a:solidFill>
                  <a:schemeClr val="tx1"/>
                </a:solidFill>
                <a:latin typeface="+mn-lt"/>
                <a:ea typeface="+mn-ea"/>
                <a:cs typeface="+mn-cs"/>
              </a:rPr>
              <a:t> Commence evacuation if circumstances in their area warrant it</a:t>
            </a:r>
          </a:p>
          <a:p>
            <a:pPr>
              <a:buFont typeface="Arial" pitchFamily="34" charset="0"/>
              <a:buChar char="•"/>
            </a:pPr>
            <a:r>
              <a:rPr lang="en-AU" sz="1200" kern="1200" dirty="0" smtClean="0">
                <a:solidFill>
                  <a:schemeClr val="tx1"/>
                </a:solidFill>
                <a:latin typeface="+mn-lt"/>
                <a:ea typeface="+mn-ea"/>
                <a:cs typeface="+mn-cs"/>
              </a:rPr>
              <a:t> Implement the emergency procedures for their area</a:t>
            </a:r>
          </a:p>
          <a:p>
            <a:pPr>
              <a:buFont typeface="Arial" pitchFamily="34" charset="0"/>
              <a:buChar char="•"/>
            </a:pPr>
            <a:r>
              <a:rPr lang="en-AU" sz="1200" kern="1200" dirty="0" smtClean="0">
                <a:solidFill>
                  <a:schemeClr val="tx1"/>
                </a:solidFill>
                <a:latin typeface="+mn-lt"/>
                <a:ea typeface="+mn-ea"/>
                <a:cs typeface="+mn-cs"/>
              </a:rPr>
              <a:t> Communicate with Chief Warden and follow instructions received</a:t>
            </a:r>
          </a:p>
          <a:p>
            <a:pPr>
              <a:buFont typeface="Arial" pitchFamily="34" charset="0"/>
              <a:buChar char="•"/>
            </a:pPr>
            <a:r>
              <a:rPr lang="en-AU" sz="1200" kern="1200" dirty="0" smtClean="0">
                <a:solidFill>
                  <a:schemeClr val="tx1"/>
                </a:solidFill>
                <a:latin typeface="+mn-lt"/>
                <a:ea typeface="+mn-ea"/>
                <a:cs typeface="+mn-cs"/>
              </a:rPr>
              <a:t> Direct Wardens under their control to check area for any abnormal situation</a:t>
            </a:r>
          </a:p>
          <a:p>
            <a:pPr>
              <a:buFont typeface="Arial" pitchFamily="34" charset="0"/>
              <a:buChar char="•"/>
            </a:pPr>
            <a:r>
              <a:rPr lang="en-AU" sz="1200" kern="1200" dirty="0" smtClean="0">
                <a:solidFill>
                  <a:schemeClr val="tx1"/>
                </a:solidFill>
                <a:latin typeface="+mn-lt"/>
                <a:ea typeface="+mn-ea"/>
                <a:cs typeface="+mn-cs"/>
              </a:rPr>
              <a:t> Advise Chief Warden of circumstances and actions taken</a:t>
            </a:r>
          </a:p>
          <a:p>
            <a:pPr>
              <a:buFont typeface="Arial" pitchFamily="34" charset="0"/>
              <a:buChar char="•"/>
            </a:pPr>
            <a:r>
              <a:rPr lang="en-AU" sz="1200" kern="1200" dirty="0" smtClean="0">
                <a:solidFill>
                  <a:schemeClr val="tx1"/>
                </a:solidFill>
                <a:latin typeface="+mn-lt"/>
                <a:ea typeface="+mn-ea"/>
                <a:cs typeface="+mn-cs"/>
              </a:rPr>
              <a:t> Provide lists of people to be accounted for</a:t>
            </a:r>
          </a:p>
          <a:p>
            <a:pPr>
              <a:buFont typeface="Arial" pitchFamily="34" charset="0"/>
              <a:buChar char="•"/>
            </a:pPr>
            <a:r>
              <a:rPr lang="en-AU" sz="1200" kern="1200" dirty="0" smtClean="0">
                <a:solidFill>
                  <a:schemeClr val="tx1"/>
                </a:solidFill>
                <a:latin typeface="+mn-lt"/>
                <a:ea typeface="+mn-ea"/>
                <a:cs typeface="+mn-cs"/>
              </a:rPr>
              <a:t> Confirm persons are accounted for.</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positions in sample chain of command and attendant responsibilities:</a:t>
            </a:r>
          </a:p>
          <a:p>
            <a:r>
              <a:rPr lang="en-AU" sz="1200" b="1" i="0" kern="1200" dirty="0" smtClean="0">
                <a:solidFill>
                  <a:schemeClr val="tx1"/>
                </a:solidFill>
                <a:latin typeface="+mn-lt"/>
                <a:ea typeface="+mn-ea"/>
                <a:cs typeface="+mn-cs"/>
              </a:rPr>
              <a:t>Wardens </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an emergency Wardens may:</a:t>
            </a:r>
          </a:p>
          <a:p>
            <a:pPr>
              <a:buFont typeface="Arial" pitchFamily="34" charset="0"/>
              <a:buChar char="•"/>
            </a:pPr>
            <a:r>
              <a:rPr lang="en-AU" sz="1200" kern="1200" dirty="0" smtClean="0">
                <a:solidFill>
                  <a:schemeClr val="tx1"/>
                </a:solidFill>
                <a:latin typeface="+mn-lt"/>
                <a:ea typeface="+mn-ea"/>
                <a:cs typeface="+mn-cs"/>
              </a:rPr>
              <a:t> Act as Area Wardens in their absence</a:t>
            </a:r>
          </a:p>
          <a:p>
            <a:pPr>
              <a:buFont typeface="Arial" pitchFamily="34" charset="0"/>
              <a:buChar char="•"/>
            </a:pPr>
            <a:r>
              <a:rPr lang="en-AU" sz="1200" kern="1200" dirty="0" smtClean="0">
                <a:solidFill>
                  <a:schemeClr val="tx1"/>
                </a:solidFill>
                <a:latin typeface="+mn-lt"/>
                <a:ea typeface="+mn-ea"/>
                <a:cs typeface="+mn-cs"/>
              </a:rPr>
              <a:t> Notify the fire brigade or other emergency service </a:t>
            </a:r>
          </a:p>
          <a:p>
            <a:pPr>
              <a:buFont typeface="Arial" pitchFamily="34" charset="0"/>
              <a:buChar char="•"/>
            </a:pPr>
            <a:r>
              <a:rPr lang="en-AU" sz="1200" kern="1200" dirty="0" smtClean="0">
                <a:solidFill>
                  <a:schemeClr val="tx1"/>
                </a:solidFill>
                <a:latin typeface="+mn-lt"/>
                <a:ea typeface="+mn-ea"/>
                <a:cs typeface="+mn-cs"/>
              </a:rPr>
              <a:t> Search the area to ensure persons are accounted for</a:t>
            </a:r>
          </a:p>
          <a:p>
            <a:pPr>
              <a:buFont typeface="Arial" pitchFamily="34" charset="0"/>
              <a:buChar char="•"/>
            </a:pPr>
            <a:r>
              <a:rPr lang="en-AU" sz="1200" kern="1200" dirty="0" smtClean="0">
                <a:solidFill>
                  <a:schemeClr val="tx1"/>
                </a:solidFill>
                <a:latin typeface="+mn-lt"/>
                <a:ea typeface="+mn-ea"/>
                <a:cs typeface="+mn-cs"/>
              </a:rPr>
              <a:t> Ensure orderly evacuation to Evacuation Assembly Areas</a:t>
            </a:r>
          </a:p>
          <a:p>
            <a:pPr>
              <a:buFont typeface="Arial" pitchFamily="34" charset="0"/>
              <a:buChar char="•"/>
            </a:pPr>
            <a:r>
              <a:rPr lang="en-AU" sz="1200" kern="1200" dirty="0" smtClean="0">
                <a:solidFill>
                  <a:schemeClr val="tx1"/>
                </a:solidFill>
                <a:latin typeface="+mn-lt"/>
                <a:ea typeface="+mn-ea"/>
                <a:cs typeface="+mn-cs"/>
              </a:rPr>
              <a:t> Assist mobility impaired persons</a:t>
            </a:r>
          </a:p>
          <a:p>
            <a:pPr>
              <a:buFont typeface="Arial" pitchFamily="34" charset="0"/>
              <a:buChar char="•"/>
            </a:pPr>
            <a:r>
              <a:rPr lang="en-AU" sz="1200" kern="1200" dirty="0" smtClean="0">
                <a:solidFill>
                  <a:schemeClr val="tx1"/>
                </a:solidFill>
                <a:latin typeface="+mn-lt"/>
                <a:ea typeface="+mn-ea"/>
                <a:cs typeface="+mn-cs"/>
              </a:rPr>
              <a:t> Maintain control of persons at Evacuation Assembly Area</a:t>
            </a:r>
          </a:p>
          <a:p>
            <a:pPr>
              <a:buFont typeface="Arial" pitchFamily="34" charset="0"/>
              <a:buChar char="•"/>
            </a:pPr>
            <a:r>
              <a:rPr lang="en-AU" sz="1200" kern="1200" dirty="0" smtClean="0">
                <a:solidFill>
                  <a:schemeClr val="tx1"/>
                </a:solidFill>
                <a:latin typeface="+mn-lt"/>
                <a:ea typeface="+mn-ea"/>
                <a:cs typeface="+mn-cs"/>
              </a:rPr>
              <a:t> Operate first attack fire fighting equipment if trained to do so.</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positions in sample chain of command and attendant responsibilities:</a:t>
            </a:r>
          </a:p>
          <a:p>
            <a:r>
              <a:rPr lang="en-AU" sz="1200" b="1" i="0" kern="1200" dirty="0" smtClean="0">
                <a:solidFill>
                  <a:schemeClr val="tx1"/>
                </a:solidFill>
                <a:latin typeface="+mn-lt"/>
                <a:ea typeface="+mn-ea"/>
                <a:cs typeface="+mn-cs"/>
              </a:rPr>
              <a:t>First Aid Personnel </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an emergency, First Aid Personnel should:</a:t>
            </a:r>
          </a:p>
          <a:p>
            <a:pPr>
              <a:buFont typeface="Arial" pitchFamily="34" charset="0"/>
              <a:buChar char="•"/>
            </a:pPr>
            <a:r>
              <a:rPr lang="en-AU" sz="1200" kern="1200" dirty="0" smtClean="0">
                <a:solidFill>
                  <a:schemeClr val="tx1"/>
                </a:solidFill>
                <a:latin typeface="+mn-lt"/>
                <a:ea typeface="+mn-ea"/>
                <a:cs typeface="+mn-cs"/>
              </a:rPr>
              <a:t> Report to the relevant Warden</a:t>
            </a:r>
          </a:p>
          <a:p>
            <a:pPr>
              <a:buFont typeface="Arial" pitchFamily="34" charset="0"/>
              <a:buChar char="•"/>
            </a:pPr>
            <a:r>
              <a:rPr lang="en-AU" sz="1200" kern="1200" dirty="0" smtClean="0">
                <a:solidFill>
                  <a:schemeClr val="tx1"/>
                </a:solidFill>
                <a:latin typeface="+mn-lt"/>
                <a:ea typeface="+mn-ea"/>
                <a:cs typeface="+mn-cs"/>
              </a:rPr>
              <a:t> Assist the Warden with mobility impaired persons</a:t>
            </a:r>
          </a:p>
          <a:p>
            <a:pPr>
              <a:buFont typeface="Arial" pitchFamily="34" charset="0"/>
              <a:buChar char="•"/>
            </a:pPr>
            <a:r>
              <a:rPr lang="en-AU" sz="1200" kern="1200" dirty="0" smtClean="0">
                <a:solidFill>
                  <a:schemeClr val="tx1"/>
                </a:solidFill>
                <a:latin typeface="+mn-lt"/>
                <a:ea typeface="+mn-ea"/>
                <a:cs typeface="+mn-cs"/>
              </a:rPr>
              <a:t> Render first aid to injured persons when safe to do so</a:t>
            </a:r>
          </a:p>
          <a:p>
            <a:pPr>
              <a:buFont typeface="Arial" pitchFamily="34" charset="0"/>
              <a:buChar char="•"/>
            </a:pPr>
            <a:r>
              <a:rPr lang="en-AU" sz="1200" kern="1200" dirty="0" smtClean="0">
                <a:solidFill>
                  <a:schemeClr val="tx1"/>
                </a:solidFill>
                <a:latin typeface="+mn-lt"/>
                <a:ea typeface="+mn-ea"/>
                <a:cs typeface="+mn-cs"/>
              </a:rPr>
              <a:t> Communicate with the Area Warden regarding actions to be taken</a:t>
            </a:r>
          </a:p>
          <a:p>
            <a:pPr>
              <a:buFont typeface="Arial" pitchFamily="34" charset="0"/>
              <a:buChar char="•"/>
            </a:pPr>
            <a:r>
              <a:rPr lang="en-AU" sz="1200" kern="1200" dirty="0" smtClean="0">
                <a:solidFill>
                  <a:schemeClr val="tx1"/>
                </a:solidFill>
                <a:latin typeface="+mn-lt"/>
                <a:ea typeface="+mn-ea"/>
                <a:cs typeface="+mn-cs"/>
              </a:rPr>
              <a:t> Record first aid actions taken.</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Chief Warden from a venue to attend and talk to students about:</a:t>
            </a:r>
          </a:p>
          <a:p>
            <a:pPr>
              <a:buFont typeface="Arial" pitchFamily="34" charset="0"/>
              <a:buChar char="•"/>
            </a:pPr>
            <a:r>
              <a:rPr lang="en-AU" b="0" noProof="0" dirty="0" smtClean="0"/>
              <a:t> Chain of command at their workplace</a:t>
            </a:r>
          </a:p>
          <a:p>
            <a:pPr>
              <a:buFont typeface="Arial" pitchFamily="34" charset="0"/>
              <a:buChar char="•"/>
            </a:pPr>
            <a:r>
              <a:rPr lang="en-AU" b="0" noProof="0" dirty="0" smtClean="0"/>
              <a:t> Positions, roles and responsibilities</a:t>
            </a:r>
          </a:p>
          <a:p>
            <a:pPr>
              <a:buFont typeface="Arial" pitchFamily="34" charset="0"/>
              <a:buChar char="•"/>
            </a:pPr>
            <a:r>
              <a:rPr lang="en-AU" b="0" noProof="0" dirty="0" smtClean="0"/>
              <a:t> Training provided</a:t>
            </a:r>
          </a:p>
          <a:p>
            <a:pPr>
              <a:buFont typeface="Arial" pitchFamily="34" charset="0"/>
              <a:buChar char="•"/>
            </a:pPr>
            <a:r>
              <a:rPr lang="en-AU" b="0" noProof="0" dirty="0" smtClean="0"/>
              <a:t> Communication between those involved</a:t>
            </a:r>
          </a:p>
          <a:p>
            <a:pPr>
              <a:buFont typeface="Arial" pitchFamily="34" charset="0"/>
              <a:buChar char="•"/>
            </a:pPr>
            <a:r>
              <a:rPr lang="en-AU" b="0" noProof="0" dirty="0" smtClean="0"/>
              <a:t> How</a:t>
            </a:r>
            <a:r>
              <a:rPr lang="en-AU" b="0" baseline="0" noProof="0" dirty="0" smtClean="0"/>
              <a:t> the ‘system’ works.</a:t>
            </a:r>
            <a:endParaRPr lang="en-AU" b="0" noProof="0" dirty="0" smtClean="0"/>
          </a:p>
          <a:p>
            <a:pPr>
              <a:buFont typeface="Arial" pitchFamily="34" charset="0"/>
              <a:buChar char="•"/>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responding to safety threats by asking questions such as:</a:t>
            </a:r>
          </a:p>
          <a:p>
            <a:pPr>
              <a:buFont typeface="Arial" pitchFamily="34" charset="0"/>
              <a:buChar char="•"/>
            </a:pPr>
            <a:r>
              <a:rPr lang="en-US" b="0" dirty="0" smtClean="0"/>
              <a:t> What are examples of safety threats?</a:t>
            </a:r>
          </a:p>
          <a:p>
            <a:pPr>
              <a:buFont typeface="Arial" pitchFamily="34" charset="0"/>
              <a:buChar char="•"/>
            </a:pPr>
            <a:r>
              <a:rPr lang="en-US" b="0" dirty="0" smtClean="0"/>
              <a:t> What do you think is ‘inappropriate’ patron behaviour? </a:t>
            </a:r>
          </a:p>
          <a:p>
            <a:pPr>
              <a:buFont typeface="Arial" pitchFamily="34" charset="0"/>
              <a:buChar char="•"/>
            </a:pPr>
            <a:r>
              <a:rPr lang="en-US" b="0" dirty="0" smtClean="0"/>
              <a:t> How might you identify a suspicious package?</a:t>
            </a:r>
          </a:p>
          <a:p>
            <a:pPr>
              <a:buFont typeface="Arial" pitchFamily="34" charset="0"/>
              <a:buChar char="•"/>
            </a:pPr>
            <a:r>
              <a:rPr lang="en-US" b="0" dirty="0" smtClean="0"/>
              <a:t> How would you respond if someone told you there was a bomb in the building?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advises students: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You will be required to manage patrons who are displaying inappropriate behaviour</a:t>
            </a:r>
          </a:p>
          <a:p>
            <a:pPr>
              <a:buFont typeface="Arial" pitchFamily="34" charset="0"/>
              <a:buChar char="•"/>
            </a:pPr>
            <a:r>
              <a:rPr lang="en-AU" sz="1200" kern="1200" dirty="0" smtClean="0">
                <a:solidFill>
                  <a:schemeClr val="tx1"/>
                </a:solidFill>
                <a:latin typeface="+mn-lt"/>
                <a:ea typeface="+mn-ea"/>
                <a:cs typeface="+mn-cs"/>
              </a:rPr>
              <a:t> There is potentially quite a difference between what venues determine to be ‘inappropriate behaviour’</a:t>
            </a:r>
          </a:p>
          <a:p>
            <a:pPr>
              <a:buFont typeface="Arial" pitchFamily="34" charset="0"/>
              <a:buChar char="•"/>
            </a:pPr>
            <a:r>
              <a:rPr lang="en-AU" sz="1200" kern="1200" dirty="0" smtClean="0">
                <a:solidFill>
                  <a:schemeClr val="tx1"/>
                </a:solidFill>
                <a:latin typeface="+mn-lt"/>
                <a:ea typeface="+mn-ea"/>
                <a:cs typeface="+mn-cs"/>
              </a:rPr>
              <a:t> One venue may be far more lenient than another in defining what is acceptable and what is not</a:t>
            </a:r>
          </a:p>
          <a:p>
            <a:pPr>
              <a:buFont typeface="Arial" pitchFamily="34" charset="0"/>
              <a:buChar char="•"/>
            </a:pPr>
            <a:r>
              <a:rPr lang="en-AU" sz="1200" kern="1200" dirty="0" smtClean="0">
                <a:solidFill>
                  <a:schemeClr val="tx1"/>
                </a:solidFill>
                <a:latin typeface="+mn-lt"/>
                <a:ea typeface="+mn-ea"/>
                <a:cs typeface="+mn-cs"/>
              </a:rPr>
              <a:t> There is also potentially a variation between acceptable and unacceptable standards:</a:t>
            </a:r>
          </a:p>
          <a:p>
            <a:pPr lvl="1">
              <a:buFont typeface="Arial" pitchFamily="34" charset="0"/>
              <a:buChar char="•"/>
            </a:pPr>
            <a:r>
              <a:rPr lang="en-AU" sz="1200" kern="1200" dirty="0" smtClean="0">
                <a:solidFill>
                  <a:schemeClr val="tx1"/>
                </a:solidFill>
                <a:latin typeface="+mn-lt"/>
                <a:ea typeface="+mn-ea"/>
                <a:cs typeface="+mn-cs"/>
              </a:rPr>
              <a:t> Within the one venue – requirements in a bar may be different to requirements for behaviour in a restaurant; requirements in a night club will be different to acceptable standards at reception/in the main foyer or lobby area</a:t>
            </a:r>
          </a:p>
          <a:p>
            <a:pPr lvl="1">
              <a:buFont typeface="Arial" pitchFamily="34" charset="0"/>
              <a:buChar char="•"/>
            </a:pPr>
            <a:r>
              <a:rPr lang="en-AU" sz="1200" kern="1200" dirty="0" smtClean="0">
                <a:solidFill>
                  <a:schemeClr val="tx1"/>
                </a:solidFill>
                <a:latin typeface="+mn-lt"/>
                <a:ea typeface="+mn-ea"/>
                <a:cs typeface="+mn-cs"/>
              </a:rPr>
              <a:t> At different times of the day – the requirements in the same area can be quite different at 10:00PM than they were at 10:00AM.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gives examples of </a:t>
            </a:r>
            <a:r>
              <a:rPr lang="en-AU" sz="1200" kern="1200" dirty="0" smtClean="0">
                <a:solidFill>
                  <a:schemeClr val="tx1"/>
                </a:solidFill>
                <a:latin typeface="+mn-lt"/>
                <a:ea typeface="+mn-ea"/>
                <a:cs typeface="+mn-cs"/>
              </a:rPr>
              <a:t>inappropriate behaviour may include:</a:t>
            </a:r>
          </a:p>
          <a:p>
            <a:pPr>
              <a:buFont typeface="Arial" pitchFamily="34" charset="0"/>
              <a:buChar char="•"/>
            </a:pPr>
            <a:r>
              <a:rPr lang="en-AU" sz="1200" kern="1200" dirty="0" smtClean="0">
                <a:solidFill>
                  <a:schemeClr val="tx1"/>
                </a:solidFill>
                <a:latin typeface="+mn-lt"/>
                <a:ea typeface="+mn-ea"/>
                <a:cs typeface="+mn-cs"/>
              </a:rPr>
              <a:t> Aggressive, rude and anti-social behaviour by patrons or members of the public who are on the premises</a:t>
            </a:r>
          </a:p>
          <a:p>
            <a:pPr>
              <a:buFont typeface="Arial" pitchFamily="34" charset="0"/>
              <a:buChar char="•"/>
            </a:pPr>
            <a:r>
              <a:rPr lang="en-AU" sz="1200" kern="1200" dirty="0" smtClean="0">
                <a:solidFill>
                  <a:schemeClr val="tx1"/>
                </a:solidFill>
                <a:latin typeface="+mn-lt"/>
                <a:ea typeface="+mn-ea"/>
                <a:cs typeface="+mn-cs"/>
              </a:rPr>
              <a:t> People arguing with other patrons or staff</a:t>
            </a:r>
          </a:p>
          <a:p>
            <a:pPr>
              <a:buFont typeface="Arial" pitchFamily="34" charset="0"/>
              <a:buChar char="•"/>
            </a:pPr>
            <a:r>
              <a:rPr lang="en-AU" sz="1200" kern="1200" dirty="0" smtClean="0">
                <a:solidFill>
                  <a:schemeClr val="tx1"/>
                </a:solidFill>
                <a:latin typeface="+mn-lt"/>
                <a:ea typeface="+mn-ea"/>
                <a:cs typeface="+mn-cs"/>
              </a:rPr>
              <a:t> Patrons/people who refuse to leave the premises when asked to do so</a:t>
            </a:r>
          </a:p>
          <a:p>
            <a:pPr>
              <a:buFont typeface="Arial" pitchFamily="34" charset="0"/>
              <a:buChar char="•"/>
            </a:pPr>
            <a:r>
              <a:rPr lang="en-AU" sz="1200" kern="1200" dirty="0" smtClean="0">
                <a:solidFill>
                  <a:schemeClr val="tx1"/>
                </a:solidFill>
                <a:latin typeface="+mn-lt"/>
                <a:ea typeface="+mn-ea"/>
                <a:cs typeface="+mn-cs"/>
              </a:rPr>
              <a:t> Patrons/people who are intoxicated on the premises</a:t>
            </a:r>
          </a:p>
          <a:p>
            <a:pPr>
              <a:buFont typeface="Arial" pitchFamily="34" charset="0"/>
              <a:buChar char="•"/>
            </a:pPr>
            <a:r>
              <a:rPr lang="en-AU" sz="1200" kern="1200" dirty="0" smtClean="0">
                <a:solidFill>
                  <a:schemeClr val="tx1"/>
                </a:solidFill>
                <a:latin typeface="+mn-lt"/>
                <a:ea typeface="+mn-ea"/>
                <a:cs typeface="+mn-cs"/>
              </a:rPr>
              <a:t> Anyone who intimidates, or attempts to intimidate, anyone on the premises.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giving examples of </a:t>
            </a:r>
            <a:r>
              <a:rPr lang="en-AU" sz="1200" kern="1200" dirty="0" smtClean="0">
                <a:solidFill>
                  <a:schemeClr val="tx1"/>
                </a:solidFill>
                <a:latin typeface="+mn-lt"/>
                <a:ea typeface="+mn-ea"/>
                <a:cs typeface="+mn-cs"/>
              </a:rPr>
              <a:t>inappropriate behaviour may include:</a:t>
            </a:r>
          </a:p>
          <a:p>
            <a:pPr>
              <a:buFont typeface="Arial" pitchFamily="34" charset="0"/>
              <a:buChar char="•"/>
            </a:pPr>
            <a:r>
              <a:rPr lang="en-AU" sz="1200" kern="1200" dirty="0" smtClean="0">
                <a:solidFill>
                  <a:schemeClr val="tx1"/>
                </a:solidFill>
                <a:latin typeface="+mn-lt"/>
                <a:ea typeface="+mn-ea"/>
                <a:cs typeface="+mn-cs"/>
              </a:rPr>
              <a:t> Any person committing an act of violence in the venue</a:t>
            </a:r>
          </a:p>
          <a:p>
            <a:pPr>
              <a:buFont typeface="Arial" pitchFamily="34" charset="0"/>
              <a:buChar char="•"/>
            </a:pPr>
            <a:r>
              <a:rPr lang="en-AU" sz="1200" kern="1200" dirty="0" smtClean="0">
                <a:solidFill>
                  <a:schemeClr val="tx1"/>
                </a:solidFill>
                <a:latin typeface="+mn-lt"/>
                <a:ea typeface="+mn-ea"/>
                <a:cs typeface="+mn-cs"/>
              </a:rPr>
              <a:t> People who swear or use any form of abusive language – including racist and/or sexist terms</a:t>
            </a:r>
          </a:p>
          <a:p>
            <a:pPr>
              <a:buFont typeface="Arial" pitchFamily="34" charset="0"/>
              <a:buChar char="•"/>
            </a:pPr>
            <a:r>
              <a:rPr lang="en-AU" sz="1200" kern="1200" dirty="0" smtClean="0">
                <a:solidFill>
                  <a:schemeClr val="tx1"/>
                </a:solidFill>
                <a:latin typeface="+mn-lt"/>
                <a:ea typeface="+mn-ea"/>
                <a:cs typeface="+mn-cs"/>
              </a:rPr>
              <a:t> Customers who fail to meet required dress codes for certain parts of the venue</a:t>
            </a:r>
          </a:p>
          <a:p>
            <a:pPr>
              <a:buFont typeface="Arial" pitchFamily="34" charset="0"/>
              <a:buChar char="•"/>
            </a:pPr>
            <a:r>
              <a:rPr lang="en-AU" sz="1200" kern="1200" dirty="0" smtClean="0">
                <a:solidFill>
                  <a:schemeClr val="tx1"/>
                </a:solidFill>
                <a:latin typeface="+mn-lt"/>
                <a:ea typeface="+mn-ea"/>
                <a:cs typeface="+mn-cs"/>
              </a:rPr>
              <a:t> Rooms in which there are ‘too many’ guests – for example, a room sold for two people but where evidence exists there are more than this sleeping in the room</a:t>
            </a:r>
          </a:p>
          <a:p>
            <a:pPr>
              <a:buFont typeface="Arial" pitchFamily="34" charset="0"/>
              <a:buChar char="•"/>
            </a:pPr>
            <a:r>
              <a:rPr lang="en-AU" sz="1200" kern="1200" dirty="0" smtClean="0">
                <a:solidFill>
                  <a:schemeClr val="tx1"/>
                </a:solidFill>
                <a:latin typeface="+mn-lt"/>
                <a:ea typeface="+mn-ea"/>
                <a:cs typeface="+mn-cs"/>
              </a:rPr>
              <a:t> Noisy patrons.</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Discussion</a:t>
            </a:r>
          </a:p>
          <a:p>
            <a:r>
              <a:rPr lang="en-AU" sz="1200" b="0" kern="1200" dirty="0" smtClean="0">
                <a:solidFill>
                  <a:schemeClr val="tx1"/>
                </a:solidFill>
                <a:latin typeface="+mn-lt"/>
                <a:ea typeface="+mn-ea"/>
                <a:cs typeface="+mn-cs"/>
              </a:rPr>
              <a:t>Trainer leads discussion on:</a:t>
            </a:r>
          </a:p>
          <a:p>
            <a:pPr>
              <a:buFont typeface="Arial" pitchFamily="34" charset="0"/>
              <a:buChar char="•"/>
            </a:pPr>
            <a:r>
              <a:rPr lang="en-AU" sz="1200" kern="1200" dirty="0" smtClean="0">
                <a:solidFill>
                  <a:schemeClr val="tx1"/>
                </a:solidFill>
                <a:latin typeface="+mn-lt"/>
                <a:ea typeface="+mn-ea"/>
                <a:cs typeface="+mn-cs"/>
              </a:rPr>
              <a:t> When behaviour is acceptable and unacceptable</a:t>
            </a:r>
          </a:p>
          <a:p>
            <a:pPr>
              <a:buFont typeface="Arial" pitchFamily="34" charset="0"/>
              <a:buChar char="•"/>
            </a:pPr>
            <a:r>
              <a:rPr lang="en-AU" sz="1200" kern="1200" dirty="0" smtClean="0">
                <a:solidFill>
                  <a:schemeClr val="tx1"/>
                </a:solidFill>
                <a:latin typeface="+mn-lt"/>
                <a:ea typeface="+mn-ea"/>
                <a:cs typeface="+mn-cs"/>
              </a:rPr>
              <a:t> What differentiates</a:t>
            </a:r>
            <a:r>
              <a:rPr lang="en-AU" sz="1200" kern="1200" baseline="0" dirty="0" smtClean="0">
                <a:solidFill>
                  <a:schemeClr val="tx1"/>
                </a:solidFill>
                <a:latin typeface="+mn-lt"/>
                <a:ea typeface="+mn-ea"/>
                <a:cs typeface="+mn-cs"/>
              </a:rPr>
              <a:t> between acceptable and unacceptable behaviour</a:t>
            </a:r>
          </a:p>
          <a:p>
            <a:pPr>
              <a:buFont typeface="Arial" pitchFamily="34" charset="0"/>
              <a:buChar char="•"/>
            </a:pPr>
            <a:r>
              <a:rPr lang="en-AU" sz="1200" kern="1200" baseline="0" dirty="0" smtClean="0">
                <a:solidFill>
                  <a:schemeClr val="tx1"/>
                </a:solidFill>
                <a:latin typeface="+mn-lt"/>
                <a:ea typeface="+mn-ea"/>
                <a:cs typeface="+mn-cs"/>
              </a:rPr>
              <a:t> Why the one thing may be acceptable in one instance but unacceptable in another.</a:t>
            </a: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ways to respond to inappropriate behaviour:</a:t>
            </a:r>
          </a:p>
          <a:p>
            <a:pPr>
              <a:buFont typeface="Arial" pitchFamily="34" charset="0"/>
              <a:buChar char="•"/>
            </a:pPr>
            <a:r>
              <a:rPr lang="en-AU" sz="1200" kern="1200" dirty="0" smtClean="0">
                <a:solidFill>
                  <a:schemeClr val="tx1"/>
                </a:solidFill>
                <a:latin typeface="+mn-lt"/>
                <a:ea typeface="+mn-ea"/>
                <a:cs typeface="+mn-cs"/>
              </a:rPr>
              <a:t> Moving closer to the ‘situation’ and looking in the direction those involved – let people know you are monitoring/watching</a:t>
            </a:r>
          </a:p>
          <a:p>
            <a:pPr>
              <a:buFont typeface="Arial" pitchFamily="34" charset="0"/>
              <a:buChar char="•"/>
            </a:pPr>
            <a:r>
              <a:rPr lang="en-AU" sz="1200" kern="1200" dirty="0" smtClean="0">
                <a:solidFill>
                  <a:schemeClr val="tx1"/>
                </a:solidFill>
                <a:latin typeface="+mn-lt"/>
                <a:ea typeface="+mn-ea"/>
                <a:cs typeface="+mn-cs"/>
              </a:rPr>
              <a:t> Having a word with those involved and asking them politely to modify their behaviour/language</a:t>
            </a:r>
          </a:p>
          <a:p>
            <a:pPr>
              <a:buFont typeface="Arial" pitchFamily="34" charset="0"/>
              <a:buChar char="•"/>
            </a:pPr>
            <a:r>
              <a:rPr lang="en-AU" sz="1200" kern="1200" dirty="0" smtClean="0">
                <a:solidFill>
                  <a:schemeClr val="tx1"/>
                </a:solidFill>
                <a:latin typeface="+mn-lt"/>
                <a:ea typeface="+mn-ea"/>
                <a:cs typeface="+mn-cs"/>
              </a:rPr>
              <a:t> Escorting persons away from the area or out of the venue</a:t>
            </a:r>
          </a:p>
          <a:p>
            <a:pPr>
              <a:buFont typeface="Arial" pitchFamily="34" charset="0"/>
              <a:buChar char="•"/>
            </a:pPr>
            <a:r>
              <a:rPr lang="en-AU" sz="1200" kern="1200" dirty="0" smtClean="0">
                <a:solidFill>
                  <a:schemeClr val="tx1"/>
                </a:solidFill>
                <a:latin typeface="+mn-lt"/>
                <a:ea typeface="+mn-ea"/>
                <a:cs typeface="+mn-cs"/>
              </a:rPr>
              <a:t> Advising patrons of what is expected and acceptable</a:t>
            </a:r>
          </a:p>
          <a:p>
            <a:pPr>
              <a:buFont typeface="Arial" pitchFamily="34" charset="0"/>
              <a:buChar char="•"/>
            </a:pPr>
            <a:r>
              <a:rPr lang="en-AU" sz="1200" kern="1200" dirty="0" smtClean="0">
                <a:solidFill>
                  <a:schemeClr val="tx1"/>
                </a:solidFill>
                <a:latin typeface="+mn-lt"/>
                <a:ea typeface="+mn-ea"/>
                <a:cs typeface="+mn-cs"/>
              </a:rPr>
              <a:t> Communicating with control/supervisor and informing them of developments including:</a:t>
            </a:r>
          </a:p>
          <a:p>
            <a:pPr lvl="1">
              <a:buFont typeface="Arial" pitchFamily="34" charset="0"/>
              <a:buChar char="•"/>
            </a:pPr>
            <a:r>
              <a:rPr lang="en-AU" sz="1200" kern="1200" dirty="0" smtClean="0">
                <a:solidFill>
                  <a:schemeClr val="tx1"/>
                </a:solidFill>
                <a:latin typeface="+mn-lt"/>
                <a:ea typeface="+mn-ea"/>
                <a:cs typeface="+mn-cs"/>
              </a:rPr>
              <a:t> Seeking permission to act</a:t>
            </a:r>
          </a:p>
          <a:p>
            <a:pPr lvl="1">
              <a:buFont typeface="Arial" pitchFamily="34" charset="0"/>
              <a:buChar char="•"/>
            </a:pPr>
            <a:r>
              <a:rPr lang="en-AU" sz="1200" kern="1200" dirty="0" smtClean="0">
                <a:solidFill>
                  <a:schemeClr val="tx1"/>
                </a:solidFill>
                <a:latin typeface="+mn-lt"/>
                <a:ea typeface="+mn-ea"/>
                <a:cs typeface="+mn-cs"/>
              </a:rPr>
              <a:t> Seeking advice on what to do</a:t>
            </a:r>
          </a:p>
          <a:p>
            <a:pPr lvl="1">
              <a:buFont typeface="Arial" pitchFamily="34" charset="0"/>
              <a:buChar char="•"/>
            </a:pPr>
            <a:r>
              <a:rPr lang="en-AU" sz="1200" kern="1200" dirty="0" smtClean="0">
                <a:solidFill>
                  <a:schemeClr val="tx1"/>
                </a:solidFill>
                <a:latin typeface="+mn-lt"/>
                <a:ea typeface="+mn-ea"/>
                <a:cs typeface="+mn-cs"/>
              </a:rPr>
              <a:t> Requesting back-up.</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Practical/Role Plays</a:t>
            </a:r>
          </a:p>
          <a:p>
            <a:pPr>
              <a:buFont typeface="Arial" pitchFamily="34" charset="0"/>
              <a:buNone/>
            </a:pPr>
            <a:r>
              <a:rPr lang="en-AU" b="0" noProof="0" dirty="0" smtClean="0"/>
              <a:t>Trainer demonstrates implementation/application of ways to respond to </a:t>
            </a:r>
            <a:r>
              <a:rPr lang="en-AU" noProof="0" dirty="0" smtClean="0"/>
              <a:t>inappropriate behaviour as listed on</a:t>
            </a:r>
            <a:r>
              <a:rPr lang="en-AU" baseline="0" noProof="0" dirty="0" smtClean="0"/>
              <a:t> the slide and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advises students of additional points to note when managing patron behaviour:</a:t>
            </a:r>
          </a:p>
          <a:p>
            <a:pPr>
              <a:buFont typeface="Arial" pitchFamily="34" charset="0"/>
              <a:buNone/>
            </a:pPr>
            <a:r>
              <a:rPr lang="en-AU" sz="1200" b="1" kern="1200" dirty="0" smtClean="0">
                <a:solidFill>
                  <a:schemeClr val="tx1"/>
                </a:solidFill>
                <a:latin typeface="+mn-lt"/>
                <a:ea typeface="+mn-ea"/>
                <a:cs typeface="+mn-cs"/>
              </a:rPr>
              <a:t>Nip it in the bud</a:t>
            </a:r>
          </a:p>
          <a:p>
            <a:pPr>
              <a:buFont typeface="Arial" pitchFamily="34" charset="0"/>
              <a:buChar char="•"/>
            </a:pPr>
            <a:r>
              <a:rPr lang="en-AU" sz="1200" kern="1200" dirty="0" smtClean="0">
                <a:solidFill>
                  <a:schemeClr val="tx1"/>
                </a:solidFill>
                <a:latin typeface="+mn-lt"/>
                <a:ea typeface="+mn-ea"/>
                <a:cs typeface="+mn-cs"/>
              </a:rPr>
              <a:t> The golden rule in relation to managing patrons who are displaying inappropriate behaviour is all potentially troublesome situations must be 'nipped in the bud’. This means no situation should be allowed to go un-checked or un-addressed if it has the potential for harm, offence, abuse or contravenes the venue standards for suitable/acceptable behaviour.</a:t>
            </a:r>
          </a:p>
          <a:p>
            <a:pPr>
              <a:buFont typeface="Arial" pitchFamily="34" charset="0"/>
              <a:buChar char="•"/>
            </a:pPr>
            <a:r>
              <a:rPr lang="en-AU" sz="1200" kern="1200" dirty="0" smtClean="0">
                <a:solidFill>
                  <a:schemeClr val="tx1"/>
                </a:solidFill>
                <a:latin typeface="+mn-lt"/>
                <a:ea typeface="+mn-ea"/>
                <a:cs typeface="+mn-cs"/>
              </a:rPr>
              <a:t> It is vital you realise in a public situation you and everything you do, or do not do, is on public show: if you allow one person to ‘get away with something’ you are automatically sending a message to the others who see or hear this they can get away with it too. By the same token, when you intervene to control a situation you are similarly sending a message to everyone that such behaviour or language will not be tolerated.</a:t>
            </a:r>
          </a:p>
          <a:p>
            <a:pPr>
              <a:buFont typeface="Arial" pitchFamily="34" charset="0"/>
              <a:buNone/>
            </a:pPr>
            <a:r>
              <a:rPr lang="en-AU" sz="1200" b="1" kern="1200" dirty="0" smtClean="0">
                <a:solidFill>
                  <a:schemeClr val="tx1"/>
                </a:solidFill>
                <a:latin typeface="+mn-lt"/>
                <a:ea typeface="+mn-ea"/>
                <a:cs typeface="+mn-cs"/>
              </a:rPr>
              <a:t>‘Hearsay’ evidence</a:t>
            </a:r>
          </a:p>
          <a:p>
            <a:pPr>
              <a:buFont typeface="Arial" pitchFamily="34" charset="0"/>
              <a:buChar char="•"/>
            </a:pPr>
            <a:r>
              <a:rPr lang="en-AU" sz="1200" kern="1200" dirty="0" smtClean="0">
                <a:solidFill>
                  <a:schemeClr val="tx1"/>
                </a:solidFill>
                <a:latin typeface="+mn-lt"/>
                <a:ea typeface="+mn-ea"/>
                <a:cs typeface="+mn-cs"/>
              </a:rPr>
              <a:t> It is standard industry practice not to act on hearsay evidence when responding to a complaint about unacceptable patron behaviour/language.</a:t>
            </a:r>
          </a:p>
          <a:p>
            <a:pPr>
              <a:buFont typeface="Arial" pitchFamily="34" charset="0"/>
              <a:buChar char="•"/>
            </a:pPr>
            <a:r>
              <a:rPr lang="en-AU" sz="1200" kern="1200" dirty="0" smtClean="0">
                <a:solidFill>
                  <a:schemeClr val="tx1"/>
                </a:solidFill>
                <a:latin typeface="+mn-lt"/>
                <a:ea typeface="+mn-ea"/>
                <a:cs typeface="+mn-cs"/>
              </a:rPr>
              <a:t> Hearsay evidence are allegations or assertions made by customers that certain things happened such as:</a:t>
            </a:r>
          </a:p>
          <a:p>
            <a:pPr lvl="1">
              <a:buFont typeface="Arial" pitchFamily="34" charset="0"/>
              <a:buChar char="•"/>
            </a:pPr>
            <a:r>
              <a:rPr lang="en-AU" sz="1200" kern="1200" dirty="0" smtClean="0">
                <a:solidFill>
                  <a:schemeClr val="tx1"/>
                </a:solidFill>
                <a:latin typeface="+mn-lt"/>
                <a:ea typeface="+mn-ea"/>
                <a:cs typeface="+mn-cs"/>
              </a:rPr>
              <a:t> A person jumped the queue</a:t>
            </a:r>
          </a:p>
          <a:p>
            <a:pPr lvl="1">
              <a:buFont typeface="Arial" pitchFamily="34" charset="0"/>
              <a:buChar char="•"/>
            </a:pPr>
            <a:r>
              <a:rPr lang="en-AU" sz="1200" kern="1200" dirty="0" smtClean="0">
                <a:solidFill>
                  <a:schemeClr val="tx1"/>
                </a:solidFill>
                <a:latin typeface="+mn-lt"/>
                <a:ea typeface="+mn-ea"/>
                <a:cs typeface="+mn-cs"/>
              </a:rPr>
              <a:t> A person used bad or offensive language</a:t>
            </a:r>
          </a:p>
          <a:p>
            <a:pPr lvl="1">
              <a:buFont typeface="Arial" pitchFamily="34" charset="0"/>
              <a:buChar char="•"/>
            </a:pPr>
            <a:r>
              <a:rPr lang="en-AU" sz="1200" kern="1200" dirty="0" smtClean="0">
                <a:solidFill>
                  <a:schemeClr val="tx1"/>
                </a:solidFill>
                <a:latin typeface="+mn-lt"/>
                <a:ea typeface="+mn-ea"/>
                <a:cs typeface="+mn-cs"/>
              </a:rPr>
              <a:t> A person was rude</a:t>
            </a:r>
          </a:p>
          <a:p>
            <a:pPr lvl="1">
              <a:buFont typeface="Arial" pitchFamily="34" charset="0"/>
              <a:buChar char="•"/>
            </a:pPr>
            <a:r>
              <a:rPr lang="en-AU" sz="1200" kern="1200" dirty="0" smtClean="0">
                <a:solidFill>
                  <a:schemeClr val="tx1"/>
                </a:solidFill>
                <a:latin typeface="+mn-lt"/>
                <a:ea typeface="+mn-ea"/>
                <a:cs typeface="+mn-cs"/>
              </a:rPr>
              <a:t> A person committed an offence.</a:t>
            </a:r>
          </a:p>
          <a:p>
            <a:pPr>
              <a:buFont typeface="Arial" pitchFamily="34" charset="0"/>
              <a:buChar char="•"/>
            </a:pPr>
            <a:r>
              <a:rPr lang="en-AU" sz="1200" kern="1200" dirty="0" smtClean="0">
                <a:solidFill>
                  <a:schemeClr val="tx1"/>
                </a:solidFill>
                <a:latin typeface="+mn-lt"/>
                <a:ea typeface="+mn-ea"/>
                <a:cs typeface="+mn-cs"/>
              </a:rPr>
              <a:t> Most venues will require you to have first-hand evidence something has occurred (that is, they will require you actually  saw or heard it yourself) before they will authorize you to take action.</a:t>
            </a:r>
          </a:p>
          <a:p>
            <a:pPr>
              <a:buFont typeface="Arial" pitchFamily="34" charset="0"/>
              <a:buNone/>
            </a:pPr>
            <a:r>
              <a:rPr lang="en-AU" sz="1200" b="1" kern="1200" dirty="0" smtClean="0">
                <a:solidFill>
                  <a:schemeClr val="tx1"/>
                </a:solidFill>
                <a:latin typeface="+mn-lt"/>
                <a:ea typeface="+mn-ea"/>
                <a:cs typeface="+mn-cs"/>
              </a:rPr>
              <a:t>You are not a Police Officer </a:t>
            </a:r>
            <a:r>
              <a:rPr lang="en-AU" sz="1200" b="0" kern="1200" dirty="0" smtClean="0">
                <a:solidFill>
                  <a:schemeClr val="tx1"/>
                </a:solidFill>
                <a:latin typeface="+mn-lt"/>
                <a:ea typeface="+mn-ea"/>
                <a:cs typeface="+mn-cs"/>
              </a:rPr>
              <a:t>– see following slides.</a:t>
            </a:r>
          </a:p>
          <a:p>
            <a:pPr>
              <a:buFont typeface="Arial" pitchFamily="34" charset="0"/>
              <a:buNone/>
            </a:pPr>
            <a:endParaRPr lang="en-AU" b="1"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urges students </a:t>
            </a:r>
            <a:r>
              <a:rPr lang="en-AU" sz="1200" b="0" kern="1200" dirty="0" smtClean="0">
                <a:solidFill>
                  <a:schemeClr val="tx1"/>
                </a:solidFill>
                <a:latin typeface="+mn-lt"/>
                <a:ea typeface="+mn-ea"/>
                <a:cs typeface="+mn-cs"/>
              </a:rPr>
              <a:t>to understand </a:t>
            </a:r>
            <a:r>
              <a:rPr lang="en-AU" sz="1200" b="1" kern="1200" dirty="0" smtClean="0">
                <a:solidFill>
                  <a:schemeClr val="tx1"/>
                </a:solidFill>
                <a:latin typeface="+mn-lt"/>
                <a:ea typeface="+mn-ea"/>
                <a:cs typeface="+mn-cs"/>
              </a:rPr>
              <a:t>performing security or safety-related work in a venue does not make them a police officer</a:t>
            </a:r>
            <a:r>
              <a:rPr lang="en-AU" sz="1200" b="0" kern="1200" dirty="0" smtClean="0">
                <a:solidFill>
                  <a:schemeClr val="tx1"/>
                </a:solidFill>
                <a:latin typeface="+mn-lt"/>
                <a:ea typeface="+mn-ea"/>
                <a:cs typeface="+mn-cs"/>
              </a:rPr>
              <a:t> making the following points: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They do not have the same rights as a police officer.</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They do not have the same right to stop people or to </a:t>
            </a:r>
            <a:r>
              <a:rPr lang="en-AU" sz="1200" b="0" i="1" kern="1200" dirty="0" smtClean="0">
                <a:solidFill>
                  <a:schemeClr val="tx1"/>
                </a:solidFill>
                <a:latin typeface="+mn-lt"/>
                <a:ea typeface="+mn-ea"/>
                <a:cs typeface="+mn-cs"/>
              </a:rPr>
              <a:t>demand</a:t>
            </a:r>
            <a:r>
              <a:rPr lang="en-AU" sz="1200" b="0" kern="1200" dirty="0" smtClean="0">
                <a:solidFill>
                  <a:schemeClr val="tx1"/>
                </a:solidFill>
                <a:latin typeface="+mn-lt"/>
                <a:ea typeface="+mn-ea"/>
                <a:cs typeface="+mn-cs"/>
              </a:rPr>
              <a:t> their name. They may, of course, request it/ask for it but people do not have to comply.</a:t>
            </a:r>
            <a:endParaRPr lang="en-AU" sz="1200" b="1" kern="1200" dirty="0" smtClean="0">
              <a:solidFill>
                <a:schemeClr val="tx1"/>
              </a:solidFill>
              <a:latin typeface="+mn-lt"/>
              <a:ea typeface="+mn-ea"/>
              <a:cs typeface="+mn-cs"/>
            </a:endParaRPr>
          </a:p>
          <a:p>
            <a:pPr lvl="1">
              <a:buFont typeface="Arial" pitchFamily="34" charset="0"/>
              <a:buChar char="•"/>
            </a:pPr>
            <a:r>
              <a:rPr lang="en-AU" sz="1200" b="0" kern="1200" dirty="0" smtClean="0">
                <a:solidFill>
                  <a:schemeClr val="tx1"/>
                </a:solidFill>
                <a:latin typeface="+mn-lt"/>
                <a:ea typeface="+mn-ea"/>
                <a:cs typeface="+mn-cs"/>
              </a:rPr>
              <a:t> As already stated your rights as a security officer are, in reality, no more than the rights of the ordinary citizen.</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‘Power’/’authority’ often comes from:</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The fact you are in uniform – and most people respect the uniform</a:t>
            </a:r>
          </a:p>
          <a:p>
            <a:pPr lvl="1">
              <a:buFont typeface="Arial" pitchFamily="34" charset="0"/>
              <a:buChar char="•"/>
            </a:pPr>
            <a:r>
              <a:rPr lang="en-AU" sz="1200" kern="1200" dirty="0" smtClean="0">
                <a:solidFill>
                  <a:schemeClr val="tx1"/>
                </a:solidFill>
                <a:latin typeface="+mn-lt"/>
                <a:ea typeface="+mn-ea"/>
                <a:cs typeface="+mn-cs"/>
              </a:rPr>
              <a:t> Your demeanour/attitude and appearance – and sometimes your size.</a:t>
            </a:r>
          </a:p>
          <a:p>
            <a:pPr>
              <a:buFont typeface="Arial" pitchFamily="34" charset="0"/>
              <a:buChar char="•"/>
            </a:pPr>
            <a:r>
              <a:rPr lang="en-AU" sz="1200" b="0" kern="1200" dirty="0" smtClean="0">
                <a:solidFill>
                  <a:schemeClr val="tx1"/>
                </a:solidFill>
                <a:latin typeface="+mn-lt"/>
                <a:ea typeface="+mn-ea"/>
                <a:cs typeface="+mn-cs"/>
              </a:rPr>
              <a:t> The reality of many security jobs is if a problem occurs your job is to:</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Contain the situation to the best of your ability – by, for example:</a:t>
            </a:r>
          </a:p>
          <a:p>
            <a:pPr lvl="2">
              <a:buFont typeface="Arial" pitchFamily="34" charset="0"/>
              <a:buChar char="•"/>
            </a:pPr>
            <a:r>
              <a:rPr lang="en-US" sz="1200" kern="1200" dirty="0" smtClean="0">
                <a:solidFill>
                  <a:schemeClr val="tx1"/>
                </a:solidFill>
                <a:latin typeface="+mn-lt"/>
                <a:ea typeface="+mn-ea"/>
                <a:cs typeface="+mn-cs"/>
              </a:rPr>
              <a:t> Moving people away from the situation</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Restricting access to an area</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Call for assistance from external security or local authorities</a:t>
            </a:r>
          </a:p>
          <a:p>
            <a:pPr lvl="1">
              <a:buFont typeface="Arial" pitchFamily="34" charset="0"/>
              <a:buChar char="•"/>
            </a:pPr>
            <a:r>
              <a:rPr lang="en-AU" sz="1200" kern="1200" dirty="0" smtClean="0">
                <a:solidFill>
                  <a:schemeClr val="tx1"/>
                </a:solidFill>
                <a:latin typeface="+mn-lt"/>
                <a:ea typeface="+mn-ea"/>
                <a:cs typeface="+mn-cs"/>
              </a:rPr>
              <a:t> Protect and defend – always put the protection of lives/people above the protection of assets/physical resources (including cash).</a:t>
            </a:r>
          </a:p>
          <a:p>
            <a:pPr>
              <a:buFont typeface="Arial" pitchFamily="34" charset="0"/>
              <a:buNone/>
            </a:pPr>
            <a:endParaRPr lang="en-AU" sz="1200" b="1"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 Activity – Guest Speaker</a:t>
            </a:r>
          </a:p>
          <a:p>
            <a:pPr>
              <a:buFont typeface="Arial" pitchFamily="34" charset="0"/>
              <a:buNone/>
            </a:pPr>
            <a:r>
              <a:rPr lang="en-AU" sz="1200" b="0" kern="1200" noProof="0" dirty="0" smtClean="0">
                <a:solidFill>
                  <a:schemeClr val="tx1"/>
                </a:solidFill>
                <a:latin typeface="+mn-lt"/>
                <a:ea typeface="+mn-ea"/>
                <a:cs typeface="+mn-cs"/>
              </a:rPr>
              <a:t>Trainer arranges for local Police officer to attend and:</a:t>
            </a:r>
          </a:p>
          <a:p>
            <a:pPr>
              <a:buFont typeface="Arial" pitchFamily="34" charset="0"/>
              <a:buChar char="•"/>
            </a:pPr>
            <a:r>
              <a:rPr lang="en-AU" b="0" noProof="0" dirty="0" smtClean="0"/>
              <a:t> Discuss legal rights/limitations regarding what Security staff can and cannot do</a:t>
            </a:r>
          </a:p>
          <a:p>
            <a:pPr>
              <a:buFont typeface="Arial" pitchFamily="34" charset="0"/>
              <a:buChar char="•"/>
            </a:pPr>
            <a:r>
              <a:rPr lang="en-AU" b="0" noProof="0" dirty="0" smtClean="0"/>
              <a:t> Offer suggestions for dealing with situations</a:t>
            </a:r>
          </a:p>
          <a:p>
            <a:pPr>
              <a:buFont typeface="Arial" pitchFamily="34" charset="0"/>
              <a:buChar char="•"/>
            </a:pPr>
            <a:r>
              <a:rPr lang="en-AU" b="0" noProof="0" dirty="0" smtClean="0"/>
              <a:t> Identify how to summon police assistance.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topic of staff making an arrest offering:</a:t>
            </a:r>
          </a:p>
          <a:p>
            <a:pPr>
              <a:buFont typeface="Arial" pitchFamily="34" charset="0"/>
              <a:buChar char="•"/>
            </a:pPr>
            <a:r>
              <a:rPr lang="en-AU" noProof="0" dirty="0" smtClean="0"/>
              <a:t> They should avoid doing this – as there are too many possible legal implications (being sued for wrongful arrest or similar)</a:t>
            </a:r>
          </a:p>
          <a:p>
            <a:pPr>
              <a:buFont typeface="Arial" pitchFamily="34" charset="0"/>
              <a:buChar char="•"/>
            </a:pPr>
            <a:r>
              <a:rPr lang="en-AU" noProof="0" dirty="0" smtClean="0"/>
              <a:t> They should instead try to delay the person identifying </a:t>
            </a:r>
            <a:r>
              <a:rPr lang="en-AU" sz="1200" b="0" kern="1200" dirty="0" smtClean="0">
                <a:solidFill>
                  <a:schemeClr val="tx1"/>
                </a:solidFill>
                <a:latin typeface="+mn-lt"/>
                <a:ea typeface="+mn-ea"/>
                <a:cs typeface="+mn-cs"/>
              </a:rPr>
              <a:t>strategies to delay ‘offenders’ until police arrive can include:</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Engaging the person in conversation – to distract them/keep them ‘on scene’</a:t>
            </a:r>
          </a:p>
          <a:p>
            <a:pPr lvl="1">
              <a:buFont typeface="Arial" pitchFamily="34" charset="0"/>
              <a:buChar char="•"/>
            </a:pPr>
            <a:r>
              <a:rPr lang="en-AU" sz="1200" kern="1200" dirty="0" smtClean="0">
                <a:solidFill>
                  <a:schemeClr val="tx1"/>
                </a:solidFill>
                <a:latin typeface="+mn-lt"/>
                <a:ea typeface="+mn-ea"/>
                <a:cs typeface="+mn-cs"/>
              </a:rPr>
              <a:t> Asking them questions – which again occupies</a:t>
            </a:r>
            <a:r>
              <a:rPr lang="en-AU" sz="1200" kern="1200" baseline="0" dirty="0" smtClean="0">
                <a:solidFill>
                  <a:schemeClr val="tx1"/>
                </a:solidFill>
                <a:latin typeface="+mn-lt"/>
                <a:ea typeface="+mn-ea"/>
                <a:cs typeface="+mn-cs"/>
              </a:rPr>
              <a:t> them and keeps them present</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Providing them with a drink or something to eat</a:t>
            </a:r>
          </a:p>
          <a:p>
            <a:pPr lvl="1">
              <a:buFont typeface="Arial" pitchFamily="34" charset="0"/>
              <a:buChar char="•"/>
            </a:pPr>
            <a:r>
              <a:rPr lang="en-AU" sz="1200" kern="1200" dirty="0" smtClean="0">
                <a:solidFill>
                  <a:schemeClr val="tx1"/>
                </a:solidFill>
                <a:latin typeface="+mn-lt"/>
                <a:ea typeface="+mn-ea"/>
                <a:cs typeface="+mn-cs"/>
              </a:rPr>
              <a:t> Asking them to wait for the police to arrive.</a:t>
            </a:r>
          </a:p>
          <a:p>
            <a:pPr>
              <a:buFont typeface="Arial" pitchFamily="34" charset="0"/>
              <a:buChar char="•"/>
            </a:pPr>
            <a:endParaRPr lang="en-AU" noProof="0" dirty="0" smtClean="0"/>
          </a:p>
          <a:p>
            <a:pPr>
              <a:buFont typeface="Arial" pitchFamily="34" charset="0"/>
              <a:buNone/>
            </a:pPr>
            <a:r>
              <a:rPr lang="en-AU" b="1" noProof="0" dirty="0" smtClean="0"/>
              <a:t>Class</a:t>
            </a:r>
            <a:r>
              <a:rPr lang="en-AU" b="1" baseline="0" noProof="0" dirty="0" smtClean="0"/>
              <a:t> Activity – Demonstration and Practical</a:t>
            </a:r>
          </a:p>
          <a:p>
            <a:pPr>
              <a:buFont typeface="Arial" pitchFamily="34" charset="0"/>
              <a:buNone/>
            </a:pPr>
            <a:r>
              <a:rPr lang="en-AU" b="0" noProof="0" dirty="0" smtClean="0"/>
              <a:t>Trainer:</a:t>
            </a:r>
          </a:p>
          <a:p>
            <a:pPr>
              <a:buFont typeface="Arial" pitchFamily="34" charset="0"/>
              <a:buChar char="•"/>
            </a:pPr>
            <a:r>
              <a:rPr lang="en-AU" b="0" noProof="0" dirty="0" smtClean="0"/>
              <a:t> Demonstrates techniques to delay an offender until police arrive</a:t>
            </a:r>
          </a:p>
          <a:p>
            <a:pPr>
              <a:buFont typeface="Arial" pitchFamily="34" charset="0"/>
              <a:buChar char="•"/>
            </a:pPr>
            <a:r>
              <a:rPr lang="en-AU" b="0" noProof="0" dirty="0" smtClean="0"/>
              <a:t> Provides opportunity for students to practice same.</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unsafe areas as:</a:t>
            </a:r>
          </a:p>
          <a:p>
            <a:pPr>
              <a:buFont typeface="Arial" pitchFamily="34" charset="0"/>
              <a:buChar char="•"/>
            </a:pPr>
            <a:r>
              <a:rPr lang="en-AU" sz="1200" kern="1200" dirty="0" smtClean="0">
                <a:solidFill>
                  <a:schemeClr val="tx1"/>
                </a:solidFill>
                <a:latin typeface="+mn-lt"/>
                <a:ea typeface="+mn-ea"/>
                <a:cs typeface="+mn-cs"/>
              </a:rPr>
              <a:t> Areas which pose a risk to the safety of people – including:</a:t>
            </a:r>
          </a:p>
          <a:p>
            <a:pPr lvl="1">
              <a:buFont typeface="Arial" pitchFamily="34" charset="0"/>
              <a:buChar char="•"/>
            </a:pPr>
            <a:r>
              <a:rPr lang="en-AU" sz="1200" kern="1200" dirty="0" smtClean="0">
                <a:solidFill>
                  <a:schemeClr val="tx1"/>
                </a:solidFill>
                <a:latin typeface="+mn-lt"/>
                <a:ea typeface="+mn-ea"/>
                <a:cs typeface="+mn-cs"/>
              </a:rPr>
              <a:t> Guests/customers</a:t>
            </a:r>
          </a:p>
          <a:p>
            <a:pPr lvl="1">
              <a:buFont typeface="Arial" pitchFamily="34" charset="0"/>
              <a:buChar char="•"/>
            </a:pPr>
            <a:r>
              <a:rPr lang="en-AU" sz="1200" kern="1200" dirty="0" smtClean="0">
                <a:solidFill>
                  <a:schemeClr val="tx1"/>
                </a:solidFill>
                <a:latin typeface="+mn-lt"/>
                <a:ea typeface="+mn-ea"/>
                <a:cs typeface="+mn-cs"/>
              </a:rPr>
              <a:t> Members of the public</a:t>
            </a:r>
          </a:p>
          <a:p>
            <a:pPr lvl="1">
              <a:buFont typeface="Arial" pitchFamily="34" charset="0"/>
              <a:buChar char="•"/>
            </a:pPr>
            <a:r>
              <a:rPr lang="en-AU" sz="1200" kern="1200" dirty="0" smtClean="0">
                <a:solidFill>
                  <a:schemeClr val="tx1"/>
                </a:solidFill>
                <a:latin typeface="+mn-lt"/>
                <a:ea typeface="+mn-ea"/>
                <a:cs typeface="+mn-cs"/>
              </a:rPr>
              <a:t> Staff</a:t>
            </a:r>
          </a:p>
          <a:p>
            <a:pPr>
              <a:buFont typeface="Arial" pitchFamily="34" charset="0"/>
              <a:buChar char="•"/>
            </a:pPr>
            <a:r>
              <a:rPr lang="en-AU" sz="1200" kern="1200" dirty="0" smtClean="0">
                <a:solidFill>
                  <a:schemeClr val="tx1"/>
                </a:solidFill>
                <a:latin typeface="+mn-lt"/>
                <a:ea typeface="+mn-ea"/>
                <a:cs typeface="+mn-cs"/>
              </a:rPr>
              <a:t> Areas which, if left as they are, may cause damage to:</a:t>
            </a:r>
          </a:p>
          <a:p>
            <a:pPr lvl="1">
              <a:buFont typeface="Arial" pitchFamily="34" charset="0"/>
              <a:buChar char="•"/>
            </a:pPr>
            <a:r>
              <a:rPr lang="en-AU" sz="1200" kern="1200" dirty="0" smtClean="0">
                <a:solidFill>
                  <a:schemeClr val="tx1"/>
                </a:solidFill>
                <a:latin typeface="+mn-lt"/>
                <a:ea typeface="+mn-ea"/>
                <a:cs typeface="+mn-cs"/>
              </a:rPr>
              <a:t> The venue</a:t>
            </a:r>
          </a:p>
          <a:p>
            <a:pPr lvl="1">
              <a:buFont typeface="Arial" pitchFamily="34" charset="0"/>
              <a:buChar char="•"/>
            </a:pPr>
            <a:r>
              <a:rPr lang="en-AU" sz="1200" kern="1200" dirty="0" smtClean="0">
                <a:solidFill>
                  <a:schemeClr val="tx1"/>
                </a:solidFill>
                <a:latin typeface="+mn-lt"/>
                <a:ea typeface="+mn-ea"/>
                <a:cs typeface="+mn-cs"/>
              </a:rPr>
              <a:t> Assets and/or property. </a:t>
            </a:r>
          </a:p>
          <a:p>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examples of unsafe areas:</a:t>
            </a:r>
          </a:p>
          <a:p>
            <a:pPr>
              <a:buFont typeface="Arial" pitchFamily="34" charset="0"/>
              <a:buChar char="•"/>
            </a:pPr>
            <a:r>
              <a:rPr lang="en-AU" sz="1200" kern="1200" dirty="0" smtClean="0">
                <a:solidFill>
                  <a:schemeClr val="tx1"/>
                </a:solidFill>
                <a:latin typeface="+mn-lt"/>
                <a:ea typeface="+mn-ea"/>
                <a:cs typeface="+mn-cs"/>
              </a:rPr>
              <a:t> Areas where people are fighting or engaging in threatening or otherwise potentially dangerous behaviour</a:t>
            </a:r>
          </a:p>
          <a:p>
            <a:pPr>
              <a:buFont typeface="Arial" pitchFamily="34" charset="0"/>
              <a:buChar char="•"/>
            </a:pPr>
            <a:r>
              <a:rPr lang="en-AU" sz="1200" kern="1200" dirty="0" smtClean="0">
                <a:solidFill>
                  <a:schemeClr val="tx1"/>
                </a:solidFill>
                <a:latin typeface="+mn-lt"/>
                <a:ea typeface="+mn-ea"/>
                <a:cs typeface="+mn-cs"/>
              </a:rPr>
              <a:t> Situations where the building presents a danger – such as:</a:t>
            </a:r>
          </a:p>
          <a:p>
            <a:pPr lvl="1">
              <a:buFont typeface="Arial" pitchFamily="34" charset="0"/>
              <a:buChar char="•"/>
            </a:pPr>
            <a:r>
              <a:rPr lang="en-AU" sz="1200" kern="1200" dirty="0" smtClean="0">
                <a:solidFill>
                  <a:schemeClr val="tx1"/>
                </a:solidFill>
                <a:latin typeface="+mn-lt"/>
                <a:ea typeface="+mn-ea"/>
                <a:cs typeface="+mn-cs"/>
              </a:rPr>
              <a:t> Broken windows</a:t>
            </a:r>
          </a:p>
          <a:p>
            <a:pPr lvl="1">
              <a:buFont typeface="Arial" pitchFamily="34" charset="0"/>
              <a:buChar char="•"/>
            </a:pPr>
            <a:r>
              <a:rPr lang="en-AU" sz="1200" kern="1200" dirty="0" smtClean="0">
                <a:solidFill>
                  <a:schemeClr val="tx1"/>
                </a:solidFill>
                <a:latin typeface="+mn-lt"/>
                <a:ea typeface="+mn-ea"/>
                <a:cs typeface="+mn-cs"/>
              </a:rPr>
              <a:t> Spilled liquids on the floor</a:t>
            </a:r>
          </a:p>
          <a:p>
            <a:pPr lvl="1">
              <a:buFont typeface="Arial" pitchFamily="34" charset="0"/>
              <a:buChar char="•"/>
            </a:pPr>
            <a:r>
              <a:rPr lang="en-AU" sz="1200" kern="1200" dirty="0" smtClean="0">
                <a:solidFill>
                  <a:schemeClr val="tx1"/>
                </a:solidFill>
                <a:latin typeface="+mn-lt"/>
                <a:ea typeface="+mn-ea"/>
                <a:cs typeface="+mn-cs"/>
              </a:rPr>
              <a:t> Items which have been dislodged and are in danger of falling</a:t>
            </a:r>
          </a:p>
          <a:p>
            <a:pPr lvl="1">
              <a:buFont typeface="Arial" pitchFamily="34" charset="0"/>
              <a:buChar char="•"/>
            </a:pPr>
            <a:r>
              <a:rPr lang="en-AU" sz="1200" kern="1200" dirty="0" smtClean="0">
                <a:solidFill>
                  <a:schemeClr val="tx1"/>
                </a:solidFill>
                <a:latin typeface="+mn-lt"/>
                <a:ea typeface="+mn-ea"/>
                <a:cs typeface="+mn-cs"/>
              </a:rPr>
              <a:t> Machinery of equipment which is malfunctioning and creating the potential for explosion, fire or other injury</a:t>
            </a:r>
          </a:p>
          <a:p>
            <a:pPr>
              <a:buFont typeface="Arial" pitchFamily="34" charset="0"/>
              <a:buChar char="•"/>
            </a:pPr>
            <a:r>
              <a:rPr lang="en-AU" sz="1200" kern="1200" dirty="0" smtClean="0">
                <a:solidFill>
                  <a:schemeClr val="tx1"/>
                </a:solidFill>
                <a:latin typeface="+mn-lt"/>
                <a:ea typeface="+mn-ea"/>
                <a:cs typeface="+mn-cs"/>
              </a:rPr>
              <a:t> Circumstances where the weather or local environment presents a threat – such as:</a:t>
            </a:r>
          </a:p>
          <a:p>
            <a:pPr lvl="1">
              <a:buFont typeface="Arial" pitchFamily="34" charset="0"/>
              <a:buChar char="•"/>
            </a:pPr>
            <a:r>
              <a:rPr lang="en-AU" sz="1200" kern="1200" dirty="0" smtClean="0">
                <a:solidFill>
                  <a:schemeClr val="tx1"/>
                </a:solidFill>
                <a:latin typeface="+mn-lt"/>
                <a:ea typeface="+mn-ea"/>
                <a:cs typeface="+mn-cs"/>
              </a:rPr>
              <a:t> Excess wind</a:t>
            </a:r>
          </a:p>
          <a:p>
            <a:pPr lvl="1">
              <a:buFont typeface="Arial" pitchFamily="34" charset="0"/>
              <a:buChar char="•"/>
            </a:pPr>
            <a:r>
              <a:rPr lang="en-AU" sz="1200" kern="1200" dirty="0" smtClean="0">
                <a:solidFill>
                  <a:schemeClr val="tx1"/>
                </a:solidFill>
                <a:latin typeface="+mn-lt"/>
                <a:ea typeface="+mn-ea"/>
                <a:cs typeface="+mn-cs"/>
              </a:rPr>
              <a:t> Rain coming into the building</a:t>
            </a:r>
          </a:p>
          <a:p>
            <a:pPr lvl="1">
              <a:buFont typeface="Arial" pitchFamily="34" charset="0"/>
              <a:buChar char="•"/>
            </a:pPr>
            <a:r>
              <a:rPr lang="en-AU" sz="1200" kern="1200" dirty="0" smtClean="0">
                <a:solidFill>
                  <a:schemeClr val="tx1"/>
                </a:solidFill>
                <a:latin typeface="+mn-lt"/>
                <a:ea typeface="+mn-ea"/>
                <a:cs typeface="+mn-cs"/>
              </a:rPr>
              <a:t> Smoke from a nearby fire</a:t>
            </a:r>
          </a:p>
          <a:p>
            <a:pPr lvl="1">
              <a:buFont typeface="Arial" pitchFamily="34" charset="0"/>
              <a:buChar char="•"/>
            </a:pPr>
            <a:r>
              <a:rPr lang="en-AU" sz="1200" kern="1200" dirty="0" smtClean="0">
                <a:solidFill>
                  <a:schemeClr val="tx1"/>
                </a:solidFill>
                <a:latin typeface="+mn-lt"/>
                <a:ea typeface="+mn-ea"/>
                <a:cs typeface="+mn-cs"/>
              </a:rPr>
              <a:t> Fumes from a chemical spill which is close by </a:t>
            </a:r>
          </a:p>
          <a:p>
            <a:pPr>
              <a:buFont typeface="Arial" pitchFamily="34" charset="0"/>
              <a:buChar char="•"/>
            </a:pPr>
            <a:r>
              <a:rPr lang="en-AU" sz="1200" kern="1200" dirty="0" smtClean="0">
                <a:solidFill>
                  <a:schemeClr val="tx1"/>
                </a:solidFill>
                <a:latin typeface="+mn-lt"/>
                <a:ea typeface="+mn-ea"/>
                <a:cs typeface="+mn-cs"/>
              </a:rPr>
              <a:t> Emergency situations which create an unsafe area – such as:</a:t>
            </a:r>
          </a:p>
          <a:p>
            <a:pPr lvl="1">
              <a:buFont typeface="Arial" pitchFamily="34" charset="0"/>
              <a:buChar char="•"/>
            </a:pPr>
            <a:r>
              <a:rPr lang="en-AU" sz="1200" kern="1200" dirty="0" smtClean="0">
                <a:solidFill>
                  <a:schemeClr val="tx1"/>
                </a:solidFill>
                <a:latin typeface="+mn-lt"/>
                <a:ea typeface="+mn-ea"/>
                <a:cs typeface="+mn-cs"/>
              </a:rPr>
              <a:t> Fire in a room – or on a floor</a:t>
            </a:r>
          </a:p>
          <a:p>
            <a:pPr lvl="1">
              <a:buFont typeface="Arial" pitchFamily="34" charset="0"/>
              <a:buChar char="•"/>
            </a:pPr>
            <a:r>
              <a:rPr lang="en-AU" sz="1200" kern="1200" dirty="0" smtClean="0">
                <a:solidFill>
                  <a:schemeClr val="tx1"/>
                </a:solidFill>
                <a:latin typeface="+mn-lt"/>
                <a:ea typeface="+mn-ea"/>
                <a:cs typeface="+mn-cs"/>
              </a:rPr>
              <a:t> Gas leak in the kitchen with impact on the associated dining areas</a:t>
            </a:r>
          </a:p>
          <a:p>
            <a:pPr lvl="1">
              <a:buFont typeface="Arial" pitchFamily="34" charset="0"/>
              <a:buChar char="•"/>
            </a:pPr>
            <a:r>
              <a:rPr lang="en-AU" sz="1200" kern="1200" dirty="0" smtClean="0">
                <a:solidFill>
                  <a:schemeClr val="tx1"/>
                </a:solidFill>
                <a:latin typeface="+mn-lt"/>
                <a:ea typeface="+mn-ea"/>
                <a:cs typeface="+mn-cs"/>
              </a:rPr>
              <a:t> Riots in the street outside the venue.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advice about action to take to make safe unsafe areas:</a:t>
            </a:r>
          </a:p>
          <a:p>
            <a:pPr>
              <a:buFont typeface="Arial" pitchFamily="34" charset="0"/>
              <a:buChar char="•"/>
            </a:pPr>
            <a:r>
              <a:rPr lang="en-AU" sz="1200" kern="1200" dirty="0" smtClean="0">
                <a:solidFill>
                  <a:schemeClr val="tx1"/>
                </a:solidFill>
                <a:latin typeface="+mn-lt"/>
                <a:ea typeface="+mn-ea"/>
                <a:cs typeface="+mn-cs"/>
              </a:rPr>
              <a:t> Immediately report back on what you have found – advising:</a:t>
            </a:r>
          </a:p>
          <a:p>
            <a:pPr lvl="1">
              <a:buFont typeface="Arial" pitchFamily="34" charset="0"/>
              <a:buChar char="•"/>
            </a:pPr>
            <a:r>
              <a:rPr lang="en-AU" sz="1200" kern="1200" dirty="0" smtClean="0">
                <a:solidFill>
                  <a:schemeClr val="tx1"/>
                </a:solidFill>
                <a:latin typeface="+mn-lt"/>
                <a:ea typeface="+mn-ea"/>
                <a:cs typeface="+mn-cs"/>
              </a:rPr>
              <a:t> Location and nature of the problem</a:t>
            </a:r>
          </a:p>
          <a:p>
            <a:pPr lvl="1">
              <a:buFont typeface="Arial" pitchFamily="34" charset="0"/>
              <a:buChar char="•"/>
            </a:pPr>
            <a:r>
              <a:rPr lang="en-AU" sz="1200" kern="1200" dirty="0" smtClean="0">
                <a:solidFill>
                  <a:schemeClr val="tx1"/>
                </a:solidFill>
                <a:latin typeface="+mn-lt"/>
                <a:ea typeface="+mn-ea"/>
                <a:cs typeface="+mn-cs"/>
              </a:rPr>
              <a:t> Cause of problem – if known</a:t>
            </a:r>
          </a:p>
          <a:p>
            <a:pPr lvl="1">
              <a:buFont typeface="Arial" pitchFamily="34" charset="0"/>
              <a:buChar char="•"/>
            </a:pPr>
            <a:r>
              <a:rPr lang="en-AU" sz="1200" kern="1200" dirty="0" smtClean="0">
                <a:solidFill>
                  <a:schemeClr val="tx1"/>
                </a:solidFill>
                <a:latin typeface="+mn-lt"/>
                <a:ea typeface="+mn-ea"/>
                <a:cs typeface="+mn-cs"/>
              </a:rPr>
              <a:t> Possible impact – in terms of:</a:t>
            </a:r>
          </a:p>
          <a:p>
            <a:pPr lvl="2">
              <a:buFont typeface="Arial" pitchFamily="34" charset="0"/>
              <a:buChar char="•"/>
            </a:pPr>
            <a:r>
              <a:rPr lang="en-AU" sz="1200" kern="1200" dirty="0" smtClean="0">
                <a:solidFill>
                  <a:schemeClr val="tx1"/>
                </a:solidFill>
                <a:latin typeface="+mn-lt"/>
                <a:ea typeface="+mn-ea"/>
                <a:cs typeface="+mn-cs"/>
              </a:rPr>
              <a:t> People likely to be impacted</a:t>
            </a:r>
          </a:p>
          <a:p>
            <a:pPr lvl="2">
              <a:buFont typeface="Arial" pitchFamily="34" charset="0"/>
              <a:buChar char="•"/>
            </a:pPr>
            <a:r>
              <a:rPr lang="en-AU" sz="1200" kern="1200" dirty="0" smtClean="0">
                <a:solidFill>
                  <a:schemeClr val="tx1"/>
                </a:solidFill>
                <a:latin typeface="+mn-lt"/>
                <a:ea typeface="+mn-ea"/>
                <a:cs typeface="+mn-cs"/>
              </a:rPr>
              <a:t> Nature of the impact</a:t>
            </a:r>
          </a:p>
          <a:p>
            <a:pPr lvl="2">
              <a:buFont typeface="Arial" pitchFamily="34" charset="0"/>
              <a:buChar char="•"/>
            </a:pPr>
            <a:r>
              <a:rPr lang="en-AU" sz="1200" kern="1200" dirty="0" smtClean="0">
                <a:solidFill>
                  <a:schemeClr val="tx1"/>
                </a:solidFill>
                <a:latin typeface="+mn-lt"/>
                <a:ea typeface="+mn-ea"/>
                <a:cs typeface="+mn-cs"/>
              </a:rPr>
              <a:t> Impact site/s </a:t>
            </a:r>
          </a:p>
          <a:p>
            <a:pPr>
              <a:buFont typeface="Arial" pitchFamily="34" charset="0"/>
              <a:buChar char="•"/>
            </a:pPr>
            <a:r>
              <a:rPr lang="en-AU" sz="1200" kern="1200" dirty="0" smtClean="0">
                <a:solidFill>
                  <a:schemeClr val="tx1"/>
                </a:solidFill>
                <a:latin typeface="+mn-lt"/>
                <a:ea typeface="+mn-ea"/>
                <a:cs typeface="+mn-cs"/>
              </a:rPr>
              <a:t> Seek assistance/notify the relevant person where necessary – to:</a:t>
            </a:r>
          </a:p>
          <a:p>
            <a:pPr>
              <a:buFont typeface="Arial" pitchFamily="34" charset="0"/>
              <a:buChar char="•"/>
            </a:pPr>
            <a:r>
              <a:rPr lang="en-AU" sz="1200" kern="1200" dirty="0" smtClean="0">
                <a:solidFill>
                  <a:schemeClr val="tx1"/>
                </a:solidFill>
                <a:latin typeface="+mn-lt"/>
                <a:ea typeface="+mn-ea"/>
                <a:cs typeface="+mn-cs"/>
              </a:rPr>
              <a:t> Get assistance moving towards you</a:t>
            </a:r>
          </a:p>
          <a:p>
            <a:pPr>
              <a:buFont typeface="Arial" pitchFamily="34" charset="0"/>
              <a:buChar char="•"/>
            </a:pPr>
            <a:r>
              <a:rPr lang="en-AU" sz="1200" kern="1200" dirty="0" smtClean="0">
                <a:solidFill>
                  <a:schemeClr val="tx1"/>
                </a:solidFill>
                <a:latin typeface="+mn-lt"/>
                <a:ea typeface="+mn-ea"/>
                <a:cs typeface="+mn-cs"/>
              </a:rPr>
              <a:t> Initiate any programmed internal response – such as implementing an Emergency Management Plan for the specific type of issue which has been identified</a:t>
            </a:r>
          </a:p>
          <a:p>
            <a:pPr>
              <a:buFont typeface="Arial" pitchFamily="34" charset="0"/>
              <a:buChar char="•"/>
            </a:pPr>
            <a:r>
              <a:rPr lang="en-AU" sz="1200" kern="1200" dirty="0" smtClean="0">
                <a:solidFill>
                  <a:schemeClr val="tx1"/>
                </a:solidFill>
                <a:latin typeface="+mn-lt"/>
                <a:ea typeface="+mn-ea"/>
                <a:cs typeface="+mn-cs"/>
              </a:rPr>
              <a:t> Determine if there is need to activate an alarm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about action to take to make safe unsafe areas:</a:t>
            </a:r>
          </a:p>
          <a:p>
            <a:pPr lvl="0">
              <a:buFont typeface="Arial" pitchFamily="34" charset="0"/>
              <a:buChar char="•"/>
            </a:pPr>
            <a:r>
              <a:rPr lang="en-AU" sz="1200" kern="1200" dirty="0" smtClean="0">
                <a:solidFill>
                  <a:schemeClr val="tx1"/>
                </a:solidFill>
                <a:latin typeface="+mn-lt"/>
                <a:ea typeface="+mn-ea"/>
                <a:cs typeface="+mn-cs"/>
              </a:rPr>
              <a:t> Make safe unsafe areas to the best of your ability as possible ‘at the time’ – by taking basic actions such as:</a:t>
            </a:r>
          </a:p>
          <a:p>
            <a:pPr lvl="1">
              <a:buFont typeface="Arial" pitchFamily="34" charset="0"/>
              <a:buChar char="•"/>
            </a:pPr>
            <a:r>
              <a:rPr lang="en-AU" sz="1200" kern="1200" dirty="0" smtClean="0">
                <a:solidFill>
                  <a:schemeClr val="tx1"/>
                </a:solidFill>
                <a:latin typeface="+mn-lt"/>
                <a:ea typeface="+mn-ea"/>
                <a:cs typeface="+mn-cs"/>
              </a:rPr>
              <a:t> Closing/locking doors, windows and/or rooms</a:t>
            </a:r>
          </a:p>
          <a:p>
            <a:pPr lvl="1">
              <a:buFont typeface="Arial" pitchFamily="34" charset="0"/>
              <a:buChar char="•"/>
            </a:pPr>
            <a:r>
              <a:rPr lang="en-AU" sz="1200" kern="1200" dirty="0" smtClean="0">
                <a:solidFill>
                  <a:schemeClr val="tx1"/>
                </a:solidFill>
                <a:latin typeface="+mn-lt"/>
                <a:ea typeface="+mn-ea"/>
                <a:cs typeface="+mn-cs"/>
              </a:rPr>
              <a:t> Erecting barricades to prevent access</a:t>
            </a:r>
          </a:p>
          <a:p>
            <a:pPr lvl="1">
              <a:buFont typeface="Arial" pitchFamily="34" charset="0"/>
              <a:buChar char="•"/>
            </a:pPr>
            <a:r>
              <a:rPr lang="en-AU" sz="1200" kern="1200" dirty="0" smtClean="0">
                <a:solidFill>
                  <a:schemeClr val="tx1"/>
                </a:solidFill>
                <a:latin typeface="+mn-lt"/>
                <a:ea typeface="+mn-ea"/>
                <a:cs typeface="+mn-cs"/>
              </a:rPr>
              <a:t> Restricting access to unsafe areas by directing people elsewhere away from the danger and out of harms’ way</a:t>
            </a:r>
          </a:p>
          <a:p>
            <a:pPr lvl="1">
              <a:buFont typeface="Arial" pitchFamily="34" charset="0"/>
              <a:buChar char="•"/>
            </a:pPr>
            <a:r>
              <a:rPr lang="en-AU" sz="1200" kern="1200" dirty="0" smtClean="0">
                <a:solidFill>
                  <a:schemeClr val="tx1"/>
                </a:solidFill>
                <a:latin typeface="+mn-lt"/>
                <a:ea typeface="+mn-ea"/>
                <a:cs typeface="+mn-cs"/>
              </a:rPr>
              <a:t> Directing people to move away – and advising where to go and how to get there</a:t>
            </a:r>
          </a:p>
          <a:p>
            <a:pPr lvl="1">
              <a:buFont typeface="Arial" pitchFamily="34" charset="0"/>
              <a:buChar char="•"/>
            </a:pPr>
            <a:r>
              <a:rPr lang="en-AU" sz="1200" kern="1200" dirty="0" smtClean="0">
                <a:solidFill>
                  <a:schemeClr val="tx1"/>
                </a:solidFill>
                <a:latin typeface="+mn-lt"/>
                <a:ea typeface="+mn-ea"/>
                <a:cs typeface="+mn-cs"/>
              </a:rPr>
              <a:t> Physically removing dangerous items – only where this is totally safe to do so</a:t>
            </a:r>
          </a:p>
          <a:p>
            <a:pPr lvl="1">
              <a:buFont typeface="Arial" pitchFamily="34" charset="0"/>
              <a:buChar char="•"/>
            </a:pPr>
            <a:r>
              <a:rPr lang="en-AU" sz="1200" kern="1200" dirty="0" smtClean="0">
                <a:solidFill>
                  <a:schemeClr val="tx1"/>
                </a:solidFill>
                <a:latin typeface="+mn-lt"/>
                <a:ea typeface="+mn-ea"/>
                <a:cs typeface="+mn-cs"/>
              </a:rPr>
              <a:t> Remaining in place to provide a physical presence/deterrent – and to stop people entering the dangerous/unsafe area</a:t>
            </a:r>
          </a:p>
          <a:p>
            <a:pPr lvl="1">
              <a:buFont typeface="Arial" pitchFamily="34" charset="0"/>
              <a:buChar char="•"/>
            </a:pPr>
            <a:r>
              <a:rPr lang="en-AU" sz="1200" kern="1200" dirty="0" smtClean="0">
                <a:solidFill>
                  <a:schemeClr val="tx1"/>
                </a:solidFill>
                <a:latin typeface="+mn-lt"/>
                <a:ea typeface="+mn-ea"/>
                <a:cs typeface="+mn-cs"/>
              </a:rPr>
              <a:t> Turning on lights – to:</a:t>
            </a:r>
          </a:p>
          <a:p>
            <a:pPr lvl="2">
              <a:buFont typeface="Arial" pitchFamily="34" charset="0"/>
              <a:buChar char="•"/>
            </a:pPr>
            <a:r>
              <a:rPr lang="en-AU" sz="1200" kern="1200" dirty="0" smtClean="0">
                <a:solidFill>
                  <a:schemeClr val="tx1"/>
                </a:solidFill>
                <a:latin typeface="+mn-lt"/>
                <a:ea typeface="+mn-ea"/>
                <a:cs typeface="+mn-cs"/>
              </a:rPr>
              <a:t> Deter people who should not be there</a:t>
            </a:r>
          </a:p>
          <a:p>
            <a:pPr lvl="2">
              <a:buFont typeface="Arial" pitchFamily="34" charset="0"/>
              <a:buChar char="•"/>
            </a:pPr>
            <a:r>
              <a:rPr lang="en-AU" sz="1200" kern="1200" dirty="0" smtClean="0">
                <a:solidFill>
                  <a:schemeClr val="tx1"/>
                </a:solidFill>
                <a:latin typeface="+mn-lt"/>
                <a:ea typeface="+mn-ea"/>
                <a:cs typeface="+mn-cs"/>
              </a:rPr>
              <a:t> Give people light by which to see where they are going</a:t>
            </a:r>
          </a:p>
          <a:p>
            <a:pPr>
              <a:buFont typeface="Arial" pitchFamily="34" charset="0"/>
              <a:buNone/>
            </a:pPr>
            <a:endParaRPr lang="en-AU" noProof="0" dirty="0" smtClean="0"/>
          </a:p>
          <a:p>
            <a:pPr>
              <a:buFont typeface="Arial" pitchFamily="34" charset="0"/>
              <a:buNone/>
            </a:pPr>
            <a:r>
              <a:rPr lang="en-AU" b="1" noProof="0" dirty="0" smtClean="0"/>
              <a:t>Class Activity – Role Play</a:t>
            </a:r>
          </a:p>
          <a:p>
            <a:pPr>
              <a:buFont typeface="Arial" pitchFamily="34" charset="0"/>
              <a:buNone/>
            </a:pPr>
            <a:r>
              <a:rPr lang="en-AU" b="0" noProof="0" dirty="0" smtClean="0"/>
              <a:t>Trainer conducts role play</a:t>
            </a:r>
            <a:r>
              <a:rPr lang="en-AU" b="0" baseline="0" noProof="0" dirty="0" smtClean="0"/>
              <a:t> asking students to:</a:t>
            </a:r>
          </a:p>
          <a:p>
            <a:pPr>
              <a:buFont typeface="Arial" pitchFamily="34" charset="0"/>
              <a:buChar char="•"/>
            </a:pPr>
            <a:r>
              <a:rPr lang="en-AU" b="0" baseline="0" noProof="0" dirty="0" smtClean="0"/>
              <a:t> Address an unsafe situation – including:</a:t>
            </a:r>
          </a:p>
          <a:p>
            <a:pPr lvl="1">
              <a:buFont typeface="Arial" pitchFamily="34" charset="0"/>
              <a:buChar char="•"/>
            </a:pPr>
            <a:r>
              <a:rPr lang="en-AU" b="0" baseline="0" noProof="0" dirty="0" smtClean="0"/>
              <a:t> Reporting same</a:t>
            </a:r>
          </a:p>
          <a:p>
            <a:pPr lvl="1">
              <a:buFont typeface="Arial" pitchFamily="34" charset="0"/>
              <a:buChar char="•"/>
            </a:pPr>
            <a:r>
              <a:rPr lang="en-AU" b="0" baseline="0" noProof="0" dirty="0" smtClean="0"/>
              <a:t> Determining action to take</a:t>
            </a:r>
          </a:p>
          <a:p>
            <a:pPr lvl="1">
              <a:buFont typeface="Arial" pitchFamily="34" charset="0"/>
              <a:buChar char="•"/>
            </a:pPr>
            <a:r>
              <a:rPr lang="en-AU" b="0" baseline="0" noProof="0" dirty="0" smtClean="0"/>
              <a:t> Asking people to move away</a:t>
            </a:r>
          </a:p>
          <a:p>
            <a:pPr lvl="1">
              <a:buFont typeface="Arial" pitchFamily="34" charset="0"/>
              <a:buChar char="•"/>
            </a:pPr>
            <a:r>
              <a:rPr lang="en-AU" b="0" baseline="0" noProof="0" dirty="0" smtClean="0"/>
              <a:t> Protecting the area. </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all ‘suspicious packages’ must be responded to appropriately emphasising venues are more aware of the possibility of terrorist activity today more than ever before meaning staff should be aware of any packages:</a:t>
            </a:r>
          </a:p>
          <a:p>
            <a:pPr>
              <a:buFont typeface="Arial" pitchFamily="34" charset="0"/>
              <a:buChar char="•"/>
            </a:pPr>
            <a:r>
              <a:rPr lang="en-AU" sz="1200" kern="1200" dirty="0" smtClean="0">
                <a:solidFill>
                  <a:schemeClr val="tx1"/>
                </a:solidFill>
                <a:latin typeface="+mn-lt"/>
                <a:ea typeface="+mn-ea"/>
                <a:cs typeface="+mn-cs"/>
              </a:rPr>
              <a:t> Left lying around </a:t>
            </a:r>
          </a:p>
          <a:p>
            <a:pPr>
              <a:buFont typeface="Arial" pitchFamily="34" charset="0"/>
              <a:buChar char="•"/>
            </a:pPr>
            <a:r>
              <a:rPr lang="en-AU" sz="1200" kern="1200" dirty="0" smtClean="0">
                <a:solidFill>
                  <a:schemeClr val="tx1"/>
                </a:solidFill>
                <a:latin typeface="+mn-lt"/>
                <a:ea typeface="+mn-ea"/>
                <a:cs typeface="+mn-cs"/>
              </a:rPr>
              <a:t> Unattended </a:t>
            </a:r>
          </a:p>
          <a:p>
            <a:pPr>
              <a:buFont typeface="Arial" pitchFamily="34" charset="0"/>
              <a:buChar char="•"/>
            </a:pPr>
            <a:r>
              <a:rPr lang="en-AU" sz="1200" kern="1200" dirty="0" smtClean="0">
                <a:solidFill>
                  <a:schemeClr val="tx1"/>
                </a:solidFill>
                <a:latin typeface="+mn-lt"/>
                <a:ea typeface="+mn-ea"/>
                <a:cs typeface="+mn-cs"/>
              </a:rPr>
              <a:t> In a place they should not be.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urges students to </a:t>
            </a:r>
            <a:r>
              <a:rPr lang="en-AU" sz="1200" kern="1200" dirty="0" smtClean="0">
                <a:solidFill>
                  <a:schemeClr val="tx1"/>
                </a:solidFill>
                <a:latin typeface="+mn-lt"/>
                <a:ea typeface="+mn-ea"/>
                <a:cs typeface="+mn-cs"/>
              </a:rPr>
              <a:t>always err on the side of caution when they think you have identified a suspicious package and never be afraid of:</a:t>
            </a:r>
          </a:p>
          <a:p>
            <a:pPr>
              <a:buFont typeface="Arial" pitchFamily="34" charset="0"/>
              <a:buChar char="•"/>
            </a:pPr>
            <a:r>
              <a:rPr lang="en-AU" sz="1200" kern="1200" dirty="0" smtClean="0">
                <a:solidFill>
                  <a:schemeClr val="tx1"/>
                </a:solidFill>
                <a:latin typeface="+mn-lt"/>
                <a:ea typeface="+mn-ea"/>
                <a:cs typeface="+mn-cs"/>
              </a:rPr>
              <a:t> Notifying management – and getting a supervisor/manager involved in the situation</a:t>
            </a:r>
          </a:p>
          <a:p>
            <a:pPr>
              <a:buFont typeface="Arial" pitchFamily="34" charset="0"/>
              <a:buChar char="•"/>
            </a:pPr>
            <a:r>
              <a:rPr lang="en-AU" sz="1200" kern="1200" dirty="0" smtClean="0">
                <a:solidFill>
                  <a:schemeClr val="tx1"/>
                </a:solidFill>
                <a:latin typeface="+mn-lt"/>
                <a:ea typeface="+mn-ea"/>
                <a:cs typeface="+mn-cs"/>
              </a:rPr>
              <a:t> Clearing people away – which may be to the outside of the building</a:t>
            </a:r>
          </a:p>
          <a:p>
            <a:pPr>
              <a:buFont typeface="Arial" pitchFamily="34" charset="0"/>
              <a:buChar char="•"/>
            </a:pPr>
            <a:r>
              <a:rPr lang="en-AU" sz="1200" kern="1200" dirty="0" smtClean="0">
                <a:solidFill>
                  <a:schemeClr val="tx1"/>
                </a:solidFill>
                <a:latin typeface="+mn-lt"/>
                <a:ea typeface="+mn-ea"/>
                <a:cs typeface="+mn-cs"/>
              </a:rPr>
              <a:t> Contacting the authorities.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where </a:t>
            </a:r>
            <a:r>
              <a:rPr lang="en-AU" sz="1200" kern="1200" dirty="0" smtClean="0">
                <a:solidFill>
                  <a:schemeClr val="tx1"/>
                </a:solidFill>
                <a:latin typeface="+mn-lt"/>
                <a:ea typeface="+mn-ea"/>
                <a:cs typeface="+mn-cs"/>
              </a:rPr>
              <a:t>a suspicious package is identified, the appropriate response is:</a:t>
            </a:r>
          </a:p>
          <a:p>
            <a:pPr>
              <a:buFont typeface="Arial" pitchFamily="34" charset="0"/>
              <a:buChar char="•"/>
            </a:pPr>
            <a:r>
              <a:rPr lang="en-AU" sz="1200" kern="1200" dirty="0" smtClean="0">
                <a:solidFill>
                  <a:schemeClr val="tx1"/>
                </a:solidFill>
                <a:latin typeface="+mn-lt"/>
                <a:ea typeface="+mn-ea"/>
                <a:cs typeface="+mn-cs"/>
              </a:rPr>
              <a:t> Do not touch it – leave it alone</a:t>
            </a:r>
          </a:p>
          <a:p>
            <a:pPr>
              <a:buFont typeface="Arial" pitchFamily="34" charset="0"/>
              <a:buChar char="•"/>
            </a:pPr>
            <a:r>
              <a:rPr lang="en-AU" sz="1200" kern="1200" dirty="0" smtClean="0">
                <a:solidFill>
                  <a:schemeClr val="tx1"/>
                </a:solidFill>
                <a:latin typeface="+mn-lt"/>
                <a:ea typeface="+mn-ea"/>
                <a:cs typeface="+mn-cs"/>
              </a:rPr>
              <a:t> Make immediate local enquiries to see if you can identify the owner – the owner may have just wandered away, be speaking to staff at reception or be at the bar obtaining a drink</a:t>
            </a:r>
          </a:p>
          <a:p>
            <a:pPr>
              <a:buFont typeface="Arial" pitchFamily="34" charset="0"/>
              <a:buChar char="•"/>
            </a:pPr>
            <a:r>
              <a:rPr lang="en-AU" sz="1200" kern="1200" dirty="0" smtClean="0">
                <a:solidFill>
                  <a:schemeClr val="tx1"/>
                </a:solidFill>
                <a:latin typeface="+mn-lt"/>
                <a:ea typeface="+mn-ea"/>
                <a:cs typeface="+mn-cs"/>
              </a:rPr>
              <a:t> Phone the police and report the finding – stay on the line until told to hang up:  answer the questions asked to the best of your ability.</a:t>
            </a:r>
          </a:p>
          <a:p>
            <a:pPr lvl="1">
              <a:buFont typeface="Arial" pitchFamily="34" charset="0"/>
              <a:buChar char="•"/>
            </a:pPr>
            <a:r>
              <a:rPr lang="en-AU" sz="1200" kern="1200" dirty="0" smtClean="0">
                <a:solidFill>
                  <a:schemeClr val="tx1"/>
                </a:solidFill>
                <a:latin typeface="+mn-lt"/>
                <a:ea typeface="+mn-ea"/>
                <a:cs typeface="+mn-cs"/>
              </a:rPr>
              <a:t> Internal requirements may you to notify management first: adhere to venue policy in this regard.</a:t>
            </a:r>
          </a:p>
          <a:p>
            <a:pPr>
              <a:buFont typeface="Arial" pitchFamily="34" charset="0"/>
              <a:buChar char="•"/>
            </a:pPr>
            <a:r>
              <a:rPr lang="en-AU" sz="1200" kern="1200" dirty="0" smtClean="0">
                <a:solidFill>
                  <a:schemeClr val="tx1"/>
                </a:solidFill>
                <a:latin typeface="+mn-lt"/>
                <a:ea typeface="+mn-ea"/>
                <a:cs typeface="+mn-cs"/>
              </a:rPr>
              <a:t> Evacuate people from the immediate area – you may elect to evacuate people from a wider area depending on the nature of what you have found</a:t>
            </a:r>
          </a:p>
          <a:p>
            <a:pPr>
              <a:buFont typeface="Arial" pitchFamily="34" charset="0"/>
              <a:buChar char="•"/>
            </a:pPr>
            <a:r>
              <a:rPr lang="en-AU" sz="1200" kern="1200" dirty="0" smtClean="0">
                <a:solidFill>
                  <a:schemeClr val="tx1"/>
                </a:solidFill>
                <a:latin typeface="+mn-lt"/>
                <a:ea typeface="+mn-ea"/>
                <a:cs typeface="+mn-cs"/>
              </a:rPr>
              <a:t> Turn off anything likely to trigger an explosion, such as mobile phones, pagers, electronic devices.</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Police representative to attend and discuss with students the accepted/approved local response to a ‘suspicious package’.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additional points to consider when faced with a suspicious package situation:</a:t>
            </a:r>
          </a:p>
          <a:p>
            <a:pPr>
              <a:buFont typeface="Arial" pitchFamily="34" charset="0"/>
              <a:buChar char="•"/>
            </a:pPr>
            <a:r>
              <a:rPr lang="en-AU" sz="1200" kern="1200" dirty="0" smtClean="0">
                <a:solidFill>
                  <a:schemeClr val="tx1"/>
                </a:solidFill>
                <a:latin typeface="+mn-lt"/>
                <a:ea typeface="+mn-ea"/>
                <a:cs typeface="+mn-cs"/>
              </a:rPr>
              <a:t> There is no such thing as a definition of a suspicious package – many items which do not look suspicious have, in fact, concealed a device that has exploded.</a:t>
            </a:r>
          </a:p>
          <a:p>
            <a:pPr>
              <a:buFont typeface="Arial" pitchFamily="34" charset="0"/>
              <a:buChar char="•"/>
            </a:pPr>
            <a:r>
              <a:rPr lang="en-AU" sz="1200" kern="1200" dirty="0" smtClean="0">
                <a:solidFill>
                  <a:schemeClr val="tx1"/>
                </a:solidFill>
                <a:latin typeface="+mn-lt"/>
                <a:ea typeface="+mn-ea"/>
                <a:cs typeface="+mn-cs"/>
              </a:rPr>
              <a:t> There are indications a package may conceal a device – and experts know what to look for. You are not an expert.</a:t>
            </a:r>
          </a:p>
          <a:p>
            <a:pPr lvl="1">
              <a:buFont typeface="Arial" pitchFamily="34" charset="0"/>
              <a:buChar char="•"/>
            </a:pPr>
            <a:r>
              <a:rPr lang="en-AU" sz="1200" kern="1200" dirty="0" smtClean="0">
                <a:solidFill>
                  <a:schemeClr val="tx1"/>
                </a:solidFill>
                <a:latin typeface="+mn-lt"/>
                <a:ea typeface="+mn-ea"/>
                <a:cs typeface="+mn-cs"/>
              </a:rPr>
              <a:t> The problem is if you examine a package and believe it has no tell-tale signs it is a bomb, you may move it and by so doing, detonate it.</a:t>
            </a:r>
          </a:p>
          <a:p>
            <a:pPr lvl="1">
              <a:buFont typeface="Arial" pitchFamily="34" charset="0"/>
              <a:buChar char="•"/>
            </a:pPr>
            <a:r>
              <a:rPr lang="en-AU" sz="1200" kern="1200" dirty="0" smtClean="0">
                <a:solidFill>
                  <a:schemeClr val="tx1"/>
                </a:solidFill>
                <a:latin typeface="+mn-lt"/>
                <a:ea typeface="+mn-ea"/>
                <a:cs typeface="+mn-cs"/>
              </a:rPr>
              <a:t> It is for this reason these notes have deliberately omitted information about what signs to look for.</a:t>
            </a:r>
          </a:p>
          <a:p>
            <a:pPr lvl="1">
              <a:buFont typeface="Arial" pitchFamily="34" charset="0"/>
              <a:buChar char="•"/>
            </a:pPr>
            <a:r>
              <a:rPr lang="en-AU" sz="1200" kern="1200" dirty="0" smtClean="0">
                <a:solidFill>
                  <a:schemeClr val="tx1"/>
                </a:solidFill>
                <a:latin typeface="+mn-lt"/>
                <a:ea typeface="+mn-ea"/>
                <a:cs typeface="+mn-cs"/>
              </a:rPr>
              <a:t> You are urged to treat every suspicious package with the utmost care and respect: follow the advice given above.</a:t>
            </a:r>
          </a:p>
          <a:p>
            <a:pPr>
              <a:buFont typeface="Arial" pitchFamily="34" charset="0"/>
              <a:buChar char="•"/>
            </a:pPr>
            <a:r>
              <a:rPr lang="en-AU" sz="1200" kern="1200" dirty="0" smtClean="0">
                <a:solidFill>
                  <a:schemeClr val="tx1"/>
                </a:solidFill>
                <a:latin typeface="+mn-lt"/>
                <a:ea typeface="+mn-ea"/>
                <a:cs typeface="+mn-cs"/>
              </a:rPr>
              <a:t> When the police have been notified, they will attend and assist with evacuation, as well as determining which other services should be called in.</a:t>
            </a:r>
          </a:p>
          <a:p>
            <a:pPr>
              <a:buFont typeface="Arial" pitchFamily="34" charset="0"/>
              <a:buChar char="•"/>
            </a:pPr>
            <a:r>
              <a:rPr lang="en-AU" sz="1200" kern="1200" dirty="0" smtClean="0">
                <a:solidFill>
                  <a:schemeClr val="tx1"/>
                </a:solidFill>
                <a:latin typeface="+mn-lt"/>
                <a:ea typeface="+mn-ea"/>
                <a:cs typeface="+mn-cs"/>
              </a:rPr>
              <a:t> While you do not want to overreact to suspicious package situations, it is important to make the decision relatively quickly about whether or not 'a situation' exists.</a:t>
            </a:r>
          </a:p>
          <a:p>
            <a:pPr lvl="1">
              <a:buFont typeface="Arial" pitchFamily="34" charset="0"/>
              <a:buChar char="•"/>
            </a:pPr>
            <a:r>
              <a:rPr lang="en-AU" sz="1200" kern="1200" dirty="0" smtClean="0">
                <a:solidFill>
                  <a:schemeClr val="tx1"/>
                </a:solidFill>
                <a:latin typeface="+mn-lt"/>
                <a:ea typeface="+mn-ea"/>
                <a:cs typeface="+mn-cs"/>
              </a:rPr>
              <a:t> Commonly individuals are reluctant to contact authorities in case there is not a problem, and they think they will then be made to look foolish – you must overcome this thought. </a:t>
            </a:r>
          </a:p>
          <a:p>
            <a:pPr lvl="1">
              <a:buFont typeface="Arial" pitchFamily="34" charset="0"/>
              <a:buChar char="•"/>
            </a:pPr>
            <a:r>
              <a:rPr lang="en-AU" sz="1200" kern="1200" dirty="0" smtClean="0">
                <a:solidFill>
                  <a:schemeClr val="tx1"/>
                </a:solidFill>
                <a:latin typeface="+mn-lt"/>
                <a:ea typeface="+mn-ea"/>
                <a:cs typeface="+mn-cs"/>
              </a:rPr>
              <a:t> It really is a case of being better safe than sorry.</a:t>
            </a:r>
          </a:p>
          <a:p>
            <a:pPr>
              <a:buFont typeface="Arial" pitchFamily="34" charset="0"/>
              <a:buChar char="•"/>
            </a:pPr>
            <a:r>
              <a:rPr lang="en-AU" sz="1200" kern="1200" dirty="0" smtClean="0">
                <a:solidFill>
                  <a:schemeClr val="tx1"/>
                </a:solidFill>
                <a:latin typeface="+mn-lt"/>
                <a:ea typeface="+mn-ea"/>
                <a:cs typeface="+mn-cs"/>
              </a:rPr>
              <a:t> To get the optimum results from a bomb, terrorists rely on:</a:t>
            </a:r>
          </a:p>
          <a:p>
            <a:pPr lvl="1">
              <a:buFont typeface="Arial" pitchFamily="34" charset="0"/>
              <a:buChar char="•"/>
            </a:pPr>
            <a:r>
              <a:rPr lang="en-US" sz="1200" kern="1200" dirty="0" smtClean="0">
                <a:solidFill>
                  <a:schemeClr val="tx1"/>
                </a:solidFill>
                <a:latin typeface="+mn-lt"/>
                <a:ea typeface="+mn-ea"/>
                <a:cs typeface="+mn-cs"/>
              </a:rPr>
              <a:t> Your lack of observation to detect the package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Your reluctance to act.</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direction for students if they receive a bomb threat:</a:t>
            </a:r>
          </a:p>
          <a:p>
            <a:pPr>
              <a:buFont typeface="Arial" pitchFamily="34" charset="0"/>
              <a:buChar char="•"/>
            </a:pPr>
            <a:r>
              <a:rPr lang="en-AU" sz="1200" kern="1200" dirty="0" smtClean="0">
                <a:solidFill>
                  <a:schemeClr val="tx1"/>
                </a:solidFill>
                <a:latin typeface="+mn-lt"/>
                <a:ea typeface="+mn-ea"/>
                <a:cs typeface="+mn-cs"/>
              </a:rPr>
              <a:t> When you receive a bomb threat over the telephone, handle the call calmly</a:t>
            </a:r>
          </a:p>
          <a:p>
            <a:pPr>
              <a:buFont typeface="Arial" pitchFamily="34" charset="0"/>
              <a:buChar char="•"/>
            </a:pPr>
            <a:r>
              <a:rPr lang="en-AU" sz="1200" kern="1200" dirty="0" smtClean="0">
                <a:solidFill>
                  <a:schemeClr val="tx1"/>
                </a:solidFill>
                <a:latin typeface="+mn-lt"/>
                <a:ea typeface="+mn-ea"/>
                <a:cs typeface="+mn-cs"/>
              </a:rPr>
              <a:t> Make sure you listen attentively for issues which may help identify the caller and/or the location from where the call was made</a:t>
            </a:r>
          </a:p>
          <a:p>
            <a:pPr>
              <a:buFont typeface="Arial" pitchFamily="34" charset="0"/>
              <a:buChar char="•"/>
            </a:pPr>
            <a:r>
              <a:rPr lang="en-AU" sz="1200" kern="1200" dirty="0" smtClean="0">
                <a:solidFill>
                  <a:schemeClr val="tx1"/>
                </a:solidFill>
                <a:latin typeface="+mn-lt"/>
                <a:ea typeface="+mn-ea"/>
                <a:cs typeface="+mn-cs"/>
              </a:rPr>
              <a:t> Venues may provide a ‘Bomb Threat Checklist’ near telephones to assist in this regard.</a:t>
            </a:r>
          </a:p>
          <a:p>
            <a:pPr>
              <a:buFont typeface="Arial" pitchFamily="34" charset="0"/>
              <a:buNone/>
            </a:pPr>
            <a:endParaRPr lang="en-AU" noProof="0" dirty="0" smtClean="0"/>
          </a:p>
          <a:p>
            <a:pPr>
              <a:buFont typeface="Arial" pitchFamily="34" charset="0"/>
              <a:buNone/>
            </a:pPr>
            <a:r>
              <a:rPr lang="en-AU" b="1" noProof="0" dirty="0" smtClean="0"/>
              <a:t>Class Activity – Handout</a:t>
            </a:r>
          </a:p>
          <a:p>
            <a:pPr>
              <a:buFont typeface="Arial" pitchFamily="34" charset="0"/>
              <a:buNone/>
            </a:pPr>
            <a:r>
              <a:rPr lang="en-AU" b="0" noProof="0" dirty="0" smtClean="0"/>
              <a:t>Trainer distributes and discusses sample of Bomb Threat Checklist.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details which should be captured when receiving a bomb threat telephone call:</a:t>
            </a:r>
          </a:p>
          <a:p>
            <a:pPr>
              <a:buFont typeface="Arial" pitchFamily="34" charset="0"/>
              <a:buChar char="•"/>
            </a:pPr>
            <a:r>
              <a:rPr lang="en-AU" sz="1200" kern="1200" dirty="0" smtClean="0">
                <a:solidFill>
                  <a:schemeClr val="tx1"/>
                </a:solidFill>
                <a:latin typeface="+mn-lt"/>
                <a:ea typeface="+mn-ea"/>
                <a:cs typeface="+mn-cs"/>
              </a:rPr>
              <a:t> Background noises – which may relate to:</a:t>
            </a:r>
          </a:p>
          <a:p>
            <a:pPr lvl="1">
              <a:buFont typeface="Arial" pitchFamily="34" charset="0"/>
              <a:buChar char="•"/>
            </a:pPr>
            <a:r>
              <a:rPr lang="en-AU" sz="1200" kern="1200" dirty="0" smtClean="0">
                <a:solidFill>
                  <a:schemeClr val="tx1"/>
                </a:solidFill>
                <a:latin typeface="+mn-lt"/>
                <a:ea typeface="+mn-ea"/>
                <a:cs typeface="+mn-cs"/>
              </a:rPr>
              <a:t> Street and/or house noises; Aircraft noises; Music; Other voices; Machinery</a:t>
            </a:r>
          </a:p>
          <a:p>
            <a:pPr>
              <a:buFont typeface="Arial" pitchFamily="34" charset="0"/>
              <a:buChar char="•"/>
            </a:pPr>
            <a:r>
              <a:rPr lang="en-AU" sz="1200" kern="1200" dirty="0" smtClean="0">
                <a:solidFill>
                  <a:schemeClr val="tx1"/>
                </a:solidFill>
                <a:latin typeface="+mn-lt"/>
                <a:ea typeface="+mn-ea"/>
                <a:cs typeface="+mn-cs"/>
              </a:rPr>
              <a:t> Details about the caller – such as:</a:t>
            </a:r>
          </a:p>
          <a:p>
            <a:pPr lvl="1">
              <a:buFont typeface="Arial" pitchFamily="34" charset="0"/>
              <a:buChar char="•"/>
            </a:pPr>
            <a:r>
              <a:rPr lang="en-AU" sz="1200" kern="1200" dirty="0" smtClean="0">
                <a:solidFill>
                  <a:schemeClr val="tx1"/>
                </a:solidFill>
                <a:latin typeface="+mn-lt"/>
                <a:ea typeface="+mn-ea"/>
                <a:cs typeface="+mn-cs"/>
              </a:rPr>
              <a:t> The caller’s accent; Gender; Age; Speed they spoke at; Speech impediments; Diction</a:t>
            </a:r>
          </a:p>
          <a:p>
            <a:pPr>
              <a:buFont typeface="Arial" pitchFamily="34" charset="0"/>
              <a:buChar char="•"/>
            </a:pPr>
            <a:r>
              <a:rPr lang="en-AU" sz="1200" kern="1200" dirty="0" smtClean="0">
                <a:solidFill>
                  <a:schemeClr val="tx1"/>
                </a:solidFill>
                <a:latin typeface="+mn-lt"/>
                <a:ea typeface="+mn-ea"/>
                <a:cs typeface="+mn-cs"/>
              </a:rPr>
              <a:t> Call details – for example:</a:t>
            </a:r>
          </a:p>
          <a:p>
            <a:pPr lvl="1">
              <a:buFont typeface="Arial" pitchFamily="34" charset="0"/>
              <a:buChar char="•"/>
            </a:pPr>
            <a:r>
              <a:rPr lang="en-AU" sz="1200" kern="1200" dirty="0" smtClean="0">
                <a:solidFill>
                  <a:schemeClr val="tx1"/>
                </a:solidFill>
                <a:latin typeface="+mn-lt"/>
                <a:ea typeface="+mn-ea"/>
                <a:cs typeface="+mn-cs"/>
              </a:rPr>
              <a:t> Was it real-time or taped? Was it read from a script or made up on-the spot? Threatening? Abusive? Rational? Incoherent?</a:t>
            </a:r>
          </a:p>
          <a:p>
            <a:pPr>
              <a:buFont typeface="Arial" pitchFamily="34" charset="0"/>
              <a:buChar char="•"/>
            </a:pPr>
            <a:r>
              <a:rPr lang="en-AU" sz="1200" kern="1200" dirty="0" smtClean="0">
                <a:solidFill>
                  <a:schemeClr val="tx1"/>
                </a:solidFill>
                <a:latin typeface="+mn-lt"/>
                <a:ea typeface="+mn-ea"/>
                <a:cs typeface="+mn-cs"/>
              </a:rPr>
              <a:t> Bomb details – ask questions to try to get as much information from the caller as you can: </a:t>
            </a:r>
          </a:p>
          <a:p>
            <a:pPr lvl="1">
              <a:buFont typeface="Arial" pitchFamily="34" charset="0"/>
              <a:buChar char="•"/>
            </a:pPr>
            <a:r>
              <a:rPr lang="en-AU" sz="1200" kern="1200" dirty="0" smtClean="0">
                <a:solidFill>
                  <a:schemeClr val="tx1"/>
                </a:solidFill>
                <a:latin typeface="+mn-lt"/>
                <a:ea typeface="+mn-ea"/>
                <a:cs typeface="+mn-cs"/>
              </a:rPr>
              <a:t> ‘What does the bomb look like?’ </a:t>
            </a:r>
          </a:p>
          <a:p>
            <a:pPr lvl="1">
              <a:buFont typeface="Arial" pitchFamily="34" charset="0"/>
              <a:buChar char="•"/>
            </a:pPr>
            <a:r>
              <a:rPr lang="en-AU" sz="1200" kern="1200" dirty="0" smtClean="0">
                <a:solidFill>
                  <a:schemeClr val="tx1"/>
                </a:solidFill>
                <a:latin typeface="+mn-lt"/>
                <a:ea typeface="+mn-ea"/>
                <a:cs typeface="+mn-cs"/>
              </a:rPr>
              <a:t> ‘What type of bomb is it?’</a:t>
            </a:r>
          </a:p>
          <a:p>
            <a:pPr lvl="1">
              <a:buFont typeface="Arial" pitchFamily="34" charset="0"/>
              <a:buChar char="•"/>
            </a:pPr>
            <a:r>
              <a:rPr lang="en-AU" sz="1200" kern="1200" dirty="0" smtClean="0">
                <a:solidFill>
                  <a:schemeClr val="tx1"/>
                </a:solidFill>
                <a:latin typeface="+mn-lt"/>
                <a:ea typeface="+mn-ea"/>
                <a:cs typeface="+mn-cs"/>
              </a:rPr>
              <a:t> ‘What is in the bomb?’</a:t>
            </a:r>
          </a:p>
          <a:p>
            <a:pPr lvl="1">
              <a:buFont typeface="Arial" pitchFamily="34" charset="0"/>
              <a:buChar char="•"/>
            </a:pPr>
            <a:r>
              <a:rPr lang="en-AU" sz="1200" kern="1200" dirty="0" smtClean="0">
                <a:solidFill>
                  <a:schemeClr val="tx1"/>
                </a:solidFill>
                <a:latin typeface="+mn-lt"/>
                <a:ea typeface="+mn-ea"/>
                <a:cs typeface="+mn-cs"/>
              </a:rPr>
              <a:t> ‘When is the bomb due to explode?’ </a:t>
            </a:r>
          </a:p>
          <a:p>
            <a:pPr lvl="1">
              <a:buFont typeface="Arial" pitchFamily="34" charset="0"/>
              <a:buChar char="•"/>
            </a:pPr>
            <a:r>
              <a:rPr lang="en-AU" sz="1200" kern="1200" dirty="0" smtClean="0">
                <a:solidFill>
                  <a:schemeClr val="tx1"/>
                </a:solidFill>
                <a:latin typeface="+mn-lt"/>
                <a:ea typeface="+mn-ea"/>
                <a:cs typeface="+mn-cs"/>
              </a:rPr>
              <a:t> ‘Why did you plant the bomb?’ </a:t>
            </a:r>
          </a:p>
          <a:p>
            <a:pPr lvl="1">
              <a:buFont typeface="Arial" pitchFamily="34" charset="0"/>
              <a:buChar char="•"/>
            </a:pPr>
            <a:r>
              <a:rPr lang="en-AU" sz="1200" kern="1200" dirty="0" smtClean="0">
                <a:solidFill>
                  <a:schemeClr val="tx1"/>
                </a:solidFill>
                <a:latin typeface="+mn-lt"/>
                <a:ea typeface="+mn-ea"/>
                <a:cs typeface="+mn-cs"/>
              </a:rPr>
              <a:t> ‘How can we defuse it?’</a:t>
            </a:r>
          </a:p>
          <a:p>
            <a:pPr lvl="1">
              <a:buFont typeface="Arial" pitchFamily="34" charset="0"/>
              <a:buChar char="•"/>
            </a:pPr>
            <a:r>
              <a:rPr lang="en-AU" sz="1200" kern="1200" dirty="0" smtClean="0">
                <a:solidFill>
                  <a:schemeClr val="tx1"/>
                </a:solidFill>
                <a:latin typeface="+mn-lt"/>
                <a:ea typeface="+mn-ea"/>
                <a:cs typeface="+mn-cs"/>
              </a:rPr>
              <a:t> ‘What will make the bomb explode?’</a:t>
            </a:r>
          </a:p>
          <a:p>
            <a:pPr lvl="0">
              <a:buFont typeface="Arial" pitchFamily="34" charset="0"/>
              <a:buNone/>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 Activity – Role Play/s</a:t>
            </a:r>
          </a:p>
          <a:p>
            <a:pPr lvl="0">
              <a:buFont typeface="Arial" pitchFamily="34" charset="0"/>
              <a:buNone/>
            </a:pPr>
            <a:r>
              <a:rPr lang="en-AU" sz="1200" b="0" kern="1200" dirty="0" smtClean="0">
                <a:solidFill>
                  <a:schemeClr val="tx1"/>
                </a:solidFill>
                <a:latin typeface="+mn-lt"/>
                <a:ea typeface="+mn-ea"/>
                <a:cs typeface="+mn-cs"/>
              </a:rPr>
              <a:t>Trainer develops</a:t>
            </a:r>
            <a:r>
              <a:rPr lang="en-AU" sz="1200" b="0" kern="1200" baseline="0" dirty="0" smtClean="0">
                <a:solidFill>
                  <a:schemeClr val="tx1"/>
                </a:solidFill>
                <a:latin typeface="+mn-lt"/>
                <a:ea typeface="+mn-ea"/>
                <a:cs typeface="+mn-cs"/>
              </a:rPr>
              <a:t> series of role plays where students are required to take mock telephone call advising there is a bomb in the venue.</a:t>
            </a:r>
          </a:p>
          <a:p>
            <a:pPr lvl="0">
              <a:buFont typeface="Arial" pitchFamily="34" charset="0"/>
              <a:buNone/>
            </a:pPr>
            <a:r>
              <a:rPr lang="en-AU" sz="1200" b="0" kern="1200" baseline="0" dirty="0" smtClean="0">
                <a:solidFill>
                  <a:schemeClr val="tx1"/>
                </a:solidFill>
                <a:latin typeface="+mn-lt"/>
                <a:ea typeface="+mn-ea"/>
                <a:cs typeface="+mn-cs"/>
              </a:rPr>
              <a:t>Students should ask questions and capture relevant details of the call.</a:t>
            </a:r>
            <a:endParaRPr lang="en-AU" sz="1200" b="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students about what to do after taking a bomb</a:t>
            </a:r>
            <a:r>
              <a:rPr lang="en-AU" baseline="0" noProof="0" dirty="0" smtClean="0"/>
              <a:t> threat telephone call:</a:t>
            </a:r>
          </a:p>
          <a:p>
            <a:pPr>
              <a:buFont typeface="Arial" pitchFamily="34" charset="0"/>
              <a:buChar char="•"/>
            </a:pPr>
            <a:r>
              <a:rPr lang="en-AU" sz="1200" kern="1200" dirty="0" smtClean="0">
                <a:solidFill>
                  <a:schemeClr val="tx1"/>
                </a:solidFill>
                <a:latin typeface="+mn-lt"/>
                <a:ea typeface="+mn-ea"/>
                <a:cs typeface="+mn-cs"/>
              </a:rPr>
              <a:t> Immediately speak with the appropriate person about the threat – supervisor, owner, Head of Security</a:t>
            </a:r>
          </a:p>
          <a:p>
            <a:pPr>
              <a:buFont typeface="Arial" pitchFamily="34" charset="0"/>
              <a:buChar char="•"/>
            </a:pPr>
            <a:r>
              <a:rPr lang="en-AU" sz="1200" kern="1200" dirty="0" smtClean="0">
                <a:solidFill>
                  <a:schemeClr val="tx1"/>
                </a:solidFill>
                <a:latin typeface="+mn-lt"/>
                <a:ea typeface="+mn-ea"/>
                <a:cs typeface="+mn-cs"/>
              </a:rPr>
              <a:t> Talk in a quiet place away from others </a:t>
            </a:r>
          </a:p>
          <a:p>
            <a:pPr>
              <a:buFont typeface="Arial" pitchFamily="34" charset="0"/>
              <a:buChar char="•"/>
            </a:pPr>
            <a:r>
              <a:rPr lang="en-AU" sz="1200" kern="1200" dirty="0" smtClean="0">
                <a:solidFill>
                  <a:schemeClr val="tx1"/>
                </a:solidFill>
                <a:latin typeface="+mn-lt"/>
                <a:ea typeface="+mn-ea"/>
                <a:cs typeface="+mn-cs"/>
              </a:rPr>
              <a:t> Communicate the details in a calm and clear manner – to avoid panic: refer to the notes taken at the time</a:t>
            </a:r>
          </a:p>
          <a:p>
            <a:pPr>
              <a:buFont typeface="Arial" pitchFamily="34" charset="0"/>
              <a:buChar char="•"/>
            </a:pPr>
            <a:r>
              <a:rPr lang="en-AU" sz="1200" kern="1200" dirty="0" smtClean="0">
                <a:solidFill>
                  <a:schemeClr val="tx1"/>
                </a:solidFill>
                <a:latin typeface="+mn-lt"/>
                <a:ea typeface="+mn-ea"/>
                <a:cs typeface="+mn-cs"/>
              </a:rPr>
              <a:t> Immediately start evacuation procedures </a:t>
            </a:r>
          </a:p>
          <a:p>
            <a:pPr>
              <a:buFont typeface="Arial" pitchFamily="34" charset="0"/>
              <a:buChar char="•"/>
            </a:pPr>
            <a:r>
              <a:rPr lang="en-AU" sz="1200" kern="1200" dirty="0" smtClean="0">
                <a:solidFill>
                  <a:schemeClr val="tx1"/>
                </a:solidFill>
                <a:latin typeface="+mn-lt"/>
                <a:ea typeface="+mn-ea"/>
                <a:cs typeface="+mn-cs"/>
              </a:rPr>
              <a:t> Never think the call was a hoax – it is not worth risking lives if your thinking was wrong: let management or the authorities make the decision on this.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responding to emergency situations by asking questions such as:</a:t>
            </a:r>
          </a:p>
          <a:p>
            <a:pPr>
              <a:buFont typeface="Arial" pitchFamily="34" charset="0"/>
              <a:buChar char="•"/>
            </a:pPr>
            <a:r>
              <a:rPr lang="en-US" b="0" dirty="0" smtClean="0"/>
              <a:t> What is an Emergency Management Plan?</a:t>
            </a:r>
          </a:p>
          <a:p>
            <a:pPr>
              <a:buFont typeface="Arial" pitchFamily="34" charset="0"/>
              <a:buChar char="•"/>
            </a:pPr>
            <a:r>
              <a:rPr lang="en-US" b="0" dirty="0" smtClean="0"/>
              <a:t> How might you respond to an injured patron?</a:t>
            </a:r>
          </a:p>
          <a:p>
            <a:pPr>
              <a:buFont typeface="Arial" pitchFamily="34" charset="0"/>
              <a:buChar char="•"/>
            </a:pPr>
            <a:r>
              <a:rPr lang="en-US" b="0" dirty="0" smtClean="0"/>
              <a:t> Why</a:t>
            </a:r>
            <a:r>
              <a:rPr lang="en-US" b="0" baseline="0" dirty="0" smtClean="0"/>
              <a:t> might you contact Police for assistance?</a:t>
            </a:r>
          </a:p>
          <a:p>
            <a:pPr>
              <a:buFont typeface="Arial" pitchFamily="34" charset="0"/>
              <a:buChar char="•"/>
            </a:pPr>
            <a:r>
              <a:rPr lang="en-US" b="0" baseline="0" dirty="0" smtClean="0"/>
              <a:t> What information would you give the fire services if you had to call them to attend a fire at your workplace?</a:t>
            </a:r>
          </a:p>
          <a:p>
            <a:pPr>
              <a:buFont typeface="Arial" pitchFamily="34" charset="0"/>
              <a:buChar char="•"/>
            </a:pPr>
            <a:r>
              <a:rPr lang="en-US" b="0" baseline="0" dirty="0" smtClean="0"/>
              <a:t> What is meant by ‘first response’ assistance?</a:t>
            </a:r>
          </a:p>
          <a:p>
            <a:pPr>
              <a:buFont typeface="Arial" pitchFamily="34" charset="0"/>
              <a:buChar char="•"/>
            </a:pPr>
            <a:endParaRPr lang="en-US" b="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when faced with an emergency it is necessary to first identify the nature and scope of the situation explaining this is necessary to :</a:t>
            </a:r>
          </a:p>
          <a:p>
            <a:pPr>
              <a:buFont typeface="Arial" pitchFamily="34" charset="0"/>
              <a:buChar char="•"/>
            </a:pPr>
            <a:r>
              <a:rPr lang="en-AU" sz="1200" kern="1200" dirty="0" smtClean="0">
                <a:solidFill>
                  <a:schemeClr val="tx1"/>
                </a:solidFill>
                <a:latin typeface="+mn-lt"/>
                <a:ea typeface="+mn-ea"/>
                <a:cs typeface="+mn-cs"/>
              </a:rPr>
              <a:t> Pass on correct information to others – staff, guests and emergency services</a:t>
            </a:r>
          </a:p>
          <a:p>
            <a:pPr>
              <a:buFont typeface="Arial" pitchFamily="34" charset="0"/>
              <a:buChar char="•"/>
            </a:pPr>
            <a:r>
              <a:rPr lang="en-AU" sz="1200" kern="1200" dirty="0" smtClean="0">
                <a:solidFill>
                  <a:schemeClr val="tx1"/>
                </a:solidFill>
                <a:latin typeface="+mn-lt"/>
                <a:ea typeface="+mn-ea"/>
                <a:cs typeface="+mn-cs"/>
              </a:rPr>
              <a:t> Determine the most appropriate course of action to take.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informs students it is worth remembering the following about hotels and emergencies:</a:t>
            </a:r>
          </a:p>
          <a:p>
            <a:pPr>
              <a:buFont typeface="Arial" pitchFamily="34" charset="0"/>
              <a:buChar char="•"/>
            </a:pPr>
            <a:r>
              <a:rPr lang="en-AU" sz="1200" kern="1200" dirty="0" smtClean="0">
                <a:solidFill>
                  <a:schemeClr val="tx1"/>
                </a:solidFill>
                <a:latin typeface="+mn-lt"/>
                <a:ea typeface="+mn-ea"/>
                <a:cs typeface="+mn-cs"/>
              </a:rPr>
              <a:t> The hospitality industry is a unique industry – it is often operational twenty-four hours/day, seven days a week; it is open to the public and it commonly has numerous people (guests, workers, visitors, delivery people, service technicians) on the premises.</a:t>
            </a:r>
          </a:p>
          <a:p>
            <a:pPr>
              <a:buFont typeface="Arial" pitchFamily="34" charset="0"/>
              <a:buChar char="•"/>
            </a:pPr>
            <a:r>
              <a:rPr lang="en-AU" sz="1200" kern="1200" dirty="0" smtClean="0">
                <a:solidFill>
                  <a:schemeClr val="tx1"/>
                </a:solidFill>
                <a:latin typeface="+mn-lt"/>
                <a:ea typeface="+mn-ea"/>
                <a:cs typeface="+mn-cs"/>
              </a:rPr>
              <a:t> All this </a:t>
            </a:r>
            <a:r>
              <a:rPr lang="en-AU" sz="1200" i="1" kern="1200" dirty="0" smtClean="0">
                <a:solidFill>
                  <a:schemeClr val="tx1"/>
                </a:solidFill>
                <a:latin typeface="+mn-lt"/>
                <a:ea typeface="+mn-ea"/>
                <a:cs typeface="+mn-cs"/>
              </a:rPr>
              <a:t>plus</a:t>
            </a:r>
            <a:r>
              <a:rPr lang="en-AU" sz="1200" kern="1200" dirty="0" smtClean="0">
                <a:solidFill>
                  <a:schemeClr val="tx1"/>
                </a:solidFill>
                <a:latin typeface="+mn-lt"/>
                <a:ea typeface="+mn-ea"/>
                <a:cs typeface="+mn-cs"/>
              </a:rPr>
              <a:t> it is an environment where:</a:t>
            </a:r>
          </a:p>
          <a:p>
            <a:pPr lvl="1">
              <a:buFont typeface="Arial" pitchFamily="34" charset="0"/>
              <a:buChar char="•"/>
            </a:pPr>
            <a:r>
              <a:rPr lang="en-AU" sz="1200" kern="1200" dirty="0" smtClean="0">
                <a:solidFill>
                  <a:schemeClr val="tx1"/>
                </a:solidFill>
                <a:latin typeface="+mn-lt"/>
                <a:ea typeface="+mn-ea"/>
                <a:cs typeface="+mn-cs"/>
              </a:rPr>
              <a:t> People consume alcohol </a:t>
            </a:r>
          </a:p>
          <a:p>
            <a:pPr lvl="1">
              <a:buFont typeface="Arial" pitchFamily="34" charset="0"/>
              <a:buChar char="•"/>
            </a:pPr>
            <a:r>
              <a:rPr lang="en-AU" sz="1200" kern="1200" dirty="0" smtClean="0">
                <a:solidFill>
                  <a:schemeClr val="tx1"/>
                </a:solidFill>
                <a:latin typeface="+mn-lt"/>
                <a:ea typeface="+mn-ea"/>
                <a:cs typeface="+mn-cs"/>
              </a:rPr>
              <a:t> Guests are often in an unfamiliar environment</a:t>
            </a:r>
          </a:p>
          <a:p>
            <a:pPr lvl="1">
              <a:buFont typeface="Arial" pitchFamily="34" charset="0"/>
              <a:buChar char="•"/>
            </a:pPr>
            <a:r>
              <a:rPr lang="en-AU" sz="1200" kern="1200" dirty="0" smtClean="0">
                <a:solidFill>
                  <a:schemeClr val="tx1"/>
                </a:solidFill>
                <a:latin typeface="+mn-lt"/>
                <a:ea typeface="+mn-ea"/>
                <a:cs typeface="+mn-cs"/>
              </a:rPr>
              <a:t> They may be asleep when the emergency arises.</a:t>
            </a:r>
          </a:p>
          <a:p>
            <a:pPr>
              <a:buFont typeface="Arial" pitchFamily="34" charset="0"/>
              <a:buChar char="•"/>
            </a:pPr>
            <a:r>
              <a:rPr lang="en-AU" sz="1200" kern="1200" dirty="0" smtClean="0">
                <a:solidFill>
                  <a:schemeClr val="tx1"/>
                </a:solidFill>
                <a:latin typeface="+mn-lt"/>
                <a:ea typeface="+mn-ea"/>
                <a:cs typeface="+mn-cs"/>
              </a:rPr>
              <a:t> In addition, many venues are spread over quite large areas featuring:</a:t>
            </a:r>
          </a:p>
          <a:p>
            <a:pPr lvl="1">
              <a:buFont typeface="Arial" pitchFamily="34" charset="0"/>
              <a:buChar char="•"/>
            </a:pPr>
            <a:r>
              <a:rPr lang="en-AU" sz="1200" kern="1200" dirty="0" smtClean="0">
                <a:solidFill>
                  <a:schemeClr val="tx1"/>
                </a:solidFill>
                <a:latin typeface="+mn-lt"/>
                <a:ea typeface="+mn-ea"/>
                <a:cs typeface="+mn-cs"/>
              </a:rPr>
              <a:t> Outside public areas - car parks, gardens, pools, walkways, entertainment areas</a:t>
            </a:r>
          </a:p>
          <a:p>
            <a:pPr lvl="1">
              <a:buFont typeface="Arial" pitchFamily="34" charset="0"/>
              <a:buChar char="•"/>
            </a:pPr>
            <a:r>
              <a:rPr lang="en-AU" sz="1200" kern="1200" dirty="0" smtClean="0">
                <a:solidFill>
                  <a:schemeClr val="tx1"/>
                </a:solidFill>
                <a:latin typeface="+mn-lt"/>
                <a:ea typeface="+mn-ea"/>
                <a:cs typeface="+mn-cs"/>
              </a:rPr>
              <a:t> Numerous internal spaces – bars, guest rooms, function rooms, entertainment areas, spa facilities, gymnasiums, pools, kitchens, dining areas, offices, store rooms</a:t>
            </a:r>
          </a:p>
          <a:p>
            <a:pPr lvl="1">
              <a:buFont typeface="Arial" pitchFamily="34" charset="0"/>
              <a:buChar char="•"/>
            </a:pPr>
            <a:r>
              <a:rPr lang="en-AU" sz="1200" kern="1200" dirty="0" smtClean="0">
                <a:solidFill>
                  <a:schemeClr val="tx1"/>
                </a:solidFill>
                <a:latin typeface="+mn-lt"/>
                <a:ea typeface="+mn-ea"/>
                <a:cs typeface="+mn-cs"/>
              </a:rPr>
              <a:t> Multi-level buildings</a:t>
            </a:r>
          </a:p>
          <a:p>
            <a:pPr>
              <a:buFont typeface="Arial" pitchFamily="34" charset="0"/>
              <a:buChar char="•"/>
            </a:pPr>
            <a:r>
              <a:rPr lang="en-AU" sz="1200" kern="1200" dirty="0" smtClean="0">
                <a:solidFill>
                  <a:schemeClr val="tx1"/>
                </a:solidFill>
                <a:latin typeface="+mn-lt"/>
                <a:ea typeface="+mn-ea"/>
                <a:cs typeface="+mn-cs"/>
              </a:rPr>
              <a:t> All of these factors combine to produce a situation where almost any type of emergency could arise</a:t>
            </a:r>
          </a:p>
          <a:p>
            <a:pPr>
              <a:buFont typeface="Arial" pitchFamily="34" charset="0"/>
              <a:buChar char="•"/>
            </a:pPr>
            <a:r>
              <a:rPr lang="en-AU" sz="1200" kern="1200" dirty="0" smtClean="0">
                <a:solidFill>
                  <a:schemeClr val="tx1"/>
                </a:solidFill>
                <a:latin typeface="+mn-lt"/>
                <a:ea typeface="+mn-ea"/>
                <a:cs typeface="+mn-cs"/>
              </a:rPr>
              <a:t> This is distinctly different to many other industries where they are able to more clearly identify a more limited range of emergencies that could occur.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different types of emergencies (which have already been identified) could include, but are not limited to:</a:t>
            </a:r>
          </a:p>
          <a:p>
            <a:pPr>
              <a:buFont typeface="Arial" pitchFamily="34" charset="0"/>
              <a:buChar char="•"/>
            </a:pPr>
            <a:r>
              <a:rPr lang="en-AU" sz="1200" kern="1200" dirty="0" smtClean="0">
                <a:solidFill>
                  <a:schemeClr val="tx1"/>
                </a:solidFill>
                <a:latin typeface="+mn-lt"/>
                <a:ea typeface="+mn-ea"/>
                <a:cs typeface="+mn-cs"/>
              </a:rPr>
              <a:t> Fire – in a public area (internally or externally), in a kitchen, in the ironing/linen room, in a guest room</a:t>
            </a:r>
          </a:p>
          <a:p>
            <a:pPr>
              <a:buFont typeface="Arial" pitchFamily="34" charset="0"/>
              <a:buChar char="•"/>
            </a:pPr>
            <a:r>
              <a:rPr lang="en-AU" sz="1200" kern="1200" dirty="0" smtClean="0">
                <a:solidFill>
                  <a:schemeClr val="tx1"/>
                </a:solidFill>
                <a:latin typeface="+mn-lt"/>
                <a:ea typeface="+mn-ea"/>
                <a:cs typeface="+mn-cs"/>
              </a:rPr>
              <a:t> Medical emergency – such as the collapse of a guest, an injury to staff or guests caused by an attack</a:t>
            </a:r>
          </a:p>
          <a:p>
            <a:pPr>
              <a:buFont typeface="Arial" pitchFamily="34" charset="0"/>
              <a:buChar char="•"/>
            </a:pPr>
            <a:r>
              <a:rPr lang="en-AU" sz="1200" kern="1200" dirty="0" smtClean="0">
                <a:solidFill>
                  <a:schemeClr val="tx1"/>
                </a:solidFill>
                <a:latin typeface="+mn-lt"/>
                <a:ea typeface="+mn-ea"/>
                <a:cs typeface="+mn-cs"/>
              </a:rPr>
              <a:t> Gas leak – related to cooking, heating or other appliances giving rise to the possibility of explosion and/or fire</a:t>
            </a:r>
          </a:p>
          <a:p>
            <a:pPr>
              <a:buFont typeface="Arial" pitchFamily="34" charset="0"/>
              <a:buChar char="•"/>
            </a:pPr>
            <a:r>
              <a:rPr lang="en-AU" sz="1200" kern="1200" dirty="0" smtClean="0">
                <a:solidFill>
                  <a:schemeClr val="tx1"/>
                </a:solidFill>
                <a:latin typeface="+mn-lt"/>
                <a:ea typeface="+mn-ea"/>
                <a:cs typeface="+mn-cs"/>
              </a:rPr>
              <a:t> Bomb threat – creating a situation where most establishments will automatically initiate a full evacuation of the premises and the involvement of emergency services</a:t>
            </a:r>
          </a:p>
          <a:p>
            <a:pPr>
              <a:buFont typeface="Arial" pitchFamily="34" charset="0"/>
              <a:buChar char="•"/>
            </a:pPr>
            <a:r>
              <a:rPr lang="en-AU" sz="1200" kern="1200" dirty="0" smtClean="0">
                <a:solidFill>
                  <a:schemeClr val="tx1"/>
                </a:solidFill>
                <a:latin typeface="+mn-lt"/>
                <a:ea typeface="+mn-ea"/>
                <a:cs typeface="+mn-cs"/>
              </a:rPr>
              <a:t> Hostage situation – necessitating the involvement of authorities and the removal of all those who have not been taken hostage to a safe location.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types of emergency situations:</a:t>
            </a:r>
          </a:p>
          <a:p>
            <a:pPr>
              <a:buFont typeface="Arial" pitchFamily="34" charset="0"/>
              <a:buChar char="•"/>
            </a:pPr>
            <a:r>
              <a:rPr lang="en-AU" sz="1200" kern="1200" dirty="0" smtClean="0">
                <a:solidFill>
                  <a:schemeClr val="tx1"/>
                </a:solidFill>
                <a:latin typeface="+mn-lt"/>
                <a:ea typeface="+mn-ea"/>
                <a:cs typeface="+mn-cs"/>
              </a:rPr>
              <a:t> Chemical spill – which may create a situation posing a risk from toxic fumes and the danger of burns due to contact with the chemical, explosion and/or fire</a:t>
            </a:r>
          </a:p>
          <a:p>
            <a:pPr>
              <a:buFont typeface="Arial" pitchFamily="34" charset="0"/>
              <a:buChar char="•"/>
            </a:pPr>
            <a:r>
              <a:rPr lang="en-AU" sz="1200" kern="1200" dirty="0" smtClean="0">
                <a:solidFill>
                  <a:schemeClr val="tx1"/>
                </a:solidFill>
                <a:latin typeface="+mn-lt"/>
                <a:ea typeface="+mn-ea"/>
                <a:cs typeface="+mn-cs"/>
              </a:rPr>
              <a:t> Robbery – this includes a robbery committed against the establishment as well as robberies committed against guests and staff</a:t>
            </a:r>
          </a:p>
          <a:p>
            <a:pPr>
              <a:buFont typeface="Arial" pitchFamily="34" charset="0"/>
              <a:buChar char="•"/>
            </a:pPr>
            <a:r>
              <a:rPr lang="en-AU" sz="1200" kern="1200" dirty="0" smtClean="0">
                <a:solidFill>
                  <a:schemeClr val="tx1"/>
                </a:solidFill>
                <a:latin typeface="+mn-lt"/>
                <a:ea typeface="+mn-ea"/>
                <a:cs typeface="+mn-cs"/>
              </a:rPr>
              <a:t> Deranged customers – which can include patrons who are intoxicated, those who may be affected by drugs or those who are simply being extremely difficult to deal with perhaps because of other issues (such as tiredness, unfamiliarity with their surroundings, lack of money, relationship problems, gambling problems)</a:t>
            </a:r>
          </a:p>
          <a:p>
            <a:pPr>
              <a:buFont typeface="Arial" pitchFamily="34" charset="0"/>
              <a:buChar char="•"/>
            </a:pPr>
            <a:r>
              <a:rPr lang="en-AU" sz="1200" kern="1200" dirty="0" smtClean="0">
                <a:solidFill>
                  <a:schemeClr val="tx1"/>
                </a:solidFill>
                <a:latin typeface="+mn-lt"/>
                <a:ea typeface="+mn-ea"/>
                <a:cs typeface="+mn-cs"/>
              </a:rPr>
              <a:t> Flood – which can be caused by a burst water main, or may be the result of a natural event such as a cyclone, very heavy rain or a hurricane or typhoon</a:t>
            </a:r>
          </a:p>
          <a:p>
            <a:pPr>
              <a:buFont typeface="Arial" pitchFamily="34" charset="0"/>
              <a:buChar char="•"/>
            </a:pPr>
            <a:r>
              <a:rPr lang="en-AU" sz="1200" kern="1200" dirty="0" smtClean="0">
                <a:solidFill>
                  <a:schemeClr val="tx1"/>
                </a:solidFill>
                <a:latin typeface="+mn-lt"/>
                <a:ea typeface="+mn-ea"/>
                <a:cs typeface="+mn-cs"/>
              </a:rPr>
              <a:t> Power failure – a power failure provides the potential for many emergencies: in itself the power failure rarely creates an emergency but it can produce circumstances making it more likely other emergencies will arise such as people trapped in elevators, thieves who take the opportunity to commit a crime because they believe there is less chance of being caught, guests slipping or tripping because there is insufficient light to enable them to see properly.</a:t>
            </a:r>
          </a:p>
          <a:p>
            <a:r>
              <a:rPr lang="en-AU" sz="1200" kern="1200" dirty="0" smtClean="0">
                <a:solidFill>
                  <a:schemeClr val="tx1"/>
                </a:solidFill>
                <a:latin typeface="+mn-lt"/>
                <a:ea typeface="+mn-ea"/>
                <a:cs typeface="+mn-cs"/>
              </a:rPr>
              <a:t>The Emergency Management Plan should have investigated possible emergencies identified as being likely to occur and taken appropriate planning action for each of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critical </a:t>
            </a:r>
            <a:r>
              <a:rPr lang="en-AU" sz="1200" kern="1200" dirty="0" smtClean="0">
                <a:solidFill>
                  <a:schemeClr val="tx1"/>
                </a:solidFill>
                <a:latin typeface="+mn-lt"/>
                <a:ea typeface="+mn-ea"/>
                <a:cs typeface="+mn-cs"/>
              </a:rPr>
              <a:t>factors in deciding what the extent of the emergency is can include consideration of the following questions:</a:t>
            </a:r>
          </a:p>
          <a:p>
            <a:pPr>
              <a:buFont typeface="Arial" pitchFamily="34" charset="0"/>
              <a:buChar char="•"/>
            </a:pPr>
            <a:r>
              <a:rPr lang="en-AU" sz="1200" kern="1200" dirty="0" smtClean="0">
                <a:solidFill>
                  <a:schemeClr val="tx1"/>
                </a:solidFill>
                <a:latin typeface="+mn-lt"/>
                <a:ea typeface="+mn-ea"/>
                <a:cs typeface="+mn-cs"/>
              </a:rPr>
              <a:t> How many people are in danger/likely to be affected? All lives are valuable, but the more people who are potentially affected, the more urgent the situation and the greater the extent of the emergency</a:t>
            </a:r>
          </a:p>
          <a:p>
            <a:pPr>
              <a:buFont typeface="Arial" pitchFamily="34" charset="0"/>
              <a:buChar char="•"/>
            </a:pPr>
            <a:r>
              <a:rPr lang="en-AU" sz="1200" kern="1200" dirty="0" smtClean="0">
                <a:solidFill>
                  <a:schemeClr val="tx1"/>
                </a:solidFill>
                <a:latin typeface="+mn-lt"/>
                <a:ea typeface="+mn-ea"/>
                <a:cs typeface="+mn-cs"/>
              </a:rPr>
              <a:t> Who is available to help you – immediately? If most of the staff are away (such as on night shift) and there is little in the way of immediate support within the establishment, the more urgent the situation and the greater the extent of the emergency</a:t>
            </a:r>
          </a:p>
          <a:p>
            <a:pPr>
              <a:buFont typeface="Arial" pitchFamily="34" charset="0"/>
              <a:buChar char="•"/>
            </a:pPr>
            <a:r>
              <a:rPr lang="en-AU" sz="1200" kern="1200" dirty="0" smtClean="0">
                <a:solidFill>
                  <a:schemeClr val="tx1"/>
                </a:solidFill>
                <a:latin typeface="+mn-lt"/>
                <a:ea typeface="+mn-ea"/>
                <a:cs typeface="+mn-cs"/>
              </a:rPr>
              <a:t> What is the possibility of you being able to deal successfully with the situation on-the-spot (after notifying others of the problem)? If you believe the emergency is too big for you to deal with, the more urgent the situation and the greater the extent of the emergency.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listing questions which need to be answered to identify scope of an emergency:</a:t>
            </a:r>
          </a:p>
          <a:p>
            <a:pPr>
              <a:buFont typeface="Arial" pitchFamily="34" charset="0"/>
              <a:buChar char="•"/>
            </a:pPr>
            <a:r>
              <a:rPr lang="en-AU" sz="1200" kern="1200" dirty="0" smtClean="0">
                <a:solidFill>
                  <a:schemeClr val="tx1"/>
                </a:solidFill>
                <a:latin typeface="+mn-lt"/>
                <a:ea typeface="+mn-ea"/>
                <a:cs typeface="+mn-cs"/>
              </a:rPr>
              <a:t> What are others doing? You may notice a situation where others are working to address the emergency and appear to be succeeding, but you may also notice everyone just appears to be standing around watching what’s going on despite the imminent danger to themselves</a:t>
            </a:r>
          </a:p>
          <a:p>
            <a:pPr>
              <a:buFont typeface="Arial" pitchFamily="34" charset="0"/>
              <a:buChar char="•"/>
            </a:pPr>
            <a:r>
              <a:rPr lang="en-AU" sz="1200" kern="1200" dirty="0" smtClean="0">
                <a:solidFill>
                  <a:schemeClr val="tx1"/>
                </a:solidFill>
                <a:latin typeface="+mn-lt"/>
                <a:ea typeface="+mn-ea"/>
                <a:cs typeface="+mn-cs"/>
              </a:rPr>
              <a:t> How are other behaving? Where people appear to be, for example, evacuating effectively and quickly in a quiet and orderly fashion  this a vastly different set of circumstances to a situation where they are rushing about in panic, returning to their rooms to collect personal belongings when there is a fire, or standing in the one place crying</a:t>
            </a:r>
          </a:p>
          <a:p>
            <a:pPr>
              <a:buFont typeface="Arial" pitchFamily="34" charset="0"/>
              <a:buChar char="•"/>
            </a:pPr>
            <a:r>
              <a:rPr lang="en-AU" sz="1200" kern="1200" dirty="0" smtClean="0">
                <a:solidFill>
                  <a:schemeClr val="tx1"/>
                </a:solidFill>
                <a:latin typeface="+mn-lt"/>
                <a:ea typeface="+mn-ea"/>
                <a:cs typeface="+mn-cs"/>
              </a:rPr>
              <a:t> What are other associated factors that could make the situation worse? If there is a fire next to a gas tank this is more serious than a rubbish bin on fire next door to the outside swimming pool. If the wind is blowing in your direction and the place next door is on fire, this would also be a concern, or if you know all the guests on the top floors are frail and elderly people (or children) this poses more of a problem than if they were fit, young athletes.</a:t>
            </a:r>
          </a:p>
          <a:p>
            <a:r>
              <a:rPr lang="en-AU" sz="1200" kern="1200" dirty="0" smtClean="0">
                <a:solidFill>
                  <a:schemeClr val="tx1"/>
                </a:solidFill>
                <a:latin typeface="+mn-lt"/>
                <a:ea typeface="+mn-ea"/>
                <a:cs typeface="+mn-cs"/>
              </a:rPr>
              <a:t>The key to determining the full extent of the emergency in a venue is therefore to obtain as many relevant facts about the situation as you can, and use those facts together with your knowledge of the establishment (location of equipment, layout, available staff) and common sense to make a decision.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is always best to adopt a ‘worse case’ scenario. </a:t>
            </a:r>
          </a:p>
          <a:p>
            <a:r>
              <a:rPr lang="en-AU" sz="1200" kern="1200" dirty="0" smtClean="0">
                <a:solidFill>
                  <a:schemeClr val="tx1"/>
                </a:solidFill>
                <a:latin typeface="+mn-lt"/>
                <a:ea typeface="+mn-ea"/>
                <a:cs typeface="+mn-cs"/>
              </a:rPr>
              <a:t>You are better off calling fire authorities for a small fire you manage to extinguish yourself before they arrive, than delaying placing the call for help and having the venue burn to the ground.</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reminds students fundamentals </a:t>
            </a:r>
            <a:r>
              <a:rPr lang="en-AU" sz="1200" kern="1200" dirty="0" smtClean="0">
                <a:solidFill>
                  <a:schemeClr val="tx1"/>
                </a:solidFill>
                <a:latin typeface="+mn-lt"/>
                <a:ea typeface="+mn-ea"/>
                <a:cs typeface="+mn-cs"/>
              </a:rPr>
              <a:t>in relation to contacting emergency services will/may relate to using options available with in the venue for emergency response – these may include:</a:t>
            </a:r>
          </a:p>
          <a:p>
            <a:pPr>
              <a:buFont typeface="Arial" pitchFamily="34" charset="0"/>
              <a:buChar char="•"/>
            </a:pPr>
            <a:r>
              <a:rPr lang="en-AU" sz="1200" kern="1200" dirty="0" smtClean="0">
                <a:solidFill>
                  <a:schemeClr val="tx1"/>
                </a:solidFill>
                <a:latin typeface="+mn-lt"/>
                <a:ea typeface="+mn-ea"/>
                <a:cs typeface="+mn-cs"/>
              </a:rPr>
              <a:t> Make telephone contact (using landline phone or cell phone) with them as required by the type of alarm – for example:</a:t>
            </a:r>
          </a:p>
          <a:p>
            <a:pPr lvl="1">
              <a:buFont typeface="Arial" pitchFamily="34" charset="0"/>
              <a:buChar char="•"/>
            </a:pPr>
            <a:r>
              <a:rPr lang="en-US" sz="1200" kern="1200" dirty="0" smtClean="0">
                <a:solidFill>
                  <a:schemeClr val="tx1"/>
                </a:solidFill>
                <a:latin typeface="+mn-lt"/>
                <a:ea typeface="+mn-ea"/>
                <a:cs typeface="+mn-cs"/>
              </a:rPr>
              <a:t> Fire alarm or smoke detector alert requires contacting the fire brigade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Intruder alarm requires contacting police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Use direct lines to authorities or security companies – some venues have dedicated lines linked directly to emergency services or a central ‘command and control’ remote site operated by an external security company</a:t>
            </a:r>
          </a:p>
          <a:p>
            <a:pPr>
              <a:buFont typeface="Arial" pitchFamily="34" charset="0"/>
              <a:buChar char="•"/>
            </a:pPr>
            <a:r>
              <a:rPr lang="en-AU" sz="1200" kern="1200" dirty="0" smtClean="0">
                <a:solidFill>
                  <a:schemeClr val="tx1"/>
                </a:solidFill>
                <a:latin typeface="+mn-lt"/>
                <a:ea typeface="+mn-ea"/>
                <a:cs typeface="+mn-cs"/>
              </a:rPr>
              <a:t> Contact management – this relates to contacting your supervisor or the Duty Manager at the time. </a:t>
            </a:r>
          </a:p>
          <a:p>
            <a:pPr>
              <a:buFont typeface="Arial" pitchFamily="34" charset="0"/>
              <a:buChar char="•"/>
            </a:pPr>
            <a:r>
              <a:rPr lang="en-AU" sz="1200" kern="1200" dirty="0" smtClean="0">
                <a:solidFill>
                  <a:schemeClr val="tx1"/>
                </a:solidFill>
                <a:latin typeface="+mn-lt"/>
                <a:ea typeface="+mn-ea"/>
                <a:cs typeface="+mn-cs"/>
              </a:rPr>
              <a:t> The protocols which have been developed in the venue will then require that designated person to automatically contact emergency services as required by:</a:t>
            </a:r>
          </a:p>
          <a:p>
            <a:pPr lvl="1">
              <a:buFont typeface="Arial" pitchFamily="34" charset="0"/>
              <a:buChar char="•"/>
            </a:pPr>
            <a:r>
              <a:rPr lang="en-US" sz="1200" kern="1200" dirty="0" smtClean="0">
                <a:solidFill>
                  <a:schemeClr val="tx1"/>
                </a:solidFill>
                <a:latin typeface="+mn-lt"/>
                <a:ea typeface="+mn-ea"/>
                <a:cs typeface="+mn-cs"/>
              </a:rPr>
              <a:t> The type/nature of the emergency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requirements of the EMP</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Activate an alarm – many of these will automatically contact/alert:</a:t>
            </a:r>
          </a:p>
          <a:p>
            <a:pPr lvl="1">
              <a:buFont typeface="Arial" pitchFamily="34" charset="0"/>
              <a:buChar char="•"/>
            </a:pPr>
            <a:r>
              <a:rPr lang="en-US" sz="1200" kern="1200" dirty="0" smtClean="0">
                <a:solidFill>
                  <a:schemeClr val="tx1"/>
                </a:solidFill>
                <a:latin typeface="+mn-lt"/>
                <a:ea typeface="+mn-ea"/>
                <a:cs typeface="+mn-cs"/>
              </a:rPr>
              <a:t> A remote site – such as a control room, monitoring room or private security company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Emergency services.</a:t>
            </a:r>
            <a:endParaRPr lang="en-AU" sz="1200" kern="1200" dirty="0" smtClean="0">
              <a:solidFill>
                <a:schemeClr val="tx1"/>
              </a:solidFill>
              <a:latin typeface="+mn-lt"/>
              <a:ea typeface="+mn-ea"/>
              <a:cs typeface="+mn-cs"/>
            </a:endParaRP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reminds students about emergency services telephone</a:t>
            </a:r>
            <a:r>
              <a:rPr lang="en-AU" baseline="0" noProof="0" dirty="0" smtClean="0"/>
              <a:t> numbers stating:</a:t>
            </a:r>
          </a:p>
          <a:p>
            <a:pPr>
              <a:buFont typeface="Arial" pitchFamily="34" charset="0"/>
              <a:buChar char="•"/>
            </a:pPr>
            <a:r>
              <a:rPr lang="en-AU" sz="1200" kern="1200" dirty="0" smtClean="0">
                <a:solidFill>
                  <a:schemeClr val="tx1"/>
                </a:solidFill>
                <a:latin typeface="+mn-lt"/>
                <a:ea typeface="+mn-ea"/>
                <a:cs typeface="+mn-cs"/>
              </a:rPr>
              <a:t> It is important to know the telephone numbers for all emergency services in advance.</a:t>
            </a:r>
          </a:p>
          <a:p>
            <a:pPr lvl="1">
              <a:buFont typeface="Arial" pitchFamily="34" charset="0"/>
              <a:buChar char="•"/>
            </a:pPr>
            <a:r>
              <a:rPr lang="en-AU" sz="1200" kern="1200" dirty="0" smtClean="0">
                <a:solidFill>
                  <a:schemeClr val="tx1"/>
                </a:solidFill>
                <a:latin typeface="+mn-lt"/>
                <a:ea typeface="+mn-ea"/>
                <a:cs typeface="+mn-cs"/>
              </a:rPr>
              <a:t> You do not want to waste time when an emergency has occurred looking up the number</a:t>
            </a:r>
          </a:p>
          <a:p>
            <a:pPr>
              <a:buFont typeface="Arial" pitchFamily="34" charset="0"/>
              <a:buChar char="•"/>
            </a:pPr>
            <a:r>
              <a:rPr lang="en-AU" sz="1200" kern="1200" dirty="0" smtClean="0">
                <a:solidFill>
                  <a:schemeClr val="tx1"/>
                </a:solidFill>
                <a:latin typeface="+mn-lt"/>
                <a:ea typeface="+mn-ea"/>
                <a:cs typeface="+mn-cs"/>
              </a:rPr>
              <a:t>The emergency telephone numbers for all emergency services should be:</a:t>
            </a:r>
          </a:p>
          <a:p>
            <a:pPr lvl="1">
              <a:buFont typeface="Arial" pitchFamily="34" charset="0"/>
              <a:buChar char="•"/>
            </a:pPr>
            <a:r>
              <a:rPr lang="en-AU" sz="1200" kern="1200" dirty="0" smtClean="0">
                <a:solidFill>
                  <a:schemeClr val="tx1"/>
                </a:solidFill>
                <a:latin typeface="+mn-lt"/>
                <a:ea typeface="+mn-ea"/>
                <a:cs typeface="+mn-cs"/>
              </a:rPr>
              <a:t> Posted in various locations throughout the venue – especially near telephones</a:t>
            </a:r>
          </a:p>
          <a:p>
            <a:pPr lvl="1">
              <a:buFont typeface="Arial" pitchFamily="34" charset="0"/>
              <a:buChar char="•"/>
            </a:pPr>
            <a:r>
              <a:rPr lang="en-AU" sz="1200" kern="1200" dirty="0" smtClean="0">
                <a:solidFill>
                  <a:schemeClr val="tx1"/>
                </a:solidFill>
                <a:latin typeface="+mn-lt"/>
                <a:ea typeface="+mn-ea"/>
                <a:cs typeface="+mn-cs"/>
              </a:rPr>
              <a:t> Entered into your cell phone</a:t>
            </a:r>
          </a:p>
          <a:p>
            <a:pPr lvl="1">
              <a:buFont typeface="Arial" pitchFamily="34" charset="0"/>
              <a:buChar char="•"/>
            </a:pPr>
            <a:r>
              <a:rPr lang="en-AU" sz="1200" kern="1200" dirty="0" smtClean="0">
                <a:solidFill>
                  <a:schemeClr val="tx1"/>
                </a:solidFill>
                <a:latin typeface="+mn-lt"/>
                <a:ea typeface="+mn-ea"/>
                <a:cs typeface="+mn-cs"/>
              </a:rPr>
              <a:t> Entered into speed-dialling facilities of landline telephones</a:t>
            </a:r>
          </a:p>
          <a:p>
            <a:pPr>
              <a:buFont typeface="Arial" pitchFamily="34" charset="0"/>
              <a:buChar char="•"/>
            </a:pPr>
            <a:r>
              <a:rPr lang="en-AU" sz="1200" kern="1200" dirty="0" smtClean="0">
                <a:solidFill>
                  <a:schemeClr val="tx1"/>
                </a:solidFill>
                <a:latin typeface="+mn-lt"/>
                <a:ea typeface="+mn-ea"/>
                <a:cs typeface="+mn-cs"/>
              </a:rPr>
              <a:t> Be aware your emergency services telephone numbers may be:</a:t>
            </a:r>
          </a:p>
          <a:p>
            <a:pPr lvl="1">
              <a:buFont typeface="Arial" pitchFamily="34" charset="0"/>
              <a:buChar char="•"/>
            </a:pPr>
            <a:r>
              <a:rPr lang="en-AU" sz="1200" kern="1200" dirty="0" smtClean="0">
                <a:solidFill>
                  <a:schemeClr val="tx1"/>
                </a:solidFill>
                <a:latin typeface="+mn-lt"/>
                <a:ea typeface="+mn-ea"/>
                <a:cs typeface="+mn-cs"/>
              </a:rPr>
              <a:t> A national number – which can be called form any location/town/city in the country</a:t>
            </a:r>
          </a:p>
          <a:p>
            <a:pPr lvl="1">
              <a:buFont typeface="Arial" pitchFamily="34" charset="0"/>
              <a:buChar char="•"/>
            </a:pPr>
            <a:r>
              <a:rPr lang="en-AU" sz="1200" kern="1200" dirty="0" smtClean="0">
                <a:solidFill>
                  <a:schemeClr val="tx1"/>
                </a:solidFill>
                <a:latin typeface="+mn-lt"/>
                <a:ea typeface="+mn-ea"/>
                <a:cs typeface="+mn-cs"/>
              </a:rPr>
              <a:t> A set of local numbers – giving you direct contact with the nearest emergency services facilities/stations.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reminds students </a:t>
            </a:r>
            <a:r>
              <a:rPr lang="en-AU" sz="1200" kern="1200" dirty="0" smtClean="0">
                <a:solidFill>
                  <a:schemeClr val="tx1"/>
                </a:solidFill>
                <a:latin typeface="+mn-lt"/>
                <a:ea typeface="+mn-ea"/>
                <a:cs typeface="+mn-cs"/>
              </a:rPr>
              <a:t>when reporting an emergency they should:</a:t>
            </a:r>
          </a:p>
          <a:p>
            <a:pPr>
              <a:buFont typeface="Arial" pitchFamily="34" charset="0"/>
              <a:buChar char="•"/>
            </a:pPr>
            <a:r>
              <a:rPr lang="en-AU" sz="1200" kern="1200" dirty="0" smtClean="0">
                <a:solidFill>
                  <a:schemeClr val="tx1"/>
                </a:solidFill>
                <a:latin typeface="+mn-lt"/>
                <a:ea typeface="+mn-ea"/>
                <a:cs typeface="+mn-cs"/>
              </a:rPr>
              <a:t> Identify yourself, position (bar attendant, Duty Manager, security staff) and venue location</a:t>
            </a:r>
          </a:p>
          <a:p>
            <a:pPr>
              <a:buFont typeface="Arial" pitchFamily="34" charset="0"/>
              <a:buChar char="•"/>
            </a:pPr>
            <a:r>
              <a:rPr lang="en-AU" sz="1200" kern="1200" dirty="0" smtClean="0">
                <a:solidFill>
                  <a:schemeClr val="tx1"/>
                </a:solidFill>
                <a:latin typeface="+mn-lt"/>
                <a:ea typeface="+mn-ea"/>
                <a:cs typeface="+mn-cs"/>
              </a:rPr>
              <a:t> State you are reporting an emergency</a:t>
            </a:r>
          </a:p>
          <a:p>
            <a:pPr>
              <a:buFont typeface="Arial" pitchFamily="34" charset="0"/>
              <a:buChar char="•"/>
            </a:pPr>
            <a:r>
              <a:rPr lang="en-AU" sz="1200" kern="1200" dirty="0" smtClean="0">
                <a:solidFill>
                  <a:schemeClr val="tx1"/>
                </a:solidFill>
                <a:latin typeface="+mn-lt"/>
                <a:ea typeface="+mn-ea"/>
                <a:cs typeface="+mn-cs"/>
              </a:rPr>
              <a:t> Describe the nature of the emergency</a:t>
            </a:r>
          </a:p>
          <a:p>
            <a:pPr>
              <a:buFont typeface="Arial" pitchFamily="34" charset="0"/>
              <a:buChar char="•"/>
            </a:pPr>
            <a:r>
              <a:rPr lang="en-AU" sz="1200" kern="1200" dirty="0" smtClean="0">
                <a:solidFill>
                  <a:schemeClr val="tx1"/>
                </a:solidFill>
                <a:latin typeface="+mn-lt"/>
                <a:ea typeface="+mn-ea"/>
                <a:cs typeface="+mn-cs"/>
              </a:rPr>
              <a:t> Be guided by the operator on the other end of the phone – as to what to do and the information to provide</a:t>
            </a:r>
          </a:p>
          <a:p>
            <a:pPr>
              <a:buFont typeface="Arial" pitchFamily="34" charset="0"/>
              <a:buChar char="•"/>
            </a:pPr>
            <a:r>
              <a:rPr lang="en-AU" sz="1200" kern="1200" dirty="0" smtClean="0">
                <a:solidFill>
                  <a:schemeClr val="tx1"/>
                </a:solidFill>
                <a:latin typeface="+mn-lt"/>
                <a:ea typeface="+mn-ea"/>
                <a:cs typeface="+mn-cs"/>
              </a:rPr>
              <a:t> Give the location of the emergency within the venue – Room number, Ballroom, cleaning cupboard on 2</a:t>
            </a:r>
            <a:r>
              <a:rPr lang="en-AU" sz="1200" kern="1200" baseline="30000" dirty="0" smtClean="0">
                <a:solidFill>
                  <a:schemeClr val="tx1"/>
                </a:solidFill>
                <a:latin typeface="+mn-lt"/>
                <a:ea typeface="+mn-ea"/>
                <a:cs typeface="+mn-cs"/>
              </a:rPr>
              <a:t>nd</a:t>
            </a:r>
            <a:r>
              <a:rPr lang="en-AU" sz="1200" kern="1200" dirty="0" smtClean="0">
                <a:solidFill>
                  <a:schemeClr val="tx1"/>
                </a:solidFill>
                <a:latin typeface="+mn-lt"/>
                <a:ea typeface="+mn-ea"/>
                <a:cs typeface="+mn-cs"/>
              </a:rPr>
              <a:t> floor.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reminding students on how to report an emergency to emergency services using the telephone:</a:t>
            </a:r>
          </a:p>
          <a:p>
            <a:pPr>
              <a:buFont typeface="Arial" pitchFamily="34" charset="0"/>
              <a:buChar char="•"/>
            </a:pPr>
            <a:r>
              <a:rPr lang="en-AU" sz="1200" kern="1200" dirty="0" smtClean="0">
                <a:solidFill>
                  <a:schemeClr val="tx1"/>
                </a:solidFill>
                <a:latin typeface="+mn-lt"/>
                <a:ea typeface="+mn-ea"/>
                <a:cs typeface="+mn-cs"/>
              </a:rPr>
              <a:t> Identify the threat you believe is being posed</a:t>
            </a:r>
          </a:p>
          <a:p>
            <a:pPr>
              <a:buFont typeface="Arial" pitchFamily="34" charset="0"/>
              <a:buChar char="•"/>
            </a:pPr>
            <a:r>
              <a:rPr lang="en-AU" sz="1200" kern="1200" dirty="0" smtClean="0">
                <a:solidFill>
                  <a:schemeClr val="tx1"/>
                </a:solidFill>
                <a:latin typeface="+mn-lt"/>
                <a:ea typeface="+mn-ea"/>
                <a:cs typeface="+mn-cs"/>
              </a:rPr>
              <a:t> Define the numbers of people threatened/involved – people trapped; building has collapsed</a:t>
            </a:r>
          </a:p>
          <a:p>
            <a:pPr>
              <a:buFont typeface="Arial" pitchFamily="34" charset="0"/>
              <a:buChar char="•"/>
            </a:pPr>
            <a:r>
              <a:rPr lang="en-AU" sz="1200" kern="1200" dirty="0" smtClean="0">
                <a:solidFill>
                  <a:schemeClr val="tx1"/>
                </a:solidFill>
                <a:latin typeface="+mn-lt"/>
                <a:ea typeface="+mn-ea"/>
                <a:cs typeface="+mn-cs"/>
              </a:rPr>
              <a:t> Describe any local factors relevant to the emergency – power out; escaping gas; internal comms system not operational; venue very busy/crowded</a:t>
            </a:r>
          </a:p>
          <a:p>
            <a:pPr>
              <a:buFont typeface="Arial" pitchFamily="34" charset="0"/>
              <a:buChar char="•"/>
            </a:pPr>
            <a:r>
              <a:rPr lang="en-AU" sz="1200" kern="1200" dirty="0" smtClean="0">
                <a:solidFill>
                  <a:schemeClr val="tx1"/>
                </a:solidFill>
                <a:latin typeface="+mn-lt"/>
                <a:ea typeface="+mn-ea"/>
                <a:cs typeface="+mn-cs"/>
              </a:rPr>
              <a:t> Advise of best approach or entrance to use</a:t>
            </a:r>
          </a:p>
          <a:p>
            <a:pPr>
              <a:buFont typeface="Arial" pitchFamily="34" charset="0"/>
              <a:buChar char="•"/>
            </a:pPr>
            <a:r>
              <a:rPr lang="en-AU" sz="1200" kern="1200" dirty="0" smtClean="0">
                <a:solidFill>
                  <a:schemeClr val="tx1"/>
                </a:solidFill>
                <a:latin typeface="+mn-lt"/>
                <a:ea typeface="+mn-ea"/>
                <a:cs typeface="+mn-cs"/>
              </a:rPr>
              <a:t> Give your opinion regarding the action required</a:t>
            </a:r>
          </a:p>
          <a:p>
            <a:pPr>
              <a:buFont typeface="Arial" pitchFamily="34" charset="0"/>
              <a:buChar char="•"/>
            </a:pPr>
            <a:r>
              <a:rPr lang="en-AU" sz="1200" kern="1200" dirty="0" smtClean="0">
                <a:solidFill>
                  <a:schemeClr val="tx1"/>
                </a:solidFill>
                <a:latin typeface="+mn-lt"/>
                <a:ea typeface="+mn-ea"/>
                <a:cs typeface="+mn-cs"/>
              </a:rPr>
              <a:t> Never hang up until told to do so.</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t>
            </a:r>
            <a:r>
              <a:rPr lang="en-AU" sz="1200" kern="1200" dirty="0" smtClean="0">
                <a:solidFill>
                  <a:schemeClr val="tx1"/>
                </a:solidFill>
                <a:latin typeface="+mn-lt"/>
                <a:ea typeface="+mn-ea"/>
                <a:cs typeface="+mn-cs"/>
              </a:rPr>
              <a:t>students are expected to discharge their allocated responsibilities as set out for their position in the EMP for the venue highlighting in order to follow the EMP (or Emergency </a:t>
            </a:r>
            <a:r>
              <a:rPr lang="en-AU" sz="1200" i="1" kern="1200" dirty="0" smtClean="0">
                <a:solidFill>
                  <a:schemeClr val="tx1"/>
                </a:solidFill>
                <a:latin typeface="+mn-lt"/>
                <a:ea typeface="+mn-ea"/>
                <a:cs typeface="+mn-cs"/>
              </a:rPr>
              <a:t>Action </a:t>
            </a:r>
            <a:r>
              <a:rPr lang="en-AU" sz="1200" kern="1200" dirty="0" smtClean="0">
                <a:solidFill>
                  <a:schemeClr val="tx1"/>
                </a:solidFill>
                <a:latin typeface="+mn-lt"/>
                <a:ea typeface="+mn-ea"/>
                <a:cs typeface="+mn-cs"/>
              </a:rPr>
              <a:t>Plan) they must:</a:t>
            </a:r>
          </a:p>
          <a:p>
            <a:pPr>
              <a:buFont typeface="Arial" pitchFamily="34" charset="0"/>
              <a:buChar char="•"/>
            </a:pPr>
            <a:r>
              <a:rPr lang="en-AU" sz="1200" kern="1200" dirty="0" smtClean="0">
                <a:solidFill>
                  <a:schemeClr val="tx1"/>
                </a:solidFill>
                <a:latin typeface="+mn-lt"/>
                <a:ea typeface="+mn-ea"/>
                <a:cs typeface="+mn-cs"/>
              </a:rPr>
              <a:t> Obtain, read and understand the plan for your position</a:t>
            </a:r>
          </a:p>
          <a:p>
            <a:pPr>
              <a:buFont typeface="Arial" pitchFamily="34" charset="0"/>
              <a:buChar char="•"/>
            </a:pPr>
            <a:r>
              <a:rPr lang="en-AU" sz="1200" kern="1200" dirty="0" smtClean="0">
                <a:solidFill>
                  <a:schemeClr val="tx1"/>
                </a:solidFill>
                <a:latin typeface="+mn-lt"/>
                <a:ea typeface="+mn-ea"/>
                <a:cs typeface="+mn-cs"/>
              </a:rPr>
              <a:t> Query/clarify any points which are unclear</a:t>
            </a:r>
          </a:p>
          <a:p>
            <a:pPr>
              <a:buFont typeface="Arial" pitchFamily="34" charset="0"/>
              <a:buChar char="•"/>
            </a:pPr>
            <a:r>
              <a:rPr lang="en-AU" sz="1200" kern="1200" dirty="0" smtClean="0">
                <a:solidFill>
                  <a:schemeClr val="tx1"/>
                </a:solidFill>
                <a:latin typeface="+mn-lt"/>
                <a:ea typeface="+mn-ea"/>
                <a:cs typeface="+mn-cs"/>
              </a:rPr>
              <a:t> Talk to others about their roles and responsibilities</a:t>
            </a:r>
          </a:p>
          <a:p>
            <a:pPr>
              <a:buFont typeface="Arial" pitchFamily="34" charset="0"/>
              <a:buChar char="•"/>
            </a:pPr>
            <a:r>
              <a:rPr lang="en-AU" sz="1200" kern="1200" dirty="0" smtClean="0">
                <a:solidFill>
                  <a:schemeClr val="tx1"/>
                </a:solidFill>
                <a:latin typeface="+mn-lt"/>
                <a:ea typeface="+mn-ea"/>
                <a:cs typeface="+mn-cs"/>
              </a:rPr>
              <a:t> Participate in EMP training sessions </a:t>
            </a:r>
          </a:p>
          <a:p>
            <a:pPr>
              <a:buFont typeface="Arial" pitchFamily="34" charset="0"/>
              <a:buChar char="•"/>
            </a:pPr>
            <a:r>
              <a:rPr lang="en-AU" sz="1200" kern="1200" dirty="0" smtClean="0">
                <a:solidFill>
                  <a:schemeClr val="tx1"/>
                </a:solidFill>
                <a:latin typeface="+mn-lt"/>
                <a:ea typeface="+mn-ea"/>
                <a:cs typeface="+mn-cs"/>
              </a:rPr>
              <a:t> Participate in venue emergency and evacuation drills and practice sessions.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the EMP must provide the basis for action/response however students are expected to use common sense where the plan cannot be adhered to and/or when circumstances dictate indicating where they have to vary the action/response taken:</a:t>
            </a:r>
          </a:p>
          <a:p>
            <a:pPr>
              <a:buFont typeface="Arial" pitchFamily="34" charset="0"/>
              <a:buChar char="•"/>
            </a:pPr>
            <a:r>
              <a:rPr lang="en-AU" sz="1200" kern="1200" dirty="0" smtClean="0">
                <a:solidFill>
                  <a:schemeClr val="tx1"/>
                </a:solidFill>
                <a:latin typeface="+mn-lt"/>
                <a:ea typeface="+mn-ea"/>
                <a:cs typeface="+mn-cs"/>
              </a:rPr>
              <a:t> Seek approval for the action, if possible, before taking it</a:t>
            </a:r>
          </a:p>
          <a:p>
            <a:pPr>
              <a:buFont typeface="Arial" pitchFamily="34" charset="0"/>
              <a:buChar char="•"/>
            </a:pPr>
            <a:r>
              <a:rPr lang="en-AU" sz="1200" kern="1200" dirty="0" smtClean="0">
                <a:solidFill>
                  <a:schemeClr val="tx1"/>
                </a:solidFill>
                <a:latin typeface="+mn-lt"/>
                <a:ea typeface="+mn-ea"/>
                <a:cs typeface="+mn-cs"/>
              </a:rPr>
              <a:t> Always seek the greatest good for the greatest number </a:t>
            </a:r>
          </a:p>
          <a:p>
            <a:pPr>
              <a:buFont typeface="Arial" pitchFamily="34" charset="0"/>
              <a:buChar char="•"/>
            </a:pPr>
            <a:r>
              <a:rPr lang="en-AU" sz="1200" kern="1200" dirty="0" smtClean="0">
                <a:solidFill>
                  <a:schemeClr val="tx1"/>
                </a:solidFill>
                <a:latin typeface="+mn-lt"/>
                <a:ea typeface="+mn-ea"/>
                <a:cs typeface="+mn-cs"/>
              </a:rPr>
              <a:t> Notify the chain of command about what you intend/have done.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reinforces previous advice:</a:t>
            </a:r>
          </a:p>
          <a:p>
            <a:pPr>
              <a:buFont typeface="Arial" pitchFamily="34" charset="0"/>
              <a:buChar char="•"/>
            </a:pPr>
            <a:r>
              <a:rPr lang="en-AU" sz="1200" kern="1200" dirty="0" smtClean="0">
                <a:solidFill>
                  <a:schemeClr val="tx1"/>
                </a:solidFill>
                <a:latin typeface="+mn-lt"/>
                <a:ea typeface="+mn-ea"/>
                <a:cs typeface="+mn-cs"/>
              </a:rPr>
              <a:t> Many disasters have occurred because everyone thought someone else had taken this step</a:t>
            </a:r>
          </a:p>
          <a:p>
            <a:pPr>
              <a:buFont typeface="Arial" pitchFamily="34" charset="0"/>
              <a:buChar char="•"/>
            </a:pPr>
            <a:r>
              <a:rPr lang="en-AU" sz="1200" kern="1200" dirty="0" smtClean="0">
                <a:solidFill>
                  <a:schemeClr val="tx1"/>
                </a:solidFill>
                <a:latin typeface="+mn-lt"/>
                <a:ea typeface="+mn-ea"/>
                <a:cs typeface="+mn-cs"/>
              </a:rPr>
              <a:t> When an emergency situation has been identified, speed in responding is critical</a:t>
            </a:r>
          </a:p>
          <a:p>
            <a:pPr>
              <a:buFont typeface="Arial" pitchFamily="34" charset="0"/>
              <a:buChar char="•"/>
            </a:pPr>
            <a:r>
              <a:rPr lang="en-AU" sz="1200" kern="1200" dirty="0" smtClean="0">
                <a:solidFill>
                  <a:schemeClr val="tx1"/>
                </a:solidFill>
                <a:latin typeface="+mn-lt"/>
                <a:ea typeface="+mn-ea"/>
                <a:cs typeface="+mn-cs"/>
              </a:rPr>
              <a:t> The biggest problem with responding effectively to an emergency lies in the first one or two minutes when staff waste time determining whether or not they need to do something, and/or working out what they should do</a:t>
            </a:r>
          </a:p>
          <a:p>
            <a:pPr>
              <a:buFont typeface="Arial" pitchFamily="34" charset="0"/>
              <a:buChar char="•"/>
            </a:pPr>
            <a:r>
              <a:rPr lang="en-AU" sz="1200" kern="1200" dirty="0" smtClean="0">
                <a:solidFill>
                  <a:schemeClr val="tx1"/>
                </a:solidFill>
                <a:latin typeface="+mn-lt"/>
                <a:ea typeface="+mn-ea"/>
                <a:cs typeface="+mn-cs"/>
              </a:rPr>
              <a:t> It is essential to act/respond quickly by:</a:t>
            </a:r>
          </a:p>
          <a:p>
            <a:pPr lvl="1">
              <a:buFont typeface="Arial" pitchFamily="34" charset="0"/>
              <a:buChar char="•"/>
            </a:pPr>
            <a:r>
              <a:rPr lang="en-AU" sz="1200" kern="1200" dirty="0" smtClean="0">
                <a:solidFill>
                  <a:schemeClr val="tx1"/>
                </a:solidFill>
                <a:latin typeface="+mn-lt"/>
                <a:ea typeface="+mn-ea"/>
                <a:cs typeface="+mn-cs"/>
              </a:rPr>
              <a:t> Activating an alarm</a:t>
            </a:r>
          </a:p>
          <a:p>
            <a:pPr lvl="1">
              <a:buFont typeface="Arial" pitchFamily="34" charset="0"/>
              <a:buChar char="•"/>
            </a:pPr>
            <a:r>
              <a:rPr lang="en-AU" sz="1200" kern="1200" dirty="0" smtClean="0">
                <a:solidFill>
                  <a:schemeClr val="tx1"/>
                </a:solidFill>
                <a:latin typeface="+mn-lt"/>
                <a:ea typeface="+mn-ea"/>
                <a:cs typeface="+mn-cs"/>
              </a:rPr>
              <a:t> Contacting a nominated internal person </a:t>
            </a:r>
          </a:p>
          <a:p>
            <a:pPr lvl="1">
              <a:buFont typeface="Arial" pitchFamily="34" charset="0"/>
              <a:buChar char="•"/>
            </a:pPr>
            <a:r>
              <a:rPr lang="en-AU" sz="1200" kern="1200" dirty="0" smtClean="0">
                <a:solidFill>
                  <a:schemeClr val="tx1"/>
                </a:solidFill>
                <a:latin typeface="+mn-lt"/>
                <a:ea typeface="+mn-ea"/>
                <a:cs typeface="+mn-cs"/>
              </a:rPr>
              <a:t> Notifying external authorities.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states when activities listed in previous slide have been</a:t>
            </a:r>
            <a:r>
              <a:rPr lang="en-AU" baseline="0" noProof="0" dirty="0" smtClean="0"/>
              <a:t> undertaken they should:</a:t>
            </a:r>
          </a:p>
          <a:p>
            <a:pPr>
              <a:buFont typeface="Arial" pitchFamily="34" charset="0"/>
              <a:buChar char="•"/>
            </a:pPr>
            <a:r>
              <a:rPr lang="en-AU" sz="1200" kern="1200" dirty="0" smtClean="0">
                <a:solidFill>
                  <a:schemeClr val="tx1"/>
                </a:solidFill>
                <a:latin typeface="+mn-lt"/>
                <a:ea typeface="+mn-ea"/>
                <a:cs typeface="+mn-cs"/>
              </a:rPr>
              <a:t> Implement your role in the EMP</a:t>
            </a:r>
          </a:p>
          <a:p>
            <a:pPr>
              <a:buFont typeface="Arial" pitchFamily="34" charset="0"/>
              <a:buChar char="•"/>
            </a:pPr>
            <a:r>
              <a:rPr lang="en-AU" sz="1200" kern="1200" dirty="0" smtClean="0">
                <a:solidFill>
                  <a:schemeClr val="tx1"/>
                </a:solidFill>
                <a:latin typeface="+mn-lt"/>
                <a:ea typeface="+mn-ea"/>
                <a:cs typeface="+mn-cs"/>
              </a:rPr>
              <a:t> Assist others – staff and/or guests; emergency services</a:t>
            </a:r>
          </a:p>
          <a:p>
            <a:pPr>
              <a:buFont typeface="Arial" pitchFamily="34" charset="0"/>
              <a:buChar char="•"/>
            </a:pPr>
            <a:r>
              <a:rPr lang="en-AU" sz="1200" kern="1200" dirty="0" smtClean="0">
                <a:solidFill>
                  <a:schemeClr val="tx1"/>
                </a:solidFill>
                <a:latin typeface="+mn-lt"/>
                <a:ea typeface="+mn-ea"/>
                <a:cs typeface="+mn-cs"/>
              </a:rPr>
              <a:t> Engage in first-attack response where safe to do so</a:t>
            </a:r>
          </a:p>
          <a:p>
            <a:pPr>
              <a:buFont typeface="Arial" pitchFamily="34" charset="0"/>
              <a:buChar char="•"/>
            </a:pPr>
            <a:r>
              <a:rPr lang="en-AU" sz="1200" kern="1200" dirty="0" smtClean="0">
                <a:solidFill>
                  <a:schemeClr val="tx1"/>
                </a:solidFill>
                <a:latin typeface="+mn-lt"/>
                <a:ea typeface="+mn-ea"/>
                <a:cs typeface="+mn-cs"/>
              </a:rPr>
              <a:t> Evacuate people to the designated Evacuation Assembly Points.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staff </a:t>
            </a:r>
            <a:r>
              <a:rPr lang="en-AU" sz="1200" kern="1200" dirty="0" smtClean="0">
                <a:solidFill>
                  <a:schemeClr val="tx1"/>
                </a:solidFill>
                <a:latin typeface="+mn-lt"/>
                <a:ea typeface="+mn-ea"/>
                <a:cs typeface="+mn-cs"/>
              </a:rPr>
              <a:t>uniforms will serve as an indicator people are an employee of the venue and this gives some initial status as someone ‘in charge’ and able to give directions to people when an evacuation is required but when an emergency is declared staff may be required to wear:</a:t>
            </a:r>
          </a:p>
          <a:p>
            <a:pPr>
              <a:buFont typeface="Arial" pitchFamily="34" charset="0"/>
              <a:buChar char="•"/>
            </a:pPr>
            <a:r>
              <a:rPr lang="en-AU" sz="1200" kern="1200" dirty="0" smtClean="0">
                <a:solidFill>
                  <a:schemeClr val="tx1"/>
                </a:solidFill>
                <a:latin typeface="+mn-lt"/>
                <a:ea typeface="+mn-ea"/>
                <a:cs typeface="+mn-cs"/>
              </a:rPr>
              <a:t> A nominated hat – different colours indicate the role of the person wearing it </a:t>
            </a:r>
          </a:p>
          <a:p>
            <a:pPr>
              <a:buFont typeface="Arial" pitchFamily="34" charset="0"/>
              <a:buChar char="•"/>
            </a:pPr>
            <a:r>
              <a:rPr lang="en-AU" sz="1200" kern="1200" dirty="0" smtClean="0">
                <a:solidFill>
                  <a:schemeClr val="tx1"/>
                </a:solidFill>
                <a:latin typeface="+mn-lt"/>
                <a:ea typeface="+mn-ea"/>
                <a:cs typeface="+mn-cs"/>
              </a:rPr>
              <a:t> A coloured vest with your role written on the vest.</a:t>
            </a:r>
          </a:p>
          <a:p>
            <a:r>
              <a:rPr lang="en-AU" sz="1200" kern="1200" dirty="0" smtClean="0">
                <a:solidFill>
                  <a:schemeClr val="tx1"/>
                </a:solidFill>
                <a:latin typeface="+mn-lt"/>
                <a:ea typeface="+mn-ea"/>
                <a:cs typeface="+mn-cs"/>
              </a:rPr>
              <a:t>This indicates to both members of the public, other staff and emergency workers what your role – and hence your potential knowledge, skills and abilities may be.</a:t>
            </a:r>
          </a:p>
          <a:p>
            <a:pPr>
              <a:buFont typeface="Arial" pitchFamily="34" charset="0"/>
              <a:buNone/>
            </a:pPr>
            <a:endParaRPr lang="en-AU" noProof="0" dirty="0" smtClean="0"/>
          </a:p>
          <a:p>
            <a:pPr>
              <a:buFont typeface="Arial" pitchFamily="34" charset="0"/>
              <a:buNone/>
            </a:pPr>
            <a:r>
              <a:rPr lang="en-AU" b="1" noProof="0" dirty="0" smtClean="0"/>
              <a:t>Class Activity – Samples</a:t>
            </a:r>
          </a:p>
          <a:p>
            <a:pPr>
              <a:buFont typeface="Arial" pitchFamily="34" charset="0"/>
              <a:buNone/>
            </a:pPr>
            <a:r>
              <a:rPr lang="en-AU" b="0" noProof="0" dirty="0" smtClean="0"/>
              <a:t>Trainer shows examples of colour-coded hats and vests to students.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students </a:t>
            </a:r>
            <a:r>
              <a:rPr lang="en-AU" sz="1200" kern="1200" dirty="0" smtClean="0">
                <a:solidFill>
                  <a:schemeClr val="tx1"/>
                </a:solidFill>
                <a:latin typeface="+mn-lt"/>
                <a:ea typeface="+mn-ea"/>
                <a:cs typeface="+mn-cs"/>
              </a:rPr>
              <a:t>role is to not only follow the actions prescribed for them in the EMP but also comply with chain of command directions during the emergency:</a:t>
            </a:r>
          </a:p>
          <a:p>
            <a:pPr lvl="0">
              <a:buFont typeface="Arial" pitchFamily="34" charset="0"/>
              <a:buChar char="•"/>
            </a:pPr>
            <a:r>
              <a:rPr lang="en-AU" sz="1200" kern="1200" dirty="0" smtClean="0">
                <a:solidFill>
                  <a:schemeClr val="tx1"/>
                </a:solidFill>
                <a:latin typeface="+mn-lt"/>
                <a:ea typeface="+mn-ea"/>
                <a:cs typeface="+mn-cs"/>
              </a:rPr>
              <a:t> Promptly </a:t>
            </a:r>
          </a:p>
          <a:p>
            <a:pPr lvl="0">
              <a:buFont typeface="Arial" pitchFamily="34" charset="0"/>
              <a:buChar char="•"/>
            </a:pPr>
            <a:r>
              <a:rPr lang="en-AU" sz="1200" kern="1200" dirty="0" smtClean="0">
                <a:solidFill>
                  <a:schemeClr val="tx1"/>
                </a:solidFill>
                <a:latin typeface="+mn-lt"/>
                <a:ea typeface="+mn-ea"/>
                <a:cs typeface="+mn-cs"/>
              </a:rPr>
              <a:t> Completely </a:t>
            </a:r>
          </a:p>
          <a:p>
            <a:pPr lvl="0">
              <a:buFont typeface="Arial" pitchFamily="34" charset="0"/>
              <a:buChar char="•"/>
            </a:pPr>
            <a:r>
              <a:rPr lang="en-AU" sz="1200" kern="1200" dirty="0" smtClean="0">
                <a:solidFill>
                  <a:schemeClr val="tx1"/>
                </a:solidFill>
                <a:latin typeface="+mn-lt"/>
                <a:ea typeface="+mn-ea"/>
                <a:cs typeface="+mn-cs"/>
              </a:rPr>
              <a:t> Without question – see later</a:t>
            </a:r>
            <a:r>
              <a:rPr lang="en-AU" sz="1200" kern="1200" baseline="0" dirty="0" smtClean="0">
                <a:solidFill>
                  <a:schemeClr val="tx1"/>
                </a:solidFill>
                <a:latin typeface="+mn-lt"/>
                <a:ea typeface="+mn-ea"/>
                <a:cs typeface="+mn-cs"/>
              </a:rPr>
              <a:t> slides </a:t>
            </a:r>
            <a:r>
              <a:rPr lang="en-AU" sz="1200" kern="1200" dirty="0" smtClean="0">
                <a:solidFill>
                  <a:schemeClr val="tx1"/>
                </a:solidFill>
                <a:latin typeface="+mn-lt"/>
                <a:ea typeface="+mn-ea"/>
                <a:cs typeface="+mn-cs"/>
              </a:rPr>
              <a:t>‘Questioning command directions’.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suggests when </a:t>
            </a:r>
            <a:r>
              <a:rPr lang="en-AU" sz="1200" kern="1200" dirty="0" smtClean="0">
                <a:solidFill>
                  <a:schemeClr val="tx1"/>
                </a:solidFill>
                <a:latin typeface="+mn-lt"/>
                <a:ea typeface="+mn-ea"/>
                <a:cs typeface="+mn-cs"/>
              </a:rPr>
              <a:t>giving instructions to guests in an emergency situation the requirements to follow are:</a:t>
            </a:r>
          </a:p>
          <a:p>
            <a:pPr>
              <a:buFont typeface="Arial" pitchFamily="34" charset="0"/>
              <a:buChar char="•"/>
            </a:pPr>
            <a:r>
              <a:rPr lang="en-AU" sz="1200" kern="1200" dirty="0" smtClean="0">
                <a:solidFill>
                  <a:schemeClr val="tx1"/>
                </a:solidFill>
                <a:latin typeface="+mn-lt"/>
                <a:ea typeface="+mn-ea"/>
                <a:cs typeface="+mn-cs"/>
              </a:rPr>
              <a:t> Ensure you know what you are talking about – giving incorrect information causes confusion and can</a:t>
            </a:r>
            <a:r>
              <a:rPr lang="en-AU" sz="1200" kern="1200" baseline="0" dirty="0" smtClean="0">
                <a:solidFill>
                  <a:schemeClr val="tx1"/>
                </a:solidFill>
                <a:latin typeface="+mn-lt"/>
                <a:ea typeface="+mn-ea"/>
                <a:cs typeface="+mn-cs"/>
              </a:rPr>
              <a:t> result in deaths or injury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Speak clearly and calmly but with authority – speak as if you </a:t>
            </a:r>
            <a:r>
              <a:rPr lang="en-AU" sz="1200" i="1" kern="1200" dirty="0" smtClean="0">
                <a:solidFill>
                  <a:schemeClr val="tx1"/>
                </a:solidFill>
                <a:latin typeface="+mn-lt"/>
                <a:ea typeface="+mn-ea"/>
                <a:cs typeface="+mn-cs"/>
              </a:rPr>
              <a:t>expect</a:t>
            </a:r>
            <a:r>
              <a:rPr lang="en-AU" sz="1200" kern="1200" dirty="0" smtClean="0">
                <a:solidFill>
                  <a:schemeClr val="tx1"/>
                </a:solidFill>
                <a:latin typeface="+mn-lt"/>
                <a:ea typeface="+mn-ea"/>
                <a:cs typeface="+mn-cs"/>
              </a:rPr>
              <a:t> people to comply with what you say</a:t>
            </a:r>
          </a:p>
          <a:p>
            <a:pPr>
              <a:buFont typeface="Arial" pitchFamily="34" charset="0"/>
              <a:buChar char="•"/>
            </a:pPr>
            <a:r>
              <a:rPr lang="en-AU" sz="1200" kern="1200" dirty="0" smtClean="0">
                <a:solidFill>
                  <a:schemeClr val="tx1"/>
                </a:solidFill>
                <a:latin typeface="+mn-lt"/>
                <a:ea typeface="+mn-ea"/>
                <a:cs typeface="+mn-cs"/>
              </a:rPr>
              <a:t> Do not panic – if you panic this will cause panic in others: likewise if you are calm this will create calmness in others</a:t>
            </a:r>
          </a:p>
          <a:p>
            <a:pPr>
              <a:buFont typeface="Arial" pitchFamily="34" charset="0"/>
              <a:buChar char="•"/>
            </a:pPr>
            <a:r>
              <a:rPr lang="en-AU" sz="1200" kern="1200" dirty="0" smtClean="0">
                <a:solidFill>
                  <a:schemeClr val="tx1"/>
                </a:solidFill>
                <a:latin typeface="+mn-lt"/>
                <a:ea typeface="+mn-ea"/>
                <a:cs typeface="+mn-cs"/>
              </a:rPr>
              <a:t> Try not to yell – unless background noise makes this necessary.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when giving instructions/directions yo guests in an emergency:</a:t>
            </a:r>
          </a:p>
          <a:p>
            <a:pPr>
              <a:buFont typeface="Arial" pitchFamily="34" charset="0"/>
              <a:buChar char="•"/>
            </a:pPr>
            <a:r>
              <a:rPr lang="en-AU" sz="1200" kern="1200" dirty="0" smtClean="0">
                <a:solidFill>
                  <a:schemeClr val="tx1"/>
                </a:solidFill>
                <a:latin typeface="+mn-lt"/>
                <a:ea typeface="+mn-ea"/>
                <a:cs typeface="+mn-cs"/>
              </a:rPr>
              <a:t> Exude confidence – this gives reassurance</a:t>
            </a:r>
            <a:r>
              <a:rPr lang="en-AU" sz="1200" kern="1200" baseline="0" dirty="0" smtClean="0">
                <a:solidFill>
                  <a:schemeClr val="tx1"/>
                </a:solidFill>
                <a:latin typeface="+mn-lt"/>
                <a:ea typeface="+mn-ea"/>
                <a:cs typeface="+mn-cs"/>
              </a:rPr>
              <a:t> and helps maintain control and eliminate panic</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Repeat yourself – often/as necessary </a:t>
            </a:r>
          </a:p>
          <a:p>
            <a:pPr>
              <a:buFont typeface="Arial" pitchFamily="34" charset="0"/>
              <a:buChar char="•"/>
            </a:pPr>
            <a:r>
              <a:rPr lang="en-AU" sz="1200" kern="1200" dirty="0" smtClean="0">
                <a:solidFill>
                  <a:schemeClr val="tx1"/>
                </a:solidFill>
                <a:latin typeface="+mn-lt"/>
                <a:ea typeface="+mn-ea"/>
                <a:cs typeface="+mn-cs"/>
              </a:rPr>
              <a:t> Use appropriate sign language and signals </a:t>
            </a:r>
          </a:p>
          <a:p>
            <a:pPr>
              <a:buFont typeface="Arial" pitchFamily="34" charset="0"/>
              <a:buChar char="•"/>
            </a:pPr>
            <a:r>
              <a:rPr lang="en-AU" sz="1200" kern="1200" dirty="0" smtClean="0">
                <a:solidFill>
                  <a:schemeClr val="tx1"/>
                </a:solidFill>
                <a:latin typeface="+mn-lt"/>
                <a:ea typeface="+mn-ea"/>
                <a:cs typeface="+mn-cs"/>
              </a:rPr>
              <a:t> Be prepared to ‘show’ and not just ‘tell’.</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 (Role Plays)</a:t>
            </a:r>
          </a:p>
          <a:p>
            <a:pPr>
              <a:buFont typeface="Arial" pitchFamily="34" charset="0"/>
              <a:buNone/>
            </a:pPr>
            <a:r>
              <a:rPr lang="en-AU" b="0" noProof="0" dirty="0" smtClean="0"/>
              <a:t>Trainer demonstrates how to give directions and instructions to ‘guests’ during a mock emergency situation and provides an opportunity for students to practice same.</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a:t>
            </a:r>
            <a:r>
              <a:rPr lang="en-AU" sz="1200" kern="1200" dirty="0" smtClean="0">
                <a:solidFill>
                  <a:schemeClr val="tx1"/>
                </a:solidFill>
                <a:latin typeface="+mn-lt"/>
                <a:ea typeface="+mn-ea"/>
                <a:cs typeface="+mn-cs"/>
              </a:rPr>
              <a:t>an emergency is a dynamic situation highlighting staff have a responsibility to notify command of the changes and alter their response to suit the changed circumstances explaining changed circumstances may be:</a:t>
            </a:r>
          </a:p>
          <a:p>
            <a:pPr>
              <a:buFont typeface="Arial" pitchFamily="34" charset="0"/>
              <a:buChar char="•"/>
            </a:pPr>
            <a:r>
              <a:rPr lang="en-AU" sz="1200" kern="1200" dirty="0" smtClean="0">
                <a:solidFill>
                  <a:schemeClr val="tx1"/>
                </a:solidFill>
                <a:latin typeface="+mn-lt"/>
                <a:ea typeface="+mn-ea"/>
                <a:cs typeface="+mn-cs"/>
              </a:rPr>
              <a:t> A variation in the environment/atmospheric conditions – increase in wind or change in direction of wind; increased smoke</a:t>
            </a:r>
          </a:p>
          <a:p>
            <a:pPr>
              <a:buFont typeface="Arial" pitchFamily="34" charset="0"/>
              <a:buChar char="•"/>
            </a:pPr>
            <a:r>
              <a:rPr lang="en-AU" sz="1200" kern="1200" dirty="0" smtClean="0">
                <a:solidFill>
                  <a:schemeClr val="tx1"/>
                </a:solidFill>
                <a:latin typeface="+mn-lt"/>
                <a:ea typeface="+mn-ea"/>
                <a:cs typeface="+mn-cs"/>
              </a:rPr>
              <a:t> An increase in the number of people involved/impacted</a:t>
            </a:r>
          </a:p>
          <a:p>
            <a:pPr>
              <a:buFont typeface="Arial" pitchFamily="34" charset="0"/>
              <a:buChar char="•"/>
            </a:pPr>
            <a:r>
              <a:rPr lang="en-AU" sz="1200" kern="1200" dirty="0" smtClean="0">
                <a:solidFill>
                  <a:schemeClr val="tx1"/>
                </a:solidFill>
                <a:latin typeface="+mn-lt"/>
                <a:ea typeface="+mn-ea"/>
                <a:cs typeface="+mn-cs"/>
              </a:rPr>
              <a:t> Failure or success of the first-attack/first response to address the cause of the emergency</a:t>
            </a:r>
          </a:p>
          <a:p>
            <a:pPr>
              <a:buFont typeface="Arial" pitchFamily="34" charset="0"/>
              <a:buChar char="•"/>
            </a:pPr>
            <a:r>
              <a:rPr lang="en-AU" sz="1200" kern="1200" dirty="0" smtClean="0">
                <a:solidFill>
                  <a:schemeClr val="tx1"/>
                </a:solidFill>
                <a:latin typeface="+mn-lt"/>
                <a:ea typeface="+mn-ea"/>
                <a:cs typeface="+mn-cs"/>
              </a:rPr>
              <a:t> Unexpected behaviour of:</a:t>
            </a:r>
          </a:p>
          <a:p>
            <a:pPr lvl="1">
              <a:buFont typeface="Arial" pitchFamily="34" charset="0"/>
              <a:buChar char="•"/>
            </a:pPr>
            <a:r>
              <a:rPr lang="en-AU" sz="1200" kern="1200" dirty="0" smtClean="0">
                <a:solidFill>
                  <a:schemeClr val="tx1"/>
                </a:solidFill>
                <a:latin typeface="+mn-lt"/>
                <a:ea typeface="+mn-ea"/>
                <a:cs typeface="+mn-cs"/>
              </a:rPr>
              <a:t> People – such as panic, failure to obey directions</a:t>
            </a:r>
          </a:p>
          <a:p>
            <a:pPr lvl="1">
              <a:buFont typeface="Arial" pitchFamily="34" charset="0"/>
              <a:buChar char="•"/>
            </a:pPr>
            <a:r>
              <a:rPr lang="en-AU" sz="1200" kern="1200" dirty="0" smtClean="0">
                <a:solidFill>
                  <a:schemeClr val="tx1"/>
                </a:solidFill>
                <a:latin typeface="+mn-lt"/>
                <a:ea typeface="+mn-ea"/>
                <a:cs typeface="+mn-cs"/>
              </a:rPr>
              <a:t> Resources – such as lack of resources, failure of resources, inappropriate resources) </a:t>
            </a:r>
          </a:p>
          <a:p>
            <a:pPr lvl="1">
              <a:buFont typeface="Arial" pitchFamily="34" charset="0"/>
              <a:buChar char="•"/>
            </a:pPr>
            <a:r>
              <a:rPr lang="en-AU" sz="1200" kern="1200" dirty="0" smtClean="0">
                <a:solidFill>
                  <a:schemeClr val="tx1"/>
                </a:solidFill>
                <a:latin typeface="+mn-lt"/>
                <a:ea typeface="+mn-ea"/>
                <a:cs typeface="+mn-cs"/>
              </a:rPr>
              <a:t> The emergency situation itself – unexpected spread of fire, gas or fumes; explosion).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states students must always use common sense when dealing with emergencies:</a:t>
            </a:r>
          </a:p>
          <a:p>
            <a:pPr>
              <a:buFont typeface="Arial" pitchFamily="34" charset="0"/>
              <a:buChar char="•"/>
            </a:pPr>
            <a:r>
              <a:rPr lang="en-AU" sz="1200" kern="1200" dirty="0" smtClean="0">
                <a:solidFill>
                  <a:schemeClr val="tx1"/>
                </a:solidFill>
                <a:latin typeface="+mn-lt"/>
                <a:ea typeface="+mn-ea"/>
                <a:cs typeface="+mn-cs"/>
              </a:rPr>
              <a:t> Follow what common sense tells you to do based on your first-hand, on-the-ground knowledge:</a:t>
            </a:r>
          </a:p>
          <a:p>
            <a:pPr lvl="1">
              <a:buFont typeface="Arial" pitchFamily="34" charset="0"/>
              <a:buChar char="•"/>
            </a:pPr>
            <a:r>
              <a:rPr lang="en-AU" sz="1200" kern="1200" dirty="0" smtClean="0">
                <a:solidFill>
                  <a:schemeClr val="tx1"/>
                </a:solidFill>
                <a:latin typeface="+mn-lt"/>
                <a:ea typeface="+mn-ea"/>
                <a:cs typeface="+mn-cs"/>
              </a:rPr>
              <a:t> Explain to the person giving the direction why you think their instruction is flawed/unsafe </a:t>
            </a:r>
          </a:p>
          <a:p>
            <a:pPr lvl="1">
              <a:buFont typeface="Arial" pitchFamily="34" charset="0"/>
              <a:buChar char="•"/>
            </a:pPr>
            <a:r>
              <a:rPr lang="en-AU" sz="1200" kern="1200" dirty="0" smtClean="0">
                <a:solidFill>
                  <a:schemeClr val="tx1"/>
                </a:solidFill>
                <a:latin typeface="+mn-lt"/>
                <a:ea typeface="+mn-ea"/>
                <a:cs typeface="+mn-cs"/>
              </a:rPr>
              <a:t> If the chain of command knows about the information you have supplied you are expected to do what they say unless you firmly believe it will put your safety or the safety of others in danger.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stresses need to place safety of people above everything else:</a:t>
            </a:r>
          </a:p>
          <a:p>
            <a:pPr>
              <a:buFont typeface="Arial" pitchFamily="34" charset="0"/>
              <a:buChar char="•"/>
            </a:pPr>
            <a:r>
              <a:rPr lang="en-AU" sz="1200" kern="1200" dirty="0" smtClean="0">
                <a:solidFill>
                  <a:schemeClr val="tx1"/>
                </a:solidFill>
                <a:latin typeface="+mn-lt"/>
                <a:ea typeface="+mn-ea"/>
                <a:cs typeface="+mn-cs"/>
              </a:rPr>
              <a:t> Fighting a fire must wait until all people have been rescued from a ride or evacuated from the area</a:t>
            </a:r>
          </a:p>
          <a:p>
            <a:pPr>
              <a:buFont typeface="Arial" pitchFamily="34" charset="0"/>
              <a:buChar char="•"/>
            </a:pPr>
            <a:r>
              <a:rPr lang="en-AU" sz="1200" kern="1200" dirty="0" smtClean="0">
                <a:solidFill>
                  <a:schemeClr val="tx1"/>
                </a:solidFill>
                <a:latin typeface="+mn-lt"/>
                <a:ea typeface="+mn-ea"/>
                <a:cs typeface="+mn-cs"/>
              </a:rPr>
              <a:t> Saving an animal must take second place to saving a person or evacuating people</a:t>
            </a:r>
          </a:p>
          <a:p>
            <a:pPr>
              <a:buFont typeface="Arial" pitchFamily="34" charset="0"/>
              <a:buChar char="•"/>
            </a:pPr>
            <a:r>
              <a:rPr lang="en-AU" sz="1200" kern="1200" dirty="0" smtClean="0">
                <a:solidFill>
                  <a:schemeClr val="tx1"/>
                </a:solidFill>
                <a:latin typeface="+mn-lt"/>
                <a:ea typeface="+mn-ea"/>
                <a:cs typeface="+mn-cs"/>
              </a:rPr>
              <a:t> Retrieving a vehicle must never take precedence over protecting people.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when emergency services arrive on scene, they take over command of the situation and staff must if able to assist emergency services:</a:t>
            </a:r>
          </a:p>
          <a:p>
            <a:pPr>
              <a:buFont typeface="Arial" pitchFamily="34" charset="0"/>
              <a:buChar char="•"/>
            </a:pPr>
            <a:r>
              <a:rPr lang="en-AU" sz="1200" kern="1200" dirty="0" smtClean="0">
                <a:solidFill>
                  <a:schemeClr val="tx1"/>
                </a:solidFill>
                <a:latin typeface="+mn-lt"/>
                <a:ea typeface="+mn-ea"/>
                <a:cs typeface="+mn-cs"/>
              </a:rPr>
              <a:t> Ignore the requirements of the EMP at their direction – the professionals may have identified a flaw in the plan as it applies to the current emergency</a:t>
            </a:r>
          </a:p>
          <a:p>
            <a:pPr>
              <a:buFont typeface="Arial" pitchFamily="34" charset="0"/>
              <a:buChar char="•"/>
            </a:pPr>
            <a:r>
              <a:rPr lang="en-AU" sz="1200" kern="1200" dirty="0" smtClean="0">
                <a:solidFill>
                  <a:schemeClr val="tx1"/>
                </a:solidFill>
                <a:latin typeface="+mn-lt"/>
                <a:ea typeface="+mn-ea"/>
                <a:cs typeface="+mn-cs"/>
              </a:rPr>
              <a:t> Follow directions given by emergency service professionals</a:t>
            </a:r>
          </a:p>
          <a:p>
            <a:pPr>
              <a:buFont typeface="Arial" pitchFamily="34" charset="0"/>
              <a:buChar char="•"/>
            </a:pPr>
            <a:r>
              <a:rPr lang="en-AU" sz="1200" kern="1200" dirty="0" smtClean="0">
                <a:solidFill>
                  <a:schemeClr val="tx1"/>
                </a:solidFill>
                <a:latin typeface="+mn-lt"/>
                <a:ea typeface="+mn-ea"/>
                <a:cs typeface="+mn-cs"/>
              </a:rPr>
              <a:t> Alert them to any relevant special training/experience you have</a:t>
            </a:r>
          </a:p>
          <a:p>
            <a:pPr>
              <a:buFont typeface="Arial" pitchFamily="34" charset="0"/>
              <a:buChar char="•"/>
            </a:pPr>
            <a:r>
              <a:rPr lang="en-AU" sz="1200" kern="1200" dirty="0" smtClean="0">
                <a:solidFill>
                  <a:schemeClr val="tx1"/>
                </a:solidFill>
                <a:latin typeface="+mn-lt"/>
                <a:ea typeface="+mn-ea"/>
                <a:cs typeface="+mn-cs"/>
              </a:rPr>
              <a:t> Be prepared to leave if you find you cannot accommodate the stated needs of the emergency services workers – for everyone’s sake you are better off out of the area under these conditions</a:t>
            </a:r>
          </a:p>
          <a:p>
            <a:pPr>
              <a:buFont typeface="Arial" pitchFamily="34" charset="0"/>
              <a:buChar char="•"/>
            </a:pPr>
            <a:r>
              <a:rPr lang="en-AU" sz="1200" kern="1200" dirty="0" smtClean="0">
                <a:solidFill>
                  <a:schemeClr val="tx1"/>
                </a:solidFill>
                <a:latin typeface="+mn-lt"/>
                <a:ea typeface="+mn-ea"/>
                <a:cs typeface="+mn-cs"/>
              </a:rPr>
              <a:t> Be prepared to act as ‘support’ rather than first-line providers.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explains </a:t>
            </a:r>
            <a:r>
              <a:rPr lang="en-AU" sz="1200" kern="1200" dirty="0" smtClean="0">
                <a:solidFill>
                  <a:schemeClr val="tx1"/>
                </a:solidFill>
                <a:latin typeface="+mn-lt"/>
                <a:ea typeface="+mn-ea"/>
                <a:cs typeface="+mn-cs"/>
              </a:rPr>
              <a:t>in the same way a fire can trigger the need to provide first response assistance so too the same requirement can apply when another type of emergency arises.</a:t>
            </a:r>
          </a:p>
          <a:p>
            <a:r>
              <a:rPr lang="en-AU" sz="1200" kern="1200" dirty="0" smtClean="0">
                <a:solidFill>
                  <a:schemeClr val="tx1"/>
                </a:solidFill>
                <a:latin typeface="+mn-lt"/>
                <a:ea typeface="+mn-ea"/>
                <a:cs typeface="+mn-cs"/>
              </a:rPr>
              <a:t>Trainer states the first response assistance must always:</a:t>
            </a:r>
          </a:p>
          <a:p>
            <a:pPr>
              <a:buFont typeface="Arial" pitchFamily="34" charset="0"/>
              <a:buChar char="•"/>
            </a:pPr>
            <a:r>
              <a:rPr lang="en-AU" sz="1200" kern="1200" dirty="0" smtClean="0">
                <a:solidFill>
                  <a:schemeClr val="tx1"/>
                </a:solidFill>
                <a:latin typeface="+mn-lt"/>
                <a:ea typeface="+mn-ea"/>
                <a:cs typeface="+mn-cs"/>
              </a:rPr>
              <a:t> Be dictated by the training you have received</a:t>
            </a:r>
          </a:p>
          <a:p>
            <a:pPr>
              <a:buFont typeface="Arial" pitchFamily="34" charset="0"/>
              <a:buChar char="•"/>
            </a:pPr>
            <a:r>
              <a:rPr lang="en-AU" sz="1200" kern="1200" dirty="0" smtClean="0">
                <a:solidFill>
                  <a:schemeClr val="tx1"/>
                </a:solidFill>
                <a:latin typeface="+mn-lt"/>
                <a:ea typeface="+mn-ea"/>
                <a:cs typeface="+mn-cs"/>
              </a:rPr>
              <a:t> Reflect the nature of the event/emergency being responded to.</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the </a:t>
            </a:r>
            <a:r>
              <a:rPr lang="en-AU" sz="1200" kern="1200" dirty="0" smtClean="0">
                <a:solidFill>
                  <a:schemeClr val="tx1"/>
                </a:solidFill>
                <a:latin typeface="+mn-lt"/>
                <a:ea typeface="+mn-ea"/>
                <a:cs typeface="+mn-cs"/>
              </a:rPr>
              <a:t>following generic requirements/responses apply for first responders:</a:t>
            </a:r>
          </a:p>
          <a:p>
            <a:pPr>
              <a:buFont typeface="Arial" pitchFamily="34" charset="0"/>
              <a:buChar char="•"/>
            </a:pPr>
            <a:r>
              <a:rPr lang="en-AU" sz="1200" kern="1200" dirty="0" smtClean="0">
                <a:solidFill>
                  <a:schemeClr val="tx1"/>
                </a:solidFill>
                <a:latin typeface="+mn-lt"/>
                <a:ea typeface="+mn-ea"/>
                <a:cs typeface="+mn-cs"/>
              </a:rPr>
              <a:t> Follow the plan for responding to the situation if one exists:</a:t>
            </a:r>
          </a:p>
          <a:p>
            <a:pPr lvl="1">
              <a:buFont typeface="Arial" pitchFamily="34" charset="0"/>
              <a:buChar char="•"/>
            </a:pPr>
            <a:r>
              <a:rPr lang="en-AU" sz="1200" kern="1200" dirty="0" smtClean="0">
                <a:solidFill>
                  <a:schemeClr val="tx1"/>
                </a:solidFill>
                <a:latin typeface="+mn-lt"/>
                <a:ea typeface="+mn-ea"/>
                <a:cs typeface="+mn-cs"/>
              </a:rPr>
              <a:t> It is a workplace reality plans cannot be prepared for every possible risk, threat or emergency</a:t>
            </a:r>
          </a:p>
          <a:p>
            <a:pPr lvl="1">
              <a:buFont typeface="Arial" pitchFamily="34" charset="0"/>
              <a:buChar char="•"/>
            </a:pPr>
            <a:r>
              <a:rPr lang="en-AU" sz="1200" kern="1200" dirty="0" smtClean="0">
                <a:solidFill>
                  <a:schemeClr val="tx1"/>
                </a:solidFill>
                <a:latin typeface="+mn-lt"/>
                <a:ea typeface="+mn-ea"/>
                <a:cs typeface="+mn-cs"/>
              </a:rPr>
              <a:t> If time allows, access a copy of the plan to use a guide/reference – this highlights the need for you to:</a:t>
            </a:r>
          </a:p>
          <a:p>
            <a:pPr lvl="2">
              <a:buFont typeface="Arial" pitchFamily="34" charset="0"/>
              <a:buChar char="•"/>
            </a:pPr>
            <a:r>
              <a:rPr lang="en-AU" sz="1200" kern="1200" dirty="0" smtClean="0">
                <a:solidFill>
                  <a:schemeClr val="tx1"/>
                </a:solidFill>
                <a:latin typeface="+mn-lt"/>
                <a:ea typeface="+mn-ea"/>
                <a:cs typeface="+mn-cs"/>
              </a:rPr>
              <a:t> Know what the plans contain</a:t>
            </a:r>
          </a:p>
          <a:p>
            <a:pPr lvl="2">
              <a:buFont typeface="Arial" pitchFamily="34" charset="0"/>
              <a:buChar char="•"/>
            </a:pPr>
            <a:r>
              <a:rPr lang="en-AU" sz="1200" kern="1200" dirty="0" smtClean="0">
                <a:solidFill>
                  <a:schemeClr val="tx1"/>
                </a:solidFill>
                <a:latin typeface="+mn-lt"/>
                <a:ea typeface="+mn-ea"/>
                <a:cs typeface="+mn-cs"/>
              </a:rPr>
              <a:t> Know where they are physically located</a:t>
            </a:r>
          </a:p>
          <a:p>
            <a:pPr>
              <a:buFont typeface="Arial" pitchFamily="34" charset="0"/>
              <a:buChar char="•"/>
            </a:pPr>
            <a:r>
              <a:rPr lang="en-AU" sz="1200" kern="1200" dirty="0" smtClean="0">
                <a:solidFill>
                  <a:schemeClr val="tx1"/>
                </a:solidFill>
                <a:latin typeface="+mn-lt"/>
                <a:ea typeface="+mn-ea"/>
                <a:cs typeface="+mn-cs"/>
              </a:rPr>
              <a:t> Respond immediately – this means you must not delay: </a:t>
            </a:r>
          </a:p>
          <a:p>
            <a:pPr lvl="1">
              <a:buFont typeface="Arial" pitchFamily="34" charset="0"/>
              <a:buChar char="•"/>
            </a:pPr>
            <a:r>
              <a:rPr lang="en-AU" sz="1200" kern="1200" dirty="0" smtClean="0">
                <a:solidFill>
                  <a:schemeClr val="tx1"/>
                </a:solidFill>
                <a:latin typeface="+mn-lt"/>
                <a:ea typeface="+mn-ea"/>
                <a:cs typeface="+mn-cs"/>
              </a:rPr>
              <a:t> Do not procrastinate </a:t>
            </a:r>
          </a:p>
          <a:p>
            <a:pPr lvl="1">
              <a:buFont typeface="Arial" pitchFamily="34" charset="0"/>
              <a:buChar char="•"/>
            </a:pPr>
            <a:r>
              <a:rPr lang="en-AU" sz="1200" kern="1200" dirty="0" smtClean="0">
                <a:solidFill>
                  <a:schemeClr val="tx1"/>
                </a:solidFill>
                <a:latin typeface="+mn-lt"/>
                <a:ea typeface="+mn-ea"/>
                <a:cs typeface="+mn-cs"/>
              </a:rPr>
              <a:t> Do not over-think the situation</a:t>
            </a:r>
          </a:p>
          <a:p>
            <a:pPr lvl="1">
              <a:buFont typeface="Arial" pitchFamily="34" charset="0"/>
              <a:buChar char="•"/>
            </a:pPr>
            <a:r>
              <a:rPr lang="en-AU" sz="1200" kern="1200" dirty="0" smtClean="0">
                <a:solidFill>
                  <a:schemeClr val="tx1"/>
                </a:solidFill>
                <a:latin typeface="+mn-lt"/>
                <a:ea typeface="+mn-ea"/>
                <a:cs typeface="+mn-cs"/>
              </a:rPr>
              <a:t> Never feel you are over-re-acting</a:t>
            </a:r>
          </a:p>
          <a:p>
            <a:pPr>
              <a:buFont typeface="Arial" pitchFamily="34" charset="0"/>
              <a:buChar char="•"/>
            </a:pPr>
            <a:r>
              <a:rPr lang="en-AU" sz="1200" kern="1200" dirty="0" smtClean="0">
                <a:solidFill>
                  <a:schemeClr val="tx1"/>
                </a:solidFill>
                <a:latin typeface="+mn-lt"/>
                <a:ea typeface="+mn-ea"/>
                <a:cs typeface="+mn-cs"/>
              </a:rPr>
              <a:t> Verify others have been notified – as already identified/described including emergency services, other staff and/or management.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presenting the </a:t>
            </a:r>
            <a:r>
              <a:rPr lang="en-AU" sz="1200" kern="1200" dirty="0" smtClean="0">
                <a:solidFill>
                  <a:schemeClr val="tx1"/>
                </a:solidFill>
                <a:latin typeface="+mn-lt"/>
                <a:ea typeface="+mn-ea"/>
                <a:cs typeface="+mn-cs"/>
              </a:rPr>
              <a:t>following generic requirements/responses apply for first responders:</a:t>
            </a:r>
          </a:p>
          <a:p>
            <a:pPr>
              <a:buFont typeface="Arial" pitchFamily="34" charset="0"/>
              <a:buChar char="•"/>
            </a:pPr>
            <a:r>
              <a:rPr lang="en-AU" sz="1200" kern="1200" dirty="0" smtClean="0">
                <a:solidFill>
                  <a:schemeClr val="tx1"/>
                </a:solidFill>
                <a:latin typeface="+mn-lt"/>
                <a:ea typeface="+mn-ea"/>
                <a:cs typeface="+mn-cs"/>
              </a:rPr>
              <a:t> Stay calm and composed – your action/response is vital in establishing the attitude/response of others: they will be looking to you for leadership:</a:t>
            </a:r>
          </a:p>
          <a:p>
            <a:pPr lvl="1">
              <a:buFont typeface="Arial" pitchFamily="34" charset="0"/>
              <a:buChar char="•"/>
            </a:pPr>
            <a:r>
              <a:rPr lang="en-AU" sz="1200" kern="1200" dirty="0" smtClean="0">
                <a:solidFill>
                  <a:schemeClr val="tx1"/>
                </a:solidFill>
                <a:latin typeface="+mn-lt"/>
                <a:ea typeface="+mn-ea"/>
                <a:cs typeface="+mn-cs"/>
              </a:rPr>
              <a:t> Do not panic or cause panic</a:t>
            </a:r>
          </a:p>
          <a:p>
            <a:pPr lvl="1">
              <a:buFont typeface="Arial" pitchFamily="34" charset="0"/>
              <a:buChar char="•"/>
            </a:pPr>
            <a:r>
              <a:rPr lang="en-AU" sz="1200" kern="1200" dirty="0" smtClean="0">
                <a:solidFill>
                  <a:schemeClr val="tx1"/>
                </a:solidFill>
                <a:latin typeface="+mn-lt"/>
                <a:ea typeface="+mn-ea"/>
                <a:cs typeface="+mn-cs"/>
              </a:rPr>
              <a:t> Do not shout – speak quietly and calmly</a:t>
            </a:r>
          </a:p>
          <a:p>
            <a:pPr lvl="1">
              <a:buFont typeface="Arial" pitchFamily="34" charset="0"/>
              <a:buChar char="•"/>
            </a:pPr>
            <a:r>
              <a:rPr lang="en-AU" sz="1200" kern="1200" dirty="0" smtClean="0">
                <a:solidFill>
                  <a:schemeClr val="tx1"/>
                </a:solidFill>
                <a:latin typeface="+mn-lt"/>
                <a:ea typeface="+mn-ea"/>
                <a:cs typeface="+mn-cs"/>
              </a:rPr>
              <a:t> Do not run around</a:t>
            </a:r>
          </a:p>
          <a:p>
            <a:pPr>
              <a:buFont typeface="Arial" pitchFamily="34" charset="0"/>
              <a:buChar char="•"/>
            </a:pPr>
            <a:r>
              <a:rPr lang="en-AU" sz="1200" kern="1200" dirty="0" smtClean="0">
                <a:solidFill>
                  <a:schemeClr val="tx1"/>
                </a:solidFill>
                <a:latin typeface="+mn-lt"/>
                <a:ea typeface="+mn-ea"/>
                <a:cs typeface="+mn-cs"/>
              </a:rPr>
              <a:t> Take action to address the situation: (See following slides)</a:t>
            </a:r>
          </a:p>
          <a:p>
            <a:pPr lvl="1">
              <a:buFont typeface="Arial" pitchFamily="34" charset="0"/>
              <a:buChar char="•"/>
            </a:pPr>
            <a:r>
              <a:rPr lang="en-AU" sz="1200" kern="1200" dirty="0" smtClean="0">
                <a:solidFill>
                  <a:schemeClr val="tx1"/>
                </a:solidFill>
                <a:latin typeface="+mn-lt"/>
                <a:ea typeface="+mn-ea"/>
                <a:cs typeface="+mn-cs"/>
              </a:rPr>
              <a:t> Use common sense</a:t>
            </a:r>
          </a:p>
          <a:p>
            <a:pPr lvl="1">
              <a:buFont typeface="Arial" pitchFamily="34" charset="0"/>
              <a:buChar char="•"/>
            </a:pPr>
            <a:r>
              <a:rPr lang="en-AU" sz="1200" kern="1200" dirty="0" smtClean="0">
                <a:solidFill>
                  <a:schemeClr val="tx1"/>
                </a:solidFill>
                <a:latin typeface="+mn-lt"/>
                <a:ea typeface="+mn-ea"/>
                <a:cs typeface="+mn-cs"/>
              </a:rPr>
              <a:t> If safe to do so</a:t>
            </a:r>
          </a:p>
          <a:p>
            <a:pPr lvl="1">
              <a:buFont typeface="Arial" pitchFamily="34" charset="0"/>
              <a:buChar char="•"/>
            </a:pPr>
            <a:r>
              <a:rPr lang="en-AU" sz="1200" kern="1200" dirty="0" smtClean="0">
                <a:solidFill>
                  <a:schemeClr val="tx1"/>
                </a:solidFill>
                <a:latin typeface="+mn-lt"/>
                <a:ea typeface="+mn-ea"/>
                <a:cs typeface="+mn-cs"/>
              </a:rPr>
              <a:t> As prescribed by the relevant plan</a:t>
            </a:r>
          </a:p>
          <a:p>
            <a:pPr>
              <a:buFont typeface="Arial" pitchFamily="34" charset="0"/>
              <a:buChar char="•"/>
            </a:pPr>
            <a:r>
              <a:rPr lang="en-AU" sz="1200" kern="1200" dirty="0" smtClean="0">
                <a:solidFill>
                  <a:schemeClr val="tx1"/>
                </a:solidFill>
                <a:latin typeface="+mn-lt"/>
                <a:ea typeface="+mn-ea"/>
                <a:cs typeface="+mn-cs"/>
              </a:rPr>
              <a:t> Continue to monitor the situation – and provide up-dates to the ‘command centre’ or relevant person/warden/manager.</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first response </a:t>
            </a:r>
            <a:r>
              <a:rPr lang="en-AU" sz="1200" kern="1200" dirty="0" smtClean="0">
                <a:solidFill>
                  <a:schemeClr val="tx1"/>
                </a:solidFill>
                <a:latin typeface="+mn-lt"/>
                <a:ea typeface="+mn-ea"/>
                <a:cs typeface="+mn-cs"/>
              </a:rPr>
              <a:t>action will depend on the situation with examples including:</a:t>
            </a:r>
          </a:p>
          <a:p>
            <a:pPr>
              <a:buFont typeface="Arial" pitchFamily="34" charset="0"/>
              <a:buChar char="•"/>
            </a:pPr>
            <a:r>
              <a:rPr lang="en-AU" sz="1200" kern="1200" dirty="0" smtClean="0">
                <a:solidFill>
                  <a:schemeClr val="tx1"/>
                </a:solidFill>
                <a:latin typeface="+mn-lt"/>
                <a:ea typeface="+mn-ea"/>
                <a:cs typeface="+mn-cs"/>
              </a:rPr>
              <a:t> Instructing other staff on action to take – including specification of what they should/must not do</a:t>
            </a:r>
          </a:p>
          <a:p>
            <a:pPr>
              <a:buFont typeface="Arial" pitchFamily="34" charset="0"/>
              <a:buChar char="•"/>
            </a:pPr>
            <a:r>
              <a:rPr lang="en-AU" sz="1200" kern="1200" dirty="0" smtClean="0">
                <a:solidFill>
                  <a:schemeClr val="tx1"/>
                </a:solidFill>
                <a:latin typeface="+mn-lt"/>
                <a:ea typeface="+mn-ea"/>
                <a:cs typeface="+mn-cs"/>
              </a:rPr>
              <a:t> Initiating auxiliary power/generators</a:t>
            </a:r>
          </a:p>
          <a:p>
            <a:pPr>
              <a:buFont typeface="Arial" pitchFamily="34" charset="0"/>
              <a:buChar char="•"/>
            </a:pPr>
            <a:r>
              <a:rPr lang="en-AU" sz="1200" kern="1200" dirty="0" smtClean="0">
                <a:solidFill>
                  <a:schemeClr val="tx1"/>
                </a:solidFill>
                <a:latin typeface="+mn-lt"/>
                <a:ea typeface="+mn-ea"/>
                <a:cs typeface="+mn-cs"/>
              </a:rPr>
              <a:t> Recording the situation – using camera, video or cell phone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Physically assisting guests/patrons as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possible first response actions:</a:t>
            </a:r>
          </a:p>
          <a:p>
            <a:pPr>
              <a:buFont typeface="Arial" pitchFamily="34" charset="0"/>
              <a:buChar char="•"/>
            </a:pPr>
            <a:r>
              <a:rPr lang="en-AU" sz="1200" kern="1200" dirty="0" smtClean="0">
                <a:solidFill>
                  <a:schemeClr val="tx1"/>
                </a:solidFill>
                <a:latin typeface="+mn-lt"/>
                <a:ea typeface="+mn-ea"/>
                <a:cs typeface="+mn-cs"/>
              </a:rPr>
              <a:t> Providing advice, information and directions</a:t>
            </a:r>
          </a:p>
          <a:p>
            <a:pPr>
              <a:buFont typeface="Arial" pitchFamily="34" charset="0"/>
              <a:buChar char="•"/>
            </a:pPr>
            <a:r>
              <a:rPr lang="en-AU" sz="1200" kern="1200" dirty="0" smtClean="0">
                <a:solidFill>
                  <a:schemeClr val="tx1"/>
                </a:solidFill>
                <a:latin typeface="+mn-lt"/>
                <a:ea typeface="+mn-ea"/>
                <a:cs typeface="+mn-cs"/>
              </a:rPr>
              <a:t> Conducting searches</a:t>
            </a:r>
          </a:p>
          <a:p>
            <a:pPr>
              <a:buFont typeface="Arial" pitchFamily="34" charset="0"/>
              <a:buChar char="•"/>
            </a:pPr>
            <a:r>
              <a:rPr lang="en-AU" sz="1200" kern="1200" dirty="0" smtClean="0">
                <a:solidFill>
                  <a:schemeClr val="tx1"/>
                </a:solidFill>
                <a:latin typeface="+mn-lt"/>
                <a:ea typeface="+mn-ea"/>
                <a:cs typeface="+mn-cs"/>
              </a:rPr>
              <a:t> Performing rescue duties</a:t>
            </a:r>
          </a:p>
          <a:p>
            <a:pPr>
              <a:buFont typeface="Arial" pitchFamily="34" charset="0"/>
              <a:buChar char="•"/>
            </a:pPr>
            <a:r>
              <a:rPr lang="en-AU" sz="1200" kern="1200" dirty="0" smtClean="0">
                <a:solidFill>
                  <a:schemeClr val="tx1"/>
                </a:solidFill>
                <a:latin typeface="+mn-lt"/>
                <a:ea typeface="+mn-ea"/>
                <a:cs typeface="+mn-cs"/>
              </a:rPr>
              <a:t> Initiating evacuation – or moving people to a safe area</a:t>
            </a:r>
          </a:p>
          <a:p>
            <a:pPr>
              <a:buFont typeface="Arial" pitchFamily="34" charset="0"/>
              <a:buChar char="•"/>
            </a:pPr>
            <a:r>
              <a:rPr lang="en-AU" sz="1200" kern="1200" dirty="0" smtClean="0">
                <a:solidFill>
                  <a:schemeClr val="tx1"/>
                </a:solidFill>
                <a:latin typeface="+mn-lt"/>
                <a:ea typeface="+mn-ea"/>
                <a:cs typeface="+mn-cs"/>
              </a:rPr>
              <a:t> Confirming areas have been cleared/are free of people.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possible first response actions:</a:t>
            </a:r>
          </a:p>
          <a:p>
            <a:pPr>
              <a:buFont typeface="Arial" pitchFamily="34" charset="0"/>
              <a:buChar char="•"/>
            </a:pPr>
            <a:r>
              <a:rPr lang="en-AU" sz="1200" kern="1200" dirty="0" smtClean="0">
                <a:solidFill>
                  <a:schemeClr val="tx1"/>
                </a:solidFill>
                <a:latin typeface="+mn-lt"/>
                <a:ea typeface="+mn-ea"/>
                <a:cs typeface="+mn-cs"/>
              </a:rPr>
              <a:t> Activating alarms</a:t>
            </a:r>
          </a:p>
          <a:p>
            <a:pPr>
              <a:buFont typeface="Arial" pitchFamily="34" charset="0"/>
              <a:buChar char="•"/>
            </a:pPr>
            <a:r>
              <a:rPr lang="en-AU" sz="1200" kern="1200" dirty="0" smtClean="0">
                <a:solidFill>
                  <a:schemeClr val="tx1"/>
                </a:solidFill>
                <a:latin typeface="+mn-lt"/>
                <a:ea typeface="+mn-ea"/>
                <a:cs typeface="+mn-cs"/>
              </a:rPr>
              <a:t> Knocking on doors/alerting room occupants</a:t>
            </a:r>
          </a:p>
          <a:p>
            <a:pPr>
              <a:buFont typeface="Arial" pitchFamily="34" charset="0"/>
              <a:buChar char="•"/>
            </a:pPr>
            <a:r>
              <a:rPr lang="en-AU" sz="1200" kern="1200" dirty="0" smtClean="0">
                <a:solidFill>
                  <a:schemeClr val="tx1"/>
                </a:solidFill>
                <a:latin typeface="+mn-lt"/>
                <a:ea typeface="+mn-ea"/>
                <a:cs typeface="+mn-cs"/>
              </a:rPr>
              <a:t> Providing basic first aid</a:t>
            </a:r>
          </a:p>
          <a:p>
            <a:pPr>
              <a:buFont typeface="Arial" pitchFamily="34" charset="0"/>
              <a:buChar char="•"/>
            </a:pPr>
            <a:r>
              <a:rPr lang="en-AU" sz="1200" kern="1200" dirty="0" smtClean="0">
                <a:solidFill>
                  <a:schemeClr val="tx1"/>
                </a:solidFill>
                <a:latin typeface="+mn-lt"/>
                <a:ea typeface="+mn-ea"/>
                <a:cs typeface="+mn-cs"/>
              </a:rPr>
              <a:t> Moving people/removing people from danger/the threat</a:t>
            </a:r>
          </a:p>
          <a:p>
            <a:pPr>
              <a:buFont typeface="Arial" pitchFamily="34" charset="0"/>
              <a:buChar char="•"/>
            </a:pPr>
            <a:r>
              <a:rPr lang="en-AU" sz="1200" kern="1200" dirty="0" smtClean="0">
                <a:solidFill>
                  <a:schemeClr val="tx1"/>
                </a:solidFill>
                <a:latin typeface="+mn-lt"/>
                <a:ea typeface="+mn-ea"/>
                <a:cs typeface="+mn-cs"/>
              </a:rPr>
              <a:t> Taking common sense action to limit damage.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possible first response actions:</a:t>
            </a:r>
          </a:p>
          <a:p>
            <a:pPr>
              <a:buFont typeface="Arial" pitchFamily="34" charset="0"/>
              <a:buChar char="•"/>
            </a:pPr>
            <a:r>
              <a:rPr lang="en-AU" sz="1200" kern="1200" dirty="0" smtClean="0">
                <a:solidFill>
                  <a:schemeClr val="tx1"/>
                </a:solidFill>
                <a:latin typeface="+mn-lt"/>
                <a:ea typeface="+mn-ea"/>
                <a:cs typeface="+mn-cs"/>
              </a:rPr>
              <a:t> Shutting off supply valves and taps – for gas</a:t>
            </a:r>
          </a:p>
          <a:p>
            <a:pPr>
              <a:buFont typeface="Arial" pitchFamily="34" charset="0"/>
              <a:buChar char="•"/>
            </a:pPr>
            <a:r>
              <a:rPr lang="en-AU" sz="1200" kern="1200" dirty="0" smtClean="0">
                <a:solidFill>
                  <a:schemeClr val="tx1"/>
                </a:solidFill>
                <a:latin typeface="+mn-lt"/>
                <a:ea typeface="+mn-ea"/>
                <a:cs typeface="+mn-cs"/>
              </a:rPr>
              <a:t> Closing/locking doors and windows – to stop air flow to fires and to prevent access</a:t>
            </a:r>
          </a:p>
          <a:p>
            <a:pPr>
              <a:buFont typeface="Arial" pitchFamily="34" charset="0"/>
              <a:buChar char="•"/>
            </a:pPr>
            <a:r>
              <a:rPr lang="en-AU" sz="1200" kern="1200" dirty="0" smtClean="0">
                <a:solidFill>
                  <a:schemeClr val="tx1"/>
                </a:solidFill>
                <a:latin typeface="+mn-lt"/>
                <a:ea typeface="+mn-ea"/>
                <a:cs typeface="+mn-cs"/>
              </a:rPr>
              <a:t> Opening doors and windows – to help disperse gas/fumes</a:t>
            </a:r>
          </a:p>
          <a:p>
            <a:pPr>
              <a:buFont typeface="Arial" pitchFamily="34" charset="0"/>
              <a:buChar char="•"/>
            </a:pPr>
            <a:r>
              <a:rPr lang="en-AU" sz="1200" kern="1200" dirty="0" smtClean="0">
                <a:solidFill>
                  <a:schemeClr val="tx1"/>
                </a:solidFill>
                <a:latin typeface="+mn-lt"/>
                <a:ea typeface="+mn-ea"/>
                <a:cs typeface="+mn-cs"/>
              </a:rPr>
              <a:t> Preparing for arrival of emergency services</a:t>
            </a:r>
          </a:p>
          <a:p>
            <a:pPr>
              <a:buFont typeface="Arial" pitchFamily="34" charset="0"/>
              <a:buChar char="•"/>
            </a:pPr>
            <a:r>
              <a:rPr lang="en-AU" sz="1200" kern="1200" dirty="0" smtClean="0">
                <a:solidFill>
                  <a:schemeClr val="tx1"/>
                </a:solidFill>
                <a:latin typeface="+mn-lt"/>
                <a:ea typeface="+mn-ea"/>
                <a:cs typeface="+mn-cs"/>
              </a:rPr>
              <a:t> Assisting and complying with directions from emergency workers.</a:t>
            </a:r>
          </a:p>
          <a:p>
            <a:pPr>
              <a:buFont typeface="Arial" pitchFamily="34" charset="0"/>
              <a:buNone/>
            </a:pPr>
            <a:endParaRPr lang="en-AU" sz="1200" b="1"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 Activity – Small Group Work</a:t>
            </a:r>
          </a:p>
          <a:p>
            <a:pPr>
              <a:buFont typeface="Arial" pitchFamily="34" charset="0"/>
              <a:buNone/>
            </a:pPr>
            <a:r>
              <a:rPr lang="en-AU" sz="1200" b="0" kern="1200" noProof="0" dirty="0" smtClean="0">
                <a:solidFill>
                  <a:schemeClr val="tx1"/>
                </a:solidFill>
                <a:latin typeface="+mn-lt"/>
                <a:ea typeface="+mn-ea"/>
                <a:cs typeface="+mn-cs"/>
              </a:rPr>
              <a:t>Trainer describes</a:t>
            </a:r>
            <a:r>
              <a:rPr lang="en-AU" sz="1200" b="0" kern="1200" baseline="0" noProof="0" dirty="0" smtClean="0">
                <a:solidFill>
                  <a:schemeClr val="tx1"/>
                </a:solidFill>
                <a:latin typeface="+mn-lt"/>
                <a:ea typeface="+mn-ea"/>
                <a:cs typeface="+mn-cs"/>
              </a:rPr>
              <a:t> an emergency situation (fire, gas leak, deranged person, assault) in the training facility and asks students to prepare a list of their responses, in priority order, to the situation.</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personnel whose safety needs to be maximised during an emergency:</a:t>
            </a:r>
          </a:p>
          <a:p>
            <a:pPr>
              <a:buFont typeface="Arial" pitchFamily="34" charset="0"/>
              <a:buChar char="•"/>
            </a:pPr>
            <a:r>
              <a:rPr lang="en-AU" sz="1200" kern="1200" dirty="0" smtClean="0">
                <a:solidFill>
                  <a:schemeClr val="tx1"/>
                </a:solidFill>
                <a:latin typeface="+mn-lt"/>
                <a:ea typeface="+mn-ea"/>
                <a:cs typeface="+mn-cs"/>
              </a:rPr>
              <a:t> Guests and customers</a:t>
            </a:r>
          </a:p>
          <a:p>
            <a:pPr>
              <a:buFont typeface="Arial" pitchFamily="34" charset="0"/>
              <a:buChar char="•"/>
            </a:pPr>
            <a:r>
              <a:rPr lang="en-AU" sz="1200" kern="1200" dirty="0" smtClean="0">
                <a:solidFill>
                  <a:schemeClr val="tx1"/>
                </a:solidFill>
                <a:latin typeface="+mn-lt"/>
                <a:ea typeface="+mn-ea"/>
                <a:cs typeface="+mn-cs"/>
              </a:rPr>
              <a:t> Staff</a:t>
            </a:r>
          </a:p>
          <a:p>
            <a:pPr>
              <a:buFont typeface="Arial" pitchFamily="34" charset="0"/>
              <a:buChar char="•"/>
            </a:pPr>
            <a:r>
              <a:rPr lang="en-AU" sz="1200" kern="1200" dirty="0" smtClean="0">
                <a:solidFill>
                  <a:schemeClr val="tx1"/>
                </a:solidFill>
                <a:latin typeface="+mn-lt"/>
                <a:ea typeface="+mn-ea"/>
                <a:cs typeface="+mn-cs"/>
              </a:rPr>
              <a:t> Members of the public</a:t>
            </a:r>
          </a:p>
          <a:p>
            <a:pPr>
              <a:buFont typeface="Arial" pitchFamily="34" charset="0"/>
              <a:buChar char="•"/>
            </a:pPr>
            <a:r>
              <a:rPr lang="en-AU" sz="1200" kern="1200" dirty="0" smtClean="0">
                <a:solidFill>
                  <a:schemeClr val="tx1"/>
                </a:solidFill>
                <a:latin typeface="+mn-lt"/>
                <a:ea typeface="+mn-ea"/>
                <a:cs typeface="+mn-cs"/>
              </a:rPr>
              <a:t> Anyone on the premises – which may include:</a:t>
            </a:r>
          </a:p>
          <a:p>
            <a:pPr lvl="1">
              <a:buFont typeface="Arial" pitchFamily="34" charset="0"/>
              <a:buChar char="•"/>
            </a:pPr>
            <a:r>
              <a:rPr lang="en-AU" sz="1200" kern="1200" dirty="0" smtClean="0">
                <a:solidFill>
                  <a:schemeClr val="tx1"/>
                </a:solidFill>
                <a:latin typeface="+mn-lt"/>
                <a:ea typeface="+mn-ea"/>
                <a:cs typeface="+mn-cs"/>
              </a:rPr>
              <a:t> Delivery drivers</a:t>
            </a:r>
          </a:p>
          <a:p>
            <a:pPr lvl="1">
              <a:buFont typeface="Arial" pitchFamily="34" charset="0"/>
              <a:buChar char="•"/>
            </a:pPr>
            <a:r>
              <a:rPr lang="en-AU" sz="1200" kern="1200" dirty="0" smtClean="0">
                <a:solidFill>
                  <a:schemeClr val="tx1"/>
                </a:solidFill>
                <a:latin typeface="+mn-lt"/>
                <a:ea typeface="+mn-ea"/>
                <a:cs typeface="+mn-cs"/>
              </a:rPr>
              <a:t> Service technicians</a:t>
            </a:r>
          </a:p>
          <a:p>
            <a:pPr lvl="1">
              <a:buFont typeface="Arial" pitchFamily="34" charset="0"/>
              <a:buChar char="•"/>
            </a:pPr>
            <a:r>
              <a:rPr lang="en-AU" sz="1200" kern="1200" dirty="0" smtClean="0">
                <a:solidFill>
                  <a:schemeClr val="tx1"/>
                </a:solidFill>
                <a:latin typeface="+mn-lt"/>
                <a:ea typeface="+mn-ea"/>
                <a:cs typeface="+mn-cs"/>
              </a:rPr>
              <a:t> Contractors</a:t>
            </a:r>
          </a:p>
          <a:p>
            <a:pPr lvl="1">
              <a:buFont typeface="Arial" pitchFamily="34" charset="0"/>
              <a:buChar char="•"/>
            </a:pPr>
            <a:r>
              <a:rPr lang="en-AU" sz="1200" kern="1200" dirty="0" smtClean="0">
                <a:solidFill>
                  <a:schemeClr val="tx1"/>
                </a:solidFill>
                <a:latin typeface="+mn-lt"/>
                <a:ea typeface="+mn-ea"/>
                <a:cs typeface="+mn-cs"/>
              </a:rPr>
              <a:t> Visitors.</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action to take to maximise safety of personnel during an emergency:</a:t>
            </a:r>
          </a:p>
          <a:p>
            <a:pPr>
              <a:buFont typeface="Arial" pitchFamily="34" charset="0"/>
              <a:buChar char="•"/>
            </a:pPr>
            <a:r>
              <a:rPr lang="en-AU" sz="1200" kern="1200" dirty="0" smtClean="0">
                <a:solidFill>
                  <a:schemeClr val="tx1"/>
                </a:solidFill>
                <a:latin typeface="+mn-lt"/>
                <a:ea typeface="+mn-ea"/>
                <a:cs typeface="+mn-cs"/>
              </a:rPr>
              <a:t> Never putting yourself in danger – you have an obligation to yourself and others to keep yourself safe</a:t>
            </a:r>
          </a:p>
          <a:p>
            <a:pPr>
              <a:buFont typeface="Arial" pitchFamily="34" charset="0"/>
              <a:buChar char="•"/>
            </a:pPr>
            <a:r>
              <a:rPr lang="en-AU" sz="1200" kern="1200" dirty="0" smtClean="0">
                <a:solidFill>
                  <a:schemeClr val="tx1"/>
                </a:solidFill>
                <a:latin typeface="+mn-lt"/>
                <a:ea typeface="+mn-ea"/>
                <a:cs typeface="+mn-cs"/>
              </a:rPr>
              <a:t> Making the safety of people takes priority over the safety/security of people’s belongings or venue assets</a:t>
            </a:r>
          </a:p>
          <a:p>
            <a:pPr>
              <a:buFont typeface="Arial" pitchFamily="34" charset="0"/>
              <a:buChar char="•"/>
            </a:pPr>
            <a:r>
              <a:rPr lang="en-AU" sz="1200" kern="1200" dirty="0" smtClean="0">
                <a:solidFill>
                  <a:schemeClr val="tx1"/>
                </a:solidFill>
                <a:latin typeface="+mn-lt"/>
                <a:ea typeface="+mn-ea"/>
                <a:cs typeface="+mn-cs"/>
              </a:rPr>
              <a:t> Containing the situation – by taking whatever action is appropriate to maintain safety of personnel while limiting the spread of the problem and/or reducing its impact on the venue </a:t>
            </a:r>
          </a:p>
          <a:p>
            <a:pPr>
              <a:buFont typeface="Arial" pitchFamily="34" charset="0"/>
              <a:buChar char="•"/>
            </a:pPr>
            <a:r>
              <a:rPr lang="en-AU" sz="1200" kern="1200" dirty="0" smtClean="0">
                <a:solidFill>
                  <a:schemeClr val="tx1"/>
                </a:solidFill>
                <a:latin typeface="+mn-lt"/>
                <a:ea typeface="+mn-ea"/>
                <a:cs typeface="+mn-cs"/>
              </a:rPr>
              <a:t> Restricting access by people to the affected area (which may require the use of ‘reasonable force’) – by:</a:t>
            </a:r>
          </a:p>
          <a:p>
            <a:pPr lvl="1">
              <a:buFont typeface="Arial" pitchFamily="34" charset="0"/>
              <a:buChar char="•"/>
            </a:pPr>
            <a:r>
              <a:rPr lang="en-AU" sz="1200" kern="1200" dirty="0" smtClean="0">
                <a:solidFill>
                  <a:schemeClr val="tx1"/>
                </a:solidFill>
                <a:latin typeface="+mn-lt"/>
                <a:ea typeface="+mn-ea"/>
                <a:cs typeface="+mn-cs"/>
              </a:rPr>
              <a:t> Closing doors, gates and barriers</a:t>
            </a:r>
          </a:p>
          <a:p>
            <a:pPr lvl="1">
              <a:buFont typeface="Arial" pitchFamily="34" charset="0"/>
              <a:buChar char="•"/>
            </a:pPr>
            <a:r>
              <a:rPr lang="en-AU" sz="1200" kern="1200" dirty="0" smtClean="0">
                <a:solidFill>
                  <a:schemeClr val="tx1"/>
                </a:solidFill>
                <a:latin typeface="+mn-lt"/>
                <a:ea typeface="+mn-ea"/>
                <a:cs typeface="+mn-cs"/>
              </a:rPr>
              <a:t> Locking doors and access</a:t>
            </a:r>
          </a:p>
          <a:p>
            <a:pPr lvl="1">
              <a:buFont typeface="Arial" pitchFamily="34" charset="0"/>
              <a:buChar char="•"/>
            </a:pPr>
            <a:r>
              <a:rPr lang="en-AU" sz="1200" kern="1200" dirty="0" smtClean="0">
                <a:solidFill>
                  <a:schemeClr val="tx1"/>
                </a:solidFill>
                <a:latin typeface="+mn-lt"/>
                <a:ea typeface="+mn-ea"/>
                <a:cs typeface="+mn-cs"/>
              </a:rPr>
              <a:t> Putting ‘Do Not Enter’ or ‘Do Not Cross’ tape in place</a:t>
            </a:r>
          </a:p>
          <a:p>
            <a:pPr lvl="1">
              <a:buFont typeface="Arial" pitchFamily="34" charset="0"/>
              <a:buChar char="•"/>
            </a:pPr>
            <a:r>
              <a:rPr lang="en-AU" sz="1200" kern="1200" dirty="0" smtClean="0">
                <a:solidFill>
                  <a:schemeClr val="tx1"/>
                </a:solidFill>
                <a:latin typeface="+mn-lt"/>
                <a:ea typeface="+mn-ea"/>
                <a:cs typeface="+mn-cs"/>
              </a:rPr>
              <a:t> Erecting barricades</a:t>
            </a:r>
          </a:p>
          <a:p>
            <a:pPr>
              <a:buFont typeface="Arial" pitchFamily="34" charset="0"/>
              <a:buChar char="•"/>
            </a:pPr>
            <a:r>
              <a:rPr lang="en-AU" sz="1200" kern="1200" dirty="0" smtClean="0">
                <a:solidFill>
                  <a:schemeClr val="tx1"/>
                </a:solidFill>
                <a:latin typeface="+mn-lt"/>
                <a:ea typeface="+mn-ea"/>
                <a:cs typeface="+mn-cs"/>
              </a:rPr>
              <a:t> Controlling access and exit points – to make sure only authorized persons gain entry. ‘Reasonable force’ can be used to do this.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examples of action to maximise security during an emergency:</a:t>
            </a:r>
          </a:p>
          <a:p>
            <a:pPr>
              <a:buFont typeface="Arial" pitchFamily="34" charset="0"/>
              <a:buChar char="•"/>
            </a:pPr>
            <a:r>
              <a:rPr lang="en-AU" sz="1200" kern="1200" dirty="0" smtClean="0">
                <a:solidFill>
                  <a:schemeClr val="tx1"/>
                </a:solidFill>
                <a:latin typeface="+mn-lt"/>
                <a:ea typeface="+mn-ea"/>
                <a:cs typeface="+mn-cs"/>
              </a:rPr>
              <a:t> Mixing with, moving amongst and talking to guests/members of the crowd</a:t>
            </a:r>
          </a:p>
          <a:p>
            <a:pPr>
              <a:buFont typeface="Arial" pitchFamily="34" charset="0"/>
              <a:buChar char="•"/>
            </a:pPr>
            <a:r>
              <a:rPr lang="en-AU" sz="1200" kern="1200" dirty="0" smtClean="0">
                <a:solidFill>
                  <a:schemeClr val="tx1"/>
                </a:solidFill>
                <a:latin typeface="+mn-lt"/>
                <a:ea typeface="+mn-ea"/>
                <a:cs typeface="+mn-cs"/>
              </a:rPr>
              <a:t> Keying off elevators – so they cannot be used</a:t>
            </a:r>
          </a:p>
          <a:p>
            <a:pPr>
              <a:buFont typeface="Arial" pitchFamily="34" charset="0"/>
              <a:buChar char="•"/>
            </a:pPr>
            <a:r>
              <a:rPr lang="en-AU" sz="1200" kern="1200" dirty="0" smtClean="0">
                <a:solidFill>
                  <a:schemeClr val="tx1"/>
                </a:solidFill>
                <a:latin typeface="+mn-lt"/>
                <a:ea typeface="+mn-ea"/>
                <a:cs typeface="+mn-cs"/>
              </a:rPr>
              <a:t> Reversing the direction of escalators – to limit access between floors</a:t>
            </a:r>
          </a:p>
          <a:p>
            <a:pPr>
              <a:buFont typeface="Arial" pitchFamily="34" charset="0"/>
              <a:buChar char="•"/>
            </a:pP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Providing a physical presence – which will deter people from engaging in illegal or unwanted activities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Obtaining additional staff to assist with requirements.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examples of action to maximise security during an emergency:</a:t>
            </a:r>
          </a:p>
          <a:p>
            <a:pPr>
              <a:buFont typeface="Arial" pitchFamily="34" charset="0"/>
              <a:buChar char="•"/>
            </a:pPr>
            <a:r>
              <a:rPr lang="en-AU" sz="1200" kern="1200" dirty="0" smtClean="0">
                <a:solidFill>
                  <a:schemeClr val="tx1"/>
                </a:solidFill>
                <a:latin typeface="+mn-lt"/>
                <a:ea typeface="+mn-ea"/>
                <a:cs typeface="+mn-cs"/>
              </a:rPr>
              <a:t> Verbally directing people – about:</a:t>
            </a:r>
          </a:p>
          <a:p>
            <a:pPr lvl="1">
              <a:buFont typeface="Arial" pitchFamily="34" charset="0"/>
              <a:buChar char="•"/>
            </a:pPr>
            <a:r>
              <a:rPr lang="en-AU" sz="1200" kern="1200" dirty="0" smtClean="0">
                <a:solidFill>
                  <a:schemeClr val="tx1"/>
                </a:solidFill>
                <a:latin typeface="+mn-lt"/>
                <a:ea typeface="+mn-ea"/>
                <a:cs typeface="+mn-cs"/>
              </a:rPr>
              <a:t> Where they can and cannot go</a:t>
            </a:r>
          </a:p>
          <a:p>
            <a:pPr lvl="1">
              <a:buFont typeface="Arial" pitchFamily="34" charset="0"/>
              <a:buChar char="•"/>
            </a:pPr>
            <a:r>
              <a:rPr lang="en-AU" sz="1200" kern="1200" dirty="0" smtClean="0">
                <a:solidFill>
                  <a:schemeClr val="tx1"/>
                </a:solidFill>
                <a:latin typeface="+mn-lt"/>
                <a:ea typeface="+mn-ea"/>
                <a:cs typeface="+mn-cs"/>
              </a:rPr>
              <a:t> What they can and cannot do</a:t>
            </a:r>
          </a:p>
          <a:p>
            <a:pPr>
              <a:buFont typeface="Arial" pitchFamily="34" charset="0"/>
              <a:buChar char="•"/>
            </a:pPr>
            <a:r>
              <a:rPr lang="en-AU" sz="1200" kern="1200" dirty="0" smtClean="0">
                <a:solidFill>
                  <a:schemeClr val="tx1"/>
                </a:solidFill>
                <a:latin typeface="+mn-lt"/>
                <a:ea typeface="+mn-ea"/>
                <a:cs typeface="+mn-cs"/>
              </a:rPr>
              <a:t> Using loud hailer/megaphone or PA system to assist with providing information/direction.</a:t>
            </a:r>
          </a:p>
          <a:p>
            <a:pPr>
              <a:buFont typeface="Arial" pitchFamily="34" charset="0"/>
              <a:buNone/>
            </a:pPr>
            <a:endParaRPr lang="en-AU" sz="1200"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 Activity – Excursion</a:t>
            </a:r>
          </a:p>
          <a:p>
            <a:pPr>
              <a:buFont typeface="Arial" pitchFamily="34" charset="0"/>
              <a:buNone/>
            </a:pPr>
            <a:r>
              <a:rPr lang="en-AU" sz="1200" b="0" kern="1200" noProof="0" dirty="0" smtClean="0">
                <a:solidFill>
                  <a:schemeClr val="tx1"/>
                </a:solidFill>
                <a:latin typeface="+mn-lt"/>
                <a:ea typeface="+mn-ea"/>
                <a:cs typeface="+mn-cs"/>
              </a:rPr>
              <a:t>Trainer arranges visit to local venue to observe training and/or an emergency drill so students can gain first-hand experience of workplace activities in this regard.</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conducting evacuation by asking questions such as:</a:t>
            </a:r>
          </a:p>
          <a:p>
            <a:pPr>
              <a:buFont typeface="Arial" pitchFamily="34" charset="0"/>
              <a:buChar char="•"/>
            </a:pPr>
            <a:r>
              <a:rPr lang="en-US" b="0" dirty="0" smtClean="0"/>
              <a:t> Have you ever been involved in an evacuation from a building?</a:t>
            </a:r>
          </a:p>
          <a:p>
            <a:pPr>
              <a:buFont typeface="Arial" pitchFamily="34" charset="0"/>
              <a:buChar char="•"/>
            </a:pPr>
            <a:r>
              <a:rPr lang="en-US" b="0" noProof="0" dirty="0" smtClean="0"/>
              <a:t> Why did it occur?</a:t>
            </a:r>
          </a:p>
          <a:p>
            <a:pPr>
              <a:buFont typeface="Arial" pitchFamily="34" charset="0"/>
              <a:buChar char="•"/>
            </a:pPr>
            <a:r>
              <a:rPr lang="en-US" b="0" baseline="0" noProof="0" dirty="0" smtClean="0"/>
              <a:t> What happened to facilitate the evacuation?</a:t>
            </a:r>
          </a:p>
          <a:p>
            <a:pPr>
              <a:buFont typeface="Arial" pitchFamily="34" charset="0"/>
              <a:buChar char="•"/>
            </a:pPr>
            <a:r>
              <a:rPr lang="en-US" b="0" baseline="0" noProof="0" dirty="0" smtClean="0"/>
              <a:t>What are the objectives of an evacuation?</a:t>
            </a:r>
          </a:p>
          <a:p>
            <a:pPr>
              <a:buFont typeface="Arial" pitchFamily="34" charset="0"/>
              <a:buChar char="•"/>
            </a:pPr>
            <a:r>
              <a:rPr lang="en-US" b="0" baseline="0" noProof="0" dirty="0" smtClean="0"/>
              <a:t>Why do venues conduct evacuation drills?</a:t>
            </a:r>
          </a:p>
          <a:p>
            <a:pPr>
              <a:buFont typeface="Arial" pitchFamily="34" charset="0"/>
              <a:buChar char="•"/>
            </a:pPr>
            <a:r>
              <a:rPr lang="en-US" b="0" baseline="0" noProof="0" dirty="0" smtClean="0"/>
              <a:t> What problems are likely to occur when an evacuation occurs?</a:t>
            </a:r>
          </a:p>
          <a:p>
            <a:pPr>
              <a:buFont typeface="Arial" pitchFamily="34" charset="0"/>
              <a:buChar char="•"/>
            </a:pPr>
            <a:r>
              <a:rPr lang="en-US" b="0" baseline="0" noProof="0" dirty="0" smtClean="0"/>
              <a:t> What special problems exist when an evacuation needs to be conducted late at night or early in the morning?</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When an emergency situation arises you are expected to implement the EMP for the premises</a:t>
            </a:r>
          </a:p>
          <a:p>
            <a:pPr>
              <a:buFont typeface="Arial" pitchFamily="34" charset="0"/>
              <a:buChar char="•"/>
            </a:pPr>
            <a:r>
              <a:rPr lang="en-AU" sz="1200" kern="1200" dirty="0" smtClean="0">
                <a:solidFill>
                  <a:schemeClr val="tx1"/>
                </a:solidFill>
                <a:latin typeface="+mn-lt"/>
                <a:ea typeface="+mn-ea"/>
                <a:cs typeface="+mn-cs"/>
              </a:rPr>
              <a:t> EMPs provide the basis for practising and conducting appropriate responses to emergencies including evacuations</a:t>
            </a:r>
          </a:p>
          <a:p>
            <a:pPr>
              <a:buFont typeface="Arial" pitchFamily="34" charset="0"/>
              <a:buChar char="•"/>
            </a:pPr>
            <a:r>
              <a:rPr lang="en-AU" sz="1200" kern="1200" dirty="0" smtClean="0">
                <a:solidFill>
                  <a:schemeClr val="tx1"/>
                </a:solidFill>
                <a:latin typeface="+mn-lt"/>
                <a:ea typeface="+mn-ea"/>
                <a:cs typeface="+mn-cs"/>
              </a:rPr>
              <a:t> For EMPs to be relevant to individual workplaces, specific workplace factors must be identified and integrated into the sample plans/direction provided in these notes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 directions given in the EMP must be the basis for action when responding to any emergency.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an emergency is:</a:t>
            </a:r>
          </a:p>
          <a:p>
            <a:pPr>
              <a:buFont typeface="Arial" pitchFamily="34" charset="0"/>
              <a:buChar char="•"/>
            </a:pPr>
            <a:r>
              <a:rPr lang="en-AU" sz="1200" kern="1200" dirty="0" smtClean="0">
                <a:solidFill>
                  <a:schemeClr val="tx1"/>
                </a:solidFill>
                <a:latin typeface="+mn-lt"/>
                <a:ea typeface="+mn-ea"/>
                <a:cs typeface="+mn-cs"/>
              </a:rPr>
              <a:t> Unforeseen – that is, not expected right ‘now’ even though it may have been anticipated ‘at some time’</a:t>
            </a:r>
          </a:p>
          <a:p>
            <a:pPr>
              <a:buFont typeface="Arial" pitchFamily="34" charset="0"/>
              <a:buChar char="•"/>
            </a:pPr>
            <a:r>
              <a:rPr lang="en-AU" sz="1200" kern="1200" dirty="0" smtClean="0">
                <a:solidFill>
                  <a:schemeClr val="tx1"/>
                </a:solidFill>
                <a:latin typeface="+mn-lt"/>
                <a:ea typeface="+mn-ea"/>
                <a:cs typeface="+mn-cs"/>
              </a:rPr>
              <a:t> A threat – to people’s lives and/or property</a:t>
            </a:r>
          </a:p>
          <a:p>
            <a:pPr>
              <a:buFont typeface="Arial" pitchFamily="34" charset="0"/>
              <a:buChar char="•"/>
            </a:pPr>
            <a:r>
              <a:rPr lang="en-AU" sz="1200" kern="1200" dirty="0" smtClean="0">
                <a:solidFill>
                  <a:schemeClr val="tx1"/>
                </a:solidFill>
                <a:latin typeface="+mn-lt"/>
                <a:ea typeface="+mn-ea"/>
                <a:cs typeface="+mn-cs"/>
              </a:rPr>
              <a:t> Something that requires immediate response – to protect lives and property.</a:t>
            </a:r>
          </a:p>
          <a:p>
            <a:pPr>
              <a:buFont typeface="Arial" pitchFamily="34" charset="0"/>
              <a:buNone/>
            </a:pPr>
            <a:endParaRPr lang="en-AU" noProof="0" dirty="0" smtClean="0"/>
          </a:p>
          <a:p>
            <a:pPr>
              <a:buFont typeface="Arial" pitchFamily="34" charset="0"/>
              <a:buNone/>
            </a:pPr>
            <a:r>
              <a:rPr lang="en-AU" b="1" noProof="0" dirty="0" smtClean="0"/>
              <a:t>Class Activity – Small Group Work</a:t>
            </a:r>
          </a:p>
          <a:p>
            <a:pPr>
              <a:buFont typeface="Arial" pitchFamily="34" charset="0"/>
              <a:buNone/>
            </a:pPr>
            <a:r>
              <a:rPr lang="en-AU" b="0" noProof="0" dirty="0" smtClean="0"/>
              <a:t>Trainer divides group into small groups and asks them to list emergencies for which EMPs could be prepared.</a:t>
            </a:r>
          </a:p>
          <a:p>
            <a:pPr>
              <a:buFont typeface="Arial" pitchFamily="34" charset="0"/>
              <a:buNone/>
            </a:pPr>
            <a:r>
              <a:rPr lang="en-AU" b="1" i="1" noProof="0" dirty="0" smtClean="0"/>
              <a:t>Possible answers:</a:t>
            </a:r>
          </a:p>
          <a:p>
            <a:pPr>
              <a:buFont typeface="Arial" pitchFamily="34" charset="0"/>
              <a:buChar char="•"/>
            </a:pPr>
            <a:r>
              <a:rPr lang="en-AU" sz="1200" kern="1200" dirty="0" smtClean="0">
                <a:solidFill>
                  <a:schemeClr val="tx1"/>
                </a:solidFill>
                <a:latin typeface="+mn-lt"/>
                <a:ea typeface="+mn-ea"/>
                <a:cs typeface="+mn-cs"/>
              </a:rPr>
              <a:t> Terrorist attack</a:t>
            </a:r>
          </a:p>
          <a:p>
            <a:pPr>
              <a:buFont typeface="Arial" pitchFamily="34" charset="0"/>
              <a:buChar char="•"/>
            </a:pPr>
            <a:r>
              <a:rPr lang="en-AU" sz="1200" kern="1200" dirty="0" smtClean="0">
                <a:solidFill>
                  <a:schemeClr val="tx1"/>
                </a:solidFill>
                <a:latin typeface="+mn-lt"/>
                <a:ea typeface="+mn-ea"/>
                <a:cs typeface="+mn-cs"/>
              </a:rPr>
              <a:t> Immediate personal threat situations – where staff feel threatened by customer/s</a:t>
            </a:r>
          </a:p>
          <a:p>
            <a:pPr>
              <a:buFont typeface="Arial" pitchFamily="34" charset="0"/>
              <a:buChar char="•"/>
            </a:pPr>
            <a:r>
              <a:rPr lang="en-AU" sz="1200" kern="1200" dirty="0" smtClean="0">
                <a:solidFill>
                  <a:schemeClr val="tx1"/>
                </a:solidFill>
                <a:latin typeface="+mn-lt"/>
                <a:ea typeface="+mn-ea"/>
                <a:cs typeface="+mn-cs"/>
              </a:rPr>
              <a:t> Assault emergency</a:t>
            </a:r>
          </a:p>
          <a:p>
            <a:pPr>
              <a:buFont typeface="Arial" pitchFamily="34" charset="0"/>
              <a:buChar char="•"/>
            </a:pPr>
            <a:r>
              <a:rPr lang="en-AU" sz="1200" kern="1200" dirty="0" smtClean="0">
                <a:solidFill>
                  <a:schemeClr val="tx1"/>
                </a:solidFill>
                <a:latin typeface="+mn-lt"/>
                <a:ea typeface="+mn-ea"/>
                <a:cs typeface="+mn-cs"/>
              </a:rPr>
              <a:t> Fire emergency</a:t>
            </a:r>
          </a:p>
          <a:p>
            <a:pPr>
              <a:buFont typeface="Arial" pitchFamily="34" charset="0"/>
              <a:buChar char="•"/>
            </a:pPr>
            <a:r>
              <a:rPr lang="en-AU" sz="1200" kern="1200" dirty="0" smtClean="0">
                <a:solidFill>
                  <a:schemeClr val="tx1"/>
                </a:solidFill>
                <a:latin typeface="+mn-lt"/>
                <a:ea typeface="+mn-ea"/>
                <a:cs typeface="+mn-cs"/>
              </a:rPr>
              <a:t> Gas leak emergency</a:t>
            </a:r>
          </a:p>
          <a:p>
            <a:pPr>
              <a:buFont typeface="Arial" pitchFamily="34" charset="0"/>
              <a:buChar char="•"/>
            </a:pPr>
            <a:r>
              <a:rPr lang="en-AU" sz="1200" kern="1200" dirty="0" smtClean="0">
                <a:solidFill>
                  <a:schemeClr val="tx1"/>
                </a:solidFill>
                <a:latin typeface="+mn-lt"/>
                <a:ea typeface="+mn-ea"/>
                <a:cs typeface="+mn-cs"/>
              </a:rPr>
              <a:t> Medical emergency</a:t>
            </a:r>
          </a:p>
          <a:p>
            <a:pPr>
              <a:buFont typeface="Arial" pitchFamily="34" charset="0"/>
              <a:buChar char="•"/>
            </a:pPr>
            <a:r>
              <a:rPr lang="en-AU" sz="1200" kern="1200" dirty="0" smtClean="0">
                <a:solidFill>
                  <a:schemeClr val="tx1"/>
                </a:solidFill>
                <a:latin typeface="+mn-lt"/>
                <a:ea typeface="+mn-ea"/>
                <a:cs typeface="+mn-cs"/>
              </a:rPr>
              <a:t> Bomb threat</a:t>
            </a:r>
          </a:p>
          <a:p>
            <a:pPr>
              <a:buFont typeface="Arial" pitchFamily="34" charset="0"/>
              <a:buChar char="•"/>
            </a:pPr>
            <a:r>
              <a:rPr lang="en-AU" sz="1200" kern="1200" dirty="0" smtClean="0">
                <a:solidFill>
                  <a:schemeClr val="tx1"/>
                </a:solidFill>
                <a:latin typeface="+mn-lt"/>
                <a:ea typeface="+mn-ea"/>
                <a:cs typeface="+mn-cs"/>
              </a:rPr>
              <a:t> Suspicious package</a:t>
            </a:r>
          </a:p>
          <a:p>
            <a:pPr>
              <a:buFont typeface="Arial" pitchFamily="34" charset="0"/>
              <a:buChar char="•"/>
            </a:pPr>
            <a:r>
              <a:rPr lang="en-AU" sz="1200" kern="1200" dirty="0" smtClean="0">
                <a:solidFill>
                  <a:schemeClr val="tx1"/>
                </a:solidFill>
                <a:latin typeface="+mn-lt"/>
                <a:ea typeface="+mn-ea"/>
                <a:cs typeface="+mn-cs"/>
              </a:rPr>
              <a:t> Hostage situation</a:t>
            </a:r>
          </a:p>
          <a:p>
            <a:pPr>
              <a:buFont typeface="Arial" pitchFamily="34" charset="0"/>
              <a:buChar char="•"/>
            </a:pPr>
            <a:r>
              <a:rPr lang="en-AU" sz="1200" kern="1200" dirty="0" smtClean="0">
                <a:solidFill>
                  <a:schemeClr val="tx1"/>
                </a:solidFill>
                <a:latin typeface="+mn-lt"/>
                <a:ea typeface="+mn-ea"/>
                <a:cs typeface="+mn-cs"/>
              </a:rPr>
              <a:t> Chemical spill</a:t>
            </a:r>
          </a:p>
          <a:p>
            <a:pPr>
              <a:buFont typeface="Arial" pitchFamily="34" charset="0"/>
              <a:buChar char="•"/>
            </a:pPr>
            <a:r>
              <a:rPr lang="en-AU" sz="1200" kern="1200" dirty="0" smtClean="0">
                <a:solidFill>
                  <a:schemeClr val="tx1"/>
                </a:solidFill>
                <a:latin typeface="+mn-lt"/>
                <a:ea typeface="+mn-ea"/>
                <a:cs typeface="+mn-cs"/>
              </a:rPr>
              <a:t> Deranged customer</a:t>
            </a:r>
          </a:p>
          <a:p>
            <a:pPr>
              <a:buFont typeface="Arial" pitchFamily="34" charset="0"/>
              <a:buChar char="•"/>
            </a:pPr>
            <a:r>
              <a:rPr lang="en-AU" sz="1200" kern="1200" dirty="0" smtClean="0">
                <a:solidFill>
                  <a:schemeClr val="tx1"/>
                </a:solidFill>
                <a:latin typeface="+mn-lt"/>
                <a:ea typeface="+mn-ea"/>
                <a:cs typeface="+mn-cs"/>
              </a:rPr>
              <a:t> Flooding</a:t>
            </a:r>
          </a:p>
          <a:p>
            <a:pPr>
              <a:buFont typeface="Arial" pitchFamily="34" charset="0"/>
              <a:buChar char="•"/>
            </a:pPr>
            <a:r>
              <a:rPr lang="en-AU" sz="1200" kern="1200" dirty="0" smtClean="0">
                <a:solidFill>
                  <a:schemeClr val="tx1"/>
                </a:solidFill>
                <a:latin typeface="+mn-lt"/>
                <a:ea typeface="+mn-ea"/>
                <a:cs typeface="+mn-cs"/>
              </a:rPr>
              <a:t> Robberies or armed hold-ups</a:t>
            </a:r>
          </a:p>
          <a:p>
            <a:pPr>
              <a:buFont typeface="Arial" pitchFamily="34" charset="0"/>
              <a:buChar char="•"/>
            </a:pPr>
            <a:r>
              <a:rPr lang="en-AU" sz="1200" kern="1200" dirty="0" smtClean="0">
                <a:solidFill>
                  <a:schemeClr val="tx1"/>
                </a:solidFill>
                <a:latin typeface="+mn-lt"/>
                <a:ea typeface="+mn-ea"/>
                <a:cs typeface="+mn-cs"/>
              </a:rPr>
              <a:t> Earthquake.</a:t>
            </a:r>
          </a:p>
          <a:p>
            <a:pPr>
              <a:buFont typeface="Arial" pitchFamily="34" charset="0"/>
              <a:buNone/>
            </a:pPr>
            <a:endParaRPr lang="en-AU" b="1" i="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roles of the plans are to:</a:t>
            </a:r>
          </a:p>
          <a:p>
            <a:pPr>
              <a:buFont typeface="Arial" pitchFamily="34" charset="0"/>
              <a:buChar char="•"/>
            </a:pPr>
            <a:r>
              <a:rPr lang="en-AU" sz="1200" kern="1200" dirty="0" smtClean="0">
                <a:solidFill>
                  <a:schemeClr val="tx1"/>
                </a:solidFill>
                <a:latin typeface="+mn-lt"/>
                <a:ea typeface="+mn-ea"/>
                <a:cs typeface="+mn-cs"/>
              </a:rPr>
              <a:t> Guide action in the event of an emergency</a:t>
            </a:r>
          </a:p>
          <a:p>
            <a:pPr>
              <a:buFont typeface="Arial" pitchFamily="34" charset="0"/>
              <a:buChar char="•"/>
            </a:pPr>
            <a:r>
              <a:rPr lang="en-AU" sz="1200" kern="1200" dirty="0" smtClean="0">
                <a:solidFill>
                  <a:schemeClr val="tx1"/>
                </a:solidFill>
                <a:latin typeface="+mn-lt"/>
                <a:ea typeface="+mn-ea"/>
                <a:cs typeface="+mn-cs"/>
              </a:rPr>
              <a:t> Indicate the sequence of actions to be taken</a:t>
            </a:r>
          </a:p>
          <a:p>
            <a:pPr>
              <a:buFont typeface="Arial" pitchFamily="34" charset="0"/>
              <a:buChar char="•"/>
            </a:pPr>
            <a:r>
              <a:rPr lang="en-AU" sz="1200" kern="1200" dirty="0" smtClean="0">
                <a:solidFill>
                  <a:schemeClr val="tx1"/>
                </a:solidFill>
                <a:latin typeface="+mn-lt"/>
                <a:ea typeface="+mn-ea"/>
                <a:cs typeface="+mn-cs"/>
              </a:rPr>
              <a:t> Allocate individual roles and responsibilities for taking action </a:t>
            </a:r>
          </a:p>
          <a:p>
            <a:pPr>
              <a:buFont typeface="Arial" pitchFamily="34" charset="0"/>
              <a:buChar char="•"/>
            </a:pPr>
            <a:r>
              <a:rPr lang="en-AU" sz="1200" kern="1200" dirty="0" smtClean="0">
                <a:solidFill>
                  <a:schemeClr val="tx1"/>
                </a:solidFill>
                <a:latin typeface="+mn-lt"/>
                <a:ea typeface="+mn-ea"/>
                <a:cs typeface="+mn-cs"/>
              </a:rPr>
              <a:t> Provide contact details of individuals and external organisations who may need to be involved</a:t>
            </a:r>
          </a:p>
          <a:p>
            <a:pPr>
              <a:buFont typeface="Arial" pitchFamily="34" charset="0"/>
              <a:buChar char="•"/>
            </a:pPr>
            <a:r>
              <a:rPr lang="en-AU" sz="1200" kern="1200" dirty="0" smtClean="0">
                <a:solidFill>
                  <a:schemeClr val="tx1"/>
                </a:solidFill>
                <a:latin typeface="+mn-lt"/>
                <a:ea typeface="+mn-ea"/>
                <a:cs typeface="+mn-cs"/>
              </a:rPr>
              <a:t> Prescribe evacuation routes and assembly points.</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representative from emergency services or</a:t>
            </a:r>
            <a:r>
              <a:rPr lang="en-AU" b="0" baseline="0" noProof="0" dirty="0" smtClean="0"/>
              <a:t> other relevant body to attend and:</a:t>
            </a:r>
          </a:p>
          <a:p>
            <a:pPr>
              <a:buFont typeface="Arial" pitchFamily="34" charset="0"/>
              <a:buChar char="•"/>
            </a:pPr>
            <a:r>
              <a:rPr lang="en-AU" b="0" noProof="0" dirty="0" smtClean="0"/>
              <a:t> Define and explain ‘emergency’</a:t>
            </a:r>
          </a:p>
          <a:p>
            <a:pPr>
              <a:buFont typeface="Arial" pitchFamily="34" charset="0"/>
              <a:buChar char="•"/>
            </a:pPr>
            <a:r>
              <a:rPr lang="en-AU" b="0" noProof="0" dirty="0" smtClean="0"/>
              <a:t> Discuss role of EMPs</a:t>
            </a:r>
          </a:p>
          <a:p>
            <a:pPr>
              <a:buFont typeface="Arial" pitchFamily="34" charset="0"/>
              <a:buChar char="•"/>
            </a:pPr>
            <a:r>
              <a:rPr lang="en-AU" b="0" noProof="0" dirty="0" smtClean="0"/>
              <a:t> Provide sample EMPs.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gives basic requirements when there is need to implement an EMPO</a:t>
            </a:r>
            <a:r>
              <a:rPr lang="en-AU" sz="1200" kern="1200" dirty="0" smtClean="0">
                <a:solidFill>
                  <a:schemeClr val="tx1"/>
                </a:solidFill>
                <a:latin typeface="+mn-lt"/>
                <a:ea typeface="+mn-ea"/>
                <a:cs typeface="+mn-cs"/>
              </a:rPr>
              <a:t>:</a:t>
            </a:r>
          </a:p>
          <a:p>
            <a:pPr>
              <a:buFont typeface="Arial" pitchFamily="34" charset="0"/>
              <a:buChar char="•"/>
            </a:pPr>
            <a:r>
              <a:rPr lang="en-AU" sz="1200" kern="1200" dirty="0" smtClean="0">
                <a:solidFill>
                  <a:schemeClr val="tx1"/>
                </a:solidFill>
                <a:latin typeface="+mn-lt"/>
                <a:ea typeface="+mn-ea"/>
                <a:cs typeface="+mn-cs"/>
              </a:rPr>
              <a:t> Always put saving of lives before saving of property</a:t>
            </a:r>
          </a:p>
          <a:p>
            <a:pPr>
              <a:buFont typeface="Arial" pitchFamily="34" charset="0"/>
              <a:buChar char="•"/>
            </a:pPr>
            <a:r>
              <a:rPr lang="en-AU" sz="1200" kern="1200" dirty="0" smtClean="0">
                <a:solidFill>
                  <a:schemeClr val="tx1"/>
                </a:solidFill>
                <a:latin typeface="+mn-lt"/>
                <a:ea typeface="+mn-ea"/>
                <a:cs typeface="+mn-cs"/>
              </a:rPr>
              <a:t> Never respond in a way that is dangerous for you or others</a:t>
            </a:r>
          </a:p>
          <a:p>
            <a:pPr>
              <a:buFont typeface="Arial" pitchFamily="34" charset="0"/>
              <a:buChar char="•"/>
            </a:pPr>
            <a:r>
              <a:rPr lang="en-AU" sz="1200" kern="1200" dirty="0" smtClean="0">
                <a:solidFill>
                  <a:schemeClr val="tx1"/>
                </a:solidFill>
                <a:latin typeface="+mn-lt"/>
                <a:ea typeface="+mn-ea"/>
                <a:cs typeface="+mn-cs"/>
              </a:rPr>
              <a:t> Get help and notify others immediately – for example:</a:t>
            </a:r>
          </a:p>
          <a:p>
            <a:pPr lvl="1">
              <a:buFont typeface="Arial" pitchFamily="34" charset="0"/>
              <a:buChar char="•"/>
            </a:pPr>
            <a:r>
              <a:rPr lang="en-AU" sz="1200" kern="1200" dirty="0" smtClean="0">
                <a:solidFill>
                  <a:schemeClr val="tx1"/>
                </a:solidFill>
                <a:latin typeface="+mn-lt"/>
                <a:ea typeface="+mn-ea"/>
                <a:cs typeface="+mn-cs"/>
              </a:rPr>
              <a:t> If you have to decide between contacting the fire brigade or fighting the fire, contact the fire brigade </a:t>
            </a:r>
          </a:p>
          <a:p>
            <a:pPr lvl="1">
              <a:buFont typeface="Arial" pitchFamily="34" charset="0"/>
              <a:buChar char="•"/>
            </a:pPr>
            <a:r>
              <a:rPr lang="en-AU" sz="1200" kern="1200" dirty="0" smtClean="0">
                <a:solidFill>
                  <a:schemeClr val="tx1"/>
                </a:solidFill>
                <a:latin typeface="+mn-lt"/>
                <a:ea typeface="+mn-ea"/>
                <a:cs typeface="+mn-cs"/>
              </a:rPr>
              <a:t> If you have to decide between addressing an issue or contacting the authorities, contact the authorities or a designated person within your organisation.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most emergencies require an evacuation of the venue, but this is not the case in every emergency so when a decision has been made to evacuate the property, four basic and critical actions must be implemented in the following order/sequence:</a:t>
            </a:r>
          </a:p>
          <a:p>
            <a:pPr>
              <a:buFont typeface="Arial" pitchFamily="34" charset="0"/>
              <a:buChar char="•"/>
            </a:pPr>
            <a:r>
              <a:rPr lang="en-AU" sz="1200" kern="1200" dirty="0" smtClean="0">
                <a:solidFill>
                  <a:schemeClr val="tx1"/>
                </a:solidFill>
                <a:latin typeface="+mn-lt"/>
                <a:ea typeface="+mn-ea"/>
                <a:cs typeface="+mn-cs"/>
              </a:rPr>
              <a:t> Activate the ‘evacuate now’ alarm. This may require:</a:t>
            </a:r>
          </a:p>
          <a:p>
            <a:pPr lvl="1">
              <a:buFont typeface="Arial" pitchFamily="34" charset="0"/>
              <a:buChar char="•"/>
            </a:pPr>
            <a:r>
              <a:rPr lang="en-AU" sz="1200" kern="1200" dirty="0" smtClean="0">
                <a:solidFill>
                  <a:schemeClr val="tx1"/>
                </a:solidFill>
                <a:latin typeface="+mn-lt"/>
                <a:ea typeface="+mn-ea"/>
                <a:cs typeface="+mn-cs"/>
              </a:rPr>
              <a:t> Pushing a button</a:t>
            </a:r>
          </a:p>
          <a:p>
            <a:pPr lvl="1">
              <a:buFont typeface="Arial" pitchFamily="34" charset="0"/>
              <a:buChar char="•"/>
            </a:pPr>
            <a:r>
              <a:rPr lang="en-AU" sz="1200" kern="1200" dirty="0" smtClean="0">
                <a:solidFill>
                  <a:schemeClr val="tx1"/>
                </a:solidFill>
                <a:latin typeface="+mn-lt"/>
                <a:ea typeface="+mn-ea"/>
                <a:cs typeface="+mn-cs"/>
              </a:rPr>
              <a:t> Breaking alarm glass and pushing or pulling a button, pulling a lever/handle or flipping a switch</a:t>
            </a:r>
          </a:p>
          <a:p>
            <a:pPr lvl="1">
              <a:buFont typeface="Arial" pitchFamily="34" charset="0"/>
              <a:buChar char="•"/>
            </a:pPr>
            <a:r>
              <a:rPr lang="en-AU" sz="1200" kern="1200" dirty="0" smtClean="0">
                <a:solidFill>
                  <a:schemeClr val="tx1"/>
                </a:solidFill>
                <a:latin typeface="+mn-lt"/>
                <a:ea typeface="+mn-ea"/>
                <a:cs typeface="+mn-cs"/>
              </a:rPr>
              <a:t> Telling another person (by telephone or face-to-face) to activate the alarm.</a:t>
            </a:r>
          </a:p>
          <a:p>
            <a:pPr>
              <a:buFont typeface="Arial" pitchFamily="34" charset="0"/>
              <a:buChar char="•"/>
            </a:pPr>
            <a:r>
              <a:rPr lang="en-AU" sz="1200" kern="1200" dirty="0" smtClean="0">
                <a:solidFill>
                  <a:schemeClr val="tx1"/>
                </a:solidFill>
                <a:latin typeface="+mn-lt"/>
                <a:ea typeface="+mn-ea"/>
                <a:cs typeface="+mn-cs"/>
              </a:rPr>
              <a:t> Notify emergency services – refer previous notes</a:t>
            </a:r>
          </a:p>
          <a:p>
            <a:pPr>
              <a:buFont typeface="Arial" pitchFamily="34" charset="0"/>
              <a:buChar char="•"/>
            </a:pPr>
            <a:r>
              <a:rPr lang="en-AU" sz="1200" kern="1200" dirty="0" smtClean="0">
                <a:solidFill>
                  <a:schemeClr val="tx1"/>
                </a:solidFill>
                <a:latin typeface="+mn-lt"/>
                <a:ea typeface="+mn-ea"/>
                <a:cs typeface="+mn-cs"/>
              </a:rPr>
              <a:t> Notify designated internal personnel- advising them of the situation: type of issues, numbers involved, location, threat posed, action taken already</a:t>
            </a:r>
          </a:p>
          <a:p>
            <a:pPr>
              <a:buFont typeface="Arial" pitchFamily="34" charset="0"/>
              <a:buChar char="•"/>
            </a:pPr>
            <a:r>
              <a:rPr lang="en-AU" sz="1200" kern="1200" dirty="0" smtClean="0">
                <a:solidFill>
                  <a:schemeClr val="tx1"/>
                </a:solidFill>
                <a:latin typeface="+mn-lt"/>
                <a:ea typeface="+mn-ea"/>
                <a:cs typeface="+mn-cs"/>
              </a:rPr>
              <a:t> Notify and assist guests/patrons – see following slides.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the evacuation alarm </a:t>
            </a:r>
            <a:r>
              <a:rPr lang="en-AU" sz="1200" kern="1200" dirty="0" smtClean="0">
                <a:solidFill>
                  <a:schemeClr val="tx1"/>
                </a:solidFill>
                <a:latin typeface="+mn-lt"/>
                <a:ea typeface="+mn-ea"/>
                <a:cs typeface="+mn-cs"/>
              </a:rPr>
              <a:t>will be audible to guests but staff may need to (in accordance with workplace EMP):</a:t>
            </a:r>
          </a:p>
          <a:p>
            <a:pPr>
              <a:buFont typeface="Arial" pitchFamily="34" charset="0"/>
              <a:buChar char="•"/>
            </a:pPr>
            <a:r>
              <a:rPr lang="en-AU" sz="1200" kern="1200" dirty="0" smtClean="0">
                <a:solidFill>
                  <a:schemeClr val="tx1"/>
                </a:solidFill>
                <a:latin typeface="+mn-lt"/>
                <a:ea typeface="+mn-ea"/>
                <a:cs typeface="+mn-cs"/>
              </a:rPr>
              <a:t> Telephone nominated guest rooms to advise guests</a:t>
            </a:r>
          </a:p>
          <a:p>
            <a:pPr>
              <a:buFont typeface="Arial" pitchFamily="34" charset="0"/>
              <a:buChar char="•"/>
            </a:pPr>
            <a:r>
              <a:rPr lang="en-AU" sz="1200" kern="1200" dirty="0" smtClean="0">
                <a:solidFill>
                  <a:schemeClr val="tx1"/>
                </a:solidFill>
                <a:latin typeface="+mn-lt"/>
                <a:ea typeface="+mn-ea"/>
                <a:cs typeface="+mn-cs"/>
              </a:rPr>
              <a:t> Visit nominated areas, floors, rooms, offices, departments or other locations to verbally advise people</a:t>
            </a:r>
          </a:p>
          <a:p>
            <a:pPr>
              <a:buFont typeface="Arial" pitchFamily="34" charset="0"/>
              <a:buChar char="•"/>
            </a:pPr>
            <a:r>
              <a:rPr lang="en-AU" sz="1200" kern="1200" dirty="0" smtClean="0">
                <a:solidFill>
                  <a:schemeClr val="tx1"/>
                </a:solidFill>
                <a:latin typeface="+mn-lt"/>
                <a:ea typeface="+mn-ea"/>
                <a:cs typeface="+mn-cs"/>
              </a:rPr>
              <a:t> Stand in a designated location and use a loud hailer or megaphone to notify people</a:t>
            </a:r>
          </a:p>
          <a:p>
            <a:pPr>
              <a:buFont typeface="Arial" pitchFamily="34" charset="0"/>
              <a:buChar char="•"/>
            </a:pPr>
            <a:r>
              <a:rPr lang="en-AU" sz="1200" kern="1200" dirty="0" smtClean="0">
                <a:solidFill>
                  <a:schemeClr val="tx1"/>
                </a:solidFill>
                <a:latin typeface="+mn-lt"/>
                <a:ea typeface="+mn-ea"/>
                <a:cs typeface="+mn-cs"/>
              </a:rPr>
              <a:t> Knock on guest room doors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Inspect and check nominated areas – saunas, toilets, staff rooms.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on what staff should do when conducting evacuations:</a:t>
            </a:r>
          </a:p>
          <a:p>
            <a:pPr>
              <a:buFont typeface="Arial" pitchFamily="34" charset="0"/>
              <a:buChar char="•"/>
            </a:pPr>
            <a:r>
              <a:rPr lang="en-AU" sz="1200" kern="1200" dirty="0" smtClean="0">
                <a:solidFill>
                  <a:schemeClr val="tx1"/>
                </a:solidFill>
                <a:latin typeface="+mn-lt"/>
                <a:ea typeface="+mn-ea"/>
                <a:cs typeface="+mn-cs"/>
              </a:rPr>
              <a:t> Escort people from an area</a:t>
            </a:r>
          </a:p>
          <a:p>
            <a:pPr>
              <a:buFont typeface="Arial" pitchFamily="34" charset="0"/>
              <a:buChar char="•"/>
            </a:pPr>
            <a:r>
              <a:rPr lang="en-AU" sz="1200" kern="1200" dirty="0" smtClean="0">
                <a:solidFill>
                  <a:schemeClr val="tx1"/>
                </a:solidFill>
                <a:latin typeface="+mn-lt"/>
                <a:ea typeface="+mn-ea"/>
                <a:cs typeface="+mn-cs"/>
              </a:rPr>
              <a:t> Show people where to go – evacuation routes and assembly points</a:t>
            </a:r>
          </a:p>
          <a:p>
            <a:pPr>
              <a:buFont typeface="Arial" pitchFamily="34" charset="0"/>
              <a:buChar char="•"/>
            </a:pPr>
            <a:r>
              <a:rPr lang="en-AU" sz="1200" kern="1200" dirty="0" smtClean="0">
                <a:solidFill>
                  <a:schemeClr val="tx1"/>
                </a:solidFill>
                <a:latin typeface="+mn-lt"/>
                <a:ea typeface="+mn-ea"/>
                <a:cs typeface="+mn-cs"/>
              </a:rPr>
              <a:t> Assist disabled people</a:t>
            </a:r>
          </a:p>
          <a:p>
            <a:pPr>
              <a:buFont typeface="Arial" pitchFamily="34" charset="0"/>
              <a:buChar char="•"/>
            </a:pPr>
            <a:r>
              <a:rPr lang="en-AU" sz="1200" kern="1200" dirty="0" smtClean="0">
                <a:solidFill>
                  <a:schemeClr val="tx1"/>
                </a:solidFill>
                <a:latin typeface="+mn-lt"/>
                <a:ea typeface="+mn-ea"/>
                <a:cs typeface="+mn-cs"/>
              </a:rPr>
              <a:t> Urge people to comply with the need to evacuate</a:t>
            </a:r>
          </a:p>
          <a:p>
            <a:pPr>
              <a:buFont typeface="Arial" pitchFamily="34" charset="0"/>
              <a:buChar char="•"/>
            </a:pPr>
            <a:r>
              <a:rPr lang="en-AU" sz="1200" kern="1200" dirty="0" smtClean="0">
                <a:solidFill>
                  <a:schemeClr val="tx1"/>
                </a:solidFill>
                <a:latin typeface="+mn-lt"/>
                <a:ea typeface="+mn-ea"/>
                <a:cs typeface="+mn-cs"/>
              </a:rPr>
              <a:t> Encourage people to leave belongings</a:t>
            </a:r>
          </a:p>
          <a:p>
            <a:pPr>
              <a:buFont typeface="Arial" pitchFamily="34" charset="0"/>
              <a:buChar char="•"/>
            </a:pPr>
            <a:r>
              <a:rPr lang="en-AU" sz="1200" kern="1200" dirty="0" smtClean="0">
                <a:solidFill>
                  <a:schemeClr val="tx1"/>
                </a:solidFill>
                <a:latin typeface="+mn-lt"/>
                <a:ea typeface="+mn-ea"/>
                <a:cs typeface="+mn-cs"/>
              </a:rPr>
              <a:t> Place the safety of people above the saving of assets, protection of property and securing of cash.</a:t>
            </a:r>
          </a:p>
          <a:p>
            <a:pPr>
              <a:buFont typeface="Arial" pitchFamily="34" charset="0"/>
              <a:buNone/>
            </a:pPr>
            <a:endParaRPr lang="en-AU" noProof="0" dirty="0" smtClean="0"/>
          </a:p>
          <a:p>
            <a:pPr>
              <a:buFont typeface="Arial" pitchFamily="34" charset="0"/>
              <a:buNone/>
            </a:pPr>
            <a:r>
              <a:rPr lang="en-AU" b="1" noProof="0" dirty="0" smtClean="0"/>
              <a:t>Class Activity – Role Play</a:t>
            </a:r>
          </a:p>
          <a:p>
            <a:pPr>
              <a:buFont typeface="Arial" pitchFamily="34" charset="0"/>
              <a:buNone/>
            </a:pPr>
            <a:r>
              <a:rPr lang="en-AU" b="0" noProof="0" dirty="0" smtClean="0"/>
              <a:t>Trainer arranges role play where students are required to demonstrate actions designed to assist ‘guests’ in a ‘venue’ to evacuate.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to trainees sample </a:t>
            </a:r>
            <a:r>
              <a:rPr lang="en-AU" sz="1200" b="0" kern="1200" dirty="0" smtClean="0">
                <a:solidFill>
                  <a:schemeClr val="tx1"/>
                </a:solidFill>
                <a:ea typeface="+mn-ea"/>
                <a:cs typeface="+mn-cs"/>
              </a:rPr>
              <a:t>EMP contents for responding to a terrorist attack stressing where workplace requirements differ from what is presented, the workplace</a:t>
            </a:r>
            <a:r>
              <a:rPr lang="en-AU" sz="1200" b="0" kern="1200" baseline="0" dirty="0" smtClean="0">
                <a:solidFill>
                  <a:schemeClr val="tx1"/>
                </a:solidFill>
                <a:ea typeface="+mn-ea"/>
                <a:cs typeface="+mn-cs"/>
              </a:rPr>
              <a:t> EMP must be followed, and highlighting:</a:t>
            </a:r>
            <a:endParaRPr lang="en-AU" sz="1200" b="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The type of attack will determine the exact nature of the response</a:t>
            </a:r>
          </a:p>
          <a:p>
            <a:pPr>
              <a:buFont typeface="Arial" pitchFamily="34" charset="0"/>
              <a:buChar char="•"/>
            </a:pPr>
            <a:r>
              <a:rPr lang="en-AU" sz="1200" kern="1200" dirty="0" smtClean="0">
                <a:solidFill>
                  <a:schemeClr val="tx1"/>
                </a:solidFill>
                <a:ea typeface="+mn-ea"/>
                <a:cs typeface="+mn-cs"/>
              </a:rPr>
              <a:t> Attack may be via chemical weapon, bomb, firearms or other means</a:t>
            </a:r>
          </a:p>
          <a:p>
            <a:pPr>
              <a:buFont typeface="Arial" pitchFamily="34" charset="0"/>
              <a:buChar char="•"/>
            </a:pPr>
            <a:r>
              <a:rPr lang="en-AU" sz="1200" kern="1200" dirty="0" smtClean="0">
                <a:solidFill>
                  <a:schemeClr val="tx1"/>
                </a:solidFill>
                <a:ea typeface="+mn-ea"/>
                <a:cs typeface="+mn-cs"/>
              </a:rPr>
              <a:t> The EMP should include the following:</a:t>
            </a:r>
          </a:p>
          <a:p>
            <a:pPr lvl="1">
              <a:buFont typeface="Arial" pitchFamily="34" charset="0"/>
              <a:buChar char="•"/>
            </a:pPr>
            <a:r>
              <a:rPr lang="en-AU" sz="1200" kern="1200" dirty="0" smtClean="0">
                <a:solidFill>
                  <a:schemeClr val="tx1"/>
                </a:solidFill>
                <a:ea typeface="+mn-ea"/>
                <a:cs typeface="+mn-cs"/>
              </a:rPr>
              <a:t> Notify venue security – who will notify authorities</a:t>
            </a:r>
          </a:p>
          <a:p>
            <a:pPr lvl="1">
              <a:buFont typeface="Arial" pitchFamily="34" charset="0"/>
              <a:buChar char="•"/>
            </a:pPr>
            <a:r>
              <a:rPr lang="en-AU" sz="1200" kern="1200" dirty="0" smtClean="0">
                <a:solidFill>
                  <a:schemeClr val="tx1"/>
                </a:solidFill>
                <a:ea typeface="+mn-ea"/>
                <a:cs typeface="+mn-cs"/>
              </a:rPr>
              <a:t> Implement evacuation procedures</a:t>
            </a:r>
          </a:p>
          <a:p>
            <a:pPr lvl="1">
              <a:buFont typeface="Arial" pitchFamily="34" charset="0"/>
              <a:buChar char="•"/>
            </a:pPr>
            <a:r>
              <a:rPr lang="en-AU" sz="1200" kern="1200" dirty="0" smtClean="0">
                <a:solidFill>
                  <a:schemeClr val="tx1"/>
                </a:solidFill>
                <a:ea typeface="+mn-ea"/>
                <a:cs typeface="+mn-cs"/>
              </a:rPr>
              <a:t> Shut down equipment and power</a:t>
            </a:r>
          </a:p>
          <a:p>
            <a:pPr lvl="1">
              <a:buFont typeface="Arial" pitchFamily="34" charset="0"/>
              <a:buChar char="•"/>
            </a:pPr>
            <a:r>
              <a:rPr lang="en-AU" sz="1200" kern="1200" dirty="0" smtClean="0">
                <a:solidFill>
                  <a:schemeClr val="tx1"/>
                </a:solidFill>
                <a:ea typeface="+mn-ea"/>
                <a:cs typeface="+mn-cs"/>
              </a:rPr>
              <a:t> Notify neighbouring properties</a:t>
            </a:r>
          </a:p>
          <a:p>
            <a:pPr lvl="1">
              <a:buFont typeface="Arial" pitchFamily="34" charset="0"/>
              <a:buChar char="•"/>
            </a:pPr>
            <a:r>
              <a:rPr lang="en-AU" sz="1200" kern="1200" dirty="0" smtClean="0">
                <a:solidFill>
                  <a:schemeClr val="tx1"/>
                </a:solidFill>
                <a:ea typeface="+mn-ea"/>
                <a:cs typeface="+mn-cs"/>
              </a:rPr>
              <a:t> Maintain communication with security </a:t>
            </a:r>
          </a:p>
          <a:p>
            <a:pPr lvl="1">
              <a:buFont typeface="Arial" pitchFamily="34" charset="0"/>
              <a:buChar char="•"/>
            </a:pPr>
            <a:r>
              <a:rPr lang="en-AU" sz="1200" kern="1200" dirty="0" smtClean="0">
                <a:solidFill>
                  <a:schemeClr val="tx1"/>
                </a:solidFill>
                <a:ea typeface="+mn-ea"/>
                <a:cs typeface="+mn-cs"/>
              </a:rPr>
              <a:t> Leave dedicated responses to the professionals.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 trainees sample </a:t>
            </a:r>
            <a:r>
              <a:rPr lang="en-AU" sz="1200" b="0" kern="1200" dirty="0" smtClean="0">
                <a:solidFill>
                  <a:schemeClr val="tx1"/>
                </a:solidFill>
                <a:ea typeface="+mn-ea"/>
                <a:cs typeface="+mn-cs"/>
              </a:rPr>
              <a:t>EMP contents for responding to an immediate threat situation stressing where workplace requirements differ from what is presented, the workplace</a:t>
            </a:r>
            <a:r>
              <a:rPr lang="en-AU" sz="1200" b="0" kern="1200" baseline="0" dirty="0" smtClean="0">
                <a:solidFill>
                  <a:schemeClr val="tx1"/>
                </a:solidFill>
                <a:ea typeface="+mn-ea"/>
                <a:cs typeface="+mn-cs"/>
              </a:rPr>
              <a:t> EMP must be followed, and highlighting w</a:t>
            </a:r>
            <a:r>
              <a:rPr lang="en-AU" sz="1200" kern="1200" dirty="0" smtClean="0">
                <a:solidFill>
                  <a:schemeClr val="tx1"/>
                </a:solidFill>
                <a:ea typeface="+mn-ea"/>
                <a:cs typeface="+mn-cs"/>
              </a:rPr>
              <a:t>hen faced with an immediate personal threat the EMP should provide that staff:</a:t>
            </a:r>
          </a:p>
          <a:p>
            <a:pPr>
              <a:buFont typeface="Arial" pitchFamily="34" charset="0"/>
              <a:buChar char="•"/>
            </a:pPr>
            <a:r>
              <a:rPr lang="en-AU" sz="1200" kern="1200" dirty="0" smtClean="0">
                <a:solidFill>
                  <a:schemeClr val="tx1"/>
                </a:solidFill>
                <a:ea typeface="+mn-ea"/>
                <a:cs typeface="+mn-cs"/>
              </a:rPr>
              <a:t> Comply (do not resist the offender; do not delay compliance) with instructions given by offender as quickly as possible </a:t>
            </a:r>
          </a:p>
          <a:p>
            <a:pPr>
              <a:buFont typeface="Arial" pitchFamily="34" charset="0"/>
              <a:buChar char="•"/>
            </a:pPr>
            <a:r>
              <a:rPr lang="en-AU" sz="1200" kern="1200" dirty="0" smtClean="0">
                <a:solidFill>
                  <a:schemeClr val="tx1"/>
                </a:solidFill>
                <a:ea typeface="+mn-ea"/>
                <a:cs typeface="+mn-cs"/>
              </a:rPr>
              <a:t> Notify security as soon as safe to do so</a:t>
            </a:r>
          </a:p>
          <a:p>
            <a:pPr>
              <a:buFont typeface="Arial" pitchFamily="34" charset="0"/>
              <a:buChar char="•"/>
            </a:pPr>
            <a:r>
              <a:rPr lang="en-AU" sz="1200" kern="1200" dirty="0" smtClean="0">
                <a:solidFill>
                  <a:schemeClr val="tx1"/>
                </a:solidFill>
                <a:ea typeface="+mn-ea"/>
                <a:cs typeface="+mn-cs"/>
              </a:rPr>
              <a:t> Retreat if possible </a:t>
            </a:r>
          </a:p>
          <a:p>
            <a:pPr>
              <a:buFont typeface="Arial" pitchFamily="34" charset="0"/>
              <a:buChar char="•"/>
            </a:pPr>
            <a:r>
              <a:rPr lang="en-AU" sz="1200" kern="1200" dirty="0" smtClean="0">
                <a:solidFill>
                  <a:schemeClr val="tx1"/>
                </a:solidFill>
                <a:ea typeface="+mn-ea"/>
                <a:cs typeface="+mn-cs"/>
              </a:rPr>
              <a:t> Take necessary action to end the situation – which may include:</a:t>
            </a:r>
          </a:p>
          <a:p>
            <a:pPr lvl="1">
              <a:buFont typeface="Arial" pitchFamily="34" charset="0"/>
              <a:buChar char="•"/>
            </a:pPr>
            <a:r>
              <a:rPr lang="en-AU" sz="1200" kern="1200" dirty="0" smtClean="0">
                <a:solidFill>
                  <a:schemeClr val="tx1"/>
                </a:solidFill>
                <a:ea typeface="+mn-ea"/>
                <a:cs typeface="+mn-cs"/>
              </a:rPr>
              <a:t> Apologise to offender </a:t>
            </a:r>
          </a:p>
          <a:p>
            <a:pPr lvl="1">
              <a:buFont typeface="Arial" pitchFamily="34" charset="0"/>
              <a:buChar char="•"/>
            </a:pPr>
            <a:r>
              <a:rPr lang="en-AU" sz="1200" kern="1200" dirty="0" smtClean="0">
                <a:solidFill>
                  <a:schemeClr val="tx1"/>
                </a:solidFill>
                <a:ea typeface="+mn-ea"/>
                <a:cs typeface="+mn-cs"/>
              </a:rPr>
              <a:t> Follow directions given </a:t>
            </a:r>
          </a:p>
          <a:p>
            <a:pPr lvl="1">
              <a:buFont typeface="Arial" pitchFamily="34" charset="0"/>
              <a:buChar char="•"/>
            </a:pPr>
            <a:r>
              <a:rPr lang="en-AU" sz="1200" kern="1200" dirty="0" smtClean="0">
                <a:solidFill>
                  <a:schemeClr val="tx1"/>
                </a:solidFill>
                <a:ea typeface="+mn-ea"/>
                <a:cs typeface="+mn-cs"/>
              </a:rPr>
              <a:t> Hand over money</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assets as instructed </a:t>
            </a:r>
          </a:p>
          <a:p>
            <a:pPr lvl="1">
              <a:buFont typeface="Arial" pitchFamily="34" charset="0"/>
              <a:buChar char="•"/>
            </a:pPr>
            <a:r>
              <a:rPr lang="en-AU" sz="1200" kern="1200" dirty="0" smtClean="0">
                <a:solidFill>
                  <a:schemeClr val="tx1"/>
                </a:solidFill>
                <a:ea typeface="+mn-ea"/>
                <a:cs typeface="+mn-cs"/>
              </a:rPr>
              <a:t> Encourage offender to leave</a:t>
            </a:r>
          </a:p>
          <a:p>
            <a:pPr>
              <a:buFont typeface="Arial" pitchFamily="34" charset="0"/>
              <a:buChar char="•"/>
            </a:pPr>
            <a:r>
              <a:rPr lang="en-AU" sz="1200" kern="1200" dirty="0" smtClean="0">
                <a:solidFill>
                  <a:schemeClr val="tx1"/>
                </a:solidFill>
                <a:ea typeface="+mn-ea"/>
                <a:cs typeface="+mn-cs"/>
              </a:rPr>
              <a:t> Note details of offender.</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to trainees sample </a:t>
            </a:r>
            <a:r>
              <a:rPr lang="en-AU" sz="1200" b="0" kern="1200" dirty="0" smtClean="0">
                <a:solidFill>
                  <a:schemeClr val="tx1"/>
                </a:solidFill>
                <a:ea typeface="+mn-ea"/>
                <a:cs typeface="+mn-cs"/>
              </a:rPr>
              <a:t>EMP contents for responding to an assault</a:t>
            </a:r>
            <a:r>
              <a:rPr lang="en-AU" sz="1200" b="0" kern="1200" baseline="0" dirty="0" smtClean="0">
                <a:solidFill>
                  <a:schemeClr val="tx1"/>
                </a:solidFill>
                <a:ea typeface="+mn-ea"/>
                <a:cs typeface="+mn-cs"/>
              </a:rPr>
              <a:t> emergency </a:t>
            </a:r>
            <a:r>
              <a:rPr lang="en-AU" sz="1200" b="0" kern="1200" dirty="0" smtClean="0">
                <a:solidFill>
                  <a:schemeClr val="tx1"/>
                </a:solidFill>
                <a:ea typeface="+mn-ea"/>
                <a:cs typeface="+mn-cs"/>
              </a:rPr>
              <a:t>stressing where workplace requirements differ from what is presented, the workplace</a:t>
            </a:r>
            <a:r>
              <a:rPr lang="en-AU" sz="1200" b="0" kern="1200" baseline="0" dirty="0" smtClean="0">
                <a:solidFill>
                  <a:schemeClr val="tx1"/>
                </a:solidFill>
                <a:ea typeface="+mn-ea"/>
                <a:cs typeface="+mn-cs"/>
              </a:rPr>
              <a:t> EMP must be followed, and highlighting </a:t>
            </a:r>
            <a:r>
              <a:rPr lang="en-AU" sz="1200" kern="1200" dirty="0" smtClean="0">
                <a:solidFill>
                  <a:schemeClr val="tx1"/>
                </a:solidFill>
                <a:ea typeface="+mn-ea"/>
                <a:cs typeface="+mn-cs"/>
              </a:rPr>
              <a:t>the following actions should be included in an EMP for responding to an assault emergency:</a:t>
            </a:r>
          </a:p>
          <a:p>
            <a:pPr>
              <a:buFont typeface="Arial" pitchFamily="34" charset="0"/>
              <a:buChar char="•"/>
            </a:pPr>
            <a:r>
              <a:rPr lang="en-AU" sz="1200" kern="1200" dirty="0" smtClean="0">
                <a:solidFill>
                  <a:schemeClr val="tx1"/>
                </a:solidFill>
                <a:ea typeface="+mn-ea"/>
                <a:cs typeface="+mn-cs"/>
              </a:rPr>
              <a:t> Call for internal venue assistance immediately </a:t>
            </a:r>
          </a:p>
          <a:p>
            <a:pPr>
              <a:buFont typeface="Arial" pitchFamily="34" charset="0"/>
              <a:buChar char="•"/>
            </a:pPr>
            <a:r>
              <a:rPr lang="en-AU" sz="1200" kern="1200" dirty="0" smtClean="0">
                <a:solidFill>
                  <a:schemeClr val="tx1"/>
                </a:solidFill>
                <a:ea typeface="+mn-ea"/>
                <a:cs typeface="+mn-cs"/>
              </a:rPr>
              <a:t> Render basic first aid as required</a:t>
            </a:r>
          </a:p>
          <a:p>
            <a:pPr>
              <a:buFont typeface="Arial" pitchFamily="34" charset="0"/>
              <a:buChar char="•"/>
            </a:pPr>
            <a:r>
              <a:rPr lang="en-AU" sz="1200" kern="1200" dirty="0" smtClean="0">
                <a:solidFill>
                  <a:schemeClr val="tx1"/>
                </a:solidFill>
                <a:ea typeface="+mn-ea"/>
                <a:cs typeface="+mn-cs"/>
              </a:rPr>
              <a:t> Circulate description of attacker if known</a:t>
            </a:r>
          </a:p>
          <a:p>
            <a:pPr>
              <a:buFont typeface="Arial" pitchFamily="34" charset="0"/>
              <a:buChar char="•"/>
            </a:pPr>
            <a:r>
              <a:rPr lang="en-AU" sz="1200" kern="1200" dirty="0" smtClean="0">
                <a:solidFill>
                  <a:schemeClr val="tx1"/>
                </a:solidFill>
                <a:ea typeface="+mn-ea"/>
                <a:cs typeface="+mn-cs"/>
              </a:rPr>
              <a:t> Circulate possible location of attacker if known.</a:t>
            </a:r>
          </a:p>
          <a:p>
            <a:pPr>
              <a:buFont typeface="Arial" pitchFamily="34" charset="0"/>
              <a:buChar char="•"/>
            </a:pPr>
            <a:r>
              <a:rPr lang="en-AU" sz="1200" kern="1200" dirty="0" smtClean="0">
                <a:solidFill>
                  <a:schemeClr val="tx1"/>
                </a:solidFill>
                <a:ea typeface="+mn-ea"/>
                <a:cs typeface="+mn-cs"/>
              </a:rPr>
              <a:t> See also 'Respond to medical emergency' EMP (later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dirty="0" smtClean="0">
              <a:solidFill>
                <a:schemeClr val="tx1"/>
              </a:solidFill>
              <a:ea typeface="+mn-ea"/>
              <a:cs typeface="+mn-cs"/>
            </a:endParaRPr>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to trainees sample </a:t>
            </a:r>
            <a:r>
              <a:rPr lang="en-AU" sz="1200" b="0" kern="1200" dirty="0" smtClean="0">
                <a:solidFill>
                  <a:schemeClr val="tx1"/>
                </a:solidFill>
                <a:ea typeface="+mn-ea"/>
                <a:cs typeface="+mn-cs"/>
              </a:rPr>
              <a:t>EMP contents for responding to a fire on the premises stressing where workplace requirements differ from what is presented, the workplace</a:t>
            </a:r>
            <a:r>
              <a:rPr lang="en-AU" sz="1200" b="0" kern="1200" baseline="0" dirty="0" smtClean="0">
                <a:solidFill>
                  <a:schemeClr val="tx1"/>
                </a:solidFill>
                <a:ea typeface="+mn-ea"/>
                <a:cs typeface="+mn-cs"/>
              </a:rPr>
              <a:t> EMP must be followed, and highlighting </a:t>
            </a:r>
            <a:r>
              <a:rPr lang="en-AU" sz="1200" kern="1200" dirty="0" smtClean="0">
                <a:solidFill>
                  <a:schemeClr val="tx1"/>
                </a:solidFill>
                <a:ea typeface="+mn-ea"/>
                <a:cs typeface="+mn-cs"/>
              </a:rPr>
              <a:t>the EMP for responding to a fire on the premises should include:</a:t>
            </a:r>
          </a:p>
          <a:p>
            <a:pPr>
              <a:buFont typeface="Arial" pitchFamily="34" charset="0"/>
              <a:buChar char="•"/>
            </a:pPr>
            <a:r>
              <a:rPr lang="en-AU" sz="1200" kern="1200" dirty="0" smtClean="0">
                <a:solidFill>
                  <a:schemeClr val="tx1"/>
                </a:solidFill>
                <a:ea typeface="+mn-ea"/>
                <a:cs typeface="+mn-cs"/>
              </a:rPr>
              <a:t> Call the emergency services to report the incident – tell emergency operator the cause of the fire – if known </a:t>
            </a:r>
          </a:p>
          <a:p>
            <a:pPr>
              <a:buFont typeface="Arial" pitchFamily="34" charset="0"/>
              <a:buChar char="•"/>
            </a:pPr>
            <a:r>
              <a:rPr lang="en-AU" sz="1200" kern="1200" dirty="0" smtClean="0">
                <a:solidFill>
                  <a:schemeClr val="tx1"/>
                </a:solidFill>
                <a:ea typeface="+mn-ea"/>
                <a:cs typeface="+mn-cs"/>
              </a:rPr>
              <a:t> Implement evacuation plan for the area or for the building/venue – floors above the fire must be evacuated before lower floors </a:t>
            </a:r>
          </a:p>
          <a:p>
            <a:pPr>
              <a:buFont typeface="Arial" pitchFamily="34" charset="0"/>
              <a:buChar char="•"/>
            </a:pPr>
            <a:r>
              <a:rPr lang="en-AU" sz="1200" kern="1200" dirty="0" smtClean="0">
                <a:solidFill>
                  <a:schemeClr val="tx1"/>
                </a:solidFill>
                <a:ea typeface="+mn-ea"/>
                <a:cs typeface="+mn-cs"/>
              </a:rPr>
              <a:t> Notify neighbouring properties</a:t>
            </a:r>
          </a:p>
          <a:p>
            <a:pPr>
              <a:buFont typeface="Arial" pitchFamily="34" charset="0"/>
              <a:buChar char="•"/>
            </a:pPr>
            <a:r>
              <a:rPr lang="en-AU" sz="1200" kern="1200" dirty="0" smtClean="0">
                <a:solidFill>
                  <a:schemeClr val="tx1"/>
                </a:solidFill>
                <a:ea typeface="+mn-ea"/>
                <a:cs typeface="+mn-cs"/>
              </a:rPr>
              <a:t> Close doors and windows</a:t>
            </a:r>
          </a:p>
          <a:p>
            <a:pPr>
              <a:buFont typeface="Arial" pitchFamily="34" charset="0"/>
              <a:buChar char="•"/>
            </a:pPr>
            <a:r>
              <a:rPr lang="en-AU" sz="1200" kern="1200" dirty="0" smtClean="0">
                <a:solidFill>
                  <a:schemeClr val="tx1"/>
                </a:solidFill>
                <a:ea typeface="+mn-ea"/>
                <a:cs typeface="+mn-cs"/>
              </a:rPr>
              <a:t> Shut off air conditioning</a:t>
            </a:r>
          </a:p>
          <a:p>
            <a:pPr>
              <a:buFont typeface="Arial" pitchFamily="34" charset="0"/>
              <a:buChar char="•"/>
            </a:pPr>
            <a:r>
              <a:rPr lang="en-AU" sz="1200" kern="1200" dirty="0" smtClean="0">
                <a:solidFill>
                  <a:schemeClr val="tx1"/>
                </a:solidFill>
                <a:ea typeface="+mn-ea"/>
                <a:cs typeface="+mn-cs"/>
              </a:rPr>
              <a:t> Staff members trained to use fire equipment should use fire extinguishers and fire blankets to attack the fire if safe to do so.</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 trainees sample </a:t>
            </a:r>
            <a:r>
              <a:rPr lang="en-AU" sz="1200" b="0" kern="1200" dirty="0" smtClean="0">
                <a:solidFill>
                  <a:schemeClr val="tx1"/>
                </a:solidFill>
                <a:ea typeface="+mn-ea"/>
                <a:cs typeface="+mn-cs"/>
              </a:rPr>
              <a:t>EMP contents for responding to a gas leak on the premises stressing where workplace requirements differ from what is presented, the workplace</a:t>
            </a:r>
            <a:r>
              <a:rPr lang="en-AU" sz="1200" b="0" kern="1200" baseline="0" dirty="0" smtClean="0">
                <a:solidFill>
                  <a:schemeClr val="tx1"/>
                </a:solidFill>
                <a:ea typeface="+mn-ea"/>
                <a:cs typeface="+mn-cs"/>
              </a:rPr>
              <a:t> EMP must be followed, and highlighting the EMP should address:</a:t>
            </a:r>
          </a:p>
          <a:p>
            <a:pPr>
              <a:buFont typeface="Arial" pitchFamily="34" charset="0"/>
              <a:buChar char="•"/>
            </a:pPr>
            <a:r>
              <a:rPr lang="en-AU" sz="1200" kern="1200" dirty="0" smtClean="0">
                <a:solidFill>
                  <a:schemeClr val="tx1"/>
                </a:solidFill>
                <a:ea typeface="+mn-ea"/>
                <a:cs typeface="+mn-cs"/>
              </a:rPr>
              <a:t> Call the emergency services to report the incident – tell the operator the cause of the emergency, type of gas involved, if anyone is hurt or trapped, and if there are any further hazards that may cause explosions </a:t>
            </a:r>
          </a:p>
          <a:p>
            <a:pPr>
              <a:buFont typeface="Arial" pitchFamily="34" charset="0"/>
              <a:buChar char="•"/>
            </a:pPr>
            <a:r>
              <a:rPr lang="en-AU" sz="1200" kern="1200" dirty="0" smtClean="0">
                <a:solidFill>
                  <a:schemeClr val="tx1"/>
                </a:solidFill>
                <a:ea typeface="+mn-ea"/>
                <a:cs typeface="+mn-cs"/>
              </a:rPr>
              <a:t> Turn off</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remove possible ignition sources</a:t>
            </a:r>
          </a:p>
          <a:p>
            <a:pPr>
              <a:buFont typeface="Arial" pitchFamily="34" charset="0"/>
              <a:buChar char="•"/>
            </a:pPr>
            <a:r>
              <a:rPr lang="en-AU" sz="1200" kern="1200" dirty="0" smtClean="0">
                <a:solidFill>
                  <a:schemeClr val="tx1"/>
                </a:solidFill>
                <a:ea typeface="+mn-ea"/>
                <a:cs typeface="+mn-cs"/>
              </a:rPr>
              <a:t> Notify neighbouring properties</a:t>
            </a:r>
          </a:p>
          <a:p>
            <a:pPr>
              <a:buFont typeface="Arial" pitchFamily="34" charset="0"/>
              <a:buChar char="•"/>
            </a:pPr>
            <a:r>
              <a:rPr lang="en-AU" sz="1200" kern="1200" dirty="0" smtClean="0">
                <a:solidFill>
                  <a:schemeClr val="tx1"/>
                </a:solidFill>
                <a:ea typeface="+mn-ea"/>
                <a:cs typeface="+mn-cs"/>
              </a:rPr>
              <a:t> Implement evacuation from the area or building</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venue </a:t>
            </a:r>
          </a:p>
          <a:p>
            <a:pPr>
              <a:buFont typeface="Arial" pitchFamily="34" charset="0"/>
              <a:buChar char="•"/>
            </a:pPr>
            <a:r>
              <a:rPr lang="en-AU" sz="1200" kern="1200" dirty="0" smtClean="0">
                <a:solidFill>
                  <a:schemeClr val="tx1"/>
                </a:solidFill>
                <a:ea typeface="+mn-ea"/>
                <a:cs typeface="+mn-cs"/>
              </a:rPr>
              <a:t> Open windows and doors to disperse gas </a:t>
            </a:r>
          </a:p>
          <a:p>
            <a:pPr>
              <a:buFont typeface="Arial" pitchFamily="34" charset="0"/>
              <a:buChar char="•"/>
            </a:pPr>
            <a:r>
              <a:rPr lang="en-AU" sz="1200" kern="1200" dirty="0" smtClean="0">
                <a:solidFill>
                  <a:schemeClr val="tx1"/>
                </a:solidFill>
                <a:ea typeface="+mn-ea"/>
                <a:cs typeface="+mn-cs"/>
              </a:rPr>
              <a:t> The appropriate person should turn off the gas, where applicable and safe to do so – at the mains, or using stop valve.</a:t>
            </a:r>
            <a:endParaRPr lang="en-AU" sz="1200" b="0" kern="1200" baseline="0" dirty="0" smtClean="0">
              <a:solidFill>
                <a:schemeClr val="tx1"/>
              </a:solidFill>
              <a:ea typeface="+mn-ea"/>
              <a:cs typeface="+mn-cs"/>
            </a:endParaRP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to trainees sample </a:t>
            </a:r>
            <a:r>
              <a:rPr lang="en-AU" sz="1200" b="0" kern="1200" dirty="0" smtClean="0">
                <a:solidFill>
                  <a:schemeClr val="tx1"/>
                </a:solidFill>
                <a:ea typeface="+mn-ea"/>
                <a:cs typeface="+mn-cs"/>
              </a:rPr>
              <a:t>EMP contents for responding to a medical emergency stressing where workplace requirements differ from what is presented, the workplace</a:t>
            </a:r>
            <a:r>
              <a:rPr lang="en-AU" sz="1200" b="0" kern="1200" baseline="0" dirty="0" smtClean="0">
                <a:solidFill>
                  <a:schemeClr val="tx1"/>
                </a:solidFill>
                <a:ea typeface="+mn-ea"/>
                <a:cs typeface="+mn-cs"/>
              </a:rPr>
              <a:t> EMP must be followed, and highlighting ‘m</a:t>
            </a:r>
            <a:r>
              <a:rPr lang="en-AU" sz="1200" kern="1200" dirty="0" smtClean="0">
                <a:solidFill>
                  <a:schemeClr val="tx1"/>
                </a:solidFill>
                <a:ea typeface="+mn-ea"/>
                <a:cs typeface="+mn-cs"/>
              </a:rPr>
              <a:t>inor incidents’ are not considered ‘medical emergencies’ and should be dealt with using basic first aid. For serious incidents the EMP response should cover:</a:t>
            </a:r>
          </a:p>
          <a:p>
            <a:pPr>
              <a:buFont typeface="Arial" pitchFamily="34" charset="0"/>
              <a:buChar char="•"/>
            </a:pPr>
            <a:r>
              <a:rPr lang="en-AU" sz="1200" kern="1200" dirty="0" smtClean="0">
                <a:solidFill>
                  <a:schemeClr val="tx1"/>
                </a:solidFill>
                <a:ea typeface="+mn-ea"/>
                <a:cs typeface="+mn-cs"/>
              </a:rPr>
              <a:t> Call an ambulance – or notify designated person to call an ambulance</a:t>
            </a:r>
          </a:p>
          <a:p>
            <a:pPr>
              <a:buFont typeface="Arial" pitchFamily="34" charset="0"/>
              <a:buChar char="•"/>
            </a:pPr>
            <a:r>
              <a:rPr lang="en-AU" sz="1200" kern="1200" dirty="0" smtClean="0">
                <a:solidFill>
                  <a:schemeClr val="tx1"/>
                </a:solidFill>
                <a:ea typeface="+mn-ea"/>
                <a:cs typeface="+mn-cs"/>
              </a:rPr>
              <a:t> Never assume knowledge of what is wrong with a person – always seek professional medical advice</a:t>
            </a:r>
          </a:p>
          <a:p>
            <a:pPr>
              <a:buFont typeface="Arial" pitchFamily="34" charset="0"/>
              <a:buChar char="•"/>
            </a:pPr>
            <a:r>
              <a:rPr lang="en-AU" sz="1200" kern="1200" dirty="0" smtClean="0">
                <a:solidFill>
                  <a:schemeClr val="tx1"/>
                </a:solidFill>
                <a:ea typeface="+mn-ea"/>
                <a:cs typeface="+mn-cs"/>
              </a:rPr>
              <a:t> Do not move the person unless he or she is in immediate danger </a:t>
            </a:r>
          </a:p>
          <a:p>
            <a:pPr>
              <a:buFont typeface="Arial" pitchFamily="34" charset="0"/>
              <a:buChar char="•"/>
            </a:pPr>
            <a:r>
              <a:rPr lang="en-AU" sz="1200" kern="1200" dirty="0" smtClean="0">
                <a:solidFill>
                  <a:schemeClr val="tx1"/>
                </a:solidFill>
                <a:ea typeface="+mn-ea"/>
                <a:cs typeface="+mn-cs"/>
              </a:rPr>
              <a:t> Do not take any action in the ‘hope’ it might be the right  thing to do</a:t>
            </a:r>
          </a:p>
          <a:p>
            <a:pPr>
              <a:buFont typeface="Arial" pitchFamily="34" charset="0"/>
              <a:buChar char="•"/>
            </a:pPr>
            <a:r>
              <a:rPr lang="en-AU" sz="1200" kern="1200" dirty="0" smtClean="0">
                <a:solidFill>
                  <a:schemeClr val="tx1"/>
                </a:solidFill>
                <a:ea typeface="+mn-ea"/>
                <a:cs typeface="+mn-cs"/>
              </a:rPr>
              <a:t> Keep spectators away from the patient </a:t>
            </a:r>
          </a:p>
          <a:p>
            <a:pPr>
              <a:buFont typeface="Arial" pitchFamily="34" charset="0"/>
              <a:buChar char="•"/>
            </a:pPr>
            <a:r>
              <a:rPr lang="en-AU" sz="1200" kern="1200" dirty="0" smtClean="0">
                <a:solidFill>
                  <a:schemeClr val="tx1"/>
                </a:solidFill>
                <a:ea typeface="+mn-ea"/>
                <a:cs typeface="+mn-cs"/>
              </a:rPr>
              <a:t> Do not comment on the incident to anyone except management or the authorities.</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to trainees sample </a:t>
            </a:r>
            <a:r>
              <a:rPr lang="en-AU" sz="1200" b="0" kern="1200" dirty="0" smtClean="0">
                <a:solidFill>
                  <a:schemeClr val="tx1"/>
                </a:solidFill>
                <a:ea typeface="+mn-ea"/>
                <a:cs typeface="+mn-cs"/>
              </a:rPr>
              <a:t>EMP contents for responding to a hostage situation stressing where workplace requirements differ from what is presented, the workplace</a:t>
            </a:r>
            <a:r>
              <a:rPr lang="en-AU" sz="1200" b="0" kern="1200" baseline="0" dirty="0" smtClean="0">
                <a:solidFill>
                  <a:schemeClr val="tx1"/>
                </a:solidFill>
                <a:ea typeface="+mn-ea"/>
                <a:cs typeface="+mn-cs"/>
              </a:rPr>
              <a:t> EMP must be followed, and highlighting  </a:t>
            </a:r>
            <a:r>
              <a:rPr lang="en-AU" sz="1200" kern="1200" dirty="0" smtClean="0">
                <a:solidFill>
                  <a:schemeClr val="tx1"/>
                </a:solidFill>
                <a:ea typeface="+mn-ea"/>
                <a:cs typeface="+mn-cs"/>
              </a:rPr>
              <a:t>the EMP for dealing with a hostage situation should address:</a:t>
            </a:r>
          </a:p>
          <a:p>
            <a:pPr>
              <a:buFont typeface="Arial" pitchFamily="34" charset="0"/>
              <a:buChar char="•"/>
            </a:pPr>
            <a:r>
              <a:rPr lang="en-AU" sz="1200" kern="1200" dirty="0" smtClean="0">
                <a:solidFill>
                  <a:schemeClr val="tx1"/>
                </a:solidFill>
                <a:ea typeface="+mn-ea"/>
                <a:cs typeface="+mn-cs"/>
              </a:rPr>
              <a:t> Secure the area – so others cannot be involved or put at risk</a:t>
            </a:r>
          </a:p>
          <a:p>
            <a:pPr>
              <a:buFont typeface="Arial" pitchFamily="34" charset="0"/>
              <a:buChar char="•"/>
            </a:pPr>
            <a:r>
              <a:rPr lang="en-AU" sz="1200" kern="1200" dirty="0" smtClean="0">
                <a:solidFill>
                  <a:schemeClr val="tx1"/>
                </a:solidFill>
                <a:ea typeface="+mn-ea"/>
                <a:cs typeface="+mn-cs"/>
              </a:rPr>
              <a:t> Notify the nominated workplace person of the situation </a:t>
            </a:r>
          </a:p>
          <a:p>
            <a:pPr>
              <a:buFont typeface="Arial" pitchFamily="34" charset="0"/>
              <a:buChar char="•"/>
            </a:pPr>
            <a:r>
              <a:rPr lang="en-AU" sz="1200" kern="1200" dirty="0" smtClean="0">
                <a:solidFill>
                  <a:schemeClr val="tx1"/>
                </a:solidFill>
                <a:ea typeface="+mn-ea"/>
                <a:cs typeface="+mn-cs"/>
              </a:rPr>
              <a:t> Communicate information (if known) to designated person:</a:t>
            </a:r>
          </a:p>
          <a:p>
            <a:pPr lvl="1">
              <a:buFont typeface="Arial" pitchFamily="34" charset="0"/>
              <a:buChar char="•"/>
            </a:pPr>
            <a:r>
              <a:rPr lang="en-AU" sz="1200" kern="1200" dirty="0" smtClean="0">
                <a:solidFill>
                  <a:schemeClr val="tx1"/>
                </a:solidFill>
                <a:ea typeface="+mn-ea"/>
                <a:cs typeface="+mn-cs"/>
              </a:rPr>
              <a:t> Number of hostage takers </a:t>
            </a:r>
          </a:p>
          <a:p>
            <a:pPr lvl="1">
              <a:buFont typeface="Arial" pitchFamily="34" charset="0"/>
              <a:buChar char="•"/>
            </a:pPr>
            <a:r>
              <a:rPr lang="en-AU" sz="1200" kern="1200" dirty="0" smtClean="0">
                <a:solidFill>
                  <a:schemeClr val="tx1"/>
                </a:solidFill>
                <a:ea typeface="+mn-ea"/>
                <a:cs typeface="+mn-cs"/>
              </a:rPr>
              <a:t> Number of hostages </a:t>
            </a:r>
          </a:p>
          <a:p>
            <a:pPr lvl="1">
              <a:buFont typeface="Arial" pitchFamily="34" charset="0"/>
              <a:buChar char="•"/>
            </a:pPr>
            <a:r>
              <a:rPr lang="en-AU" sz="1200" kern="1200" dirty="0" smtClean="0">
                <a:solidFill>
                  <a:schemeClr val="tx1"/>
                </a:solidFill>
                <a:ea typeface="+mn-ea"/>
                <a:cs typeface="+mn-cs"/>
              </a:rPr>
              <a:t> Age and gender of hostages </a:t>
            </a:r>
          </a:p>
          <a:p>
            <a:pPr lvl="1">
              <a:buFont typeface="Arial" pitchFamily="34" charset="0"/>
              <a:buChar char="•"/>
            </a:pPr>
            <a:r>
              <a:rPr lang="en-AU" sz="1200" kern="1200" dirty="0" smtClean="0">
                <a:solidFill>
                  <a:schemeClr val="tx1"/>
                </a:solidFill>
                <a:ea typeface="+mn-ea"/>
                <a:cs typeface="+mn-cs"/>
              </a:rPr>
              <a:t> Details of hostages (pregnant women, handicapped, foreigners) </a:t>
            </a:r>
          </a:p>
          <a:p>
            <a:pPr lvl="1">
              <a:buFont typeface="Arial" pitchFamily="34" charset="0"/>
              <a:buChar char="•"/>
            </a:pPr>
            <a:r>
              <a:rPr lang="en-AU" sz="1200" kern="1200" dirty="0" smtClean="0">
                <a:solidFill>
                  <a:schemeClr val="tx1"/>
                </a:solidFill>
                <a:ea typeface="+mn-ea"/>
                <a:cs typeface="+mn-cs"/>
              </a:rPr>
              <a:t> Whether or not hostage takers are armed</a:t>
            </a:r>
          </a:p>
          <a:p>
            <a:pPr>
              <a:buFont typeface="Arial" pitchFamily="34" charset="0"/>
              <a:buChar char="•"/>
            </a:pPr>
            <a:r>
              <a:rPr lang="en-AU" sz="1200" kern="1200" dirty="0" smtClean="0">
                <a:solidFill>
                  <a:schemeClr val="tx1"/>
                </a:solidFill>
                <a:ea typeface="+mn-ea"/>
                <a:cs typeface="+mn-cs"/>
              </a:rPr>
              <a:t> Implement evacuation plan</a:t>
            </a:r>
          </a:p>
          <a:p>
            <a:pPr>
              <a:buFont typeface="Arial" pitchFamily="34" charset="0"/>
              <a:buChar char="•"/>
            </a:pPr>
            <a:r>
              <a:rPr lang="en-AU" sz="1200" kern="1200" dirty="0" smtClean="0">
                <a:solidFill>
                  <a:schemeClr val="tx1"/>
                </a:solidFill>
                <a:ea typeface="+mn-ea"/>
                <a:cs typeface="+mn-cs"/>
              </a:rPr>
              <a:t> Do not threaten the hostage takers or attempt to rescue hostages</a:t>
            </a:r>
          </a:p>
          <a:p>
            <a:pPr>
              <a:buFont typeface="Arial" pitchFamily="34" charset="0"/>
              <a:buChar char="•"/>
            </a:pPr>
            <a:r>
              <a:rPr lang="en-AU" sz="1200" kern="1200" dirty="0" smtClean="0">
                <a:solidFill>
                  <a:schemeClr val="tx1"/>
                </a:solidFill>
                <a:ea typeface="+mn-ea"/>
                <a:cs typeface="+mn-cs"/>
              </a:rPr>
              <a:t> Never place self or anyone else in harm’s way</a:t>
            </a:r>
          </a:p>
          <a:p>
            <a:pPr>
              <a:buFont typeface="Arial" pitchFamily="34" charset="0"/>
              <a:buChar char="•"/>
            </a:pPr>
            <a:r>
              <a:rPr lang="en-AU" sz="1200" kern="1200" dirty="0" smtClean="0">
                <a:solidFill>
                  <a:schemeClr val="tx1"/>
                </a:solidFill>
                <a:ea typeface="+mn-ea"/>
                <a:cs typeface="+mn-cs"/>
              </a:rPr>
              <a:t> Leave negotiations to the experts.</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 trainees sample </a:t>
            </a:r>
            <a:r>
              <a:rPr lang="en-AU" sz="1200" b="0" kern="1200" dirty="0" smtClean="0">
                <a:solidFill>
                  <a:schemeClr val="tx1"/>
                </a:solidFill>
                <a:ea typeface="+mn-ea"/>
                <a:cs typeface="+mn-cs"/>
              </a:rPr>
              <a:t>EMP contents for responding to a chemical spill stressing where workplace requirements differ from what is presented, the workplace</a:t>
            </a:r>
            <a:r>
              <a:rPr lang="en-AU" sz="1200" b="0" kern="1200" baseline="0" dirty="0" smtClean="0">
                <a:solidFill>
                  <a:schemeClr val="tx1"/>
                </a:solidFill>
                <a:ea typeface="+mn-ea"/>
                <a:cs typeface="+mn-cs"/>
              </a:rPr>
              <a:t> EMP must be followed, and highlighting  the EMP should address:</a:t>
            </a:r>
          </a:p>
          <a:p>
            <a:pPr>
              <a:buFont typeface="Arial" pitchFamily="34" charset="0"/>
              <a:buChar char="•"/>
            </a:pPr>
            <a:r>
              <a:rPr lang="en-AU" sz="1200" kern="1200" dirty="0" smtClean="0">
                <a:solidFill>
                  <a:schemeClr val="tx1"/>
                </a:solidFill>
                <a:ea typeface="+mn-ea"/>
                <a:cs typeface="+mn-cs"/>
              </a:rPr>
              <a:t> Call the emergency services to report the incident </a:t>
            </a:r>
          </a:p>
          <a:p>
            <a:pPr>
              <a:buFont typeface="Arial" pitchFamily="34" charset="0"/>
              <a:buChar char="•"/>
            </a:pPr>
            <a:r>
              <a:rPr lang="en-AU" sz="1200" kern="1200" dirty="0" smtClean="0">
                <a:solidFill>
                  <a:schemeClr val="tx1"/>
                </a:solidFill>
                <a:ea typeface="+mn-ea"/>
                <a:cs typeface="+mn-cs"/>
              </a:rPr>
              <a:t> Provide the emergency operator with as much information as possible:</a:t>
            </a:r>
          </a:p>
          <a:p>
            <a:pPr lvl="1">
              <a:buFont typeface="Arial" pitchFamily="34" charset="0"/>
              <a:buChar char="•"/>
            </a:pPr>
            <a:r>
              <a:rPr lang="en-AU" sz="1200" kern="1200" dirty="0" smtClean="0">
                <a:solidFill>
                  <a:schemeClr val="tx1"/>
                </a:solidFill>
                <a:ea typeface="+mn-ea"/>
                <a:cs typeface="+mn-cs"/>
              </a:rPr>
              <a:t> Cause of the emergency </a:t>
            </a:r>
          </a:p>
          <a:p>
            <a:pPr lvl="1">
              <a:buFont typeface="Arial" pitchFamily="34" charset="0"/>
              <a:buChar char="•"/>
            </a:pPr>
            <a:r>
              <a:rPr lang="en-AU" sz="1200" kern="1200" dirty="0" smtClean="0">
                <a:solidFill>
                  <a:schemeClr val="tx1"/>
                </a:solidFill>
                <a:ea typeface="+mn-ea"/>
                <a:cs typeface="+mn-cs"/>
              </a:rPr>
              <a:t> Type of chemical involved (if known) </a:t>
            </a:r>
          </a:p>
          <a:p>
            <a:pPr lvl="1">
              <a:buFont typeface="Arial" pitchFamily="34" charset="0"/>
              <a:buChar char="•"/>
            </a:pPr>
            <a:r>
              <a:rPr lang="en-AU" sz="1200" kern="1200" dirty="0" smtClean="0">
                <a:solidFill>
                  <a:schemeClr val="tx1"/>
                </a:solidFill>
                <a:ea typeface="+mn-ea"/>
                <a:cs typeface="+mn-cs"/>
              </a:rPr>
              <a:t> If anyone is hurt </a:t>
            </a:r>
          </a:p>
          <a:p>
            <a:pPr lvl="1">
              <a:buFont typeface="Arial" pitchFamily="34" charset="0"/>
              <a:buChar char="•"/>
            </a:pPr>
            <a:r>
              <a:rPr lang="en-AU" sz="1200" kern="1200" dirty="0" smtClean="0">
                <a:solidFill>
                  <a:schemeClr val="tx1"/>
                </a:solidFill>
                <a:ea typeface="+mn-ea"/>
                <a:cs typeface="+mn-cs"/>
              </a:rPr>
              <a:t> If there are any further hazards that may cause explosions – such as gas cylinders, explosive chemicals, or live electrical wires </a:t>
            </a:r>
          </a:p>
          <a:p>
            <a:pPr>
              <a:buFont typeface="Arial" pitchFamily="34" charset="0"/>
              <a:buChar char="•"/>
            </a:pPr>
            <a:r>
              <a:rPr lang="en-AU" sz="1200" kern="1200" dirty="0" smtClean="0">
                <a:solidFill>
                  <a:schemeClr val="tx1"/>
                </a:solidFill>
                <a:ea typeface="+mn-ea"/>
                <a:cs typeface="+mn-cs"/>
              </a:rPr>
              <a:t> Implement evacuation plan</a:t>
            </a:r>
          </a:p>
          <a:p>
            <a:pPr>
              <a:buFont typeface="Arial" pitchFamily="34" charset="0"/>
              <a:buChar char="•"/>
            </a:pPr>
            <a:r>
              <a:rPr lang="en-AU" sz="1200" kern="1200" dirty="0" smtClean="0">
                <a:solidFill>
                  <a:schemeClr val="tx1"/>
                </a:solidFill>
                <a:ea typeface="+mn-ea"/>
                <a:cs typeface="+mn-cs"/>
              </a:rPr>
              <a:t> Open windows and doors to disperse fumes </a:t>
            </a:r>
          </a:p>
          <a:p>
            <a:pPr>
              <a:buFont typeface="Arial" pitchFamily="34" charset="0"/>
              <a:buChar char="•"/>
            </a:pPr>
            <a:r>
              <a:rPr lang="en-AU" sz="1200" kern="1200" dirty="0" smtClean="0">
                <a:solidFill>
                  <a:schemeClr val="tx1"/>
                </a:solidFill>
                <a:ea typeface="+mn-ea"/>
                <a:cs typeface="+mn-cs"/>
              </a:rPr>
              <a:t> Prevent people entering the affected area </a:t>
            </a:r>
          </a:p>
          <a:p>
            <a:pPr>
              <a:buFont typeface="Arial" pitchFamily="34" charset="0"/>
              <a:buChar char="•"/>
            </a:pPr>
            <a:r>
              <a:rPr lang="en-AU" sz="1200" kern="1200" dirty="0" smtClean="0">
                <a:solidFill>
                  <a:schemeClr val="tx1"/>
                </a:solidFill>
                <a:ea typeface="+mn-ea"/>
                <a:cs typeface="+mn-cs"/>
              </a:rPr>
              <a:t> Obtain Materials Safety Data Sheet for the chemical (if available)</a:t>
            </a:r>
          </a:p>
          <a:p>
            <a:pPr>
              <a:buFont typeface="Arial" pitchFamily="34" charset="0"/>
              <a:buChar char="•"/>
            </a:pPr>
            <a:r>
              <a:rPr lang="en-AU" sz="1200" kern="1200" dirty="0" smtClean="0">
                <a:solidFill>
                  <a:schemeClr val="tx1"/>
                </a:solidFill>
                <a:ea typeface="+mn-ea"/>
                <a:cs typeface="+mn-cs"/>
              </a:rPr>
              <a:t> Make efforts to contain the spill to the best extent possible.</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to trainees sample </a:t>
            </a:r>
            <a:r>
              <a:rPr lang="en-AU" sz="1200" b="0" kern="1200" dirty="0" smtClean="0">
                <a:solidFill>
                  <a:schemeClr val="tx1"/>
                </a:solidFill>
                <a:ea typeface="+mn-ea"/>
                <a:cs typeface="+mn-cs"/>
              </a:rPr>
              <a:t>EMP contents for responding to a deranged customer emergency stressing where workplace requirements differ from what is presented, the workplace</a:t>
            </a:r>
            <a:r>
              <a:rPr lang="en-AU" sz="1200" b="0" kern="1200" baseline="0" dirty="0" smtClean="0">
                <a:solidFill>
                  <a:schemeClr val="tx1"/>
                </a:solidFill>
                <a:ea typeface="+mn-ea"/>
                <a:cs typeface="+mn-cs"/>
              </a:rPr>
              <a:t> EMP must be followed, and highlighting  the EMP should address:</a:t>
            </a:r>
          </a:p>
          <a:p>
            <a:pPr>
              <a:buFont typeface="Arial" pitchFamily="34" charset="0"/>
              <a:buChar char="•"/>
            </a:pPr>
            <a:r>
              <a:rPr lang="en-AU" sz="1200" kern="1200" dirty="0" smtClean="0">
                <a:solidFill>
                  <a:schemeClr val="tx1"/>
                </a:solidFill>
                <a:ea typeface="+mn-ea"/>
                <a:cs typeface="+mn-cs"/>
              </a:rPr>
              <a:t> Dealing with the situation in the first instance – asking them to modify their behaviour or leave the area </a:t>
            </a:r>
          </a:p>
          <a:p>
            <a:pPr>
              <a:buFont typeface="Arial" pitchFamily="34" charset="0"/>
              <a:buChar char="•"/>
            </a:pPr>
            <a:r>
              <a:rPr lang="en-AU" sz="1200" kern="1200" dirty="0" smtClean="0">
                <a:solidFill>
                  <a:schemeClr val="tx1"/>
                </a:solidFill>
                <a:ea typeface="+mn-ea"/>
                <a:cs typeface="+mn-cs"/>
              </a:rPr>
              <a:t> Contacting supervisor – and letting them determine the appropriate course of action</a:t>
            </a:r>
          </a:p>
          <a:p>
            <a:pPr>
              <a:buFont typeface="Arial" pitchFamily="34" charset="0"/>
              <a:buChar char="•"/>
            </a:pPr>
            <a:r>
              <a:rPr lang="en-AU" sz="1200" kern="1200" dirty="0" smtClean="0">
                <a:solidFill>
                  <a:schemeClr val="tx1"/>
                </a:solidFill>
                <a:ea typeface="+mn-ea"/>
                <a:cs typeface="+mn-cs"/>
              </a:rPr>
              <a:t> Contacting security staff and asking them to deal with the situation.</a:t>
            </a:r>
          </a:p>
          <a:p>
            <a:pPr>
              <a:buFont typeface="Arial" pitchFamily="34" charset="0"/>
              <a:buChar char="•"/>
            </a:pPr>
            <a:r>
              <a:rPr lang="en-AU" sz="1200" kern="1200" dirty="0" smtClean="0">
                <a:solidFill>
                  <a:schemeClr val="tx1"/>
                </a:solidFill>
                <a:ea typeface="+mn-ea"/>
                <a:cs typeface="+mn-cs"/>
              </a:rPr>
              <a:t> Where the above options are not appropriate or have failed to successfully address the situation:</a:t>
            </a:r>
          </a:p>
          <a:p>
            <a:pPr lvl="1">
              <a:buFont typeface="Arial" pitchFamily="34" charset="0"/>
              <a:buChar char="•"/>
            </a:pPr>
            <a:r>
              <a:rPr lang="en-AU" sz="1200" kern="1200" dirty="0" smtClean="0">
                <a:solidFill>
                  <a:schemeClr val="tx1"/>
                </a:solidFill>
                <a:ea typeface="+mn-ea"/>
                <a:cs typeface="+mn-cs"/>
              </a:rPr>
              <a:t> Remove other people from the area – to protect their safety</a:t>
            </a:r>
          </a:p>
          <a:p>
            <a:pPr lvl="1">
              <a:buFont typeface="Arial" pitchFamily="34" charset="0"/>
              <a:buChar char="•"/>
            </a:pPr>
            <a:r>
              <a:rPr lang="en-AU" sz="1200" kern="1200" dirty="0" smtClean="0">
                <a:solidFill>
                  <a:schemeClr val="tx1"/>
                </a:solidFill>
                <a:ea typeface="+mn-ea"/>
                <a:cs typeface="+mn-cs"/>
              </a:rPr>
              <a:t> Restrict access to the area by others</a:t>
            </a:r>
          </a:p>
          <a:p>
            <a:pPr lvl="1">
              <a:buFont typeface="Arial" pitchFamily="34" charset="0"/>
              <a:buChar char="•"/>
            </a:pPr>
            <a:r>
              <a:rPr lang="en-AU" sz="1200" kern="1200" dirty="0" smtClean="0">
                <a:solidFill>
                  <a:schemeClr val="tx1"/>
                </a:solidFill>
                <a:ea typeface="+mn-ea"/>
                <a:cs typeface="+mn-cs"/>
              </a:rPr>
              <a:t> Protect property from damage – after the safety of people has been optimised.</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to trainees sample </a:t>
            </a:r>
            <a:r>
              <a:rPr lang="en-AU" sz="1200" b="0" kern="1200" dirty="0" smtClean="0">
                <a:solidFill>
                  <a:schemeClr val="tx1"/>
                </a:solidFill>
                <a:ea typeface="+mn-ea"/>
                <a:cs typeface="+mn-cs"/>
              </a:rPr>
              <a:t>EMP contents for responding to armed robberies or hold-ups stressing where workplace requirements differ from what is presented, the workplace</a:t>
            </a:r>
            <a:r>
              <a:rPr lang="en-AU" sz="1200" b="0" kern="1200" baseline="0" dirty="0" smtClean="0">
                <a:solidFill>
                  <a:schemeClr val="tx1"/>
                </a:solidFill>
                <a:ea typeface="+mn-ea"/>
                <a:cs typeface="+mn-cs"/>
              </a:rPr>
              <a:t> EMP must be followed, and highlighting  the EMP should address:</a:t>
            </a:r>
          </a:p>
          <a:p>
            <a:pPr>
              <a:buFont typeface="Arial" pitchFamily="34" charset="0"/>
              <a:buChar char="•"/>
            </a:pPr>
            <a:r>
              <a:rPr lang="en-AU" sz="1200" kern="1200" dirty="0" smtClean="0">
                <a:solidFill>
                  <a:schemeClr val="tx1"/>
                </a:solidFill>
                <a:ea typeface="+mn-ea"/>
                <a:cs typeface="+mn-cs"/>
              </a:rPr>
              <a:t> Immediately obey the directions given by the offender</a:t>
            </a:r>
          </a:p>
          <a:p>
            <a:pPr>
              <a:buFont typeface="Arial" pitchFamily="34" charset="0"/>
              <a:buChar char="•"/>
            </a:pPr>
            <a:r>
              <a:rPr lang="en-AU" sz="1200" kern="1200" dirty="0" smtClean="0">
                <a:solidFill>
                  <a:schemeClr val="tx1"/>
                </a:solidFill>
                <a:ea typeface="+mn-ea"/>
                <a:cs typeface="+mn-cs"/>
              </a:rPr>
              <a:t> Do not try to stall them – respond quickly to what they want: give them the money – do not try to be a hero</a:t>
            </a:r>
          </a:p>
          <a:p>
            <a:pPr>
              <a:buFont typeface="Arial" pitchFamily="34" charset="0"/>
              <a:buChar char="•"/>
            </a:pPr>
            <a:r>
              <a:rPr lang="en-AU" sz="1200" kern="1200" dirty="0" smtClean="0">
                <a:solidFill>
                  <a:schemeClr val="tx1"/>
                </a:solidFill>
                <a:ea typeface="+mn-ea"/>
                <a:cs typeface="+mn-cs"/>
              </a:rPr>
              <a:t> Speak only when spoken to</a:t>
            </a:r>
          </a:p>
          <a:p>
            <a:pPr>
              <a:buFont typeface="Arial" pitchFamily="34" charset="0"/>
              <a:buChar char="•"/>
            </a:pPr>
            <a:r>
              <a:rPr lang="en-AU" sz="1200" kern="1200" dirty="0" smtClean="0">
                <a:solidFill>
                  <a:schemeClr val="tx1"/>
                </a:solidFill>
                <a:ea typeface="+mn-ea"/>
                <a:cs typeface="+mn-cs"/>
              </a:rPr>
              <a:t> Do not obviously look</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stare at the offender</a:t>
            </a:r>
          </a:p>
          <a:p>
            <a:pPr>
              <a:buFont typeface="Arial" pitchFamily="34" charset="0"/>
              <a:buChar char="•"/>
            </a:pPr>
            <a:r>
              <a:rPr lang="en-AU" sz="1200" kern="1200" dirty="0" smtClean="0">
                <a:solidFill>
                  <a:schemeClr val="tx1"/>
                </a:solidFill>
                <a:ea typeface="+mn-ea"/>
                <a:cs typeface="+mn-cs"/>
              </a:rPr>
              <a:t> Try to remember anything of future use to police:</a:t>
            </a:r>
          </a:p>
          <a:p>
            <a:pPr lvl="1">
              <a:buFont typeface="Arial" pitchFamily="34" charset="0"/>
              <a:buChar char="•"/>
            </a:pPr>
            <a:r>
              <a:rPr lang="en-AU" sz="1200" kern="1200" dirty="0" smtClean="0">
                <a:solidFill>
                  <a:schemeClr val="tx1"/>
                </a:solidFill>
                <a:ea typeface="+mn-ea"/>
                <a:cs typeface="+mn-cs"/>
              </a:rPr>
              <a:t> Appearances of offenders</a:t>
            </a:r>
          </a:p>
          <a:p>
            <a:pPr lvl="1">
              <a:buFont typeface="Arial" pitchFamily="34" charset="0"/>
              <a:buChar char="•"/>
            </a:pPr>
            <a:r>
              <a:rPr lang="en-AU" sz="1200" kern="1200" dirty="0" smtClean="0">
                <a:solidFill>
                  <a:schemeClr val="tx1"/>
                </a:solidFill>
                <a:ea typeface="+mn-ea"/>
                <a:cs typeface="+mn-cs"/>
              </a:rPr>
              <a:t> Names they used when talking to each other</a:t>
            </a:r>
          </a:p>
          <a:p>
            <a:pPr lvl="1">
              <a:buFont typeface="Arial" pitchFamily="34" charset="0"/>
              <a:buChar char="•"/>
            </a:pPr>
            <a:r>
              <a:rPr lang="en-AU" sz="1200" kern="1200" dirty="0" smtClean="0">
                <a:solidFill>
                  <a:schemeClr val="tx1"/>
                </a:solidFill>
                <a:ea typeface="+mn-ea"/>
                <a:cs typeface="+mn-cs"/>
              </a:rPr>
              <a:t> Accents, tattoos, distinguishing features</a:t>
            </a:r>
          </a:p>
          <a:p>
            <a:pPr lvl="1">
              <a:buFont typeface="Arial" pitchFamily="34" charset="0"/>
              <a:buChar char="•"/>
            </a:pPr>
            <a:r>
              <a:rPr lang="en-AU" sz="1200" kern="1200" dirty="0" smtClean="0">
                <a:solidFill>
                  <a:schemeClr val="tx1"/>
                </a:solidFill>
                <a:ea typeface="+mn-ea"/>
                <a:cs typeface="+mn-cs"/>
              </a:rPr>
              <a:t> How they were dressed</a:t>
            </a:r>
          </a:p>
          <a:p>
            <a:pPr lvl="1">
              <a:buFont typeface="Arial" pitchFamily="34" charset="0"/>
              <a:buChar char="•"/>
            </a:pPr>
            <a:r>
              <a:rPr lang="en-AU" sz="1200" kern="1200" dirty="0" smtClean="0">
                <a:solidFill>
                  <a:schemeClr val="tx1"/>
                </a:solidFill>
                <a:ea typeface="+mn-ea"/>
                <a:cs typeface="+mn-cs"/>
              </a:rPr>
              <a:t> Vehicle they used to make their getaway</a:t>
            </a:r>
          </a:p>
          <a:p>
            <a:pPr>
              <a:buFont typeface="Arial" pitchFamily="34" charset="0"/>
              <a:buChar char="•"/>
            </a:pPr>
            <a:r>
              <a:rPr lang="en-AU" sz="1200" kern="1200" dirty="0" smtClean="0">
                <a:solidFill>
                  <a:schemeClr val="tx1"/>
                </a:solidFill>
                <a:ea typeface="+mn-ea"/>
                <a:cs typeface="+mn-cs"/>
              </a:rPr>
              <a:t> After the robbery, call the police immediately – do not touch anything.  Individually, take a moment to write down anything thought to be worthwhile</a:t>
            </a:r>
          </a:p>
          <a:p>
            <a:pPr>
              <a:buFont typeface="Arial" pitchFamily="34" charset="0"/>
              <a:buChar char="•"/>
            </a:pPr>
            <a:r>
              <a:rPr lang="en-AU" sz="1200" kern="1200" dirty="0" smtClean="0">
                <a:solidFill>
                  <a:schemeClr val="tx1"/>
                </a:solidFill>
                <a:ea typeface="+mn-ea"/>
                <a:cs typeface="+mn-cs"/>
              </a:rPr>
              <a:t> Do not discuss things with other people, as this will interfere with, and distort recollection</a:t>
            </a:r>
          </a:p>
          <a:p>
            <a:pPr>
              <a:buFont typeface="Arial" pitchFamily="34" charset="0"/>
              <a:buChar char="•"/>
            </a:pPr>
            <a:r>
              <a:rPr lang="en-AU" sz="1200" kern="1200" dirty="0" smtClean="0">
                <a:solidFill>
                  <a:schemeClr val="tx1"/>
                </a:solidFill>
                <a:ea typeface="+mn-ea"/>
                <a:cs typeface="+mn-cs"/>
              </a:rPr>
              <a:t> Gather together as many witnesses as possible</a:t>
            </a:r>
          </a:p>
          <a:p>
            <a:pPr>
              <a:buFont typeface="Arial" pitchFamily="34" charset="0"/>
              <a:buChar char="•"/>
            </a:pPr>
            <a:r>
              <a:rPr lang="en-AU" sz="1200" kern="1200" dirty="0" smtClean="0">
                <a:solidFill>
                  <a:schemeClr val="tx1"/>
                </a:solidFill>
                <a:ea typeface="+mn-ea"/>
                <a:cs typeface="+mn-cs"/>
              </a:rPr>
              <a:t> Close the venue or business</a:t>
            </a:r>
          </a:p>
          <a:p>
            <a:pPr>
              <a:buFont typeface="Arial" pitchFamily="34" charset="0"/>
              <a:buChar char="•"/>
            </a:pPr>
            <a:r>
              <a:rPr lang="en-AU" sz="1200" kern="1200" dirty="0" smtClean="0">
                <a:solidFill>
                  <a:schemeClr val="tx1"/>
                </a:solidFill>
                <a:ea typeface="+mn-ea"/>
                <a:cs typeface="+mn-cs"/>
              </a:rPr>
              <a:t> Never discuss with anyone how much money was stolen – a designated person should be the only person to speak with the media.</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suitable person from an appropriate venue to visit and:</a:t>
            </a:r>
          </a:p>
          <a:p>
            <a:pPr>
              <a:buFont typeface="Arial" pitchFamily="34" charset="0"/>
              <a:buChar char="•"/>
            </a:pPr>
            <a:r>
              <a:rPr lang="en-US" b="0" dirty="0" smtClean="0"/>
              <a:t> Show, share and explain their EMP for the situation listed on the slide</a:t>
            </a:r>
          </a:p>
          <a:p>
            <a:pPr>
              <a:buFont typeface="Arial" pitchFamily="34" charset="0"/>
              <a:buChar char="•"/>
            </a:pPr>
            <a:r>
              <a:rPr lang="en-US" b="0" dirty="0" smtClean="0"/>
              <a:t> Provide an example of this EMP for their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latin typeface="+mn-lt"/>
                <a:ea typeface="+mn-ea"/>
                <a:cs typeface="+mn-cs"/>
              </a:rPr>
              <a:t>basis for responding to an emergency for which no EMP exists is:</a:t>
            </a:r>
          </a:p>
          <a:p>
            <a:pPr>
              <a:buFont typeface="Arial" pitchFamily="34" charset="0"/>
              <a:buChar char="•"/>
            </a:pPr>
            <a:r>
              <a:rPr lang="en-AU" sz="1200" kern="1200" dirty="0" smtClean="0">
                <a:solidFill>
                  <a:schemeClr val="tx1"/>
                </a:solidFill>
                <a:latin typeface="+mn-lt"/>
                <a:ea typeface="+mn-ea"/>
                <a:cs typeface="+mn-cs"/>
              </a:rPr>
              <a:t> Notify emergency services, internal personnel and guests/customers as soon as possible</a:t>
            </a:r>
          </a:p>
          <a:p>
            <a:pPr>
              <a:buFont typeface="Arial" pitchFamily="34" charset="0"/>
              <a:buChar char="•"/>
            </a:pPr>
            <a:r>
              <a:rPr lang="en-AU" sz="1200" kern="1200" dirty="0" smtClean="0">
                <a:solidFill>
                  <a:schemeClr val="tx1"/>
                </a:solidFill>
                <a:latin typeface="+mn-lt"/>
                <a:ea typeface="+mn-ea"/>
                <a:cs typeface="+mn-cs"/>
              </a:rPr>
              <a:t> Assess the situation – taking into account known factors and information</a:t>
            </a:r>
          </a:p>
          <a:p>
            <a:pPr>
              <a:buFont typeface="Arial" pitchFamily="34" charset="0"/>
              <a:buChar char="•"/>
            </a:pPr>
            <a:r>
              <a:rPr lang="en-AU" sz="1200" kern="1200" dirty="0" smtClean="0">
                <a:solidFill>
                  <a:schemeClr val="tx1"/>
                </a:solidFill>
                <a:latin typeface="+mn-lt"/>
                <a:ea typeface="+mn-ea"/>
                <a:cs typeface="+mn-cs"/>
              </a:rPr>
              <a:t> Adapt existing EMPs where possible to serve as the basis for a response.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giving advice on responding to an emergency for which there is no EMP:</a:t>
            </a:r>
          </a:p>
          <a:p>
            <a:pPr>
              <a:buFont typeface="Arial" pitchFamily="34" charset="0"/>
              <a:buChar char="•"/>
            </a:pPr>
            <a:r>
              <a:rPr lang="en-AU" sz="1200" kern="1200" dirty="0" smtClean="0">
                <a:solidFill>
                  <a:schemeClr val="tx1"/>
                </a:solidFill>
                <a:latin typeface="+mn-lt"/>
                <a:ea typeface="+mn-ea"/>
                <a:cs typeface="+mn-cs"/>
              </a:rPr>
              <a:t> Involve others in deciding what needs to be done</a:t>
            </a:r>
          </a:p>
          <a:p>
            <a:pPr>
              <a:buFont typeface="Arial" pitchFamily="34" charset="0"/>
              <a:buChar char="•"/>
            </a:pPr>
            <a:r>
              <a:rPr lang="en-AU" sz="1200" kern="1200" dirty="0" smtClean="0">
                <a:solidFill>
                  <a:schemeClr val="tx1"/>
                </a:solidFill>
                <a:latin typeface="+mn-lt"/>
                <a:ea typeface="+mn-ea"/>
                <a:cs typeface="+mn-cs"/>
              </a:rPr>
              <a:t> Ensure the safety of people is the first priority</a:t>
            </a:r>
          </a:p>
          <a:p>
            <a:pPr>
              <a:buFont typeface="Arial" pitchFamily="34" charset="0"/>
              <a:buChar char="•"/>
            </a:pPr>
            <a:r>
              <a:rPr lang="en-AU" sz="1200" kern="1200" dirty="0" smtClean="0">
                <a:solidFill>
                  <a:schemeClr val="tx1"/>
                </a:solidFill>
                <a:latin typeface="+mn-lt"/>
                <a:ea typeface="+mn-ea"/>
                <a:cs typeface="+mn-cs"/>
              </a:rPr>
              <a:t> Be prepared to contain a situation rather than respond to it – meaning you may elect to limit or control the impact or spread of the threat rather than try to suppress or eliminate it</a:t>
            </a:r>
          </a:p>
          <a:p>
            <a:pPr>
              <a:buFont typeface="Arial" pitchFamily="34" charset="0"/>
              <a:buChar char="•"/>
            </a:pPr>
            <a:r>
              <a:rPr lang="en-AU" sz="1200" kern="1200" dirty="0" smtClean="0">
                <a:solidFill>
                  <a:schemeClr val="tx1"/>
                </a:solidFill>
                <a:latin typeface="+mn-lt"/>
                <a:ea typeface="+mn-ea"/>
                <a:cs typeface="+mn-cs"/>
              </a:rPr>
              <a:t> Provide constant communication to internal chain of command personnel about the progress of the threat.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a:t>
            </a:r>
            <a:r>
              <a:rPr lang="en-AU" baseline="0" noProof="0" dirty="0" smtClean="0"/>
              <a:t> advice for response if there are trapped or injured people during an emergency:</a:t>
            </a:r>
          </a:p>
          <a:p>
            <a:pPr>
              <a:buFont typeface="Arial" pitchFamily="34" charset="0"/>
              <a:buChar char="•"/>
            </a:pPr>
            <a:r>
              <a:rPr lang="en-AU" sz="1200" kern="1200" dirty="0" smtClean="0">
                <a:solidFill>
                  <a:schemeClr val="tx1"/>
                </a:solidFill>
                <a:latin typeface="+mn-lt"/>
                <a:ea typeface="+mn-ea"/>
                <a:cs typeface="+mn-cs"/>
              </a:rPr>
              <a:t> Do not compound the situation by placing yourself in danger and also becoming trapped or injured</a:t>
            </a:r>
          </a:p>
          <a:p>
            <a:pPr>
              <a:buFont typeface="Arial" pitchFamily="34" charset="0"/>
              <a:buChar char="•"/>
            </a:pPr>
            <a:r>
              <a:rPr lang="en-AU" sz="1200" kern="1200" dirty="0" smtClean="0">
                <a:solidFill>
                  <a:schemeClr val="tx1"/>
                </a:solidFill>
                <a:latin typeface="+mn-lt"/>
                <a:ea typeface="+mn-ea"/>
                <a:cs typeface="+mn-cs"/>
              </a:rPr>
              <a:t> Communicate with chain of command personnel to advise them of the situation – numbers involved, nature of the entrapment and or injuries, location, threats faced by the trapped or injured people, immediacy of the response required</a:t>
            </a:r>
          </a:p>
          <a:p>
            <a:pPr>
              <a:buFont typeface="Arial" pitchFamily="34" charset="0"/>
              <a:buChar char="•"/>
            </a:pPr>
            <a:r>
              <a:rPr lang="en-AU" sz="1200" kern="1200" dirty="0" smtClean="0">
                <a:solidFill>
                  <a:schemeClr val="tx1"/>
                </a:solidFill>
                <a:latin typeface="+mn-lt"/>
                <a:ea typeface="+mn-ea"/>
                <a:cs typeface="+mn-cs"/>
              </a:rPr>
              <a:t> Reassure people involved – tell them they are OK, advise help is on the way, hold their hand</a:t>
            </a:r>
          </a:p>
          <a:p>
            <a:pPr>
              <a:buFont typeface="Arial" pitchFamily="34" charset="0"/>
              <a:buChar char="•"/>
            </a:pPr>
            <a:r>
              <a:rPr lang="en-AU" sz="1200" kern="1200" dirty="0" smtClean="0">
                <a:solidFill>
                  <a:schemeClr val="tx1"/>
                </a:solidFill>
                <a:latin typeface="+mn-lt"/>
                <a:ea typeface="+mn-ea"/>
                <a:cs typeface="+mn-cs"/>
              </a:rPr>
              <a:t> Provide first aid – if able and qualified to do so. At this stage the first aid may be very basic and restricted to stemming bleeding, opening and clearing airways, monitoring vital signs.</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a:t>
            </a:r>
            <a:r>
              <a:rPr lang="en-AU" baseline="0" noProof="0" dirty="0" smtClean="0"/>
              <a:t> advice for response if there are trapped or injured people during an emergency:</a:t>
            </a:r>
          </a:p>
          <a:p>
            <a:pPr>
              <a:buFont typeface="Arial" pitchFamily="34" charset="0"/>
              <a:buChar char="•"/>
            </a:pPr>
            <a:r>
              <a:rPr lang="en-AU" sz="1200" kern="1200" dirty="0" smtClean="0">
                <a:solidFill>
                  <a:schemeClr val="tx1"/>
                </a:solidFill>
                <a:latin typeface="+mn-lt"/>
                <a:ea typeface="+mn-ea"/>
                <a:cs typeface="+mn-cs"/>
              </a:rPr>
              <a:t> Secure the area if safe to do so – to prevent the situation becoming worse/more difficult</a:t>
            </a:r>
          </a:p>
          <a:p>
            <a:pPr>
              <a:buFont typeface="Arial" pitchFamily="34" charset="0"/>
              <a:buChar char="•"/>
            </a:pPr>
            <a:r>
              <a:rPr lang="en-AU" sz="1200" kern="1200" dirty="0" smtClean="0">
                <a:solidFill>
                  <a:schemeClr val="tx1"/>
                </a:solidFill>
                <a:latin typeface="+mn-lt"/>
                <a:ea typeface="+mn-ea"/>
                <a:cs typeface="+mn-cs"/>
              </a:rPr>
              <a:t> Clear rubbish and debris – if safe to do so: never attempt to remove:</a:t>
            </a:r>
          </a:p>
          <a:p>
            <a:pPr lvl="1">
              <a:buFont typeface="Arial" pitchFamily="34" charset="0"/>
              <a:buChar char="•"/>
            </a:pPr>
            <a:r>
              <a:rPr lang="en-AU" sz="1200" kern="1200" dirty="0" smtClean="0">
                <a:solidFill>
                  <a:schemeClr val="tx1"/>
                </a:solidFill>
                <a:latin typeface="+mn-lt"/>
                <a:ea typeface="+mn-ea"/>
                <a:cs typeface="+mn-cs"/>
              </a:rPr>
              <a:t> Any items, structures or fittings supporting anything else</a:t>
            </a:r>
          </a:p>
          <a:p>
            <a:pPr lvl="1">
              <a:buFont typeface="Arial" pitchFamily="34" charset="0"/>
              <a:buChar char="•"/>
            </a:pPr>
            <a:r>
              <a:rPr lang="en-AU" sz="1200" kern="1200" dirty="0" smtClean="0">
                <a:solidFill>
                  <a:schemeClr val="tx1"/>
                </a:solidFill>
                <a:latin typeface="+mn-lt"/>
                <a:ea typeface="+mn-ea"/>
                <a:cs typeface="+mn-cs"/>
              </a:rPr>
              <a:t> Items resting on victims – unless it presents an immediate threat to life</a:t>
            </a:r>
          </a:p>
          <a:p>
            <a:pPr>
              <a:buFont typeface="Arial" pitchFamily="34" charset="0"/>
              <a:buChar char="•"/>
            </a:pPr>
            <a:r>
              <a:rPr lang="en-AU" sz="1200" kern="1200" dirty="0" smtClean="0">
                <a:solidFill>
                  <a:schemeClr val="tx1"/>
                </a:solidFill>
                <a:latin typeface="+mn-lt"/>
                <a:ea typeface="+mn-ea"/>
                <a:cs typeface="+mn-cs"/>
              </a:rPr>
              <a:t> Be alert to the possibility of live electrical wires</a:t>
            </a:r>
          </a:p>
          <a:p>
            <a:pPr>
              <a:buFont typeface="Arial" pitchFamily="34" charset="0"/>
              <a:buChar char="•"/>
            </a:pPr>
            <a:r>
              <a:rPr lang="en-AU" sz="1200" kern="1200" dirty="0" smtClean="0">
                <a:solidFill>
                  <a:schemeClr val="tx1"/>
                </a:solidFill>
                <a:latin typeface="+mn-lt"/>
                <a:ea typeface="+mn-ea"/>
                <a:cs typeface="+mn-cs"/>
              </a:rPr>
              <a:t> Never enter a confined space. </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You must always try to remain calm when faced with any emergency situation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When implementing an evacuation/EMP you must stay calm because your attitude, response and actions will greatly influence how others behave.</a:t>
            </a:r>
            <a:endParaRPr lang="en-AU" sz="1200" b="1"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to </a:t>
            </a:r>
            <a:r>
              <a:rPr lang="en-AU" sz="1200" b="0" kern="1200" dirty="0" smtClean="0">
                <a:solidFill>
                  <a:schemeClr val="tx1"/>
                </a:solidFill>
                <a:latin typeface="+mn-lt"/>
                <a:ea typeface="+mn-ea"/>
                <a:cs typeface="+mn-cs"/>
              </a:rPr>
              <a:t>deal effectively with guests/customers in an emergency:</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Apply appropriate interpersonal and communication skills to avoid panic and maintain calm</a:t>
            </a:r>
          </a:p>
          <a:p>
            <a:pPr>
              <a:buFont typeface="Arial" pitchFamily="34" charset="0"/>
              <a:buChar char="•"/>
            </a:pPr>
            <a:r>
              <a:rPr lang="en-AU" sz="1200" kern="1200" dirty="0" smtClean="0">
                <a:solidFill>
                  <a:schemeClr val="tx1"/>
                </a:solidFill>
                <a:latin typeface="+mn-lt"/>
                <a:ea typeface="+mn-ea"/>
                <a:cs typeface="+mn-cs"/>
              </a:rPr>
              <a:t> Provide clear instructions to guests/customers, staff and others.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i="0" kern="1200" dirty="0" smtClean="0">
                <a:solidFill>
                  <a:schemeClr val="tx1"/>
                </a:solidFill>
                <a:latin typeface="+mn-lt"/>
                <a:ea typeface="+mn-ea"/>
                <a:cs typeface="+mn-cs"/>
              </a:rPr>
              <a:t>Class Activity – Question and Answer Session</a:t>
            </a:r>
          </a:p>
          <a:p>
            <a:pPr>
              <a:buFont typeface="Arial" pitchFamily="34" charset="0"/>
              <a:buNone/>
            </a:pPr>
            <a:r>
              <a:rPr lang="en-AU" sz="1200" b="0" i="0" kern="1200" dirty="0" smtClean="0">
                <a:solidFill>
                  <a:schemeClr val="tx1"/>
                </a:solidFill>
                <a:latin typeface="+mn-lt"/>
                <a:ea typeface="+mn-ea"/>
                <a:cs typeface="+mn-cs"/>
              </a:rPr>
              <a:t>Trainer asks “What are appropriate interpersonal and communication skills to apply when dealing with people in an emergency situation to help avoid</a:t>
            </a:r>
            <a:r>
              <a:rPr lang="en-AU" sz="1200" b="0" i="0" kern="1200" baseline="0" dirty="0" smtClean="0">
                <a:solidFill>
                  <a:schemeClr val="tx1"/>
                </a:solidFill>
                <a:latin typeface="+mn-lt"/>
                <a:ea typeface="+mn-ea"/>
                <a:cs typeface="+mn-cs"/>
              </a:rPr>
              <a:t> panic and maintain calm?”</a:t>
            </a:r>
          </a:p>
          <a:p>
            <a:pPr>
              <a:buFont typeface="Arial" pitchFamily="34" charset="0"/>
              <a:buNone/>
            </a:pPr>
            <a:r>
              <a:rPr lang="en-AU" sz="1200" b="1" i="1" kern="1200" baseline="0" dirty="0" smtClean="0">
                <a:solidFill>
                  <a:schemeClr val="tx1"/>
                </a:solidFill>
                <a:latin typeface="+mn-lt"/>
                <a:ea typeface="+mn-ea"/>
                <a:cs typeface="+mn-cs"/>
              </a:rPr>
              <a:t>Possible answers:</a:t>
            </a:r>
            <a:endParaRPr lang="en-AU" sz="1200" b="1" i="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Do not panic yourself – be confident in the training and drills you have participated in: know the plans will work</a:t>
            </a:r>
          </a:p>
          <a:p>
            <a:pPr>
              <a:buFont typeface="Arial" pitchFamily="34" charset="0"/>
              <a:buChar char="•"/>
            </a:pPr>
            <a:r>
              <a:rPr lang="en-AU" sz="1200" kern="1200" dirty="0" smtClean="0">
                <a:solidFill>
                  <a:schemeClr val="tx1"/>
                </a:solidFill>
                <a:latin typeface="+mn-lt"/>
                <a:ea typeface="+mn-ea"/>
                <a:cs typeface="+mn-cs"/>
              </a:rPr>
              <a:t> Speak clearly and calmly but with authority – speak as if you </a:t>
            </a:r>
            <a:r>
              <a:rPr lang="en-AU" sz="1200" i="1" kern="1200" dirty="0" smtClean="0">
                <a:solidFill>
                  <a:schemeClr val="tx1"/>
                </a:solidFill>
                <a:latin typeface="+mn-lt"/>
                <a:ea typeface="+mn-ea"/>
                <a:cs typeface="+mn-cs"/>
              </a:rPr>
              <a:t>expect</a:t>
            </a:r>
            <a:r>
              <a:rPr lang="en-AU" sz="1200" kern="1200" dirty="0" smtClean="0">
                <a:solidFill>
                  <a:schemeClr val="tx1"/>
                </a:solidFill>
                <a:latin typeface="+mn-lt"/>
                <a:ea typeface="+mn-ea"/>
                <a:cs typeface="+mn-cs"/>
              </a:rPr>
              <a:t> people to comply with what you say.</a:t>
            </a:r>
          </a:p>
          <a:p>
            <a:pPr>
              <a:buFont typeface="Arial" pitchFamily="34" charset="0"/>
              <a:buChar char="•"/>
            </a:pPr>
            <a:r>
              <a:rPr lang="en-AU" sz="1200" kern="1200" dirty="0" smtClean="0">
                <a:solidFill>
                  <a:schemeClr val="tx1"/>
                </a:solidFill>
                <a:latin typeface="+mn-lt"/>
                <a:ea typeface="+mn-ea"/>
                <a:cs typeface="+mn-cs"/>
              </a:rPr>
              <a:t> Take charge.</a:t>
            </a:r>
          </a:p>
          <a:p>
            <a:pPr>
              <a:buFont typeface="Arial" pitchFamily="34" charset="0"/>
              <a:buChar char="•"/>
            </a:pPr>
            <a:r>
              <a:rPr lang="en-AU" sz="1200" kern="1200" dirty="0" smtClean="0">
                <a:solidFill>
                  <a:schemeClr val="tx1"/>
                </a:solidFill>
                <a:latin typeface="+mn-lt"/>
                <a:ea typeface="+mn-ea"/>
                <a:cs typeface="+mn-cs"/>
              </a:rPr>
              <a:t> Take control.</a:t>
            </a:r>
          </a:p>
          <a:p>
            <a:pPr>
              <a:buFont typeface="Arial" pitchFamily="34" charset="0"/>
              <a:buChar char="•"/>
            </a:pPr>
            <a:r>
              <a:rPr lang="en-AU" sz="1200" kern="1200" dirty="0" smtClean="0">
                <a:solidFill>
                  <a:schemeClr val="tx1"/>
                </a:solidFill>
                <a:latin typeface="+mn-lt"/>
                <a:ea typeface="+mn-ea"/>
                <a:cs typeface="+mn-cs"/>
              </a:rPr>
              <a:t> Do not yell – unless it is necessary to overcome another noise. </a:t>
            </a:r>
          </a:p>
          <a:p>
            <a:pPr>
              <a:buFont typeface="Arial" pitchFamily="34" charset="0"/>
              <a:buChar char="•"/>
            </a:pPr>
            <a:r>
              <a:rPr lang="en-AU" sz="1200" kern="1200" dirty="0" smtClean="0">
                <a:solidFill>
                  <a:schemeClr val="tx1"/>
                </a:solidFill>
                <a:latin typeface="+mn-lt"/>
                <a:ea typeface="+mn-ea"/>
                <a:cs typeface="+mn-cs"/>
              </a:rPr>
              <a:t> Yelling generates unease and panic.</a:t>
            </a:r>
          </a:p>
          <a:p>
            <a:pPr>
              <a:buFont typeface="Arial" pitchFamily="34" charset="0"/>
              <a:buChar char="•"/>
            </a:pPr>
            <a:r>
              <a:rPr lang="en-AU" sz="1200" kern="1200" dirty="0" smtClean="0">
                <a:solidFill>
                  <a:schemeClr val="tx1"/>
                </a:solidFill>
                <a:latin typeface="+mn-lt"/>
                <a:ea typeface="+mn-ea"/>
                <a:cs typeface="+mn-cs"/>
              </a:rPr>
              <a:t> Exude confidence – in the way you stand, talk and hold yourself</a:t>
            </a:r>
          </a:p>
          <a:p>
            <a:pPr>
              <a:buFont typeface="Arial" pitchFamily="34" charset="0"/>
              <a:buNone/>
            </a:pPr>
            <a:r>
              <a:rPr lang="en-AU" noProof="0" dirty="0" smtClean="0"/>
              <a:t>Trainer asks “What can you do to optimise potential for your instructions to be readily understood during an emergency?”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i="1" kern="1200" baseline="0" dirty="0" smtClean="0">
                <a:solidFill>
                  <a:schemeClr val="tx1"/>
                </a:solidFill>
                <a:latin typeface="+mn-lt"/>
                <a:ea typeface="+mn-ea"/>
                <a:cs typeface="+mn-cs"/>
              </a:rPr>
              <a:t>Possible answers:</a:t>
            </a:r>
            <a:endParaRPr lang="en-AU" sz="1200" b="1" i="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Use simple words</a:t>
            </a:r>
          </a:p>
          <a:p>
            <a:pPr>
              <a:buFont typeface="Arial" pitchFamily="34" charset="0"/>
              <a:buChar char="•"/>
            </a:pPr>
            <a:r>
              <a:rPr lang="en-AU" sz="1200" kern="1200" dirty="0" smtClean="0">
                <a:solidFill>
                  <a:schemeClr val="tx1"/>
                </a:solidFill>
                <a:latin typeface="+mn-lt"/>
                <a:ea typeface="+mn-ea"/>
                <a:cs typeface="+mn-cs"/>
              </a:rPr>
              <a:t> Give brief commands – for example ‘Get out now’, ‘Go there immediately’, ‘Do not run’</a:t>
            </a:r>
          </a:p>
          <a:p>
            <a:pPr>
              <a:buFont typeface="Arial" pitchFamily="34" charset="0"/>
              <a:buChar char="•"/>
            </a:pPr>
            <a:r>
              <a:rPr lang="en-AU" sz="1200" kern="1200" dirty="0" smtClean="0">
                <a:solidFill>
                  <a:schemeClr val="tx1"/>
                </a:solidFill>
                <a:latin typeface="+mn-lt"/>
                <a:ea typeface="+mn-ea"/>
                <a:cs typeface="+mn-cs"/>
              </a:rPr>
              <a:t> Use appropriate sign language and signals – to accompany the words you use</a:t>
            </a:r>
          </a:p>
          <a:p>
            <a:pPr>
              <a:buFont typeface="Arial" pitchFamily="34" charset="0"/>
              <a:buChar char="•"/>
            </a:pPr>
            <a:r>
              <a:rPr lang="en-AU" sz="1200" kern="1200" dirty="0" smtClean="0">
                <a:solidFill>
                  <a:schemeClr val="tx1"/>
                </a:solidFill>
                <a:latin typeface="+mn-lt"/>
                <a:ea typeface="+mn-ea"/>
                <a:cs typeface="+mn-cs"/>
              </a:rPr>
              <a:t> Repeat yourself often and as necessary – never expect a single instruction, direction or command to be understood</a:t>
            </a:r>
          </a:p>
          <a:p>
            <a:pPr>
              <a:buFont typeface="Arial" pitchFamily="34" charset="0"/>
              <a:buChar char="•"/>
            </a:pPr>
            <a:r>
              <a:rPr lang="en-AU" sz="1200" kern="1200" dirty="0" smtClean="0">
                <a:solidFill>
                  <a:schemeClr val="tx1"/>
                </a:solidFill>
                <a:latin typeface="+mn-lt"/>
                <a:ea typeface="+mn-ea"/>
                <a:cs typeface="+mn-cs"/>
              </a:rPr>
              <a:t> Be prepared to ‘show’ and not just ‘tell’ – escort people, accompany them, demonstrate what is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suggests the following can help with </a:t>
            </a:r>
            <a:r>
              <a:rPr lang="en-AU" sz="1200" b="0" kern="1200" dirty="0" smtClean="0">
                <a:solidFill>
                  <a:schemeClr val="tx1"/>
                </a:solidFill>
                <a:latin typeface="+mn-lt"/>
                <a:ea typeface="+mn-ea"/>
                <a:cs typeface="+mn-cs"/>
              </a:rPr>
              <a:t>staying calm during an emergency situation:</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Take part in all practices and drills undertaken at the venue:</a:t>
            </a:r>
          </a:p>
          <a:p>
            <a:pPr lvl="1">
              <a:buFont typeface="Arial" pitchFamily="34" charset="0"/>
              <a:buChar char="•"/>
            </a:pPr>
            <a:r>
              <a:rPr lang="en-AU" sz="1200" kern="1200" dirty="0" smtClean="0">
                <a:solidFill>
                  <a:schemeClr val="tx1"/>
                </a:solidFill>
                <a:latin typeface="+mn-lt"/>
                <a:ea typeface="+mn-ea"/>
                <a:cs typeface="+mn-cs"/>
              </a:rPr>
              <a:t> The more practice you have, the better you will be in an actual situation</a:t>
            </a:r>
          </a:p>
          <a:p>
            <a:pPr lvl="1">
              <a:buFont typeface="Arial" pitchFamily="34" charset="0"/>
              <a:buChar char="•"/>
            </a:pPr>
            <a:r>
              <a:rPr lang="en-AU" sz="1200" kern="1200" dirty="0" smtClean="0">
                <a:solidFill>
                  <a:schemeClr val="tx1"/>
                </a:solidFill>
                <a:latin typeface="+mn-lt"/>
                <a:ea typeface="+mn-ea"/>
                <a:cs typeface="+mn-cs"/>
              </a:rPr>
              <a:t> Take the practice seriously – do not treat it is a joke or an inconvenience</a:t>
            </a:r>
          </a:p>
          <a:p>
            <a:pPr>
              <a:buFont typeface="Arial" pitchFamily="34" charset="0"/>
              <a:buChar char="•"/>
            </a:pPr>
            <a:r>
              <a:rPr lang="en-AU" sz="1200" kern="1200" dirty="0" smtClean="0">
                <a:solidFill>
                  <a:schemeClr val="tx1"/>
                </a:solidFill>
                <a:latin typeface="+mn-lt"/>
                <a:ea typeface="+mn-ea"/>
                <a:cs typeface="+mn-cs"/>
              </a:rPr>
              <a:t> Do not rush – certainly you have to move and act quickly but ‘rushing’ creates panic and simply does not allow you to be or stay calm</a:t>
            </a:r>
          </a:p>
          <a:p>
            <a:pPr lvl="1">
              <a:buFont typeface="Arial" pitchFamily="34" charset="0"/>
              <a:buChar char="•"/>
            </a:pPr>
            <a:r>
              <a:rPr lang="en-AU" sz="1200" kern="1200" dirty="0" smtClean="0">
                <a:solidFill>
                  <a:schemeClr val="tx1"/>
                </a:solidFill>
                <a:latin typeface="+mn-lt"/>
                <a:ea typeface="+mn-ea"/>
                <a:cs typeface="+mn-cs"/>
              </a:rPr>
              <a:t> Avoid running if possible</a:t>
            </a:r>
          </a:p>
          <a:p>
            <a:pPr lvl="1">
              <a:buFont typeface="Arial" pitchFamily="34" charset="0"/>
              <a:buChar char="•"/>
            </a:pPr>
            <a:r>
              <a:rPr lang="en-AU" sz="1200" kern="1200" dirty="0" smtClean="0">
                <a:solidFill>
                  <a:schemeClr val="tx1"/>
                </a:solidFill>
                <a:latin typeface="+mn-lt"/>
                <a:ea typeface="+mn-ea"/>
                <a:cs typeface="+mn-cs"/>
              </a:rPr>
              <a:t> Do not rush what you say to people</a:t>
            </a:r>
          </a:p>
          <a:p>
            <a:pPr lvl="1">
              <a:buFont typeface="Arial" pitchFamily="34" charset="0"/>
              <a:buChar char="•"/>
            </a:pPr>
            <a:r>
              <a:rPr lang="en-AU" sz="1200" kern="1200" dirty="0" smtClean="0">
                <a:solidFill>
                  <a:schemeClr val="tx1"/>
                </a:solidFill>
                <a:latin typeface="+mn-lt"/>
                <a:ea typeface="+mn-ea"/>
                <a:cs typeface="+mn-cs"/>
              </a:rPr>
              <a:t> Wait for responses from people as opposed to assuming they have heard and understood what you have said</a:t>
            </a:r>
          </a:p>
          <a:p>
            <a:pPr>
              <a:buFont typeface="Arial" pitchFamily="34" charset="0"/>
              <a:buChar char="•"/>
            </a:pPr>
            <a:r>
              <a:rPr lang="en-AU" sz="1200" kern="1200" dirty="0" smtClean="0">
                <a:solidFill>
                  <a:schemeClr val="tx1"/>
                </a:solidFill>
                <a:latin typeface="+mn-lt"/>
                <a:ea typeface="+mn-ea"/>
                <a:cs typeface="+mn-cs"/>
              </a:rPr>
              <a:t> Breathe deeply – this helps oxygen get to your brain.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 which will help students stay calm during</a:t>
            </a:r>
            <a:r>
              <a:rPr lang="en-AU" baseline="0" noProof="0" dirty="0" smtClean="0"/>
              <a:t> an emergency:</a:t>
            </a:r>
          </a:p>
          <a:p>
            <a:pPr>
              <a:buFont typeface="Arial" pitchFamily="34" charset="0"/>
              <a:buChar char="•"/>
            </a:pPr>
            <a:r>
              <a:rPr lang="en-AU" sz="1200" kern="1200" dirty="0" smtClean="0">
                <a:solidFill>
                  <a:schemeClr val="tx1"/>
                </a:solidFill>
                <a:latin typeface="+mn-lt"/>
                <a:ea typeface="+mn-ea"/>
                <a:cs typeface="+mn-cs"/>
              </a:rPr>
              <a:t> Work out what to do – you will be calmer if you have a plan of action.</a:t>
            </a:r>
          </a:p>
          <a:p>
            <a:pPr lvl="1">
              <a:buFont typeface="Arial" pitchFamily="34" charset="0"/>
              <a:buChar char="•"/>
            </a:pPr>
            <a:r>
              <a:rPr lang="en-AU" sz="1200" kern="1200" dirty="0" smtClean="0">
                <a:solidFill>
                  <a:schemeClr val="tx1"/>
                </a:solidFill>
                <a:latin typeface="+mn-lt"/>
                <a:ea typeface="+mn-ea"/>
                <a:cs typeface="+mn-cs"/>
              </a:rPr>
              <a:t> The EMP should be your action plan.</a:t>
            </a:r>
          </a:p>
          <a:p>
            <a:pPr>
              <a:buFont typeface="Arial" pitchFamily="34" charset="0"/>
              <a:buChar char="•"/>
            </a:pPr>
            <a:r>
              <a:rPr lang="en-AU" sz="1200" kern="1200" dirty="0" smtClean="0">
                <a:solidFill>
                  <a:schemeClr val="tx1"/>
                </a:solidFill>
                <a:latin typeface="+mn-lt"/>
                <a:ea typeface="+mn-ea"/>
                <a:cs typeface="+mn-cs"/>
              </a:rPr>
              <a:t> Deliberately put yourself in (safe) situations which raise your level of anxiety – and practice: </a:t>
            </a:r>
          </a:p>
          <a:p>
            <a:pPr lvl="1">
              <a:buFont typeface="Arial" pitchFamily="34" charset="0"/>
              <a:buChar char="•"/>
            </a:pPr>
            <a:r>
              <a:rPr lang="en-AU" sz="1200" kern="1200" dirty="0" smtClean="0">
                <a:solidFill>
                  <a:schemeClr val="tx1"/>
                </a:solidFill>
                <a:latin typeface="+mn-lt"/>
                <a:ea typeface="+mn-ea"/>
                <a:cs typeface="+mn-cs"/>
              </a:rPr>
              <a:t> Staying calm</a:t>
            </a:r>
          </a:p>
          <a:p>
            <a:pPr lvl="1">
              <a:buFont typeface="Arial" pitchFamily="34" charset="0"/>
              <a:buChar char="•"/>
            </a:pPr>
            <a:r>
              <a:rPr lang="en-AU" sz="1200" kern="1200" dirty="0" smtClean="0">
                <a:solidFill>
                  <a:schemeClr val="tx1"/>
                </a:solidFill>
                <a:latin typeface="+mn-lt"/>
                <a:ea typeface="+mn-ea"/>
                <a:cs typeface="+mn-cs"/>
              </a:rPr>
              <a:t> Coping</a:t>
            </a:r>
          </a:p>
          <a:p>
            <a:pPr lvl="1">
              <a:buFont typeface="Arial" pitchFamily="34" charset="0"/>
              <a:buChar char="•"/>
            </a:pPr>
            <a:r>
              <a:rPr lang="en-AU" sz="1200" kern="1200" dirty="0" smtClean="0">
                <a:solidFill>
                  <a:schemeClr val="tx1"/>
                </a:solidFill>
                <a:latin typeface="+mn-lt"/>
                <a:ea typeface="+mn-ea"/>
                <a:cs typeface="+mn-cs"/>
              </a:rPr>
              <a:t> Dealing with those unexpected situations.</a:t>
            </a:r>
          </a:p>
          <a:p>
            <a:pPr lvl="1">
              <a:buFont typeface="Arial" pitchFamily="34" charset="0"/>
              <a:buChar char="•"/>
            </a:pPr>
            <a:r>
              <a:rPr lang="en-AU" sz="1200" kern="1200" dirty="0" smtClean="0">
                <a:solidFill>
                  <a:schemeClr val="tx1"/>
                </a:solidFill>
                <a:latin typeface="+mn-lt"/>
                <a:ea typeface="+mn-ea"/>
                <a:cs typeface="+mn-cs"/>
              </a:rPr>
              <a:t> This learning will breed confidence in yourself and your abilities when a real emergency arises.</a:t>
            </a:r>
          </a:p>
          <a:p>
            <a:pPr>
              <a:buFont typeface="Arial" pitchFamily="34" charset="0"/>
              <a:buChar char="•"/>
            </a:pPr>
            <a:r>
              <a:rPr lang="en-AU" sz="1200" kern="1200" dirty="0" smtClean="0">
                <a:solidFill>
                  <a:schemeClr val="tx1"/>
                </a:solidFill>
                <a:latin typeface="+mn-lt"/>
                <a:ea typeface="+mn-ea"/>
                <a:cs typeface="+mn-cs"/>
              </a:rPr>
              <a:t> Undertake a ‘stress management’ course – many of the techniques used to management stress can be used to help you stay calm in an emergency.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states whenever </a:t>
            </a:r>
            <a:r>
              <a:rPr lang="en-AU" sz="1200" kern="1200" dirty="0" smtClean="0">
                <a:solidFill>
                  <a:schemeClr val="tx1"/>
                </a:solidFill>
                <a:latin typeface="+mn-lt"/>
                <a:ea typeface="+mn-ea"/>
                <a:cs typeface="+mn-cs"/>
              </a:rPr>
              <a:t>there is a need to evacuate the property there is a need to determine the evacuation route/s to be used highlighting:</a:t>
            </a:r>
          </a:p>
          <a:p>
            <a:pPr>
              <a:buFont typeface="Arial" pitchFamily="34" charset="0"/>
              <a:buChar char="•"/>
            </a:pPr>
            <a:r>
              <a:rPr lang="en-AU" sz="1200" b="0" kern="1200" dirty="0" smtClean="0">
                <a:solidFill>
                  <a:schemeClr val="tx1"/>
                </a:solidFill>
                <a:latin typeface="+mn-lt"/>
                <a:ea typeface="+mn-ea"/>
                <a:cs typeface="+mn-cs"/>
              </a:rPr>
              <a:t> Your EMPs will identify ‘primary’ and ‘secondary’ routes to be used where an evacuation needs to occur – see following slides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It is vital you have spent sufficient time studying the EMPs and your workplace to ensure you:</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Know the routes prescribed in the plans</a:t>
            </a:r>
          </a:p>
          <a:p>
            <a:pPr lvl="1">
              <a:buFont typeface="Arial" pitchFamily="34" charset="0"/>
              <a:buChar char="•"/>
            </a:pPr>
            <a:r>
              <a:rPr lang="en-AU" sz="1200" kern="1200" dirty="0" smtClean="0">
                <a:solidFill>
                  <a:schemeClr val="tx1"/>
                </a:solidFill>
                <a:latin typeface="+mn-lt"/>
                <a:ea typeface="+mn-ea"/>
                <a:cs typeface="+mn-cs"/>
              </a:rPr>
              <a:t> Have sufficient venue knowledge for the property where you work – so you know things such as:</a:t>
            </a:r>
          </a:p>
          <a:p>
            <a:pPr lvl="1">
              <a:buFont typeface="Arial" pitchFamily="34" charset="0"/>
              <a:buChar char="•"/>
            </a:pPr>
            <a:r>
              <a:rPr lang="en-AU" sz="1200" kern="1200" dirty="0" smtClean="0">
                <a:solidFill>
                  <a:schemeClr val="tx1"/>
                </a:solidFill>
                <a:latin typeface="+mn-lt"/>
                <a:ea typeface="+mn-ea"/>
                <a:cs typeface="+mn-cs"/>
              </a:rPr>
              <a:t> Where doors, gates, access and egress points are located</a:t>
            </a:r>
          </a:p>
          <a:p>
            <a:pPr lvl="1">
              <a:buFont typeface="Arial" pitchFamily="34" charset="0"/>
              <a:buChar char="•"/>
            </a:pPr>
            <a:r>
              <a:rPr lang="en-AU" sz="1200" kern="1200" dirty="0" smtClean="0">
                <a:solidFill>
                  <a:schemeClr val="tx1"/>
                </a:solidFill>
                <a:latin typeface="+mn-lt"/>
                <a:ea typeface="+mn-ea"/>
                <a:cs typeface="+mn-cs"/>
              </a:rPr>
              <a:t> Which points are locked and unlocked at different times of the day</a:t>
            </a:r>
          </a:p>
          <a:p>
            <a:pPr lvl="1">
              <a:buFont typeface="Arial" pitchFamily="34" charset="0"/>
              <a:buChar char="•"/>
            </a:pPr>
            <a:r>
              <a:rPr lang="en-AU" sz="1200" kern="1200" dirty="0" smtClean="0">
                <a:solidFill>
                  <a:schemeClr val="tx1"/>
                </a:solidFill>
                <a:latin typeface="+mn-lt"/>
                <a:ea typeface="+mn-ea"/>
                <a:cs typeface="+mn-cs"/>
              </a:rPr>
              <a:t> Where hallways/corridors lead to</a:t>
            </a:r>
          </a:p>
          <a:p>
            <a:pPr lvl="1">
              <a:buFont typeface="Arial" pitchFamily="34" charset="0"/>
              <a:buChar char="•"/>
            </a:pPr>
            <a:r>
              <a:rPr lang="en-AU" sz="1200" kern="1200" dirty="0" smtClean="0">
                <a:solidFill>
                  <a:schemeClr val="tx1"/>
                </a:solidFill>
                <a:latin typeface="+mn-lt"/>
                <a:ea typeface="+mn-ea"/>
                <a:cs typeface="+mn-cs"/>
              </a:rPr>
              <a:t> Where the primary and secondary evacuation points (the designated evacuation assemble areas) are located</a:t>
            </a:r>
          </a:p>
          <a:p>
            <a:pPr lvl="1">
              <a:buFont typeface="Arial" pitchFamily="34" charset="0"/>
              <a:buChar char="•"/>
            </a:pPr>
            <a:r>
              <a:rPr lang="en-AU" sz="1200" kern="1200" dirty="0" smtClean="0">
                <a:solidFill>
                  <a:schemeClr val="tx1"/>
                </a:solidFill>
                <a:latin typeface="+mn-lt"/>
                <a:ea typeface="+mn-ea"/>
                <a:cs typeface="+mn-cs"/>
              </a:rPr>
              <a:t> Where evacuation route posters are positioned throughout the building</a:t>
            </a:r>
          </a:p>
          <a:p>
            <a:pPr lvl="1">
              <a:buFont typeface="Arial" pitchFamily="34" charset="0"/>
              <a:buChar char="•"/>
            </a:pPr>
            <a:r>
              <a:rPr lang="en-AU" sz="1200" kern="1200" dirty="0" smtClean="0">
                <a:solidFill>
                  <a:schemeClr val="tx1"/>
                </a:solidFill>
                <a:latin typeface="+mn-lt"/>
                <a:ea typeface="+mn-ea"/>
                <a:cs typeface="+mn-cs"/>
              </a:rPr>
              <a:t> Where comms devices and other emergency items (torches/flashlights, first aid kits, emergency keys, are located).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‘primary’ evacuation route:</a:t>
            </a:r>
          </a:p>
          <a:p>
            <a:pPr>
              <a:buFont typeface="Arial" pitchFamily="34" charset="0"/>
              <a:buChar char="•"/>
            </a:pPr>
            <a:r>
              <a:rPr lang="en-AU" sz="1200" kern="1200" dirty="0" smtClean="0">
                <a:solidFill>
                  <a:schemeClr val="tx1"/>
                </a:solidFill>
                <a:latin typeface="+mn-lt"/>
                <a:ea typeface="+mn-ea"/>
                <a:cs typeface="+mn-cs"/>
              </a:rPr>
              <a:t> The primary evacuation route is the route which has been determined by management and the safety and welfare (or similar) committee as being the best, safest and most practicable route for moving people from Point A to Point B.</a:t>
            </a:r>
          </a:p>
          <a:p>
            <a:pPr>
              <a:buFont typeface="Arial" pitchFamily="34" charset="0"/>
              <a:buChar char="•"/>
            </a:pPr>
            <a:r>
              <a:rPr lang="en-AU" sz="1200" kern="1200" dirty="0" smtClean="0">
                <a:solidFill>
                  <a:schemeClr val="tx1"/>
                </a:solidFill>
                <a:latin typeface="+mn-lt"/>
                <a:ea typeface="+mn-ea"/>
                <a:cs typeface="+mn-cs"/>
              </a:rPr>
              <a:t> This route will be:</a:t>
            </a:r>
          </a:p>
          <a:p>
            <a:pPr lvl="1">
              <a:buFont typeface="Arial" pitchFamily="34" charset="0"/>
              <a:buChar char="•"/>
            </a:pPr>
            <a:r>
              <a:rPr lang="en-AU" sz="1200" kern="1200" dirty="0" smtClean="0">
                <a:solidFill>
                  <a:schemeClr val="tx1"/>
                </a:solidFill>
                <a:latin typeface="+mn-lt"/>
                <a:ea typeface="+mn-ea"/>
                <a:cs typeface="+mn-cs"/>
              </a:rPr>
              <a:t> Included in the relevant EMPs</a:t>
            </a:r>
          </a:p>
          <a:p>
            <a:pPr lvl="1">
              <a:buFont typeface="Arial" pitchFamily="34" charset="0"/>
              <a:buChar char="•"/>
            </a:pPr>
            <a:r>
              <a:rPr lang="en-AU" sz="1200" kern="1200" dirty="0" smtClean="0">
                <a:solidFill>
                  <a:schemeClr val="tx1"/>
                </a:solidFill>
                <a:latin typeface="+mn-lt"/>
                <a:ea typeface="+mn-ea"/>
                <a:cs typeface="+mn-cs"/>
              </a:rPr>
              <a:t> Shown on the door of guest rooms</a:t>
            </a:r>
          </a:p>
          <a:p>
            <a:pPr lvl="1">
              <a:buFont typeface="Arial" pitchFamily="34" charset="0"/>
              <a:buChar char="•"/>
            </a:pPr>
            <a:r>
              <a:rPr lang="en-AU" sz="1200" kern="1200" dirty="0" smtClean="0">
                <a:solidFill>
                  <a:schemeClr val="tx1"/>
                </a:solidFill>
                <a:latin typeface="+mn-lt"/>
                <a:ea typeface="+mn-ea"/>
                <a:cs typeface="+mn-cs"/>
              </a:rPr>
              <a:t> Highlighted as part of Evacuation posters located throughout the venue</a:t>
            </a:r>
          </a:p>
          <a:p>
            <a:pPr lvl="1">
              <a:buFont typeface="Arial" pitchFamily="34" charset="0"/>
              <a:buChar char="•"/>
            </a:pPr>
            <a:r>
              <a:rPr lang="en-AU" sz="1200" kern="1200" dirty="0" smtClean="0">
                <a:solidFill>
                  <a:schemeClr val="tx1"/>
                </a:solidFill>
                <a:latin typeface="+mn-lt"/>
                <a:ea typeface="+mn-ea"/>
                <a:cs typeface="+mn-cs"/>
              </a:rPr>
              <a:t> The focus of evacuation drills undertaken at the venue.</a:t>
            </a:r>
          </a:p>
          <a:p>
            <a:pPr>
              <a:buFont typeface="Arial" pitchFamily="34" charset="0"/>
              <a:buNone/>
            </a:pPr>
            <a:endParaRPr lang="en-AU" noProof="0" dirty="0" smtClean="0"/>
          </a:p>
          <a:p>
            <a:pPr>
              <a:buFont typeface="Arial" pitchFamily="34" charset="0"/>
              <a:buNone/>
            </a:pPr>
            <a:r>
              <a:rPr lang="en-AU" b="1" noProof="0" dirty="0" smtClean="0"/>
              <a:t>Class Activity – Handout</a:t>
            </a:r>
          </a:p>
          <a:p>
            <a:pPr>
              <a:buFont typeface="Arial" pitchFamily="34" charset="0"/>
              <a:buNone/>
            </a:pPr>
            <a:r>
              <a:rPr lang="en-AU" b="0" noProof="0" dirty="0" smtClean="0"/>
              <a:t>Trainer distributes and discusses sample plans, posters and other guest room materials which highlight evacuation routes.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‘secondary’ evacuation routes:</a:t>
            </a:r>
          </a:p>
          <a:p>
            <a:pPr>
              <a:buFont typeface="Arial" pitchFamily="34" charset="0"/>
              <a:buChar char="•"/>
            </a:pPr>
            <a:r>
              <a:rPr lang="en-AU" sz="1200" kern="1200" dirty="0" smtClean="0">
                <a:solidFill>
                  <a:schemeClr val="tx1"/>
                </a:solidFill>
                <a:latin typeface="+mn-lt"/>
                <a:ea typeface="+mn-ea"/>
                <a:cs typeface="+mn-cs"/>
              </a:rPr>
              <a:t> Wherever possible you should use the primary evacuation route if an evacuation is necessary – sometimes  Sometimes, however, especially during an emergency situation it will be impossible to use the primary evacuation route</a:t>
            </a:r>
          </a:p>
          <a:p>
            <a:pPr>
              <a:buFont typeface="Arial" pitchFamily="34" charset="0"/>
              <a:buChar char="•"/>
            </a:pPr>
            <a:r>
              <a:rPr lang="en-AU" sz="1200" kern="1200" dirty="0" smtClean="0">
                <a:solidFill>
                  <a:schemeClr val="tx1"/>
                </a:solidFill>
                <a:latin typeface="+mn-lt"/>
                <a:ea typeface="+mn-ea"/>
                <a:cs typeface="+mn-cs"/>
              </a:rPr>
              <a:t> Perhaps it is blocked by fire or some structural problem with the building means it is unsafe</a:t>
            </a:r>
          </a:p>
          <a:p>
            <a:pPr>
              <a:buFont typeface="Arial" pitchFamily="34" charset="0"/>
              <a:buChar char="•"/>
            </a:pPr>
            <a:r>
              <a:rPr lang="en-AU" sz="1200" kern="1200" dirty="0" smtClean="0">
                <a:solidFill>
                  <a:schemeClr val="tx1"/>
                </a:solidFill>
                <a:latin typeface="+mn-lt"/>
                <a:ea typeface="+mn-ea"/>
                <a:cs typeface="+mn-cs"/>
              </a:rPr>
              <a:t> In these cases you will need to turn to a secondary evacuation route</a:t>
            </a:r>
          </a:p>
          <a:p>
            <a:pPr>
              <a:buFont typeface="Arial" pitchFamily="34" charset="0"/>
              <a:buChar char="•"/>
            </a:pPr>
            <a:r>
              <a:rPr lang="en-AU" sz="1200" kern="1200" dirty="0" smtClean="0">
                <a:solidFill>
                  <a:schemeClr val="tx1"/>
                </a:solidFill>
                <a:latin typeface="+mn-lt"/>
                <a:ea typeface="+mn-ea"/>
                <a:cs typeface="+mn-cs"/>
              </a:rPr>
              <a:t> The secondary evacuation route is your Plan B for evacuating the property</a:t>
            </a:r>
          </a:p>
          <a:p>
            <a:pPr>
              <a:buFont typeface="Arial" pitchFamily="34" charset="0"/>
              <a:buChar char="•"/>
            </a:pPr>
            <a:r>
              <a:rPr lang="en-AU" sz="1200" kern="1200" dirty="0" smtClean="0">
                <a:solidFill>
                  <a:schemeClr val="tx1"/>
                </a:solidFill>
                <a:latin typeface="+mn-lt"/>
                <a:ea typeface="+mn-ea"/>
                <a:cs typeface="+mn-cs"/>
              </a:rPr>
              <a:t> There may be just one secondary evacuation route or there may be several</a:t>
            </a:r>
          </a:p>
          <a:p>
            <a:pPr>
              <a:buFont typeface="Arial" pitchFamily="34" charset="0"/>
              <a:buChar char="•"/>
            </a:pPr>
            <a:r>
              <a:rPr lang="en-AU" sz="1200" kern="1200" dirty="0" smtClean="0">
                <a:solidFill>
                  <a:schemeClr val="tx1"/>
                </a:solidFill>
                <a:latin typeface="+mn-lt"/>
                <a:ea typeface="+mn-ea"/>
                <a:cs typeface="+mn-cs"/>
              </a:rPr>
              <a:t> Your training and practice (as well as the personal study you will need to undertake) will make you familiar with these alternate routes.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‘evacuation assembly points’:</a:t>
            </a:r>
          </a:p>
          <a:p>
            <a:pPr>
              <a:buFont typeface="Arial" pitchFamily="34" charset="0"/>
              <a:buChar char="•"/>
            </a:pPr>
            <a:r>
              <a:rPr lang="en-AU" sz="1200" b="0" kern="1200" dirty="0" smtClean="0">
                <a:solidFill>
                  <a:schemeClr val="tx1"/>
                </a:solidFill>
                <a:latin typeface="+mn-lt"/>
                <a:ea typeface="+mn-ea"/>
                <a:cs typeface="+mn-cs"/>
              </a:rPr>
              <a:t> Your EMPs will also identify ‘primary’ and ‘secondary’ evacuation assembly points (EAPs)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These are safe locations to which you are expected to move people when evacuating them</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Primary EAPs exist at the end of the primary evacuation route</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Secondary EAPs exist at the end of the secondary evacuation route/s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 secondary EAP for one evacuation route may be the primary EAP for another/alternate evacuation route</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These locations may have been identified by management, relevant committees and emergency services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Signage should exist in the venue identifying:</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How to get to the evacuation assembly points/areas</a:t>
            </a:r>
          </a:p>
          <a:p>
            <a:pPr lvl="1">
              <a:buFont typeface="Arial" pitchFamily="34" charset="0"/>
              <a:buChar char="•"/>
            </a:pPr>
            <a:r>
              <a:rPr lang="en-AU" sz="1200" kern="1200" dirty="0" smtClean="0">
                <a:solidFill>
                  <a:schemeClr val="tx1"/>
                </a:solidFill>
                <a:latin typeface="+mn-lt"/>
                <a:ea typeface="+mn-ea"/>
                <a:cs typeface="+mn-cs"/>
              </a:rPr>
              <a:t> Location of each evacuation points.</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 Activity – Group Exercise</a:t>
            </a:r>
          </a:p>
          <a:p>
            <a:pPr>
              <a:buFont typeface="Arial" pitchFamily="34" charset="0"/>
              <a:buNone/>
            </a:pPr>
            <a:r>
              <a:rPr lang="en-AU" b="0" noProof="0" dirty="0" smtClean="0"/>
              <a:t>Trainer divides class in to two groups and asks them to develop  primary and secondary evacuation routes and EAPs from a nominated location in the training facility.</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when </a:t>
            </a:r>
            <a:r>
              <a:rPr lang="en-AU" sz="1200" b="0" kern="1200" dirty="0" smtClean="0">
                <a:solidFill>
                  <a:schemeClr val="tx1"/>
                </a:solidFill>
                <a:latin typeface="+mn-lt"/>
                <a:ea typeface="+mn-ea"/>
                <a:cs typeface="+mn-cs"/>
              </a:rPr>
              <a:t>determining the route to use for evacuation the points listed below must form the basis of decision making:</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 primary evacuation route should be your first choice unless you believe that route is unsafe or cannot be used</a:t>
            </a:r>
          </a:p>
          <a:p>
            <a:pPr>
              <a:buFont typeface="Arial" pitchFamily="34" charset="0"/>
              <a:buChar char="•"/>
            </a:pPr>
            <a:r>
              <a:rPr lang="en-AU" sz="1200" kern="1200" dirty="0" smtClean="0">
                <a:solidFill>
                  <a:schemeClr val="tx1"/>
                </a:solidFill>
                <a:latin typeface="+mn-lt"/>
                <a:ea typeface="+mn-ea"/>
                <a:cs typeface="+mn-cs"/>
              </a:rPr>
              <a:t> Secondary evacuation routes must be considered as the next option if the primary route is unavailable to you</a:t>
            </a:r>
          </a:p>
          <a:p>
            <a:pPr>
              <a:buFont typeface="Arial" pitchFamily="34" charset="0"/>
              <a:buChar char="•"/>
            </a:pPr>
            <a:r>
              <a:rPr lang="en-AU" sz="1200" kern="1200" dirty="0" smtClean="0">
                <a:solidFill>
                  <a:schemeClr val="tx1"/>
                </a:solidFill>
                <a:latin typeface="+mn-lt"/>
                <a:ea typeface="+mn-ea"/>
                <a:cs typeface="+mn-cs"/>
              </a:rPr>
              <a:t> Your personal knowledge of the premises and the layout of passages, doors and other relevant points must be a major factor in deciding the route to use</a:t>
            </a:r>
          </a:p>
          <a:p>
            <a:pPr>
              <a:buFont typeface="Arial" pitchFamily="34" charset="0"/>
              <a:buChar char="•"/>
            </a:pPr>
            <a:r>
              <a:rPr lang="en-AU" sz="1200" kern="1200" dirty="0" smtClean="0">
                <a:solidFill>
                  <a:schemeClr val="tx1"/>
                </a:solidFill>
                <a:latin typeface="+mn-lt"/>
                <a:ea typeface="+mn-ea"/>
                <a:cs typeface="+mn-cs"/>
              </a:rPr>
              <a:t> Integration of venue knowledge with requirements of the EMP may provide you with a viable option.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points to consider when deciding which evacuation route to use:</a:t>
            </a:r>
          </a:p>
          <a:p>
            <a:pPr>
              <a:buFont typeface="Arial" pitchFamily="34" charset="0"/>
              <a:buChar char="•"/>
            </a:pPr>
            <a:r>
              <a:rPr lang="en-AU" sz="1200" kern="1200" dirty="0" smtClean="0">
                <a:solidFill>
                  <a:schemeClr val="tx1"/>
                </a:solidFill>
                <a:latin typeface="+mn-lt"/>
                <a:ea typeface="+mn-ea"/>
                <a:cs typeface="+mn-cs"/>
              </a:rPr>
              <a:t> Take a moment to consider the nature of the emergency and try to determine where the problem may spread to making sure you avoid the spread of the danger in the route you choose</a:t>
            </a:r>
          </a:p>
          <a:p>
            <a:pPr>
              <a:buFont typeface="Arial" pitchFamily="34" charset="0"/>
              <a:buChar char="•"/>
            </a:pPr>
            <a:r>
              <a:rPr lang="en-AU" sz="1200" kern="1200" dirty="0" smtClean="0">
                <a:solidFill>
                  <a:schemeClr val="tx1"/>
                </a:solidFill>
                <a:latin typeface="+mn-lt"/>
                <a:ea typeface="+mn-ea"/>
                <a:cs typeface="+mn-cs"/>
              </a:rPr>
              <a:t> Select a passage that will keep your options open to the greatest extent – a route which gives multiple exit points is mush more preferable than one with limited (or ‘zero’) options for escape</a:t>
            </a:r>
          </a:p>
          <a:p>
            <a:pPr>
              <a:buFont typeface="Arial" pitchFamily="34" charset="0"/>
              <a:buChar char="•"/>
            </a:pPr>
            <a:r>
              <a:rPr lang="en-AU" sz="1200" kern="1200" dirty="0" smtClean="0">
                <a:solidFill>
                  <a:schemeClr val="tx1"/>
                </a:solidFill>
                <a:latin typeface="+mn-lt"/>
                <a:ea typeface="+mn-ea"/>
                <a:cs typeface="+mn-cs"/>
              </a:rPr>
              <a:t> Accepting windows can be a viable exit strategy in some situations</a:t>
            </a:r>
          </a:p>
          <a:p>
            <a:pPr>
              <a:buFont typeface="Arial" pitchFamily="34" charset="0"/>
              <a:buChar char="•"/>
            </a:pPr>
            <a:r>
              <a:rPr lang="en-AU" sz="1200" kern="1200" dirty="0" smtClean="0">
                <a:solidFill>
                  <a:schemeClr val="tx1"/>
                </a:solidFill>
                <a:latin typeface="+mn-lt"/>
                <a:ea typeface="+mn-ea"/>
                <a:cs typeface="+mn-cs"/>
              </a:rPr>
              <a:t> Practice dealing with emergency evacuations where primary and secondary routes are blocked – build experience in working out effective alternate routes </a:t>
            </a:r>
          </a:p>
          <a:p>
            <a:pPr>
              <a:buFont typeface="Arial" pitchFamily="34" charset="0"/>
              <a:buChar char="•"/>
            </a:pPr>
            <a:r>
              <a:rPr lang="en-AU" sz="1200" kern="1200" dirty="0" smtClean="0">
                <a:solidFill>
                  <a:schemeClr val="tx1"/>
                </a:solidFill>
                <a:latin typeface="+mn-lt"/>
                <a:ea typeface="+mn-ea"/>
                <a:cs typeface="+mn-cs"/>
              </a:rPr>
              <a:t> Understanding during an emergency the back-of-house areas normally ‘off limits’ to guests and customers are freely available for use as an evacuation route.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exits</a:t>
            </a:r>
            <a:r>
              <a:rPr lang="en-AU" sz="1200" b="0" kern="1200" dirty="0" smtClean="0">
                <a:solidFill>
                  <a:schemeClr val="tx1"/>
                </a:solidFill>
                <a:latin typeface="+mn-lt"/>
                <a:ea typeface="+mn-ea"/>
                <a:cs typeface="+mn-cs"/>
              </a:rPr>
              <a:t>, evacuation routes and stairways may become blocked or unusable during an evacuation/emergency and where this is the case responses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Remove obstructions where safe to do so – ask others (including guests/customers) for help where necessary</a:t>
            </a:r>
          </a:p>
          <a:p>
            <a:pPr>
              <a:buFont typeface="Arial" pitchFamily="34" charset="0"/>
              <a:buChar char="•"/>
            </a:pPr>
            <a:r>
              <a:rPr lang="en-AU" sz="1200" kern="1200" dirty="0" smtClean="0">
                <a:solidFill>
                  <a:schemeClr val="tx1"/>
                </a:solidFill>
                <a:latin typeface="+mn-lt"/>
                <a:ea typeface="+mn-ea"/>
                <a:cs typeface="+mn-cs"/>
              </a:rPr>
              <a:t> Use previously designated secondary routes</a:t>
            </a:r>
          </a:p>
          <a:p>
            <a:pPr>
              <a:buFont typeface="Arial" pitchFamily="34" charset="0"/>
              <a:buChar char="•"/>
            </a:pPr>
            <a:r>
              <a:rPr lang="en-AU" sz="1200" kern="1200" dirty="0" smtClean="0">
                <a:solidFill>
                  <a:schemeClr val="tx1"/>
                </a:solidFill>
                <a:latin typeface="+mn-lt"/>
                <a:ea typeface="+mn-ea"/>
                <a:cs typeface="+mn-cs"/>
              </a:rPr>
              <a:t> Advise chain of command about the blockage – and action (successful or not) to remove the blockage</a:t>
            </a:r>
          </a:p>
          <a:p>
            <a:pPr>
              <a:buFont typeface="Arial" pitchFamily="34" charset="0"/>
              <a:buChar char="•"/>
            </a:pPr>
            <a:r>
              <a:rPr lang="en-AU" sz="1200" kern="1200" dirty="0" smtClean="0">
                <a:solidFill>
                  <a:schemeClr val="tx1"/>
                </a:solidFill>
                <a:latin typeface="+mn-lt"/>
                <a:ea typeface="+mn-ea"/>
                <a:cs typeface="+mn-cs"/>
              </a:rPr>
              <a:t> Ask chain of command for an alternate route</a:t>
            </a:r>
          </a:p>
          <a:p>
            <a:pPr>
              <a:buFont typeface="Arial" pitchFamily="34" charset="0"/>
              <a:buChar char="•"/>
            </a:pPr>
            <a:r>
              <a:rPr lang="en-AU" sz="1200" kern="1200" dirty="0" smtClean="0">
                <a:solidFill>
                  <a:schemeClr val="tx1"/>
                </a:solidFill>
                <a:latin typeface="+mn-lt"/>
                <a:ea typeface="+mn-ea"/>
                <a:cs typeface="+mn-cs"/>
              </a:rPr>
              <a:t> Use personal knowledge to determine alternative route – advise CCC of your intentions.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b="0" kern="1200" dirty="0" smtClean="0">
                <a:solidFill>
                  <a:schemeClr val="tx1"/>
                </a:solidFill>
                <a:latin typeface="+mn-lt"/>
                <a:ea typeface="+mn-ea"/>
                <a:cs typeface="+mn-cs"/>
              </a:rPr>
              <a:t>the nature of the emergency or the direction of the wind may render primary evacuation assembly points unsafe explaining actions in these circumstances may</a:t>
            </a:r>
            <a:r>
              <a:rPr lang="en-AU" sz="1200" b="0" kern="1200" baseline="0" dirty="0" smtClean="0">
                <a:solidFill>
                  <a:schemeClr val="tx1"/>
                </a:solidFill>
                <a:latin typeface="+mn-lt"/>
                <a:ea typeface="+mn-ea"/>
                <a:cs typeface="+mn-cs"/>
              </a:rPr>
              <a:t> include</a:t>
            </a:r>
            <a:r>
              <a:rPr lang="en-AU" sz="1200" b="0" kern="1200" dirty="0" smtClean="0">
                <a:solidFill>
                  <a:schemeClr val="tx1"/>
                </a:solidFill>
                <a:latin typeface="+mn-lt"/>
                <a:ea typeface="+mn-ea"/>
                <a:cs typeface="+mn-cs"/>
              </a:rPr>
              <a:t>:</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Use the secondary evacuation assembly points</a:t>
            </a:r>
          </a:p>
          <a:p>
            <a:pPr>
              <a:buFont typeface="Arial" pitchFamily="34" charset="0"/>
              <a:buChar char="•"/>
            </a:pPr>
            <a:r>
              <a:rPr lang="en-AU" sz="1200" kern="1200" dirty="0" smtClean="0">
                <a:solidFill>
                  <a:schemeClr val="tx1"/>
                </a:solidFill>
                <a:latin typeface="+mn-lt"/>
                <a:ea typeface="+mn-ea"/>
                <a:cs typeface="+mn-cs"/>
              </a:rPr>
              <a:t> Escort evacuees to the secondary points</a:t>
            </a:r>
          </a:p>
          <a:p>
            <a:pPr>
              <a:buFont typeface="Arial" pitchFamily="34" charset="0"/>
              <a:buChar char="•"/>
            </a:pPr>
            <a:r>
              <a:rPr lang="en-AU" sz="1200" kern="1200" dirty="0" smtClean="0">
                <a:solidFill>
                  <a:schemeClr val="tx1"/>
                </a:solidFill>
                <a:latin typeface="+mn-lt"/>
                <a:ea typeface="+mn-ea"/>
                <a:cs typeface="+mn-cs"/>
              </a:rPr>
              <a:t> Notify chain of command regarding unsafe evacuation point – including:</a:t>
            </a:r>
          </a:p>
          <a:p>
            <a:pPr lvl="1">
              <a:buFont typeface="Arial" pitchFamily="34" charset="0"/>
              <a:buChar char="•"/>
            </a:pPr>
            <a:r>
              <a:rPr lang="en-AU" sz="1200" kern="1200" dirty="0" smtClean="0">
                <a:solidFill>
                  <a:schemeClr val="tx1"/>
                </a:solidFill>
                <a:latin typeface="+mn-lt"/>
                <a:ea typeface="+mn-ea"/>
                <a:cs typeface="+mn-cs"/>
              </a:rPr>
              <a:t> Reasons for assembly point being unsafe</a:t>
            </a:r>
          </a:p>
          <a:p>
            <a:pPr lvl="1">
              <a:buFont typeface="Arial" pitchFamily="34" charset="0"/>
              <a:buChar char="•"/>
            </a:pPr>
            <a:r>
              <a:rPr lang="en-AU" sz="1200" kern="1200" dirty="0" smtClean="0">
                <a:solidFill>
                  <a:schemeClr val="tx1"/>
                </a:solidFill>
                <a:latin typeface="+mn-lt"/>
                <a:ea typeface="+mn-ea"/>
                <a:cs typeface="+mn-cs"/>
              </a:rPr>
              <a:t> Secondary evacuation point to be used</a:t>
            </a:r>
          </a:p>
          <a:p>
            <a:pPr>
              <a:buFont typeface="Arial" pitchFamily="34" charset="0"/>
              <a:buChar char="•"/>
            </a:pPr>
            <a:r>
              <a:rPr lang="en-AU" sz="1200" kern="1200" dirty="0" smtClean="0">
                <a:solidFill>
                  <a:schemeClr val="tx1"/>
                </a:solidFill>
                <a:latin typeface="+mn-lt"/>
                <a:ea typeface="+mn-ea"/>
                <a:cs typeface="+mn-cs"/>
              </a:rPr>
              <a:t> Reassure evacuees they are safe.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tells students </a:t>
            </a:r>
            <a:r>
              <a:rPr lang="en-AU" sz="1200" kern="1200" dirty="0" smtClean="0">
                <a:solidFill>
                  <a:schemeClr val="tx1"/>
                </a:solidFill>
                <a:latin typeface="+mn-lt"/>
                <a:ea typeface="+mn-ea"/>
                <a:cs typeface="+mn-cs"/>
              </a:rPr>
              <a:t>every evacuation should include a check for persons left in the premises highlighting the plans developed for emergencies and evacuations should: </a:t>
            </a:r>
          </a:p>
          <a:p>
            <a:pPr>
              <a:buFont typeface="Arial" pitchFamily="34" charset="0"/>
              <a:buChar char="•"/>
            </a:pPr>
            <a:r>
              <a:rPr lang="en-AU" sz="1200" kern="1200" dirty="0" smtClean="0">
                <a:solidFill>
                  <a:schemeClr val="tx1"/>
                </a:solidFill>
                <a:latin typeface="+mn-lt"/>
                <a:ea typeface="+mn-ea"/>
                <a:cs typeface="+mn-cs"/>
              </a:rPr>
              <a:t> Allocate responsibilities for verifying ‘areas clear’ – this means individual staff will be given specific duties to check areas to make sure no-one remains in those areas</a:t>
            </a:r>
          </a:p>
          <a:p>
            <a:pPr lvl="1">
              <a:buFont typeface="Arial" pitchFamily="34" charset="0"/>
              <a:buChar char="•"/>
            </a:pPr>
            <a:r>
              <a:rPr lang="en-AU" sz="1200" kern="1200" dirty="0" smtClean="0">
                <a:solidFill>
                  <a:schemeClr val="tx1"/>
                </a:solidFill>
                <a:latin typeface="+mn-lt"/>
                <a:ea typeface="+mn-ea"/>
                <a:cs typeface="+mn-cs"/>
              </a:rPr>
              <a:t> When they have checked and verified these areas they will report this fact back to the CCC who will, in turn, pass this on to emergency services</a:t>
            </a:r>
          </a:p>
          <a:p>
            <a:pPr>
              <a:buFont typeface="Arial" pitchFamily="34" charset="0"/>
              <a:buChar char="•"/>
            </a:pPr>
            <a:r>
              <a:rPr lang="en-AU" sz="1200" kern="1200" dirty="0" smtClean="0">
                <a:solidFill>
                  <a:schemeClr val="tx1"/>
                </a:solidFill>
                <a:latin typeface="+mn-lt"/>
                <a:ea typeface="+mn-ea"/>
                <a:cs typeface="+mn-cs"/>
              </a:rPr>
              <a:t> Allocate specific locations for named staff to check – so the entire property (or all the area involved in the evacuation) has been checked and verified as ‘all clear’</a:t>
            </a:r>
          </a:p>
          <a:p>
            <a:pPr>
              <a:buFont typeface="Arial" pitchFamily="34" charset="0"/>
              <a:buChar char="•"/>
            </a:pPr>
            <a:r>
              <a:rPr lang="en-AU" sz="1200" kern="1200" dirty="0" smtClean="0">
                <a:solidFill>
                  <a:schemeClr val="tx1"/>
                </a:solidFill>
                <a:latin typeface="+mn-lt"/>
                <a:ea typeface="+mn-ea"/>
                <a:cs typeface="+mn-cs"/>
              </a:rPr>
              <a:t> Determine the sequence in which the allocated areas should be checked</a:t>
            </a:r>
          </a:p>
          <a:p>
            <a:pPr>
              <a:buFont typeface="Arial" pitchFamily="34" charset="0"/>
              <a:buChar char="•"/>
            </a:pPr>
            <a:r>
              <a:rPr lang="en-AU" sz="1200" kern="1200" dirty="0" smtClean="0">
                <a:solidFill>
                  <a:schemeClr val="tx1"/>
                </a:solidFill>
                <a:latin typeface="+mn-lt"/>
                <a:ea typeface="+mn-ea"/>
                <a:cs typeface="+mn-cs"/>
              </a:rPr>
              <a:t> Identify reporting requirements – so personnel communicate to the CCC that areas have been checked and are clear.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latin typeface="+mn-lt"/>
                <a:ea typeface="+mn-ea"/>
                <a:cs typeface="+mn-cs"/>
              </a:rPr>
              <a:t>states training of staff for checking for persons left in the premises as part of an evacuation should address: </a:t>
            </a:r>
          </a:p>
          <a:p>
            <a:pPr>
              <a:buFont typeface="Arial" pitchFamily="34" charset="0"/>
              <a:buChar char="•"/>
            </a:pPr>
            <a:r>
              <a:rPr lang="en-AU" sz="1200" kern="1200" dirty="0" smtClean="0">
                <a:solidFill>
                  <a:schemeClr val="tx1"/>
                </a:solidFill>
                <a:latin typeface="+mn-lt"/>
                <a:ea typeface="+mn-ea"/>
                <a:cs typeface="+mn-cs"/>
              </a:rPr>
              <a:t> Formal evacuation drills – which have a specific focus</a:t>
            </a:r>
          </a:p>
          <a:p>
            <a:pPr lvl="1">
              <a:buFont typeface="Arial" pitchFamily="34" charset="0"/>
              <a:buChar char="•"/>
            </a:pPr>
            <a:r>
              <a:rPr lang="en-AU" sz="1200" kern="1200" dirty="0" smtClean="0">
                <a:solidFill>
                  <a:schemeClr val="tx1"/>
                </a:solidFill>
                <a:latin typeface="+mn-lt"/>
                <a:ea typeface="+mn-ea"/>
                <a:cs typeface="+mn-cs"/>
              </a:rPr>
              <a:t> The focus for each drill should vary so staff are exposed to a variety of ‘realistic’ situations</a:t>
            </a:r>
          </a:p>
          <a:p>
            <a:pPr lvl="1">
              <a:buFont typeface="Arial" pitchFamily="34" charset="0"/>
              <a:buChar char="•"/>
            </a:pPr>
            <a:r>
              <a:rPr lang="en-AU" sz="1200" kern="1200" dirty="0" smtClean="0">
                <a:solidFill>
                  <a:schemeClr val="tx1"/>
                </a:solidFill>
                <a:latin typeface="+mn-lt"/>
                <a:ea typeface="+mn-ea"/>
                <a:cs typeface="+mn-cs"/>
              </a:rPr>
              <a:t> Drills should be proper and detailed dress rehearsals’ rather than ‘activities’ simply designed to ‘tick the box’ for complying with legally imposed requirements to hold drills</a:t>
            </a:r>
          </a:p>
          <a:p>
            <a:pPr>
              <a:buFont typeface="Arial" pitchFamily="34" charset="0"/>
              <a:buChar char="•"/>
            </a:pPr>
            <a:r>
              <a:rPr lang="en-AU" sz="1200" kern="1200" dirty="0" smtClean="0">
                <a:solidFill>
                  <a:schemeClr val="tx1"/>
                </a:solidFill>
                <a:latin typeface="+mn-lt"/>
                <a:ea typeface="+mn-ea"/>
                <a:cs typeface="+mn-cs"/>
              </a:rPr>
              <a:t> Drills at different times of the day – with an emphasis on drills at night because most fires occur at night in accommodation venues </a:t>
            </a:r>
          </a:p>
          <a:p>
            <a:pPr>
              <a:buFont typeface="Arial" pitchFamily="34" charset="0"/>
              <a:buChar char="•"/>
            </a:pPr>
            <a:r>
              <a:rPr lang="en-AU" sz="1200" kern="1200" dirty="0" smtClean="0">
                <a:solidFill>
                  <a:schemeClr val="tx1"/>
                </a:solidFill>
                <a:latin typeface="+mn-lt"/>
                <a:ea typeface="+mn-ea"/>
                <a:cs typeface="+mn-cs"/>
              </a:rPr>
              <a:t> Drills on different days of the week – because the pattern and level of trade can vary significantly on different times</a:t>
            </a:r>
          </a:p>
          <a:p>
            <a:pPr>
              <a:buFont typeface="Arial" pitchFamily="34" charset="0"/>
              <a:buChar char="•"/>
            </a:pPr>
            <a:r>
              <a:rPr lang="en-AU" sz="1200" kern="1200" dirty="0" smtClean="0">
                <a:solidFill>
                  <a:schemeClr val="tx1"/>
                </a:solidFill>
                <a:latin typeface="+mn-lt"/>
                <a:ea typeface="+mn-ea"/>
                <a:cs typeface="+mn-cs"/>
              </a:rPr>
              <a:t> Drills during high season and low season – the requirements for handling an evacuation are remarkably different when the property is at 95% occupancy than when it is at 20% occupancy</a:t>
            </a:r>
          </a:p>
          <a:p>
            <a:pPr>
              <a:buFont typeface="Arial" pitchFamily="34" charset="0"/>
              <a:buChar char="•"/>
            </a:pPr>
            <a:r>
              <a:rPr lang="en-AU" sz="1200" kern="1200" dirty="0" smtClean="0">
                <a:solidFill>
                  <a:schemeClr val="tx1"/>
                </a:solidFill>
                <a:latin typeface="+mn-lt"/>
                <a:ea typeface="+mn-ea"/>
                <a:cs typeface="+mn-cs"/>
              </a:rPr>
              <a:t> Integration of realistic ‘problems’ into the drills – for example the evacuation drill should/could include some factor introducing an element of unpredictability or surprise into it. For example the drill may involve: </a:t>
            </a:r>
          </a:p>
          <a:p>
            <a:pPr lvl="1">
              <a:buFont typeface="Arial" pitchFamily="34" charset="0"/>
              <a:buChar char="•"/>
            </a:pPr>
            <a:r>
              <a:rPr lang="en-AU" sz="1200" kern="1200" dirty="0" smtClean="0">
                <a:solidFill>
                  <a:schemeClr val="tx1"/>
                </a:solidFill>
                <a:latin typeface="+mn-lt"/>
                <a:ea typeface="+mn-ea"/>
                <a:cs typeface="+mn-cs"/>
              </a:rPr>
              <a:t> Locked doors to which keys cannot be found</a:t>
            </a:r>
          </a:p>
          <a:p>
            <a:pPr lvl="1">
              <a:buFont typeface="Arial" pitchFamily="34" charset="0"/>
              <a:buChar char="•"/>
            </a:pPr>
            <a:r>
              <a:rPr lang="en-AU" sz="1200" kern="1200" dirty="0" smtClean="0">
                <a:solidFill>
                  <a:schemeClr val="tx1"/>
                </a:solidFill>
                <a:latin typeface="+mn-lt"/>
                <a:ea typeface="+mn-ea"/>
                <a:cs typeface="+mn-cs"/>
              </a:rPr>
              <a:t> People trapped in rooms</a:t>
            </a:r>
          </a:p>
          <a:p>
            <a:pPr lvl="1">
              <a:buFont typeface="Arial" pitchFamily="34" charset="0"/>
              <a:buChar char="•"/>
            </a:pPr>
            <a:r>
              <a:rPr lang="en-AU" sz="1200" kern="1200" dirty="0" smtClean="0">
                <a:solidFill>
                  <a:schemeClr val="tx1"/>
                </a:solidFill>
                <a:latin typeface="+mn-lt"/>
                <a:ea typeface="+mn-ea"/>
                <a:cs typeface="+mn-cs"/>
              </a:rPr>
              <a:t> Blocked primary and/or secondary evacuation routes.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presents points to note when </a:t>
            </a:r>
            <a:r>
              <a:rPr lang="en-AU" sz="1200" kern="1200" dirty="0" smtClean="0">
                <a:solidFill>
                  <a:schemeClr val="tx1"/>
                </a:solidFill>
                <a:latin typeface="+mn-lt"/>
                <a:ea typeface="+mn-ea"/>
                <a:cs typeface="+mn-cs"/>
              </a:rPr>
              <a:t>checking for persons left in the premises:</a:t>
            </a:r>
          </a:p>
          <a:p>
            <a:pPr>
              <a:buFont typeface="Arial" pitchFamily="34" charset="0"/>
              <a:buChar char="•"/>
            </a:pPr>
            <a:r>
              <a:rPr lang="en-AU" sz="1200" kern="1200" dirty="0" smtClean="0">
                <a:solidFill>
                  <a:schemeClr val="tx1"/>
                </a:solidFill>
                <a:latin typeface="+mn-lt"/>
                <a:ea typeface="+mn-ea"/>
                <a:cs typeface="+mn-cs"/>
              </a:rPr>
              <a:t> Make sure you have comms before starting your search.</a:t>
            </a:r>
          </a:p>
          <a:p>
            <a:pPr lvl="1">
              <a:buFont typeface="Arial" pitchFamily="34" charset="0"/>
              <a:buChar char="•"/>
            </a:pPr>
            <a:r>
              <a:rPr lang="en-AU" sz="1200" kern="1200" dirty="0" smtClean="0">
                <a:solidFill>
                  <a:schemeClr val="tx1"/>
                </a:solidFill>
                <a:latin typeface="+mn-lt"/>
                <a:ea typeface="+mn-ea"/>
                <a:cs typeface="+mn-cs"/>
              </a:rPr>
              <a:t> It is vital you can communicate with others/CCC while you are searching – this is for your own personal safety, to enable you to summon assistance for others and so you can update the status and progress of your search/checking activities.</a:t>
            </a:r>
          </a:p>
          <a:p>
            <a:pPr>
              <a:buFont typeface="Arial" pitchFamily="34" charset="0"/>
              <a:buChar char="•"/>
            </a:pPr>
            <a:r>
              <a:rPr lang="en-AU" sz="1200" kern="1200" dirty="0" smtClean="0">
                <a:solidFill>
                  <a:schemeClr val="tx1"/>
                </a:solidFill>
                <a:latin typeface="+mn-lt"/>
                <a:ea typeface="+mn-ea"/>
                <a:cs typeface="+mn-cs"/>
              </a:rPr>
              <a:t> Obtain necessary PPE and clothing before you start your search – this may include:</a:t>
            </a:r>
          </a:p>
          <a:p>
            <a:pPr lvl="1">
              <a:buFont typeface="Arial" pitchFamily="34" charset="0"/>
              <a:buChar char="•"/>
            </a:pPr>
            <a:r>
              <a:rPr lang="en-AU" sz="1200" kern="1200" dirty="0" smtClean="0">
                <a:solidFill>
                  <a:schemeClr val="tx1"/>
                </a:solidFill>
                <a:latin typeface="+mn-lt"/>
                <a:ea typeface="+mn-ea"/>
                <a:cs typeface="+mn-cs"/>
              </a:rPr>
              <a:t> Hard hat/protective helmet</a:t>
            </a:r>
          </a:p>
          <a:p>
            <a:pPr lvl="1">
              <a:buFont typeface="Arial" pitchFamily="34" charset="0"/>
              <a:buChar char="•"/>
            </a:pPr>
            <a:r>
              <a:rPr lang="en-AU" sz="1200" kern="1200" dirty="0" smtClean="0">
                <a:solidFill>
                  <a:schemeClr val="tx1"/>
                </a:solidFill>
                <a:latin typeface="+mn-lt"/>
                <a:ea typeface="+mn-ea"/>
                <a:cs typeface="+mn-cs"/>
              </a:rPr>
              <a:t> Coloured vest</a:t>
            </a:r>
          </a:p>
          <a:p>
            <a:pPr lvl="1">
              <a:buFont typeface="Arial" pitchFamily="34" charset="0"/>
              <a:buChar char="•"/>
            </a:pPr>
            <a:r>
              <a:rPr lang="en-AU" sz="1200" kern="1200" dirty="0" smtClean="0">
                <a:solidFill>
                  <a:schemeClr val="tx1"/>
                </a:solidFill>
                <a:latin typeface="+mn-lt"/>
                <a:ea typeface="+mn-ea"/>
                <a:cs typeface="+mn-cs"/>
              </a:rPr>
              <a:t> Whistle</a:t>
            </a:r>
          </a:p>
          <a:p>
            <a:pPr lvl="1">
              <a:buFont typeface="Arial" pitchFamily="34" charset="0"/>
              <a:buChar char="•"/>
            </a:pPr>
            <a:r>
              <a:rPr lang="en-AU" sz="1200" kern="1200" dirty="0" smtClean="0">
                <a:solidFill>
                  <a:schemeClr val="tx1"/>
                </a:solidFill>
                <a:latin typeface="+mn-lt"/>
                <a:ea typeface="+mn-ea"/>
                <a:cs typeface="+mn-cs"/>
              </a:rPr>
              <a:t> Flashlight</a:t>
            </a:r>
          </a:p>
          <a:p>
            <a:pPr>
              <a:buFont typeface="Arial" pitchFamily="34" charset="0"/>
              <a:buChar char="•"/>
            </a:pPr>
            <a:r>
              <a:rPr lang="en-AU" sz="1200" kern="1200" dirty="0" smtClean="0">
                <a:solidFill>
                  <a:schemeClr val="tx1"/>
                </a:solidFill>
                <a:latin typeface="+mn-lt"/>
                <a:ea typeface="+mn-ea"/>
                <a:cs typeface="+mn-cs"/>
              </a:rPr>
              <a:t> Follow the EMP requirements which have been set/allocated – this will/could involve front-of-house and back-of-house areas</a:t>
            </a:r>
          </a:p>
          <a:p>
            <a:pPr>
              <a:buFont typeface="Arial" pitchFamily="34" charset="0"/>
              <a:buChar char="•"/>
            </a:pPr>
            <a:r>
              <a:rPr lang="en-AU" sz="1200" kern="1200" dirty="0" smtClean="0">
                <a:solidFill>
                  <a:schemeClr val="tx1"/>
                </a:solidFill>
                <a:latin typeface="+mn-lt"/>
                <a:ea typeface="+mn-ea"/>
                <a:cs typeface="+mn-cs"/>
              </a:rPr>
              <a:t> Physically search </a:t>
            </a:r>
            <a:r>
              <a:rPr lang="en-AU" sz="1200" b="1" kern="1200" dirty="0" smtClean="0">
                <a:solidFill>
                  <a:schemeClr val="tx1"/>
                </a:solidFill>
                <a:latin typeface="+mn-lt"/>
                <a:ea typeface="+mn-ea"/>
                <a:cs typeface="+mn-cs"/>
              </a:rPr>
              <a:t>all</a:t>
            </a:r>
            <a:r>
              <a:rPr lang="en-AU" sz="1200" kern="1200" dirty="0" smtClean="0">
                <a:solidFill>
                  <a:schemeClr val="tx1"/>
                </a:solidFill>
                <a:latin typeface="+mn-lt"/>
                <a:ea typeface="+mn-ea"/>
                <a:cs typeface="+mn-cs"/>
              </a:rPr>
              <a:t> the areas for which you have been allocated responsibility – let others search the other areas. </a:t>
            </a:r>
          </a:p>
          <a:p>
            <a:pPr lvl="1">
              <a:buFont typeface="Arial" pitchFamily="34" charset="0"/>
              <a:buChar char="•"/>
            </a:pPr>
            <a:r>
              <a:rPr lang="en-AU" sz="1200" kern="1200" dirty="0" smtClean="0">
                <a:solidFill>
                  <a:schemeClr val="tx1"/>
                </a:solidFill>
                <a:latin typeface="+mn-lt"/>
                <a:ea typeface="+mn-ea"/>
                <a:cs typeface="+mn-cs"/>
              </a:rPr>
              <a:t> You cannot effectively search all the areas on your own.</a:t>
            </a:r>
          </a:p>
          <a:p>
            <a:pPr lvl="1">
              <a:buFont typeface="Arial" pitchFamily="34" charset="0"/>
              <a:buChar char="•"/>
            </a:pPr>
            <a:r>
              <a:rPr lang="en-AU" sz="1200" kern="1200" dirty="0" smtClean="0">
                <a:solidFill>
                  <a:schemeClr val="tx1"/>
                </a:solidFill>
                <a:latin typeface="+mn-lt"/>
                <a:ea typeface="+mn-ea"/>
                <a:cs typeface="+mn-cs"/>
              </a:rPr>
              <a:t> Advise CCC if you are unable to search any of the areas allocated to you.</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points to note</a:t>
            </a:r>
            <a:r>
              <a:rPr lang="en-AU" baseline="0" noProof="0" dirty="0" smtClean="0"/>
              <a:t> when checking for people left in the premises:</a:t>
            </a:r>
          </a:p>
          <a:p>
            <a:pPr>
              <a:buFont typeface="Arial" pitchFamily="34" charset="0"/>
              <a:buChar char="•"/>
            </a:pPr>
            <a:r>
              <a:rPr lang="en-AU" sz="1200" kern="1200" dirty="0" smtClean="0">
                <a:solidFill>
                  <a:schemeClr val="tx1"/>
                </a:solidFill>
                <a:latin typeface="+mn-lt"/>
                <a:ea typeface="+mn-ea"/>
                <a:cs typeface="+mn-cs"/>
              </a:rPr>
              <a:t> Make sure (as appropriate) you:</a:t>
            </a:r>
          </a:p>
          <a:p>
            <a:pPr lvl="1">
              <a:buFont typeface="Arial" pitchFamily="34" charset="0"/>
              <a:buChar char="•"/>
            </a:pPr>
            <a:r>
              <a:rPr lang="en-AU" sz="1200" kern="1200" dirty="0" smtClean="0">
                <a:solidFill>
                  <a:schemeClr val="tx1"/>
                </a:solidFill>
                <a:latin typeface="+mn-lt"/>
                <a:ea typeface="+mn-ea"/>
                <a:cs typeface="+mn-cs"/>
              </a:rPr>
              <a:t> Look behind doors</a:t>
            </a:r>
          </a:p>
          <a:p>
            <a:pPr lvl="1">
              <a:buFont typeface="Arial" pitchFamily="34" charset="0"/>
              <a:buChar char="•"/>
            </a:pPr>
            <a:r>
              <a:rPr lang="en-AU" sz="1200" kern="1200" dirty="0" smtClean="0">
                <a:solidFill>
                  <a:schemeClr val="tx1"/>
                </a:solidFill>
                <a:latin typeface="+mn-lt"/>
                <a:ea typeface="+mn-ea"/>
                <a:cs typeface="+mn-cs"/>
              </a:rPr>
              <a:t> Open closed doors and look inside rooms and any cabinet large enough to hold a human</a:t>
            </a:r>
          </a:p>
          <a:p>
            <a:pPr lvl="1">
              <a:buFont typeface="Arial" pitchFamily="34" charset="0"/>
              <a:buChar char="•"/>
            </a:pPr>
            <a:r>
              <a:rPr lang="en-AU" sz="1200" kern="1200" dirty="0" smtClean="0">
                <a:solidFill>
                  <a:schemeClr val="tx1"/>
                </a:solidFill>
                <a:latin typeface="+mn-lt"/>
                <a:ea typeface="+mn-ea"/>
                <a:cs typeface="+mn-cs"/>
              </a:rPr>
              <a:t> Close any open doors – to help reduce flow of air to the fire</a:t>
            </a:r>
          </a:p>
          <a:p>
            <a:pPr lvl="1">
              <a:buFont typeface="Arial" pitchFamily="34" charset="0"/>
              <a:buChar char="•"/>
            </a:pPr>
            <a:r>
              <a:rPr lang="en-AU" sz="1200" kern="1200" dirty="0" smtClean="0">
                <a:solidFill>
                  <a:schemeClr val="tx1"/>
                </a:solidFill>
                <a:latin typeface="+mn-lt"/>
                <a:ea typeface="+mn-ea"/>
                <a:cs typeface="+mn-cs"/>
              </a:rPr>
              <a:t> Call out as you search (for example):</a:t>
            </a:r>
          </a:p>
          <a:p>
            <a:pPr lvl="2">
              <a:buFont typeface="Arial" pitchFamily="34" charset="0"/>
              <a:buChar char="•"/>
            </a:pPr>
            <a:r>
              <a:rPr lang="en-AU" sz="1200" kern="1200" dirty="0" smtClean="0">
                <a:solidFill>
                  <a:schemeClr val="tx1"/>
                </a:solidFill>
                <a:latin typeface="+mn-lt"/>
                <a:ea typeface="+mn-ea"/>
                <a:cs typeface="+mn-cs"/>
              </a:rPr>
              <a:t>  “Security. Anyone here?”</a:t>
            </a:r>
          </a:p>
          <a:p>
            <a:pPr lvl="2">
              <a:buFont typeface="Arial" pitchFamily="34" charset="0"/>
              <a:buChar char="•"/>
            </a:pPr>
            <a:r>
              <a:rPr lang="en-AU" sz="1200" kern="1200" dirty="0" smtClean="0">
                <a:solidFill>
                  <a:schemeClr val="tx1"/>
                </a:solidFill>
                <a:latin typeface="+mn-lt"/>
                <a:ea typeface="+mn-ea"/>
                <a:cs typeface="+mn-cs"/>
              </a:rPr>
              <a:t> “Hotel Rescue. Is anybody in here?”</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points to note</a:t>
            </a:r>
            <a:r>
              <a:rPr lang="en-AU" baseline="0" noProof="0" dirty="0" smtClean="0"/>
              <a:t> when checking for people left in the premises:</a:t>
            </a:r>
          </a:p>
          <a:p>
            <a:pPr>
              <a:buFont typeface="Arial" pitchFamily="34" charset="0"/>
              <a:buChar char="•"/>
            </a:pPr>
            <a:r>
              <a:rPr lang="en-AU" sz="1200" kern="1200" dirty="0" smtClean="0">
                <a:solidFill>
                  <a:schemeClr val="tx1"/>
                </a:solidFill>
                <a:latin typeface="+mn-lt"/>
                <a:ea typeface="+mn-ea"/>
                <a:cs typeface="+mn-cs"/>
              </a:rPr>
              <a:t> Communicate your progress of searched with the CCC – tell them of each ‘clear area’ as you confirm there is no one left there</a:t>
            </a:r>
          </a:p>
          <a:p>
            <a:pPr>
              <a:buFont typeface="Arial" pitchFamily="34" charset="0"/>
              <a:buChar char="•"/>
            </a:pPr>
            <a:r>
              <a:rPr lang="en-AU" sz="1200" kern="1200" dirty="0" smtClean="0">
                <a:solidFill>
                  <a:schemeClr val="tx1"/>
                </a:solidFill>
                <a:latin typeface="+mn-lt"/>
                <a:ea typeface="+mn-ea"/>
                <a:cs typeface="+mn-cs"/>
              </a:rPr>
              <a:t> Never place anyone else at risk – do not ask them to help if their assistance would put them at risk.</a:t>
            </a:r>
          </a:p>
          <a:p>
            <a:pPr>
              <a:buFont typeface="Arial" pitchFamily="34" charset="0"/>
              <a:buChar char="•"/>
            </a:pPr>
            <a:r>
              <a:rPr lang="en-AU" sz="1200" kern="1200" dirty="0" smtClean="0">
                <a:solidFill>
                  <a:schemeClr val="tx1"/>
                </a:solidFill>
                <a:latin typeface="+mn-lt"/>
                <a:ea typeface="+mn-ea"/>
                <a:cs typeface="+mn-cs"/>
              </a:rPr>
              <a:t> Maintain/preserve your own safety at all times – never put yourself in harm’s way: never try to be a hero</a:t>
            </a:r>
          </a:p>
          <a:p>
            <a:pPr>
              <a:buFont typeface="Arial" pitchFamily="34" charset="0"/>
              <a:buChar char="•"/>
            </a:pPr>
            <a:r>
              <a:rPr lang="en-AU" sz="1200" kern="1200" dirty="0" smtClean="0">
                <a:solidFill>
                  <a:schemeClr val="tx1"/>
                </a:solidFill>
                <a:latin typeface="+mn-lt"/>
                <a:ea typeface="+mn-ea"/>
                <a:cs typeface="+mn-cs"/>
              </a:rPr>
              <a:t> If you identify people who are </a:t>
            </a:r>
            <a:r>
              <a:rPr lang="en-AU" sz="1200" b="1" kern="1200" dirty="0" smtClean="0">
                <a:solidFill>
                  <a:schemeClr val="tx1"/>
                </a:solidFill>
                <a:latin typeface="+mn-lt"/>
                <a:ea typeface="+mn-ea"/>
                <a:cs typeface="+mn-cs"/>
              </a:rPr>
              <a:t>trapped</a:t>
            </a:r>
            <a:r>
              <a:rPr lang="en-AU" sz="1200" kern="1200" dirty="0" smtClean="0">
                <a:solidFill>
                  <a:schemeClr val="tx1"/>
                </a:solidFill>
                <a:latin typeface="+mn-lt"/>
                <a:ea typeface="+mn-ea"/>
                <a:cs typeface="+mn-cs"/>
              </a:rPr>
              <a:t> in an area you are checking:</a:t>
            </a:r>
          </a:p>
          <a:p>
            <a:pPr lvl="1">
              <a:buFont typeface="Arial" pitchFamily="34" charset="0"/>
              <a:buChar char="•"/>
            </a:pPr>
            <a:r>
              <a:rPr lang="en-AU" sz="1200" kern="1200" dirty="0" smtClean="0">
                <a:solidFill>
                  <a:schemeClr val="tx1"/>
                </a:solidFill>
                <a:latin typeface="+mn-lt"/>
                <a:ea typeface="+mn-ea"/>
                <a:cs typeface="+mn-cs"/>
              </a:rPr>
              <a:t> Determine numbers</a:t>
            </a:r>
          </a:p>
          <a:p>
            <a:pPr lvl="1">
              <a:buFont typeface="Arial" pitchFamily="34" charset="0"/>
              <a:buChar char="•"/>
            </a:pPr>
            <a:r>
              <a:rPr lang="en-AU" sz="1200" kern="1200" dirty="0" smtClean="0">
                <a:solidFill>
                  <a:schemeClr val="tx1"/>
                </a:solidFill>
                <a:latin typeface="+mn-lt"/>
                <a:ea typeface="+mn-ea"/>
                <a:cs typeface="+mn-cs"/>
              </a:rPr>
              <a:t> Advise CCC of location, numbers and type of entrapped (locked door; fallen structure; flames)</a:t>
            </a:r>
          </a:p>
          <a:p>
            <a:pPr lvl="1">
              <a:buFont typeface="Arial" pitchFamily="34" charset="0"/>
              <a:buChar char="•"/>
            </a:pPr>
            <a:r>
              <a:rPr lang="en-AU" sz="1200" kern="1200" dirty="0" smtClean="0">
                <a:solidFill>
                  <a:schemeClr val="tx1"/>
                </a:solidFill>
                <a:latin typeface="+mn-lt"/>
                <a:ea typeface="+mn-ea"/>
                <a:cs typeface="+mn-cs"/>
              </a:rPr>
              <a:t> Ask for assistance</a:t>
            </a:r>
          </a:p>
          <a:p>
            <a:pPr lvl="1">
              <a:buFont typeface="Arial" pitchFamily="34" charset="0"/>
              <a:buChar char="•"/>
            </a:pPr>
            <a:r>
              <a:rPr lang="en-AU" sz="1200" kern="1200" dirty="0" smtClean="0">
                <a:solidFill>
                  <a:schemeClr val="tx1"/>
                </a:solidFill>
                <a:latin typeface="+mn-lt"/>
                <a:ea typeface="+mn-ea"/>
                <a:cs typeface="+mn-cs"/>
              </a:rPr>
              <a:t> Do what you can to help release those who are trapped without putting yourself in danger – CCC will allocate any remaining areas to be checked to another person.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presenting points to note</a:t>
            </a:r>
            <a:r>
              <a:rPr lang="en-AU" baseline="0" noProof="0" dirty="0" smtClean="0"/>
              <a:t> when checking for people left in the premises:</a:t>
            </a:r>
          </a:p>
          <a:p>
            <a:pPr>
              <a:buFont typeface="Arial" pitchFamily="34" charset="0"/>
              <a:buChar char="•"/>
            </a:pPr>
            <a:r>
              <a:rPr lang="en-AU" sz="1200" kern="1200" dirty="0" smtClean="0">
                <a:solidFill>
                  <a:schemeClr val="tx1"/>
                </a:solidFill>
                <a:latin typeface="+mn-lt"/>
                <a:ea typeface="+mn-ea"/>
                <a:cs typeface="+mn-cs"/>
              </a:rPr>
              <a:t> If you identify people in an area you are checking:</a:t>
            </a:r>
          </a:p>
          <a:p>
            <a:pPr lvl="1">
              <a:buFont typeface="Arial" pitchFamily="34" charset="0"/>
              <a:buChar char="•"/>
            </a:pPr>
            <a:r>
              <a:rPr lang="en-AU" sz="1200" kern="1200" dirty="0" smtClean="0">
                <a:solidFill>
                  <a:schemeClr val="tx1"/>
                </a:solidFill>
                <a:latin typeface="+mn-lt"/>
                <a:ea typeface="+mn-ea"/>
                <a:cs typeface="+mn-cs"/>
              </a:rPr>
              <a:t> Advise CCC you have located people </a:t>
            </a:r>
          </a:p>
          <a:p>
            <a:pPr lvl="1">
              <a:buFont typeface="Arial" pitchFamily="34" charset="0"/>
              <a:buChar char="•"/>
            </a:pPr>
            <a:r>
              <a:rPr lang="en-AU" sz="1200" kern="1200" dirty="0" smtClean="0">
                <a:solidFill>
                  <a:schemeClr val="tx1"/>
                </a:solidFill>
                <a:latin typeface="+mn-lt"/>
                <a:ea typeface="+mn-ea"/>
                <a:cs typeface="+mn-cs"/>
              </a:rPr>
              <a:t> Advise CCC people are not trapped</a:t>
            </a:r>
          </a:p>
          <a:p>
            <a:pPr lvl="1">
              <a:buFont typeface="Arial" pitchFamily="34" charset="0"/>
              <a:buChar char="•"/>
            </a:pPr>
            <a:r>
              <a:rPr lang="en-AU" sz="1200" kern="1200" dirty="0" smtClean="0">
                <a:solidFill>
                  <a:schemeClr val="tx1"/>
                </a:solidFill>
                <a:latin typeface="+mn-lt"/>
                <a:ea typeface="+mn-ea"/>
                <a:cs typeface="+mn-cs"/>
              </a:rPr>
              <a:t> Advise CCC of action you are taking – for example:</a:t>
            </a:r>
          </a:p>
          <a:p>
            <a:pPr lvl="1">
              <a:buFont typeface="Arial" pitchFamily="34" charset="0"/>
              <a:buChar char="•"/>
            </a:pPr>
            <a:r>
              <a:rPr lang="en-AU" sz="1200" kern="1200" dirty="0" smtClean="0">
                <a:solidFill>
                  <a:schemeClr val="tx1"/>
                </a:solidFill>
                <a:latin typeface="+mn-lt"/>
                <a:ea typeface="+mn-ea"/>
                <a:cs typeface="+mn-cs"/>
              </a:rPr>
              <a:t> Leading them to safety/emergency EAP</a:t>
            </a:r>
          </a:p>
          <a:p>
            <a:pPr lvl="1">
              <a:buFont typeface="Arial" pitchFamily="34" charset="0"/>
              <a:buChar char="•"/>
            </a:pPr>
            <a:r>
              <a:rPr lang="en-AU" sz="1200" kern="1200" dirty="0" smtClean="0">
                <a:solidFill>
                  <a:schemeClr val="tx1"/>
                </a:solidFill>
                <a:latin typeface="+mn-lt"/>
                <a:ea typeface="+mn-ea"/>
                <a:cs typeface="+mn-cs"/>
              </a:rPr>
              <a:t> Directing them to an exit</a:t>
            </a:r>
          </a:p>
          <a:p>
            <a:pPr>
              <a:buFont typeface="Arial" pitchFamily="34" charset="0"/>
              <a:buChar char="•"/>
            </a:pPr>
            <a:r>
              <a:rPr lang="en-AU" sz="1200" kern="1200" dirty="0" smtClean="0">
                <a:solidFill>
                  <a:schemeClr val="tx1"/>
                </a:solidFill>
                <a:latin typeface="+mn-lt"/>
                <a:ea typeface="+mn-ea"/>
                <a:cs typeface="+mn-cs"/>
              </a:rPr>
              <a:t> Maintain your Situational Awareness – monitor:</a:t>
            </a:r>
          </a:p>
          <a:p>
            <a:pPr lvl="1">
              <a:buFont typeface="Arial" pitchFamily="34" charset="0"/>
              <a:buChar char="•"/>
            </a:pPr>
            <a:r>
              <a:rPr lang="en-AU" sz="1200" kern="1200" dirty="0" smtClean="0">
                <a:solidFill>
                  <a:schemeClr val="tx1"/>
                </a:solidFill>
                <a:latin typeface="+mn-lt"/>
                <a:ea typeface="+mn-ea"/>
                <a:cs typeface="+mn-cs"/>
              </a:rPr>
              <a:t> What is happening </a:t>
            </a:r>
          </a:p>
          <a:p>
            <a:pPr lvl="1">
              <a:buFont typeface="Arial" pitchFamily="34" charset="0"/>
              <a:buChar char="•"/>
            </a:pPr>
            <a:r>
              <a:rPr lang="en-AU" sz="1200" kern="1200" dirty="0" smtClean="0">
                <a:solidFill>
                  <a:schemeClr val="tx1"/>
                </a:solidFill>
                <a:latin typeface="+mn-lt"/>
                <a:ea typeface="+mn-ea"/>
                <a:cs typeface="+mn-cs"/>
              </a:rPr>
              <a:t> What is being impacted </a:t>
            </a:r>
          </a:p>
          <a:p>
            <a:pPr lvl="1">
              <a:buFont typeface="Arial" pitchFamily="34" charset="0"/>
              <a:buChar char="•"/>
            </a:pPr>
            <a:r>
              <a:rPr lang="en-AU" sz="1200" kern="1200" dirty="0" smtClean="0">
                <a:solidFill>
                  <a:schemeClr val="tx1"/>
                </a:solidFill>
                <a:latin typeface="+mn-lt"/>
                <a:ea typeface="+mn-ea"/>
                <a:cs typeface="+mn-cs"/>
              </a:rPr>
              <a:t> Spread of the problem </a:t>
            </a:r>
          </a:p>
          <a:p>
            <a:pPr lvl="1">
              <a:buFont typeface="Arial" pitchFamily="34" charset="0"/>
              <a:buChar char="•"/>
            </a:pPr>
            <a:r>
              <a:rPr lang="en-AU" sz="1200" kern="1200" dirty="0" smtClean="0">
                <a:solidFill>
                  <a:schemeClr val="tx1"/>
                </a:solidFill>
                <a:latin typeface="+mn-lt"/>
                <a:ea typeface="+mn-ea"/>
                <a:cs typeface="+mn-cs"/>
              </a:rPr>
              <a:t> Changing circumstances </a:t>
            </a:r>
          </a:p>
          <a:p>
            <a:pPr lvl="1">
              <a:buFont typeface="Arial" pitchFamily="34" charset="0"/>
              <a:buChar char="•"/>
            </a:pPr>
            <a:r>
              <a:rPr lang="en-AU" sz="1200" kern="1200" dirty="0" smtClean="0">
                <a:solidFill>
                  <a:schemeClr val="tx1"/>
                </a:solidFill>
                <a:latin typeface="+mn-lt"/>
                <a:ea typeface="+mn-ea"/>
                <a:cs typeface="+mn-cs"/>
              </a:rPr>
              <a:t> What is causing those changes</a:t>
            </a:r>
          </a:p>
          <a:p>
            <a:pPr lvl="1">
              <a:buFont typeface="Arial" pitchFamily="34" charset="0"/>
              <a:buChar char="•"/>
            </a:pPr>
            <a:r>
              <a:rPr lang="en-AU" sz="1200" kern="1200" dirty="0" smtClean="0">
                <a:solidFill>
                  <a:schemeClr val="tx1"/>
                </a:solidFill>
                <a:latin typeface="+mn-lt"/>
                <a:ea typeface="+mn-ea"/>
                <a:cs typeface="+mn-cs"/>
              </a:rPr>
              <a:t> The risk you are at and the threats you are facing </a:t>
            </a:r>
          </a:p>
          <a:p>
            <a:pPr lvl="1">
              <a:buFont typeface="Arial" pitchFamily="34" charset="0"/>
              <a:buChar char="•"/>
            </a:pPr>
            <a:r>
              <a:rPr lang="en-AU" sz="1200" kern="1200" dirty="0" smtClean="0">
                <a:solidFill>
                  <a:schemeClr val="tx1"/>
                </a:solidFill>
                <a:latin typeface="+mn-lt"/>
                <a:ea typeface="+mn-ea"/>
                <a:cs typeface="+mn-cs"/>
              </a:rPr>
              <a:t> How you might respond in the threats materialise into a real-life danger situation</a:t>
            </a:r>
          </a:p>
          <a:p>
            <a:pPr lvl="1">
              <a:buFont typeface="Arial" pitchFamily="34" charset="0"/>
              <a:buChar char="•"/>
            </a:pPr>
            <a:r>
              <a:rPr lang="en-AU" sz="1200" kern="1200" dirty="0" smtClean="0">
                <a:solidFill>
                  <a:schemeClr val="tx1"/>
                </a:solidFill>
                <a:latin typeface="+mn-lt"/>
                <a:ea typeface="+mn-ea"/>
                <a:cs typeface="+mn-cs"/>
              </a:rPr>
              <a:t> You need to do this so you do not get trapped and so you do not become a victim.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1" baseline="0" noProof="0" dirty="0" smtClean="0"/>
              <a:t>Class Activity – Practical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b="0" baseline="0" noProof="0" dirty="0" smtClean="0"/>
              <a:t>Trainer asks one student to ‘hide’ anywhere in the training facility and gets remainder of group to:</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noProof="0" dirty="0" smtClean="0"/>
              <a:t> Organise a search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0" baseline="0" noProof="0" dirty="0" smtClean="0"/>
              <a:t> Search and find the student.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a:t>
            </a:r>
          </a:p>
          <a:p>
            <a:pPr>
              <a:buFont typeface="Arial" pitchFamily="34" charset="0"/>
              <a:buChar char="•"/>
            </a:pPr>
            <a:r>
              <a:rPr lang="en-AU" sz="1200" kern="1200" dirty="0" smtClean="0">
                <a:solidFill>
                  <a:schemeClr val="tx1"/>
                </a:solidFill>
                <a:latin typeface="+mn-lt"/>
                <a:ea typeface="+mn-ea"/>
                <a:cs typeface="+mn-cs"/>
              </a:rPr>
              <a:t> When an evacuation has been conducted you need to:</a:t>
            </a:r>
          </a:p>
          <a:p>
            <a:pPr lvl="1">
              <a:buFont typeface="Arial" pitchFamily="34" charset="0"/>
              <a:buChar char="•"/>
            </a:pPr>
            <a:r>
              <a:rPr lang="en-AU" sz="1200" kern="1200" dirty="0" smtClean="0">
                <a:solidFill>
                  <a:schemeClr val="tx1"/>
                </a:solidFill>
                <a:latin typeface="+mn-lt"/>
                <a:ea typeface="+mn-ea"/>
                <a:cs typeface="+mn-cs"/>
              </a:rPr>
              <a:t> Account for those who have been evacuated</a:t>
            </a:r>
          </a:p>
          <a:p>
            <a:pPr lvl="1">
              <a:buFont typeface="Arial" pitchFamily="34" charset="0"/>
              <a:buChar char="•"/>
            </a:pPr>
            <a:r>
              <a:rPr lang="en-AU" sz="1200" kern="1200" dirty="0" smtClean="0">
                <a:solidFill>
                  <a:schemeClr val="tx1"/>
                </a:solidFill>
                <a:latin typeface="+mn-lt"/>
                <a:ea typeface="+mn-ea"/>
                <a:cs typeface="+mn-cs"/>
              </a:rPr>
              <a:t> Account for everyone:</a:t>
            </a:r>
          </a:p>
          <a:p>
            <a:pPr lvl="2">
              <a:buFont typeface="Arial" pitchFamily="34" charset="0"/>
              <a:buChar char="•"/>
            </a:pPr>
            <a:r>
              <a:rPr lang="en-AU" sz="1200" kern="1200" dirty="0" smtClean="0">
                <a:solidFill>
                  <a:schemeClr val="tx1"/>
                </a:solidFill>
                <a:latin typeface="+mn-lt"/>
                <a:ea typeface="+mn-ea"/>
                <a:cs typeface="+mn-cs"/>
              </a:rPr>
              <a:t> Registered as staying in the venue as a house guest</a:t>
            </a:r>
          </a:p>
          <a:p>
            <a:pPr lvl="2">
              <a:buFont typeface="Arial" pitchFamily="34" charset="0"/>
              <a:buChar char="•"/>
            </a:pPr>
            <a:r>
              <a:rPr lang="en-AU" sz="1200" kern="1200" dirty="0" smtClean="0">
                <a:solidFill>
                  <a:schemeClr val="tx1"/>
                </a:solidFill>
                <a:latin typeface="+mn-lt"/>
                <a:ea typeface="+mn-ea"/>
                <a:cs typeface="+mn-cs"/>
              </a:rPr>
              <a:t> Known to be using any facility in the venue </a:t>
            </a:r>
          </a:p>
          <a:p>
            <a:pPr lvl="2">
              <a:buFont typeface="Arial" pitchFamily="34" charset="0"/>
              <a:buChar char="•"/>
            </a:pPr>
            <a:r>
              <a:rPr lang="en-AU" sz="1200" kern="1200" dirty="0" smtClean="0">
                <a:solidFill>
                  <a:schemeClr val="tx1"/>
                </a:solidFill>
                <a:latin typeface="+mn-lt"/>
                <a:ea typeface="+mn-ea"/>
                <a:cs typeface="+mn-cs"/>
              </a:rPr>
              <a:t> Known to be ‘on the premises’ at the time.</a:t>
            </a:r>
          </a:p>
          <a:p>
            <a:pPr lvl="1">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need to account for people in order to:</a:t>
            </a:r>
          </a:p>
          <a:p>
            <a:pPr>
              <a:buFont typeface="Arial" pitchFamily="34" charset="0"/>
              <a:buChar char="•"/>
            </a:pPr>
            <a:r>
              <a:rPr lang="en-AU" sz="1200" kern="1200" dirty="0" smtClean="0">
                <a:solidFill>
                  <a:schemeClr val="tx1"/>
                </a:solidFill>
                <a:latin typeface="+mn-lt"/>
                <a:ea typeface="+mn-ea"/>
                <a:cs typeface="+mn-cs"/>
              </a:rPr>
              <a:t> Determine if people are still in the building – perhaps they are trapped or perhaps they are unaware an evacuation has been initiated</a:t>
            </a:r>
          </a:p>
          <a:p>
            <a:pPr lvl="1">
              <a:buFont typeface="Arial" pitchFamily="34" charset="0"/>
              <a:buChar char="•"/>
            </a:pPr>
            <a:r>
              <a:rPr lang="en-AU" sz="1200" kern="1200" dirty="0" smtClean="0">
                <a:solidFill>
                  <a:schemeClr val="tx1"/>
                </a:solidFill>
                <a:latin typeface="+mn-lt"/>
                <a:ea typeface="+mn-ea"/>
                <a:cs typeface="+mn-cs"/>
              </a:rPr>
              <a:t> Emergency services will start undertaking search and rescue activities in areas you have identified people are located</a:t>
            </a:r>
          </a:p>
          <a:p>
            <a:pPr>
              <a:buFont typeface="Arial" pitchFamily="34" charset="0"/>
              <a:buChar char="•"/>
            </a:pPr>
            <a:r>
              <a:rPr lang="en-AU" sz="1200" kern="1200" dirty="0" smtClean="0">
                <a:solidFill>
                  <a:schemeClr val="tx1"/>
                </a:solidFill>
                <a:latin typeface="+mn-lt"/>
                <a:ea typeface="+mn-ea"/>
                <a:cs typeface="+mn-cs"/>
              </a:rPr>
              <a:t> Confirm people on the premises have been safely evacuated</a:t>
            </a:r>
          </a:p>
          <a:p>
            <a:pPr lvl="1">
              <a:buFont typeface="Arial" pitchFamily="34" charset="0"/>
              <a:buChar char="•"/>
            </a:pPr>
            <a:r>
              <a:rPr lang="en-AU" sz="1200" kern="1200" dirty="0" smtClean="0">
                <a:solidFill>
                  <a:schemeClr val="tx1"/>
                </a:solidFill>
                <a:latin typeface="+mn-lt"/>
                <a:ea typeface="+mn-ea"/>
                <a:cs typeface="+mn-cs"/>
              </a:rPr>
              <a:t> Emergency service workers do not want to risk their lives entering dangerous areas if they know there is no reason to do so – that is, all the people have been evacuated and everyone has been accounted for</a:t>
            </a:r>
          </a:p>
          <a:p>
            <a:pPr>
              <a:buFont typeface="Arial" pitchFamily="34" charset="0"/>
              <a:buChar char="•"/>
            </a:pPr>
            <a:r>
              <a:rPr lang="en-AU" sz="1200" kern="1200" dirty="0" smtClean="0">
                <a:solidFill>
                  <a:schemeClr val="tx1"/>
                </a:solidFill>
                <a:latin typeface="+mn-lt"/>
                <a:ea typeface="+mn-ea"/>
                <a:cs typeface="+mn-cs"/>
              </a:rPr>
              <a:t> Discharge ‘duty of care’ responsibilities for the safety of guests and customers</a:t>
            </a:r>
          </a:p>
          <a:p>
            <a:pPr lvl="1">
              <a:buFont typeface="Arial" pitchFamily="34" charset="0"/>
              <a:buChar char="•"/>
            </a:pPr>
            <a:r>
              <a:rPr lang="en-AU" sz="1200" kern="1200" dirty="0" smtClean="0">
                <a:solidFill>
                  <a:schemeClr val="tx1"/>
                </a:solidFill>
                <a:latin typeface="+mn-lt"/>
                <a:ea typeface="+mn-ea"/>
                <a:cs typeface="+mn-cs"/>
              </a:rPr>
              <a:t> The venue may need to be able to demonstrate/prove to a Court of law they took all reasonable precautions/actions to ensure customers and guests were safe.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‘Accounting for’ people means ‘knowing where they are’ explaining they may be: </a:t>
            </a:r>
          </a:p>
          <a:p>
            <a:pPr>
              <a:buFont typeface="Arial" pitchFamily="34" charset="0"/>
              <a:buChar char="•"/>
            </a:pPr>
            <a:r>
              <a:rPr lang="en-AU" sz="1200" kern="1200" dirty="0" smtClean="0">
                <a:solidFill>
                  <a:schemeClr val="tx1"/>
                </a:solidFill>
                <a:latin typeface="+mn-lt"/>
                <a:ea typeface="+mn-ea"/>
                <a:cs typeface="+mn-cs"/>
              </a:rPr>
              <a:t> Evacuated and safe – meaning they may be in an evacuation assembly area, or they may have been recorded as reaching the evacuation assembly area but have departed from there and may be:</a:t>
            </a:r>
          </a:p>
          <a:p>
            <a:pPr lvl="1">
              <a:buFont typeface="Arial" pitchFamily="34" charset="0"/>
              <a:buChar char="•"/>
            </a:pPr>
            <a:r>
              <a:rPr lang="en-AU" sz="1200" kern="1200" dirty="0" smtClean="0">
                <a:solidFill>
                  <a:schemeClr val="tx1"/>
                </a:solidFill>
                <a:latin typeface="+mn-lt"/>
                <a:ea typeface="+mn-ea"/>
                <a:cs typeface="+mn-cs"/>
              </a:rPr>
              <a:t> With family of friends</a:t>
            </a:r>
          </a:p>
          <a:p>
            <a:pPr lvl="1">
              <a:buFont typeface="Arial" pitchFamily="34" charset="0"/>
              <a:buChar char="•"/>
            </a:pPr>
            <a:r>
              <a:rPr lang="en-AU" sz="1200" kern="1200" dirty="0" smtClean="0">
                <a:solidFill>
                  <a:schemeClr val="tx1"/>
                </a:solidFill>
                <a:latin typeface="+mn-lt"/>
                <a:ea typeface="+mn-ea"/>
                <a:cs typeface="+mn-cs"/>
              </a:rPr>
              <a:t> In hospital</a:t>
            </a:r>
          </a:p>
          <a:p>
            <a:pPr lvl="1">
              <a:buFont typeface="Arial" pitchFamily="34" charset="0"/>
              <a:buChar char="•"/>
            </a:pPr>
            <a:r>
              <a:rPr lang="en-AU" sz="1200" kern="1200" dirty="0" smtClean="0">
                <a:solidFill>
                  <a:schemeClr val="tx1"/>
                </a:solidFill>
                <a:latin typeface="+mn-lt"/>
                <a:ea typeface="+mn-ea"/>
                <a:cs typeface="+mn-cs"/>
              </a:rPr>
              <a:t> At another venue</a:t>
            </a:r>
          </a:p>
          <a:p>
            <a:pPr lvl="1">
              <a:buFont typeface="Arial" pitchFamily="34" charset="0"/>
              <a:buChar char="•"/>
            </a:pPr>
            <a:r>
              <a:rPr lang="en-AU" sz="1200" kern="1200" dirty="0" smtClean="0">
                <a:solidFill>
                  <a:schemeClr val="tx1"/>
                </a:solidFill>
                <a:latin typeface="+mn-lt"/>
                <a:ea typeface="+mn-ea"/>
                <a:cs typeface="+mn-cs"/>
              </a:rPr>
              <a:t> In a safe part of your venue awaiting instructions about what to do next</a:t>
            </a:r>
          </a:p>
          <a:p>
            <a:pPr>
              <a:buFont typeface="Arial" pitchFamily="34" charset="0"/>
              <a:buChar char="•"/>
            </a:pPr>
            <a:r>
              <a:rPr lang="en-AU" sz="1200" kern="1200" dirty="0" smtClean="0">
                <a:solidFill>
                  <a:schemeClr val="tx1"/>
                </a:solidFill>
                <a:latin typeface="+mn-lt"/>
                <a:ea typeface="+mn-ea"/>
                <a:cs typeface="+mn-cs"/>
              </a:rPr>
              <a:t> Trapped – these are people who are known to be (or suspected of being) trapped somewhere in the building</a:t>
            </a:r>
          </a:p>
          <a:p>
            <a:pPr>
              <a:buFont typeface="Arial" pitchFamily="34" charset="0"/>
              <a:buChar char="•"/>
            </a:pPr>
            <a:r>
              <a:rPr lang="en-AU" sz="1200" kern="1200" dirty="0" smtClean="0">
                <a:solidFill>
                  <a:schemeClr val="tx1"/>
                </a:solidFill>
                <a:latin typeface="+mn-lt"/>
                <a:ea typeface="+mn-ea"/>
                <a:cs typeface="+mn-cs"/>
              </a:rPr>
              <a:t> Unaccounted for – meaning they are ‘absent’ or ‘missing’. It is not known if they are:</a:t>
            </a:r>
          </a:p>
          <a:p>
            <a:pPr lvl="1">
              <a:buFont typeface="Arial" pitchFamily="34" charset="0"/>
              <a:buChar char="•"/>
            </a:pPr>
            <a:r>
              <a:rPr lang="en-AU" sz="1200" kern="1200" dirty="0" smtClean="0">
                <a:solidFill>
                  <a:schemeClr val="tx1"/>
                </a:solidFill>
                <a:latin typeface="+mn-lt"/>
                <a:ea typeface="+mn-ea"/>
                <a:cs typeface="+mn-cs"/>
              </a:rPr>
              <a:t> Evacuated and safe – they may have evacuated but not reported in, or been recorded by staff as having escaped</a:t>
            </a:r>
          </a:p>
          <a:p>
            <a:pPr lvl="1">
              <a:buFont typeface="Arial" pitchFamily="34" charset="0"/>
              <a:buChar char="•"/>
            </a:pPr>
            <a:r>
              <a:rPr lang="en-AU" sz="1200" kern="1200" dirty="0" smtClean="0">
                <a:solidFill>
                  <a:schemeClr val="tx1"/>
                </a:solidFill>
                <a:latin typeface="+mn-lt"/>
                <a:ea typeface="+mn-ea"/>
                <a:cs typeface="+mn-cs"/>
              </a:rPr>
              <a:t> Trapped</a:t>
            </a:r>
          </a:p>
          <a:p>
            <a:pPr lvl="1">
              <a:buFont typeface="Arial" pitchFamily="34" charset="0"/>
              <a:buChar char="•"/>
            </a:pPr>
            <a:r>
              <a:rPr lang="en-AU" sz="1200" kern="1200" dirty="0" smtClean="0">
                <a:solidFill>
                  <a:schemeClr val="tx1"/>
                </a:solidFill>
                <a:latin typeface="+mn-lt"/>
                <a:ea typeface="+mn-ea"/>
                <a:cs typeface="+mn-cs"/>
              </a:rPr>
              <a:t> Away from the venue – and not present when the emergency occurred.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b="0" kern="1200" dirty="0" smtClean="0">
                <a:solidFill>
                  <a:schemeClr val="tx1"/>
                </a:solidFill>
                <a:latin typeface="+mn-lt"/>
                <a:ea typeface="+mn-ea"/>
                <a:cs typeface="+mn-cs"/>
              </a:rPr>
              <a:t>basic requirements for confirming numbers are: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Refer to internal documentation – such as:</a:t>
            </a:r>
          </a:p>
          <a:p>
            <a:pPr lvl="1">
              <a:buFont typeface="Arial" pitchFamily="34" charset="0"/>
              <a:buChar char="•"/>
            </a:pPr>
            <a:r>
              <a:rPr lang="en-AU" sz="1200" kern="1200" dirty="0" smtClean="0">
                <a:solidFill>
                  <a:schemeClr val="tx1"/>
                </a:solidFill>
                <a:latin typeface="+mn-lt"/>
                <a:ea typeface="+mn-ea"/>
                <a:cs typeface="+mn-cs"/>
              </a:rPr>
              <a:t> Records of people registered as staying in the venue as house guests – all venues are required to maintain such a record</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Bookings sheets for restaurants, dining areas., sports facilities, entertainment areas</a:t>
            </a:r>
          </a:p>
          <a:p>
            <a:pPr lvl="1">
              <a:buFont typeface="Arial" pitchFamily="34" charset="0"/>
              <a:buChar char="•"/>
            </a:pPr>
            <a:r>
              <a:rPr lang="en-AU" sz="1200" kern="1200" dirty="0" smtClean="0">
                <a:solidFill>
                  <a:schemeClr val="tx1"/>
                </a:solidFill>
                <a:latin typeface="+mn-lt"/>
                <a:ea typeface="+mn-ea"/>
                <a:cs typeface="+mn-cs"/>
              </a:rPr>
              <a:t> Staff records – which are rosters of staff on duty at the time</a:t>
            </a:r>
          </a:p>
          <a:p>
            <a:pPr>
              <a:buFont typeface="Arial" pitchFamily="34" charset="0"/>
              <a:buChar char="•"/>
            </a:pPr>
            <a:r>
              <a:rPr lang="en-AU" sz="1200" kern="1200" dirty="0" smtClean="0">
                <a:solidFill>
                  <a:schemeClr val="tx1"/>
                </a:solidFill>
                <a:latin typeface="+mn-lt"/>
                <a:ea typeface="+mn-ea"/>
                <a:cs typeface="+mn-cs"/>
              </a:rPr>
              <a:t> Records of people registered as being present at the designated EAPs (‘Evacuation Register’ or similar)</a:t>
            </a:r>
          </a:p>
          <a:p>
            <a:pPr>
              <a:buFont typeface="Arial" pitchFamily="34" charset="0"/>
              <a:buChar char="•"/>
            </a:pPr>
            <a:r>
              <a:rPr lang="en-AU" sz="1200" kern="1200" dirty="0" smtClean="0">
                <a:solidFill>
                  <a:schemeClr val="tx1"/>
                </a:solidFill>
                <a:latin typeface="+mn-lt"/>
                <a:ea typeface="+mn-ea"/>
                <a:cs typeface="+mn-cs"/>
              </a:rPr>
              <a:t> Refer to in-house CCTV footage – to identify where possible people who left the building on their own initiative and/or without moving to designated assembly points.</a:t>
            </a:r>
          </a:p>
          <a:p>
            <a:pPr lvl="1">
              <a:buFont typeface="Arial" pitchFamily="34" charset="0"/>
              <a:buChar char="•"/>
            </a:pPr>
            <a:r>
              <a:rPr lang="en-AU" sz="1200" kern="1200" dirty="0" smtClean="0">
                <a:solidFill>
                  <a:schemeClr val="tx1"/>
                </a:solidFill>
                <a:latin typeface="+mn-lt"/>
                <a:ea typeface="+mn-ea"/>
                <a:cs typeface="+mn-cs"/>
              </a:rPr>
              <a:t> Guests and customers are not under a legal obligation to assemble at the evacuation assembly points.</a:t>
            </a:r>
          </a:p>
          <a:p>
            <a:pPr>
              <a:buFont typeface="Arial" pitchFamily="34" charset="0"/>
              <a:buChar char="•"/>
            </a:pPr>
            <a:r>
              <a:rPr lang="en-AU" sz="1200" kern="1200" dirty="0" smtClean="0">
                <a:solidFill>
                  <a:schemeClr val="tx1"/>
                </a:solidFill>
                <a:latin typeface="+mn-lt"/>
                <a:ea typeface="+mn-ea"/>
                <a:cs typeface="+mn-cs"/>
              </a:rPr>
              <a:t> Talk to managers, supervisors and staff – to obtain their insight into:</a:t>
            </a:r>
          </a:p>
          <a:p>
            <a:pPr lvl="1">
              <a:buFont typeface="Arial" pitchFamily="34" charset="0"/>
              <a:buChar char="•"/>
            </a:pPr>
            <a:r>
              <a:rPr lang="en-AU" sz="1200" kern="1200" dirty="0" smtClean="0">
                <a:solidFill>
                  <a:schemeClr val="tx1"/>
                </a:solidFill>
                <a:latin typeface="+mn-lt"/>
                <a:ea typeface="+mn-ea"/>
                <a:cs typeface="+mn-cs"/>
              </a:rPr>
              <a:t> Who was present at the time the evacuation was initiated</a:t>
            </a:r>
          </a:p>
          <a:p>
            <a:pPr lvl="1">
              <a:buFont typeface="Arial" pitchFamily="34" charset="0"/>
              <a:buChar char="•"/>
            </a:pPr>
            <a:r>
              <a:rPr lang="en-AU" sz="1200" kern="1200" dirty="0" smtClean="0">
                <a:solidFill>
                  <a:schemeClr val="tx1"/>
                </a:solidFill>
                <a:latin typeface="+mn-lt"/>
                <a:ea typeface="+mn-ea"/>
                <a:cs typeface="+mn-cs"/>
              </a:rPr>
              <a:t> Knowledge about people who have evacuated and left the scene without being registered/recorded as having evacuated.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explaining </a:t>
            </a:r>
            <a:r>
              <a:rPr lang="en-AU" sz="1200" b="0" kern="1200" dirty="0" smtClean="0">
                <a:solidFill>
                  <a:schemeClr val="tx1"/>
                </a:solidFill>
                <a:latin typeface="+mn-lt"/>
                <a:ea typeface="+mn-ea"/>
                <a:cs typeface="+mn-cs"/>
              </a:rPr>
              <a:t>basic requirements for confirming numbers:</a:t>
            </a:r>
          </a:p>
          <a:p>
            <a:pPr>
              <a:buFont typeface="Arial" pitchFamily="34" charset="0"/>
              <a:buChar char="•"/>
            </a:pPr>
            <a:r>
              <a:rPr lang="en-AU" sz="1200" kern="1200" dirty="0" smtClean="0">
                <a:solidFill>
                  <a:schemeClr val="tx1"/>
                </a:solidFill>
                <a:latin typeface="+mn-lt"/>
                <a:ea typeface="+mn-ea"/>
                <a:cs typeface="+mn-cs"/>
              </a:rPr>
              <a:t> Conduct a head count – and compare ‘known numbers’ (those who can definitely/without doubt be accounted for) against the number of people known or suspected of being in the venue at the time.</a:t>
            </a:r>
          </a:p>
          <a:p>
            <a:pPr>
              <a:buFont typeface="Arial" pitchFamily="34" charset="0"/>
              <a:buChar char="•"/>
            </a:pPr>
            <a:r>
              <a:rPr lang="en-AU" sz="1200" kern="1200" dirty="0" smtClean="0">
                <a:solidFill>
                  <a:schemeClr val="tx1"/>
                </a:solidFill>
                <a:latin typeface="+mn-lt"/>
                <a:ea typeface="+mn-ea"/>
                <a:cs typeface="+mn-cs"/>
              </a:rPr>
              <a:t> Prepare a detailed list as a result of all the above which can be:</a:t>
            </a:r>
          </a:p>
          <a:p>
            <a:pPr lvl="1">
              <a:buFont typeface="Arial" pitchFamily="34" charset="0"/>
              <a:buChar char="•"/>
            </a:pPr>
            <a:r>
              <a:rPr lang="en-AU" sz="1200" kern="1200" dirty="0" smtClean="0">
                <a:solidFill>
                  <a:schemeClr val="tx1"/>
                </a:solidFill>
                <a:latin typeface="+mn-lt"/>
                <a:ea typeface="+mn-ea"/>
                <a:cs typeface="+mn-cs"/>
              </a:rPr>
              <a:t> Given to authorities</a:t>
            </a:r>
          </a:p>
          <a:p>
            <a:pPr lvl="1">
              <a:buFont typeface="Arial" pitchFamily="34" charset="0"/>
              <a:buChar char="•"/>
            </a:pPr>
            <a:r>
              <a:rPr lang="en-AU" sz="1200" kern="1200" dirty="0" smtClean="0">
                <a:solidFill>
                  <a:schemeClr val="tx1"/>
                </a:solidFill>
                <a:latin typeface="+mn-lt"/>
                <a:ea typeface="+mn-ea"/>
                <a:cs typeface="+mn-cs"/>
              </a:rPr>
              <a:t> Provided to CCC</a:t>
            </a:r>
          </a:p>
          <a:p>
            <a:pPr lvl="1">
              <a:buFont typeface="Arial" pitchFamily="34" charset="0"/>
              <a:buChar char="•"/>
            </a:pPr>
            <a:r>
              <a:rPr lang="en-AU" sz="1200" kern="1200" dirty="0" smtClean="0">
                <a:solidFill>
                  <a:schemeClr val="tx1"/>
                </a:solidFill>
                <a:latin typeface="+mn-lt"/>
                <a:ea typeface="+mn-ea"/>
                <a:cs typeface="+mn-cs"/>
              </a:rPr>
              <a:t> Used as a reference point for follow-up activities (see below)</a:t>
            </a:r>
          </a:p>
          <a:p>
            <a:pPr>
              <a:buFont typeface="Arial" pitchFamily="34" charset="0"/>
              <a:buChar char="•"/>
            </a:pPr>
            <a:r>
              <a:rPr lang="en-AU" sz="1200" kern="1200" dirty="0" smtClean="0">
                <a:solidFill>
                  <a:schemeClr val="tx1"/>
                </a:solidFill>
                <a:latin typeface="+mn-lt"/>
                <a:ea typeface="+mn-ea"/>
                <a:cs typeface="+mn-cs"/>
              </a:rPr>
              <a:t> Liaise with emergency services – to identify any people they may have:</a:t>
            </a:r>
          </a:p>
          <a:p>
            <a:pPr lvl="1">
              <a:buFont typeface="Arial" pitchFamily="34" charset="0"/>
              <a:buChar char="•"/>
            </a:pPr>
            <a:r>
              <a:rPr lang="en-AU" sz="1200" kern="1200" dirty="0" smtClean="0">
                <a:solidFill>
                  <a:schemeClr val="tx1"/>
                </a:solidFill>
                <a:latin typeface="+mn-lt"/>
                <a:ea typeface="+mn-ea"/>
                <a:cs typeface="+mn-cs"/>
              </a:rPr>
              <a:t> Rescued – and perhaps hospitalised</a:t>
            </a:r>
          </a:p>
          <a:p>
            <a:pPr lvl="1">
              <a:buFont typeface="Arial" pitchFamily="34" charset="0"/>
              <a:buChar char="•"/>
            </a:pPr>
            <a:r>
              <a:rPr lang="en-AU" sz="1200" kern="1200" dirty="0" smtClean="0">
                <a:solidFill>
                  <a:schemeClr val="tx1"/>
                </a:solidFill>
                <a:latin typeface="+mn-lt"/>
                <a:ea typeface="+mn-ea"/>
                <a:cs typeface="+mn-cs"/>
              </a:rPr>
              <a:t> Identified as trapped or deceased.</a:t>
            </a:r>
          </a:p>
          <a:p>
            <a:endParaRPr lang="en-AU" sz="1200" b="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Guest Speaker</a:t>
            </a:r>
          </a:p>
          <a:p>
            <a:r>
              <a:rPr lang="en-AU" sz="1200" b="0" kern="1200" dirty="0" smtClean="0">
                <a:solidFill>
                  <a:schemeClr val="tx1"/>
                </a:solidFill>
                <a:latin typeface="+mn-lt"/>
                <a:ea typeface="+mn-ea"/>
                <a:cs typeface="+mn-cs"/>
              </a:rPr>
              <a:t>Trainer arranges for representative from emergency services to attend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Explain need for accounting for people</a:t>
            </a:r>
          </a:p>
          <a:p>
            <a:pPr>
              <a:buFont typeface="Arial" pitchFamily="34" charset="0"/>
              <a:buChar char="•"/>
            </a:pPr>
            <a:r>
              <a:rPr lang="en-AU" sz="1200" b="0" kern="1200" dirty="0" smtClean="0">
                <a:solidFill>
                  <a:schemeClr val="tx1"/>
                </a:solidFill>
                <a:latin typeface="+mn-lt"/>
                <a:ea typeface="+mn-ea"/>
                <a:cs typeface="+mn-cs"/>
              </a:rPr>
              <a:t> Give advice on accounting for people.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highlights need to care for those who have been evacuated </a:t>
            </a:r>
            <a:r>
              <a:rPr lang="en-AU" sz="1200" kern="1200" dirty="0" smtClean="0">
                <a:solidFill>
                  <a:schemeClr val="tx1"/>
                </a:solidFill>
                <a:latin typeface="+mn-lt"/>
                <a:ea typeface="+mn-ea"/>
                <a:cs typeface="+mn-cs"/>
              </a:rPr>
              <a:t>providing examples of what may need to be provided:</a:t>
            </a:r>
          </a:p>
          <a:p>
            <a:pPr>
              <a:buFont typeface="Arial" pitchFamily="34" charset="0"/>
              <a:buChar char="•"/>
            </a:pPr>
            <a:r>
              <a:rPr lang="en-AU" sz="1200" kern="1200" dirty="0" smtClean="0">
                <a:solidFill>
                  <a:schemeClr val="tx1"/>
                </a:solidFill>
                <a:latin typeface="+mn-lt"/>
                <a:ea typeface="+mn-ea"/>
                <a:cs typeface="+mn-cs"/>
              </a:rPr>
              <a:t> A reassuring presence:</a:t>
            </a:r>
          </a:p>
          <a:p>
            <a:pPr lvl="1">
              <a:buFont typeface="Arial" pitchFamily="34" charset="0"/>
              <a:buChar char="•"/>
            </a:pPr>
            <a:r>
              <a:rPr lang="en-AU" sz="1200" kern="1200" dirty="0" smtClean="0">
                <a:solidFill>
                  <a:schemeClr val="tx1"/>
                </a:solidFill>
                <a:latin typeface="+mn-lt"/>
                <a:ea typeface="+mn-ea"/>
                <a:cs typeface="+mn-cs"/>
              </a:rPr>
              <a:t> Talking to people </a:t>
            </a:r>
          </a:p>
          <a:p>
            <a:pPr lvl="1">
              <a:buFont typeface="Arial" pitchFamily="34" charset="0"/>
              <a:buChar char="•"/>
            </a:pPr>
            <a:r>
              <a:rPr lang="en-AU" sz="1200" kern="1200" dirty="0" smtClean="0">
                <a:solidFill>
                  <a:schemeClr val="tx1"/>
                </a:solidFill>
                <a:latin typeface="+mn-lt"/>
                <a:ea typeface="+mn-ea"/>
                <a:cs typeface="+mn-cs"/>
              </a:rPr>
              <a:t> Checking they are OK</a:t>
            </a:r>
          </a:p>
          <a:p>
            <a:pPr lvl="1">
              <a:buFont typeface="Arial" pitchFamily="34" charset="0"/>
              <a:buChar char="•"/>
            </a:pPr>
            <a:r>
              <a:rPr lang="en-AU" sz="1200" kern="1200" dirty="0" smtClean="0">
                <a:solidFill>
                  <a:schemeClr val="tx1"/>
                </a:solidFill>
                <a:latin typeface="+mn-lt"/>
                <a:ea typeface="+mn-ea"/>
                <a:cs typeface="+mn-cs"/>
              </a:rPr>
              <a:t> Asking what they need</a:t>
            </a:r>
          </a:p>
          <a:p>
            <a:pPr lvl="1">
              <a:buFont typeface="Arial" pitchFamily="34" charset="0"/>
              <a:buChar char="•"/>
            </a:pPr>
            <a:r>
              <a:rPr lang="en-AU" sz="1200" kern="1200" dirty="0" smtClean="0">
                <a:solidFill>
                  <a:schemeClr val="tx1"/>
                </a:solidFill>
                <a:latin typeface="+mn-lt"/>
                <a:ea typeface="+mn-ea"/>
                <a:cs typeface="+mn-cs"/>
              </a:rPr>
              <a:t> Giving them attention</a:t>
            </a:r>
          </a:p>
          <a:p>
            <a:pPr>
              <a:buFont typeface="Arial" pitchFamily="34" charset="0"/>
              <a:buChar char="•"/>
            </a:pPr>
            <a:r>
              <a:rPr lang="en-AU" sz="1200" kern="1200" dirty="0" smtClean="0">
                <a:solidFill>
                  <a:schemeClr val="tx1"/>
                </a:solidFill>
                <a:latin typeface="+mn-lt"/>
                <a:ea typeface="+mn-ea"/>
                <a:cs typeface="+mn-cs"/>
              </a:rPr>
              <a:t> Providing medical attention as required – which can include:</a:t>
            </a:r>
          </a:p>
          <a:p>
            <a:pPr lvl="1">
              <a:buFont typeface="Arial" pitchFamily="34" charset="0"/>
              <a:buChar char="•"/>
            </a:pPr>
            <a:r>
              <a:rPr lang="en-AU" sz="1200" kern="1200" dirty="0" smtClean="0">
                <a:solidFill>
                  <a:schemeClr val="tx1"/>
                </a:solidFill>
                <a:latin typeface="+mn-lt"/>
                <a:ea typeface="+mn-ea"/>
                <a:cs typeface="+mn-cs"/>
              </a:rPr>
              <a:t> Providing first aid</a:t>
            </a:r>
          </a:p>
          <a:p>
            <a:pPr lvl="1">
              <a:buFont typeface="Arial" pitchFamily="34" charset="0"/>
              <a:buChar char="•"/>
            </a:pPr>
            <a:r>
              <a:rPr lang="en-AU" sz="1200" kern="1200" dirty="0" smtClean="0">
                <a:solidFill>
                  <a:schemeClr val="tx1"/>
                </a:solidFill>
                <a:latin typeface="+mn-lt"/>
                <a:ea typeface="+mn-ea"/>
                <a:cs typeface="+mn-cs"/>
              </a:rPr>
              <a:t> Making a first aid kit available</a:t>
            </a:r>
          </a:p>
          <a:p>
            <a:pPr lvl="1">
              <a:buFont typeface="Arial" pitchFamily="34" charset="0"/>
              <a:buChar char="•"/>
            </a:pPr>
            <a:r>
              <a:rPr lang="en-AU" sz="1200" kern="1200" dirty="0" smtClean="0">
                <a:solidFill>
                  <a:schemeClr val="tx1"/>
                </a:solidFill>
                <a:latin typeface="+mn-lt"/>
                <a:ea typeface="+mn-ea"/>
                <a:cs typeface="+mn-cs"/>
              </a:rPr>
              <a:t> Obtaining medical care and/or transport to hospital</a:t>
            </a:r>
          </a:p>
          <a:p>
            <a:pPr lvl="1">
              <a:buFont typeface="Arial" pitchFamily="34" charset="0"/>
              <a:buChar char="•"/>
            </a:pPr>
            <a:r>
              <a:rPr lang="en-AU" sz="1200" kern="1200" dirty="0" smtClean="0">
                <a:solidFill>
                  <a:schemeClr val="tx1"/>
                </a:solidFill>
                <a:latin typeface="+mn-lt"/>
                <a:ea typeface="+mn-ea"/>
                <a:cs typeface="+mn-cs"/>
              </a:rPr>
              <a:t> Counselling</a:t>
            </a:r>
          </a:p>
          <a:p>
            <a:pPr>
              <a:buFont typeface="Arial" pitchFamily="34" charset="0"/>
              <a:buChar char="•"/>
            </a:pPr>
            <a:r>
              <a:rPr lang="en-AU" sz="1200" kern="1200" dirty="0" smtClean="0">
                <a:solidFill>
                  <a:schemeClr val="tx1"/>
                </a:solidFill>
                <a:latin typeface="+mn-lt"/>
                <a:ea typeface="+mn-ea"/>
                <a:cs typeface="+mn-cs"/>
              </a:rPr>
              <a:t> Supplying clothing – this is a special need when an evacuation has to be conducted at night and people may not be wearing suitable clothes</a:t>
            </a:r>
          </a:p>
          <a:p>
            <a:pPr>
              <a:buFont typeface="Arial" pitchFamily="34" charset="0"/>
              <a:buChar char="•"/>
            </a:pPr>
            <a:r>
              <a:rPr lang="en-AU" sz="1200" kern="1200" dirty="0" smtClean="0">
                <a:solidFill>
                  <a:schemeClr val="tx1"/>
                </a:solidFill>
                <a:latin typeface="+mn-lt"/>
                <a:ea typeface="+mn-ea"/>
                <a:cs typeface="+mn-cs"/>
              </a:rPr>
              <a:t> Providing something for people to eat and drink:</a:t>
            </a:r>
          </a:p>
          <a:p>
            <a:pPr lvl="1">
              <a:buFont typeface="Arial" pitchFamily="34" charset="0"/>
              <a:buChar char="•"/>
            </a:pPr>
            <a:r>
              <a:rPr lang="en-AU" sz="1200" kern="1200" dirty="0" smtClean="0">
                <a:solidFill>
                  <a:schemeClr val="tx1"/>
                </a:solidFill>
                <a:latin typeface="+mn-lt"/>
                <a:ea typeface="+mn-ea"/>
                <a:cs typeface="+mn-cs"/>
              </a:rPr>
              <a:t> Avoid providing alcohol – even if guests request it and state they are willing to pay</a:t>
            </a:r>
          </a:p>
          <a:p>
            <a:pPr lvl="1">
              <a:buFont typeface="Arial" pitchFamily="34" charset="0"/>
              <a:buChar char="•"/>
            </a:pPr>
            <a:r>
              <a:rPr lang="en-AU" sz="1200" kern="1200" dirty="0" smtClean="0">
                <a:solidFill>
                  <a:schemeClr val="tx1"/>
                </a:solidFill>
                <a:latin typeface="+mn-lt"/>
                <a:ea typeface="+mn-ea"/>
                <a:cs typeface="+mn-cs"/>
              </a:rPr>
              <a:t> Have hot and cold drinks</a:t>
            </a:r>
          </a:p>
          <a:p>
            <a:pPr lvl="1">
              <a:buFont typeface="Arial" pitchFamily="34" charset="0"/>
              <a:buChar char="•"/>
            </a:pPr>
            <a:r>
              <a:rPr lang="en-AU" sz="1200" kern="1200" dirty="0" smtClean="0">
                <a:solidFill>
                  <a:schemeClr val="tx1"/>
                </a:solidFill>
                <a:latin typeface="+mn-lt"/>
                <a:ea typeface="+mn-ea"/>
                <a:cs typeface="+mn-cs"/>
              </a:rPr>
              <a:t> Provide food such as sandwiches and filled rolls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a:t>
            </a:r>
            <a:r>
              <a:rPr lang="en-AU" baseline="0" noProof="0" dirty="0" smtClean="0"/>
              <a:t> things which may need to be provided to evacuees:</a:t>
            </a:r>
          </a:p>
          <a:p>
            <a:pPr>
              <a:buFont typeface="Arial" pitchFamily="34" charset="0"/>
              <a:buChar char="•"/>
            </a:pPr>
            <a:r>
              <a:rPr lang="en-AU" sz="1200" kern="1200" dirty="0" smtClean="0">
                <a:solidFill>
                  <a:schemeClr val="tx1"/>
                </a:solidFill>
                <a:latin typeface="+mn-lt"/>
                <a:ea typeface="+mn-ea"/>
                <a:cs typeface="+mn-cs"/>
              </a:rPr>
              <a:t> Advice regarding toilet and other facilities – especially advice about alternative safety and shelter</a:t>
            </a:r>
          </a:p>
          <a:p>
            <a:pPr>
              <a:buFont typeface="Arial" pitchFamily="34" charset="0"/>
              <a:buChar char="•"/>
            </a:pPr>
            <a:r>
              <a:rPr lang="en-AU" sz="1200" kern="1200" dirty="0" smtClean="0">
                <a:solidFill>
                  <a:schemeClr val="tx1"/>
                </a:solidFill>
                <a:latin typeface="+mn-lt"/>
                <a:ea typeface="+mn-ea"/>
                <a:cs typeface="+mn-cs"/>
              </a:rPr>
              <a:t> Notifying family and friends on behalf of guests/customers – that they are all right and safe</a:t>
            </a:r>
          </a:p>
          <a:p>
            <a:pPr>
              <a:buFont typeface="Arial" pitchFamily="34" charset="0"/>
              <a:buChar char="•"/>
            </a:pPr>
            <a:r>
              <a:rPr lang="en-AU" sz="1200" kern="1200" dirty="0" smtClean="0">
                <a:solidFill>
                  <a:schemeClr val="tx1"/>
                </a:solidFill>
                <a:latin typeface="+mn-lt"/>
                <a:ea typeface="+mn-ea"/>
                <a:cs typeface="+mn-cs"/>
              </a:rPr>
              <a:t> Arrangements for re-housing evacuees – there can be times when it is obvious there is a need to contact other venues and make bookings for your guests to stay at alternate accommodation</a:t>
            </a:r>
          </a:p>
          <a:p>
            <a:pPr>
              <a:buFont typeface="Arial" pitchFamily="34" charset="0"/>
              <a:buChar char="•"/>
            </a:pPr>
            <a:r>
              <a:rPr lang="en-AU" sz="1200" kern="1200" dirty="0" smtClean="0">
                <a:solidFill>
                  <a:schemeClr val="tx1"/>
                </a:solidFill>
                <a:latin typeface="+mn-lt"/>
                <a:ea typeface="+mn-ea"/>
                <a:cs typeface="+mn-cs"/>
              </a:rPr>
              <a:t> Providing information to those who have evacuated about the situation and the progress being made in returning things to normal.</a:t>
            </a:r>
          </a:p>
          <a:p>
            <a:pPr lvl="1">
              <a:buFont typeface="Arial" pitchFamily="34" charset="0"/>
              <a:buChar char="•"/>
            </a:pPr>
            <a:r>
              <a:rPr lang="en-AU" sz="1200" kern="1200" dirty="0" smtClean="0">
                <a:solidFill>
                  <a:schemeClr val="tx1"/>
                </a:solidFill>
                <a:latin typeface="+mn-lt"/>
                <a:ea typeface="+mn-ea"/>
                <a:cs typeface="+mn-cs"/>
              </a:rPr>
              <a:t> One of the greatest criticisms of venues after an evacuation/emergency is guests and customers believe they are never given enough information, they are not given it in a timely manner and they are often told untruths.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following up when </a:t>
            </a:r>
            <a:r>
              <a:rPr lang="en-AU" sz="1200" b="0" kern="1200" dirty="0" smtClean="0">
                <a:solidFill>
                  <a:schemeClr val="tx1"/>
                </a:solidFill>
                <a:latin typeface="+mn-lt"/>
                <a:ea typeface="+mn-ea"/>
                <a:cs typeface="+mn-cs"/>
              </a:rPr>
              <a:t>people are identified as missing/unaccounted:</a:t>
            </a:r>
          </a:p>
          <a:p>
            <a:pPr>
              <a:buFont typeface="Arial" pitchFamily="34" charset="0"/>
              <a:buChar char="•"/>
            </a:pPr>
            <a:r>
              <a:rPr lang="en-AU" sz="1200" b="0" kern="1200" dirty="0" smtClean="0">
                <a:solidFill>
                  <a:schemeClr val="tx1"/>
                </a:solidFill>
                <a:latin typeface="+mn-lt"/>
                <a:ea typeface="+mn-ea"/>
                <a:cs typeface="+mn-cs"/>
              </a:rPr>
              <a:t> Follow house protocols </a:t>
            </a:r>
          </a:p>
          <a:p>
            <a:pPr>
              <a:buFont typeface="Arial" pitchFamily="34" charset="0"/>
              <a:buChar char="•"/>
            </a:pPr>
            <a:r>
              <a:rPr lang="en-AU" sz="1200" b="0" kern="1200" dirty="0" smtClean="0">
                <a:solidFill>
                  <a:schemeClr val="tx1"/>
                </a:solidFill>
                <a:latin typeface="+mn-lt"/>
                <a:ea typeface="+mn-ea"/>
                <a:cs typeface="+mn-cs"/>
              </a:rPr>
              <a:t> Implement the following as a guide if no house protocols exist:</a:t>
            </a:r>
          </a:p>
          <a:p>
            <a:pPr lvl="1">
              <a:buFont typeface="Arial" pitchFamily="34" charset="0"/>
              <a:buChar char="•"/>
            </a:pPr>
            <a:r>
              <a:rPr lang="en-AU" sz="1200" kern="1200" dirty="0" smtClean="0">
                <a:solidFill>
                  <a:schemeClr val="tx1"/>
                </a:solidFill>
                <a:latin typeface="+mn-lt"/>
                <a:ea typeface="+mn-ea"/>
                <a:cs typeface="+mn-cs"/>
              </a:rPr>
              <a:t> Advise the emergency services – by:</a:t>
            </a:r>
          </a:p>
          <a:p>
            <a:pPr lvl="2">
              <a:buFont typeface="Arial" pitchFamily="34" charset="0"/>
              <a:buChar char="•"/>
            </a:pPr>
            <a:r>
              <a:rPr lang="en-AU" sz="1200" kern="1200" dirty="0" smtClean="0">
                <a:solidFill>
                  <a:schemeClr val="tx1"/>
                </a:solidFill>
                <a:latin typeface="+mn-lt"/>
                <a:ea typeface="+mn-ea"/>
                <a:cs typeface="+mn-cs"/>
              </a:rPr>
              <a:t> Notifying names</a:t>
            </a:r>
          </a:p>
          <a:p>
            <a:pPr lvl="2">
              <a:buFont typeface="Arial" pitchFamily="34" charset="0"/>
              <a:buChar char="•"/>
            </a:pPr>
            <a:r>
              <a:rPr lang="en-AU" sz="1200" kern="1200" dirty="0" smtClean="0">
                <a:solidFill>
                  <a:schemeClr val="tx1"/>
                </a:solidFill>
                <a:latin typeface="+mn-lt"/>
                <a:ea typeface="+mn-ea"/>
                <a:cs typeface="+mn-cs"/>
              </a:rPr>
              <a:t> Giving information about last known location of each person</a:t>
            </a:r>
          </a:p>
          <a:p>
            <a:pPr lvl="2">
              <a:buFont typeface="Arial" pitchFamily="34" charset="0"/>
              <a:buChar char="•"/>
            </a:pPr>
            <a:r>
              <a:rPr lang="en-AU" sz="1200" kern="1200" dirty="0" smtClean="0">
                <a:solidFill>
                  <a:schemeClr val="tx1"/>
                </a:solidFill>
                <a:latin typeface="+mn-lt"/>
                <a:ea typeface="+mn-ea"/>
                <a:cs typeface="+mn-cs"/>
              </a:rPr>
              <a:t> Supplying any contact details you have about them</a:t>
            </a:r>
          </a:p>
          <a:p>
            <a:pPr lvl="1">
              <a:buFont typeface="Arial" pitchFamily="34" charset="0"/>
              <a:buChar char="•"/>
            </a:pPr>
            <a:r>
              <a:rPr lang="en-AU" sz="1200" kern="1200" dirty="0" smtClean="0">
                <a:solidFill>
                  <a:schemeClr val="tx1"/>
                </a:solidFill>
                <a:latin typeface="+mn-lt"/>
                <a:ea typeface="+mn-ea"/>
                <a:cs typeface="+mn-cs"/>
              </a:rPr>
              <a:t> Advise CCC of the same details – they may:</a:t>
            </a:r>
          </a:p>
          <a:p>
            <a:pPr lvl="2">
              <a:buFont typeface="Arial" pitchFamily="34" charset="0"/>
              <a:buChar char="•"/>
            </a:pPr>
            <a:r>
              <a:rPr lang="en-AU" sz="1200" kern="1200" dirty="0" smtClean="0">
                <a:solidFill>
                  <a:schemeClr val="tx1"/>
                </a:solidFill>
                <a:latin typeface="+mn-lt"/>
                <a:ea typeface="+mn-ea"/>
                <a:cs typeface="+mn-cs"/>
              </a:rPr>
              <a:t> Initiate searches by designated venue staff who have been tasked with SAR responsibilities</a:t>
            </a:r>
          </a:p>
          <a:p>
            <a:pPr lvl="2">
              <a:buFont typeface="Arial" pitchFamily="34" charset="0"/>
              <a:buChar char="•"/>
            </a:pPr>
            <a:r>
              <a:rPr lang="en-AU" sz="1200" kern="1200" dirty="0" smtClean="0">
                <a:solidFill>
                  <a:schemeClr val="tx1"/>
                </a:solidFill>
                <a:latin typeface="+mn-lt"/>
                <a:ea typeface="+mn-ea"/>
                <a:cs typeface="+mn-cs"/>
              </a:rPr>
              <a:t> Coordinate with authorities regarding action to take/searches</a:t>
            </a:r>
          </a:p>
          <a:p>
            <a:pPr lvl="1">
              <a:buFont typeface="Arial" pitchFamily="34" charset="0"/>
              <a:buChar char="•"/>
            </a:pPr>
            <a:r>
              <a:rPr lang="en-AU" sz="1200" kern="1200" dirty="0" smtClean="0">
                <a:solidFill>
                  <a:schemeClr val="tx1"/>
                </a:solidFill>
                <a:latin typeface="+mn-lt"/>
                <a:ea typeface="+mn-ea"/>
                <a:cs typeface="+mn-cs"/>
              </a:rPr>
              <a:t> Use known contact details and other information known about guests/customers and staff to attempt to contact them – common actions are:</a:t>
            </a:r>
          </a:p>
          <a:p>
            <a:pPr lvl="2">
              <a:buFont typeface="Arial" pitchFamily="34" charset="0"/>
              <a:buChar char="•"/>
            </a:pPr>
            <a:r>
              <a:rPr lang="en-AU" sz="1200" kern="1200" dirty="0" smtClean="0">
                <a:solidFill>
                  <a:schemeClr val="tx1"/>
                </a:solidFill>
                <a:latin typeface="+mn-lt"/>
                <a:ea typeface="+mn-ea"/>
                <a:cs typeface="+mn-cs"/>
              </a:rPr>
              <a:t> Phoning their cell phone</a:t>
            </a:r>
          </a:p>
          <a:p>
            <a:pPr lvl="2">
              <a:buFont typeface="Arial" pitchFamily="34" charset="0"/>
              <a:buChar char="•"/>
            </a:pPr>
            <a:r>
              <a:rPr lang="en-AU" sz="1200" kern="1200" dirty="0" smtClean="0">
                <a:solidFill>
                  <a:schemeClr val="tx1"/>
                </a:solidFill>
                <a:latin typeface="+mn-lt"/>
                <a:ea typeface="+mn-ea"/>
                <a:cs typeface="+mn-cs"/>
              </a:rPr>
              <a:t> Calling their known friends, family and/or associates</a:t>
            </a:r>
          </a:p>
          <a:p>
            <a:pPr lvl="2">
              <a:buFont typeface="Arial" pitchFamily="34" charset="0"/>
              <a:buChar char="•"/>
            </a:pPr>
            <a:r>
              <a:rPr lang="en-AU" sz="1200" kern="1200" dirty="0" smtClean="0">
                <a:solidFill>
                  <a:schemeClr val="tx1"/>
                </a:solidFill>
                <a:latin typeface="+mn-lt"/>
                <a:ea typeface="+mn-ea"/>
                <a:cs typeface="+mn-cs"/>
              </a:rPr>
              <a:t> Calling locations (businesses, tourist attractions, recreation centres) they are thought to be attending or where it is deemed possible they might be</a:t>
            </a:r>
          </a:p>
          <a:p>
            <a:pPr lvl="1">
              <a:buFont typeface="Arial" pitchFamily="34" charset="0"/>
              <a:buChar char="•"/>
            </a:pPr>
            <a:r>
              <a:rPr lang="en-AU" sz="1200" kern="1200" dirty="0" smtClean="0">
                <a:solidFill>
                  <a:schemeClr val="tx1"/>
                </a:solidFill>
                <a:latin typeface="+mn-lt"/>
                <a:ea typeface="+mn-ea"/>
                <a:cs typeface="+mn-cs"/>
              </a:rPr>
              <a:t> Use the media – asking them to broadcast/publish a request for people who were staying at or using the venue on the day and at the time in question to ring a designated/CCC room number to advise they are safe. </a:t>
            </a:r>
          </a:p>
          <a:p>
            <a:pPr>
              <a:buFont typeface="Arial" pitchFamily="34" charset="0"/>
              <a:buChar char="•"/>
            </a:pPr>
            <a:r>
              <a:rPr lang="en-AU" sz="1200" b="0" kern="1200" dirty="0" smtClean="0">
                <a:solidFill>
                  <a:schemeClr val="tx1"/>
                </a:solidFill>
                <a:latin typeface="+mn-lt"/>
                <a:ea typeface="+mn-ea"/>
                <a:cs typeface="+mn-cs"/>
              </a:rPr>
              <a:t>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fulfilling</a:t>
            </a:r>
            <a:r>
              <a:rPr lang="en-US" b="0" baseline="0" dirty="0" smtClean="0"/>
              <a:t> administrative responsibilities</a:t>
            </a:r>
            <a:r>
              <a:rPr lang="en-US" b="0" dirty="0" smtClean="0"/>
              <a:t> by asking questions such as:</a:t>
            </a:r>
          </a:p>
          <a:p>
            <a:pPr>
              <a:buFont typeface="Arial" pitchFamily="34" charset="0"/>
              <a:buChar char="•"/>
            </a:pPr>
            <a:r>
              <a:rPr lang="en-US" b="0" dirty="0" smtClean="0"/>
              <a:t> What do you think are administrative responsibilities relating to maintaining the safety of premises and personnel?</a:t>
            </a:r>
          </a:p>
          <a:p>
            <a:pPr>
              <a:buFont typeface="Arial" pitchFamily="34" charset="0"/>
              <a:buChar char="•"/>
            </a:pPr>
            <a:r>
              <a:rPr lang="en-US" b="0" dirty="0" smtClean="0"/>
              <a:t> What forms and reports do you think need to be completed?</a:t>
            </a:r>
          </a:p>
          <a:p>
            <a:pPr>
              <a:buFont typeface="Arial" pitchFamily="34" charset="0"/>
              <a:buChar char="•"/>
            </a:pPr>
            <a:r>
              <a:rPr lang="en-US" b="0" dirty="0" smtClean="0"/>
              <a:t> Why do these forms and reports need to be completed?</a:t>
            </a:r>
          </a:p>
          <a:p>
            <a:pPr>
              <a:buFont typeface="Arial" pitchFamily="34" charset="0"/>
              <a:buChar char="•"/>
            </a:pPr>
            <a:r>
              <a:rPr lang="en-US" b="0" dirty="0" smtClean="0"/>
              <a:t> How might you cooperate with management to improve venue/workplace safety for patrons and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states a </a:t>
            </a:r>
            <a:r>
              <a:rPr lang="en-AU" sz="1200" kern="1200" dirty="0" smtClean="0">
                <a:solidFill>
                  <a:schemeClr val="tx1"/>
                </a:solidFill>
                <a:latin typeface="+mn-lt"/>
                <a:ea typeface="+mn-ea"/>
                <a:cs typeface="+mn-cs"/>
              </a:rPr>
              <a:t>primary task of fulfilling administrative duties when maintaining the safety of premises and personnel is the need to complete necessary forms and reports highlighting:</a:t>
            </a:r>
          </a:p>
          <a:p>
            <a:pPr>
              <a:buFont typeface="Arial" pitchFamily="34" charset="0"/>
              <a:buChar char="•"/>
            </a:pPr>
            <a:r>
              <a:rPr lang="en-AU" sz="1200" kern="1200" dirty="0" smtClean="0">
                <a:solidFill>
                  <a:schemeClr val="tx1"/>
                </a:solidFill>
                <a:latin typeface="+mn-lt"/>
                <a:ea typeface="+mn-ea"/>
                <a:cs typeface="+mn-cs"/>
              </a:rPr>
              <a:t> These vary between venues – what is required in one venue is not required in another; what does not have to be reported/recorded in one premises does have to be reported/recorded elsewhere</a:t>
            </a:r>
          </a:p>
          <a:p>
            <a:pPr>
              <a:buFont typeface="Arial" pitchFamily="34" charset="0"/>
              <a:buChar char="•"/>
            </a:pPr>
            <a:r>
              <a:rPr lang="en-AU" sz="1200" kern="1200" dirty="0" smtClean="0">
                <a:solidFill>
                  <a:schemeClr val="tx1"/>
                </a:solidFill>
                <a:latin typeface="+mn-lt"/>
                <a:ea typeface="+mn-ea"/>
                <a:cs typeface="+mn-cs"/>
              </a:rPr>
              <a:t> It is important to complete the documents in a timely manner – in practice this means filling in reports and records ‘immediately’ after an incident, event or nominated activity</a:t>
            </a:r>
          </a:p>
          <a:p>
            <a:pPr>
              <a:buFont typeface="Arial" pitchFamily="34" charset="0"/>
              <a:buChar char="•"/>
            </a:pPr>
            <a:r>
              <a:rPr lang="en-AU" sz="1200" kern="1200" dirty="0" smtClean="0">
                <a:solidFill>
                  <a:schemeClr val="tx1"/>
                </a:solidFill>
                <a:latin typeface="+mn-lt"/>
                <a:ea typeface="+mn-ea"/>
                <a:cs typeface="+mn-cs"/>
              </a:rPr>
              <a:t> Completed documentation needs to be ‘forwarded’ – there is always a need to file a form or hand it in to a designated person/department.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advice/requirements when completing forms and reports:</a:t>
            </a:r>
          </a:p>
          <a:p>
            <a:pPr>
              <a:buFont typeface="Arial" pitchFamily="34" charset="0"/>
              <a:buChar char="•"/>
            </a:pPr>
            <a:r>
              <a:rPr lang="en-AU" sz="1200" kern="1200" dirty="0" smtClean="0">
                <a:solidFill>
                  <a:schemeClr val="tx1"/>
                </a:solidFill>
                <a:latin typeface="+mn-lt"/>
                <a:ea typeface="+mn-ea"/>
                <a:cs typeface="+mn-cs"/>
              </a:rPr>
              <a:t> Accuracy is vital – it is essential you take the time to make sure all the details (information as well as statistical data) is correct in every aspect</a:t>
            </a:r>
          </a:p>
          <a:p>
            <a:pPr>
              <a:buFont typeface="Arial" pitchFamily="34" charset="0"/>
              <a:buChar char="•"/>
            </a:pPr>
            <a:r>
              <a:rPr lang="en-AU" sz="1200" kern="1200" dirty="0" smtClean="0">
                <a:solidFill>
                  <a:schemeClr val="tx1"/>
                </a:solidFill>
                <a:latin typeface="+mn-lt"/>
                <a:ea typeface="+mn-ea"/>
                <a:cs typeface="+mn-cs"/>
              </a:rPr>
              <a:t> Obtain necessary in-house training – all venues will provide advice and instruction on:</a:t>
            </a:r>
          </a:p>
          <a:p>
            <a:pPr lvl="1">
              <a:buFont typeface="Arial" pitchFamily="34" charset="0"/>
              <a:buChar char="•"/>
            </a:pPr>
            <a:r>
              <a:rPr lang="en-AU" sz="1200" kern="1200" dirty="0" smtClean="0">
                <a:solidFill>
                  <a:schemeClr val="tx1"/>
                </a:solidFill>
                <a:latin typeface="+mn-lt"/>
                <a:ea typeface="+mn-ea"/>
                <a:cs typeface="+mn-cs"/>
              </a:rPr>
              <a:t> Which documents to use when a report/record is required</a:t>
            </a:r>
          </a:p>
          <a:p>
            <a:pPr lvl="1">
              <a:buFont typeface="Arial" pitchFamily="34" charset="0"/>
              <a:buChar char="•"/>
            </a:pPr>
            <a:r>
              <a:rPr lang="en-AU" sz="1200" kern="1200" dirty="0" smtClean="0">
                <a:solidFill>
                  <a:schemeClr val="tx1"/>
                </a:solidFill>
                <a:latin typeface="+mn-lt"/>
                <a:ea typeface="+mn-ea"/>
                <a:cs typeface="+mn-cs"/>
              </a:rPr>
              <a:t> How to complete the required</a:t>
            </a:r>
          </a:p>
          <a:p>
            <a:pPr lvl="1">
              <a:buFont typeface="Arial" pitchFamily="34" charset="0"/>
              <a:buChar char="•"/>
            </a:pPr>
            <a:r>
              <a:rPr lang="en-AU" sz="1200" kern="1200" dirty="0" smtClean="0">
                <a:solidFill>
                  <a:schemeClr val="tx1"/>
                </a:solidFill>
                <a:latin typeface="+mn-lt"/>
                <a:ea typeface="+mn-ea"/>
                <a:cs typeface="+mn-cs"/>
              </a:rPr>
              <a:t> When to complete them</a:t>
            </a:r>
          </a:p>
          <a:p>
            <a:pPr lvl="1">
              <a:buFont typeface="Arial" pitchFamily="34" charset="0"/>
              <a:buChar char="•"/>
            </a:pPr>
            <a:r>
              <a:rPr lang="en-AU" sz="1200" kern="1200" dirty="0" smtClean="0">
                <a:solidFill>
                  <a:schemeClr val="tx1"/>
                </a:solidFill>
                <a:latin typeface="+mn-lt"/>
                <a:ea typeface="+mn-ea"/>
                <a:cs typeface="+mn-cs"/>
              </a:rPr>
              <a:t> What to do with them when they are completed</a:t>
            </a:r>
          </a:p>
          <a:p>
            <a:pPr>
              <a:buFont typeface="Arial" pitchFamily="34" charset="0"/>
              <a:buChar char="•"/>
            </a:pPr>
            <a:r>
              <a:rPr lang="en-AU" sz="1200" kern="1200" dirty="0" smtClean="0">
                <a:solidFill>
                  <a:schemeClr val="tx1"/>
                </a:solidFill>
                <a:latin typeface="+mn-lt"/>
                <a:ea typeface="+mn-ea"/>
                <a:cs typeface="+mn-cs"/>
              </a:rPr>
              <a:t> Make an effort to look at records/reports others have completed – to get a ‘feel’ for how they complete them, the language and phrases used, and the detail included</a:t>
            </a:r>
          </a:p>
          <a:p>
            <a:pPr>
              <a:buFont typeface="Arial" pitchFamily="34" charset="0"/>
              <a:buChar char="•"/>
            </a:pPr>
            <a:r>
              <a:rPr lang="en-AU" sz="1200" kern="1200" dirty="0" smtClean="0">
                <a:solidFill>
                  <a:schemeClr val="tx1"/>
                </a:solidFill>
                <a:latin typeface="+mn-lt"/>
                <a:ea typeface="+mn-ea"/>
                <a:cs typeface="+mn-cs"/>
              </a:rPr>
              <a:t> Keep a copy of any records/reports you complete – for your own records/purposes ‘after the event’ </a:t>
            </a:r>
          </a:p>
          <a:p>
            <a:pPr>
              <a:buFont typeface="Arial" pitchFamily="34" charset="0"/>
              <a:buChar char="•"/>
            </a:pPr>
            <a:r>
              <a:rPr lang="en-AU" sz="1200" kern="1200" dirty="0" smtClean="0">
                <a:solidFill>
                  <a:schemeClr val="tx1"/>
                </a:solidFill>
                <a:latin typeface="+mn-lt"/>
                <a:ea typeface="+mn-ea"/>
                <a:cs typeface="+mn-cs"/>
              </a:rPr>
              <a:t> Seek advice – when uncertain about:</a:t>
            </a:r>
          </a:p>
          <a:p>
            <a:pPr lvl="1">
              <a:buFont typeface="Arial" pitchFamily="34" charset="0"/>
              <a:buChar char="•"/>
            </a:pPr>
            <a:r>
              <a:rPr lang="en-AU" sz="1200" kern="1200" dirty="0" smtClean="0">
                <a:solidFill>
                  <a:schemeClr val="tx1"/>
                </a:solidFill>
                <a:latin typeface="+mn-lt"/>
                <a:ea typeface="+mn-ea"/>
                <a:cs typeface="+mn-cs"/>
              </a:rPr>
              <a:t> Whether a record/report is required </a:t>
            </a:r>
          </a:p>
          <a:p>
            <a:pPr lvl="1">
              <a:buFont typeface="Arial" pitchFamily="34" charset="0"/>
              <a:buChar char="•"/>
            </a:pPr>
            <a:r>
              <a:rPr lang="en-AU" sz="1200" kern="1200" dirty="0" smtClean="0">
                <a:solidFill>
                  <a:schemeClr val="tx1"/>
                </a:solidFill>
                <a:latin typeface="+mn-lt"/>
                <a:ea typeface="+mn-ea"/>
                <a:cs typeface="+mn-cs"/>
              </a:rPr>
              <a:t> Details/information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latin typeface="+mn-lt"/>
                <a:ea typeface="+mn-ea"/>
                <a:cs typeface="+mn-cs"/>
              </a:rPr>
              <a:t>forms and reports will usually be in one of two basic format options:</a:t>
            </a:r>
          </a:p>
          <a:p>
            <a:pPr>
              <a:buFont typeface="Arial" pitchFamily="34" charset="0"/>
              <a:buChar char="•"/>
            </a:pPr>
            <a:r>
              <a:rPr lang="en-AU" sz="1200" kern="1200" dirty="0" smtClean="0">
                <a:solidFill>
                  <a:schemeClr val="tx1"/>
                </a:solidFill>
                <a:latin typeface="+mn-lt"/>
                <a:ea typeface="+mn-ea"/>
                <a:cs typeface="+mn-cs"/>
              </a:rPr>
              <a:t> Paper-based – meaning there is an actual piece of paper which has to be completed</a:t>
            </a:r>
          </a:p>
          <a:p>
            <a:pPr>
              <a:buFont typeface="Arial" pitchFamily="34" charset="0"/>
              <a:buChar char="•"/>
            </a:pPr>
            <a:r>
              <a:rPr lang="en-AU" sz="1200" kern="1200" dirty="0" smtClean="0">
                <a:solidFill>
                  <a:schemeClr val="tx1"/>
                </a:solidFill>
                <a:latin typeface="+mn-lt"/>
                <a:ea typeface="+mn-ea"/>
                <a:cs typeface="+mn-cs"/>
              </a:rPr>
              <a:t> Electronic – meaning you will have to access a computer and complete the details (‘required fields’).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provides examples of </a:t>
            </a:r>
            <a:r>
              <a:rPr lang="en-AU" sz="1200" kern="1200" dirty="0" smtClean="0">
                <a:solidFill>
                  <a:schemeClr val="tx1"/>
                </a:solidFill>
                <a:latin typeface="+mn-lt"/>
                <a:ea typeface="+mn-ea"/>
                <a:cs typeface="+mn-cs"/>
              </a:rPr>
              <a:t>forms and reports which may need to be completed:</a:t>
            </a:r>
          </a:p>
          <a:p>
            <a:pPr>
              <a:buFont typeface="Arial" pitchFamily="34" charset="0"/>
              <a:buChar char="•"/>
            </a:pPr>
            <a:r>
              <a:rPr lang="en-AU" sz="1200" kern="1200" dirty="0" smtClean="0">
                <a:solidFill>
                  <a:schemeClr val="tx1"/>
                </a:solidFill>
                <a:latin typeface="+mn-lt"/>
                <a:ea typeface="+mn-ea"/>
                <a:cs typeface="+mn-cs"/>
              </a:rPr>
              <a:t> Communications book – used by venues to facilitate communication between staff who work different shifts/days</a:t>
            </a:r>
          </a:p>
          <a:p>
            <a:pPr>
              <a:buFont typeface="Arial" pitchFamily="34" charset="0"/>
              <a:buChar char="•"/>
            </a:pPr>
            <a:r>
              <a:rPr lang="en-AU" sz="1200" kern="1200" dirty="0" smtClean="0">
                <a:solidFill>
                  <a:schemeClr val="tx1"/>
                </a:solidFill>
                <a:latin typeface="+mn-lt"/>
                <a:ea typeface="+mn-ea"/>
                <a:cs typeface="+mn-cs"/>
              </a:rPr>
              <a:t> Vehicle use form – detailing name of person who used the vehicle, reason for use and odometer readings</a:t>
            </a:r>
          </a:p>
          <a:p>
            <a:pPr>
              <a:buFont typeface="Arial" pitchFamily="34" charset="0"/>
              <a:buChar char="•"/>
            </a:pPr>
            <a:r>
              <a:rPr lang="en-AU" sz="1200" kern="1200" dirty="0" smtClean="0">
                <a:solidFill>
                  <a:schemeClr val="tx1"/>
                </a:solidFill>
                <a:latin typeface="+mn-lt"/>
                <a:ea typeface="+mn-ea"/>
                <a:cs typeface="+mn-cs"/>
              </a:rPr>
              <a:t> Incident report – to record details relating to an incident which has occurred in the venue</a:t>
            </a:r>
          </a:p>
          <a:p>
            <a:pPr>
              <a:buFont typeface="Arial" pitchFamily="34" charset="0"/>
              <a:buChar char="•"/>
            </a:pPr>
            <a:r>
              <a:rPr lang="en-AU" sz="1200" kern="1200" dirty="0" smtClean="0">
                <a:solidFill>
                  <a:schemeClr val="tx1"/>
                </a:solidFill>
                <a:latin typeface="+mn-lt"/>
                <a:ea typeface="+mn-ea"/>
                <a:cs typeface="+mn-cs"/>
              </a:rPr>
              <a:t> Compliance reports – detailing action taken to comply with requests/demands from management and/or authorities</a:t>
            </a:r>
          </a:p>
          <a:p>
            <a:pPr>
              <a:buFont typeface="Arial" pitchFamily="34" charset="0"/>
              <a:buChar char="•"/>
            </a:pPr>
            <a:r>
              <a:rPr lang="en-AU" sz="1200" kern="1200" dirty="0" smtClean="0">
                <a:solidFill>
                  <a:schemeClr val="tx1"/>
                </a:solidFill>
                <a:latin typeface="+mn-lt"/>
                <a:ea typeface="+mn-ea"/>
                <a:cs typeface="+mn-cs"/>
              </a:rPr>
              <a:t> Loss and damage assessments – to record details of events which have caused loss or damage to the venue, stock, facilities or guest items.</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forms/reports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provide examples of forms and reports which may need to be completed:</a:t>
            </a:r>
          </a:p>
          <a:p>
            <a:pPr>
              <a:buFont typeface="Arial" pitchFamily="34" charset="0"/>
              <a:buChar char="•"/>
            </a:pPr>
            <a:r>
              <a:rPr lang="en-AU" sz="1200" kern="1200" dirty="0" smtClean="0">
                <a:solidFill>
                  <a:schemeClr val="tx1"/>
                </a:solidFill>
                <a:latin typeface="+mn-lt"/>
                <a:ea typeface="+mn-ea"/>
                <a:cs typeface="+mn-cs"/>
              </a:rPr>
              <a:t> Maintenance Request forms – also known in some venues as Maintenance Requisitions</a:t>
            </a:r>
          </a:p>
          <a:p>
            <a:pPr>
              <a:buFont typeface="Arial" pitchFamily="34" charset="0"/>
              <a:buChar char="•"/>
            </a:pPr>
            <a:r>
              <a:rPr lang="en-AU" sz="1200" kern="1200" dirty="0" smtClean="0">
                <a:solidFill>
                  <a:schemeClr val="tx1"/>
                </a:solidFill>
                <a:latin typeface="+mn-lt"/>
                <a:ea typeface="+mn-ea"/>
                <a:cs typeface="+mn-cs"/>
              </a:rPr>
              <a:t> Maintenance reports – detailing repairs, service and maintenance on items specifying what was done, when it was done and who did it. This form is required when maintenance is undertaken by internal staff or an external provider.</a:t>
            </a:r>
          </a:p>
          <a:p>
            <a:pPr>
              <a:buFont typeface="Arial" pitchFamily="34" charset="0"/>
              <a:buChar char="•"/>
            </a:pPr>
            <a:r>
              <a:rPr lang="en-AU" sz="1200" kern="1200" dirty="0" smtClean="0">
                <a:solidFill>
                  <a:schemeClr val="tx1"/>
                </a:solidFill>
                <a:latin typeface="+mn-lt"/>
                <a:ea typeface="+mn-ea"/>
                <a:cs typeface="+mn-cs"/>
              </a:rPr>
              <a:t> Time sheets – detailing hours worked for a shift: a time clock may replace the need to complete a paper-based time sheet</a:t>
            </a:r>
          </a:p>
          <a:p>
            <a:pPr>
              <a:buFont typeface="Arial" pitchFamily="34" charset="0"/>
              <a:buChar char="•"/>
            </a:pPr>
            <a:r>
              <a:rPr lang="en-AU" sz="1200" kern="1200" dirty="0" smtClean="0">
                <a:solidFill>
                  <a:schemeClr val="tx1"/>
                </a:solidFill>
                <a:latin typeface="+mn-lt"/>
                <a:ea typeface="+mn-ea"/>
                <a:cs typeface="+mn-cs"/>
              </a:rPr>
              <a:t> Task assignments – at the end of the allocated assignment</a:t>
            </a:r>
          </a:p>
          <a:p>
            <a:pPr>
              <a:buFont typeface="Arial" pitchFamily="34" charset="0"/>
              <a:buChar char="•"/>
            </a:pPr>
            <a:r>
              <a:rPr lang="en-AU" sz="1200" kern="1200" dirty="0" smtClean="0">
                <a:solidFill>
                  <a:schemeClr val="tx1"/>
                </a:solidFill>
                <a:latin typeface="+mn-lt"/>
                <a:ea typeface="+mn-ea"/>
                <a:cs typeface="+mn-cs"/>
              </a:rPr>
              <a:t> Job cards/sheets – when allocated work (inspections, repairs, replacements) have been finalised this record will detail:</a:t>
            </a:r>
          </a:p>
          <a:p>
            <a:pPr lvl="1">
              <a:buFont typeface="Arial" pitchFamily="34" charset="0"/>
              <a:buChar char="•"/>
            </a:pPr>
            <a:r>
              <a:rPr lang="en-AU" sz="1200" kern="1200" dirty="0" smtClean="0">
                <a:solidFill>
                  <a:schemeClr val="tx1"/>
                </a:solidFill>
                <a:latin typeface="+mn-lt"/>
                <a:ea typeface="+mn-ea"/>
                <a:cs typeface="+mn-cs"/>
              </a:rPr>
              <a:t> Who did the job</a:t>
            </a:r>
          </a:p>
          <a:p>
            <a:pPr lvl="1">
              <a:buFont typeface="Arial" pitchFamily="34" charset="0"/>
              <a:buChar char="•"/>
            </a:pPr>
            <a:r>
              <a:rPr lang="en-AU" sz="1200" kern="1200" dirty="0" smtClean="0">
                <a:solidFill>
                  <a:schemeClr val="tx1"/>
                </a:solidFill>
                <a:latin typeface="+mn-lt"/>
                <a:ea typeface="+mn-ea"/>
                <a:cs typeface="+mn-cs"/>
              </a:rPr>
              <a:t> Time taken</a:t>
            </a:r>
          </a:p>
          <a:p>
            <a:pPr lvl="1">
              <a:buFont typeface="Arial" pitchFamily="34" charset="0"/>
              <a:buChar char="•"/>
            </a:pPr>
            <a:r>
              <a:rPr lang="en-AU" sz="1200" kern="1200" dirty="0" smtClean="0">
                <a:solidFill>
                  <a:schemeClr val="tx1"/>
                </a:solidFill>
                <a:latin typeface="+mn-lt"/>
                <a:ea typeface="+mn-ea"/>
                <a:cs typeface="+mn-cs"/>
              </a:rPr>
              <a:t> Materials used</a:t>
            </a:r>
          </a:p>
          <a:p>
            <a:pPr lvl="1">
              <a:buFont typeface="Arial" pitchFamily="34" charset="0"/>
              <a:buChar char="•"/>
            </a:pPr>
            <a:r>
              <a:rPr lang="en-AU" sz="1200" kern="1200" dirty="0" smtClean="0">
                <a:solidFill>
                  <a:schemeClr val="tx1"/>
                </a:solidFill>
                <a:latin typeface="+mn-lt"/>
                <a:ea typeface="+mn-ea"/>
                <a:cs typeface="+mn-cs"/>
              </a:rPr>
              <a:t> Parts and components replaced</a:t>
            </a:r>
          </a:p>
          <a:p>
            <a:pPr lvl="1">
              <a:buFont typeface="Arial" pitchFamily="34" charset="0"/>
              <a:buChar char="•"/>
            </a:pPr>
            <a:r>
              <a:rPr lang="en-AU" sz="1200" kern="1200" dirty="0" smtClean="0">
                <a:solidFill>
                  <a:schemeClr val="tx1"/>
                </a:solidFill>
                <a:latin typeface="+mn-lt"/>
                <a:ea typeface="+mn-ea"/>
                <a:cs typeface="+mn-cs"/>
              </a:rPr>
              <a:t> These details enable costing of work done.</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forms/reports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provide examples of forms and reports which may need to be completed:</a:t>
            </a:r>
          </a:p>
          <a:p>
            <a:pPr>
              <a:buFont typeface="Arial" pitchFamily="34" charset="0"/>
              <a:buChar char="•"/>
            </a:pPr>
            <a:r>
              <a:rPr lang="en-AU" sz="1200" kern="1200" dirty="0" smtClean="0">
                <a:solidFill>
                  <a:schemeClr val="tx1"/>
                </a:solidFill>
                <a:latin typeface="+mn-lt"/>
                <a:ea typeface="+mn-ea"/>
                <a:cs typeface="+mn-cs"/>
              </a:rPr>
              <a:t> Patrol logs – at the end of vehicle and foot patrols completed at the end of the patrol or end-of-shift to record times and routes as well as operational details</a:t>
            </a:r>
          </a:p>
          <a:p>
            <a:pPr>
              <a:buFont typeface="Arial" pitchFamily="34" charset="0"/>
              <a:buChar char="•"/>
            </a:pPr>
            <a:r>
              <a:rPr lang="en-AU" sz="1200" kern="1200" dirty="0" smtClean="0">
                <a:solidFill>
                  <a:schemeClr val="tx1"/>
                </a:solidFill>
                <a:latin typeface="+mn-lt"/>
                <a:ea typeface="+mn-ea"/>
                <a:cs typeface="+mn-cs"/>
              </a:rPr>
              <a:t> Suspicious person report – completed at the end of the patrol, end-of-shift or after having responded to a call from venue staff to investigate</a:t>
            </a:r>
          </a:p>
          <a:p>
            <a:pPr>
              <a:buFont typeface="Arial" pitchFamily="34" charset="0"/>
              <a:buChar char="•"/>
            </a:pPr>
            <a:r>
              <a:rPr lang="en-AU" sz="1200" kern="1200" dirty="0" smtClean="0">
                <a:solidFill>
                  <a:schemeClr val="tx1"/>
                </a:solidFill>
                <a:latin typeface="+mn-lt"/>
                <a:ea typeface="+mn-ea"/>
                <a:cs typeface="+mn-cs"/>
              </a:rPr>
              <a:t> Insurance claims – lodging a claim on behalf of the venue against an insurance policy held by the property</a:t>
            </a:r>
          </a:p>
          <a:p>
            <a:pPr>
              <a:buFont typeface="Arial" pitchFamily="34" charset="0"/>
              <a:buChar char="•"/>
            </a:pPr>
            <a:r>
              <a:rPr lang="en-AU" sz="1200" kern="1200" dirty="0" smtClean="0">
                <a:solidFill>
                  <a:schemeClr val="tx1"/>
                </a:solidFill>
                <a:latin typeface="+mn-lt"/>
                <a:ea typeface="+mn-ea"/>
                <a:cs typeface="+mn-cs"/>
              </a:rPr>
              <a:t> CCTV surveillance records – to identify discs/tapes stored/maintained for different dates, times and locations/cameras</a:t>
            </a:r>
          </a:p>
          <a:p>
            <a:pPr>
              <a:buFont typeface="Arial" pitchFamily="34" charset="0"/>
              <a:buChar char="•"/>
            </a:pPr>
            <a:r>
              <a:rPr lang="en-AU" sz="1200" kern="1200" dirty="0" smtClean="0">
                <a:solidFill>
                  <a:schemeClr val="tx1"/>
                </a:solidFill>
                <a:latin typeface="+mn-lt"/>
                <a:ea typeface="+mn-ea"/>
                <a:cs typeface="+mn-cs"/>
              </a:rPr>
              <a:t> Alarm reports/activity logs – identifying activated alarms, locations, times and causes including false alarms.</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forms/reports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provide examples of forms and reports which may need to be completed:</a:t>
            </a:r>
          </a:p>
          <a:p>
            <a:pPr>
              <a:buFont typeface="Arial" pitchFamily="34" charset="0"/>
              <a:buChar char="•"/>
            </a:pPr>
            <a:r>
              <a:rPr lang="en-AU" sz="1200" kern="1200" dirty="0" smtClean="0">
                <a:solidFill>
                  <a:schemeClr val="tx1"/>
                </a:solidFill>
                <a:latin typeface="+mn-lt"/>
                <a:ea typeface="+mn-ea"/>
                <a:cs typeface="+mn-cs"/>
              </a:rPr>
              <a:t> Response reports – detailing action taken in response to alarms and calls for assistance</a:t>
            </a:r>
          </a:p>
          <a:p>
            <a:pPr>
              <a:buFont typeface="Arial" pitchFamily="34" charset="0"/>
              <a:buChar char="•"/>
            </a:pPr>
            <a:r>
              <a:rPr lang="en-AU" sz="1200" kern="1200" dirty="0" smtClean="0">
                <a:solidFill>
                  <a:schemeClr val="tx1"/>
                </a:solidFill>
                <a:latin typeface="+mn-lt"/>
                <a:ea typeface="+mn-ea"/>
                <a:cs typeface="+mn-cs"/>
              </a:rPr>
              <a:t> Equipment faults log – this is used to report operational faults in systems and equipment and to record action taken to record diagnoses</a:t>
            </a:r>
          </a:p>
          <a:p>
            <a:pPr>
              <a:buFont typeface="Arial" pitchFamily="34" charset="0"/>
              <a:buChar char="•"/>
            </a:pPr>
            <a:r>
              <a:rPr lang="en-AU" sz="1200" kern="1200" dirty="0" smtClean="0">
                <a:solidFill>
                  <a:schemeClr val="tx1"/>
                </a:solidFill>
                <a:latin typeface="+mn-lt"/>
                <a:ea typeface="+mn-ea"/>
                <a:cs typeface="+mn-cs"/>
              </a:rPr>
              <a:t> Testing and inspection records – which: </a:t>
            </a:r>
          </a:p>
          <a:p>
            <a:pPr lvl="1">
              <a:buFont typeface="Arial" pitchFamily="34" charset="0"/>
              <a:buChar char="•"/>
            </a:pPr>
            <a:r>
              <a:rPr lang="en-AU" sz="1200" kern="1200" dirty="0" smtClean="0">
                <a:solidFill>
                  <a:schemeClr val="tx1"/>
                </a:solidFill>
                <a:latin typeface="+mn-lt"/>
                <a:ea typeface="+mn-ea"/>
                <a:cs typeface="+mn-cs"/>
              </a:rPr>
              <a:t> Provide evidence of inspections/tests having been undertaken</a:t>
            </a:r>
          </a:p>
          <a:p>
            <a:pPr lvl="1">
              <a:buFont typeface="Arial" pitchFamily="34" charset="0"/>
              <a:buChar char="•"/>
            </a:pPr>
            <a:r>
              <a:rPr lang="en-AU" sz="1200" kern="1200" dirty="0" smtClean="0">
                <a:solidFill>
                  <a:schemeClr val="tx1"/>
                </a:solidFill>
                <a:latin typeface="+mn-lt"/>
                <a:ea typeface="+mn-ea"/>
                <a:cs typeface="+mn-cs"/>
              </a:rPr>
              <a:t> Highlight areas where problems/issues have been identified for further action/follow-up</a:t>
            </a:r>
          </a:p>
          <a:p>
            <a:pPr>
              <a:buFont typeface="Arial" pitchFamily="34" charset="0"/>
              <a:buChar char="•"/>
            </a:pPr>
            <a:r>
              <a:rPr lang="en-AU" sz="1200" kern="1200" dirty="0" smtClean="0">
                <a:solidFill>
                  <a:schemeClr val="tx1"/>
                </a:solidFill>
                <a:latin typeface="+mn-lt"/>
                <a:ea typeface="+mn-ea"/>
                <a:cs typeface="+mn-cs"/>
              </a:rPr>
              <a:t> Witness statements – taken when members of the public are prepare to make statements regarding what they observed when an event, incident or offence took place.</a:t>
            </a:r>
          </a:p>
          <a:p>
            <a:pPr lvl="1">
              <a:buFont typeface="Arial" pitchFamily="34" charset="0"/>
              <a:buChar char="•"/>
            </a:pPr>
            <a:r>
              <a:rPr lang="en-AU" sz="1200" kern="1200" dirty="0" smtClean="0">
                <a:solidFill>
                  <a:schemeClr val="tx1"/>
                </a:solidFill>
                <a:latin typeface="+mn-lt"/>
                <a:ea typeface="+mn-ea"/>
                <a:cs typeface="+mn-cs"/>
              </a:rPr>
              <a:t> Members of the public, customers or guest are under no obligation to make witness statements.</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forms/reports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provide examples of forms and reports which may need to be completed:</a:t>
            </a:r>
          </a:p>
          <a:p>
            <a:pPr>
              <a:buFont typeface="Arial" pitchFamily="34" charset="0"/>
              <a:buChar char="•"/>
            </a:pPr>
            <a:r>
              <a:rPr lang="en-AU" sz="1200" kern="1200" dirty="0" smtClean="0">
                <a:solidFill>
                  <a:schemeClr val="tx1"/>
                </a:solidFill>
                <a:latin typeface="+mn-lt"/>
                <a:ea typeface="+mn-ea"/>
                <a:cs typeface="+mn-cs"/>
              </a:rPr>
              <a:t> Lost and Found register – detailing items which have been found in the venue and items which have been reported as lost as well as items returned to their owners</a:t>
            </a:r>
          </a:p>
          <a:p>
            <a:pPr>
              <a:buFont typeface="Arial" pitchFamily="34" charset="0"/>
              <a:buChar char="•"/>
            </a:pPr>
            <a:r>
              <a:rPr lang="en-AU" sz="1200" kern="1200" dirty="0" smtClean="0">
                <a:solidFill>
                  <a:schemeClr val="tx1"/>
                </a:solidFill>
                <a:latin typeface="+mn-lt"/>
                <a:ea typeface="+mn-ea"/>
                <a:cs typeface="+mn-cs"/>
              </a:rPr>
              <a:t> Recommendations for action – this is a form allowing staff to formally convey suggestions and ideas for issues such as:</a:t>
            </a:r>
          </a:p>
          <a:p>
            <a:pPr lvl="1">
              <a:buFont typeface="Arial" pitchFamily="34" charset="0"/>
              <a:buChar char="•"/>
            </a:pPr>
            <a:r>
              <a:rPr lang="en-AU" sz="1200" kern="1200" dirty="0" smtClean="0">
                <a:solidFill>
                  <a:schemeClr val="tx1"/>
                </a:solidFill>
                <a:latin typeface="+mn-lt"/>
                <a:ea typeface="+mn-ea"/>
                <a:cs typeface="+mn-cs"/>
              </a:rPr>
              <a:t> Changes to SOPs</a:t>
            </a:r>
          </a:p>
          <a:p>
            <a:pPr lvl="1">
              <a:buFont typeface="Arial" pitchFamily="34" charset="0"/>
              <a:buChar char="•"/>
            </a:pPr>
            <a:r>
              <a:rPr lang="en-AU" sz="1200" kern="1200" dirty="0" smtClean="0">
                <a:solidFill>
                  <a:schemeClr val="tx1"/>
                </a:solidFill>
                <a:latin typeface="+mn-lt"/>
                <a:ea typeface="+mn-ea"/>
                <a:cs typeface="+mn-cs"/>
              </a:rPr>
              <a:t> Introduction of new SOPs</a:t>
            </a:r>
          </a:p>
          <a:p>
            <a:pPr lvl="1">
              <a:buFont typeface="Arial" pitchFamily="34" charset="0"/>
              <a:buChar char="•"/>
            </a:pPr>
            <a:r>
              <a:rPr lang="en-AU" sz="1200" kern="1200" dirty="0" smtClean="0">
                <a:solidFill>
                  <a:schemeClr val="tx1"/>
                </a:solidFill>
                <a:latin typeface="+mn-lt"/>
                <a:ea typeface="+mn-ea"/>
                <a:cs typeface="+mn-cs"/>
              </a:rPr>
              <a:t> Replacement of items</a:t>
            </a:r>
          </a:p>
          <a:p>
            <a:pPr lvl="1">
              <a:buFont typeface="Arial" pitchFamily="34" charset="0"/>
              <a:buChar char="•"/>
            </a:pPr>
            <a:r>
              <a:rPr lang="en-AU" sz="1200" kern="1200" dirty="0" smtClean="0">
                <a:solidFill>
                  <a:schemeClr val="tx1"/>
                </a:solidFill>
                <a:latin typeface="+mn-lt"/>
                <a:ea typeface="+mn-ea"/>
                <a:cs typeface="+mn-cs"/>
              </a:rPr>
              <a:t> Disposal of faulty or damaged equipment</a:t>
            </a:r>
          </a:p>
          <a:p>
            <a:pPr lvl="1">
              <a:buFont typeface="Arial" pitchFamily="34" charset="0"/>
              <a:buChar char="•"/>
            </a:pPr>
            <a:r>
              <a:rPr lang="en-AU" sz="1200" kern="1200" dirty="0" smtClean="0">
                <a:solidFill>
                  <a:schemeClr val="tx1"/>
                </a:solidFill>
                <a:latin typeface="+mn-lt"/>
                <a:ea typeface="+mn-ea"/>
                <a:cs typeface="+mn-cs"/>
              </a:rPr>
              <a:t> Purchase of new/different items and equipment. </a:t>
            </a:r>
          </a:p>
          <a:p>
            <a:pPr>
              <a:buFont typeface="Arial" pitchFamily="34" charset="0"/>
              <a:buChar char="•"/>
            </a:pPr>
            <a:r>
              <a:rPr lang="en-AU" sz="1200" kern="1200" dirty="0" smtClean="0">
                <a:solidFill>
                  <a:schemeClr val="tx1"/>
                </a:solidFill>
                <a:latin typeface="+mn-lt"/>
                <a:ea typeface="+mn-ea"/>
                <a:cs typeface="+mn-cs"/>
              </a:rPr>
              <a:t> Request for training – identifying the training required (such as ‘initial training’, ‘top-up training’ or ‘refresher training’) and the items (equipment and/or systems) involved. This training request may also identify ancillary areas in which training is required – these areas may include:</a:t>
            </a:r>
          </a:p>
          <a:p>
            <a:pPr lvl="1">
              <a:buFont typeface="Arial" pitchFamily="34" charset="0"/>
              <a:buChar char="•"/>
            </a:pPr>
            <a:r>
              <a:rPr lang="en-AU" sz="1200" kern="1200" dirty="0" smtClean="0">
                <a:solidFill>
                  <a:schemeClr val="tx1"/>
                </a:solidFill>
                <a:latin typeface="+mn-lt"/>
                <a:ea typeface="+mn-ea"/>
                <a:cs typeface="+mn-cs"/>
              </a:rPr>
              <a:t> First aid</a:t>
            </a:r>
          </a:p>
          <a:p>
            <a:pPr lvl="1">
              <a:buFont typeface="Arial" pitchFamily="34" charset="0"/>
              <a:buChar char="•"/>
            </a:pPr>
            <a:r>
              <a:rPr lang="en-AU" sz="1200" kern="1200" dirty="0" smtClean="0">
                <a:solidFill>
                  <a:schemeClr val="tx1"/>
                </a:solidFill>
                <a:latin typeface="+mn-lt"/>
                <a:ea typeface="+mn-ea"/>
                <a:cs typeface="+mn-cs"/>
              </a:rPr>
              <a:t> Maintenance and service.</a:t>
            </a:r>
          </a:p>
          <a:p>
            <a:pPr>
              <a:buFont typeface="Arial" pitchFamily="34" charset="0"/>
              <a:buNone/>
            </a:pPr>
            <a:endParaRPr lang="en-AU" noProof="0" dirty="0" smtClean="0"/>
          </a:p>
          <a:p>
            <a:pPr>
              <a:buFont typeface="Arial" pitchFamily="34" charset="0"/>
              <a:buNone/>
            </a:pPr>
            <a:r>
              <a:rPr lang="en-AU" b="1" noProof="0" dirty="0" smtClean="0"/>
              <a:t>Class Activity – Presentation and Explanation/Demonstration</a:t>
            </a:r>
          </a:p>
          <a:p>
            <a:pPr>
              <a:buFont typeface="Arial" pitchFamily="34" charset="0"/>
              <a:buNone/>
            </a:pPr>
            <a:r>
              <a:rPr lang="en-AU" b="0" noProof="0" dirty="0" smtClean="0"/>
              <a:t>Trainer presents sample forms/reports as listed on the slide and:</a:t>
            </a:r>
          </a:p>
          <a:p>
            <a:pPr>
              <a:buFont typeface="Arial" pitchFamily="34" charset="0"/>
              <a:buChar char="•"/>
            </a:pPr>
            <a:r>
              <a:rPr lang="en-AU" sz="1200" kern="1200" noProof="0" dirty="0" smtClean="0">
                <a:solidFill>
                  <a:schemeClr val="tx1"/>
                </a:solidFill>
                <a:latin typeface="+mn-lt"/>
                <a:ea typeface="+mn-ea"/>
                <a:cs typeface="+mn-cs"/>
              </a:rPr>
              <a:t> Explains what they are used for</a:t>
            </a:r>
          </a:p>
          <a:p>
            <a:pPr>
              <a:buFont typeface="Arial" pitchFamily="34" charset="0"/>
              <a:buChar char="•"/>
            </a:pPr>
            <a:r>
              <a:rPr lang="en-AU" sz="1200" kern="1200" noProof="0" dirty="0" smtClean="0">
                <a:solidFill>
                  <a:schemeClr val="tx1"/>
                </a:solidFill>
                <a:latin typeface="+mn-lt"/>
                <a:ea typeface="+mn-ea"/>
                <a:cs typeface="+mn-cs"/>
              </a:rPr>
              <a:t> Demonstrates what is involved in competing each.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an </a:t>
            </a:r>
            <a:r>
              <a:rPr lang="en-AU" sz="1200" kern="1200" dirty="0" smtClean="0">
                <a:solidFill>
                  <a:schemeClr val="tx1"/>
                </a:solidFill>
                <a:latin typeface="+mn-lt"/>
                <a:ea typeface="+mn-ea"/>
                <a:cs typeface="+mn-cs"/>
              </a:rPr>
              <a:t>ongoing aspect of everyday work is to cooperate with management to optimise safety of patron and staff safety at the venue highlighting they should participate in a range of activities to demonstrate their support for management in their endeavours:</a:t>
            </a:r>
          </a:p>
          <a:p>
            <a:pPr>
              <a:buFont typeface="Arial" pitchFamily="34" charset="0"/>
              <a:buChar char="•"/>
            </a:pPr>
            <a:r>
              <a:rPr lang="en-AU" sz="1200" kern="1200" dirty="0" smtClean="0">
                <a:solidFill>
                  <a:schemeClr val="tx1"/>
                </a:solidFill>
                <a:latin typeface="+mn-lt"/>
                <a:ea typeface="+mn-ea"/>
                <a:cs typeface="+mn-cs"/>
              </a:rPr>
              <a:t> Engage actively with all aspects of risk management when the need to do so arises – risk identification, risk analysis and risk control</a:t>
            </a:r>
          </a:p>
          <a:p>
            <a:pPr>
              <a:buFont typeface="Arial" pitchFamily="34" charset="0"/>
              <a:buChar char="•"/>
            </a:pPr>
            <a:r>
              <a:rPr lang="en-AU" sz="1200" kern="1200" dirty="0" smtClean="0">
                <a:solidFill>
                  <a:schemeClr val="tx1"/>
                </a:solidFill>
                <a:latin typeface="+mn-lt"/>
                <a:ea typeface="+mn-ea"/>
                <a:cs typeface="+mn-cs"/>
              </a:rPr>
              <a:t> Participate in regular staff briefings, de-briefings and meetings</a:t>
            </a:r>
          </a:p>
          <a:p>
            <a:pPr>
              <a:buFont typeface="Arial" pitchFamily="34" charset="0"/>
              <a:buChar char="•"/>
            </a:pPr>
            <a:r>
              <a:rPr lang="en-AU" sz="1200" kern="1200" dirty="0" smtClean="0">
                <a:solidFill>
                  <a:schemeClr val="tx1"/>
                </a:solidFill>
                <a:latin typeface="+mn-lt"/>
                <a:ea typeface="+mn-ea"/>
                <a:cs typeface="+mn-cs"/>
              </a:rPr>
              <a:t> Participate in scheduled workplace inspections – to:  </a:t>
            </a:r>
          </a:p>
          <a:p>
            <a:pPr lvl="1">
              <a:buFont typeface="Arial" pitchFamily="34" charset="0"/>
              <a:buChar char="•"/>
            </a:pPr>
            <a:r>
              <a:rPr lang="en-AU" sz="1200" kern="1200" dirty="0" smtClean="0">
                <a:solidFill>
                  <a:schemeClr val="tx1"/>
                </a:solidFill>
                <a:latin typeface="+mn-lt"/>
                <a:ea typeface="+mn-ea"/>
                <a:cs typeface="+mn-cs"/>
              </a:rPr>
              <a:t> Confirm existing safety arrangements</a:t>
            </a:r>
          </a:p>
          <a:p>
            <a:pPr lvl="1">
              <a:buFont typeface="Arial" pitchFamily="34" charset="0"/>
              <a:buChar char="•"/>
            </a:pPr>
            <a:r>
              <a:rPr lang="en-AU" sz="1200" kern="1200" dirty="0" smtClean="0">
                <a:solidFill>
                  <a:schemeClr val="tx1"/>
                </a:solidFill>
                <a:latin typeface="+mn-lt"/>
                <a:ea typeface="+mn-ea"/>
                <a:cs typeface="+mn-cs"/>
              </a:rPr>
              <a:t> Identify new threats/problems</a:t>
            </a:r>
          </a:p>
          <a:p>
            <a:pPr>
              <a:buFont typeface="Arial" pitchFamily="34" charset="0"/>
              <a:buChar char="•"/>
            </a:pPr>
            <a:r>
              <a:rPr lang="en-AU" sz="1200" kern="1200" dirty="0" smtClean="0">
                <a:solidFill>
                  <a:schemeClr val="tx1"/>
                </a:solidFill>
                <a:latin typeface="+mn-lt"/>
                <a:ea typeface="+mn-ea"/>
                <a:cs typeface="+mn-cs"/>
              </a:rPr>
              <a:t> Attend conventions, seminars and conferences which have a safety focus – and report back to management on what you discovered/became aware of.</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Guest Speaker</a:t>
            </a:r>
          </a:p>
          <a:p>
            <a:r>
              <a:rPr lang="en-AU" sz="1200" b="0" kern="1200" dirty="0" smtClean="0">
                <a:solidFill>
                  <a:schemeClr val="tx1"/>
                </a:solidFill>
                <a:latin typeface="+mn-lt"/>
                <a:ea typeface="+mn-ea"/>
                <a:cs typeface="+mn-cs"/>
              </a:rPr>
              <a:t>Trainer arranges for relevant venue manager/owner to attend and speak to students about what they as managers/owners expect staff</a:t>
            </a:r>
            <a:r>
              <a:rPr lang="en-AU" sz="1200" b="0" kern="1200" baseline="0" dirty="0" smtClean="0">
                <a:solidFill>
                  <a:schemeClr val="tx1"/>
                </a:solidFill>
                <a:latin typeface="+mn-lt"/>
                <a:ea typeface="+mn-ea"/>
                <a:cs typeface="+mn-cs"/>
              </a:rPr>
              <a:t> to do to support their attempts to improve venue safety for patrons and staff.</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ways students can demonstrate support for management to improve venue safety:</a:t>
            </a:r>
          </a:p>
          <a:p>
            <a:pPr>
              <a:buFont typeface="Arial" pitchFamily="34" charset="0"/>
              <a:buChar char="•"/>
            </a:pPr>
            <a:r>
              <a:rPr lang="en-AU" sz="1200" kern="1200" dirty="0" smtClean="0">
                <a:solidFill>
                  <a:schemeClr val="tx1"/>
                </a:solidFill>
                <a:latin typeface="+mn-lt"/>
                <a:ea typeface="+mn-ea"/>
                <a:cs typeface="+mn-cs"/>
              </a:rPr>
              <a:t> Contribute ideas, suggestions and recommendations for improvement to safety – see later slides</a:t>
            </a:r>
          </a:p>
          <a:p>
            <a:pPr>
              <a:buFont typeface="Arial" pitchFamily="34" charset="0"/>
              <a:buChar char="•"/>
            </a:pPr>
            <a:r>
              <a:rPr lang="en-AU" sz="1200" kern="1200" dirty="0" smtClean="0">
                <a:solidFill>
                  <a:schemeClr val="tx1"/>
                </a:solidFill>
                <a:latin typeface="+mn-lt"/>
                <a:ea typeface="+mn-ea"/>
                <a:cs typeface="+mn-cs"/>
              </a:rPr>
              <a:t> Be willing to trial safety initiatives – and provide feedback on their implementation and effectiveness</a:t>
            </a:r>
          </a:p>
          <a:p>
            <a:pPr>
              <a:buFont typeface="Arial" pitchFamily="34" charset="0"/>
              <a:buChar char="•"/>
            </a:pPr>
            <a:r>
              <a:rPr lang="en-AU" sz="1200" kern="1200" dirty="0" smtClean="0">
                <a:solidFill>
                  <a:schemeClr val="tx1"/>
                </a:solidFill>
                <a:latin typeface="+mn-lt"/>
                <a:ea typeface="+mn-ea"/>
                <a:cs typeface="+mn-cs"/>
              </a:rPr>
              <a:t> Compete all internal forms and reports as required – management use these to determine the need for changes to existing safety arrangements</a:t>
            </a:r>
          </a:p>
          <a:p>
            <a:pPr>
              <a:buFont typeface="Arial" pitchFamily="34" charset="0"/>
              <a:buChar char="•"/>
            </a:pPr>
            <a:r>
              <a:rPr lang="en-AU" sz="1200" kern="1200" dirty="0" smtClean="0">
                <a:solidFill>
                  <a:schemeClr val="tx1"/>
                </a:solidFill>
                <a:latin typeface="+mn-lt"/>
                <a:ea typeface="+mn-ea"/>
                <a:cs typeface="+mn-cs"/>
              </a:rPr>
              <a:t> Visit other venues – to determine their safety protocols.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ways students can demonstrate support for management to improve venue safety:</a:t>
            </a:r>
          </a:p>
          <a:p>
            <a:pPr>
              <a:buFont typeface="Arial" pitchFamily="34" charset="0"/>
              <a:buChar char="•"/>
            </a:pPr>
            <a:r>
              <a:rPr lang="en-AU" sz="1200" kern="1200" dirty="0" smtClean="0">
                <a:solidFill>
                  <a:schemeClr val="tx1"/>
                </a:solidFill>
                <a:latin typeface="+mn-lt"/>
                <a:ea typeface="+mn-ea"/>
                <a:cs typeface="+mn-cs"/>
              </a:rPr>
              <a:t> Develop an industry network of personnel who are involved with venue safety – and communicate regularly with them to share information</a:t>
            </a:r>
          </a:p>
          <a:p>
            <a:pPr>
              <a:buFont typeface="Arial" pitchFamily="34" charset="0"/>
              <a:buChar char="•"/>
            </a:pPr>
            <a:r>
              <a:rPr lang="en-AU" sz="1200" kern="1200" dirty="0" smtClean="0">
                <a:solidFill>
                  <a:schemeClr val="tx1"/>
                </a:solidFill>
                <a:latin typeface="+mn-lt"/>
                <a:ea typeface="+mn-ea"/>
                <a:cs typeface="+mn-cs"/>
              </a:rPr>
              <a:t> Take the time and make the effort to analyse and evaluate indicators of safety performance (such as system reports, written reports, comments from staff and guests) – and provide details of your finding to management</a:t>
            </a:r>
          </a:p>
          <a:p>
            <a:pPr>
              <a:buFont typeface="Arial" pitchFamily="34" charset="0"/>
              <a:buChar char="•"/>
            </a:pPr>
            <a:r>
              <a:rPr lang="en-AU" sz="1200" kern="1200" dirty="0" smtClean="0">
                <a:solidFill>
                  <a:schemeClr val="tx1"/>
                </a:solidFill>
                <a:latin typeface="+mn-lt"/>
                <a:ea typeface="+mn-ea"/>
                <a:cs typeface="+mn-cs"/>
              </a:rPr>
              <a:t> Fully complying with management directives – regarding need for compliance with:</a:t>
            </a:r>
          </a:p>
          <a:p>
            <a:pPr lvl="1">
              <a:buFont typeface="Arial" pitchFamily="34" charset="0"/>
              <a:buChar char="•"/>
            </a:pPr>
            <a:r>
              <a:rPr lang="en-AU" sz="1200" kern="1200" dirty="0" smtClean="0">
                <a:solidFill>
                  <a:schemeClr val="tx1"/>
                </a:solidFill>
                <a:latin typeface="+mn-lt"/>
                <a:ea typeface="+mn-ea"/>
                <a:cs typeface="+mn-cs"/>
              </a:rPr>
              <a:t> Existing safety policies and procedures</a:t>
            </a:r>
          </a:p>
          <a:p>
            <a:pPr lvl="1">
              <a:buFont typeface="Arial" pitchFamily="34" charset="0"/>
              <a:buChar char="•"/>
            </a:pPr>
            <a:r>
              <a:rPr lang="en-AU" sz="1200" kern="1200" dirty="0" smtClean="0">
                <a:solidFill>
                  <a:schemeClr val="tx1"/>
                </a:solidFill>
                <a:latin typeface="+mn-lt"/>
                <a:ea typeface="+mn-ea"/>
                <a:cs typeface="+mn-cs"/>
              </a:rPr>
              <a:t> Revisions to safety policies and procedures</a:t>
            </a:r>
          </a:p>
          <a:p>
            <a:pPr lvl="1">
              <a:buFont typeface="Arial" pitchFamily="34" charset="0"/>
              <a:buChar char="•"/>
            </a:pPr>
            <a:r>
              <a:rPr lang="en-AU" sz="1200" kern="1200" dirty="0" smtClean="0">
                <a:solidFill>
                  <a:schemeClr val="tx1"/>
                </a:solidFill>
                <a:latin typeface="+mn-lt"/>
                <a:ea typeface="+mn-ea"/>
                <a:cs typeface="+mn-cs"/>
              </a:rPr>
              <a:t> Introduction of new safety policies and procedures.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 two-stage approach for making recommendations </a:t>
            </a:r>
            <a:r>
              <a:rPr lang="en-AU" sz="1200" kern="1200" dirty="0" smtClean="0">
                <a:solidFill>
                  <a:schemeClr val="tx1"/>
                </a:solidFill>
                <a:latin typeface="+mn-lt"/>
                <a:ea typeface="+mn-ea"/>
                <a:cs typeface="+mn-cs"/>
              </a:rPr>
              <a:t>recommendations for action to improve venue safety:</a:t>
            </a:r>
          </a:p>
          <a:p>
            <a:pPr>
              <a:buFont typeface="Arial" pitchFamily="34" charset="0"/>
              <a:buChar char="•"/>
            </a:pPr>
            <a:r>
              <a:rPr lang="en-AU" sz="1200" kern="1200" dirty="0" smtClean="0">
                <a:solidFill>
                  <a:schemeClr val="tx1"/>
                </a:solidFill>
                <a:latin typeface="+mn-lt"/>
                <a:ea typeface="+mn-ea"/>
                <a:cs typeface="+mn-cs"/>
              </a:rPr>
              <a:t> Make verbal suggestions first</a:t>
            </a:r>
          </a:p>
          <a:p>
            <a:pPr>
              <a:buFont typeface="Arial" pitchFamily="34" charset="0"/>
              <a:buChar char="•"/>
            </a:pPr>
            <a:r>
              <a:rPr lang="en-AU" sz="1200" kern="1200" dirty="0" smtClean="0">
                <a:solidFill>
                  <a:schemeClr val="tx1"/>
                </a:solidFill>
                <a:latin typeface="+mn-lt"/>
                <a:ea typeface="+mn-ea"/>
                <a:cs typeface="+mn-cs"/>
              </a:rPr>
              <a:t> Supplement these with written recommendations: </a:t>
            </a:r>
          </a:p>
          <a:p>
            <a:pPr lvl="1">
              <a:buFont typeface="Arial" pitchFamily="34" charset="0"/>
              <a:buChar char="•"/>
            </a:pPr>
            <a:r>
              <a:rPr lang="en-AU" sz="1200" kern="1200" dirty="0" smtClean="0">
                <a:solidFill>
                  <a:schemeClr val="tx1"/>
                </a:solidFill>
                <a:latin typeface="+mn-lt"/>
                <a:ea typeface="+mn-ea"/>
                <a:cs typeface="+mn-cs"/>
              </a:rPr>
              <a:t> If the verbal notification is of interest</a:t>
            </a:r>
          </a:p>
          <a:p>
            <a:pPr lvl="1">
              <a:buFont typeface="Arial" pitchFamily="34" charset="0"/>
              <a:buChar char="•"/>
            </a:pPr>
            <a:r>
              <a:rPr lang="en-AU" sz="1200" kern="1200" dirty="0" smtClean="0">
                <a:solidFill>
                  <a:schemeClr val="tx1"/>
                </a:solidFill>
                <a:latin typeface="+mn-lt"/>
                <a:ea typeface="+mn-ea"/>
                <a:cs typeface="+mn-cs"/>
              </a:rPr>
              <a:t> If requested.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points to include when preparing a written recommendation to improve venue safety:</a:t>
            </a:r>
          </a:p>
          <a:p>
            <a:pPr>
              <a:buFont typeface="Arial" pitchFamily="34" charset="0"/>
              <a:buChar char="•"/>
            </a:pPr>
            <a:r>
              <a:rPr lang="en-AU" sz="1200" kern="1200" dirty="0" smtClean="0">
                <a:solidFill>
                  <a:schemeClr val="tx1"/>
                </a:solidFill>
                <a:latin typeface="+mn-lt"/>
                <a:ea typeface="+mn-ea"/>
                <a:cs typeface="+mn-cs"/>
              </a:rPr>
              <a:t> Your name and contact details – cell phone, extension number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Date – the recommendation was written/submitted</a:t>
            </a:r>
          </a:p>
          <a:p>
            <a:pPr>
              <a:buFont typeface="Arial" pitchFamily="34" charset="0"/>
              <a:buChar char="•"/>
            </a:pPr>
            <a:r>
              <a:rPr lang="en-AU" sz="1200" kern="1200" dirty="0" smtClean="0">
                <a:solidFill>
                  <a:schemeClr val="tx1"/>
                </a:solidFill>
                <a:latin typeface="+mn-lt"/>
                <a:ea typeface="+mn-ea"/>
                <a:cs typeface="+mn-cs"/>
              </a:rPr>
              <a:t> Rationale for the recommendation – explaining why the recommendation is being made</a:t>
            </a:r>
          </a:p>
          <a:p>
            <a:pPr>
              <a:buFont typeface="Arial" pitchFamily="34" charset="0"/>
              <a:buChar char="•"/>
            </a:pPr>
            <a:r>
              <a:rPr lang="en-AU" sz="1200" kern="1200" dirty="0" smtClean="0">
                <a:solidFill>
                  <a:schemeClr val="tx1"/>
                </a:solidFill>
                <a:latin typeface="+mn-lt"/>
                <a:ea typeface="+mn-ea"/>
                <a:cs typeface="+mn-cs"/>
              </a:rPr>
              <a:t> Action plan for implementation – setting out sequential and step-by-step activities necessary to trial/pilot and implement the recommendation.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contents of written recommendations to improve venue safety:</a:t>
            </a:r>
          </a:p>
          <a:p>
            <a:pPr>
              <a:buFont typeface="Arial" pitchFamily="34" charset="0"/>
              <a:buChar char="•"/>
            </a:pPr>
            <a:r>
              <a:rPr lang="en-AU" sz="1200" kern="1200" dirty="0" smtClean="0">
                <a:solidFill>
                  <a:schemeClr val="tx1"/>
                </a:solidFill>
                <a:latin typeface="+mn-lt"/>
                <a:ea typeface="+mn-ea"/>
                <a:cs typeface="+mn-cs"/>
              </a:rPr>
              <a:t> Recommendation regarding:</a:t>
            </a:r>
          </a:p>
          <a:p>
            <a:pPr>
              <a:buFont typeface="Arial" pitchFamily="34" charset="0"/>
              <a:buChar char="•"/>
            </a:pPr>
            <a:r>
              <a:rPr lang="en-AU" sz="1200" kern="1200" dirty="0" smtClean="0">
                <a:solidFill>
                  <a:schemeClr val="tx1"/>
                </a:solidFill>
                <a:latin typeface="+mn-lt"/>
                <a:ea typeface="+mn-ea"/>
                <a:cs typeface="+mn-cs"/>
              </a:rPr>
              <a:t> Equipment, systems and technology to be used – including any supporting product information (brochures, quotations, fact sheets)</a:t>
            </a:r>
          </a:p>
          <a:p>
            <a:pPr>
              <a:buFont typeface="Arial" pitchFamily="34" charset="0"/>
              <a:buChar char="•"/>
            </a:pPr>
            <a:r>
              <a:rPr lang="en-AU" sz="1200" kern="1200" dirty="0" smtClean="0">
                <a:solidFill>
                  <a:schemeClr val="tx1"/>
                </a:solidFill>
                <a:latin typeface="+mn-lt"/>
                <a:ea typeface="+mn-ea"/>
                <a:cs typeface="+mn-cs"/>
              </a:rPr>
              <a:t> Provider, supplier and/or installer who should be employed</a:t>
            </a:r>
          </a:p>
          <a:p>
            <a:pPr>
              <a:buFont typeface="Arial" pitchFamily="34" charset="0"/>
              <a:buChar char="•"/>
            </a:pPr>
            <a:r>
              <a:rPr lang="en-AU" sz="1200" kern="1200" dirty="0" smtClean="0">
                <a:solidFill>
                  <a:schemeClr val="tx1"/>
                </a:solidFill>
                <a:latin typeface="+mn-lt"/>
                <a:ea typeface="+mn-ea"/>
                <a:cs typeface="+mn-cs"/>
              </a:rPr>
              <a:t> Timelines for implementation</a:t>
            </a:r>
          </a:p>
          <a:p>
            <a:pPr>
              <a:buFont typeface="Arial" pitchFamily="34" charset="0"/>
              <a:buChar char="•"/>
            </a:pPr>
            <a:r>
              <a:rPr lang="en-AU" sz="1200" kern="1200" dirty="0" smtClean="0">
                <a:solidFill>
                  <a:schemeClr val="tx1"/>
                </a:solidFill>
                <a:latin typeface="+mn-lt"/>
                <a:ea typeface="+mn-ea"/>
                <a:cs typeface="+mn-cs"/>
              </a:rPr>
              <a:t> Training required to support the initiative.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contents of written recommendations to improve venue safety:</a:t>
            </a:r>
          </a:p>
          <a:p>
            <a:pPr>
              <a:buFont typeface="Arial" pitchFamily="34" charset="0"/>
              <a:buChar char="•"/>
            </a:pPr>
            <a:r>
              <a:rPr lang="en-AU" sz="1200" kern="1200" dirty="0" smtClean="0">
                <a:solidFill>
                  <a:schemeClr val="tx1"/>
                </a:solidFill>
                <a:latin typeface="+mn-lt"/>
                <a:ea typeface="+mn-ea"/>
                <a:cs typeface="+mn-cs"/>
              </a:rPr>
              <a:t> Details of any new staff required – or additional staff hours required</a:t>
            </a:r>
          </a:p>
          <a:p>
            <a:pPr>
              <a:buFont typeface="Arial" pitchFamily="34" charset="0"/>
              <a:buChar char="•"/>
            </a:pPr>
            <a:r>
              <a:rPr lang="en-AU" sz="1200" kern="1200" dirty="0" smtClean="0">
                <a:solidFill>
                  <a:schemeClr val="tx1"/>
                </a:solidFill>
                <a:latin typeface="+mn-lt"/>
                <a:ea typeface="+mn-ea"/>
                <a:cs typeface="+mn-cs"/>
              </a:rPr>
              <a:t> Transitional arrangements (where applicable) – detailing how the initiative/recommendation will be phased in to/integrated with other SOPs of the workplace</a:t>
            </a:r>
          </a:p>
          <a:p>
            <a:pPr>
              <a:buFont typeface="Arial" pitchFamily="34" charset="0"/>
              <a:buChar char="•"/>
            </a:pPr>
            <a:r>
              <a:rPr lang="en-AU" sz="1200" kern="1200" dirty="0" smtClean="0">
                <a:solidFill>
                  <a:schemeClr val="tx1"/>
                </a:solidFill>
                <a:latin typeface="+mn-lt"/>
                <a:ea typeface="+mn-ea"/>
                <a:cs typeface="+mn-cs"/>
              </a:rPr>
              <a:t> Explanation of the benefits which should flow – from implementation of the initiative/proposal</a:t>
            </a:r>
          </a:p>
          <a:p>
            <a:pPr>
              <a:buFont typeface="Arial" pitchFamily="34" charset="0"/>
              <a:buChar char="•"/>
            </a:pPr>
            <a:r>
              <a:rPr lang="en-AU" sz="1200" kern="1200" dirty="0" smtClean="0">
                <a:solidFill>
                  <a:schemeClr val="tx1"/>
                </a:solidFill>
                <a:latin typeface="+mn-lt"/>
                <a:ea typeface="+mn-ea"/>
                <a:cs typeface="+mn-cs"/>
              </a:rPr>
              <a:t> Cost involved – including, as appropriate:</a:t>
            </a:r>
          </a:p>
          <a:p>
            <a:pPr lvl="1">
              <a:buFont typeface="Arial" pitchFamily="34" charset="0"/>
              <a:buChar char="•"/>
            </a:pPr>
            <a:r>
              <a:rPr lang="en-AU" sz="1200" kern="1200" dirty="0" smtClean="0">
                <a:solidFill>
                  <a:schemeClr val="tx1"/>
                </a:solidFill>
                <a:latin typeface="+mn-lt"/>
                <a:ea typeface="+mn-ea"/>
                <a:cs typeface="+mn-cs"/>
              </a:rPr>
              <a:t> A cost-benefit analysis</a:t>
            </a:r>
          </a:p>
          <a:p>
            <a:pPr lvl="1">
              <a:buFont typeface="Arial" pitchFamily="34" charset="0"/>
              <a:buChar char="•"/>
            </a:pPr>
            <a:r>
              <a:rPr lang="en-AU" sz="1200" kern="1200" dirty="0" smtClean="0">
                <a:solidFill>
                  <a:schemeClr val="tx1"/>
                </a:solidFill>
                <a:latin typeface="+mn-lt"/>
                <a:ea typeface="+mn-ea"/>
                <a:cs typeface="+mn-cs"/>
              </a:rPr>
              <a:t> Money which may be received as a result of sale of ‘old’ equipment.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responding to a deceased person by asking questions such as:</a:t>
            </a:r>
          </a:p>
          <a:p>
            <a:pPr>
              <a:buFont typeface="Arial" pitchFamily="34" charset="0"/>
              <a:buChar char="•"/>
            </a:pPr>
            <a:r>
              <a:rPr lang="en-US" b="0" dirty="0" smtClean="0"/>
              <a:t> Have you ever been involved in a deceased person situation in a venue? What happened? What did staff do?</a:t>
            </a:r>
          </a:p>
          <a:p>
            <a:pPr>
              <a:buFont typeface="Arial" pitchFamily="34" charset="0"/>
              <a:buChar char="•"/>
            </a:pPr>
            <a:r>
              <a:rPr lang="en-US" b="0" noProof="0" dirty="0" smtClean="0"/>
              <a:t> Why do you think it is necessary to respond appropriately to deceased person situations?</a:t>
            </a:r>
          </a:p>
          <a:p>
            <a:pPr>
              <a:buFont typeface="Arial" pitchFamily="34" charset="0"/>
              <a:buChar char="•"/>
            </a:pPr>
            <a:r>
              <a:rPr lang="en-US" b="0" noProof="0" dirty="0" smtClean="0"/>
              <a:t> What might be involved in responding appropriately?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dealing with a deceased person </a:t>
            </a:r>
            <a:r>
              <a:rPr lang="en-AU" sz="1200" kern="1200" dirty="0" smtClean="0">
                <a:solidFill>
                  <a:schemeClr val="tx1"/>
                </a:solidFill>
                <a:latin typeface="+mn-lt"/>
                <a:ea typeface="+mn-ea"/>
                <a:cs typeface="+mn-cs"/>
              </a:rPr>
              <a:t>highlighting such a situation is distressing for everyone involved but must be handled professionally and explaining the following helps provide a context for deceased person situations:</a:t>
            </a:r>
          </a:p>
          <a:p>
            <a:pPr>
              <a:buFont typeface="Arial" pitchFamily="34" charset="0"/>
              <a:buChar char="•"/>
            </a:pPr>
            <a:r>
              <a:rPr lang="en-AU" sz="1200" kern="1200" dirty="0" smtClean="0">
                <a:solidFill>
                  <a:schemeClr val="tx1"/>
                </a:solidFill>
                <a:latin typeface="+mn-lt"/>
                <a:ea typeface="+mn-ea"/>
                <a:cs typeface="+mn-cs"/>
              </a:rPr>
              <a:t> The incidence of deceased persons in the industry is very, very low</a:t>
            </a:r>
          </a:p>
          <a:p>
            <a:pPr>
              <a:buFont typeface="Arial" pitchFamily="34" charset="0"/>
              <a:buChar char="•"/>
            </a:pPr>
            <a:r>
              <a:rPr lang="en-AU" sz="1200" kern="1200" dirty="0" smtClean="0">
                <a:solidFill>
                  <a:schemeClr val="tx1"/>
                </a:solidFill>
                <a:latin typeface="+mn-lt"/>
                <a:ea typeface="+mn-ea"/>
                <a:cs typeface="+mn-cs"/>
              </a:rPr>
              <a:t> A ‘deceased person situation’ means a situation where a person is found to be dead on the premises</a:t>
            </a:r>
          </a:p>
          <a:p>
            <a:pPr>
              <a:buFont typeface="Arial" pitchFamily="34" charset="0"/>
              <a:buChar char="•"/>
            </a:pPr>
            <a:r>
              <a:rPr lang="en-AU" sz="1200" kern="1200" dirty="0" smtClean="0">
                <a:solidFill>
                  <a:schemeClr val="tx1"/>
                </a:solidFill>
                <a:latin typeface="+mn-lt"/>
                <a:ea typeface="+mn-ea"/>
                <a:cs typeface="+mn-cs"/>
              </a:rPr>
              <a:t> The deceased person may be a guest who is staying in a room at the venue or a member of the public who was drinking or dining at the venue, or who had wandered into the premises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Many venues have developed their own protocols for handling deceased person situation and where these exist it is important they are adhered to.</a:t>
            </a:r>
          </a:p>
          <a:p>
            <a:pPr>
              <a:buFont typeface="Arial" pitchFamily="34" charset="0"/>
              <a:buChar cha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providing context for a deceased</a:t>
            </a:r>
            <a:r>
              <a:rPr lang="en-AU" baseline="0" noProof="0" dirty="0" smtClean="0"/>
              <a:t> person situation:</a:t>
            </a:r>
          </a:p>
          <a:p>
            <a:pPr>
              <a:buFont typeface="Arial" pitchFamily="34" charset="0"/>
              <a:buChar char="•"/>
            </a:pPr>
            <a:r>
              <a:rPr lang="en-AU" sz="1200" kern="1200" dirty="0" smtClean="0">
                <a:solidFill>
                  <a:schemeClr val="tx1"/>
                </a:solidFill>
                <a:latin typeface="+mn-lt"/>
                <a:ea typeface="+mn-ea"/>
                <a:cs typeface="+mn-cs"/>
              </a:rPr>
              <a:t> Death may have been occasioned by:</a:t>
            </a:r>
          </a:p>
          <a:p>
            <a:pPr lvl="1">
              <a:buFont typeface="Arial" pitchFamily="34" charset="0"/>
              <a:buChar char="•"/>
            </a:pPr>
            <a:r>
              <a:rPr lang="en-AU" sz="1200" kern="1200" dirty="0" smtClean="0">
                <a:solidFill>
                  <a:schemeClr val="tx1"/>
                </a:solidFill>
                <a:latin typeface="+mn-lt"/>
                <a:ea typeface="+mn-ea"/>
                <a:cs typeface="+mn-cs"/>
              </a:rPr>
              <a:t> ‘Natural causes’ – such as:</a:t>
            </a:r>
          </a:p>
          <a:p>
            <a:pPr lvl="2">
              <a:buFont typeface="Arial" pitchFamily="34" charset="0"/>
              <a:buChar char="•"/>
            </a:pPr>
            <a:r>
              <a:rPr lang="en-AU" sz="1200" kern="1200" dirty="0" smtClean="0">
                <a:solidFill>
                  <a:schemeClr val="tx1"/>
                </a:solidFill>
                <a:latin typeface="+mn-lt"/>
                <a:ea typeface="+mn-ea"/>
                <a:cs typeface="+mn-cs"/>
              </a:rPr>
              <a:t> People passing away in their sleep</a:t>
            </a:r>
          </a:p>
          <a:p>
            <a:pPr lvl="2">
              <a:buFont typeface="Arial" pitchFamily="34" charset="0"/>
              <a:buChar char="•"/>
            </a:pPr>
            <a:r>
              <a:rPr lang="en-AU" sz="1200" kern="1200" dirty="0" smtClean="0">
                <a:solidFill>
                  <a:schemeClr val="tx1"/>
                </a:solidFill>
                <a:latin typeface="+mn-lt"/>
                <a:ea typeface="+mn-ea"/>
                <a:cs typeface="+mn-cs"/>
              </a:rPr>
              <a:t> Old age</a:t>
            </a:r>
          </a:p>
          <a:p>
            <a:pPr lvl="2">
              <a:buFont typeface="Arial" pitchFamily="34" charset="0"/>
              <a:buChar char="•"/>
            </a:pPr>
            <a:r>
              <a:rPr lang="en-AU" sz="1200" kern="1200" dirty="0" smtClean="0">
                <a:solidFill>
                  <a:schemeClr val="tx1"/>
                </a:solidFill>
                <a:latin typeface="+mn-lt"/>
                <a:ea typeface="+mn-ea"/>
                <a:cs typeface="+mn-cs"/>
              </a:rPr>
              <a:t> Results of a medical condition</a:t>
            </a:r>
          </a:p>
          <a:p>
            <a:pPr lvl="1">
              <a:buFont typeface="Arial" pitchFamily="34" charset="0"/>
              <a:buChar char="•"/>
            </a:pPr>
            <a:r>
              <a:rPr lang="en-AU" sz="1200" kern="1200" dirty="0" smtClean="0">
                <a:solidFill>
                  <a:schemeClr val="tx1"/>
                </a:solidFill>
                <a:latin typeface="+mn-lt"/>
                <a:ea typeface="+mn-ea"/>
                <a:cs typeface="+mn-cs"/>
              </a:rPr>
              <a:t> An accident – such as:</a:t>
            </a:r>
          </a:p>
          <a:p>
            <a:pPr lvl="2">
              <a:buFont typeface="Arial" pitchFamily="34" charset="0"/>
              <a:buChar char="•"/>
            </a:pPr>
            <a:r>
              <a:rPr lang="en-AU" sz="1200" kern="1200" dirty="0" smtClean="0">
                <a:solidFill>
                  <a:schemeClr val="tx1"/>
                </a:solidFill>
                <a:latin typeface="+mn-lt"/>
                <a:ea typeface="+mn-ea"/>
                <a:cs typeface="+mn-cs"/>
              </a:rPr>
              <a:t> Choking </a:t>
            </a:r>
          </a:p>
          <a:p>
            <a:pPr lvl="2">
              <a:buFont typeface="Arial" pitchFamily="34" charset="0"/>
              <a:buChar char="•"/>
            </a:pPr>
            <a:r>
              <a:rPr lang="en-AU" sz="1200" kern="1200" dirty="0" smtClean="0">
                <a:solidFill>
                  <a:schemeClr val="tx1"/>
                </a:solidFill>
                <a:latin typeface="+mn-lt"/>
                <a:ea typeface="+mn-ea"/>
                <a:cs typeface="+mn-cs"/>
              </a:rPr>
              <a:t> A fall</a:t>
            </a:r>
          </a:p>
          <a:p>
            <a:pPr lvl="1">
              <a:buFont typeface="Arial" pitchFamily="34" charset="0"/>
              <a:buChar char="•"/>
            </a:pPr>
            <a:r>
              <a:rPr lang="en-AU" sz="1200" kern="1200" dirty="0" smtClean="0">
                <a:solidFill>
                  <a:schemeClr val="tx1"/>
                </a:solidFill>
                <a:latin typeface="+mn-lt"/>
                <a:ea typeface="+mn-ea"/>
                <a:cs typeface="+mn-cs"/>
              </a:rPr>
              <a:t> Criminal action – such as:</a:t>
            </a:r>
          </a:p>
          <a:p>
            <a:pPr lvl="1">
              <a:buFont typeface="Arial" pitchFamily="34" charset="0"/>
              <a:buChar char="•"/>
            </a:pPr>
            <a:r>
              <a:rPr lang="en-AU" sz="1200" kern="1200" dirty="0" smtClean="0">
                <a:solidFill>
                  <a:schemeClr val="tx1"/>
                </a:solidFill>
                <a:latin typeface="+mn-lt"/>
                <a:ea typeface="+mn-ea"/>
                <a:cs typeface="+mn-cs"/>
              </a:rPr>
              <a:t> An assault</a:t>
            </a:r>
          </a:p>
          <a:p>
            <a:pPr lvl="1">
              <a:buFont typeface="Arial" pitchFamily="34" charset="0"/>
              <a:buChar char="•"/>
            </a:pPr>
            <a:r>
              <a:rPr lang="en-AU" sz="1200" kern="1200" dirty="0" smtClean="0">
                <a:solidFill>
                  <a:schemeClr val="tx1"/>
                </a:solidFill>
                <a:latin typeface="+mn-lt"/>
                <a:ea typeface="+mn-ea"/>
                <a:cs typeface="+mn-cs"/>
              </a:rPr>
              <a:t> Homicide</a:t>
            </a:r>
          </a:p>
          <a:p>
            <a:pPr lvl="1">
              <a:buFont typeface="Arial" pitchFamily="34" charset="0"/>
              <a:buChar char="•"/>
            </a:pPr>
            <a:r>
              <a:rPr lang="en-AU" sz="1200" kern="1200" dirty="0" smtClean="0">
                <a:solidFill>
                  <a:schemeClr val="tx1"/>
                </a:solidFill>
                <a:latin typeface="+mn-lt"/>
                <a:ea typeface="+mn-ea"/>
                <a:cs typeface="+mn-cs"/>
              </a:rPr>
              <a:t> Suicide.</a:t>
            </a:r>
          </a:p>
          <a:p>
            <a:pPr>
              <a:buFont typeface="Arial" pitchFamily="34" charset="0"/>
              <a:buNone/>
            </a:pPr>
            <a:endParaRPr lang="en-AU" baseline="0"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manager of local venue to attend and talk to students about:</a:t>
            </a:r>
          </a:p>
          <a:p>
            <a:pPr>
              <a:buFont typeface="Arial" pitchFamily="34" charset="0"/>
              <a:buChar char="•"/>
            </a:pPr>
            <a:r>
              <a:rPr lang="en-AU" b="0" noProof="0" dirty="0" smtClean="0"/>
              <a:t> Protocols at their venue for dealing with deceased persons</a:t>
            </a:r>
          </a:p>
          <a:p>
            <a:pPr>
              <a:buFont typeface="Arial" pitchFamily="34" charset="0"/>
              <a:buChar char="•"/>
            </a:pPr>
            <a:r>
              <a:rPr lang="en-AU" b="0" noProof="0" dirty="0" smtClean="0"/>
              <a:t> Training in this regard for staff</a:t>
            </a:r>
          </a:p>
          <a:p>
            <a:pPr>
              <a:buFont typeface="Arial" pitchFamily="34" charset="0"/>
              <a:buChar char="•"/>
            </a:pPr>
            <a:r>
              <a:rPr lang="en-AU" b="0" noProof="0" dirty="0" smtClean="0"/>
              <a:t> Stories</a:t>
            </a:r>
            <a:r>
              <a:rPr lang="en-AU" b="0" baseline="0" noProof="0" dirty="0" smtClean="0"/>
              <a:t> of their experience with deceased persons.</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identifies acceptable course of action if deceased person is found:</a:t>
            </a:r>
          </a:p>
          <a:p>
            <a:pPr>
              <a:buFont typeface="Arial" pitchFamily="34" charset="0"/>
              <a:buChar char="•"/>
            </a:pPr>
            <a:r>
              <a:rPr lang="en-AU" sz="1200" kern="1200" dirty="0" smtClean="0">
                <a:solidFill>
                  <a:schemeClr val="tx1"/>
                </a:solidFill>
                <a:latin typeface="+mn-lt"/>
                <a:ea typeface="+mn-ea"/>
                <a:cs typeface="+mn-cs"/>
              </a:rPr>
              <a:t> Immediately notify Front Office, Security or the designated department or person in the venue – this must be the non-negotiable first step before you do anything else.</a:t>
            </a:r>
          </a:p>
          <a:p>
            <a:pPr lvl="1">
              <a:buFont typeface="Arial" pitchFamily="34" charset="0"/>
              <a:buChar char="•"/>
            </a:pPr>
            <a:r>
              <a:rPr lang="en-AU" sz="1200" kern="1200" dirty="0" smtClean="0">
                <a:solidFill>
                  <a:schemeClr val="tx1"/>
                </a:solidFill>
                <a:latin typeface="+mn-lt"/>
                <a:ea typeface="+mn-ea"/>
                <a:cs typeface="+mn-cs"/>
              </a:rPr>
              <a:t> You must notify someone internally you have discovered what you believe to be a dead body.</a:t>
            </a:r>
          </a:p>
          <a:p>
            <a:pPr lvl="1">
              <a:buFont typeface="Arial" pitchFamily="34" charset="0"/>
              <a:buChar char="•"/>
            </a:pPr>
            <a:r>
              <a:rPr lang="en-AU" sz="1200" kern="1200" dirty="0" smtClean="0">
                <a:solidFill>
                  <a:schemeClr val="tx1"/>
                </a:solidFill>
                <a:latin typeface="+mn-lt"/>
                <a:ea typeface="+mn-ea"/>
                <a:cs typeface="+mn-cs"/>
              </a:rPr>
              <a:t> This is done so assistance will start moving your way immediately.</a:t>
            </a:r>
          </a:p>
          <a:p>
            <a:pPr lvl="1">
              <a:buFont typeface="Arial" pitchFamily="34" charset="0"/>
              <a:buChar char="•"/>
            </a:pPr>
            <a:r>
              <a:rPr lang="en-AU" sz="1200" kern="1200" dirty="0" smtClean="0">
                <a:solidFill>
                  <a:schemeClr val="tx1"/>
                </a:solidFill>
                <a:latin typeface="+mn-lt"/>
                <a:ea typeface="+mn-ea"/>
                <a:cs typeface="+mn-cs"/>
              </a:rPr>
              <a:t> The venue may have a special code for this situation – for example:</a:t>
            </a:r>
          </a:p>
          <a:p>
            <a:pPr lvl="2">
              <a:buFont typeface="Arial" pitchFamily="34" charset="0"/>
              <a:buChar char="•"/>
            </a:pPr>
            <a:r>
              <a:rPr lang="en-AU" sz="1200" kern="1200" dirty="0" smtClean="0">
                <a:solidFill>
                  <a:schemeClr val="tx1"/>
                </a:solidFill>
                <a:latin typeface="+mn-lt"/>
                <a:ea typeface="+mn-ea"/>
                <a:cs typeface="+mn-cs"/>
              </a:rPr>
              <a:t> “This is David in Room 236. We have a code 83 here”</a:t>
            </a:r>
          </a:p>
          <a:p>
            <a:pPr lvl="2">
              <a:buFont typeface="Arial" pitchFamily="34" charset="0"/>
              <a:buChar char="•"/>
            </a:pPr>
            <a:r>
              <a:rPr lang="en-AU" sz="1200" kern="1200" dirty="0" smtClean="0">
                <a:solidFill>
                  <a:schemeClr val="tx1"/>
                </a:solidFill>
                <a:latin typeface="+mn-lt"/>
                <a:ea typeface="+mn-ea"/>
                <a:cs typeface="+mn-cs"/>
              </a:rPr>
              <a:t> “This is David at the swimming pool. Code 83. Single male.”</a:t>
            </a:r>
          </a:p>
          <a:p>
            <a:pPr>
              <a:buFont typeface="Arial" pitchFamily="34" charset="0"/>
              <a:buChar char="•"/>
            </a:pPr>
            <a:r>
              <a:rPr lang="en-AU" sz="1200" kern="1200" dirty="0" smtClean="0">
                <a:solidFill>
                  <a:schemeClr val="tx1"/>
                </a:solidFill>
                <a:latin typeface="+mn-lt"/>
                <a:ea typeface="+mn-ea"/>
                <a:cs typeface="+mn-cs"/>
              </a:rPr>
              <a:t> Do not touch anything at the scene – you must ‘preserve the scene’: see later slides</a:t>
            </a:r>
          </a:p>
          <a:p>
            <a:pPr>
              <a:buFont typeface="Arial" pitchFamily="34" charset="0"/>
              <a:buChar char="•"/>
            </a:pPr>
            <a:r>
              <a:rPr lang="en-AU" sz="1200" kern="1200" dirty="0" smtClean="0">
                <a:solidFill>
                  <a:schemeClr val="tx1"/>
                </a:solidFill>
                <a:latin typeface="+mn-lt"/>
                <a:ea typeface="+mn-ea"/>
                <a:cs typeface="+mn-cs"/>
              </a:rPr>
              <a:t> Do what you can to provide assistance and comfort to those who may be impacted – see later slides</a:t>
            </a:r>
          </a:p>
          <a:p>
            <a:pPr>
              <a:buFont typeface="Arial" pitchFamily="34" charset="0"/>
              <a:buChar char="•"/>
            </a:pPr>
            <a:r>
              <a:rPr lang="en-AU" sz="1200" kern="1200" dirty="0" smtClean="0">
                <a:solidFill>
                  <a:schemeClr val="tx1"/>
                </a:solidFill>
                <a:latin typeface="+mn-lt"/>
                <a:ea typeface="+mn-ea"/>
                <a:cs typeface="+mn-cs"/>
              </a:rPr>
              <a:t> Never talk to guests, members of the public or the media about the deceased person or the situation – leave this to management, the authorities or the designated venue PR person</a:t>
            </a:r>
          </a:p>
          <a:p>
            <a:pPr>
              <a:buFont typeface="Arial" pitchFamily="34" charset="0"/>
              <a:buChar char="•"/>
            </a:pPr>
            <a:r>
              <a:rPr lang="en-AU" sz="1200" kern="1200" dirty="0" smtClean="0">
                <a:solidFill>
                  <a:schemeClr val="tx1"/>
                </a:solidFill>
                <a:latin typeface="+mn-lt"/>
                <a:ea typeface="+mn-ea"/>
                <a:cs typeface="+mn-cs"/>
              </a:rPr>
              <a:t> Take whatever action is necessary given the circumstances to maintain dignity for the deceased – this can include:</a:t>
            </a:r>
          </a:p>
          <a:p>
            <a:pPr lvl="1">
              <a:buFont typeface="Arial" pitchFamily="34" charset="0"/>
              <a:buChar char="•"/>
            </a:pPr>
            <a:r>
              <a:rPr lang="en-AU" sz="1200" kern="1200" dirty="0" smtClean="0">
                <a:solidFill>
                  <a:schemeClr val="tx1"/>
                </a:solidFill>
                <a:latin typeface="+mn-lt"/>
                <a:ea typeface="+mn-ea"/>
                <a:cs typeface="+mn-cs"/>
              </a:rPr>
              <a:t> Talking in a quiet voice</a:t>
            </a:r>
          </a:p>
          <a:p>
            <a:pPr lvl="1">
              <a:buFont typeface="Arial" pitchFamily="34" charset="0"/>
              <a:buChar char="•"/>
            </a:pPr>
            <a:r>
              <a:rPr lang="en-AU" sz="1200" kern="1200" dirty="0" smtClean="0">
                <a:solidFill>
                  <a:schemeClr val="tx1"/>
                </a:solidFill>
                <a:latin typeface="+mn-lt"/>
                <a:ea typeface="+mn-ea"/>
                <a:cs typeface="+mn-cs"/>
              </a:rPr>
              <a:t> Using respectful language.</a:t>
            </a:r>
          </a:p>
          <a:p>
            <a:pPr>
              <a:buFont typeface="Arial" pitchFamily="34" charset="0"/>
              <a:buNone/>
            </a:pPr>
            <a:endParaRPr lang="en-AU" noProof="0" dirty="0" smtClean="0"/>
          </a:p>
          <a:p>
            <a:pPr>
              <a:buFont typeface="Arial" pitchFamily="34" charset="0"/>
              <a:buNone/>
            </a:pPr>
            <a:r>
              <a:rPr lang="en-AU" b="1" noProof="0" dirty="0" smtClean="0"/>
              <a:t>Class Activity – Role Play</a:t>
            </a:r>
          </a:p>
          <a:p>
            <a:pPr>
              <a:buFont typeface="Arial" pitchFamily="34" charset="0"/>
              <a:buNone/>
            </a:pPr>
            <a:r>
              <a:rPr lang="en-AU" b="0" noProof="0" dirty="0" smtClean="0"/>
              <a:t>Trainer conducts role play where student discovers deceased person and is required to notify Front Office of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latin typeface="+mn-lt"/>
                <a:ea typeface="+mn-ea"/>
                <a:cs typeface="+mn-cs"/>
              </a:rPr>
              <a:t>‘Containing the situation’ means taking action to restrict the impact of the deceased person on others presenting actions to help achieve this:</a:t>
            </a:r>
          </a:p>
          <a:p>
            <a:pPr>
              <a:buFont typeface="Arial" pitchFamily="34" charset="0"/>
              <a:buChar char="•"/>
            </a:pPr>
            <a:r>
              <a:rPr lang="en-AU" sz="1200" kern="1200" dirty="0" smtClean="0">
                <a:solidFill>
                  <a:schemeClr val="tx1"/>
                </a:solidFill>
                <a:latin typeface="+mn-lt"/>
                <a:ea typeface="+mn-ea"/>
                <a:cs typeface="+mn-cs"/>
              </a:rPr>
              <a:t> Doing whatever is required to prevent others seeing the body – this may require you to:</a:t>
            </a:r>
          </a:p>
          <a:p>
            <a:pPr lvl="1">
              <a:buFont typeface="Arial" pitchFamily="34" charset="0"/>
              <a:buChar char="•"/>
            </a:pPr>
            <a:r>
              <a:rPr lang="en-AU" sz="1200" kern="1200" dirty="0" smtClean="0">
                <a:solidFill>
                  <a:schemeClr val="tx1"/>
                </a:solidFill>
                <a:latin typeface="+mn-lt"/>
                <a:ea typeface="+mn-ea"/>
                <a:cs typeface="+mn-cs"/>
              </a:rPr>
              <a:t> Close doors</a:t>
            </a:r>
          </a:p>
          <a:p>
            <a:pPr lvl="1">
              <a:buFont typeface="Arial" pitchFamily="34" charset="0"/>
              <a:buChar char="•"/>
            </a:pPr>
            <a:r>
              <a:rPr lang="en-AU" sz="1200" kern="1200" dirty="0" smtClean="0">
                <a:solidFill>
                  <a:schemeClr val="tx1"/>
                </a:solidFill>
                <a:latin typeface="+mn-lt"/>
                <a:ea typeface="+mn-ea"/>
                <a:cs typeface="+mn-cs"/>
              </a:rPr>
              <a:t> Lock doors</a:t>
            </a:r>
          </a:p>
          <a:p>
            <a:pPr lvl="1">
              <a:buFont typeface="Arial" pitchFamily="34" charset="0"/>
              <a:buChar char="•"/>
            </a:pPr>
            <a:r>
              <a:rPr lang="en-AU" sz="1200" kern="1200" dirty="0" smtClean="0">
                <a:solidFill>
                  <a:schemeClr val="tx1"/>
                </a:solidFill>
                <a:latin typeface="+mn-lt"/>
                <a:ea typeface="+mn-ea"/>
                <a:cs typeface="+mn-cs"/>
              </a:rPr>
              <a:t> Draw curtains or blinds</a:t>
            </a:r>
          </a:p>
          <a:p>
            <a:pPr lvl="1">
              <a:buFont typeface="Arial" pitchFamily="34" charset="0"/>
              <a:buChar char="•"/>
            </a:pPr>
            <a:r>
              <a:rPr lang="en-AU" sz="1200" kern="1200" dirty="0" smtClean="0">
                <a:solidFill>
                  <a:schemeClr val="tx1"/>
                </a:solidFill>
                <a:latin typeface="+mn-lt"/>
                <a:ea typeface="+mn-ea"/>
                <a:cs typeface="+mn-cs"/>
              </a:rPr>
              <a:t> Block pedestrian and/or vehicular traffic – but ensure you create alternative traffic routes to help maintain movement past the situation</a:t>
            </a:r>
          </a:p>
          <a:p>
            <a:pPr lvl="1">
              <a:buFont typeface="Arial" pitchFamily="34" charset="0"/>
              <a:buChar char="•"/>
            </a:pPr>
            <a:r>
              <a:rPr lang="en-AU" sz="1200" kern="1200" dirty="0" smtClean="0">
                <a:solidFill>
                  <a:schemeClr val="tx1"/>
                </a:solidFill>
                <a:latin typeface="+mn-lt"/>
                <a:ea typeface="+mn-ea"/>
                <a:cs typeface="+mn-cs"/>
              </a:rPr>
              <a:t> Arrange for Security guards to be posted to restrict access</a:t>
            </a:r>
          </a:p>
          <a:p>
            <a:pPr lvl="1">
              <a:buFont typeface="Arial" pitchFamily="34" charset="0"/>
              <a:buChar char="•"/>
            </a:pPr>
            <a:r>
              <a:rPr lang="en-AU" sz="1200" kern="1200" dirty="0" smtClean="0">
                <a:solidFill>
                  <a:schemeClr val="tx1"/>
                </a:solidFill>
                <a:latin typeface="+mn-lt"/>
                <a:ea typeface="+mn-ea"/>
                <a:cs typeface="+mn-cs"/>
              </a:rPr>
              <a:t> Erect a physical barricade around the body</a:t>
            </a:r>
          </a:p>
          <a:p>
            <a:pPr>
              <a:buFont typeface="Arial" pitchFamily="34" charset="0"/>
              <a:buChar char="•"/>
            </a:pPr>
            <a:r>
              <a:rPr lang="en-AU" sz="1200" kern="1200" dirty="0" smtClean="0">
                <a:solidFill>
                  <a:schemeClr val="tx1"/>
                </a:solidFill>
                <a:latin typeface="+mn-lt"/>
                <a:ea typeface="+mn-ea"/>
                <a:cs typeface="+mn-cs"/>
              </a:rPr>
              <a:t> Refraining from talking about the situation so guests and members of the public can hear what is being said – this includes:</a:t>
            </a:r>
          </a:p>
          <a:p>
            <a:pPr lvl="1">
              <a:buFont typeface="Arial" pitchFamily="34" charset="0"/>
              <a:buChar char="•"/>
            </a:pPr>
            <a:r>
              <a:rPr lang="en-AU" sz="1200" kern="1200" dirty="0" smtClean="0">
                <a:solidFill>
                  <a:schemeClr val="tx1"/>
                </a:solidFill>
                <a:latin typeface="+mn-lt"/>
                <a:ea typeface="+mn-ea"/>
                <a:cs typeface="+mn-cs"/>
              </a:rPr>
              <a:t> One-to-one conversations with venue staff</a:t>
            </a:r>
          </a:p>
          <a:p>
            <a:pPr lvl="1">
              <a:buFont typeface="Arial" pitchFamily="34" charset="0"/>
              <a:buChar char="•"/>
            </a:pPr>
            <a:r>
              <a:rPr lang="en-AU" sz="1200" kern="1200" dirty="0" smtClean="0">
                <a:solidFill>
                  <a:schemeClr val="tx1"/>
                </a:solidFill>
                <a:latin typeface="+mn-lt"/>
                <a:ea typeface="+mn-ea"/>
                <a:cs typeface="+mn-cs"/>
              </a:rPr>
              <a:t> Telephone discussions </a:t>
            </a:r>
          </a:p>
          <a:p>
            <a:pPr lvl="1">
              <a:buFont typeface="Arial" pitchFamily="34" charset="0"/>
              <a:buChar char="•"/>
            </a:pPr>
            <a:r>
              <a:rPr lang="en-AU" sz="1200" kern="1200" dirty="0" smtClean="0">
                <a:solidFill>
                  <a:schemeClr val="tx1"/>
                </a:solidFill>
                <a:latin typeface="+mn-lt"/>
                <a:ea typeface="+mn-ea"/>
                <a:cs typeface="+mn-cs"/>
              </a:rPr>
              <a:t> Conversations at the time the body is discovered as well as at later times</a:t>
            </a:r>
          </a:p>
          <a:p>
            <a:pPr>
              <a:buFont typeface="Arial" pitchFamily="34" charset="0"/>
              <a:buChar char="•"/>
            </a:pPr>
            <a:r>
              <a:rPr lang="en-AU" sz="1200" kern="1200" dirty="0" smtClean="0">
                <a:solidFill>
                  <a:schemeClr val="tx1"/>
                </a:solidFill>
                <a:latin typeface="+mn-lt"/>
                <a:ea typeface="+mn-ea"/>
                <a:cs typeface="+mn-cs"/>
              </a:rPr>
              <a:t> Limiting the fallout from the event – this means dong what you can to maintain normal venue operation to the best extent possible:</a:t>
            </a:r>
          </a:p>
          <a:p>
            <a:pPr lvl="1">
              <a:buFont typeface="Arial" pitchFamily="34" charset="0"/>
              <a:buChar char="•"/>
            </a:pPr>
            <a:r>
              <a:rPr lang="en-AU" sz="1200" kern="1200" dirty="0" smtClean="0">
                <a:solidFill>
                  <a:schemeClr val="tx1"/>
                </a:solidFill>
                <a:latin typeface="+mn-lt"/>
                <a:ea typeface="+mn-ea"/>
                <a:cs typeface="+mn-cs"/>
              </a:rPr>
              <a:t> Making sure your responses are reasonable and not over-reactive – be certain to use common sense at all times</a:t>
            </a:r>
          </a:p>
          <a:p>
            <a:pPr lvl="1">
              <a:buFont typeface="Arial" pitchFamily="34" charset="0"/>
              <a:buChar char="•"/>
            </a:pPr>
            <a:r>
              <a:rPr lang="en-AU" sz="1200" kern="1200" dirty="0" smtClean="0">
                <a:solidFill>
                  <a:schemeClr val="tx1"/>
                </a:solidFill>
                <a:latin typeface="+mn-lt"/>
                <a:ea typeface="+mn-ea"/>
                <a:cs typeface="+mn-cs"/>
              </a:rPr>
              <a:t> Avoiding shouting.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states it </a:t>
            </a:r>
            <a:r>
              <a:rPr lang="en-AU" sz="1200" kern="1200" dirty="0" smtClean="0">
                <a:solidFill>
                  <a:schemeClr val="tx1"/>
                </a:solidFill>
                <a:latin typeface="+mn-lt"/>
                <a:ea typeface="+mn-ea"/>
                <a:cs typeface="+mn-cs"/>
              </a:rPr>
              <a:t>is important to contact emergency services as part of the response to a deceased person situation highlighting:</a:t>
            </a:r>
          </a:p>
          <a:p>
            <a:pPr>
              <a:buFont typeface="Arial" pitchFamily="34" charset="0"/>
              <a:buChar char="•"/>
            </a:pPr>
            <a:r>
              <a:rPr lang="en-AU" sz="1200" kern="1200" dirty="0" smtClean="0">
                <a:solidFill>
                  <a:schemeClr val="tx1"/>
                </a:solidFill>
                <a:latin typeface="+mn-lt"/>
                <a:ea typeface="+mn-ea"/>
                <a:cs typeface="+mn-cs"/>
              </a:rPr>
              <a:t> The standard response to what is assumed to be a deceased person situation is to activate a ‘dual response’. This means the venue must contact:</a:t>
            </a:r>
          </a:p>
          <a:p>
            <a:pPr>
              <a:buFont typeface="Arial" pitchFamily="34" charset="0"/>
              <a:buChar char="•"/>
            </a:pPr>
            <a:r>
              <a:rPr lang="en-AU" sz="1200" kern="1200" dirty="0" smtClean="0">
                <a:solidFill>
                  <a:schemeClr val="tx1"/>
                </a:solidFill>
                <a:latin typeface="+mn-lt"/>
                <a:ea typeface="+mn-ea"/>
                <a:cs typeface="+mn-cs"/>
              </a:rPr>
              <a:t> Police:</a:t>
            </a:r>
          </a:p>
          <a:p>
            <a:pPr lvl="1">
              <a:buFont typeface="Arial" pitchFamily="34" charset="0"/>
              <a:buChar char="•"/>
            </a:pPr>
            <a:r>
              <a:rPr lang="en-AU" sz="1200" kern="1200" dirty="0" smtClean="0">
                <a:solidFill>
                  <a:schemeClr val="tx1"/>
                </a:solidFill>
                <a:latin typeface="+mn-lt"/>
                <a:ea typeface="+mn-ea"/>
                <a:cs typeface="+mn-cs"/>
              </a:rPr>
              <a:t> So they can investigate the situation</a:t>
            </a:r>
          </a:p>
          <a:p>
            <a:pPr>
              <a:buFont typeface="Arial" pitchFamily="34" charset="0"/>
              <a:buChar char="•"/>
            </a:pPr>
            <a:r>
              <a:rPr lang="en-AU" sz="1200" kern="1200" dirty="0" smtClean="0">
                <a:solidFill>
                  <a:schemeClr val="tx1"/>
                </a:solidFill>
                <a:latin typeface="+mn-lt"/>
                <a:ea typeface="+mn-ea"/>
                <a:cs typeface="+mn-cs"/>
              </a:rPr>
              <a:t> Ambulance:</a:t>
            </a:r>
          </a:p>
          <a:p>
            <a:pPr>
              <a:buFont typeface="Arial" pitchFamily="34" charset="0"/>
              <a:buChar char="•"/>
            </a:pPr>
            <a:r>
              <a:rPr lang="en-AU" sz="1200" kern="1200" dirty="0" smtClean="0">
                <a:solidFill>
                  <a:schemeClr val="tx1"/>
                </a:solidFill>
                <a:latin typeface="+mn-lt"/>
                <a:ea typeface="+mn-ea"/>
                <a:cs typeface="+mn-cs"/>
              </a:rPr>
              <a:t> So they can:</a:t>
            </a:r>
          </a:p>
          <a:p>
            <a:pPr lvl="1">
              <a:buFont typeface="Arial" pitchFamily="34" charset="0"/>
              <a:buChar char="•"/>
            </a:pPr>
            <a:r>
              <a:rPr lang="en-AU" sz="1200" kern="1200" dirty="0" smtClean="0">
                <a:solidFill>
                  <a:schemeClr val="tx1"/>
                </a:solidFill>
                <a:latin typeface="+mn-lt"/>
                <a:ea typeface="+mn-ea"/>
                <a:cs typeface="+mn-cs"/>
              </a:rPr>
              <a:t> Verify the person has indeed passed away</a:t>
            </a:r>
          </a:p>
          <a:p>
            <a:pPr lvl="1">
              <a:buFont typeface="Arial" pitchFamily="34" charset="0"/>
              <a:buChar char="•"/>
            </a:pPr>
            <a:r>
              <a:rPr lang="en-AU" sz="1200" kern="1200" dirty="0" smtClean="0">
                <a:solidFill>
                  <a:schemeClr val="tx1"/>
                </a:solidFill>
                <a:latin typeface="+mn-lt"/>
                <a:ea typeface="+mn-ea"/>
                <a:cs typeface="+mn-cs"/>
              </a:rPr>
              <a:t> Render necessary first aid in the event the person has not died.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a:t>
            </a:r>
            <a:r>
              <a:rPr lang="en-AU" sz="1200" kern="1200" dirty="0" smtClean="0">
                <a:solidFill>
                  <a:schemeClr val="tx1"/>
                </a:solidFill>
                <a:latin typeface="+mn-lt"/>
                <a:ea typeface="+mn-ea"/>
                <a:cs typeface="+mn-cs"/>
              </a:rPr>
              <a:t>contacting the emergency services should occur in accordance with the following:</a:t>
            </a:r>
          </a:p>
          <a:p>
            <a:pPr>
              <a:buFont typeface="Arial" pitchFamily="34" charset="0"/>
              <a:buChar char="•"/>
            </a:pPr>
            <a:r>
              <a:rPr lang="en-AU" sz="1200" kern="1200" dirty="0" smtClean="0">
                <a:solidFill>
                  <a:schemeClr val="tx1"/>
                </a:solidFill>
                <a:latin typeface="+mn-lt"/>
                <a:ea typeface="+mn-ea"/>
                <a:cs typeface="+mn-cs"/>
              </a:rPr>
              <a:t> Allow Front Office, Security or the nominated person you have already contacted to contact the emergency services</a:t>
            </a:r>
          </a:p>
          <a:p>
            <a:pPr>
              <a:buFont typeface="Arial" pitchFamily="34" charset="0"/>
              <a:buChar char="•"/>
            </a:pPr>
            <a:r>
              <a:rPr lang="en-AU" sz="1200" kern="1200" dirty="0" smtClean="0">
                <a:solidFill>
                  <a:schemeClr val="tx1"/>
                </a:solidFill>
                <a:latin typeface="+mn-lt"/>
                <a:ea typeface="+mn-ea"/>
                <a:cs typeface="+mn-cs"/>
              </a:rPr>
              <a:t> If you have to make the call:</a:t>
            </a:r>
          </a:p>
          <a:p>
            <a:pPr lvl="1">
              <a:buFont typeface="Arial" pitchFamily="34" charset="0"/>
              <a:buChar char="•"/>
            </a:pPr>
            <a:r>
              <a:rPr lang="en-AU" sz="1200" kern="1200" dirty="0" smtClean="0">
                <a:solidFill>
                  <a:schemeClr val="tx1"/>
                </a:solidFill>
                <a:latin typeface="+mn-lt"/>
                <a:ea typeface="+mn-ea"/>
                <a:cs typeface="+mn-cs"/>
              </a:rPr>
              <a:t> Make it as soon as possible</a:t>
            </a:r>
          </a:p>
          <a:p>
            <a:pPr lvl="1">
              <a:buFont typeface="Arial" pitchFamily="34" charset="0"/>
              <a:buChar char="•"/>
            </a:pPr>
            <a:r>
              <a:rPr lang="en-AU" sz="1200" kern="1200" dirty="0" smtClean="0">
                <a:solidFill>
                  <a:schemeClr val="tx1"/>
                </a:solidFill>
                <a:latin typeface="+mn-lt"/>
                <a:ea typeface="+mn-ea"/>
                <a:cs typeface="+mn-cs"/>
              </a:rPr>
              <a:t> Use landline or cell phone</a:t>
            </a:r>
          </a:p>
          <a:p>
            <a:pPr lvl="1">
              <a:buFont typeface="Arial" pitchFamily="34" charset="0"/>
              <a:buChar char="•"/>
            </a:pPr>
            <a:r>
              <a:rPr lang="en-AU" sz="1200" kern="1200" dirty="0" smtClean="0">
                <a:solidFill>
                  <a:schemeClr val="tx1"/>
                </a:solidFill>
                <a:latin typeface="+mn-lt"/>
                <a:ea typeface="+mn-ea"/>
                <a:cs typeface="+mn-cs"/>
              </a:rPr>
              <a:t> Make sure no guest or member of the public can hear you make the call</a:t>
            </a:r>
          </a:p>
          <a:p>
            <a:pPr>
              <a:buFont typeface="Arial" pitchFamily="34" charset="0"/>
              <a:buChar char="•"/>
            </a:pPr>
            <a:r>
              <a:rPr lang="en-AU" sz="1200" kern="1200" dirty="0" smtClean="0">
                <a:solidFill>
                  <a:schemeClr val="tx1"/>
                </a:solidFill>
                <a:latin typeface="+mn-lt"/>
                <a:ea typeface="+mn-ea"/>
                <a:cs typeface="+mn-cs"/>
              </a:rPr>
              <a:t> Log the call – so the venue can demonstrate: </a:t>
            </a:r>
          </a:p>
          <a:p>
            <a:pPr lvl="1">
              <a:buFont typeface="Arial" pitchFamily="34" charset="0"/>
              <a:buChar char="•"/>
            </a:pPr>
            <a:r>
              <a:rPr lang="en-AU" sz="1200" kern="1200" dirty="0" smtClean="0">
                <a:solidFill>
                  <a:schemeClr val="tx1"/>
                </a:solidFill>
                <a:latin typeface="+mn-lt"/>
                <a:ea typeface="+mn-ea"/>
                <a:cs typeface="+mn-cs"/>
              </a:rPr>
              <a:t> It made the call</a:t>
            </a:r>
          </a:p>
          <a:p>
            <a:pPr lvl="1">
              <a:buFont typeface="Arial" pitchFamily="34" charset="0"/>
              <a:buChar char="•"/>
            </a:pPr>
            <a:r>
              <a:rPr lang="en-AU" sz="1200" kern="1200" dirty="0" smtClean="0">
                <a:solidFill>
                  <a:schemeClr val="tx1"/>
                </a:solidFill>
                <a:latin typeface="+mn-lt"/>
                <a:ea typeface="+mn-ea"/>
                <a:cs typeface="+mn-cs"/>
              </a:rPr>
              <a:t> The time the call was made</a:t>
            </a:r>
          </a:p>
          <a:p>
            <a:pPr lvl="1">
              <a:buFont typeface="Arial" pitchFamily="34" charset="0"/>
              <a:buChar char="•"/>
            </a:pPr>
            <a:r>
              <a:rPr lang="en-AU" sz="1200" kern="1200" dirty="0" smtClean="0">
                <a:solidFill>
                  <a:schemeClr val="tx1"/>
                </a:solidFill>
                <a:latin typeface="+mn-lt"/>
                <a:ea typeface="+mn-ea"/>
                <a:cs typeface="+mn-cs"/>
              </a:rPr>
              <a:t> Name of the person who made the call.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advises procedure is to ring the emergency number and:</a:t>
            </a:r>
          </a:p>
          <a:p>
            <a:pPr>
              <a:buFont typeface="Arial" pitchFamily="34" charset="0"/>
              <a:buChar char="•"/>
            </a:pPr>
            <a:r>
              <a:rPr lang="en-AU" sz="1200" kern="1200" dirty="0" smtClean="0">
                <a:solidFill>
                  <a:schemeClr val="tx1"/>
                </a:solidFill>
                <a:latin typeface="+mn-lt"/>
                <a:ea typeface="+mn-ea"/>
                <a:cs typeface="+mn-cs"/>
              </a:rPr>
              <a:t> Advise them you are reporting a dead body situation – and allow them to take the lead in terms of asking questions they want you to answer.</a:t>
            </a:r>
          </a:p>
          <a:p>
            <a:pPr>
              <a:buFont typeface="Arial" pitchFamily="34" charset="0"/>
              <a:buChar char="•"/>
            </a:pPr>
            <a:r>
              <a:rPr lang="en-AU" sz="1200" kern="1200" dirty="0" smtClean="0">
                <a:solidFill>
                  <a:schemeClr val="tx1"/>
                </a:solidFill>
                <a:latin typeface="+mn-lt"/>
                <a:ea typeface="+mn-ea"/>
                <a:cs typeface="+mn-cs"/>
              </a:rPr>
              <a:t> The operator will ask questions such as:</a:t>
            </a:r>
          </a:p>
          <a:p>
            <a:pPr lvl="1">
              <a:buFont typeface="Arial" pitchFamily="34" charset="0"/>
              <a:buChar char="•"/>
            </a:pPr>
            <a:r>
              <a:rPr lang="en-AU" sz="1200" kern="1200" dirty="0" smtClean="0">
                <a:solidFill>
                  <a:schemeClr val="tx1"/>
                </a:solidFill>
                <a:latin typeface="+mn-lt"/>
                <a:ea typeface="+mn-ea"/>
                <a:cs typeface="+mn-cs"/>
              </a:rPr>
              <a:t> Name of venue</a:t>
            </a:r>
          </a:p>
          <a:p>
            <a:pPr lvl="1">
              <a:buFont typeface="Arial" pitchFamily="34" charset="0"/>
              <a:buChar char="•"/>
            </a:pPr>
            <a:r>
              <a:rPr lang="en-AU" sz="1200" kern="1200" dirty="0" smtClean="0">
                <a:solidFill>
                  <a:schemeClr val="tx1"/>
                </a:solidFill>
                <a:latin typeface="+mn-lt"/>
                <a:ea typeface="+mn-ea"/>
                <a:cs typeface="+mn-cs"/>
              </a:rPr>
              <a:t> Address</a:t>
            </a:r>
          </a:p>
          <a:p>
            <a:pPr lvl="1">
              <a:buFont typeface="Arial" pitchFamily="34" charset="0"/>
              <a:buChar char="•"/>
            </a:pPr>
            <a:r>
              <a:rPr lang="en-AU" sz="1200" kern="1200" dirty="0" smtClean="0">
                <a:solidFill>
                  <a:schemeClr val="tx1"/>
                </a:solidFill>
                <a:latin typeface="+mn-lt"/>
                <a:ea typeface="+mn-ea"/>
                <a:cs typeface="+mn-cs"/>
              </a:rPr>
              <a:t> Nearest cross street/intersection</a:t>
            </a:r>
          </a:p>
          <a:p>
            <a:pPr lvl="1">
              <a:buFont typeface="Arial" pitchFamily="34" charset="0"/>
              <a:buChar char="•"/>
            </a:pPr>
            <a:r>
              <a:rPr lang="en-AU" sz="1200" kern="1200" dirty="0" smtClean="0">
                <a:solidFill>
                  <a:schemeClr val="tx1"/>
                </a:solidFill>
                <a:latin typeface="+mn-lt"/>
                <a:ea typeface="+mn-ea"/>
                <a:cs typeface="+mn-cs"/>
              </a:rPr>
              <a:t> Your name</a:t>
            </a:r>
          </a:p>
          <a:p>
            <a:pPr lvl="1">
              <a:buFont typeface="Arial" pitchFamily="34" charset="0"/>
              <a:buChar char="•"/>
            </a:pPr>
            <a:r>
              <a:rPr lang="en-AU" sz="1200" kern="1200" dirty="0" smtClean="0">
                <a:solidFill>
                  <a:schemeClr val="tx1"/>
                </a:solidFill>
                <a:latin typeface="+mn-lt"/>
                <a:ea typeface="+mn-ea"/>
                <a:cs typeface="+mn-cs"/>
              </a:rPr>
              <a:t> Number of bodies</a:t>
            </a:r>
          </a:p>
          <a:p>
            <a:pPr lvl="1">
              <a:buFont typeface="Arial" pitchFamily="34" charset="0"/>
              <a:buChar char="•"/>
            </a:pPr>
            <a:r>
              <a:rPr lang="en-AU" sz="1200" kern="1200" dirty="0" smtClean="0">
                <a:solidFill>
                  <a:schemeClr val="tx1"/>
                </a:solidFill>
                <a:latin typeface="+mn-lt"/>
                <a:ea typeface="+mn-ea"/>
                <a:cs typeface="+mn-cs"/>
              </a:rPr>
              <a:t> Number of injured people</a:t>
            </a:r>
          </a:p>
          <a:p>
            <a:pPr lvl="1">
              <a:buFont typeface="Arial" pitchFamily="34" charset="0"/>
              <a:buChar char="•"/>
            </a:pPr>
            <a:r>
              <a:rPr lang="en-AU" sz="1200" kern="1200" dirty="0" smtClean="0">
                <a:solidFill>
                  <a:schemeClr val="tx1"/>
                </a:solidFill>
                <a:latin typeface="+mn-lt"/>
                <a:ea typeface="+mn-ea"/>
                <a:cs typeface="+mn-cs"/>
              </a:rPr>
              <a:t> Possible cause of death</a:t>
            </a:r>
          </a:p>
          <a:p>
            <a:pPr lvl="1">
              <a:buFont typeface="Arial" pitchFamily="34" charset="0"/>
              <a:buChar char="•"/>
            </a:pPr>
            <a:r>
              <a:rPr lang="en-AU" sz="1200" kern="1200" dirty="0" smtClean="0">
                <a:solidFill>
                  <a:schemeClr val="tx1"/>
                </a:solidFill>
                <a:latin typeface="+mn-lt"/>
                <a:ea typeface="+mn-ea"/>
                <a:cs typeface="+mn-cs"/>
              </a:rPr>
              <a:t> Is there a weapon present/visible?</a:t>
            </a:r>
          </a:p>
          <a:p>
            <a:pPr lvl="1">
              <a:buFont typeface="Arial" pitchFamily="34" charset="0"/>
              <a:buChar char="•"/>
            </a:pPr>
            <a:r>
              <a:rPr lang="en-AU" sz="1200" kern="1200" dirty="0" smtClean="0">
                <a:solidFill>
                  <a:schemeClr val="tx1"/>
                </a:solidFill>
                <a:latin typeface="+mn-lt"/>
                <a:ea typeface="+mn-ea"/>
                <a:cs typeface="+mn-cs"/>
              </a:rPr>
              <a:t> Are other people in danger/at threat?</a:t>
            </a:r>
          </a:p>
          <a:p>
            <a:pPr lvl="1">
              <a:buFont typeface="Arial" pitchFamily="34" charset="0"/>
              <a:buChar char="•"/>
            </a:pPr>
            <a:r>
              <a:rPr lang="en-AU" sz="1200" kern="1200" dirty="0" smtClean="0">
                <a:solidFill>
                  <a:schemeClr val="tx1"/>
                </a:solidFill>
                <a:latin typeface="+mn-lt"/>
                <a:ea typeface="+mn-ea"/>
                <a:cs typeface="+mn-cs"/>
              </a:rPr>
              <a:t> Location of the body within the venue – room number, name of the room the body is in or external location  </a:t>
            </a:r>
          </a:p>
          <a:p>
            <a:pPr lvl="1">
              <a:buFont typeface="Arial" pitchFamily="34" charset="0"/>
              <a:buChar char="•"/>
            </a:pPr>
            <a:r>
              <a:rPr lang="en-AU" sz="1200" kern="1200" dirty="0" smtClean="0">
                <a:solidFill>
                  <a:schemeClr val="tx1"/>
                </a:solidFill>
                <a:latin typeface="+mn-lt"/>
                <a:ea typeface="+mn-ea"/>
                <a:cs typeface="+mn-cs"/>
              </a:rPr>
              <a:t> Directions on how to get to the body</a:t>
            </a:r>
          </a:p>
          <a:p>
            <a:pPr>
              <a:buFont typeface="Arial" pitchFamily="34" charset="0"/>
              <a:buChar char="•"/>
            </a:pPr>
            <a:r>
              <a:rPr lang="en-AU" sz="1200" kern="1200" dirty="0" smtClean="0">
                <a:solidFill>
                  <a:schemeClr val="tx1"/>
                </a:solidFill>
                <a:latin typeface="+mn-lt"/>
                <a:ea typeface="+mn-ea"/>
                <a:cs typeface="+mn-cs"/>
              </a:rPr>
              <a:t> You may contribute the following to the exchange with the operator:</a:t>
            </a:r>
          </a:p>
          <a:p>
            <a:pPr lvl="1">
              <a:buFont typeface="Arial" pitchFamily="34" charset="0"/>
              <a:buChar char="•"/>
            </a:pPr>
            <a:r>
              <a:rPr lang="en-AU" sz="1200" kern="1200" dirty="0" smtClean="0">
                <a:solidFill>
                  <a:schemeClr val="tx1"/>
                </a:solidFill>
                <a:latin typeface="+mn-lt"/>
                <a:ea typeface="+mn-ea"/>
                <a:cs typeface="+mn-cs"/>
              </a:rPr>
              <a:t> Request for dual response</a:t>
            </a:r>
          </a:p>
          <a:p>
            <a:pPr lvl="1">
              <a:buFont typeface="Arial" pitchFamily="34" charset="0"/>
              <a:buChar char="•"/>
            </a:pPr>
            <a:r>
              <a:rPr lang="en-AU" sz="1200" kern="1200" dirty="0" smtClean="0">
                <a:solidFill>
                  <a:schemeClr val="tx1"/>
                </a:solidFill>
                <a:latin typeface="+mn-lt"/>
                <a:ea typeface="+mn-ea"/>
                <a:cs typeface="+mn-cs"/>
              </a:rPr>
              <a:t> Suggestion for location for attendance of emergency vehicle/s</a:t>
            </a:r>
          </a:p>
          <a:p>
            <a:pPr lvl="1">
              <a:buFont typeface="Arial" pitchFamily="34" charset="0"/>
              <a:buChar char="•"/>
            </a:pPr>
            <a:r>
              <a:rPr lang="en-AU" sz="1200" kern="1200" dirty="0" smtClean="0">
                <a:solidFill>
                  <a:schemeClr val="tx1"/>
                </a:solidFill>
                <a:latin typeface="+mn-lt"/>
                <a:ea typeface="+mn-ea"/>
                <a:cs typeface="+mn-cs"/>
              </a:rPr>
              <a:t> Advice someone from the venue will be there to direct officers to ‘the scene’.</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 Exercise</a:t>
            </a:r>
          </a:p>
          <a:p>
            <a:pPr>
              <a:buFont typeface="Arial" pitchFamily="34" charset="0"/>
              <a:buNone/>
            </a:pPr>
            <a:r>
              <a:rPr lang="en-AU" b="0" noProof="0" dirty="0" smtClean="0"/>
              <a:t>Trainer demonstrates to students how to call the emergency services and report a deceased person and provides opportunity for students to practice same.</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highlights: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noProof="0" dirty="0" smtClean="0"/>
              <a:t> It is also </a:t>
            </a:r>
            <a:r>
              <a:rPr lang="en-AU" sz="1200" kern="1200" dirty="0" smtClean="0">
                <a:solidFill>
                  <a:schemeClr val="tx1"/>
                </a:solidFill>
                <a:latin typeface="+mn-lt"/>
                <a:ea typeface="+mn-ea"/>
                <a:cs typeface="+mn-cs"/>
              </a:rPr>
              <a:t>standard procedure to be contacted whenever there is a deceased person on the premises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Follow house protocols in this regard:</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Some may require management to be contacted before emergency services are contacted</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Some may require emergency services to be contacted first.</a:t>
            </a:r>
          </a:p>
          <a:p>
            <a:pPr>
              <a:buFont typeface="Arial" pitchFamily="34" charset="0"/>
              <a:buChar char="•"/>
            </a:pPr>
            <a:r>
              <a:rPr lang="en-AU" noProof="0" dirty="0" smtClean="0"/>
              <a:t> If no internal rule is in place, call emergency services before contacting management</a:t>
            </a:r>
          </a:p>
          <a:p>
            <a:pPr>
              <a:buFont typeface="Arial" pitchFamily="34" charset="0"/>
              <a:buChar char="•"/>
            </a:pPr>
            <a:r>
              <a:rPr lang="en-AU" noProof="0" dirty="0" smtClean="0"/>
              <a:t> Where you have already notified Front Office about the deceased person, they will contact management.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requirements if students need to contact management about a deceased person:</a:t>
            </a:r>
          </a:p>
          <a:p>
            <a:pPr>
              <a:buFont typeface="Arial" pitchFamily="34" charset="0"/>
              <a:buChar char="•"/>
            </a:pPr>
            <a:r>
              <a:rPr lang="en-AU" sz="1200" kern="1200" dirty="0" smtClean="0">
                <a:solidFill>
                  <a:schemeClr val="tx1"/>
                </a:solidFill>
                <a:latin typeface="+mn-lt"/>
                <a:ea typeface="+mn-ea"/>
                <a:cs typeface="+mn-cs"/>
              </a:rPr>
              <a:t> Promptly – with reference to ‘Timing’ issues already identified.</a:t>
            </a:r>
          </a:p>
          <a:p>
            <a:pPr lvl="1">
              <a:buFont typeface="Arial" pitchFamily="34" charset="0"/>
              <a:buChar char="•"/>
            </a:pPr>
            <a:r>
              <a:rPr lang="en-AU" sz="1200" kern="1200" dirty="0" smtClean="0">
                <a:solidFill>
                  <a:schemeClr val="tx1"/>
                </a:solidFill>
                <a:latin typeface="+mn-lt"/>
                <a:ea typeface="+mn-ea"/>
                <a:cs typeface="+mn-cs"/>
              </a:rPr>
              <a:t> The owner or Duty Manager must be notified as soon as possible.</a:t>
            </a:r>
          </a:p>
          <a:p>
            <a:pPr>
              <a:buFont typeface="Arial" pitchFamily="34" charset="0"/>
              <a:buChar char="•"/>
            </a:pPr>
            <a:r>
              <a:rPr lang="en-AU" sz="1200" kern="1200" dirty="0" smtClean="0">
                <a:solidFill>
                  <a:schemeClr val="tx1"/>
                </a:solidFill>
                <a:latin typeface="+mn-lt"/>
                <a:ea typeface="+mn-ea"/>
                <a:cs typeface="+mn-cs"/>
              </a:rPr>
              <a:t> Using the telephone – making sure the conversation cannot be heard by customers/guests or members of the public</a:t>
            </a:r>
          </a:p>
          <a:p>
            <a:pPr>
              <a:buFont typeface="Arial" pitchFamily="34" charset="0"/>
              <a:buChar char="•"/>
            </a:pPr>
            <a:r>
              <a:rPr lang="en-AU" sz="1200" kern="1200" dirty="0" smtClean="0">
                <a:solidFill>
                  <a:schemeClr val="tx1"/>
                </a:solidFill>
                <a:latin typeface="+mn-lt"/>
                <a:ea typeface="+mn-ea"/>
                <a:cs typeface="+mn-cs"/>
              </a:rPr>
              <a:t> Telling them your name and where you are speaking from</a:t>
            </a:r>
          </a:p>
          <a:p>
            <a:pPr>
              <a:buFont typeface="Arial" pitchFamily="34" charset="0"/>
              <a:buChar char="•"/>
            </a:pPr>
            <a:r>
              <a:rPr lang="en-AU" sz="1200" kern="1200" dirty="0" smtClean="0">
                <a:solidFill>
                  <a:schemeClr val="tx1"/>
                </a:solidFill>
                <a:latin typeface="+mn-lt"/>
                <a:ea typeface="+mn-ea"/>
                <a:cs typeface="+mn-cs"/>
              </a:rPr>
              <a:t> Providing information:</a:t>
            </a:r>
          </a:p>
          <a:p>
            <a:pPr lvl="1">
              <a:buFont typeface="Arial" pitchFamily="34" charset="0"/>
              <a:buChar char="•"/>
            </a:pPr>
            <a:r>
              <a:rPr lang="en-AU" sz="1200" kern="1200" dirty="0" smtClean="0">
                <a:solidFill>
                  <a:schemeClr val="tx1"/>
                </a:solidFill>
                <a:latin typeface="+mn-lt"/>
                <a:ea typeface="+mn-ea"/>
                <a:cs typeface="+mn-cs"/>
              </a:rPr>
              <a:t> About the body – covering aspects such as:</a:t>
            </a:r>
          </a:p>
          <a:p>
            <a:pPr lvl="2">
              <a:buFont typeface="Arial" pitchFamily="34" charset="0"/>
              <a:buChar char="•"/>
            </a:pPr>
            <a:r>
              <a:rPr lang="en-AU" sz="1200" kern="1200" dirty="0" smtClean="0">
                <a:solidFill>
                  <a:schemeClr val="tx1"/>
                </a:solidFill>
                <a:latin typeface="+mn-lt"/>
                <a:ea typeface="+mn-ea"/>
                <a:cs typeface="+mn-cs"/>
              </a:rPr>
              <a:t> Where it is</a:t>
            </a:r>
          </a:p>
          <a:p>
            <a:pPr lvl="2">
              <a:buFont typeface="Arial" pitchFamily="34" charset="0"/>
              <a:buChar char="•"/>
            </a:pPr>
            <a:r>
              <a:rPr lang="en-AU" sz="1200" kern="1200" dirty="0" smtClean="0">
                <a:solidFill>
                  <a:schemeClr val="tx1"/>
                </a:solidFill>
                <a:latin typeface="+mn-lt"/>
                <a:ea typeface="+mn-ea"/>
                <a:cs typeface="+mn-cs"/>
              </a:rPr>
              <a:t> Who it is</a:t>
            </a:r>
          </a:p>
          <a:p>
            <a:pPr lvl="2">
              <a:buFont typeface="Arial" pitchFamily="34" charset="0"/>
              <a:buChar char="•"/>
            </a:pPr>
            <a:r>
              <a:rPr lang="en-AU" sz="1200" kern="1200" dirty="0" smtClean="0">
                <a:solidFill>
                  <a:schemeClr val="tx1"/>
                </a:solidFill>
                <a:latin typeface="+mn-lt"/>
                <a:ea typeface="+mn-ea"/>
                <a:cs typeface="+mn-cs"/>
              </a:rPr>
              <a:t> Your first thoughts about cause of death with a focus on whether you believe the death was as a result of natural causes or whether ‘foul play’ is obvious or suspected</a:t>
            </a:r>
          </a:p>
          <a:p>
            <a:pPr lvl="1">
              <a:buFont typeface="Arial" pitchFamily="34" charset="0"/>
              <a:buChar char="•"/>
            </a:pPr>
            <a:r>
              <a:rPr lang="en-AU" sz="1200" kern="1200" dirty="0" smtClean="0">
                <a:solidFill>
                  <a:schemeClr val="tx1"/>
                </a:solidFill>
                <a:latin typeface="+mn-lt"/>
                <a:ea typeface="+mn-ea"/>
                <a:cs typeface="+mn-cs"/>
              </a:rPr>
              <a:t> About the scene – in relation to:</a:t>
            </a:r>
          </a:p>
          <a:p>
            <a:pPr lvl="2">
              <a:buFont typeface="Arial" pitchFamily="34" charset="0"/>
              <a:buChar char="•"/>
            </a:pPr>
            <a:r>
              <a:rPr lang="en-AU" sz="1200" kern="1200" dirty="0" smtClean="0">
                <a:solidFill>
                  <a:schemeClr val="tx1"/>
                </a:solidFill>
                <a:latin typeface="+mn-lt"/>
                <a:ea typeface="+mn-ea"/>
                <a:cs typeface="+mn-cs"/>
              </a:rPr>
              <a:t> Whether or not others are aware of the body</a:t>
            </a:r>
          </a:p>
          <a:p>
            <a:pPr lvl="2">
              <a:buFont typeface="Arial" pitchFamily="34" charset="0"/>
              <a:buChar char="•"/>
            </a:pPr>
            <a:r>
              <a:rPr lang="en-AU" sz="1200" kern="1200" dirty="0" smtClean="0">
                <a:solidFill>
                  <a:schemeClr val="tx1"/>
                </a:solidFill>
                <a:latin typeface="+mn-lt"/>
                <a:ea typeface="+mn-ea"/>
                <a:cs typeface="+mn-cs"/>
              </a:rPr>
              <a:t> If the body is visible to the public</a:t>
            </a:r>
          </a:p>
          <a:p>
            <a:pPr lvl="2">
              <a:buFont typeface="Arial" pitchFamily="34" charset="0"/>
              <a:buChar char="•"/>
            </a:pPr>
            <a:r>
              <a:rPr lang="en-AU" sz="1200" kern="1200" dirty="0" smtClean="0">
                <a:solidFill>
                  <a:schemeClr val="tx1"/>
                </a:solidFill>
                <a:latin typeface="+mn-lt"/>
                <a:ea typeface="+mn-ea"/>
                <a:cs typeface="+mn-cs"/>
              </a:rPr>
              <a:t> Has a crowd gathered at the scene</a:t>
            </a:r>
          </a:p>
          <a:p>
            <a:pPr lvl="2">
              <a:buFont typeface="Arial" pitchFamily="34" charset="0"/>
              <a:buChar char="•"/>
            </a:pPr>
            <a:r>
              <a:rPr lang="en-AU" sz="1200" kern="1200" dirty="0" smtClean="0">
                <a:solidFill>
                  <a:schemeClr val="tx1"/>
                </a:solidFill>
                <a:latin typeface="+mn-lt"/>
                <a:ea typeface="+mn-ea"/>
                <a:cs typeface="+mn-cs"/>
              </a:rPr>
              <a:t> What action you have taken – to this point, for example:</a:t>
            </a:r>
          </a:p>
          <a:p>
            <a:pPr lvl="2">
              <a:buFont typeface="Arial" pitchFamily="34" charset="0"/>
              <a:buChar char="•"/>
            </a:pPr>
            <a:r>
              <a:rPr lang="en-AU" sz="1200" kern="1200" dirty="0" smtClean="0">
                <a:solidFill>
                  <a:schemeClr val="tx1"/>
                </a:solidFill>
                <a:latin typeface="+mn-lt"/>
                <a:ea typeface="+mn-ea"/>
                <a:cs typeface="+mn-cs"/>
              </a:rPr>
              <a:t> Whether you have notified emergency services or not</a:t>
            </a:r>
          </a:p>
          <a:p>
            <a:pPr lvl="2">
              <a:buFont typeface="Arial" pitchFamily="34" charset="0"/>
              <a:buChar char="•"/>
            </a:pPr>
            <a:r>
              <a:rPr lang="en-AU" sz="1200" kern="1200" dirty="0" smtClean="0">
                <a:solidFill>
                  <a:schemeClr val="tx1"/>
                </a:solidFill>
                <a:latin typeface="+mn-lt"/>
                <a:ea typeface="+mn-ea"/>
                <a:cs typeface="+mn-cs"/>
              </a:rPr>
              <a:t> Whether you have notified Front Office or not</a:t>
            </a:r>
          </a:p>
          <a:p>
            <a:pPr lvl="1">
              <a:buFont typeface="Arial" pitchFamily="34" charset="0"/>
              <a:buChar char="•"/>
            </a:pPr>
            <a:r>
              <a:rPr lang="en-AU" sz="1200" kern="1200" dirty="0" smtClean="0">
                <a:solidFill>
                  <a:schemeClr val="tx1"/>
                </a:solidFill>
                <a:latin typeface="+mn-lt"/>
                <a:ea typeface="+mn-ea"/>
                <a:cs typeface="+mn-cs"/>
              </a:rPr>
              <a:t> Suggestions for action – in order to:</a:t>
            </a:r>
          </a:p>
          <a:p>
            <a:pPr lvl="2">
              <a:buFont typeface="Arial" pitchFamily="34" charset="0"/>
              <a:buChar char="•"/>
            </a:pPr>
            <a:r>
              <a:rPr lang="en-AU" sz="1200" kern="1200" dirty="0" smtClean="0">
                <a:solidFill>
                  <a:schemeClr val="tx1"/>
                </a:solidFill>
                <a:latin typeface="+mn-lt"/>
                <a:ea typeface="+mn-ea"/>
                <a:cs typeface="+mn-cs"/>
              </a:rPr>
              <a:t> Minimising alarm and concern among guests</a:t>
            </a:r>
          </a:p>
          <a:p>
            <a:pPr lvl="2">
              <a:buFont typeface="Arial" pitchFamily="34" charset="0"/>
              <a:buChar char="•"/>
            </a:pPr>
            <a:r>
              <a:rPr lang="en-AU" sz="1200" kern="1200" dirty="0" smtClean="0">
                <a:solidFill>
                  <a:schemeClr val="tx1"/>
                </a:solidFill>
                <a:latin typeface="+mn-lt"/>
                <a:ea typeface="+mn-ea"/>
                <a:cs typeface="+mn-cs"/>
              </a:rPr>
              <a:t> Preventing access to the scene by members of the public</a:t>
            </a:r>
          </a:p>
          <a:p>
            <a:pPr lvl="2">
              <a:buFont typeface="Arial" pitchFamily="34" charset="0"/>
              <a:buChar char="•"/>
            </a:pPr>
            <a:r>
              <a:rPr lang="en-AU" sz="1200" kern="1200" dirty="0" smtClean="0">
                <a:solidFill>
                  <a:schemeClr val="tx1"/>
                </a:solidFill>
                <a:latin typeface="+mn-lt"/>
                <a:ea typeface="+mn-ea"/>
                <a:cs typeface="+mn-cs"/>
              </a:rPr>
              <a:t> Secure/preserve the scene</a:t>
            </a:r>
          </a:p>
          <a:p>
            <a:pPr lvl="0">
              <a:buFont typeface="Arial" pitchFamily="34" charset="0"/>
              <a:buChar char="•"/>
            </a:pPr>
            <a:r>
              <a:rPr lang="en-AU" sz="1200" kern="1200" dirty="0" smtClean="0">
                <a:solidFill>
                  <a:schemeClr val="tx1"/>
                </a:solidFill>
                <a:latin typeface="+mn-lt"/>
                <a:ea typeface="+mn-ea"/>
                <a:cs typeface="+mn-cs"/>
              </a:rPr>
              <a:t> Asking questions – about:</a:t>
            </a:r>
          </a:p>
          <a:p>
            <a:pPr lvl="1">
              <a:buFont typeface="Arial" pitchFamily="34" charset="0"/>
              <a:buChar char="•"/>
            </a:pPr>
            <a:r>
              <a:rPr lang="en-AU" sz="1200" kern="1200" dirty="0" smtClean="0">
                <a:solidFill>
                  <a:schemeClr val="tx1"/>
                </a:solidFill>
                <a:latin typeface="+mn-lt"/>
                <a:ea typeface="+mn-ea"/>
                <a:cs typeface="+mn-cs"/>
              </a:rPr>
              <a:t> What they want you to do</a:t>
            </a:r>
          </a:p>
          <a:p>
            <a:pPr lvl="1">
              <a:buFont typeface="Arial" pitchFamily="34" charset="0"/>
              <a:buChar char="•"/>
            </a:pPr>
            <a:r>
              <a:rPr lang="en-AU" sz="1200" kern="1200" dirty="0" smtClean="0">
                <a:solidFill>
                  <a:schemeClr val="tx1"/>
                </a:solidFill>
                <a:latin typeface="+mn-lt"/>
                <a:ea typeface="+mn-ea"/>
                <a:cs typeface="+mn-cs"/>
              </a:rPr>
              <a:t> What they do not want you to do</a:t>
            </a:r>
          </a:p>
          <a:p>
            <a:pPr lvl="1">
              <a:buFont typeface="Arial" pitchFamily="34" charset="0"/>
              <a:buChar char="•"/>
            </a:pPr>
            <a:r>
              <a:rPr lang="en-AU" sz="1200" kern="1200" dirty="0" smtClean="0">
                <a:solidFill>
                  <a:schemeClr val="tx1"/>
                </a:solidFill>
                <a:latin typeface="+mn-lt"/>
                <a:ea typeface="+mn-ea"/>
                <a:cs typeface="+mn-cs"/>
              </a:rPr>
              <a:t> Who you should contact.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explains </a:t>
            </a:r>
            <a:r>
              <a:rPr lang="en-AU" sz="1200" kern="1200" dirty="0" smtClean="0">
                <a:solidFill>
                  <a:schemeClr val="tx1"/>
                </a:solidFill>
                <a:latin typeface="+mn-lt"/>
                <a:ea typeface="+mn-ea"/>
                <a:cs typeface="+mn-cs"/>
              </a:rPr>
              <a:t>whether the deceased person is found inside the venue or in an outside area of the property it is important for staff to ‘preserve the scene’ for the following reasons:</a:t>
            </a:r>
          </a:p>
          <a:p>
            <a:pPr>
              <a:buFont typeface="Arial" pitchFamily="34" charset="0"/>
              <a:buChar char="•"/>
            </a:pPr>
            <a:r>
              <a:rPr lang="en-AU" sz="1200" kern="1200" dirty="0" smtClean="0">
                <a:solidFill>
                  <a:schemeClr val="tx1"/>
                </a:solidFill>
                <a:latin typeface="+mn-lt"/>
                <a:ea typeface="+mn-ea"/>
                <a:cs typeface="+mn-cs"/>
              </a:rPr>
              <a:t> Avoid contamination of the scene – by allowing material to be ‘walked into’ the scene or otherwise introduced into the scene</a:t>
            </a:r>
          </a:p>
          <a:p>
            <a:pPr>
              <a:buFont typeface="Arial" pitchFamily="34" charset="0"/>
              <a:buChar char="•"/>
            </a:pPr>
            <a:r>
              <a:rPr lang="en-AU" sz="1200" kern="1200" dirty="0" smtClean="0">
                <a:solidFill>
                  <a:schemeClr val="tx1"/>
                </a:solidFill>
                <a:latin typeface="+mn-lt"/>
                <a:ea typeface="+mn-ea"/>
                <a:cs typeface="+mn-cs"/>
              </a:rPr>
              <a:t> Avoid contamination of evidence which may be present at the scene – such as weapons</a:t>
            </a:r>
          </a:p>
          <a:p>
            <a:pPr>
              <a:buFont typeface="Arial" pitchFamily="34" charset="0"/>
              <a:buChar char="•"/>
            </a:pPr>
            <a:r>
              <a:rPr lang="en-AU" sz="1200" kern="1200" dirty="0" smtClean="0">
                <a:solidFill>
                  <a:schemeClr val="tx1"/>
                </a:solidFill>
                <a:latin typeface="+mn-lt"/>
                <a:ea typeface="+mn-ea"/>
                <a:cs typeface="+mn-cs"/>
              </a:rPr>
              <a:t> Allow investigators to view (and photograph) the scene exactly as it was when the ‘event’ (the death of the person) occurred</a:t>
            </a:r>
          </a:p>
          <a:p>
            <a:pPr>
              <a:buFont typeface="Arial" pitchFamily="34" charset="0"/>
              <a:buChar char="•"/>
            </a:pPr>
            <a:r>
              <a:rPr lang="en-AU" sz="1200" kern="1200" dirty="0" smtClean="0">
                <a:solidFill>
                  <a:schemeClr val="tx1"/>
                </a:solidFill>
                <a:latin typeface="+mn-lt"/>
                <a:ea typeface="+mn-ea"/>
                <a:cs typeface="+mn-cs"/>
              </a:rPr>
              <a:t> Enable the officials to take notes about the scene for their later investigation.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presents actions to help preserve the scene where a deceased person in discovered:</a:t>
            </a:r>
          </a:p>
          <a:p>
            <a:pPr>
              <a:buFont typeface="Arial" pitchFamily="34" charset="0"/>
              <a:buChar char="•"/>
            </a:pPr>
            <a:r>
              <a:rPr lang="en-AU" sz="1200" kern="1200" dirty="0" smtClean="0">
                <a:solidFill>
                  <a:schemeClr val="tx1"/>
                </a:solidFill>
                <a:latin typeface="+mn-lt"/>
                <a:ea typeface="+mn-ea"/>
                <a:cs typeface="+mn-cs"/>
              </a:rPr>
              <a:t> Not touching the body</a:t>
            </a:r>
          </a:p>
          <a:p>
            <a:pPr>
              <a:buFont typeface="Arial" pitchFamily="34" charset="0"/>
              <a:buChar char="•"/>
            </a:pPr>
            <a:r>
              <a:rPr lang="en-AU" sz="1200" kern="1200" dirty="0" smtClean="0">
                <a:solidFill>
                  <a:schemeClr val="tx1"/>
                </a:solidFill>
                <a:latin typeface="+mn-lt"/>
                <a:ea typeface="+mn-ea"/>
                <a:cs typeface="+mn-cs"/>
              </a:rPr>
              <a:t> Not moving anything in the room where the body was found – such as re-locating items</a:t>
            </a:r>
          </a:p>
          <a:p>
            <a:pPr>
              <a:buFont typeface="Arial" pitchFamily="34" charset="0"/>
              <a:buChar char="•"/>
            </a:pPr>
            <a:r>
              <a:rPr lang="en-AU" sz="1200" kern="1200" dirty="0" smtClean="0">
                <a:solidFill>
                  <a:schemeClr val="tx1"/>
                </a:solidFill>
                <a:latin typeface="+mn-lt"/>
                <a:ea typeface="+mn-ea"/>
                <a:cs typeface="+mn-cs"/>
              </a:rPr>
              <a:t> Not touching or moving anything in the immediate vicinity of where the body was discovered.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continues presenting advice on preserving the scene:</a:t>
            </a:r>
          </a:p>
          <a:p>
            <a:pPr>
              <a:buFont typeface="Arial" pitchFamily="34" charset="0"/>
              <a:buChar char="•"/>
            </a:pPr>
            <a:r>
              <a:rPr lang="en-AU" sz="1200" kern="1200" dirty="0" smtClean="0">
                <a:solidFill>
                  <a:schemeClr val="tx1"/>
                </a:solidFill>
                <a:latin typeface="+mn-lt"/>
                <a:ea typeface="+mn-ea"/>
                <a:cs typeface="+mn-cs"/>
              </a:rPr>
              <a:t> Not allowing others into the area/room</a:t>
            </a:r>
          </a:p>
          <a:p>
            <a:pPr>
              <a:buFont typeface="Arial" pitchFamily="34" charset="0"/>
              <a:buChar char="•"/>
            </a:pPr>
            <a:r>
              <a:rPr lang="en-AU" sz="1200" kern="1200" dirty="0" smtClean="0">
                <a:solidFill>
                  <a:schemeClr val="tx1"/>
                </a:solidFill>
                <a:latin typeface="+mn-lt"/>
                <a:ea typeface="+mn-ea"/>
                <a:cs typeface="+mn-cs"/>
              </a:rPr>
              <a:t> Preventing others walking through the area</a:t>
            </a:r>
          </a:p>
          <a:p>
            <a:pPr>
              <a:buFont typeface="Arial" pitchFamily="34" charset="0"/>
              <a:buChar char="•"/>
            </a:pPr>
            <a:r>
              <a:rPr lang="en-AU" sz="1200" kern="1200" dirty="0" smtClean="0">
                <a:solidFill>
                  <a:schemeClr val="tx1"/>
                </a:solidFill>
                <a:latin typeface="+mn-lt"/>
                <a:ea typeface="+mn-ea"/>
                <a:cs typeface="+mn-cs"/>
              </a:rPr>
              <a:t> Not permitting anyone taking/removing anything from the scene</a:t>
            </a:r>
          </a:p>
          <a:p>
            <a:pPr>
              <a:buFont typeface="Arial" pitchFamily="34" charset="0"/>
              <a:buChar char="•"/>
            </a:pPr>
            <a:r>
              <a:rPr lang="en-AU" sz="1200" kern="1200" dirty="0" smtClean="0">
                <a:solidFill>
                  <a:schemeClr val="tx1"/>
                </a:solidFill>
                <a:latin typeface="+mn-lt"/>
                <a:ea typeface="+mn-ea"/>
                <a:cs typeface="+mn-cs"/>
              </a:rPr>
              <a:t> Making sure no-one else moves items at the scene.</a:t>
            </a:r>
          </a:p>
          <a:p>
            <a:pPr>
              <a:buFont typeface="Arial" pitchFamily="34" charset="0"/>
              <a:buNone/>
            </a:pPr>
            <a:endParaRPr lang="en-AU" noProof="0" dirty="0" smtClean="0"/>
          </a:p>
          <a:p>
            <a:pPr>
              <a:buFont typeface="Arial" pitchFamily="34" charset="0"/>
              <a:buNone/>
            </a:pPr>
            <a:r>
              <a:rPr lang="en-AU" b="1" noProof="0" dirty="0" smtClean="0"/>
              <a:t>Class Activity – Guest Speaker</a:t>
            </a:r>
          </a:p>
          <a:p>
            <a:pPr>
              <a:buFont typeface="Arial" pitchFamily="34" charset="0"/>
              <a:buNone/>
            </a:pPr>
            <a:r>
              <a:rPr lang="en-AU" b="0" noProof="0" dirty="0" smtClean="0"/>
              <a:t>Trainer arranges for Police Officer to visit and talk to students about:</a:t>
            </a:r>
          </a:p>
          <a:p>
            <a:pPr>
              <a:buFont typeface="Arial" pitchFamily="34" charset="0"/>
              <a:buChar char="•"/>
            </a:pPr>
            <a:r>
              <a:rPr lang="en-AU" b="0" noProof="0" dirty="0" smtClean="0"/>
              <a:t> Action to take when discovering a deceased</a:t>
            </a:r>
            <a:r>
              <a:rPr lang="en-AU" b="0" baseline="0" noProof="0" dirty="0" smtClean="0"/>
              <a:t> person in a bed in a guest room</a:t>
            </a:r>
          </a:p>
          <a:p>
            <a:pPr>
              <a:buFont typeface="Arial" pitchFamily="34" charset="0"/>
              <a:buChar char="•"/>
            </a:pPr>
            <a:r>
              <a:rPr lang="en-AU" b="0" baseline="0" noProof="0" dirty="0" smtClean="0"/>
              <a:t> </a:t>
            </a:r>
            <a:r>
              <a:rPr lang="en-AU" b="0" noProof="0" dirty="0" smtClean="0"/>
              <a:t>Action to take when discovering a deceased</a:t>
            </a:r>
            <a:r>
              <a:rPr lang="en-AU" b="0" baseline="0" noProof="0" dirty="0" smtClean="0"/>
              <a:t> person elsewhere in the building – such as a public space or in an outside location</a:t>
            </a:r>
          </a:p>
          <a:p>
            <a:pPr>
              <a:buFont typeface="Arial" pitchFamily="34" charset="0"/>
              <a:buChar char="•"/>
            </a:pPr>
            <a:r>
              <a:rPr lang="en-AU" b="0" baseline="0" noProof="0" dirty="0" smtClean="0"/>
              <a:t> Contacting emergency services</a:t>
            </a:r>
          </a:p>
          <a:p>
            <a:pPr>
              <a:buFont typeface="Arial" pitchFamily="34" charset="0"/>
              <a:buChar char="•"/>
            </a:pPr>
            <a:r>
              <a:rPr lang="en-AU" b="0" baseline="0" noProof="0" dirty="0" smtClean="0"/>
              <a:t> Advice for preserving the scene.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provides supplementary suggestions for action:</a:t>
            </a:r>
          </a:p>
          <a:p>
            <a:pPr>
              <a:buFont typeface="Arial" pitchFamily="34" charset="0"/>
              <a:buChar char="•"/>
            </a:pPr>
            <a:r>
              <a:rPr lang="en-AU" sz="1200" kern="1200" dirty="0" smtClean="0">
                <a:solidFill>
                  <a:schemeClr val="tx1"/>
                </a:solidFill>
                <a:latin typeface="+mn-lt"/>
                <a:ea typeface="+mn-ea"/>
                <a:cs typeface="+mn-cs"/>
              </a:rPr>
              <a:t> Recall your own actions which have already been taken which may have inadvertently contaminated/altered the scene – for example, you might note:</a:t>
            </a:r>
          </a:p>
          <a:p>
            <a:pPr lvl="1">
              <a:buFont typeface="Arial" pitchFamily="34" charset="0"/>
              <a:buChar char="•"/>
            </a:pPr>
            <a:r>
              <a:rPr lang="en-AU" sz="1200" kern="1200" dirty="0" smtClean="0">
                <a:solidFill>
                  <a:schemeClr val="tx1"/>
                </a:solidFill>
                <a:latin typeface="+mn-lt"/>
                <a:ea typeface="+mn-ea"/>
                <a:cs typeface="+mn-cs"/>
              </a:rPr>
              <a:t> How you entered the room/area</a:t>
            </a:r>
          </a:p>
          <a:p>
            <a:pPr lvl="1">
              <a:buFont typeface="Arial" pitchFamily="34" charset="0"/>
              <a:buChar char="•"/>
            </a:pPr>
            <a:r>
              <a:rPr lang="en-AU" sz="1200" kern="1200" dirty="0" smtClean="0">
                <a:solidFill>
                  <a:schemeClr val="tx1"/>
                </a:solidFill>
                <a:latin typeface="+mn-lt"/>
                <a:ea typeface="+mn-ea"/>
                <a:cs typeface="+mn-cs"/>
              </a:rPr>
              <a:t> Things you actually did touch/move – before you knew you were involved in a deceased person situation</a:t>
            </a:r>
          </a:p>
          <a:p>
            <a:pPr>
              <a:buFont typeface="Arial" pitchFamily="34" charset="0"/>
              <a:buChar char="•"/>
            </a:pPr>
            <a:r>
              <a:rPr lang="en-AU" sz="1200" kern="1200" dirty="0" smtClean="0">
                <a:solidFill>
                  <a:schemeClr val="tx1"/>
                </a:solidFill>
                <a:latin typeface="+mn-lt"/>
                <a:ea typeface="+mn-ea"/>
                <a:cs typeface="+mn-cs"/>
              </a:rPr>
              <a:t> Take note of the other people who were present when the body was discovered – so their names/description can be passed on to police</a:t>
            </a:r>
          </a:p>
          <a:p>
            <a:pPr>
              <a:buFont typeface="Arial" pitchFamily="34" charset="0"/>
              <a:buChar char="•"/>
            </a:pPr>
            <a:r>
              <a:rPr lang="en-AU" sz="1200" kern="1200" dirty="0" smtClean="0">
                <a:solidFill>
                  <a:schemeClr val="tx1"/>
                </a:solidFill>
                <a:latin typeface="+mn-lt"/>
                <a:ea typeface="+mn-ea"/>
                <a:cs typeface="+mn-cs"/>
              </a:rPr>
              <a:t> Ask any witnesses to remain so they can assist the authorities with their enquiries – note you do not have the power to:</a:t>
            </a:r>
          </a:p>
          <a:p>
            <a:pPr lvl="1">
              <a:buFont typeface="Arial" pitchFamily="34" charset="0"/>
              <a:buChar char="•"/>
            </a:pPr>
            <a:r>
              <a:rPr lang="en-AU" sz="1200" kern="1200" dirty="0" smtClean="0">
                <a:solidFill>
                  <a:schemeClr val="tx1"/>
                </a:solidFill>
                <a:latin typeface="+mn-lt"/>
                <a:ea typeface="+mn-ea"/>
                <a:cs typeface="+mn-cs"/>
              </a:rPr>
              <a:t> Insist or detain people remain until the police arrive</a:t>
            </a:r>
          </a:p>
          <a:p>
            <a:pPr lvl="1">
              <a:buFont typeface="Arial" pitchFamily="34" charset="0"/>
              <a:buChar char="•"/>
            </a:pPr>
            <a:r>
              <a:rPr lang="en-AU" sz="1200" kern="1200" dirty="0" smtClean="0">
                <a:solidFill>
                  <a:schemeClr val="tx1"/>
                </a:solidFill>
                <a:latin typeface="+mn-lt"/>
                <a:ea typeface="+mn-ea"/>
                <a:cs typeface="+mn-cs"/>
              </a:rPr>
              <a:t> Demand people give a witness statement.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after a death</a:t>
            </a:r>
            <a:r>
              <a:rPr lang="en-AU" baseline="0" noProof="0" dirty="0" smtClean="0"/>
              <a:t> on the premises the following people may have been impacted and may need attention/comfort:</a:t>
            </a:r>
          </a:p>
          <a:p>
            <a:pPr>
              <a:buFont typeface="Arial" pitchFamily="34" charset="0"/>
              <a:buChar char="•"/>
            </a:pPr>
            <a:r>
              <a:rPr lang="en-AU" sz="1200" kern="1200" dirty="0" smtClean="0">
                <a:solidFill>
                  <a:schemeClr val="tx1"/>
                </a:solidFill>
                <a:latin typeface="+mn-lt"/>
                <a:ea typeface="+mn-ea"/>
                <a:cs typeface="+mn-cs"/>
              </a:rPr>
              <a:t> Family and friends of the deceased</a:t>
            </a:r>
          </a:p>
          <a:p>
            <a:pPr>
              <a:buFont typeface="Arial" pitchFamily="34" charset="0"/>
              <a:buChar char="•"/>
            </a:pPr>
            <a:r>
              <a:rPr lang="en-AU" sz="1200" kern="1200" dirty="0" smtClean="0">
                <a:solidFill>
                  <a:schemeClr val="tx1"/>
                </a:solidFill>
                <a:latin typeface="+mn-lt"/>
                <a:ea typeface="+mn-ea"/>
                <a:cs typeface="+mn-cs"/>
              </a:rPr>
              <a:t> Other guests and customers in the venue</a:t>
            </a:r>
          </a:p>
          <a:p>
            <a:pPr>
              <a:buFont typeface="Arial" pitchFamily="34" charset="0"/>
              <a:buChar char="•"/>
            </a:pPr>
            <a:r>
              <a:rPr lang="en-AU" sz="1200" kern="1200" dirty="0" smtClean="0">
                <a:solidFill>
                  <a:schemeClr val="tx1"/>
                </a:solidFill>
                <a:latin typeface="+mn-lt"/>
                <a:ea typeface="+mn-ea"/>
                <a:cs typeface="+mn-cs"/>
              </a:rPr>
              <a:t> Staff.</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states the guidelines for providing comfort are:</a:t>
            </a:r>
          </a:p>
          <a:p>
            <a:pPr>
              <a:buFont typeface="Arial" pitchFamily="34" charset="0"/>
              <a:buChar char="•"/>
            </a:pPr>
            <a:r>
              <a:rPr lang="en-AU" sz="1200" kern="1200" dirty="0" smtClean="0">
                <a:solidFill>
                  <a:schemeClr val="tx1"/>
                </a:solidFill>
                <a:latin typeface="+mn-lt"/>
                <a:ea typeface="+mn-ea"/>
                <a:cs typeface="+mn-cs"/>
              </a:rPr>
              <a:t> Follow internal procedures  which apply – which will identify:</a:t>
            </a:r>
          </a:p>
          <a:p>
            <a:pPr lvl="1">
              <a:buFont typeface="Arial" pitchFamily="34" charset="0"/>
              <a:buChar char="•"/>
            </a:pPr>
            <a:r>
              <a:rPr lang="en-AU" sz="1200" kern="1200" dirty="0" smtClean="0">
                <a:solidFill>
                  <a:schemeClr val="tx1"/>
                </a:solidFill>
                <a:latin typeface="+mn-lt"/>
                <a:ea typeface="+mn-ea"/>
                <a:cs typeface="+mn-cs"/>
              </a:rPr>
              <a:t> Staff to be involved</a:t>
            </a:r>
          </a:p>
          <a:p>
            <a:pPr lvl="1">
              <a:buFont typeface="Arial" pitchFamily="34" charset="0"/>
              <a:buChar char="•"/>
            </a:pPr>
            <a:r>
              <a:rPr lang="en-AU" sz="1200" kern="1200" dirty="0" smtClean="0">
                <a:solidFill>
                  <a:schemeClr val="tx1"/>
                </a:solidFill>
                <a:latin typeface="+mn-lt"/>
                <a:ea typeface="+mn-ea"/>
                <a:cs typeface="+mn-cs"/>
              </a:rPr>
              <a:t> Locations where people should be taken (away from the scene)</a:t>
            </a:r>
          </a:p>
          <a:p>
            <a:pPr lvl="1">
              <a:buFont typeface="Arial" pitchFamily="34" charset="0"/>
              <a:buChar char="•"/>
            </a:pPr>
            <a:r>
              <a:rPr lang="en-AU" sz="1200" kern="1200" dirty="0" smtClean="0">
                <a:solidFill>
                  <a:schemeClr val="tx1"/>
                </a:solidFill>
                <a:latin typeface="+mn-lt"/>
                <a:ea typeface="+mn-ea"/>
                <a:cs typeface="+mn-cs"/>
              </a:rPr>
              <a:t> Actions which can be taken to provide comfort</a:t>
            </a:r>
          </a:p>
          <a:p>
            <a:pPr>
              <a:buFont typeface="Arial" pitchFamily="34" charset="0"/>
              <a:buChar char="•"/>
            </a:pPr>
            <a:r>
              <a:rPr lang="en-AU" sz="1200" kern="1200" dirty="0" smtClean="0">
                <a:solidFill>
                  <a:schemeClr val="tx1"/>
                </a:solidFill>
                <a:latin typeface="+mn-lt"/>
                <a:ea typeface="+mn-ea"/>
                <a:cs typeface="+mn-cs"/>
              </a:rPr>
              <a:t> Always use common sense – about:</a:t>
            </a:r>
          </a:p>
          <a:p>
            <a:pPr lvl="1">
              <a:buFont typeface="Arial" pitchFamily="34" charset="0"/>
              <a:buChar char="•"/>
            </a:pPr>
            <a:r>
              <a:rPr lang="en-AU" sz="1200" kern="1200" dirty="0" smtClean="0">
                <a:solidFill>
                  <a:schemeClr val="tx1"/>
                </a:solidFill>
                <a:latin typeface="+mn-lt"/>
                <a:ea typeface="+mn-ea"/>
                <a:cs typeface="+mn-cs"/>
              </a:rPr>
              <a:t> What to do</a:t>
            </a:r>
          </a:p>
          <a:p>
            <a:pPr lvl="1">
              <a:buFont typeface="Arial" pitchFamily="34" charset="0"/>
              <a:buChar char="•"/>
            </a:pPr>
            <a:r>
              <a:rPr lang="en-AU" sz="1200" kern="1200" dirty="0" smtClean="0">
                <a:solidFill>
                  <a:schemeClr val="tx1"/>
                </a:solidFill>
                <a:latin typeface="+mn-lt"/>
                <a:ea typeface="+mn-ea"/>
                <a:cs typeface="+mn-cs"/>
              </a:rPr>
              <a:t> What to use</a:t>
            </a:r>
          </a:p>
          <a:p>
            <a:pPr lvl="1">
              <a:buFont typeface="Arial" pitchFamily="34" charset="0"/>
              <a:buChar char="•"/>
            </a:pPr>
            <a:r>
              <a:rPr lang="en-AU" sz="1200" kern="1200" dirty="0" smtClean="0">
                <a:solidFill>
                  <a:schemeClr val="tx1"/>
                </a:solidFill>
                <a:latin typeface="+mn-lt"/>
                <a:ea typeface="+mn-ea"/>
                <a:cs typeface="+mn-cs"/>
              </a:rPr>
              <a:t> Priorities</a:t>
            </a:r>
          </a:p>
          <a:p>
            <a:pPr>
              <a:buFont typeface="Arial" pitchFamily="34" charset="0"/>
              <a:buChar char="•"/>
            </a:pPr>
            <a:r>
              <a:rPr lang="en-AU" sz="1200" kern="1200" dirty="0" smtClean="0">
                <a:solidFill>
                  <a:schemeClr val="tx1"/>
                </a:solidFill>
                <a:latin typeface="+mn-lt"/>
                <a:ea typeface="+mn-ea"/>
                <a:cs typeface="+mn-cs"/>
              </a:rPr>
              <a:t> Comfort guests and customers before comforting staff</a:t>
            </a:r>
          </a:p>
          <a:p>
            <a:pPr>
              <a:buFont typeface="Arial" pitchFamily="34" charset="0"/>
              <a:buChar char="•"/>
            </a:pPr>
            <a:r>
              <a:rPr lang="en-AU" sz="1200" kern="1200" dirty="0" smtClean="0">
                <a:solidFill>
                  <a:schemeClr val="tx1"/>
                </a:solidFill>
                <a:latin typeface="+mn-lt"/>
                <a:ea typeface="+mn-ea"/>
                <a:cs typeface="+mn-cs"/>
              </a:rPr>
              <a:t> Comfort children before adults – unless their parents are present, in which case allow the parents to comfort their children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Provide formal de-briefing sessions with staff – to help them come to terms with what has happened and assist in the general recovery process.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providing guidelines for providing comfort:</a:t>
            </a:r>
          </a:p>
          <a:p>
            <a:pPr>
              <a:buFont typeface="Arial" pitchFamily="34" charset="0"/>
              <a:buChar char="•"/>
            </a:pPr>
            <a:r>
              <a:rPr lang="en-AU" sz="1200" kern="1200" dirty="0" smtClean="0">
                <a:solidFill>
                  <a:schemeClr val="tx1"/>
                </a:solidFill>
                <a:latin typeface="+mn-lt"/>
                <a:ea typeface="+mn-ea"/>
                <a:cs typeface="+mn-cs"/>
              </a:rPr>
              <a:t> Use the following to provide comfort – this is required to those who may be related to the deceased person or people who are distressed at having seen the body and/or the circumstances surrounding the body:</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Remove them from the scene – take them to another area/room</a:t>
            </a:r>
          </a:p>
          <a:p>
            <a:pPr lvl="1">
              <a:buFont typeface="Arial" pitchFamily="34" charset="0"/>
              <a:buChar char="•"/>
            </a:pPr>
            <a:r>
              <a:rPr lang="en-AU" sz="1200" kern="1200" dirty="0" smtClean="0">
                <a:solidFill>
                  <a:schemeClr val="tx1"/>
                </a:solidFill>
                <a:latin typeface="+mn-lt"/>
                <a:ea typeface="+mn-ea"/>
                <a:cs typeface="+mn-cs"/>
              </a:rPr>
              <a:t> Words of comfort/consolation</a:t>
            </a:r>
          </a:p>
          <a:p>
            <a:pPr lvl="1">
              <a:buFont typeface="Arial" pitchFamily="34" charset="0"/>
              <a:buChar char="•"/>
            </a:pPr>
            <a:r>
              <a:rPr lang="en-AU" sz="1200" kern="1200" dirty="0" smtClean="0">
                <a:solidFill>
                  <a:schemeClr val="tx1"/>
                </a:solidFill>
                <a:latin typeface="+mn-lt"/>
                <a:ea typeface="+mn-ea"/>
                <a:cs typeface="+mn-cs"/>
              </a:rPr>
              <a:t> Reassurance</a:t>
            </a:r>
          </a:p>
          <a:p>
            <a:pPr lvl="1">
              <a:buFont typeface="Arial" pitchFamily="34" charset="0"/>
              <a:buChar char="•"/>
            </a:pPr>
            <a:r>
              <a:rPr lang="en-AU" sz="1200" kern="1200" dirty="0" smtClean="0">
                <a:solidFill>
                  <a:schemeClr val="tx1"/>
                </a:solidFill>
                <a:latin typeface="+mn-lt"/>
                <a:ea typeface="+mn-ea"/>
                <a:cs typeface="+mn-cs"/>
              </a:rPr>
              <a:t> A hot beverage – never offer alcohol</a:t>
            </a:r>
          </a:p>
          <a:p>
            <a:pPr lvl="1">
              <a:buFont typeface="Arial" pitchFamily="34" charset="0"/>
              <a:buChar char="•"/>
            </a:pPr>
            <a:r>
              <a:rPr lang="en-AU" sz="1200" kern="1200" dirty="0" smtClean="0">
                <a:solidFill>
                  <a:schemeClr val="tx1"/>
                </a:solidFill>
                <a:latin typeface="+mn-lt"/>
                <a:ea typeface="+mn-ea"/>
                <a:cs typeface="+mn-cs"/>
              </a:rPr>
              <a:t> Tissues</a:t>
            </a:r>
          </a:p>
          <a:p>
            <a:pPr lvl="1">
              <a:buFont typeface="Arial" pitchFamily="34" charset="0"/>
              <a:buChar char="•"/>
            </a:pPr>
            <a:r>
              <a:rPr lang="en-AU" sz="1200" kern="1200" dirty="0" smtClean="0">
                <a:solidFill>
                  <a:schemeClr val="tx1"/>
                </a:solidFill>
                <a:latin typeface="+mn-lt"/>
                <a:ea typeface="+mn-ea"/>
                <a:cs typeface="+mn-cs"/>
              </a:rPr>
              <a:t> A ‘shoulder to cry on’</a:t>
            </a:r>
          </a:p>
          <a:p>
            <a:pPr lvl="1">
              <a:buFont typeface="Arial" pitchFamily="34" charset="0"/>
              <a:buChar char="•"/>
            </a:pPr>
            <a:r>
              <a:rPr lang="en-AU" sz="1200" kern="1200" dirty="0" smtClean="0">
                <a:solidFill>
                  <a:schemeClr val="tx1"/>
                </a:solidFill>
                <a:latin typeface="+mn-lt"/>
                <a:ea typeface="+mn-ea"/>
                <a:cs typeface="+mn-cs"/>
              </a:rPr>
              <a:t> A physical presence – someone to talk to. It is critical to understand many people impacted in this way simply want someone to talk to. They do not really need you to say anything/much but they need to know you are listening, and you are ‘there’ sharing their experience.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continues providing guidelines for providing comfort in relation to techniques which may be used:</a:t>
            </a:r>
          </a:p>
          <a:p>
            <a:pPr lvl="1">
              <a:buFont typeface="Arial" pitchFamily="34" charset="0"/>
              <a:buChar char="•"/>
            </a:pPr>
            <a:r>
              <a:rPr lang="en-AU" sz="1200" kern="1200" dirty="0" smtClean="0">
                <a:solidFill>
                  <a:schemeClr val="tx1"/>
                </a:solidFill>
                <a:latin typeface="+mn-lt"/>
                <a:ea typeface="+mn-ea"/>
                <a:cs typeface="+mn-cs"/>
              </a:rPr>
              <a:t> Offer to contact family or friends</a:t>
            </a:r>
          </a:p>
          <a:p>
            <a:pPr lvl="1">
              <a:buFont typeface="Arial" pitchFamily="34" charset="0"/>
              <a:buChar char="•"/>
            </a:pPr>
            <a:r>
              <a:rPr lang="en-AU" sz="1200" kern="1200" dirty="0" smtClean="0">
                <a:solidFill>
                  <a:schemeClr val="tx1"/>
                </a:solidFill>
                <a:latin typeface="+mn-lt"/>
                <a:ea typeface="+mn-ea"/>
                <a:cs typeface="+mn-cs"/>
              </a:rPr>
              <a:t> Avoid:</a:t>
            </a:r>
          </a:p>
          <a:p>
            <a:pPr lvl="2">
              <a:buFont typeface="Arial" pitchFamily="34" charset="0"/>
              <a:buChar char="•"/>
            </a:pPr>
            <a:r>
              <a:rPr lang="en-AU" sz="1200" kern="1200" dirty="0" smtClean="0">
                <a:solidFill>
                  <a:schemeClr val="tx1"/>
                </a:solidFill>
                <a:latin typeface="+mn-lt"/>
                <a:ea typeface="+mn-ea"/>
                <a:cs typeface="+mn-cs"/>
              </a:rPr>
              <a:t> Telling them to ‘be strong’</a:t>
            </a:r>
          </a:p>
          <a:p>
            <a:pPr lvl="2">
              <a:buFont typeface="Arial" pitchFamily="34" charset="0"/>
              <a:buChar char="•"/>
            </a:pPr>
            <a:r>
              <a:rPr lang="en-AU" sz="1200" kern="1200" dirty="0" smtClean="0">
                <a:solidFill>
                  <a:schemeClr val="tx1"/>
                </a:solidFill>
                <a:latin typeface="+mn-lt"/>
                <a:ea typeface="+mn-ea"/>
                <a:cs typeface="+mn-cs"/>
              </a:rPr>
              <a:t> Telling them you know what they are going through</a:t>
            </a:r>
          </a:p>
          <a:p>
            <a:pPr lvl="1">
              <a:buFont typeface="Arial" pitchFamily="34" charset="0"/>
              <a:buChar char="•"/>
            </a:pPr>
            <a:r>
              <a:rPr lang="en-AU" sz="1200" kern="1200" dirty="0" smtClean="0">
                <a:solidFill>
                  <a:schemeClr val="tx1"/>
                </a:solidFill>
                <a:latin typeface="+mn-lt"/>
                <a:ea typeface="+mn-ea"/>
                <a:cs typeface="+mn-cs"/>
              </a:rPr>
              <a:t> Ask them to tell you what they want/need to cope with the situation – “What can I do for you?”</a:t>
            </a:r>
          </a:p>
          <a:p>
            <a:pPr lvl="1">
              <a:buFont typeface="Arial" pitchFamily="34" charset="0"/>
              <a:buChar char="•"/>
            </a:pPr>
            <a:r>
              <a:rPr lang="en-AU" sz="1200" kern="1200" dirty="0" smtClean="0">
                <a:solidFill>
                  <a:schemeClr val="tx1"/>
                </a:solidFill>
                <a:latin typeface="+mn-lt"/>
                <a:ea typeface="+mn-ea"/>
                <a:cs typeface="+mn-cs"/>
              </a:rPr>
              <a:t> Obtain external professional help (counselling) to cope with the situation</a:t>
            </a:r>
          </a:p>
          <a:p>
            <a:pPr lvl="1">
              <a:buFont typeface="Arial" pitchFamily="34" charset="0"/>
              <a:buChar char="•"/>
            </a:pPr>
            <a:r>
              <a:rPr lang="en-AU" sz="1200" kern="1200" dirty="0" smtClean="0">
                <a:solidFill>
                  <a:schemeClr val="tx1"/>
                </a:solidFill>
                <a:latin typeface="+mn-lt"/>
                <a:ea typeface="+mn-ea"/>
                <a:cs typeface="+mn-cs"/>
              </a:rPr>
              <a:t> Be alert to the potential for people to be affected by shock – and provide first aid for same.</a:t>
            </a:r>
          </a:p>
          <a:p>
            <a:pPr>
              <a:buFont typeface="Arial" pitchFamily="34" charset="0"/>
              <a:buNone/>
            </a:pPr>
            <a:endParaRPr lang="en-AU" noProof="0" dirty="0" smtClean="0"/>
          </a:p>
          <a:p>
            <a:pPr>
              <a:buFont typeface="Arial" pitchFamily="34" charset="0"/>
              <a:buNone/>
            </a:pPr>
            <a:r>
              <a:rPr lang="en-AU" b="1" noProof="0" dirty="0" smtClean="0"/>
              <a:t>Class Activity – Demonstration and Practical Exercise</a:t>
            </a:r>
          </a:p>
          <a:p>
            <a:pPr>
              <a:buFont typeface="Arial" pitchFamily="34" charset="0"/>
              <a:buNone/>
            </a:pPr>
            <a:r>
              <a:rPr lang="en-AU" b="0" noProof="0" dirty="0" smtClean="0"/>
              <a:t>Trainer demonstrates how to provide comfort and assistance to a guest who has been affected by a death on the premises and then</a:t>
            </a:r>
            <a:r>
              <a:rPr lang="en-AU" b="0" baseline="0" noProof="0" dirty="0" smtClean="0"/>
              <a:t> provides an opportunity for students to practice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1/9/2014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1/9/2014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1/9/2014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1/9/2014</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1/9/2014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1/9/2014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1/9/2014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1/9/2014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1/9/2014</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6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68.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73.wmf"/></Relationships>
</file>

<file path=ppt/slides/_rels/slide76.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75.jpeg"/></Relationships>
</file>

<file path=ppt/slides/_rels/slide7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42.xml"/><Relationship Id="rId1" Type="http://schemas.openxmlformats.org/officeDocument/2006/relationships/slideLayout" Target="../slideLayouts/slideLayout2.xml"/><Relationship Id="rId4" Type="http://schemas.openxmlformats.org/officeDocument/2006/relationships/image" Target="../media/image128.jpeg"/></Relationships>
</file>

<file path=ppt/slides/_rels/slide14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52.wmf"/><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404664"/>
            <a:ext cx="7632176" cy="936104"/>
          </a:xfrm>
        </p:spPr>
        <p:txBody>
          <a:bodyPr>
            <a:normAutofit fontScale="90000"/>
          </a:bodyPr>
          <a:lstStyle/>
          <a:p>
            <a:r>
              <a:rPr lang="en-AU" sz="4000" dirty="0" smtClean="0">
                <a:ln w="5000" cmpd="sng">
                  <a:noFill/>
                  <a:prstDash val="solid"/>
                </a:ln>
                <a:solidFill>
                  <a:srgbClr val="FF6600"/>
                </a:solidFill>
                <a:latin typeface="Helvetica" pitchFamily="34" charset="0"/>
              </a:rPr>
              <a:t>MAINTAIN THE SAFETY OF PREMISES AND PERSONNEL</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16832"/>
            <a:ext cx="2541268" cy="433758"/>
          </a:xfrm>
        </p:spPr>
        <p:txBody>
          <a:bodyPr>
            <a:normAutofit/>
          </a:bodyPr>
          <a:lstStyle/>
          <a:p>
            <a:r>
              <a:rPr lang="en-AU" sz="2100" b="1" dirty="0" smtClean="0">
                <a:latin typeface="Helvetica" pitchFamily="34" charset="0"/>
              </a:rPr>
              <a:t>D1.HSS.CL4.04</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6" name="Picture 4" descr="C:\Documents and Settings\danielc\Desktop\Maintain the security of premises and property imgs\1063331_guard.jpg"/>
          <p:cNvPicPr>
            <a:picLocks noChangeAspect="1" noChangeArrowheads="1"/>
          </p:cNvPicPr>
          <p:nvPr/>
        </p:nvPicPr>
        <p:blipFill>
          <a:blip r:embed="rId3" cstate="print">
            <a:lum contrast="20000"/>
          </a:blip>
          <a:srcRect/>
          <a:stretch>
            <a:fillRect/>
          </a:stretch>
        </p:blipFill>
        <p:spPr bwMode="auto">
          <a:xfrm>
            <a:off x="1857356" y="2285992"/>
            <a:ext cx="1714512" cy="257176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2" descr="C:\Documents and Settings\danielc\Local Settings\Temporary Internet Files\Content.IE5\Y88G682L\MP900341715[1].jpg"/>
          <p:cNvPicPr>
            <a:picLocks noChangeAspect="1" noChangeArrowheads="1"/>
          </p:cNvPicPr>
          <p:nvPr/>
        </p:nvPicPr>
        <p:blipFill>
          <a:blip r:embed="rId4" cstate="print"/>
          <a:srcRect/>
          <a:stretch>
            <a:fillRect/>
          </a:stretch>
        </p:blipFill>
        <p:spPr bwMode="auto">
          <a:xfrm>
            <a:off x="5788655" y="2843234"/>
            <a:ext cx="1640865" cy="23002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2" descr="C:\Documents and Settings\danielc\Desktop\Maintain the security of premises and property imgs\freeimage-78195 copy.jpg"/>
          <p:cNvPicPr>
            <a:picLocks noChangeAspect="1" noChangeArrowheads="1"/>
          </p:cNvPicPr>
          <p:nvPr/>
        </p:nvPicPr>
        <p:blipFill>
          <a:blip r:embed="rId5" cstate="print"/>
          <a:srcRect/>
          <a:stretch>
            <a:fillRect/>
          </a:stretch>
        </p:blipFill>
        <p:spPr bwMode="auto">
          <a:xfrm>
            <a:off x="3500430" y="3143248"/>
            <a:ext cx="2279485" cy="15032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safety of premises and personnel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six Elements:</a:t>
            </a:r>
          </a:p>
          <a:p>
            <a:pPr marL="360000" indent="-360000">
              <a:spcBef>
                <a:spcPts val="600"/>
              </a:spcBef>
              <a:spcAft>
                <a:spcPts val="1200"/>
              </a:spcAft>
            </a:pPr>
            <a:r>
              <a:rPr lang="en-US" sz="2200" dirty="0" smtClean="0">
                <a:latin typeface="Helvetica" pitchFamily="34" charset="0"/>
              </a:rPr>
              <a:t>Respond to fire and other alarms</a:t>
            </a:r>
          </a:p>
          <a:p>
            <a:pPr marL="360000" indent="-360000">
              <a:spcBef>
                <a:spcPts val="600"/>
              </a:spcBef>
              <a:spcAft>
                <a:spcPts val="1200"/>
              </a:spcAft>
            </a:pPr>
            <a:r>
              <a:rPr lang="en-US" sz="2200" dirty="0" smtClean="0">
                <a:latin typeface="Helvetica" pitchFamily="34" charset="0"/>
              </a:rPr>
              <a:t>Respond to safety threats</a:t>
            </a:r>
          </a:p>
          <a:p>
            <a:pPr marL="360000" indent="-360000">
              <a:spcBef>
                <a:spcPts val="600"/>
              </a:spcBef>
              <a:spcAft>
                <a:spcPts val="1200"/>
              </a:spcAft>
            </a:pPr>
            <a:r>
              <a:rPr lang="en-US" sz="2200" dirty="0" smtClean="0">
                <a:latin typeface="Helvetica" pitchFamily="34" charset="0"/>
              </a:rPr>
              <a:t>Respond to emergency situations</a:t>
            </a:r>
          </a:p>
          <a:p>
            <a:pPr marL="360000" indent="-360000">
              <a:spcBef>
                <a:spcPts val="600"/>
              </a:spcBef>
              <a:spcAft>
                <a:spcPts val="1200"/>
              </a:spcAft>
            </a:pPr>
            <a:r>
              <a:rPr lang="en-US" sz="2200" dirty="0" smtClean="0">
                <a:latin typeface="Helvetica" pitchFamily="34" charset="0"/>
              </a:rPr>
              <a:t>Conduct evacuations</a:t>
            </a:r>
          </a:p>
          <a:p>
            <a:pPr marL="360000" indent="-360000">
              <a:spcBef>
                <a:spcPts val="600"/>
              </a:spcBef>
              <a:spcAft>
                <a:spcPts val="1200"/>
              </a:spcAft>
            </a:pPr>
            <a:r>
              <a:rPr lang="en-US" sz="2200" dirty="0" smtClean="0">
                <a:latin typeface="Helvetica" pitchFamily="34" charset="0"/>
              </a:rPr>
              <a:t>Fulfill administrative responsibilities</a:t>
            </a:r>
          </a:p>
          <a:p>
            <a:pPr marL="360000" indent="-360000">
              <a:spcBef>
                <a:spcPts val="600"/>
              </a:spcBef>
              <a:spcAft>
                <a:spcPts val="1200"/>
              </a:spcAft>
            </a:pPr>
            <a:r>
              <a:rPr lang="en-US" sz="2200" dirty="0" smtClean="0">
                <a:latin typeface="Helvetica" pitchFamily="34" charset="0"/>
              </a:rPr>
              <a:t>Respond to a deceased person situation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1026"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5786446" y="1714488"/>
            <a:ext cx="2255856" cy="149506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00B050"/>
              </a:buClr>
            </a:pPr>
            <a:r>
              <a:rPr lang="en-US" sz="2200" dirty="0" smtClean="0"/>
              <a:t>Oral questions</a:t>
            </a:r>
          </a:p>
          <a:p>
            <a:pPr marL="360000" indent="-360000">
              <a:spcBef>
                <a:spcPts val="600"/>
              </a:spcBef>
              <a:spcAft>
                <a:spcPts val="1200"/>
              </a:spcAft>
              <a:buClr>
                <a:srgbClr val="00B050"/>
              </a:buClr>
            </a:pPr>
            <a:r>
              <a:rPr lang="en-US" sz="2200" dirty="0" smtClean="0"/>
              <a:t>Written questions</a:t>
            </a:r>
          </a:p>
          <a:p>
            <a:pPr marL="360000" indent="-360000">
              <a:spcBef>
                <a:spcPts val="600"/>
              </a:spcBef>
              <a:spcAft>
                <a:spcPts val="1200"/>
              </a:spcAft>
              <a:buClr>
                <a:srgbClr val="00B050"/>
              </a:buClr>
            </a:pPr>
            <a:r>
              <a:rPr lang="en-US" sz="2200" dirty="0" smtClean="0"/>
              <a:t>Work projects</a:t>
            </a:r>
          </a:p>
          <a:p>
            <a:pPr marL="360000" indent="-360000">
              <a:spcBef>
                <a:spcPts val="600"/>
              </a:spcBef>
              <a:spcAft>
                <a:spcPts val="1200"/>
              </a:spcAft>
              <a:buClr>
                <a:srgbClr val="00B050"/>
              </a:buClr>
            </a:pPr>
            <a:r>
              <a:rPr lang="en-US" sz="2200" dirty="0" smtClean="0"/>
              <a:t>Workplace observation of practical skills</a:t>
            </a:r>
          </a:p>
          <a:p>
            <a:pPr marL="360000" indent="-360000">
              <a:spcBef>
                <a:spcPts val="600"/>
              </a:spcBef>
              <a:spcAft>
                <a:spcPts val="1200"/>
              </a:spcAft>
              <a:buClr>
                <a:srgbClr val="00B050"/>
              </a:buClr>
            </a:pPr>
            <a:r>
              <a:rPr lang="en-US" sz="2200" dirty="0" smtClean="0"/>
              <a:t>Practical exercises</a:t>
            </a:r>
          </a:p>
          <a:p>
            <a:pPr marL="360000" indent="-360000">
              <a:spcBef>
                <a:spcPts val="600"/>
              </a:spcBef>
              <a:spcAft>
                <a:spcPts val="1200"/>
              </a:spcAft>
              <a:buClr>
                <a:srgbClr val="00B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143636" y="1857364"/>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fire and other alarms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Establish nature and location of alarm</a:t>
            </a:r>
          </a:p>
          <a:p>
            <a:pPr marL="360000" indent="-360000">
              <a:spcBef>
                <a:spcPts val="600"/>
              </a:spcBef>
              <a:spcAft>
                <a:spcPts val="1200"/>
              </a:spcAft>
            </a:pPr>
            <a:r>
              <a:rPr lang="en-US" sz="2200" dirty="0" smtClean="0">
                <a:latin typeface="Helvetica" pitchFamily="34" charset="0"/>
              </a:rPr>
              <a:t>Contact emergency services</a:t>
            </a:r>
          </a:p>
          <a:p>
            <a:pPr marL="360000" indent="-360000">
              <a:spcBef>
                <a:spcPts val="600"/>
              </a:spcBef>
              <a:spcAft>
                <a:spcPts val="1200"/>
              </a:spcAft>
            </a:pPr>
            <a:r>
              <a:rPr lang="en-US" sz="2200" dirty="0" smtClean="0">
                <a:latin typeface="Helvetica" pitchFamily="34" charset="0"/>
              </a:rPr>
              <a:t>Ensure access and assistance to emergency services upon their arrival</a:t>
            </a:r>
          </a:p>
          <a:p>
            <a:pPr marL="360000" indent="-360000">
              <a:spcBef>
                <a:spcPts val="600"/>
              </a:spcBef>
              <a:spcAft>
                <a:spcPts val="1200"/>
              </a:spcAft>
            </a:pPr>
            <a:r>
              <a:rPr lang="en-US" sz="2200" dirty="0" smtClean="0">
                <a:latin typeface="Helvetica" pitchFamily="34" charset="0"/>
              </a:rPr>
              <a:t>Provide first response assistance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744482"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643438" y="264318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172714" y="357187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214942" y="4143380"/>
            <a:ext cx="399154" cy="527046"/>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nature and location of alarm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It is important to establish nature and location of alarms as it is the basis for:</a:t>
            </a:r>
          </a:p>
          <a:p>
            <a:pPr marL="360000" indent="-360000">
              <a:spcBef>
                <a:spcPts val="600"/>
              </a:spcBef>
              <a:spcAft>
                <a:spcPts val="1200"/>
              </a:spcAft>
            </a:pPr>
            <a:r>
              <a:rPr lang="en-US" sz="2200" dirty="0" smtClean="0">
                <a:latin typeface="Helvetica" pitchFamily="34" charset="0"/>
              </a:rPr>
              <a:t>Knowing what is happening</a:t>
            </a:r>
          </a:p>
          <a:p>
            <a:pPr marL="360000" indent="-360000">
              <a:spcBef>
                <a:spcPts val="600"/>
              </a:spcBef>
              <a:spcAft>
                <a:spcPts val="1200"/>
              </a:spcAft>
            </a:pPr>
            <a:r>
              <a:rPr lang="en-US" sz="2200" dirty="0" smtClean="0">
                <a:latin typeface="Helvetica" pitchFamily="34" charset="0"/>
              </a:rPr>
              <a:t>Contacting emergency services</a:t>
            </a:r>
          </a:p>
          <a:p>
            <a:pPr marL="360000" indent="-360000">
              <a:spcBef>
                <a:spcPts val="600"/>
              </a:spcBef>
              <a:spcAft>
                <a:spcPts val="1200"/>
              </a:spcAft>
            </a:pPr>
            <a:r>
              <a:rPr lang="en-US" sz="2200" dirty="0" smtClean="0">
                <a:latin typeface="Helvetica" pitchFamily="34" charset="0"/>
              </a:rPr>
              <a:t>Initiating first response</a:t>
            </a:r>
          </a:p>
          <a:p>
            <a:pPr marL="360000" indent="-360000">
              <a:spcBef>
                <a:spcPts val="600"/>
              </a:spcBef>
              <a:spcAft>
                <a:spcPts val="1200"/>
              </a:spcAft>
            </a:pPr>
            <a:r>
              <a:rPr lang="en-US" sz="2200" dirty="0" smtClean="0">
                <a:latin typeface="Helvetica" pitchFamily="34" charset="0"/>
              </a:rPr>
              <a:t>Internal notifications</a:t>
            </a:r>
          </a:p>
          <a:p>
            <a:pPr marL="360000" indent="-360000">
              <a:spcBef>
                <a:spcPts val="600"/>
              </a:spcBef>
              <a:spcAft>
                <a:spcPts val="1200"/>
              </a:spcAft>
            </a:pPr>
            <a:r>
              <a:rPr lang="en-US" sz="2200" dirty="0" smtClean="0">
                <a:latin typeface="Helvetica" pitchFamily="34" charset="0"/>
              </a:rPr>
              <a:t>EMP decisions</a:t>
            </a:r>
          </a:p>
          <a:p>
            <a:pPr marL="360000" indent="-360000">
              <a:spcBef>
                <a:spcPts val="600"/>
              </a:spcBef>
              <a:spcAft>
                <a:spcPts val="1200"/>
              </a:spcAft>
            </a:pPr>
            <a:r>
              <a:rPr lang="en-US" sz="2200" dirty="0" smtClean="0">
                <a:latin typeface="Helvetica" pitchFamily="34" charset="0"/>
              </a:rPr>
              <a:t>Assessing threat/s posed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1027" name="Picture 3" descr="C:\Documents and Settings\danielc\Local Settings\Temporary Internet Files\Content.IE5\XGIII3N1\MC900254360[1].wmf"/>
          <p:cNvPicPr>
            <a:picLocks noChangeAspect="1" noChangeArrowheads="1"/>
          </p:cNvPicPr>
          <p:nvPr/>
        </p:nvPicPr>
        <p:blipFill>
          <a:blip r:embed="rId3" cstate="print"/>
          <a:srcRect/>
          <a:stretch>
            <a:fillRect/>
          </a:stretch>
        </p:blipFill>
        <p:spPr bwMode="auto">
          <a:xfrm>
            <a:off x="5929322" y="2428868"/>
            <a:ext cx="1830629" cy="1789481"/>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nature and location of alarm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Two questions must be answered when you identify an alarm has been activated:</a:t>
            </a:r>
          </a:p>
          <a:p>
            <a:pPr marL="360000" indent="-360000">
              <a:spcBef>
                <a:spcPts val="600"/>
              </a:spcBef>
              <a:spcAft>
                <a:spcPts val="1200"/>
              </a:spcAft>
            </a:pPr>
            <a:r>
              <a:rPr lang="en-US" sz="2200" dirty="0" smtClean="0">
                <a:latin typeface="Helvetica" pitchFamily="34" charset="0"/>
              </a:rPr>
              <a:t>What has triggered the alarm?</a:t>
            </a:r>
          </a:p>
          <a:p>
            <a:pPr marL="360000" indent="-360000">
              <a:spcBef>
                <a:spcPts val="600"/>
              </a:spcBef>
              <a:spcAft>
                <a:spcPts val="1200"/>
              </a:spcAft>
            </a:pPr>
            <a:r>
              <a:rPr lang="en-US" sz="2200" dirty="0" smtClean="0">
                <a:latin typeface="Helvetica" pitchFamily="34" charset="0"/>
              </a:rPr>
              <a:t>Where is the alarm indicating the emergency exists?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2" descr="C:\Documents and Settings\danielc\Local Settings\Temporary Internet Files\Content.IE5\3Y3SDCJX\MC900056274[1].wmf"/>
          <p:cNvPicPr>
            <a:picLocks noChangeAspect="1" noChangeArrowheads="1"/>
          </p:cNvPicPr>
          <p:nvPr/>
        </p:nvPicPr>
        <p:blipFill>
          <a:blip r:embed="rId3" cstate="print"/>
          <a:srcRect/>
          <a:stretch>
            <a:fillRect/>
          </a:stretch>
        </p:blipFill>
        <p:spPr bwMode="auto">
          <a:xfrm>
            <a:off x="3500430" y="3929066"/>
            <a:ext cx="1886407" cy="1844345"/>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nature and location of alarm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Use venue knowledge:</a:t>
            </a:r>
          </a:p>
          <a:p>
            <a:pPr marL="360000" indent="-360000">
              <a:spcBef>
                <a:spcPts val="600"/>
              </a:spcBef>
              <a:spcAft>
                <a:spcPts val="1200"/>
              </a:spcAft>
            </a:pPr>
            <a:r>
              <a:rPr lang="en-US" sz="2200" dirty="0" smtClean="0">
                <a:latin typeface="Helvetica" pitchFamily="34" charset="0"/>
              </a:rPr>
              <a:t>Be able to interpret panel indicators</a:t>
            </a:r>
          </a:p>
          <a:p>
            <a:pPr marL="360000" indent="-360000">
              <a:spcBef>
                <a:spcPts val="600"/>
              </a:spcBef>
              <a:spcAft>
                <a:spcPts val="1200"/>
              </a:spcAft>
            </a:pPr>
            <a:r>
              <a:rPr lang="en-US" sz="2200" dirty="0" smtClean="0">
                <a:latin typeface="Helvetica" pitchFamily="34" charset="0"/>
              </a:rPr>
              <a:t>Know what different audible alarms sound like and what they mean</a:t>
            </a:r>
          </a:p>
          <a:p>
            <a:pPr marL="360000" indent="-360000">
              <a:spcBef>
                <a:spcPts val="600"/>
              </a:spcBef>
              <a:spcAft>
                <a:spcPts val="1200"/>
              </a:spcAft>
            </a:pPr>
            <a:r>
              <a:rPr lang="en-US" sz="2200" dirty="0" smtClean="0">
                <a:latin typeface="Helvetica" pitchFamily="34" charset="0"/>
              </a:rPr>
              <a:t>Understand the different ‘stage levels’ of alarms (where applicable)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6" name="Picture 2" descr="C:\Documents and Settings\danielc\Local Settings\Temporary Internet Files\Content.IE5\SIQ5KRQ3\MP900431709[1].jpg"/>
          <p:cNvPicPr>
            <a:picLocks noChangeAspect="1" noChangeArrowheads="1"/>
          </p:cNvPicPr>
          <p:nvPr/>
        </p:nvPicPr>
        <p:blipFill>
          <a:blip r:embed="rId3" cstate="print"/>
          <a:srcRect/>
          <a:stretch>
            <a:fillRect/>
          </a:stretch>
        </p:blipFill>
        <p:spPr bwMode="auto">
          <a:xfrm>
            <a:off x="3643306" y="4286256"/>
            <a:ext cx="2071678" cy="2071678"/>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Standard practice is to contact emergency services when an alarm activates.</a:t>
            </a:r>
          </a:p>
          <a:p>
            <a:pPr marL="0" indent="0">
              <a:spcBef>
                <a:spcPts val="600"/>
              </a:spcBef>
              <a:spcAft>
                <a:spcPts val="1200"/>
              </a:spcAft>
              <a:buNone/>
            </a:pPr>
            <a:r>
              <a:rPr lang="en-US" sz="2200" dirty="0" smtClean="0">
                <a:latin typeface="Helvetica" pitchFamily="34" charset="0"/>
              </a:rPr>
              <a:t>Emergency services are:</a:t>
            </a:r>
          </a:p>
          <a:p>
            <a:pPr marL="360000" indent="-360000">
              <a:spcBef>
                <a:spcPts val="600"/>
              </a:spcBef>
              <a:spcAft>
                <a:spcPts val="1200"/>
              </a:spcAft>
            </a:pPr>
            <a:r>
              <a:rPr lang="en-US" sz="2200" dirty="0" smtClean="0">
                <a:latin typeface="Helvetica" pitchFamily="34" charset="0"/>
              </a:rPr>
              <a:t>Fire</a:t>
            </a:r>
          </a:p>
          <a:p>
            <a:pPr marL="360000" indent="-360000">
              <a:spcBef>
                <a:spcPts val="600"/>
              </a:spcBef>
              <a:spcAft>
                <a:spcPts val="1200"/>
              </a:spcAft>
            </a:pPr>
            <a:r>
              <a:rPr lang="en-US" sz="2200" dirty="0" smtClean="0">
                <a:latin typeface="Helvetica" pitchFamily="34" charset="0"/>
              </a:rPr>
              <a:t>Police</a:t>
            </a:r>
          </a:p>
          <a:p>
            <a:pPr marL="360000" indent="-360000">
              <a:spcBef>
                <a:spcPts val="600"/>
              </a:spcBef>
              <a:spcAft>
                <a:spcPts val="1200"/>
              </a:spcAft>
            </a:pPr>
            <a:r>
              <a:rPr lang="en-US" sz="2200" dirty="0" smtClean="0">
                <a:latin typeface="Helvetica" pitchFamily="34" charset="0"/>
              </a:rPr>
              <a:t>Ambulance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3074" name="Picture 2" descr="C:\Documents and Settings\danielc\Local Settings\Temporary Internet Files\Content.IE5\Y88G682L\MP900442415[1].jpg"/>
          <p:cNvPicPr>
            <a:picLocks noChangeAspect="1" noChangeArrowheads="1"/>
          </p:cNvPicPr>
          <p:nvPr/>
        </p:nvPicPr>
        <p:blipFill>
          <a:blip r:embed="rId3" cstate="print"/>
          <a:srcRect/>
          <a:stretch>
            <a:fillRect/>
          </a:stretch>
        </p:blipFill>
        <p:spPr bwMode="auto">
          <a:xfrm>
            <a:off x="5643570" y="2643182"/>
            <a:ext cx="2207591" cy="1467399"/>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contact emergency services:</a:t>
            </a:r>
          </a:p>
          <a:p>
            <a:pPr marL="360000" indent="-360000">
              <a:spcBef>
                <a:spcPts val="600"/>
              </a:spcBef>
              <a:spcAft>
                <a:spcPts val="1200"/>
              </a:spcAft>
            </a:pPr>
            <a:r>
              <a:rPr lang="en-US" sz="2200" dirty="0" smtClean="0">
                <a:latin typeface="Helvetica" pitchFamily="34" charset="0"/>
              </a:rPr>
              <a:t>By landline or cell phone</a:t>
            </a:r>
          </a:p>
          <a:p>
            <a:pPr marL="360000" indent="-360000">
              <a:spcBef>
                <a:spcPts val="600"/>
              </a:spcBef>
              <a:spcAft>
                <a:spcPts val="1200"/>
              </a:spcAft>
            </a:pPr>
            <a:r>
              <a:rPr lang="en-US" sz="2200" dirty="0" smtClean="0">
                <a:latin typeface="Helvetica" pitchFamily="34" charset="0"/>
              </a:rPr>
              <a:t>Using direct line</a:t>
            </a:r>
          </a:p>
          <a:p>
            <a:pPr marL="360000" indent="-360000">
              <a:spcBef>
                <a:spcPts val="600"/>
              </a:spcBef>
              <a:spcAft>
                <a:spcPts val="1200"/>
              </a:spcAft>
            </a:pPr>
            <a:r>
              <a:rPr lang="en-US" sz="2200" dirty="0" smtClean="0">
                <a:latin typeface="Helvetica" pitchFamily="34" charset="0"/>
              </a:rPr>
              <a:t>Notify management</a:t>
            </a:r>
          </a:p>
          <a:p>
            <a:pPr marL="360000" indent="-360000">
              <a:spcBef>
                <a:spcPts val="600"/>
              </a:spcBef>
              <a:spcAft>
                <a:spcPts val="1200"/>
              </a:spcAft>
            </a:pPr>
            <a:r>
              <a:rPr lang="en-US" sz="2200" dirty="0" smtClean="0">
                <a:latin typeface="Helvetica" pitchFamily="34" charset="0"/>
              </a:rPr>
              <a:t>Activate an alarm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4098" name="Picture 2" descr="C:\Documents and Settings\danielc\Local Settings\Temporary Internet Files\Content.IE5\SIQ5KRQ3\MP900387943[1].jpg"/>
          <p:cNvPicPr>
            <a:picLocks noChangeAspect="1" noChangeArrowheads="1"/>
          </p:cNvPicPr>
          <p:nvPr/>
        </p:nvPicPr>
        <p:blipFill>
          <a:blip r:embed="rId3" cstate="print"/>
          <a:srcRect/>
          <a:stretch>
            <a:fillRect/>
          </a:stretch>
        </p:blipFill>
        <p:spPr bwMode="auto">
          <a:xfrm>
            <a:off x="5857884" y="1857364"/>
            <a:ext cx="1763176" cy="2471742"/>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Emergency services telephone numbers:</a:t>
            </a:r>
          </a:p>
          <a:p>
            <a:pPr marL="360000" indent="-360000">
              <a:spcBef>
                <a:spcPts val="600"/>
              </a:spcBef>
              <a:spcAft>
                <a:spcPts val="1200"/>
              </a:spcAft>
            </a:pPr>
            <a:r>
              <a:rPr lang="en-US" sz="2200" dirty="0" smtClean="0">
                <a:latin typeface="Helvetica" pitchFamily="34" charset="0"/>
              </a:rPr>
              <a:t>Know them in advance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National or local number?</a:t>
            </a:r>
          </a:p>
          <a:p>
            <a:pPr marL="360000" indent="-360000">
              <a:spcBef>
                <a:spcPts val="600"/>
              </a:spcBef>
              <a:spcAft>
                <a:spcPts val="1200"/>
              </a:spcAft>
            </a:pPr>
            <a:r>
              <a:rPr lang="en-US" sz="2200" dirty="0" smtClean="0">
                <a:latin typeface="Helvetica" pitchFamily="34" charset="0"/>
              </a:rPr>
              <a:t>Post numbers near telephones</a:t>
            </a:r>
          </a:p>
          <a:p>
            <a:pPr marL="360000" indent="-360000">
              <a:spcBef>
                <a:spcPts val="600"/>
              </a:spcBef>
              <a:spcAft>
                <a:spcPts val="1200"/>
              </a:spcAft>
            </a:pPr>
            <a:r>
              <a:rPr lang="en-US" sz="2200" dirty="0" smtClean="0">
                <a:latin typeface="Helvetica" pitchFamily="34" charset="0"/>
              </a:rPr>
              <a:t>Enter into cell phones</a:t>
            </a:r>
          </a:p>
          <a:p>
            <a:pPr marL="360000" indent="-360000">
              <a:spcBef>
                <a:spcPts val="600"/>
              </a:spcBef>
              <a:spcAft>
                <a:spcPts val="1200"/>
              </a:spcAft>
            </a:pPr>
            <a:r>
              <a:rPr lang="en-US" sz="2200" dirty="0" smtClean="0">
                <a:latin typeface="Helvetica" pitchFamily="34" charset="0"/>
              </a:rPr>
              <a:t>Enter into speed-dialing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6" name="Picture 5" descr="C:\Documents and Settings\danielc\Desktop\Maintain the security of premises and property\1095705_fire__fire_2.jpg"/>
          <p:cNvPicPr/>
          <p:nvPr/>
        </p:nvPicPr>
        <p:blipFill>
          <a:blip r:embed="rId3" cstate="print"/>
          <a:srcRect/>
          <a:stretch>
            <a:fillRect/>
          </a:stretch>
        </p:blipFill>
        <p:spPr bwMode="auto">
          <a:xfrm>
            <a:off x="5857884" y="2285992"/>
            <a:ext cx="1965867" cy="1304693"/>
          </a:xfrm>
          <a:prstGeom prst="rect">
            <a:avLst/>
          </a:prstGeom>
          <a:noFill/>
          <a:ln w="9525">
            <a:noFill/>
            <a:miter lim="800000"/>
            <a:headEnd/>
            <a:tailEnd/>
          </a:ln>
        </p:spPr>
      </p:pic>
      <p:pic>
        <p:nvPicPr>
          <p:cNvPr id="7" name="Picture 2" descr="C:\Documents and Settings\danielc\Local Settings\Temporary Internet Files\Content.IE5\Y88G682L\MC900286955[1].wmf"/>
          <p:cNvPicPr>
            <a:picLocks noChangeAspect="1" noChangeArrowheads="1"/>
          </p:cNvPicPr>
          <p:nvPr/>
        </p:nvPicPr>
        <p:blipFill>
          <a:blip r:embed="rId4" cstate="print"/>
          <a:srcRect/>
          <a:stretch>
            <a:fillRect/>
          </a:stretch>
        </p:blipFill>
        <p:spPr bwMode="auto">
          <a:xfrm>
            <a:off x="5715008" y="3786190"/>
            <a:ext cx="2316178" cy="2115493"/>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telephoning to report an emergency:</a:t>
            </a:r>
          </a:p>
          <a:p>
            <a:pPr marL="360000" indent="-360000">
              <a:spcBef>
                <a:spcPts val="600"/>
              </a:spcBef>
              <a:spcAft>
                <a:spcPts val="1200"/>
              </a:spcAft>
            </a:pPr>
            <a:r>
              <a:rPr lang="en-US" sz="2200" dirty="0" smtClean="0">
                <a:latin typeface="Helvetica" pitchFamily="34" charset="0"/>
              </a:rPr>
              <a:t>Identify yourself, position and venue location</a:t>
            </a:r>
          </a:p>
          <a:p>
            <a:pPr marL="360000" indent="-360000">
              <a:spcBef>
                <a:spcPts val="600"/>
              </a:spcBef>
              <a:spcAft>
                <a:spcPts val="1200"/>
              </a:spcAft>
            </a:pPr>
            <a:r>
              <a:rPr lang="en-US" sz="2200" dirty="0" smtClean="0">
                <a:latin typeface="Helvetica" pitchFamily="34" charset="0"/>
              </a:rPr>
              <a:t>Say you want to report an emergency</a:t>
            </a:r>
          </a:p>
          <a:p>
            <a:pPr marL="360000" indent="-360000">
              <a:spcBef>
                <a:spcPts val="600"/>
              </a:spcBef>
              <a:spcAft>
                <a:spcPts val="1200"/>
              </a:spcAft>
            </a:pPr>
            <a:r>
              <a:rPr lang="en-US" sz="2200" dirty="0" smtClean="0">
                <a:latin typeface="Helvetica" pitchFamily="34" charset="0"/>
              </a:rPr>
              <a:t>Describe the emergency</a:t>
            </a:r>
          </a:p>
          <a:p>
            <a:pPr marL="360000" indent="-360000">
              <a:spcBef>
                <a:spcPts val="600"/>
              </a:spcBef>
              <a:spcAft>
                <a:spcPts val="1200"/>
              </a:spcAft>
            </a:pPr>
            <a:r>
              <a:rPr lang="en-US" sz="2200" dirty="0" smtClean="0">
                <a:latin typeface="Helvetica" pitchFamily="34" charset="0"/>
              </a:rPr>
              <a:t>Be guided by the operator</a:t>
            </a:r>
          </a:p>
          <a:p>
            <a:pPr marL="360000" indent="-360000">
              <a:spcBef>
                <a:spcPts val="600"/>
              </a:spcBef>
              <a:spcAft>
                <a:spcPts val="1200"/>
              </a:spcAft>
            </a:pPr>
            <a:r>
              <a:rPr lang="en-US" sz="2200" dirty="0" smtClean="0">
                <a:latin typeface="Helvetica" pitchFamily="34" charset="0"/>
              </a:rPr>
              <a:t>Give location of the emergency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146" name="Picture 2" descr="C:\Documents and Settings\danielc\Desktop\images\Maintain the security of premises and property imgs\freeimage-4272168.jpg"/>
          <p:cNvPicPr>
            <a:picLocks noChangeAspect="1" noChangeArrowheads="1"/>
          </p:cNvPicPr>
          <p:nvPr/>
        </p:nvPicPr>
        <p:blipFill>
          <a:blip r:embed="rId3" cstate="print"/>
          <a:srcRect/>
          <a:stretch>
            <a:fillRect/>
          </a:stretch>
        </p:blipFill>
        <p:spPr bwMode="auto">
          <a:xfrm>
            <a:off x="6715140" y="2357430"/>
            <a:ext cx="1546832" cy="2320248"/>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Identify threat</a:t>
            </a:r>
          </a:p>
          <a:p>
            <a:pPr marL="360000" indent="-360000">
              <a:spcBef>
                <a:spcPts val="600"/>
              </a:spcBef>
              <a:spcAft>
                <a:spcPts val="1200"/>
              </a:spcAft>
            </a:pPr>
            <a:r>
              <a:rPr lang="en-US" sz="2200" dirty="0" smtClean="0">
                <a:latin typeface="Helvetica" pitchFamily="34" charset="0"/>
              </a:rPr>
              <a:t>Identify numbers involved</a:t>
            </a:r>
          </a:p>
          <a:p>
            <a:pPr marL="360000" indent="-360000">
              <a:spcBef>
                <a:spcPts val="600"/>
              </a:spcBef>
              <a:spcAft>
                <a:spcPts val="1200"/>
              </a:spcAft>
            </a:pPr>
            <a:r>
              <a:rPr lang="en-US" sz="2200" dirty="0" smtClean="0">
                <a:latin typeface="Helvetica" pitchFamily="34" charset="0"/>
              </a:rPr>
              <a:t>Describe relevant local factors</a:t>
            </a:r>
          </a:p>
          <a:p>
            <a:pPr marL="360000" indent="-360000">
              <a:spcBef>
                <a:spcPts val="600"/>
              </a:spcBef>
              <a:spcAft>
                <a:spcPts val="1200"/>
              </a:spcAft>
            </a:pPr>
            <a:r>
              <a:rPr lang="en-US" sz="2200" dirty="0" smtClean="0">
                <a:latin typeface="Helvetica" pitchFamily="34" charset="0"/>
              </a:rPr>
              <a:t>Advise approach/entrance</a:t>
            </a:r>
          </a:p>
          <a:p>
            <a:pPr marL="360000" indent="-360000">
              <a:spcBef>
                <a:spcPts val="600"/>
              </a:spcBef>
              <a:spcAft>
                <a:spcPts val="1200"/>
              </a:spcAft>
            </a:pPr>
            <a:r>
              <a:rPr lang="en-US" sz="2200" dirty="0" smtClean="0">
                <a:latin typeface="Helvetica" pitchFamily="34" charset="0"/>
              </a:rPr>
              <a:t>Advise what you think is required</a:t>
            </a:r>
          </a:p>
          <a:p>
            <a:pPr marL="360000" indent="-360000">
              <a:spcBef>
                <a:spcPts val="600"/>
              </a:spcBef>
              <a:spcAft>
                <a:spcPts val="1200"/>
              </a:spcAft>
            </a:pPr>
            <a:r>
              <a:rPr lang="en-US" sz="2200" dirty="0" smtClean="0">
                <a:latin typeface="Helvetica" pitchFamily="34" charset="0"/>
              </a:rPr>
              <a:t>Do not hang up until told to do so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7170" name="Picture 2" descr="C:\Documents and Settings\danielc\Local Settings\Temporary Internet Files\Content.IE5\3DV3UKH9\MC900299715[1].wmf"/>
          <p:cNvPicPr>
            <a:picLocks noChangeAspect="1" noChangeArrowheads="1"/>
          </p:cNvPicPr>
          <p:nvPr/>
        </p:nvPicPr>
        <p:blipFill>
          <a:blip r:embed="rId3" cstate="print"/>
          <a:srcRect/>
          <a:stretch>
            <a:fillRect/>
          </a:stretch>
        </p:blipFill>
        <p:spPr bwMode="auto">
          <a:xfrm>
            <a:off x="6286512" y="2357430"/>
            <a:ext cx="1786738" cy="1805026"/>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access and assistance to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Someone must be sent to meet emergency services on their arrival – this person should:</a:t>
            </a:r>
          </a:p>
          <a:p>
            <a:pPr marL="360000" indent="-360000">
              <a:spcBef>
                <a:spcPts val="600"/>
              </a:spcBef>
              <a:spcAft>
                <a:spcPts val="1200"/>
              </a:spcAft>
            </a:pPr>
            <a:r>
              <a:rPr lang="en-US" sz="2200" dirty="0" smtClean="0">
                <a:latin typeface="Helvetica" pitchFamily="34" charset="0"/>
              </a:rPr>
              <a:t>Know about the emergency and its location</a:t>
            </a:r>
          </a:p>
          <a:p>
            <a:pPr marL="360000" indent="-360000">
              <a:spcBef>
                <a:spcPts val="600"/>
              </a:spcBef>
              <a:spcAft>
                <a:spcPts val="1200"/>
              </a:spcAft>
            </a:pPr>
            <a:r>
              <a:rPr lang="en-US" sz="2200" dirty="0" smtClean="0">
                <a:latin typeface="Helvetica" pitchFamily="34" charset="0"/>
              </a:rPr>
              <a:t>Be able to provide all necessary information to assist emergency services address the emergency</a:t>
            </a:r>
          </a:p>
          <a:p>
            <a:pPr marL="360000" indent="-360000">
              <a:spcBef>
                <a:spcPts val="600"/>
              </a:spcBef>
              <a:spcAft>
                <a:spcPts val="1200"/>
              </a:spcAft>
            </a:pPr>
            <a:r>
              <a:rPr lang="en-US" sz="2200" dirty="0" smtClean="0">
                <a:latin typeface="Helvetica" pitchFamily="34" charset="0"/>
              </a:rPr>
              <a:t>Be someone with authority to give orders to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2" descr="C:\Documents and Settings\danielc\Desktop\Maintain the security of premises and property imgs\677685_ambulances_in_ottawa.jpg"/>
          <p:cNvPicPr>
            <a:picLocks noChangeAspect="1" noChangeArrowheads="1"/>
          </p:cNvPicPr>
          <p:nvPr/>
        </p:nvPicPr>
        <p:blipFill>
          <a:blip r:embed="rId3" cstate="print"/>
          <a:srcRect/>
          <a:stretch>
            <a:fillRect/>
          </a:stretch>
        </p:blipFill>
        <p:spPr bwMode="auto">
          <a:xfrm>
            <a:off x="3643306" y="4643446"/>
            <a:ext cx="2500330" cy="1666887"/>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access and assistance to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Clearing access for emergency services may include:</a:t>
            </a:r>
          </a:p>
          <a:p>
            <a:pPr marL="360000" indent="-360000">
              <a:spcBef>
                <a:spcPts val="600"/>
              </a:spcBef>
              <a:spcAft>
                <a:spcPts val="1200"/>
              </a:spcAft>
            </a:pPr>
            <a:r>
              <a:rPr lang="en-US" sz="2200" dirty="0" smtClean="0">
                <a:latin typeface="Helvetica" pitchFamily="34" charset="0"/>
              </a:rPr>
              <a:t>Moving establishment vehicles</a:t>
            </a:r>
          </a:p>
          <a:p>
            <a:pPr marL="360000" indent="-360000">
              <a:spcBef>
                <a:spcPts val="600"/>
              </a:spcBef>
              <a:spcAft>
                <a:spcPts val="1200"/>
              </a:spcAft>
            </a:pPr>
            <a:r>
              <a:rPr lang="en-US" sz="2200" dirty="0" smtClean="0">
                <a:latin typeface="Helvetica" pitchFamily="34" charset="0"/>
              </a:rPr>
              <a:t>Asking others (including taxis) to move their vehicles</a:t>
            </a:r>
          </a:p>
          <a:p>
            <a:pPr marL="360000" indent="-360000">
              <a:spcBef>
                <a:spcPts val="600"/>
              </a:spcBef>
              <a:spcAft>
                <a:spcPts val="1200"/>
              </a:spcAft>
            </a:pPr>
            <a:r>
              <a:rPr lang="en-US" sz="2200" dirty="0" smtClean="0">
                <a:latin typeface="Helvetica" pitchFamily="34" charset="0"/>
              </a:rPr>
              <a:t>Unlocking gates and barriers</a:t>
            </a:r>
          </a:p>
          <a:p>
            <a:pPr marL="360000" indent="-360000">
              <a:spcBef>
                <a:spcPts val="600"/>
              </a:spcBef>
              <a:spcAft>
                <a:spcPts val="1200"/>
              </a:spcAft>
            </a:pPr>
            <a:r>
              <a:rPr lang="en-US" sz="2200" dirty="0" smtClean="0">
                <a:latin typeface="Helvetica" pitchFamily="34" charset="0"/>
              </a:rPr>
              <a:t>Preventing others parking where emergency </a:t>
            </a:r>
            <a:br>
              <a:rPr lang="en-US" sz="2200" dirty="0" smtClean="0">
                <a:latin typeface="Helvetica" pitchFamily="34" charset="0"/>
              </a:rPr>
            </a:br>
            <a:r>
              <a:rPr lang="en-US" sz="2200" dirty="0" smtClean="0">
                <a:latin typeface="Helvetica" pitchFamily="34" charset="0"/>
              </a:rPr>
              <a:t>vehicles are expected</a:t>
            </a:r>
          </a:p>
          <a:p>
            <a:pPr marL="360000" indent="-360000">
              <a:spcBef>
                <a:spcPts val="600"/>
              </a:spcBef>
              <a:spcAft>
                <a:spcPts val="1200"/>
              </a:spcAft>
            </a:pPr>
            <a:r>
              <a:rPr lang="en-US" sz="2200" dirty="0" smtClean="0">
                <a:latin typeface="Helvetica" pitchFamily="34" charset="0"/>
              </a:rPr>
              <a:t>Clearing away tables and other items/furniture</a:t>
            </a:r>
          </a:p>
          <a:p>
            <a:pPr marL="360000" indent="-360000">
              <a:spcBef>
                <a:spcPts val="600"/>
              </a:spcBef>
              <a:spcAft>
                <a:spcPts val="1200"/>
              </a:spcAft>
            </a:pPr>
            <a:r>
              <a:rPr lang="en-US" sz="2200" dirty="0" smtClean="0">
                <a:latin typeface="Helvetica" pitchFamily="34" charset="0"/>
              </a:rPr>
              <a:t>Asking people to move away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2" descr="C:\Documents and Settings\danielc\Local Settings\Temporary Internet Files\Content.IE5\Y88G682L\MP900341715[1].jpg"/>
          <p:cNvPicPr>
            <a:picLocks noChangeAspect="1" noChangeArrowheads="1"/>
          </p:cNvPicPr>
          <p:nvPr/>
        </p:nvPicPr>
        <p:blipFill>
          <a:blip r:embed="rId3" cstate="print"/>
          <a:srcRect/>
          <a:stretch>
            <a:fillRect/>
          </a:stretch>
        </p:blipFill>
        <p:spPr bwMode="auto">
          <a:xfrm>
            <a:off x="7072330" y="3571876"/>
            <a:ext cx="1426551" cy="1999838"/>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access and assistance to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asked by emergency services to assist:</a:t>
            </a:r>
          </a:p>
          <a:p>
            <a:pPr marL="360000" indent="-360000">
              <a:spcBef>
                <a:spcPts val="600"/>
              </a:spcBef>
              <a:spcAft>
                <a:spcPts val="1200"/>
              </a:spcAft>
            </a:pPr>
            <a:r>
              <a:rPr lang="en-US" sz="2200" dirty="0" smtClean="0">
                <a:latin typeface="Helvetica" pitchFamily="34" charset="0"/>
              </a:rPr>
              <a:t>Indicate immediately if you can or cannot</a:t>
            </a:r>
          </a:p>
          <a:p>
            <a:pPr marL="360000" indent="-360000">
              <a:spcBef>
                <a:spcPts val="600"/>
              </a:spcBef>
              <a:spcAft>
                <a:spcPts val="1200"/>
              </a:spcAft>
            </a:pPr>
            <a:r>
              <a:rPr lang="en-US" sz="2200" dirty="0" smtClean="0">
                <a:latin typeface="Helvetica" pitchFamily="34" charset="0"/>
              </a:rPr>
              <a:t>Clarify what is required</a:t>
            </a:r>
          </a:p>
          <a:p>
            <a:pPr marL="360000" indent="-360000">
              <a:spcBef>
                <a:spcPts val="600"/>
              </a:spcBef>
              <a:spcAft>
                <a:spcPts val="1200"/>
              </a:spcAft>
            </a:pPr>
            <a:r>
              <a:rPr lang="en-US" sz="2200" dirty="0" smtClean="0">
                <a:latin typeface="Helvetica" pitchFamily="34" charset="0"/>
              </a:rPr>
              <a:t>Do it</a:t>
            </a:r>
          </a:p>
          <a:p>
            <a:pPr marL="360000" indent="-360000">
              <a:spcBef>
                <a:spcPts val="600"/>
              </a:spcBef>
              <a:spcAft>
                <a:spcPts val="1200"/>
              </a:spcAft>
            </a:pPr>
            <a:r>
              <a:rPr lang="en-US" sz="2200" dirty="0" smtClean="0">
                <a:latin typeface="Helvetica" pitchFamily="34" charset="0"/>
              </a:rPr>
              <a:t>Move away when finished unless extra help is required</a:t>
            </a:r>
          </a:p>
          <a:p>
            <a:pPr marL="360000" indent="-360000" algn="ctr">
              <a:spcBef>
                <a:spcPts val="600"/>
              </a:spcBef>
              <a:spcAft>
                <a:spcPts val="1200"/>
              </a:spcAft>
              <a:buNone/>
            </a:pPr>
            <a:r>
              <a:rPr lang="en-US" sz="2200" dirty="0" smtClean="0">
                <a:latin typeface="Helvetica" pitchFamily="34" charset="0"/>
              </a:rPr>
              <a:t>Do not interfere with emergency services workers – let them do their job.</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2" descr="C:\Documents and Settings\danielc\Local Settings\Temporary Internet Files\Content.IE5\3Y3SDCJX\MC900057667[1].wmf"/>
          <p:cNvPicPr>
            <a:picLocks noChangeAspect="1" noChangeArrowheads="1"/>
          </p:cNvPicPr>
          <p:nvPr/>
        </p:nvPicPr>
        <p:blipFill>
          <a:blip r:embed="rId3" cstate="print"/>
          <a:srcRect/>
          <a:stretch>
            <a:fillRect/>
          </a:stretch>
        </p:blipFill>
        <p:spPr bwMode="auto">
          <a:xfrm>
            <a:off x="6858016" y="1857364"/>
            <a:ext cx="1616659" cy="1825142"/>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EMP will provide direction about what to do but sometimes you have to make on-the-spot decisions which should be based on/factor in:</a:t>
            </a:r>
          </a:p>
          <a:p>
            <a:pPr marL="360000" indent="-360000">
              <a:spcBef>
                <a:spcPts val="600"/>
              </a:spcBef>
              <a:spcAft>
                <a:spcPts val="1200"/>
              </a:spcAft>
            </a:pPr>
            <a:r>
              <a:rPr lang="en-US" sz="2200" dirty="0" smtClean="0">
                <a:latin typeface="Helvetica" pitchFamily="34" charset="0"/>
              </a:rPr>
              <a:t>Circumstances at the time</a:t>
            </a:r>
          </a:p>
          <a:p>
            <a:pPr marL="360000" indent="-360000">
              <a:spcBef>
                <a:spcPts val="600"/>
              </a:spcBef>
              <a:spcAft>
                <a:spcPts val="1200"/>
              </a:spcAft>
            </a:pPr>
            <a:r>
              <a:rPr lang="en-US" sz="2200" dirty="0" smtClean="0">
                <a:latin typeface="Helvetica" pitchFamily="34" charset="0"/>
              </a:rPr>
              <a:t>Number of people</a:t>
            </a:r>
          </a:p>
          <a:p>
            <a:pPr marL="360000" indent="-360000">
              <a:spcBef>
                <a:spcPts val="600"/>
              </a:spcBef>
              <a:spcAft>
                <a:spcPts val="1200"/>
              </a:spcAft>
            </a:pPr>
            <a:r>
              <a:rPr lang="en-US" sz="2200" dirty="0" smtClean="0">
                <a:latin typeface="Helvetica" pitchFamily="34" charset="0"/>
              </a:rPr>
              <a:t>Type of threat</a:t>
            </a:r>
          </a:p>
          <a:p>
            <a:pPr marL="360000" indent="-360000">
              <a:spcBef>
                <a:spcPts val="600"/>
              </a:spcBef>
              <a:spcAft>
                <a:spcPts val="1200"/>
              </a:spcAft>
            </a:pPr>
            <a:r>
              <a:rPr lang="en-US" sz="2200" dirty="0" smtClean="0">
                <a:latin typeface="Helvetica" pitchFamily="34" charset="0"/>
              </a:rPr>
              <a:t>Staff available</a:t>
            </a:r>
          </a:p>
          <a:p>
            <a:pPr marL="360000" indent="-360000">
              <a:spcBef>
                <a:spcPts val="600"/>
              </a:spcBef>
              <a:spcAft>
                <a:spcPts val="1200"/>
              </a:spcAft>
            </a:pPr>
            <a:r>
              <a:rPr lang="en-US" sz="2200" dirty="0" smtClean="0">
                <a:latin typeface="Helvetica" pitchFamily="34" charset="0"/>
              </a:rPr>
              <a:t>Resources available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2" descr="C:\Documents and Settings\danielc\Desktop\Maintain the security of premises and property imgs\iStock_walkie talkie.JPG"/>
          <p:cNvPicPr>
            <a:picLocks noChangeAspect="1" noChangeArrowheads="1"/>
          </p:cNvPicPr>
          <p:nvPr/>
        </p:nvPicPr>
        <p:blipFill>
          <a:blip r:embed="rId3" cstate="print">
            <a:duotone>
              <a:prstClr val="black"/>
              <a:srgbClr val="D9C3A5">
                <a:tint val="50000"/>
                <a:satMod val="180000"/>
              </a:srgbClr>
            </a:duotone>
          </a:blip>
          <a:srcRect/>
          <a:stretch>
            <a:fillRect/>
          </a:stretch>
        </p:blipFill>
        <p:spPr bwMode="auto">
          <a:xfrm>
            <a:off x="5357818" y="3214686"/>
            <a:ext cx="2439972" cy="1628566"/>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Remember three Golden Rules when providing first response:</a:t>
            </a:r>
          </a:p>
          <a:p>
            <a:pPr marL="360000" indent="-360000">
              <a:spcBef>
                <a:spcPts val="600"/>
              </a:spcBef>
              <a:spcAft>
                <a:spcPts val="1200"/>
              </a:spcAft>
            </a:pPr>
            <a:r>
              <a:rPr lang="en-US" sz="2200" dirty="0" smtClean="0">
                <a:latin typeface="Helvetica" pitchFamily="34" charset="0"/>
              </a:rPr>
              <a:t>Never put yourself in danger</a:t>
            </a:r>
          </a:p>
          <a:p>
            <a:pPr marL="360000" indent="-360000">
              <a:spcBef>
                <a:spcPts val="600"/>
              </a:spcBef>
              <a:spcAft>
                <a:spcPts val="1200"/>
              </a:spcAft>
            </a:pPr>
            <a:r>
              <a:rPr lang="en-US" sz="2200" dirty="0" smtClean="0">
                <a:latin typeface="Helvetica" pitchFamily="34" charset="0"/>
              </a:rPr>
              <a:t>Contact help as soon as possible</a:t>
            </a:r>
          </a:p>
          <a:p>
            <a:pPr marL="360000" indent="-360000">
              <a:spcBef>
                <a:spcPts val="600"/>
              </a:spcBef>
              <a:spcAft>
                <a:spcPts val="1200"/>
              </a:spcAft>
            </a:pPr>
            <a:r>
              <a:rPr lang="en-US" sz="2200" dirty="0" smtClean="0">
                <a:latin typeface="Helvetica" pitchFamily="34" charset="0"/>
              </a:rPr>
              <a:t>Saving lives is the priority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2" descr="C:\Documents and Settings\danielc\Desktop\Maintain the security of premises and property imgs\264140_thats_important.jpg"/>
          <p:cNvPicPr>
            <a:picLocks noChangeAspect="1" noChangeArrowheads="1"/>
          </p:cNvPicPr>
          <p:nvPr/>
        </p:nvPicPr>
        <p:blipFill>
          <a:blip r:embed="rId3" cstate="print">
            <a:lum contrast="40000"/>
          </a:blip>
          <a:srcRect/>
          <a:stretch>
            <a:fillRect/>
          </a:stretch>
        </p:blipFill>
        <p:spPr bwMode="auto">
          <a:xfrm>
            <a:off x="6500826" y="2285992"/>
            <a:ext cx="1822384" cy="1785936"/>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Generic requirements/first responses:</a:t>
            </a:r>
          </a:p>
          <a:p>
            <a:pPr marL="360000" indent="-360000">
              <a:spcBef>
                <a:spcPts val="600"/>
              </a:spcBef>
              <a:spcAft>
                <a:spcPts val="1200"/>
              </a:spcAft>
            </a:pPr>
            <a:r>
              <a:rPr lang="en-US" sz="2200" dirty="0" smtClean="0">
                <a:latin typeface="Helvetica" pitchFamily="34" charset="0"/>
              </a:rPr>
              <a:t>Follow plans </a:t>
            </a:r>
          </a:p>
          <a:p>
            <a:pPr marL="360000" indent="-360000">
              <a:spcBef>
                <a:spcPts val="600"/>
              </a:spcBef>
              <a:spcAft>
                <a:spcPts val="1200"/>
              </a:spcAft>
            </a:pPr>
            <a:r>
              <a:rPr lang="en-US" sz="2200" dirty="0" smtClean="0">
                <a:latin typeface="Helvetica" pitchFamily="34" charset="0"/>
              </a:rPr>
              <a:t>Respond immediately</a:t>
            </a:r>
          </a:p>
          <a:p>
            <a:pPr marL="360000" indent="-360000">
              <a:spcBef>
                <a:spcPts val="600"/>
              </a:spcBef>
              <a:spcAft>
                <a:spcPts val="1200"/>
              </a:spcAft>
            </a:pPr>
            <a:r>
              <a:rPr lang="en-US" sz="2200" dirty="0" smtClean="0">
                <a:latin typeface="Helvetica" pitchFamily="34" charset="0"/>
              </a:rPr>
              <a:t>Check others have been notified</a:t>
            </a:r>
          </a:p>
          <a:p>
            <a:pPr marL="360000" indent="-360000">
              <a:spcBef>
                <a:spcPts val="600"/>
              </a:spcBef>
              <a:spcAft>
                <a:spcPts val="1200"/>
              </a:spcAft>
            </a:pPr>
            <a:r>
              <a:rPr lang="en-US" sz="2200" dirty="0" smtClean="0">
                <a:latin typeface="Helvetica" pitchFamily="34" charset="0"/>
              </a:rPr>
              <a:t>Stay clam</a:t>
            </a:r>
          </a:p>
          <a:p>
            <a:pPr marL="360000" indent="-360000">
              <a:spcBef>
                <a:spcPts val="600"/>
              </a:spcBef>
              <a:spcAft>
                <a:spcPts val="1200"/>
              </a:spcAft>
            </a:pPr>
            <a:r>
              <a:rPr lang="en-US" sz="2200" dirty="0" smtClean="0">
                <a:latin typeface="Helvetica" pitchFamily="34" charset="0"/>
              </a:rPr>
              <a:t>Take action</a:t>
            </a:r>
          </a:p>
          <a:p>
            <a:pPr marL="360000" indent="-360000">
              <a:spcBef>
                <a:spcPts val="600"/>
              </a:spcBef>
              <a:spcAft>
                <a:spcPts val="1200"/>
              </a:spcAft>
            </a:pPr>
            <a:r>
              <a:rPr lang="en-US" sz="2200" dirty="0" smtClean="0">
                <a:latin typeface="Helvetica" pitchFamily="34" charset="0"/>
              </a:rPr>
              <a:t>Monitor and provide updates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2" descr="C:\Documents and Settings\danielc\Desktop\Maintain the security of premises and property imgs\1348197_self.jpg"/>
          <p:cNvPicPr>
            <a:picLocks noChangeAspect="1" noChangeArrowheads="1"/>
          </p:cNvPicPr>
          <p:nvPr/>
        </p:nvPicPr>
        <p:blipFill>
          <a:blip r:embed="rId3" cstate="print"/>
          <a:srcRect/>
          <a:stretch>
            <a:fillRect/>
          </a:stretch>
        </p:blipFill>
        <p:spPr bwMode="auto">
          <a:xfrm>
            <a:off x="6572264" y="2428868"/>
            <a:ext cx="1476372" cy="2214558"/>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Close doors/windows</a:t>
            </a:r>
          </a:p>
          <a:p>
            <a:pPr marL="360000" indent="-360000">
              <a:spcBef>
                <a:spcPts val="600"/>
              </a:spcBef>
              <a:spcAft>
                <a:spcPts val="1200"/>
              </a:spcAft>
            </a:pPr>
            <a:r>
              <a:rPr lang="en-US" sz="2200" dirty="0" smtClean="0">
                <a:latin typeface="Helvetica" pitchFamily="34" charset="0"/>
              </a:rPr>
              <a:t>Turn off air conditioning</a:t>
            </a:r>
          </a:p>
          <a:p>
            <a:pPr marL="360000" indent="-360000">
              <a:spcBef>
                <a:spcPts val="600"/>
              </a:spcBef>
              <a:spcAft>
                <a:spcPts val="1200"/>
              </a:spcAft>
            </a:pPr>
            <a:r>
              <a:rPr lang="en-US" sz="2200" dirty="0" smtClean="0">
                <a:latin typeface="Helvetica" pitchFamily="34" charset="0"/>
              </a:rPr>
              <a:t>Fight fires</a:t>
            </a:r>
          </a:p>
          <a:p>
            <a:pPr marL="360000" indent="-360000">
              <a:spcBef>
                <a:spcPts val="600"/>
              </a:spcBef>
              <a:spcAft>
                <a:spcPts val="1200"/>
              </a:spcAft>
            </a:pPr>
            <a:r>
              <a:rPr lang="en-US" sz="2200" dirty="0" smtClean="0">
                <a:latin typeface="Helvetica" pitchFamily="34" charset="0"/>
              </a:rPr>
              <a:t>Alert guests</a:t>
            </a:r>
          </a:p>
          <a:p>
            <a:pPr marL="360000" indent="-360000">
              <a:spcBef>
                <a:spcPts val="600"/>
              </a:spcBef>
              <a:spcAft>
                <a:spcPts val="1200"/>
              </a:spcAft>
            </a:pPr>
            <a:r>
              <a:rPr lang="en-US" sz="2200" dirty="0" smtClean="0">
                <a:latin typeface="Helvetica" pitchFamily="34" charset="0"/>
              </a:rPr>
              <a:t>Provide first aid</a:t>
            </a:r>
          </a:p>
          <a:p>
            <a:pPr marL="360000" indent="-360000">
              <a:spcBef>
                <a:spcPts val="600"/>
              </a:spcBef>
              <a:spcAft>
                <a:spcPts val="1200"/>
              </a:spcAft>
            </a:pPr>
            <a:r>
              <a:rPr lang="en-US" sz="2200" dirty="0" smtClean="0">
                <a:latin typeface="Helvetica" pitchFamily="34" charset="0"/>
              </a:rPr>
              <a:t>Move people to safety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2" descr="C:\Documents and Settings\danielc\Local Settings\Temporary Internet Files\Content.IE5\UMECW9PM\MC900040186[1].wmf"/>
          <p:cNvPicPr>
            <a:picLocks noChangeAspect="1" noChangeArrowheads="1"/>
          </p:cNvPicPr>
          <p:nvPr/>
        </p:nvPicPr>
        <p:blipFill>
          <a:blip r:embed="rId3" cstate="print"/>
          <a:srcRect/>
          <a:stretch>
            <a:fillRect/>
          </a:stretch>
        </p:blipFill>
        <p:spPr bwMode="auto">
          <a:xfrm>
            <a:off x="5715008" y="2571744"/>
            <a:ext cx="1704442" cy="1666951"/>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Limit damage/impact</a:t>
            </a:r>
          </a:p>
          <a:p>
            <a:pPr marL="360000" indent="-360000">
              <a:spcBef>
                <a:spcPts val="600"/>
              </a:spcBef>
              <a:spcAft>
                <a:spcPts val="1200"/>
              </a:spcAft>
            </a:pPr>
            <a:r>
              <a:rPr lang="en-US" sz="2200" dirty="0" smtClean="0">
                <a:latin typeface="Helvetica" pitchFamily="34" charset="0"/>
              </a:rPr>
              <a:t>Shut off supply valves</a:t>
            </a:r>
          </a:p>
          <a:p>
            <a:pPr marL="360000" indent="-360000">
              <a:spcBef>
                <a:spcPts val="600"/>
              </a:spcBef>
              <a:spcAft>
                <a:spcPts val="1200"/>
              </a:spcAft>
            </a:pPr>
            <a:r>
              <a:rPr lang="en-US" sz="2200" dirty="0" smtClean="0">
                <a:latin typeface="Helvetica" pitchFamily="34" charset="0"/>
              </a:rPr>
              <a:t>Close/lock doors and windows as required</a:t>
            </a:r>
          </a:p>
          <a:p>
            <a:pPr marL="360000" indent="-360000">
              <a:spcBef>
                <a:spcPts val="600"/>
              </a:spcBef>
              <a:spcAft>
                <a:spcPts val="1200"/>
              </a:spcAft>
            </a:pPr>
            <a:r>
              <a:rPr lang="en-US" sz="2200" dirty="0" smtClean="0">
                <a:latin typeface="Helvetica" pitchFamily="34" charset="0"/>
              </a:rPr>
              <a:t>Open doors and windows as required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2" descr="C:\Documents and Settings\danielc\Local Settings\Temporary Internet Files\Content.IE5\SIQ5KRQ3\MC900280801[1].wmf"/>
          <p:cNvPicPr>
            <a:picLocks noChangeAspect="1" noChangeArrowheads="1"/>
          </p:cNvPicPr>
          <p:nvPr/>
        </p:nvPicPr>
        <p:blipFill>
          <a:blip r:embed="rId3" cstate="print"/>
          <a:srcRect/>
          <a:stretch>
            <a:fillRect/>
          </a:stretch>
        </p:blipFill>
        <p:spPr bwMode="auto">
          <a:xfrm>
            <a:off x="6929454" y="2571744"/>
            <a:ext cx="1585865" cy="1631133"/>
          </a:xfrm>
          <a:prstGeom prst="rect">
            <a:avLst/>
          </a:prstGeom>
          <a:noFill/>
        </p:spPr>
      </p:pic>
      <p:pic>
        <p:nvPicPr>
          <p:cNvPr id="6" name="Picture 3" descr="C:\Documents and Settings\danielc\Local Settings\Temporary Internet Files\Content.IE5\UMECW9PM\MC900060125[1].wmf"/>
          <p:cNvPicPr>
            <a:picLocks noChangeAspect="1" noChangeArrowheads="1"/>
          </p:cNvPicPr>
          <p:nvPr/>
        </p:nvPicPr>
        <p:blipFill>
          <a:blip r:embed="rId4" cstate="print"/>
          <a:srcRect/>
          <a:stretch>
            <a:fillRect/>
          </a:stretch>
        </p:blipFill>
        <p:spPr bwMode="auto">
          <a:xfrm>
            <a:off x="6286512" y="1571612"/>
            <a:ext cx="1100023" cy="1811426"/>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fire-fighting equipment:</a:t>
            </a:r>
          </a:p>
          <a:p>
            <a:pPr marL="360000" indent="-360000">
              <a:spcBef>
                <a:spcPts val="600"/>
              </a:spcBef>
              <a:spcAft>
                <a:spcPts val="1200"/>
              </a:spcAft>
            </a:pPr>
            <a:r>
              <a:rPr lang="en-US" sz="2200" dirty="0" smtClean="0">
                <a:latin typeface="Helvetica" pitchFamily="34" charset="0"/>
              </a:rPr>
              <a:t>Obtain in-house training</a:t>
            </a:r>
          </a:p>
          <a:p>
            <a:pPr marL="360000" indent="-360000">
              <a:spcBef>
                <a:spcPts val="600"/>
              </a:spcBef>
              <a:spcAft>
                <a:spcPts val="1200"/>
              </a:spcAft>
            </a:pPr>
            <a:r>
              <a:rPr lang="en-US" sz="2200" dirty="0" smtClean="0">
                <a:latin typeface="Helvetica" pitchFamily="34" charset="0"/>
              </a:rPr>
              <a:t>Know the differences between extinguishers, what they are used for and how to operate them</a:t>
            </a:r>
          </a:p>
          <a:p>
            <a:pPr marL="360000" indent="-360000">
              <a:spcBef>
                <a:spcPts val="600"/>
              </a:spcBef>
              <a:spcAft>
                <a:spcPts val="1200"/>
              </a:spcAft>
            </a:pPr>
            <a:r>
              <a:rPr lang="en-US" sz="2200" dirty="0" smtClean="0">
                <a:latin typeface="Helvetica" pitchFamily="34" charset="0"/>
              </a:rPr>
              <a:t>Know locations of: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Hoses and reels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Sand buckets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Fire blankets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2" descr="C:\Documents and Settings\danielc\Desktop\Maintain the security of premises and property imgs\494938_fire_combat.jpg"/>
          <p:cNvPicPr>
            <a:picLocks noChangeAspect="1" noChangeArrowheads="1"/>
          </p:cNvPicPr>
          <p:nvPr/>
        </p:nvPicPr>
        <p:blipFill>
          <a:blip r:embed="rId3" cstate="print"/>
          <a:srcRect/>
          <a:stretch>
            <a:fillRect/>
          </a:stretch>
        </p:blipFill>
        <p:spPr bwMode="auto">
          <a:xfrm>
            <a:off x="5929322" y="3786190"/>
            <a:ext cx="2067255" cy="1557332"/>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Fire fighting equipment:</a:t>
            </a:r>
          </a:p>
          <a:p>
            <a:pPr marL="360000" indent="-360000">
              <a:spcBef>
                <a:spcPts val="600"/>
              </a:spcBef>
              <a:spcAft>
                <a:spcPts val="1200"/>
              </a:spcAft>
            </a:pPr>
            <a:r>
              <a:rPr lang="en-US" sz="2200" dirty="0" smtClean="0">
                <a:latin typeface="Helvetica" pitchFamily="34" charset="0"/>
              </a:rPr>
              <a:t>Extinguishers: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Water; foam; powder; carbon dioxide</a:t>
            </a:r>
          </a:p>
          <a:p>
            <a:pPr marL="360000" indent="-360000">
              <a:spcBef>
                <a:spcPts val="600"/>
              </a:spcBef>
              <a:spcAft>
                <a:spcPts val="1200"/>
              </a:spcAft>
            </a:pPr>
            <a:r>
              <a:rPr lang="en-US" sz="2200" dirty="0" smtClean="0">
                <a:latin typeface="Helvetica" pitchFamily="34" charset="0"/>
              </a:rPr>
              <a:t>Reels and hoses</a:t>
            </a:r>
          </a:p>
          <a:p>
            <a:pPr marL="360000" indent="-360000">
              <a:spcBef>
                <a:spcPts val="600"/>
              </a:spcBef>
              <a:spcAft>
                <a:spcPts val="1200"/>
              </a:spcAft>
            </a:pPr>
            <a:r>
              <a:rPr lang="en-US" sz="2200" dirty="0" smtClean="0">
                <a:latin typeface="Helvetica" pitchFamily="34" charset="0"/>
              </a:rPr>
              <a:t>Fire blankets</a:t>
            </a:r>
          </a:p>
          <a:p>
            <a:pPr marL="360000" indent="-360000">
              <a:spcBef>
                <a:spcPts val="600"/>
              </a:spcBef>
              <a:spcAft>
                <a:spcPts val="1200"/>
              </a:spcAft>
            </a:pPr>
            <a:r>
              <a:rPr lang="en-US" sz="2200" dirty="0" smtClean="0">
                <a:latin typeface="Helvetica" pitchFamily="34" charset="0"/>
              </a:rPr>
              <a:t>Sand buckets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2" descr="C:\Documents and Settings\danielc\Local Settings\Temporary Internet Files\Content.IE5\3DV3UKH9\MC900383598[1].wmf"/>
          <p:cNvPicPr>
            <a:picLocks noChangeAspect="1" noChangeArrowheads="1"/>
          </p:cNvPicPr>
          <p:nvPr/>
        </p:nvPicPr>
        <p:blipFill>
          <a:blip r:embed="rId3" cstate="print"/>
          <a:srcRect/>
          <a:stretch>
            <a:fillRect/>
          </a:stretch>
        </p:blipFill>
        <p:spPr bwMode="auto">
          <a:xfrm>
            <a:off x="6572264" y="2928934"/>
            <a:ext cx="1765994" cy="1285884"/>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Chain of command:</a:t>
            </a:r>
          </a:p>
          <a:p>
            <a:pPr marL="360000" indent="-360000">
              <a:spcBef>
                <a:spcPts val="600"/>
              </a:spcBef>
              <a:spcAft>
                <a:spcPts val="1200"/>
              </a:spcAft>
            </a:pPr>
            <a:r>
              <a:rPr lang="en-US" sz="2200" dirty="0" smtClean="0">
                <a:latin typeface="Helvetica" pitchFamily="34" charset="0"/>
              </a:rPr>
              <a:t>Identifies positions within the venue to respond to an emergency</a:t>
            </a:r>
          </a:p>
          <a:p>
            <a:pPr marL="360000" indent="-360000">
              <a:spcBef>
                <a:spcPts val="600"/>
              </a:spcBef>
              <a:spcAft>
                <a:spcPts val="1200"/>
              </a:spcAft>
            </a:pPr>
            <a:r>
              <a:rPr lang="en-US" sz="2200" dirty="0" smtClean="0">
                <a:latin typeface="Helvetica" pitchFamily="34" charset="0"/>
              </a:rPr>
              <a:t>Attaches responsibilities to each position</a:t>
            </a:r>
          </a:p>
          <a:p>
            <a:pPr marL="360000" indent="-360000">
              <a:spcBef>
                <a:spcPts val="600"/>
              </a:spcBef>
              <a:spcAft>
                <a:spcPts val="1200"/>
              </a:spcAft>
            </a:pPr>
            <a:r>
              <a:rPr lang="en-US" sz="2200" dirty="0" smtClean="0">
                <a:latin typeface="Helvetica" pitchFamily="34" charset="0"/>
              </a:rPr>
              <a:t>Provides best way to respond/manage an event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2" descr="C:\Documents and Settings\danielc\Local Settings\Temporary Internet Files\Content.IE5\XGIII3N1\MC900441992[1].wmf"/>
          <p:cNvPicPr>
            <a:picLocks noChangeAspect="1" noChangeArrowheads="1"/>
          </p:cNvPicPr>
          <p:nvPr/>
        </p:nvPicPr>
        <p:blipFill>
          <a:blip r:embed="rId3" cstate="print"/>
          <a:srcRect/>
          <a:stretch>
            <a:fillRect/>
          </a:stretch>
        </p:blipFill>
        <p:spPr bwMode="auto">
          <a:xfrm>
            <a:off x="2500298" y="4214818"/>
            <a:ext cx="3182284" cy="1571636"/>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Chief Warden:</a:t>
            </a:r>
          </a:p>
          <a:p>
            <a:pPr marL="360000" indent="-360000">
              <a:spcBef>
                <a:spcPts val="600"/>
              </a:spcBef>
              <a:spcAft>
                <a:spcPts val="1200"/>
              </a:spcAft>
            </a:pPr>
            <a:r>
              <a:rPr lang="en-US" sz="2200" dirty="0" smtClean="0">
                <a:latin typeface="Helvetica" pitchFamily="34" charset="0"/>
              </a:rPr>
              <a:t>Ascertains nature of emergency and determines action</a:t>
            </a:r>
          </a:p>
          <a:p>
            <a:pPr marL="360000" indent="-360000">
              <a:spcBef>
                <a:spcPts val="600"/>
              </a:spcBef>
              <a:spcAft>
                <a:spcPts val="1200"/>
              </a:spcAft>
            </a:pPr>
            <a:r>
              <a:rPr lang="en-US" sz="2200" dirty="0" smtClean="0">
                <a:latin typeface="Helvetica" pitchFamily="34" charset="0"/>
              </a:rPr>
              <a:t>Ensures emergency services have been notified</a:t>
            </a:r>
          </a:p>
          <a:p>
            <a:pPr marL="360000" indent="-360000">
              <a:spcBef>
                <a:spcPts val="600"/>
              </a:spcBef>
              <a:spcAft>
                <a:spcPts val="1200"/>
              </a:spcAft>
            </a:pPr>
            <a:r>
              <a:rPr lang="en-US" sz="2200" dirty="0" smtClean="0">
                <a:latin typeface="Helvetica" pitchFamily="34" charset="0"/>
              </a:rPr>
              <a:t>Advises Area Wardens</a:t>
            </a:r>
          </a:p>
          <a:p>
            <a:pPr marL="360000" indent="-360000">
              <a:spcBef>
                <a:spcPts val="600"/>
              </a:spcBef>
              <a:spcAft>
                <a:spcPts val="1200"/>
              </a:spcAft>
            </a:pPr>
            <a:r>
              <a:rPr lang="en-US" sz="2200" dirty="0" smtClean="0">
                <a:latin typeface="Helvetica" pitchFamily="34" charset="0"/>
              </a:rPr>
              <a:t>Initiates evacuation – if required</a:t>
            </a:r>
          </a:p>
          <a:p>
            <a:pPr marL="360000" indent="-360000">
              <a:spcBef>
                <a:spcPts val="600"/>
              </a:spcBef>
              <a:spcAft>
                <a:spcPts val="1200"/>
              </a:spcAft>
            </a:pPr>
            <a:r>
              <a:rPr lang="en-US" sz="2200" dirty="0" smtClean="0">
                <a:latin typeface="Helvetica" pitchFamily="34" charset="0"/>
              </a:rPr>
              <a:t>Briefs emergency services on arrival</a:t>
            </a:r>
          </a:p>
          <a:p>
            <a:pPr marL="360000" indent="-360000">
              <a:spcBef>
                <a:spcPts val="600"/>
              </a:spcBef>
              <a:spcAft>
                <a:spcPts val="1200"/>
              </a:spcAft>
            </a:pPr>
            <a:r>
              <a:rPr lang="en-US" sz="2200" dirty="0" smtClean="0">
                <a:latin typeface="Helvetica" pitchFamily="34" charset="0"/>
              </a:rPr>
              <a:t>Follow directions from emergency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C:\Documents and Settings\danielc\Desktop\warden-hats.jpg"/>
          <p:cNvPicPr/>
          <p:nvPr/>
        </p:nvPicPr>
        <p:blipFill>
          <a:blip r:embed="rId3" cstate="print">
            <a:lum contrast="20000"/>
          </a:blip>
          <a:srcRect b="7772"/>
          <a:stretch>
            <a:fillRect/>
          </a:stretch>
        </p:blipFill>
        <p:spPr bwMode="auto">
          <a:xfrm>
            <a:off x="5929322" y="3468388"/>
            <a:ext cx="2417469" cy="13179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Communications Officer:</a:t>
            </a:r>
          </a:p>
          <a:p>
            <a:pPr marL="360000" indent="-360000">
              <a:spcBef>
                <a:spcPts val="600"/>
              </a:spcBef>
              <a:spcAft>
                <a:spcPts val="1200"/>
              </a:spcAft>
            </a:pPr>
            <a:r>
              <a:rPr lang="en-US" sz="2200" dirty="0" smtClean="0">
                <a:latin typeface="Helvetica" pitchFamily="34" charset="0"/>
              </a:rPr>
              <a:t>Ascertains nature and location of emergency</a:t>
            </a:r>
          </a:p>
          <a:p>
            <a:pPr marL="360000" indent="-360000">
              <a:spcBef>
                <a:spcPts val="600"/>
              </a:spcBef>
              <a:spcAft>
                <a:spcPts val="1200"/>
              </a:spcAft>
            </a:pPr>
            <a:r>
              <a:rPr lang="en-US" sz="2200" dirty="0" smtClean="0">
                <a:latin typeface="Helvetica" pitchFamily="34" charset="0"/>
              </a:rPr>
              <a:t>Notifies appropriate personnel</a:t>
            </a:r>
          </a:p>
          <a:p>
            <a:pPr marL="360000" indent="-360000">
              <a:spcBef>
                <a:spcPts val="600"/>
              </a:spcBef>
              <a:spcAft>
                <a:spcPts val="1200"/>
              </a:spcAft>
            </a:pPr>
            <a:r>
              <a:rPr lang="en-US" sz="2200" dirty="0" smtClean="0">
                <a:latin typeface="Helvetica" pitchFamily="34" charset="0"/>
              </a:rPr>
              <a:t>Transmits and records instructions to others</a:t>
            </a:r>
          </a:p>
          <a:p>
            <a:pPr marL="360000" indent="-360000">
              <a:spcBef>
                <a:spcPts val="600"/>
              </a:spcBef>
              <a:spcAft>
                <a:spcPts val="1200"/>
              </a:spcAft>
            </a:pPr>
            <a:r>
              <a:rPr lang="en-US" sz="2200" dirty="0" smtClean="0">
                <a:latin typeface="Helvetica" pitchFamily="34" charset="0"/>
              </a:rPr>
              <a:t>Records details of action taken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C:\Documents and Settings\danielc\Desktop\warden-hats.jpg"/>
          <p:cNvPicPr/>
          <p:nvPr/>
        </p:nvPicPr>
        <p:blipFill>
          <a:blip r:embed="rId3" cstate="print">
            <a:lum contrast="20000"/>
          </a:blip>
          <a:srcRect b="7772"/>
          <a:stretch>
            <a:fillRect/>
          </a:stretch>
        </p:blipFill>
        <p:spPr bwMode="auto">
          <a:xfrm>
            <a:off x="5929322" y="3714752"/>
            <a:ext cx="2417469" cy="13179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Area Wardens:</a:t>
            </a:r>
          </a:p>
          <a:p>
            <a:pPr marL="360000" indent="-360000">
              <a:spcBef>
                <a:spcPts val="600"/>
              </a:spcBef>
              <a:spcAft>
                <a:spcPts val="1200"/>
              </a:spcAft>
            </a:pPr>
            <a:r>
              <a:rPr lang="en-US" sz="2200" dirty="0" smtClean="0">
                <a:latin typeface="Helvetica" pitchFamily="34" charset="0"/>
              </a:rPr>
              <a:t>Commence evacuation and implement emergency procedures in their area</a:t>
            </a:r>
          </a:p>
          <a:p>
            <a:pPr marL="360000" indent="-360000">
              <a:spcBef>
                <a:spcPts val="600"/>
              </a:spcBef>
              <a:spcAft>
                <a:spcPts val="1200"/>
              </a:spcAft>
            </a:pPr>
            <a:r>
              <a:rPr lang="en-US" sz="2200" dirty="0" smtClean="0">
                <a:latin typeface="Helvetica" pitchFamily="34" charset="0"/>
              </a:rPr>
              <a:t>Communicate with Chief Warden</a:t>
            </a:r>
          </a:p>
          <a:p>
            <a:pPr marL="360000" indent="-360000">
              <a:spcBef>
                <a:spcPts val="600"/>
              </a:spcBef>
              <a:spcAft>
                <a:spcPts val="1200"/>
              </a:spcAft>
            </a:pPr>
            <a:r>
              <a:rPr lang="en-US" sz="2200" dirty="0" smtClean="0">
                <a:latin typeface="Helvetica" pitchFamily="34" charset="0"/>
              </a:rPr>
              <a:t>Direct ‘Wardens’</a:t>
            </a:r>
          </a:p>
          <a:p>
            <a:pPr marL="360000" indent="-360000">
              <a:spcBef>
                <a:spcPts val="600"/>
              </a:spcBef>
              <a:spcAft>
                <a:spcPts val="1200"/>
              </a:spcAft>
            </a:pPr>
            <a:r>
              <a:rPr lang="en-US" sz="2200" dirty="0" smtClean="0">
                <a:latin typeface="Helvetica" pitchFamily="34" charset="0"/>
              </a:rPr>
              <a:t>Provide ongoing/updated advice to Chief Warden</a:t>
            </a:r>
          </a:p>
          <a:p>
            <a:pPr marL="360000" indent="-360000">
              <a:spcBef>
                <a:spcPts val="600"/>
              </a:spcBef>
              <a:spcAft>
                <a:spcPts val="1200"/>
              </a:spcAft>
            </a:pPr>
            <a:r>
              <a:rPr lang="en-US" sz="2200" dirty="0" smtClean="0">
                <a:latin typeface="Helvetica" pitchFamily="34" charset="0"/>
              </a:rPr>
              <a:t>Provide list of these to be accounted for</a:t>
            </a:r>
          </a:p>
          <a:p>
            <a:pPr marL="360000" indent="-360000">
              <a:spcBef>
                <a:spcPts val="600"/>
              </a:spcBef>
              <a:spcAft>
                <a:spcPts val="1200"/>
              </a:spcAft>
            </a:pPr>
            <a:r>
              <a:rPr lang="en-US" sz="2200" dirty="0" smtClean="0">
                <a:latin typeface="Helvetica" pitchFamily="34" charset="0"/>
              </a:rPr>
              <a:t>Confirm persons accounted for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3" descr="C:\Documents and Settings\danielc\Desktop\Maintain the security of premises and property imgs\EP10G.jpg"/>
          <p:cNvPicPr>
            <a:picLocks noChangeAspect="1" noChangeArrowheads="1"/>
          </p:cNvPicPr>
          <p:nvPr/>
        </p:nvPicPr>
        <p:blipFill>
          <a:blip r:embed="rId3" cstate="print"/>
          <a:srcRect/>
          <a:stretch>
            <a:fillRect/>
          </a:stretch>
        </p:blipFill>
        <p:spPr bwMode="auto">
          <a:xfrm>
            <a:off x="6786578" y="2500306"/>
            <a:ext cx="1547795" cy="1583910"/>
          </a:xfrm>
          <a:prstGeom prst="rect">
            <a:avLst/>
          </a:prstGeom>
          <a:noFill/>
        </p:spPr>
      </p:pic>
      <p:sp>
        <p:nvSpPr>
          <p:cNvPr id="6" name="TextBox 5"/>
          <p:cNvSpPr txBox="1"/>
          <p:nvPr/>
        </p:nvSpPr>
        <p:spPr>
          <a:xfrm>
            <a:off x="7143768" y="2786058"/>
            <a:ext cx="1000132" cy="369332"/>
          </a:xfrm>
          <a:prstGeom prst="rect">
            <a:avLst/>
          </a:prstGeom>
          <a:noFill/>
        </p:spPr>
        <p:txBody>
          <a:bodyPr wrap="square" rtlCol="0">
            <a:spAutoFit/>
          </a:bodyPr>
          <a:lstStyle/>
          <a:p>
            <a:r>
              <a:rPr lang="en-AU" dirty="0" smtClean="0">
                <a:solidFill>
                  <a:srgbClr val="FF0000"/>
                </a:solidFill>
              </a:rPr>
              <a:t>warden</a:t>
            </a:r>
            <a:endParaRPr lang="en-AU" dirty="0">
              <a:solidFill>
                <a:srgbClr val="FF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Wardens:</a:t>
            </a:r>
          </a:p>
          <a:p>
            <a:pPr marL="360000" indent="-360000">
              <a:spcBef>
                <a:spcPts val="600"/>
              </a:spcBef>
              <a:spcAft>
                <a:spcPts val="1200"/>
              </a:spcAft>
            </a:pPr>
            <a:r>
              <a:rPr lang="en-US" sz="2200" dirty="0" smtClean="0">
                <a:latin typeface="Helvetica" pitchFamily="34" charset="0"/>
              </a:rPr>
              <a:t>Take place of Area Wardens if they are absent</a:t>
            </a:r>
          </a:p>
          <a:p>
            <a:pPr marL="360000" indent="-360000">
              <a:spcBef>
                <a:spcPts val="600"/>
              </a:spcBef>
              <a:spcAft>
                <a:spcPts val="1200"/>
              </a:spcAft>
            </a:pPr>
            <a:r>
              <a:rPr lang="en-US" sz="2200" dirty="0" smtClean="0">
                <a:latin typeface="Helvetica" pitchFamily="34" charset="0"/>
              </a:rPr>
              <a:t>Notify emergency services</a:t>
            </a:r>
          </a:p>
          <a:p>
            <a:pPr marL="360000" indent="-360000">
              <a:spcBef>
                <a:spcPts val="600"/>
              </a:spcBef>
              <a:spcAft>
                <a:spcPts val="1200"/>
              </a:spcAft>
            </a:pPr>
            <a:r>
              <a:rPr lang="en-US" sz="2200" dirty="0" smtClean="0">
                <a:latin typeface="Helvetica" pitchFamily="34" charset="0"/>
              </a:rPr>
              <a:t>Conduct searches</a:t>
            </a:r>
          </a:p>
          <a:p>
            <a:pPr marL="360000" indent="-360000">
              <a:spcBef>
                <a:spcPts val="600"/>
              </a:spcBef>
              <a:spcAft>
                <a:spcPts val="1200"/>
              </a:spcAft>
            </a:pPr>
            <a:r>
              <a:rPr lang="en-US" sz="2200" dirty="0" smtClean="0">
                <a:latin typeface="Helvetica" pitchFamily="34" charset="0"/>
              </a:rPr>
              <a:t>Facilitate evacuation</a:t>
            </a:r>
          </a:p>
          <a:p>
            <a:pPr marL="360000" indent="-360000">
              <a:spcBef>
                <a:spcPts val="600"/>
              </a:spcBef>
              <a:spcAft>
                <a:spcPts val="1200"/>
              </a:spcAft>
            </a:pPr>
            <a:r>
              <a:rPr lang="en-US" sz="2200" dirty="0" smtClean="0">
                <a:latin typeface="Helvetica" pitchFamily="34" charset="0"/>
              </a:rPr>
              <a:t>Control people at evacuation assemble points</a:t>
            </a:r>
          </a:p>
          <a:p>
            <a:pPr marL="360000" indent="-360000">
              <a:spcBef>
                <a:spcPts val="600"/>
              </a:spcBef>
              <a:spcAft>
                <a:spcPts val="1200"/>
              </a:spcAft>
            </a:pPr>
            <a:r>
              <a:rPr lang="en-US" sz="2200" dirty="0" smtClean="0">
                <a:latin typeface="Helvetica" pitchFamily="34" charset="0"/>
              </a:rPr>
              <a:t>Operate fire-fighting equipment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3" descr="C:\Documents and Settings\danielc\Desktop\Maintain the security of premises and property imgs\EP10G.jpg"/>
          <p:cNvPicPr>
            <a:picLocks noChangeAspect="1" noChangeArrowheads="1"/>
          </p:cNvPicPr>
          <p:nvPr/>
        </p:nvPicPr>
        <p:blipFill>
          <a:blip r:embed="rId3" cstate="print"/>
          <a:srcRect/>
          <a:stretch>
            <a:fillRect/>
          </a:stretch>
        </p:blipFill>
        <p:spPr bwMode="auto">
          <a:xfrm>
            <a:off x="6786578" y="2500306"/>
            <a:ext cx="1547795" cy="1583910"/>
          </a:xfrm>
          <a:prstGeom prst="rect">
            <a:avLst/>
          </a:prstGeom>
          <a:noFill/>
        </p:spPr>
      </p:pic>
      <p:sp>
        <p:nvSpPr>
          <p:cNvPr id="6" name="TextBox 5"/>
          <p:cNvSpPr txBox="1"/>
          <p:nvPr/>
        </p:nvSpPr>
        <p:spPr>
          <a:xfrm>
            <a:off x="7143768" y="2786058"/>
            <a:ext cx="1000132" cy="369332"/>
          </a:xfrm>
          <a:prstGeom prst="rect">
            <a:avLst/>
          </a:prstGeom>
          <a:noFill/>
        </p:spPr>
        <p:txBody>
          <a:bodyPr wrap="square" rtlCol="0">
            <a:spAutoFit/>
          </a:bodyPr>
          <a:lstStyle/>
          <a:p>
            <a:r>
              <a:rPr lang="en-AU" dirty="0" smtClean="0">
                <a:solidFill>
                  <a:srgbClr val="FF0000"/>
                </a:solidFill>
              </a:rPr>
              <a:t>warden</a:t>
            </a:r>
            <a:endParaRPr lang="en-AU" dirty="0">
              <a:solidFill>
                <a:srgbClr val="FF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First Aid Personnel:</a:t>
            </a:r>
          </a:p>
          <a:p>
            <a:pPr marL="360000" indent="-360000">
              <a:spcBef>
                <a:spcPts val="600"/>
              </a:spcBef>
              <a:spcAft>
                <a:spcPts val="1200"/>
              </a:spcAft>
            </a:pPr>
            <a:r>
              <a:rPr lang="en-US" sz="2200" dirty="0" smtClean="0">
                <a:latin typeface="Helvetica" pitchFamily="34" charset="0"/>
              </a:rPr>
              <a:t>Report to Warden/s</a:t>
            </a:r>
          </a:p>
          <a:p>
            <a:pPr marL="360000" indent="-360000">
              <a:spcBef>
                <a:spcPts val="600"/>
              </a:spcBef>
              <a:spcAft>
                <a:spcPts val="1200"/>
              </a:spcAft>
            </a:pPr>
            <a:r>
              <a:rPr lang="en-US" sz="2200" dirty="0" smtClean="0">
                <a:latin typeface="Helvetica" pitchFamily="34" charset="0"/>
              </a:rPr>
              <a:t>Assist in removal of impaired persons</a:t>
            </a:r>
          </a:p>
          <a:p>
            <a:pPr marL="360000" indent="-360000">
              <a:spcBef>
                <a:spcPts val="600"/>
              </a:spcBef>
              <a:spcAft>
                <a:spcPts val="1200"/>
              </a:spcAft>
            </a:pPr>
            <a:r>
              <a:rPr lang="en-US" sz="2200" dirty="0" smtClean="0">
                <a:latin typeface="Helvetica" pitchFamily="34" charset="0"/>
              </a:rPr>
              <a:t>Render first aid</a:t>
            </a:r>
          </a:p>
          <a:p>
            <a:pPr marL="360000" indent="-360000">
              <a:spcBef>
                <a:spcPts val="600"/>
              </a:spcBef>
              <a:spcAft>
                <a:spcPts val="1200"/>
              </a:spcAft>
            </a:pPr>
            <a:r>
              <a:rPr lang="en-US" sz="2200" dirty="0" smtClean="0">
                <a:latin typeface="Helvetica" pitchFamily="34" charset="0"/>
              </a:rPr>
              <a:t>Communicate with Area Warded regarding action taken</a:t>
            </a:r>
          </a:p>
          <a:p>
            <a:pPr marL="360000" indent="-360000">
              <a:spcBef>
                <a:spcPts val="600"/>
              </a:spcBef>
              <a:spcAft>
                <a:spcPts val="1200"/>
              </a:spcAft>
            </a:pPr>
            <a:r>
              <a:rPr lang="en-US" sz="2200" dirty="0" smtClean="0">
                <a:latin typeface="Helvetica" pitchFamily="34" charset="0"/>
              </a:rPr>
              <a:t>Record first aid provided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2" descr="C:\Documents and Settings\danielc\Local Settings\Temporary Internet Files\Content.IE5\UMECW9PM\MC900359035[1].wmf"/>
          <p:cNvPicPr>
            <a:picLocks noChangeAspect="1" noChangeArrowheads="1"/>
          </p:cNvPicPr>
          <p:nvPr/>
        </p:nvPicPr>
        <p:blipFill>
          <a:blip r:embed="rId3" cstate="print"/>
          <a:srcRect/>
          <a:stretch>
            <a:fillRect/>
          </a:stretch>
        </p:blipFill>
        <p:spPr bwMode="auto">
          <a:xfrm>
            <a:off x="6215074" y="2357430"/>
            <a:ext cx="2208184" cy="1214446"/>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dirty="0" smtClean="0">
                <a:latin typeface="Helvetica" pitchFamily="34" charset="0"/>
              </a:rPr>
              <a:t>When responding to fire and other alarms:</a:t>
            </a:r>
          </a:p>
          <a:p>
            <a:pPr marL="360000" indent="-360000">
              <a:spcBef>
                <a:spcPts val="600"/>
              </a:spcBef>
              <a:spcAft>
                <a:spcPts val="1200"/>
              </a:spcAft>
            </a:pPr>
            <a:r>
              <a:rPr lang="en-AU" sz="2200" dirty="0" smtClean="0">
                <a:latin typeface="Helvetica" pitchFamily="34" charset="0"/>
              </a:rPr>
              <a:t>Respond promptly</a:t>
            </a:r>
          </a:p>
          <a:p>
            <a:pPr marL="360000" indent="-360000">
              <a:spcBef>
                <a:spcPts val="600"/>
              </a:spcBef>
              <a:spcAft>
                <a:spcPts val="1200"/>
              </a:spcAft>
            </a:pPr>
            <a:r>
              <a:rPr lang="en-AU" sz="2200" dirty="0" smtClean="0">
                <a:latin typeface="Helvetica" pitchFamily="34" charset="0"/>
              </a:rPr>
              <a:t>Never assume an alarm is a false alarm</a:t>
            </a:r>
          </a:p>
          <a:p>
            <a:pPr marL="360000" indent="-360000">
              <a:spcBef>
                <a:spcPts val="600"/>
              </a:spcBef>
              <a:spcAft>
                <a:spcPts val="1200"/>
              </a:spcAft>
            </a:pPr>
            <a:r>
              <a:rPr lang="en-AU" sz="2200" dirty="0" smtClean="0">
                <a:latin typeface="Helvetica" pitchFamily="34" charset="0"/>
              </a:rPr>
              <a:t>Identify nature and location of alarms</a:t>
            </a:r>
          </a:p>
          <a:p>
            <a:pPr marL="360000" indent="-360000">
              <a:spcBef>
                <a:spcPts val="600"/>
              </a:spcBef>
              <a:spcAft>
                <a:spcPts val="1200"/>
              </a:spcAft>
            </a:pPr>
            <a:r>
              <a:rPr lang="en-AU" sz="2200" dirty="0" smtClean="0"/>
              <a:t>Notify others immediately – internally and externally</a:t>
            </a:r>
          </a:p>
          <a:p>
            <a:pPr marL="360000" indent="-360000">
              <a:spcBef>
                <a:spcPts val="600"/>
              </a:spcBef>
              <a:spcAft>
                <a:spcPts val="1200"/>
              </a:spcAft>
            </a:pPr>
            <a:r>
              <a:rPr lang="en-AU" sz="2200" dirty="0" smtClean="0"/>
              <a:t>Get help moving your way as soon as possible</a:t>
            </a:r>
          </a:p>
          <a:p>
            <a:pPr marL="360000" indent="-360000">
              <a:spcBef>
                <a:spcPts val="600"/>
              </a:spcBef>
              <a:spcAft>
                <a:spcPts val="1200"/>
              </a:spcAft>
            </a:pPr>
            <a:r>
              <a:rPr lang="en-AU" sz="2200" dirty="0" smtClean="0"/>
              <a:t>Put ‘notifying others’ and ‘obtaining assistance’ before taking other ‘first response’ action</a:t>
            </a:r>
          </a:p>
          <a:p>
            <a:pPr marL="360000" indent="-360000">
              <a:spcBef>
                <a:spcPts val="600"/>
              </a:spcBef>
              <a:spcAft>
                <a:spcPts val="1200"/>
              </a:spcAft>
              <a:buNone/>
            </a:pPr>
            <a:r>
              <a:rPr lang="en-US" sz="2200" dirty="0" smtClean="0"/>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2" descr="C:\Documents and Settings\danielc\Local Settings\Temporary Internet Files\Content.IE5\V9A2RTT8\MC900442036[2].wmf"/>
          <p:cNvPicPr>
            <a:picLocks noChangeAspect="1" noChangeArrowheads="1"/>
          </p:cNvPicPr>
          <p:nvPr/>
        </p:nvPicPr>
        <p:blipFill>
          <a:blip r:embed="rId3" cstate="print"/>
          <a:srcRect/>
          <a:stretch>
            <a:fillRect/>
          </a:stretch>
        </p:blipFill>
        <p:spPr bwMode="auto">
          <a:xfrm>
            <a:off x="6572264" y="1925139"/>
            <a:ext cx="1500185" cy="1484798"/>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Never put yourself in danger</a:t>
            </a:r>
          </a:p>
          <a:p>
            <a:pPr marL="360000" indent="-360000">
              <a:spcBef>
                <a:spcPts val="600"/>
              </a:spcBef>
              <a:spcAft>
                <a:spcPts val="1200"/>
              </a:spcAft>
            </a:pPr>
            <a:r>
              <a:rPr lang="en-AU" sz="2200" dirty="0" smtClean="0">
                <a:latin typeface="Helvetica" pitchFamily="34" charset="0"/>
              </a:rPr>
              <a:t>Put safety of people before safety/security of property</a:t>
            </a:r>
          </a:p>
          <a:p>
            <a:pPr marL="360000" indent="-360000">
              <a:spcBef>
                <a:spcPts val="600"/>
              </a:spcBef>
              <a:spcAft>
                <a:spcPts val="1200"/>
              </a:spcAft>
            </a:pPr>
            <a:r>
              <a:rPr lang="en-AU" sz="2200" dirty="0" smtClean="0">
                <a:latin typeface="Helvetica" pitchFamily="34" charset="0"/>
              </a:rPr>
              <a:t>Facilitate arrival and access of emergency </a:t>
            </a:r>
            <a:br>
              <a:rPr lang="en-AU" sz="2200" dirty="0" smtClean="0">
                <a:latin typeface="Helvetica" pitchFamily="34" charset="0"/>
              </a:rPr>
            </a:br>
            <a:r>
              <a:rPr lang="en-AU" sz="2200" dirty="0" smtClean="0">
                <a:latin typeface="Helvetica" pitchFamily="34" charset="0"/>
              </a:rPr>
              <a:t>services</a:t>
            </a:r>
          </a:p>
          <a:p>
            <a:pPr marL="360000" indent="-360000">
              <a:spcBef>
                <a:spcPts val="600"/>
              </a:spcBef>
              <a:spcAft>
                <a:spcPts val="1200"/>
              </a:spcAft>
            </a:pPr>
            <a:r>
              <a:rPr lang="en-AU" sz="2200" dirty="0" smtClean="0"/>
              <a:t>Provide first response action in accordance with training, resources available and common sense</a:t>
            </a:r>
          </a:p>
          <a:p>
            <a:pPr marL="360000" indent="-360000">
              <a:spcBef>
                <a:spcPts val="600"/>
              </a:spcBef>
              <a:spcAft>
                <a:spcPts val="1200"/>
              </a:spcAft>
            </a:pPr>
            <a:r>
              <a:rPr lang="en-AU" sz="2200" dirty="0" smtClean="0"/>
              <a:t>Never re-set or turn off an alarm until specifically told to do so by management or another appropriate person</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2" descr="C:\Documents and Settings\danielc\Local Settings\Temporary Internet Files\Content.IE5\V9A2RTT8\MC900442036[2].wmf"/>
          <p:cNvPicPr>
            <a:picLocks noChangeAspect="1" noChangeArrowheads="1"/>
          </p:cNvPicPr>
          <p:nvPr/>
        </p:nvPicPr>
        <p:blipFill>
          <a:blip r:embed="rId3" cstate="print"/>
          <a:srcRect/>
          <a:stretch>
            <a:fillRect/>
          </a:stretch>
        </p:blipFill>
        <p:spPr bwMode="auto">
          <a:xfrm>
            <a:off x="7143768" y="2714620"/>
            <a:ext cx="1640840" cy="1624011"/>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safety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Manage patrons who are displaying inappropriate behaviour</a:t>
            </a:r>
          </a:p>
          <a:p>
            <a:pPr marL="360000" indent="-360000">
              <a:spcBef>
                <a:spcPts val="600"/>
              </a:spcBef>
              <a:spcAft>
                <a:spcPts val="1200"/>
              </a:spcAft>
            </a:pPr>
            <a:r>
              <a:rPr lang="en-US" sz="2200" dirty="0" smtClean="0">
                <a:latin typeface="Helvetica" pitchFamily="34" charset="0"/>
              </a:rPr>
              <a:t>Make safe areas that are identified as being unsafe</a:t>
            </a:r>
          </a:p>
          <a:p>
            <a:pPr marL="360000" indent="-360000">
              <a:spcBef>
                <a:spcPts val="600"/>
              </a:spcBef>
              <a:spcAft>
                <a:spcPts val="1200"/>
              </a:spcAft>
            </a:pPr>
            <a:r>
              <a:rPr lang="en-US" sz="2200" dirty="0" smtClean="0">
                <a:latin typeface="Helvetica" pitchFamily="34" charset="0"/>
              </a:rPr>
              <a:t>Respond to suspicious packages</a:t>
            </a:r>
          </a:p>
          <a:p>
            <a:pPr marL="360000" indent="-360000">
              <a:spcBef>
                <a:spcPts val="600"/>
              </a:spcBef>
              <a:spcAft>
                <a:spcPts val="1200"/>
              </a:spcAft>
            </a:pPr>
            <a:r>
              <a:rPr lang="en-US" sz="2200" dirty="0" smtClean="0">
                <a:latin typeface="Helvetica" pitchFamily="34" charset="0"/>
              </a:rPr>
              <a:t>Respond to bomb threats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315458" y="2473326"/>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387556" y="300037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143504" y="3616334"/>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214810" y="4143380"/>
            <a:ext cx="399154" cy="527046"/>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patrons displaying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must manage patrons who display ‘inappropriate behaviour’:</a:t>
            </a:r>
          </a:p>
          <a:p>
            <a:pPr marL="360000" indent="-360000">
              <a:spcBef>
                <a:spcPts val="600"/>
              </a:spcBef>
              <a:spcAft>
                <a:spcPts val="1200"/>
              </a:spcAft>
            </a:pPr>
            <a:r>
              <a:rPr lang="en-US" sz="2200" dirty="0" smtClean="0">
                <a:latin typeface="Helvetica" pitchFamily="34" charset="0"/>
              </a:rPr>
              <a:t>The interpretation of ‘inappropriate behaviour’ may vary: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Between properties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Between different sections of the same venue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At different times of the day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C:\Documents and Settings\danielc\Local Settings\Temporary Internet Files\Content.IE5\3Y3SDCJX\MC900233435[1].wmf"/>
          <p:cNvPicPr/>
          <p:nvPr/>
        </p:nvPicPr>
        <p:blipFill>
          <a:blip r:embed="rId3" cstate="print"/>
          <a:srcRect/>
          <a:stretch>
            <a:fillRect/>
          </a:stretch>
        </p:blipFill>
        <p:spPr bwMode="auto">
          <a:xfrm>
            <a:off x="6715140" y="4071942"/>
            <a:ext cx="1422434" cy="182706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patrons displaying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Inappropriate behaviour includes:</a:t>
            </a:r>
          </a:p>
          <a:p>
            <a:pPr marL="360000" indent="-360000">
              <a:spcBef>
                <a:spcPts val="600"/>
              </a:spcBef>
              <a:spcAft>
                <a:spcPts val="1200"/>
              </a:spcAft>
            </a:pPr>
            <a:r>
              <a:rPr lang="en-US" sz="2200" dirty="0" smtClean="0">
                <a:latin typeface="Helvetica" pitchFamily="34" charset="0"/>
              </a:rPr>
              <a:t>Aggressive, rude and anti-social behaviour</a:t>
            </a:r>
          </a:p>
          <a:p>
            <a:pPr marL="360000" indent="-360000">
              <a:spcBef>
                <a:spcPts val="600"/>
              </a:spcBef>
              <a:spcAft>
                <a:spcPts val="1200"/>
              </a:spcAft>
            </a:pPr>
            <a:r>
              <a:rPr lang="en-US" sz="2200" dirty="0" smtClean="0">
                <a:latin typeface="Helvetica" pitchFamily="34" charset="0"/>
              </a:rPr>
              <a:t>Arguing</a:t>
            </a:r>
          </a:p>
          <a:p>
            <a:pPr marL="360000" indent="-360000">
              <a:spcBef>
                <a:spcPts val="600"/>
              </a:spcBef>
              <a:spcAft>
                <a:spcPts val="1200"/>
              </a:spcAft>
            </a:pPr>
            <a:r>
              <a:rPr lang="en-US" sz="2200" dirty="0" smtClean="0">
                <a:latin typeface="Helvetica" pitchFamily="34" charset="0"/>
              </a:rPr>
              <a:t>Refusing to leave</a:t>
            </a:r>
          </a:p>
          <a:p>
            <a:pPr marL="360000" indent="-360000">
              <a:spcBef>
                <a:spcPts val="600"/>
              </a:spcBef>
              <a:spcAft>
                <a:spcPts val="1200"/>
              </a:spcAft>
            </a:pPr>
            <a:r>
              <a:rPr lang="en-US" sz="2200" dirty="0" smtClean="0">
                <a:latin typeface="Helvetica" pitchFamily="34" charset="0"/>
              </a:rPr>
              <a:t>Intoxication</a:t>
            </a:r>
          </a:p>
          <a:p>
            <a:pPr marL="360000" indent="-360000">
              <a:spcBef>
                <a:spcPts val="600"/>
              </a:spcBef>
              <a:spcAft>
                <a:spcPts val="1200"/>
              </a:spcAft>
            </a:pPr>
            <a:r>
              <a:rPr lang="en-US" sz="2200" dirty="0" smtClean="0">
                <a:latin typeface="Helvetica" pitchFamily="34" charset="0"/>
              </a:rPr>
              <a:t>Intimidation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2" descr="C:\Documents and Settings\danielc\Desktop\RSA images\319411_beer_guy_4.jpg"/>
          <p:cNvPicPr>
            <a:picLocks noChangeAspect="1" noChangeArrowheads="1"/>
          </p:cNvPicPr>
          <p:nvPr/>
        </p:nvPicPr>
        <p:blipFill>
          <a:blip r:embed="rId3" cstate="print"/>
          <a:srcRect/>
          <a:stretch>
            <a:fillRect/>
          </a:stretch>
        </p:blipFill>
        <p:spPr bwMode="auto">
          <a:xfrm>
            <a:off x="6572264" y="2428868"/>
            <a:ext cx="1705926" cy="2571748"/>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patrons displaying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Violent behaviour</a:t>
            </a:r>
          </a:p>
          <a:p>
            <a:pPr marL="360000" indent="-360000">
              <a:spcBef>
                <a:spcPts val="600"/>
              </a:spcBef>
              <a:spcAft>
                <a:spcPts val="1200"/>
              </a:spcAft>
            </a:pPr>
            <a:r>
              <a:rPr lang="en-US" sz="2200" dirty="0" smtClean="0">
                <a:latin typeface="Helvetica" pitchFamily="34" charset="0"/>
              </a:rPr>
              <a:t>Swearing and abusive language</a:t>
            </a:r>
          </a:p>
          <a:p>
            <a:pPr marL="360000" indent="-360000">
              <a:spcBef>
                <a:spcPts val="600"/>
              </a:spcBef>
              <a:spcAft>
                <a:spcPts val="1200"/>
              </a:spcAft>
            </a:pPr>
            <a:r>
              <a:rPr lang="en-US" sz="2200" dirty="0" smtClean="0">
                <a:latin typeface="Helvetica" pitchFamily="34" charset="0"/>
              </a:rPr>
              <a:t>Improper/unacceptable dress</a:t>
            </a:r>
          </a:p>
          <a:p>
            <a:pPr marL="360000" indent="-360000">
              <a:spcBef>
                <a:spcPts val="600"/>
              </a:spcBef>
              <a:spcAft>
                <a:spcPts val="1200"/>
              </a:spcAft>
            </a:pPr>
            <a:r>
              <a:rPr lang="en-US" sz="2200" dirty="0" smtClean="0">
                <a:latin typeface="Helvetica" pitchFamily="34" charset="0"/>
              </a:rPr>
              <a:t>Too many guests in a room</a:t>
            </a:r>
          </a:p>
          <a:p>
            <a:pPr marL="360000" indent="-360000">
              <a:spcBef>
                <a:spcPts val="600"/>
              </a:spcBef>
              <a:spcAft>
                <a:spcPts val="1200"/>
              </a:spcAft>
            </a:pPr>
            <a:r>
              <a:rPr lang="en-US" sz="2200" dirty="0" smtClean="0">
                <a:latin typeface="Helvetica" pitchFamily="34" charset="0"/>
              </a:rPr>
              <a:t>Excessive noise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2" descr="C:\Documents and Settings\danielc\Desktop\Maintain the security of premises and property imgs\308735_another_drunken_man.jpg"/>
          <p:cNvPicPr>
            <a:picLocks noChangeAspect="1" noChangeArrowheads="1"/>
          </p:cNvPicPr>
          <p:nvPr/>
        </p:nvPicPr>
        <p:blipFill>
          <a:blip r:embed="rId3" cstate="print">
            <a:duotone>
              <a:prstClr val="black"/>
              <a:schemeClr val="accent2">
                <a:tint val="45000"/>
                <a:satMod val="400000"/>
              </a:schemeClr>
            </a:duotone>
            <a:lum bright="20000"/>
          </a:blip>
          <a:srcRect/>
          <a:stretch>
            <a:fillRect/>
          </a:stretch>
        </p:blipFill>
        <p:spPr bwMode="auto">
          <a:xfrm>
            <a:off x="5929322" y="2143116"/>
            <a:ext cx="1660934" cy="2214578"/>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patrons displaying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Responses to inappropriate behaviour:</a:t>
            </a:r>
          </a:p>
          <a:p>
            <a:pPr marL="360000" indent="-360000">
              <a:spcBef>
                <a:spcPts val="600"/>
              </a:spcBef>
              <a:spcAft>
                <a:spcPts val="1200"/>
              </a:spcAft>
            </a:pPr>
            <a:r>
              <a:rPr lang="en-US" sz="2200" dirty="0" smtClean="0">
                <a:latin typeface="Helvetica" pitchFamily="34" charset="0"/>
              </a:rPr>
              <a:t>Move close and look in the direction</a:t>
            </a:r>
          </a:p>
          <a:p>
            <a:pPr marL="360000" indent="-360000">
              <a:spcBef>
                <a:spcPts val="600"/>
              </a:spcBef>
              <a:spcAft>
                <a:spcPts val="1200"/>
              </a:spcAft>
            </a:pPr>
            <a:r>
              <a:rPr lang="en-US" sz="2200" dirty="0" smtClean="0">
                <a:latin typeface="Helvetica" pitchFamily="34" charset="0"/>
              </a:rPr>
              <a:t>Speak to those involved – ask them to modify </a:t>
            </a:r>
            <a:br>
              <a:rPr lang="en-US" sz="2200" dirty="0" smtClean="0">
                <a:latin typeface="Helvetica" pitchFamily="34" charset="0"/>
              </a:rPr>
            </a:br>
            <a:r>
              <a:rPr lang="en-US" sz="2200" dirty="0" smtClean="0">
                <a:latin typeface="Helvetica" pitchFamily="34" charset="0"/>
              </a:rPr>
              <a:t>language </a:t>
            </a:r>
            <a:r>
              <a:rPr lang="en-US" sz="2200" dirty="0" smtClean="0"/>
              <a:t>and </a:t>
            </a:r>
            <a:r>
              <a:rPr lang="en-US" sz="2200" dirty="0" smtClean="0">
                <a:latin typeface="Helvetica" pitchFamily="34" charset="0"/>
              </a:rPr>
              <a:t>or behaviour</a:t>
            </a:r>
          </a:p>
          <a:p>
            <a:pPr marL="360000" indent="-360000">
              <a:spcBef>
                <a:spcPts val="600"/>
              </a:spcBef>
              <a:spcAft>
                <a:spcPts val="1200"/>
              </a:spcAft>
            </a:pPr>
            <a:r>
              <a:rPr lang="en-US" sz="2200" dirty="0" smtClean="0">
                <a:latin typeface="Helvetica" pitchFamily="34" charset="0"/>
              </a:rPr>
              <a:t>Move people</a:t>
            </a:r>
          </a:p>
          <a:p>
            <a:pPr marL="360000" indent="-360000">
              <a:spcBef>
                <a:spcPts val="600"/>
              </a:spcBef>
              <a:spcAft>
                <a:spcPts val="1200"/>
              </a:spcAft>
            </a:pPr>
            <a:r>
              <a:rPr lang="en-US" sz="2200" dirty="0" smtClean="0">
                <a:latin typeface="Helvetica" pitchFamily="34" charset="0"/>
              </a:rPr>
              <a:t>Advise patrons what is required (acceptable and unacceptable)</a:t>
            </a:r>
          </a:p>
          <a:p>
            <a:pPr marL="360000" indent="-360000">
              <a:spcBef>
                <a:spcPts val="600"/>
              </a:spcBef>
              <a:spcAft>
                <a:spcPts val="1200"/>
              </a:spcAft>
            </a:pPr>
            <a:r>
              <a:rPr lang="en-US" sz="2200" dirty="0" smtClean="0">
                <a:latin typeface="Helvetica" pitchFamily="34" charset="0"/>
              </a:rPr>
              <a:t>Communicate with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I:\Overseas Projects\PHOTOS\2012\Office\arrested.jpg"/>
          <p:cNvPicPr/>
          <p:nvPr/>
        </p:nvPicPr>
        <p:blipFill>
          <a:blip r:embed="rId3" cstate="print"/>
          <a:srcRect/>
          <a:stretch>
            <a:fillRect/>
          </a:stretch>
        </p:blipFill>
        <p:spPr bwMode="auto">
          <a:xfrm>
            <a:off x="6786578" y="2214554"/>
            <a:ext cx="1510018" cy="17193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patrons displaying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Other considerations:</a:t>
            </a:r>
          </a:p>
          <a:p>
            <a:pPr marL="360000" indent="-360000">
              <a:spcBef>
                <a:spcPts val="600"/>
              </a:spcBef>
              <a:spcAft>
                <a:spcPts val="1200"/>
              </a:spcAft>
            </a:pPr>
            <a:r>
              <a:rPr lang="en-US" sz="2200" dirty="0" smtClean="0">
                <a:latin typeface="Helvetica" pitchFamily="34" charset="0"/>
              </a:rPr>
              <a:t>‘Nip it in the bud’</a:t>
            </a:r>
          </a:p>
          <a:p>
            <a:pPr marL="360000" indent="-360000">
              <a:spcBef>
                <a:spcPts val="600"/>
              </a:spcBef>
              <a:spcAft>
                <a:spcPts val="1200"/>
              </a:spcAft>
            </a:pPr>
            <a:r>
              <a:rPr lang="en-US" sz="2200" dirty="0" smtClean="0">
                <a:latin typeface="Helvetica" pitchFamily="34" charset="0"/>
              </a:rPr>
              <a:t>Do not rely/act on ‘hearsay’ evidence</a:t>
            </a:r>
          </a:p>
          <a:p>
            <a:pPr marL="360000" indent="-360000">
              <a:spcBef>
                <a:spcPts val="600"/>
              </a:spcBef>
              <a:spcAft>
                <a:spcPts val="1200"/>
              </a:spcAft>
            </a:pPr>
            <a:r>
              <a:rPr lang="en-US" sz="2200" dirty="0" smtClean="0">
                <a:latin typeface="Helvetica" pitchFamily="34" charset="0"/>
              </a:rPr>
              <a:t>You are NOT a Police officer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2" descr="C:\Documents and Settings\danielc\Local Settings\Temporary Internet Files\Content.IE5\3Y3SDCJX\MC900441568[1].wmf"/>
          <p:cNvPicPr>
            <a:picLocks noChangeAspect="1" noChangeArrowheads="1"/>
          </p:cNvPicPr>
          <p:nvPr/>
        </p:nvPicPr>
        <p:blipFill>
          <a:blip r:embed="rId3" cstate="print"/>
          <a:srcRect/>
          <a:stretch>
            <a:fillRect/>
          </a:stretch>
        </p:blipFill>
        <p:spPr bwMode="auto">
          <a:xfrm>
            <a:off x="6357950" y="2000240"/>
            <a:ext cx="1822450" cy="1768475"/>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patrons displaying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are not a Police Officer:</a:t>
            </a:r>
          </a:p>
          <a:p>
            <a:pPr marL="360000" indent="-360000">
              <a:spcBef>
                <a:spcPts val="600"/>
              </a:spcBef>
              <a:spcAft>
                <a:spcPts val="1200"/>
              </a:spcAft>
            </a:pPr>
            <a:r>
              <a:rPr lang="en-US" sz="2200" dirty="0" smtClean="0">
                <a:latin typeface="Helvetica" pitchFamily="34" charset="0"/>
              </a:rPr>
              <a:t>You do not have the same rights</a:t>
            </a:r>
          </a:p>
          <a:p>
            <a:pPr marL="360000" indent="-360000">
              <a:spcBef>
                <a:spcPts val="600"/>
              </a:spcBef>
              <a:spcAft>
                <a:spcPts val="1200"/>
              </a:spcAft>
            </a:pPr>
            <a:r>
              <a:rPr lang="en-US" sz="2200" dirty="0" smtClean="0">
                <a:latin typeface="Helvetica" pitchFamily="34" charset="0"/>
              </a:rPr>
              <a:t>Power/authority comes from uniform and attitude</a:t>
            </a:r>
          </a:p>
          <a:p>
            <a:pPr marL="360000" indent="-360000">
              <a:spcBef>
                <a:spcPts val="600"/>
              </a:spcBef>
              <a:spcAft>
                <a:spcPts val="1200"/>
              </a:spcAft>
            </a:pPr>
            <a:r>
              <a:rPr lang="en-US" sz="2200" dirty="0" smtClean="0">
                <a:latin typeface="Helvetica" pitchFamily="34" charset="0"/>
              </a:rPr>
              <a:t>Responses can be limited to:</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Containing the situation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Calling for assistance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Protecting and defending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2" descr="C:\Documents and Settings\danielc\Desktop\Maintain the security of premises and property imgs\iStock_Security Officer.JPG"/>
          <p:cNvPicPr>
            <a:picLocks noChangeAspect="1" noChangeArrowheads="1"/>
          </p:cNvPicPr>
          <p:nvPr/>
        </p:nvPicPr>
        <p:blipFill>
          <a:blip r:embed="rId3" cstate="print"/>
          <a:srcRect/>
          <a:stretch>
            <a:fillRect/>
          </a:stretch>
        </p:blipFill>
        <p:spPr bwMode="auto">
          <a:xfrm>
            <a:off x="5929322" y="3429000"/>
            <a:ext cx="2347897" cy="1562499"/>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patrons displaying inappropriate behaviour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making an arrest/citizen’s arrest:</a:t>
            </a:r>
          </a:p>
          <a:p>
            <a:pPr marL="360000" indent="-360000">
              <a:spcBef>
                <a:spcPts val="600"/>
              </a:spcBef>
              <a:spcAft>
                <a:spcPts val="1200"/>
              </a:spcAft>
            </a:pPr>
            <a:r>
              <a:rPr lang="en-US" sz="2200" dirty="0" smtClean="0">
                <a:latin typeface="Helvetica" pitchFamily="34" charset="0"/>
              </a:rPr>
              <a:t>Don’t!</a:t>
            </a:r>
          </a:p>
          <a:p>
            <a:pPr marL="360000" indent="-360000">
              <a:spcBef>
                <a:spcPts val="600"/>
              </a:spcBef>
              <a:spcAft>
                <a:spcPts val="1200"/>
              </a:spcAft>
            </a:pPr>
            <a:r>
              <a:rPr lang="en-US" sz="2200" dirty="0" smtClean="0">
                <a:latin typeface="Helvetica" pitchFamily="34" charset="0"/>
              </a:rPr>
              <a:t>Delay the person instead until Police arrive: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Engage them in conversation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Ask them questions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Give them a drink/snack</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Ask them to wait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2" descr="C:\Documents and Settings\danielc\Local Settings\Temporary Internet Files\Content.IE5\SIQ5KRQ3\MP900400849[1].jpg"/>
          <p:cNvPicPr>
            <a:picLocks noChangeAspect="1" noChangeArrowheads="1"/>
          </p:cNvPicPr>
          <p:nvPr/>
        </p:nvPicPr>
        <p:blipFill>
          <a:blip r:embed="rId3" cstate="print"/>
          <a:srcRect/>
          <a:stretch>
            <a:fillRect/>
          </a:stretch>
        </p:blipFill>
        <p:spPr bwMode="auto">
          <a:xfrm>
            <a:off x="5857884" y="3286124"/>
            <a:ext cx="2486714" cy="1657162"/>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safe unsafe areas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Unsafe areas are:</a:t>
            </a:r>
          </a:p>
          <a:p>
            <a:pPr marL="360000" indent="-360000">
              <a:spcBef>
                <a:spcPts val="600"/>
              </a:spcBef>
              <a:spcAft>
                <a:spcPts val="1200"/>
              </a:spcAft>
            </a:pPr>
            <a:r>
              <a:rPr lang="en-US" sz="2200" dirty="0" smtClean="0">
                <a:latin typeface="Helvetica" pitchFamily="34" charset="0"/>
              </a:rPr>
              <a:t>Areas which pose a risk to the safety of people</a:t>
            </a:r>
          </a:p>
          <a:p>
            <a:pPr marL="360000" indent="-360000">
              <a:spcBef>
                <a:spcPts val="600"/>
              </a:spcBef>
              <a:spcAft>
                <a:spcPts val="1200"/>
              </a:spcAft>
            </a:pPr>
            <a:r>
              <a:rPr lang="en-US" sz="2200" dirty="0" smtClean="0">
                <a:latin typeface="Helvetica" pitchFamily="34" charset="0"/>
              </a:rPr>
              <a:t>Areas which, if left as they are, could cause damage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C:\Documents and Settings\danielc\Desktop\Maintain the security of premises and property\freeimage-4311899.jpg"/>
          <p:cNvPicPr/>
          <p:nvPr/>
        </p:nvPicPr>
        <p:blipFill>
          <a:blip r:embed="rId3" cstate="print"/>
          <a:srcRect/>
          <a:stretch>
            <a:fillRect/>
          </a:stretch>
        </p:blipFill>
        <p:spPr bwMode="auto">
          <a:xfrm>
            <a:off x="3714744" y="3571876"/>
            <a:ext cx="1527714" cy="22860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unsafe areas safe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unsafe areas:</a:t>
            </a:r>
          </a:p>
          <a:p>
            <a:pPr marL="360000" indent="-360000">
              <a:spcBef>
                <a:spcPts val="600"/>
              </a:spcBef>
              <a:spcAft>
                <a:spcPts val="1200"/>
              </a:spcAft>
            </a:pPr>
            <a:r>
              <a:rPr lang="en-US" sz="2200" dirty="0" smtClean="0">
                <a:latin typeface="Helvetica" pitchFamily="34" charset="0"/>
              </a:rPr>
              <a:t>Damaged structure</a:t>
            </a:r>
          </a:p>
          <a:p>
            <a:pPr marL="360000" indent="-360000">
              <a:spcBef>
                <a:spcPts val="600"/>
              </a:spcBef>
              <a:spcAft>
                <a:spcPts val="1200"/>
              </a:spcAft>
            </a:pPr>
            <a:r>
              <a:rPr lang="en-US" sz="2200" dirty="0" smtClean="0">
                <a:latin typeface="Helvetica" pitchFamily="34" charset="0"/>
              </a:rPr>
              <a:t>Spillages</a:t>
            </a:r>
          </a:p>
          <a:p>
            <a:pPr marL="360000" indent="-360000">
              <a:spcBef>
                <a:spcPts val="600"/>
              </a:spcBef>
              <a:spcAft>
                <a:spcPts val="1200"/>
              </a:spcAft>
            </a:pPr>
            <a:r>
              <a:rPr lang="en-US" sz="2200" dirty="0" smtClean="0">
                <a:latin typeface="Helvetica" pitchFamily="34" charset="0"/>
              </a:rPr>
              <a:t>Malfunctioning plant and equipment</a:t>
            </a:r>
          </a:p>
          <a:p>
            <a:pPr marL="360000" indent="-360000">
              <a:spcBef>
                <a:spcPts val="600"/>
              </a:spcBef>
              <a:spcAft>
                <a:spcPts val="1200"/>
              </a:spcAft>
            </a:pPr>
            <a:r>
              <a:rPr lang="en-US" sz="2200" dirty="0" smtClean="0">
                <a:latin typeface="Helvetica" pitchFamily="34" charset="0"/>
              </a:rPr>
              <a:t>Parts of the venue impacted by environmental issues</a:t>
            </a:r>
          </a:p>
          <a:p>
            <a:pPr marL="360000" indent="-360000">
              <a:spcBef>
                <a:spcPts val="600"/>
              </a:spcBef>
              <a:spcAft>
                <a:spcPts val="1200"/>
              </a:spcAft>
            </a:pPr>
            <a:r>
              <a:rPr lang="en-US" sz="2200" dirty="0" smtClean="0">
                <a:latin typeface="Helvetica" pitchFamily="34" charset="0"/>
              </a:rPr>
              <a:t>Emergency situations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8194" name="Picture 2" descr="C:\Documents and Settings\danielc\Local Settings\Temporary Internet Files\Content.IE5\UMECW9PM\MC900097599[1].wmf"/>
          <p:cNvPicPr>
            <a:picLocks noChangeAspect="1" noChangeArrowheads="1"/>
          </p:cNvPicPr>
          <p:nvPr/>
        </p:nvPicPr>
        <p:blipFill>
          <a:blip r:embed="rId3" cstate="print"/>
          <a:srcRect/>
          <a:stretch>
            <a:fillRect/>
          </a:stretch>
        </p:blipFill>
        <p:spPr bwMode="auto">
          <a:xfrm>
            <a:off x="6143636" y="1857364"/>
            <a:ext cx="1680667" cy="1811426"/>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unsafe areas safe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Action to make safe unsafe areas:</a:t>
            </a:r>
          </a:p>
          <a:p>
            <a:pPr marL="360000" indent="-360000">
              <a:spcBef>
                <a:spcPts val="600"/>
              </a:spcBef>
              <a:spcAft>
                <a:spcPts val="1200"/>
              </a:spcAft>
            </a:pPr>
            <a:r>
              <a:rPr lang="en-US" sz="2200" dirty="0" smtClean="0">
                <a:latin typeface="Helvetica" pitchFamily="34" charset="0"/>
              </a:rPr>
              <a:t>Report the situation - immediately</a:t>
            </a:r>
          </a:p>
          <a:p>
            <a:pPr marL="360000" indent="-360000">
              <a:spcBef>
                <a:spcPts val="600"/>
              </a:spcBef>
              <a:spcAft>
                <a:spcPts val="1200"/>
              </a:spcAft>
            </a:pPr>
            <a:r>
              <a:rPr lang="en-US" sz="2200" dirty="0" smtClean="0">
                <a:latin typeface="Helvetica" pitchFamily="34" charset="0"/>
              </a:rPr>
              <a:t>Ask for assistance, if necessary</a:t>
            </a:r>
          </a:p>
          <a:p>
            <a:pPr marL="360000" indent="-360000">
              <a:spcBef>
                <a:spcPts val="600"/>
              </a:spcBef>
              <a:spcAft>
                <a:spcPts val="1200"/>
              </a:spcAft>
            </a:pPr>
            <a:r>
              <a:rPr lang="en-US" sz="2200" dirty="0" smtClean="0">
                <a:latin typeface="Helvetica" pitchFamily="34" charset="0"/>
              </a:rPr>
              <a:t>Determine if an alarm needs to be </a:t>
            </a:r>
            <a:br>
              <a:rPr lang="en-US" sz="2200" dirty="0" smtClean="0">
                <a:latin typeface="Helvetica" pitchFamily="34" charset="0"/>
              </a:rPr>
            </a:br>
            <a:r>
              <a:rPr lang="en-US" sz="2200" dirty="0" smtClean="0">
                <a:latin typeface="Helvetica" pitchFamily="34" charset="0"/>
              </a:rPr>
              <a:t>activated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2" descr="C:\Documents and Settings\danielc\Desktop\Maintain the security of premises and property imgs\freeimage-4073452.jpg"/>
          <p:cNvPicPr>
            <a:picLocks noChangeAspect="1" noChangeArrowheads="1"/>
          </p:cNvPicPr>
          <p:nvPr/>
        </p:nvPicPr>
        <p:blipFill>
          <a:blip r:embed="rId3" cstate="print">
            <a:grayscl/>
            <a:lum bright="10000"/>
          </a:blip>
          <a:srcRect/>
          <a:stretch>
            <a:fillRect/>
          </a:stretch>
        </p:blipFill>
        <p:spPr bwMode="auto">
          <a:xfrm>
            <a:off x="6215074" y="2143116"/>
            <a:ext cx="1933855" cy="1420791"/>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Make unsafe areas safe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Take action – such as: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Close (or open) doors, gates, windows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Erect barricades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Prevent access to affected/danger areas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Direct people to move to safety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Remove the cause of the danger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Stay ‘on scene’ until the problem is resolved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9218" name="Picture 2" descr="C:\Documents and Settings\danielc\Local Settings\Temporary Internet Files\Content.IE5\V9A2RTT8\MC910216367[1].png"/>
          <p:cNvPicPr>
            <a:picLocks noChangeAspect="1" noChangeArrowheads="1"/>
          </p:cNvPicPr>
          <p:nvPr/>
        </p:nvPicPr>
        <p:blipFill>
          <a:blip r:embed="rId3" cstate="print"/>
          <a:srcRect/>
          <a:stretch>
            <a:fillRect/>
          </a:stretch>
        </p:blipFill>
        <p:spPr bwMode="auto">
          <a:xfrm>
            <a:off x="6500826" y="1928802"/>
            <a:ext cx="2181224" cy="1900237"/>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suspicious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It is vital:</a:t>
            </a:r>
          </a:p>
          <a:p>
            <a:pPr marL="360000" indent="-360000">
              <a:spcBef>
                <a:spcPts val="600"/>
              </a:spcBef>
              <a:spcAft>
                <a:spcPts val="1200"/>
              </a:spcAft>
            </a:pPr>
            <a:r>
              <a:rPr lang="en-US" sz="2200" dirty="0" smtClean="0">
                <a:latin typeface="Helvetica" pitchFamily="34" charset="0"/>
              </a:rPr>
              <a:t>You look actively for suspicious packages</a:t>
            </a:r>
          </a:p>
          <a:p>
            <a:pPr marL="360000" indent="-360000">
              <a:spcBef>
                <a:spcPts val="600"/>
              </a:spcBef>
              <a:spcAft>
                <a:spcPts val="1200"/>
              </a:spcAft>
            </a:pPr>
            <a:r>
              <a:rPr lang="en-US" sz="2200" dirty="0" smtClean="0">
                <a:latin typeface="Helvetica" pitchFamily="34" charset="0"/>
              </a:rPr>
              <a:t>You respond immediately to them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C:\Documents and Settings\danielc\Local Settings\Temporary Internet Files\Content.IE5\3DV3UKH9\MP900403071[1].jpg"/>
          <p:cNvPicPr/>
          <p:nvPr/>
        </p:nvPicPr>
        <p:blipFill>
          <a:blip r:embed="rId3" cstate="print">
            <a:duotone>
              <a:prstClr val="black"/>
              <a:schemeClr val="accent2">
                <a:tint val="45000"/>
                <a:satMod val="400000"/>
              </a:schemeClr>
            </a:duotone>
          </a:blip>
          <a:srcRect/>
          <a:stretch>
            <a:fillRect/>
          </a:stretch>
        </p:blipFill>
        <p:spPr bwMode="auto">
          <a:xfrm>
            <a:off x="3214678" y="3500438"/>
            <a:ext cx="2262505" cy="151656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suspicious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Always err on the side of caution if you believe you have identified a suspicious package – this should involve:</a:t>
            </a:r>
          </a:p>
          <a:p>
            <a:pPr marL="360000" indent="-360000">
              <a:spcBef>
                <a:spcPts val="600"/>
              </a:spcBef>
              <a:spcAft>
                <a:spcPts val="1200"/>
              </a:spcAft>
            </a:pPr>
            <a:r>
              <a:rPr lang="en-US" sz="2200" dirty="0" smtClean="0">
                <a:latin typeface="Helvetica" pitchFamily="34" charset="0"/>
              </a:rPr>
              <a:t>Notifying management</a:t>
            </a:r>
          </a:p>
          <a:p>
            <a:pPr marL="360000" indent="-360000">
              <a:spcBef>
                <a:spcPts val="600"/>
              </a:spcBef>
              <a:spcAft>
                <a:spcPts val="1200"/>
              </a:spcAft>
            </a:pPr>
            <a:r>
              <a:rPr lang="en-US" sz="2200" dirty="0" smtClean="0">
                <a:latin typeface="Helvetica" pitchFamily="34" charset="0"/>
              </a:rPr>
              <a:t>Moving people away</a:t>
            </a:r>
          </a:p>
          <a:p>
            <a:pPr marL="360000" indent="-360000">
              <a:spcBef>
                <a:spcPts val="600"/>
              </a:spcBef>
              <a:spcAft>
                <a:spcPts val="1200"/>
              </a:spcAft>
            </a:pPr>
            <a:r>
              <a:rPr lang="en-US" sz="2200" dirty="0" smtClean="0">
                <a:latin typeface="Helvetica" pitchFamily="34" charset="0"/>
              </a:rPr>
              <a:t>Contacting authorities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2" descr="C:\Documents and Settings\danielc\Desktop\Maintain the security of premises and property imgs\freeimage-4073452.jpg"/>
          <p:cNvPicPr>
            <a:picLocks noChangeAspect="1" noChangeArrowheads="1"/>
          </p:cNvPicPr>
          <p:nvPr/>
        </p:nvPicPr>
        <p:blipFill>
          <a:blip r:embed="rId3" cstate="print">
            <a:duotone>
              <a:prstClr val="black"/>
              <a:srgbClr val="D9C3A5">
                <a:tint val="50000"/>
                <a:satMod val="180000"/>
              </a:srgbClr>
            </a:duotone>
          </a:blip>
          <a:srcRect/>
          <a:stretch>
            <a:fillRect/>
          </a:stretch>
        </p:blipFill>
        <p:spPr bwMode="auto">
          <a:xfrm flipH="1">
            <a:off x="5357818" y="2643182"/>
            <a:ext cx="2202856" cy="1618425"/>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suspicious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Response to suspicious package:</a:t>
            </a:r>
          </a:p>
          <a:p>
            <a:pPr marL="360000" indent="-360000">
              <a:spcBef>
                <a:spcPts val="600"/>
              </a:spcBef>
              <a:spcAft>
                <a:spcPts val="1200"/>
              </a:spcAft>
            </a:pPr>
            <a:r>
              <a:rPr lang="en-US" sz="2200" dirty="0" smtClean="0">
                <a:latin typeface="Helvetica" pitchFamily="34" charset="0"/>
              </a:rPr>
              <a:t>Do not touch it</a:t>
            </a:r>
          </a:p>
          <a:p>
            <a:pPr marL="360000" indent="-360000">
              <a:spcBef>
                <a:spcPts val="600"/>
              </a:spcBef>
              <a:spcAft>
                <a:spcPts val="1200"/>
              </a:spcAft>
            </a:pPr>
            <a:r>
              <a:rPr lang="en-US" sz="2200" dirty="0" smtClean="0">
                <a:latin typeface="Helvetica" pitchFamily="34" charset="0"/>
              </a:rPr>
              <a:t>Try to identify owner</a:t>
            </a:r>
          </a:p>
          <a:p>
            <a:pPr marL="360000" indent="-360000">
              <a:spcBef>
                <a:spcPts val="600"/>
              </a:spcBef>
              <a:spcAft>
                <a:spcPts val="1200"/>
              </a:spcAft>
            </a:pPr>
            <a:r>
              <a:rPr lang="en-US" sz="2200" dirty="0" smtClean="0">
                <a:latin typeface="Helvetica" pitchFamily="34" charset="0"/>
              </a:rPr>
              <a:t>Contact police or management – according to house protocols</a:t>
            </a:r>
          </a:p>
          <a:p>
            <a:pPr marL="360000" indent="-360000">
              <a:spcBef>
                <a:spcPts val="600"/>
              </a:spcBef>
              <a:spcAft>
                <a:spcPts val="1200"/>
              </a:spcAft>
            </a:pPr>
            <a:r>
              <a:rPr lang="en-US" sz="2200" dirty="0" smtClean="0">
                <a:latin typeface="Helvetica" pitchFamily="34" charset="0"/>
              </a:rPr>
              <a:t>Evacuate people</a:t>
            </a:r>
          </a:p>
          <a:p>
            <a:pPr marL="360000" indent="-360000">
              <a:spcBef>
                <a:spcPts val="600"/>
              </a:spcBef>
              <a:spcAft>
                <a:spcPts val="1200"/>
              </a:spcAft>
            </a:pPr>
            <a:r>
              <a:rPr lang="en-US" sz="2200" dirty="0" smtClean="0">
                <a:latin typeface="Helvetica" pitchFamily="34" charset="0"/>
              </a:rPr>
              <a:t>Turn off electronic equipment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2" descr="C:\Documents and Settings\danielc\Local Settings\Temporary Internet Files\Content.IE5\3DV3UKH9\MP900341933[1].jpg"/>
          <p:cNvPicPr>
            <a:picLocks noChangeAspect="1" noChangeArrowheads="1"/>
          </p:cNvPicPr>
          <p:nvPr/>
        </p:nvPicPr>
        <p:blipFill>
          <a:blip r:embed="rId3" cstate="print">
            <a:grayscl/>
            <a:lum bright="10000"/>
          </a:blip>
          <a:srcRect/>
          <a:stretch>
            <a:fillRect/>
          </a:stretch>
        </p:blipFill>
        <p:spPr bwMode="auto">
          <a:xfrm>
            <a:off x="5572132" y="1571612"/>
            <a:ext cx="2186658" cy="1559816"/>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suspicious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Additional points to consider:</a:t>
            </a:r>
          </a:p>
          <a:p>
            <a:pPr marL="360000" indent="-360000">
              <a:spcBef>
                <a:spcPts val="600"/>
              </a:spcBef>
              <a:spcAft>
                <a:spcPts val="1200"/>
              </a:spcAft>
            </a:pPr>
            <a:r>
              <a:rPr lang="en-US" sz="2200" dirty="0" smtClean="0">
                <a:latin typeface="Helvetica" pitchFamily="34" charset="0"/>
              </a:rPr>
              <a:t>There is no definition of a suspicious package</a:t>
            </a:r>
          </a:p>
          <a:p>
            <a:pPr marL="360000" indent="-360000">
              <a:spcBef>
                <a:spcPts val="600"/>
              </a:spcBef>
              <a:spcAft>
                <a:spcPts val="1200"/>
              </a:spcAft>
            </a:pPr>
            <a:r>
              <a:rPr lang="en-US" sz="2200" dirty="0" smtClean="0">
                <a:latin typeface="Helvetica" pitchFamily="34" charset="0"/>
              </a:rPr>
              <a:t>Leave action and decisions to the experts</a:t>
            </a:r>
          </a:p>
          <a:p>
            <a:pPr marL="360000" indent="-360000">
              <a:spcBef>
                <a:spcPts val="600"/>
              </a:spcBef>
              <a:spcAft>
                <a:spcPts val="1200"/>
              </a:spcAft>
            </a:pPr>
            <a:r>
              <a:rPr lang="en-US" sz="2200" dirty="0" smtClean="0">
                <a:latin typeface="Helvetica" pitchFamily="34" charset="0"/>
              </a:rPr>
              <a:t>Emergency services will know what to do</a:t>
            </a:r>
          </a:p>
          <a:p>
            <a:pPr marL="360000" indent="-360000">
              <a:spcBef>
                <a:spcPts val="600"/>
              </a:spcBef>
              <a:spcAft>
                <a:spcPts val="1200"/>
              </a:spcAft>
            </a:pPr>
            <a:r>
              <a:rPr lang="en-US" sz="2200" dirty="0" smtClean="0">
                <a:latin typeface="Helvetica" pitchFamily="34" charset="0"/>
              </a:rPr>
              <a:t>It is better to be safe than sorry</a:t>
            </a:r>
          </a:p>
          <a:p>
            <a:pPr marL="360000" indent="-360000">
              <a:spcBef>
                <a:spcPts val="600"/>
              </a:spcBef>
              <a:spcAft>
                <a:spcPts val="1200"/>
              </a:spcAft>
            </a:pPr>
            <a:r>
              <a:rPr lang="en-US" sz="2200" dirty="0" smtClean="0">
                <a:latin typeface="Helvetica" pitchFamily="34" charset="0"/>
              </a:rPr>
              <a:t>Terrorists rely on your lack of observation and inaction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2" descr="C:\Documents and Settings\danielc\Desktop\Maintain the security of premises and property imgs\Poster_SuspiciousPackages.jpg"/>
          <p:cNvPicPr>
            <a:picLocks noChangeAspect="1" noChangeArrowheads="1"/>
          </p:cNvPicPr>
          <p:nvPr/>
        </p:nvPicPr>
        <p:blipFill>
          <a:blip r:embed="rId3" cstate="print">
            <a:duotone>
              <a:schemeClr val="accent2">
                <a:shade val="45000"/>
                <a:satMod val="135000"/>
              </a:schemeClr>
              <a:prstClr val="white"/>
            </a:duotone>
          </a:blip>
          <a:srcRect b="18967"/>
          <a:stretch>
            <a:fillRect/>
          </a:stretch>
        </p:blipFill>
        <p:spPr bwMode="auto">
          <a:xfrm>
            <a:off x="7000892" y="2285992"/>
            <a:ext cx="1540189" cy="1928826"/>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bomb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If you receive a bomb threat:</a:t>
            </a:r>
          </a:p>
          <a:p>
            <a:pPr marL="360000" indent="-360000">
              <a:spcBef>
                <a:spcPts val="600"/>
              </a:spcBef>
              <a:spcAft>
                <a:spcPts val="1200"/>
              </a:spcAft>
            </a:pPr>
            <a:r>
              <a:rPr lang="en-US" sz="2200" dirty="0" smtClean="0">
                <a:latin typeface="Helvetica" pitchFamily="34" charset="0"/>
              </a:rPr>
              <a:t>Stay calm</a:t>
            </a:r>
          </a:p>
          <a:p>
            <a:pPr marL="360000" indent="-360000">
              <a:spcBef>
                <a:spcPts val="600"/>
              </a:spcBef>
              <a:spcAft>
                <a:spcPts val="1200"/>
              </a:spcAft>
            </a:pPr>
            <a:r>
              <a:rPr lang="en-US" sz="2200" dirty="0" smtClean="0">
                <a:latin typeface="Helvetica" pitchFamily="34" charset="0"/>
              </a:rPr>
              <a:t>Listen attentively</a:t>
            </a:r>
          </a:p>
          <a:p>
            <a:pPr marL="360000" indent="-360000">
              <a:spcBef>
                <a:spcPts val="600"/>
              </a:spcBef>
              <a:spcAft>
                <a:spcPts val="1200"/>
              </a:spcAft>
            </a:pPr>
            <a:r>
              <a:rPr lang="en-US" sz="2200" dirty="0" smtClean="0">
                <a:latin typeface="Helvetica" pitchFamily="34" charset="0"/>
              </a:rPr>
              <a:t>Use a ‘Bomb Threat Checklist’ to record/capture details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2" descr="C:\Documents and Settings\danielc\Desktop\Maintain the security of premises and property imgs\freeimage-8176391.jpg"/>
          <p:cNvPicPr>
            <a:picLocks noChangeAspect="1" noChangeArrowheads="1"/>
          </p:cNvPicPr>
          <p:nvPr/>
        </p:nvPicPr>
        <p:blipFill>
          <a:blip r:embed="rId3" cstate="print"/>
          <a:srcRect/>
          <a:stretch>
            <a:fillRect/>
          </a:stretch>
        </p:blipFill>
        <p:spPr bwMode="auto">
          <a:xfrm>
            <a:off x="6215074" y="857232"/>
            <a:ext cx="1492030" cy="2228835"/>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bomb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Details to capture/pay attention to:</a:t>
            </a:r>
          </a:p>
          <a:p>
            <a:pPr marL="360000" indent="-360000">
              <a:spcBef>
                <a:spcPts val="600"/>
              </a:spcBef>
              <a:spcAft>
                <a:spcPts val="1200"/>
              </a:spcAft>
            </a:pPr>
            <a:r>
              <a:rPr lang="en-US" sz="2200" dirty="0" smtClean="0">
                <a:latin typeface="Helvetica" pitchFamily="34" charset="0"/>
              </a:rPr>
              <a:t>Background noises</a:t>
            </a:r>
          </a:p>
          <a:p>
            <a:pPr marL="360000" indent="-360000">
              <a:spcBef>
                <a:spcPts val="600"/>
              </a:spcBef>
              <a:spcAft>
                <a:spcPts val="1200"/>
              </a:spcAft>
            </a:pPr>
            <a:r>
              <a:rPr lang="en-US" sz="2200" dirty="0" smtClean="0">
                <a:latin typeface="Helvetica" pitchFamily="34" charset="0"/>
              </a:rPr>
              <a:t>Caller details</a:t>
            </a:r>
          </a:p>
          <a:p>
            <a:pPr marL="360000" indent="-360000">
              <a:spcBef>
                <a:spcPts val="600"/>
              </a:spcBef>
              <a:spcAft>
                <a:spcPts val="1200"/>
              </a:spcAft>
            </a:pPr>
            <a:r>
              <a:rPr lang="en-US" sz="2200" dirty="0" smtClean="0">
                <a:latin typeface="Helvetica" pitchFamily="34" charset="0"/>
              </a:rPr>
              <a:t>Call details</a:t>
            </a:r>
          </a:p>
          <a:p>
            <a:pPr marL="360000" indent="-360000">
              <a:spcBef>
                <a:spcPts val="600"/>
              </a:spcBef>
              <a:spcAft>
                <a:spcPts val="1200"/>
              </a:spcAft>
            </a:pPr>
            <a:r>
              <a:rPr lang="en-US" sz="2200" dirty="0" smtClean="0">
                <a:latin typeface="Helvetica" pitchFamily="34" charset="0"/>
              </a:rPr>
              <a:t>Bomb details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6" name="Picture 5" descr="Bomb Checklist.jpg"/>
          <p:cNvPicPr>
            <a:picLocks noChangeAspect="1"/>
          </p:cNvPicPr>
          <p:nvPr/>
        </p:nvPicPr>
        <p:blipFill>
          <a:blip r:embed="rId3" cstate="print"/>
          <a:stretch>
            <a:fillRect/>
          </a:stretch>
        </p:blipFill>
        <p:spPr>
          <a:xfrm>
            <a:off x="6000760" y="1214422"/>
            <a:ext cx="1872962" cy="4678402"/>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bomb threats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After taking the bomb threat telephone call:</a:t>
            </a:r>
          </a:p>
          <a:p>
            <a:pPr marL="360000" indent="-360000">
              <a:spcBef>
                <a:spcPts val="600"/>
              </a:spcBef>
              <a:spcAft>
                <a:spcPts val="1200"/>
              </a:spcAft>
            </a:pPr>
            <a:r>
              <a:rPr lang="en-US" sz="2200" dirty="0" smtClean="0">
                <a:latin typeface="Helvetica" pitchFamily="34" charset="0"/>
              </a:rPr>
              <a:t>Speak with management/designated venue person</a:t>
            </a:r>
          </a:p>
          <a:p>
            <a:pPr marL="360000" indent="-360000">
              <a:spcBef>
                <a:spcPts val="600"/>
              </a:spcBef>
              <a:spcAft>
                <a:spcPts val="1200"/>
              </a:spcAft>
            </a:pPr>
            <a:r>
              <a:rPr lang="en-US" sz="2200" dirty="0" smtClean="0">
                <a:latin typeface="Helvetica" pitchFamily="34" charset="0"/>
              </a:rPr>
              <a:t>Talk to them so others cannot overhear</a:t>
            </a:r>
          </a:p>
          <a:p>
            <a:pPr marL="360000" indent="-360000">
              <a:spcBef>
                <a:spcPts val="600"/>
              </a:spcBef>
              <a:spcAft>
                <a:spcPts val="1200"/>
              </a:spcAft>
            </a:pPr>
            <a:r>
              <a:rPr lang="en-US" sz="2200" dirty="0" smtClean="0">
                <a:latin typeface="Helvetica" pitchFamily="34" charset="0"/>
              </a:rPr>
              <a:t>Stay clam and speak clearly</a:t>
            </a:r>
          </a:p>
          <a:p>
            <a:pPr marL="360000" indent="-360000">
              <a:spcBef>
                <a:spcPts val="600"/>
              </a:spcBef>
              <a:spcAft>
                <a:spcPts val="1200"/>
              </a:spcAft>
            </a:pPr>
            <a:r>
              <a:rPr lang="en-US" sz="2200" dirty="0" smtClean="0">
                <a:latin typeface="Helvetica" pitchFamily="34" charset="0"/>
              </a:rPr>
              <a:t>Start evacuation</a:t>
            </a:r>
          </a:p>
          <a:p>
            <a:pPr marL="360000" indent="-360000">
              <a:spcBef>
                <a:spcPts val="600"/>
              </a:spcBef>
              <a:spcAft>
                <a:spcPts val="1200"/>
              </a:spcAft>
            </a:pPr>
            <a:r>
              <a:rPr lang="en-US" sz="2200" dirty="0" smtClean="0">
                <a:latin typeface="Helvetica" pitchFamily="34" charset="0"/>
              </a:rPr>
              <a:t>Never think the call was a hoax</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2" descr="C:\Documents and Settings\danielc\Desktop\Maintain the security of premises and property imgs\330329_the_quickest_way_out.jpg"/>
          <p:cNvPicPr>
            <a:picLocks noChangeAspect="1" noChangeArrowheads="1"/>
          </p:cNvPicPr>
          <p:nvPr/>
        </p:nvPicPr>
        <p:blipFill>
          <a:blip r:embed="rId3" cstate="print"/>
          <a:srcRect/>
          <a:stretch>
            <a:fillRect/>
          </a:stretch>
        </p:blipFill>
        <p:spPr bwMode="auto">
          <a:xfrm>
            <a:off x="6215074" y="3143248"/>
            <a:ext cx="2057390" cy="1543043"/>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When responding to safety threats:</a:t>
            </a:r>
          </a:p>
          <a:p>
            <a:pPr marL="360000" indent="-360000">
              <a:spcBef>
                <a:spcPts val="600"/>
              </a:spcBef>
              <a:spcAft>
                <a:spcPts val="1200"/>
              </a:spcAft>
            </a:pPr>
            <a:r>
              <a:rPr lang="en-AU" sz="2200" dirty="0" smtClean="0">
                <a:latin typeface="Helvetica" pitchFamily="34" charset="0"/>
              </a:rPr>
              <a:t>Respond promptly – nip problems in the bud</a:t>
            </a:r>
          </a:p>
          <a:p>
            <a:pPr marL="360000" indent="-360000">
              <a:spcBef>
                <a:spcPts val="600"/>
              </a:spcBef>
              <a:spcAft>
                <a:spcPts val="1200"/>
              </a:spcAft>
            </a:pPr>
            <a:r>
              <a:rPr lang="en-AU" sz="2200" dirty="0" smtClean="0">
                <a:latin typeface="Helvetica" pitchFamily="34" charset="0"/>
              </a:rPr>
              <a:t>Obtain first-hand information wherever possible</a:t>
            </a:r>
          </a:p>
          <a:p>
            <a:pPr marL="360000" indent="-360000">
              <a:spcBef>
                <a:spcPts val="600"/>
              </a:spcBef>
              <a:spcAft>
                <a:spcPts val="1200"/>
              </a:spcAft>
            </a:pPr>
            <a:r>
              <a:rPr lang="en-AU" sz="2200" dirty="0" smtClean="0">
                <a:latin typeface="Helvetica" pitchFamily="34" charset="0"/>
              </a:rPr>
              <a:t>Be proactive</a:t>
            </a:r>
          </a:p>
          <a:p>
            <a:pPr marL="360000" indent="-360000">
              <a:spcBef>
                <a:spcPts val="600"/>
              </a:spcBef>
              <a:spcAft>
                <a:spcPts val="1200"/>
              </a:spcAft>
            </a:pPr>
            <a:r>
              <a:rPr lang="en-AU" sz="2200" dirty="0" smtClean="0"/>
              <a:t>Remember you are not a police officer</a:t>
            </a:r>
          </a:p>
          <a:p>
            <a:pPr marL="360000" indent="-360000">
              <a:spcBef>
                <a:spcPts val="600"/>
              </a:spcBef>
              <a:spcAft>
                <a:spcPts val="1200"/>
              </a:spcAft>
            </a:pPr>
            <a:r>
              <a:rPr lang="en-AU" sz="2200" dirty="0" smtClean="0"/>
              <a:t>Avoid making arrests</a:t>
            </a:r>
          </a:p>
          <a:p>
            <a:pPr marL="360000" indent="-360000">
              <a:spcBef>
                <a:spcPts val="600"/>
              </a:spcBef>
              <a:spcAft>
                <a:spcPts val="1200"/>
              </a:spcAft>
            </a:pPr>
            <a:r>
              <a:rPr lang="en-AU" sz="2200" dirty="0" smtClean="0"/>
              <a:t>Never put yourself in danger</a:t>
            </a:r>
            <a:endParaRPr lang="en-US" sz="2200" dirty="0" smtClean="0"/>
          </a:p>
          <a:p>
            <a:pPr marL="360000" indent="-360000">
              <a:spcBef>
                <a:spcPts val="600"/>
              </a:spcBef>
              <a:spcAft>
                <a:spcPts val="1200"/>
              </a:spcAft>
              <a:buNone/>
            </a:pPr>
            <a:r>
              <a:rPr lang="en-US" sz="2200" dirty="0" smtClean="0"/>
              <a:t>(Continued)</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2" descr="C:\Documents and Settings\danielc\Local Settings\Temporary Internet Files\Content.IE5\V9A2RTT8\MC900442036[2].wmf"/>
          <p:cNvPicPr>
            <a:picLocks noChangeAspect="1" noChangeArrowheads="1"/>
          </p:cNvPicPr>
          <p:nvPr/>
        </p:nvPicPr>
        <p:blipFill>
          <a:blip r:embed="rId3" cstate="print"/>
          <a:srcRect/>
          <a:stretch>
            <a:fillRect/>
          </a:stretch>
        </p:blipFill>
        <p:spPr bwMode="auto">
          <a:xfrm>
            <a:off x="6572264" y="3143248"/>
            <a:ext cx="1857375" cy="1838325"/>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The safety of people takes priority over safety of property</a:t>
            </a:r>
          </a:p>
          <a:p>
            <a:pPr marL="360000" indent="-360000">
              <a:spcBef>
                <a:spcPts val="600"/>
              </a:spcBef>
              <a:spcAft>
                <a:spcPts val="1200"/>
              </a:spcAft>
            </a:pPr>
            <a:r>
              <a:rPr lang="en-AU" sz="2200" dirty="0" smtClean="0">
                <a:latin typeface="Helvetica" pitchFamily="34" charset="0"/>
              </a:rPr>
              <a:t>Take action to make safe areas identified as being unsafe</a:t>
            </a:r>
          </a:p>
          <a:p>
            <a:pPr marL="360000" indent="-360000">
              <a:spcBef>
                <a:spcPts val="600"/>
              </a:spcBef>
              <a:spcAft>
                <a:spcPts val="1200"/>
              </a:spcAft>
            </a:pPr>
            <a:r>
              <a:rPr lang="en-AU" sz="2200" dirty="0" smtClean="0">
                <a:latin typeface="Helvetica" pitchFamily="34" charset="0"/>
              </a:rPr>
              <a:t>Limit any adverse impacts or damage</a:t>
            </a:r>
          </a:p>
          <a:p>
            <a:pPr marL="360000" indent="-360000">
              <a:spcBef>
                <a:spcPts val="600"/>
              </a:spcBef>
              <a:spcAft>
                <a:spcPts val="1200"/>
              </a:spcAft>
            </a:pPr>
            <a:r>
              <a:rPr lang="en-AU" sz="2200" dirty="0" smtClean="0"/>
              <a:t>Respond positively to suspicious packages</a:t>
            </a:r>
          </a:p>
          <a:p>
            <a:pPr marL="360000" indent="-360000">
              <a:spcBef>
                <a:spcPts val="600"/>
              </a:spcBef>
              <a:spcAft>
                <a:spcPts val="1200"/>
              </a:spcAft>
            </a:pPr>
            <a:r>
              <a:rPr lang="en-AU" sz="2200" dirty="0" smtClean="0"/>
              <a:t>Treat all bomb threats as genuine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2" descr="C:\Documents and Settings\danielc\Local Settings\Temporary Internet Files\Content.IE5\V9A2RTT8\MC900442036[2].wmf"/>
          <p:cNvPicPr>
            <a:picLocks noChangeAspect="1" noChangeArrowheads="1"/>
          </p:cNvPicPr>
          <p:nvPr/>
        </p:nvPicPr>
        <p:blipFill>
          <a:blip r:embed="rId3" cstate="print"/>
          <a:srcRect/>
          <a:stretch>
            <a:fillRect/>
          </a:stretch>
        </p:blipFill>
        <p:spPr bwMode="auto">
          <a:xfrm>
            <a:off x="6643702" y="3286124"/>
            <a:ext cx="1857375" cy="1838325"/>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emergency situations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the nature and scope of the emergency</a:t>
            </a:r>
          </a:p>
          <a:p>
            <a:pPr marL="360000" indent="-360000">
              <a:spcBef>
                <a:spcPts val="600"/>
              </a:spcBef>
              <a:spcAft>
                <a:spcPts val="1200"/>
              </a:spcAft>
            </a:pPr>
            <a:r>
              <a:rPr lang="en-US" sz="2200" dirty="0" smtClean="0">
                <a:latin typeface="Helvetica" pitchFamily="34" charset="0"/>
              </a:rPr>
              <a:t>Contact emergency services</a:t>
            </a:r>
          </a:p>
          <a:p>
            <a:pPr marL="360000" indent="-360000">
              <a:spcBef>
                <a:spcPts val="600"/>
              </a:spcBef>
              <a:spcAft>
                <a:spcPts val="1200"/>
              </a:spcAft>
            </a:pPr>
            <a:r>
              <a:rPr lang="en-US" sz="2200" dirty="0" smtClean="0">
                <a:latin typeface="Helvetica" pitchFamily="34" charset="0"/>
              </a:rPr>
              <a:t>Implement the Emergency Management Plan for the premises</a:t>
            </a:r>
          </a:p>
          <a:p>
            <a:pPr marL="360000" indent="-360000">
              <a:spcBef>
                <a:spcPts val="600"/>
              </a:spcBef>
              <a:spcAft>
                <a:spcPts val="1200"/>
              </a:spcAft>
            </a:pPr>
            <a:r>
              <a:rPr lang="en-US" sz="2200" dirty="0" smtClean="0">
                <a:latin typeface="Helvetica" pitchFamily="34" charset="0"/>
              </a:rPr>
              <a:t>Provide first response assistance</a:t>
            </a:r>
          </a:p>
          <a:p>
            <a:pPr marL="360000" indent="-360000">
              <a:spcBef>
                <a:spcPts val="600"/>
              </a:spcBef>
              <a:spcAft>
                <a:spcPts val="1200"/>
              </a:spcAft>
            </a:pPr>
            <a:r>
              <a:rPr lang="en-US" sz="2200" dirty="0" smtClean="0">
                <a:latin typeface="Helvetica" pitchFamily="34" charset="0"/>
              </a:rPr>
              <a:t>Maximise safety of personnel during the emergency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092280" y="206084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643438" y="264318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214546" y="357187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172978" y="4071942"/>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500958" y="4643446"/>
            <a:ext cx="399154" cy="527046"/>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and scope of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When an emergency occurs you must:</a:t>
            </a:r>
          </a:p>
          <a:p>
            <a:pPr marL="360000" indent="-360000">
              <a:spcBef>
                <a:spcPts val="600"/>
              </a:spcBef>
              <a:spcAft>
                <a:spcPts val="1200"/>
              </a:spcAft>
            </a:pPr>
            <a:r>
              <a:rPr lang="en-US" sz="2200" dirty="0" smtClean="0">
                <a:latin typeface="Helvetica" pitchFamily="34" charset="0"/>
              </a:rPr>
              <a:t>Identify nature and scope so you can: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Pass on information to others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Determine action to take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3" descr="C:\Documents and Settings\danielc\Local Settings\Temporary Internet Files\Content.IE5\SIQ5KRQ3\MP900321206[1].jpg"/>
          <p:cNvPicPr>
            <a:picLocks noChangeAspect="1" noChangeArrowheads="1"/>
          </p:cNvPicPr>
          <p:nvPr/>
        </p:nvPicPr>
        <p:blipFill>
          <a:blip r:embed="rId3" cstate="print"/>
          <a:srcRect/>
          <a:stretch>
            <a:fillRect/>
          </a:stretch>
        </p:blipFill>
        <p:spPr bwMode="auto">
          <a:xfrm>
            <a:off x="6143636" y="1928802"/>
            <a:ext cx="1712217" cy="2400304"/>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and scope of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Hotels are unique locations for emergencies:</a:t>
            </a:r>
          </a:p>
          <a:p>
            <a:pPr marL="360000" indent="-360000">
              <a:spcBef>
                <a:spcPts val="600"/>
              </a:spcBef>
              <a:spcAft>
                <a:spcPts val="1200"/>
              </a:spcAft>
            </a:pPr>
            <a:r>
              <a:rPr lang="en-US" sz="2200" dirty="0" smtClean="0">
                <a:latin typeface="Helvetica" pitchFamily="34" charset="0"/>
              </a:rPr>
              <a:t>Open 24/7</a:t>
            </a:r>
          </a:p>
          <a:p>
            <a:pPr marL="360000" indent="-360000">
              <a:spcBef>
                <a:spcPts val="600"/>
              </a:spcBef>
              <a:spcAft>
                <a:spcPts val="1200"/>
              </a:spcAft>
            </a:pPr>
            <a:r>
              <a:rPr lang="en-US" sz="2200" dirty="0" smtClean="0">
                <a:latin typeface="Helvetica" pitchFamily="34" charset="0"/>
              </a:rPr>
              <a:t>People may have been drinking alcohol</a:t>
            </a:r>
          </a:p>
          <a:p>
            <a:pPr marL="360000" indent="-360000">
              <a:spcBef>
                <a:spcPts val="600"/>
              </a:spcBef>
              <a:spcAft>
                <a:spcPts val="1200"/>
              </a:spcAft>
            </a:pPr>
            <a:r>
              <a:rPr lang="en-US" sz="2200" dirty="0" smtClean="0">
                <a:latin typeface="Helvetica" pitchFamily="34" charset="0"/>
              </a:rPr>
              <a:t>Guests may not be familiar with their </a:t>
            </a:r>
            <a:br>
              <a:rPr lang="en-US" sz="2200" dirty="0" smtClean="0">
                <a:latin typeface="Helvetica" pitchFamily="34" charset="0"/>
              </a:rPr>
            </a:br>
            <a:r>
              <a:rPr lang="en-US" sz="2200" dirty="0" smtClean="0">
                <a:latin typeface="Helvetica" pitchFamily="34" charset="0"/>
              </a:rPr>
              <a:t>environment</a:t>
            </a:r>
          </a:p>
          <a:p>
            <a:pPr marL="360000" indent="-360000">
              <a:spcBef>
                <a:spcPts val="600"/>
              </a:spcBef>
              <a:spcAft>
                <a:spcPts val="1200"/>
              </a:spcAft>
            </a:pPr>
            <a:r>
              <a:rPr lang="en-US" sz="2200" dirty="0" smtClean="0">
                <a:latin typeface="Helvetica" pitchFamily="34" charset="0"/>
              </a:rPr>
              <a:t>They may be asleep</a:t>
            </a:r>
          </a:p>
          <a:p>
            <a:pPr marL="360000" indent="-360000">
              <a:spcBef>
                <a:spcPts val="600"/>
              </a:spcBef>
              <a:spcAft>
                <a:spcPts val="1200"/>
              </a:spcAft>
            </a:pPr>
            <a:r>
              <a:rPr lang="en-US" sz="2200" dirty="0" smtClean="0">
                <a:latin typeface="Helvetica" pitchFamily="34" charset="0"/>
              </a:rPr>
              <a:t>May be spread over a large and diverse range of areas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10242" name="Picture 2" descr="C:\Documents and Settings\danielc\Local Settings\Temporary Internet Files\Content.IE5\SIQ5KRQ3\MC900045255[1].wmf"/>
          <p:cNvPicPr>
            <a:picLocks noChangeAspect="1" noChangeArrowheads="1"/>
          </p:cNvPicPr>
          <p:nvPr/>
        </p:nvPicPr>
        <p:blipFill>
          <a:blip r:embed="rId3" cstate="print"/>
          <a:srcRect/>
          <a:stretch>
            <a:fillRect/>
          </a:stretch>
        </p:blipFill>
        <p:spPr bwMode="auto">
          <a:xfrm>
            <a:off x="6754003" y="2714620"/>
            <a:ext cx="1700666" cy="1533789"/>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and scope of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Emergency situations can include:</a:t>
            </a:r>
          </a:p>
          <a:p>
            <a:pPr marL="360000" indent="-360000">
              <a:spcBef>
                <a:spcPts val="600"/>
              </a:spcBef>
              <a:spcAft>
                <a:spcPts val="1200"/>
              </a:spcAft>
            </a:pPr>
            <a:r>
              <a:rPr lang="en-US" sz="2200" dirty="0" smtClean="0">
                <a:latin typeface="Helvetica" pitchFamily="34" charset="0"/>
              </a:rPr>
              <a:t>Fire</a:t>
            </a:r>
          </a:p>
          <a:p>
            <a:pPr marL="360000" indent="-360000">
              <a:spcBef>
                <a:spcPts val="600"/>
              </a:spcBef>
              <a:spcAft>
                <a:spcPts val="1200"/>
              </a:spcAft>
            </a:pPr>
            <a:r>
              <a:rPr lang="en-US" sz="2200" dirty="0" smtClean="0">
                <a:latin typeface="Helvetica" pitchFamily="34" charset="0"/>
              </a:rPr>
              <a:t>Medical emergency</a:t>
            </a:r>
          </a:p>
          <a:p>
            <a:pPr marL="360000" indent="-360000">
              <a:spcBef>
                <a:spcPts val="600"/>
              </a:spcBef>
              <a:spcAft>
                <a:spcPts val="1200"/>
              </a:spcAft>
            </a:pPr>
            <a:r>
              <a:rPr lang="en-US" sz="2200" dirty="0" smtClean="0">
                <a:latin typeface="Helvetica" pitchFamily="34" charset="0"/>
              </a:rPr>
              <a:t>Gas leak</a:t>
            </a:r>
          </a:p>
          <a:p>
            <a:pPr marL="360000" indent="-360000">
              <a:spcBef>
                <a:spcPts val="600"/>
              </a:spcBef>
              <a:spcAft>
                <a:spcPts val="1200"/>
              </a:spcAft>
            </a:pPr>
            <a:r>
              <a:rPr lang="en-US" sz="2200" dirty="0" smtClean="0">
                <a:latin typeface="Helvetica" pitchFamily="34" charset="0"/>
              </a:rPr>
              <a:t>Bomb threat</a:t>
            </a:r>
          </a:p>
          <a:p>
            <a:pPr marL="360000" indent="-360000">
              <a:spcBef>
                <a:spcPts val="600"/>
              </a:spcBef>
              <a:spcAft>
                <a:spcPts val="1200"/>
              </a:spcAft>
            </a:pPr>
            <a:r>
              <a:rPr lang="en-US" sz="2200" dirty="0" smtClean="0">
                <a:latin typeface="Helvetica" pitchFamily="34" charset="0"/>
              </a:rPr>
              <a:t>Hostage situation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2" descr="C:\Documents and Settings\danielc\Desktop\Maintain the security of premises and property imgs\1399850_burning_1.jpg"/>
          <p:cNvPicPr>
            <a:picLocks noChangeAspect="1" noChangeArrowheads="1"/>
          </p:cNvPicPr>
          <p:nvPr/>
        </p:nvPicPr>
        <p:blipFill>
          <a:blip r:embed="rId3" cstate="print"/>
          <a:srcRect/>
          <a:stretch>
            <a:fillRect/>
          </a:stretch>
        </p:blipFill>
        <p:spPr bwMode="auto">
          <a:xfrm>
            <a:off x="5000628" y="2643182"/>
            <a:ext cx="2857500" cy="1905000"/>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and scope of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Chemical spill</a:t>
            </a:r>
          </a:p>
          <a:p>
            <a:pPr marL="360000" indent="-360000">
              <a:spcBef>
                <a:spcPts val="600"/>
              </a:spcBef>
              <a:spcAft>
                <a:spcPts val="1200"/>
              </a:spcAft>
            </a:pPr>
            <a:r>
              <a:rPr lang="en-US" sz="2200" dirty="0" smtClean="0">
                <a:latin typeface="Helvetica" pitchFamily="34" charset="0"/>
              </a:rPr>
              <a:t>Robbery</a:t>
            </a:r>
          </a:p>
          <a:p>
            <a:pPr marL="360000" indent="-360000">
              <a:spcBef>
                <a:spcPts val="600"/>
              </a:spcBef>
              <a:spcAft>
                <a:spcPts val="1200"/>
              </a:spcAft>
            </a:pPr>
            <a:r>
              <a:rPr lang="en-US" sz="2200" dirty="0" smtClean="0">
                <a:latin typeface="Helvetica" pitchFamily="34" charset="0"/>
              </a:rPr>
              <a:t>Deranged customers</a:t>
            </a:r>
          </a:p>
          <a:p>
            <a:pPr marL="360000" indent="-360000">
              <a:spcBef>
                <a:spcPts val="600"/>
              </a:spcBef>
              <a:spcAft>
                <a:spcPts val="1200"/>
              </a:spcAft>
            </a:pPr>
            <a:r>
              <a:rPr lang="en-US" sz="2200" dirty="0" smtClean="0">
                <a:latin typeface="Helvetica" pitchFamily="34" charset="0"/>
              </a:rPr>
              <a:t>Flood</a:t>
            </a:r>
          </a:p>
          <a:p>
            <a:pPr marL="360000" indent="-360000">
              <a:spcBef>
                <a:spcPts val="600"/>
              </a:spcBef>
              <a:spcAft>
                <a:spcPts val="1200"/>
              </a:spcAft>
            </a:pPr>
            <a:r>
              <a:rPr lang="en-US" sz="2200" dirty="0" smtClean="0">
                <a:latin typeface="Helvetica" pitchFamily="34" charset="0"/>
              </a:rPr>
              <a:t>Power failure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2" descr="C:\Documents and Settings\danielc\Local Settings\Temporary Internet Files\Content.IE5\112MAXTI\MC900018433[1].wmf"/>
          <p:cNvPicPr>
            <a:picLocks noChangeAspect="1" noChangeArrowheads="1"/>
          </p:cNvPicPr>
          <p:nvPr/>
        </p:nvPicPr>
        <p:blipFill>
          <a:blip r:embed="rId3" cstate="print"/>
          <a:srcRect/>
          <a:stretch>
            <a:fillRect/>
          </a:stretch>
        </p:blipFill>
        <p:spPr bwMode="auto">
          <a:xfrm>
            <a:off x="5143504" y="2428868"/>
            <a:ext cx="2518967" cy="1428760"/>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and scope of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 determine scope of the emergency:</a:t>
            </a:r>
          </a:p>
          <a:p>
            <a:pPr marL="360000" indent="-360000">
              <a:spcBef>
                <a:spcPts val="600"/>
              </a:spcBef>
              <a:spcAft>
                <a:spcPts val="1200"/>
              </a:spcAft>
            </a:pPr>
            <a:r>
              <a:rPr lang="en-US" sz="2200" dirty="0" smtClean="0">
                <a:latin typeface="Helvetica" pitchFamily="34" charset="0"/>
              </a:rPr>
              <a:t>How many people are involved/in danger?</a:t>
            </a:r>
          </a:p>
          <a:p>
            <a:pPr marL="360000" indent="-360000">
              <a:spcBef>
                <a:spcPts val="600"/>
              </a:spcBef>
              <a:spcAft>
                <a:spcPts val="1200"/>
              </a:spcAft>
            </a:pPr>
            <a:r>
              <a:rPr lang="en-US" sz="2200" dirty="0" smtClean="0">
                <a:latin typeface="Helvetica" pitchFamily="34" charset="0"/>
              </a:rPr>
              <a:t>Who is available to assist?</a:t>
            </a:r>
          </a:p>
          <a:p>
            <a:pPr marL="360000" indent="-360000">
              <a:spcBef>
                <a:spcPts val="600"/>
              </a:spcBef>
              <a:spcAft>
                <a:spcPts val="1200"/>
              </a:spcAft>
            </a:pPr>
            <a:r>
              <a:rPr lang="en-US" sz="2200" dirty="0" smtClean="0">
                <a:latin typeface="Helvetica" pitchFamily="34" charset="0"/>
              </a:rPr>
              <a:t>Can you deal with the situation on your own?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2" descr="C:\Documents and Settings\danielc\Local Settings\Temporary Internet Files\Content.IE5\3Y3SDCJX\MC900240381[1].wmf"/>
          <p:cNvPicPr>
            <a:picLocks noChangeAspect="1" noChangeArrowheads="1"/>
          </p:cNvPicPr>
          <p:nvPr/>
        </p:nvPicPr>
        <p:blipFill>
          <a:blip r:embed="rId3" cstate="print"/>
          <a:srcRect/>
          <a:stretch>
            <a:fillRect/>
          </a:stretch>
        </p:blipFill>
        <p:spPr bwMode="auto">
          <a:xfrm>
            <a:off x="5072066" y="3857628"/>
            <a:ext cx="1848917" cy="1596542"/>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nature and scope of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81350" y="1903433"/>
            <a:ext cx="7776864" cy="4525963"/>
          </a:xfrm>
        </p:spPr>
        <p:txBody>
          <a:bodyPr>
            <a:normAutofit/>
          </a:bodyPr>
          <a:lstStyle/>
          <a:p>
            <a:pPr marL="360000" indent="-360000">
              <a:spcBef>
                <a:spcPts val="600"/>
              </a:spcBef>
              <a:spcAft>
                <a:spcPts val="1200"/>
              </a:spcAft>
            </a:pPr>
            <a:r>
              <a:rPr lang="en-US" sz="2200" dirty="0" smtClean="0">
                <a:latin typeface="Helvetica" pitchFamily="34" charset="0"/>
              </a:rPr>
              <a:t>What are others doing?</a:t>
            </a:r>
          </a:p>
          <a:p>
            <a:pPr marL="360000" indent="-360000">
              <a:spcBef>
                <a:spcPts val="600"/>
              </a:spcBef>
              <a:spcAft>
                <a:spcPts val="1200"/>
              </a:spcAft>
            </a:pPr>
            <a:r>
              <a:rPr lang="en-US" sz="2200" dirty="0" smtClean="0">
                <a:latin typeface="Helvetica" pitchFamily="34" charset="0"/>
              </a:rPr>
              <a:t>How are others behaving?</a:t>
            </a:r>
          </a:p>
          <a:p>
            <a:pPr marL="360000" indent="-360000">
              <a:spcBef>
                <a:spcPts val="600"/>
              </a:spcBef>
              <a:spcAft>
                <a:spcPts val="1200"/>
              </a:spcAft>
            </a:pPr>
            <a:r>
              <a:rPr lang="en-US" sz="2200" dirty="0" smtClean="0">
                <a:latin typeface="Helvetica" pitchFamily="34" charset="0"/>
              </a:rPr>
              <a:t>What other factors could impact or make matters worse?</a:t>
            </a:r>
          </a:p>
          <a:p>
            <a:pPr marL="360000" indent="-360000">
              <a:spcBef>
                <a:spcPts val="600"/>
              </a:spcBef>
              <a:spcAft>
                <a:spcPts val="1200"/>
              </a:spcAft>
            </a:pPr>
            <a:endParaRPr lang="en-US" sz="2200" dirty="0" smtClean="0">
              <a:latin typeface="Helvetica" pitchFamily="34" charset="0"/>
            </a:endParaRPr>
          </a:p>
          <a:p>
            <a:pPr marL="360000" indent="-360000" algn="ctr">
              <a:spcBef>
                <a:spcPts val="600"/>
              </a:spcBef>
              <a:spcAft>
                <a:spcPts val="1200"/>
              </a:spcAft>
              <a:buNone/>
            </a:pPr>
            <a:r>
              <a:rPr lang="en-US" sz="2200" dirty="0" smtClean="0">
                <a:latin typeface="Helvetica" pitchFamily="34" charset="0"/>
              </a:rPr>
              <a:t>Always adopt ‘worse case’ scenario.</a:t>
            </a:r>
          </a:p>
          <a:p>
            <a:pPr marL="360000" indent="-360000" algn="ctr">
              <a:spcBef>
                <a:spcPts val="600"/>
              </a:spcBef>
              <a:spcAft>
                <a:spcPts val="1200"/>
              </a:spcAft>
              <a:buNone/>
            </a:pPr>
            <a:r>
              <a:rPr lang="en-US" sz="2200" dirty="0" smtClean="0">
                <a:latin typeface="Helvetica" pitchFamily="34" charset="0"/>
              </a:rPr>
              <a:t>It is best to call for help before taking any other action.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3" descr="C:\Documents and Settings\danielc\Local Settings\Temporary Internet Files\Content.IE5\UMECW9PM\MP900439332[1].jpg"/>
          <p:cNvPicPr>
            <a:picLocks noChangeAspect="1" noChangeArrowheads="1"/>
          </p:cNvPicPr>
          <p:nvPr/>
        </p:nvPicPr>
        <p:blipFill>
          <a:blip r:embed="rId3" cstate="print"/>
          <a:srcRect/>
          <a:stretch>
            <a:fillRect/>
          </a:stretch>
        </p:blipFill>
        <p:spPr bwMode="auto">
          <a:xfrm>
            <a:off x="5715008" y="1428736"/>
            <a:ext cx="2200268" cy="1473132"/>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Ways to contact emergency services:</a:t>
            </a:r>
          </a:p>
          <a:p>
            <a:pPr marL="360000" indent="-360000">
              <a:spcBef>
                <a:spcPts val="600"/>
              </a:spcBef>
              <a:spcAft>
                <a:spcPts val="1200"/>
              </a:spcAft>
            </a:pPr>
            <a:r>
              <a:rPr lang="en-US" sz="2200" dirty="0" smtClean="0">
                <a:latin typeface="Helvetica" pitchFamily="34" charset="0"/>
              </a:rPr>
              <a:t>By landline or cell phone</a:t>
            </a:r>
          </a:p>
          <a:p>
            <a:pPr marL="360000" indent="-360000">
              <a:spcBef>
                <a:spcPts val="600"/>
              </a:spcBef>
              <a:spcAft>
                <a:spcPts val="1200"/>
              </a:spcAft>
            </a:pPr>
            <a:r>
              <a:rPr lang="en-US" sz="2200" dirty="0" smtClean="0">
                <a:latin typeface="Helvetica" pitchFamily="34" charset="0"/>
              </a:rPr>
              <a:t>Using direct line</a:t>
            </a:r>
          </a:p>
          <a:p>
            <a:pPr marL="360000" indent="-360000">
              <a:spcBef>
                <a:spcPts val="600"/>
              </a:spcBef>
              <a:spcAft>
                <a:spcPts val="1200"/>
              </a:spcAft>
            </a:pPr>
            <a:r>
              <a:rPr lang="en-US" sz="2200" dirty="0" smtClean="0">
                <a:latin typeface="Helvetica" pitchFamily="34" charset="0"/>
              </a:rPr>
              <a:t>Notify management</a:t>
            </a:r>
          </a:p>
          <a:p>
            <a:pPr marL="360000" indent="-360000">
              <a:spcBef>
                <a:spcPts val="600"/>
              </a:spcBef>
              <a:spcAft>
                <a:spcPts val="1200"/>
              </a:spcAft>
            </a:pPr>
            <a:r>
              <a:rPr lang="en-US" sz="2200" dirty="0" smtClean="0">
                <a:latin typeface="Helvetica" pitchFamily="34" charset="0"/>
              </a:rPr>
              <a:t>Activate an alarm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11266" name="Picture 2" descr="C:\Documents and Settings\danielc\Desktop\images\Maintain the security of premises and property imgs\35777_break_in_emergency.jpg"/>
          <p:cNvPicPr>
            <a:picLocks noChangeAspect="1" noChangeArrowheads="1"/>
          </p:cNvPicPr>
          <p:nvPr/>
        </p:nvPicPr>
        <p:blipFill>
          <a:blip r:embed="rId3" cstate="print"/>
          <a:srcRect/>
          <a:stretch>
            <a:fillRect/>
          </a:stretch>
        </p:blipFill>
        <p:spPr bwMode="auto">
          <a:xfrm>
            <a:off x="6143636" y="2143116"/>
            <a:ext cx="1762596" cy="2360620"/>
          </a:xfrm>
          <a:prstGeom prst="rect">
            <a:avLst/>
          </a:prstGeom>
          <a:noFill/>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Emergency services telephone numbers:</a:t>
            </a:r>
          </a:p>
          <a:p>
            <a:pPr marL="360000" indent="-360000">
              <a:spcBef>
                <a:spcPts val="600"/>
              </a:spcBef>
              <a:spcAft>
                <a:spcPts val="1200"/>
              </a:spcAft>
            </a:pPr>
            <a:r>
              <a:rPr lang="en-US" sz="2200" dirty="0" smtClean="0">
                <a:latin typeface="Helvetica" pitchFamily="34" charset="0"/>
              </a:rPr>
              <a:t>Know them in advance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National or local number?</a:t>
            </a:r>
          </a:p>
          <a:p>
            <a:pPr marL="360000" indent="-360000">
              <a:spcBef>
                <a:spcPts val="600"/>
              </a:spcBef>
              <a:spcAft>
                <a:spcPts val="1200"/>
              </a:spcAft>
            </a:pPr>
            <a:r>
              <a:rPr lang="en-US" sz="2200" dirty="0" smtClean="0">
                <a:latin typeface="Helvetica" pitchFamily="34" charset="0"/>
              </a:rPr>
              <a:t>Post numbers near telephones</a:t>
            </a:r>
          </a:p>
          <a:p>
            <a:pPr marL="360000" indent="-360000">
              <a:spcBef>
                <a:spcPts val="600"/>
              </a:spcBef>
              <a:spcAft>
                <a:spcPts val="1200"/>
              </a:spcAft>
            </a:pPr>
            <a:r>
              <a:rPr lang="en-US" sz="2200" dirty="0" smtClean="0">
                <a:latin typeface="Helvetica" pitchFamily="34" charset="0"/>
              </a:rPr>
              <a:t>Enter into cell phones</a:t>
            </a:r>
          </a:p>
          <a:p>
            <a:pPr marL="360000" indent="-360000">
              <a:spcBef>
                <a:spcPts val="600"/>
              </a:spcBef>
              <a:spcAft>
                <a:spcPts val="1200"/>
              </a:spcAft>
            </a:pPr>
            <a:r>
              <a:rPr lang="en-US" sz="2200" dirty="0" smtClean="0">
                <a:latin typeface="Helvetica" pitchFamily="34" charset="0"/>
              </a:rPr>
              <a:t>Enter into speed-dialing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C:\Documents and Settings\danielc\Local Settings\Temporary Internet Files\Content.IE5\3DV3UKH9\MP900341772[1].jpg"/>
          <p:cNvPicPr/>
          <p:nvPr/>
        </p:nvPicPr>
        <p:blipFill>
          <a:blip r:embed="rId3" cstate="print"/>
          <a:srcRect/>
          <a:stretch>
            <a:fillRect/>
          </a:stretch>
        </p:blipFill>
        <p:spPr bwMode="auto">
          <a:xfrm>
            <a:off x="7000892" y="2500306"/>
            <a:ext cx="1242664" cy="1750741"/>
          </a:xfrm>
          <a:prstGeom prst="rect">
            <a:avLst/>
          </a:prstGeom>
          <a:noFill/>
          <a:ln w="9525">
            <a:noFill/>
            <a:miter lim="800000"/>
            <a:headEnd/>
            <a:tailEnd/>
          </a:ln>
        </p:spPr>
      </p:pic>
      <p:pic>
        <p:nvPicPr>
          <p:cNvPr id="6" name="Picture 2" descr="C:\Documents and Settings\danielc\Local Settings\Temporary Internet Files\Content.IE5\3Y3SDCJX\MP900438763[1].jpg"/>
          <p:cNvPicPr>
            <a:picLocks noChangeAspect="1" noChangeArrowheads="1"/>
          </p:cNvPicPr>
          <p:nvPr/>
        </p:nvPicPr>
        <p:blipFill>
          <a:blip r:embed="rId4" cstate="print"/>
          <a:srcRect/>
          <a:stretch>
            <a:fillRect/>
          </a:stretch>
        </p:blipFill>
        <p:spPr bwMode="auto">
          <a:xfrm>
            <a:off x="5374392" y="3643314"/>
            <a:ext cx="1588474" cy="1214430"/>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telephoning to report an emergency:</a:t>
            </a:r>
          </a:p>
          <a:p>
            <a:pPr marL="360000" indent="-360000">
              <a:spcBef>
                <a:spcPts val="600"/>
              </a:spcBef>
              <a:spcAft>
                <a:spcPts val="1200"/>
              </a:spcAft>
            </a:pPr>
            <a:r>
              <a:rPr lang="en-US" sz="2200" dirty="0" smtClean="0">
                <a:latin typeface="Helvetica" pitchFamily="34" charset="0"/>
              </a:rPr>
              <a:t>Identify yourself, position and venue location</a:t>
            </a:r>
          </a:p>
          <a:p>
            <a:pPr marL="360000" indent="-360000">
              <a:spcBef>
                <a:spcPts val="600"/>
              </a:spcBef>
              <a:spcAft>
                <a:spcPts val="1200"/>
              </a:spcAft>
            </a:pPr>
            <a:r>
              <a:rPr lang="en-US" sz="2200" dirty="0" smtClean="0">
                <a:latin typeface="Helvetica" pitchFamily="34" charset="0"/>
              </a:rPr>
              <a:t>Say you want to report an emergency</a:t>
            </a:r>
          </a:p>
          <a:p>
            <a:pPr marL="360000" indent="-360000">
              <a:spcBef>
                <a:spcPts val="600"/>
              </a:spcBef>
              <a:spcAft>
                <a:spcPts val="1200"/>
              </a:spcAft>
            </a:pPr>
            <a:r>
              <a:rPr lang="en-US" sz="2200" dirty="0" smtClean="0">
                <a:latin typeface="Helvetica" pitchFamily="34" charset="0"/>
              </a:rPr>
              <a:t>Describe the emergency</a:t>
            </a:r>
          </a:p>
          <a:p>
            <a:pPr marL="360000" indent="-360000">
              <a:spcBef>
                <a:spcPts val="600"/>
              </a:spcBef>
              <a:spcAft>
                <a:spcPts val="1200"/>
              </a:spcAft>
            </a:pPr>
            <a:r>
              <a:rPr lang="en-US" sz="2200" dirty="0" smtClean="0">
                <a:latin typeface="Helvetica" pitchFamily="34" charset="0"/>
              </a:rPr>
              <a:t>Be guided by the operator</a:t>
            </a:r>
          </a:p>
          <a:p>
            <a:pPr marL="360000" indent="-360000">
              <a:spcBef>
                <a:spcPts val="600"/>
              </a:spcBef>
              <a:spcAft>
                <a:spcPts val="1200"/>
              </a:spcAft>
            </a:pPr>
            <a:r>
              <a:rPr lang="en-US" sz="2200" dirty="0" smtClean="0">
                <a:latin typeface="Helvetica" pitchFamily="34" charset="0"/>
              </a:rPr>
              <a:t>Give location of the emergency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2" descr="C:\Documents and Settings\danielc\Desktop\Maintain the security of premises and property imgs\freeimage-4272168.jpg"/>
          <p:cNvPicPr>
            <a:picLocks noChangeAspect="1" noChangeArrowheads="1"/>
          </p:cNvPicPr>
          <p:nvPr/>
        </p:nvPicPr>
        <p:blipFill>
          <a:blip r:embed="rId3" cstate="print"/>
          <a:srcRect/>
          <a:stretch>
            <a:fillRect/>
          </a:stretch>
        </p:blipFill>
        <p:spPr bwMode="auto">
          <a:xfrm>
            <a:off x="6572264" y="2214554"/>
            <a:ext cx="1714512" cy="2571768"/>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Identify threat</a:t>
            </a:r>
          </a:p>
          <a:p>
            <a:pPr marL="360000" indent="-360000">
              <a:spcBef>
                <a:spcPts val="600"/>
              </a:spcBef>
              <a:spcAft>
                <a:spcPts val="1200"/>
              </a:spcAft>
            </a:pPr>
            <a:r>
              <a:rPr lang="en-US" sz="2200" dirty="0" smtClean="0">
                <a:latin typeface="Helvetica" pitchFamily="34" charset="0"/>
              </a:rPr>
              <a:t>Identify numbers involved</a:t>
            </a:r>
          </a:p>
          <a:p>
            <a:pPr marL="360000" indent="-360000">
              <a:spcBef>
                <a:spcPts val="600"/>
              </a:spcBef>
              <a:spcAft>
                <a:spcPts val="1200"/>
              </a:spcAft>
            </a:pPr>
            <a:r>
              <a:rPr lang="en-US" sz="2200" dirty="0" smtClean="0">
                <a:latin typeface="Helvetica" pitchFamily="34" charset="0"/>
              </a:rPr>
              <a:t>Describe relevant local factors</a:t>
            </a:r>
          </a:p>
          <a:p>
            <a:pPr marL="360000" indent="-360000">
              <a:spcBef>
                <a:spcPts val="600"/>
              </a:spcBef>
              <a:spcAft>
                <a:spcPts val="1200"/>
              </a:spcAft>
            </a:pPr>
            <a:r>
              <a:rPr lang="en-US" sz="2200" dirty="0" smtClean="0">
                <a:latin typeface="Helvetica" pitchFamily="34" charset="0"/>
              </a:rPr>
              <a:t>Advise approach/entrance</a:t>
            </a:r>
          </a:p>
          <a:p>
            <a:pPr marL="360000" indent="-360000">
              <a:spcBef>
                <a:spcPts val="600"/>
              </a:spcBef>
              <a:spcAft>
                <a:spcPts val="1200"/>
              </a:spcAft>
            </a:pPr>
            <a:r>
              <a:rPr lang="en-US" sz="2200" dirty="0" smtClean="0">
                <a:latin typeface="Helvetica" pitchFamily="34" charset="0"/>
              </a:rPr>
              <a:t>Advise what you think is required</a:t>
            </a:r>
          </a:p>
          <a:p>
            <a:pPr marL="360000" indent="-360000">
              <a:spcBef>
                <a:spcPts val="600"/>
              </a:spcBef>
              <a:spcAft>
                <a:spcPts val="1200"/>
              </a:spcAft>
            </a:pPr>
            <a:r>
              <a:rPr lang="en-US" sz="2200" dirty="0" smtClean="0">
                <a:latin typeface="Helvetica" pitchFamily="34" charset="0"/>
              </a:rPr>
              <a:t>Do not hang up until told to do so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2" descr="C:\Documents and Settings\danielc\Desktop\Maintain the security of premises and property imgs\man on the phone.jpg"/>
          <p:cNvPicPr>
            <a:picLocks noChangeAspect="1" noChangeArrowheads="1"/>
          </p:cNvPicPr>
          <p:nvPr/>
        </p:nvPicPr>
        <p:blipFill>
          <a:blip r:embed="rId3" cstate="print"/>
          <a:srcRect/>
          <a:stretch>
            <a:fillRect/>
          </a:stretch>
        </p:blipFill>
        <p:spPr bwMode="auto">
          <a:xfrm>
            <a:off x="6786578" y="2428868"/>
            <a:ext cx="1286673" cy="1928826"/>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must discharge the roles and responsibilities for your position if an emergency arises as stated in the EMP – pre-requisites for doing this are:</a:t>
            </a:r>
          </a:p>
          <a:p>
            <a:pPr marL="360000" indent="-360000">
              <a:spcBef>
                <a:spcPts val="600"/>
              </a:spcBef>
              <a:spcAft>
                <a:spcPts val="1200"/>
              </a:spcAft>
            </a:pPr>
            <a:r>
              <a:rPr lang="en-US" sz="2200" dirty="0" smtClean="0">
                <a:latin typeface="Helvetica" pitchFamily="34" charset="0"/>
              </a:rPr>
              <a:t>Read and understand plans</a:t>
            </a:r>
          </a:p>
          <a:p>
            <a:pPr marL="360000" indent="-360000">
              <a:spcBef>
                <a:spcPts val="600"/>
              </a:spcBef>
              <a:spcAft>
                <a:spcPts val="1200"/>
              </a:spcAft>
            </a:pPr>
            <a:r>
              <a:rPr lang="en-US" sz="2200" dirty="0" smtClean="0">
                <a:latin typeface="Helvetica" pitchFamily="34" charset="0"/>
              </a:rPr>
              <a:t>Clarify anything you are unclear about</a:t>
            </a:r>
          </a:p>
          <a:p>
            <a:pPr marL="360000" indent="-360000">
              <a:spcBef>
                <a:spcPts val="600"/>
              </a:spcBef>
              <a:spcAft>
                <a:spcPts val="1200"/>
              </a:spcAft>
            </a:pPr>
            <a:r>
              <a:rPr lang="en-US" sz="2200" dirty="0" smtClean="0">
                <a:latin typeface="Helvetica" pitchFamily="34" charset="0"/>
              </a:rPr>
              <a:t>Talk to others</a:t>
            </a:r>
          </a:p>
          <a:p>
            <a:pPr marL="360000" indent="-360000">
              <a:spcBef>
                <a:spcPts val="600"/>
              </a:spcBef>
              <a:spcAft>
                <a:spcPts val="1200"/>
              </a:spcAft>
            </a:pPr>
            <a:r>
              <a:rPr lang="en-US" sz="2200" dirty="0" smtClean="0">
                <a:latin typeface="Helvetica" pitchFamily="34" charset="0"/>
              </a:rPr>
              <a:t>Take part in training and drills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2" descr="C:\Documents and Settings\danielc\Local Settings\Temporary Internet Files\Content.IE5\3DV3UKH9\MC900359487[1].wmf"/>
          <p:cNvPicPr>
            <a:picLocks noChangeAspect="1" noChangeArrowheads="1"/>
          </p:cNvPicPr>
          <p:nvPr/>
        </p:nvPicPr>
        <p:blipFill>
          <a:blip r:embed="rId3" cstate="print"/>
          <a:srcRect/>
          <a:stretch>
            <a:fillRect/>
          </a:stretch>
        </p:blipFill>
        <p:spPr bwMode="auto">
          <a:xfrm>
            <a:off x="6072198" y="3571876"/>
            <a:ext cx="1873606" cy="1388059"/>
          </a:xfrm>
          <a:prstGeom prst="rect">
            <a:avLst/>
          </a:prstGeom>
          <a:noFill/>
        </p:spPr>
      </p:pic>
      <p:pic>
        <p:nvPicPr>
          <p:cNvPr id="6" name="Picture 3" descr="C:\Documents and Settings\danielc\Local Settings\Temporary Internet Files\Content.IE5\Y88G682L\MC900431629[1].png"/>
          <p:cNvPicPr>
            <a:picLocks noChangeAspect="1" noChangeArrowheads="1"/>
          </p:cNvPicPr>
          <p:nvPr/>
        </p:nvPicPr>
        <p:blipFill>
          <a:blip r:embed="rId4" cstate="print"/>
          <a:srcRect/>
          <a:stretch>
            <a:fillRect/>
          </a:stretch>
        </p:blipFill>
        <p:spPr bwMode="auto">
          <a:xfrm>
            <a:off x="6929454" y="2643182"/>
            <a:ext cx="1714500" cy="1714500"/>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Follow EMP where applicable but use common sense – if you need to depart from the plan:</a:t>
            </a:r>
          </a:p>
          <a:p>
            <a:pPr marL="360000" indent="-360000">
              <a:spcBef>
                <a:spcPts val="600"/>
              </a:spcBef>
              <a:spcAft>
                <a:spcPts val="1200"/>
              </a:spcAft>
            </a:pPr>
            <a:r>
              <a:rPr lang="en-US" sz="2200" dirty="0" smtClean="0">
                <a:latin typeface="Helvetica" pitchFamily="34" charset="0"/>
              </a:rPr>
              <a:t>Seek approval</a:t>
            </a:r>
          </a:p>
          <a:p>
            <a:pPr marL="360000" indent="-360000">
              <a:spcBef>
                <a:spcPts val="600"/>
              </a:spcBef>
              <a:spcAft>
                <a:spcPts val="1200"/>
              </a:spcAft>
            </a:pPr>
            <a:r>
              <a:rPr lang="en-US" sz="2200" dirty="0" smtClean="0">
                <a:latin typeface="Helvetica" pitchFamily="34" charset="0"/>
              </a:rPr>
              <a:t>Aim for greatest good for the greatest </a:t>
            </a:r>
            <a:br>
              <a:rPr lang="en-US" sz="2200" dirty="0" smtClean="0">
                <a:latin typeface="Helvetica" pitchFamily="34" charset="0"/>
              </a:rPr>
            </a:br>
            <a:r>
              <a:rPr lang="en-US" sz="2200" dirty="0" smtClean="0">
                <a:latin typeface="Helvetica" pitchFamily="34" charset="0"/>
              </a:rPr>
              <a:t>number</a:t>
            </a:r>
          </a:p>
          <a:p>
            <a:pPr marL="360000" indent="-360000">
              <a:spcBef>
                <a:spcPts val="600"/>
              </a:spcBef>
              <a:spcAft>
                <a:spcPts val="1200"/>
              </a:spcAft>
            </a:pPr>
            <a:r>
              <a:rPr lang="en-US" sz="2200" dirty="0" smtClean="0">
                <a:latin typeface="Helvetica" pitchFamily="34" charset="0"/>
              </a:rPr>
              <a:t>Notify chain of command of action taken </a:t>
            </a:r>
            <a:br>
              <a:rPr lang="en-US" sz="2200" dirty="0" smtClean="0">
                <a:latin typeface="Helvetica" pitchFamily="34" charset="0"/>
              </a:rPr>
            </a:br>
            <a:r>
              <a:rPr lang="en-US" sz="2200" dirty="0" smtClean="0"/>
              <a:t>and </a:t>
            </a:r>
            <a:r>
              <a:rPr lang="en-US" sz="2200" dirty="0" smtClean="0">
                <a:latin typeface="Helvetica" pitchFamily="34" charset="0"/>
              </a:rPr>
              <a:t>or action to be taken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2" descr="C:\Documents and Settings\danielc\Desktop\Maintain the security of premises and property imgs\freeimage-78195 copy.jpg"/>
          <p:cNvPicPr>
            <a:picLocks noChangeAspect="1" noChangeArrowheads="1"/>
          </p:cNvPicPr>
          <p:nvPr/>
        </p:nvPicPr>
        <p:blipFill>
          <a:blip r:embed="rId3" cstate="print"/>
          <a:stretch>
            <a:fillRect/>
          </a:stretch>
        </p:blipFill>
        <p:spPr bwMode="auto">
          <a:xfrm>
            <a:off x="6286512" y="2857496"/>
            <a:ext cx="2168134" cy="1431083"/>
          </a:xfrm>
          <a:prstGeom prst="rect">
            <a:avLst/>
          </a:prstGeom>
          <a:noFill/>
          <a:ln>
            <a:noFill/>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Important actions:</a:t>
            </a:r>
          </a:p>
          <a:p>
            <a:pPr marL="360000" indent="-360000">
              <a:spcBef>
                <a:spcPts val="600"/>
              </a:spcBef>
              <a:spcAft>
                <a:spcPts val="1200"/>
              </a:spcAft>
            </a:pPr>
            <a:r>
              <a:rPr lang="en-US" sz="2200" dirty="0" smtClean="0">
                <a:latin typeface="Helvetica" pitchFamily="34" charset="0"/>
              </a:rPr>
              <a:t>Act quickly</a:t>
            </a:r>
          </a:p>
          <a:p>
            <a:pPr marL="360000" indent="-360000">
              <a:spcBef>
                <a:spcPts val="600"/>
              </a:spcBef>
              <a:spcAft>
                <a:spcPts val="1200"/>
              </a:spcAft>
            </a:pPr>
            <a:r>
              <a:rPr lang="en-US" sz="2200" dirty="0" smtClean="0">
                <a:latin typeface="Helvetica" pitchFamily="34" charset="0"/>
              </a:rPr>
              <a:t>Activate alarm</a:t>
            </a:r>
          </a:p>
          <a:p>
            <a:pPr marL="360000" indent="-360000">
              <a:spcBef>
                <a:spcPts val="600"/>
              </a:spcBef>
              <a:spcAft>
                <a:spcPts val="1200"/>
              </a:spcAft>
            </a:pPr>
            <a:r>
              <a:rPr lang="en-US" sz="2200" dirty="0" smtClean="0">
                <a:latin typeface="Helvetica" pitchFamily="34" charset="0"/>
              </a:rPr>
              <a:t>Notify emergency services</a:t>
            </a:r>
          </a:p>
          <a:p>
            <a:pPr marL="360000" indent="-360000">
              <a:spcBef>
                <a:spcPts val="600"/>
              </a:spcBef>
              <a:spcAft>
                <a:spcPts val="1200"/>
              </a:spcAft>
            </a:pPr>
            <a:r>
              <a:rPr lang="en-US" sz="2200" dirty="0" smtClean="0">
                <a:latin typeface="Helvetica" pitchFamily="34" charset="0"/>
              </a:rPr>
              <a:t>Contact internal person/s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2" descr="C:\Documents and Settings\danielc\Local Settings\Temporary Internet Files\Content.IE5\SIQ5KRQ3\MC900383128[1].wmf"/>
          <p:cNvPicPr>
            <a:picLocks noChangeAspect="1" noChangeArrowheads="1"/>
          </p:cNvPicPr>
          <p:nvPr/>
        </p:nvPicPr>
        <p:blipFill>
          <a:blip r:embed="rId3" cstate="print"/>
          <a:srcRect/>
          <a:stretch>
            <a:fillRect/>
          </a:stretch>
        </p:blipFill>
        <p:spPr bwMode="auto">
          <a:xfrm>
            <a:off x="5643570" y="2285992"/>
            <a:ext cx="2492194" cy="1357322"/>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t>Next </a:t>
            </a:r>
            <a:r>
              <a:rPr lang="en-US" sz="2200" dirty="0" smtClean="0">
                <a:latin typeface="Helvetica" pitchFamily="34" charset="0"/>
              </a:rPr>
              <a:t>You should:</a:t>
            </a:r>
          </a:p>
          <a:p>
            <a:pPr marL="360000" indent="-360000">
              <a:spcBef>
                <a:spcPts val="600"/>
              </a:spcBef>
              <a:spcAft>
                <a:spcPts val="1200"/>
              </a:spcAft>
            </a:pPr>
            <a:r>
              <a:rPr lang="en-US" sz="2200" dirty="0" smtClean="0">
                <a:latin typeface="Helvetica" pitchFamily="34" charset="0"/>
              </a:rPr>
              <a:t>Implement your EMP role</a:t>
            </a:r>
          </a:p>
          <a:p>
            <a:pPr marL="360000" indent="-360000">
              <a:spcBef>
                <a:spcPts val="600"/>
              </a:spcBef>
              <a:spcAft>
                <a:spcPts val="1200"/>
              </a:spcAft>
            </a:pPr>
            <a:r>
              <a:rPr lang="en-US" sz="2200" dirty="0" smtClean="0">
                <a:latin typeface="Helvetica" pitchFamily="34" charset="0"/>
              </a:rPr>
              <a:t>Assist others </a:t>
            </a:r>
          </a:p>
          <a:p>
            <a:pPr marL="360000" indent="-360000">
              <a:spcBef>
                <a:spcPts val="600"/>
              </a:spcBef>
              <a:spcAft>
                <a:spcPts val="1200"/>
              </a:spcAft>
            </a:pPr>
            <a:r>
              <a:rPr lang="en-US" sz="2200" dirty="0" smtClean="0">
                <a:latin typeface="Helvetica" pitchFamily="34" charset="0"/>
              </a:rPr>
              <a:t>Perform ‘first response’ activities</a:t>
            </a:r>
          </a:p>
          <a:p>
            <a:pPr marL="360000" indent="-360000">
              <a:spcBef>
                <a:spcPts val="600"/>
              </a:spcBef>
              <a:spcAft>
                <a:spcPts val="1200"/>
              </a:spcAft>
            </a:pPr>
            <a:r>
              <a:rPr lang="en-US" sz="2200" dirty="0" smtClean="0">
                <a:latin typeface="Helvetica" pitchFamily="34" charset="0"/>
              </a:rPr>
              <a:t>Evacuate those in danger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2" descr="C:\Documents and Settings\danielc\Local Settings\Temporary Internet Files\Content.IE5\3Y3SDCJX\MC900071004[1].wmf"/>
          <p:cNvPicPr>
            <a:picLocks noChangeAspect="1" noChangeArrowheads="1"/>
          </p:cNvPicPr>
          <p:nvPr/>
        </p:nvPicPr>
        <p:blipFill>
          <a:blip r:embed="rId3" cstate="print"/>
          <a:srcRect/>
          <a:stretch>
            <a:fillRect/>
          </a:stretch>
        </p:blipFill>
        <p:spPr bwMode="auto">
          <a:xfrm>
            <a:off x="5857884" y="2214554"/>
            <a:ext cx="1382162" cy="2068717"/>
          </a:xfrm>
          <a:prstGeom prst="rect">
            <a:avLst/>
          </a:prstGeom>
          <a:noFill/>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may be required to wear nominated clothing when an emergency is declared to indicate they are staff at the venue and what their role is.</a:t>
            </a:r>
          </a:p>
          <a:p>
            <a:pPr marL="0" indent="0">
              <a:spcBef>
                <a:spcPts val="600"/>
              </a:spcBef>
              <a:spcAft>
                <a:spcPts val="1200"/>
              </a:spcAft>
              <a:buNone/>
            </a:pPr>
            <a:r>
              <a:rPr lang="en-US" sz="2200" dirty="0" smtClean="0">
                <a:latin typeface="Helvetica" pitchFamily="34" charset="0"/>
              </a:rPr>
              <a:t>Clothing may include:</a:t>
            </a:r>
          </a:p>
          <a:p>
            <a:pPr marL="360000" indent="-360000">
              <a:spcBef>
                <a:spcPts val="600"/>
              </a:spcBef>
              <a:spcAft>
                <a:spcPts val="1200"/>
              </a:spcAft>
            </a:pPr>
            <a:r>
              <a:rPr lang="en-US" sz="2200" dirty="0" smtClean="0">
                <a:latin typeface="Helvetica" pitchFamily="34" charset="0"/>
              </a:rPr>
              <a:t>Colour-coded hard hats</a:t>
            </a:r>
          </a:p>
          <a:p>
            <a:pPr marL="360000" indent="-360000">
              <a:spcBef>
                <a:spcPts val="600"/>
              </a:spcBef>
              <a:spcAft>
                <a:spcPts val="1200"/>
              </a:spcAft>
            </a:pPr>
            <a:r>
              <a:rPr lang="en-US" sz="2200" dirty="0" smtClean="0">
                <a:latin typeface="Helvetica" pitchFamily="34" charset="0"/>
              </a:rPr>
              <a:t>Colour-coded vests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3" descr="C:\Documents and Settings\danielc\Local Settings\Temporary Internet Files\Content.IE5\SIQ5KRQ3\MP900404896[1].jpg"/>
          <p:cNvPicPr>
            <a:picLocks noChangeAspect="1" noChangeArrowheads="1"/>
          </p:cNvPicPr>
          <p:nvPr/>
        </p:nvPicPr>
        <p:blipFill>
          <a:blip r:embed="rId3" cstate="print"/>
          <a:srcRect t="6667" r="9523" b="16666"/>
          <a:stretch>
            <a:fillRect/>
          </a:stretch>
        </p:blipFill>
        <p:spPr bwMode="auto">
          <a:xfrm>
            <a:off x="6143636" y="2428868"/>
            <a:ext cx="1770420" cy="1071570"/>
          </a:xfrm>
          <a:prstGeom prst="rect">
            <a:avLst/>
          </a:prstGeom>
          <a:noFill/>
        </p:spPr>
      </p:pic>
      <p:pic>
        <p:nvPicPr>
          <p:cNvPr id="6" name="Picture 4" descr="C:\Documents and Settings\danielc\Desktop\Maintain the security of premises and property imgs\EP10G.jpg"/>
          <p:cNvPicPr>
            <a:picLocks noChangeAspect="1" noChangeArrowheads="1"/>
          </p:cNvPicPr>
          <p:nvPr/>
        </p:nvPicPr>
        <p:blipFill>
          <a:blip r:embed="rId4" cstate="print"/>
          <a:srcRect/>
          <a:stretch>
            <a:fillRect/>
          </a:stretch>
        </p:blipFill>
        <p:spPr bwMode="auto">
          <a:xfrm>
            <a:off x="6286512" y="3571876"/>
            <a:ext cx="1577667" cy="1614479"/>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Follow chain of command directions:</a:t>
            </a:r>
          </a:p>
          <a:p>
            <a:pPr marL="360000" indent="-360000">
              <a:spcBef>
                <a:spcPts val="600"/>
              </a:spcBef>
              <a:spcAft>
                <a:spcPts val="1200"/>
              </a:spcAft>
            </a:pPr>
            <a:r>
              <a:rPr lang="en-US" sz="2200" dirty="0" smtClean="0">
                <a:latin typeface="Helvetica" pitchFamily="34" charset="0"/>
              </a:rPr>
              <a:t>Promptly</a:t>
            </a:r>
          </a:p>
          <a:p>
            <a:pPr marL="360000" indent="-360000">
              <a:spcBef>
                <a:spcPts val="600"/>
              </a:spcBef>
              <a:spcAft>
                <a:spcPts val="1200"/>
              </a:spcAft>
            </a:pPr>
            <a:r>
              <a:rPr lang="en-US" sz="2200" dirty="0" smtClean="0">
                <a:latin typeface="Helvetica" pitchFamily="34" charset="0"/>
              </a:rPr>
              <a:t>Completely</a:t>
            </a:r>
          </a:p>
          <a:p>
            <a:pPr marL="360000" indent="-360000">
              <a:spcBef>
                <a:spcPts val="600"/>
              </a:spcBef>
              <a:spcAft>
                <a:spcPts val="1200"/>
              </a:spcAft>
            </a:pPr>
            <a:r>
              <a:rPr lang="en-US" sz="2200" dirty="0" smtClean="0">
                <a:latin typeface="Helvetica" pitchFamily="34" charset="0"/>
              </a:rPr>
              <a:t>Without question – unless there is good reason not to do so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2" descr="C:\Documents and Settings\danielc\Local Settings\Temporary Internet Files\Content.IE5\UMECW9PM\MC900157367[1].wmf"/>
          <p:cNvPicPr>
            <a:picLocks noChangeAspect="1" noChangeArrowheads="1"/>
          </p:cNvPicPr>
          <p:nvPr/>
        </p:nvPicPr>
        <p:blipFill>
          <a:blip r:embed="rId3" cstate="print"/>
          <a:srcRect/>
          <a:stretch>
            <a:fillRect/>
          </a:stretch>
        </p:blipFill>
        <p:spPr bwMode="auto">
          <a:xfrm>
            <a:off x="6357950" y="1214422"/>
            <a:ext cx="1438199" cy="1930300"/>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When giving instructions in an emergency situation:</a:t>
            </a:r>
          </a:p>
          <a:p>
            <a:pPr marL="360000" indent="-360000">
              <a:spcBef>
                <a:spcPts val="600"/>
              </a:spcBef>
              <a:spcAft>
                <a:spcPts val="1200"/>
              </a:spcAft>
            </a:pPr>
            <a:r>
              <a:rPr lang="en-US" sz="2200" dirty="0" smtClean="0">
                <a:latin typeface="Helvetica" pitchFamily="34" charset="0"/>
              </a:rPr>
              <a:t>Know what you are talking about</a:t>
            </a:r>
          </a:p>
          <a:p>
            <a:pPr marL="360000" indent="-360000">
              <a:spcBef>
                <a:spcPts val="600"/>
              </a:spcBef>
              <a:spcAft>
                <a:spcPts val="1200"/>
              </a:spcAft>
            </a:pPr>
            <a:r>
              <a:rPr lang="en-US" sz="2200" dirty="0" smtClean="0">
                <a:latin typeface="Helvetica" pitchFamily="34" charset="0"/>
              </a:rPr>
              <a:t>Speak clearly, calmly but with authority</a:t>
            </a:r>
          </a:p>
          <a:p>
            <a:pPr marL="360000" indent="-360000">
              <a:spcBef>
                <a:spcPts val="600"/>
              </a:spcBef>
              <a:spcAft>
                <a:spcPts val="1200"/>
              </a:spcAft>
            </a:pPr>
            <a:r>
              <a:rPr lang="en-US" sz="2200" dirty="0" smtClean="0">
                <a:latin typeface="Helvetica" pitchFamily="34" charset="0"/>
              </a:rPr>
              <a:t>Do not panic</a:t>
            </a:r>
          </a:p>
          <a:p>
            <a:pPr marL="360000" indent="-360000">
              <a:spcBef>
                <a:spcPts val="600"/>
              </a:spcBef>
              <a:spcAft>
                <a:spcPts val="1200"/>
              </a:spcAft>
            </a:pPr>
            <a:r>
              <a:rPr lang="en-US" sz="2200" dirty="0" smtClean="0">
                <a:latin typeface="Helvetica" pitchFamily="34" charset="0"/>
              </a:rPr>
              <a:t>Try not to shout</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2" descr="C:\Documents and Settings\danielc\Local Settings\Temporary Internet Files\Content.IE5\UMECW9PM\MC900071102[1].wmf"/>
          <p:cNvPicPr>
            <a:picLocks noChangeAspect="1" noChangeArrowheads="1"/>
          </p:cNvPicPr>
          <p:nvPr/>
        </p:nvPicPr>
        <p:blipFill>
          <a:blip r:embed="rId3" cstate="print"/>
          <a:srcRect/>
          <a:stretch>
            <a:fillRect/>
          </a:stretch>
        </p:blipFill>
        <p:spPr bwMode="auto">
          <a:xfrm>
            <a:off x="6072198" y="2571744"/>
            <a:ext cx="2304107" cy="2441418"/>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Exude confidence </a:t>
            </a:r>
          </a:p>
          <a:p>
            <a:pPr marL="360000" indent="-360000">
              <a:spcBef>
                <a:spcPts val="600"/>
              </a:spcBef>
              <a:spcAft>
                <a:spcPts val="1200"/>
              </a:spcAft>
            </a:pPr>
            <a:r>
              <a:rPr lang="en-US" sz="2200" dirty="0" smtClean="0">
                <a:latin typeface="Helvetica" pitchFamily="34" charset="0"/>
              </a:rPr>
              <a:t>Repeat directions/instructions</a:t>
            </a:r>
          </a:p>
          <a:p>
            <a:pPr marL="360000" indent="-360000">
              <a:spcBef>
                <a:spcPts val="600"/>
              </a:spcBef>
              <a:spcAft>
                <a:spcPts val="1200"/>
              </a:spcAft>
            </a:pPr>
            <a:r>
              <a:rPr lang="en-US" sz="2200" dirty="0" smtClean="0">
                <a:latin typeface="Helvetica" pitchFamily="34" charset="0"/>
              </a:rPr>
              <a:t>Use hand signs/signals</a:t>
            </a:r>
          </a:p>
          <a:p>
            <a:pPr marL="360000" indent="-360000">
              <a:spcBef>
                <a:spcPts val="600"/>
              </a:spcBef>
              <a:spcAft>
                <a:spcPts val="1200"/>
              </a:spcAft>
            </a:pPr>
            <a:r>
              <a:rPr lang="en-US" sz="2200" dirty="0" smtClean="0">
                <a:latin typeface="Helvetica" pitchFamily="34" charset="0"/>
              </a:rPr>
              <a:t>‘Show’ instead of just ‘telling’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2" descr="C:\Documents and Settings\danielc\Local Settings\Temporary Internet Files\Content.IE5\112MAXTI\MC900252547[1].wmf"/>
          <p:cNvPicPr>
            <a:picLocks noChangeAspect="1" noChangeArrowheads="1"/>
          </p:cNvPicPr>
          <p:nvPr/>
        </p:nvPicPr>
        <p:blipFill>
          <a:blip r:embed="rId3" cstate="print"/>
          <a:srcRect/>
          <a:stretch>
            <a:fillRect/>
          </a:stretch>
        </p:blipFill>
        <p:spPr bwMode="auto">
          <a:xfrm>
            <a:off x="6215074" y="1857364"/>
            <a:ext cx="1707185" cy="1801368"/>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Notify changed circumstances when implementing EMP:</a:t>
            </a:r>
          </a:p>
          <a:p>
            <a:pPr marL="360000" indent="-360000">
              <a:spcBef>
                <a:spcPts val="600"/>
              </a:spcBef>
              <a:spcAft>
                <a:spcPts val="1200"/>
              </a:spcAft>
            </a:pPr>
            <a:r>
              <a:rPr lang="en-US" sz="2200" dirty="0" smtClean="0">
                <a:latin typeface="Helvetica" pitchFamily="34" charset="0"/>
              </a:rPr>
              <a:t>Changes in environment</a:t>
            </a:r>
          </a:p>
          <a:p>
            <a:pPr marL="360000" indent="-360000">
              <a:spcBef>
                <a:spcPts val="600"/>
              </a:spcBef>
              <a:spcAft>
                <a:spcPts val="1200"/>
              </a:spcAft>
            </a:pPr>
            <a:r>
              <a:rPr lang="en-US" sz="2200" dirty="0" smtClean="0">
                <a:latin typeface="Helvetica" pitchFamily="34" charset="0"/>
              </a:rPr>
              <a:t>Changes in numbers involved/impacted</a:t>
            </a:r>
          </a:p>
          <a:p>
            <a:pPr marL="360000" indent="-360000">
              <a:spcBef>
                <a:spcPts val="600"/>
              </a:spcBef>
              <a:spcAft>
                <a:spcPts val="1200"/>
              </a:spcAft>
            </a:pPr>
            <a:r>
              <a:rPr lang="en-US" sz="2200" dirty="0" smtClean="0">
                <a:latin typeface="Helvetica" pitchFamily="34" charset="0"/>
              </a:rPr>
              <a:t>Failure or success of first response activities</a:t>
            </a:r>
          </a:p>
          <a:p>
            <a:pPr marL="360000" indent="-360000">
              <a:spcBef>
                <a:spcPts val="600"/>
              </a:spcBef>
              <a:spcAft>
                <a:spcPts val="1200"/>
              </a:spcAft>
            </a:pPr>
            <a:r>
              <a:rPr lang="en-US" sz="2200" dirty="0" smtClean="0">
                <a:latin typeface="Helvetica" pitchFamily="34" charset="0"/>
              </a:rPr>
              <a:t>Unexpected behaviour</a:t>
            </a:r>
            <a:br>
              <a:rPr lang="en-US" sz="2200" dirty="0" smtClean="0">
                <a:latin typeface="Helvetica" pitchFamily="34" charset="0"/>
              </a:rPr>
            </a:b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2" descr="C:\Documents and Settings\danielc\Local Settings\Temporary Internet Files\Content.IE5\3DV3UKH9\MC900282094[1].wmf"/>
          <p:cNvPicPr>
            <a:picLocks noChangeAspect="1" noChangeArrowheads="1"/>
          </p:cNvPicPr>
          <p:nvPr/>
        </p:nvPicPr>
        <p:blipFill>
          <a:blip r:embed="rId3" cstate="print"/>
          <a:srcRect/>
          <a:stretch>
            <a:fillRect/>
          </a:stretch>
        </p:blipFill>
        <p:spPr bwMode="auto">
          <a:xfrm>
            <a:off x="6929454" y="2214554"/>
            <a:ext cx="1712671" cy="1820570"/>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responding to direction given by chain of command:</a:t>
            </a:r>
          </a:p>
          <a:p>
            <a:pPr marL="360000" indent="-360000">
              <a:spcBef>
                <a:spcPts val="600"/>
              </a:spcBef>
              <a:spcAft>
                <a:spcPts val="1200"/>
              </a:spcAft>
            </a:pPr>
            <a:r>
              <a:rPr lang="en-US" sz="2200" dirty="0" smtClean="0">
                <a:latin typeface="Helvetica" pitchFamily="34" charset="0"/>
              </a:rPr>
              <a:t>Never ‘blindly obey’</a:t>
            </a:r>
          </a:p>
          <a:p>
            <a:pPr marL="360000" indent="-360000">
              <a:spcBef>
                <a:spcPts val="600"/>
              </a:spcBef>
              <a:spcAft>
                <a:spcPts val="1200"/>
              </a:spcAft>
            </a:pPr>
            <a:r>
              <a:rPr lang="en-US" sz="2200" dirty="0" smtClean="0">
                <a:latin typeface="Helvetica" pitchFamily="34" charset="0"/>
              </a:rPr>
              <a:t>Use common sense</a:t>
            </a:r>
          </a:p>
          <a:p>
            <a:pPr marL="360000" indent="-360000">
              <a:spcBef>
                <a:spcPts val="600"/>
              </a:spcBef>
              <a:spcAft>
                <a:spcPts val="1200"/>
              </a:spcAft>
            </a:pPr>
            <a:r>
              <a:rPr lang="en-US" sz="2200" dirty="0" smtClean="0">
                <a:latin typeface="Helvetica" pitchFamily="34" charset="0"/>
              </a:rPr>
              <a:t>Refuse to comply where good reason to do </a:t>
            </a:r>
            <a:br>
              <a:rPr lang="en-US" sz="2200" dirty="0" smtClean="0">
                <a:latin typeface="Helvetica" pitchFamily="34" charset="0"/>
              </a:rPr>
            </a:br>
            <a:r>
              <a:rPr lang="en-US" sz="2200" dirty="0" smtClean="0">
                <a:latin typeface="Helvetica" pitchFamily="34" charset="0"/>
              </a:rPr>
              <a:t>so exists</a:t>
            </a:r>
          </a:p>
          <a:p>
            <a:pPr marL="360000" indent="-360000">
              <a:spcBef>
                <a:spcPts val="600"/>
              </a:spcBef>
              <a:spcAft>
                <a:spcPts val="1200"/>
              </a:spcAft>
            </a:pPr>
            <a:r>
              <a:rPr lang="en-US" sz="2200" dirty="0" smtClean="0">
                <a:latin typeface="Helvetica" pitchFamily="34" charset="0"/>
              </a:rPr>
              <a:t>Advise chain of command of reasons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2" descr="C:\Documents and Settings\danielc\Local Settings\Temporary Internet Files\Content.IE5\UMECW9PM\MP900402679[1].jpg"/>
          <p:cNvPicPr>
            <a:picLocks noChangeAspect="1" noChangeArrowheads="1"/>
          </p:cNvPicPr>
          <p:nvPr/>
        </p:nvPicPr>
        <p:blipFill>
          <a:blip r:embed="rId3" cstate="print"/>
          <a:srcRect/>
          <a:stretch>
            <a:fillRect/>
          </a:stretch>
        </p:blipFill>
        <p:spPr bwMode="auto">
          <a:xfrm>
            <a:off x="6858016" y="2285992"/>
            <a:ext cx="1524755" cy="2286016"/>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Safety of people is the priority – so (for example):</a:t>
            </a:r>
          </a:p>
          <a:p>
            <a:pPr marL="360000" indent="-360000">
              <a:spcBef>
                <a:spcPts val="600"/>
              </a:spcBef>
              <a:spcAft>
                <a:spcPts val="1200"/>
              </a:spcAft>
            </a:pPr>
            <a:r>
              <a:rPr lang="en-US" sz="2200" dirty="0" smtClean="0">
                <a:latin typeface="Helvetica" pitchFamily="34" charset="0"/>
              </a:rPr>
              <a:t>Move people rather than fight the fire</a:t>
            </a:r>
          </a:p>
          <a:p>
            <a:pPr marL="360000" indent="-360000">
              <a:spcBef>
                <a:spcPts val="600"/>
              </a:spcBef>
              <a:spcAft>
                <a:spcPts val="1200"/>
              </a:spcAft>
            </a:pPr>
            <a:r>
              <a:rPr lang="en-US" sz="2200" dirty="0" smtClean="0">
                <a:latin typeface="Helvetica" pitchFamily="34" charset="0"/>
              </a:rPr>
              <a:t>Save a person instead of an animal</a:t>
            </a:r>
          </a:p>
          <a:p>
            <a:pPr marL="360000" indent="-360000">
              <a:spcBef>
                <a:spcPts val="600"/>
              </a:spcBef>
              <a:spcAft>
                <a:spcPts val="1200"/>
              </a:spcAft>
            </a:pPr>
            <a:r>
              <a:rPr lang="en-US" sz="2200" dirty="0" smtClean="0">
                <a:latin typeface="Helvetica" pitchFamily="34" charset="0"/>
              </a:rPr>
              <a:t>Protect people instead of recovering a vehicle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3" descr="C:\Documents and Settings\danielc\Local Settings\Temporary Internet Files\Content.IE5\XGIII3N1\MC900070985[1].wmf"/>
          <p:cNvPicPr>
            <a:picLocks noChangeAspect="1" noChangeArrowheads="1"/>
          </p:cNvPicPr>
          <p:nvPr/>
        </p:nvPicPr>
        <p:blipFill>
          <a:blip r:embed="rId3" cstate="print"/>
          <a:srcRect/>
          <a:stretch>
            <a:fillRect/>
          </a:stretch>
        </p:blipFill>
        <p:spPr bwMode="auto">
          <a:xfrm>
            <a:off x="7143768" y="1928802"/>
            <a:ext cx="1293715" cy="1631409"/>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Emergency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emergency services arrive – they take control.</a:t>
            </a:r>
          </a:p>
          <a:p>
            <a:pPr marL="0" indent="0">
              <a:spcBef>
                <a:spcPts val="600"/>
              </a:spcBef>
              <a:spcAft>
                <a:spcPts val="1200"/>
              </a:spcAft>
              <a:buNone/>
            </a:pPr>
            <a:r>
              <a:rPr lang="en-US" sz="2200" dirty="0" smtClean="0">
                <a:latin typeface="Helvetica" pitchFamily="34" charset="0"/>
              </a:rPr>
              <a:t>If you can help:</a:t>
            </a:r>
          </a:p>
          <a:p>
            <a:pPr marL="360000" indent="-360000">
              <a:spcBef>
                <a:spcPts val="600"/>
              </a:spcBef>
              <a:spcAft>
                <a:spcPts val="1200"/>
              </a:spcAft>
            </a:pPr>
            <a:r>
              <a:rPr lang="en-US" sz="2200" dirty="0" smtClean="0">
                <a:latin typeface="Helvetica" pitchFamily="34" charset="0"/>
              </a:rPr>
              <a:t>Ignore EMP requirements at their direction</a:t>
            </a:r>
          </a:p>
          <a:p>
            <a:pPr marL="360000" indent="-360000">
              <a:spcBef>
                <a:spcPts val="600"/>
              </a:spcBef>
              <a:spcAft>
                <a:spcPts val="1200"/>
              </a:spcAft>
            </a:pPr>
            <a:r>
              <a:rPr lang="en-US" sz="2200" dirty="0" smtClean="0">
                <a:latin typeface="Helvetica" pitchFamily="34" charset="0"/>
              </a:rPr>
              <a:t>Follow emergency services worker directions</a:t>
            </a:r>
          </a:p>
          <a:p>
            <a:pPr marL="360000" indent="-360000">
              <a:spcBef>
                <a:spcPts val="600"/>
              </a:spcBef>
              <a:spcAft>
                <a:spcPts val="1200"/>
              </a:spcAft>
            </a:pPr>
            <a:r>
              <a:rPr lang="en-US" sz="2200" dirty="0" smtClean="0">
                <a:latin typeface="Helvetica" pitchFamily="34" charset="0"/>
              </a:rPr>
              <a:t>Tell them of any special knowledge/skills you have</a:t>
            </a:r>
          </a:p>
          <a:p>
            <a:pPr marL="360000" indent="-360000">
              <a:spcBef>
                <a:spcPts val="600"/>
              </a:spcBef>
              <a:spcAft>
                <a:spcPts val="1200"/>
              </a:spcAft>
            </a:pPr>
            <a:r>
              <a:rPr lang="en-US" sz="2200" dirty="0" smtClean="0">
                <a:latin typeface="Helvetica" pitchFamily="34" charset="0"/>
              </a:rPr>
              <a:t>Leave if you cannot help</a:t>
            </a:r>
          </a:p>
          <a:p>
            <a:pPr marL="360000" indent="-360000">
              <a:spcBef>
                <a:spcPts val="600"/>
              </a:spcBef>
              <a:spcAft>
                <a:spcPts val="1200"/>
              </a:spcAft>
            </a:pPr>
            <a:r>
              <a:rPr lang="en-US" sz="2200" dirty="0" smtClean="0">
                <a:latin typeface="Helvetica" pitchFamily="34" charset="0"/>
              </a:rPr>
              <a:t>‘Support’ rather than provide first-line response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2" descr="C:\Documents and Settings\danielc\Local Settings\Temporary Internet Files\Content.IE5\Y88G682L\MC900053306[1].wmf"/>
          <p:cNvPicPr>
            <a:picLocks noChangeAspect="1" noChangeArrowheads="1"/>
          </p:cNvPicPr>
          <p:nvPr/>
        </p:nvPicPr>
        <p:blipFill>
          <a:blip r:embed="rId3" cstate="print"/>
          <a:srcRect/>
          <a:stretch>
            <a:fillRect/>
          </a:stretch>
        </p:blipFill>
        <p:spPr bwMode="auto">
          <a:xfrm>
            <a:off x="7643834" y="2643182"/>
            <a:ext cx="1285884" cy="1808555"/>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First response must always:</a:t>
            </a:r>
          </a:p>
          <a:p>
            <a:pPr marL="360000" indent="-360000">
              <a:spcBef>
                <a:spcPts val="600"/>
              </a:spcBef>
              <a:spcAft>
                <a:spcPts val="1200"/>
              </a:spcAft>
            </a:pPr>
            <a:r>
              <a:rPr lang="en-US" sz="2200" dirty="0" smtClean="0">
                <a:latin typeface="Helvetica" pitchFamily="34" charset="0"/>
              </a:rPr>
              <a:t>Be training-based</a:t>
            </a:r>
          </a:p>
          <a:p>
            <a:pPr marL="360000" indent="-360000">
              <a:spcBef>
                <a:spcPts val="600"/>
              </a:spcBef>
              <a:spcAft>
                <a:spcPts val="1200"/>
              </a:spcAft>
            </a:pPr>
            <a:r>
              <a:rPr lang="en-US" sz="2200" dirty="0" smtClean="0">
                <a:latin typeface="Helvetica" pitchFamily="34" charset="0"/>
              </a:rPr>
              <a:t>Reflect the nature and requirements of the specific emergency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2" descr="C:\Documents and Settings\danielc\Local Settings\Temporary Internet Files\Content.IE5\SIQ5KRQ3\MC900431596[1].png"/>
          <p:cNvPicPr>
            <a:picLocks noChangeAspect="1" noChangeArrowheads="1"/>
          </p:cNvPicPr>
          <p:nvPr/>
        </p:nvPicPr>
        <p:blipFill>
          <a:blip r:embed="rId3" cstate="print"/>
          <a:srcRect/>
          <a:stretch>
            <a:fillRect/>
          </a:stretch>
        </p:blipFill>
        <p:spPr bwMode="auto">
          <a:xfrm>
            <a:off x="2695536" y="4529386"/>
            <a:ext cx="1471382" cy="1471382"/>
          </a:xfrm>
          <a:prstGeom prst="rect">
            <a:avLst/>
          </a:prstGeom>
          <a:noFill/>
        </p:spPr>
      </p:pic>
      <p:pic>
        <p:nvPicPr>
          <p:cNvPr id="12290" name="Picture 2" descr="C:\Documents and Settings\danielc\Local Settings\Temporary Internet Files\Content.IE5\XGIII3N1\MC900359037[1].wmf"/>
          <p:cNvPicPr>
            <a:picLocks noChangeAspect="1" noChangeArrowheads="1"/>
          </p:cNvPicPr>
          <p:nvPr/>
        </p:nvPicPr>
        <p:blipFill>
          <a:blip r:embed="rId4" cstate="print"/>
          <a:srcRect/>
          <a:stretch>
            <a:fillRect/>
          </a:stretch>
        </p:blipFill>
        <p:spPr bwMode="auto">
          <a:xfrm>
            <a:off x="4267172" y="4386510"/>
            <a:ext cx="1805026" cy="1588313"/>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Generic first response requirements:</a:t>
            </a:r>
          </a:p>
          <a:p>
            <a:pPr marL="360000" indent="-360000">
              <a:spcBef>
                <a:spcPts val="600"/>
              </a:spcBef>
              <a:spcAft>
                <a:spcPts val="1200"/>
              </a:spcAft>
            </a:pPr>
            <a:r>
              <a:rPr lang="en-US" sz="2200" dirty="0" smtClean="0">
                <a:latin typeface="Helvetica" pitchFamily="34" charset="0"/>
              </a:rPr>
              <a:t>Follow the plan</a:t>
            </a:r>
          </a:p>
          <a:p>
            <a:pPr marL="360000" indent="-360000">
              <a:spcBef>
                <a:spcPts val="600"/>
              </a:spcBef>
              <a:spcAft>
                <a:spcPts val="1200"/>
              </a:spcAft>
            </a:pPr>
            <a:r>
              <a:rPr lang="en-US" sz="2200" dirty="0" smtClean="0">
                <a:latin typeface="Helvetica" pitchFamily="34" charset="0"/>
              </a:rPr>
              <a:t>Respond quickly</a:t>
            </a:r>
          </a:p>
          <a:p>
            <a:pPr marL="360000" indent="-360000">
              <a:spcBef>
                <a:spcPts val="600"/>
              </a:spcBef>
              <a:spcAft>
                <a:spcPts val="1200"/>
              </a:spcAft>
            </a:pPr>
            <a:r>
              <a:rPr lang="en-US" sz="2200" dirty="0" smtClean="0">
                <a:latin typeface="Helvetica" pitchFamily="34" charset="0"/>
              </a:rPr>
              <a:t>Check others have been notified so you </a:t>
            </a:r>
            <a:br>
              <a:rPr lang="en-US" sz="2200" dirty="0" smtClean="0">
                <a:latin typeface="Helvetica" pitchFamily="34" charset="0"/>
              </a:rPr>
            </a:br>
            <a:r>
              <a:rPr lang="en-US" sz="2200" dirty="0" smtClean="0">
                <a:latin typeface="Helvetica" pitchFamily="34" charset="0"/>
              </a:rPr>
              <a:t>know help is on the way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13314" name="Picture 2" descr="C:\Documents and Settings\danielc\Local Settings\Temporary Internet Files\Content.IE5\Y88G682L\MC900365642[1].wmf"/>
          <p:cNvPicPr>
            <a:picLocks noChangeAspect="1" noChangeArrowheads="1"/>
          </p:cNvPicPr>
          <p:nvPr/>
        </p:nvPicPr>
        <p:blipFill>
          <a:blip r:embed="rId3" cstate="print"/>
          <a:srcRect/>
          <a:stretch>
            <a:fillRect/>
          </a:stretch>
        </p:blipFill>
        <p:spPr bwMode="auto">
          <a:xfrm>
            <a:off x="6429388" y="4071942"/>
            <a:ext cx="1685995" cy="1686838"/>
          </a:xfrm>
          <a:prstGeom prst="rect">
            <a:avLst/>
          </a:prstGeom>
          <a:noFill/>
        </p:spPr>
      </p:pic>
      <p:pic>
        <p:nvPicPr>
          <p:cNvPr id="6" name="Picture 2" descr="C:\Documents and Settings\danielc\Local Settings\Temporary Internet Files\Content.IE5\3Y3SDCJX\MP900185048[1].jpg"/>
          <p:cNvPicPr>
            <a:picLocks noChangeAspect="1" noChangeArrowheads="1"/>
          </p:cNvPicPr>
          <p:nvPr/>
        </p:nvPicPr>
        <p:blipFill>
          <a:blip r:embed="rId4" cstate="print"/>
          <a:srcRect/>
          <a:stretch>
            <a:fillRect/>
          </a:stretch>
        </p:blipFill>
        <p:spPr bwMode="auto">
          <a:xfrm>
            <a:off x="6429388" y="1500174"/>
            <a:ext cx="1680586" cy="2514592"/>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Stay calm</a:t>
            </a:r>
          </a:p>
          <a:p>
            <a:pPr marL="360000" indent="-360000">
              <a:spcBef>
                <a:spcPts val="600"/>
              </a:spcBef>
              <a:spcAft>
                <a:spcPts val="1200"/>
              </a:spcAft>
            </a:pPr>
            <a:r>
              <a:rPr lang="en-US" sz="2200" dirty="0" smtClean="0">
                <a:latin typeface="Helvetica" pitchFamily="34" charset="0"/>
              </a:rPr>
              <a:t>Take action – see following slides</a:t>
            </a:r>
          </a:p>
          <a:p>
            <a:pPr marL="360000" indent="-360000">
              <a:spcBef>
                <a:spcPts val="600"/>
              </a:spcBef>
              <a:spcAft>
                <a:spcPts val="1200"/>
              </a:spcAft>
            </a:pPr>
            <a:r>
              <a:rPr lang="en-US" sz="2200" dirty="0" smtClean="0">
                <a:latin typeface="Helvetica" pitchFamily="34" charset="0"/>
              </a:rPr>
              <a:t>Continue to monitor the situation and provide </a:t>
            </a:r>
            <a:br>
              <a:rPr lang="en-US" sz="2200" dirty="0" smtClean="0">
                <a:latin typeface="Helvetica" pitchFamily="34" charset="0"/>
              </a:rPr>
            </a:br>
            <a:r>
              <a:rPr lang="en-US" sz="2200" dirty="0" smtClean="0">
                <a:latin typeface="Helvetica" pitchFamily="34" charset="0"/>
              </a:rPr>
              <a:t>updates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14338" name="Picture 2" descr="C:\Documents and Settings\danielc\Desktop\images\Maintain the security of premises and property imgs\Security guard.jpg"/>
          <p:cNvPicPr>
            <a:picLocks noChangeAspect="1" noChangeArrowheads="1"/>
          </p:cNvPicPr>
          <p:nvPr/>
        </p:nvPicPr>
        <p:blipFill>
          <a:blip r:embed="rId3" cstate="print"/>
          <a:srcRect/>
          <a:stretch>
            <a:fillRect/>
          </a:stretch>
        </p:blipFill>
        <p:spPr bwMode="auto">
          <a:xfrm>
            <a:off x="4932040" y="3645024"/>
            <a:ext cx="1476168" cy="2214252"/>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First response actions could include:</a:t>
            </a:r>
          </a:p>
          <a:p>
            <a:pPr marL="360000" indent="-360000">
              <a:spcBef>
                <a:spcPts val="600"/>
              </a:spcBef>
              <a:spcAft>
                <a:spcPts val="1200"/>
              </a:spcAft>
            </a:pPr>
            <a:r>
              <a:rPr lang="en-US" sz="2200" dirty="0" smtClean="0">
                <a:latin typeface="Helvetica" pitchFamily="34" charset="0"/>
              </a:rPr>
              <a:t>Instruct/direct staff</a:t>
            </a:r>
          </a:p>
          <a:p>
            <a:pPr marL="360000" indent="-360000">
              <a:spcBef>
                <a:spcPts val="600"/>
              </a:spcBef>
              <a:spcAft>
                <a:spcPts val="1200"/>
              </a:spcAft>
            </a:pPr>
            <a:r>
              <a:rPr lang="en-US" sz="2200" dirty="0" smtClean="0">
                <a:latin typeface="Helvetica" pitchFamily="34" charset="0"/>
              </a:rPr>
              <a:t>Initiate auxiliary power</a:t>
            </a:r>
          </a:p>
          <a:p>
            <a:pPr marL="360000" indent="-360000">
              <a:spcBef>
                <a:spcPts val="600"/>
              </a:spcBef>
              <a:spcAft>
                <a:spcPts val="1200"/>
              </a:spcAft>
            </a:pPr>
            <a:r>
              <a:rPr lang="en-US" sz="2200" dirty="0" smtClean="0">
                <a:latin typeface="Helvetica" pitchFamily="34" charset="0"/>
              </a:rPr>
              <a:t>Record what is happening</a:t>
            </a:r>
          </a:p>
          <a:p>
            <a:pPr marL="360000" indent="-360000">
              <a:spcBef>
                <a:spcPts val="600"/>
              </a:spcBef>
              <a:spcAft>
                <a:spcPts val="1200"/>
              </a:spcAft>
            </a:pPr>
            <a:r>
              <a:rPr lang="en-US" sz="2200" dirty="0" smtClean="0">
                <a:latin typeface="Helvetica" pitchFamily="34" charset="0"/>
              </a:rPr>
              <a:t>Assist patrons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descr="MP900439575[1].JPG"/>
          <p:cNvPicPr/>
          <p:nvPr/>
        </p:nvPicPr>
        <p:blipFill>
          <a:blip r:embed="rId3" cstate="print"/>
          <a:stretch>
            <a:fillRect/>
          </a:stretch>
        </p:blipFill>
        <p:spPr>
          <a:xfrm>
            <a:off x="6143636" y="2500306"/>
            <a:ext cx="1892971" cy="1500198"/>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Provide advice and direction</a:t>
            </a:r>
          </a:p>
          <a:p>
            <a:pPr marL="360000" indent="-360000">
              <a:spcBef>
                <a:spcPts val="600"/>
              </a:spcBef>
              <a:spcAft>
                <a:spcPts val="1200"/>
              </a:spcAft>
            </a:pPr>
            <a:r>
              <a:rPr lang="en-US" sz="2200" dirty="0" smtClean="0">
                <a:latin typeface="Helvetica" pitchFamily="34" charset="0"/>
              </a:rPr>
              <a:t>Conduct room and venue searches</a:t>
            </a:r>
          </a:p>
          <a:p>
            <a:pPr marL="360000" indent="-360000">
              <a:spcBef>
                <a:spcPts val="600"/>
              </a:spcBef>
              <a:spcAft>
                <a:spcPts val="1200"/>
              </a:spcAft>
            </a:pPr>
            <a:r>
              <a:rPr lang="en-US" sz="2200" dirty="0" smtClean="0">
                <a:latin typeface="Helvetica" pitchFamily="34" charset="0"/>
              </a:rPr>
              <a:t>Rescue people where safe to do so</a:t>
            </a:r>
          </a:p>
          <a:p>
            <a:pPr marL="360000" indent="-360000">
              <a:spcBef>
                <a:spcPts val="600"/>
              </a:spcBef>
              <a:spcAft>
                <a:spcPts val="1200"/>
              </a:spcAft>
            </a:pPr>
            <a:r>
              <a:rPr lang="en-US" sz="2200" dirty="0" smtClean="0">
                <a:latin typeface="Helvetica" pitchFamily="34" charset="0"/>
              </a:rPr>
              <a:t>Initiate evacuation/s</a:t>
            </a:r>
          </a:p>
          <a:p>
            <a:pPr marL="360000" indent="-360000">
              <a:spcBef>
                <a:spcPts val="600"/>
              </a:spcBef>
              <a:spcAft>
                <a:spcPts val="1200"/>
              </a:spcAft>
            </a:pPr>
            <a:r>
              <a:rPr lang="en-US" sz="2200" dirty="0" smtClean="0">
                <a:latin typeface="Helvetica" pitchFamily="34" charset="0"/>
              </a:rPr>
              <a:t>Confirm areas have been searched/are clear</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15362" name="Picture 2" descr="C:\Documents and Settings\danielc\Desktop\images\Vip photos\62877_k9_1.jpg"/>
          <p:cNvPicPr>
            <a:picLocks noChangeAspect="1" noChangeArrowheads="1"/>
          </p:cNvPicPr>
          <p:nvPr/>
        </p:nvPicPr>
        <p:blipFill>
          <a:blip r:embed="rId3" cstate="print"/>
          <a:srcRect/>
          <a:stretch>
            <a:fillRect/>
          </a:stretch>
        </p:blipFill>
        <p:spPr bwMode="auto">
          <a:xfrm>
            <a:off x="6072198" y="2000240"/>
            <a:ext cx="2166927" cy="1524072"/>
          </a:xfrm>
          <a:prstGeom prst="rect">
            <a:avLst/>
          </a:prstGeom>
          <a:noFill/>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Activate alarms</a:t>
            </a:r>
          </a:p>
          <a:p>
            <a:pPr marL="360000" indent="-360000">
              <a:spcBef>
                <a:spcPts val="600"/>
              </a:spcBef>
              <a:spcAft>
                <a:spcPts val="1200"/>
              </a:spcAft>
            </a:pPr>
            <a:r>
              <a:rPr lang="en-US" sz="2200" dirty="0" smtClean="0">
                <a:latin typeface="Helvetica" pitchFamily="34" charset="0"/>
              </a:rPr>
              <a:t>Alert patrons/guests</a:t>
            </a:r>
          </a:p>
          <a:p>
            <a:pPr marL="360000" indent="-360000">
              <a:spcBef>
                <a:spcPts val="600"/>
              </a:spcBef>
              <a:spcAft>
                <a:spcPts val="1200"/>
              </a:spcAft>
            </a:pPr>
            <a:r>
              <a:rPr lang="en-US" sz="2200" dirty="0" smtClean="0">
                <a:latin typeface="Helvetica" pitchFamily="34" charset="0"/>
              </a:rPr>
              <a:t>Provide first aid</a:t>
            </a:r>
          </a:p>
          <a:p>
            <a:pPr marL="360000" indent="-360000">
              <a:spcBef>
                <a:spcPts val="600"/>
              </a:spcBef>
              <a:spcAft>
                <a:spcPts val="1200"/>
              </a:spcAft>
            </a:pPr>
            <a:r>
              <a:rPr lang="en-US" sz="2200" dirty="0" smtClean="0">
                <a:latin typeface="Helvetica" pitchFamily="34" charset="0"/>
              </a:rPr>
              <a:t>Move people to safety</a:t>
            </a:r>
          </a:p>
          <a:p>
            <a:pPr marL="360000" indent="-360000">
              <a:spcBef>
                <a:spcPts val="600"/>
              </a:spcBef>
              <a:spcAft>
                <a:spcPts val="1200"/>
              </a:spcAft>
            </a:pPr>
            <a:r>
              <a:rPr lang="en-US" sz="2200" dirty="0" smtClean="0">
                <a:latin typeface="Helvetica" pitchFamily="34" charset="0"/>
              </a:rPr>
              <a:t>Limit damage/harm</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2" descr="C:\Documents and Settings\danielc\Local Settings\Temporary Internet Files\Content.IE5\Y88G682L\MP900341770[1].jpg"/>
          <p:cNvPicPr>
            <a:picLocks noChangeAspect="1" noChangeArrowheads="1"/>
          </p:cNvPicPr>
          <p:nvPr/>
        </p:nvPicPr>
        <p:blipFill>
          <a:blip r:embed="rId3" cstate="print"/>
          <a:srcRect/>
          <a:stretch>
            <a:fillRect/>
          </a:stretch>
        </p:blipFill>
        <p:spPr bwMode="auto">
          <a:xfrm>
            <a:off x="5572132" y="1714488"/>
            <a:ext cx="1895661" cy="2657468"/>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first response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Close supply valves and turn off power</a:t>
            </a:r>
          </a:p>
          <a:p>
            <a:pPr marL="360000" indent="-360000">
              <a:spcBef>
                <a:spcPts val="600"/>
              </a:spcBef>
              <a:spcAft>
                <a:spcPts val="1200"/>
              </a:spcAft>
            </a:pPr>
            <a:r>
              <a:rPr lang="en-US" sz="2200" dirty="0" smtClean="0">
                <a:latin typeface="Helvetica" pitchFamily="34" charset="0"/>
              </a:rPr>
              <a:t>Close doors and windows – to stop air supply to fire</a:t>
            </a:r>
          </a:p>
          <a:p>
            <a:pPr marL="360000" indent="-360000">
              <a:spcBef>
                <a:spcPts val="600"/>
              </a:spcBef>
              <a:spcAft>
                <a:spcPts val="1200"/>
              </a:spcAft>
            </a:pPr>
            <a:r>
              <a:rPr lang="en-US" sz="2200" dirty="0" smtClean="0">
                <a:latin typeface="Helvetica" pitchFamily="34" charset="0"/>
              </a:rPr>
              <a:t>Open doors and windows – to disperse gas and toxic fumes</a:t>
            </a:r>
          </a:p>
          <a:p>
            <a:pPr marL="360000" indent="-360000">
              <a:spcBef>
                <a:spcPts val="600"/>
              </a:spcBef>
              <a:spcAft>
                <a:spcPts val="1200"/>
              </a:spcAft>
            </a:pPr>
            <a:r>
              <a:rPr lang="en-US" sz="2200" dirty="0" smtClean="0">
                <a:latin typeface="Helvetica" pitchFamily="34" charset="0"/>
              </a:rPr>
              <a:t>Prepare for emergency services arrival</a:t>
            </a:r>
          </a:p>
          <a:p>
            <a:pPr marL="360000" indent="-360000">
              <a:spcBef>
                <a:spcPts val="600"/>
              </a:spcBef>
              <a:spcAft>
                <a:spcPts val="1200"/>
              </a:spcAft>
            </a:pPr>
            <a:r>
              <a:rPr lang="en-US" sz="2200" dirty="0" smtClean="0">
                <a:latin typeface="Helvetica" pitchFamily="34" charset="0"/>
              </a:rPr>
              <a:t>Assist emergency service workers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2" descr="C:\Documents and Settings\danielc\Local Settings\Temporary Internet Files\Content.IE5\UMECW9PM\MC900437575[1].wmf"/>
          <p:cNvPicPr>
            <a:picLocks noChangeAspect="1" noChangeArrowheads="1"/>
          </p:cNvPicPr>
          <p:nvPr/>
        </p:nvPicPr>
        <p:blipFill>
          <a:blip r:embed="rId3" cstate="print"/>
          <a:srcRect/>
          <a:stretch>
            <a:fillRect/>
          </a:stretch>
        </p:blipFill>
        <p:spPr bwMode="auto">
          <a:xfrm>
            <a:off x="6643702" y="3500438"/>
            <a:ext cx="1936750" cy="1181100"/>
          </a:xfrm>
          <a:prstGeom prst="rect">
            <a:avLst/>
          </a:prstGeom>
          <a:noFill/>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Maximise safety during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Personnel whose safety needs to be maximised during an emergency:</a:t>
            </a:r>
          </a:p>
          <a:p>
            <a:pPr marL="360000" indent="-360000">
              <a:spcBef>
                <a:spcPts val="600"/>
              </a:spcBef>
              <a:spcAft>
                <a:spcPts val="1200"/>
              </a:spcAft>
            </a:pPr>
            <a:r>
              <a:rPr lang="en-US" sz="2200" dirty="0" smtClean="0">
                <a:latin typeface="Helvetica" pitchFamily="34" charset="0"/>
              </a:rPr>
              <a:t>Guests and customers</a:t>
            </a:r>
          </a:p>
          <a:p>
            <a:pPr marL="360000" indent="-360000">
              <a:spcBef>
                <a:spcPts val="600"/>
              </a:spcBef>
              <a:spcAft>
                <a:spcPts val="1200"/>
              </a:spcAft>
            </a:pPr>
            <a:r>
              <a:rPr lang="en-US" sz="2200" dirty="0" smtClean="0">
                <a:latin typeface="Helvetica" pitchFamily="34" charset="0"/>
              </a:rPr>
              <a:t>Staff</a:t>
            </a:r>
          </a:p>
          <a:p>
            <a:pPr marL="360000" indent="-360000">
              <a:spcBef>
                <a:spcPts val="600"/>
              </a:spcBef>
              <a:spcAft>
                <a:spcPts val="1200"/>
              </a:spcAft>
            </a:pPr>
            <a:r>
              <a:rPr lang="en-US" sz="2200" dirty="0" smtClean="0">
                <a:latin typeface="Helvetica" pitchFamily="34" charset="0"/>
              </a:rPr>
              <a:t>Members of the public</a:t>
            </a:r>
          </a:p>
          <a:p>
            <a:pPr marL="360000" indent="-360000">
              <a:spcBef>
                <a:spcPts val="600"/>
              </a:spcBef>
              <a:spcAft>
                <a:spcPts val="1200"/>
              </a:spcAft>
            </a:pPr>
            <a:r>
              <a:rPr lang="en-US" sz="2200" dirty="0" smtClean="0">
                <a:latin typeface="Helvetica" pitchFamily="34" charset="0"/>
              </a:rPr>
              <a:t>Anyone on the premises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16386" name="Picture 2" descr="C:\Documents and Settings\danielc\Desktop\images\Vip photos\191439_games_convention_leipzig_2004.jpg"/>
          <p:cNvPicPr>
            <a:picLocks noChangeAspect="1" noChangeArrowheads="1"/>
          </p:cNvPicPr>
          <p:nvPr/>
        </p:nvPicPr>
        <p:blipFill>
          <a:blip r:embed="rId3" cstate="print"/>
          <a:srcRect/>
          <a:stretch>
            <a:fillRect/>
          </a:stretch>
        </p:blipFill>
        <p:spPr bwMode="auto">
          <a:xfrm>
            <a:off x="5000628" y="2500306"/>
            <a:ext cx="2857500" cy="2133600"/>
          </a:xfrm>
          <a:prstGeom prst="rect">
            <a:avLst/>
          </a:prstGeom>
          <a:noFill/>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Maximise safety during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Actions which will help maximise safety of personnel:</a:t>
            </a:r>
          </a:p>
          <a:p>
            <a:pPr marL="360000" indent="-360000">
              <a:spcBef>
                <a:spcPts val="600"/>
              </a:spcBef>
              <a:spcAft>
                <a:spcPts val="1200"/>
              </a:spcAft>
            </a:pPr>
            <a:r>
              <a:rPr lang="en-US" sz="2200" dirty="0" smtClean="0">
                <a:latin typeface="Helvetica" pitchFamily="34" charset="0"/>
              </a:rPr>
              <a:t>Maintain personal safety</a:t>
            </a:r>
          </a:p>
          <a:p>
            <a:pPr marL="360000" indent="-360000">
              <a:spcBef>
                <a:spcPts val="600"/>
              </a:spcBef>
              <a:spcAft>
                <a:spcPts val="1200"/>
              </a:spcAft>
            </a:pPr>
            <a:r>
              <a:rPr lang="en-US" sz="2200" dirty="0" smtClean="0">
                <a:latin typeface="Helvetica" pitchFamily="34" charset="0"/>
              </a:rPr>
              <a:t>People must take priority over things/assets including cash</a:t>
            </a:r>
          </a:p>
          <a:p>
            <a:pPr marL="360000" indent="-360000">
              <a:spcBef>
                <a:spcPts val="600"/>
              </a:spcBef>
              <a:spcAft>
                <a:spcPts val="1200"/>
              </a:spcAft>
            </a:pPr>
            <a:r>
              <a:rPr lang="en-US" sz="2200" dirty="0" smtClean="0">
                <a:latin typeface="Helvetica" pitchFamily="34" charset="0"/>
              </a:rPr>
              <a:t>Contain the situation</a:t>
            </a:r>
          </a:p>
          <a:p>
            <a:pPr marL="360000" indent="-360000">
              <a:spcBef>
                <a:spcPts val="600"/>
              </a:spcBef>
              <a:spcAft>
                <a:spcPts val="1200"/>
              </a:spcAft>
            </a:pPr>
            <a:r>
              <a:rPr lang="en-US" sz="2200" dirty="0" smtClean="0">
                <a:latin typeface="Helvetica" pitchFamily="34" charset="0"/>
              </a:rPr>
              <a:t>Restrict access</a:t>
            </a:r>
          </a:p>
          <a:p>
            <a:pPr marL="360000" indent="-360000">
              <a:spcBef>
                <a:spcPts val="600"/>
              </a:spcBef>
              <a:spcAft>
                <a:spcPts val="1200"/>
              </a:spcAft>
            </a:pPr>
            <a:r>
              <a:rPr lang="en-US" sz="2200" dirty="0" smtClean="0">
                <a:latin typeface="Helvetica" pitchFamily="34" charset="0"/>
              </a:rPr>
              <a:t>Control access and entry points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3" descr="C:\Documents and Settings\danielc\Local Settings\Temporary Internet Files\Content.IE5\V9A2RTT8\MC900098035[1].wmf"/>
          <p:cNvPicPr>
            <a:picLocks noChangeAspect="1" noChangeArrowheads="1"/>
          </p:cNvPicPr>
          <p:nvPr/>
        </p:nvPicPr>
        <p:blipFill>
          <a:blip r:embed="rId3" cstate="print"/>
          <a:srcRect/>
          <a:stretch>
            <a:fillRect/>
          </a:stretch>
        </p:blipFill>
        <p:spPr bwMode="auto">
          <a:xfrm>
            <a:off x="6286512" y="3643314"/>
            <a:ext cx="1714500" cy="1678838"/>
          </a:xfrm>
          <a:prstGeom prst="rect">
            <a:avLst/>
          </a:prstGeom>
          <a:noFill/>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Maximise safety during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Move among and talk to people</a:t>
            </a:r>
          </a:p>
          <a:p>
            <a:pPr marL="360000" indent="-360000">
              <a:spcBef>
                <a:spcPts val="600"/>
              </a:spcBef>
              <a:spcAft>
                <a:spcPts val="1200"/>
              </a:spcAft>
            </a:pPr>
            <a:r>
              <a:rPr lang="en-US" sz="2200" dirty="0" smtClean="0">
                <a:latin typeface="Helvetica" pitchFamily="34" charset="0"/>
              </a:rPr>
              <a:t>Key off elevators</a:t>
            </a:r>
          </a:p>
          <a:p>
            <a:pPr marL="360000" indent="-360000">
              <a:spcBef>
                <a:spcPts val="600"/>
              </a:spcBef>
              <a:spcAft>
                <a:spcPts val="1200"/>
              </a:spcAft>
            </a:pPr>
            <a:r>
              <a:rPr lang="en-US" sz="2200" dirty="0" smtClean="0">
                <a:latin typeface="Helvetica" pitchFamily="34" charset="0"/>
              </a:rPr>
              <a:t>Reverse direction of escalators</a:t>
            </a:r>
          </a:p>
          <a:p>
            <a:pPr marL="360000" indent="-360000">
              <a:spcBef>
                <a:spcPts val="600"/>
              </a:spcBef>
              <a:spcAft>
                <a:spcPts val="1200"/>
              </a:spcAft>
            </a:pPr>
            <a:r>
              <a:rPr lang="en-US" sz="2200" dirty="0" smtClean="0">
                <a:latin typeface="Helvetica" pitchFamily="34" charset="0"/>
              </a:rPr>
              <a:t>Provide a physical presence</a:t>
            </a:r>
          </a:p>
          <a:p>
            <a:pPr marL="360000" indent="-360000">
              <a:spcBef>
                <a:spcPts val="600"/>
              </a:spcBef>
              <a:spcAft>
                <a:spcPts val="1200"/>
              </a:spcAft>
            </a:pPr>
            <a:r>
              <a:rPr lang="en-US" sz="2200" dirty="0" smtClean="0">
                <a:latin typeface="Helvetica" pitchFamily="34" charset="0"/>
              </a:rPr>
              <a:t>Obtain additional assistance if required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17410" name="Picture 2" descr="C:\Documents and Settings\danielc\Desktop\images\Vip photos\1063331_guard.jpg"/>
          <p:cNvPicPr>
            <a:picLocks noChangeAspect="1" noChangeArrowheads="1"/>
          </p:cNvPicPr>
          <p:nvPr/>
        </p:nvPicPr>
        <p:blipFill>
          <a:blip r:embed="rId3" cstate="print"/>
          <a:srcRect/>
          <a:stretch>
            <a:fillRect/>
          </a:stretch>
        </p:blipFill>
        <p:spPr bwMode="auto">
          <a:xfrm>
            <a:off x="6429388" y="1714488"/>
            <a:ext cx="1619248" cy="2428872"/>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Maximise safety during emergency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Verbally direct people: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Where to go/not go</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What to do/not do</a:t>
            </a:r>
          </a:p>
          <a:p>
            <a:pPr marL="360000" indent="-360000">
              <a:spcBef>
                <a:spcPts val="600"/>
              </a:spcBef>
              <a:spcAft>
                <a:spcPts val="1200"/>
              </a:spcAft>
            </a:pPr>
            <a:r>
              <a:rPr lang="en-US" sz="2200" dirty="0" smtClean="0">
                <a:latin typeface="Helvetica" pitchFamily="34" charset="0"/>
              </a:rPr>
              <a:t>Use loud hailer or PA where necessary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18434" name="Picture 2" descr="C:\Documents and Settings\danielc\Local Settings\Temporary Internet Files\Content.IE5\XGIII3N1\MC900097595[1].wmf"/>
          <p:cNvPicPr>
            <a:picLocks noChangeAspect="1" noChangeArrowheads="1"/>
          </p:cNvPicPr>
          <p:nvPr/>
        </p:nvPicPr>
        <p:blipFill>
          <a:blip r:embed="rId3" cstate="print"/>
          <a:srcRect/>
          <a:stretch>
            <a:fillRect/>
          </a:stretch>
        </p:blipFill>
        <p:spPr bwMode="auto">
          <a:xfrm>
            <a:off x="6429388" y="1643050"/>
            <a:ext cx="1765706" cy="1777594"/>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dirty="0" smtClean="0">
                <a:latin typeface="Helvetica" pitchFamily="34" charset="0"/>
              </a:rPr>
              <a:t>When responding to emergency situations:</a:t>
            </a:r>
          </a:p>
          <a:p>
            <a:pPr marL="360000" indent="-360000">
              <a:spcBef>
                <a:spcPts val="600"/>
              </a:spcBef>
              <a:spcAft>
                <a:spcPts val="1200"/>
              </a:spcAft>
            </a:pPr>
            <a:r>
              <a:rPr lang="en-AU" sz="2200" dirty="0" smtClean="0">
                <a:latin typeface="Helvetica" pitchFamily="34" charset="0"/>
              </a:rPr>
              <a:t>Never put yourself in danger</a:t>
            </a:r>
          </a:p>
          <a:p>
            <a:pPr marL="360000" indent="-360000">
              <a:spcBef>
                <a:spcPts val="600"/>
              </a:spcBef>
              <a:spcAft>
                <a:spcPts val="1200"/>
              </a:spcAft>
            </a:pPr>
            <a:r>
              <a:rPr lang="en-AU" sz="2200" dirty="0" smtClean="0">
                <a:latin typeface="Helvetica" pitchFamily="34" charset="0"/>
              </a:rPr>
              <a:t>Establish the nature and scope of the emergency</a:t>
            </a:r>
          </a:p>
          <a:p>
            <a:pPr marL="360000" indent="-360000">
              <a:spcBef>
                <a:spcPts val="600"/>
              </a:spcBef>
              <a:spcAft>
                <a:spcPts val="1200"/>
              </a:spcAft>
            </a:pPr>
            <a:r>
              <a:rPr lang="en-AU" sz="2200" dirty="0" smtClean="0">
                <a:latin typeface="Helvetica" pitchFamily="34" charset="0"/>
              </a:rPr>
              <a:t>Contact the emergency services as appropriate</a:t>
            </a:r>
          </a:p>
          <a:p>
            <a:pPr marL="360000" indent="-360000">
              <a:spcBef>
                <a:spcPts val="600"/>
              </a:spcBef>
              <a:spcAft>
                <a:spcPts val="1200"/>
              </a:spcAft>
            </a:pPr>
            <a:r>
              <a:rPr lang="en-AU" sz="2200" dirty="0" smtClean="0"/>
              <a:t>Notify internal personnel as required</a:t>
            </a:r>
          </a:p>
          <a:p>
            <a:pPr marL="360000" indent="-360000">
              <a:spcBef>
                <a:spcPts val="600"/>
              </a:spcBef>
              <a:spcAft>
                <a:spcPts val="1200"/>
              </a:spcAft>
            </a:pPr>
            <a:r>
              <a:rPr lang="en-AU" sz="2200" dirty="0" smtClean="0"/>
              <a:t>Make sure you have participated in emergency and evacuation training and drills</a:t>
            </a:r>
          </a:p>
          <a:p>
            <a:pPr marL="360000" indent="-360000">
              <a:spcBef>
                <a:spcPts val="600"/>
              </a:spcBef>
              <a:spcAft>
                <a:spcPts val="1200"/>
              </a:spcAft>
            </a:pPr>
            <a:r>
              <a:rPr lang="en-AU" sz="2200" dirty="0" smtClean="0"/>
              <a:t>Implement relevant EMP</a:t>
            </a:r>
          </a:p>
          <a:p>
            <a:pPr marL="360000" indent="-360000">
              <a:spcBef>
                <a:spcPts val="600"/>
              </a:spcBef>
              <a:spcAft>
                <a:spcPts val="1200"/>
              </a:spcAft>
              <a:buNone/>
            </a:pPr>
            <a:r>
              <a:rPr lang="en-US" sz="2200" dirty="0" smtClean="0"/>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6444208" y="1052736"/>
            <a:ext cx="1515744" cy="1500198"/>
          </a:xfrm>
          <a:prstGeom prst="rect">
            <a:avLst/>
          </a:prstGeo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lnSpcReduction="10000"/>
          </a:bodyPr>
          <a:lstStyle/>
          <a:p>
            <a:pPr marL="360000" indent="-360000">
              <a:spcBef>
                <a:spcPts val="600"/>
              </a:spcBef>
              <a:spcAft>
                <a:spcPts val="1200"/>
              </a:spcAft>
            </a:pPr>
            <a:r>
              <a:rPr lang="en-AU" sz="2200" dirty="0" smtClean="0">
                <a:latin typeface="Helvetica" pitchFamily="34" charset="0"/>
              </a:rPr>
              <a:t>Activate alarms as appropriate/necessary</a:t>
            </a:r>
          </a:p>
          <a:p>
            <a:pPr marL="360000" indent="-360000">
              <a:spcBef>
                <a:spcPts val="600"/>
              </a:spcBef>
              <a:spcAft>
                <a:spcPts val="1200"/>
              </a:spcAft>
            </a:pPr>
            <a:r>
              <a:rPr lang="en-AU" sz="2200" dirty="0" smtClean="0">
                <a:latin typeface="Helvetica" pitchFamily="34" charset="0"/>
              </a:rPr>
              <a:t>Use common sense</a:t>
            </a:r>
          </a:p>
          <a:p>
            <a:pPr marL="360000" indent="-360000">
              <a:spcBef>
                <a:spcPts val="600"/>
              </a:spcBef>
              <a:spcAft>
                <a:spcPts val="1200"/>
              </a:spcAft>
            </a:pPr>
            <a:r>
              <a:rPr lang="en-AU" sz="2200" dirty="0" smtClean="0">
                <a:latin typeface="Helvetica" pitchFamily="34" charset="0"/>
              </a:rPr>
              <a:t>Adhere to chain of command protocols</a:t>
            </a:r>
          </a:p>
          <a:p>
            <a:pPr marL="360000" indent="-360000">
              <a:spcBef>
                <a:spcPts val="600"/>
              </a:spcBef>
              <a:spcAft>
                <a:spcPts val="1200"/>
              </a:spcAft>
            </a:pPr>
            <a:r>
              <a:rPr lang="en-AU" sz="2200" dirty="0" smtClean="0"/>
              <a:t>Respond quickly</a:t>
            </a:r>
          </a:p>
          <a:p>
            <a:pPr marL="360000" indent="-360000">
              <a:spcBef>
                <a:spcPts val="600"/>
              </a:spcBef>
              <a:spcAft>
                <a:spcPts val="1200"/>
              </a:spcAft>
            </a:pPr>
            <a:r>
              <a:rPr lang="en-AU" sz="2200" dirty="0" smtClean="0"/>
              <a:t>Give clear directions to guests</a:t>
            </a:r>
          </a:p>
          <a:p>
            <a:pPr marL="360000" indent="-360000">
              <a:spcBef>
                <a:spcPts val="600"/>
              </a:spcBef>
              <a:spcAft>
                <a:spcPts val="1200"/>
              </a:spcAft>
            </a:pPr>
            <a:r>
              <a:rPr lang="en-AU" sz="2200" dirty="0" smtClean="0"/>
              <a:t>Safety of people takes priority over property</a:t>
            </a:r>
          </a:p>
          <a:p>
            <a:pPr marL="360000" indent="-360000">
              <a:spcBef>
                <a:spcPts val="600"/>
              </a:spcBef>
              <a:spcAft>
                <a:spcPts val="1200"/>
              </a:spcAft>
            </a:pPr>
            <a:r>
              <a:rPr lang="en-AU" sz="2200" dirty="0" smtClean="0"/>
              <a:t>Perform search and rescue tasks</a:t>
            </a:r>
          </a:p>
          <a:p>
            <a:pPr marL="360000" indent="-360000">
              <a:spcBef>
                <a:spcPts val="600"/>
              </a:spcBef>
              <a:spcAft>
                <a:spcPts val="1200"/>
              </a:spcAft>
            </a:pPr>
            <a:r>
              <a:rPr lang="en-AU" sz="2200" dirty="0" smtClean="0"/>
              <a:t>Take action to maximise safety of personnel</a:t>
            </a:r>
          </a:p>
          <a:p>
            <a:pPr marL="360000" indent="-360000">
              <a:spcBef>
                <a:spcPts val="600"/>
              </a:spcBef>
              <a:spcAft>
                <a:spcPts val="1200"/>
              </a:spcAft>
            </a:pPr>
            <a:r>
              <a:rPr lang="en-AU" sz="2200" dirty="0" smtClean="0"/>
              <a:t>Regular and effective communication is critical</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6715140" y="2500306"/>
            <a:ext cx="1515744" cy="1500198"/>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evacuations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marL="360000" indent="-360000">
              <a:spcBef>
                <a:spcPts val="600"/>
              </a:spcBef>
              <a:spcAft>
                <a:spcPts val="1200"/>
              </a:spcAft>
            </a:pPr>
            <a:r>
              <a:rPr lang="en-US" sz="2200" dirty="0" smtClean="0">
                <a:latin typeface="Helvetica" pitchFamily="34" charset="0"/>
              </a:rPr>
              <a:t>Adhere to the requirements of the internal Emergency Management Plan for the premises</a:t>
            </a:r>
          </a:p>
          <a:p>
            <a:pPr marL="360000" indent="-360000">
              <a:spcBef>
                <a:spcPts val="600"/>
              </a:spcBef>
              <a:spcAft>
                <a:spcPts val="1200"/>
              </a:spcAft>
            </a:pPr>
            <a:r>
              <a:rPr lang="en-US" sz="2200" dirty="0" smtClean="0">
                <a:latin typeface="Helvetica" pitchFamily="34" charset="0"/>
              </a:rPr>
              <a:t>Maintain calm</a:t>
            </a:r>
          </a:p>
          <a:p>
            <a:pPr marL="360000" indent="-360000">
              <a:spcBef>
                <a:spcPts val="600"/>
              </a:spcBef>
              <a:spcAft>
                <a:spcPts val="1200"/>
              </a:spcAft>
            </a:pPr>
            <a:r>
              <a:rPr lang="en-US" sz="2200" dirty="0" smtClean="0">
                <a:latin typeface="Helvetica" pitchFamily="34" charset="0"/>
              </a:rPr>
              <a:t>Determine the evacuation routes to be taken</a:t>
            </a:r>
          </a:p>
          <a:p>
            <a:pPr marL="360000" indent="-360000">
              <a:spcBef>
                <a:spcPts val="600"/>
              </a:spcBef>
              <a:spcAft>
                <a:spcPts val="1200"/>
              </a:spcAft>
            </a:pPr>
            <a:r>
              <a:rPr lang="en-US" sz="2200" dirty="0" smtClean="0">
                <a:latin typeface="Helvetica" pitchFamily="34" charset="0"/>
              </a:rPr>
              <a:t>Check for persons left in the premises</a:t>
            </a:r>
          </a:p>
          <a:p>
            <a:pPr marL="360000" indent="-360000">
              <a:spcBef>
                <a:spcPts val="600"/>
              </a:spcBef>
              <a:spcAft>
                <a:spcPts val="1200"/>
              </a:spcAft>
            </a:pPr>
            <a:r>
              <a:rPr lang="en-US" sz="2200" dirty="0" smtClean="0">
                <a:latin typeface="Helvetica" pitchFamily="34" charset="0"/>
              </a:rPr>
              <a:t>Account for those who have been evacuated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00694" y="2500306"/>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786050" y="300037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72264" y="357187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786446" y="414338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72264" y="4714884"/>
            <a:ext cx="399154" cy="527046"/>
          </a:xfrm>
          <a:prstGeom prst="rect">
            <a:avLst/>
          </a:prstGeom>
          <a:noFill/>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relation to EMPs:</a:t>
            </a:r>
          </a:p>
          <a:p>
            <a:pPr marL="360000" indent="-360000">
              <a:spcBef>
                <a:spcPts val="600"/>
              </a:spcBef>
              <a:spcAft>
                <a:spcPts val="1200"/>
              </a:spcAft>
            </a:pPr>
            <a:r>
              <a:rPr lang="en-US" sz="2200" dirty="0" smtClean="0">
                <a:latin typeface="Helvetica" pitchFamily="34" charset="0"/>
              </a:rPr>
              <a:t>You must implement them in the event of an emergency</a:t>
            </a:r>
          </a:p>
          <a:p>
            <a:pPr marL="360000" indent="-360000">
              <a:spcBef>
                <a:spcPts val="600"/>
              </a:spcBef>
              <a:spcAft>
                <a:spcPts val="1200"/>
              </a:spcAft>
            </a:pPr>
            <a:r>
              <a:rPr lang="en-US" sz="2200" dirty="0" smtClean="0">
                <a:latin typeface="Helvetica" pitchFamily="34" charset="0"/>
              </a:rPr>
              <a:t>They provide guidelines about action to take</a:t>
            </a:r>
          </a:p>
          <a:p>
            <a:pPr marL="360000" indent="-360000">
              <a:spcBef>
                <a:spcPts val="600"/>
              </a:spcBef>
              <a:spcAft>
                <a:spcPts val="1200"/>
              </a:spcAft>
            </a:pPr>
            <a:r>
              <a:rPr lang="en-US" sz="2200" dirty="0" smtClean="0">
                <a:latin typeface="Helvetica" pitchFamily="34" charset="0"/>
              </a:rPr>
              <a:t>Follow your workplace EMPs where they differ from these notes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19458" name="Picture 2" descr="C:\Documents and Settings\danielc\Desktop\images\Maintain the security of premises and property imgs\iStock_000010500218XSmall.jpg"/>
          <p:cNvPicPr>
            <a:picLocks noChangeAspect="1" noChangeArrowheads="1"/>
          </p:cNvPicPr>
          <p:nvPr/>
        </p:nvPicPr>
        <p:blipFill>
          <a:blip r:embed="rId3" cstate="print"/>
          <a:srcRect/>
          <a:stretch>
            <a:fillRect/>
          </a:stretch>
        </p:blipFill>
        <p:spPr bwMode="auto">
          <a:xfrm>
            <a:off x="3786182" y="4214818"/>
            <a:ext cx="2178038" cy="1744682"/>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An ‘emergency’ is:</a:t>
            </a:r>
          </a:p>
          <a:p>
            <a:pPr marL="360000" indent="-360000">
              <a:spcBef>
                <a:spcPts val="600"/>
              </a:spcBef>
              <a:spcAft>
                <a:spcPts val="1200"/>
              </a:spcAft>
            </a:pPr>
            <a:r>
              <a:rPr lang="en-US" sz="2200" dirty="0" smtClean="0">
                <a:latin typeface="Helvetica" pitchFamily="34" charset="0"/>
              </a:rPr>
              <a:t>Unforeseen</a:t>
            </a:r>
          </a:p>
          <a:p>
            <a:pPr marL="360000" indent="-360000">
              <a:spcBef>
                <a:spcPts val="600"/>
              </a:spcBef>
              <a:spcAft>
                <a:spcPts val="1200"/>
              </a:spcAft>
            </a:pPr>
            <a:r>
              <a:rPr lang="en-US" sz="2200" dirty="0" smtClean="0">
                <a:latin typeface="Helvetica" pitchFamily="34" charset="0"/>
              </a:rPr>
              <a:t>A threat</a:t>
            </a:r>
          </a:p>
          <a:p>
            <a:pPr marL="360000" indent="-360000">
              <a:spcBef>
                <a:spcPts val="600"/>
              </a:spcBef>
              <a:spcAft>
                <a:spcPts val="1200"/>
              </a:spcAft>
            </a:pPr>
            <a:r>
              <a:rPr lang="en-US" sz="2200" dirty="0" smtClean="0">
                <a:latin typeface="Helvetica" pitchFamily="34" charset="0"/>
              </a:rPr>
              <a:t>Something requiring immediate </a:t>
            </a:r>
            <a:br>
              <a:rPr lang="en-US" sz="2200" dirty="0" smtClean="0">
                <a:latin typeface="Helvetica" pitchFamily="34" charset="0"/>
              </a:rPr>
            </a:br>
            <a:r>
              <a:rPr lang="en-US" sz="2200" dirty="0" smtClean="0">
                <a:latin typeface="Helvetica" pitchFamily="34" charset="0"/>
              </a:rPr>
              <a:t>attention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20482" name="Picture 2" descr="C:\Documents and Settings\danielc\Desktop\images\Maintain the security of premises and property imgs\1135041_fire_fighting_.jpg"/>
          <p:cNvPicPr>
            <a:picLocks noChangeAspect="1" noChangeArrowheads="1"/>
          </p:cNvPicPr>
          <p:nvPr/>
        </p:nvPicPr>
        <p:blipFill>
          <a:blip r:embed="rId3" cstate="print"/>
          <a:srcRect/>
          <a:stretch>
            <a:fillRect/>
          </a:stretch>
        </p:blipFill>
        <p:spPr bwMode="auto">
          <a:xfrm>
            <a:off x="5357818" y="1643050"/>
            <a:ext cx="2857500" cy="1905000"/>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Roles of EMPs:</a:t>
            </a:r>
          </a:p>
          <a:p>
            <a:pPr marL="360000" indent="-360000">
              <a:spcBef>
                <a:spcPts val="600"/>
              </a:spcBef>
              <a:spcAft>
                <a:spcPts val="1200"/>
              </a:spcAft>
            </a:pPr>
            <a:r>
              <a:rPr lang="en-US" sz="2200" dirty="0" smtClean="0">
                <a:latin typeface="Helvetica" pitchFamily="34" charset="0"/>
              </a:rPr>
              <a:t>Guide action</a:t>
            </a:r>
          </a:p>
          <a:p>
            <a:pPr marL="360000" indent="-360000">
              <a:spcBef>
                <a:spcPts val="600"/>
              </a:spcBef>
              <a:spcAft>
                <a:spcPts val="1200"/>
              </a:spcAft>
            </a:pPr>
            <a:r>
              <a:rPr lang="en-US" sz="2200" dirty="0" smtClean="0">
                <a:latin typeface="Helvetica" pitchFamily="34" charset="0"/>
              </a:rPr>
              <a:t>Indicate </a:t>
            </a:r>
            <a:r>
              <a:rPr lang="en-US" sz="2200" b="1" dirty="0" smtClean="0">
                <a:latin typeface="Helvetica" pitchFamily="34" charset="0"/>
              </a:rPr>
              <a:t>sequence </a:t>
            </a:r>
            <a:r>
              <a:rPr lang="en-US" sz="2200" dirty="0" smtClean="0">
                <a:latin typeface="Helvetica" pitchFamily="34" charset="0"/>
              </a:rPr>
              <a:t>of action</a:t>
            </a:r>
          </a:p>
          <a:p>
            <a:pPr marL="360000" indent="-360000">
              <a:spcBef>
                <a:spcPts val="600"/>
              </a:spcBef>
              <a:spcAft>
                <a:spcPts val="1200"/>
              </a:spcAft>
            </a:pPr>
            <a:r>
              <a:rPr lang="en-US" sz="2200" dirty="0" smtClean="0">
                <a:latin typeface="Helvetica" pitchFamily="34" charset="0"/>
              </a:rPr>
              <a:t>Allocate roles and responsibilities</a:t>
            </a:r>
          </a:p>
          <a:p>
            <a:pPr marL="360000" indent="-360000">
              <a:spcBef>
                <a:spcPts val="600"/>
              </a:spcBef>
              <a:spcAft>
                <a:spcPts val="1200"/>
              </a:spcAft>
            </a:pPr>
            <a:r>
              <a:rPr lang="en-US" sz="2200" dirty="0" smtClean="0">
                <a:latin typeface="Helvetica" pitchFamily="34" charset="0"/>
              </a:rPr>
              <a:t>Provide contact details</a:t>
            </a:r>
          </a:p>
          <a:p>
            <a:pPr marL="360000" indent="-360000">
              <a:spcBef>
                <a:spcPts val="600"/>
              </a:spcBef>
              <a:spcAft>
                <a:spcPts val="1200"/>
              </a:spcAft>
            </a:pPr>
            <a:r>
              <a:rPr lang="en-US" sz="2200" dirty="0" smtClean="0">
                <a:latin typeface="Helvetica" pitchFamily="34" charset="0"/>
              </a:rPr>
              <a:t>Prescribe evacuation routes and EAPs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3" descr="C:\Documents and Settings\danielc\Local Settings\Temporary Internet Files\Content.IE5\XGIII3N1\MC900047771[1].wmf"/>
          <p:cNvPicPr>
            <a:picLocks noChangeAspect="1" noChangeArrowheads="1"/>
          </p:cNvPicPr>
          <p:nvPr/>
        </p:nvPicPr>
        <p:blipFill>
          <a:blip r:embed="rId3" cstate="print"/>
          <a:srcRect/>
          <a:stretch>
            <a:fillRect/>
          </a:stretch>
        </p:blipFill>
        <p:spPr bwMode="auto">
          <a:xfrm>
            <a:off x="5929322" y="2285992"/>
            <a:ext cx="2326234" cy="1849831"/>
          </a:xfrm>
          <a:prstGeom prst="rect">
            <a:avLst/>
          </a:prstGeom>
          <a:noFill/>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you need to implement an EMP:</a:t>
            </a:r>
          </a:p>
          <a:p>
            <a:pPr marL="360000" indent="-360000">
              <a:spcBef>
                <a:spcPts val="600"/>
              </a:spcBef>
              <a:spcAft>
                <a:spcPts val="1200"/>
              </a:spcAft>
            </a:pPr>
            <a:r>
              <a:rPr lang="en-US" sz="2200" dirty="0" smtClean="0">
                <a:latin typeface="Helvetica" pitchFamily="34" charset="0"/>
              </a:rPr>
              <a:t>Always make saving people the ‘Number One’ priority</a:t>
            </a:r>
          </a:p>
          <a:p>
            <a:pPr marL="360000" indent="-360000">
              <a:spcBef>
                <a:spcPts val="600"/>
              </a:spcBef>
              <a:spcAft>
                <a:spcPts val="1200"/>
              </a:spcAft>
            </a:pPr>
            <a:r>
              <a:rPr lang="en-US" sz="2200" dirty="0" smtClean="0">
                <a:latin typeface="Helvetica" pitchFamily="34" charset="0"/>
              </a:rPr>
              <a:t>Never put yourself or others in danger</a:t>
            </a:r>
          </a:p>
          <a:p>
            <a:pPr marL="360000" indent="-360000">
              <a:spcBef>
                <a:spcPts val="600"/>
              </a:spcBef>
              <a:spcAft>
                <a:spcPts val="1200"/>
              </a:spcAft>
            </a:pPr>
            <a:r>
              <a:rPr lang="en-US" sz="2200" dirty="0" smtClean="0">
                <a:latin typeface="Helvetica" pitchFamily="34" charset="0"/>
              </a:rPr>
              <a:t>Get help – notify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21506" name="Picture 2" descr="C:\Documents and Settings\danielc\Local Settings\Temporary Internet Files\Content.IE5\UMECW9PM\MC900230931[1].wmf"/>
          <p:cNvPicPr>
            <a:picLocks noChangeAspect="1" noChangeArrowheads="1"/>
          </p:cNvPicPr>
          <p:nvPr/>
        </p:nvPicPr>
        <p:blipFill>
          <a:blip r:embed="rId3" cstate="print"/>
          <a:srcRect/>
          <a:stretch>
            <a:fillRect/>
          </a:stretch>
        </p:blipFill>
        <p:spPr bwMode="auto">
          <a:xfrm>
            <a:off x="6429388" y="2786058"/>
            <a:ext cx="1638677" cy="2192448"/>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there is a need to evacuate:</a:t>
            </a:r>
          </a:p>
          <a:p>
            <a:pPr marL="360000" indent="-360000">
              <a:spcBef>
                <a:spcPts val="600"/>
              </a:spcBef>
              <a:spcAft>
                <a:spcPts val="1200"/>
              </a:spcAft>
            </a:pPr>
            <a:r>
              <a:rPr lang="en-US" sz="2200" dirty="0" smtClean="0">
                <a:latin typeface="Helvetica" pitchFamily="34" charset="0"/>
              </a:rPr>
              <a:t>Activate ‘Evacuate Now’ alarm</a:t>
            </a:r>
          </a:p>
          <a:p>
            <a:pPr marL="360000" indent="-360000">
              <a:spcBef>
                <a:spcPts val="600"/>
              </a:spcBef>
              <a:spcAft>
                <a:spcPts val="1200"/>
              </a:spcAft>
            </a:pPr>
            <a:r>
              <a:rPr lang="en-US" sz="2200" dirty="0" smtClean="0">
                <a:latin typeface="Helvetica" pitchFamily="34" charset="0"/>
              </a:rPr>
              <a:t>Notify emergency services</a:t>
            </a:r>
          </a:p>
          <a:p>
            <a:pPr marL="360000" indent="-360000">
              <a:spcBef>
                <a:spcPts val="600"/>
              </a:spcBef>
              <a:spcAft>
                <a:spcPts val="1200"/>
              </a:spcAft>
            </a:pPr>
            <a:r>
              <a:rPr lang="en-US" sz="2200" dirty="0" smtClean="0">
                <a:latin typeface="Helvetica" pitchFamily="34" charset="0"/>
              </a:rPr>
              <a:t>Notify designated internal personnel</a:t>
            </a:r>
          </a:p>
          <a:p>
            <a:pPr marL="360000" indent="-360000">
              <a:spcBef>
                <a:spcPts val="600"/>
              </a:spcBef>
              <a:spcAft>
                <a:spcPts val="1200"/>
              </a:spcAft>
            </a:pPr>
            <a:r>
              <a:rPr lang="en-US" sz="2200" dirty="0" smtClean="0">
                <a:latin typeface="Helvetica" pitchFamily="34" charset="0"/>
              </a:rPr>
              <a:t>Notify and assist guests/customers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3" descr="C:\Documents and Settings\danielc\Local Settings\Temporary Internet Files\Content.IE5\3DV3UKH9\MP900341706[1].jpg"/>
          <p:cNvPicPr>
            <a:picLocks noChangeAspect="1" noChangeArrowheads="1"/>
          </p:cNvPicPr>
          <p:nvPr/>
        </p:nvPicPr>
        <p:blipFill>
          <a:blip r:embed="rId3" cstate="print"/>
          <a:srcRect/>
          <a:stretch>
            <a:fillRect/>
          </a:stretch>
        </p:blipFill>
        <p:spPr bwMode="auto">
          <a:xfrm>
            <a:off x="6357950" y="1785926"/>
            <a:ext cx="1712217" cy="2400304"/>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Action to notify and assist guests/customers:</a:t>
            </a:r>
          </a:p>
          <a:p>
            <a:pPr marL="360000" indent="-360000">
              <a:spcBef>
                <a:spcPts val="600"/>
              </a:spcBef>
              <a:spcAft>
                <a:spcPts val="1200"/>
              </a:spcAft>
            </a:pPr>
            <a:r>
              <a:rPr lang="en-US" sz="2200" dirty="0" smtClean="0">
                <a:latin typeface="Helvetica" pitchFamily="34" charset="0"/>
              </a:rPr>
              <a:t>Telephone the rooms</a:t>
            </a:r>
          </a:p>
          <a:p>
            <a:pPr marL="360000" indent="-360000">
              <a:spcBef>
                <a:spcPts val="600"/>
              </a:spcBef>
              <a:spcAft>
                <a:spcPts val="1200"/>
              </a:spcAft>
            </a:pPr>
            <a:r>
              <a:rPr lang="en-US" sz="2200" dirty="0" smtClean="0">
                <a:latin typeface="Helvetica" pitchFamily="34" charset="0"/>
              </a:rPr>
              <a:t>Go to individual floors and verbally advise guests</a:t>
            </a:r>
          </a:p>
          <a:p>
            <a:pPr marL="360000" indent="-360000">
              <a:spcBef>
                <a:spcPts val="600"/>
              </a:spcBef>
              <a:spcAft>
                <a:spcPts val="1200"/>
              </a:spcAft>
            </a:pPr>
            <a:r>
              <a:rPr lang="en-US" sz="2200" dirty="0" smtClean="0">
                <a:latin typeface="Helvetica" pitchFamily="34" charset="0"/>
              </a:rPr>
              <a:t> Use a megaphone</a:t>
            </a:r>
          </a:p>
          <a:p>
            <a:pPr marL="360000" indent="-360000">
              <a:spcBef>
                <a:spcPts val="600"/>
              </a:spcBef>
              <a:spcAft>
                <a:spcPts val="1200"/>
              </a:spcAft>
            </a:pPr>
            <a:r>
              <a:rPr lang="en-US" sz="2200" dirty="0" smtClean="0">
                <a:latin typeface="Helvetica" pitchFamily="34" charset="0"/>
              </a:rPr>
              <a:t>Knock on guest doors</a:t>
            </a:r>
          </a:p>
          <a:p>
            <a:pPr marL="360000" indent="-360000">
              <a:spcBef>
                <a:spcPts val="600"/>
              </a:spcBef>
              <a:spcAft>
                <a:spcPts val="1200"/>
              </a:spcAft>
            </a:pPr>
            <a:r>
              <a:rPr lang="en-US" sz="2200" dirty="0" smtClean="0">
                <a:latin typeface="Helvetica" pitchFamily="34" charset="0"/>
              </a:rPr>
              <a:t>Inspect/check nominated areas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22530" name="Picture 2" descr="C:\Documents and Settings\danielc\Local Settings\Temporary Internet Files\Content.IE5\UMECW9PM\MC900304815[1].wmf"/>
          <p:cNvPicPr>
            <a:picLocks noChangeAspect="1" noChangeArrowheads="1"/>
          </p:cNvPicPr>
          <p:nvPr/>
        </p:nvPicPr>
        <p:blipFill>
          <a:blip r:embed="rId3" cstate="print"/>
          <a:srcRect/>
          <a:stretch>
            <a:fillRect/>
          </a:stretch>
        </p:blipFill>
        <p:spPr bwMode="auto">
          <a:xfrm>
            <a:off x="6429388" y="3286124"/>
            <a:ext cx="1814979" cy="1635477"/>
          </a:xfrm>
          <a:prstGeom prst="rect">
            <a:avLst/>
          </a:prstGeom>
          <a:noFill/>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Escort people from area</a:t>
            </a:r>
          </a:p>
          <a:p>
            <a:pPr marL="360000" indent="-360000">
              <a:spcBef>
                <a:spcPts val="600"/>
              </a:spcBef>
              <a:spcAft>
                <a:spcPts val="1200"/>
              </a:spcAft>
            </a:pPr>
            <a:r>
              <a:rPr lang="en-US" sz="2200" dirty="0" smtClean="0">
                <a:latin typeface="Helvetica" pitchFamily="34" charset="0"/>
              </a:rPr>
              <a:t>Direct people where to go</a:t>
            </a:r>
          </a:p>
          <a:p>
            <a:pPr marL="360000" indent="-360000">
              <a:spcBef>
                <a:spcPts val="600"/>
              </a:spcBef>
              <a:spcAft>
                <a:spcPts val="1200"/>
              </a:spcAft>
            </a:pPr>
            <a:r>
              <a:rPr lang="en-US" sz="2200" dirty="0" smtClean="0">
                <a:latin typeface="Helvetica" pitchFamily="34" charset="0"/>
              </a:rPr>
              <a:t>Assist the disabled</a:t>
            </a:r>
          </a:p>
          <a:p>
            <a:pPr marL="360000" indent="-360000">
              <a:spcBef>
                <a:spcPts val="600"/>
              </a:spcBef>
              <a:spcAft>
                <a:spcPts val="1200"/>
              </a:spcAft>
            </a:pPr>
            <a:r>
              <a:rPr lang="en-US" sz="2200" dirty="0" smtClean="0">
                <a:latin typeface="Helvetica" pitchFamily="34" charset="0"/>
              </a:rPr>
              <a:t>Urge people to comply</a:t>
            </a:r>
          </a:p>
          <a:p>
            <a:pPr marL="360000" indent="-360000">
              <a:spcBef>
                <a:spcPts val="600"/>
              </a:spcBef>
              <a:spcAft>
                <a:spcPts val="1200"/>
              </a:spcAft>
            </a:pPr>
            <a:r>
              <a:rPr lang="en-US" sz="2200" dirty="0" smtClean="0">
                <a:latin typeface="Helvetica" pitchFamily="34" charset="0"/>
              </a:rPr>
              <a:t>Encourage people to leave personal belongings</a:t>
            </a:r>
          </a:p>
          <a:p>
            <a:pPr marL="360000" indent="-360000">
              <a:spcBef>
                <a:spcPts val="600"/>
              </a:spcBef>
              <a:spcAft>
                <a:spcPts val="1200"/>
              </a:spcAft>
            </a:pPr>
            <a:r>
              <a:rPr lang="en-US" sz="2200" dirty="0" smtClean="0">
                <a:latin typeface="Helvetica" pitchFamily="34" charset="0"/>
              </a:rPr>
              <a:t>Place safety of people above security of assets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23554" name="Picture 2" descr="C:\Documents and Settings\danielc\Local Settings\Temporary Internet Files\Content.IE5\112MAXTI\MC900326904[1].wmf"/>
          <p:cNvPicPr>
            <a:picLocks noChangeAspect="1" noChangeArrowheads="1"/>
          </p:cNvPicPr>
          <p:nvPr/>
        </p:nvPicPr>
        <p:blipFill>
          <a:blip r:embed="rId3" cstate="print"/>
          <a:srcRect/>
          <a:stretch>
            <a:fillRect/>
          </a:stretch>
        </p:blipFill>
        <p:spPr bwMode="auto">
          <a:xfrm>
            <a:off x="6215074" y="2000240"/>
            <a:ext cx="1385437" cy="1385437"/>
          </a:xfrm>
          <a:prstGeom prst="rect">
            <a:avLst/>
          </a:prstGeom>
          <a:noFill/>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terrorist attack:</a:t>
            </a:r>
          </a:p>
          <a:p>
            <a:pPr marL="360000" indent="-360000">
              <a:spcBef>
                <a:spcPts val="600"/>
              </a:spcBef>
              <a:spcAft>
                <a:spcPts val="1200"/>
              </a:spcAft>
            </a:pPr>
            <a:r>
              <a:rPr lang="en-US" sz="2200" dirty="0" smtClean="0">
                <a:latin typeface="Helvetica" pitchFamily="34" charset="0"/>
              </a:rPr>
              <a:t>Notify security</a:t>
            </a:r>
          </a:p>
          <a:p>
            <a:pPr marL="360000" indent="-360000">
              <a:spcBef>
                <a:spcPts val="600"/>
              </a:spcBef>
              <a:spcAft>
                <a:spcPts val="1200"/>
              </a:spcAft>
            </a:pPr>
            <a:r>
              <a:rPr lang="en-US" sz="2200" dirty="0" smtClean="0">
                <a:latin typeface="Helvetica" pitchFamily="34" charset="0"/>
              </a:rPr>
              <a:t>Evacuate</a:t>
            </a:r>
          </a:p>
          <a:p>
            <a:pPr marL="360000" indent="-360000">
              <a:spcBef>
                <a:spcPts val="600"/>
              </a:spcBef>
              <a:spcAft>
                <a:spcPts val="1200"/>
              </a:spcAft>
            </a:pPr>
            <a:r>
              <a:rPr lang="en-US" sz="2200" dirty="0" smtClean="0">
                <a:latin typeface="Helvetica" pitchFamily="34" charset="0"/>
              </a:rPr>
              <a:t>Shut down power and equipment</a:t>
            </a:r>
          </a:p>
          <a:p>
            <a:pPr marL="360000" indent="-360000">
              <a:spcBef>
                <a:spcPts val="600"/>
              </a:spcBef>
              <a:spcAft>
                <a:spcPts val="1200"/>
              </a:spcAft>
            </a:pPr>
            <a:r>
              <a:rPr lang="en-US" sz="2200" dirty="0" smtClean="0">
                <a:latin typeface="Helvetica" pitchFamily="34" charset="0"/>
              </a:rPr>
              <a:t>Notify adjacent properties</a:t>
            </a:r>
          </a:p>
          <a:p>
            <a:pPr marL="360000" indent="-360000">
              <a:spcBef>
                <a:spcPts val="600"/>
              </a:spcBef>
              <a:spcAft>
                <a:spcPts val="1200"/>
              </a:spcAft>
            </a:pPr>
            <a:r>
              <a:rPr lang="en-US" sz="2200" dirty="0" smtClean="0">
                <a:latin typeface="Helvetica" pitchFamily="34" charset="0"/>
              </a:rPr>
              <a:t>Maintain communication</a:t>
            </a:r>
          </a:p>
          <a:p>
            <a:pPr marL="360000" indent="-360000">
              <a:spcBef>
                <a:spcPts val="600"/>
              </a:spcBef>
              <a:spcAft>
                <a:spcPts val="1200"/>
              </a:spcAft>
            </a:pPr>
            <a:r>
              <a:rPr lang="en-US" sz="2200" dirty="0" smtClean="0">
                <a:latin typeface="Helvetica" pitchFamily="34" charset="0"/>
              </a:rPr>
              <a:t>Allow professionals to do their job</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24579" name="Picture 3" descr="C:\Documents and Settings\danielc\Local Settings\Temporary Internet Files\Content.IE5\112MAXTI\MC900056291[1].wmf"/>
          <p:cNvPicPr>
            <a:picLocks noChangeAspect="1" noChangeArrowheads="1"/>
          </p:cNvPicPr>
          <p:nvPr/>
        </p:nvPicPr>
        <p:blipFill>
          <a:blip r:embed="rId3" cstate="print"/>
          <a:srcRect/>
          <a:stretch>
            <a:fillRect/>
          </a:stretch>
        </p:blipFill>
        <p:spPr bwMode="auto">
          <a:xfrm>
            <a:off x="6286512" y="2643182"/>
            <a:ext cx="1798625" cy="1506017"/>
          </a:xfrm>
          <a:prstGeom prst="rect">
            <a:avLst/>
          </a:prstGeom>
          <a:noFill/>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an immediate threat:</a:t>
            </a:r>
          </a:p>
          <a:p>
            <a:pPr marL="360000" indent="-360000">
              <a:spcBef>
                <a:spcPts val="600"/>
              </a:spcBef>
              <a:spcAft>
                <a:spcPts val="1200"/>
              </a:spcAft>
            </a:pPr>
            <a:r>
              <a:rPr lang="en-US" sz="2200" dirty="0" smtClean="0">
                <a:latin typeface="Helvetica" pitchFamily="34" charset="0"/>
              </a:rPr>
              <a:t>Comply with what is being demanded</a:t>
            </a:r>
          </a:p>
          <a:p>
            <a:pPr marL="360000" indent="-360000">
              <a:spcBef>
                <a:spcPts val="600"/>
              </a:spcBef>
              <a:spcAft>
                <a:spcPts val="1200"/>
              </a:spcAft>
            </a:pPr>
            <a:r>
              <a:rPr lang="en-US" sz="2200" dirty="0" smtClean="0">
                <a:latin typeface="Helvetica" pitchFamily="34" charset="0"/>
              </a:rPr>
              <a:t>Notify security</a:t>
            </a:r>
          </a:p>
          <a:p>
            <a:pPr marL="360000" indent="-360000">
              <a:spcBef>
                <a:spcPts val="600"/>
              </a:spcBef>
              <a:spcAft>
                <a:spcPts val="1200"/>
              </a:spcAft>
            </a:pPr>
            <a:r>
              <a:rPr lang="en-US" sz="2200" dirty="0" smtClean="0">
                <a:latin typeface="Helvetica" pitchFamily="34" charset="0"/>
              </a:rPr>
              <a:t>Retreat</a:t>
            </a:r>
          </a:p>
          <a:p>
            <a:pPr marL="360000" indent="-360000">
              <a:spcBef>
                <a:spcPts val="600"/>
              </a:spcBef>
              <a:spcAft>
                <a:spcPts val="1200"/>
              </a:spcAft>
            </a:pPr>
            <a:r>
              <a:rPr lang="en-US" sz="2200" dirty="0" smtClean="0">
                <a:latin typeface="Helvetica" pitchFamily="34" charset="0"/>
              </a:rPr>
              <a:t>Try to end the situation</a:t>
            </a:r>
          </a:p>
          <a:p>
            <a:pPr marL="360000" indent="-360000">
              <a:spcBef>
                <a:spcPts val="600"/>
              </a:spcBef>
              <a:spcAft>
                <a:spcPts val="1200"/>
              </a:spcAft>
            </a:pPr>
            <a:r>
              <a:rPr lang="en-US" sz="2200" dirty="0" smtClean="0">
                <a:latin typeface="Helvetica" pitchFamily="34" charset="0"/>
              </a:rPr>
              <a:t>Note details of offender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20483" name="Picture 3" descr="C:\Documents and Settings\danielc\Local Settings\Temporary Internet Files\Content.IE5\M0QL8DHR\MC900436159[1].wmf"/>
          <p:cNvPicPr>
            <a:picLocks noChangeAspect="1" noChangeArrowheads="1"/>
          </p:cNvPicPr>
          <p:nvPr/>
        </p:nvPicPr>
        <p:blipFill>
          <a:blip r:embed="rId3" cstate="print"/>
          <a:srcRect/>
          <a:stretch>
            <a:fillRect/>
          </a:stretch>
        </p:blipFill>
        <p:spPr bwMode="auto">
          <a:xfrm>
            <a:off x="5357818" y="2928934"/>
            <a:ext cx="1692275" cy="1841500"/>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an assault emergency:</a:t>
            </a:r>
          </a:p>
          <a:p>
            <a:pPr marL="360000" indent="-360000">
              <a:spcBef>
                <a:spcPts val="600"/>
              </a:spcBef>
              <a:spcAft>
                <a:spcPts val="1200"/>
              </a:spcAft>
            </a:pPr>
            <a:r>
              <a:rPr lang="en-US" sz="2200" dirty="0" smtClean="0">
                <a:latin typeface="Helvetica" pitchFamily="34" charset="0"/>
              </a:rPr>
              <a:t>Call for internal assistance</a:t>
            </a:r>
          </a:p>
          <a:p>
            <a:pPr marL="360000" indent="-360000">
              <a:spcBef>
                <a:spcPts val="600"/>
              </a:spcBef>
              <a:spcAft>
                <a:spcPts val="1200"/>
              </a:spcAft>
            </a:pPr>
            <a:r>
              <a:rPr lang="en-US" sz="2200" dirty="0" smtClean="0">
                <a:latin typeface="Helvetica" pitchFamily="34" charset="0"/>
              </a:rPr>
              <a:t>Give basic first aid</a:t>
            </a:r>
          </a:p>
          <a:p>
            <a:pPr marL="360000" indent="-360000">
              <a:spcBef>
                <a:spcPts val="600"/>
              </a:spcBef>
              <a:spcAft>
                <a:spcPts val="1200"/>
              </a:spcAft>
            </a:pPr>
            <a:r>
              <a:rPr lang="en-US" sz="2200" dirty="0" smtClean="0">
                <a:latin typeface="Helvetica" pitchFamily="34" charset="0"/>
              </a:rPr>
              <a:t>Circulate description of attacker</a:t>
            </a:r>
          </a:p>
          <a:p>
            <a:pPr marL="360000" indent="-360000">
              <a:spcBef>
                <a:spcPts val="600"/>
              </a:spcBef>
              <a:spcAft>
                <a:spcPts val="1200"/>
              </a:spcAft>
            </a:pPr>
            <a:r>
              <a:rPr lang="en-US" sz="2200" dirty="0" smtClean="0">
                <a:latin typeface="Helvetica" pitchFamily="34" charset="0"/>
              </a:rPr>
              <a:t>Provide location of attacker</a:t>
            </a:r>
          </a:p>
          <a:p>
            <a:pPr marL="360000" indent="-360000">
              <a:spcBef>
                <a:spcPts val="600"/>
              </a:spcBef>
              <a:spcAft>
                <a:spcPts val="1200"/>
              </a:spcAft>
            </a:pPr>
            <a:r>
              <a:rPr lang="en-US" sz="2200" dirty="0" smtClean="0">
                <a:latin typeface="Helvetica" pitchFamily="34" charset="0"/>
              </a:rPr>
              <a:t>Implement ‘Respond to medical emergency’ EMP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21506" name="Picture 2" descr="C:\Documents and Settings\danielc\Local Settings\Temporary Internet Files\Content.IE5\0OCRPEL9\MP900422269[1].jpg"/>
          <p:cNvPicPr>
            <a:picLocks noChangeAspect="1" noChangeArrowheads="1"/>
          </p:cNvPicPr>
          <p:nvPr/>
        </p:nvPicPr>
        <p:blipFill>
          <a:blip r:embed="rId3" cstate="print"/>
          <a:srcRect/>
          <a:stretch>
            <a:fillRect/>
          </a:stretch>
        </p:blipFill>
        <p:spPr bwMode="auto">
          <a:xfrm>
            <a:off x="6286512" y="2143116"/>
            <a:ext cx="2000240" cy="2000240"/>
          </a:xfrm>
          <a:prstGeom prst="rect">
            <a:avLst/>
          </a:prstGeom>
          <a:noFill/>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fire:</a:t>
            </a:r>
          </a:p>
          <a:p>
            <a:pPr marL="360000" indent="-360000">
              <a:spcBef>
                <a:spcPts val="600"/>
              </a:spcBef>
              <a:spcAft>
                <a:spcPts val="1200"/>
              </a:spcAft>
            </a:pPr>
            <a:r>
              <a:rPr lang="en-US" sz="2200" dirty="0" smtClean="0">
                <a:latin typeface="Helvetica" pitchFamily="34" charset="0"/>
              </a:rPr>
              <a:t>Call emergency services</a:t>
            </a:r>
          </a:p>
          <a:p>
            <a:pPr marL="360000" indent="-360000">
              <a:spcBef>
                <a:spcPts val="600"/>
              </a:spcBef>
              <a:spcAft>
                <a:spcPts val="1200"/>
              </a:spcAft>
            </a:pPr>
            <a:r>
              <a:rPr lang="en-US" sz="2200" dirty="0" smtClean="0">
                <a:latin typeface="Helvetica" pitchFamily="34" charset="0"/>
              </a:rPr>
              <a:t>Implement evacuation plan</a:t>
            </a:r>
          </a:p>
          <a:p>
            <a:pPr marL="360000" indent="-360000">
              <a:spcBef>
                <a:spcPts val="600"/>
              </a:spcBef>
              <a:spcAft>
                <a:spcPts val="1200"/>
              </a:spcAft>
            </a:pPr>
            <a:r>
              <a:rPr lang="en-US" sz="2200" dirty="0" smtClean="0">
                <a:latin typeface="Helvetica" pitchFamily="34" charset="0"/>
              </a:rPr>
              <a:t>Notify neighbouring businesses </a:t>
            </a:r>
            <a:br>
              <a:rPr lang="en-US" sz="2200" dirty="0" smtClean="0">
                <a:latin typeface="Helvetica" pitchFamily="34" charset="0"/>
              </a:rPr>
            </a:br>
            <a:r>
              <a:rPr lang="en-US" sz="2200" dirty="0" smtClean="0">
                <a:latin typeface="Helvetica" pitchFamily="34" charset="0"/>
              </a:rPr>
              <a:t>and properties</a:t>
            </a:r>
          </a:p>
          <a:p>
            <a:pPr marL="360000" indent="-360000">
              <a:spcBef>
                <a:spcPts val="600"/>
              </a:spcBef>
              <a:spcAft>
                <a:spcPts val="1200"/>
              </a:spcAft>
            </a:pPr>
            <a:r>
              <a:rPr lang="en-US" sz="2200" dirty="0" smtClean="0">
                <a:latin typeface="Helvetica" pitchFamily="34" charset="0"/>
              </a:rPr>
              <a:t>Close doors and windows</a:t>
            </a:r>
          </a:p>
          <a:p>
            <a:pPr marL="360000" indent="-360000">
              <a:spcBef>
                <a:spcPts val="600"/>
              </a:spcBef>
              <a:spcAft>
                <a:spcPts val="1200"/>
              </a:spcAft>
            </a:pPr>
            <a:r>
              <a:rPr lang="en-US" sz="2200" dirty="0" smtClean="0">
                <a:latin typeface="Helvetica" pitchFamily="34" charset="0"/>
              </a:rPr>
              <a:t>Turn off air conditioning</a:t>
            </a:r>
          </a:p>
          <a:p>
            <a:pPr marL="360000" indent="-360000">
              <a:spcBef>
                <a:spcPts val="600"/>
              </a:spcBef>
              <a:spcAft>
                <a:spcPts val="1200"/>
              </a:spcAft>
            </a:pPr>
            <a:r>
              <a:rPr lang="en-US" sz="2200" dirty="0" smtClean="0">
                <a:latin typeface="Helvetica" pitchFamily="34" charset="0"/>
              </a:rPr>
              <a:t>Fight fire – if safe and if trained to do so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22530" name="Picture 2" descr="C:\Documents and Settings\danielc\Local Settings\Temporary Internet Files\Content.IE5\WOYKSSHU\MC900365608[1].wmf"/>
          <p:cNvPicPr>
            <a:picLocks noChangeAspect="1" noChangeArrowheads="1"/>
          </p:cNvPicPr>
          <p:nvPr/>
        </p:nvPicPr>
        <p:blipFill>
          <a:blip r:embed="rId3" cstate="print"/>
          <a:srcRect/>
          <a:stretch>
            <a:fillRect/>
          </a:stretch>
        </p:blipFill>
        <p:spPr bwMode="auto">
          <a:xfrm>
            <a:off x="6143636" y="2643182"/>
            <a:ext cx="1827886" cy="1828800"/>
          </a:xfrm>
          <a:prstGeom prst="rect">
            <a:avLst/>
          </a:prstGeom>
          <a:noFill/>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a gas leak emergency:</a:t>
            </a:r>
          </a:p>
          <a:p>
            <a:pPr marL="360000" indent="-360000">
              <a:spcBef>
                <a:spcPts val="600"/>
              </a:spcBef>
              <a:spcAft>
                <a:spcPts val="1200"/>
              </a:spcAft>
            </a:pPr>
            <a:r>
              <a:rPr lang="en-US" sz="2200" dirty="0" smtClean="0">
                <a:latin typeface="Helvetica" pitchFamily="34" charset="0"/>
              </a:rPr>
              <a:t>Call emergency services</a:t>
            </a:r>
          </a:p>
          <a:p>
            <a:pPr marL="360000" indent="-360000">
              <a:spcBef>
                <a:spcPts val="600"/>
              </a:spcBef>
              <a:spcAft>
                <a:spcPts val="1200"/>
              </a:spcAft>
            </a:pPr>
            <a:r>
              <a:rPr lang="en-US" sz="2200" dirty="0" smtClean="0">
                <a:latin typeface="Helvetica" pitchFamily="34" charset="0"/>
              </a:rPr>
              <a:t>Turn off or remove ignition sources</a:t>
            </a:r>
          </a:p>
          <a:p>
            <a:pPr marL="360000" indent="-360000">
              <a:spcBef>
                <a:spcPts val="600"/>
              </a:spcBef>
              <a:spcAft>
                <a:spcPts val="1200"/>
              </a:spcAft>
            </a:pPr>
            <a:r>
              <a:rPr lang="en-US" sz="2200" dirty="0" smtClean="0">
                <a:latin typeface="Helvetica" pitchFamily="34" charset="0"/>
              </a:rPr>
              <a:t>Notify neighbours</a:t>
            </a:r>
          </a:p>
          <a:p>
            <a:pPr marL="360000" indent="-360000">
              <a:spcBef>
                <a:spcPts val="600"/>
              </a:spcBef>
              <a:spcAft>
                <a:spcPts val="1200"/>
              </a:spcAft>
            </a:pPr>
            <a:r>
              <a:rPr lang="en-US" sz="2200" dirty="0" smtClean="0">
                <a:latin typeface="Helvetica" pitchFamily="34" charset="0"/>
              </a:rPr>
              <a:t>Evacuate</a:t>
            </a:r>
          </a:p>
          <a:p>
            <a:pPr marL="360000" indent="-360000">
              <a:spcBef>
                <a:spcPts val="600"/>
              </a:spcBef>
              <a:spcAft>
                <a:spcPts val="1200"/>
              </a:spcAft>
            </a:pPr>
            <a:r>
              <a:rPr lang="en-US" sz="2200" dirty="0" smtClean="0">
                <a:latin typeface="Helvetica" pitchFamily="34" charset="0"/>
              </a:rPr>
              <a:t>Open windows and doors</a:t>
            </a:r>
          </a:p>
          <a:p>
            <a:pPr marL="360000" indent="-360000">
              <a:spcBef>
                <a:spcPts val="600"/>
              </a:spcBef>
              <a:spcAft>
                <a:spcPts val="1200"/>
              </a:spcAft>
            </a:pPr>
            <a:r>
              <a:rPr lang="en-US" sz="2200" dirty="0" smtClean="0">
                <a:latin typeface="Helvetica" pitchFamily="34" charset="0"/>
              </a:rPr>
              <a:t>Turn off gas – if safe to do so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25603" name="Picture 3" descr="C:\Documents and Settings\danielc\Local Settings\Temporary Internet Files\Content.IE5\UMECW9PM\MC900320134[1].wmf"/>
          <p:cNvPicPr>
            <a:picLocks noChangeAspect="1" noChangeArrowheads="1"/>
          </p:cNvPicPr>
          <p:nvPr/>
        </p:nvPicPr>
        <p:blipFill>
          <a:blip r:embed="rId3" cstate="print"/>
          <a:srcRect/>
          <a:stretch>
            <a:fillRect/>
          </a:stretch>
        </p:blipFill>
        <p:spPr bwMode="auto">
          <a:xfrm>
            <a:off x="6500826" y="2500306"/>
            <a:ext cx="1826971" cy="1743761"/>
          </a:xfrm>
          <a:prstGeom prst="rect">
            <a:avLst/>
          </a:prstGeom>
          <a:noFill/>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a medical emergency:</a:t>
            </a:r>
          </a:p>
          <a:p>
            <a:pPr marL="360000" indent="-360000">
              <a:spcBef>
                <a:spcPts val="600"/>
              </a:spcBef>
              <a:spcAft>
                <a:spcPts val="1200"/>
              </a:spcAft>
            </a:pPr>
            <a:r>
              <a:rPr lang="en-US" sz="2200" dirty="0" smtClean="0">
                <a:latin typeface="Helvetica" pitchFamily="34" charset="0"/>
              </a:rPr>
              <a:t>Call an ambulance</a:t>
            </a:r>
          </a:p>
          <a:p>
            <a:pPr marL="360000" indent="-360000">
              <a:spcBef>
                <a:spcPts val="600"/>
              </a:spcBef>
              <a:spcAft>
                <a:spcPts val="1200"/>
              </a:spcAft>
            </a:pPr>
            <a:r>
              <a:rPr lang="en-US" sz="2200" dirty="0" smtClean="0">
                <a:latin typeface="Helvetica" pitchFamily="34" charset="0"/>
              </a:rPr>
              <a:t>Never assume you know the cause</a:t>
            </a:r>
          </a:p>
          <a:p>
            <a:pPr marL="360000" indent="-360000">
              <a:spcBef>
                <a:spcPts val="600"/>
              </a:spcBef>
              <a:spcAft>
                <a:spcPts val="1200"/>
              </a:spcAft>
            </a:pPr>
            <a:r>
              <a:rPr lang="en-US" sz="2200" dirty="0" smtClean="0">
                <a:latin typeface="Helvetica" pitchFamily="34" charset="0"/>
              </a:rPr>
              <a:t>Do not move the patient</a:t>
            </a:r>
          </a:p>
          <a:p>
            <a:pPr marL="360000" indent="-360000">
              <a:spcBef>
                <a:spcPts val="600"/>
              </a:spcBef>
              <a:spcAft>
                <a:spcPts val="1200"/>
              </a:spcAft>
            </a:pPr>
            <a:r>
              <a:rPr lang="en-US" sz="2200" dirty="0" smtClean="0">
                <a:latin typeface="Helvetica" pitchFamily="34" charset="0"/>
              </a:rPr>
              <a:t>Do not ‘act in hope’</a:t>
            </a:r>
          </a:p>
          <a:p>
            <a:pPr marL="360000" indent="-360000">
              <a:spcBef>
                <a:spcPts val="600"/>
              </a:spcBef>
              <a:spcAft>
                <a:spcPts val="1200"/>
              </a:spcAft>
            </a:pPr>
            <a:r>
              <a:rPr lang="en-US" sz="2200" dirty="0" smtClean="0">
                <a:latin typeface="Helvetica" pitchFamily="34" charset="0"/>
              </a:rPr>
              <a:t>Keep public away</a:t>
            </a:r>
          </a:p>
          <a:p>
            <a:pPr marL="360000" indent="-360000">
              <a:spcBef>
                <a:spcPts val="600"/>
              </a:spcBef>
              <a:spcAft>
                <a:spcPts val="1200"/>
              </a:spcAft>
            </a:pPr>
            <a:r>
              <a:rPr lang="en-US" sz="2200" dirty="0" smtClean="0">
                <a:latin typeface="Helvetica" pitchFamily="34" charset="0"/>
              </a:rPr>
              <a:t>Do not comment on the incident to anyone.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24578" name="Picture 2" descr="C:\Documents and Settings\danielc\Local Settings\Temporary Internet Files\Content.IE5\Y2UABRAT\MC900286864[1].wmf"/>
          <p:cNvPicPr>
            <a:picLocks noChangeAspect="1" noChangeArrowheads="1"/>
          </p:cNvPicPr>
          <p:nvPr/>
        </p:nvPicPr>
        <p:blipFill>
          <a:blip r:embed="rId3" cstate="print"/>
          <a:srcRect/>
          <a:stretch>
            <a:fillRect/>
          </a:stretch>
        </p:blipFill>
        <p:spPr bwMode="auto">
          <a:xfrm>
            <a:off x="5715008" y="2571744"/>
            <a:ext cx="1738265" cy="1738265"/>
          </a:xfrm>
          <a:prstGeom prst="rect">
            <a:avLst/>
          </a:prstGeom>
          <a:noFill/>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a hostage situation:</a:t>
            </a:r>
          </a:p>
          <a:p>
            <a:pPr marL="360000" indent="-360000">
              <a:spcBef>
                <a:spcPts val="600"/>
              </a:spcBef>
              <a:spcAft>
                <a:spcPts val="1200"/>
              </a:spcAft>
            </a:pPr>
            <a:r>
              <a:rPr lang="en-US" sz="2200" dirty="0" smtClean="0">
                <a:latin typeface="Helvetica" pitchFamily="34" charset="0"/>
              </a:rPr>
              <a:t>Secure the area</a:t>
            </a:r>
          </a:p>
          <a:p>
            <a:pPr marL="360000" indent="-360000">
              <a:spcBef>
                <a:spcPts val="600"/>
              </a:spcBef>
              <a:spcAft>
                <a:spcPts val="1200"/>
              </a:spcAft>
            </a:pPr>
            <a:r>
              <a:rPr lang="en-US" sz="2200" dirty="0" smtClean="0">
                <a:latin typeface="Helvetica" pitchFamily="34" charset="0"/>
              </a:rPr>
              <a:t>Notify designated workplace person</a:t>
            </a:r>
          </a:p>
          <a:p>
            <a:pPr marL="360000" indent="-360000">
              <a:spcBef>
                <a:spcPts val="600"/>
              </a:spcBef>
              <a:spcAft>
                <a:spcPts val="1200"/>
              </a:spcAft>
            </a:pPr>
            <a:r>
              <a:rPr lang="en-US" sz="2200" dirty="0" smtClean="0">
                <a:latin typeface="Helvetica" pitchFamily="34" charset="0"/>
              </a:rPr>
              <a:t>Communicate information about the situation</a:t>
            </a:r>
          </a:p>
          <a:p>
            <a:pPr marL="360000" indent="-360000">
              <a:spcBef>
                <a:spcPts val="600"/>
              </a:spcBef>
              <a:spcAft>
                <a:spcPts val="1200"/>
              </a:spcAft>
            </a:pPr>
            <a:r>
              <a:rPr lang="en-US" sz="2200" dirty="0" smtClean="0">
                <a:latin typeface="Helvetica" pitchFamily="34" charset="0"/>
              </a:rPr>
              <a:t>Implement evacuation</a:t>
            </a:r>
          </a:p>
          <a:p>
            <a:pPr marL="360000" indent="-360000">
              <a:spcBef>
                <a:spcPts val="600"/>
              </a:spcBef>
              <a:spcAft>
                <a:spcPts val="1200"/>
              </a:spcAft>
            </a:pPr>
            <a:r>
              <a:rPr lang="en-US" sz="2200" dirty="0" smtClean="0">
                <a:latin typeface="Helvetica" pitchFamily="34" charset="0"/>
              </a:rPr>
              <a:t>Do not try to rescue hostages</a:t>
            </a:r>
          </a:p>
          <a:p>
            <a:pPr marL="360000" indent="-360000">
              <a:spcBef>
                <a:spcPts val="600"/>
              </a:spcBef>
              <a:spcAft>
                <a:spcPts val="1200"/>
              </a:spcAft>
            </a:pPr>
            <a:r>
              <a:rPr lang="en-US" sz="2200" dirty="0" smtClean="0">
                <a:latin typeface="Helvetica" pitchFamily="34" charset="0"/>
              </a:rPr>
              <a:t>Never put yourself in danger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26626" name="Picture 2" descr="C:\Documents and Settings\danielc\Local Settings\Temporary Internet Files\Content.IE5\LSIXJYS2\MC900097595[2].wmf"/>
          <p:cNvPicPr>
            <a:picLocks noChangeAspect="1" noChangeArrowheads="1"/>
          </p:cNvPicPr>
          <p:nvPr/>
        </p:nvPicPr>
        <p:blipFill>
          <a:blip r:embed="rId3" cstate="print"/>
          <a:srcRect/>
          <a:stretch>
            <a:fillRect/>
          </a:stretch>
        </p:blipFill>
        <p:spPr bwMode="auto">
          <a:xfrm>
            <a:off x="5643570" y="3929066"/>
            <a:ext cx="1765706" cy="1777594"/>
          </a:xfrm>
          <a:prstGeom prst="rect">
            <a:avLst/>
          </a:prstGeom>
          <a:noFill/>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EMP – Responding to a chemical spill:</a:t>
            </a:r>
          </a:p>
          <a:p>
            <a:pPr marL="360000" indent="-360000">
              <a:spcBef>
                <a:spcPts val="600"/>
              </a:spcBef>
              <a:spcAft>
                <a:spcPts val="1200"/>
              </a:spcAft>
            </a:pPr>
            <a:r>
              <a:rPr lang="en-US" sz="2200" dirty="0" smtClean="0">
                <a:latin typeface="Helvetica" pitchFamily="34" charset="0"/>
              </a:rPr>
              <a:t>Call emergency services and report the situation</a:t>
            </a:r>
          </a:p>
          <a:p>
            <a:pPr marL="360000" indent="-360000">
              <a:spcBef>
                <a:spcPts val="600"/>
              </a:spcBef>
              <a:spcAft>
                <a:spcPts val="1200"/>
              </a:spcAft>
            </a:pPr>
            <a:r>
              <a:rPr lang="en-US" sz="2200" dirty="0" smtClean="0">
                <a:latin typeface="Helvetica" pitchFamily="34" charset="0"/>
              </a:rPr>
              <a:t>Provide as much detail as possible</a:t>
            </a:r>
          </a:p>
          <a:p>
            <a:pPr marL="360000" indent="-360000">
              <a:spcBef>
                <a:spcPts val="600"/>
              </a:spcBef>
              <a:spcAft>
                <a:spcPts val="1200"/>
              </a:spcAft>
            </a:pPr>
            <a:r>
              <a:rPr lang="en-US" sz="2200" dirty="0" smtClean="0">
                <a:latin typeface="Helvetica" pitchFamily="34" charset="0"/>
              </a:rPr>
              <a:t>Implement evacuation</a:t>
            </a:r>
          </a:p>
          <a:p>
            <a:pPr marL="360000" indent="-360000">
              <a:spcBef>
                <a:spcPts val="600"/>
              </a:spcBef>
              <a:spcAft>
                <a:spcPts val="1200"/>
              </a:spcAft>
            </a:pPr>
            <a:r>
              <a:rPr lang="en-US" sz="2200" dirty="0" smtClean="0">
                <a:latin typeface="Helvetica" pitchFamily="34" charset="0"/>
              </a:rPr>
              <a:t>Open windows and doors</a:t>
            </a:r>
          </a:p>
          <a:p>
            <a:pPr marL="360000" indent="-360000">
              <a:spcBef>
                <a:spcPts val="600"/>
              </a:spcBef>
              <a:spcAft>
                <a:spcPts val="1200"/>
              </a:spcAft>
            </a:pPr>
            <a:r>
              <a:rPr lang="en-US" sz="2200" dirty="0" smtClean="0">
                <a:latin typeface="Helvetica" pitchFamily="34" charset="0"/>
              </a:rPr>
              <a:t>Prevent access to area</a:t>
            </a:r>
          </a:p>
          <a:p>
            <a:pPr marL="360000" indent="-360000">
              <a:spcBef>
                <a:spcPts val="600"/>
              </a:spcBef>
              <a:spcAft>
                <a:spcPts val="1200"/>
              </a:spcAft>
            </a:pPr>
            <a:r>
              <a:rPr lang="en-US" sz="2200" dirty="0" smtClean="0">
                <a:latin typeface="Helvetica" pitchFamily="34" charset="0"/>
              </a:rPr>
              <a:t>Obtain MSDS</a:t>
            </a:r>
          </a:p>
          <a:p>
            <a:pPr marL="360000" indent="-360000">
              <a:spcBef>
                <a:spcPts val="600"/>
              </a:spcBef>
              <a:spcAft>
                <a:spcPts val="1200"/>
              </a:spcAft>
            </a:pPr>
            <a:r>
              <a:rPr lang="en-US" sz="2200" dirty="0" smtClean="0">
                <a:latin typeface="Helvetica" pitchFamily="34" charset="0"/>
              </a:rPr>
              <a:t>Contain the spill – if possible, safe to do so.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5" name="Picture 4" descr="C:\Documents and Settings\danielc\Local Settings\Temporary Internet Files\Content.IE5\M0QL8DHR\MC900018433[1].wmf"/>
          <p:cNvPicPr/>
          <p:nvPr/>
        </p:nvPicPr>
        <p:blipFill>
          <a:blip r:embed="rId3" cstate="print"/>
          <a:srcRect/>
          <a:stretch>
            <a:fillRect/>
          </a:stretch>
        </p:blipFill>
        <p:spPr bwMode="auto">
          <a:xfrm>
            <a:off x="5643570" y="3286124"/>
            <a:ext cx="1888772" cy="10724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95325"/>
            <a:ext cx="7776864"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a deranged customer emergency:</a:t>
            </a:r>
          </a:p>
          <a:p>
            <a:pPr marL="360000" indent="-360000">
              <a:spcBef>
                <a:spcPts val="600"/>
              </a:spcBef>
              <a:spcAft>
                <a:spcPts val="1200"/>
              </a:spcAft>
            </a:pPr>
            <a:r>
              <a:rPr lang="en-US" sz="2200" dirty="0" smtClean="0">
                <a:latin typeface="Helvetica" pitchFamily="34" charset="0"/>
              </a:rPr>
              <a:t>Attempt to control the situation yourself</a:t>
            </a:r>
          </a:p>
          <a:p>
            <a:pPr marL="360000" indent="-360000">
              <a:spcBef>
                <a:spcPts val="600"/>
              </a:spcBef>
              <a:spcAft>
                <a:spcPts val="1200"/>
              </a:spcAft>
            </a:pPr>
            <a:r>
              <a:rPr lang="en-US" sz="2200" dirty="0" smtClean="0">
                <a:latin typeface="Helvetica" pitchFamily="34" charset="0"/>
              </a:rPr>
              <a:t>Be prepared to contact and involve Supervisor </a:t>
            </a:r>
            <a:r>
              <a:rPr lang="en-US" sz="2200" dirty="0" smtClean="0"/>
              <a:t>and </a:t>
            </a:r>
            <a:r>
              <a:rPr lang="en-US" sz="2200" dirty="0" smtClean="0">
                <a:latin typeface="Helvetica" pitchFamily="34" charset="0"/>
              </a:rPr>
              <a:t>or Security</a:t>
            </a:r>
          </a:p>
          <a:p>
            <a:pPr marL="360000" indent="-360000">
              <a:spcBef>
                <a:spcPts val="600"/>
              </a:spcBef>
              <a:spcAft>
                <a:spcPts val="1200"/>
              </a:spcAft>
            </a:pPr>
            <a:r>
              <a:rPr lang="en-US" sz="2200" dirty="0" smtClean="0">
                <a:latin typeface="Helvetica" pitchFamily="34" charset="0"/>
              </a:rPr>
              <a:t>Remove people to a safe area</a:t>
            </a:r>
          </a:p>
          <a:p>
            <a:pPr marL="360000" indent="-360000">
              <a:spcBef>
                <a:spcPts val="600"/>
              </a:spcBef>
              <a:spcAft>
                <a:spcPts val="1200"/>
              </a:spcAft>
            </a:pPr>
            <a:r>
              <a:rPr lang="en-US" sz="2200" dirty="0" smtClean="0">
                <a:latin typeface="Helvetica" pitchFamily="34" charset="0"/>
              </a:rPr>
              <a:t>Restrict access to the area</a:t>
            </a:r>
          </a:p>
          <a:p>
            <a:pPr marL="360000" indent="-360000">
              <a:spcBef>
                <a:spcPts val="600"/>
              </a:spcBef>
              <a:spcAft>
                <a:spcPts val="1200"/>
              </a:spcAft>
            </a:pPr>
            <a:r>
              <a:rPr lang="en-US" sz="2200" dirty="0" smtClean="0">
                <a:latin typeface="Helvetica" pitchFamily="34" charset="0"/>
              </a:rPr>
              <a:t>Protect property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27650" name="Picture 2" descr="C:\Documents and Settings\danielc\Local Settings\Temporary Internet Files\Content.IE5\WOYKSSHU\MC900153728[1].wmf"/>
          <p:cNvPicPr>
            <a:picLocks noChangeAspect="1" noChangeArrowheads="1"/>
          </p:cNvPicPr>
          <p:nvPr/>
        </p:nvPicPr>
        <p:blipFill>
          <a:blip r:embed="rId3" cstate="print"/>
          <a:srcRect/>
          <a:stretch>
            <a:fillRect/>
          </a:stretch>
        </p:blipFill>
        <p:spPr bwMode="auto">
          <a:xfrm>
            <a:off x="6072198" y="3429000"/>
            <a:ext cx="1813255" cy="1438351"/>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EMP – Responding to armed robbery:</a:t>
            </a:r>
          </a:p>
          <a:p>
            <a:pPr marL="360000" indent="-360000">
              <a:spcBef>
                <a:spcPts val="600"/>
              </a:spcBef>
              <a:spcAft>
                <a:spcPts val="1200"/>
              </a:spcAft>
            </a:pPr>
            <a:r>
              <a:rPr lang="en-US" sz="2200" dirty="0" smtClean="0">
                <a:latin typeface="Helvetica" pitchFamily="34" charset="0"/>
              </a:rPr>
              <a:t>Comply – do not stall; do not stare at offenders</a:t>
            </a:r>
          </a:p>
          <a:p>
            <a:pPr marL="360000" indent="-360000">
              <a:spcBef>
                <a:spcPts val="600"/>
              </a:spcBef>
              <a:spcAft>
                <a:spcPts val="1200"/>
              </a:spcAft>
            </a:pPr>
            <a:r>
              <a:rPr lang="en-US" sz="2200" dirty="0" smtClean="0">
                <a:latin typeface="Helvetica" pitchFamily="34" charset="0"/>
              </a:rPr>
              <a:t>Try to remember offender details</a:t>
            </a:r>
          </a:p>
          <a:p>
            <a:pPr marL="360000" indent="-360000">
              <a:spcBef>
                <a:spcPts val="600"/>
              </a:spcBef>
              <a:spcAft>
                <a:spcPts val="1200"/>
              </a:spcAft>
            </a:pPr>
            <a:r>
              <a:rPr lang="en-US" sz="2200" dirty="0" smtClean="0">
                <a:latin typeface="Helvetica" pitchFamily="34" charset="0"/>
              </a:rPr>
              <a:t>Call police as soon as safe and possible</a:t>
            </a:r>
          </a:p>
          <a:p>
            <a:pPr marL="360000" indent="-360000">
              <a:spcBef>
                <a:spcPts val="600"/>
              </a:spcBef>
              <a:spcAft>
                <a:spcPts val="1200"/>
              </a:spcAft>
            </a:pPr>
            <a:r>
              <a:rPr lang="en-US" sz="2200" dirty="0" smtClean="0">
                <a:latin typeface="Helvetica" pitchFamily="34" charset="0"/>
              </a:rPr>
              <a:t>Do not talk to anyone – record pertinent </a:t>
            </a:r>
            <a:br>
              <a:rPr lang="en-US" sz="2200" dirty="0" smtClean="0">
                <a:latin typeface="Helvetica" pitchFamily="34" charset="0"/>
              </a:rPr>
            </a:br>
            <a:r>
              <a:rPr lang="en-US" sz="2200" dirty="0" smtClean="0">
                <a:latin typeface="Helvetica" pitchFamily="34" charset="0"/>
              </a:rPr>
              <a:t>details</a:t>
            </a:r>
          </a:p>
          <a:p>
            <a:pPr marL="360000" indent="-360000">
              <a:spcBef>
                <a:spcPts val="600"/>
              </a:spcBef>
              <a:spcAft>
                <a:spcPts val="1200"/>
              </a:spcAft>
            </a:pPr>
            <a:r>
              <a:rPr lang="en-US" sz="2200" dirty="0" smtClean="0">
                <a:latin typeface="Helvetica" pitchFamily="34" charset="0"/>
              </a:rPr>
              <a:t>Gather witnesses</a:t>
            </a:r>
          </a:p>
          <a:p>
            <a:pPr marL="360000" indent="-360000">
              <a:spcBef>
                <a:spcPts val="600"/>
              </a:spcBef>
              <a:spcAft>
                <a:spcPts val="1200"/>
              </a:spcAft>
            </a:pPr>
            <a:r>
              <a:rPr lang="en-US" sz="2200" dirty="0" smtClean="0">
                <a:latin typeface="Helvetica" pitchFamily="34" charset="0"/>
              </a:rPr>
              <a:t>Close venue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28674" name="Picture 2" descr="C:\Documents and Settings\danielc\Local Settings\Temporary Internet Files\Content.IE5\2LMD6966\MC900336213[1].wmf"/>
          <p:cNvPicPr>
            <a:picLocks noChangeAspect="1" noChangeArrowheads="1"/>
          </p:cNvPicPr>
          <p:nvPr/>
        </p:nvPicPr>
        <p:blipFill>
          <a:blip r:embed="rId3" cstate="print"/>
          <a:srcRect/>
          <a:stretch>
            <a:fillRect/>
          </a:stretch>
        </p:blipFill>
        <p:spPr bwMode="auto">
          <a:xfrm>
            <a:off x="6643702" y="2643182"/>
            <a:ext cx="1710873" cy="1714512"/>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there is an emergency and no EMP to deal with it:</a:t>
            </a:r>
          </a:p>
          <a:p>
            <a:pPr marL="360000" indent="-360000">
              <a:spcBef>
                <a:spcPts val="600"/>
              </a:spcBef>
              <a:spcAft>
                <a:spcPts val="1200"/>
              </a:spcAft>
            </a:pPr>
            <a:r>
              <a:rPr lang="en-US" sz="2200" dirty="0" smtClean="0">
                <a:latin typeface="Helvetica" pitchFamily="34" charset="0"/>
              </a:rPr>
              <a:t>Notify emergency services, internal staff and guests</a:t>
            </a:r>
          </a:p>
          <a:p>
            <a:pPr marL="360000" indent="-360000">
              <a:spcBef>
                <a:spcPts val="600"/>
              </a:spcBef>
              <a:spcAft>
                <a:spcPts val="1200"/>
              </a:spcAft>
            </a:pPr>
            <a:r>
              <a:rPr lang="en-US" sz="2200" dirty="0" smtClean="0">
                <a:latin typeface="Helvetica" pitchFamily="34" charset="0"/>
              </a:rPr>
              <a:t>Assess the situation</a:t>
            </a:r>
          </a:p>
          <a:p>
            <a:pPr marL="360000" indent="-360000">
              <a:spcBef>
                <a:spcPts val="600"/>
              </a:spcBef>
              <a:spcAft>
                <a:spcPts val="1200"/>
              </a:spcAft>
            </a:pPr>
            <a:r>
              <a:rPr lang="en-US" sz="2200" dirty="0" smtClean="0">
                <a:latin typeface="Helvetica" pitchFamily="34" charset="0"/>
              </a:rPr>
              <a:t>Adapt an existing EMP as best as possible/if possible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26626" name="Picture 2" descr="C:\Documents and Settings\danielc\Local Settings\Temporary Internet Files\Content.IE5\Y88G682L\MC900383628[1].wmf"/>
          <p:cNvPicPr>
            <a:picLocks noChangeAspect="1" noChangeArrowheads="1"/>
          </p:cNvPicPr>
          <p:nvPr/>
        </p:nvPicPr>
        <p:blipFill>
          <a:blip r:embed="rId3" cstate="print"/>
          <a:srcRect/>
          <a:stretch>
            <a:fillRect/>
          </a:stretch>
        </p:blipFill>
        <p:spPr bwMode="auto">
          <a:xfrm>
            <a:off x="3143240" y="4000504"/>
            <a:ext cx="2394815" cy="2002891"/>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Involve others/get their input and ideas</a:t>
            </a:r>
          </a:p>
          <a:p>
            <a:pPr marL="360000" indent="-360000">
              <a:spcBef>
                <a:spcPts val="600"/>
              </a:spcBef>
              <a:spcAft>
                <a:spcPts val="1200"/>
              </a:spcAft>
            </a:pPr>
            <a:r>
              <a:rPr lang="en-US" sz="2200" dirty="0" smtClean="0">
                <a:latin typeface="Helvetica" pitchFamily="34" charset="0"/>
              </a:rPr>
              <a:t>Ensure safety of people is main objective</a:t>
            </a:r>
          </a:p>
          <a:p>
            <a:pPr marL="360000" indent="-360000">
              <a:spcBef>
                <a:spcPts val="600"/>
              </a:spcBef>
              <a:spcAft>
                <a:spcPts val="1200"/>
              </a:spcAft>
            </a:pPr>
            <a:r>
              <a:rPr lang="en-US" sz="2200" dirty="0" smtClean="0">
                <a:latin typeface="Helvetica" pitchFamily="34" charset="0"/>
              </a:rPr>
              <a:t>Be prepared just to ‘contain’ a situation</a:t>
            </a:r>
          </a:p>
          <a:p>
            <a:pPr marL="360000" indent="-360000">
              <a:spcBef>
                <a:spcPts val="600"/>
              </a:spcBef>
              <a:spcAft>
                <a:spcPts val="1200"/>
              </a:spcAft>
            </a:pPr>
            <a:r>
              <a:rPr lang="en-US" sz="2200" dirty="0" smtClean="0">
                <a:latin typeface="Helvetica" pitchFamily="34" charset="0"/>
              </a:rPr>
              <a:t>Provide constant communication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27650" name="Picture 2" descr="C:\Documents and Settings\danielc\Local Settings\Temporary Internet Files\Content.IE5\112MAXTI\MC900383604[1].wmf"/>
          <p:cNvPicPr>
            <a:picLocks noChangeAspect="1" noChangeArrowheads="1"/>
          </p:cNvPicPr>
          <p:nvPr/>
        </p:nvPicPr>
        <p:blipFill>
          <a:blip r:embed="rId3" cstate="print"/>
          <a:srcRect/>
          <a:stretch>
            <a:fillRect/>
          </a:stretch>
        </p:blipFill>
        <p:spPr bwMode="auto">
          <a:xfrm>
            <a:off x="6643702" y="2000240"/>
            <a:ext cx="1436531" cy="2242062"/>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responding to trapped or injured people during an emergency:</a:t>
            </a:r>
          </a:p>
          <a:p>
            <a:pPr marL="360000" indent="-360000">
              <a:spcBef>
                <a:spcPts val="600"/>
              </a:spcBef>
              <a:spcAft>
                <a:spcPts val="1200"/>
              </a:spcAft>
            </a:pPr>
            <a:r>
              <a:rPr lang="en-US" sz="2200" dirty="0" smtClean="0">
                <a:latin typeface="Helvetica" pitchFamily="34" charset="0"/>
              </a:rPr>
              <a:t>Do not endanger self</a:t>
            </a:r>
          </a:p>
          <a:p>
            <a:pPr marL="360000" indent="-360000">
              <a:spcBef>
                <a:spcPts val="600"/>
              </a:spcBef>
              <a:spcAft>
                <a:spcPts val="1200"/>
              </a:spcAft>
            </a:pPr>
            <a:r>
              <a:rPr lang="en-US" sz="2200" dirty="0" smtClean="0">
                <a:latin typeface="Helvetica" pitchFamily="34" charset="0"/>
              </a:rPr>
              <a:t>Communicate</a:t>
            </a:r>
          </a:p>
          <a:p>
            <a:pPr marL="360000" indent="-360000">
              <a:spcBef>
                <a:spcPts val="600"/>
              </a:spcBef>
              <a:spcAft>
                <a:spcPts val="1200"/>
              </a:spcAft>
            </a:pPr>
            <a:r>
              <a:rPr lang="en-US" sz="2200" dirty="0" smtClean="0">
                <a:latin typeface="Helvetica" pitchFamily="34" charset="0"/>
              </a:rPr>
              <a:t>Reassure those involved</a:t>
            </a:r>
          </a:p>
          <a:p>
            <a:pPr marL="360000" indent="-360000">
              <a:spcBef>
                <a:spcPts val="600"/>
              </a:spcBef>
              <a:spcAft>
                <a:spcPts val="1200"/>
              </a:spcAft>
            </a:pPr>
            <a:r>
              <a:rPr lang="en-US" sz="2200" dirty="0" smtClean="0">
                <a:latin typeface="Helvetica" pitchFamily="34" charset="0"/>
              </a:rPr>
              <a:t>Provide first aid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28674" name="Picture 2" descr="C:\Documents and Settings\danielc\Local Settings\Temporary Internet Files\Content.IE5\XGIII3N1\MC900097825[1].wmf"/>
          <p:cNvPicPr>
            <a:picLocks noChangeAspect="1" noChangeArrowheads="1"/>
          </p:cNvPicPr>
          <p:nvPr/>
        </p:nvPicPr>
        <p:blipFill>
          <a:blip r:embed="rId3" cstate="print"/>
          <a:srcRect/>
          <a:stretch>
            <a:fillRect/>
          </a:stretch>
        </p:blipFill>
        <p:spPr bwMode="auto">
          <a:xfrm>
            <a:off x="6000760" y="2571744"/>
            <a:ext cx="1795882" cy="1774850"/>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Adhere to EMP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Secure/make safe the area</a:t>
            </a:r>
          </a:p>
          <a:p>
            <a:pPr marL="360000" indent="-360000">
              <a:spcBef>
                <a:spcPts val="600"/>
              </a:spcBef>
              <a:spcAft>
                <a:spcPts val="1200"/>
              </a:spcAft>
            </a:pPr>
            <a:r>
              <a:rPr lang="en-US" sz="2200" dirty="0" smtClean="0">
                <a:latin typeface="Helvetica" pitchFamily="34" charset="0"/>
              </a:rPr>
              <a:t>Clear rubbish and debris</a:t>
            </a:r>
          </a:p>
          <a:p>
            <a:pPr marL="360000" indent="-360000">
              <a:spcBef>
                <a:spcPts val="600"/>
              </a:spcBef>
              <a:spcAft>
                <a:spcPts val="1200"/>
              </a:spcAft>
            </a:pPr>
            <a:r>
              <a:rPr lang="en-US" sz="2200" dirty="0" smtClean="0">
                <a:latin typeface="Helvetica" pitchFamily="34" charset="0"/>
              </a:rPr>
              <a:t>Be alert to ‘live’ electricity wires</a:t>
            </a:r>
          </a:p>
          <a:p>
            <a:pPr marL="360000" indent="-360000">
              <a:spcBef>
                <a:spcPts val="600"/>
              </a:spcBef>
              <a:spcAft>
                <a:spcPts val="1200"/>
              </a:spcAft>
            </a:pPr>
            <a:r>
              <a:rPr lang="en-US" sz="2200" dirty="0" smtClean="0">
                <a:latin typeface="Helvetica" pitchFamily="34" charset="0"/>
              </a:rPr>
              <a:t>Never enter a confined space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29698" name="Picture 2" descr="C:\Documents and Settings\danielc\Local Settings\Temporary Internet Files\Content.IE5\UMECW9PM\MC900056277[1].wmf"/>
          <p:cNvPicPr>
            <a:picLocks noChangeAspect="1" noChangeArrowheads="1"/>
          </p:cNvPicPr>
          <p:nvPr/>
        </p:nvPicPr>
        <p:blipFill>
          <a:blip r:embed="rId3" cstate="print"/>
          <a:srcRect/>
          <a:stretch>
            <a:fillRect/>
          </a:stretch>
        </p:blipFill>
        <p:spPr bwMode="auto">
          <a:xfrm>
            <a:off x="5857884" y="2143116"/>
            <a:ext cx="1757477" cy="1626718"/>
          </a:xfrm>
          <a:prstGeom prst="rect">
            <a:avLst/>
          </a:prstGeom>
          <a:noFill/>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calm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an emergency situation:</a:t>
            </a:r>
          </a:p>
          <a:p>
            <a:pPr marL="360000" indent="-360000">
              <a:spcBef>
                <a:spcPts val="600"/>
              </a:spcBef>
              <a:spcAft>
                <a:spcPts val="1200"/>
              </a:spcAft>
            </a:pPr>
            <a:r>
              <a:rPr lang="en-US" sz="2200" dirty="0" smtClean="0">
                <a:latin typeface="Helvetica" pitchFamily="34" charset="0"/>
              </a:rPr>
              <a:t>Remain calm</a:t>
            </a:r>
          </a:p>
          <a:p>
            <a:pPr marL="360000" indent="-360000">
              <a:spcBef>
                <a:spcPts val="600"/>
              </a:spcBef>
              <a:spcAft>
                <a:spcPts val="1200"/>
              </a:spcAft>
            </a:pPr>
            <a:r>
              <a:rPr lang="en-US" sz="2200" dirty="0" smtClean="0">
                <a:latin typeface="Helvetica" pitchFamily="34" charset="0"/>
              </a:rPr>
              <a:t>How you act and respond will influence/dictate how others behave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30722" name="Picture 2" descr="C:\Documents and Settings\danielc\Desktop\images\Maintain the security of premises and property imgs\iStock_walkie talkie.JPG"/>
          <p:cNvPicPr>
            <a:picLocks noChangeAspect="1" noChangeArrowheads="1"/>
          </p:cNvPicPr>
          <p:nvPr/>
        </p:nvPicPr>
        <p:blipFill>
          <a:blip r:embed="rId3" cstate="print"/>
          <a:srcRect/>
          <a:stretch>
            <a:fillRect/>
          </a:stretch>
        </p:blipFill>
        <p:spPr bwMode="auto">
          <a:xfrm>
            <a:off x="3357554" y="3643314"/>
            <a:ext cx="3154368" cy="2105392"/>
          </a:xfrm>
          <a:prstGeom prst="rect">
            <a:avLst/>
          </a:prstGeom>
          <a:noFill/>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calm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To deal effectively with people in an emergency situation:</a:t>
            </a:r>
          </a:p>
          <a:p>
            <a:pPr marL="360000" indent="-360000">
              <a:spcBef>
                <a:spcPts val="600"/>
              </a:spcBef>
              <a:spcAft>
                <a:spcPts val="1200"/>
              </a:spcAft>
            </a:pPr>
            <a:r>
              <a:rPr lang="en-US" sz="2200" dirty="0" smtClean="0">
                <a:latin typeface="Helvetica" pitchFamily="34" charset="0"/>
              </a:rPr>
              <a:t>Apply appropriate interpersonal and communication skills to help maintain calm</a:t>
            </a:r>
          </a:p>
          <a:p>
            <a:pPr marL="360000" indent="-360000">
              <a:spcBef>
                <a:spcPts val="600"/>
              </a:spcBef>
              <a:spcAft>
                <a:spcPts val="1200"/>
              </a:spcAft>
            </a:pPr>
            <a:r>
              <a:rPr lang="en-US" sz="2200" dirty="0" smtClean="0">
                <a:latin typeface="Helvetica" pitchFamily="34" charset="0"/>
              </a:rPr>
              <a:t>Provide clear instructions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31746" name="Picture 2" descr="C:\Documents and Settings\danielc\Local Settings\Temporary Internet Files\Content.IE5\112MAXTI\MP900402679[1].jpg"/>
          <p:cNvPicPr>
            <a:picLocks noChangeAspect="1" noChangeArrowheads="1"/>
          </p:cNvPicPr>
          <p:nvPr/>
        </p:nvPicPr>
        <p:blipFill>
          <a:blip r:embed="rId3" cstate="print"/>
          <a:srcRect/>
          <a:stretch>
            <a:fillRect/>
          </a:stretch>
        </p:blipFill>
        <p:spPr bwMode="auto">
          <a:xfrm>
            <a:off x="5436096" y="3573016"/>
            <a:ext cx="1653156" cy="2478524"/>
          </a:xfrm>
          <a:prstGeom prst="rect">
            <a:avLst/>
          </a:prstGeom>
          <a:noFill/>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calm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The following will help you stay calm in an emergency:</a:t>
            </a:r>
          </a:p>
          <a:p>
            <a:pPr marL="360000" indent="-360000">
              <a:spcBef>
                <a:spcPts val="600"/>
              </a:spcBef>
              <a:spcAft>
                <a:spcPts val="1200"/>
              </a:spcAft>
            </a:pPr>
            <a:r>
              <a:rPr lang="en-US" sz="2200" dirty="0" smtClean="0">
                <a:latin typeface="Helvetica" pitchFamily="34" charset="0"/>
              </a:rPr>
              <a:t>Participate in practices and drills</a:t>
            </a:r>
          </a:p>
          <a:p>
            <a:pPr marL="360000" indent="-360000">
              <a:spcBef>
                <a:spcPts val="600"/>
              </a:spcBef>
              <a:spcAft>
                <a:spcPts val="1200"/>
              </a:spcAft>
            </a:pPr>
            <a:r>
              <a:rPr lang="en-US" sz="2200" dirty="0" smtClean="0">
                <a:latin typeface="Helvetica" pitchFamily="34" charset="0"/>
              </a:rPr>
              <a:t>Do not rush</a:t>
            </a:r>
          </a:p>
          <a:p>
            <a:pPr marL="360000" indent="-360000">
              <a:spcBef>
                <a:spcPts val="600"/>
              </a:spcBef>
              <a:spcAft>
                <a:spcPts val="1200"/>
              </a:spcAft>
            </a:pPr>
            <a:r>
              <a:rPr lang="en-US" sz="2200" dirty="0" smtClean="0">
                <a:latin typeface="Helvetica" pitchFamily="34" charset="0"/>
              </a:rPr>
              <a:t>Breathe deeply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6" name="Picture 2" descr="C:\Documents and Settings\danielc\Desktop\Maintain the security of premises and property imgs\1348197_self.jpg"/>
          <p:cNvPicPr>
            <a:picLocks noChangeAspect="1" noChangeArrowheads="1"/>
          </p:cNvPicPr>
          <p:nvPr/>
        </p:nvPicPr>
        <p:blipFill>
          <a:blip r:embed="rId3" cstate="print"/>
          <a:srcRect/>
          <a:stretch>
            <a:fillRect/>
          </a:stretch>
        </p:blipFill>
        <p:spPr bwMode="auto">
          <a:xfrm>
            <a:off x="5724128" y="3212976"/>
            <a:ext cx="1476372" cy="2214558"/>
          </a:xfrm>
          <a:prstGeom prst="rect">
            <a:avLst/>
          </a:prstGeom>
          <a:noFill/>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calm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Work out what to do – develop a plan</a:t>
            </a:r>
          </a:p>
          <a:p>
            <a:pPr marL="360000" indent="-360000">
              <a:spcBef>
                <a:spcPts val="600"/>
              </a:spcBef>
              <a:spcAft>
                <a:spcPts val="1200"/>
              </a:spcAft>
            </a:pPr>
            <a:r>
              <a:rPr lang="en-US" sz="2200" dirty="0" smtClean="0">
                <a:latin typeface="Helvetica" pitchFamily="34" charset="0"/>
              </a:rPr>
              <a:t>Deliberately put yourself into safe but stressful situations so you can practice dealing with it</a:t>
            </a:r>
          </a:p>
          <a:p>
            <a:pPr marL="360000" indent="-360000">
              <a:spcBef>
                <a:spcPts val="600"/>
              </a:spcBef>
              <a:spcAft>
                <a:spcPts val="1200"/>
              </a:spcAft>
            </a:pPr>
            <a:r>
              <a:rPr lang="en-US" sz="2200" dirty="0" smtClean="0">
                <a:latin typeface="Helvetica" pitchFamily="34" charset="0"/>
              </a:rPr>
              <a:t>Do a ‘stress management’ course and apply some relevant techniques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33794" name="Picture 2" descr="C:\Documents and Settings\danielc\Desktop\761892_heart_in_your_hands.jpg"/>
          <p:cNvPicPr>
            <a:picLocks noChangeAspect="1" noChangeArrowheads="1"/>
          </p:cNvPicPr>
          <p:nvPr/>
        </p:nvPicPr>
        <p:blipFill>
          <a:blip r:embed="rId3" cstate="print">
            <a:grayscl/>
          </a:blip>
          <a:srcRect/>
          <a:stretch>
            <a:fillRect/>
          </a:stretch>
        </p:blipFill>
        <p:spPr bwMode="auto">
          <a:xfrm>
            <a:off x="3143240" y="3929066"/>
            <a:ext cx="2857500" cy="1905000"/>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an evacuation is necessary:</a:t>
            </a:r>
          </a:p>
          <a:p>
            <a:pPr marL="360000" indent="-360000">
              <a:spcBef>
                <a:spcPts val="600"/>
              </a:spcBef>
              <a:spcAft>
                <a:spcPts val="1200"/>
              </a:spcAft>
            </a:pPr>
            <a:r>
              <a:rPr lang="en-US" sz="2200" dirty="0" smtClean="0">
                <a:latin typeface="Helvetica" pitchFamily="34" charset="0"/>
              </a:rPr>
              <a:t>You need to determine the evacuation route/s to be used</a:t>
            </a:r>
          </a:p>
          <a:p>
            <a:pPr marL="360000" indent="-360000">
              <a:spcBef>
                <a:spcPts val="600"/>
              </a:spcBef>
              <a:spcAft>
                <a:spcPts val="1200"/>
              </a:spcAft>
            </a:pPr>
            <a:r>
              <a:rPr lang="en-US" sz="2200" dirty="0" smtClean="0">
                <a:latin typeface="Helvetica" pitchFamily="34" charset="0"/>
              </a:rPr>
              <a:t>The EMP should provide this</a:t>
            </a:r>
          </a:p>
          <a:p>
            <a:pPr marL="360000" indent="-360000">
              <a:spcBef>
                <a:spcPts val="600"/>
              </a:spcBef>
              <a:spcAft>
                <a:spcPts val="1200"/>
              </a:spcAft>
            </a:pPr>
            <a:r>
              <a:rPr lang="en-US" sz="2200" dirty="0" smtClean="0">
                <a:latin typeface="Helvetica" pitchFamily="34" charset="0"/>
              </a:rPr>
              <a:t>You must have studied and know:</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Your workplace EMPs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Everything about your venue/workplace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4" descr="C:\Documents and Settings\danielc\Desktop\images\Maintain the security of premises and property imgs\585641_emergeny_escape.jpg"/>
          <p:cNvPicPr/>
          <p:nvPr/>
        </p:nvPicPr>
        <p:blipFill>
          <a:blip r:embed="rId3" cstate="print"/>
          <a:srcRect/>
          <a:stretch>
            <a:fillRect/>
          </a:stretch>
        </p:blipFill>
        <p:spPr bwMode="auto">
          <a:xfrm>
            <a:off x="6715140" y="3071810"/>
            <a:ext cx="1555679" cy="13320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‘Primary’ evacuation route:</a:t>
            </a:r>
          </a:p>
          <a:p>
            <a:pPr marL="360000" indent="-360000">
              <a:spcBef>
                <a:spcPts val="600"/>
              </a:spcBef>
              <a:spcAft>
                <a:spcPts val="1200"/>
              </a:spcAft>
            </a:pPr>
            <a:r>
              <a:rPr lang="en-US" sz="2200" dirty="0" smtClean="0">
                <a:latin typeface="Helvetica" pitchFamily="34" charset="0"/>
              </a:rPr>
              <a:t>Best/most effective route to take</a:t>
            </a:r>
          </a:p>
          <a:p>
            <a:pPr marL="360000" indent="-360000">
              <a:spcBef>
                <a:spcPts val="600"/>
              </a:spcBef>
              <a:spcAft>
                <a:spcPts val="1200"/>
              </a:spcAft>
            </a:pPr>
            <a:r>
              <a:rPr lang="en-US" sz="2200" dirty="0" smtClean="0">
                <a:latin typeface="Helvetica" pitchFamily="34" charset="0"/>
              </a:rPr>
              <a:t>Included in EMP</a:t>
            </a:r>
          </a:p>
          <a:p>
            <a:pPr marL="360000" indent="-360000">
              <a:spcBef>
                <a:spcPts val="600"/>
              </a:spcBef>
              <a:spcAft>
                <a:spcPts val="1200"/>
              </a:spcAft>
            </a:pPr>
            <a:r>
              <a:rPr lang="en-US" sz="2200" dirty="0" smtClean="0">
                <a:latin typeface="Helvetica" pitchFamily="34" charset="0"/>
              </a:rPr>
              <a:t>Shown in guest rooms and corridors</a:t>
            </a:r>
          </a:p>
          <a:p>
            <a:pPr marL="360000" indent="-360000">
              <a:spcBef>
                <a:spcPts val="600"/>
              </a:spcBef>
              <a:spcAft>
                <a:spcPts val="1200"/>
              </a:spcAft>
            </a:pPr>
            <a:r>
              <a:rPr lang="en-US" sz="2200" dirty="0" smtClean="0">
                <a:latin typeface="Helvetica" pitchFamily="34" charset="0"/>
              </a:rPr>
              <a:t>Will be the focus of most drills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34818" name="Picture 2" descr="C:\Documents and Settings\danielc\Desktop\images\Maintain the security of premises and property imgs\347275_exit_icons.jpg"/>
          <p:cNvPicPr>
            <a:picLocks noChangeAspect="1" noChangeArrowheads="1"/>
          </p:cNvPicPr>
          <p:nvPr/>
        </p:nvPicPr>
        <p:blipFill>
          <a:blip r:embed="rId3" cstate="print"/>
          <a:srcRect/>
          <a:stretch>
            <a:fillRect/>
          </a:stretch>
        </p:blipFill>
        <p:spPr bwMode="auto">
          <a:xfrm>
            <a:off x="6000760" y="2428868"/>
            <a:ext cx="2311392" cy="1725839"/>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‘Secondary’ evacuation routes:</a:t>
            </a:r>
          </a:p>
          <a:p>
            <a:pPr marL="360000" indent="-360000">
              <a:spcBef>
                <a:spcPts val="600"/>
              </a:spcBef>
              <a:spcAft>
                <a:spcPts val="1200"/>
              </a:spcAft>
            </a:pPr>
            <a:r>
              <a:rPr lang="en-US" sz="2200" dirty="0" smtClean="0">
                <a:latin typeface="Helvetica" pitchFamily="34" charset="0"/>
              </a:rPr>
              <a:t>This is ‘Plan B’ for evacuating</a:t>
            </a:r>
          </a:p>
          <a:p>
            <a:pPr marL="360000" indent="-360000">
              <a:spcBef>
                <a:spcPts val="600"/>
              </a:spcBef>
              <a:spcAft>
                <a:spcPts val="1200"/>
              </a:spcAft>
            </a:pPr>
            <a:r>
              <a:rPr lang="en-US" sz="2200" dirty="0" smtClean="0">
                <a:latin typeface="Helvetica" pitchFamily="34" charset="0"/>
              </a:rPr>
              <a:t>Use when ‘primary’ route is unavailable, </a:t>
            </a:r>
            <a:br>
              <a:rPr lang="en-US" sz="2200" dirty="0" smtClean="0">
                <a:latin typeface="Helvetica" pitchFamily="34" charset="0"/>
              </a:rPr>
            </a:br>
            <a:r>
              <a:rPr lang="en-US" sz="2200" dirty="0" smtClean="0">
                <a:latin typeface="Helvetica" pitchFamily="34" charset="0"/>
              </a:rPr>
              <a:t>blocked or unsafe to use</a:t>
            </a:r>
          </a:p>
          <a:p>
            <a:pPr marL="360000" indent="-360000">
              <a:spcBef>
                <a:spcPts val="600"/>
              </a:spcBef>
              <a:spcAft>
                <a:spcPts val="1200"/>
              </a:spcAft>
            </a:pPr>
            <a:r>
              <a:rPr lang="en-US" sz="2200" dirty="0" smtClean="0">
                <a:latin typeface="Helvetica" pitchFamily="34" charset="0"/>
              </a:rPr>
              <a:t>There may be one or several ‘secondary’ </a:t>
            </a:r>
            <a:br>
              <a:rPr lang="en-US" sz="2200" dirty="0" smtClean="0">
                <a:latin typeface="Helvetica" pitchFamily="34" charset="0"/>
              </a:rPr>
            </a:br>
            <a:r>
              <a:rPr lang="en-US" sz="2200" dirty="0" smtClean="0">
                <a:latin typeface="Helvetica" pitchFamily="34" charset="0"/>
              </a:rPr>
              <a:t>routes</a:t>
            </a:r>
          </a:p>
          <a:p>
            <a:pPr marL="360000" indent="-360000">
              <a:spcBef>
                <a:spcPts val="600"/>
              </a:spcBef>
              <a:spcAft>
                <a:spcPts val="1200"/>
              </a:spcAft>
            </a:pPr>
            <a:r>
              <a:rPr lang="en-US" sz="2200" dirty="0" smtClean="0">
                <a:latin typeface="Helvetica" pitchFamily="34" charset="0"/>
              </a:rPr>
              <a:t>Drills should include use of secondary routes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2" descr="C:\Documents and Settings\danielc\Local Settings\Temporary Internet Files\Content.IE5\UMECW9PM\MP900386090[1].jpg"/>
          <p:cNvPicPr>
            <a:picLocks noChangeAspect="1" noChangeArrowheads="1"/>
          </p:cNvPicPr>
          <p:nvPr/>
        </p:nvPicPr>
        <p:blipFill>
          <a:blip r:embed="rId3" cstate="print"/>
          <a:srcRect/>
          <a:stretch>
            <a:fillRect/>
          </a:stretch>
        </p:blipFill>
        <p:spPr bwMode="auto">
          <a:xfrm>
            <a:off x="6715140" y="1714488"/>
            <a:ext cx="1877783" cy="2628896"/>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525963"/>
          </a:xfrm>
        </p:spPr>
        <p:txBody>
          <a:bodyPr>
            <a:normAutofit/>
          </a:bodyPr>
          <a:lstStyle/>
          <a:p>
            <a:pPr marL="0" indent="0">
              <a:spcBef>
                <a:spcPts val="600"/>
              </a:spcBef>
              <a:spcAft>
                <a:spcPts val="1200"/>
              </a:spcAft>
              <a:buNone/>
            </a:pPr>
            <a:r>
              <a:rPr lang="en-US" sz="2200" dirty="0" smtClean="0">
                <a:latin typeface="Helvetica" pitchFamily="34" charset="0"/>
              </a:rPr>
              <a:t>EAPs = Evacuation Assembly Points:</a:t>
            </a:r>
          </a:p>
          <a:p>
            <a:pPr marL="360000" indent="-360000">
              <a:spcBef>
                <a:spcPts val="600"/>
              </a:spcBef>
              <a:spcAft>
                <a:spcPts val="1200"/>
              </a:spcAft>
            </a:pPr>
            <a:r>
              <a:rPr lang="en-US" sz="2200" dirty="0" smtClean="0">
                <a:latin typeface="Helvetica" pitchFamily="34" charset="0"/>
              </a:rPr>
              <a:t>Primary EAPs are at the end of primary evacuation routes</a:t>
            </a:r>
          </a:p>
          <a:p>
            <a:pPr marL="360000" indent="-360000">
              <a:spcBef>
                <a:spcPts val="600"/>
              </a:spcBef>
              <a:spcAft>
                <a:spcPts val="1200"/>
              </a:spcAft>
            </a:pPr>
            <a:r>
              <a:rPr lang="en-US" sz="2200" dirty="0" smtClean="0">
                <a:latin typeface="Helvetica" pitchFamily="34" charset="0"/>
              </a:rPr>
              <a:t>Secondary EAPs are at the end of </a:t>
            </a:r>
            <a:br>
              <a:rPr lang="en-US" sz="2200" dirty="0" smtClean="0">
                <a:latin typeface="Helvetica" pitchFamily="34" charset="0"/>
              </a:rPr>
            </a:br>
            <a:r>
              <a:rPr lang="en-US" sz="2200" dirty="0" smtClean="0">
                <a:latin typeface="Helvetica" pitchFamily="34" charset="0"/>
              </a:rPr>
              <a:t>secondary evacuation routes</a:t>
            </a:r>
          </a:p>
          <a:p>
            <a:pPr marL="360000" indent="-360000">
              <a:spcBef>
                <a:spcPts val="600"/>
              </a:spcBef>
              <a:spcAft>
                <a:spcPts val="1200"/>
              </a:spcAft>
            </a:pPr>
            <a:r>
              <a:rPr lang="en-US" sz="2200" dirty="0" smtClean="0">
                <a:latin typeface="Helvetica" pitchFamily="34" charset="0"/>
              </a:rPr>
              <a:t>The ‘secondary’ EAP for one evacuation </a:t>
            </a:r>
            <a:br>
              <a:rPr lang="en-US" sz="2200" dirty="0" smtClean="0">
                <a:latin typeface="Helvetica" pitchFamily="34" charset="0"/>
              </a:rPr>
            </a:br>
            <a:r>
              <a:rPr lang="en-US" sz="2200" dirty="0" smtClean="0">
                <a:latin typeface="Helvetica" pitchFamily="34" charset="0"/>
              </a:rPr>
              <a:t>route may be the ‘primary’ EAP for </a:t>
            </a:r>
            <a:br>
              <a:rPr lang="en-US" sz="2200" dirty="0" smtClean="0">
                <a:latin typeface="Helvetica" pitchFamily="34" charset="0"/>
              </a:rPr>
            </a:br>
            <a:r>
              <a:rPr lang="en-US" sz="2200" dirty="0" smtClean="0">
                <a:latin typeface="Helvetica" pitchFamily="34" charset="0"/>
              </a:rPr>
              <a:t>another route</a:t>
            </a:r>
          </a:p>
          <a:p>
            <a:pPr marL="360000" indent="-360000">
              <a:spcBef>
                <a:spcPts val="600"/>
              </a:spcBef>
              <a:spcAft>
                <a:spcPts val="1200"/>
              </a:spcAft>
            </a:pPr>
            <a:r>
              <a:rPr lang="en-US" sz="2200" dirty="0" smtClean="0">
                <a:latin typeface="Helvetica" pitchFamily="34" charset="0"/>
              </a:rPr>
              <a:t>Locations must be ‘signed’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35842" name="Picture 2" descr="C:\Documents and Settings\danielc\Local Settings\Temporary Internet Files\Content.IE5\3Y3SDCJX\MP900382697[1].jpg"/>
          <p:cNvPicPr>
            <a:picLocks noChangeAspect="1" noChangeArrowheads="1"/>
          </p:cNvPicPr>
          <p:nvPr/>
        </p:nvPicPr>
        <p:blipFill>
          <a:blip r:embed="rId3" cstate="print"/>
          <a:srcRect/>
          <a:stretch>
            <a:fillRect/>
          </a:stretch>
        </p:blipFill>
        <p:spPr bwMode="auto">
          <a:xfrm>
            <a:off x="6415078" y="2928934"/>
            <a:ext cx="2300304" cy="1643074"/>
          </a:xfrm>
          <a:prstGeom prst="rect">
            <a:avLst/>
          </a:prstGeom>
          <a:noFill/>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deciding which evacuation route to use:</a:t>
            </a:r>
          </a:p>
          <a:p>
            <a:pPr marL="360000" indent="-360000">
              <a:spcBef>
                <a:spcPts val="600"/>
              </a:spcBef>
              <a:spcAft>
                <a:spcPts val="1200"/>
              </a:spcAft>
            </a:pPr>
            <a:r>
              <a:rPr lang="en-US" sz="2200" dirty="0" smtClean="0">
                <a:latin typeface="Helvetica" pitchFamily="34" charset="0"/>
              </a:rPr>
              <a:t>Primary evacuation route should be first option</a:t>
            </a:r>
          </a:p>
          <a:p>
            <a:pPr marL="360000" indent="-360000">
              <a:spcBef>
                <a:spcPts val="600"/>
              </a:spcBef>
              <a:spcAft>
                <a:spcPts val="1200"/>
              </a:spcAft>
            </a:pPr>
            <a:r>
              <a:rPr lang="en-US" sz="2200" dirty="0" smtClean="0">
                <a:latin typeface="Helvetica" pitchFamily="34" charset="0"/>
              </a:rPr>
              <a:t>Select ‘secondary’ route if primary is compromised</a:t>
            </a:r>
          </a:p>
          <a:p>
            <a:pPr marL="360000" indent="-360000">
              <a:spcBef>
                <a:spcPts val="600"/>
              </a:spcBef>
              <a:spcAft>
                <a:spcPts val="1200"/>
              </a:spcAft>
            </a:pPr>
            <a:r>
              <a:rPr lang="en-US" sz="2200" dirty="0" smtClean="0">
                <a:latin typeface="Helvetica" pitchFamily="34" charset="0"/>
              </a:rPr>
              <a:t>Refer to and rely on venue knowledge to help decide</a:t>
            </a:r>
          </a:p>
          <a:p>
            <a:pPr marL="360000" indent="-360000">
              <a:spcBef>
                <a:spcPts val="600"/>
              </a:spcBef>
              <a:spcAft>
                <a:spcPts val="1200"/>
              </a:spcAft>
            </a:pPr>
            <a:r>
              <a:rPr lang="en-US" sz="2200" dirty="0" smtClean="0">
                <a:latin typeface="Helvetica" pitchFamily="34" charset="0"/>
              </a:rPr>
              <a:t>Integrate information you have about the emergency into your thinking</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36867" name="Picture 3" descr="C:\Documents and Settings\danielc\Local Settings\Temporary Internet Files\Content.IE5\UMECW9PM\MC900367638[1].wmf"/>
          <p:cNvPicPr>
            <a:picLocks noChangeAspect="1" noChangeArrowheads="1"/>
          </p:cNvPicPr>
          <p:nvPr/>
        </p:nvPicPr>
        <p:blipFill>
          <a:blip r:embed="rId3" cstate="print"/>
          <a:srcRect/>
          <a:stretch>
            <a:fillRect/>
          </a:stretch>
        </p:blipFill>
        <p:spPr bwMode="auto">
          <a:xfrm>
            <a:off x="5929322" y="4572008"/>
            <a:ext cx="1827886" cy="1742846"/>
          </a:xfrm>
          <a:prstGeom prst="rect">
            <a:avLst/>
          </a:prstGeom>
          <a:noFill/>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Take a moment to consider spread of the impact of the emergency</a:t>
            </a:r>
          </a:p>
          <a:p>
            <a:pPr marL="360000" indent="-360000">
              <a:spcBef>
                <a:spcPts val="600"/>
              </a:spcBef>
              <a:spcAft>
                <a:spcPts val="1200"/>
              </a:spcAft>
            </a:pPr>
            <a:r>
              <a:rPr lang="en-US" sz="2200" dirty="0" smtClean="0">
                <a:latin typeface="Helvetica" pitchFamily="34" charset="0"/>
              </a:rPr>
              <a:t>Try to keep your options open</a:t>
            </a:r>
          </a:p>
          <a:p>
            <a:pPr marL="360000" indent="-360000">
              <a:spcBef>
                <a:spcPts val="600"/>
              </a:spcBef>
              <a:spcAft>
                <a:spcPts val="1200"/>
              </a:spcAft>
            </a:pPr>
            <a:r>
              <a:rPr lang="en-US" sz="2200" dirty="0" smtClean="0">
                <a:latin typeface="Helvetica" pitchFamily="34" charset="0"/>
              </a:rPr>
              <a:t>Realise windows can provide a safe exit strategy</a:t>
            </a:r>
          </a:p>
          <a:p>
            <a:pPr marL="360000" indent="-360000">
              <a:spcBef>
                <a:spcPts val="600"/>
              </a:spcBef>
              <a:spcAft>
                <a:spcPts val="1200"/>
              </a:spcAft>
            </a:pPr>
            <a:r>
              <a:rPr lang="en-US" sz="2200" dirty="0" smtClean="0">
                <a:latin typeface="Helvetica" pitchFamily="34" charset="0"/>
              </a:rPr>
              <a:t>Practice dealing with emergencies where primary and secondary evacuation routes are blocked</a:t>
            </a:r>
          </a:p>
          <a:p>
            <a:pPr marL="360000" indent="-360000">
              <a:spcBef>
                <a:spcPts val="600"/>
              </a:spcBef>
              <a:spcAft>
                <a:spcPts val="1200"/>
              </a:spcAft>
            </a:pPr>
            <a:r>
              <a:rPr lang="en-US" sz="2200" dirty="0" smtClean="0">
                <a:latin typeface="Helvetica" pitchFamily="34" charset="0"/>
              </a:rPr>
              <a:t>Realise back-of-house areas are valid parts of an escape route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37890" name="Picture 2" descr="C:\Documents and Settings\danielc\Local Settings\Temporary Internet Files\Content.IE5\112MAXTI\MC910216309[1].png"/>
          <p:cNvPicPr>
            <a:picLocks noChangeAspect="1" noChangeArrowheads="1"/>
          </p:cNvPicPr>
          <p:nvPr/>
        </p:nvPicPr>
        <p:blipFill>
          <a:blip r:embed="rId3" cstate="print"/>
          <a:srcRect/>
          <a:stretch>
            <a:fillRect/>
          </a:stretch>
        </p:blipFill>
        <p:spPr bwMode="auto">
          <a:xfrm>
            <a:off x="3286116" y="5214950"/>
            <a:ext cx="2941166" cy="1232584"/>
          </a:xfrm>
          <a:prstGeom prst="rect">
            <a:avLst/>
          </a:prstGeom>
          <a:noFill/>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Where routes are blocked the following may be options:</a:t>
            </a:r>
          </a:p>
          <a:p>
            <a:pPr marL="360000" indent="-360000">
              <a:spcBef>
                <a:spcPts val="600"/>
              </a:spcBef>
              <a:spcAft>
                <a:spcPts val="1200"/>
              </a:spcAft>
            </a:pPr>
            <a:r>
              <a:rPr lang="en-US" sz="2200" dirty="0" smtClean="0">
                <a:latin typeface="Helvetica" pitchFamily="34" charset="0"/>
              </a:rPr>
              <a:t>Remove obstructions</a:t>
            </a:r>
          </a:p>
          <a:p>
            <a:pPr marL="360000" indent="-360000">
              <a:spcBef>
                <a:spcPts val="600"/>
              </a:spcBef>
              <a:spcAft>
                <a:spcPts val="1200"/>
              </a:spcAft>
            </a:pPr>
            <a:r>
              <a:rPr lang="en-US" sz="2200" dirty="0" smtClean="0">
                <a:latin typeface="Helvetica" pitchFamily="34" charset="0"/>
              </a:rPr>
              <a:t>Use designated secondary evacuation routes</a:t>
            </a:r>
          </a:p>
          <a:p>
            <a:pPr marL="360000" indent="-360000">
              <a:spcBef>
                <a:spcPts val="600"/>
              </a:spcBef>
              <a:spcAft>
                <a:spcPts val="1200"/>
              </a:spcAft>
            </a:pPr>
            <a:r>
              <a:rPr lang="en-US" sz="2200" dirty="0" smtClean="0">
                <a:latin typeface="Helvetica" pitchFamily="34" charset="0"/>
              </a:rPr>
              <a:t>Advice chain of command/CCC of blockage</a:t>
            </a:r>
          </a:p>
          <a:p>
            <a:pPr marL="360000" indent="-360000">
              <a:spcBef>
                <a:spcPts val="600"/>
              </a:spcBef>
              <a:spcAft>
                <a:spcPts val="1200"/>
              </a:spcAft>
            </a:pPr>
            <a:r>
              <a:rPr lang="en-US" sz="2200" dirty="0" smtClean="0">
                <a:latin typeface="Helvetica" pitchFamily="34" charset="0"/>
              </a:rPr>
              <a:t>Ask for an alternate route</a:t>
            </a:r>
          </a:p>
          <a:p>
            <a:pPr marL="360000" indent="-360000">
              <a:spcBef>
                <a:spcPts val="600"/>
              </a:spcBef>
              <a:spcAft>
                <a:spcPts val="1200"/>
              </a:spcAft>
            </a:pPr>
            <a:r>
              <a:rPr lang="en-US" sz="2200" dirty="0" smtClean="0">
                <a:latin typeface="Helvetica" pitchFamily="34" charset="0"/>
              </a:rPr>
              <a:t>Use personal knowledge and common sense to determine alternate route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38914" name="Picture 2" descr="C:\Documents and Settings\danielc\Local Settings\Temporary Internet Files\Content.IE5\3DV3UKH9\MC910216310[1].png"/>
          <p:cNvPicPr>
            <a:picLocks noChangeAspect="1" noChangeArrowheads="1"/>
          </p:cNvPicPr>
          <p:nvPr/>
        </p:nvPicPr>
        <p:blipFill>
          <a:blip r:embed="rId3" cstate="print"/>
          <a:srcRect/>
          <a:stretch>
            <a:fillRect/>
          </a:stretch>
        </p:blipFill>
        <p:spPr bwMode="auto">
          <a:xfrm>
            <a:off x="3500430" y="5286388"/>
            <a:ext cx="2298224" cy="963140"/>
          </a:xfrm>
          <a:prstGeom prst="rect">
            <a:avLst/>
          </a:prstGeom>
          <a:noFill/>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evacuation route/s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you know/believe primary EAP is unsafe:</a:t>
            </a:r>
          </a:p>
          <a:p>
            <a:pPr marL="360000" indent="-360000">
              <a:spcBef>
                <a:spcPts val="600"/>
              </a:spcBef>
              <a:spcAft>
                <a:spcPts val="1200"/>
              </a:spcAft>
            </a:pPr>
            <a:r>
              <a:rPr lang="en-US" sz="2200" dirty="0" smtClean="0">
                <a:latin typeface="Helvetica" pitchFamily="34" charset="0"/>
              </a:rPr>
              <a:t>Use secondary EAP</a:t>
            </a:r>
          </a:p>
          <a:p>
            <a:pPr marL="360000" indent="-360000">
              <a:spcBef>
                <a:spcPts val="600"/>
              </a:spcBef>
              <a:spcAft>
                <a:spcPts val="1200"/>
              </a:spcAft>
            </a:pPr>
            <a:r>
              <a:rPr lang="en-US" sz="2200" dirty="0" smtClean="0">
                <a:latin typeface="Helvetica" pitchFamily="34" charset="0"/>
              </a:rPr>
              <a:t>Escort people to secondary EAP</a:t>
            </a:r>
          </a:p>
          <a:p>
            <a:pPr marL="360000" indent="-360000">
              <a:spcBef>
                <a:spcPts val="600"/>
              </a:spcBef>
              <a:spcAft>
                <a:spcPts val="1200"/>
              </a:spcAft>
            </a:pPr>
            <a:r>
              <a:rPr lang="en-US" sz="2200" dirty="0" smtClean="0">
                <a:latin typeface="Helvetica" pitchFamily="34" charset="0"/>
              </a:rPr>
              <a:t>Notify chain of command/CCC</a:t>
            </a:r>
          </a:p>
          <a:p>
            <a:pPr marL="360000" indent="-360000">
              <a:spcBef>
                <a:spcPts val="600"/>
              </a:spcBef>
              <a:spcAft>
                <a:spcPts val="1200"/>
              </a:spcAft>
            </a:pPr>
            <a:r>
              <a:rPr lang="en-US" sz="2200" dirty="0" smtClean="0">
                <a:latin typeface="Helvetica" pitchFamily="34" charset="0"/>
              </a:rPr>
              <a:t>Reassure evacuees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39938" name="Picture 2" descr="C:\Documents and Settings\danielc\Local Settings\Temporary Internet Files\Content.IE5\V9A2RTT8\MC900240355[1].wmf"/>
          <p:cNvPicPr>
            <a:picLocks noChangeAspect="1" noChangeArrowheads="1"/>
          </p:cNvPicPr>
          <p:nvPr/>
        </p:nvPicPr>
        <p:blipFill>
          <a:blip r:embed="rId3" cstate="print"/>
          <a:srcRect/>
          <a:stretch>
            <a:fillRect/>
          </a:stretch>
        </p:blipFill>
        <p:spPr bwMode="auto">
          <a:xfrm>
            <a:off x="6143636" y="2428868"/>
            <a:ext cx="1814170" cy="1563624"/>
          </a:xfrm>
          <a:prstGeom prst="rect">
            <a:avLst/>
          </a:prstGeom>
          <a:noFill/>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for persons left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00174"/>
            <a:ext cx="7776864" cy="4525963"/>
          </a:xfrm>
        </p:spPr>
        <p:txBody>
          <a:bodyPr>
            <a:normAutofit/>
          </a:bodyPr>
          <a:lstStyle/>
          <a:p>
            <a:pPr marL="0" indent="0">
              <a:spcBef>
                <a:spcPts val="600"/>
              </a:spcBef>
              <a:spcAft>
                <a:spcPts val="1200"/>
              </a:spcAft>
              <a:buNone/>
            </a:pPr>
            <a:r>
              <a:rPr lang="en-US" sz="2200" dirty="0" smtClean="0">
                <a:latin typeface="Helvetica" pitchFamily="34" charset="0"/>
              </a:rPr>
              <a:t>All evacuations should involve a check for persons left in the building.</a:t>
            </a:r>
          </a:p>
          <a:p>
            <a:pPr marL="0" indent="0">
              <a:spcBef>
                <a:spcPts val="600"/>
              </a:spcBef>
              <a:spcAft>
                <a:spcPts val="1200"/>
              </a:spcAft>
              <a:buNone/>
            </a:pPr>
            <a:r>
              <a:rPr lang="en-US" sz="2200" dirty="0" smtClean="0">
                <a:latin typeface="Helvetica" pitchFamily="34" charset="0"/>
              </a:rPr>
              <a:t>Planning for this should include:</a:t>
            </a:r>
          </a:p>
          <a:p>
            <a:pPr marL="360000" indent="-360000">
              <a:spcBef>
                <a:spcPts val="600"/>
              </a:spcBef>
              <a:spcAft>
                <a:spcPts val="1200"/>
              </a:spcAft>
            </a:pPr>
            <a:r>
              <a:rPr lang="en-US" sz="2200" dirty="0" smtClean="0">
                <a:latin typeface="Helvetica" pitchFamily="34" charset="0"/>
              </a:rPr>
              <a:t>Allocating responsibility for the ‘All clear’ call</a:t>
            </a:r>
          </a:p>
          <a:p>
            <a:pPr marL="360000" indent="-360000">
              <a:spcBef>
                <a:spcPts val="600"/>
              </a:spcBef>
              <a:spcAft>
                <a:spcPts val="1200"/>
              </a:spcAft>
            </a:pPr>
            <a:r>
              <a:rPr lang="en-US" sz="2200" dirty="0" smtClean="0">
                <a:latin typeface="Helvetica" pitchFamily="34" charset="0"/>
              </a:rPr>
              <a:t>Allocating specific locations for nominated </a:t>
            </a:r>
            <a:br>
              <a:rPr lang="en-US" sz="2200" dirty="0" smtClean="0">
                <a:latin typeface="Helvetica" pitchFamily="34" charset="0"/>
              </a:rPr>
            </a:br>
            <a:r>
              <a:rPr lang="en-US" sz="2200" dirty="0" smtClean="0">
                <a:latin typeface="Helvetica" pitchFamily="34" charset="0"/>
              </a:rPr>
              <a:t>people to check</a:t>
            </a:r>
          </a:p>
          <a:p>
            <a:pPr marL="360000" indent="-360000">
              <a:spcBef>
                <a:spcPts val="600"/>
              </a:spcBef>
              <a:spcAft>
                <a:spcPts val="1200"/>
              </a:spcAft>
            </a:pPr>
            <a:r>
              <a:rPr lang="en-US" sz="2200" dirty="0" smtClean="0">
                <a:latin typeface="Helvetica" pitchFamily="34" charset="0"/>
              </a:rPr>
              <a:t>Determining sequence of checks</a:t>
            </a:r>
          </a:p>
          <a:p>
            <a:pPr marL="360000" indent="-360000">
              <a:spcBef>
                <a:spcPts val="600"/>
              </a:spcBef>
              <a:spcAft>
                <a:spcPts val="1200"/>
              </a:spcAft>
            </a:pPr>
            <a:r>
              <a:rPr lang="en-US" sz="2200" dirty="0" smtClean="0">
                <a:latin typeface="Helvetica" pitchFamily="34" charset="0"/>
              </a:rPr>
              <a:t>Identifying reporting requirements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40962" name="Picture 2" descr="C:\Documents and Settings\danielc\Desktop\625502_if_the_time_comes.jpg"/>
          <p:cNvPicPr>
            <a:picLocks noChangeAspect="1" noChangeArrowheads="1"/>
          </p:cNvPicPr>
          <p:nvPr/>
        </p:nvPicPr>
        <p:blipFill>
          <a:blip r:embed="rId3" cstate="print"/>
          <a:srcRect/>
          <a:stretch>
            <a:fillRect/>
          </a:stretch>
        </p:blipFill>
        <p:spPr bwMode="auto">
          <a:xfrm>
            <a:off x="6858016" y="3071810"/>
            <a:ext cx="1828617" cy="1785950"/>
          </a:xfrm>
          <a:prstGeom prst="rect">
            <a:avLst/>
          </a:prstGeom>
          <a:noFill/>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for persons left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Training relating to checking for people left in the building should address:</a:t>
            </a:r>
          </a:p>
          <a:p>
            <a:pPr marL="360000" indent="-360000">
              <a:spcBef>
                <a:spcPts val="600"/>
              </a:spcBef>
              <a:spcAft>
                <a:spcPts val="1200"/>
              </a:spcAft>
            </a:pPr>
            <a:r>
              <a:rPr lang="en-US" sz="2200" dirty="0" smtClean="0">
                <a:latin typeface="Helvetica" pitchFamily="34" charset="0"/>
              </a:rPr>
              <a:t>Formal drills: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Realistic</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On different days of the week</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At different times of the day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During quiet and busy times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Integrating ‘problems’ into the drill scenarios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41986" name="Picture 2" descr="C:\Documents and Settings\danielc\Local Settings\Temporary Internet Files\Content.IE5\UMECW9PM\MC900389344[1].wmf"/>
          <p:cNvPicPr>
            <a:picLocks noChangeAspect="1" noChangeArrowheads="1"/>
          </p:cNvPicPr>
          <p:nvPr/>
        </p:nvPicPr>
        <p:blipFill>
          <a:blip r:embed="rId3" cstate="print"/>
          <a:srcRect/>
          <a:stretch>
            <a:fillRect/>
          </a:stretch>
        </p:blipFill>
        <p:spPr bwMode="auto">
          <a:xfrm>
            <a:off x="6277844" y="2928934"/>
            <a:ext cx="1524978" cy="1714512"/>
          </a:xfrm>
          <a:prstGeom prst="rect">
            <a:avLst/>
          </a:prstGeom>
          <a:noFill/>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for persons left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checking for people left in the premises:</a:t>
            </a:r>
          </a:p>
          <a:p>
            <a:pPr marL="360000" indent="-360000">
              <a:spcBef>
                <a:spcPts val="600"/>
              </a:spcBef>
              <a:spcAft>
                <a:spcPts val="1200"/>
              </a:spcAft>
            </a:pPr>
            <a:r>
              <a:rPr lang="en-US" sz="2200" dirty="0" smtClean="0">
                <a:latin typeface="Helvetica" pitchFamily="34" charset="0"/>
              </a:rPr>
              <a:t>Obtain comms devices</a:t>
            </a:r>
          </a:p>
          <a:p>
            <a:pPr marL="360000" indent="-360000">
              <a:spcBef>
                <a:spcPts val="600"/>
              </a:spcBef>
              <a:spcAft>
                <a:spcPts val="1200"/>
              </a:spcAft>
            </a:pPr>
            <a:r>
              <a:rPr lang="en-US" sz="2200" dirty="0" smtClean="0">
                <a:latin typeface="Helvetica" pitchFamily="34" charset="0"/>
              </a:rPr>
              <a:t>Obtain PPE and clothing</a:t>
            </a:r>
          </a:p>
          <a:p>
            <a:pPr marL="360000" indent="-360000">
              <a:spcBef>
                <a:spcPts val="600"/>
              </a:spcBef>
              <a:spcAft>
                <a:spcPts val="1200"/>
              </a:spcAft>
            </a:pPr>
            <a:r>
              <a:rPr lang="en-US" sz="2200" dirty="0" smtClean="0">
                <a:latin typeface="Helvetica" pitchFamily="34" charset="0"/>
              </a:rPr>
              <a:t>Follow EMP search requirements allocated to you</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43010" name="Picture 2" descr="C:\Documents and Settings\danielc\Local Settings\Temporary Internet Files\Content.IE5\V9A2RTT8\MC900216694[1].wmf"/>
          <p:cNvPicPr>
            <a:picLocks noChangeAspect="1" noChangeArrowheads="1"/>
          </p:cNvPicPr>
          <p:nvPr/>
        </p:nvPicPr>
        <p:blipFill>
          <a:blip r:embed="rId3" cstate="print"/>
          <a:srcRect/>
          <a:stretch>
            <a:fillRect/>
          </a:stretch>
        </p:blipFill>
        <p:spPr bwMode="auto">
          <a:xfrm>
            <a:off x="7572396" y="1500174"/>
            <a:ext cx="1104171" cy="2143140"/>
          </a:xfrm>
          <a:prstGeom prst="rect">
            <a:avLst/>
          </a:prstGeom>
          <a:noFill/>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for persons left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Search properly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Look behind doors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Open closed doors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Look in any area capable of concealing a human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Close doors after you have opened them</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Call out as you search</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3" descr="C:\Documents and Settings\danielc\Local Settings\Temporary Internet Files\Content.IE5\SIQ5KRQ3\MP900321206[1].jpg"/>
          <p:cNvPicPr>
            <a:picLocks noChangeAspect="1" noChangeArrowheads="1"/>
          </p:cNvPicPr>
          <p:nvPr/>
        </p:nvPicPr>
        <p:blipFill>
          <a:blip r:embed="rId3" cstate="print"/>
          <a:srcRect/>
          <a:stretch>
            <a:fillRect/>
          </a:stretch>
        </p:blipFill>
        <p:spPr bwMode="auto">
          <a:xfrm>
            <a:off x="6143636" y="1285860"/>
            <a:ext cx="1273978" cy="1785950"/>
          </a:xfrm>
          <a:prstGeom prst="rect">
            <a:avLst/>
          </a:prstGeom>
          <a:noFill/>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for persons left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Communicate your progress – update CCC</a:t>
            </a:r>
          </a:p>
          <a:p>
            <a:pPr marL="360000" indent="-360000">
              <a:spcBef>
                <a:spcPts val="600"/>
              </a:spcBef>
              <a:spcAft>
                <a:spcPts val="1200"/>
              </a:spcAft>
            </a:pPr>
            <a:r>
              <a:rPr lang="en-US" sz="2200" dirty="0" smtClean="0">
                <a:latin typeface="Helvetica" pitchFamily="34" charset="0"/>
              </a:rPr>
              <a:t>Never put anyone at risk</a:t>
            </a:r>
          </a:p>
          <a:p>
            <a:pPr marL="360000" indent="-360000">
              <a:spcBef>
                <a:spcPts val="600"/>
              </a:spcBef>
              <a:spcAft>
                <a:spcPts val="1200"/>
              </a:spcAft>
            </a:pPr>
            <a:r>
              <a:rPr lang="en-US" sz="2200" dirty="0" smtClean="0">
                <a:latin typeface="Helvetica" pitchFamily="34" charset="0"/>
              </a:rPr>
              <a:t>Maintain your own safety</a:t>
            </a:r>
          </a:p>
          <a:p>
            <a:pPr marL="360000" indent="-360000">
              <a:spcBef>
                <a:spcPts val="600"/>
              </a:spcBef>
              <a:spcAft>
                <a:spcPts val="1200"/>
              </a:spcAft>
            </a:pPr>
            <a:r>
              <a:rPr lang="en-US" sz="2200" dirty="0" smtClean="0">
                <a:latin typeface="Helvetica" pitchFamily="34" charset="0"/>
              </a:rPr>
              <a:t>Report details of any persons found trapped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44034" name="Picture 2" descr="C:\Documents and Settings\danielc\Local Settings\Temporary Internet Files\Content.IE5\3Y3SDCJX\MC900356217[1].wmf"/>
          <p:cNvPicPr>
            <a:picLocks noChangeAspect="1" noChangeArrowheads="1"/>
          </p:cNvPicPr>
          <p:nvPr/>
        </p:nvPicPr>
        <p:blipFill>
          <a:blip r:embed="rId3" cstate="print"/>
          <a:srcRect/>
          <a:stretch>
            <a:fillRect/>
          </a:stretch>
        </p:blipFill>
        <p:spPr bwMode="auto">
          <a:xfrm>
            <a:off x="3929058" y="4000504"/>
            <a:ext cx="1707185" cy="1809598"/>
          </a:xfrm>
          <a:prstGeom prst="rect">
            <a:avLst/>
          </a:prstGeom>
          <a:noFill/>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for persons left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Communicate regarding any persons found and action taken</a:t>
            </a:r>
          </a:p>
          <a:p>
            <a:pPr marL="360000" indent="-360000">
              <a:spcBef>
                <a:spcPts val="600"/>
              </a:spcBef>
              <a:spcAft>
                <a:spcPts val="1200"/>
              </a:spcAft>
            </a:pPr>
            <a:r>
              <a:rPr lang="en-US" sz="2200" dirty="0" smtClean="0">
                <a:latin typeface="Helvetica" pitchFamily="34" charset="0"/>
              </a:rPr>
              <a:t>Maintain ‘Situational Awareness’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C:\Documents and Settings\danielc\Desktop\images\Maintain the security of premises and property imgs\Risk sign.jpg"/>
          <p:cNvPicPr/>
          <p:nvPr/>
        </p:nvPicPr>
        <p:blipFill>
          <a:blip r:embed="rId3" cstate="print"/>
          <a:srcRect l="27052" t="6875" r="23705" b="4139"/>
          <a:stretch>
            <a:fillRect/>
          </a:stretch>
        </p:blipFill>
        <p:spPr bwMode="auto">
          <a:xfrm>
            <a:off x="6876256" y="2996952"/>
            <a:ext cx="1030817" cy="22464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 part of any evacuation you must:</a:t>
            </a:r>
          </a:p>
          <a:p>
            <a:pPr marL="360000" indent="-360000">
              <a:spcBef>
                <a:spcPts val="600"/>
              </a:spcBef>
              <a:spcAft>
                <a:spcPts val="1200"/>
              </a:spcAft>
            </a:pPr>
            <a:r>
              <a:rPr lang="en-US" sz="2200" dirty="0" smtClean="0">
                <a:latin typeface="Helvetica" pitchFamily="34" charset="0"/>
              </a:rPr>
              <a:t>Account for everyone who has been evacuated</a:t>
            </a:r>
          </a:p>
          <a:p>
            <a:pPr marL="360000" indent="-360000">
              <a:spcBef>
                <a:spcPts val="600"/>
              </a:spcBef>
              <a:spcAft>
                <a:spcPts val="1200"/>
              </a:spcAft>
            </a:pPr>
            <a:r>
              <a:rPr lang="en-US" sz="2200" dirty="0" smtClean="0">
                <a:latin typeface="Helvetica" pitchFamily="34" charset="0"/>
              </a:rPr>
              <a:t>Account for everyone: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Registered as a guest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Using facilities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Known to be ‘on the premises’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45058" name="Picture 2" descr="C:\Documents and Settings\danielc\Desktop\117993_counting_fingers__3.jpg"/>
          <p:cNvPicPr>
            <a:picLocks noChangeAspect="1" noChangeArrowheads="1"/>
          </p:cNvPicPr>
          <p:nvPr/>
        </p:nvPicPr>
        <p:blipFill>
          <a:blip r:embed="rId3" cstate="print"/>
          <a:srcRect r="25157"/>
          <a:stretch>
            <a:fillRect/>
          </a:stretch>
        </p:blipFill>
        <p:spPr bwMode="auto">
          <a:xfrm>
            <a:off x="6858016" y="2643182"/>
            <a:ext cx="1357322" cy="2428872"/>
          </a:xfrm>
          <a:prstGeom prst="rect">
            <a:avLst/>
          </a:prstGeom>
          <a:noFill/>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need to account for people to:</a:t>
            </a:r>
          </a:p>
          <a:p>
            <a:pPr marL="360000" indent="-360000">
              <a:spcBef>
                <a:spcPts val="600"/>
              </a:spcBef>
              <a:spcAft>
                <a:spcPts val="1200"/>
              </a:spcAft>
            </a:pPr>
            <a:r>
              <a:rPr lang="en-US" sz="2200" dirty="0" smtClean="0">
                <a:latin typeface="Helvetica" pitchFamily="34" charset="0"/>
              </a:rPr>
              <a:t>Determine if people are still in the </a:t>
            </a:r>
            <a:br>
              <a:rPr lang="en-US" sz="2200" dirty="0" smtClean="0">
                <a:latin typeface="Helvetica" pitchFamily="34" charset="0"/>
              </a:rPr>
            </a:br>
            <a:r>
              <a:rPr lang="en-US" sz="2200" dirty="0" smtClean="0">
                <a:latin typeface="Helvetica" pitchFamily="34" charset="0"/>
              </a:rPr>
              <a:t>building</a:t>
            </a:r>
          </a:p>
          <a:p>
            <a:pPr marL="360000" indent="-360000">
              <a:spcBef>
                <a:spcPts val="600"/>
              </a:spcBef>
              <a:spcAft>
                <a:spcPts val="1200"/>
              </a:spcAft>
            </a:pPr>
            <a:r>
              <a:rPr lang="en-US" sz="2200" dirty="0" smtClean="0">
                <a:latin typeface="Helvetica" pitchFamily="34" charset="0"/>
              </a:rPr>
              <a:t>Confirm evacuees</a:t>
            </a:r>
          </a:p>
          <a:p>
            <a:pPr marL="360000" indent="-360000">
              <a:spcBef>
                <a:spcPts val="600"/>
              </a:spcBef>
              <a:spcAft>
                <a:spcPts val="1200"/>
              </a:spcAft>
            </a:pPr>
            <a:r>
              <a:rPr lang="en-US" sz="2200" dirty="0" smtClean="0">
                <a:latin typeface="Helvetica" pitchFamily="34" charset="0"/>
              </a:rPr>
              <a:t>Discharge ‘duty of care’ obligations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46082" name="Picture 2" descr="C:\Documents and Settings\danielc\Local Settings\Temporary Internet Files\Content.IE5\SIQ5KRQ3\MP900402265[1].jpg"/>
          <p:cNvPicPr>
            <a:picLocks noChangeAspect="1" noChangeArrowheads="1"/>
          </p:cNvPicPr>
          <p:nvPr/>
        </p:nvPicPr>
        <p:blipFill>
          <a:blip r:embed="rId3" cstate="print"/>
          <a:srcRect/>
          <a:stretch>
            <a:fillRect/>
          </a:stretch>
        </p:blipFill>
        <p:spPr bwMode="auto">
          <a:xfrm>
            <a:off x="5715008" y="2214554"/>
            <a:ext cx="2465574" cy="1643074"/>
          </a:xfrm>
          <a:prstGeom prst="rect">
            <a:avLst/>
          </a:prstGeom>
          <a:noFill/>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‘Accounting for people’ means knowing where they are – they could be:</a:t>
            </a:r>
          </a:p>
          <a:p>
            <a:pPr marL="360000" indent="-360000">
              <a:spcBef>
                <a:spcPts val="600"/>
              </a:spcBef>
              <a:spcAft>
                <a:spcPts val="1200"/>
              </a:spcAft>
            </a:pPr>
            <a:r>
              <a:rPr lang="en-US" sz="2200" dirty="0" smtClean="0">
                <a:latin typeface="Helvetica" pitchFamily="34" charset="0"/>
              </a:rPr>
              <a:t>Evacuated and safe</a:t>
            </a:r>
          </a:p>
          <a:p>
            <a:pPr marL="360000" indent="-360000">
              <a:spcBef>
                <a:spcPts val="600"/>
              </a:spcBef>
              <a:spcAft>
                <a:spcPts val="1200"/>
              </a:spcAft>
            </a:pPr>
            <a:r>
              <a:rPr lang="en-US" sz="2200" dirty="0" smtClean="0">
                <a:latin typeface="Helvetica" pitchFamily="34" charset="0"/>
              </a:rPr>
              <a:t>Trapped</a:t>
            </a:r>
          </a:p>
          <a:p>
            <a:pPr marL="360000" indent="-360000">
              <a:spcBef>
                <a:spcPts val="600"/>
              </a:spcBef>
              <a:spcAft>
                <a:spcPts val="1200"/>
              </a:spcAft>
            </a:pPr>
            <a:r>
              <a:rPr lang="en-US" sz="2200" dirty="0" smtClean="0">
                <a:latin typeface="Helvetica" pitchFamily="34" charset="0"/>
              </a:rPr>
              <a:t>Unaccounted for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47106" name="Picture 2" descr="C:\Documents and Settings\danielc\Desktop\1391608_people.jpg"/>
          <p:cNvPicPr>
            <a:picLocks noChangeAspect="1" noChangeArrowheads="1"/>
          </p:cNvPicPr>
          <p:nvPr/>
        </p:nvPicPr>
        <p:blipFill>
          <a:blip r:embed="rId3" cstate="print"/>
          <a:srcRect/>
          <a:stretch>
            <a:fillRect/>
          </a:stretch>
        </p:blipFill>
        <p:spPr bwMode="auto">
          <a:xfrm>
            <a:off x="5072066" y="2428868"/>
            <a:ext cx="2857500" cy="2019300"/>
          </a:xfrm>
          <a:prstGeom prst="rect">
            <a:avLst/>
          </a:prstGeom>
          <a:noFill/>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 confirm numbers:</a:t>
            </a:r>
          </a:p>
          <a:p>
            <a:pPr marL="360000" indent="-360000">
              <a:spcBef>
                <a:spcPts val="600"/>
              </a:spcBef>
              <a:spcAft>
                <a:spcPts val="1200"/>
              </a:spcAft>
            </a:pPr>
            <a:r>
              <a:rPr lang="en-US" sz="2200" dirty="0" smtClean="0">
                <a:latin typeface="Helvetica" pitchFamily="34" charset="0"/>
              </a:rPr>
              <a:t>Refer to internal documents</a:t>
            </a:r>
          </a:p>
          <a:p>
            <a:pPr marL="360000" indent="-360000">
              <a:spcBef>
                <a:spcPts val="600"/>
              </a:spcBef>
              <a:spcAft>
                <a:spcPts val="1200"/>
              </a:spcAft>
            </a:pPr>
            <a:r>
              <a:rPr lang="en-US" sz="2200" dirty="0" smtClean="0">
                <a:latin typeface="Helvetica" pitchFamily="34" charset="0"/>
              </a:rPr>
              <a:t>Refer to ‘Evacuation Registers’</a:t>
            </a:r>
          </a:p>
          <a:p>
            <a:pPr marL="360000" indent="-360000">
              <a:spcBef>
                <a:spcPts val="600"/>
              </a:spcBef>
              <a:spcAft>
                <a:spcPts val="1200"/>
              </a:spcAft>
            </a:pPr>
            <a:r>
              <a:rPr lang="en-US" sz="2200" dirty="0" smtClean="0">
                <a:latin typeface="Helvetica" pitchFamily="34" charset="0"/>
              </a:rPr>
              <a:t>Refer to CCTV footage</a:t>
            </a:r>
          </a:p>
          <a:p>
            <a:pPr marL="360000" indent="-360000">
              <a:spcBef>
                <a:spcPts val="600"/>
              </a:spcBef>
              <a:spcAft>
                <a:spcPts val="1200"/>
              </a:spcAft>
            </a:pPr>
            <a:r>
              <a:rPr lang="en-US" sz="2200" dirty="0" smtClean="0">
                <a:latin typeface="Helvetica" pitchFamily="34" charset="0"/>
              </a:rPr>
              <a:t>Talk to other venue staff</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48130" name="Picture 2" descr="C:\Documents and Settings\danielc\Desktop\1380889_crowd.jpg"/>
          <p:cNvPicPr>
            <a:picLocks noChangeAspect="1" noChangeArrowheads="1"/>
          </p:cNvPicPr>
          <p:nvPr/>
        </p:nvPicPr>
        <p:blipFill>
          <a:blip r:embed="rId3" cstate="print"/>
          <a:srcRect/>
          <a:stretch>
            <a:fillRect/>
          </a:stretch>
        </p:blipFill>
        <p:spPr bwMode="auto">
          <a:xfrm>
            <a:off x="6072198" y="1643050"/>
            <a:ext cx="2000250" cy="2857500"/>
          </a:xfrm>
          <a:prstGeom prst="rect">
            <a:avLst/>
          </a:prstGeom>
          <a:noFill/>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Conduct head count</a:t>
            </a:r>
          </a:p>
          <a:p>
            <a:pPr marL="360000" indent="-360000">
              <a:spcBef>
                <a:spcPts val="600"/>
              </a:spcBef>
              <a:spcAft>
                <a:spcPts val="1200"/>
              </a:spcAft>
            </a:pPr>
            <a:r>
              <a:rPr lang="en-US" sz="2200" dirty="0" smtClean="0">
                <a:latin typeface="Helvetica" pitchFamily="34" charset="0"/>
              </a:rPr>
              <a:t>Prepare list – those accounted for and unaccounted for</a:t>
            </a:r>
          </a:p>
          <a:p>
            <a:pPr marL="360000" indent="-360000">
              <a:spcBef>
                <a:spcPts val="600"/>
              </a:spcBef>
              <a:spcAft>
                <a:spcPts val="1200"/>
              </a:spcAft>
            </a:pPr>
            <a:r>
              <a:rPr lang="en-US" sz="2200" dirty="0" smtClean="0">
                <a:latin typeface="Helvetica" pitchFamily="34" charset="0"/>
              </a:rPr>
              <a:t>Liaise with emergency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49154" name="Picture 2" descr="C:\Documents and Settings\danielc\Desktop\1336893_teamwork_2.jpg"/>
          <p:cNvPicPr>
            <a:picLocks noChangeAspect="1" noChangeArrowheads="1"/>
          </p:cNvPicPr>
          <p:nvPr/>
        </p:nvPicPr>
        <p:blipFill>
          <a:blip r:embed="rId3" cstate="print"/>
          <a:srcRect/>
          <a:stretch>
            <a:fillRect/>
          </a:stretch>
        </p:blipFill>
        <p:spPr bwMode="auto">
          <a:xfrm>
            <a:off x="2857488" y="4000504"/>
            <a:ext cx="2857500" cy="1838325"/>
          </a:xfrm>
          <a:prstGeom prst="rect">
            <a:avLst/>
          </a:prstGeom>
          <a:noFill/>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May need to provide the following for those who have been evacuated:</a:t>
            </a:r>
          </a:p>
          <a:p>
            <a:pPr marL="360000" indent="-360000">
              <a:spcBef>
                <a:spcPts val="600"/>
              </a:spcBef>
              <a:spcAft>
                <a:spcPts val="1200"/>
              </a:spcAft>
            </a:pPr>
            <a:r>
              <a:rPr lang="en-US" sz="2200" dirty="0" smtClean="0">
                <a:latin typeface="Helvetica" pitchFamily="34" charset="0"/>
              </a:rPr>
              <a:t>A reassuring presence</a:t>
            </a:r>
          </a:p>
          <a:p>
            <a:pPr marL="360000" indent="-360000">
              <a:spcBef>
                <a:spcPts val="600"/>
              </a:spcBef>
              <a:spcAft>
                <a:spcPts val="1200"/>
              </a:spcAft>
            </a:pPr>
            <a:r>
              <a:rPr lang="en-US" sz="2200" dirty="0" smtClean="0">
                <a:latin typeface="Helvetica" pitchFamily="34" charset="0"/>
              </a:rPr>
              <a:t>Medical attention</a:t>
            </a:r>
          </a:p>
          <a:p>
            <a:pPr marL="360000" indent="-360000">
              <a:spcBef>
                <a:spcPts val="600"/>
              </a:spcBef>
              <a:spcAft>
                <a:spcPts val="1200"/>
              </a:spcAft>
            </a:pPr>
            <a:r>
              <a:rPr lang="en-US" sz="2200" dirty="0" smtClean="0">
                <a:latin typeface="Helvetica" pitchFamily="34" charset="0"/>
              </a:rPr>
              <a:t>Clothing</a:t>
            </a:r>
          </a:p>
          <a:p>
            <a:pPr marL="360000" indent="-360000">
              <a:spcBef>
                <a:spcPts val="600"/>
              </a:spcBef>
              <a:spcAft>
                <a:spcPts val="1200"/>
              </a:spcAft>
            </a:pPr>
            <a:r>
              <a:rPr lang="en-US" sz="2200" dirty="0" smtClean="0">
                <a:latin typeface="Helvetica" pitchFamily="34" charset="0"/>
              </a:rPr>
              <a:t>Food and beverages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0179" name="Picture 3" descr="C:\Documents and Settings\danielc\Desktop\1178513_samaritan.jpg"/>
          <p:cNvPicPr>
            <a:picLocks noChangeAspect="1" noChangeArrowheads="1"/>
          </p:cNvPicPr>
          <p:nvPr/>
        </p:nvPicPr>
        <p:blipFill>
          <a:blip r:embed="rId3" cstate="print"/>
          <a:srcRect/>
          <a:stretch>
            <a:fillRect/>
          </a:stretch>
        </p:blipFill>
        <p:spPr bwMode="auto">
          <a:xfrm>
            <a:off x="5786446" y="2285992"/>
            <a:ext cx="2143125" cy="2857500"/>
          </a:xfrm>
          <a:prstGeom prst="rect">
            <a:avLst/>
          </a:prstGeom>
          <a:noFill/>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Advice on toilets and other facilities</a:t>
            </a:r>
          </a:p>
          <a:p>
            <a:pPr marL="360000" indent="-360000">
              <a:spcBef>
                <a:spcPts val="600"/>
              </a:spcBef>
              <a:spcAft>
                <a:spcPts val="1200"/>
              </a:spcAft>
            </a:pPr>
            <a:r>
              <a:rPr lang="en-US" sz="2200" dirty="0" smtClean="0">
                <a:latin typeface="Helvetica" pitchFamily="34" charset="0"/>
              </a:rPr>
              <a:t>Contact on their behalf with family and friends</a:t>
            </a:r>
          </a:p>
          <a:p>
            <a:pPr marL="360000" indent="-360000">
              <a:spcBef>
                <a:spcPts val="600"/>
              </a:spcBef>
              <a:spcAft>
                <a:spcPts val="1200"/>
              </a:spcAft>
            </a:pPr>
            <a:r>
              <a:rPr lang="en-US" sz="2200" dirty="0" smtClean="0">
                <a:latin typeface="Helvetica" pitchFamily="34" charset="0"/>
              </a:rPr>
              <a:t>Re-housing</a:t>
            </a:r>
          </a:p>
          <a:p>
            <a:pPr marL="360000" indent="-360000">
              <a:spcBef>
                <a:spcPts val="600"/>
              </a:spcBef>
              <a:spcAft>
                <a:spcPts val="1200"/>
              </a:spcAft>
            </a:pPr>
            <a:r>
              <a:rPr lang="en-US" sz="2200" dirty="0" smtClean="0">
                <a:latin typeface="Helvetica" pitchFamily="34" charset="0"/>
              </a:rPr>
              <a:t>Information on the evacuation/progress regarding the emergency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1203" name="Picture 3" descr="C:\Documents and Settings\danielc\Desktop\706602_mug_of_tea.jpg"/>
          <p:cNvPicPr>
            <a:picLocks noChangeAspect="1" noChangeArrowheads="1"/>
          </p:cNvPicPr>
          <p:nvPr/>
        </p:nvPicPr>
        <p:blipFill>
          <a:blip r:embed="rId3" cstate="print"/>
          <a:srcRect/>
          <a:stretch>
            <a:fillRect/>
          </a:stretch>
        </p:blipFill>
        <p:spPr bwMode="auto">
          <a:xfrm>
            <a:off x="3214678" y="4000504"/>
            <a:ext cx="2857500" cy="1895475"/>
          </a:xfrm>
          <a:prstGeom prst="rect">
            <a:avLst/>
          </a:prstGeom>
          <a:noFill/>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Account for evacuees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following up unaccounted persons:</a:t>
            </a:r>
          </a:p>
          <a:p>
            <a:pPr marL="360000" indent="-360000">
              <a:spcBef>
                <a:spcPts val="600"/>
              </a:spcBef>
              <a:spcAft>
                <a:spcPts val="1200"/>
              </a:spcAft>
            </a:pPr>
            <a:r>
              <a:rPr lang="en-US" sz="2200" dirty="0" smtClean="0">
                <a:latin typeface="Helvetica" pitchFamily="34" charset="0"/>
              </a:rPr>
              <a:t>Follow internal protocols</a:t>
            </a:r>
          </a:p>
          <a:p>
            <a:pPr marL="360000" indent="-360000">
              <a:spcBef>
                <a:spcPts val="600"/>
              </a:spcBef>
              <a:spcAft>
                <a:spcPts val="1200"/>
              </a:spcAft>
            </a:pPr>
            <a:r>
              <a:rPr lang="en-US" sz="2200" dirty="0" smtClean="0">
                <a:latin typeface="Helvetica" pitchFamily="34" charset="0"/>
              </a:rPr>
              <a:t>If no house guidelines exist: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Advise emergency services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Advise CCC</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Use known information as basis for trying to make contact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Use the media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2226" name="Picture 2" descr="C:\Documents and Settings\danielc\Local Settings\Temporary Internet Files\Content.IE5\UMECW9PM\MP900385549[1].jpg"/>
          <p:cNvPicPr>
            <a:picLocks noChangeAspect="1" noChangeArrowheads="1"/>
          </p:cNvPicPr>
          <p:nvPr/>
        </p:nvPicPr>
        <p:blipFill>
          <a:blip r:embed="rId3" cstate="print"/>
          <a:srcRect/>
          <a:stretch>
            <a:fillRect/>
          </a:stretch>
        </p:blipFill>
        <p:spPr bwMode="auto">
          <a:xfrm>
            <a:off x="6286512" y="2071678"/>
            <a:ext cx="1418539" cy="1985954"/>
          </a:xfrm>
          <a:prstGeom prst="rect">
            <a:avLst/>
          </a:prstGeom>
          <a:noFill/>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spcBef>
                <a:spcPts val="600"/>
              </a:spcBef>
              <a:spcAft>
                <a:spcPts val="1200"/>
              </a:spcAft>
              <a:buNone/>
            </a:pPr>
            <a:r>
              <a:rPr lang="en-US" sz="2200" dirty="0" smtClean="0">
                <a:latin typeface="Helvetica" pitchFamily="34" charset="0"/>
              </a:rPr>
              <a:t>When conducting evacuations:</a:t>
            </a:r>
          </a:p>
          <a:p>
            <a:pPr marL="360000" indent="-360000">
              <a:spcBef>
                <a:spcPts val="600"/>
              </a:spcBef>
              <a:spcAft>
                <a:spcPts val="1200"/>
              </a:spcAft>
            </a:pPr>
            <a:r>
              <a:rPr lang="en-AU" sz="2200" dirty="0" smtClean="0">
                <a:latin typeface="Helvetica" pitchFamily="34" charset="0"/>
              </a:rPr>
              <a:t>Follow internal procedures and plans</a:t>
            </a:r>
          </a:p>
          <a:p>
            <a:pPr marL="360000" indent="-360000">
              <a:spcBef>
                <a:spcPts val="600"/>
              </a:spcBef>
              <a:spcAft>
                <a:spcPts val="1200"/>
              </a:spcAft>
            </a:pPr>
            <a:r>
              <a:rPr lang="en-AU" sz="2200" dirty="0" smtClean="0">
                <a:latin typeface="Helvetica" pitchFamily="34" charset="0"/>
              </a:rPr>
              <a:t>Activate the relevant alarm</a:t>
            </a:r>
          </a:p>
          <a:p>
            <a:pPr marL="360000" indent="-360000">
              <a:spcBef>
                <a:spcPts val="600"/>
              </a:spcBef>
              <a:spcAft>
                <a:spcPts val="1200"/>
              </a:spcAft>
            </a:pPr>
            <a:r>
              <a:rPr lang="en-AU" sz="2200" dirty="0" smtClean="0">
                <a:latin typeface="Helvetica" pitchFamily="34" charset="0"/>
              </a:rPr>
              <a:t>Notify emergency services</a:t>
            </a:r>
          </a:p>
          <a:p>
            <a:pPr marL="360000" indent="-360000">
              <a:spcBef>
                <a:spcPts val="600"/>
              </a:spcBef>
              <a:spcAft>
                <a:spcPts val="1200"/>
              </a:spcAft>
            </a:pPr>
            <a:r>
              <a:rPr lang="en-AU" sz="2200" dirty="0" smtClean="0"/>
              <a:t>Notify designated internal personnel</a:t>
            </a:r>
          </a:p>
          <a:p>
            <a:pPr marL="360000" indent="-360000">
              <a:spcBef>
                <a:spcPts val="600"/>
              </a:spcBef>
              <a:spcAft>
                <a:spcPts val="1200"/>
              </a:spcAft>
            </a:pPr>
            <a:r>
              <a:rPr lang="en-AU" sz="2200" dirty="0" smtClean="0"/>
              <a:t>Notify and assist patrons and guests</a:t>
            </a:r>
          </a:p>
          <a:p>
            <a:pPr marL="360000" indent="-360000">
              <a:spcBef>
                <a:spcPts val="600"/>
              </a:spcBef>
              <a:spcAft>
                <a:spcPts val="1200"/>
              </a:spcAft>
            </a:pPr>
            <a:r>
              <a:rPr lang="en-AU" sz="2200" dirty="0" smtClean="0"/>
              <a:t>Use common sense and venue knowledge to respond to unforeseen circumstances</a:t>
            </a:r>
            <a:endParaRPr lang="en-US" sz="2200" dirty="0" smtClean="0"/>
          </a:p>
          <a:p>
            <a:pPr marL="360000" indent="-360000">
              <a:spcBef>
                <a:spcPts val="600"/>
              </a:spcBef>
              <a:spcAft>
                <a:spcPts val="1200"/>
              </a:spcAft>
              <a:buNone/>
            </a:pPr>
            <a:r>
              <a:rPr lang="en-US" sz="2200" dirty="0" smtClean="0"/>
              <a:t>(Continued)</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6357950" y="2357430"/>
            <a:ext cx="1578292" cy="1562104"/>
          </a:xfrm>
          <a:prstGeom prst="rect">
            <a:avLst/>
          </a:prstGeom>
          <a:no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Maintain communication with others</a:t>
            </a:r>
          </a:p>
          <a:p>
            <a:pPr marL="360000" indent="-360000">
              <a:spcBef>
                <a:spcPts val="600"/>
              </a:spcBef>
              <a:spcAft>
                <a:spcPts val="1200"/>
              </a:spcAft>
            </a:pPr>
            <a:r>
              <a:rPr lang="en-AU" sz="2200" dirty="0" smtClean="0">
                <a:latin typeface="Helvetica" pitchFamily="34" charset="0"/>
              </a:rPr>
              <a:t>Never put yourself or others in danger</a:t>
            </a:r>
          </a:p>
          <a:p>
            <a:pPr marL="360000" indent="-360000">
              <a:spcBef>
                <a:spcPts val="600"/>
              </a:spcBef>
              <a:spcAft>
                <a:spcPts val="1200"/>
              </a:spcAft>
            </a:pPr>
            <a:r>
              <a:rPr lang="en-AU" sz="2200" dirty="0" smtClean="0">
                <a:latin typeface="Helvetica" pitchFamily="34" charset="0"/>
              </a:rPr>
              <a:t>Maintain calm</a:t>
            </a:r>
          </a:p>
          <a:p>
            <a:pPr marL="360000" indent="-360000">
              <a:spcBef>
                <a:spcPts val="600"/>
              </a:spcBef>
              <a:spcAft>
                <a:spcPts val="1200"/>
              </a:spcAft>
            </a:pPr>
            <a:r>
              <a:rPr lang="en-AU" sz="2200" dirty="0" smtClean="0"/>
              <a:t>Use primary evacuation routes if possible</a:t>
            </a:r>
          </a:p>
          <a:p>
            <a:pPr marL="360000" indent="-360000">
              <a:spcBef>
                <a:spcPts val="600"/>
              </a:spcBef>
              <a:spcAft>
                <a:spcPts val="1200"/>
              </a:spcAft>
            </a:pPr>
            <a:r>
              <a:rPr lang="en-AU" sz="2200" dirty="0" smtClean="0"/>
              <a:t>Be prepared to use or create secondary routes as the need arises</a:t>
            </a:r>
          </a:p>
          <a:p>
            <a:pPr marL="360000" indent="-360000">
              <a:spcBef>
                <a:spcPts val="600"/>
              </a:spcBef>
              <a:spcAft>
                <a:spcPts val="1200"/>
              </a:spcAft>
            </a:pPr>
            <a:r>
              <a:rPr lang="en-AU" sz="2200" dirty="0" smtClean="0"/>
              <a:t>Maintain Situational Awareness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6429388" y="1714488"/>
            <a:ext cx="1578292" cy="1562104"/>
          </a:xfrm>
          <a:prstGeom prst="rect">
            <a:avLst/>
          </a:prstGeom>
          <a:noFill/>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Evacuate people to designated EAPs</a:t>
            </a:r>
          </a:p>
          <a:p>
            <a:pPr marL="360000" indent="-360000">
              <a:spcBef>
                <a:spcPts val="600"/>
              </a:spcBef>
              <a:spcAft>
                <a:spcPts val="1200"/>
              </a:spcAft>
            </a:pPr>
            <a:r>
              <a:rPr lang="en-AU" sz="2200" dirty="0" smtClean="0">
                <a:latin typeface="Helvetica" pitchFamily="34" charset="0"/>
              </a:rPr>
              <a:t>Check for people left in the building according to allocated personal responsibility</a:t>
            </a:r>
          </a:p>
          <a:p>
            <a:pPr marL="360000" indent="-360000">
              <a:spcBef>
                <a:spcPts val="600"/>
              </a:spcBef>
              <a:spcAft>
                <a:spcPts val="1200"/>
              </a:spcAft>
            </a:pPr>
            <a:r>
              <a:rPr lang="en-AU" sz="2200" dirty="0" smtClean="0">
                <a:latin typeface="Helvetica" pitchFamily="34" charset="0"/>
              </a:rPr>
              <a:t>Care for those who have been evacuated</a:t>
            </a:r>
          </a:p>
          <a:p>
            <a:pPr marL="360000" indent="-360000">
              <a:spcBef>
                <a:spcPts val="600"/>
              </a:spcBef>
              <a:spcAft>
                <a:spcPts val="1200"/>
              </a:spcAft>
            </a:pPr>
            <a:r>
              <a:rPr lang="en-AU" sz="2200" dirty="0" smtClean="0">
                <a:latin typeface="Helvetica" pitchFamily="34" charset="0"/>
              </a:rPr>
              <a:t>Assist in accounting for those who have been evacuated</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7143768" y="2500306"/>
            <a:ext cx="1578292" cy="1562104"/>
          </a:xfrm>
          <a:prstGeom prst="rect">
            <a:avLst/>
          </a:prstGeom>
          <a:noFill/>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Fulfil administrative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Complete necessary internal forms &amp; reports</a:t>
            </a:r>
          </a:p>
          <a:p>
            <a:pPr marL="360000" indent="-360000">
              <a:spcBef>
                <a:spcPts val="600"/>
              </a:spcBef>
              <a:spcAft>
                <a:spcPts val="1200"/>
              </a:spcAft>
            </a:pPr>
            <a:r>
              <a:rPr lang="en-US" sz="2200" dirty="0" smtClean="0">
                <a:latin typeface="Helvetica" pitchFamily="34" charset="0"/>
              </a:rPr>
              <a:t>Cooperate with management in making recommending to enhance patron and staff safety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715140"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357818" y="3071810"/>
            <a:ext cx="399154" cy="527046"/>
          </a:xfrm>
          <a:prstGeom prst="rect">
            <a:avLst/>
          </a:prstGeom>
          <a:noFill/>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Requirements when completing documents:</a:t>
            </a:r>
          </a:p>
          <a:p>
            <a:pPr marL="360000" indent="-360000">
              <a:spcBef>
                <a:spcPts val="600"/>
              </a:spcBef>
              <a:spcAft>
                <a:spcPts val="1200"/>
              </a:spcAft>
            </a:pPr>
            <a:r>
              <a:rPr lang="en-US" sz="2200" dirty="0" smtClean="0">
                <a:latin typeface="Helvetica" pitchFamily="34" charset="0"/>
              </a:rPr>
              <a:t>Documents and requirements vary between venues</a:t>
            </a:r>
          </a:p>
          <a:p>
            <a:pPr marL="360000" indent="-360000">
              <a:spcBef>
                <a:spcPts val="600"/>
              </a:spcBef>
              <a:spcAft>
                <a:spcPts val="1200"/>
              </a:spcAft>
            </a:pPr>
            <a:r>
              <a:rPr lang="en-US" sz="2200" dirty="0" smtClean="0">
                <a:latin typeface="Helvetica" pitchFamily="34" charset="0"/>
              </a:rPr>
              <a:t>Must be completed in a timely manner</a:t>
            </a:r>
          </a:p>
          <a:p>
            <a:pPr marL="360000" indent="-360000">
              <a:spcBef>
                <a:spcPts val="600"/>
              </a:spcBef>
              <a:spcAft>
                <a:spcPts val="1200"/>
              </a:spcAft>
            </a:pPr>
            <a:r>
              <a:rPr lang="en-US" sz="2200" dirty="0" smtClean="0">
                <a:latin typeface="Helvetica" pitchFamily="34" charset="0"/>
              </a:rPr>
              <a:t>Forms and reports usually need to be ‘forwarded’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4" descr="C:\Documents and Settings\danielc\Desktop\Maintain the security of premises and property\Form.jpg"/>
          <p:cNvPicPr/>
          <p:nvPr/>
        </p:nvPicPr>
        <p:blipFill>
          <a:blip r:embed="rId3" cstate="print"/>
          <a:srcRect/>
          <a:stretch>
            <a:fillRect/>
          </a:stretch>
        </p:blipFill>
        <p:spPr bwMode="auto">
          <a:xfrm>
            <a:off x="3286116" y="4143380"/>
            <a:ext cx="2043926" cy="134929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Accuracy is vital</a:t>
            </a:r>
          </a:p>
          <a:p>
            <a:pPr marL="360000" indent="-360000">
              <a:spcBef>
                <a:spcPts val="600"/>
              </a:spcBef>
              <a:spcAft>
                <a:spcPts val="1200"/>
              </a:spcAft>
            </a:pPr>
            <a:r>
              <a:rPr lang="en-US" sz="2200" dirty="0" smtClean="0">
                <a:latin typeface="Helvetica" pitchFamily="34" charset="0"/>
              </a:rPr>
              <a:t>Obtain in-house training</a:t>
            </a:r>
          </a:p>
          <a:p>
            <a:pPr marL="360000" indent="-360000">
              <a:spcBef>
                <a:spcPts val="600"/>
              </a:spcBef>
              <a:spcAft>
                <a:spcPts val="1200"/>
              </a:spcAft>
            </a:pPr>
            <a:r>
              <a:rPr lang="en-US" sz="2200" dirty="0" smtClean="0">
                <a:latin typeface="Helvetica" pitchFamily="34" charset="0"/>
              </a:rPr>
              <a:t>Look at forms and reports competed </a:t>
            </a:r>
            <a:br>
              <a:rPr lang="en-US" sz="2200" dirty="0" smtClean="0">
                <a:latin typeface="Helvetica" pitchFamily="34" charset="0"/>
              </a:rPr>
            </a:br>
            <a:r>
              <a:rPr lang="en-US" sz="2200" dirty="0" smtClean="0">
                <a:latin typeface="Helvetica" pitchFamily="34" charset="0"/>
              </a:rPr>
              <a:t>by others</a:t>
            </a:r>
          </a:p>
          <a:p>
            <a:pPr marL="360000" indent="-360000">
              <a:spcBef>
                <a:spcPts val="600"/>
              </a:spcBef>
              <a:spcAft>
                <a:spcPts val="1200"/>
              </a:spcAft>
            </a:pPr>
            <a:r>
              <a:rPr lang="en-US" sz="2200" dirty="0" smtClean="0">
                <a:latin typeface="Helvetica" pitchFamily="34" charset="0"/>
              </a:rPr>
              <a:t>Keep a copy</a:t>
            </a:r>
          </a:p>
          <a:p>
            <a:pPr marL="360000" indent="-360000">
              <a:spcBef>
                <a:spcPts val="600"/>
              </a:spcBef>
              <a:spcAft>
                <a:spcPts val="1200"/>
              </a:spcAft>
            </a:pPr>
            <a:r>
              <a:rPr lang="en-US" sz="2200" dirty="0" smtClean="0">
                <a:latin typeface="Helvetica" pitchFamily="34" charset="0"/>
              </a:rPr>
              <a:t>Seek advice when unsure about what to do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3250" name="Picture 2" descr="C:\Documents and Settings\danielc\Desktop\images\Maintain the security of premises and property imgs\1088924_annual_report_2.jpg"/>
          <p:cNvPicPr>
            <a:picLocks noChangeAspect="1" noChangeArrowheads="1"/>
          </p:cNvPicPr>
          <p:nvPr/>
        </p:nvPicPr>
        <p:blipFill>
          <a:blip r:embed="rId3" cstate="print"/>
          <a:srcRect/>
          <a:stretch>
            <a:fillRect/>
          </a:stretch>
        </p:blipFill>
        <p:spPr bwMode="auto">
          <a:xfrm>
            <a:off x="6072198" y="1928802"/>
            <a:ext cx="1878013" cy="1878013"/>
          </a:xfrm>
          <a:prstGeom prst="rect">
            <a:avLst/>
          </a:prstGeom>
          <a:noFill/>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Forms will be either:</a:t>
            </a:r>
          </a:p>
          <a:p>
            <a:pPr marL="360000" indent="-360000">
              <a:spcBef>
                <a:spcPts val="600"/>
              </a:spcBef>
              <a:spcAft>
                <a:spcPts val="1200"/>
              </a:spcAft>
            </a:pPr>
            <a:r>
              <a:rPr lang="en-US" sz="2200" dirty="0" smtClean="0">
                <a:latin typeface="Helvetica" pitchFamily="34" charset="0"/>
              </a:rPr>
              <a:t>Paper-based</a:t>
            </a:r>
          </a:p>
          <a:p>
            <a:pPr marL="360000" indent="-360000">
              <a:spcBef>
                <a:spcPts val="600"/>
              </a:spcBef>
              <a:spcAft>
                <a:spcPts val="1200"/>
              </a:spcAft>
              <a:buNone/>
            </a:pPr>
            <a:r>
              <a:rPr lang="en-US" sz="2200" dirty="0" smtClean="0"/>
              <a:t>		or</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Electronic</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4275" name="Picture 3" descr="C:\Documents and Settings\danielc\Desktop\images\Maintain the security of premises and property imgs\Form.jpg"/>
          <p:cNvPicPr>
            <a:picLocks noChangeAspect="1" noChangeArrowheads="1"/>
          </p:cNvPicPr>
          <p:nvPr/>
        </p:nvPicPr>
        <p:blipFill>
          <a:blip r:embed="rId3" cstate="print"/>
          <a:srcRect/>
          <a:stretch>
            <a:fillRect/>
          </a:stretch>
        </p:blipFill>
        <p:spPr bwMode="auto">
          <a:xfrm>
            <a:off x="5429256" y="1571612"/>
            <a:ext cx="2152636" cy="1428760"/>
          </a:xfrm>
          <a:prstGeom prst="rect">
            <a:avLst/>
          </a:prstGeom>
          <a:noFill/>
        </p:spPr>
      </p:pic>
      <p:pic>
        <p:nvPicPr>
          <p:cNvPr id="54276" name="Picture 4" descr="C:\Documents and Settings\danielc\Local Settings\Temporary Internet Files\Content.IE5\112MAXTI\MP900430835[1].jpg"/>
          <p:cNvPicPr>
            <a:picLocks noChangeAspect="1" noChangeArrowheads="1"/>
          </p:cNvPicPr>
          <p:nvPr/>
        </p:nvPicPr>
        <p:blipFill>
          <a:blip r:embed="rId4" cstate="print"/>
          <a:srcRect/>
          <a:stretch>
            <a:fillRect/>
          </a:stretch>
        </p:blipFill>
        <p:spPr bwMode="auto">
          <a:xfrm>
            <a:off x="6072198" y="3214686"/>
            <a:ext cx="1525437" cy="2317577"/>
          </a:xfrm>
          <a:prstGeom prst="rect">
            <a:avLst/>
          </a:prstGeom>
          <a:noFill/>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Forms and reports may include:</a:t>
            </a:r>
          </a:p>
          <a:p>
            <a:pPr marL="360000" indent="-360000">
              <a:spcBef>
                <a:spcPts val="600"/>
              </a:spcBef>
              <a:spcAft>
                <a:spcPts val="1200"/>
              </a:spcAft>
            </a:pPr>
            <a:r>
              <a:rPr lang="en-US" sz="2200" dirty="0" smtClean="0">
                <a:latin typeface="Helvetica" pitchFamily="34" charset="0"/>
              </a:rPr>
              <a:t>Communications book</a:t>
            </a:r>
          </a:p>
          <a:p>
            <a:pPr marL="360000" indent="-360000">
              <a:spcBef>
                <a:spcPts val="600"/>
              </a:spcBef>
              <a:spcAft>
                <a:spcPts val="1200"/>
              </a:spcAft>
            </a:pPr>
            <a:r>
              <a:rPr lang="en-US" sz="2200" dirty="0" smtClean="0">
                <a:latin typeface="Helvetica" pitchFamily="34" charset="0"/>
              </a:rPr>
              <a:t>Vehicle use form</a:t>
            </a:r>
          </a:p>
          <a:p>
            <a:pPr marL="360000" indent="-360000">
              <a:spcBef>
                <a:spcPts val="600"/>
              </a:spcBef>
              <a:spcAft>
                <a:spcPts val="1200"/>
              </a:spcAft>
            </a:pPr>
            <a:r>
              <a:rPr lang="en-US" sz="2200" dirty="0" smtClean="0">
                <a:latin typeface="Helvetica" pitchFamily="34" charset="0"/>
              </a:rPr>
              <a:t>Incident report</a:t>
            </a:r>
          </a:p>
          <a:p>
            <a:pPr marL="360000" indent="-360000">
              <a:spcBef>
                <a:spcPts val="600"/>
              </a:spcBef>
              <a:spcAft>
                <a:spcPts val="1200"/>
              </a:spcAft>
            </a:pPr>
            <a:r>
              <a:rPr lang="en-US" sz="2200" dirty="0" smtClean="0">
                <a:latin typeface="Helvetica" pitchFamily="34" charset="0"/>
              </a:rPr>
              <a:t>Compliance reports</a:t>
            </a:r>
          </a:p>
          <a:p>
            <a:pPr marL="360000" indent="-360000">
              <a:spcBef>
                <a:spcPts val="600"/>
              </a:spcBef>
              <a:spcAft>
                <a:spcPts val="1200"/>
              </a:spcAft>
            </a:pPr>
            <a:r>
              <a:rPr lang="en-US" sz="2200" dirty="0" smtClean="0">
                <a:latin typeface="Helvetica" pitchFamily="34" charset="0"/>
              </a:rPr>
              <a:t>Loss and damage assessments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5298" name="Picture 2" descr="C:\Documents and Settings\danielc\Desktop\images\Maintain the security of premises and property imgs\Hazrd assessment form.jpg"/>
          <p:cNvPicPr>
            <a:picLocks noChangeAspect="1" noChangeArrowheads="1"/>
          </p:cNvPicPr>
          <p:nvPr/>
        </p:nvPicPr>
        <p:blipFill>
          <a:blip r:embed="rId3" cstate="print"/>
          <a:srcRect/>
          <a:stretch>
            <a:fillRect/>
          </a:stretch>
        </p:blipFill>
        <p:spPr bwMode="auto">
          <a:xfrm>
            <a:off x="5572132" y="2500306"/>
            <a:ext cx="2667415" cy="1768469"/>
          </a:xfrm>
          <a:prstGeom prst="rect">
            <a:avLst/>
          </a:prstGeom>
          <a:noFill/>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Maintenance request forms</a:t>
            </a:r>
          </a:p>
          <a:p>
            <a:pPr marL="360000" indent="-360000">
              <a:spcBef>
                <a:spcPts val="600"/>
              </a:spcBef>
              <a:spcAft>
                <a:spcPts val="1200"/>
              </a:spcAft>
            </a:pPr>
            <a:r>
              <a:rPr lang="en-US" sz="2200" dirty="0" smtClean="0">
                <a:latin typeface="Helvetica" pitchFamily="34" charset="0"/>
              </a:rPr>
              <a:t>Maintenance reports</a:t>
            </a:r>
          </a:p>
          <a:p>
            <a:pPr marL="360000" indent="-360000">
              <a:spcBef>
                <a:spcPts val="600"/>
              </a:spcBef>
              <a:spcAft>
                <a:spcPts val="1200"/>
              </a:spcAft>
            </a:pPr>
            <a:r>
              <a:rPr lang="en-US" sz="2200" dirty="0" smtClean="0">
                <a:latin typeface="Helvetica" pitchFamily="34" charset="0"/>
              </a:rPr>
              <a:t>Time sheets</a:t>
            </a:r>
          </a:p>
          <a:p>
            <a:pPr marL="360000" indent="-360000">
              <a:spcBef>
                <a:spcPts val="600"/>
              </a:spcBef>
              <a:spcAft>
                <a:spcPts val="1200"/>
              </a:spcAft>
            </a:pPr>
            <a:r>
              <a:rPr lang="en-US" sz="2200" dirty="0" smtClean="0">
                <a:latin typeface="Helvetica" pitchFamily="34" charset="0"/>
              </a:rPr>
              <a:t>Task assignments</a:t>
            </a:r>
          </a:p>
          <a:p>
            <a:pPr marL="360000" indent="-360000">
              <a:spcBef>
                <a:spcPts val="600"/>
              </a:spcBef>
              <a:spcAft>
                <a:spcPts val="1200"/>
              </a:spcAft>
            </a:pPr>
            <a:r>
              <a:rPr lang="en-US" sz="2200" dirty="0" smtClean="0">
                <a:latin typeface="Helvetica" pitchFamily="34" charset="0"/>
              </a:rPr>
              <a:t>Job cards/sheets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56322" name="Picture 2" descr="C:\Documents and Settings\danielc\Local Settings\Temporary Internet Files\Content.IE5\SIQ5KRQ3\MP900309637[1].jpg"/>
          <p:cNvPicPr>
            <a:picLocks noChangeAspect="1" noChangeArrowheads="1"/>
          </p:cNvPicPr>
          <p:nvPr/>
        </p:nvPicPr>
        <p:blipFill>
          <a:blip r:embed="rId3" cstate="print">
            <a:grayscl/>
            <a:lum bright="10000"/>
          </a:blip>
          <a:srcRect/>
          <a:stretch>
            <a:fillRect/>
          </a:stretch>
        </p:blipFill>
        <p:spPr bwMode="auto">
          <a:xfrm>
            <a:off x="5429256" y="2285992"/>
            <a:ext cx="2830267" cy="2018924"/>
          </a:xfrm>
          <a:prstGeom prst="rect">
            <a:avLst/>
          </a:prstGeom>
          <a:noFill/>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Patrol logs</a:t>
            </a:r>
          </a:p>
          <a:p>
            <a:pPr marL="360000" indent="-360000">
              <a:spcBef>
                <a:spcPts val="600"/>
              </a:spcBef>
              <a:spcAft>
                <a:spcPts val="1200"/>
              </a:spcAft>
            </a:pPr>
            <a:r>
              <a:rPr lang="en-US" sz="2200" dirty="0" smtClean="0">
                <a:latin typeface="Helvetica" pitchFamily="34" charset="0"/>
              </a:rPr>
              <a:t>Suspicious person report</a:t>
            </a:r>
          </a:p>
          <a:p>
            <a:pPr marL="360000" indent="-360000">
              <a:spcBef>
                <a:spcPts val="600"/>
              </a:spcBef>
              <a:spcAft>
                <a:spcPts val="1200"/>
              </a:spcAft>
            </a:pPr>
            <a:r>
              <a:rPr lang="en-US" sz="2200" dirty="0" smtClean="0">
                <a:latin typeface="Helvetica" pitchFamily="34" charset="0"/>
              </a:rPr>
              <a:t>Insurance claims</a:t>
            </a:r>
          </a:p>
          <a:p>
            <a:pPr marL="360000" indent="-360000">
              <a:spcBef>
                <a:spcPts val="600"/>
              </a:spcBef>
              <a:spcAft>
                <a:spcPts val="1200"/>
              </a:spcAft>
            </a:pPr>
            <a:r>
              <a:rPr lang="en-US" sz="2200" dirty="0" smtClean="0">
                <a:latin typeface="Helvetica" pitchFamily="34" charset="0"/>
              </a:rPr>
              <a:t>CCTV surveillance records</a:t>
            </a:r>
          </a:p>
          <a:p>
            <a:pPr marL="360000" indent="-360000">
              <a:spcBef>
                <a:spcPts val="600"/>
              </a:spcBef>
              <a:spcAft>
                <a:spcPts val="1200"/>
              </a:spcAft>
            </a:pPr>
            <a:r>
              <a:rPr lang="en-US" sz="2200" dirty="0" smtClean="0">
                <a:latin typeface="Helvetica" pitchFamily="34" charset="0"/>
              </a:rPr>
              <a:t>Alarm reports/activity logs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57346" name="Picture 2" descr="C:\Documents and Settings\danielc\Local Settings\Temporary Internet Files\Content.IE5\XGIII3N1\MP900386043[1].jpg"/>
          <p:cNvPicPr>
            <a:picLocks noChangeAspect="1" noChangeArrowheads="1"/>
          </p:cNvPicPr>
          <p:nvPr/>
        </p:nvPicPr>
        <p:blipFill>
          <a:blip r:embed="rId3" cstate="print"/>
          <a:srcRect/>
          <a:stretch>
            <a:fillRect/>
          </a:stretch>
        </p:blipFill>
        <p:spPr bwMode="auto">
          <a:xfrm>
            <a:off x="5357818" y="2214554"/>
            <a:ext cx="2400294" cy="1714496"/>
          </a:xfrm>
          <a:prstGeom prst="rect">
            <a:avLst/>
          </a:prstGeom>
          <a:noFill/>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Response reports</a:t>
            </a:r>
          </a:p>
          <a:p>
            <a:pPr marL="360000" indent="-360000">
              <a:spcBef>
                <a:spcPts val="600"/>
              </a:spcBef>
              <a:spcAft>
                <a:spcPts val="1200"/>
              </a:spcAft>
            </a:pPr>
            <a:r>
              <a:rPr lang="en-US" sz="2200" dirty="0" smtClean="0">
                <a:latin typeface="Helvetica" pitchFamily="34" charset="0"/>
              </a:rPr>
              <a:t>Equipment faults log</a:t>
            </a:r>
          </a:p>
          <a:p>
            <a:pPr marL="360000" indent="-360000">
              <a:spcBef>
                <a:spcPts val="600"/>
              </a:spcBef>
              <a:spcAft>
                <a:spcPts val="1200"/>
              </a:spcAft>
            </a:pPr>
            <a:r>
              <a:rPr lang="en-US" sz="2200" dirty="0" smtClean="0">
                <a:latin typeface="Helvetica" pitchFamily="34" charset="0"/>
              </a:rPr>
              <a:t>Testing and inspection records</a:t>
            </a:r>
          </a:p>
          <a:p>
            <a:pPr marL="360000" indent="-360000">
              <a:spcBef>
                <a:spcPts val="600"/>
              </a:spcBef>
              <a:spcAft>
                <a:spcPts val="1200"/>
              </a:spcAft>
            </a:pPr>
            <a:r>
              <a:rPr lang="en-US" sz="2200" dirty="0" smtClean="0">
                <a:latin typeface="Helvetica" pitchFamily="34" charset="0"/>
              </a:rPr>
              <a:t>Witness statements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58370" name="Picture 2" descr="C:\Documents and Settings\danielc\Local Settings\Temporary Internet Files\Content.IE5\3Y3SDCJX\MC900056221[1].wmf"/>
          <p:cNvPicPr>
            <a:picLocks noChangeAspect="1" noChangeArrowheads="1"/>
          </p:cNvPicPr>
          <p:nvPr/>
        </p:nvPicPr>
        <p:blipFill>
          <a:blip r:embed="rId3" cstate="print"/>
          <a:srcRect/>
          <a:stretch>
            <a:fillRect/>
          </a:stretch>
        </p:blipFill>
        <p:spPr bwMode="auto">
          <a:xfrm>
            <a:off x="6072198" y="1857364"/>
            <a:ext cx="1674266" cy="1799539"/>
          </a:xfrm>
          <a:prstGeom prst="rect">
            <a:avLst/>
          </a:prstGeom>
          <a:noFill/>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Complete forms and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Lost and Found register</a:t>
            </a:r>
          </a:p>
          <a:p>
            <a:pPr marL="360000" indent="-360000">
              <a:spcBef>
                <a:spcPts val="600"/>
              </a:spcBef>
              <a:spcAft>
                <a:spcPts val="1200"/>
              </a:spcAft>
            </a:pPr>
            <a:r>
              <a:rPr lang="en-US" sz="2200" dirty="0" smtClean="0">
                <a:latin typeface="Helvetica" pitchFamily="34" charset="0"/>
              </a:rPr>
              <a:t>Recommendations – for action/to improve security</a:t>
            </a:r>
          </a:p>
          <a:p>
            <a:pPr marL="360000" indent="-360000">
              <a:spcBef>
                <a:spcPts val="600"/>
              </a:spcBef>
              <a:spcAft>
                <a:spcPts val="1200"/>
              </a:spcAft>
            </a:pPr>
            <a:r>
              <a:rPr lang="en-US" sz="2200" dirty="0" smtClean="0">
                <a:latin typeface="Helvetica" pitchFamily="34" charset="0"/>
              </a:rPr>
              <a:t>Requests for training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5" name="Picture 4" descr="L&amp;F log copy.jpg"/>
          <p:cNvPicPr/>
          <p:nvPr/>
        </p:nvPicPr>
        <p:blipFill>
          <a:blip r:embed="rId3" cstate="print"/>
          <a:stretch>
            <a:fillRect/>
          </a:stretch>
        </p:blipFill>
        <p:spPr>
          <a:xfrm>
            <a:off x="5724128" y="3573016"/>
            <a:ext cx="1714272" cy="1500198"/>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Cooperate with management to enhance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 demonstrate support for management to improve safety:</a:t>
            </a:r>
          </a:p>
          <a:p>
            <a:pPr marL="360000" indent="-360000">
              <a:spcBef>
                <a:spcPts val="600"/>
              </a:spcBef>
              <a:spcAft>
                <a:spcPts val="1200"/>
              </a:spcAft>
            </a:pPr>
            <a:r>
              <a:rPr lang="en-US" sz="2200" dirty="0" smtClean="0">
                <a:latin typeface="Helvetica" pitchFamily="34" charset="0"/>
              </a:rPr>
              <a:t>Engage with risk management activities</a:t>
            </a:r>
          </a:p>
          <a:p>
            <a:pPr marL="360000" indent="-360000">
              <a:spcBef>
                <a:spcPts val="600"/>
              </a:spcBef>
              <a:spcAft>
                <a:spcPts val="1200"/>
              </a:spcAft>
            </a:pPr>
            <a:r>
              <a:rPr lang="en-US" sz="2200" dirty="0" smtClean="0">
                <a:latin typeface="Helvetica" pitchFamily="34" charset="0"/>
              </a:rPr>
              <a:t>Participate in all staff briefings and </a:t>
            </a:r>
            <a:br>
              <a:rPr lang="en-US" sz="2200" dirty="0" smtClean="0">
                <a:latin typeface="Helvetica" pitchFamily="34" charset="0"/>
              </a:rPr>
            </a:br>
            <a:r>
              <a:rPr lang="en-US" sz="2200" dirty="0" smtClean="0">
                <a:latin typeface="Helvetica" pitchFamily="34" charset="0"/>
              </a:rPr>
              <a:t>meetings</a:t>
            </a:r>
          </a:p>
          <a:p>
            <a:pPr marL="360000" indent="-360000">
              <a:spcBef>
                <a:spcPts val="600"/>
              </a:spcBef>
              <a:spcAft>
                <a:spcPts val="1200"/>
              </a:spcAft>
            </a:pPr>
            <a:r>
              <a:rPr lang="en-US" sz="2200" dirty="0" smtClean="0">
                <a:latin typeface="Helvetica" pitchFamily="34" charset="0"/>
              </a:rPr>
              <a:t>Participate in workplace inspections</a:t>
            </a:r>
          </a:p>
          <a:p>
            <a:pPr marL="360000" indent="-360000">
              <a:spcBef>
                <a:spcPts val="600"/>
              </a:spcBef>
              <a:spcAft>
                <a:spcPts val="1200"/>
              </a:spcAft>
            </a:pPr>
            <a:r>
              <a:rPr lang="en-US" sz="2200" dirty="0" smtClean="0">
                <a:latin typeface="Helvetica" pitchFamily="34" charset="0"/>
              </a:rPr>
              <a:t>Attend relevant conferences and events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9394" name="Picture 2" descr="C:\Documents and Settings\danielc\Local Settings\Temporary Internet Files\Content.IE5\3Y3SDCJX\MP900448478[1].jpg"/>
          <p:cNvPicPr>
            <a:picLocks noChangeAspect="1" noChangeArrowheads="1"/>
          </p:cNvPicPr>
          <p:nvPr/>
        </p:nvPicPr>
        <p:blipFill>
          <a:blip r:embed="rId3" cstate="print"/>
          <a:srcRect/>
          <a:stretch>
            <a:fillRect/>
          </a:stretch>
        </p:blipFill>
        <p:spPr bwMode="auto">
          <a:xfrm>
            <a:off x="6357982" y="2643182"/>
            <a:ext cx="2643174" cy="1762116"/>
          </a:xfrm>
          <a:prstGeom prst="rect">
            <a:avLst/>
          </a:prstGeom>
          <a:noFill/>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Cooperate with management to enhance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Contribute ideas and suggestions</a:t>
            </a:r>
          </a:p>
          <a:p>
            <a:pPr marL="360000" indent="-360000">
              <a:spcBef>
                <a:spcPts val="600"/>
              </a:spcBef>
              <a:spcAft>
                <a:spcPts val="1200"/>
              </a:spcAft>
            </a:pPr>
            <a:r>
              <a:rPr lang="en-US" sz="2200" dirty="0" smtClean="0">
                <a:latin typeface="Helvetica" pitchFamily="34" charset="0"/>
              </a:rPr>
              <a:t>Be willing to trial initiatives &amp; provide feedback</a:t>
            </a:r>
          </a:p>
          <a:p>
            <a:pPr marL="360000" indent="-360000">
              <a:spcBef>
                <a:spcPts val="600"/>
              </a:spcBef>
              <a:spcAft>
                <a:spcPts val="1200"/>
              </a:spcAft>
            </a:pPr>
            <a:r>
              <a:rPr lang="en-US" sz="2200" dirty="0" smtClean="0">
                <a:latin typeface="Helvetica" pitchFamily="34" charset="0"/>
              </a:rPr>
              <a:t>Complete all the internal forms/reports required</a:t>
            </a:r>
          </a:p>
          <a:p>
            <a:pPr marL="360000" indent="-360000">
              <a:spcBef>
                <a:spcPts val="600"/>
              </a:spcBef>
              <a:spcAft>
                <a:spcPts val="1200"/>
              </a:spcAft>
            </a:pPr>
            <a:r>
              <a:rPr lang="en-US" sz="2200" dirty="0" smtClean="0">
                <a:latin typeface="Helvetica" pitchFamily="34" charset="0"/>
              </a:rPr>
              <a:t>Visit other sites/venues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60419" name="Picture 3" descr="C:\Documents and Settings\danielc\Local Settings\Temporary Internet Files\Content.IE5\UMECW9PM\MC900363494[1].wmf"/>
          <p:cNvPicPr>
            <a:picLocks noChangeAspect="1" noChangeArrowheads="1"/>
          </p:cNvPicPr>
          <p:nvPr/>
        </p:nvPicPr>
        <p:blipFill>
          <a:blip r:embed="rId3" cstate="print"/>
          <a:srcRect/>
          <a:stretch>
            <a:fillRect/>
          </a:stretch>
        </p:blipFill>
        <p:spPr bwMode="auto">
          <a:xfrm>
            <a:off x="6143636" y="3429000"/>
            <a:ext cx="2298474" cy="1714512"/>
          </a:xfrm>
          <a:prstGeom prst="rect">
            <a:avLst/>
          </a:prstGeom>
          <a:noFill/>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Cooperate with management to enhance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Develop and use an industry ‘network of contacts’</a:t>
            </a:r>
          </a:p>
          <a:p>
            <a:pPr marL="360000" indent="-360000">
              <a:spcBef>
                <a:spcPts val="600"/>
              </a:spcBef>
              <a:spcAft>
                <a:spcPts val="1200"/>
              </a:spcAft>
            </a:pPr>
            <a:r>
              <a:rPr lang="en-US" sz="2200" dirty="0" smtClean="0">
                <a:latin typeface="Helvetica" pitchFamily="34" charset="0"/>
              </a:rPr>
              <a:t>Analyse and evaluate documentation</a:t>
            </a:r>
          </a:p>
          <a:p>
            <a:pPr marL="360000" indent="-360000">
              <a:spcBef>
                <a:spcPts val="600"/>
              </a:spcBef>
              <a:spcAft>
                <a:spcPts val="1200"/>
              </a:spcAft>
            </a:pPr>
            <a:r>
              <a:rPr lang="en-US" sz="2200" dirty="0" smtClean="0">
                <a:latin typeface="Helvetica" pitchFamily="34" charset="0"/>
              </a:rPr>
              <a:t>Comply with management directives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61442" name="Picture 2" descr="C:\Documents and Settings\danielc\Local Settings\Temporary Internet Files\Content.IE5\UMECW9PM\MC900056642[1].wmf"/>
          <p:cNvPicPr>
            <a:picLocks noChangeAspect="1" noChangeArrowheads="1"/>
          </p:cNvPicPr>
          <p:nvPr/>
        </p:nvPicPr>
        <p:blipFill>
          <a:blip r:embed="rId3" cstate="print"/>
          <a:srcRect/>
          <a:stretch>
            <a:fillRect/>
          </a:stretch>
        </p:blipFill>
        <p:spPr bwMode="auto">
          <a:xfrm>
            <a:off x="6156176" y="3356992"/>
            <a:ext cx="1812341" cy="1786738"/>
          </a:xfrm>
          <a:prstGeom prst="rect">
            <a:avLst/>
          </a:prstGeom>
          <a:noFill/>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Cooperate with management to enhance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r>
              <a:rPr lang="en-US" sz="2200" dirty="0" smtClean="0">
                <a:latin typeface="Helvetica" pitchFamily="34" charset="0"/>
              </a:rPr>
              <a:t>Follow a two-stage approach for making recommendation:</a:t>
            </a:r>
          </a:p>
          <a:p>
            <a:pPr marL="457200" indent="-457200">
              <a:spcBef>
                <a:spcPts val="600"/>
              </a:spcBef>
              <a:spcAft>
                <a:spcPts val="1200"/>
              </a:spcAft>
              <a:buSzPct val="100000"/>
              <a:buFont typeface="+mj-lt"/>
              <a:buAutoNum type="arabicPeriod"/>
            </a:pPr>
            <a:r>
              <a:rPr lang="en-US" sz="2200" dirty="0" smtClean="0">
                <a:latin typeface="Helvetica" pitchFamily="34" charset="0"/>
              </a:rPr>
              <a:t>Make verbal suggestion</a:t>
            </a:r>
          </a:p>
          <a:p>
            <a:pPr marL="457200" indent="-457200">
              <a:spcBef>
                <a:spcPts val="600"/>
              </a:spcBef>
              <a:spcAft>
                <a:spcPts val="1200"/>
              </a:spcAft>
              <a:buSzPct val="100000"/>
              <a:buFont typeface="+mj-lt"/>
              <a:buAutoNum type="arabicPeriod"/>
            </a:pPr>
            <a:r>
              <a:rPr lang="en-US" sz="2200" dirty="0" smtClean="0">
                <a:latin typeface="Helvetica" pitchFamily="34" charset="0"/>
              </a:rPr>
              <a:t>Supplement with written recommendation: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If management seems interested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If requested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62466" name="Picture 2" descr="C:\Documents and Settings\danielc\Local Settings\Temporary Internet Files\Content.IE5\3DV3UKH9\MC900059396[1].wmf"/>
          <p:cNvPicPr>
            <a:picLocks noChangeAspect="1" noChangeArrowheads="1"/>
          </p:cNvPicPr>
          <p:nvPr/>
        </p:nvPicPr>
        <p:blipFill>
          <a:blip r:embed="rId3" cstate="print"/>
          <a:srcRect/>
          <a:stretch>
            <a:fillRect/>
          </a:stretch>
        </p:blipFill>
        <p:spPr bwMode="auto">
          <a:xfrm>
            <a:off x="6500826" y="3500438"/>
            <a:ext cx="1836115" cy="1561795"/>
          </a:xfrm>
          <a:prstGeom prst="rect">
            <a:avLst/>
          </a:prstGeom>
          <a:noFill/>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Cooperate with management to enhance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Include the following in written recommendations:</a:t>
            </a:r>
          </a:p>
          <a:p>
            <a:pPr marL="360000" indent="-360000">
              <a:spcBef>
                <a:spcPts val="600"/>
              </a:spcBef>
              <a:spcAft>
                <a:spcPts val="1200"/>
              </a:spcAft>
            </a:pPr>
            <a:r>
              <a:rPr lang="en-US" sz="2200" dirty="0" smtClean="0">
                <a:latin typeface="Helvetica" pitchFamily="34" charset="0"/>
              </a:rPr>
              <a:t>Your name and contact details</a:t>
            </a:r>
          </a:p>
          <a:p>
            <a:pPr marL="360000" indent="-360000">
              <a:spcBef>
                <a:spcPts val="600"/>
              </a:spcBef>
              <a:spcAft>
                <a:spcPts val="1200"/>
              </a:spcAft>
            </a:pPr>
            <a:r>
              <a:rPr lang="en-US" sz="2200" dirty="0" smtClean="0">
                <a:latin typeface="Helvetica" pitchFamily="34" charset="0"/>
              </a:rPr>
              <a:t>Date</a:t>
            </a:r>
          </a:p>
          <a:p>
            <a:pPr marL="360000" indent="-360000">
              <a:spcBef>
                <a:spcPts val="600"/>
              </a:spcBef>
              <a:spcAft>
                <a:spcPts val="1200"/>
              </a:spcAft>
            </a:pPr>
            <a:r>
              <a:rPr lang="en-US" sz="2200" dirty="0" smtClean="0">
                <a:latin typeface="Helvetica" pitchFamily="34" charset="0"/>
              </a:rPr>
              <a:t>Rationale</a:t>
            </a:r>
          </a:p>
          <a:p>
            <a:pPr marL="360000" indent="-360000">
              <a:spcBef>
                <a:spcPts val="600"/>
              </a:spcBef>
              <a:spcAft>
                <a:spcPts val="1200"/>
              </a:spcAft>
            </a:pPr>
            <a:r>
              <a:rPr lang="en-US" sz="2200" dirty="0" smtClean="0">
                <a:latin typeface="Helvetica" pitchFamily="34" charset="0"/>
              </a:rPr>
              <a:t>Action plan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63490" name="Picture 2" descr="C:\Documents and Settings\danielc\Local Settings\Temporary Internet Files\Content.IE5\V9A2RTT8\MC900334254[1].wmf"/>
          <p:cNvPicPr>
            <a:picLocks noChangeAspect="1" noChangeArrowheads="1"/>
          </p:cNvPicPr>
          <p:nvPr/>
        </p:nvPicPr>
        <p:blipFill>
          <a:blip r:embed="rId3" cstate="print"/>
          <a:srcRect/>
          <a:stretch>
            <a:fillRect/>
          </a:stretch>
        </p:blipFill>
        <p:spPr bwMode="auto">
          <a:xfrm>
            <a:off x="5734890" y="2285992"/>
            <a:ext cx="1491282" cy="2357454"/>
          </a:xfrm>
          <a:prstGeom prst="rect">
            <a:avLst/>
          </a:prstGeom>
          <a:noFill/>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Cooperate with management to enhance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Recommendations for: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Equipment, systems and technology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Providers/suppliers</a:t>
            </a:r>
          </a:p>
          <a:p>
            <a:pPr marL="360000" indent="-360000">
              <a:spcBef>
                <a:spcPts val="600"/>
              </a:spcBef>
              <a:spcAft>
                <a:spcPts val="1200"/>
              </a:spcAft>
            </a:pPr>
            <a:r>
              <a:rPr lang="en-US" sz="2200" dirty="0" smtClean="0">
                <a:latin typeface="Helvetica" pitchFamily="34" charset="0"/>
              </a:rPr>
              <a:t>Timelines</a:t>
            </a:r>
          </a:p>
          <a:p>
            <a:pPr marL="360000" indent="-360000">
              <a:spcBef>
                <a:spcPts val="600"/>
              </a:spcBef>
              <a:spcAft>
                <a:spcPts val="1200"/>
              </a:spcAft>
            </a:pPr>
            <a:r>
              <a:rPr lang="en-US" sz="2200" dirty="0" smtClean="0">
                <a:latin typeface="Helvetica" pitchFamily="34" charset="0"/>
              </a:rPr>
              <a:t>Training required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64514" name="Picture 2" descr="C:\Documents and Settings\danielc\Local Settings\Temporary Internet Files\Content.IE5\3Y3SDCJX\MC900297139[1].wmf"/>
          <p:cNvPicPr>
            <a:picLocks noChangeAspect="1" noChangeArrowheads="1"/>
          </p:cNvPicPr>
          <p:nvPr/>
        </p:nvPicPr>
        <p:blipFill>
          <a:blip r:embed="rId3" cstate="print"/>
          <a:srcRect/>
          <a:stretch>
            <a:fillRect/>
          </a:stretch>
        </p:blipFill>
        <p:spPr bwMode="auto">
          <a:xfrm>
            <a:off x="6215074" y="2357430"/>
            <a:ext cx="1591400" cy="2098619"/>
          </a:xfrm>
          <a:prstGeom prst="rect">
            <a:avLst/>
          </a:prstGeom>
          <a:noFill/>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Cooperate with management to enhance safety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Staff/hours required</a:t>
            </a:r>
          </a:p>
          <a:p>
            <a:pPr marL="360000" indent="-360000">
              <a:spcBef>
                <a:spcPts val="600"/>
              </a:spcBef>
              <a:spcAft>
                <a:spcPts val="1200"/>
              </a:spcAft>
            </a:pPr>
            <a:r>
              <a:rPr lang="en-US" sz="2200" dirty="0" smtClean="0">
                <a:latin typeface="Helvetica" pitchFamily="34" charset="0"/>
              </a:rPr>
              <a:t>Transitional arrangements</a:t>
            </a:r>
          </a:p>
          <a:p>
            <a:pPr marL="360000" indent="-360000">
              <a:spcBef>
                <a:spcPts val="600"/>
              </a:spcBef>
              <a:spcAft>
                <a:spcPts val="1200"/>
              </a:spcAft>
            </a:pPr>
            <a:r>
              <a:rPr lang="en-US" sz="2200" dirty="0" smtClean="0">
                <a:latin typeface="Helvetica" pitchFamily="34" charset="0"/>
              </a:rPr>
              <a:t>Benefits anticipated</a:t>
            </a:r>
          </a:p>
          <a:p>
            <a:pPr marL="360000" indent="-360000">
              <a:spcBef>
                <a:spcPts val="600"/>
              </a:spcBef>
              <a:spcAft>
                <a:spcPts val="1200"/>
              </a:spcAft>
            </a:pPr>
            <a:r>
              <a:rPr lang="en-US" sz="2200" dirty="0" smtClean="0">
                <a:latin typeface="Helvetica" pitchFamily="34" charset="0"/>
              </a:rPr>
              <a:t>Costs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65538" name="Picture 2" descr="C:\Documents and Settings\danielc\Local Settings\Temporary Internet Files\Content.IE5\XGIII3N1\MC900056351[1].wmf"/>
          <p:cNvPicPr>
            <a:picLocks noChangeAspect="1" noChangeArrowheads="1"/>
          </p:cNvPicPr>
          <p:nvPr/>
        </p:nvPicPr>
        <p:blipFill>
          <a:blip r:embed="rId3" cstate="print"/>
          <a:srcRect/>
          <a:stretch>
            <a:fillRect/>
          </a:stretch>
        </p:blipFill>
        <p:spPr bwMode="auto">
          <a:xfrm>
            <a:off x="5429256" y="1857364"/>
            <a:ext cx="1765706" cy="1800454"/>
          </a:xfrm>
          <a:prstGeom prst="rect">
            <a:avLst/>
          </a:prstGeom>
          <a:noFill/>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58290"/>
          </a:xfrm>
        </p:spPr>
        <p:txBody>
          <a:bodyPr>
            <a:normAutofit lnSpcReduction="10000"/>
          </a:bodyPr>
          <a:lstStyle/>
          <a:p>
            <a:pPr marL="0" indent="0">
              <a:spcBef>
                <a:spcPts val="600"/>
              </a:spcBef>
              <a:spcAft>
                <a:spcPts val="1200"/>
              </a:spcAft>
              <a:buNone/>
            </a:pPr>
            <a:r>
              <a:rPr lang="en-US" sz="2200" dirty="0" smtClean="0">
                <a:latin typeface="Helvetica" pitchFamily="34" charset="0"/>
              </a:rPr>
              <a:t>When fulfilling administrative responsibilities:</a:t>
            </a:r>
          </a:p>
          <a:p>
            <a:pPr marL="360000" indent="-360000">
              <a:spcBef>
                <a:spcPts val="600"/>
              </a:spcBef>
              <a:spcAft>
                <a:spcPts val="1200"/>
              </a:spcAft>
            </a:pPr>
            <a:r>
              <a:rPr lang="en-AU" sz="2200" dirty="0" smtClean="0">
                <a:latin typeface="Helvetica" pitchFamily="34" charset="0"/>
              </a:rPr>
              <a:t>Complete all required internal forms and reports</a:t>
            </a:r>
          </a:p>
          <a:p>
            <a:pPr marL="360000" indent="-360000">
              <a:spcBef>
                <a:spcPts val="600"/>
              </a:spcBef>
              <a:spcAft>
                <a:spcPts val="1200"/>
              </a:spcAft>
            </a:pPr>
            <a:r>
              <a:rPr lang="en-AU" sz="2200" dirty="0" smtClean="0">
                <a:latin typeface="Helvetica" pitchFamily="34" charset="0"/>
              </a:rPr>
              <a:t>Complete documents in a timely manner</a:t>
            </a:r>
          </a:p>
          <a:p>
            <a:pPr marL="360000" indent="-360000">
              <a:spcBef>
                <a:spcPts val="600"/>
              </a:spcBef>
              <a:spcAft>
                <a:spcPts val="1200"/>
              </a:spcAft>
            </a:pPr>
            <a:r>
              <a:rPr lang="en-AU" sz="2200" dirty="0" smtClean="0">
                <a:latin typeface="Helvetica" pitchFamily="34" charset="0"/>
              </a:rPr>
              <a:t>Focus on accuracy, honesty and comprehensiveness when completing forms</a:t>
            </a:r>
          </a:p>
          <a:p>
            <a:r>
              <a:rPr lang="en-AU" sz="2200" dirty="0" smtClean="0"/>
              <a:t>File and forward forms and reports</a:t>
            </a:r>
          </a:p>
          <a:p>
            <a:r>
              <a:rPr lang="en-AU" sz="2200" dirty="0" smtClean="0"/>
              <a:t>Cooperate with management to optimise venue safety for patrons and staff</a:t>
            </a:r>
          </a:p>
          <a:p>
            <a:r>
              <a:rPr lang="en-AU" sz="2200" dirty="0" smtClean="0"/>
              <a:t>Attend all safety-related staff meetings</a:t>
            </a:r>
          </a:p>
          <a:p>
            <a:pPr marL="360000" indent="-360000">
              <a:spcBef>
                <a:spcPts val="600"/>
              </a:spcBef>
              <a:spcAft>
                <a:spcPts val="1200"/>
              </a:spcAft>
              <a:buNone/>
            </a:pPr>
            <a:r>
              <a:rPr lang="en-US" sz="2200" dirty="0" smtClean="0"/>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7143768" y="1285860"/>
            <a:ext cx="1578292" cy="1562104"/>
          </a:xfrm>
          <a:prstGeom prst="rect">
            <a:avLst/>
          </a:prstGeom>
          <a:noFill/>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Participate actively in venue-specific safety inspections, checks and initiatives</a:t>
            </a:r>
          </a:p>
          <a:p>
            <a:pPr marL="360000" indent="-360000">
              <a:spcBef>
                <a:spcPts val="600"/>
              </a:spcBef>
              <a:spcAft>
                <a:spcPts val="1200"/>
              </a:spcAft>
            </a:pPr>
            <a:r>
              <a:rPr lang="en-AU" sz="2200" dirty="0" smtClean="0">
                <a:latin typeface="Helvetica" pitchFamily="34" charset="0"/>
              </a:rPr>
              <a:t>Offer verbal recommendations</a:t>
            </a:r>
          </a:p>
          <a:p>
            <a:pPr marL="360000" indent="-360000">
              <a:spcBef>
                <a:spcPts val="600"/>
              </a:spcBef>
              <a:spcAft>
                <a:spcPts val="1200"/>
              </a:spcAft>
            </a:pPr>
            <a:r>
              <a:rPr lang="en-AU" sz="2200" dirty="0" smtClean="0">
                <a:latin typeface="Helvetica" pitchFamily="34" charset="0"/>
              </a:rPr>
              <a:t>Be prepared to supplement verbal </a:t>
            </a:r>
            <a:br>
              <a:rPr lang="en-AU" sz="2200" dirty="0" smtClean="0">
                <a:latin typeface="Helvetica" pitchFamily="34" charset="0"/>
              </a:rPr>
            </a:br>
            <a:r>
              <a:rPr lang="en-AU" sz="2200" dirty="0" smtClean="0">
                <a:latin typeface="Helvetica" pitchFamily="34" charset="0"/>
              </a:rPr>
              <a:t>recommendations with written recommendations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6922798" y="2071678"/>
            <a:ext cx="1578292" cy="1562104"/>
          </a:xfrm>
          <a:prstGeom prst="rect">
            <a:avLst/>
          </a:prstGeom>
          <a:noFill/>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Respond to a deceased person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marL="360000" indent="-360000">
              <a:spcBef>
                <a:spcPts val="600"/>
              </a:spcBef>
              <a:spcAft>
                <a:spcPts val="1200"/>
              </a:spcAft>
            </a:pPr>
            <a:r>
              <a:rPr lang="en-US" sz="2200" dirty="0" smtClean="0">
                <a:latin typeface="Helvetica" pitchFamily="34" charset="0"/>
              </a:rPr>
              <a:t>Contain the situation relating to the body</a:t>
            </a:r>
          </a:p>
          <a:p>
            <a:pPr marL="360000" indent="-360000">
              <a:spcBef>
                <a:spcPts val="600"/>
              </a:spcBef>
              <a:spcAft>
                <a:spcPts val="1200"/>
              </a:spcAft>
            </a:pPr>
            <a:r>
              <a:rPr lang="en-US" sz="2200" dirty="0" smtClean="0">
                <a:latin typeface="Helvetica" pitchFamily="34" charset="0"/>
              </a:rPr>
              <a:t>Contact emergency services</a:t>
            </a:r>
          </a:p>
          <a:p>
            <a:pPr marL="360000" indent="-360000">
              <a:spcBef>
                <a:spcPts val="600"/>
              </a:spcBef>
              <a:spcAft>
                <a:spcPts val="1200"/>
              </a:spcAft>
            </a:pPr>
            <a:r>
              <a:rPr lang="en-US" sz="2200" dirty="0" smtClean="0">
                <a:latin typeface="Helvetica" pitchFamily="34" charset="0"/>
              </a:rPr>
              <a:t>Contact management</a:t>
            </a:r>
          </a:p>
          <a:p>
            <a:pPr marL="360000" indent="-360000">
              <a:spcBef>
                <a:spcPts val="600"/>
              </a:spcBef>
              <a:spcAft>
                <a:spcPts val="1200"/>
              </a:spcAft>
            </a:pPr>
            <a:r>
              <a:rPr lang="en-US" sz="2200" dirty="0" smtClean="0">
                <a:latin typeface="Helvetica" pitchFamily="34" charset="0"/>
              </a:rPr>
              <a:t>Preserve the scene where the body was found</a:t>
            </a:r>
          </a:p>
          <a:p>
            <a:pPr marL="360000" indent="-360000">
              <a:spcBef>
                <a:spcPts val="600"/>
              </a:spcBef>
              <a:spcAft>
                <a:spcPts val="1200"/>
              </a:spcAft>
            </a:pPr>
            <a:r>
              <a:rPr lang="en-US" sz="2200" dirty="0" smtClean="0">
                <a:latin typeface="Helvetica" pitchFamily="34" charset="0"/>
              </a:rPr>
              <a:t>Comfort those affected by the death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143636"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714876" y="264318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786182" y="321468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858016" y="378619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72132" y="4357694"/>
            <a:ext cx="399154" cy="527046"/>
          </a:xfrm>
          <a:prstGeom prst="rect">
            <a:avLst/>
          </a:prstGeom>
          <a:noFill/>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Contain the situation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100" dirty="0" smtClean="0">
                <a:latin typeface="Helvetica" pitchFamily="34" charset="0"/>
              </a:rPr>
              <a:t>‘Deceased persons’ situations:</a:t>
            </a:r>
          </a:p>
          <a:p>
            <a:pPr marL="360000" indent="-360000">
              <a:spcBef>
                <a:spcPts val="600"/>
              </a:spcBef>
              <a:spcAft>
                <a:spcPts val="1200"/>
              </a:spcAft>
            </a:pPr>
            <a:r>
              <a:rPr lang="en-US" sz="2100" dirty="0" smtClean="0">
                <a:latin typeface="Helvetica" pitchFamily="34" charset="0"/>
              </a:rPr>
              <a:t>Are distressing for everyone involved</a:t>
            </a:r>
          </a:p>
          <a:p>
            <a:pPr marL="360000" indent="-360000">
              <a:spcBef>
                <a:spcPts val="600"/>
              </a:spcBef>
              <a:spcAft>
                <a:spcPts val="1200"/>
              </a:spcAft>
            </a:pPr>
            <a:r>
              <a:rPr lang="en-US" sz="2100" dirty="0" smtClean="0">
                <a:latin typeface="Helvetica" pitchFamily="34" charset="0"/>
              </a:rPr>
              <a:t>Rarely occur</a:t>
            </a:r>
          </a:p>
          <a:p>
            <a:pPr marL="360000" indent="-360000">
              <a:spcBef>
                <a:spcPts val="600"/>
              </a:spcBef>
              <a:spcAft>
                <a:spcPts val="1200"/>
              </a:spcAft>
            </a:pPr>
            <a:r>
              <a:rPr lang="en-US" sz="2100" dirty="0" smtClean="0">
                <a:latin typeface="Helvetica" pitchFamily="34" charset="0"/>
              </a:rPr>
              <a:t>Only apply where the body is found on the </a:t>
            </a:r>
            <a:br>
              <a:rPr lang="en-US" sz="2100" dirty="0" smtClean="0">
                <a:latin typeface="Helvetica" pitchFamily="34" charset="0"/>
              </a:rPr>
            </a:br>
            <a:r>
              <a:rPr lang="en-US" sz="2100" dirty="0" smtClean="0">
                <a:latin typeface="Helvetica" pitchFamily="34" charset="0"/>
              </a:rPr>
              <a:t>premises</a:t>
            </a:r>
          </a:p>
          <a:p>
            <a:pPr marL="360000" indent="-360000">
              <a:spcBef>
                <a:spcPts val="600"/>
              </a:spcBef>
              <a:spcAft>
                <a:spcPts val="1200"/>
              </a:spcAft>
            </a:pPr>
            <a:r>
              <a:rPr lang="en-US" sz="2100" dirty="0" smtClean="0">
                <a:latin typeface="Helvetica" pitchFamily="34" charset="0"/>
              </a:rPr>
              <a:t>Can involve a guest, patron or member of </a:t>
            </a:r>
            <a:br>
              <a:rPr lang="en-US" sz="2100" dirty="0" smtClean="0">
                <a:latin typeface="Helvetica" pitchFamily="34" charset="0"/>
              </a:rPr>
            </a:br>
            <a:r>
              <a:rPr lang="en-US" sz="2100" dirty="0" smtClean="0">
                <a:latin typeface="Helvetica" pitchFamily="34" charset="0"/>
              </a:rPr>
              <a:t>the public</a:t>
            </a:r>
          </a:p>
          <a:p>
            <a:pPr marL="360000" indent="-360000">
              <a:spcBef>
                <a:spcPts val="600"/>
              </a:spcBef>
              <a:spcAft>
                <a:spcPts val="1200"/>
              </a:spcAft>
            </a:pPr>
            <a:r>
              <a:rPr lang="en-US" sz="2100" dirty="0" smtClean="0">
                <a:latin typeface="Helvetica" pitchFamily="34" charset="0"/>
              </a:rPr>
              <a:t>Can be handled following internal plans for dealing with same</a:t>
            </a:r>
          </a:p>
          <a:p>
            <a:pPr marL="360000" indent="-360000">
              <a:spcBef>
                <a:spcPts val="600"/>
              </a:spcBef>
              <a:spcAft>
                <a:spcPts val="1200"/>
              </a:spcAft>
              <a:buNone/>
            </a:pPr>
            <a:r>
              <a:rPr lang="en-US" sz="2100" dirty="0" smtClean="0">
                <a:latin typeface="Helvetica" pitchFamily="34" charset="0"/>
              </a:rPr>
              <a:t>(Continued)</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66562" name="Picture 2" descr="C:\Documents and Settings\danielc\Desktop\251836_casualty_bed_in_hospital.jpg"/>
          <p:cNvPicPr>
            <a:picLocks noChangeAspect="1" noChangeArrowheads="1"/>
          </p:cNvPicPr>
          <p:nvPr/>
        </p:nvPicPr>
        <p:blipFill>
          <a:blip r:embed="rId3" cstate="print"/>
          <a:srcRect/>
          <a:stretch>
            <a:fillRect/>
          </a:stretch>
        </p:blipFill>
        <p:spPr bwMode="auto">
          <a:xfrm>
            <a:off x="6572264" y="2143116"/>
            <a:ext cx="1564490" cy="2085987"/>
          </a:xfrm>
          <a:prstGeom prst="rect">
            <a:avLst/>
          </a:prstGeom>
          <a:noFill/>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Contain the situation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Death may be the result of: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Natural causes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An accident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Criminal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159</a:t>
            </a:fld>
            <a:endParaRPr lang="en-US" dirty="0">
              <a:latin typeface="Helvetica" pitchFamily="34" charset="0"/>
            </a:endParaRPr>
          </a:p>
        </p:txBody>
      </p:sp>
      <p:pic>
        <p:nvPicPr>
          <p:cNvPr id="67586" name="Picture 2" descr="C:\Documents and Settings\danielc\Local Settings\Temporary Internet Files\Content.IE5\Y88G682L\MC900441892[1].wmf"/>
          <p:cNvPicPr>
            <a:picLocks noChangeAspect="1" noChangeArrowheads="1"/>
          </p:cNvPicPr>
          <p:nvPr/>
        </p:nvPicPr>
        <p:blipFill>
          <a:blip r:embed="rId3" cstate="print"/>
          <a:srcRect/>
          <a:stretch>
            <a:fillRect/>
          </a:stretch>
        </p:blipFill>
        <p:spPr bwMode="auto">
          <a:xfrm>
            <a:off x="5214942" y="1928802"/>
            <a:ext cx="2178050" cy="1828800"/>
          </a:xfrm>
          <a:prstGeom prst="rect">
            <a:avLst/>
          </a:prstGeom>
          <a:noFill/>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Contain the situation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you find a deceased person:</a:t>
            </a:r>
          </a:p>
          <a:p>
            <a:pPr marL="360000" indent="-360000">
              <a:spcBef>
                <a:spcPts val="600"/>
              </a:spcBef>
              <a:spcAft>
                <a:spcPts val="1200"/>
              </a:spcAft>
            </a:pPr>
            <a:r>
              <a:rPr lang="en-US" sz="2200" dirty="0" smtClean="0">
                <a:latin typeface="Helvetica" pitchFamily="34" charset="0"/>
              </a:rPr>
              <a:t>Notify Front Office immediately – use code</a:t>
            </a:r>
          </a:p>
          <a:p>
            <a:pPr marL="360000" indent="-360000">
              <a:spcBef>
                <a:spcPts val="600"/>
              </a:spcBef>
              <a:spcAft>
                <a:spcPts val="1200"/>
              </a:spcAft>
            </a:pPr>
            <a:r>
              <a:rPr lang="en-US" sz="2200" dirty="0" smtClean="0">
                <a:latin typeface="Helvetica" pitchFamily="34" charset="0"/>
              </a:rPr>
              <a:t>Do not touch anything</a:t>
            </a:r>
          </a:p>
          <a:p>
            <a:pPr marL="360000" indent="-360000">
              <a:spcBef>
                <a:spcPts val="600"/>
              </a:spcBef>
              <a:spcAft>
                <a:spcPts val="1200"/>
              </a:spcAft>
            </a:pPr>
            <a:r>
              <a:rPr lang="en-US" sz="2200" dirty="0" smtClean="0">
                <a:latin typeface="Helvetica" pitchFamily="34" charset="0"/>
              </a:rPr>
              <a:t>Provide whatever assistance/comfort you can to those at the scene</a:t>
            </a:r>
          </a:p>
          <a:p>
            <a:pPr marL="360000" indent="-360000">
              <a:spcBef>
                <a:spcPts val="600"/>
              </a:spcBef>
              <a:spcAft>
                <a:spcPts val="1200"/>
              </a:spcAft>
            </a:pPr>
            <a:r>
              <a:rPr lang="en-US" sz="2200" dirty="0" smtClean="0">
                <a:latin typeface="Helvetica" pitchFamily="34" charset="0"/>
              </a:rPr>
              <a:t>Let management talk to media or guests</a:t>
            </a:r>
          </a:p>
          <a:p>
            <a:pPr marL="360000" indent="-360000">
              <a:spcBef>
                <a:spcPts val="600"/>
              </a:spcBef>
              <a:spcAft>
                <a:spcPts val="1200"/>
              </a:spcAft>
            </a:pPr>
            <a:r>
              <a:rPr lang="en-US" sz="2200" dirty="0" smtClean="0">
                <a:latin typeface="Helvetica" pitchFamily="34" charset="0"/>
              </a:rPr>
              <a:t>Demonstrate dignity for the deceased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160</a:t>
            </a:fld>
            <a:endParaRPr lang="en-US" dirty="0">
              <a:latin typeface="Helvetica" pitchFamily="34" charset="0"/>
            </a:endParaRPr>
          </a:p>
        </p:txBody>
      </p:sp>
      <p:pic>
        <p:nvPicPr>
          <p:cNvPr id="68610" name="Picture 2" descr="C:\Documents and Settings\danielc\Local Settings\Temporary Internet Files\Content.IE5\XGIII3N1\MC900359035[1].wmf"/>
          <p:cNvPicPr>
            <a:picLocks noChangeAspect="1" noChangeArrowheads="1"/>
          </p:cNvPicPr>
          <p:nvPr/>
        </p:nvPicPr>
        <p:blipFill>
          <a:blip r:embed="rId3" cstate="print"/>
          <a:srcRect/>
          <a:stretch>
            <a:fillRect/>
          </a:stretch>
        </p:blipFill>
        <p:spPr bwMode="auto">
          <a:xfrm>
            <a:off x="6572264" y="1857364"/>
            <a:ext cx="2340143" cy="1287020"/>
          </a:xfrm>
          <a:prstGeom prst="rect">
            <a:avLst/>
          </a:prstGeom>
          <a:noFill/>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Contain the situation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‘Containing the scene’ = restricting impact on others.</a:t>
            </a:r>
          </a:p>
          <a:p>
            <a:pPr marL="0" indent="0">
              <a:spcBef>
                <a:spcPts val="600"/>
              </a:spcBef>
              <a:spcAft>
                <a:spcPts val="1200"/>
              </a:spcAft>
              <a:buNone/>
            </a:pPr>
            <a:r>
              <a:rPr lang="en-US" sz="2200" dirty="0" smtClean="0">
                <a:latin typeface="Helvetica" pitchFamily="34" charset="0"/>
              </a:rPr>
              <a:t>Actions include:</a:t>
            </a:r>
          </a:p>
          <a:p>
            <a:pPr marL="360000" indent="-360000">
              <a:spcBef>
                <a:spcPts val="600"/>
              </a:spcBef>
              <a:spcAft>
                <a:spcPts val="1200"/>
              </a:spcAft>
            </a:pPr>
            <a:r>
              <a:rPr lang="en-US" sz="2200" dirty="0" smtClean="0">
                <a:latin typeface="Helvetica" pitchFamily="34" charset="0"/>
              </a:rPr>
              <a:t>Preventing others seeing the body</a:t>
            </a:r>
          </a:p>
          <a:p>
            <a:pPr marL="360000" indent="-360000">
              <a:spcBef>
                <a:spcPts val="600"/>
              </a:spcBef>
              <a:spcAft>
                <a:spcPts val="1200"/>
              </a:spcAft>
            </a:pPr>
            <a:r>
              <a:rPr lang="en-US" sz="2200" dirty="0" smtClean="0">
                <a:latin typeface="Helvetica" pitchFamily="34" charset="0"/>
              </a:rPr>
              <a:t>Not talking about the situation</a:t>
            </a:r>
          </a:p>
          <a:p>
            <a:pPr marL="360000" indent="-360000">
              <a:spcBef>
                <a:spcPts val="600"/>
              </a:spcBef>
              <a:spcAft>
                <a:spcPts val="1200"/>
              </a:spcAft>
            </a:pPr>
            <a:r>
              <a:rPr lang="en-US" sz="2200" dirty="0" smtClean="0">
                <a:latin typeface="Helvetica" pitchFamily="34" charset="0"/>
              </a:rPr>
              <a:t>Limiting fallout on normal venue operations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69634" name="Picture 2" descr="C:\Documents and Settings\danielc\Desktop\590345_bloody_river.jpg"/>
          <p:cNvPicPr>
            <a:picLocks noChangeAspect="1" noChangeArrowheads="1"/>
          </p:cNvPicPr>
          <p:nvPr/>
        </p:nvPicPr>
        <p:blipFill>
          <a:blip r:embed="rId3" cstate="print"/>
          <a:srcRect/>
          <a:stretch>
            <a:fillRect/>
          </a:stretch>
        </p:blipFill>
        <p:spPr bwMode="auto">
          <a:xfrm>
            <a:off x="6715140" y="2214554"/>
            <a:ext cx="1466849" cy="1955799"/>
          </a:xfrm>
          <a:prstGeom prst="rect">
            <a:avLst/>
          </a:prstGeom>
          <a:noFill/>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Where a deceased person is discovered:</a:t>
            </a:r>
          </a:p>
          <a:p>
            <a:pPr marL="360000" indent="-360000">
              <a:spcBef>
                <a:spcPts val="600"/>
              </a:spcBef>
              <a:spcAft>
                <a:spcPts val="1200"/>
              </a:spcAft>
            </a:pPr>
            <a:r>
              <a:rPr lang="en-US" sz="2200" dirty="0" smtClean="0">
                <a:latin typeface="Helvetica" pitchFamily="34" charset="0"/>
              </a:rPr>
              <a:t>Emergency services MUST be contacted</a:t>
            </a:r>
          </a:p>
          <a:p>
            <a:pPr marL="360000" indent="-360000">
              <a:spcBef>
                <a:spcPts val="600"/>
              </a:spcBef>
              <a:spcAft>
                <a:spcPts val="1200"/>
              </a:spcAft>
            </a:pPr>
            <a:r>
              <a:rPr lang="en-US" sz="2200" dirty="0" smtClean="0">
                <a:latin typeface="Helvetica" pitchFamily="34" charset="0"/>
              </a:rPr>
              <a:t>‘Dual response’ should be asked for: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Police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Ambulance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pic>
        <p:nvPicPr>
          <p:cNvPr id="70658" name="Picture 2" descr="C:\Documents and Settings\danielc\Desktop\230522_hospital_3.jpg"/>
          <p:cNvPicPr>
            <a:picLocks noChangeAspect="1" noChangeArrowheads="1"/>
          </p:cNvPicPr>
          <p:nvPr/>
        </p:nvPicPr>
        <p:blipFill>
          <a:blip r:embed="rId3" cstate="print">
            <a:grayscl/>
          </a:blip>
          <a:srcRect/>
          <a:stretch>
            <a:fillRect/>
          </a:stretch>
        </p:blipFill>
        <p:spPr bwMode="auto">
          <a:xfrm>
            <a:off x="5857884" y="2786058"/>
            <a:ext cx="2500310" cy="1666873"/>
          </a:xfrm>
          <a:prstGeom prst="rect">
            <a:avLst/>
          </a:prstGeom>
          <a:noFill/>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Contacting emergency services:</a:t>
            </a:r>
          </a:p>
          <a:p>
            <a:pPr marL="360000" indent="-360000">
              <a:spcBef>
                <a:spcPts val="600"/>
              </a:spcBef>
              <a:spcAft>
                <a:spcPts val="1200"/>
              </a:spcAft>
            </a:pPr>
            <a:r>
              <a:rPr lang="en-US" sz="2200" dirty="0" smtClean="0">
                <a:latin typeface="Helvetica" pitchFamily="34" charset="0"/>
              </a:rPr>
              <a:t>Allow Front Office to do this when you have notified them</a:t>
            </a:r>
          </a:p>
          <a:p>
            <a:pPr marL="360000" indent="-360000">
              <a:spcBef>
                <a:spcPts val="600"/>
              </a:spcBef>
              <a:spcAft>
                <a:spcPts val="1200"/>
              </a:spcAft>
            </a:pPr>
            <a:r>
              <a:rPr lang="en-US" sz="2200" dirty="0" smtClean="0">
                <a:latin typeface="Helvetica" pitchFamily="34" charset="0"/>
              </a:rPr>
              <a:t>If you have to make the call: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Do it quickly – so guests cannot overhear</a:t>
            </a:r>
          </a:p>
          <a:p>
            <a:pPr marL="360000" indent="-360000">
              <a:spcBef>
                <a:spcPts val="600"/>
              </a:spcBef>
              <a:spcAft>
                <a:spcPts val="1200"/>
              </a:spcAft>
            </a:pPr>
            <a:r>
              <a:rPr lang="en-US" sz="2200" dirty="0" smtClean="0">
                <a:latin typeface="Helvetica" pitchFamily="34" charset="0"/>
              </a:rPr>
              <a:t>Log the call – for future reference if needed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71683" name="Picture 3" descr="C:\Documents and Settings\danielc\Local Settings\Temporary Internet Files\Content.IE5\3Y3SDCJX\MC900282280[1].wmf"/>
          <p:cNvPicPr>
            <a:picLocks noChangeAspect="1" noChangeArrowheads="1"/>
          </p:cNvPicPr>
          <p:nvPr/>
        </p:nvPicPr>
        <p:blipFill>
          <a:blip r:embed="rId3" cstate="print"/>
          <a:srcRect/>
          <a:stretch>
            <a:fillRect/>
          </a:stretch>
        </p:blipFill>
        <p:spPr bwMode="auto">
          <a:xfrm>
            <a:off x="7072330" y="2786058"/>
            <a:ext cx="1744675" cy="1809598"/>
          </a:xfrm>
          <a:prstGeom prst="rect">
            <a:avLst/>
          </a:prstGeom>
          <a:noFill/>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emergency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phoning emergency services:</a:t>
            </a:r>
          </a:p>
          <a:p>
            <a:pPr marL="360000" indent="-360000">
              <a:spcBef>
                <a:spcPts val="600"/>
              </a:spcBef>
              <a:spcAft>
                <a:spcPts val="1200"/>
              </a:spcAft>
            </a:pPr>
            <a:r>
              <a:rPr lang="en-US" sz="2200" dirty="0" smtClean="0">
                <a:latin typeface="Helvetica" pitchFamily="34" charset="0"/>
              </a:rPr>
              <a:t>Advise you want to report a dead body</a:t>
            </a:r>
          </a:p>
          <a:p>
            <a:pPr marL="360000" indent="-360000">
              <a:spcBef>
                <a:spcPts val="600"/>
              </a:spcBef>
              <a:spcAft>
                <a:spcPts val="1200"/>
              </a:spcAft>
            </a:pPr>
            <a:r>
              <a:rPr lang="en-US" sz="2200" dirty="0" smtClean="0">
                <a:latin typeface="Helvetica" pitchFamily="34" charset="0"/>
              </a:rPr>
              <a:t>Respond to operator’s questions</a:t>
            </a:r>
          </a:p>
          <a:p>
            <a:pPr marL="360000" indent="-360000">
              <a:spcBef>
                <a:spcPts val="600"/>
              </a:spcBef>
              <a:spcAft>
                <a:spcPts val="1200"/>
              </a:spcAft>
            </a:pPr>
            <a:r>
              <a:rPr lang="en-US" sz="2200" dirty="0" smtClean="0">
                <a:latin typeface="Helvetica" pitchFamily="34" charset="0"/>
              </a:rPr>
              <a:t>Ask for dual response</a:t>
            </a:r>
          </a:p>
          <a:p>
            <a:pPr marL="360000" indent="-360000">
              <a:spcBef>
                <a:spcPts val="600"/>
              </a:spcBef>
              <a:spcAft>
                <a:spcPts val="1200"/>
              </a:spcAft>
            </a:pPr>
            <a:r>
              <a:rPr lang="en-US" sz="2200" dirty="0" smtClean="0">
                <a:latin typeface="Helvetica" pitchFamily="34" charset="0"/>
              </a:rPr>
              <a:t>Provide other details you deem relevant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72706" name="Picture 2" descr="C:\Documents and Settings\danielc\Local Settings\Temporary Internet Files\Content.IE5\UMECW9PM\MC900282708[1].wmf"/>
          <p:cNvPicPr>
            <a:picLocks noChangeAspect="1" noChangeArrowheads="1"/>
          </p:cNvPicPr>
          <p:nvPr/>
        </p:nvPicPr>
        <p:blipFill>
          <a:blip r:embed="rId3" cstate="print"/>
          <a:srcRect/>
          <a:stretch>
            <a:fillRect/>
          </a:stretch>
        </p:blipFill>
        <p:spPr bwMode="auto">
          <a:xfrm>
            <a:off x="6429388" y="2214554"/>
            <a:ext cx="1585570" cy="1817827"/>
          </a:xfrm>
          <a:prstGeom prst="rect">
            <a:avLst/>
          </a:prstGeom>
          <a:noFill/>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Contacting management:</a:t>
            </a:r>
          </a:p>
          <a:p>
            <a:pPr marL="360000" indent="-360000">
              <a:spcBef>
                <a:spcPts val="600"/>
              </a:spcBef>
              <a:spcAft>
                <a:spcPts val="1200"/>
              </a:spcAft>
            </a:pPr>
            <a:r>
              <a:rPr lang="en-US" sz="2200" dirty="0" smtClean="0">
                <a:latin typeface="Helvetica" pitchFamily="34" charset="0"/>
              </a:rPr>
              <a:t>They must be contacted when a deceased person is discovered</a:t>
            </a:r>
          </a:p>
          <a:p>
            <a:pPr marL="360000" indent="-360000">
              <a:spcBef>
                <a:spcPts val="600"/>
              </a:spcBef>
              <a:spcAft>
                <a:spcPts val="1200"/>
              </a:spcAft>
            </a:pPr>
            <a:r>
              <a:rPr lang="en-US" sz="2200" dirty="0" smtClean="0">
                <a:latin typeface="Helvetica" pitchFamily="34" charset="0"/>
              </a:rPr>
              <a:t>Follow house protocols regarding sequence/timing of this</a:t>
            </a:r>
          </a:p>
          <a:p>
            <a:pPr marL="360000" indent="-360000">
              <a:spcBef>
                <a:spcPts val="600"/>
              </a:spcBef>
              <a:spcAft>
                <a:spcPts val="1200"/>
              </a:spcAft>
            </a:pPr>
            <a:r>
              <a:rPr lang="en-US" sz="2200" dirty="0" smtClean="0">
                <a:latin typeface="Helvetica" pitchFamily="34" charset="0"/>
              </a:rPr>
              <a:t>If no guidelines exist – contact emergency services first</a:t>
            </a:r>
          </a:p>
          <a:p>
            <a:pPr marL="360000" indent="-360000">
              <a:spcBef>
                <a:spcPts val="600"/>
              </a:spcBef>
              <a:spcAft>
                <a:spcPts val="1200"/>
              </a:spcAft>
            </a:pPr>
            <a:r>
              <a:rPr lang="en-US" sz="2200" dirty="0" smtClean="0">
                <a:latin typeface="Helvetica" pitchFamily="34" charset="0"/>
              </a:rPr>
              <a:t>Where Front Office has been notified, they will contact 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73731" name="Picture 3" descr="C:\Documents and Settings\danielc\Local Settings\Temporary Internet Files\Content.IE5\Y88G682L\MC900384386[1].wmf"/>
          <p:cNvPicPr>
            <a:picLocks noChangeAspect="1" noChangeArrowheads="1"/>
          </p:cNvPicPr>
          <p:nvPr/>
        </p:nvPicPr>
        <p:blipFill>
          <a:blip r:embed="rId3" cstate="print"/>
          <a:srcRect/>
          <a:stretch>
            <a:fillRect/>
          </a:stretch>
        </p:blipFill>
        <p:spPr bwMode="auto">
          <a:xfrm>
            <a:off x="6143636" y="785794"/>
            <a:ext cx="1818742" cy="1271016"/>
          </a:xfrm>
          <a:prstGeom prst="rect">
            <a:avLst/>
          </a:prstGeom>
          <a:noFill/>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Contact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If you have to notify management about a body:</a:t>
            </a:r>
          </a:p>
          <a:p>
            <a:pPr marL="360000" indent="-360000">
              <a:spcBef>
                <a:spcPts val="600"/>
              </a:spcBef>
              <a:spcAft>
                <a:spcPts val="1200"/>
              </a:spcAft>
            </a:pPr>
            <a:r>
              <a:rPr lang="en-US" sz="2200" dirty="0" smtClean="0">
                <a:latin typeface="Helvetica" pitchFamily="34" charset="0"/>
              </a:rPr>
              <a:t>Do it promptly – use a phone: identify yourself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Provide information about the body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Give information about the scene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Advise of any action taken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Suggest action to take</a:t>
            </a:r>
          </a:p>
          <a:p>
            <a:pPr marL="360000" indent="-360000">
              <a:spcBef>
                <a:spcPts val="600"/>
              </a:spcBef>
              <a:spcAft>
                <a:spcPts val="1200"/>
              </a:spcAft>
            </a:pPr>
            <a:r>
              <a:rPr lang="en-US" sz="2200" dirty="0" smtClean="0">
                <a:latin typeface="Helvetica" pitchFamily="34" charset="0"/>
              </a:rPr>
              <a:t>Seek directions and ask questions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74755" name="Picture 3" descr="C:\Documents and Settings\danielc\Local Settings\Temporary Internet Files\Content.IE5\UMECW9PM\MC900044848[1].wmf"/>
          <p:cNvPicPr>
            <a:picLocks noChangeAspect="1" noChangeArrowheads="1"/>
          </p:cNvPicPr>
          <p:nvPr/>
        </p:nvPicPr>
        <p:blipFill>
          <a:blip r:embed="rId3" cstate="print"/>
          <a:srcRect/>
          <a:stretch>
            <a:fillRect/>
          </a:stretch>
        </p:blipFill>
        <p:spPr bwMode="auto">
          <a:xfrm>
            <a:off x="6572264" y="3071810"/>
            <a:ext cx="1505102" cy="2008022"/>
          </a:xfrm>
          <a:prstGeom prst="rect">
            <a:avLst/>
          </a:prstGeom>
          <a:noFill/>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Preserve the scene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Part of your response to a deceased person is to ‘preserve the scene’ – this must be done to:</a:t>
            </a:r>
          </a:p>
          <a:p>
            <a:pPr marL="360000" indent="-360000">
              <a:spcBef>
                <a:spcPts val="600"/>
              </a:spcBef>
              <a:spcAft>
                <a:spcPts val="1200"/>
              </a:spcAft>
            </a:pPr>
            <a:r>
              <a:rPr lang="en-US" sz="2200" dirty="0" smtClean="0">
                <a:latin typeface="Helvetica" pitchFamily="34" charset="0"/>
              </a:rPr>
              <a:t>Avoid contamination of the scene</a:t>
            </a:r>
          </a:p>
          <a:p>
            <a:pPr marL="360000" indent="-360000">
              <a:spcBef>
                <a:spcPts val="600"/>
              </a:spcBef>
              <a:spcAft>
                <a:spcPts val="1200"/>
              </a:spcAft>
            </a:pPr>
            <a:r>
              <a:rPr lang="en-US" sz="2200" dirty="0" smtClean="0">
                <a:latin typeface="Helvetica" pitchFamily="34" charset="0"/>
              </a:rPr>
              <a:t>Avoid contamination of evidence</a:t>
            </a:r>
          </a:p>
          <a:p>
            <a:pPr marL="360000" indent="-360000">
              <a:spcBef>
                <a:spcPts val="600"/>
              </a:spcBef>
              <a:spcAft>
                <a:spcPts val="1200"/>
              </a:spcAft>
            </a:pPr>
            <a:r>
              <a:rPr lang="en-US" sz="2200" dirty="0" smtClean="0">
                <a:latin typeface="Helvetica" pitchFamily="34" charset="0"/>
              </a:rPr>
              <a:t>Allow investigators to do their work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75779" name="Picture 3" descr="C:\Documents and Settings\danielc\Local Settings\Temporary Internet Files\Content.IE5\112MAXTI\MC910216382[1].png"/>
          <p:cNvPicPr>
            <a:picLocks noChangeAspect="1" noChangeArrowheads="1"/>
          </p:cNvPicPr>
          <p:nvPr/>
        </p:nvPicPr>
        <p:blipFill>
          <a:blip r:embed="rId3" cstate="print"/>
          <a:srcRect/>
          <a:stretch>
            <a:fillRect/>
          </a:stretch>
        </p:blipFill>
        <p:spPr bwMode="auto">
          <a:xfrm>
            <a:off x="5572132" y="2285992"/>
            <a:ext cx="3280060" cy="2857520"/>
          </a:xfrm>
          <a:prstGeom prst="rect">
            <a:avLst/>
          </a:prstGeom>
          <a:noFill/>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Preserve the scene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To preserve the scene:</a:t>
            </a:r>
          </a:p>
          <a:p>
            <a:pPr marL="360000" indent="-360000">
              <a:spcBef>
                <a:spcPts val="600"/>
              </a:spcBef>
              <a:spcAft>
                <a:spcPts val="1200"/>
              </a:spcAft>
            </a:pPr>
            <a:r>
              <a:rPr lang="en-US" sz="2200" dirty="0" smtClean="0">
                <a:latin typeface="Helvetica" pitchFamily="34" charset="0"/>
              </a:rPr>
              <a:t>Do not touch the body</a:t>
            </a:r>
          </a:p>
          <a:p>
            <a:pPr marL="360000" indent="-360000">
              <a:spcBef>
                <a:spcPts val="600"/>
              </a:spcBef>
              <a:spcAft>
                <a:spcPts val="1200"/>
              </a:spcAft>
            </a:pPr>
            <a:r>
              <a:rPr lang="en-US" sz="2200" dirty="0" smtClean="0">
                <a:latin typeface="Helvetica" pitchFamily="34" charset="0"/>
              </a:rPr>
              <a:t>Do not move anything in the room</a:t>
            </a:r>
          </a:p>
          <a:p>
            <a:pPr marL="360000" indent="-360000">
              <a:spcBef>
                <a:spcPts val="600"/>
              </a:spcBef>
              <a:spcAft>
                <a:spcPts val="1200"/>
              </a:spcAft>
            </a:pPr>
            <a:r>
              <a:rPr lang="en-US" sz="2200" dirty="0" smtClean="0">
                <a:latin typeface="Helvetica" pitchFamily="34" charset="0"/>
              </a:rPr>
              <a:t>Do not move/touch anything ‘in the </a:t>
            </a:r>
            <a:br>
              <a:rPr lang="en-US" sz="2200" dirty="0" smtClean="0">
                <a:latin typeface="Helvetica" pitchFamily="34" charset="0"/>
              </a:rPr>
            </a:br>
            <a:r>
              <a:rPr lang="en-US" sz="2200" dirty="0" smtClean="0">
                <a:latin typeface="Helvetica" pitchFamily="34" charset="0"/>
              </a:rPr>
              <a:t>vicinity’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76802" name="Picture 2" descr="C:\Documents and Settings\danielc\Desktop\239372_caution_tape.jpg"/>
          <p:cNvPicPr>
            <a:picLocks noChangeAspect="1" noChangeArrowheads="1"/>
          </p:cNvPicPr>
          <p:nvPr/>
        </p:nvPicPr>
        <p:blipFill>
          <a:blip r:embed="rId3" cstate="print"/>
          <a:srcRect/>
          <a:stretch>
            <a:fillRect/>
          </a:stretch>
        </p:blipFill>
        <p:spPr bwMode="auto">
          <a:xfrm>
            <a:off x="5929322" y="1928802"/>
            <a:ext cx="2285996" cy="1714497"/>
          </a:xfrm>
          <a:prstGeom prst="rect">
            <a:avLst/>
          </a:prstGeom>
          <a:noFill/>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Preserve the scene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Not allowing others into the room</a:t>
            </a:r>
          </a:p>
          <a:p>
            <a:pPr marL="360000" indent="-360000">
              <a:spcBef>
                <a:spcPts val="600"/>
              </a:spcBef>
              <a:spcAft>
                <a:spcPts val="1200"/>
              </a:spcAft>
            </a:pPr>
            <a:r>
              <a:rPr lang="en-US" sz="2200" dirty="0" smtClean="0">
                <a:latin typeface="Helvetica" pitchFamily="34" charset="0"/>
              </a:rPr>
              <a:t>‘Not allowing others to walk through the scene</a:t>
            </a:r>
          </a:p>
          <a:p>
            <a:pPr marL="360000" indent="-360000">
              <a:spcBef>
                <a:spcPts val="600"/>
              </a:spcBef>
              <a:spcAft>
                <a:spcPts val="1200"/>
              </a:spcAft>
            </a:pPr>
            <a:r>
              <a:rPr lang="en-US" sz="2200" dirty="0" smtClean="0">
                <a:latin typeface="Helvetica" pitchFamily="34" charset="0"/>
              </a:rPr>
              <a:t>Not allowing anyone to remove anything from the scene</a:t>
            </a:r>
          </a:p>
          <a:p>
            <a:pPr marL="360000" indent="-360000">
              <a:spcBef>
                <a:spcPts val="600"/>
              </a:spcBef>
              <a:spcAft>
                <a:spcPts val="1200"/>
              </a:spcAft>
            </a:pPr>
            <a:r>
              <a:rPr lang="en-US" sz="2200" dirty="0" smtClean="0">
                <a:latin typeface="Helvetica" pitchFamily="34" charset="0"/>
              </a:rPr>
              <a:t>Making sure no-one else touches or moves anything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169</a:t>
            </a:fld>
            <a:endParaRPr lang="en-US" dirty="0">
              <a:latin typeface="Helvetica" pitchFamily="34" charset="0"/>
            </a:endParaRPr>
          </a:p>
        </p:txBody>
      </p:sp>
      <p:pic>
        <p:nvPicPr>
          <p:cNvPr id="77826" name="Picture 2" descr="C:\Documents and Settings\danielc\Desktop\images\Maintain the security of premises and property imgs\iStock_Security Officer.JPG"/>
          <p:cNvPicPr>
            <a:picLocks noChangeAspect="1" noChangeArrowheads="1"/>
          </p:cNvPicPr>
          <p:nvPr/>
        </p:nvPicPr>
        <p:blipFill>
          <a:blip r:embed="rId3" cstate="print"/>
          <a:srcRect/>
          <a:stretch>
            <a:fillRect/>
          </a:stretch>
        </p:blipFill>
        <p:spPr bwMode="auto">
          <a:xfrm>
            <a:off x="3357554" y="4143380"/>
            <a:ext cx="2424093" cy="1613207"/>
          </a:xfrm>
          <a:prstGeom prst="rect">
            <a:avLst/>
          </a:prstGeom>
          <a:noFill/>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Preserve the scene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might also:</a:t>
            </a:r>
          </a:p>
          <a:p>
            <a:pPr marL="360000" indent="-360000">
              <a:spcBef>
                <a:spcPts val="600"/>
              </a:spcBef>
              <a:spcAft>
                <a:spcPts val="1200"/>
              </a:spcAft>
            </a:pPr>
            <a:r>
              <a:rPr lang="en-US" sz="2200" dirty="0" smtClean="0">
                <a:latin typeface="Helvetica" pitchFamily="34" charset="0"/>
              </a:rPr>
              <a:t>Recall your own actions</a:t>
            </a:r>
          </a:p>
          <a:p>
            <a:pPr marL="360000" indent="-360000">
              <a:spcBef>
                <a:spcPts val="600"/>
              </a:spcBef>
              <a:spcAft>
                <a:spcPts val="1200"/>
              </a:spcAft>
            </a:pPr>
            <a:r>
              <a:rPr lang="en-US" sz="2200" dirty="0" smtClean="0">
                <a:latin typeface="Helvetica" pitchFamily="34" charset="0"/>
              </a:rPr>
              <a:t>Note who else was present/on-the-scene</a:t>
            </a:r>
          </a:p>
          <a:p>
            <a:pPr marL="360000" indent="-360000">
              <a:spcBef>
                <a:spcPts val="600"/>
              </a:spcBef>
              <a:spcAft>
                <a:spcPts val="1200"/>
              </a:spcAft>
            </a:pPr>
            <a:r>
              <a:rPr lang="en-US" sz="2200" dirty="0" smtClean="0">
                <a:latin typeface="Helvetica" pitchFamily="34" charset="0"/>
              </a:rPr>
              <a:t>Ask/encourage people to stay until police arrive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170</a:t>
            </a:fld>
            <a:endParaRPr lang="en-US" dirty="0">
              <a:latin typeface="Helvetica" pitchFamily="34" charset="0"/>
            </a:endParaRPr>
          </a:p>
        </p:txBody>
      </p:sp>
      <p:pic>
        <p:nvPicPr>
          <p:cNvPr id="78850" name="Picture 2" descr="C:\Documents and Settings\danielc\Local Settings\Temporary Internet Files\Content.IE5\3Y3SDCJX\MC900233443[1].wmf"/>
          <p:cNvPicPr>
            <a:picLocks noChangeAspect="1" noChangeArrowheads="1"/>
          </p:cNvPicPr>
          <p:nvPr/>
        </p:nvPicPr>
        <p:blipFill>
          <a:blip r:embed="rId3" cstate="print"/>
          <a:srcRect/>
          <a:stretch>
            <a:fillRect/>
          </a:stretch>
        </p:blipFill>
        <p:spPr bwMode="auto">
          <a:xfrm>
            <a:off x="3500430" y="4050636"/>
            <a:ext cx="2122470" cy="2494833"/>
          </a:xfrm>
          <a:prstGeom prst="rect">
            <a:avLst/>
          </a:prstGeom>
          <a:noFill/>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Comfort those affected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All the following may need attention/comfort as a result of a death on the premises:</a:t>
            </a:r>
          </a:p>
          <a:p>
            <a:pPr marL="360000" indent="-360000">
              <a:spcBef>
                <a:spcPts val="600"/>
              </a:spcBef>
              <a:spcAft>
                <a:spcPts val="1200"/>
              </a:spcAft>
            </a:pPr>
            <a:r>
              <a:rPr lang="en-US" sz="2200" dirty="0" smtClean="0">
                <a:latin typeface="Helvetica" pitchFamily="34" charset="0"/>
              </a:rPr>
              <a:t>Family and friends of the deceased</a:t>
            </a:r>
          </a:p>
          <a:p>
            <a:pPr marL="360000" indent="-360000">
              <a:spcBef>
                <a:spcPts val="600"/>
              </a:spcBef>
              <a:spcAft>
                <a:spcPts val="1200"/>
              </a:spcAft>
            </a:pPr>
            <a:r>
              <a:rPr lang="en-US" sz="2200" dirty="0" smtClean="0">
                <a:latin typeface="Helvetica" pitchFamily="34" charset="0"/>
              </a:rPr>
              <a:t>Other guests</a:t>
            </a:r>
          </a:p>
          <a:p>
            <a:pPr marL="360000" indent="-360000">
              <a:spcBef>
                <a:spcPts val="600"/>
              </a:spcBef>
              <a:spcAft>
                <a:spcPts val="1200"/>
              </a:spcAft>
            </a:pPr>
            <a:r>
              <a:rPr lang="en-US" sz="2200" dirty="0" smtClean="0">
                <a:latin typeface="Helvetica" pitchFamily="34" charset="0"/>
              </a:rPr>
              <a:t>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171</a:t>
            </a:fld>
            <a:endParaRPr lang="en-US" dirty="0">
              <a:latin typeface="Helvetica" pitchFamily="34" charset="0"/>
            </a:endParaRPr>
          </a:p>
        </p:txBody>
      </p:sp>
      <p:pic>
        <p:nvPicPr>
          <p:cNvPr id="79874" name="Picture 2" descr="C:\Documents and Settings\danielc\Local Settings\Temporary Internet Files\Content.IE5\3DV3UKH9\MC900056145[1].wmf"/>
          <p:cNvPicPr>
            <a:picLocks noChangeAspect="1" noChangeArrowheads="1"/>
          </p:cNvPicPr>
          <p:nvPr/>
        </p:nvPicPr>
        <p:blipFill>
          <a:blip r:embed="rId3" cstate="print"/>
          <a:srcRect/>
          <a:stretch>
            <a:fillRect/>
          </a:stretch>
        </p:blipFill>
        <p:spPr bwMode="auto">
          <a:xfrm>
            <a:off x="5929322" y="2357430"/>
            <a:ext cx="2143013" cy="1651426"/>
          </a:xfrm>
          <a:prstGeom prst="rect">
            <a:avLst/>
          </a:prstGeom>
          <a:noFill/>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Preserve the scene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Guidelines for providing comfort:</a:t>
            </a:r>
          </a:p>
          <a:p>
            <a:pPr marL="360000" indent="-360000">
              <a:spcBef>
                <a:spcPts val="600"/>
              </a:spcBef>
              <a:spcAft>
                <a:spcPts val="1200"/>
              </a:spcAft>
            </a:pPr>
            <a:r>
              <a:rPr lang="en-US" sz="2200" dirty="0" smtClean="0">
                <a:latin typeface="Helvetica" pitchFamily="34" charset="0"/>
              </a:rPr>
              <a:t>Follow internal protocols</a:t>
            </a:r>
          </a:p>
          <a:p>
            <a:pPr marL="360000" indent="-360000">
              <a:spcBef>
                <a:spcPts val="600"/>
              </a:spcBef>
              <a:spcAft>
                <a:spcPts val="1200"/>
              </a:spcAft>
            </a:pPr>
            <a:r>
              <a:rPr lang="en-US" sz="2200" dirty="0" smtClean="0">
                <a:latin typeface="Helvetica" pitchFamily="34" charset="0"/>
              </a:rPr>
              <a:t>Always use common sense</a:t>
            </a:r>
          </a:p>
          <a:p>
            <a:pPr marL="360000" indent="-360000">
              <a:spcBef>
                <a:spcPts val="600"/>
              </a:spcBef>
              <a:spcAft>
                <a:spcPts val="1200"/>
              </a:spcAft>
            </a:pPr>
            <a:r>
              <a:rPr lang="en-US" sz="2200" dirty="0" smtClean="0">
                <a:latin typeface="Helvetica" pitchFamily="34" charset="0"/>
              </a:rPr>
              <a:t>Comfort guest before staff</a:t>
            </a:r>
          </a:p>
          <a:p>
            <a:pPr marL="360000" indent="-360000">
              <a:spcBef>
                <a:spcPts val="600"/>
              </a:spcBef>
              <a:spcAft>
                <a:spcPts val="1200"/>
              </a:spcAft>
            </a:pPr>
            <a:r>
              <a:rPr lang="en-US" sz="2200" dirty="0" smtClean="0">
                <a:latin typeface="Helvetica" pitchFamily="34" charset="0"/>
              </a:rPr>
              <a:t>Comfort children before adults</a:t>
            </a:r>
          </a:p>
          <a:p>
            <a:pPr marL="360000" indent="-360000">
              <a:spcBef>
                <a:spcPts val="600"/>
              </a:spcBef>
              <a:spcAft>
                <a:spcPts val="1200"/>
              </a:spcAft>
            </a:pPr>
            <a:r>
              <a:rPr lang="en-US" sz="2200" dirty="0" smtClean="0">
                <a:latin typeface="Helvetica" pitchFamily="34" charset="0"/>
              </a:rPr>
              <a:t>Hold de-briefing sessions for staff</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172</a:t>
            </a:fld>
            <a:endParaRPr lang="en-US" dirty="0">
              <a:latin typeface="Helvetica" pitchFamily="34" charset="0"/>
            </a:endParaRPr>
          </a:p>
        </p:txBody>
      </p:sp>
      <p:pic>
        <p:nvPicPr>
          <p:cNvPr id="80899" name="Picture 3" descr="C:\Documents and Settings\danielc\Local Settings\Temporary Internet Files\Content.IE5\3Y3SDCJX\MC900355387[1].wmf"/>
          <p:cNvPicPr>
            <a:picLocks noChangeAspect="1" noChangeArrowheads="1"/>
          </p:cNvPicPr>
          <p:nvPr/>
        </p:nvPicPr>
        <p:blipFill>
          <a:blip r:embed="rId3" cstate="print"/>
          <a:srcRect/>
          <a:stretch>
            <a:fillRect/>
          </a:stretch>
        </p:blipFill>
        <p:spPr bwMode="auto">
          <a:xfrm>
            <a:off x="6143636" y="2214554"/>
            <a:ext cx="1412748" cy="1840687"/>
          </a:xfrm>
          <a:prstGeom prst="rect">
            <a:avLst/>
          </a:prstGeom>
          <a:noFill/>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Preserve the scene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360000" indent="-360000">
              <a:spcBef>
                <a:spcPts val="600"/>
              </a:spcBef>
              <a:spcAft>
                <a:spcPts val="1200"/>
              </a:spcAft>
            </a:pPr>
            <a:r>
              <a:rPr lang="en-US" sz="2200" dirty="0" smtClean="0">
                <a:latin typeface="Helvetica" pitchFamily="34" charset="0"/>
              </a:rPr>
              <a:t>Use these techniques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Remove them from the scene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Give words of comfort and consolation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Reassure them</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Offer a hot drink and tissues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Be a ‘shoulder to cry 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Provide a simple physical presence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173</a:t>
            </a:fld>
            <a:endParaRPr lang="en-US" dirty="0">
              <a:latin typeface="Helvetica" pitchFamily="34" charset="0"/>
            </a:endParaRPr>
          </a:p>
        </p:txBody>
      </p:sp>
      <p:pic>
        <p:nvPicPr>
          <p:cNvPr id="81923" name="Picture 3" descr="C:\Documents and Settings\danielc\Local Settings\Temporary Internet Files\Content.IE5\112MAXTI\MP900422532[1].jpg"/>
          <p:cNvPicPr>
            <a:picLocks noChangeAspect="1" noChangeArrowheads="1"/>
          </p:cNvPicPr>
          <p:nvPr/>
        </p:nvPicPr>
        <p:blipFill>
          <a:blip r:embed="rId3" cstate="print"/>
          <a:srcRect r="31578"/>
          <a:stretch>
            <a:fillRect/>
          </a:stretch>
        </p:blipFill>
        <p:spPr bwMode="auto">
          <a:xfrm>
            <a:off x="6500818" y="2286016"/>
            <a:ext cx="1857396" cy="2714620"/>
          </a:xfrm>
          <a:prstGeom prst="rect">
            <a:avLst/>
          </a:prstGeom>
          <a:noFill/>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Preserve the scene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Offer to contact family or friends for them</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Avoid telling them what to do/giving foolish advice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Ask them what they need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Obtain profession counselling assistance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Be alert for the potential for those affected to go into shock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174</a:t>
            </a:fld>
            <a:endParaRPr lang="en-US" dirty="0">
              <a:latin typeface="Helvetica" pitchFamily="34" charset="0"/>
            </a:endParaRPr>
          </a:p>
        </p:txBody>
      </p:sp>
      <p:pic>
        <p:nvPicPr>
          <p:cNvPr id="82946" name="Picture 2" descr="C:\Documents and Settings\danielc\Local Settings\Temporary Internet Files\Content.IE5\V9A2RTT8\MC900216682[1].wmf"/>
          <p:cNvPicPr>
            <a:picLocks noChangeAspect="1" noChangeArrowheads="1"/>
          </p:cNvPicPr>
          <p:nvPr/>
        </p:nvPicPr>
        <p:blipFill>
          <a:blip r:embed="rId3" cstate="print"/>
          <a:srcRect/>
          <a:stretch>
            <a:fillRect/>
          </a:stretch>
        </p:blipFill>
        <p:spPr bwMode="auto">
          <a:xfrm>
            <a:off x="3714744" y="4572008"/>
            <a:ext cx="1823314" cy="1670609"/>
          </a:xfrm>
          <a:prstGeom prst="rect">
            <a:avLst/>
          </a:prstGeom>
          <a:noFill/>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6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15480"/>
          </a:xfrm>
        </p:spPr>
        <p:txBody>
          <a:bodyPr>
            <a:normAutofit fontScale="92500"/>
          </a:bodyPr>
          <a:lstStyle/>
          <a:p>
            <a:pPr marL="0" indent="0">
              <a:spcBef>
                <a:spcPts val="600"/>
              </a:spcBef>
              <a:spcAft>
                <a:spcPts val="1200"/>
              </a:spcAft>
              <a:buNone/>
            </a:pPr>
            <a:r>
              <a:rPr lang="en-US" sz="2200" dirty="0" smtClean="0">
                <a:latin typeface="Helvetica" pitchFamily="34" charset="0"/>
              </a:rPr>
              <a:t>When responding to a deceased person:</a:t>
            </a:r>
          </a:p>
          <a:p>
            <a:pPr marL="360000" indent="-360000">
              <a:spcBef>
                <a:spcPts val="600"/>
              </a:spcBef>
              <a:spcAft>
                <a:spcPts val="1200"/>
              </a:spcAft>
            </a:pPr>
            <a:r>
              <a:rPr lang="en-AU" sz="2200" dirty="0" smtClean="0">
                <a:latin typeface="Helvetica" pitchFamily="34" charset="0"/>
              </a:rPr>
              <a:t>Follow house protocols where they exist</a:t>
            </a:r>
          </a:p>
          <a:p>
            <a:pPr marL="360000" indent="-360000">
              <a:spcBef>
                <a:spcPts val="600"/>
              </a:spcBef>
              <a:spcAft>
                <a:spcPts val="1200"/>
              </a:spcAft>
            </a:pPr>
            <a:r>
              <a:rPr lang="en-AU" sz="2200" dirty="0" smtClean="0">
                <a:latin typeface="Helvetica" pitchFamily="34" charset="0"/>
              </a:rPr>
              <a:t>Treat the deceased person with respect</a:t>
            </a:r>
          </a:p>
          <a:p>
            <a:pPr marL="360000" indent="-360000">
              <a:spcBef>
                <a:spcPts val="600"/>
              </a:spcBef>
              <a:spcAft>
                <a:spcPts val="1200"/>
              </a:spcAft>
            </a:pPr>
            <a:r>
              <a:rPr lang="en-AU" sz="2200" dirty="0" smtClean="0">
                <a:latin typeface="Helvetica" pitchFamily="34" charset="0"/>
              </a:rPr>
              <a:t>Contain the situation to the best of your ability at the time</a:t>
            </a:r>
          </a:p>
          <a:p>
            <a:pPr marL="360000" indent="-360000">
              <a:spcBef>
                <a:spcPts val="600"/>
              </a:spcBef>
              <a:spcAft>
                <a:spcPts val="1200"/>
              </a:spcAft>
            </a:pPr>
            <a:r>
              <a:rPr lang="en-AU" sz="2200" dirty="0" smtClean="0"/>
              <a:t>Notify management or the designated person immediately</a:t>
            </a:r>
          </a:p>
          <a:p>
            <a:pPr marL="360000" indent="-360000">
              <a:spcBef>
                <a:spcPts val="600"/>
              </a:spcBef>
              <a:spcAft>
                <a:spcPts val="1200"/>
              </a:spcAft>
            </a:pPr>
            <a:r>
              <a:rPr lang="en-AU" sz="2200" dirty="0" smtClean="0"/>
              <a:t>Contact emergency services and ask for ‘dual response’</a:t>
            </a:r>
          </a:p>
          <a:p>
            <a:pPr marL="360000" indent="-360000">
              <a:spcBef>
                <a:spcPts val="600"/>
              </a:spcBef>
              <a:spcAft>
                <a:spcPts val="1200"/>
              </a:spcAft>
            </a:pPr>
            <a:r>
              <a:rPr lang="en-AU" sz="2200" dirty="0" smtClean="0"/>
              <a:t>Prevent access to the scene by others</a:t>
            </a:r>
          </a:p>
          <a:p>
            <a:pPr marL="360000" indent="-360000">
              <a:spcBef>
                <a:spcPts val="600"/>
              </a:spcBef>
              <a:spcAft>
                <a:spcPts val="1200"/>
              </a:spcAft>
              <a:buNone/>
            </a:pPr>
            <a:r>
              <a:rPr lang="en-US" sz="2200" dirty="0" smtClean="0"/>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175</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6357950" y="1142984"/>
            <a:ext cx="1578292" cy="1562104"/>
          </a:xfrm>
          <a:prstGeom prst="rect">
            <a:avLst/>
          </a:prstGeom>
          <a:noFill/>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6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smtClean="0">
                <a:latin typeface="Helvetica" pitchFamily="34" charset="0"/>
              </a:rPr>
              <a:t>Do </a:t>
            </a:r>
            <a:r>
              <a:rPr lang="en-AU" sz="2200" dirty="0" smtClean="0">
                <a:latin typeface="Helvetica" pitchFamily="34" charset="0"/>
              </a:rPr>
              <a:t>not touch anything</a:t>
            </a:r>
          </a:p>
          <a:p>
            <a:pPr marL="360000" indent="-360000">
              <a:spcBef>
                <a:spcPts val="600"/>
              </a:spcBef>
              <a:spcAft>
                <a:spcPts val="1200"/>
              </a:spcAft>
            </a:pPr>
            <a:r>
              <a:rPr lang="en-AU" sz="2200" dirty="0" smtClean="0">
                <a:latin typeface="Helvetica" pitchFamily="34" charset="0"/>
              </a:rPr>
              <a:t>Do not touch the body</a:t>
            </a:r>
          </a:p>
          <a:p>
            <a:pPr marL="360000" indent="-360000">
              <a:spcBef>
                <a:spcPts val="600"/>
              </a:spcBef>
              <a:spcAft>
                <a:spcPts val="1200"/>
              </a:spcAft>
            </a:pPr>
            <a:r>
              <a:rPr lang="en-AU" sz="2200" dirty="0" smtClean="0">
                <a:latin typeface="Helvetica" pitchFamily="34" charset="0"/>
              </a:rPr>
              <a:t>Do not contaminate the scene</a:t>
            </a:r>
          </a:p>
          <a:p>
            <a:pPr marL="360000" indent="-360000">
              <a:spcBef>
                <a:spcPts val="600"/>
              </a:spcBef>
              <a:spcAft>
                <a:spcPts val="1200"/>
              </a:spcAft>
            </a:pPr>
            <a:r>
              <a:rPr lang="en-AU" sz="2200" dirty="0" smtClean="0">
                <a:latin typeface="Helvetica" pitchFamily="34" charset="0"/>
              </a:rPr>
              <a:t>Comfort guests and staff impacted by the death</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176</a:t>
            </a:fld>
            <a:endParaRPr lang="en-US" dirty="0">
              <a:latin typeface="Helvetica" pitchFamily="34" charset="0"/>
            </a:endParaRPr>
          </a:p>
        </p:txBody>
      </p:sp>
      <p:pic>
        <p:nvPicPr>
          <p:cNvPr id="5" name="Picture 2" descr="C:\Documents and Settings\danielc\Local Settings\Temporary Internet Files\Content.IE5\XGIII3N1\MC900442036[1].wmf"/>
          <p:cNvPicPr>
            <a:picLocks noChangeAspect="1" noChangeArrowheads="1"/>
          </p:cNvPicPr>
          <p:nvPr/>
        </p:nvPicPr>
        <p:blipFill>
          <a:blip r:embed="rId3" cstate="print"/>
          <a:srcRect/>
          <a:stretch>
            <a:fillRect/>
          </a:stretch>
        </p:blipFill>
        <p:spPr bwMode="auto">
          <a:xfrm>
            <a:off x="6215074" y="1214422"/>
            <a:ext cx="1578292" cy="1562104"/>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PPT_FO_template_250612</Template>
  <TotalTime>1046</TotalTime>
  <Words>26876</Words>
  <Application>Microsoft Office PowerPoint</Application>
  <PresentationFormat>On-screen Show (4:3)</PresentationFormat>
  <Paragraphs>3070</Paragraphs>
  <Slides>176</Slides>
  <Notes>176</Notes>
  <HiddenSlides>0</HiddenSlides>
  <MMClips>0</MMClips>
  <ScaleCrop>false</ScaleCrop>
  <HeadingPairs>
    <vt:vector size="4" baseType="variant">
      <vt:variant>
        <vt:lpstr>Theme</vt:lpstr>
      </vt:variant>
      <vt:variant>
        <vt:i4>1</vt:i4>
      </vt:variant>
      <vt:variant>
        <vt:lpstr>Slide Titles</vt:lpstr>
      </vt:variant>
      <vt:variant>
        <vt:i4>176</vt:i4>
      </vt:variant>
    </vt:vector>
  </HeadingPairs>
  <TitlesOfParts>
    <vt:vector size="177" baseType="lpstr">
      <vt:lpstr>PPT_FO_template_250612</vt:lpstr>
      <vt:lpstr>MAINTAIN THE SAFETY OF PREMISES AND PERSONNEL</vt:lpstr>
      <vt:lpstr>Maintain safety of premises and personnel</vt:lpstr>
      <vt:lpstr>Assessment</vt:lpstr>
      <vt:lpstr>Respond to fire and other alarms</vt:lpstr>
      <vt:lpstr>Establish nature and location of alarm</vt:lpstr>
      <vt:lpstr>Establish nature and location of alarm</vt:lpstr>
      <vt:lpstr>Establish nature and location of alarm</vt:lpstr>
      <vt:lpstr>Contact emergency services</vt:lpstr>
      <vt:lpstr>Contact emergency services</vt:lpstr>
      <vt:lpstr>Contact emergency services</vt:lpstr>
      <vt:lpstr>Contact emergency services</vt:lpstr>
      <vt:lpstr>Contact emergency services</vt:lpstr>
      <vt:lpstr>Ensure access and assistance to emergency services</vt:lpstr>
      <vt:lpstr>Ensure access and assistance to emergency services</vt:lpstr>
      <vt:lpstr>Ensure access and assistance to emergency services</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Summary – Element 1</vt:lpstr>
      <vt:lpstr>Summary – Element 1</vt:lpstr>
      <vt:lpstr>Respond to safety threats</vt:lpstr>
      <vt:lpstr>Manage patrons displaying inappropriate behaviour</vt:lpstr>
      <vt:lpstr>Manage patrons displaying inappropriate behaviour</vt:lpstr>
      <vt:lpstr>Manage patrons displaying inappropriate behaviour</vt:lpstr>
      <vt:lpstr>Manage patrons displaying inappropriate behaviour</vt:lpstr>
      <vt:lpstr>Manage patrons displaying inappropriate behaviour</vt:lpstr>
      <vt:lpstr>Manage patrons displaying inappropriate behaviour</vt:lpstr>
      <vt:lpstr>Manage patrons displaying inappropriate behaviour</vt:lpstr>
      <vt:lpstr>Make safe unsafe areas</vt:lpstr>
      <vt:lpstr>Make unsafe areas safe</vt:lpstr>
      <vt:lpstr>Make unsafe areas safe</vt:lpstr>
      <vt:lpstr>Make unsafe areas safe</vt:lpstr>
      <vt:lpstr>Respond to suspicious packages</vt:lpstr>
      <vt:lpstr>Respond to suspicious packages</vt:lpstr>
      <vt:lpstr>Respond to suspicious packages</vt:lpstr>
      <vt:lpstr>Respond to suspicious packages</vt:lpstr>
      <vt:lpstr>Respond to bomb threats</vt:lpstr>
      <vt:lpstr>Respond to bomb threats</vt:lpstr>
      <vt:lpstr>Respond to bomb threats</vt:lpstr>
      <vt:lpstr>Summary – Element 2</vt:lpstr>
      <vt:lpstr>Summary – Element 2</vt:lpstr>
      <vt:lpstr>Respond to emergency situations</vt:lpstr>
      <vt:lpstr>Identify nature and scope of emergency</vt:lpstr>
      <vt:lpstr>Identify nature and scope of emergency</vt:lpstr>
      <vt:lpstr>Identify nature and scope of emergency</vt:lpstr>
      <vt:lpstr>Identify nature and scope of emergency</vt:lpstr>
      <vt:lpstr>Identify nature and scope of emergency</vt:lpstr>
      <vt:lpstr>Identify nature and scope of emergency</vt:lpstr>
      <vt:lpstr>Contact emergency services</vt:lpstr>
      <vt:lpstr>Contact emergency services</vt:lpstr>
      <vt:lpstr>Contact emergency services</vt:lpstr>
      <vt:lpstr>Contact emergency services</vt:lpstr>
      <vt:lpstr>Implement Emergency Management Plan</vt:lpstr>
      <vt:lpstr>Implement Emergency Management Plan</vt:lpstr>
      <vt:lpstr>Implement Emergency Management Plan</vt:lpstr>
      <vt:lpstr>Implement Emergency Management Plan</vt:lpstr>
      <vt:lpstr>Implement Emergency Management Plan</vt:lpstr>
      <vt:lpstr>Implement Emergency Management Plan</vt:lpstr>
      <vt:lpstr>Implement Emergency Management Plan</vt:lpstr>
      <vt:lpstr>Implement Emergency Management Plan</vt:lpstr>
      <vt:lpstr>Implement Emergency Management Plan</vt:lpstr>
      <vt:lpstr>Implement Emergency Management Plan</vt:lpstr>
      <vt:lpstr>Implement Emergency Management Plan</vt:lpstr>
      <vt:lpstr>Implement Emergency Management Plan</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Provide first response assistance</vt:lpstr>
      <vt:lpstr>Maximise safety during emergency</vt:lpstr>
      <vt:lpstr>Maximise safety during emergency</vt:lpstr>
      <vt:lpstr>Maximise safety during emergency</vt:lpstr>
      <vt:lpstr>Maximise safety during emergency</vt:lpstr>
      <vt:lpstr>Summary – Element 3</vt:lpstr>
      <vt:lpstr>Summary – Element 3</vt:lpstr>
      <vt:lpstr>Conduct evacuations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Adhere to EMP requirements</vt:lpstr>
      <vt:lpstr>Maintain calm</vt:lpstr>
      <vt:lpstr>Maintain calm</vt:lpstr>
      <vt:lpstr>Maintain calm</vt:lpstr>
      <vt:lpstr>Maintain calm</vt:lpstr>
      <vt:lpstr>Determine evacuation route/s</vt:lpstr>
      <vt:lpstr>Determine evacuation route/s</vt:lpstr>
      <vt:lpstr>Determine evacuation route/s</vt:lpstr>
      <vt:lpstr>Determine evacuation route/s</vt:lpstr>
      <vt:lpstr>Determine evacuation route/s</vt:lpstr>
      <vt:lpstr>Determine evacuation route/s</vt:lpstr>
      <vt:lpstr>Determine evacuation route/s</vt:lpstr>
      <vt:lpstr>Determine evacuation route/s</vt:lpstr>
      <vt:lpstr>Check for persons left</vt:lpstr>
      <vt:lpstr>Check for persons left</vt:lpstr>
      <vt:lpstr>Check for persons left</vt:lpstr>
      <vt:lpstr>Check for persons left</vt:lpstr>
      <vt:lpstr>Check for persons left</vt:lpstr>
      <vt:lpstr>Check for persons left</vt:lpstr>
      <vt:lpstr>Account for evacuees</vt:lpstr>
      <vt:lpstr>Account for evacuees</vt:lpstr>
      <vt:lpstr>Account for evacuees</vt:lpstr>
      <vt:lpstr>Account for evacuees</vt:lpstr>
      <vt:lpstr>Account for evacuees</vt:lpstr>
      <vt:lpstr>Account for evacuees</vt:lpstr>
      <vt:lpstr>Account for evacuees</vt:lpstr>
      <vt:lpstr>Account for evacuees</vt:lpstr>
      <vt:lpstr>Summary – Element 4</vt:lpstr>
      <vt:lpstr>Summary – Element 4</vt:lpstr>
      <vt:lpstr>Summary – Element 4</vt:lpstr>
      <vt:lpstr>Fulfil administrative responsibilities</vt:lpstr>
      <vt:lpstr>Complete forms and reports</vt:lpstr>
      <vt:lpstr>Complete forms and reports</vt:lpstr>
      <vt:lpstr>Complete forms and reports</vt:lpstr>
      <vt:lpstr>Complete forms and reports</vt:lpstr>
      <vt:lpstr>Complete forms and reports</vt:lpstr>
      <vt:lpstr>Complete forms and reports</vt:lpstr>
      <vt:lpstr>Complete forms and reports</vt:lpstr>
      <vt:lpstr>Complete forms and reports</vt:lpstr>
      <vt:lpstr>Cooperate with management to enhance safety</vt:lpstr>
      <vt:lpstr>Cooperate with management to enhance safety</vt:lpstr>
      <vt:lpstr>Cooperate with management to enhance safety</vt:lpstr>
      <vt:lpstr>Cooperate with management to enhance safety</vt:lpstr>
      <vt:lpstr>Cooperate with management to enhance safety</vt:lpstr>
      <vt:lpstr>Cooperate with management to enhance safety</vt:lpstr>
      <vt:lpstr>Cooperate with management to enhance safety</vt:lpstr>
      <vt:lpstr>Summary – Element 5</vt:lpstr>
      <vt:lpstr>Summary – Element 5</vt:lpstr>
      <vt:lpstr>Respond to a deceased person</vt:lpstr>
      <vt:lpstr>Contain the situation</vt:lpstr>
      <vt:lpstr>Contain the situation</vt:lpstr>
      <vt:lpstr>Contain the situation</vt:lpstr>
      <vt:lpstr>Contain the situation</vt:lpstr>
      <vt:lpstr>Contact emergency services</vt:lpstr>
      <vt:lpstr>Contact emergency services</vt:lpstr>
      <vt:lpstr>Contact emergency services</vt:lpstr>
      <vt:lpstr>Contact management</vt:lpstr>
      <vt:lpstr>Contact management</vt:lpstr>
      <vt:lpstr>Preserve the scene</vt:lpstr>
      <vt:lpstr>Preserve the scene</vt:lpstr>
      <vt:lpstr>Preserve the scene</vt:lpstr>
      <vt:lpstr>Preserve the scene</vt:lpstr>
      <vt:lpstr>Comfort those affected</vt:lpstr>
      <vt:lpstr>Preserve the scene</vt:lpstr>
      <vt:lpstr>Preserve the scene</vt:lpstr>
      <vt:lpstr>Preserve the scene</vt:lpstr>
      <vt:lpstr>Summary – Element 6 </vt:lpstr>
      <vt:lpstr>Summary – Element 6 </vt:lpstr>
    </vt:vector>
  </TitlesOfParts>
  <Company>William Angliss Institute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MAINTAIN THE SAFETY OF PREMISES AND PERSONNEL</dc:title>
  <dc:creator>Administrator</dc:creator>
  <cp:lastModifiedBy>Kaly Quach</cp:lastModifiedBy>
  <cp:revision>160</cp:revision>
  <dcterms:created xsi:type="dcterms:W3CDTF">2012-12-19T23:58:37Z</dcterms:created>
  <dcterms:modified xsi:type="dcterms:W3CDTF">2014-01-09T05:16:26Z</dcterms:modified>
</cp:coreProperties>
</file>