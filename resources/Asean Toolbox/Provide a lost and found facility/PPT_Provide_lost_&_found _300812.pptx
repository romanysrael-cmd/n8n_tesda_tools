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07"/>
  </p:notesMasterIdLst>
  <p:handoutMasterIdLst>
    <p:handoutMasterId r:id="rId108"/>
  </p:handoutMasterIdLst>
  <p:sldIdLst>
    <p:sldId id="256" r:id="rId2"/>
    <p:sldId id="257" r:id="rId3"/>
    <p:sldId id="280" r:id="rId4"/>
    <p:sldId id="283" r:id="rId5"/>
    <p:sldId id="282" r:id="rId6"/>
    <p:sldId id="262" r:id="rId7"/>
    <p:sldId id="293" r:id="rId8"/>
    <p:sldId id="294" r:id="rId9"/>
    <p:sldId id="295" r:id="rId10"/>
    <p:sldId id="296" r:id="rId11"/>
    <p:sldId id="297" r:id="rId12"/>
    <p:sldId id="263" r:id="rId13"/>
    <p:sldId id="298" r:id="rId14"/>
    <p:sldId id="299" r:id="rId15"/>
    <p:sldId id="264" r:id="rId16"/>
    <p:sldId id="303" r:id="rId17"/>
    <p:sldId id="304" r:id="rId18"/>
    <p:sldId id="265" r:id="rId19"/>
    <p:sldId id="308" r:id="rId20"/>
    <p:sldId id="266" r:id="rId21"/>
    <p:sldId id="313" r:id="rId22"/>
    <p:sldId id="314" r:id="rId23"/>
    <p:sldId id="315" r:id="rId24"/>
    <p:sldId id="316" r:id="rId25"/>
    <p:sldId id="317" r:id="rId26"/>
    <p:sldId id="420" r:id="rId27"/>
    <p:sldId id="284" r:id="rId28"/>
    <p:sldId id="318" r:id="rId29"/>
    <p:sldId id="319" r:id="rId30"/>
    <p:sldId id="320" r:id="rId31"/>
    <p:sldId id="321" r:id="rId32"/>
    <p:sldId id="285" r:id="rId33"/>
    <p:sldId id="323" r:id="rId34"/>
    <p:sldId id="324" r:id="rId35"/>
    <p:sldId id="325" r:id="rId36"/>
    <p:sldId id="286" r:id="rId37"/>
    <p:sldId id="287" r:id="rId38"/>
    <p:sldId id="288" r:id="rId39"/>
    <p:sldId id="326" r:id="rId40"/>
    <p:sldId id="327" r:id="rId41"/>
    <p:sldId id="328" r:id="rId42"/>
    <p:sldId id="289" r:id="rId43"/>
    <p:sldId id="337" r:id="rId44"/>
    <p:sldId id="338" r:id="rId45"/>
    <p:sldId id="331" r:id="rId46"/>
    <p:sldId id="342" r:id="rId47"/>
    <p:sldId id="332" r:id="rId48"/>
    <p:sldId id="333" r:id="rId49"/>
    <p:sldId id="352" r:id="rId50"/>
    <p:sldId id="353" r:id="rId51"/>
    <p:sldId id="354" r:id="rId52"/>
    <p:sldId id="334" r:id="rId53"/>
    <p:sldId id="357" r:id="rId54"/>
    <p:sldId id="358" r:id="rId55"/>
    <p:sldId id="359" r:id="rId56"/>
    <p:sldId id="335" r:id="rId57"/>
    <p:sldId id="362" r:id="rId58"/>
    <p:sldId id="363" r:id="rId59"/>
    <p:sldId id="364" r:id="rId60"/>
    <p:sldId id="336" r:id="rId61"/>
    <p:sldId id="374" r:id="rId62"/>
    <p:sldId id="375" r:id="rId63"/>
    <p:sldId id="376" r:id="rId64"/>
    <p:sldId id="367" r:id="rId65"/>
    <p:sldId id="368" r:id="rId66"/>
    <p:sldId id="377" r:id="rId67"/>
    <p:sldId id="378" r:id="rId68"/>
    <p:sldId id="379" r:id="rId69"/>
    <p:sldId id="380" r:id="rId70"/>
    <p:sldId id="381" r:id="rId71"/>
    <p:sldId id="369" r:id="rId72"/>
    <p:sldId id="382" r:id="rId73"/>
    <p:sldId id="370" r:id="rId74"/>
    <p:sldId id="387" r:id="rId75"/>
    <p:sldId id="388" r:id="rId76"/>
    <p:sldId id="389" r:id="rId77"/>
    <p:sldId id="371" r:id="rId78"/>
    <p:sldId id="425" r:id="rId79"/>
    <p:sldId id="424" r:id="rId80"/>
    <p:sldId id="395" r:id="rId81"/>
    <p:sldId id="396" r:id="rId82"/>
    <p:sldId id="397" r:id="rId83"/>
    <p:sldId id="398" r:id="rId84"/>
    <p:sldId id="399" r:id="rId85"/>
    <p:sldId id="426" r:id="rId86"/>
    <p:sldId id="428" r:id="rId87"/>
    <p:sldId id="392" r:id="rId88"/>
    <p:sldId id="400" r:id="rId89"/>
    <p:sldId id="401" r:id="rId90"/>
    <p:sldId id="393" r:id="rId91"/>
    <p:sldId id="394" r:id="rId92"/>
    <p:sldId id="402" r:id="rId93"/>
    <p:sldId id="403" r:id="rId94"/>
    <p:sldId id="404" r:id="rId95"/>
    <p:sldId id="372" r:id="rId96"/>
    <p:sldId id="407" r:id="rId97"/>
    <p:sldId id="408" r:id="rId98"/>
    <p:sldId id="373" r:id="rId99"/>
    <p:sldId id="412" r:id="rId100"/>
    <p:sldId id="413" r:id="rId101"/>
    <p:sldId id="414" r:id="rId102"/>
    <p:sldId id="290" r:id="rId103"/>
    <p:sldId id="417" r:id="rId104"/>
    <p:sldId id="418" r:id="rId105"/>
    <p:sldId id="419" r:id="rId106"/>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66171" autoAdjust="0"/>
  </p:normalViewPr>
  <p:slideViewPr>
    <p:cSldViewPr>
      <p:cViewPr varScale="1">
        <p:scale>
          <a:sx n="61" d="100"/>
          <a:sy n="61" d="100"/>
        </p:scale>
        <p:origin x="207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4/6/2015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29153867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4/6/2015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690503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trainees to class.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3866648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four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679708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184547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074745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continues to identify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on Lost and Found facilities asking questions such as:</a:t>
            </a:r>
          </a:p>
          <a:p>
            <a:pPr>
              <a:buFont typeface="Arial" pitchFamily="34" charset="0"/>
              <a:buChar char="•"/>
            </a:pPr>
            <a:r>
              <a:rPr lang="en-AU" sz="1200" kern="1200" baseline="0" dirty="0" smtClean="0">
                <a:solidFill>
                  <a:schemeClr val="tx1"/>
                </a:solidFill>
                <a:ea typeface="+mn-ea"/>
                <a:cs typeface="+mn-cs"/>
              </a:rPr>
              <a:t> What types of establishments/venues have a Lost and Found facility?</a:t>
            </a:r>
          </a:p>
          <a:p>
            <a:pPr>
              <a:buFont typeface="Arial" pitchFamily="34" charset="0"/>
              <a:buChar char="•"/>
            </a:pPr>
            <a:r>
              <a:rPr lang="en-AU" sz="1200" kern="1200" baseline="0" dirty="0" smtClean="0">
                <a:solidFill>
                  <a:schemeClr val="tx1"/>
                </a:solidFill>
                <a:ea typeface="+mn-ea"/>
                <a:cs typeface="+mn-cs"/>
              </a:rPr>
              <a:t> Why do they have them?</a:t>
            </a:r>
          </a:p>
          <a:p>
            <a:pPr>
              <a:buFont typeface="Arial" pitchFamily="34" charset="0"/>
              <a:buChar char="•"/>
            </a:pPr>
            <a:r>
              <a:rPr lang="en-AU" sz="1200" kern="1200" baseline="0" dirty="0" smtClean="0">
                <a:solidFill>
                  <a:schemeClr val="tx1"/>
                </a:solidFill>
                <a:ea typeface="+mn-ea"/>
                <a:cs typeface="+mn-cs"/>
              </a:rPr>
              <a:t> What is their role/function?</a:t>
            </a:r>
          </a:p>
          <a:p>
            <a:pPr>
              <a:buFont typeface="Arial" pitchFamily="34" charset="0"/>
              <a:buChar char="•"/>
            </a:pPr>
            <a:r>
              <a:rPr lang="en-AU" sz="1200" kern="1200" baseline="0" dirty="0" smtClean="0">
                <a:solidFill>
                  <a:schemeClr val="tx1"/>
                </a:solidFill>
                <a:ea typeface="+mn-ea"/>
                <a:cs typeface="+mn-cs"/>
              </a:rPr>
              <a:t> What sort of items are lost and found?</a:t>
            </a:r>
          </a:p>
          <a:p>
            <a:pPr>
              <a:buFont typeface="Arial" pitchFamily="34" charset="0"/>
              <a:buChar char="•"/>
            </a:pPr>
            <a:r>
              <a:rPr lang="en-AU" sz="1200" kern="1200" baseline="0" dirty="0" smtClean="0">
                <a:solidFill>
                  <a:schemeClr val="tx1"/>
                </a:solidFill>
                <a:ea typeface="+mn-ea"/>
                <a:cs typeface="+mn-cs"/>
              </a:rPr>
              <a:t> What house policies might apply to the operation of the Lost and Found facility in a venue?</a:t>
            </a:r>
          </a:p>
          <a:p>
            <a:pPr>
              <a:buFont typeface="Arial" pitchFamily="34" charset="0"/>
              <a:buChar char="•"/>
            </a:pPr>
            <a:r>
              <a:rPr lang="en-AU" sz="1200" kern="1200" baseline="0" dirty="0" smtClean="0">
                <a:solidFill>
                  <a:schemeClr val="tx1"/>
                </a:solidFill>
                <a:ea typeface="+mn-ea"/>
                <a:cs typeface="+mn-cs"/>
              </a:rPr>
              <a:t> What legal obligations do you think apply to the operation of the Lost and Found facility?</a:t>
            </a:r>
          </a:p>
          <a:p>
            <a:pPr>
              <a:buFont typeface="Arial" pitchFamily="34" charset="0"/>
              <a:buChar char="•"/>
            </a:pPr>
            <a:r>
              <a:rPr lang="en-AU" sz="1200" kern="1200" baseline="0" dirty="0" smtClean="0">
                <a:solidFill>
                  <a:schemeClr val="tx1"/>
                </a:solidFill>
                <a:ea typeface="+mn-ea"/>
                <a:cs typeface="+mn-cs"/>
              </a:rPr>
              <a:t> What experience have you had with Lost and Found?</a:t>
            </a:r>
          </a:p>
          <a:p>
            <a:pPr>
              <a:buFont typeface="Arial" pitchFamily="34" charset="0"/>
              <a:buChar char="•"/>
            </a:pPr>
            <a:r>
              <a:rPr lang="en-AU" sz="1200" kern="1200" baseline="0" dirty="0" smtClean="0">
                <a:solidFill>
                  <a:schemeClr val="tx1"/>
                </a:solidFill>
                <a:ea typeface="+mn-ea"/>
                <a:cs typeface="+mn-cs"/>
              </a:rPr>
              <a:t> What do you think a Lost and Found Register is?</a:t>
            </a:r>
          </a:p>
          <a:p>
            <a:pPr>
              <a:buFont typeface="Arial" pitchFamily="34" charset="0"/>
              <a:buChar char="•"/>
            </a:pPr>
            <a:r>
              <a:rPr lang="en-AU" sz="1200" kern="1200" baseline="0" dirty="0" smtClean="0">
                <a:solidFill>
                  <a:schemeClr val="tx1"/>
                </a:solidFill>
                <a:ea typeface="+mn-ea"/>
                <a:cs typeface="+mn-cs"/>
              </a:rPr>
              <a:t> What information would it contain and when would it be used?</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2135721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presents to trainees all guests expect venues to provide a formal, structured Lost and Found facility highlighting:</a:t>
            </a:r>
          </a:p>
          <a:p>
            <a:pPr>
              <a:buFont typeface="Arial" pitchFamily="34" charset="0"/>
              <a:buChar char="•"/>
            </a:pPr>
            <a:r>
              <a:rPr lang="en-US" sz="1200" kern="1200" dirty="0" smtClean="0">
                <a:solidFill>
                  <a:schemeClr val="tx1"/>
                </a:solidFill>
                <a:ea typeface="+mn-ea"/>
                <a:cs typeface="+mn-cs"/>
              </a:rPr>
              <a:t> The exact nature of each Lost and Found service can vary enormously, and the systems employed to support them can also vary widely</a:t>
            </a:r>
          </a:p>
          <a:p>
            <a:pPr>
              <a:buFont typeface="Arial" pitchFamily="34" charset="0"/>
              <a:buChar char="•"/>
            </a:pPr>
            <a:r>
              <a:rPr lang="en-US" sz="1200" kern="1200" dirty="0" smtClean="0">
                <a:solidFill>
                  <a:schemeClr val="tx1"/>
                </a:solidFill>
                <a:ea typeface="+mn-ea"/>
                <a:cs typeface="+mn-cs"/>
              </a:rPr>
              <a:t> In most cases properties will not have a separate, stand-alone Lost and Found facility within the venue.</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he facility is commonly integrated into Housekeeping (or some other department – more on this on later slides).</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is because no</a:t>
            </a:r>
            <a:r>
              <a:rPr lang="en-US" sz="1200" kern="1200" baseline="0" dirty="0" smtClean="0">
                <a:solidFill>
                  <a:schemeClr val="tx1"/>
                </a:solidFill>
                <a:ea typeface="+mn-ea"/>
                <a:cs typeface="+mn-cs"/>
              </a:rPr>
              <a:t> charge is made for lost and found services (so there is no revenue from it), and generally there are not many items processed through the Lost and Found area.</a:t>
            </a:r>
            <a:endParaRPr lang="en-AU" sz="1200" kern="1200" dirty="0" smtClean="0">
              <a:solidFill>
                <a:schemeClr val="tx1"/>
              </a:solidFill>
              <a:ea typeface="+mn-ea"/>
              <a:cs typeface="+mn-cs"/>
            </a:endParaRPr>
          </a:p>
          <a:p>
            <a:endParaRPr lang="en-US" sz="1200" kern="1200" dirty="0" smtClean="0">
              <a:solidFill>
                <a:schemeClr val="tx1"/>
              </a:solidFill>
              <a:ea typeface="+mn-ea"/>
              <a:cs typeface="+mn-cs"/>
            </a:endParaRPr>
          </a:p>
          <a:p>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4610358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explains to trainees the term ‘Lost and Found facility’ is a generic term referring to the service and protocols provided by a venue to:</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Record lost and found items in the Lost and Found Register (more on later slides about this</a:t>
            </a:r>
            <a:r>
              <a:rPr lang="en-US" sz="1200" kern="1200" baseline="0" dirty="0" smtClean="0">
                <a:solidFill>
                  <a:schemeClr val="tx1"/>
                </a:solidFill>
                <a:ea typeface="+mn-ea"/>
                <a:cs typeface="+mn-cs"/>
              </a:rPr>
              <a:t> Register)</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Store found items according to the nature and value of each item: more</a:t>
            </a:r>
            <a:r>
              <a:rPr lang="en-US" sz="1200" kern="1200" baseline="0" dirty="0" smtClean="0">
                <a:solidFill>
                  <a:schemeClr val="tx1"/>
                </a:solidFill>
                <a:ea typeface="+mn-ea"/>
                <a:cs typeface="+mn-cs"/>
              </a:rPr>
              <a:t> on later slides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Facilitate the return of lost and found items to their rightful owners.  </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491460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ea typeface="+mn-ea"/>
                <a:cs typeface="+mn-cs"/>
              </a:rPr>
              <a:t>Trainer highlights to trainees there is no legal requirement for properties to have a Lost and Found facility but they are common in the following venues: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Hotels – all standards and types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Motels – as for hotels (Motel = Motor hotel)</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Commercial catering facilities where guests attend functions at the facility</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Convention </a:t>
            </a:r>
            <a:r>
              <a:rPr lang="en-AU" sz="1200" kern="1200" noProof="0" dirty="0" smtClean="0">
                <a:solidFill>
                  <a:schemeClr val="tx1"/>
                </a:solidFill>
                <a:ea typeface="+mn-ea"/>
                <a:cs typeface="+mn-cs"/>
              </a:rPr>
              <a:t>centres</a:t>
            </a:r>
            <a:r>
              <a:rPr lang="en-US" sz="1200" kern="1200" dirty="0" smtClean="0">
                <a:solidFill>
                  <a:schemeClr val="tx1"/>
                </a:solidFill>
                <a:ea typeface="+mn-ea"/>
                <a:cs typeface="+mn-cs"/>
              </a:rPr>
              <a:t> where guests attend conventions, seminars, meetings,</a:t>
            </a:r>
            <a:r>
              <a:rPr lang="en-US" sz="1200" kern="1200" baseline="0" dirty="0" smtClean="0">
                <a:solidFill>
                  <a:schemeClr val="tx1"/>
                </a:solidFill>
                <a:ea typeface="+mn-ea"/>
                <a:cs typeface="+mn-cs"/>
              </a:rPr>
              <a:t> events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Casinos – Lost and Found applies to gamblers on the floor (at tables and gaming machines) as well as at all casino facilities (such as accommodation/guest rooms,</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dining areas, spa facilities)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Clubs – all types; licensed clubs and unlicensed clubs.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2860093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identify for trainees the businesses/properties traditionally offering </a:t>
            </a:r>
            <a:r>
              <a:rPr lang="en-US" sz="1200" dirty="0" smtClean="0"/>
              <a:t>L &amp; F</a:t>
            </a:r>
            <a:r>
              <a:rPr lang="en-US" dirty="0" smtClean="0"/>
              <a:t> services/facilities;</a:t>
            </a:r>
          </a:p>
          <a:p>
            <a:pPr>
              <a:buFont typeface="Arial" pitchFamily="34" charset="0"/>
              <a:buChar char="•"/>
            </a:pPr>
            <a:r>
              <a:rPr lang="en-US" sz="1200" kern="1200" dirty="0" smtClean="0">
                <a:solidFill>
                  <a:schemeClr val="tx1"/>
                </a:solidFill>
                <a:ea typeface="+mn-ea"/>
                <a:cs typeface="+mn-cs"/>
              </a:rPr>
              <a:t> Restaurants – to handle items left</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lost by patrons/diners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Resorts – many found items are discovered in external locations (around pools, on the beach</a:t>
            </a:r>
            <a:r>
              <a:rPr lang="en-US" sz="1200" kern="1200" baseline="0" dirty="0" smtClean="0">
                <a:solidFill>
                  <a:schemeClr val="tx1"/>
                </a:solidFill>
                <a:ea typeface="+mn-ea"/>
                <a:cs typeface="+mn-cs"/>
              </a:rPr>
              <a:t> and </a:t>
            </a:r>
            <a:r>
              <a:rPr lang="en-US" sz="1200" kern="1200" dirty="0" smtClean="0">
                <a:solidFill>
                  <a:schemeClr val="tx1"/>
                </a:solidFill>
                <a:ea typeface="+mn-ea"/>
                <a:cs typeface="+mn-cs"/>
              </a:rPr>
              <a:t>at</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near sporting areas)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Theme and amusement parks – to handle items dropping from people’s pockets and bags as they ride on rides or participate in activities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Tourist attractions – of any type, as people explore/’interact with the environment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Back-packer accommodation – same as for hotels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Bed and Breakfast establishments – same as for hotels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Dormitories – same as for hotels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Villas – same as for hotels.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594016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to trainees the difference between ‘Lost’ items and Found items explaining that ‘</a:t>
            </a:r>
            <a:r>
              <a:rPr lang="en-US" sz="1200" kern="1200" dirty="0" smtClean="0">
                <a:solidFill>
                  <a:schemeClr val="tx1"/>
                </a:solidFill>
                <a:ea typeface="+mn-ea"/>
                <a:cs typeface="+mn-cs"/>
              </a:rPr>
              <a:t>Lost’ items are: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ea typeface="+mn-ea"/>
                <a:cs typeface="+mn-cs"/>
              </a:rPr>
              <a:t> Items reported by guests/customers as having been lost.</a:t>
            </a:r>
            <a:r>
              <a:rPr lang="en-US" sz="1200" kern="1200" baseline="0" dirty="0" smtClean="0">
                <a:solidFill>
                  <a:schemeClr val="tx1"/>
                </a:solidFill>
                <a:ea typeface="+mn-ea"/>
                <a:cs typeface="+mn-cs"/>
              </a:rPr>
              <a:t> I</a:t>
            </a:r>
            <a:r>
              <a:rPr lang="en-US" sz="1200" kern="1200" dirty="0" smtClean="0">
                <a:solidFill>
                  <a:schemeClr val="tx1"/>
                </a:solidFill>
                <a:ea typeface="+mn-ea"/>
                <a:cs typeface="+mn-cs"/>
              </a:rPr>
              <a:t>n most cases these items may have been left in a room, forgotten, or stolen.</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622263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a ‘Found’ item is:</a:t>
            </a:r>
          </a:p>
          <a:p>
            <a:pPr>
              <a:buFont typeface="Arial" pitchFamily="34" charset="0"/>
              <a:buChar char="•"/>
            </a:pPr>
            <a:r>
              <a:rPr lang="en-US" sz="1200" kern="1200" dirty="0" smtClean="0">
                <a:solidFill>
                  <a:schemeClr val="tx1"/>
                </a:solidFill>
                <a:ea typeface="+mn-ea"/>
                <a:cs typeface="+mn-cs"/>
              </a:rPr>
              <a:t> An item found by staff or guests/customers and handed in to venue staff. </a:t>
            </a:r>
            <a:endParaRPr lang="en-AU" sz="1200" kern="1200" dirty="0" smtClean="0">
              <a:solidFill>
                <a:schemeClr val="tx1"/>
              </a:solidFill>
              <a:ea typeface="+mn-ea"/>
              <a:cs typeface="+mn-cs"/>
            </a:endParaRPr>
          </a:p>
          <a:p>
            <a:endParaRPr lang="en-US" sz="1200" kern="1200" dirty="0" smtClean="0">
              <a:solidFill>
                <a:schemeClr val="tx1"/>
              </a:solidFill>
              <a:ea typeface="+mn-ea"/>
              <a:cs typeface="+mn-cs"/>
            </a:endParaRPr>
          </a:p>
          <a:p>
            <a:r>
              <a:rPr lang="en-US" sz="1200" kern="1200" dirty="0" smtClean="0">
                <a:solidFill>
                  <a:schemeClr val="tx1"/>
                </a:solidFill>
                <a:ea typeface="+mn-ea"/>
                <a:cs typeface="+mn-cs"/>
              </a:rPr>
              <a:t>Trainer indicates to trainees it is possible one item can be, at the same time, both a lost and found item. It may have been identified as being lost by a guest while having been found and handed in by a staff member.</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20048017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ea typeface="+mn-ea"/>
                <a:cs typeface="+mn-cs"/>
              </a:rPr>
              <a:t>Trainer reminds trainees most properties will not have a separate, stand-alone Lost and Found facility within the venue advising:</a:t>
            </a:r>
          </a:p>
          <a:p>
            <a:pPr>
              <a:buFont typeface="Arial" pitchFamily="34" charset="0"/>
              <a:buChar char="•"/>
            </a:pPr>
            <a:r>
              <a:rPr lang="en-US" sz="1200" kern="1200" dirty="0" smtClean="0">
                <a:solidFill>
                  <a:schemeClr val="tx1"/>
                </a:solidFill>
                <a:ea typeface="+mn-ea"/>
                <a:cs typeface="+mn-cs"/>
              </a:rPr>
              <a:t> In hotels and other accommodation venues the Lost and Found facilities are generally incorporated within another area/department usually Housekeeping (Rooms Division)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The physical Lost and Found area will therefore usually be within the Executive Housekeeper’s office, or – for larger ‘found’ items – within an allied stores area, such as the linen store</a:t>
            </a:r>
          </a:p>
          <a:p>
            <a:pPr>
              <a:buFont typeface="Arial" pitchFamily="34" charset="0"/>
              <a:buChar char="•"/>
            </a:pPr>
            <a:r>
              <a:rPr lang="en-US" sz="1200" kern="1200" dirty="0" smtClean="0">
                <a:solidFill>
                  <a:schemeClr val="tx1"/>
                </a:solidFill>
                <a:ea typeface="+mn-ea"/>
                <a:cs typeface="+mn-cs"/>
              </a:rPr>
              <a:t> Depending on the size, layout and structure of the business, Lost and Found facility may be located in:</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Manager’s office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Front office/reception</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Central stores area –in the Store Person’s office.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2908179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to trainees </a:t>
            </a:r>
            <a:r>
              <a:rPr lang="en-US" sz="1200" kern="1200" dirty="0" smtClean="0">
                <a:solidFill>
                  <a:schemeClr val="tx1"/>
                </a:solidFill>
                <a:ea typeface="+mn-ea"/>
                <a:cs typeface="+mn-cs"/>
              </a:rPr>
              <a:t>‘Housekeeping’ is commonly the location for the Lost and Found facility for two main reasons:</a:t>
            </a:r>
          </a:p>
          <a:p>
            <a:pPr>
              <a:buFont typeface="Arial" pitchFamily="34" charset="0"/>
              <a:buChar char="•"/>
            </a:pPr>
            <a:r>
              <a:rPr lang="en-US" sz="1200" kern="1200" dirty="0" smtClean="0">
                <a:solidFill>
                  <a:schemeClr val="tx1"/>
                </a:solidFill>
                <a:ea typeface="+mn-ea"/>
                <a:cs typeface="+mn-cs"/>
              </a:rPr>
              <a:t> Most ‘found’ items are found by housekeeping staff and come from rooms where in-house guests have departed.</a:t>
            </a:r>
            <a:r>
              <a:rPr lang="en-US" sz="1200" kern="1200" baseline="0" dirty="0" smtClean="0">
                <a:solidFill>
                  <a:schemeClr val="tx1"/>
                </a:solidFill>
                <a:ea typeface="+mn-ea"/>
                <a:cs typeface="+mn-cs"/>
              </a:rPr>
              <a:t> M</a:t>
            </a:r>
            <a:r>
              <a:rPr lang="en-US" sz="1200" kern="1200" dirty="0" smtClean="0">
                <a:solidFill>
                  <a:schemeClr val="tx1"/>
                </a:solidFill>
                <a:ea typeface="+mn-ea"/>
                <a:cs typeface="+mn-cs"/>
              </a:rPr>
              <a:t>any items found are never claimed, perhaps because the guest does not know where they lost the item, or perhaps the item has been deliberately left behind because the guest does not want to take it with them. In addition perhaps the value of the item is such the guest is not worried about it, or perhaps simply believes it could not have been found, or handed in, so why bother</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The Housekeeper’s office is a restricted access area and is not generally a high guest-traffic area.</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enables increased security and safety for the items not available in some other areas such as, for instance, the baggage room.</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3391455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also</a:t>
            </a:r>
            <a:r>
              <a:rPr lang="en-US" baseline="0" dirty="0" smtClean="0"/>
              <a:t> identifies the Lost and Found area in non-accommodation properties (such as theme and amusement parks, tourist attractions) </a:t>
            </a:r>
            <a:r>
              <a:rPr lang="en-US" sz="1200" kern="1200" dirty="0" smtClean="0">
                <a:solidFill>
                  <a:schemeClr val="tx1"/>
                </a:solidFill>
                <a:ea typeface="+mn-ea"/>
                <a:cs typeface="+mn-cs"/>
              </a:rPr>
              <a:t>may have their Lost and Found facility located:</a:t>
            </a:r>
            <a:endParaRPr lang="en-AU" sz="1200" kern="1200" dirty="0" smtClean="0">
              <a:solidFill>
                <a:schemeClr val="tx1"/>
              </a:solidFill>
              <a:ea typeface="+mn-ea"/>
              <a:cs typeface="+mn-cs"/>
            </a:endParaRPr>
          </a:p>
          <a:p>
            <a:endParaRPr lang="en-US" sz="1200" kern="1200" dirty="0" smtClean="0">
              <a:solidFill>
                <a:schemeClr val="tx1"/>
              </a:solidFill>
              <a:ea typeface="+mn-ea"/>
              <a:cs typeface="+mn-cs"/>
            </a:endParaRPr>
          </a:p>
          <a:p>
            <a:r>
              <a:rPr lang="en-US" sz="1200" kern="1200" dirty="0" smtClean="0">
                <a:solidFill>
                  <a:schemeClr val="tx1"/>
                </a:solidFill>
                <a:ea typeface="+mn-ea"/>
                <a:cs typeface="+mn-cs"/>
              </a:rPr>
              <a:t>At the ticket sales area/counter.</a:t>
            </a:r>
          </a:p>
          <a:p>
            <a:endParaRPr lang="en-AU" sz="1200" kern="1200" dirty="0" smtClean="0">
              <a:solidFill>
                <a:schemeClr val="tx1"/>
              </a:solidFill>
              <a:ea typeface="+mn-ea"/>
              <a:cs typeface="+mn-cs"/>
            </a:endParaRPr>
          </a:p>
          <a:p>
            <a:r>
              <a:rPr lang="en-US" sz="1200" kern="1200" dirty="0" smtClean="0">
                <a:solidFill>
                  <a:schemeClr val="tx1"/>
                </a:solidFill>
                <a:ea typeface="+mn-ea"/>
                <a:cs typeface="+mn-cs"/>
              </a:rPr>
              <a:t>In a ‘guest service’ location.</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is common at an amusement/theme park where the ‘office’ also provides a range of other services such as:</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 First aid</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 Baby change facilities</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 Cloakroom</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 Hire of equipment.</a:t>
            </a:r>
          </a:p>
          <a:p>
            <a:pPr lvl="0">
              <a:buFont typeface="Arial" pitchFamily="34" charset="0"/>
              <a:buNone/>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1814189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states to trainees that all properties offering formal Lost and Found facilities will have developed a set of policies and procedures to guide implementation of the service and it is important they read and understand all relevant policies and procedures as applicable to individual workplaces.</a:t>
            </a:r>
          </a:p>
          <a:p>
            <a:endParaRPr lang="en-US" sz="1200" kern="1200" dirty="0" smtClean="0">
              <a:solidFill>
                <a:schemeClr val="tx1"/>
              </a:solidFill>
              <a:ea typeface="+mn-ea"/>
              <a:cs typeface="+mn-cs"/>
            </a:endParaRPr>
          </a:p>
          <a:p>
            <a:r>
              <a:rPr lang="en-US" sz="1200" kern="1200" dirty="0" smtClean="0">
                <a:solidFill>
                  <a:schemeClr val="tx1"/>
                </a:solidFill>
                <a:ea typeface="+mn-ea"/>
                <a:cs typeface="+mn-cs"/>
              </a:rPr>
              <a:t>Trainer indicates to trainees they will be able to learn about their workplace Lost and Found policies and procedures through a combination of methods:</a:t>
            </a:r>
          </a:p>
          <a:p>
            <a:pPr>
              <a:buFont typeface="Arial" pitchFamily="34" charset="0"/>
              <a:buChar char="•"/>
            </a:pPr>
            <a:r>
              <a:rPr lang="en-US" sz="1200" kern="1200" dirty="0" smtClean="0">
                <a:solidFill>
                  <a:schemeClr val="tx1"/>
                </a:solidFill>
                <a:ea typeface="+mn-ea"/>
                <a:cs typeface="+mn-cs"/>
              </a:rPr>
              <a:t> At Induction and Orientation where</a:t>
            </a:r>
            <a:r>
              <a:rPr lang="en-US" sz="1200" kern="1200" baseline="0" dirty="0" smtClean="0">
                <a:solidFill>
                  <a:schemeClr val="tx1"/>
                </a:solidFill>
                <a:ea typeface="+mn-ea"/>
                <a:cs typeface="+mn-cs"/>
              </a:rPr>
              <a:t> the </a:t>
            </a:r>
            <a:r>
              <a:rPr lang="en-US" sz="1200" kern="1200" dirty="0" smtClean="0">
                <a:solidFill>
                  <a:schemeClr val="tx1"/>
                </a:solidFill>
                <a:ea typeface="+mn-ea"/>
                <a:cs typeface="+mn-cs"/>
              </a:rPr>
              <a:t>Supervisor advises about what applies and where supporting information is located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Staff manual will contain a section entitled Lost and Found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Venue intranet.</a:t>
            </a:r>
            <a:r>
              <a:rPr lang="en-US" sz="1200" kern="1200" baseline="0" dirty="0" smtClean="0">
                <a:solidFill>
                  <a:schemeClr val="tx1"/>
                </a:solidFill>
                <a:ea typeface="+mn-ea"/>
                <a:cs typeface="+mn-cs"/>
              </a:rPr>
              <a:t> L</a:t>
            </a:r>
            <a:r>
              <a:rPr lang="en-US" sz="1200" kern="1200" dirty="0" smtClean="0">
                <a:solidFill>
                  <a:schemeClr val="tx1"/>
                </a:solidFill>
                <a:ea typeface="+mn-ea"/>
                <a:cs typeface="+mn-cs"/>
              </a:rPr>
              <a:t>arger businesses will feature an intranet facility which will enable access to all policies and procedures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Workplace signs including:</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Information posters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Directional signage pointing to the location of the Lost and Found facility</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‘Lost and Found’ signs. </a:t>
            </a:r>
            <a:endParaRPr lang="en-AU" sz="1200" kern="1200" dirty="0" smtClean="0">
              <a:solidFill>
                <a:schemeClr val="tx1"/>
              </a:solidFill>
              <a:ea typeface="+mn-ea"/>
              <a:cs typeface="+mn-cs"/>
            </a:endParaRPr>
          </a:p>
          <a:p>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Class Activity – Excursion</a:t>
            </a:r>
          </a:p>
          <a:p>
            <a:r>
              <a:rPr lang="en-AU" sz="1200" b="0" kern="1200" dirty="0" smtClean="0">
                <a:solidFill>
                  <a:schemeClr val="tx1"/>
                </a:solidFill>
                <a:ea typeface="+mn-ea"/>
                <a:cs typeface="+mn-cs"/>
              </a:rPr>
              <a:t>Trainer arranges to visit one or more venues with a Lost and Found facility to:</a:t>
            </a:r>
          </a:p>
          <a:p>
            <a:pPr>
              <a:buFont typeface="Arial" pitchFamily="34" charset="0"/>
              <a:buChar char="•"/>
            </a:pPr>
            <a:r>
              <a:rPr lang="en-AU" sz="1200" b="0" kern="1200" dirty="0" smtClean="0">
                <a:solidFill>
                  <a:schemeClr val="tx1"/>
                </a:solidFill>
                <a:ea typeface="+mn-ea"/>
                <a:cs typeface="+mn-cs"/>
              </a:rPr>
              <a:t> View facilities</a:t>
            </a:r>
          </a:p>
          <a:p>
            <a:pPr>
              <a:buFont typeface="Arial" pitchFamily="34" charset="0"/>
              <a:buChar char="•"/>
            </a:pPr>
            <a:r>
              <a:rPr lang="en-AU" sz="1200" b="0" kern="1200" dirty="0" smtClean="0">
                <a:solidFill>
                  <a:schemeClr val="tx1"/>
                </a:solidFill>
                <a:ea typeface="+mn-ea"/>
                <a:cs typeface="+mn-cs"/>
              </a:rPr>
              <a:t> Talk to staff who operate the facility</a:t>
            </a:r>
          </a:p>
          <a:p>
            <a:pPr>
              <a:buFont typeface="Arial" pitchFamily="34" charset="0"/>
              <a:buChar char="•"/>
            </a:pPr>
            <a:r>
              <a:rPr lang="en-AU" sz="1200" b="0" kern="1200" dirty="0" smtClean="0">
                <a:solidFill>
                  <a:schemeClr val="tx1"/>
                </a:solidFill>
                <a:ea typeface="+mn-ea"/>
                <a:cs typeface="+mn-cs"/>
              </a:rPr>
              <a:t> Meet with and talk to supervisors with responsibility for the facility</a:t>
            </a:r>
          </a:p>
          <a:p>
            <a:pPr>
              <a:buFont typeface="Arial" pitchFamily="34" charset="0"/>
              <a:buChar char="•"/>
            </a:pPr>
            <a:r>
              <a:rPr lang="en-AU" sz="1200" b="0" kern="1200" dirty="0" smtClean="0">
                <a:solidFill>
                  <a:schemeClr val="tx1"/>
                </a:solidFill>
                <a:ea typeface="+mn-ea"/>
                <a:cs typeface="+mn-cs"/>
              </a:rPr>
              <a:t> Obtain sample Lost and Found policies and procedures</a:t>
            </a:r>
          </a:p>
          <a:p>
            <a:pPr>
              <a:buFont typeface="Arial" pitchFamily="34" charset="0"/>
              <a:buChar char="•"/>
            </a:pPr>
            <a:r>
              <a:rPr lang="en-AU" sz="1200" b="0" kern="1200" dirty="0" smtClean="0">
                <a:solidFill>
                  <a:schemeClr val="tx1"/>
                </a:solidFill>
                <a:ea typeface="+mn-ea"/>
                <a:cs typeface="+mn-cs"/>
              </a:rPr>
              <a:t> Obtain sample Lost and Found documentation.</a:t>
            </a:r>
          </a:p>
          <a:p>
            <a:pPr>
              <a:buFont typeface="Arial" pitchFamily="34" charset="0"/>
              <a:buChar char="•"/>
            </a:pPr>
            <a:endParaRPr lang="en-AU" sz="1200" b="0" kern="1200" dirty="0" smtClean="0">
              <a:solidFill>
                <a:schemeClr val="tx1"/>
              </a:solidFill>
              <a:ea typeface="+mn-ea"/>
              <a:cs typeface="+mn-cs"/>
            </a:endParaRPr>
          </a:p>
          <a:p>
            <a:pPr>
              <a:buFont typeface="Arial" pitchFamily="34" charset="0"/>
              <a:buChar char="•"/>
            </a:pPr>
            <a:endParaRPr lang="en-AU" sz="1200" b="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8549498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US" dirty="0" smtClean="0"/>
              <a:t>Trainer introduces to trainees sample Lost and Found policies and procedures applicable to a Lost and Found facility:</a:t>
            </a:r>
          </a:p>
          <a:p>
            <a:pPr>
              <a:buFont typeface="Arial" pitchFamily="34" charset="0"/>
              <a:buNone/>
            </a:pPr>
            <a:r>
              <a:rPr lang="en-US" b="1" i="1" dirty="0" smtClean="0"/>
              <a:t>Classification of items</a:t>
            </a:r>
          </a:p>
          <a:p>
            <a:pPr>
              <a:buFont typeface="Arial" pitchFamily="34" charset="0"/>
              <a:buChar char="•"/>
            </a:pPr>
            <a:r>
              <a:rPr lang="en-US" sz="1200" b="0" kern="1200" dirty="0" smtClean="0">
                <a:solidFill>
                  <a:schemeClr val="tx1"/>
                </a:solidFill>
                <a:ea typeface="+mn-ea"/>
                <a:cs typeface="+mn-cs"/>
              </a:rPr>
              <a:t> Trainer explains to trainees that businesses will provide information regarding a description</a:t>
            </a:r>
            <a:r>
              <a:rPr lang="en-US" sz="1200" b="0" kern="1200" baseline="0" dirty="0" smtClean="0">
                <a:solidFill>
                  <a:schemeClr val="tx1"/>
                </a:solidFill>
                <a:ea typeface="+mn-ea"/>
                <a:cs typeface="+mn-cs"/>
              </a:rPr>
              <a:t> </a:t>
            </a:r>
            <a:r>
              <a:rPr lang="en-US" sz="1200" b="0" kern="1200" dirty="0" smtClean="0">
                <a:solidFill>
                  <a:schemeClr val="tx1"/>
                </a:solidFill>
                <a:ea typeface="+mn-ea"/>
                <a:cs typeface="+mn-cs"/>
              </a:rPr>
              <a:t>of items that will be kept and those that will be discarded.</a:t>
            </a:r>
            <a:r>
              <a:rPr lang="en-US" sz="1200" b="0" kern="1200" baseline="0" dirty="0" smtClean="0">
                <a:solidFill>
                  <a:schemeClr val="tx1"/>
                </a:solidFill>
                <a:ea typeface="+mn-ea"/>
                <a:cs typeface="+mn-cs"/>
              </a:rPr>
              <a:t> Properties </a:t>
            </a:r>
            <a:r>
              <a:rPr lang="en-US" sz="1200" kern="1200" dirty="0" smtClean="0">
                <a:solidFill>
                  <a:schemeClr val="tx1"/>
                </a:solidFill>
                <a:ea typeface="+mn-ea"/>
                <a:cs typeface="+mn-cs"/>
              </a:rPr>
              <a:t>often classify found items into one of three categories: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Valuable items which include: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Cell phones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Cash over a certain amount as nominated by the venue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Laptop computers and accessories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Cameras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Watches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a:t>
            </a:r>
            <a:r>
              <a:rPr lang="en-AU" sz="1200" kern="1200" noProof="0" dirty="0" smtClean="0">
                <a:solidFill>
                  <a:schemeClr val="tx1"/>
                </a:solidFill>
                <a:ea typeface="+mn-ea"/>
                <a:cs typeface="+mn-cs"/>
              </a:rPr>
              <a:t>Jewellery</a:t>
            </a:r>
          </a:p>
          <a:p>
            <a:pPr lvl="1">
              <a:buFont typeface="Arial" pitchFamily="34" charset="0"/>
              <a:buChar char="•"/>
            </a:pPr>
            <a:r>
              <a:rPr lang="en-US" sz="1200" kern="1200" dirty="0" smtClean="0">
                <a:solidFill>
                  <a:schemeClr val="tx1"/>
                </a:solidFill>
                <a:ea typeface="+mn-ea"/>
                <a:cs typeface="+mn-cs"/>
              </a:rPr>
              <a:t> Car or house keys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Handbags and wallets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Travel documentation – passports, visas, tickets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Business documentation – reports, notes, business papers, plans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Personal items – credit cards, driver’s licence.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Non-valuable items such as: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Magazines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Make-up and cosmetics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Old</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damaged clothing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Stationery.</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Perishables items: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Food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Drinks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Partly consumed items and unopened items. </a:t>
            </a:r>
            <a:endParaRPr lang="en-AU" sz="1200" kern="1200" dirty="0" smtClean="0">
              <a:solidFill>
                <a:schemeClr val="tx1"/>
              </a:solidFill>
              <a:ea typeface="+mn-ea"/>
              <a:cs typeface="+mn-cs"/>
            </a:endParaRPr>
          </a:p>
          <a:p>
            <a:pPr>
              <a:buFont typeface="Arial" pitchFamily="34" charset="0"/>
              <a:buNone/>
            </a:pPr>
            <a:r>
              <a:rPr lang="en-US" b="1" i="1" dirty="0" smtClean="0"/>
              <a:t>Holding times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kern="1200" dirty="0" smtClean="0">
                <a:solidFill>
                  <a:schemeClr val="tx1"/>
                </a:solidFill>
                <a:ea typeface="+mn-ea"/>
                <a:cs typeface="+mn-cs"/>
              </a:rPr>
              <a:t>Trainer tells trainees these specify the length of time a property will retain an item before disposing of it (more on this on later slides: including industry standard ‘holding times’ for valuable, non-valuable and perishable items).</a:t>
            </a:r>
            <a:endParaRPr lang="en-AU" sz="1200" b="1" kern="1200" dirty="0" smtClean="0">
              <a:solidFill>
                <a:schemeClr val="tx1"/>
              </a:solidFill>
              <a:ea typeface="+mn-ea"/>
              <a:cs typeface="+mn-cs"/>
            </a:endParaRPr>
          </a:p>
          <a:p>
            <a:pPr>
              <a:buFont typeface="Arial" pitchFamily="34" charset="0"/>
              <a:buNone/>
            </a:pPr>
            <a:endParaRPr lang="en-US" b="1" i="1" dirty="0" smtClean="0"/>
          </a:p>
          <a:p>
            <a:pPr>
              <a:buFont typeface="Arial" pitchFamily="34" charset="0"/>
              <a:buNone/>
            </a:pPr>
            <a:r>
              <a:rPr lang="en-US" b="1" i="0" dirty="0" smtClean="0"/>
              <a:t>Class Activity – Examination of Lost and Found Policies and Procedures</a:t>
            </a:r>
          </a:p>
          <a:p>
            <a:pPr>
              <a:buFont typeface="Arial" pitchFamily="34" charset="0"/>
              <a:buNone/>
            </a:pPr>
            <a:r>
              <a:rPr lang="en-US" b="0" i="0" dirty="0" smtClean="0"/>
              <a:t>Trainer obtains sample Lost and Found policies and procedures (as identified on the slide) from local venues and:</a:t>
            </a:r>
          </a:p>
          <a:p>
            <a:pPr>
              <a:buFont typeface="Arial" pitchFamily="34" charset="0"/>
              <a:buChar char="•"/>
            </a:pPr>
            <a:r>
              <a:rPr lang="en-US" b="0" i="0" dirty="0" smtClean="0"/>
              <a:t> Distributes to trainees</a:t>
            </a:r>
          </a:p>
          <a:p>
            <a:pPr>
              <a:buFont typeface="Arial" pitchFamily="34" charset="0"/>
              <a:buChar char="•"/>
            </a:pPr>
            <a:r>
              <a:rPr lang="en-US" b="0" i="0" dirty="0" smtClean="0"/>
              <a:t> Discusses each document explaining inherent requirements.</a:t>
            </a:r>
          </a:p>
          <a:p>
            <a:pPr>
              <a:buFont typeface="Arial" pitchFamily="34" charset="0"/>
              <a:buNone/>
            </a:pPr>
            <a:endParaRPr lang="en-US" b="0" i="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11386569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advise trainees regarding sample Lost and Found policies and procedures applicable to a Lost and Found facility:</a:t>
            </a:r>
          </a:p>
          <a:p>
            <a:r>
              <a:rPr lang="en-US" sz="1200" b="1" i="1" kern="1200" dirty="0" smtClean="0">
                <a:solidFill>
                  <a:schemeClr val="tx1"/>
                </a:solidFill>
                <a:ea typeface="+mn-ea"/>
                <a:cs typeface="+mn-cs"/>
              </a:rPr>
              <a:t>Disposal of items</a:t>
            </a:r>
            <a:endParaRPr lang="en-AU" sz="1200" b="1" i="1" kern="1200" dirty="0" smtClean="0">
              <a:solidFill>
                <a:schemeClr val="tx1"/>
              </a:solidFill>
              <a:ea typeface="+mn-ea"/>
              <a:cs typeface="+mn-cs"/>
            </a:endParaRPr>
          </a:p>
          <a:p>
            <a:r>
              <a:rPr lang="en-US" sz="1200" b="0" kern="1200" dirty="0" smtClean="0">
                <a:solidFill>
                  <a:schemeClr val="tx1"/>
                </a:solidFill>
                <a:ea typeface="+mn-ea"/>
                <a:cs typeface="+mn-cs"/>
              </a:rPr>
              <a:t>Trainer explains to trainees that this policy dictates what happens to found items if they are not claimed: </a:t>
            </a:r>
            <a:r>
              <a:rPr lang="en-US" sz="1200" kern="1200" dirty="0" smtClean="0">
                <a:solidFill>
                  <a:schemeClr val="tx1"/>
                </a:solidFill>
                <a:ea typeface="+mn-ea"/>
                <a:cs typeface="+mn-cs"/>
              </a:rPr>
              <a:t>more on this in later slides.</a:t>
            </a:r>
            <a:endParaRPr lang="en-AU" sz="1200" b="1" kern="1200" dirty="0" smtClean="0">
              <a:solidFill>
                <a:schemeClr val="tx1"/>
              </a:solidFill>
              <a:ea typeface="+mn-ea"/>
              <a:cs typeface="+mn-cs"/>
            </a:endParaRPr>
          </a:p>
          <a:p>
            <a:endParaRPr lang="en-US" sz="1200" b="1" i="1" kern="1200" dirty="0" smtClean="0">
              <a:solidFill>
                <a:schemeClr val="tx1"/>
              </a:solidFill>
              <a:ea typeface="+mn-ea"/>
              <a:cs typeface="+mn-cs"/>
            </a:endParaRPr>
          </a:p>
          <a:p>
            <a:r>
              <a:rPr lang="en-US" sz="1200" b="1" i="1" kern="1200" dirty="0" smtClean="0">
                <a:solidFill>
                  <a:schemeClr val="tx1"/>
                </a:solidFill>
                <a:ea typeface="+mn-ea"/>
                <a:cs typeface="+mn-cs"/>
              </a:rPr>
              <a:t>Dangerous, illegal or suspicious items</a:t>
            </a:r>
            <a:endParaRPr lang="en-AU" sz="1200" i="1" kern="1200" dirty="0" smtClean="0">
              <a:solidFill>
                <a:schemeClr val="tx1"/>
              </a:solidFill>
              <a:ea typeface="+mn-ea"/>
              <a:cs typeface="+mn-cs"/>
            </a:endParaRPr>
          </a:p>
          <a:p>
            <a:r>
              <a:rPr lang="en-US" sz="1200" kern="1200" dirty="0" smtClean="0">
                <a:solidFill>
                  <a:schemeClr val="tx1"/>
                </a:solidFill>
                <a:ea typeface="+mn-ea"/>
                <a:cs typeface="+mn-cs"/>
              </a:rPr>
              <a:t>Trainer explains to trainees that in order to protect the property and staff, there will nearly always be directions about action to take to ensure correct treatment of dangerous, illegal or suspicious items to guard against unsafe/illicit items being taken into Lost and Found storage: more on this in later slides.</a:t>
            </a:r>
            <a:endParaRPr lang="en-AU" sz="1200" kern="1200" dirty="0" smtClean="0">
              <a:solidFill>
                <a:schemeClr val="tx1"/>
              </a:solidFill>
              <a:ea typeface="+mn-ea"/>
              <a:cs typeface="+mn-cs"/>
            </a:endParaRPr>
          </a:p>
          <a:p>
            <a:endParaRPr lang="en-US" sz="1200" b="1" i="1" kern="1200" dirty="0" smtClean="0">
              <a:solidFill>
                <a:schemeClr val="tx1"/>
              </a:solidFill>
              <a:ea typeface="+mn-ea"/>
              <a:cs typeface="+mn-cs"/>
            </a:endParaRPr>
          </a:p>
          <a:p>
            <a:r>
              <a:rPr lang="en-US" sz="1200" b="1" i="1" kern="1200" dirty="0" smtClean="0">
                <a:solidFill>
                  <a:schemeClr val="tx1"/>
                </a:solidFill>
                <a:ea typeface="+mn-ea"/>
                <a:cs typeface="+mn-cs"/>
              </a:rPr>
              <a:t>Processing for found items</a:t>
            </a:r>
            <a:endParaRPr lang="en-AU" sz="1200" i="1" kern="1200" dirty="0" smtClean="0">
              <a:solidFill>
                <a:schemeClr val="tx1"/>
              </a:solidFill>
              <a:ea typeface="+mn-ea"/>
              <a:cs typeface="+mn-cs"/>
            </a:endParaRPr>
          </a:p>
          <a:p>
            <a:r>
              <a:rPr lang="en-US" sz="1200" kern="1200" dirty="0" smtClean="0">
                <a:solidFill>
                  <a:schemeClr val="tx1"/>
                </a:solidFill>
                <a:ea typeface="+mn-ea"/>
                <a:cs typeface="+mn-cs"/>
              </a:rPr>
              <a:t>Trainer states to trainees these protocols will describe the procedures for receiving, recording and storing/securing items handed in by staff and guests as ‘found’ items.</a:t>
            </a:r>
            <a:r>
              <a:rPr lang="en-US" sz="1200" kern="1200" baseline="0" dirty="0" smtClean="0">
                <a:solidFill>
                  <a:schemeClr val="tx1"/>
                </a:solidFill>
                <a:ea typeface="+mn-ea"/>
                <a:cs typeface="+mn-cs"/>
              </a:rPr>
              <a:t> Policies </a:t>
            </a:r>
            <a:r>
              <a:rPr lang="en-US" sz="1200" kern="1200" dirty="0" smtClean="0">
                <a:solidFill>
                  <a:schemeClr val="tx1"/>
                </a:solidFill>
                <a:ea typeface="+mn-ea"/>
                <a:cs typeface="+mn-cs"/>
              </a:rPr>
              <a:t>and procedures in this regard will address: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Staff with responsibility for processing items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Documentation to be completed such as Lost and Found Slip/Tag and Found Register/Lost and Found Register</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Location for storage of items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Notifications – internally to other staff/departments and guests</a:t>
            </a:r>
            <a:r>
              <a:rPr lang="en-US" sz="1200" kern="1200" baseline="0" dirty="0" smtClean="0">
                <a:solidFill>
                  <a:schemeClr val="tx1"/>
                </a:solidFill>
                <a:ea typeface="+mn-ea"/>
                <a:cs typeface="+mn-cs"/>
              </a:rPr>
              <a:t> and </a:t>
            </a:r>
            <a:r>
              <a:rPr lang="en-US" sz="1200" kern="1200" dirty="0" smtClean="0">
                <a:solidFill>
                  <a:schemeClr val="tx1"/>
                </a:solidFill>
                <a:ea typeface="+mn-ea"/>
                <a:cs typeface="+mn-cs"/>
              </a:rPr>
              <a:t>externally to departed guests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Disposal of items when their storage period has elapsed and items have not been claimed.</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1"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i="1" dirty="0" smtClean="0"/>
              <a:t>Claiming  items</a:t>
            </a:r>
          </a:p>
          <a:p>
            <a:r>
              <a:rPr lang="en-US" sz="1200" kern="1200" dirty="0" smtClean="0">
                <a:solidFill>
                  <a:schemeClr val="tx1"/>
                </a:solidFill>
                <a:ea typeface="+mn-ea"/>
                <a:cs typeface="+mn-cs"/>
              </a:rPr>
              <a:t>Trainer explains to trainees that these are the house requirements to be followed when a person makes a claim on a Lost and Found item highlighting</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Standard procedures require the person claiming the item to be able to describe the item or furnish reliable proof of ownership</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It is imperative items are never simply handed over to people making a claim without proof of ownership</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Relevant documentation must also be completed to track or record the return of the item. </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1" i="1" dirty="0" smtClean="0"/>
          </a:p>
          <a:p>
            <a:pPr>
              <a:buFont typeface="Arial" pitchFamily="34" charset="0"/>
              <a:buNone/>
            </a:pPr>
            <a:r>
              <a:rPr lang="en-US" b="1" i="0" dirty="0" smtClean="0"/>
              <a:t>Class Activity – Examination of Lost and Found Policies and Procedures</a:t>
            </a:r>
          </a:p>
          <a:p>
            <a:pPr>
              <a:buFont typeface="Arial" pitchFamily="34" charset="0"/>
              <a:buNone/>
            </a:pPr>
            <a:r>
              <a:rPr lang="en-US" b="0" i="0" dirty="0" smtClean="0"/>
              <a:t>Trainer obtains sample Lost and Found policies and procedures (as identified on the slide) from local venues and:</a:t>
            </a:r>
          </a:p>
          <a:p>
            <a:pPr>
              <a:buFont typeface="Arial" pitchFamily="34" charset="0"/>
              <a:buChar char="•"/>
            </a:pPr>
            <a:r>
              <a:rPr lang="en-US" b="0" i="0" dirty="0" smtClean="0"/>
              <a:t> Distributes to trainees</a:t>
            </a:r>
          </a:p>
          <a:p>
            <a:pPr>
              <a:buFont typeface="Arial" pitchFamily="34" charset="0"/>
              <a:buChar char="•"/>
            </a:pPr>
            <a:r>
              <a:rPr lang="en-US" b="0" i="0" dirty="0" smtClean="0"/>
              <a:t> Discusses each document explaining inherent requirements.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1"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8324750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ea typeface="+mn-ea"/>
                <a:cs typeface="+mn-cs"/>
              </a:rPr>
              <a:t>Trainer informs trainees all properties have some form of legal obligation and responsibility when found items are handed in and stored for return to the person who lost them.</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dirty="0" smtClean="0"/>
              <a:t>Trainer stresses trainees must identify the Lost and Found</a:t>
            </a:r>
            <a:r>
              <a:rPr lang="en-US" baseline="0" dirty="0" smtClean="0"/>
              <a:t> </a:t>
            </a:r>
            <a:r>
              <a:rPr lang="en-US" dirty="0" smtClean="0"/>
              <a:t>legal requirements applying in their country and their workplace, and they can do this through:</a:t>
            </a:r>
          </a:p>
          <a:p>
            <a:pPr>
              <a:buFont typeface="Arial" pitchFamily="34" charset="0"/>
              <a:buChar char="•"/>
            </a:pPr>
            <a:r>
              <a:rPr lang="en-US" dirty="0" smtClean="0"/>
              <a:t> On-the-job training .</a:t>
            </a:r>
            <a:r>
              <a:rPr lang="en-US" baseline="0" dirty="0" smtClean="0"/>
              <a:t> A</a:t>
            </a:r>
            <a:r>
              <a:rPr lang="en-US" dirty="0" smtClean="0"/>
              <a:t>ll training (as well as policies and procedures) will reflect what</a:t>
            </a:r>
            <a:r>
              <a:rPr lang="en-US" baseline="0" dirty="0" smtClean="0"/>
              <a:t> the law requires</a:t>
            </a:r>
            <a:endParaRPr lang="en-US" dirty="0" smtClean="0"/>
          </a:p>
          <a:p>
            <a:pPr>
              <a:buFont typeface="Arial" pitchFamily="34" charset="0"/>
              <a:buChar char="•"/>
            </a:pPr>
            <a:r>
              <a:rPr lang="en-US" dirty="0" smtClean="0"/>
              <a:t> Contacting industry peak bodies who will provide relevant</a:t>
            </a:r>
            <a:r>
              <a:rPr lang="en-US" baseline="0" dirty="0" smtClean="0"/>
              <a:t> </a:t>
            </a:r>
            <a:r>
              <a:rPr lang="en-US" dirty="0" smtClean="0"/>
              <a:t>in-country advice</a:t>
            </a:r>
          </a:p>
          <a:p>
            <a:pPr>
              <a:buFont typeface="Arial" pitchFamily="34" charset="0"/>
              <a:buChar char="•"/>
            </a:pPr>
            <a:r>
              <a:rPr lang="en-US" dirty="0" smtClean="0"/>
              <a:t> Contacting local authorities who will explain the legal requirements applicable</a:t>
            </a:r>
          </a:p>
          <a:p>
            <a:pPr>
              <a:buFont typeface="Arial" pitchFamily="34" charset="0"/>
              <a:buChar char="•"/>
            </a:pPr>
            <a:r>
              <a:rPr lang="en-US" dirty="0" smtClean="0"/>
              <a:t> Talking to their Supervisor to gain the benefit of their knowledge and experience.</a:t>
            </a:r>
          </a:p>
          <a:p>
            <a:pPr>
              <a:buFont typeface="Arial" pitchFamily="34" charset="0"/>
              <a:buNone/>
            </a:pPr>
            <a:endParaRPr lang="en-US" dirty="0" smtClean="0"/>
          </a:p>
          <a:p>
            <a:pPr>
              <a:buFont typeface="Arial" pitchFamily="34" charset="0"/>
              <a:buNone/>
            </a:pPr>
            <a:endParaRPr lang="en-US" b="0" dirty="0" smtClean="0"/>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31115867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US" dirty="0" smtClean="0"/>
              <a:t>Trainer identifies to trainees legal issues in Lost and Found involve:</a:t>
            </a:r>
          </a:p>
          <a:p>
            <a:pPr>
              <a:buFont typeface="Arial" pitchFamily="34" charset="0"/>
              <a:buNone/>
            </a:pPr>
            <a:r>
              <a:rPr lang="en-US" b="1" i="1" dirty="0" smtClean="0"/>
              <a:t>Duty of Care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i="0" dirty="0" smtClean="0"/>
              <a:t>Trainer explains to trainees t</a:t>
            </a:r>
            <a:r>
              <a:rPr lang="en-US" sz="1200" kern="1200" dirty="0" smtClean="0">
                <a:solidFill>
                  <a:schemeClr val="tx1"/>
                </a:solidFill>
                <a:ea typeface="+mn-ea"/>
                <a:cs typeface="+mn-cs"/>
              </a:rPr>
              <a:t>his requires a venue to take whatever action is necessary, given the circumstances applying at the time, to ensure the found item: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ea typeface="+mn-ea"/>
                <a:cs typeface="+mn-cs"/>
              </a:rPr>
              <a:t> Does not come to any harm while in storage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ea typeface="+mn-ea"/>
                <a:cs typeface="+mn-cs"/>
              </a:rPr>
              <a:t> Is returned to the rightful owner</a:t>
            </a:r>
            <a:r>
              <a:rPr lang="en-US" sz="1200" kern="1200" baseline="0" dirty="0" smtClean="0">
                <a:solidFill>
                  <a:schemeClr val="tx1"/>
                </a:solidFill>
                <a:ea typeface="+mn-ea"/>
                <a:cs typeface="+mn-cs"/>
              </a:rPr>
              <a:t> if and when a claim is made.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i="1" kern="1200" baseline="0" dirty="0" smtClean="0">
                <a:solidFill>
                  <a:schemeClr val="tx1"/>
                </a:solidFill>
                <a:ea typeface="+mn-ea"/>
                <a:cs typeface="+mn-cs"/>
              </a:rPr>
              <a:t>Bailment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i="0" kern="1200" baseline="0" dirty="0" smtClean="0">
                <a:solidFill>
                  <a:schemeClr val="tx1"/>
                </a:solidFill>
                <a:ea typeface="+mn-ea"/>
                <a:cs typeface="+mn-cs"/>
              </a:rPr>
              <a:t>Trainer defines ‘bailment’ for trainees stating </a:t>
            </a:r>
            <a:r>
              <a:rPr lang="en-US" sz="1200" kern="1200" dirty="0" smtClean="0">
                <a:solidFill>
                  <a:schemeClr val="tx1"/>
                </a:solidFill>
                <a:ea typeface="+mn-ea"/>
                <a:cs typeface="+mn-cs"/>
              </a:rPr>
              <a:t>‘Bailment’ refers to the act of temporarily transferring custody or control of an item to someone else or a business.</a:t>
            </a:r>
            <a:r>
              <a:rPr lang="en-US" sz="1200" kern="1200" baseline="0" dirty="0" smtClean="0">
                <a:solidFill>
                  <a:schemeClr val="tx1"/>
                </a:solidFill>
                <a:ea typeface="+mn-ea"/>
                <a:cs typeface="+mn-cs"/>
              </a:rPr>
              <a:t> F</a:t>
            </a:r>
            <a:r>
              <a:rPr lang="en-US" sz="1200" kern="1200" dirty="0" smtClean="0">
                <a:solidFill>
                  <a:schemeClr val="tx1"/>
                </a:solidFill>
                <a:ea typeface="+mn-ea"/>
                <a:cs typeface="+mn-cs"/>
              </a:rPr>
              <a:t>or example, if people leave their car in a car park, bailment has been created.</a:t>
            </a:r>
            <a:r>
              <a:rPr lang="en-US" sz="1200" kern="1200" baseline="0" dirty="0" smtClean="0">
                <a:solidFill>
                  <a:schemeClr val="tx1"/>
                </a:solidFill>
                <a:ea typeface="+mn-ea"/>
                <a:cs typeface="+mn-cs"/>
              </a:rPr>
              <a:t> A </a:t>
            </a:r>
            <a:r>
              <a:rPr lang="en-US" sz="1200" kern="1200" dirty="0" smtClean="0">
                <a:solidFill>
                  <a:schemeClr val="tx1"/>
                </a:solidFill>
                <a:ea typeface="+mn-ea"/>
                <a:cs typeface="+mn-cs"/>
              </a:rPr>
              <a:t>person pays a fee to park and then comes back at a later time to pick the car up. The same applies when people take clothes to be laundered</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dry cleaned – bailment again exists.</a:t>
            </a:r>
            <a:endParaRPr lang="en-US" sz="1200" b="0" i="0" kern="1200" baseline="0" dirty="0" smtClean="0">
              <a:solidFill>
                <a:schemeClr val="tx1"/>
              </a:solidFill>
              <a:ea typeface="+mn-ea"/>
              <a:cs typeface="+mn-cs"/>
            </a:endParaRPr>
          </a:p>
          <a:p>
            <a:r>
              <a:rPr lang="en-US" sz="1200" b="0" i="0" kern="1200" baseline="0" dirty="0" smtClean="0">
                <a:solidFill>
                  <a:schemeClr val="tx1"/>
                </a:solidFill>
                <a:ea typeface="+mn-ea"/>
                <a:cs typeface="+mn-cs"/>
              </a:rPr>
              <a:t>Trainer informs trainees ‘gratuitous bailment’ is created when </a:t>
            </a:r>
            <a:r>
              <a:rPr lang="en-US" sz="1200" kern="1200" dirty="0" smtClean="0">
                <a:solidFill>
                  <a:schemeClr val="tx1"/>
                </a:solidFill>
                <a:ea typeface="+mn-ea"/>
                <a:cs typeface="+mn-cs"/>
              </a:rPr>
              <a:t>a hotel looks after lost property and when no charge is made for the service of looking after the item.</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form of bailment means the hotel/venue: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Cannot use the items for its own purposes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Must take care of the item.</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he intention is the item should be returned in the same condition it was found in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Need only prove the extent of the care provided for the item was ‘low’.</a:t>
            </a:r>
            <a:r>
              <a:rPr lang="en-US" sz="1200" kern="1200" baseline="0" dirty="0" smtClean="0">
                <a:solidFill>
                  <a:schemeClr val="tx1"/>
                </a:solidFill>
                <a:ea typeface="+mn-ea"/>
                <a:cs typeface="+mn-cs"/>
              </a:rPr>
              <a:t> I</a:t>
            </a:r>
            <a:r>
              <a:rPr lang="en-US" sz="1200" kern="1200" dirty="0" smtClean="0">
                <a:solidFill>
                  <a:schemeClr val="tx1"/>
                </a:solidFill>
                <a:ea typeface="+mn-ea"/>
                <a:cs typeface="+mn-cs"/>
              </a:rPr>
              <a:t>f they were sued</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the venue is not obliged to provide any higher level of care for the items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Can be sued by the person who lost the item if the item is returned in a damaged condition (or has been lost by the property) if – </a:t>
            </a:r>
            <a:r>
              <a:rPr lang="en-US" sz="1200" b="1" kern="1200" dirty="0" smtClean="0">
                <a:solidFill>
                  <a:schemeClr val="tx1"/>
                </a:solidFill>
                <a:ea typeface="+mn-ea"/>
                <a:cs typeface="+mn-cs"/>
              </a:rPr>
              <a:t>and only if</a:t>
            </a:r>
            <a:r>
              <a:rPr lang="en-US" sz="1200" kern="1200" dirty="0" smtClean="0">
                <a:solidFill>
                  <a:schemeClr val="tx1"/>
                </a:solidFill>
                <a:ea typeface="+mn-ea"/>
                <a:cs typeface="+mn-cs"/>
              </a:rPr>
              <a:t> – the person who lost the item can prove the hotel was </a:t>
            </a:r>
            <a:r>
              <a:rPr lang="en-US" sz="1200" b="1" i="1" kern="1200" dirty="0" smtClean="0">
                <a:solidFill>
                  <a:schemeClr val="tx1"/>
                </a:solidFill>
                <a:ea typeface="+mn-ea"/>
                <a:cs typeface="+mn-cs"/>
              </a:rPr>
              <a:t>‘grossly’</a:t>
            </a:r>
            <a:r>
              <a:rPr lang="en-US" sz="1200" kern="1200" dirty="0" smtClean="0">
                <a:solidFill>
                  <a:schemeClr val="tx1"/>
                </a:solidFill>
                <a:ea typeface="+mn-ea"/>
                <a:cs typeface="+mn-cs"/>
              </a:rPr>
              <a:t> negligent.</a:t>
            </a:r>
            <a:endParaRPr lang="en-AU" sz="1200" kern="1200" dirty="0" smtClean="0">
              <a:solidFill>
                <a:schemeClr val="tx1"/>
              </a:solidFill>
              <a:ea typeface="+mn-ea"/>
              <a:cs typeface="+mn-cs"/>
            </a:endParaRPr>
          </a:p>
          <a:p>
            <a:pPr>
              <a:buFont typeface="Arial" pitchFamily="34" charset="0"/>
              <a:buNone/>
            </a:pPr>
            <a:endParaRPr lang="en-US" b="0" i="0" dirty="0" smtClean="0"/>
          </a:p>
          <a:p>
            <a:pPr>
              <a:buFont typeface="Arial" pitchFamily="34" charset="0"/>
              <a:buNone/>
            </a:pPr>
            <a:r>
              <a:rPr lang="en-US" b="1" i="1" u="none" dirty="0" smtClean="0"/>
              <a:t>Receiving stolen property</a:t>
            </a:r>
          </a:p>
          <a:p>
            <a:r>
              <a:rPr lang="en-US" sz="1200" kern="1200" dirty="0" smtClean="0">
                <a:solidFill>
                  <a:schemeClr val="tx1"/>
                </a:solidFill>
                <a:ea typeface="+mn-ea"/>
                <a:cs typeface="+mn-cs"/>
              </a:rPr>
              <a:t>Trainer advises trainees it is possible someone taking possession of an item for processing as ‘found’ property may be charged with ‘receiving stolen property’ if:</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The items were, in fact, stolen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The person knew, or ought reasonable be aware, they were stolen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The person who received the items deliberately intended to receive the items and have them under their control.</a:t>
            </a:r>
            <a:endParaRPr lang="en-AU" sz="1200" kern="1200" dirty="0" smtClean="0">
              <a:solidFill>
                <a:schemeClr val="tx1"/>
              </a:solidFill>
              <a:ea typeface="+mn-ea"/>
              <a:cs typeface="+mn-cs"/>
            </a:endParaRPr>
          </a:p>
          <a:p>
            <a:r>
              <a:rPr lang="en-US" sz="1200" kern="1200" dirty="0" smtClean="0">
                <a:solidFill>
                  <a:schemeClr val="tx1"/>
                </a:solidFill>
                <a:ea typeface="+mn-ea"/>
                <a:cs typeface="+mn-cs"/>
              </a:rPr>
              <a:t>Trainer informs trainees where the person had no intent to receive the stolen goods, did not know they were stolen or the goods were not, in fact, stolen it is highly unlikely a prosecution would be commenced or succeed. Trainer stresses trainees must refuse to accept any items into the Lost and Found facility if they believe the item to be stolen.</a:t>
            </a:r>
            <a:endParaRPr lang="en-AU" sz="1200" kern="1200" dirty="0" smtClean="0">
              <a:solidFill>
                <a:schemeClr val="tx1"/>
              </a:solidFill>
              <a:ea typeface="+mn-ea"/>
              <a:cs typeface="+mn-cs"/>
            </a:endParaRPr>
          </a:p>
          <a:p>
            <a:pPr>
              <a:buFont typeface="Arial" pitchFamily="34" charset="0"/>
              <a:buNone/>
            </a:pPr>
            <a:endParaRPr lang="en-US" b="1"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a representative from local authorities/Police or industry peak body to attend and discuss legal issues relating to dealing with Lost and Found items in regard to:</a:t>
            </a:r>
          </a:p>
          <a:p>
            <a:pPr>
              <a:buFont typeface="Arial" pitchFamily="34" charset="0"/>
              <a:buChar char="•"/>
            </a:pPr>
            <a:r>
              <a:rPr lang="en-US" b="0" dirty="0" smtClean="0"/>
              <a:t> Duty of Care – identifying obligations on the venue and individual staff</a:t>
            </a:r>
          </a:p>
          <a:p>
            <a:pPr>
              <a:buFont typeface="Arial" pitchFamily="34" charset="0"/>
              <a:buChar char="•"/>
            </a:pPr>
            <a:r>
              <a:rPr lang="en-US" b="0" dirty="0" smtClean="0"/>
              <a:t> Bailment – identifying requirements relating to gratuitous bailment as it applies to lost and found items</a:t>
            </a:r>
          </a:p>
          <a:p>
            <a:pPr>
              <a:buFont typeface="Arial" pitchFamily="34" charset="0"/>
              <a:buChar char="•"/>
            </a:pPr>
            <a:r>
              <a:rPr lang="en-US" b="0" dirty="0" smtClean="0"/>
              <a:t> Receiving stolen property – identifying the evidence required before a prosecution can be launched.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3307668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suggests to trainees where formal Lost and Found services are available, the venue will seek to inform guests/customers about them.</a:t>
            </a:r>
            <a:r>
              <a:rPr lang="en-US" sz="1200" kern="1200" baseline="0" dirty="0" smtClean="0">
                <a:solidFill>
                  <a:schemeClr val="tx1"/>
                </a:solidFill>
                <a:ea typeface="+mn-ea"/>
                <a:cs typeface="+mn-cs"/>
              </a:rPr>
              <a:t> This </a:t>
            </a:r>
            <a:r>
              <a:rPr lang="en-US" sz="1200" kern="1200" dirty="0" smtClean="0">
                <a:solidFill>
                  <a:schemeClr val="tx1"/>
                </a:solidFill>
                <a:ea typeface="+mn-ea"/>
                <a:cs typeface="+mn-cs"/>
              </a:rPr>
              <a:t>communication will occur to </a:t>
            </a:r>
            <a:r>
              <a:rPr lang="en-AU" sz="1200" kern="1200" noProof="0" dirty="0" smtClean="0">
                <a:solidFill>
                  <a:schemeClr val="tx1"/>
                </a:solidFill>
                <a:ea typeface="+mn-ea"/>
                <a:cs typeface="+mn-cs"/>
              </a:rPr>
              <a:t>optimise</a:t>
            </a:r>
            <a:r>
              <a:rPr lang="en-US" sz="1200" kern="1200" dirty="0" smtClean="0">
                <a:solidFill>
                  <a:schemeClr val="tx1"/>
                </a:solidFill>
                <a:ea typeface="+mn-ea"/>
                <a:cs typeface="+mn-cs"/>
              </a:rPr>
              <a:t> its use both by staff and guests, and ensure lost items are returned to their owners.</a:t>
            </a:r>
            <a:endParaRPr lang="en-AU" sz="1200" kern="1200" dirty="0" smtClean="0">
              <a:solidFill>
                <a:schemeClr val="tx1"/>
              </a:solidFill>
              <a:ea typeface="+mn-ea"/>
              <a:cs typeface="+mn-cs"/>
            </a:endParaRPr>
          </a:p>
          <a:p>
            <a:endParaRPr lang="en-US" sz="1200" kern="1200" dirty="0" smtClean="0">
              <a:solidFill>
                <a:schemeClr val="tx1"/>
              </a:solidFill>
              <a:ea typeface="+mn-ea"/>
              <a:cs typeface="+mn-cs"/>
            </a:endParaRPr>
          </a:p>
          <a:p>
            <a:r>
              <a:rPr lang="en-US" sz="1200" kern="1200" dirty="0" smtClean="0">
                <a:solidFill>
                  <a:schemeClr val="tx1"/>
                </a:solidFill>
                <a:ea typeface="+mn-ea"/>
                <a:cs typeface="+mn-cs"/>
              </a:rPr>
              <a:t>This communication can occur verbally, in print, or via signage – see following slides.</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7311766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notes to trainees the following points apply to the provision of Lost and Found information to guests:</a:t>
            </a:r>
          </a:p>
          <a:p>
            <a:pPr>
              <a:buFont typeface="Arial" pitchFamily="34" charset="0"/>
              <a:buChar char="•"/>
            </a:pPr>
            <a:r>
              <a:rPr lang="en-US" sz="1200" kern="1200" dirty="0" smtClean="0">
                <a:solidFill>
                  <a:schemeClr val="tx1"/>
                </a:solidFill>
                <a:ea typeface="+mn-ea"/>
                <a:cs typeface="+mn-cs"/>
              </a:rPr>
              <a:t> Staff should never </a:t>
            </a:r>
            <a:r>
              <a:rPr lang="en-US" sz="1200" i="1" kern="1200" dirty="0" smtClean="0">
                <a:solidFill>
                  <a:schemeClr val="tx1"/>
                </a:solidFill>
                <a:ea typeface="+mn-ea"/>
                <a:cs typeface="+mn-cs"/>
              </a:rPr>
              <a:t>offer</a:t>
            </a:r>
            <a:r>
              <a:rPr lang="en-US" sz="1200" kern="1200" dirty="0" smtClean="0">
                <a:solidFill>
                  <a:schemeClr val="tx1"/>
                </a:solidFill>
                <a:ea typeface="+mn-ea"/>
                <a:cs typeface="+mn-cs"/>
              </a:rPr>
              <a:t> Lost and Found advice to guests/customers.</a:t>
            </a:r>
            <a:r>
              <a:rPr lang="en-US" sz="1200" kern="1200" baseline="0" dirty="0" smtClean="0">
                <a:solidFill>
                  <a:schemeClr val="tx1"/>
                </a:solidFill>
                <a:ea typeface="+mn-ea"/>
                <a:cs typeface="+mn-cs"/>
              </a:rPr>
              <a:t> I</a:t>
            </a:r>
            <a:r>
              <a:rPr lang="en-US" sz="1200" kern="1200" dirty="0" smtClean="0">
                <a:solidFill>
                  <a:schemeClr val="tx1"/>
                </a:solidFill>
                <a:ea typeface="+mn-ea"/>
                <a:cs typeface="+mn-cs"/>
              </a:rPr>
              <a:t>nformation should only be provided when:</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Specifically asked a question – perhaps because the person has an item to hand in or they have lost something</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There is a situation where the advice is appropriate.</a:t>
            </a:r>
            <a:r>
              <a:rPr lang="en-US" sz="1200" kern="1200" baseline="0" dirty="0" smtClean="0">
                <a:solidFill>
                  <a:schemeClr val="tx1"/>
                </a:solidFill>
                <a:ea typeface="+mn-ea"/>
                <a:cs typeface="+mn-cs"/>
              </a:rPr>
              <a:t> F</a:t>
            </a:r>
            <a:r>
              <a:rPr lang="en-US" sz="1200" kern="1200" dirty="0" smtClean="0">
                <a:solidFill>
                  <a:schemeClr val="tx1"/>
                </a:solidFill>
                <a:ea typeface="+mn-ea"/>
                <a:cs typeface="+mn-cs"/>
              </a:rPr>
              <a:t>or example, a person states they cannot find their watch but are not certain at this stage</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it is actually ‘lost’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One guest/customer advises someone else in the venue has lost or found an item. </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Advising people verbally is an excellent option for sharing information as it allows: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Verification people have understood what has been said to them</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Follow-up with other help such as escorting people to the Lost and Found service area.</a:t>
            </a:r>
          </a:p>
          <a:p>
            <a:pPr lvl="0">
              <a:buFont typeface="Arial" pitchFamily="34" charset="0"/>
              <a:buChar char="•"/>
            </a:pPr>
            <a:r>
              <a:rPr lang="en-US" sz="1200" kern="1200" dirty="0" smtClean="0">
                <a:solidFill>
                  <a:schemeClr val="tx1"/>
                </a:solidFill>
                <a:ea typeface="+mn-ea"/>
                <a:cs typeface="+mn-cs"/>
              </a:rPr>
              <a:t> Demands excellent levels of knowledge about:</a:t>
            </a:r>
          </a:p>
          <a:p>
            <a:pPr lvl="1">
              <a:buFont typeface="Arial" pitchFamily="34" charset="0"/>
              <a:buChar char="•"/>
            </a:pPr>
            <a:r>
              <a:rPr lang="en-US" sz="1200" kern="1200" dirty="0" smtClean="0">
                <a:solidFill>
                  <a:schemeClr val="tx1"/>
                </a:solidFill>
                <a:ea typeface="+mn-ea"/>
                <a:cs typeface="+mn-cs"/>
              </a:rPr>
              <a:t> Establishment Lost and Found policies and procedures</a:t>
            </a:r>
          </a:p>
          <a:p>
            <a:pPr lvl="1">
              <a:buFont typeface="Arial" pitchFamily="34" charset="0"/>
              <a:buChar char="•"/>
            </a:pPr>
            <a:r>
              <a:rPr lang="en-US" sz="1200" kern="1200" dirty="0" smtClean="0">
                <a:solidFill>
                  <a:schemeClr val="tx1"/>
                </a:solidFill>
                <a:ea typeface="+mn-ea"/>
                <a:cs typeface="+mn-cs"/>
              </a:rPr>
              <a:t> Lost and Found documentation </a:t>
            </a:r>
          </a:p>
          <a:p>
            <a:pPr lvl="1">
              <a:buFont typeface="Arial" pitchFamily="34" charset="0"/>
              <a:buChar char="•"/>
            </a:pPr>
            <a:r>
              <a:rPr lang="en-US" sz="1200" kern="1200" dirty="0" smtClean="0">
                <a:solidFill>
                  <a:schemeClr val="tx1"/>
                </a:solidFill>
                <a:ea typeface="+mn-ea"/>
                <a:cs typeface="+mn-cs"/>
              </a:rPr>
              <a:t> Location of the Lost and Found facility</a:t>
            </a:r>
          </a:p>
          <a:p>
            <a:pPr lvl="1">
              <a:buFont typeface="Arial" pitchFamily="34" charset="0"/>
              <a:buChar char="•"/>
            </a:pPr>
            <a:r>
              <a:rPr lang="en-US" sz="1200" kern="1200" dirty="0" smtClean="0">
                <a:solidFill>
                  <a:schemeClr val="tx1"/>
                </a:solidFill>
                <a:ea typeface="+mn-ea"/>
                <a:cs typeface="+mn-cs"/>
              </a:rPr>
              <a:t> </a:t>
            </a:r>
            <a:r>
              <a:rPr lang="en-AU" sz="1200" kern="1200" noProof="0" dirty="0" smtClean="0">
                <a:solidFill>
                  <a:schemeClr val="tx1"/>
                </a:solidFill>
                <a:ea typeface="+mn-ea"/>
                <a:cs typeface="+mn-cs"/>
              </a:rPr>
              <a:t>Authorised</a:t>
            </a:r>
            <a:r>
              <a:rPr lang="en-US" sz="1200" kern="1200" dirty="0" smtClean="0">
                <a:solidFill>
                  <a:schemeClr val="tx1"/>
                </a:solidFill>
                <a:ea typeface="+mn-ea"/>
                <a:cs typeface="+mn-cs"/>
              </a:rPr>
              <a:t> Lost and Found personnel</a:t>
            </a:r>
          </a:p>
          <a:p>
            <a:pPr lvl="0">
              <a:buFont typeface="Arial" pitchFamily="34" charset="0"/>
              <a:buChar char="•"/>
            </a:pPr>
            <a:r>
              <a:rPr lang="en-US" sz="1200" kern="1200" dirty="0" smtClean="0">
                <a:solidFill>
                  <a:schemeClr val="tx1"/>
                </a:solidFill>
                <a:ea typeface="+mn-ea"/>
                <a:cs typeface="+mn-cs"/>
              </a:rPr>
              <a:t> Requires effective interpersonal and communication skills – see next two slides.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927290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instructs trainees when communicating with guests/customers about Lost and Found facilities and protocols the following interpersonal and communication skills should be applied: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Demonstrate a willingness to help/communicate.</a:t>
            </a:r>
            <a:r>
              <a:rPr lang="en-US" sz="1200" kern="1200" baseline="0" dirty="0" smtClean="0">
                <a:solidFill>
                  <a:schemeClr val="tx1"/>
                </a:solidFill>
                <a:ea typeface="+mn-ea"/>
                <a:cs typeface="+mn-cs"/>
              </a:rPr>
              <a:t> N</a:t>
            </a:r>
            <a:r>
              <a:rPr lang="en-US" sz="1200" kern="1200" dirty="0" smtClean="0">
                <a:solidFill>
                  <a:schemeClr val="tx1"/>
                </a:solidFill>
                <a:ea typeface="+mn-ea"/>
                <a:cs typeface="+mn-cs"/>
              </a:rPr>
              <a:t>ever treat these situations as an imposition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Show respect for the person and concern for their situation</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loss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Use appropriate verbal language as appropriate to the person’s age and race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Use non-verbal communication to support the spoken word and other action taken.</a:t>
            </a:r>
            <a:r>
              <a:rPr lang="en-US" sz="1200" kern="1200" baseline="0" dirty="0" smtClean="0">
                <a:solidFill>
                  <a:schemeClr val="tx1"/>
                </a:solidFill>
                <a:ea typeface="+mn-ea"/>
                <a:cs typeface="+mn-cs"/>
              </a:rPr>
              <a:t> E</a:t>
            </a:r>
            <a:r>
              <a:rPr lang="en-US" sz="1200" kern="1200" dirty="0" smtClean="0">
                <a:solidFill>
                  <a:schemeClr val="tx1"/>
                </a:solidFill>
                <a:ea typeface="+mn-ea"/>
                <a:cs typeface="+mn-cs"/>
              </a:rPr>
              <a:t>nsure body language matches the verbal language.</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32070205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buFont typeface="Arial" pitchFamily="34" charset="0"/>
              <a:buNone/>
            </a:pPr>
            <a:r>
              <a:rPr lang="en-US" dirty="0" smtClean="0"/>
              <a:t>Trainer continues to instruct trainees regarding communication and interpersonal skills to apply when advising guests/customers about the Lost and Found facilities in</a:t>
            </a:r>
            <a:r>
              <a:rPr lang="en-US" baseline="0" dirty="0" smtClean="0"/>
              <a:t> the workplace:</a:t>
            </a:r>
          </a:p>
          <a:p>
            <a:pPr>
              <a:buFont typeface="Arial" pitchFamily="34" charset="0"/>
              <a:buChar char="•"/>
            </a:pPr>
            <a:r>
              <a:rPr lang="en-US" sz="1200" kern="1200" dirty="0" smtClean="0">
                <a:solidFill>
                  <a:schemeClr val="tx1"/>
                </a:solidFill>
                <a:ea typeface="+mn-ea"/>
                <a:cs typeface="+mn-cs"/>
              </a:rPr>
              <a:t> Be prepared to accompany the person to the Lost and Found area as opposed to simply providing verbal or other directions/instructions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Use sign language where there is a communication problem caused by language differences</a:t>
            </a:r>
            <a:r>
              <a:rPr lang="en-US" sz="1200" kern="1200" baseline="0" dirty="0" smtClean="0">
                <a:solidFill>
                  <a:schemeClr val="tx1"/>
                </a:solidFill>
                <a:ea typeface="+mn-ea"/>
                <a:cs typeface="+mn-cs"/>
              </a:rPr>
              <a:t> e.g. </a:t>
            </a:r>
            <a:r>
              <a:rPr lang="en-US" sz="1200" kern="1200" dirty="0" smtClean="0">
                <a:solidFill>
                  <a:schemeClr val="tx1"/>
                </a:solidFill>
                <a:ea typeface="+mn-ea"/>
                <a:cs typeface="+mn-cs"/>
              </a:rPr>
              <a:t>point</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Speak at an appropriate pace and volume.</a:t>
            </a:r>
            <a:r>
              <a:rPr lang="en-AU" sz="1200" kern="1200" baseline="0" dirty="0" smtClean="0">
                <a:solidFill>
                  <a:schemeClr val="tx1"/>
                </a:solidFill>
                <a:ea typeface="+mn-ea"/>
                <a:cs typeface="+mn-cs"/>
              </a:rPr>
              <a:t> D</a:t>
            </a:r>
            <a:r>
              <a:rPr lang="en-AU" sz="1200" kern="1200" dirty="0" smtClean="0">
                <a:solidFill>
                  <a:schemeClr val="tx1"/>
                </a:solidFill>
                <a:ea typeface="+mn-ea"/>
                <a:cs typeface="+mn-cs"/>
              </a:rPr>
              <a:t>o not yell, do not whisper.</a:t>
            </a:r>
          </a:p>
          <a:p>
            <a:pPr>
              <a:buFont typeface="Arial" pitchFamily="34" charset="0"/>
              <a:buChar char="•"/>
            </a:pPr>
            <a:r>
              <a:rPr lang="en-US" sz="1200" kern="1200" dirty="0" smtClean="0">
                <a:solidFill>
                  <a:schemeClr val="tx1"/>
                </a:solidFill>
                <a:ea typeface="+mn-ea"/>
                <a:cs typeface="+mn-cs"/>
              </a:rPr>
              <a:t> Use person’s name where it is known or use ‘Sir’ or ‘Madam’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Check advice/information has been understood.</a:t>
            </a:r>
            <a:r>
              <a:rPr lang="en-US" sz="1200" kern="1200" baseline="0" dirty="0" smtClean="0">
                <a:solidFill>
                  <a:schemeClr val="tx1"/>
                </a:solidFill>
                <a:ea typeface="+mn-ea"/>
                <a:cs typeface="+mn-cs"/>
              </a:rPr>
              <a:t> A</a:t>
            </a:r>
            <a:r>
              <a:rPr lang="en-US" sz="1200" kern="1200" dirty="0" smtClean="0">
                <a:solidFill>
                  <a:schemeClr val="tx1"/>
                </a:solidFill>
                <a:ea typeface="+mn-ea"/>
                <a:cs typeface="+mn-cs"/>
              </a:rPr>
              <a:t>sk if the person has understood or needs more information, a different explanation or another person to explain things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Thank anyone who wants to hand a found item in.</a:t>
            </a:r>
            <a:r>
              <a:rPr lang="en-US" sz="1200" kern="1200" baseline="0" dirty="0" smtClean="0">
                <a:solidFill>
                  <a:schemeClr val="tx1"/>
                </a:solidFill>
                <a:ea typeface="+mn-ea"/>
                <a:cs typeface="+mn-cs"/>
              </a:rPr>
              <a:t> A</a:t>
            </a:r>
            <a:r>
              <a:rPr lang="en-US" sz="1200" kern="1200" dirty="0" smtClean="0">
                <a:solidFill>
                  <a:schemeClr val="tx1"/>
                </a:solidFill>
                <a:ea typeface="+mn-ea"/>
                <a:cs typeface="+mn-cs"/>
              </a:rPr>
              <a:t>lways thank people for their help, honesty and cooperation.</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Role Plays</a:t>
            </a:r>
          </a:p>
          <a:p>
            <a:pPr>
              <a:buFont typeface="Arial" pitchFamily="34" charset="0"/>
              <a:buNone/>
            </a:pPr>
            <a:r>
              <a:rPr lang="en-US" b="0" dirty="0" smtClean="0"/>
              <a:t>Trainer develops and conducts role play scenarios as follows:</a:t>
            </a:r>
          </a:p>
          <a:p>
            <a:pPr>
              <a:buFont typeface="Arial" pitchFamily="34" charset="0"/>
              <a:buChar char="•"/>
            </a:pPr>
            <a:r>
              <a:rPr lang="en-US" b="0" dirty="0" smtClean="0"/>
              <a:t> Trainer plays role of staff member at a venue</a:t>
            </a:r>
          </a:p>
          <a:p>
            <a:pPr>
              <a:buFont typeface="Arial" pitchFamily="34" charset="0"/>
              <a:buChar char="•"/>
            </a:pPr>
            <a:r>
              <a:rPr lang="en-US" b="0" baseline="0" dirty="0" smtClean="0"/>
              <a:t> A trainee plays the role of a guest</a:t>
            </a:r>
          </a:p>
          <a:p>
            <a:pPr>
              <a:buFont typeface="Arial" pitchFamily="34" charset="0"/>
              <a:buChar char="•"/>
            </a:pPr>
            <a:r>
              <a:rPr lang="en-US" b="0" baseline="0" dirty="0" smtClean="0"/>
              <a:t> Trainee approaches ‘staff member’ and:</a:t>
            </a:r>
          </a:p>
          <a:p>
            <a:pPr lvl="1">
              <a:buFont typeface="Arial" pitchFamily="34" charset="0"/>
              <a:buChar char="•"/>
            </a:pPr>
            <a:r>
              <a:rPr lang="en-US" b="0" baseline="0" dirty="0" smtClean="0"/>
              <a:t> (1) Asks where they can enquire if anyone has found or handed in their wallet</a:t>
            </a:r>
          </a:p>
          <a:p>
            <a:pPr lvl="1">
              <a:buFont typeface="Arial" pitchFamily="34" charset="0"/>
              <a:buChar char="•"/>
            </a:pPr>
            <a:r>
              <a:rPr lang="en-US" b="0" baseline="0" dirty="0" smtClean="0"/>
              <a:t> (2) Asks what they should do with a bag they found in their room when they checked in</a:t>
            </a:r>
          </a:p>
          <a:p>
            <a:pPr lvl="0">
              <a:buFont typeface="Arial" pitchFamily="34" charset="0"/>
              <a:buChar char="•"/>
            </a:pPr>
            <a:r>
              <a:rPr lang="en-US" b="0" baseline="0" dirty="0" smtClean="0"/>
              <a:t> Trainer demonstrates appropriate interpersonal and communication skills when dealing with these scenarios</a:t>
            </a:r>
          </a:p>
          <a:p>
            <a:pPr lvl="0">
              <a:buFont typeface="Arial" pitchFamily="34" charset="0"/>
              <a:buChar char="•"/>
            </a:pPr>
            <a:r>
              <a:rPr lang="en-US" b="0" baseline="0" dirty="0" smtClean="0"/>
              <a:t> Role plays are observed by remaining class members for later discussion and analysis.</a:t>
            </a:r>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84903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advises trainees that most properties will have hard-copy and/or electronic options as ways of advising guests/customers about Lost and Found: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Hard-copy options:</a:t>
            </a:r>
          </a:p>
          <a:p>
            <a:pPr lvl="1">
              <a:buFont typeface="Arial" pitchFamily="34" charset="0"/>
              <a:buChar char="•"/>
            </a:pPr>
            <a:r>
              <a:rPr lang="en-US" sz="1200" kern="1200" dirty="0" smtClean="0">
                <a:solidFill>
                  <a:schemeClr val="tx1"/>
                </a:solidFill>
                <a:ea typeface="+mn-ea"/>
                <a:cs typeface="+mn-cs"/>
              </a:rPr>
              <a:t> Guest account.</a:t>
            </a:r>
            <a:r>
              <a:rPr lang="en-US" sz="1200" kern="1200" baseline="0" dirty="0" smtClean="0">
                <a:solidFill>
                  <a:schemeClr val="tx1"/>
                </a:solidFill>
                <a:ea typeface="+mn-ea"/>
                <a:cs typeface="+mn-cs"/>
              </a:rPr>
              <a:t> A </a:t>
            </a:r>
            <a:r>
              <a:rPr lang="en-US" sz="1200" kern="1200" dirty="0" smtClean="0">
                <a:solidFill>
                  <a:schemeClr val="tx1"/>
                </a:solidFill>
                <a:ea typeface="+mn-ea"/>
                <a:cs typeface="+mn-cs"/>
              </a:rPr>
              <a:t>line or two is commonly included on the guest account advising them of how to contact Lost and Found after their departure if there is a need to do so</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Guest room compendium.</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here is usually a section in the in-room compendium advising guests: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The venue has a Lost and Found facility</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Where it is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How to contact it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Attention should be paid to providing these materials in different languages to match customer/guest profiles.</a:t>
            </a:r>
            <a:endParaRPr lang="en-AU" sz="1200" kern="1200" dirty="0" smtClean="0">
              <a:solidFill>
                <a:schemeClr val="tx1"/>
              </a:solidFill>
              <a:ea typeface="+mn-ea"/>
              <a:cs typeface="+mn-cs"/>
            </a:endParaRPr>
          </a:p>
          <a:p>
            <a:pPr>
              <a:buFont typeface="Arial" pitchFamily="34" charset="0"/>
              <a:buChar char="•"/>
            </a:pPr>
            <a:r>
              <a:rPr lang="en-US" dirty="0" smtClean="0"/>
              <a:t> Electronic options:</a:t>
            </a:r>
          </a:p>
          <a:p>
            <a:pPr lvl="1">
              <a:buFont typeface="Arial" pitchFamily="34" charset="0"/>
              <a:buChar char="•"/>
            </a:pPr>
            <a:r>
              <a:rPr lang="en-US" sz="1200" kern="1200" dirty="0" smtClean="0">
                <a:solidFill>
                  <a:schemeClr val="tx1"/>
                </a:solidFill>
                <a:ea typeface="+mn-ea"/>
                <a:cs typeface="+mn-cs"/>
              </a:rPr>
              <a:t> Through the information facility on the television in the guest room</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Via a touch screen information unit in the lobby/foyer.</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Examination of Industry Communication Options</a:t>
            </a:r>
          </a:p>
          <a:p>
            <a:pPr>
              <a:buFont typeface="Arial" pitchFamily="34" charset="0"/>
              <a:buNone/>
            </a:pPr>
            <a:r>
              <a:rPr lang="en-US" b="0" dirty="0" smtClean="0"/>
              <a:t>Trainer obtains</a:t>
            </a:r>
            <a:r>
              <a:rPr lang="en-US" b="0" baseline="0" dirty="0" smtClean="0"/>
              <a:t> sample guest account and in-room compendium and shares these with trainees, discussing the information provided.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17262083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many venues also provide Lost and Found signage indicating to patrons:</a:t>
            </a:r>
          </a:p>
          <a:p>
            <a:pPr>
              <a:buFont typeface="Arial" pitchFamily="34" charset="0"/>
              <a:buChar char="•"/>
            </a:pPr>
            <a:r>
              <a:rPr lang="en-US" dirty="0" smtClean="0"/>
              <a:t> Where the Lost and Found facility is located</a:t>
            </a:r>
            <a:r>
              <a:rPr lang="en-US" baseline="0" dirty="0" smtClean="0"/>
              <a:t> – by signage at the facility, and/or by use of directional arrows</a:t>
            </a:r>
          </a:p>
          <a:p>
            <a:pPr>
              <a:buFont typeface="Arial" pitchFamily="34" charset="0"/>
              <a:buChar char="•"/>
            </a:pPr>
            <a:r>
              <a:rPr lang="en-US" baseline="0" dirty="0" smtClean="0"/>
              <a:t> Who to speak to about lost and found items  </a:t>
            </a:r>
          </a:p>
          <a:p>
            <a:pPr>
              <a:buFont typeface="Arial" pitchFamily="34" charset="0"/>
              <a:buChar char="•"/>
            </a:pPr>
            <a:r>
              <a:rPr lang="en-US" baseline="0" dirty="0" smtClean="0"/>
              <a:t> Lost and Found advice in different languages appropriate to the guest profiles of the venue.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1270235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ea typeface="+mn-ea"/>
                <a:cs typeface="+mn-cs"/>
              </a:rPr>
              <a:t>Trainer tells trainees they can obtain updated information about internal Lost and Found procedures in their workplace:</a:t>
            </a:r>
          </a:p>
          <a:p>
            <a:pPr>
              <a:buFont typeface="Arial" pitchFamily="34" charset="0"/>
              <a:buChar char="•"/>
            </a:pPr>
            <a:r>
              <a:rPr lang="en-US" sz="1200" kern="1200" dirty="0" smtClean="0">
                <a:solidFill>
                  <a:schemeClr val="tx1"/>
                </a:solidFill>
                <a:ea typeface="+mn-ea"/>
                <a:cs typeface="+mn-cs"/>
              </a:rPr>
              <a:t> At regular (weekly, fortnightly) staff meetings </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At daily staff briefings and debriefings before work</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By reading the Communications Book used by management in some venues to communicate important information to staff</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By regular reading of intranet files – policies, procedures, updates, alerts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By reading all communications issued by management such as emails, memos and posters on the staff information board in the tea room, change room, recreation room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Through mandatory on</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the</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job training sessions. </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13582256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explains to trainees all properties offering a Lost and Found facility will feature a Lost and Found register.</a:t>
            </a:r>
            <a:r>
              <a:rPr lang="en-US" sz="1200" kern="1200" baseline="0" dirty="0" smtClean="0">
                <a:solidFill>
                  <a:schemeClr val="tx1"/>
                </a:solidFill>
                <a:ea typeface="+mn-ea"/>
                <a:cs typeface="+mn-cs"/>
              </a:rPr>
              <a:t> P</a:t>
            </a:r>
            <a:r>
              <a:rPr lang="en-US" sz="1200" kern="1200" dirty="0" smtClean="0">
                <a:solidFill>
                  <a:schemeClr val="tx1"/>
                </a:solidFill>
                <a:ea typeface="+mn-ea"/>
                <a:cs typeface="+mn-cs"/>
              </a:rPr>
              <a:t>roperties may purchase a Lost and Found Register from a hospitality supplier or prepare their own using the workplace computer.</a:t>
            </a:r>
          </a:p>
          <a:p>
            <a:endParaRPr lang="en-US" sz="1200" kern="1200" dirty="0" smtClean="0">
              <a:solidFill>
                <a:schemeClr val="tx1"/>
              </a:solidFill>
              <a:ea typeface="+mn-ea"/>
              <a:cs typeface="+mn-cs"/>
            </a:endParaRPr>
          </a:p>
          <a:p>
            <a:r>
              <a:rPr lang="en-US" sz="1200" kern="1200" dirty="0" smtClean="0">
                <a:solidFill>
                  <a:schemeClr val="tx1"/>
                </a:solidFill>
                <a:ea typeface="+mn-ea"/>
                <a:cs typeface="+mn-cs"/>
              </a:rPr>
              <a:t>Trainer advises trainees about the Lost and Found Register:</a:t>
            </a:r>
          </a:p>
          <a:p>
            <a:pPr>
              <a:buFont typeface="Arial" pitchFamily="34" charset="0"/>
              <a:buChar char="•"/>
            </a:pPr>
            <a:r>
              <a:rPr lang="en-US" sz="1200" kern="1200" dirty="0" smtClean="0">
                <a:solidFill>
                  <a:schemeClr val="tx1"/>
                </a:solidFill>
                <a:ea typeface="+mn-ea"/>
                <a:cs typeface="+mn-cs"/>
              </a:rPr>
              <a:t> Can be bought from a supplier or produced in-house using the workplace computer  </a:t>
            </a:r>
          </a:p>
          <a:p>
            <a:pPr>
              <a:buFont typeface="Arial" pitchFamily="34" charset="0"/>
              <a:buChar char="•"/>
            </a:pPr>
            <a:r>
              <a:rPr lang="en-US" sz="1200" kern="1200" dirty="0" smtClean="0">
                <a:solidFill>
                  <a:schemeClr val="tx1"/>
                </a:solidFill>
                <a:ea typeface="+mn-ea"/>
                <a:cs typeface="+mn-cs"/>
              </a:rPr>
              <a:t> It is a bound book – not loose-leaf pages</a:t>
            </a:r>
          </a:p>
          <a:p>
            <a:pPr>
              <a:buFont typeface="Arial" pitchFamily="34" charset="0"/>
              <a:buChar char="•"/>
            </a:pPr>
            <a:r>
              <a:rPr lang="en-US" sz="1200" kern="1200" dirty="0" smtClean="0">
                <a:solidFill>
                  <a:schemeClr val="tx1"/>
                </a:solidFill>
                <a:ea typeface="+mn-ea"/>
                <a:cs typeface="+mn-cs"/>
              </a:rPr>
              <a:t> Pages are sequentially numbered to assist in identifying pages and to help identify is a page has been removed</a:t>
            </a:r>
          </a:p>
          <a:p>
            <a:pPr>
              <a:buFont typeface="Arial" pitchFamily="34" charset="0"/>
              <a:buChar char="•"/>
            </a:pPr>
            <a:r>
              <a:rPr lang="en-US" sz="1200" kern="1200" dirty="0" smtClean="0">
                <a:solidFill>
                  <a:schemeClr val="tx1"/>
                </a:solidFill>
                <a:ea typeface="+mn-ea"/>
                <a:cs typeface="+mn-cs"/>
              </a:rPr>
              <a:t> Records both ‘found’ items and details of reports regarding ’lost’ items in the one register.</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here is normally not a separate register for ‘found’ items and for ‘lost’ items.</a:t>
            </a:r>
          </a:p>
          <a:p>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8258478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advises trainees the Lost and Found Register records three primary types of information: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All appropriate items found on the premises by staff and/or customers and guests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Details of all items reported as lost by customers/guests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Actions taken in relation to lost and found items including:</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Efforts to find lost items – action taken by staff/the property in response to reports from guests/customers they have lost an item</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Storage of found items – identifying where items have been stored so they can be easily retrieved when a claim is made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Details of the return of an item to its owner – identifying the owner and evidence obtain identifying the claimant as the rightful owner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Details of disposal of found items – to prove/demonstrate what happened to unclaimed items and when this took place.</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32906904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ea typeface="+mn-ea"/>
                <a:cs typeface="+mn-cs"/>
              </a:rPr>
              <a:t>Trainer states to trainees for ‘found items’ the Lost and Found Register will usually provide space to record:</a:t>
            </a:r>
          </a:p>
          <a:p>
            <a:pPr>
              <a:buFont typeface="Arial" pitchFamily="34" charset="0"/>
              <a:buChar char="•"/>
            </a:pPr>
            <a:r>
              <a:rPr lang="en-US" sz="1200" kern="1200" dirty="0" smtClean="0">
                <a:solidFill>
                  <a:schemeClr val="tx1"/>
                </a:solidFill>
                <a:ea typeface="+mn-ea"/>
                <a:cs typeface="+mn-cs"/>
              </a:rPr>
              <a:t> Item number (optional) .</a:t>
            </a:r>
            <a:r>
              <a:rPr lang="en-US" sz="1200" kern="1200" baseline="0" dirty="0" smtClean="0">
                <a:solidFill>
                  <a:schemeClr val="tx1"/>
                </a:solidFill>
                <a:ea typeface="+mn-ea"/>
                <a:cs typeface="+mn-cs"/>
              </a:rPr>
              <a:t> S</a:t>
            </a:r>
            <a:r>
              <a:rPr lang="en-US" sz="1200" kern="1200" dirty="0" smtClean="0">
                <a:solidFill>
                  <a:schemeClr val="tx1"/>
                </a:solidFill>
                <a:ea typeface="+mn-ea"/>
                <a:cs typeface="+mn-cs"/>
              </a:rPr>
              <a:t>ome properties allocate every found item a number to assist with tracking</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Date/time the item was found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Description of item –which</a:t>
            </a:r>
            <a:r>
              <a:rPr lang="en-US" sz="1200" kern="1200" baseline="0" dirty="0" smtClean="0">
                <a:solidFill>
                  <a:schemeClr val="tx1"/>
                </a:solidFill>
                <a:ea typeface="+mn-ea"/>
                <a:cs typeface="+mn-cs"/>
              </a:rPr>
              <a:t> is </a:t>
            </a:r>
            <a:r>
              <a:rPr lang="en-US" sz="1200" kern="1200" dirty="0" smtClean="0">
                <a:solidFill>
                  <a:schemeClr val="tx1"/>
                </a:solidFill>
                <a:ea typeface="+mn-ea"/>
                <a:cs typeface="+mn-cs"/>
              </a:rPr>
              <a:t>sufficiently detailed to distinguish it from other similar items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Finder – name and contact details of person who found it.</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41654526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identify for trainees the information recorded</a:t>
            </a:r>
            <a:r>
              <a:rPr lang="en-US" baseline="0" dirty="0" smtClean="0"/>
              <a:t> in the Lost and Found Register when an item is handed in as a ‘found’ item:</a:t>
            </a:r>
          </a:p>
          <a:p>
            <a:pPr>
              <a:buFont typeface="Arial" pitchFamily="34" charset="0"/>
              <a:buChar char="•"/>
            </a:pPr>
            <a:r>
              <a:rPr lang="en-US" sz="1200" kern="1200" dirty="0" smtClean="0">
                <a:solidFill>
                  <a:schemeClr val="tx1"/>
                </a:solidFill>
                <a:ea typeface="+mn-ea"/>
                <a:cs typeface="+mn-cs"/>
              </a:rPr>
              <a:t> Location found – name of room/area where the item was find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Name of owner/room occupant – where known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Receipt number.</a:t>
            </a:r>
            <a:r>
              <a:rPr lang="en-US" sz="1200" kern="1200" baseline="0" dirty="0" smtClean="0">
                <a:solidFill>
                  <a:schemeClr val="tx1"/>
                </a:solidFill>
                <a:ea typeface="+mn-ea"/>
                <a:cs typeface="+mn-cs"/>
              </a:rPr>
              <a:t> S</a:t>
            </a:r>
            <a:r>
              <a:rPr lang="en-US" sz="1200" kern="1200" dirty="0" smtClean="0">
                <a:solidFill>
                  <a:schemeClr val="tx1"/>
                </a:solidFill>
                <a:ea typeface="+mn-ea"/>
                <a:cs typeface="+mn-cs"/>
              </a:rPr>
              <a:t>ome venues will issue a receipt to the finder whenever a found item is handed in.</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helps maintain accountability and reduced chance of staff stealing items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Action taken to find the owner (where appropriate)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Final disposal of the item such as: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‘Returned to Owner’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‘Discarded’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‘Donated to XYZ’</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Signature of claimant where item was returned to owner, including details of evidence presented by the claimant to prove they were the owner, such as: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Driver’s licence number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Passport number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Reference to photocopied material filed for future reference.</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endParaRPr lang="en-US" b="0" dirty="0" smtClean="0"/>
          </a:p>
          <a:p>
            <a:pPr>
              <a:buFont typeface="Arial" pitchFamily="34" charset="0"/>
              <a:buNone/>
            </a:pPr>
            <a:endParaRPr lang="en-US" b="0" dirty="0" smtClean="0"/>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33259583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states to trainees for items reported as lost the following details need to be recorded: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Date/time the lost report was made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Description of item in sufficient detail to allow the item to be identified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Value of the item (optional) ,</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indicating how much the item is worth</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Location where item was lost,</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 if known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Name of person who has lost the item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Contact details of person who has lost the item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Action taken to find the lost item.</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4209925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0701705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17250062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8912265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6951463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8626620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continues to identify for trainees the Performance Criteria for this Element, as listed on the slide.</a:t>
            </a:r>
          </a:p>
          <a:p>
            <a:pPr>
              <a:buFont typeface="Arial" pitchFamily="34" charset="0"/>
              <a:buNone/>
            </a:pPr>
            <a:endParaRPr lang="en-US" b="1"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regarding their experiences and knowledge about dealing with lost and found items asking questions such as:</a:t>
            </a:r>
          </a:p>
          <a:p>
            <a:pPr>
              <a:buFont typeface="Arial" pitchFamily="34" charset="0"/>
              <a:buChar char="•"/>
            </a:pPr>
            <a:r>
              <a:rPr lang="en-US" b="0" dirty="0" smtClean="0"/>
              <a:t> Why do you think it is important to check items before they are taken into storage as ‘lost property’/’found items’?</a:t>
            </a:r>
          </a:p>
          <a:p>
            <a:pPr>
              <a:buFont typeface="Arial" pitchFamily="34" charset="0"/>
              <a:buChar char="•"/>
            </a:pPr>
            <a:r>
              <a:rPr lang="en-US" b="0" dirty="0" smtClean="0"/>
              <a:t> What checks might be involved?</a:t>
            </a:r>
          </a:p>
          <a:p>
            <a:pPr>
              <a:buFont typeface="Arial" pitchFamily="34" charset="0"/>
              <a:buChar char="•"/>
            </a:pPr>
            <a:r>
              <a:rPr lang="en-US" b="0" dirty="0" smtClean="0"/>
              <a:t> What items might you not want to accept into the Lost and Found facility?</a:t>
            </a:r>
          </a:p>
          <a:p>
            <a:pPr>
              <a:buFont typeface="Arial" pitchFamily="34" charset="0"/>
              <a:buChar char="•"/>
            </a:pPr>
            <a:r>
              <a:rPr lang="en-US" b="0" dirty="0" smtClean="0"/>
              <a:t> When recording information of an item that has been found, what details would you need to record?</a:t>
            </a:r>
          </a:p>
          <a:p>
            <a:pPr>
              <a:buFont typeface="Arial" pitchFamily="34" charset="0"/>
              <a:buChar char="•"/>
            </a:pPr>
            <a:r>
              <a:rPr lang="en-US" b="0" dirty="0" smtClean="0"/>
              <a:t> If a guest reports an item as lost, what information would you need to capture?</a:t>
            </a: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10839849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noProof="0" dirty="0" smtClean="0">
                <a:solidFill>
                  <a:schemeClr val="tx1"/>
                </a:solidFill>
                <a:ea typeface="+mn-ea"/>
                <a:cs typeface="+mn-cs"/>
              </a:rPr>
              <a:t>Trainer emphasizes to trainees that all items handed in as ‘found’ items must be checked to ensure they are safe and appropriate to accept into storage.</a:t>
            </a:r>
            <a:r>
              <a:rPr lang="en-AU" sz="1200" kern="1200" baseline="0" noProof="0" dirty="0" smtClean="0">
                <a:solidFill>
                  <a:schemeClr val="tx1"/>
                </a:solidFill>
                <a:ea typeface="+mn-ea"/>
                <a:cs typeface="+mn-cs"/>
              </a:rPr>
              <a:t> I</a:t>
            </a:r>
            <a:r>
              <a:rPr lang="en-AU" sz="1200" kern="1200" noProof="0" dirty="0" smtClean="0">
                <a:solidFill>
                  <a:schemeClr val="tx1"/>
                </a:solidFill>
                <a:ea typeface="+mn-ea"/>
                <a:cs typeface="+mn-cs"/>
              </a:rPr>
              <a:t>t is important all items submitted to Lost and Found must be checked to ensure they are not dangerous, suspicious or illegal.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noProof="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noProof="0" dirty="0" smtClean="0">
                <a:solidFill>
                  <a:schemeClr val="tx1"/>
                </a:solidFill>
                <a:ea typeface="+mn-ea"/>
                <a:cs typeface="+mn-cs"/>
              </a:rPr>
              <a:t>Trainer indicates to trainees the checking of items handed involves:</a:t>
            </a:r>
          </a:p>
          <a:p>
            <a:pPr>
              <a:buFont typeface="Arial" pitchFamily="34" charset="0"/>
              <a:buChar char="•"/>
            </a:pPr>
            <a:r>
              <a:rPr lang="en-AU" sz="1200" kern="1200" noProof="0" dirty="0" smtClean="0">
                <a:solidFill>
                  <a:schemeClr val="tx1"/>
                </a:solidFill>
                <a:ea typeface="+mn-ea"/>
                <a:cs typeface="+mn-cs"/>
              </a:rPr>
              <a:t> Inspecting/looking at the item to look for danger signs such as:</a:t>
            </a:r>
          </a:p>
          <a:p>
            <a:pPr lvl="1">
              <a:buFont typeface="Arial" pitchFamily="34" charset="0"/>
              <a:buChar char="•"/>
            </a:pPr>
            <a:r>
              <a:rPr lang="en-AU" sz="1200" kern="1200" noProof="0" dirty="0" smtClean="0">
                <a:solidFill>
                  <a:schemeClr val="tx1"/>
                </a:solidFill>
                <a:ea typeface="+mn-ea"/>
                <a:cs typeface="+mn-cs"/>
              </a:rPr>
              <a:t> Sharp/jagged edges</a:t>
            </a:r>
          </a:p>
          <a:p>
            <a:pPr lvl="1">
              <a:buFont typeface="Arial" pitchFamily="34" charset="0"/>
              <a:buChar char="•"/>
            </a:pPr>
            <a:r>
              <a:rPr lang="en-AU" sz="1200" kern="1200" noProof="0" dirty="0" smtClean="0">
                <a:solidFill>
                  <a:schemeClr val="tx1"/>
                </a:solidFill>
                <a:ea typeface="+mn-ea"/>
                <a:cs typeface="+mn-cs"/>
              </a:rPr>
              <a:t> Broken glass</a:t>
            </a:r>
          </a:p>
          <a:p>
            <a:pPr lvl="1">
              <a:buFont typeface="Arial" pitchFamily="34" charset="0"/>
              <a:buChar char="•"/>
            </a:pPr>
            <a:r>
              <a:rPr lang="en-AU" sz="1200" kern="1200" noProof="0" dirty="0" smtClean="0">
                <a:solidFill>
                  <a:schemeClr val="tx1"/>
                </a:solidFill>
                <a:ea typeface="+mn-ea"/>
                <a:cs typeface="+mn-cs"/>
              </a:rPr>
              <a:t> Leaks</a:t>
            </a:r>
          </a:p>
          <a:p>
            <a:pPr lvl="1">
              <a:buFont typeface="Arial" pitchFamily="34" charset="0"/>
              <a:buChar char="•"/>
            </a:pPr>
            <a:r>
              <a:rPr lang="en-AU" sz="1200" kern="1200" noProof="0" dirty="0" smtClean="0">
                <a:solidFill>
                  <a:schemeClr val="tx1"/>
                </a:solidFill>
                <a:ea typeface="+mn-ea"/>
                <a:cs typeface="+mn-cs"/>
              </a:rPr>
              <a:t> A physical item that by its very nature gives rise to concern</a:t>
            </a:r>
          </a:p>
          <a:p>
            <a:pPr>
              <a:buFont typeface="Arial" pitchFamily="34" charset="0"/>
              <a:buChar char="•"/>
            </a:pPr>
            <a:r>
              <a:rPr lang="en-AU" sz="1200" kern="1200" noProof="0" dirty="0" smtClean="0">
                <a:solidFill>
                  <a:schemeClr val="tx1"/>
                </a:solidFill>
                <a:ea typeface="+mn-ea"/>
                <a:cs typeface="+mn-cs"/>
              </a:rPr>
              <a:t> Using the other senses to detect any smells or sounds causing concern</a:t>
            </a:r>
          </a:p>
          <a:p>
            <a:pPr>
              <a:buFont typeface="Arial" pitchFamily="34" charset="0"/>
              <a:buChar char="•"/>
            </a:pPr>
            <a:r>
              <a:rPr lang="en-AU" sz="1200" kern="1200" noProof="0" dirty="0" smtClean="0">
                <a:solidFill>
                  <a:schemeClr val="tx1"/>
                </a:solidFill>
                <a:ea typeface="+mn-ea"/>
                <a:cs typeface="+mn-cs"/>
              </a:rPr>
              <a:t> Making sure, to the best extent possible the item is safe and secure for handling and storage</a:t>
            </a:r>
          </a:p>
          <a:p>
            <a:pPr>
              <a:buFont typeface="Arial" pitchFamily="34" charset="0"/>
              <a:buChar char="•"/>
            </a:pPr>
            <a:r>
              <a:rPr lang="en-AU" sz="1200" kern="1200" noProof="0" dirty="0" smtClean="0">
                <a:solidFill>
                  <a:schemeClr val="tx1"/>
                </a:solidFill>
                <a:ea typeface="+mn-ea"/>
                <a:cs typeface="+mn-cs"/>
              </a:rPr>
              <a:t> Using common sense to determine the nature and safety of the item.</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21444161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ea typeface="+mn-ea"/>
                <a:cs typeface="+mn-cs"/>
              </a:rPr>
              <a:t>Trainer notes to trainees that most properties will provide directions on how staff should deal with found items deemed to be dangerous, suspicious or illegal stressing to them</a:t>
            </a:r>
            <a:r>
              <a:rPr lang="en-US" sz="1200" kern="1200" baseline="0" dirty="0" smtClean="0">
                <a:solidFill>
                  <a:schemeClr val="tx1"/>
                </a:solidFill>
                <a:ea typeface="+mn-ea"/>
                <a:cs typeface="+mn-cs"/>
              </a:rPr>
              <a:t> they must comply with specific workplace procedures where these differ to what is presented</a:t>
            </a:r>
            <a:r>
              <a:rPr lang="en-US" sz="1200" kern="1200" dirty="0" smtClean="0">
                <a:solidFill>
                  <a:schemeClr val="tx1"/>
                </a:solidFill>
                <a:ea typeface="+mn-ea"/>
                <a:cs typeface="+mn-cs"/>
              </a:rPr>
              <a: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ea typeface="+mn-ea"/>
              <a:cs typeface="+mn-cs"/>
            </a:endParaRPr>
          </a:p>
          <a:p>
            <a:r>
              <a:rPr lang="en-US" sz="1200" kern="1200" dirty="0" smtClean="0">
                <a:solidFill>
                  <a:schemeClr val="tx1"/>
                </a:solidFill>
                <a:ea typeface="+mn-ea"/>
                <a:cs typeface="+mn-cs"/>
              </a:rPr>
              <a:t>Trainer explains to trainees ‘Dangerous or illegal goods’ include: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Drugs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Weapons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Contraband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Explosives.</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r>
              <a:rPr lang="en-US" sz="1200" kern="1200" dirty="0" smtClean="0">
                <a:solidFill>
                  <a:schemeClr val="tx1"/>
                </a:solidFill>
                <a:ea typeface="+mn-ea"/>
                <a:cs typeface="+mn-cs"/>
              </a:rPr>
              <a:t>Trainer suggests to trainees:</a:t>
            </a:r>
          </a:p>
          <a:p>
            <a:pPr>
              <a:buFont typeface="Arial" pitchFamily="34" charset="0"/>
              <a:buChar char="•"/>
            </a:pPr>
            <a:r>
              <a:rPr lang="en-US" sz="1200" kern="1200" dirty="0" smtClean="0">
                <a:solidFill>
                  <a:schemeClr val="tx1"/>
                </a:solidFill>
                <a:ea typeface="+mn-ea"/>
                <a:cs typeface="+mn-cs"/>
              </a:rPr>
              <a:t> If in doubt about the nature of something handed in they should always seek assistance and </a:t>
            </a:r>
            <a:r>
              <a:rPr lang="en-US" sz="1200" b="1" i="1" kern="1200" dirty="0" smtClean="0">
                <a:solidFill>
                  <a:schemeClr val="tx1"/>
                </a:solidFill>
                <a:ea typeface="+mn-ea"/>
                <a:cs typeface="+mn-cs"/>
              </a:rPr>
              <a:t>always</a:t>
            </a:r>
            <a:r>
              <a:rPr lang="en-US" sz="1200" kern="1200" dirty="0" smtClean="0">
                <a:solidFill>
                  <a:schemeClr val="tx1"/>
                </a:solidFill>
                <a:ea typeface="+mn-ea"/>
                <a:cs typeface="+mn-cs"/>
              </a:rPr>
              <a:t> err on the side of caution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If a parcel of white powder has been handed in assume it is drugs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Items may not themselves be dangerous, but the condition</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state they are in may render them dangerous.</a:t>
            </a:r>
            <a:r>
              <a:rPr lang="en-US" sz="1200" kern="1200" baseline="0" dirty="0" smtClean="0">
                <a:solidFill>
                  <a:schemeClr val="tx1"/>
                </a:solidFill>
                <a:ea typeface="+mn-ea"/>
                <a:cs typeface="+mn-cs"/>
              </a:rPr>
              <a:t> Fo</a:t>
            </a:r>
            <a:r>
              <a:rPr lang="en-US" sz="1200" kern="1200" dirty="0" smtClean="0">
                <a:solidFill>
                  <a:schemeClr val="tx1"/>
                </a:solidFill>
                <a:ea typeface="+mn-ea"/>
                <a:cs typeface="+mn-cs"/>
              </a:rPr>
              <a:t>r example, an electrical appliance may be safe, but one that has exposed cords is dangerous.</a:t>
            </a:r>
            <a:r>
              <a:rPr lang="en-US" sz="1200" kern="1200" baseline="0" dirty="0" smtClean="0">
                <a:solidFill>
                  <a:schemeClr val="tx1"/>
                </a:solidFill>
                <a:ea typeface="+mn-ea"/>
                <a:cs typeface="+mn-cs"/>
              </a:rPr>
              <a:t> A</a:t>
            </a:r>
            <a:r>
              <a:rPr lang="en-US" sz="1200" kern="1200" dirty="0" smtClean="0">
                <a:solidFill>
                  <a:schemeClr val="tx1"/>
                </a:solidFill>
                <a:ea typeface="+mn-ea"/>
                <a:cs typeface="+mn-cs"/>
              </a:rPr>
              <a:t> tin of ‘something’ may be safe, but if it is leaking it has the potential to be unsafe.</a:t>
            </a:r>
            <a:r>
              <a:rPr lang="en-US" sz="1200" kern="1200" baseline="0" dirty="0" smtClean="0">
                <a:solidFill>
                  <a:schemeClr val="tx1"/>
                </a:solidFill>
                <a:ea typeface="+mn-ea"/>
                <a:cs typeface="+mn-cs"/>
              </a:rPr>
              <a:t> A </a:t>
            </a:r>
            <a:r>
              <a:rPr lang="en-US" sz="1200" kern="1200" dirty="0" smtClean="0">
                <a:solidFill>
                  <a:schemeClr val="tx1"/>
                </a:solidFill>
                <a:ea typeface="+mn-ea"/>
                <a:cs typeface="+mn-cs"/>
              </a:rPr>
              <a:t>knife may not in itself be dangerous but the sharpness of the blade together with the sharpness of its point may mean it can be described as dangerous.</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r>
              <a:rPr lang="en-US" b="1" dirty="0" smtClean="0"/>
              <a:t>Class Activity – Guest Speaker</a:t>
            </a:r>
          </a:p>
          <a:p>
            <a:pPr>
              <a:buFont typeface="Arial" pitchFamily="34" charset="0"/>
              <a:buNone/>
            </a:pPr>
            <a:r>
              <a:rPr lang="en-US" b="0" dirty="0" smtClean="0"/>
              <a:t>Trainer arranges for a management level person from a venue to attend and talk to trainees about:</a:t>
            </a:r>
          </a:p>
          <a:p>
            <a:pPr>
              <a:buFont typeface="Arial" pitchFamily="34" charset="0"/>
              <a:buChar char="•"/>
            </a:pPr>
            <a:r>
              <a:rPr lang="en-US" b="0" dirty="0" smtClean="0"/>
              <a:t> Protocols for checking items into their Lost and Found facility</a:t>
            </a:r>
          </a:p>
          <a:p>
            <a:pPr>
              <a:buFont typeface="Arial" pitchFamily="34" charset="0"/>
              <a:buChar char="•"/>
            </a:pPr>
            <a:r>
              <a:rPr lang="en-US" b="0" dirty="0" smtClean="0"/>
              <a:t> Policies and procedures at their venue for dealing with dangerous, illegal and/or suspicious items</a:t>
            </a:r>
          </a:p>
          <a:p>
            <a:pPr>
              <a:buFont typeface="Arial" pitchFamily="34" charset="0"/>
              <a:buChar char="•"/>
            </a:pPr>
            <a:r>
              <a:rPr lang="en-US" b="0" dirty="0" smtClean="0"/>
              <a:t> Personal experiences in dealing with dangerous, illegal and/or suspicious items</a:t>
            </a:r>
          </a:p>
          <a:p>
            <a:pPr>
              <a:buFont typeface="Arial" pitchFamily="34" charset="0"/>
              <a:buChar char="•"/>
            </a:pPr>
            <a:r>
              <a:rPr lang="en-US" b="0" dirty="0" smtClean="0"/>
              <a:t> Advice for trainees regarding treatment of dangerous, illegal and/or suspicious items.</a:t>
            </a:r>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6880224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urges trainees to be alert to identifying ‘suspicious’ items noting there is no definition of such a package but items left on their own may be deemed suspicious.</a:t>
            </a:r>
          </a:p>
          <a:p>
            <a:pPr>
              <a:buFont typeface="Arial" pitchFamily="34" charset="0"/>
              <a:buNone/>
            </a:pPr>
            <a:endParaRPr lang="en-US" dirty="0" smtClean="0"/>
          </a:p>
          <a:p>
            <a:r>
              <a:rPr lang="en-US" sz="1200" kern="1200" dirty="0" smtClean="0">
                <a:solidFill>
                  <a:schemeClr val="tx1"/>
                </a:solidFill>
                <a:ea typeface="+mn-ea"/>
                <a:cs typeface="+mn-cs"/>
              </a:rPr>
              <a:t>Trainer informs trainees where a suspicious package is identified, the appropriate response (subject to establishment policies and procedures) is: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Do not touch it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Phone the Police and report the finding.</a:t>
            </a:r>
            <a:r>
              <a:rPr lang="en-US" sz="1200" kern="1200" baseline="0" dirty="0" smtClean="0">
                <a:solidFill>
                  <a:schemeClr val="tx1"/>
                </a:solidFill>
                <a:ea typeface="+mn-ea"/>
                <a:cs typeface="+mn-cs"/>
              </a:rPr>
              <a:t> S</a:t>
            </a:r>
            <a:r>
              <a:rPr lang="en-US" sz="1200" kern="1200" dirty="0" smtClean="0">
                <a:solidFill>
                  <a:schemeClr val="tx1"/>
                </a:solidFill>
                <a:ea typeface="+mn-ea"/>
                <a:cs typeface="+mn-cs"/>
              </a:rPr>
              <a:t>tay on the line until told to hang up</a:t>
            </a:r>
            <a:r>
              <a:rPr lang="en-US" sz="1200" kern="1200" baseline="0" dirty="0" smtClean="0">
                <a:solidFill>
                  <a:schemeClr val="tx1"/>
                </a:solidFill>
                <a:ea typeface="+mn-ea"/>
                <a:cs typeface="+mn-cs"/>
              </a:rPr>
              <a:t> and</a:t>
            </a:r>
            <a:r>
              <a:rPr lang="en-US" sz="1200" kern="1200" dirty="0" smtClean="0">
                <a:solidFill>
                  <a:schemeClr val="tx1"/>
                </a:solidFill>
                <a:ea typeface="+mn-ea"/>
                <a:cs typeface="+mn-cs"/>
              </a:rPr>
              <a:t> answer questions asked by operator</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Leave the package in the place</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situation where it was discovered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Evacuate people from the immediate area.</a:t>
            </a:r>
            <a:r>
              <a:rPr lang="en-US" sz="1200" kern="1200" baseline="0" dirty="0" smtClean="0">
                <a:solidFill>
                  <a:schemeClr val="tx1"/>
                </a:solidFill>
                <a:ea typeface="+mn-ea"/>
                <a:cs typeface="+mn-cs"/>
              </a:rPr>
              <a:t> E</a:t>
            </a:r>
            <a:r>
              <a:rPr lang="en-US" sz="1200" kern="1200" dirty="0" smtClean="0">
                <a:solidFill>
                  <a:schemeClr val="tx1"/>
                </a:solidFill>
                <a:ea typeface="+mn-ea"/>
                <a:cs typeface="+mn-cs"/>
              </a:rPr>
              <a:t>vacuate people from a wider area depending on nature of found item.</a:t>
            </a:r>
            <a:r>
              <a:rPr lang="en-US" sz="1200" kern="1200" baseline="0" dirty="0" smtClean="0">
                <a:solidFill>
                  <a:schemeClr val="tx1"/>
                </a:solidFill>
                <a:ea typeface="+mn-ea"/>
                <a:cs typeface="+mn-cs"/>
              </a:rPr>
              <a:t> F</a:t>
            </a:r>
            <a:r>
              <a:rPr lang="en-US" sz="1200" kern="1200" dirty="0" smtClean="0">
                <a:solidFill>
                  <a:schemeClr val="tx1"/>
                </a:solidFill>
                <a:ea typeface="+mn-ea"/>
                <a:cs typeface="+mn-cs"/>
              </a:rPr>
              <a:t>ollow the directions in Emergency Management/Evacuation Plan for the area/venue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Turn off anything likely to trigger an explosion – such as mobile phones</a:t>
            </a:r>
          </a:p>
          <a:p>
            <a:pPr>
              <a:buFont typeface="Arial" pitchFamily="34" charset="0"/>
              <a:buChar char="•"/>
            </a:pPr>
            <a:r>
              <a:rPr lang="en-US" sz="1200" kern="1200" dirty="0" smtClean="0">
                <a:solidFill>
                  <a:schemeClr val="tx1"/>
                </a:solidFill>
                <a:ea typeface="+mn-ea"/>
                <a:cs typeface="+mn-cs"/>
              </a:rPr>
              <a:t> Wait for the authorities to arrive and deal with the item.</a:t>
            </a:r>
            <a:endParaRPr lang="en-AU" sz="1200" kern="1200" dirty="0" smtClean="0">
              <a:solidFill>
                <a:schemeClr val="tx1"/>
              </a:solidFill>
              <a:ea typeface="+mn-ea"/>
              <a:cs typeface="+mn-cs"/>
            </a:endParaRPr>
          </a:p>
          <a:p>
            <a:pPr>
              <a:buFont typeface="Arial" pitchFamily="34" charset="0"/>
              <a:buNone/>
            </a:pPr>
            <a:r>
              <a:rPr lang="en-US" dirty="0" smtClean="0"/>
              <a:t> </a:t>
            </a:r>
          </a:p>
          <a:p>
            <a:pPr>
              <a:buFont typeface="Arial" pitchFamily="34" charset="0"/>
              <a:buNone/>
            </a:pPr>
            <a:r>
              <a:rPr lang="en-US" b="1" dirty="0" smtClean="0"/>
              <a:t>Class Activity – Guest Speaker</a:t>
            </a:r>
          </a:p>
          <a:p>
            <a:pPr>
              <a:buFont typeface="Arial" pitchFamily="34" charset="0"/>
              <a:buNone/>
            </a:pPr>
            <a:r>
              <a:rPr lang="en-US" b="0" dirty="0" smtClean="0"/>
              <a:t>Trainer arranges for Police to attend and talk to trainees about:</a:t>
            </a:r>
          </a:p>
          <a:p>
            <a:pPr>
              <a:buFont typeface="Arial" pitchFamily="34" charset="0"/>
              <a:buChar char="•"/>
            </a:pPr>
            <a:r>
              <a:rPr lang="en-US" b="0" dirty="0" smtClean="0"/>
              <a:t> Recommended protocols for dealing with suspicious items especially things </a:t>
            </a:r>
            <a:r>
              <a:rPr lang="en-US" b="1" dirty="0" smtClean="0"/>
              <a:t>not </a:t>
            </a:r>
            <a:r>
              <a:rPr lang="en-US" b="0" dirty="0" smtClean="0"/>
              <a:t>to do</a:t>
            </a:r>
          </a:p>
          <a:p>
            <a:pPr>
              <a:buFont typeface="Arial" pitchFamily="34" charset="0"/>
              <a:buChar char="•"/>
            </a:pPr>
            <a:r>
              <a:rPr lang="en-US" b="0" dirty="0" smtClean="0"/>
              <a:t> How to contact Police and report a suspicious item</a:t>
            </a:r>
          </a:p>
          <a:p>
            <a:pPr>
              <a:buFont typeface="Arial" pitchFamily="34" charset="0"/>
              <a:buChar char="•"/>
            </a:pPr>
            <a:r>
              <a:rPr lang="en-US" b="0" dirty="0" smtClean="0"/>
              <a:t> Determining if</a:t>
            </a:r>
            <a:r>
              <a:rPr lang="en-US" b="0" baseline="0" dirty="0" smtClean="0"/>
              <a:t> an item is suspicious or not</a:t>
            </a:r>
          </a:p>
          <a:p>
            <a:pPr>
              <a:buFont typeface="Arial" pitchFamily="34" charset="0"/>
              <a:buChar char="•"/>
            </a:pPr>
            <a:r>
              <a:rPr lang="en-US" b="0" baseline="0" dirty="0" smtClean="0"/>
              <a:t> Response the authorities provide to a report of a suspicious item.</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13761691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states to trainees once items submitted as found items have been checked for safety and legality, they may be accepted and signed-in to the Lost and Found facility using the appropriate Register indicating standard practices and protocols for handling the items include: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Treating/handling items with respect and care.</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reat them as personal and prized possessions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Packaging items to protect them from damage where appropriate such as when dealing with fragile items or items likely to be easily scratched/marked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Securing the items – placing them into locations to ensure they are not stolen or lost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Leaving items alone until they are claimed or need to be disposed of.</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highlights that ‘found’ items cannot be used by staff or the property. </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18290057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ea typeface="+mn-ea"/>
                <a:cs typeface="+mn-cs"/>
              </a:rPr>
              <a:t>Trainer identifies to trainees a standard requirement when a ‘found’ item is handed in is for it to be entered into the Lost and Found Register.</a:t>
            </a:r>
            <a:endParaRPr lang="en-AU" sz="1200" kern="1200" dirty="0" smtClean="0">
              <a:solidFill>
                <a:schemeClr val="tx1"/>
              </a:solidFill>
              <a:ea typeface="+mn-ea"/>
              <a:cs typeface="+mn-cs"/>
            </a:endParaRPr>
          </a:p>
          <a:p>
            <a:pPr>
              <a:buFont typeface="Arial" pitchFamily="34" charset="0"/>
              <a:buNone/>
            </a:pPr>
            <a:endParaRPr lang="en-US" dirty="0" smtClean="0"/>
          </a:p>
          <a:p>
            <a:r>
              <a:rPr lang="en-US" sz="1200" kern="1200" dirty="0" smtClean="0">
                <a:solidFill>
                  <a:schemeClr val="tx1"/>
                </a:solidFill>
                <a:ea typeface="+mn-ea"/>
                <a:cs typeface="+mn-cs"/>
              </a:rPr>
              <a:t>Trainer advises trainees when making entries into the Register they must take time to ensure: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Writing is legible – others will have to read and interpret what is written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Information is correct – double-check the entries to ensure they are accurate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Information is comprehensive.</a:t>
            </a:r>
            <a:r>
              <a:rPr lang="en-US" sz="1200" kern="1200" baseline="0" dirty="0" smtClean="0">
                <a:solidFill>
                  <a:schemeClr val="tx1"/>
                </a:solidFill>
                <a:ea typeface="+mn-ea"/>
                <a:cs typeface="+mn-cs"/>
              </a:rPr>
              <a:t> I</a:t>
            </a:r>
            <a:r>
              <a:rPr lang="en-US" sz="1200" kern="1200" dirty="0" smtClean="0">
                <a:solidFill>
                  <a:schemeClr val="tx1"/>
                </a:solidFill>
                <a:ea typeface="+mn-ea"/>
                <a:cs typeface="+mn-cs"/>
              </a:rPr>
              <a:t>t is worth taking an extra minute to record more detail.</a:t>
            </a:r>
            <a:endParaRPr lang="en-AU" sz="1200" kern="1200" dirty="0" smtClean="0">
              <a:solidFill>
                <a:schemeClr val="tx1"/>
              </a:solidFill>
              <a:ea typeface="+mn-ea"/>
              <a:cs typeface="+mn-cs"/>
            </a:endParaRPr>
          </a:p>
          <a:p>
            <a:pPr>
              <a:buFont typeface="Arial" pitchFamily="34" charset="0"/>
              <a:buNone/>
            </a:pPr>
            <a:endParaRPr lang="en-US" dirty="0" smtClean="0"/>
          </a:p>
          <a:p>
            <a:r>
              <a:rPr lang="en-US" sz="1200" kern="1200" dirty="0" smtClean="0">
                <a:solidFill>
                  <a:schemeClr val="tx1"/>
                </a:solidFill>
                <a:ea typeface="+mn-ea"/>
                <a:cs typeface="+mn-cs"/>
              </a:rPr>
              <a:t>Trainer suggests to trainees that when all necessary details have been recorded in the Register (for both ‘lost’ and ‘found’ items) they should be verified with the person concerned (for example, the staff member/person handing in a found item or the individual reporting a lost item).</a:t>
            </a:r>
            <a:r>
              <a:rPr lang="en-US" sz="1200" kern="1200" baseline="0" dirty="0" smtClean="0">
                <a:solidFill>
                  <a:schemeClr val="tx1"/>
                </a:solidFill>
                <a:ea typeface="+mn-ea"/>
                <a:cs typeface="+mn-cs"/>
              </a:rPr>
              <a:t> R</a:t>
            </a:r>
            <a:r>
              <a:rPr lang="en-US" sz="1200" kern="1200" dirty="0" smtClean="0">
                <a:solidFill>
                  <a:schemeClr val="tx1"/>
                </a:solidFill>
                <a:ea typeface="+mn-ea"/>
                <a:cs typeface="+mn-cs"/>
              </a:rPr>
              <a:t>eading the details back is the best way to achieve this.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9440660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US" dirty="0" smtClean="0"/>
              <a:t>Trainer advises trainees</a:t>
            </a:r>
            <a:r>
              <a:rPr lang="en-US" baseline="0" dirty="0" smtClean="0"/>
              <a:t> that when recording found items in the Lost and Found Register they should:</a:t>
            </a:r>
          </a:p>
          <a:p>
            <a:pPr>
              <a:buFont typeface="Arial" pitchFamily="34" charset="0"/>
              <a:buChar char="•"/>
            </a:pPr>
            <a:r>
              <a:rPr lang="en-US" baseline="0" dirty="0" smtClean="0"/>
              <a:t> Identify the finder:</a:t>
            </a:r>
          </a:p>
          <a:p>
            <a:pPr lvl="1">
              <a:buFont typeface="Arial" pitchFamily="34" charset="0"/>
              <a:buChar char="•"/>
            </a:pPr>
            <a:r>
              <a:rPr lang="en-US" baseline="0" dirty="0" smtClean="0"/>
              <a:t> Guests do not have to give their name if they find an item – it is optional, not mandatory</a:t>
            </a:r>
          </a:p>
          <a:p>
            <a:pPr lvl="1">
              <a:buFont typeface="Arial" pitchFamily="34" charset="0"/>
              <a:buChar char="•"/>
            </a:pPr>
            <a:r>
              <a:rPr lang="en-US" baseline="0" dirty="0" smtClean="0"/>
              <a:t> Obtaining full name of finder is the preferred option</a:t>
            </a:r>
          </a:p>
          <a:p>
            <a:pPr lvl="1">
              <a:buFont typeface="Arial" pitchFamily="34" charset="0"/>
              <a:buChar char="•"/>
            </a:pPr>
            <a:r>
              <a:rPr lang="en-US" baseline="0" dirty="0" smtClean="0"/>
              <a:t> No need to obtain date of birth</a:t>
            </a:r>
          </a:p>
          <a:p>
            <a:pPr lvl="1">
              <a:buFont typeface="Arial" pitchFamily="34" charset="0"/>
              <a:buChar char="•"/>
            </a:pPr>
            <a:r>
              <a:rPr lang="en-US" baseline="0" dirty="0" smtClean="0"/>
              <a:t> Capture a contact number</a:t>
            </a:r>
          </a:p>
          <a:p>
            <a:pPr>
              <a:buFont typeface="Arial" pitchFamily="34" charset="0"/>
              <a:buChar char="•"/>
            </a:pPr>
            <a:r>
              <a:rPr lang="en-US" dirty="0" smtClean="0"/>
              <a:t> Identify where found.</a:t>
            </a:r>
            <a:r>
              <a:rPr lang="en-US" baseline="0" dirty="0" smtClean="0"/>
              <a:t> I</a:t>
            </a:r>
            <a:r>
              <a:rPr lang="en-US" dirty="0" smtClean="0"/>
              <a:t>t </a:t>
            </a:r>
            <a:r>
              <a:rPr lang="en-US" sz="1200" kern="1200" dirty="0" smtClean="0">
                <a:solidFill>
                  <a:schemeClr val="tx1"/>
                </a:solidFill>
                <a:ea typeface="+mn-ea"/>
                <a:cs typeface="+mn-cs"/>
              </a:rPr>
              <a:t>should be standard to:</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Identify the place the item was found,</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such as: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Room 342</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Grand Dining Room</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Outside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Identify the location in the place,</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such as: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On the double bed</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Under Table 5 near the flower display</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Near the kiosk by the swimming pool.</a:t>
            </a:r>
            <a:endParaRPr lang="en-US" dirty="0" smtClean="0"/>
          </a:p>
          <a:p>
            <a:pPr lvl="0">
              <a:buFont typeface="Arial" pitchFamily="34" charset="0"/>
              <a:buChar char="•"/>
            </a:pPr>
            <a:r>
              <a:rPr lang="en-US" dirty="0" smtClean="0"/>
              <a:t> Identify date</a:t>
            </a:r>
            <a:r>
              <a:rPr lang="en-US" baseline="0" dirty="0" smtClean="0"/>
              <a:t> and time found:</a:t>
            </a:r>
          </a:p>
          <a:p>
            <a:pPr lvl="1">
              <a:buFont typeface="Arial" pitchFamily="34" charset="0"/>
              <a:buChar char="•"/>
            </a:pPr>
            <a:r>
              <a:rPr lang="en-US" sz="1200" kern="1200" dirty="0" smtClean="0">
                <a:solidFill>
                  <a:schemeClr val="tx1"/>
                </a:solidFill>
                <a:ea typeface="+mn-ea"/>
                <a:cs typeface="+mn-cs"/>
              </a:rPr>
              <a:t> Date – the item was found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Day of the week – to confirm the date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Time – using the 24-hour clock (see later slide), or AM/PM designation.</a:t>
            </a:r>
            <a:endParaRPr lang="en-AU" sz="1200" kern="1200" dirty="0" smtClean="0">
              <a:solidFill>
                <a:schemeClr val="tx1"/>
              </a:solidFill>
              <a:ea typeface="+mn-ea"/>
              <a:cs typeface="+mn-cs"/>
            </a:endParaRPr>
          </a:p>
          <a:p>
            <a:pPr lvl="0">
              <a:buFont typeface="Arial" pitchFamily="34" charset="0"/>
              <a:buChar char="•"/>
            </a:pPr>
            <a:r>
              <a:rPr lang="en-US" dirty="0" smtClean="0"/>
              <a:t> Describe the item – in detail (see next slide)</a:t>
            </a:r>
          </a:p>
          <a:p>
            <a:pPr lvl="0">
              <a:buFont typeface="Arial" pitchFamily="34" charset="0"/>
              <a:buChar char="•"/>
            </a:pPr>
            <a:r>
              <a:rPr lang="en-US" dirty="0" smtClean="0"/>
              <a:t> Allocate an identifying number.</a:t>
            </a:r>
            <a:r>
              <a:rPr lang="en-US" baseline="0" dirty="0" smtClean="0"/>
              <a:t> T</a:t>
            </a:r>
            <a:r>
              <a:rPr lang="en-US" dirty="0" smtClean="0"/>
              <a:t>his number will be:</a:t>
            </a:r>
          </a:p>
          <a:p>
            <a:pPr lvl="1">
              <a:buFont typeface="Arial" pitchFamily="34" charset="0"/>
              <a:buChar char="•"/>
            </a:pPr>
            <a:r>
              <a:rPr lang="en-US" sz="1200" kern="1200" dirty="0" smtClean="0">
                <a:solidFill>
                  <a:schemeClr val="tx1"/>
                </a:solidFill>
                <a:ea typeface="+mn-ea"/>
                <a:cs typeface="+mn-cs"/>
              </a:rPr>
              <a:t> Entered under the appropriate heading/column in the register such as Item Number or Serial Number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Be the same number appearing on the Lost and Found Slip/Lost and Found Tag attached to the item when it is placed into storage</a:t>
            </a:r>
            <a:endParaRPr lang="en-US" dirty="0" smtClean="0"/>
          </a:p>
          <a:p>
            <a:r>
              <a:rPr lang="en-US" dirty="0" smtClean="0"/>
              <a:t> Sign the Register </a:t>
            </a:r>
            <a:r>
              <a:rPr lang="en-US" sz="1200" kern="1200" dirty="0" smtClean="0">
                <a:solidFill>
                  <a:schemeClr val="tx1"/>
                </a:solidFill>
                <a:ea typeface="+mn-ea"/>
                <a:cs typeface="+mn-cs"/>
              </a:rPr>
              <a:t>to indicate: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The name of the person processing the found item so others know who to speak to if they have a query</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The details written in the Register and true and correct.</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he need for a signature increases accountability</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The item has been received and is now the responsibility of the property in relation to bailment and duty of care obligations.</a:t>
            </a:r>
            <a:r>
              <a:rPr lang="en-US" dirty="0" smtClean="0"/>
              <a:t> </a:t>
            </a:r>
          </a:p>
          <a:p>
            <a:pPr>
              <a:buFont typeface="Arial" pitchFamily="34" charset="0"/>
              <a:buNone/>
            </a:pPr>
            <a:endParaRPr lang="en-US" b="1"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a suitable experienced staff member from a local venue to attend</a:t>
            </a:r>
            <a:r>
              <a:rPr lang="en-US" b="0" baseline="0" dirty="0" smtClean="0"/>
              <a:t> and:</a:t>
            </a:r>
          </a:p>
          <a:p>
            <a:pPr>
              <a:buFont typeface="Arial" pitchFamily="34" charset="0"/>
              <a:buChar char="•"/>
            </a:pPr>
            <a:r>
              <a:rPr lang="en-US" b="0" baseline="0" dirty="0" smtClean="0"/>
              <a:t> Talk to trainees about the process of accepting and recording a found item in the Lost and Found facility</a:t>
            </a:r>
          </a:p>
          <a:p>
            <a:pPr>
              <a:buFont typeface="Arial" pitchFamily="34" charset="0"/>
              <a:buChar char="•"/>
            </a:pPr>
            <a:r>
              <a:rPr lang="en-US" b="0" baseline="0" dirty="0" smtClean="0"/>
              <a:t> Demonstrate how to record several ‘found’ items into a Lost and Found Register.</a:t>
            </a: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27255411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a:buFont typeface="Arial" pitchFamily="34" charset="0"/>
              <a:buNone/>
            </a:pPr>
            <a:r>
              <a:rPr lang="en-US" dirty="0" smtClean="0"/>
              <a:t>Trainer advises trainees the description of found items need to be entered into the Lost and Found Register and on to the Lost and Found Tag (which is attached to the item when it is placed into storage).</a:t>
            </a:r>
          </a:p>
          <a:p>
            <a:pPr>
              <a:buFont typeface="Arial" pitchFamily="34" charset="0"/>
              <a:buNone/>
            </a:pPr>
            <a:endParaRPr lang="en-US" dirty="0" smtClean="0"/>
          </a:p>
          <a:p>
            <a:r>
              <a:rPr lang="en-US" dirty="0" smtClean="0"/>
              <a:t>Trainer stresses the description must be sufficiently detailed and enable differentiation between similar items.</a:t>
            </a:r>
            <a:r>
              <a:rPr lang="en-US" baseline="0" dirty="0" smtClean="0"/>
              <a:t> D</a:t>
            </a:r>
            <a:r>
              <a:rPr lang="en-US" dirty="0" smtClean="0"/>
              <a:t>escriptions </a:t>
            </a:r>
            <a:r>
              <a:rPr lang="en-US" sz="1200" kern="1200" dirty="0" smtClean="0">
                <a:solidFill>
                  <a:schemeClr val="tx1"/>
                </a:solidFill>
                <a:ea typeface="+mn-ea"/>
                <a:cs typeface="+mn-cs"/>
              </a:rPr>
              <a:t>may include, but are obviously not limited to:</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General description of item such as 'gent's watch', 'briefcase', bottle of scotch</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Brand name, model name/style, and serial number where possible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Distinguishing features/marks – cuts, scratches, dents, sticky tape, ribbon on suitcase handles or anything else to distinguish it from other similar items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Size, colour, shape, material out of which it is made.</a:t>
            </a:r>
            <a:r>
              <a:rPr lang="en-US" sz="1200" kern="1200" baseline="0" dirty="0" smtClean="0">
                <a:solidFill>
                  <a:schemeClr val="tx1"/>
                </a:solidFill>
                <a:ea typeface="+mn-ea"/>
                <a:cs typeface="+mn-cs"/>
              </a:rPr>
              <a:t> I</a:t>
            </a:r>
            <a:r>
              <a:rPr lang="en-US" sz="1200" kern="1200" dirty="0" smtClean="0">
                <a:solidFill>
                  <a:schemeClr val="tx1"/>
                </a:solidFill>
                <a:ea typeface="+mn-ea"/>
                <a:cs typeface="+mn-cs"/>
              </a:rPr>
              <a:t>t is possible not all of these may apply in all cases but it can be useful to record the case is 'brown leather', the drinking glasses are 'stemmed crystal', or the painting is a 'framed rectangular' one. For example, for a bottle of spirits details would include type of spirit, brand, bottle size, whether bottle was opened</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how full it was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Other information may include, as appropriate: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It was found, for example, in a Sony bag shopping bag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The item was still in its original packaging</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It was found in an old cardboard box.</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Exercise in Pairs</a:t>
            </a:r>
          </a:p>
          <a:p>
            <a:pPr>
              <a:buFont typeface="Arial" pitchFamily="34" charset="0"/>
              <a:buNone/>
            </a:pPr>
            <a:r>
              <a:rPr lang="en-US" b="0" dirty="0" smtClean="0"/>
              <a:t>Trainer:</a:t>
            </a:r>
          </a:p>
          <a:p>
            <a:pPr>
              <a:buFont typeface="Arial" pitchFamily="34" charset="0"/>
              <a:buChar char="•"/>
            </a:pPr>
            <a:r>
              <a:rPr lang="en-US" b="0" dirty="0" smtClean="0"/>
              <a:t> Obtains</a:t>
            </a:r>
            <a:r>
              <a:rPr lang="en-US" b="0" baseline="0" dirty="0" smtClean="0"/>
              <a:t> or </a:t>
            </a:r>
            <a:r>
              <a:rPr lang="en-US" b="0" dirty="0" smtClean="0"/>
              <a:t>produces ‘Found item’ pages from a Lost and Found Register</a:t>
            </a:r>
          </a:p>
          <a:p>
            <a:pPr>
              <a:buFont typeface="Arial" pitchFamily="34" charset="0"/>
              <a:buChar char="•"/>
            </a:pPr>
            <a:r>
              <a:rPr lang="en-US" b="0" dirty="0" smtClean="0"/>
              <a:t> A variety of ‘found’ items.</a:t>
            </a:r>
          </a:p>
          <a:p>
            <a:pPr>
              <a:buFont typeface="Arial" pitchFamily="34" charset="0"/>
              <a:buNone/>
            </a:pPr>
            <a:endParaRPr lang="en-US" b="0" dirty="0" smtClean="0"/>
          </a:p>
          <a:p>
            <a:pPr>
              <a:buFont typeface="Arial" pitchFamily="34" charset="0"/>
              <a:buNone/>
            </a:pPr>
            <a:r>
              <a:rPr lang="en-US" b="0" dirty="0" smtClean="0"/>
              <a:t>Trainer divides class into pairs and gives each pair two ‘Found item’ pages and two ‘found’ items. </a:t>
            </a:r>
          </a:p>
          <a:p>
            <a:pPr>
              <a:buFont typeface="Arial" pitchFamily="34" charset="0"/>
              <a:buChar char="•"/>
            </a:pPr>
            <a:r>
              <a:rPr lang="en-US" b="0" dirty="0" smtClean="0"/>
              <a:t> One trainee plays the role of a guest/staff member who found</a:t>
            </a:r>
            <a:r>
              <a:rPr lang="en-US" b="0" baseline="0" dirty="0" smtClean="0"/>
              <a:t> the ‘found item’ and is handing it in. The other trainee plays the role of a staff member entering the found item into the Lost and Found Register</a:t>
            </a:r>
          </a:p>
          <a:p>
            <a:pPr>
              <a:buFont typeface="Arial" pitchFamily="34" charset="0"/>
              <a:buChar char="•"/>
            </a:pPr>
            <a:r>
              <a:rPr lang="en-US" b="0" baseline="0" dirty="0" smtClean="0"/>
              <a:t> Roles are then exchanged so both trainees have an opportunity to record an item in the Register</a:t>
            </a:r>
          </a:p>
          <a:p>
            <a:pPr>
              <a:buFont typeface="Arial" pitchFamily="34" charset="0"/>
              <a:buChar char="•"/>
            </a:pPr>
            <a:r>
              <a:rPr lang="en-US" b="0" baseline="0" dirty="0" smtClean="0"/>
              <a:t> Trainer reviews each entry providing feedback on the accuracy or appropriateness of each entry.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15699160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ea typeface="+mn-ea"/>
                <a:cs typeface="+mn-cs"/>
              </a:rPr>
              <a:t>Trainer mentions to trainees that when a guest/customer reports they have lost an item, the details of this loss must be recorded in much the same way as details of a ‘found’ item are recorded.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ea typeface="+mn-ea"/>
                <a:cs typeface="+mn-cs"/>
              </a:rPr>
              <a:t>Trainer highlights to trainees the loss of an item is a very emotional time for a guest/customer and it is vital to apply appropriate and sensitive interpersonal skills which includes:</a:t>
            </a:r>
          </a:p>
          <a:p>
            <a:pPr>
              <a:buFont typeface="Arial" pitchFamily="34" charset="0"/>
              <a:buChar char="•"/>
            </a:pPr>
            <a:r>
              <a:rPr lang="en-US" sz="1200" kern="1200" dirty="0" smtClean="0">
                <a:solidFill>
                  <a:schemeClr val="tx1"/>
                </a:solidFill>
                <a:ea typeface="+mn-ea"/>
                <a:cs typeface="+mn-cs"/>
              </a:rPr>
              <a:t> Acknowledging not only their loss but </a:t>
            </a:r>
            <a:r>
              <a:rPr lang="en-US" sz="1200" i="1" kern="1200" dirty="0" smtClean="0">
                <a:solidFill>
                  <a:schemeClr val="tx1"/>
                </a:solidFill>
                <a:ea typeface="+mn-ea"/>
                <a:cs typeface="+mn-cs"/>
              </a:rPr>
              <a:t>the way they are feeling</a:t>
            </a:r>
            <a:r>
              <a:rPr lang="en-US" sz="1200" kern="1200" dirty="0" smtClean="0">
                <a:solidFill>
                  <a:schemeClr val="tx1"/>
                </a:solidFill>
                <a:ea typeface="+mn-ea"/>
                <a:cs typeface="+mn-cs"/>
              </a:rPr>
              <a:t> about their loss and the inconvenience and/or distress and anxiety the loss is causing</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Being professional when recording details of the lost item.</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involves showing interest, asking questions to assist in identifying the item and perhaps</a:t>
            </a:r>
            <a:r>
              <a:rPr lang="en-US" sz="1200" kern="1200" baseline="0" dirty="0" smtClean="0">
                <a:solidFill>
                  <a:schemeClr val="tx1"/>
                </a:solidFill>
                <a:ea typeface="+mn-ea"/>
                <a:cs typeface="+mn-cs"/>
              </a:rPr>
              <a:t> in</a:t>
            </a:r>
            <a:r>
              <a:rPr lang="en-US" sz="1200" kern="1200" dirty="0" smtClean="0">
                <a:solidFill>
                  <a:schemeClr val="tx1"/>
                </a:solidFill>
                <a:ea typeface="+mn-ea"/>
                <a:cs typeface="+mn-cs"/>
              </a:rPr>
              <a:t> locating the item. It includes not rushing the customer and their report.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Taking time and showing concern.</a:t>
            </a:r>
            <a:r>
              <a:rPr lang="en-US" sz="1200" kern="1200" baseline="0" dirty="0" smtClean="0">
                <a:solidFill>
                  <a:schemeClr val="tx1"/>
                </a:solidFill>
                <a:ea typeface="+mn-ea"/>
                <a:cs typeface="+mn-cs"/>
              </a:rPr>
              <a:t> I</a:t>
            </a:r>
            <a:r>
              <a:rPr lang="en-US" sz="1200" kern="1200" dirty="0" smtClean="0">
                <a:solidFill>
                  <a:schemeClr val="tx1"/>
                </a:solidFill>
                <a:ea typeface="+mn-ea"/>
                <a:cs typeface="+mn-cs"/>
              </a:rPr>
              <a:t>t is important the customer/guest feels the property will take action to find their item and return it.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Obtaining their contact details to enable return of the item when and if found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Giving venue contact details.</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may be a business card from the property with staff name and numbers on it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Advising them about action intended to recover their lost property such as searching their room, speaking to all staff on that floor, viewing the security tape for the area, checking the Lost and Found register/storage area</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Explaining any charges</a:t>
            </a:r>
            <a:r>
              <a:rPr lang="en-US" sz="1200" kern="1200" baseline="0" dirty="0" smtClean="0">
                <a:solidFill>
                  <a:schemeClr val="tx1"/>
                </a:solidFill>
                <a:ea typeface="+mn-ea"/>
                <a:cs typeface="+mn-cs"/>
              </a:rPr>
              <a:t> and </a:t>
            </a:r>
            <a:r>
              <a:rPr lang="en-US" sz="1200" kern="1200" dirty="0" smtClean="0">
                <a:solidFill>
                  <a:schemeClr val="tx1"/>
                </a:solidFill>
                <a:ea typeface="+mn-ea"/>
                <a:cs typeface="+mn-cs"/>
              </a:rPr>
              <a:t>costs that may apply to forwarding the item to them as and when the item is found.</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42687470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US" dirty="0" smtClean="0"/>
              <a:t>Trainer identifies to trainees the keys to recording reports of lost items are:</a:t>
            </a:r>
          </a:p>
          <a:p>
            <a:pPr>
              <a:buFont typeface="Arial" pitchFamily="34" charset="0"/>
              <a:buChar char="•"/>
            </a:pPr>
            <a:r>
              <a:rPr lang="en-US" dirty="0" smtClean="0"/>
              <a:t> Identify person who has lost the item:</a:t>
            </a:r>
          </a:p>
          <a:p>
            <a:pPr lvl="1">
              <a:buFont typeface="Arial" pitchFamily="34" charset="0"/>
              <a:buChar char="•"/>
            </a:pPr>
            <a:r>
              <a:rPr lang="en-US" dirty="0" smtClean="0"/>
              <a:t> This may be a relative, friend or associate of the person especially where the item belongs to a departed guest</a:t>
            </a:r>
          </a:p>
          <a:p>
            <a:pPr lvl="1">
              <a:buFont typeface="Arial" pitchFamily="34" charset="0"/>
              <a:buChar char="•"/>
            </a:pPr>
            <a:r>
              <a:rPr lang="en-US" dirty="0" smtClean="0"/>
              <a:t> No need for date of birth</a:t>
            </a:r>
          </a:p>
          <a:p>
            <a:pPr>
              <a:buFont typeface="Arial" pitchFamily="34" charset="0"/>
              <a:buChar char="•"/>
            </a:pPr>
            <a:r>
              <a:rPr lang="en-US" dirty="0" smtClean="0"/>
              <a:t> Determine where the person:</a:t>
            </a:r>
          </a:p>
          <a:p>
            <a:pPr lvl="1">
              <a:buFont typeface="Arial" pitchFamily="34" charset="0"/>
              <a:buChar char="•"/>
            </a:pPr>
            <a:r>
              <a:rPr lang="en-US" dirty="0" smtClean="0"/>
              <a:t> Knew they lost the item</a:t>
            </a:r>
          </a:p>
          <a:p>
            <a:pPr lvl="1">
              <a:buFont typeface="Arial" pitchFamily="34" charset="0"/>
              <a:buChar char="•"/>
            </a:pPr>
            <a:r>
              <a:rPr lang="en-US" dirty="0" smtClean="0"/>
              <a:t> Thought they may have lost the item </a:t>
            </a:r>
          </a:p>
          <a:p>
            <a:pPr lvl="1">
              <a:buFont typeface="Arial" pitchFamily="34" charset="0"/>
              <a:buChar char="•"/>
            </a:pPr>
            <a:r>
              <a:rPr lang="en-US" dirty="0" smtClean="0"/>
              <a:t> Last knew they had the item</a:t>
            </a:r>
          </a:p>
          <a:p>
            <a:pPr lvl="1">
              <a:buFont typeface="Arial" pitchFamily="34" charset="0"/>
              <a:buNone/>
            </a:pPr>
            <a:r>
              <a:rPr lang="en-US" dirty="0" smtClean="0"/>
              <a:t>The more</a:t>
            </a:r>
            <a:r>
              <a:rPr lang="en-US" baseline="0" dirty="0" smtClean="0"/>
              <a:t> information, the better. Many ‘lost’ items have simply been forgotten.</a:t>
            </a:r>
          </a:p>
          <a:p>
            <a:pPr lvl="0">
              <a:buFont typeface="Arial" pitchFamily="34" charset="0"/>
              <a:buChar char="•"/>
            </a:pPr>
            <a:r>
              <a:rPr lang="en-US" dirty="0" smtClean="0"/>
              <a:t> Capture date and time of loss, if known:</a:t>
            </a:r>
          </a:p>
          <a:p>
            <a:pPr lvl="1">
              <a:buFont typeface="Arial" pitchFamily="34" charset="0"/>
              <a:buChar char="•"/>
            </a:pPr>
            <a:r>
              <a:rPr lang="en-US" dirty="0" smtClean="0"/>
              <a:t> Greater the time between loss and reporting the loss, the less chance of recovery of the item</a:t>
            </a:r>
          </a:p>
          <a:p>
            <a:pPr lvl="1">
              <a:buFont typeface="Arial" pitchFamily="34" charset="0"/>
              <a:buChar char="•"/>
            </a:pPr>
            <a:r>
              <a:rPr lang="en-US" dirty="0" smtClean="0"/>
              <a:t> Be as specific as possible but be prepared for an ‘I don’t know’ answer</a:t>
            </a:r>
          </a:p>
          <a:p>
            <a:pPr lvl="0">
              <a:buFont typeface="Arial" pitchFamily="34" charset="0"/>
              <a:buChar char="•"/>
            </a:pPr>
            <a:r>
              <a:rPr lang="en-US" dirty="0" smtClean="0"/>
              <a:t> Obtain a full description of the item:</a:t>
            </a:r>
          </a:p>
          <a:p>
            <a:pPr lvl="1">
              <a:buFont typeface="Arial" pitchFamily="34" charset="0"/>
              <a:buChar char="•"/>
            </a:pPr>
            <a:r>
              <a:rPr lang="en-US" dirty="0" smtClean="0"/>
              <a:t> Covering details already identified as being necessary when recording a ‘found’ item</a:t>
            </a:r>
          </a:p>
          <a:p>
            <a:pPr lvl="1">
              <a:buFont typeface="Arial" pitchFamily="34" charset="0"/>
              <a:buChar char="•"/>
            </a:pPr>
            <a:r>
              <a:rPr lang="en-US" dirty="0" smtClean="0"/>
              <a:t> Obtain value of the item</a:t>
            </a:r>
          </a:p>
          <a:p>
            <a:pPr lvl="1">
              <a:buFont typeface="Arial" pitchFamily="34" charset="0"/>
              <a:buChar char="•"/>
            </a:pPr>
            <a:r>
              <a:rPr lang="en-US" dirty="0" smtClean="0"/>
              <a:t> Be prepared for the person who lost the item not to know details about the item they have lost even if they are basic details</a:t>
            </a:r>
          </a:p>
          <a:p>
            <a:pPr lvl="1">
              <a:buFont typeface="Arial" pitchFamily="34" charset="0"/>
              <a:buChar char="•"/>
            </a:pPr>
            <a:r>
              <a:rPr lang="en-US" dirty="0" smtClean="0"/>
              <a:t> Be prepared for the person to change details when making the report about the item, when it was lost, where it was lost, value</a:t>
            </a:r>
          </a:p>
          <a:p>
            <a:pPr lvl="0">
              <a:buFont typeface="Arial" pitchFamily="34" charset="0"/>
              <a:buChar char="•"/>
            </a:pPr>
            <a:r>
              <a:rPr lang="en-US" dirty="0" smtClean="0"/>
              <a:t> Obtain contact details to facilitate return of the item if</a:t>
            </a:r>
            <a:r>
              <a:rPr lang="en-US" baseline="0" dirty="0" smtClean="0"/>
              <a:t> and </a:t>
            </a:r>
            <a:r>
              <a:rPr lang="en-US" dirty="0" smtClean="0"/>
              <a:t>when found:</a:t>
            </a:r>
          </a:p>
          <a:p>
            <a:pPr lvl="1">
              <a:buFont typeface="Arial" pitchFamily="34" charset="0"/>
              <a:buChar char="•"/>
            </a:pPr>
            <a:r>
              <a:rPr lang="en-US" sz="1200" kern="1200" dirty="0" smtClean="0">
                <a:solidFill>
                  <a:schemeClr val="tx1"/>
                </a:solidFill>
                <a:ea typeface="+mn-ea"/>
                <a:cs typeface="+mn-cs"/>
              </a:rPr>
              <a:t> Cell phone number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Work telephone number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Home telephone number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Email address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Fax number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Street address of home/business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Post office box address.</a:t>
            </a:r>
            <a:endParaRPr lang="en-AU" sz="1200" kern="1200" dirty="0" smtClean="0">
              <a:solidFill>
                <a:schemeClr val="tx1"/>
              </a:solidFill>
              <a:ea typeface="+mn-ea"/>
              <a:cs typeface="+mn-cs"/>
            </a:endParaRPr>
          </a:p>
          <a:p>
            <a:pPr lvl="0">
              <a:buFont typeface="Arial" pitchFamily="34" charset="0"/>
              <a:buNone/>
            </a:pPr>
            <a:endParaRPr lang="en-US" dirty="0" smtClean="0"/>
          </a:p>
          <a:p>
            <a:pPr>
              <a:buFont typeface="Arial" pitchFamily="34" charset="0"/>
              <a:buNone/>
            </a:pPr>
            <a:r>
              <a:rPr lang="en-US" b="1" dirty="0" smtClean="0"/>
              <a:t>Class Activity – Exercise in Pairs</a:t>
            </a:r>
          </a:p>
          <a:p>
            <a:pPr>
              <a:buFont typeface="Arial" pitchFamily="34" charset="0"/>
              <a:buNone/>
            </a:pPr>
            <a:r>
              <a:rPr lang="en-US" b="0" dirty="0" smtClean="0"/>
              <a:t>Trainer:</a:t>
            </a:r>
          </a:p>
          <a:p>
            <a:pPr>
              <a:buFont typeface="Arial" pitchFamily="34" charset="0"/>
              <a:buChar char="•"/>
            </a:pPr>
            <a:r>
              <a:rPr lang="en-US" b="0" dirty="0" smtClean="0"/>
              <a:t> Obtains</a:t>
            </a:r>
            <a:r>
              <a:rPr lang="en-US" b="0" baseline="0" dirty="0" smtClean="0"/>
              <a:t> or </a:t>
            </a:r>
            <a:r>
              <a:rPr lang="en-US" b="0" dirty="0" smtClean="0"/>
              <a:t>produces ‘Lost item’ pages from a Lost and Found Register</a:t>
            </a:r>
          </a:p>
          <a:p>
            <a:pPr>
              <a:buFont typeface="Arial" pitchFamily="34" charset="0"/>
              <a:buChar char="•"/>
            </a:pPr>
            <a:r>
              <a:rPr lang="en-US" b="0" dirty="0" smtClean="0"/>
              <a:t> A variety of items to serve as the basis for making a lost report.</a:t>
            </a:r>
          </a:p>
          <a:p>
            <a:pPr>
              <a:buFont typeface="Arial" pitchFamily="34" charset="0"/>
              <a:buNone/>
            </a:pPr>
            <a:endParaRPr lang="en-US" b="0" dirty="0" smtClean="0"/>
          </a:p>
          <a:p>
            <a:pPr>
              <a:buFont typeface="Arial" pitchFamily="34" charset="0"/>
              <a:buNone/>
            </a:pPr>
            <a:r>
              <a:rPr lang="en-US" b="0" dirty="0" smtClean="0"/>
              <a:t>Trainer divides class into pairs and gives each pair two ‘Lost item’ pages and two ‘lost’ items. </a:t>
            </a:r>
          </a:p>
          <a:p>
            <a:pPr>
              <a:buFont typeface="Arial" pitchFamily="34" charset="0"/>
              <a:buChar char="•"/>
            </a:pPr>
            <a:r>
              <a:rPr lang="en-US" b="0" dirty="0" smtClean="0"/>
              <a:t> One trainee plays the role of a guest who has lost an item and is making a report about it.</a:t>
            </a:r>
            <a:r>
              <a:rPr lang="en-US" b="0" baseline="0" dirty="0" smtClean="0"/>
              <a:t> The other trainee plays the role of a staff member entering details of the loss into the Lost and Found Register</a:t>
            </a:r>
          </a:p>
          <a:p>
            <a:pPr>
              <a:buFont typeface="Arial" pitchFamily="34" charset="0"/>
              <a:buChar char="•"/>
            </a:pPr>
            <a:r>
              <a:rPr lang="en-US" b="0" baseline="0" dirty="0" smtClean="0"/>
              <a:t> Roles are then exchanged so both trainees have an opportunity to record a lost item in the Register</a:t>
            </a:r>
          </a:p>
          <a:p>
            <a:pPr>
              <a:buFont typeface="Arial" pitchFamily="34" charset="0"/>
              <a:buChar char="•"/>
            </a:pPr>
            <a:r>
              <a:rPr lang="en-US" b="0" baseline="0" dirty="0" smtClean="0"/>
              <a:t> Trainer reviews each entry providing feedback on the accuracy or appropriateness of each entry.</a:t>
            </a: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11793972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ea typeface="+mn-ea"/>
                <a:cs typeface="+mn-cs"/>
              </a:rPr>
              <a:t>Trainer states to trainees that once a found item has been recorded in the Lost and Found register, the item will be tagged using a Lost and Found Tag/Slip explaining: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ea typeface="+mn-ea"/>
                <a:cs typeface="+mn-cs"/>
              </a:rPr>
              <a:t> A purpose-designed Lost and Found Tag/Slip is used.</a:t>
            </a:r>
            <a:r>
              <a:rPr lang="en-US" sz="1200" kern="1200" baseline="0" dirty="0" smtClean="0">
                <a:solidFill>
                  <a:schemeClr val="tx1"/>
                </a:solidFill>
                <a:ea typeface="+mn-ea"/>
                <a:cs typeface="+mn-cs"/>
              </a:rPr>
              <a:t> O</a:t>
            </a:r>
            <a:r>
              <a:rPr lang="en-US" sz="1200" kern="1200" dirty="0" smtClean="0">
                <a:solidFill>
                  <a:schemeClr val="tx1"/>
                </a:solidFill>
                <a:ea typeface="+mn-ea"/>
                <a:cs typeface="+mn-cs"/>
              </a:rPr>
              <a:t>ne tag is used per item.</a:t>
            </a:r>
            <a:r>
              <a:rPr lang="en-US" sz="1200" kern="1200" baseline="0" dirty="0" smtClean="0">
                <a:solidFill>
                  <a:schemeClr val="tx1"/>
                </a:solidFill>
                <a:ea typeface="+mn-ea"/>
                <a:cs typeface="+mn-cs"/>
              </a:rPr>
              <a:t> E</a:t>
            </a:r>
            <a:r>
              <a:rPr lang="en-US" sz="1200" kern="1200" dirty="0" smtClean="0">
                <a:solidFill>
                  <a:schemeClr val="tx1"/>
                </a:solidFill>
                <a:ea typeface="+mn-ea"/>
                <a:cs typeface="+mn-cs"/>
              </a:rPr>
              <a:t>ach tag will have an individual item number as stated in the Register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ea typeface="+mn-ea"/>
                <a:cs typeface="+mn-cs"/>
              </a:rPr>
              <a:t> Tag is attached to the item using,</a:t>
            </a:r>
            <a:r>
              <a:rPr lang="en-US" sz="1200" kern="1200" baseline="0" dirty="0" smtClean="0">
                <a:solidFill>
                  <a:schemeClr val="tx1"/>
                </a:solidFill>
                <a:ea typeface="+mn-ea"/>
                <a:cs typeface="+mn-cs"/>
              </a:rPr>
              <a:t> f</a:t>
            </a:r>
            <a:r>
              <a:rPr lang="en-US" sz="1200" kern="1200" dirty="0" smtClean="0">
                <a:solidFill>
                  <a:schemeClr val="tx1"/>
                </a:solidFill>
                <a:ea typeface="+mn-ea"/>
                <a:cs typeface="+mn-cs"/>
              </a:rPr>
              <a:t>or example, adhesive tape, string, elastic band as appropriate for the nature of the item.</a:t>
            </a:r>
            <a:r>
              <a:rPr lang="en-US" sz="1200" kern="1200" baseline="0" dirty="0" smtClean="0">
                <a:solidFill>
                  <a:schemeClr val="tx1"/>
                </a:solidFill>
                <a:ea typeface="+mn-ea"/>
                <a:cs typeface="+mn-cs"/>
              </a:rPr>
              <a:t> C</a:t>
            </a:r>
            <a:r>
              <a:rPr lang="en-US" sz="1200" kern="1200" dirty="0" smtClean="0">
                <a:solidFill>
                  <a:schemeClr val="tx1"/>
                </a:solidFill>
                <a:ea typeface="+mn-ea"/>
                <a:cs typeface="+mn-cs"/>
              </a:rPr>
              <a:t>are must be taken to ensure attaching the tag does not cause damage to the item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ea typeface="+mn-ea"/>
                <a:cs typeface="+mn-cs"/>
              </a:rPr>
              <a:t> Tag details must reflect details for</a:t>
            </a:r>
            <a:r>
              <a:rPr lang="en-US" sz="1200" kern="1200" baseline="0" dirty="0" smtClean="0">
                <a:solidFill>
                  <a:schemeClr val="tx1"/>
                </a:solidFill>
                <a:ea typeface="+mn-ea"/>
                <a:cs typeface="+mn-cs"/>
              </a:rPr>
              <a:t> the item as entered in to the Lost and Found Register to enable correct identification of each item and avoid situations where the wrong item is retrieved from storage and presented or returned to a claimant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 Tag is filled in at the same time  or just after the Lost and Found Register is completed and before the item is physically taken to or stored in the Lost and Found facility.</a:t>
            </a:r>
            <a:endParaRPr lang="en-US"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kern="1200" dirty="0" smtClean="0">
                <a:solidFill>
                  <a:schemeClr val="tx1"/>
                </a:solidFill>
                <a:ea typeface="+mn-ea"/>
                <a:cs typeface="+mn-cs"/>
              </a:rPr>
              <a:t>Class</a:t>
            </a:r>
            <a:r>
              <a:rPr lang="en-US" sz="1200" b="1" kern="1200" baseline="0" dirty="0" smtClean="0">
                <a:solidFill>
                  <a:schemeClr val="tx1"/>
                </a:solidFill>
                <a:ea typeface="+mn-ea"/>
                <a:cs typeface="+mn-cs"/>
              </a:rPr>
              <a:t> Activity – Individual Exercise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kern="1200" baseline="0" dirty="0" smtClean="0">
                <a:solidFill>
                  <a:schemeClr val="tx1"/>
                </a:solidFill>
                <a:ea typeface="+mn-ea"/>
                <a:cs typeface="+mn-cs"/>
              </a:rPr>
              <a:t>Trainer provides each trainee with a Lost and Found Tag/Slip (see Trainee Manual) and an ‘item’ and: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ea typeface="+mn-ea"/>
                <a:cs typeface="+mn-cs"/>
              </a:rPr>
              <a:t> Discusses the sections on the Tag/Slip that need to be completed giving sample details that could be included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ea typeface="+mn-ea"/>
                <a:cs typeface="+mn-cs"/>
              </a:rPr>
              <a:t> Asks trainees to complete a Tag for the item they have been given.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9463729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ea typeface="+mn-ea"/>
                <a:cs typeface="+mn-cs"/>
              </a:rPr>
              <a:t>Trainer explains to trainees that following tagging of found items, items must be stored highlighting: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 Perishable foods are held under refrigeration for 24 – 48 hours according to the item and/or house policy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 Valuable items are stored in secure storage to protect against theft/loss. Options can include:</a:t>
            </a:r>
          </a:p>
          <a:p>
            <a:pPr lvl="1">
              <a:buFont typeface="Arial" pitchFamily="34" charset="0"/>
              <a:buChar char="•"/>
            </a:pPr>
            <a:r>
              <a:rPr lang="en-US" sz="1200" kern="1200" dirty="0" smtClean="0">
                <a:solidFill>
                  <a:schemeClr val="tx1"/>
                </a:solidFill>
                <a:ea typeface="+mn-ea"/>
                <a:cs typeface="+mn-cs"/>
              </a:rPr>
              <a:t> In a locked room – designated shelves in a room/cupboard may be allocated to ‘lost property’</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In a locked drawer or cupboard – designated cabinets, cupboards or drawers may be allocated specifically for the storage of found items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In a safe</a:t>
            </a:r>
          </a:p>
          <a:p>
            <a:pPr lvl="0">
              <a:buFont typeface="Arial" pitchFamily="34" charset="0"/>
              <a:buChar char="•"/>
            </a:pPr>
            <a:r>
              <a:rPr lang="en-AU" sz="1200" kern="1200" dirty="0" smtClean="0">
                <a:solidFill>
                  <a:schemeClr val="tx1"/>
                </a:solidFill>
                <a:ea typeface="+mn-ea"/>
                <a:cs typeface="+mn-cs"/>
              </a:rPr>
              <a:t> Non-valuable items are stored in a range of places:</a:t>
            </a:r>
          </a:p>
          <a:p>
            <a:pPr lvl="1">
              <a:buFont typeface="Arial" pitchFamily="34" charset="0"/>
              <a:buChar char="•"/>
            </a:pPr>
            <a:r>
              <a:rPr lang="en-AU" sz="1200" kern="1200" dirty="0" smtClean="0">
                <a:solidFill>
                  <a:schemeClr val="tx1"/>
                </a:solidFill>
                <a:ea typeface="+mn-ea"/>
                <a:cs typeface="+mn-cs"/>
              </a:rPr>
              <a:t> Same place as for valuable items</a:t>
            </a:r>
          </a:p>
          <a:p>
            <a:pPr lvl="1">
              <a:buFont typeface="Arial" pitchFamily="34" charset="0"/>
              <a:buChar char="•"/>
            </a:pPr>
            <a:r>
              <a:rPr lang="en-AU" sz="1200" kern="1200" dirty="0" smtClean="0">
                <a:solidFill>
                  <a:schemeClr val="tx1"/>
                </a:solidFill>
                <a:ea typeface="+mn-ea"/>
                <a:cs typeface="+mn-cs"/>
              </a:rPr>
              <a:t> </a:t>
            </a:r>
            <a:r>
              <a:rPr lang="en-US" sz="1200" kern="1200" dirty="0" smtClean="0">
                <a:solidFill>
                  <a:schemeClr val="tx1"/>
                </a:solidFill>
                <a:ea typeface="+mn-ea"/>
                <a:cs typeface="+mn-cs"/>
              </a:rPr>
              <a:t>General-purpose cupboards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Shelves used for other stock</a:t>
            </a:r>
            <a:r>
              <a:rPr lang="en-US" sz="1200" kern="1200" baseline="0" dirty="0" smtClean="0">
                <a:solidFill>
                  <a:schemeClr val="tx1"/>
                </a:solidFill>
                <a:ea typeface="+mn-ea"/>
                <a:cs typeface="+mn-cs"/>
              </a:rPr>
              <a:t> or other </a:t>
            </a:r>
            <a:r>
              <a:rPr lang="en-US" sz="1200" kern="1200" dirty="0" smtClean="0">
                <a:solidFill>
                  <a:schemeClr val="tx1"/>
                </a:solidFill>
                <a:ea typeface="+mn-ea"/>
                <a:cs typeface="+mn-cs"/>
              </a:rPr>
              <a:t>purposes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On the floor in store rooms and offices.</a:t>
            </a:r>
            <a:endParaRPr lang="en-AU" sz="1200" kern="1200" dirty="0" smtClean="0">
              <a:solidFill>
                <a:schemeClr val="tx1"/>
              </a:solidFill>
              <a:ea typeface="+mn-ea"/>
              <a:cs typeface="+mn-cs"/>
            </a:endParaRPr>
          </a:p>
          <a:p>
            <a:pPr lvl="1">
              <a:buFont typeface="Arial" pitchFamily="34" charset="0"/>
              <a:buChar cha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32849528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explains to trainees there is no legal requirements regarding the type</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nature of storage facilities for found items but regardless of what method</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facilities are used to store found items the primary requirements are: </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They can be recovered accurately and quickly when a query or claim is made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They are stored safely to protect them from damage and theft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There is limited access to the area or items from staff and customers/guests.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175886257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points for trainees to note regarding dealing with various ‘found’ items:</a:t>
            </a:r>
          </a:p>
          <a:p>
            <a:pPr>
              <a:buFont typeface="Arial" pitchFamily="34" charset="0"/>
              <a:buChar char="•"/>
            </a:pPr>
            <a:r>
              <a:rPr lang="en-US" dirty="0" smtClean="0"/>
              <a:t> Perishable food items.</a:t>
            </a:r>
            <a:r>
              <a:rPr lang="en-US" baseline="0" dirty="0" smtClean="0"/>
              <a:t> T</a:t>
            </a:r>
            <a:r>
              <a:rPr lang="en-US" dirty="0" smtClean="0"/>
              <a:t>here are </a:t>
            </a:r>
            <a:r>
              <a:rPr lang="en-AU" sz="1200" kern="1200" dirty="0" smtClean="0">
                <a:solidFill>
                  <a:schemeClr val="tx1"/>
                </a:solidFill>
                <a:ea typeface="+mn-ea"/>
                <a:cs typeface="+mn-cs"/>
              </a:rPr>
              <a:t>two options commonly available:</a:t>
            </a:r>
          </a:p>
          <a:p>
            <a:pPr lvl="1">
              <a:buFont typeface="Arial" pitchFamily="34" charset="0"/>
              <a:buChar char="•"/>
            </a:pPr>
            <a:r>
              <a:rPr lang="en-AU" sz="1200" kern="1200" dirty="0" smtClean="0">
                <a:solidFill>
                  <a:schemeClr val="tx1"/>
                </a:solidFill>
                <a:ea typeface="+mn-ea"/>
                <a:cs typeface="+mn-cs"/>
              </a:rPr>
              <a:t> The first option is staff and this is usually housekeeping staff/Room Attendants have discretionary powers to deal with any perishable food they find. This food may include leftover takeaway foods, a few biscuits in an open packet, or a couple of slices of cheese, a tomato and some slices of bread. Using their discretion, staff may elect – if the room is a departing room – to throw out such items. Naturally the food would be left there is the room was a 'stay' room</a:t>
            </a:r>
          </a:p>
          <a:p>
            <a:pPr lvl="1">
              <a:buFont typeface="Arial" pitchFamily="34" charset="0"/>
              <a:buChar char="•"/>
            </a:pPr>
            <a:r>
              <a:rPr lang="en-AU" sz="1200" kern="1200" dirty="0" smtClean="0">
                <a:solidFill>
                  <a:schemeClr val="tx1"/>
                </a:solidFill>
                <a:ea typeface="+mn-ea"/>
                <a:cs typeface="+mn-cs"/>
              </a:rPr>
              <a:t>The second option is the Standard Operating Procedure requiring all staff to take all found perishable food to the Executive Housekeeper's Office, and to allow them to make the decision.</a:t>
            </a:r>
          </a:p>
          <a:p>
            <a:pPr>
              <a:buFont typeface="Arial" pitchFamily="34" charset="0"/>
              <a:buChar char="•"/>
            </a:pPr>
            <a:endParaRPr lang="en-US" dirty="0" smtClean="0"/>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88236991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points for trainees to note regarding dealing with various ‘found’ items:</a:t>
            </a:r>
          </a:p>
          <a:p>
            <a:pPr>
              <a:buFont typeface="Arial" pitchFamily="34" charset="0"/>
              <a:buChar char="•"/>
            </a:pPr>
            <a:r>
              <a:rPr lang="en-US" dirty="0" smtClean="0"/>
              <a:t> Liquor/beverages</a:t>
            </a:r>
            <a:r>
              <a:rPr lang="en-AU" sz="1200" kern="1200" dirty="0" smtClean="0">
                <a:solidFill>
                  <a:schemeClr val="tx1"/>
                </a:solidFill>
                <a:ea typeface="+mn-ea"/>
                <a:cs typeface="+mn-cs"/>
              </a:rPr>
              <a:t>:</a:t>
            </a:r>
          </a:p>
          <a:p>
            <a:pPr lvl="1">
              <a:buFont typeface="Arial" pitchFamily="34" charset="0"/>
              <a:buChar char="•"/>
            </a:pPr>
            <a:r>
              <a:rPr lang="en-AU" sz="1200" kern="1200" dirty="0" smtClean="0">
                <a:solidFill>
                  <a:schemeClr val="tx1"/>
                </a:solidFill>
                <a:ea typeface="+mn-ea"/>
                <a:cs typeface="+mn-cs"/>
              </a:rPr>
              <a:t> Unopened containers (bottles, cans) are logged in the Lost and Found Register</a:t>
            </a:r>
          </a:p>
          <a:p>
            <a:pPr lvl="1">
              <a:buFont typeface="Arial" pitchFamily="34" charset="0"/>
              <a:buChar char="•"/>
            </a:pPr>
            <a:r>
              <a:rPr lang="en-AU" sz="1200" kern="1200" dirty="0" smtClean="0">
                <a:solidFill>
                  <a:schemeClr val="tx1"/>
                </a:solidFill>
                <a:ea typeface="+mn-ea"/>
                <a:cs typeface="+mn-cs"/>
              </a:rPr>
              <a:t> Unopened liquor is treated as a ‘valuable’ item.</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hat is, it is not subject to the 24/48 hour holding time</a:t>
            </a:r>
          </a:p>
          <a:p>
            <a:pPr lvl="1">
              <a:buFont typeface="Arial" pitchFamily="34" charset="0"/>
              <a:buChar char="•"/>
            </a:pPr>
            <a:r>
              <a:rPr lang="en-AU" sz="1200" kern="1200" dirty="0" smtClean="0">
                <a:solidFill>
                  <a:schemeClr val="tx1"/>
                </a:solidFill>
                <a:ea typeface="+mn-ea"/>
                <a:cs typeface="+mn-cs"/>
              </a:rPr>
              <a:t> Opened beverages must never be consumed as the contents may contain contaminants</a:t>
            </a:r>
          </a:p>
          <a:p>
            <a:pPr lvl="1">
              <a:buFont typeface="Arial" pitchFamily="34" charset="0"/>
              <a:buChar char="•"/>
            </a:pPr>
            <a:r>
              <a:rPr lang="en-AU" sz="1200" kern="1200" dirty="0" smtClean="0">
                <a:solidFill>
                  <a:schemeClr val="tx1"/>
                </a:solidFill>
                <a:ea typeface="+mn-ea"/>
                <a:cs typeface="+mn-cs"/>
              </a:rPr>
              <a:t> Unopened liquor may be stored in a liquor area.</a:t>
            </a:r>
            <a:r>
              <a:rPr lang="en-AU" sz="1200" kern="1200" baseline="0" dirty="0" smtClean="0">
                <a:solidFill>
                  <a:schemeClr val="tx1"/>
                </a:solidFill>
                <a:ea typeface="+mn-ea"/>
                <a:cs typeface="+mn-cs"/>
              </a:rPr>
              <a:t> O</a:t>
            </a:r>
            <a:r>
              <a:rPr lang="en-AU" sz="1200" kern="1200" dirty="0" smtClean="0">
                <a:solidFill>
                  <a:schemeClr val="tx1"/>
                </a:solidFill>
                <a:ea typeface="+mn-ea"/>
                <a:cs typeface="+mn-cs"/>
              </a:rPr>
              <a:t>pened liquor is commonly stored in ‘normal’ Lost and Found location</a:t>
            </a:r>
          </a:p>
          <a:p>
            <a:pPr lvl="1">
              <a:buFont typeface="Arial" pitchFamily="34" charset="0"/>
              <a:buChar char="•"/>
            </a:pPr>
            <a:r>
              <a:rPr lang="en-AU" sz="1200" kern="1200" dirty="0" smtClean="0">
                <a:solidFill>
                  <a:schemeClr val="tx1"/>
                </a:solidFill>
                <a:ea typeface="+mn-ea"/>
                <a:cs typeface="+mn-cs"/>
              </a:rPr>
              <a:t> Where Housekeeping staff find an opened perishable beverage in a departing room, standard practice is for them to be allowed to throw the item out as opposed to treating it as a ‘found’ item.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31740394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ea typeface="+mn-ea"/>
                <a:cs typeface="+mn-cs"/>
              </a:rPr>
              <a:t>Trainer advises trainees the intention of having a Lost and Found facility is to re-unite property with legitimate owners so when an item is found most properties will:</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ea typeface="+mn-ea"/>
                <a:cs typeface="+mn-cs"/>
              </a:rPr>
              <a:t> Contact an owner immediately and forward found ‘valuable’ items to them (or make arrangements for return) if the venue/staff know who they are and/or if the person is staying in the house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ea typeface="+mn-ea"/>
                <a:cs typeface="+mn-cs"/>
              </a:rPr>
              <a:t> Always take into account the nature</a:t>
            </a:r>
            <a:r>
              <a:rPr lang="en-US" sz="1200" kern="1200" baseline="0" dirty="0" smtClean="0">
                <a:solidFill>
                  <a:schemeClr val="tx1"/>
                </a:solidFill>
                <a:ea typeface="+mn-ea"/>
                <a:cs typeface="+mn-cs"/>
              </a:rPr>
              <a:t> of the found item. For example, the venue will notify the known loser of the item if the item is a passport, wallet, camera, cell phone or similar (a valuable item) but would not make contact with the guest if the item was, say, an item of lingerie or an item of a ‘sensitive’ nature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 Use tact and discretion to avoid causing embarrassment or problems for the guest/person whose item it is</a:t>
            </a:r>
            <a:r>
              <a:rPr lang="en-US" sz="1200" kern="1200" dirty="0" smtClean="0">
                <a:solidFill>
                  <a:schemeClr val="tx1"/>
                </a:solidFill>
                <a:ea typeface="+mn-ea"/>
                <a:cs typeface="+mn-cs"/>
              </a:rPr>
              <a:t>.</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26562490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suggests to trainees that identifying</a:t>
            </a:r>
            <a:r>
              <a:rPr lang="en-US" baseline="0" dirty="0" smtClean="0"/>
              <a:t> the owner of a found item will often depend on where the item was found and the type of item, presenting:</a:t>
            </a:r>
          </a:p>
          <a:p>
            <a:pPr>
              <a:buFont typeface="Arial" pitchFamily="34" charset="0"/>
              <a:buChar char="•"/>
            </a:pPr>
            <a:r>
              <a:rPr lang="en-US" baseline="0" dirty="0" smtClean="0"/>
              <a:t> Looking inside the item (bag, passport, wallet, suitcase or similar) will often identify the person to whom the item belongs. Sometimes a name is on the outside of items</a:t>
            </a:r>
          </a:p>
          <a:p>
            <a:pPr>
              <a:buFont typeface="Arial" pitchFamily="34" charset="0"/>
              <a:buChar char="•"/>
            </a:pPr>
            <a:r>
              <a:rPr lang="en-US" baseline="0" dirty="0" smtClean="0"/>
              <a:t> Checking internal Room History details for items found in a departed guest room, or found in a check-in room by a new guest. This will give an address and/or contact number </a:t>
            </a:r>
          </a:p>
          <a:p>
            <a:pPr>
              <a:buFont typeface="Arial" pitchFamily="34" charset="0"/>
              <a:buChar char="•"/>
            </a:pPr>
            <a:r>
              <a:rPr lang="en-US" baseline="0" dirty="0" smtClean="0"/>
              <a:t> Reviewing the Reservation details for a dining outlet when an item has been found in a dining room to determine if a contact number for the party at the table where the item was found was obtained when the booking was made.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668899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explains to trainees that immediate action when an item has been found and the owner is known will depend on the item and establishment policies and may entail:</a:t>
            </a:r>
          </a:p>
          <a:p>
            <a:pPr>
              <a:buFont typeface="Arial" pitchFamily="34" charset="0"/>
              <a:buNone/>
            </a:pPr>
            <a:r>
              <a:rPr lang="en-US" b="1" i="1" baseline="0" dirty="0" smtClean="0"/>
              <a:t>Where owner is still in-house</a:t>
            </a:r>
          </a:p>
          <a:p>
            <a:pPr>
              <a:buFont typeface="Arial" pitchFamily="34" charset="0"/>
              <a:buChar char="•"/>
            </a:pPr>
            <a:r>
              <a:rPr lang="en-US" sz="1200" kern="1200" dirty="0" smtClean="0">
                <a:solidFill>
                  <a:schemeClr val="tx1"/>
                </a:solidFill>
                <a:ea typeface="+mn-ea"/>
                <a:cs typeface="+mn-cs"/>
              </a:rPr>
              <a:t> Contact the occupier of the room first by internal telephone or internal/in-room messaging system where the guest is still resident in the property</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Determine if they want the item returned.</a:t>
            </a:r>
            <a:r>
              <a:rPr lang="en-US" sz="1200" kern="1200" baseline="0" dirty="0" smtClean="0">
                <a:solidFill>
                  <a:schemeClr val="tx1"/>
                </a:solidFill>
                <a:ea typeface="+mn-ea"/>
                <a:cs typeface="+mn-cs"/>
              </a:rPr>
              <a:t> A</a:t>
            </a:r>
            <a:r>
              <a:rPr lang="en-US" sz="1200" kern="1200" dirty="0" smtClean="0">
                <a:solidFill>
                  <a:schemeClr val="tx1"/>
                </a:solidFill>
                <a:ea typeface="+mn-ea"/>
                <a:cs typeface="+mn-cs"/>
              </a:rPr>
              <a:t>sk the guest what they would like done with the item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Agree on arrangements for the return of the item, where applicable.</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may include them coming to reception to collect the item, or a porter taking it to their room.</a:t>
            </a:r>
            <a:endParaRPr lang="en-AU" sz="1200" kern="1200" dirty="0" smtClean="0">
              <a:solidFill>
                <a:schemeClr val="tx1"/>
              </a:solidFill>
              <a:ea typeface="+mn-ea"/>
              <a:cs typeface="+mn-cs"/>
            </a:endParaRPr>
          </a:p>
          <a:p>
            <a:pPr>
              <a:buFont typeface="Arial" pitchFamily="34" charset="0"/>
              <a:buNone/>
            </a:pPr>
            <a:endParaRPr lang="en-US" b="0" i="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88941580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 trainees that where the owner of an item is known but is not in-house (for example, they have checked</a:t>
            </a:r>
            <a:r>
              <a:rPr lang="en-US" baseline="0" dirty="0" smtClean="0"/>
              <a:t> out) the protocols include:</a:t>
            </a:r>
          </a:p>
          <a:p>
            <a:pPr>
              <a:buFont typeface="Arial" pitchFamily="34" charset="0"/>
              <a:buChar char="•"/>
            </a:pPr>
            <a:r>
              <a:rPr lang="en-US" baseline="0" dirty="0" smtClean="0"/>
              <a:t> Ring their cell phone – not their home phone or business number</a:t>
            </a:r>
          </a:p>
          <a:p>
            <a:pPr>
              <a:buFont typeface="Arial" pitchFamily="34" charset="0"/>
              <a:buChar char="•"/>
            </a:pPr>
            <a:r>
              <a:rPr lang="en-US" baseline="0" dirty="0" smtClean="0"/>
              <a:t> Never send an email or other hard copy correspondence: this may fall into the wrong hands and cause difficulties or embarrassment</a:t>
            </a:r>
          </a:p>
          <a:p>
            <a:pPr>
              <a:buFont typeface="Arial" pitchFamily="34" charset="0"/>
              <a:buChar char="•"/>
            </a:pPr>
            <a:r>
              <a:rPr lang="en-US" baseline="0" dirty="0" smtClean="0"/>
              <a:t> Advise of the item found and the belief it is theirs and determine if the item can be thrown out or if they want it returned</a:t>
            </a:r>
          </a:p>
          <a:p>
            <a:pPr>
              <a:buFont typeface="Arial" pitchFamily="34" charset="0"/>
              <a:buChar char="•"/>
            </a:pPr>
            <a:r>
              <a:rPr lang="en-US" baseline="0" dirty="0" smtClean="0"/>
              <a:t> Make arrangements for return of the item if required. This may involve guest coming in to collect it, or require the venue sending it to the owner, subject to agreement by the guest to pay delivery/return charges. Commonly only the actual costs incurred in remitting the item are recovered from the guest </a:t>
            </a:r>
          </a:p>
          <a:p>
            <a:pPr>
              <a:buFont typeface="Arial" pitchFamily="34" charset="0"/>
              <a:buChar char="•"/>
            </a:pPr>
            <a:r>
              <a:rPr lang="en-US" baseline="0" dirty="0" smtClean="0"/>
              <a:t> Options for returning items will depend on size of the item, value and instructions from the guest:</a:t>
            </a:r>
          </a:p>
          <a:p>
            <a:pPr lvl="1">
              <a:buFont typeface="Arial" pitchFamily="34" charset="0"/>
              <a:buChar char="•"/>
            </a:pPr>
            <a:r>
              <a:rPr lang="en-US" sz="1200" kern="1200" dirty="0" smtClean="0">
                <a:solidFill>
                  <a:schemeClr val="tx1"/>
                </a:solidFill>
                <a:ea typeface="+mn-ea"/>
                <a:cs typeface="+mn-cs"/>
              </a:rPr>
              <a:t> Physically taking the item to the guest in their room or wherever in the venue they happen to be at the time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Sending the item through the mail </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Using a courier to deliver the item</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Arrangements for the owner (or a</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nominated person) to collect the item</a:t>
            </a:r>
            <a:endParaRPr lang="en-AU" sz="1200" kern="1200" dirty="0" smtClean="0">
              <a:solidFill>
                <a:schemeClr val="tx1"/>
              </a:solidFill>
              <a:ea typeface="+mn-ea"/>
              <a:cs typeface="+mn-cs"/>
            </a:endParaRPr>
          </a:p>
          <a:p>
            <a:pPr lvl="0">
              <a:buFont typeface="Arial" pitchFamily="34" charset="0"/>
              <a:buChar char="•"/>
            </a:pPr>
            <a:r>
              <a:rPr lang="en-US" dirty="0" smtClean="0"/>
              <a:t> The Lost and Found Register is updated to reflect any action taken regarding contact with the owner of the item.</a:t>
            </a:r>
            <a:r>
              <a:rPr lang="en-US" baseline="0" dirty="0" smtClean="0"/>
              <a:t> T</a:t>
            </a:r>
            <a:r>
              <a:rPr lang="en-US" dirty="0" smtClean="0"/>
              <a:t>heir instructions regarding the items and action taken to return or</a:t>
            </a:r>
            <a:r>
              <a:rPr lang="en-US" baseline="0" dirty="0" smtClean="0"/>
              <a:t> dispose of the item and receipts appropriate to forwarding the item may be attached to the Lost and Found Register (or a designated file).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155456532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informs trainees that</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the job of physically returning a found item to a guest can be the responsibility of a variety of workers.</a:t>
            </a:r>
            <a:r>
              <a:rPr lang="en-US" sz="1200" kern="1200" baseline="0" dirty="0" smtClean="0">
                <a:solidFill>
                  <a:schemeClr val="tx1"/>
                </a:solidFill>
                <a:ea typeface="+mn-ea"/>
                <a:cs typeface="+mn-cs"/>
              </a:rPr>
              <a:t> S</a:t>
            </a:r>
            <a:r>
              <a:rPr lang="en-US" sz="1200" kern="1200" dirty="0" smtClean="0">
                <a:solidFill>
                  <a:schemeClr val="tx1"/>
                </a:solidFill>
                <a:ea typeface="+mn-ea"/>
                <a:cs typeface="+mn-cs"/>
              </a:rPr>
              <a:t>taff responsible for returning found items to guests/customers will depend on:</a:t>
            </a:r>
          </a:p>
          <a:p>
            <a:pPr>
              <a:buFont typeface="Arial" pitchFamily="34" charset="0"/>
              <a:buChar char="•"/>
            </a:pPr>
            <a:r>
              <a:rPr lang="en-US" sz="1200" kern="1200" dirty="0" smtClean="0">
                <a:solidFill>
                  <a:schemeClr val="tx1"/>
                </a:solidFill>
                <a:ea typeface="+mn-ea"/>
                <a:cs typeface="+mn-cs"/>
              </a:rPr>
              <a:t> The individual venue itself:</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The type of establishment where the item was found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The size of the operation</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The structure of the business and the different roles within it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Where the item was found.</a:t>
            </a:r>
            <a:r>
              <a:rPr lang="en-US" sz="1200" kern="1200" baseline="0" dirty="0" smtClean="0">
                <a:solidFill>
                  <a:schemeClr val="tx1"/>
                </a:solidFill>
                <a:ea typeface="+mn-ea"/>
                <a:cs typeface="+mn-cs"/>
              </a:rPr>
              <a:t> I</a:t>
            </a:r>
            <a:r>
              <a:rPr lang="en-US" sz="1200" kern="1200" dirty="0" smtClean="0">
                <a:solidFill>
                  <a:schemeClr val="tx1"/>
                </a:solidFill>
                <a:ea typeface="+mn-ea"/>
                <a:cs typeface="+mn-cs"/>
              </a:rPr>
              <a:t>f the owner can be identified and notified quickly, the finder may be responsible for the immediate return of the item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Where the owner is,</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hat is:</a:t>
            </a:r>
          </a:p>
          <a:p>
            <a:pPr lvl="1">
              <a:buFont typeface="Arial" pitchFamily="34" charset="0"/>
              <a:buChar char="•"/>
            </a:pPr>
            <a:r>
              <a:rPr lang="en-US" sz="1200" kern="1200" dirty="0" smtClean="0">
                <a:solidFill>
                  <a:schemeClr val="tx1"/>
                </a:solidFill>
                <a:ea typeface="+mn-ea"/>
                <a:cs typeface="+mn-cs"/>
              </a:rPr>
              <a:t> Whether the item is to be returned to a guest/customer who is on the premises and,</a:t>
            </a:r>
            <a:r>
              <a:rPr lang="en-US" sz="1200" kern="1200" baseline="0" dirty="0" smtClean="0">
                <a:solidFill>
                  <a:schemeClr val="tx1"/>
                </a:solidFill>
                <a:ea typeface="+mn-ea"/>
                <a:cs typeface="+mn-cs"/>
              </a:rPr>
              <a:t> for example, simply needs to be taken to a room</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Whether the item needs to be forwarded locally, nationally or internationally and requires payment of money, insurance, packing and arrangements for pick-up</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Special arrangements</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requests made by the owner – for example, insisting the item is air-freighted to them.</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38674935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Staff with this responsibility can therefore range from management/owner-level through to basic operational staff, and include: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Housekeeping staff – Floor Supervisors are commonly involved in this task</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Concierge – the ‘Information Desk’ at the venue must always be notified about items that have been found in a hotel as many guests make this desk their first pointy of contact</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enquiry</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Porters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Security staff</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General assistants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Sales and service staff</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Reception</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front office staff.</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94246773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explains to trainees that when processing the return of a found item to a guest/customer it is vital to:</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Work quickly.</a:t>
            </a:r>
            <a:r>
              <a:rPr lang="en-US" sz="1200" kern="1200" baseline="0" dirty="0" smtClean="0">
                <a:solidFill>
                  <a:schemeClr val="tx1"/>
                </a:solidFill>
                <a:ea typeface="+mn-ea"/>
                <a:cs typeface="+mn-cs"/>
              </a:rPr>
              <a:t> O</a:t>
            </a:r>
            <a:r>
              <a:rPr lang="en-US" sz="1200" kern="1200" dirty="0" smtClean="0">
                <a:solidFill>
                  <a:schemeClr val="tx1"/>
                </a:solidFill>
                <a:ea typeface="+mn-ea"/>
                <a:cs typeface="+mn-cs"/>
              </a:rPr>
              <a:t>nce the guest/customer has been advised their item has been found they will be expecting prompt service to return it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Double-check the correct item is being sent</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forwarded.</a:t>
            </a:r>
            <a:r>
              <a:rPr lang="en-US" sz="1200" kern="1200" baseline="0" dirty="0" smtClean="0">
                <a:solidFill>
                  <a:schemeClr val="tx1"/>
                </a:solidFill>
                <a:ea typeface="+mn-ea"/>
                <a:cs typeface="+mn-cs"/>
              </a:rPr>
              <a:t> R</a:t>
            </a:r>
            <a:r>
              <a:rPr lang="en-US" sz="1200" kern="1200" dirty="0" smtClean="0">
                <a:solidFill>
                  <a:schemeClr val="tx1"/>
                </a:solidFill>
                <a:ea typeface="+mn-ea"/>
                <a:cs typeface="+mn-cs"/>
              </a:rPr>
              <a:t>ead the tag/slip, and check this against the Lost and Found Register</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Take care.</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reat the item with respect and care when packaging it for delivery</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Update the Lost and Found Register  to reflect what has occurred in relation to return of the item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Keep receipts relating to delivery of the item to support charges levied on the owner, and as proof the item was sent, when it was sent and how it was sent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Ensure the maintenance of guest privacy is maintained in relation to the item itself, their contact details.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23095989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tells trainees where another staff member will take responsibility for the return of an item, they can be informed about requirements</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arrangements using the following options: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Face</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to-</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ace on a one</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on</a:t>
            </a:r>
            <a:r>
              <a:rPr lang="en-US" sz="1200" kern="1200" baseline="0" dirty="0" smtClean="0">
                <a:solidFill>
                  <a:schemeClr val="tx1"/>
                </a:solidFill>
                <a:ea typeface="+mn-ea"/>
                <a:cs typeface="+mn-cs"/>
              </a:rPr>
              <a:t> o</a:t>
            </a:r>
            <a:r>
              <a:rPr lang="en-US" sz="1200" kern="1200" dirty="0" smtClean="0">
                <a:solidFill>
                  <a:schemeClr val="tx1"/>
                </a:solidFill>
                <a:ea typeface="+mn-ea"/>
                <a:cs typeface="+mn-cs"/>
              </a:rPr>
              <a:t>ne basis.</a:t>
            </a:r>
            <a:r>
              <a:rPr lang="en-US" sz="1200" kern="1200" baseline="0" dirty="0" smtClean="0">
                <a:solidFill>
                  <a:schemeClr val="tx1"/>
                </a:solidFill>
                <a:ea typeface="+mn-ea"/>
                <a:cs typeface="+mn-cs"/>
              </a:rPr>
              <a:t> This is t</a:t>
            </a:r>
            <a:r>
              <a:rPr lang="en-US" sz="1200" kern="1200" dirty="0" smtClean="0">
                <a:solidFill>
                  <a:schemeClr val="tx1"/>
                </a:solidFill>
                <a:ea typeface="+mn-ea"/>
                <a:cs typeface="+mn-cs"/>
              </a:rPr>
              <a:t>he best option as it allows checking to ensure the person knows and understands what is required, and allows clarification of issues</a:t>
            </a:r>
            <a:r>
              <a:rPr lang="en-US" sz="1200" kern="1200" baseline="0" dirty="0" smtClean="0">
                <a:solidFill>
                  <a:schemeClr val="tx1"/>
                </a:solidFill>
                <a:ea typeface="+mn-ea"/>
                <a:cs typeface="+mn-cs"/>
              </a:rPr>
              <a:t> and </a:t>
            </a:r>
            <a:r>
              <a:rPr lang="en-US" sz="1200" kern="1200" dirty="0" smtClean="0">
                <a:solidFill>
                  <a:schemeClr val="tx1"/>
                </a:solidFill>
                <a:ea typeface="+mn-ea"/>
                <a:cs typeface="+mn-cs"/>
              </a:rPr>
              <a:t>requirements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Over the phone – the second best option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Via email – containing all relevant details and directions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Verbally at a staff briefing – supported by relevant hard-copy information (names, addresses).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40574090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341532279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205366049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3360740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204111773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None/>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regarding their experiences and knowledge about dealing with claims for lost items:</a:t>
            </a:r>
          </a:p>
          <a:p>
            <a:pPr>
              <a:buFont typeface="Arial" pitchFamily="34" charset="0"/>
              <a:buChar char="•"/>
            </a:pPr>
            <a:r>
              <a:rPr lang="en-US" b="0" dirty="0" smtClean="0"/>
              <a:t> How</a:t>
            </a:r>
            <a:r>
              <a:rPr lang="en-US" b="0" baseline="0" dirty="0" smtClean="0"/>
              <a:t> could a person convince you a lost item is theirs?</a:t>
            </a:r>
          </a:p>
          <a:p>
            <a:pPr>
              <a:buFont typeface="Arial" pitchFamily="34" charset="0"/>
              <a:buChar char="•"/>
            </a:pPr>
            <a:r>
              <a:rPr lang="en-US" b="0" baseline="0" dirty="0" smtClean="0"/>
              <a:t> What evidence would you accept as proof of ownership of an item handed in as a ‘found’ item</a:t>
            </a:r>
            <a:r>
              <a:rPr lang="en-US" b="0" dirty="0" smtClean="0"/>
              <a:t>?</a:t>
            </a:r>
          </a:p>
          <a:p>
            <a:pPr>
              <a:buFont typeface="Arial" pitchFamily="34" charset="0"/>
              <a:buChar char="•"/>
            </a:pPr>
            <a:r>
              <a:rPr lang="en-US" b="0" dirty="0" smtClean="0"/>
              <a:t> How might you update the Lost and Found Register to reflect the return of an item to its owner?</a:t>
            </a:r>
          </a:p>
          <a:p>
            <a:pPr>
              <a:buFont typeface="Arial" pitchFamily="34" charset="0"/>
              <a:buChar char="•"/>
            </a:pPr>
            <a:r>
              <a:rPr lang="en-US" b="0" dirty="0" smtClean="0"/>
              <a:t> What challenges do you think might be involved in returning a lost item that is found to an international guest?</a:t>
            </a:r>
          </a:p>
          <a:p>
            <a:pPr>
              <a:buFont typeface="Arial" pitchFamily="34" charset="0"/>
              <a:buChar char="•"/>
            </a:pPr>
            <a:r>
              <a:rPr lang="en-US" b="0" dirty="0" smtClean="0"/>
              <a:t> What charges do you think might be involved in returning an item to an</a:t>
            </a:r>
            <a:r>
              <a:rPr lang="en-US" b="0" baseline="0" dirty="0" smtClean="0"/>
              <a:t> </a:t>
            </a:r>
            <a:r>
              <a:rPr lang="en-US" b="0" dirty="0" smtClean="0"/>
              <a:t>international guest?</a:t>
            </a:r>
          </a:p>
          <a:p>
            <a:pPr>
              <a:buFont typeface="Arial" pitchFamily="34" charset="0"/>
              <a:buChar char="•"/>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402929271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introduces this section by stating that when a person makes a claim for a found item it is important to provide high levels of service to assist this person.</a:t>
            </a:r>
            <a:r>
              <a:rPr lang="en-US" sz="1200" kern="1200" baseline="0" dirty="0" smtClean="0">
                <a:solidFill>
                  <a:schemeClr val="tx1"/>
                </a:solidFill>
                <a:ea typeface="+mn-ea"/>
                <a:cs typeface="+mn-cs"/>
              </a:rPr>
              <a:t> P</a:t>
            </a:r>
            <a:r>
              <a:rPr lang="en-US" sz="1200" kern="1200" dirty="0" smtClean="0">
                <a:solidFill>
                  <a:schemeClr val="tx1"/>
                </a:solidFill>
                <a:ea typeface="+mn-ea"/>
                <a:cs typeface="+mn-cs"/>
              </a:rPr>
              <a:t>eople who have lost items will commonly contact the venue to determine if the item has been found: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In person – walking into the venue to make an enquiry</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By telephone – calling the venue to see if their item has been handed in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Via email – writing to ask if a nominated item has been found.</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291271492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The basic requirements when a person arrives in person to claim an item they have lost and which has been found are:</a:t>
            </a:r>
            <a:endParaRPr lang="en-AU" sz="1200"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 Use appropriate interpersonal skills:</a:t>
            </a:r>
            <a:endParaRPr lang="en-AU" sz="1200" b="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Deliver lost and found services with the same care, courtesy and professionalism as all other services delivered by the venue</a:t>
            </a:r>
          </a:p>
          <a:p>
            <a:pPr lvl="1">
              <a:buFont typeface="Arial" pitchFamily="34" charset="0"/>
              <a:buChar char="•"/>
            </a:pPr>
            <a:r>
              <a:rPr lang="en-US" sz="1200" kern="1200" dirty="0" smtClean="0">
                <a:solidFill>
                  <a:schemeClr val="tx1"/>
                </a:solidFill>
                <a:ea typeface="+mn-ea"/>
                <a:cs typeface="+mn-cs"/>
              </a:rPr>
              <a:t> Greet and welcome the person the same as a paying customer/guest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Never:</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Give the person the impression providing lost and found services is a chore or an interruption to other workplace activities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Give the person the impression they are being done a </a:t>
            </a:r>
            <a:r>
              <a:rPr lang="en-AU" sz="1200" kern="1200" noProof="0" dirty="0" smtClean="0">
                <a:solidFill>
                  <a:schemeClr val="tx1"/>
                </a:solidFill>
                <a:ea typeface="+mn-ea"/>
                <a:cs typeface="+mn-cs"/>
              </a:rPr>
              <a:t>favour</a:t>
            </a:r>
            <a:r>
              <a:rPr lang="en-US" sz="1200" kern="1200" dirty="0" smtClean="0">
                <a:solidFill>
                  <a:schemeClr val="tx1"/>
                </a:solidFill>
                <a:ea typeface="+mn-ea"/>
                <a:cs typeface="+mn-cs"/>
              </a:rPr>
              <a:t> by helping them get back their lost property</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Treat the person as if they were trying to do something illegal.</a:t>
            </a:r>
            <a:r>
              <a:rPr lang="en-US" sz="1200" kern="1200" baseline="0" dirty="0" smtClean="0">
                <a:solidFill>
                  <a:schemeClr val="tx1"/>
                </a:solidFill>
                <a:ea typeface="+mn-ea"/>
                <a:cs typeface="+mn-cs"/>
              </a:rPr>
              <a:t> C</a:t>
            </a:r>
            <a:r>
              <a:rPr lang="en-US" sz="1200" kern="1200" dirty="0" smtClean="0">
                <a:solidFill>
                  <a:schemeClr val="tx1"/>
                </a:solidFill>
                <a:ea typeface="+mn-ea"/>
                <a:cs typeface="+mn-cs"/>
              </a:rPr>
              <a:t>heck they are not attempting to claim something that is not theirs </a:t>
            </a:r>
            <a:r>
              <a:rPr lang="en-US" sz="1200" b="1" i="1" kern="1200" dirty="0" smtClean="0">
                <a:solidFill>
                  <a:schemeClr val="tx1"/>
                </a:solidFill>
                <a:ea typeface="+mn-ea"/>
                <a:cs typeface="+mn-cs"/>
              </a:rPr>
              <a:t>but never adopt the attitude of interrogating/a claimant as if they were a criminal</a:t>
            </a:r>
            <a:r>
              <a:rPr lang="en-US" sz="1200" kern="1200" dirty="0" smtClean="0">
                <a:solidFill>
                  <a:schemeClr val="tx1"/>
                </a:solidFill>
                <a:ea typeface="+mn-ea"/>
                <a:cs typeface="+mn-cs"/>
              </a:rPr>
              <a:t>.</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333992594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dirty="0" smtClean="0">
                <a:solidFill>
                  <a:schemeClr val="tx1"/>
                </a:solidFill>
                <a:ea typeface="+mn-ea"/>
                <a:cs typeface="+mn-cs"/>
              </a:rPr>
              <a:t>Trainer continues to advise trainees regarding action to take when assisting a claimant:</a:t>
            </a:r>
          </a:p>
          <a:p>
            <a:pPr lvl="0">
              <a:buFont typeface="Arial" pitchFamily="34" charset="0"/>
              <a:buChar char="•"/>
            </a:pPr>
            <a:r>
              <a:rPr lang="en-US" sz="1200" b="0" kern="1200" dirty="0" smtClean="0">
                <a:solidFill>
                  <a:schemeClr val="tx1"/>
                </a:solidFill>
                <a:ea typeface="+mn-ea"/>
                <a:cs typeface="+mn-cs"/>
              </a:rPr>
              <a:t> Identify lost item:</a:t>
            </a:r>
            <a:endParaRPr lang="en-AU" sz="1200" b="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This is the first step when determining whether or not the person has a legitimate claim on the item they are seeking to obtain .</a:t>
            </a:r>
            <a:r>
              <a:rPr lang="en-US" sz="1200" kern="1200" baseline="0" dirty="0" smtClean="0">
                <a:solidFill>
                  <a:schemeClr val="tx1"/>
                </a:solidFill>
                <a:ea typeface="+mn-ea"/>
                <a:cs typeface="+mn-cs"/>
              </a:rPr>
              <a:t> A</a:t>
            </a:r>
            <a:r>
              <a:rPr lang="en-US" sz="1200" kern="1200" dirty="0" smtClean="0">
                <a:solidFill>
                  <a:schemeClr val="tx1"/>
                </a:solidFill>
                <a:ea typeface="+mn-ea"/>
                <a:cs typeface="+mn-cs"/>
              </a:rPr>
              <a:t>sk the person to answer some basic questions to identify the item they are seeking to claim:</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What is the item? Ask them to provide a brief yet detailed description of the  item.</a:t>
            </a:r>
            <a:r>
              <a:rPr lang="en-US" sz="1200" kern="1200" baseline="0" dirty="0" smtClean="0">
                <a:solidFill>
                  <a:schemeClr val="tx1"/>
                </a:solidFill>
                <a:ea typeface="+mn-ea"/>
                <a:cs typeface="+mn-cs"/>
              </a:rPr>
              <a:t> If</a:t>
            </a:r>
            <a:r>
              <a:rPr lang="en-US" sz="1200" kern="1200" dirty="0" smtClean="0">
                <a:solidFill>
                  <a:schemeClr val="tx1"/>
                </a:solidFill>
                <a:ea typeface="+mn-ea"/>
                <a:cs typeface="+mn-cs"/>
              </a:rPr>
              <a:t> the item is a bag, suitcase or similar, also ask them to describe the contents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Where was the item lost? Ask them to explain where they lost the item or where they believe they last had possession of the article</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When did they list the item or become aware they had lost the item? Ask them for the day, date, and time</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What is the value of the item? Ask them how much the item is worth.</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is only a legitimate question when the value of the item was recorded when the item was reported as lost</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Who are they? Ask them their name and for proof of identity (see later slides for more detail)</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 Compare answers given by the claimant to the information contained in the Lost and Found Register to identify the item (see next slide) and determine if their answers are correct, and/or to determine if the person making the claim is attempting to make a false claim.</a:t>
            </a:r>
            <a:endParaRPr lang="en-AU" sz="1200" kern="120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225957470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kern="1200" dirty="0" smtClean="0">
                <a:solidFill>
                  <a:schemeClr val="tx1"/>
                </a:solidFill>
                <a:ea typeface="+mn-ea"/>
                <a:cs typeface="+mn-cs"/>
              </a:rPr>
              <a:t>Trainer continues to advise trainees regarding action to take when assisting a claimant:</a:t>
            </a:r>
          </a:p>
          <a:p>
            <a:pPr>
              <a:buFont typeface="Arial" pitchFamily="34" charset="0"/>
              <a:buChar char="•"/>
            </a:pPr>
            <a:r>
              <a:rPr lang="en-US" sz="1200" b="0" kern="1200" dirty="0" smtClean="0">
                <a:solidFill>
                  <a:schemeClr val="tx1"/>
                </a:solidFill>
                <a:ea typeface="+mn-ea"/>
                <a:cs typeface="+mn-cs"/>
              </a:rPr>
              <a:t> Identify item in the Register:</a:t>
            </a:r>
            <a:endParaRPr lang="en-AU" sz="1200" b="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When the person has provided a description of the item, attempt to locate the item in the Lost and Found Register.</a:t>
            </a:r>
          </a:p>
          <a:p>
            <a:pPr>
              <a:buFont typeface="Arial" pitchFamily="34" charset="0"/>
              <a:buNone/>
            </a:pPr>
            <a:r>
              <a:rPr lang="en-US" sz="1200" b="1" i="1" kern="1200" dirty="0" smtClean="0">
                <a:solidFill>
                  <a:schemeClr val="tx1"/>
                </a:solidFill>
                <a:ea typeface="+mn-ea"/>
                <a:cs typeface="+mn-cs"/>
              </a:rPr>
              <a:t>Identifying and returning a reported Lost item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Where the claimant is seeking to claim an item reported as lost:</a:t>
            </a:r>
          </a:p>
          <a:p>
            <a:pPr lvl="1">
              <a:buFont typeface="Arial" pitchFamily="34" charset="0"/>
              <a:buChar char="•"/>
            </a:pPr>
            <a:r>
              <a:rPr lang="en-US" sz="1200" kern="1200" dirty="0" smtClean="0">
                <a:solidFill>
                  <a:schemeClr val="tx1"/>
                </a:solidFill>
                <a:ea typeface="+mn-ea"/>
                <a:cs typeface="+mn-cs"/>
              </a:rPr>
              <a:t> Turn to the Lost items section of the Lost and Found Register to identify if a report was made about the item</a:t>
            </a:r>
          </a:p>
          <a:p>
            <a:pPr lvl="1">
              <a:buFont typeface="Arial" pitchFamily="34" charset="0"/>
              <a:buChar char="•"/>
            </a:pPr>
            <a:r>
              <a:rPr lang="en-US" sz="1200" kern="1200" dirty="0" smtClean="0">
                <a:solidFill>
                  <a:schemeClr val="tx1"/>
                </a:solidFill>
                <a:ea typeface="+mn-ea"/>
                <a:cs typeface="+mn-cs"/>
              </a:rPr>
              <a:t> Does the information provided by the claimant align with what is recorded? </a:t>
            </a:r>
          </a:p>
          <a:p>
            <a:pPr lvl="1">
              <a:buFont typeface="Arial" pitchFamily="34" charset="0"/>
              <a:buChar char="•"/>
            </a:pPr>
            <a:r>
              <a:rPr lang="en-US" sz="1200" kern="1200" dirty="0" smtClean="0">
                <a:solidFill>
                  <a:schemeClr val="tx1"/>
                </a:solidFill>
                <a:ea typeface="+mn-ea"/>
                <a:cs typeface="+mn-cs"/>
              </a:rPr>
              <a:t> If the information provided matches what is in the Register, proceed to process the claim</a:t>
            </a:r>
          </a:p>
          <a:p>
            <a:pPr lvl="1">
              <a:buFont typeface="Arial" pitchFamily="34" charset="0"/>
              <a:buChar char="•"/>
            </a:pPr>
            <a:r>
              <a:rPr lang="en-US" sz="1200" kern="1200" dirty="0" smtClean="0">
                <a:solidFill>
                  <a:schemeClr val="tx1"/>
                </a:solidFill>
                <a:ea typeface="+mn-ea"/>
                <a:cs typeface="+mn-cs"/>
              </a:rPr>
              <a:t> Where answers are different to the information contained in the Lost and Found Register, involve management and advise them of concerns.</a:t>
            </a:r>
            <a:endParaRPr lang="en-AU" sz="1200" kern="1200" dirty="0" smtClean="0">
              <a:solidFill>
                <a:schemeClr val="tx1"/>
              </a:solidFill>
              <a:ea typeface="+mn-ea"/>
              <a:cs typeface="+mn-cs"/>
            </a:endParaRPr>
          </a:p>
          <a:p>
            <a:pPr>
              <a:buFont typeface="Arial" pitchFamily="34" charset="0"/>
              <a:buNone/>
            </a:pPr>
            <a:r>
              <a:rPr lang="en-US" sz="1200" b="1" i="1" kern="1200" dirty="0" smtClean="0">
                <a:solidFill>
                  <a:schemeClr val="tx1"/>
                </a:solidFill>
                <a:ea typeface="+mn-ea"/>
                <a:cs typeface="+mn-cs"/>
              </a:rPr>
              <a:t>Identifying and returning a Found item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Where the claimant is seeking to claim an item not reported as lost:</a:t>
            </a:r>
          </a:p>
          <a:p>
            <a:pPr lvl="1">
              <a:buFont typeface="Arial" pitchFamily="34" charset="0"/>
              <a:buChar char="•"/>
            </a:pPr>
            <a:r>
              <a:rPr lang="en-US" sz="1200" kern="1200" dirty="0" smtClean="0">
                <a:solidFill>
                  <a:schemeClr val="tx1"/>
                </a:solidFill>
                <a:ea typeface="+mn-ea"/>
                <a:cs typeface="+mn-cs"/>
              </a:rPr>
              <a:t> Turn to the Found items section of the Lost and Found Register and look for an item matching the details provided by the person</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Again, if the information provided matches what is in the Register, proceed.</a:t>
            </a:r>
            <a:r>
              <a:rPr lang="en-US" sz="1200" kern="1200" baseline="0" dirty="0" smtClean="0">
                <a:solidFill>
                  <a:schemeClr val="tx1"/>
                </a:solidFill>
                <a:ea typeface="+mn-ea"/>
                <a:cs typeface="+mn-cs"/>
              </a:rPr>
              <a:t> I</a:t>
            </a:r>
            <a:r>
              <a:rPr lang="en-US" sz="1200" kern="1200" dirty="0" smtClean="0">
                <a:solidFill>
                  <a:schemeClr val="tx1"/>
                </a:solidFill>
                <a:ea typeface="+mn-ea"/>
                <a:cs typeface="+mn-cs"/>
              </a:rPr>
              <a:t>f not, involve management/Supervisor.</a:t>
            </a:r>
            <a:endParaRPr lang="en-AU" sz="1200" kern="120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8105371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kern="1200" dirty="0" smtClean="0">
                <a:solidFill>
                  <a:schemeClr val="tx1"/>
                </a:solidFill>
                <a:ea typeface="+mn-ea"/>
                <a:cs typeface="+mn-cs"/>
              </a:rPr>
              <a:t>Trainer continues to advise trainees regarding action to take when assisting a claimant:</a:t>
            </a:r>
          </a:p>
          <a:p>
            <a:pPr>
              <a:buFont typeface="Arial" pitchFamily="34" charset="0"/>
              <a:buChar char="•"/>
            </a:pPr>
            <a:r>
              <a:rPr lang="en-US" sz="1200" b="0" kern="1200" dirty="0" smtClean="0">
                <a:solidFill>
                  <a:schemeClr val="tx1"/>
                </a:solidFill>
                <a:ea typeface="+mn-ea"/>
                <a:cs typeface="+mn-cs"/>
              </a:rPr>
              <a:t> Obtain the item:</a:t>
            </a:r>
            <a:endParaRPr lang="en-AU" sz="1200" b="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Using the information in the Register and the sequential number listed against the item:</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Explain to the claimant that the item has been located in the Register and it will be retrieved</a:t>
            </a:r>
            <a:r>
              <a:rPr lang="en-US" sz="1200" kern="1200" baseline="0" dirty="0" smtClean="0">
                <a:solidFill>
                  <a:schemeClr val="tx1"/>
                </a:solidFill>
                <a:ea typeface="+mn-ea"/>
                <a:cs typeface="+mn-cs"/>
              </a:rPr>
              <a:t> for them</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Excuse self and go to the Lost and Found storage</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Locate the items using the number of the item as listed in the Register to find the Lost and Found Tag/Slip </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Verify the item actually matches the item described</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Return to the claimant and:</a:t>
            </a:r>
            <a:endParaRPr lang="en-AU" sz="1200" kern="1200" dirty="0" smtClean="0">
              <a:solidFill>
                <a:schemeClr val="tx1"/>
              </a:solidFill>
              <a:ea typeface="+mn-ea"/>
              <a:cs typeface="+mn-cs"/>
            </a:endParaRPr>
          </a:p>
          <a:p>
            <a:pPr lvl="3">
              <a:buFont typeface="Arial" pitchFamily="34" charset="0"/>
              <a:buChar char="•"/>
            </a:pPr>
            <a:r>
              <a:rPr lang="en-US" sz="1200" kern="1200" dirty="0" smtClean="0">
                <a:solidFill>
                  <a:schemeClr val="tx1"/>
                </a:solidFill>
                <a:ea typeface="+mn-ea"/>
                <a:cs typeface="+mn-cs"/>
              </a:rPr>
              <a:t> Allow the claimant to view the item</a:t>
            </a:r>
            <a:endParaRPr lang="en-AU" sz="1200" kern="1200" dirty="0" smtClean="0">
              <a:solidFill>
                <a:schemeClr val="tx1"/>
              </a:solidFill>
              <a:ea typeface="+mn-ea"/>
              <a:cs typeface="+mn-cs"/>
            </a:endParaRPr>
          </a:p>
          <a:p>
            <a:pPr lvl="3">
              <a:buFont typeface="Arial" pitchFamily="34" charset="0"/>
              <a:buChar char="•"/>
            </a:pPr>
            <a:r>
              <a:rPr lang="en-US" sz="1200" kern="1200" dirty="0" smtClean="0">
                <a:solidFill>
                  <a:schemeClr val="tx1"/>
                </a:solidFill>
                <a:ea typeface="+mn-ea"/>
                <a:cs typeface="+mn-cs"/>
              </a:rPr>
              <a:t> Ask the claimant to verify it is theirs – or not</a:t>
            </a:r>
            <a:endParaRPr lang="en-AU" sz="1200" kern="1200" dirty="0" smtClean="0">
              <a:solidFill>
                <a:schemeClr val="tx1"/>
              </a:solidFill>
              <a:ea typeface="+mn-ea"/>
              <a:cs typeface="+mn-cs"/>
            </a:endParaRPr>
          </a:p>
          <a:p>
            <a:pPr lvl="3">
              <a:buFont typeface="Arial" pitchFamily="34" charset="0"/>
              <a:buChar char="•"/>
            </a:pPr>
            <a:r>
              <a:rPr lang="en-US" sz="1200" kern="1200" dirty="0" smtClean="0">
                <a:solidFill>
                  <a:schemeClr val="tx1"/>
                </a:solidFill>
                <a:ea typeface="+mn-ea"/>
                <a:cs typeface="+mn-cs"/>
              </a:rPr>
              <a:t> Ask the claimant to describe the contents – where applicable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Most claimants are honest about claiming an item.</a:t>
            </a:r>
            <a:r>
              <a:rPr lang="en-US" sz="1200" kern="1200" baseline="0" dirty="0" smtClean="0">
                <a:solidFill>
                  <a:schemeClr val="tx1"/>
                </a:solidFill>
                <a:ea typeface="+mn-ea"/>
                <a:cs typeface="+mn-cs"/>
              </a:rPr>
              <a:t> If</a:t>
            </a:r>
            <a:r>
              <a:rPr lang="en-US" sz="1200" kern="1200" dirty="0" smtClean="0">
                <a:solidFill>
                  <a:schemeClr val="tx1"/>
                </a:solidFill>
                <a:ea typeface="+mn-ea"/>
                <a:cs typeface="+mn-cs"/>
              </a:rPr>
              <a:t> an item presented to them is not theirs they will in the vast majority of cases state it is not the correct item but trainees should be alert to visual cues indicating the item presented to claimants is not theirs.</a:t>
            </a:r>
            <a:endParaRPr lang="en-AU" sz="1200" kern="1200" dirty="0" smtClean="0">
              <a:solidFill>
                <a:schemeClr val="tx1"/>
              </a:solidFill>
              <a:ea typeface="+mn-ea"/>
              <a:cs typeface="+mn-cs"/>
            </a:endParaRP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341157408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advises trainees the procedures as presented will need to be modified where the person telephones the venue or sends an email.</a:t>
            </a:r>
            <a:r>
              <a:rPr lang="en-US" sz="1200" kern="1200" baseline="0" dirty="0" smtClean="0">
                <a:solidFill>
                  <a:schemeClr val="tx1"/>
                </a:solidFill>
                <a:ea typeface="+mn-ea"/>
                <a:cs typeface="+mn-cs"/>
              </a:rPr>
              <a:t> F</a:t>
            </a:r>
            <a:r>
              <a:rPr lang="en-US" sz="1200" kern="1200" dirty="0" smtClean="0">
                <a:solidFill>
                  <a:schemeClr val="tx1"/>
                </a:solidFill>
                <a:ea typeface="+mn-ea"/>
                <a:cs typeface="+mn-cs"/>
              </a:rPr>
              <a:t>or example, when a person telephones the venue or sends an email regarding a lost item they may deal with them over the telephone/email to:</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Establish and confirm their identity </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and address/contact details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Secure information regarding the description and value of an item, when and where it was lost and whether or not it was reported as lost/stolen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Arrange for them to call in to the venue to view the item (if the item has been found) and complete the claim process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Arrange for another person to identify and collect the item on their behalf</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Determine the method of return of the item to the person who may live a long way away or in an overseas country.</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268321145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 trainees that once the claimant has stated the item they have been shown is theirs, the next step is</a:t>
            </a:r>
            <a:r>
              <a:rPr lang="en-US" baseline="0" dirty="0" smtClean="0"/>
              <a:t> to verify the claimant is the genuine owner of the property.</a:t>
            </a:r>
          </a:p>
          <a:p>
            <a:r>
              <a:rPr lang="en-US" baseline="0" dirty="0" smtClean="0"/>
              <a:t>Trainer suggests to trainees w</a:t>
            </a:r>
            <a:r>
              <a:rPr lang="en-US" sz="1200" kern="1200" dirty="0" smtClean="0">
                <a:solidFill>
                  <a:schemeClr val="tx1"/>
                </a:solidFill>
                <a:ea typeface="+mn-ea"/>
                <a:cs typeface="+mn-cs"/>
              </a:rPr>
              <a:t>hen verifying ownership of an item it can be useful to bear in mind: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Keep up the excellent standards of service levels.</a:t>
            </a:r>
            <a:r>
              <a:rPr lang="en-US" sz="1200" kern="1200" baseline="0" dirty="0" smtClean="0">
                <a:solidFill>
                  <a:schemeClr val="tx1"/>
                </a:solidFill>
                <a:ea typeface="+mn-ea"/>
                <a:cs typeface="+mn-cs"/>
              </a:rPr>
              <a:t> M</a:t>
            </a:r>
            <a:r>
              <a:rPr lang="en-US" sz="1200" kern="1200" dirty="0" smtClean="0">
                <a:solidFill>
                  <a:schemeClr val="tx1"/>
                </a:solidFill>
                <a:ea typeface="+mn-ea"/>
                <a:cs typeface="+mn-cs"/>
              </a:rPr>
              <a:t>aintain positive and appropriate interpersonal skills. Be nice to people – ask them questions as opposed to interrogating them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Explain action taken.</a:t>
            </a:r>
            <a:r>
              <a:rPr lang="en-US" sz="1200" kern="1200" baseline="0" dirty="0" smtClean="0">
                <a:solidFill>
                  <a:schemeClr val="tx1"/>
                </a:solidFill>
                <a:ea typeface="+mn-ea"/>
                <a:cs typeface="+mn-cs"/>
              </a:rPr>
              <a:t> E</a:t>
            </a:r>
            <a:r>
              <a:rPr lang="en-US" sz="1200" kern="1200" dirty="0" smtClean="0">
                <a:solidFill>
                  <a:schemeClr val="tx1"/>
                </a:solidFill>
                <a:ea typeface="+mn-ea"/>
                <a:cs typeface="+mn-cs"/>
              </a:rPr>
              <a:t>xplain it is company policy to have to ask questions to determine ownership so the item can only be claimed by its true owner. Make them aware this is for </a:t>
            </a:r>
            <a:r>
              <a:rPr lang="en-US" sz="1200" i="1" kern="1200" dirty="0" smtClean="0">
                <a:solidFill>
                  <a:schemeClr val="tx1"/>
                </a:solidFill>
                <a:ea typeface="+mn-ea"/>
                <a:cs typeface="+mn-cs"/>
              </a:rPr>
              <a:t>their</a:t>
            </a:r>
            <a:r>
              <a:rPr lang="en-US" sz="1200" kern="1200" dirty="0" smtClean="0">
                <a:solidFill>
                  <a:schemeClr val="tx1"/>
                </a:solidFill>
                <a:ea typeface="+mn-ea"/>
                <a:cs typeface="+mn-cs"/>
              </a:rPr>
              <a:t> benefit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Not everyone will have 100% recall.</a:t>
            </a:r>
            <a:r>
              <a:rPr lang="en-US" sz="1200" kern="1200" baseline="0" dirty="0" smtClean="0">
                <a:solidFill>
                  <a:schemeClr val="tx1"/>
                </a:solidFill>
                <a:ea typeface="+mn-ea"/>
                <a:cs typeface="+mn-cs"/>
              </a:rPr>
              <a:t> P</a:t>
            </a:r>
            <a:r>
              <a:rPr lang="en-US" sz="1200" kern="1200" dirty="0" smtClean="0">
                <a:solidFill>
                  <a:schemeClr val="tx1"/>
                </a:solidFill>
                <a:ea typeface="+mn-ea"/>
                <a:cs typeface="+mn-cs"/>
              </a:rPr>
              <a:t>eople often forget aspects about their own items even though they see these items every day.</a:t>
            </a:r>
            <a:r>
              <a:rPr lang="en-US" sz="1200" kern="1200" baseline="0" dirty="0" smtClean="0">
                <a:solidFill>
                  <a:schemeClr val="tx1"/>
                </a:solidFill>
                <a:ea typeface="+mn-ea"/>
                <a:cs typeface="+mn-cs"/>
              </a:rPr>
              <a:t> N</a:t>
            </a:r>
            <a:r>
              <a:rPr lang="en-US" sz="1200" kern="1200" dirty="0" smtClean="0">
                <a:solidFill>
                  <a:schemeClr val="tx1"/>
                </a:solidFill>
                <a:ea typeface="+mn-ea"/>
                <a:cs typeface="+mn-cs"/>
              </a:rPr>
              <a:t>ot being able to describe an important or obvious detail does not necessarily mean the person is </a:t>
            </a:r>
            <a:r>
              <a:rPr lang="en-US" sz="1200" i="1" kern="1200" dirty="0" smtClean="0">
                <a:solidFill>
                  <a:schemeClr val="tx1"/>
                </a:solidFill>
                <a:ea typeface="+mn-ea"/>
                <a:cs typeface="+mn-cs"/>
              </a:rPr>
              <a:t>not</a:t>
            </a:r>
            <a:r>
              <a:rPr lang="en-US" sz="1200" kern="1200" dirty="0" smtClean="0">
                <a:solidFill>
                  <a:schemeClr val="tx1"/>
                </a:solidFill>
                <a:ea typeface="+mn-ea"/>
                <a:cs typeface="+mn-cs"/>
              </a:rPr>
              <a:t> the rightful owner</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Most people are unable to provide undeniable proof of ownership.</a:t>
            </a:r>
            <a:r>
              <a:rPr lang="en-US" sz="1200" kern="1200" baseline="0" dirty="0" smtClean="0">
                <a:solidFill>
                  <a:schemeClr val="tx1"/>
                </a:solidFill>
                <a:ea typeface="+mn-ea"/>
                <a:cs typeface="+mn-cs"/>
              </a:rPr>
              <a:t> M</a:t>
            </a:r>
            <a:r>
              <a:rPr lang="en-US" sz="1200" kern="1200" dirty="0" smtClean="0">
                <a:solidFill>
                  <a:schemeClr val="tx1"/>
                </a:solidFill>
                <a:ea typeface="+mn-ea"/>
                <a:cs typeface="+mn-cs"/>
              </a:rPr>
              <a:t>ost people will not have, for example, a receipt for the item or some other legal document showing they have title for the item.</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means using other means to determine whether or not they are the owner </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Many found items are claimed on behalf of the owner by a person </a:t>
            </a:r>
            <a:r>
              <a:rPr lang="en-AU" sz="1200" kern="1200" noProof="0" dirty="0" smtClean="0">
                <a:solidFill>
                  <a:schemeClr val="tx1"/>
                </a:solidFill>
                <a:ea typeface="+mn-ea"/>
                <a:cs typeface="+mn-cs"/>
              </a:rPr>
              <a:t>authorised</a:t>
            </a:r>
            <a:r>
              <a:rPr lang="en-US" sz="1200" kern="1200" dirty="0" smtClean="0">
                <a:solidFill>
                  <a:schemeClr val="tx1"/>
                </a:solidFill>
                <a:ea typeface="+mn-ea"/>
                <a:cs typeface="+mn-cs"/>
              </a:rPr>
              <a:t> to do so by the legitimate owner.</a:t>
            </a:r>
            <a:r>
              <a:rPr lang="en-US" sz="1200" kern="1200" baseline="0" dirty="0" smtClean="0">
                <a:solidFill>
                  <a:schemeClr val="tx1"/>
                </a:solidFill>
                <a:ea typeface="+mn-ea"/>
                <a:cs typeface="+mn-cs"/>
              </a:rPr>
              <a:t> Th</a:t>
            </a:r>
            <a:r>
              <a:rPr lang="en-US" sz="1200" kern="1200" dirty="0" smtClean="0">
                <a:solidFill>
                  <a:schemeClr val="tx1"/>
                </a:solidFill>
                <a:ea typeface="+mn-ea"/>
                <a:cs typeface="+mn-cs"/>
              </a:rPr>
              <a:t>is means a need to verify their identification.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311734413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dirty="0" smtClean="0"/>
              <a:t>Trainer recommends to trainees methods to verify legitimate ownership of property claimed can include:</a:t>
            </a:r>
          </a:p>
          <a:p>
            <a:pPr>
              <a:buFont typeface="Arial" pitchFamily="34" charset="0"/>
              <a:buChar char="•"/>
            </a:pPr>
            <a:r>
              <a:rPr lang="en-US" sz="1200" b="0" kern="1200" dirty="0" smtClean="0">
                <a:solidFill>
                  <a:schemeClr val="tx1"/>
                </a:solidFill>
                <a:ea typeface="+mn-ea"/>
                <a:cs typeface="+mn-cs"/>
              </a:rPr>
              <a:t> Obtaining an accurate description of the item:</a:t>
            </a:r>
            <a:endParaRPr lang="en-AU" sz="1200" b="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This can be done by asking questions such as: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‘How much money is in the wallet?’</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‘What make is the watch?’</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‘What brand</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make is the computer?’</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It can also be achieved by the owner: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Providing extra information such as ‘There is a scratch on the inside of the case, about six cms long, near the top of the case’, or ‘There is a red ink stain inside the front cover’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Showing a photograph of them with the item</a:t>
            </a:r>
            <a:endParaRPr lang="en-AU" sz="1200" kern="1200" dirty="0" smtClean="0">
              <a:solidFill>
                <a:schemeClr val="tx1"/>
              </a:solidFill>
              <a:ea typeface="+mn-ea"/>
              <a:cs typeface="+mn-cs"/>
            </a:endParaRPr>
          </a:p>
          <a:p>
            <a:pPr>
              <a:buFont typeface="Arial" pitchFamily="34" charset="0"/>
              <a:buChar char="•"/>
            </a:pPr>
            <a:r>
              <a:rPr lang="en-US" sz="1200" b="1" kern="1200" dirty="0" smtClean="0">
                <a:solidFill>
                  <a:schemeClr val="tx1"/>
                </a:solidFill>
                <a:ea typeface="+mn-ea"/>
                <a:cs typeface="+mn-cs"/>
              </a:rPr>
              <a:t> </a:t>
            </a:r>
            <a:r>
              <a:rPr lang="en-US" sz="1200" b="0" kern="1200" dirty="0" smtClean="0">
                <a:solidFill>
                  <a:schemeClr val="tx1"/>
                </a:solidFill>
                <a:ea typeface="+mn-ea"/>
                <a:cs typeface="+mn-cs"/>
              </a:rPr>
              <a:t>Matching photographs:</a:t>
            </a:r>
            <a:endParaRPr lang="en-AU" sz="1200" b="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Where the item being claimed contains photographic evidence of the claimant, this should be used as a way of determining the legitimacy of the claimant. For example:</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Check wallets and bags for photographic identification of the owner </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Where the item contains a passport or photo ID driver’s licence (or similar), use these as a means of proving the identity of the claimant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When checking photographs: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Use common sense.</a:t>
            </a:r>
            <a:r>
              <a:rPr lang="en-US" sz="1200" kern="1200" baseline="0" dirty="0" smtClean="0">
                <a:solidFill>
                  <a:schemeClr val="tx1"/>
                </a:solidFill>
                <a:ea typeface="+mn-ea"/>
                <a:cs typeface="+mn-cs"/>
              </a:rPr>
              <a:t> P</a:t>
            </a:r>
            <a:r>
              <a:rPr lang="en-US" sz="1200" kern="1200" dirty="0" smtClean="0">
                <a:solidFill>
                  <a:schemeClr val="tx1"/>
                </a:solidFill>
                <a:ea typeface="+mn-ea"/>
                <a:cs typeface="+mn-cs"/>
              </a:rPr>
              <a:t>hotographs are not always good portrayals of the individual.</a:t>
            </a:r>
            <a:r>
              <a:rPr lang="en-US" sz="1200" kern="1200" baseline="0" dirty="0" smtClean="0">
                <a:solidFill>
                  <a:schemeClr val="tx1"/>
                </a:solidFill>
                <a:ea typeface="+mn-ea"/>
                <a:cs typeface="+mn-cs"/>
              </a:rPr>
              <a:t> The p</a:t>
            </a:r>
            <a:r>
              <a:rPr lang="en-US" sz="1200" kern="1200" dirty="0" smtClean="0">
                <a:solidFill>
                  <a:schemeClr val="tx1"/>
                </a:solidFill>
                <a:ea typeface="+mn-ea"/>
                <a:cs typeface="+mn-cs"/>
              </a:rPr>
              <a:t>hotographs may have been taken some time ago and the person may have changed their look, hair style or hair </a:t>
            </a:r>
            <a:r>
              <a:rPr lang="en-AU" sz="1200" kern="1200" noProof="0" dirty="0" smtClean="0">
                <a:solidFill>
                  <a:schemeClr val="tx1"/>
                </a:solidFill>
                <a:ea typeface="+mn-ea"/>
                <a:cs typeface="+mn-cs"/>
              </a:rPr>
              <a:t>colour</a:t>
            </a:r>
            <a:r>
              <a:rPr lang="en-US" sz="1200" kern="1200" dirty="0" smtClean="0">
                <a:solidFill>
                  <a:schemeClr val="tx1"/>
                </a:solidFill>
                <a:ea typeface="+mn-ea"/>
                <a:cs typeface="+mn-cs"/>
              </a:rPr>
              <a:t> </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Use the same attention to detail as when checking identification for other purposes such as service of alcohol</a:t>
            </a:r>
            <a:r>
              <a:rPr lang="en-US" sz="1200" kern="1200" baseline="0" dirty="0" smtClean="0">
                <a:solidFill>
                  <a:schemeClr val="tx1"/>
                </a:solidFill>
                <a:ea typeface="+mn-ea"/>
                <a:cs typeface="+mn-cs"/>
              </a:rPr>
              <a:t> and</a:t>
            </a:r>
            <a:r>
              <a:rPr lang="en-US" sz="1200" kern="1200" dirty="0" smtClean="0">
                <a:solidFill>
                  <a:schemeClr val="tx1"/>
                </a:solidFill>
                <a:ea typeface="+mn-ea"/>
                <a:cs typeface="+mn-cs"/>
              </a:rPr>
              <a:t> entry to the premises</a:t>
            </a:r>
            <a:endParaRPr lang="en-AU" sz="1200"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 Sighting ownership documents:</a:t>
            </a:r>
            <a:endParaRPr lang="en-AU" sz="1200" b="0" kern="1200" dirty="0" smtClean="0">
              <a:solidFill>
                <a:schemeClr val="tx1"/>
              </a:solidFill>
              <a:ea typeface="+mn-ea"/>
              <a:cs typeface="+mn-cs"/>
            </a:endParaRPr>
          </a:p>
          <a:p>
            <a:pPr lvl="1">
              <a:buFont typeface="Arial" pitchFamily="34" charset="0"/>
              <a:buChar char="•"/>
            </a:pPr>
            <a:r>
              <a:rPr lang="en-US" sz="1200" b="0" kern="1200" dirty="0" smtClean="0">
                <a:solidFill>
                  <a:schemeClr val="tx1"/>
                </a:solidFill>
                <a:ea typeface="+mn-ea"/>
                <a:cs typeface="+mn-cs"/>
              </a:rPr>
              <a:t> It is relatively rare for people to be able to provide ownership documents for items they are claiming but it does sometimes occur (such as when claiming items they have recently purchased duty free, or at a local store/business)</a:t>
            </a:r>
            <a:endParaRPr lang="en-AU" sz="1200" b="1" kern="1200" dirty="0" smtClean="0">
              <a:solidFill>
                <a:schemeClr val="tx1"/>
              </a:solidFill>
              <a:ea typeface="+mn-ea"/>
              <a:cs typeface="+mn-cs"/>
            </a:endParaRPr>
          </a:p>
          <a:p>
            <a:pPr lvl="1">
              <a:buFont typeface="Arial" pitchFamily="34" charset="0"/>
              <a:buChar char="•"/>
            </a:pPr>
            <a:r>
              <a:rPr lang="en-US" sz="1200" b="0" kern="1200" dirty="0" smtClean="0">
                <a:solidFill>
                  <a:schemeClr val="tx1"/>
                </a:solidFill>
                <a:ea typeface="+mn-ea"/>
                <a:cs typeface="+mn-cs"/>
              </a:rPr>
              <a:t> Sighting or checking ownership documents may mean visually seeing:</a:t>
            </a:r>
            <a:endParaRPr lang="en-AU" sz="1200" b="1"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Title for the goods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Receipts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A credit/debit card transaction document.</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237312092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 trainees</a:t>
            </a:r>
            <a:r>
              <a:rPr lang="en-US" baseline="0" dirty="0" smtClean="0"/>
              <a:t> that it is also necessary when returning an item to a guest to obtain evidence of who they are so this can be recorded in the Lost and Found Register.</a:t>
            </a:r>
          </a:p>
          <a:p>
            <a:r>
              <a:rPr lang="en-US" baseline="0" dirty="0" smtClean="0"/>
              <a:t>Trainer indicates to trainees </a:t>
            </a:r>
            <a:r>
              <a:rPr lang="en-US" sz="1200" kern="1200" dirty="0" smtClean="0">
                <a:solidFill>
                  <a:schemeClr val="tx1"/>
                </a:solidFill>
                <a:ea typeface="+mn-ea"/>
                <a:cs typeface="+mn-cs"/>
              </a:rPr>
              <a:t>they must always obtain proof of who the item is released to:</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Prove the item was correctly released to the right person if evidence of this is ever required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Provide a starting point for enquiry if, for example, the item is released to the wrong person and the rightful owner subsequently makes a claim for the item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Comply with internal requirements such as the establishment policies and procedures relating to returning items to owners.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102907275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tells trainees that where the claimant is the owner of the item the most common identification to obtain from the person is: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Driver’s licence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Passport.</a:t>
            </a:r>
            <a:endParaRPr lang="en-AU" sz="1200" kern="1200" dirty="0" smtClean="0">
              <a:solidFill>
                <a:schemeClr val="tx1"/>
              </a:solidFill>
              <a:ea typeface="+mn-ea"/>
              <a:cs typeface="+mn-cs"/>
            </a:endParaRPr>
          </a:p>
          <a:p>
            <a:r>
              <a:rPr lang="en-US" sz="1200" kern="1200" dirty="0" smtClean="0">
                <a:solidFill>
                  <a:schemeClr val="tx1"/>
                </a:solidFill>
                <a:ea typeface="+mn-ea"/>
                <a:cs typeface="+mn-cs"/>
              </a:rPr>
              <a:t>Trainer further advises trainees that,</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while the majority of people will have at least one form of this identification, not </a:t>
            </a:r>
            <a:r>
              <a:rPr lang="en-US" sz="1200" i="1" kern="1200" dirty="0" smtClean="0">
                <a:solidFill>
                  <a:schemeClr val="tx1"/>
                </a:solidFill>
                <a:ea typeface="+mn-ea"/>
                <a:cs typeface="+mn-cs"/>
              </a:rPr>
              <a:t>all</a:t>
            </a:r>
            <a:r>
              <a:rPr lang="en-US" sz="1200" kern="1200" dirty="0" smtClean="0">
                <a:solidFill>
                  <a:schemeClr val="tx1"/>
                </a:solidFill>
                <a:ea typeface="+mn-ea"/>
                <a:cs typeface="+mn-cs"/>
              </a:rPr>
              <a:t> people will, and if faced with a claimant with no driver’s licence or passport they should: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Ask for some other form of photographic identification – this may be a government issued ID, a workplace-based form or a community-based membership card </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Involve other staff/management who know the claimant and who can vouch for who they are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Ask them to sign a form and compare this to the Registration Form they completed on arrival at the venue (where applicable).</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157439897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states to trainees that when they have been presented with suitable identification from the owner they should:</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 Check it to ensure it is legitimate and has not been tampered with or has had important aspects altered</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 Copy it – for filing in the Lost and Found Register/filing system.</a:t>
            </a:r>
            <a:r>
              <a:rPr lang="en-US" sz="1200" kern="1200" baseline="0" dirty="0" smtClean="0">
                <a:solidFill>
                  <a:schemeClr val="tx1"/>
                </a:solidFill>
                <a:ea typeface="+mn-ea"/>
                <a:cs typeface="+mn-cs"/>
              </a:rPr>
              <a:t> C</a:t>
            </a:r>
            <a:r>
              <a:rPr lang="en-US" sz="1200" kern="1200" dirty="0" smtClean="0">
                <a:solidFill>
                  <a:schemeClr val="tx1"/>
                </a:solidFill>
                <a:ea typeface="+mn-ea"/>
                <a:cs typeface="+mn-cs"/>
              </a:rPr>
              <a:t>heck all details are present and legible.</a:t>
            </a:r>
            <a:endParaRPr lang="en-AU" sz="1200" kern="1200" dirty="0" smtClean="0">
              <a:solidFill>
                <a:schemeClr val="tx1"/>
              </a:solidFill>
              <a:ea typeface="+mn-ea"/>
              <a:cs typeface="+mn-cs"/>
            </a:endParaRPr>
          </a:p>
          <a:p>
            <a:pPr lvl="0">
              <a:buFont typeface="Arial" pitchFamily="34" charset="0"/>
              <a:buNone/>
            </a:pPr>
            <a:r>
              <a:rPr lang="en-AU" sz="1200" kern="1200" dirty="0" smtClean="0">
                <a:solidFill>
                  <a:schemeClr val="tx1"/>
                </a:solidFill>
                <a:ea typeface="+mn-ea"/>
                <a:cs typeface="+mn-cs"/>
              </a:rPr>
              <a:t>Trainer</a:t>
            </a:r>
            <a:r>
              <a:rPr lang="en-AU" sz="1200" kern="1200" baseline="0" dirty="0" smtClean="0">
                <a:solidFill>
                  <a:schemeClr val="tx1"/>
                </a:solidFill>
                <a:ea typeface="+mn-ea"/>
                <a:cs typeface="+mn-cs"/>
              </a:rPr>
              <a:t> highlights to trainees it</a:t>
            </a:r>
            <a:r>
              <a:rPr lang="en-US" sz="1200" kern="1200" dirty="0" smtClean="0">
                <a:solidFill>
                  <a:schemeClr val="tx1"/>
                </a:solidFill>
                <a:ea typeface="+mn-ea"/>
                <a:cs typeface="+mn-cs"/>
              </a:rPr>
              <a:t> is </a:t>
            </a:r>
            <a:r>
              <a:rPr lang="en-US" sz="1200" b="1" i="1" kern="1200" dirty="0" smtClean="0">
                <a:solidFill>
                  <a:schemeClr val="tx1"/>
                </a:solidFill>
                <a:ea typeface="+mn-ea"/>
                <a:cs typeface="+mn-cs"/>
              </a:rPr>
              <a:t>not acceptable</a:t>
            </a:r>
            <a:r>
              <a:rPr lang="en-US" sz="1200" kern="1200" dirty="0" smtClean="0">
                <a:solidFill>
                  <a:schemeClr val="tx1"/>
                </a:solidFill>
                <a:ea typeface="+mn-ea"/>
                <a:cs typeface="+mn-cs"/>
              </a:rPr>
              <a:t> to simply </a:t>
            </a:r>
            <a:r>
              <a:rPr lang="en-US" sz="1200" b="1" kern="1200" dirty="0" smtClean="0">
                <a:solidFill>
                  <a:schemeClr val="tx1"/>
                </a:solidFill>
                <a:ea typeface="+mn-ea"/>
                <a:cs typeface="+mn-cs"/>
              </a:rPr>
              <a:t>sight </a:t>
            </a:r>
            <a:r>
              <a:rPr lang="en-US" sz="1200" kern="1200" dirty="0" smtClean="0">
                <a:solidFill>
                  <a:schemeClr val="tx1"/>
                </a:solidFill>
                <a:ea typeface="+mn-ea"/>
                <a:cs typeface="+mn-cs"/>
              </a:rPr>
              <a:t>suitable identification without capturing proof of it.</a:t>
            </a:r>
            <a:endParaRPr lang="en-AU" sz="1200" kern="1200" dirty="0" smtClean="0">
              <a:solidFill>
                <a:schemeClr val="tx1"/>
              </a:solidFill>
              <a:ea typeface="+mn-ea"/>
              <a:cs typeface="+mn-cs"/>
            </a:endParaRPr>
          </a:p>
          <a:p>
            <a:pPr>
              <a:buFont typeface="Arial" pitchFamily="34" charset="0"/>
              <a:buNone/>
            </a:pPr>
            <a:r>
              <a:rPr lang="en-US" sz="1200" kern="1200" dirty="0" smtClean="0">
                <a:solidFill>
                  <a:schemeClr val="tx1"/>
                </a:solidFill>
                <a:ea typeface="+mn-ea"/>
                <a:cs typeface="+mn-cs"/>
              </a:rPr>
              <a:t>Trainer further advises trainees if it is not possible to obtain a photocopy of the identification they should: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Detail the type/nature of the identification – such as (for example) ‘Work ID XYZ </a:t>
            </a:r>
            <a:r>
              <a:rPr lang="en-AU" sz="1200" kern="1200" noProof="0" dirty="0" smtClean="0">
                <a:solidFill>
                  <a:schemeClr val="tx1"/>
                </a:solidFill>
                <a:ea typeface="+mn-ea"/>
                <a:cs typeface="+mn-cs"/>
              </a:rPr>
              <a:t>organisation</a:t>
            </a:r>
            <a:r>
              <a:rPr lang="en-US" sz="1200" kern="1200" dirty="0" smtClean="0">
                <a:solidFill>
                  <a:schemeClr val="tx1"/>
                </a:solidFill>
                <a:ea typeface="+mn-ea"/>
                <a:cs typeface="+mn-cs"/>
              </a:rPr>
              <a:t>’, ‘XYZ Membership card’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Capture relevant ID details such as:</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Name the ID was issued in</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Any address/es for the </a:t>
            </a:r>
            <a:r>
              <a:rPr lang="en-AU" sz="1200" kern="1200" noProof="0" dirty="0" smtClean="0">
                <a:solidFill>
                  <a:schemeClr val="tx1"/>
                </a:solidFill>
                <a:ea typeface="+mn-ea"/>
                <a:cs typeface="+mn-cs"/>
              </a:rPr>
              <a:t>organisation</a:t>
            </a:r>
            <a:r>
              <a:rPr lang="en-US" sz="1200" kern="1200" dirty="0" smtClean="0">
                <a:solidFill>
                  <a:schemeClr val="tx1"/>
                </a:solidFill>
                <a:ea typeface="+mn-ea"/>
                <a:cs typeface="+mn-cs"/>
              </a:rPr>
              <a:t> and/or claimant</a:t>
            </a:r>
            <a:endParaRPr lang="en-AU" sz="1200" kern="1200" dirty="0" smtClean="0">
              <a:solidFill>
                <a:schemeClr val="tx1"/>
              </a:solidFill>
              <a:ea typeface="+mn-ea"/>
              <a:cs typeface="+mn-cs"/>
            </a:endParaRPr>
          </a:p>
          <a:p>
            <a:pPr lvl="2">
              <a:buFont typeface="Arial" pitchFamily="34" charset="0"/>
              <a:buChar char="•"/>
            </a:pPr>
            <a:r>
              <a:rPr lang="en-US" sz="1200" kern="1200" dirty="0" smtClean="0">
                <a:solidFill>
                  <a:schemeClr val="tx1"/>
                </a:solidFill>
                <a:ea typeface="+mn-ea"/>
                <a:cs typeface="+mn-cs"/>
              </a:rPr>
              <a:t> Any applicable dates – ‘Valid till xx/xx/xx’.</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228391319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dirty="0" smtClean="0">
                <a:solidFill>
                  <a:schemeClr val="tx1"/>
                </a:solidFill>
                <a:ea typeface="+mn-ea"/>
                <a:cs typeface="+mn-cs"/>
              </a:rPr>
              <a:t>Trainer indicates to trainees where a third person has been </a:t>
            </a:r>
            <a:r>
              <a:rPr lang="en-AU" sz="1200" kern="1200" noProof="0" dirty="0" smtClean="0">
                <a:solidFill>
                  <a:schemeClr val="tx1"/>
                </a:solidFill>
                <a:ea typeface="+mn-ea"/>
                <a:cs typeface="+mn-cs"/>
              </a:rPr>
              <a:t>authorised</a:t>
            </a:r>
            <a:r>
              <a:rPr lang="en-US" sz="1200" kern="1200" dirty="0" smtClean="0">
                <a:solidFill>
                  <a:schemeClr val="tx1"/>
                </a:solidFill>
                <a:ea typeface="+mn-ea"/>
                <a:cs typeface="+mn-cs"/>
              </a:rPr>
              <a:t> by the owner to act as their agent to make a claim on their behalf, obtaining identification may involve: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Obtaining hard-copy proof (an email, or letter) from the owner </a:t>
            </a:r>
            <a:r>
              <a:rPr lang="en-AU" sz="1200" kern="1200" noProof="0" dirty="0" smtClean="0">
                <a:solidFill>
                  <a:schemeClr val="tx1"/>
                </a:solidFill>
                <a:ea typeface="+mn-ea"/>
                <a:cs typeface="+mn-cs"/>
              </a:rPr>
              <a:t>authorising</a:t>
            </a:r>
            <a:r>
              <a:rPr lang="en-US" sz="1200" kern="1200" dirty="0" smtClean="0">
                <a:solidFill>
                  <a:schemeClr val="tx1"/>
                </a:solidFill>
                <a:ea typeface="+mn-ea"/>
                <a:cs typeface="+mn-cs"/>
              </a:rPr>
              <a:t> the agent/other person to claim the item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Obtaining copy of request from the venue to the owner asking the claimant to furnish identification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Obtaining personal identification of the third-party claimant/agent such as passport or driver’s licence as proof of identity.</a:t>
            </a:r>
            <a:endParaRPr lang="en-AU" sz="1200" kern="1200" dirty="0" smtClean="0">
              <a:solidFill>
                <a:schemeClr val="tx1"/>
              </a:solidFill>
              <a:ea typeface="+mn-ea"/>
              <a:cs typeface="+mn-cs"/>
            </a:endParaRPr>
          </a:p>
          <a:p>
            <a:r>
              <a:rPr lang="en-US" sz="1200" kern="1200" dirty="0" smtClean="0">
                <a:solidFill>
                  <a:schemeClr val="tx1"/>
                </a:solidFill>
                <a:ea typeface="+mn-ea"/>
                <a:cs typeface="+mn-cs"/>
              </a:rPr>
              <a:t>Trainer states to trainees the above evidence should also be copied and filed in the Lost and Found Register/filing system in the same way the identification of the actual owner is</a:t>
            </a:r>
            <a:r>
              <a:rPr lang="en-US" sz="1200" kern="1200" baseline="0" dirty="0" smtClean="0">
                <a:solidFill>
                  <a:schemeClr val="tx1"/>
                </a:solidFill>
                <a:ea typeface="+mn-ea"/>
                <a:cs typeface="+mn-cs"/>
              </a:rPr>
              <a:t> filed/processed</a:t>
            </a:r>
            <a:r>
              <a:rPr lang="en-US" sz="1200" kern="1200" dirty="0" smtClean="0">
                <a:solidFill>
                  <a:schemeClr val="tx1"/>
                </a:solidFill>
                <a:ea typeface="+mn-ea"/>
                <a:cs typeface="+mn-cs"/>
              </a:rPr>
              <a:t>.</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an appropriately experienced venue staff member to attend and talk to trainees about:</a:t>
            </a:r>
          </a:p>
          <a:p>
            <a:pPr>
              <a:buFont typeface="Arial" pitchFamily="34" charset="0"/>
              <a:buChar char="•"/>
            </a:pPr>
            <a:r>
              <a:rPr lang="en-US" b="0" dirty="0" smtClean="0"/>
              <a:t> Venue policies and procedures for handling face</a:t>
            </a:r>
            <a:r>
              <a:rPr lang="en-US" b="0" baseline="0" dirty="0" smtClean="0"/>
              <a:t> </a:t>
            </a:r>
            <a:r>
              <a:rPr lang="en-US" b="0" dirty="0" smtClean="0"/>
              <a:t>to</a:t>
            </a:r>
            <a:r>
              <a:rPr lang="en-US" b="0" baseline="0" dirty="0" smtClean="0"/>
              <a:t> </a:t>
            </a:r>
            <a:r>
              <a:rPr lang="en-US" b="0" dirty="0" smtClean="0"/>
              <a:t>face claims for lost property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Venue policies and procedures for handling telephone claims for lost property</a:t>
            </a:r>
          </a:p>
          <a:p>
            <a:pPr>
              <a:buFont typeface="Arial" pitchFamily="34" charset="0"/>
              <a:buChar char="•"/>
            </a:pPr>
            <a:r>
              <a:rPr lang="en-US" b="0" dirty="0" smtClean="0"/>
              <a:t> Venue policies and procedures for handling email claims for lost property</a:t>
            </a:r>
          </a:p>
          <a:p>
            <a:pPr>
              <a:buFont typeface="Arial" pitchFamily="34" charset="0"/>
              <a:buChar char="•"/>
            </a:pPr>
            <a:r>
              <a:rPr lang="en-US" b="0" dirty="0" smtClean="0"/>
              <a:t> What they deem acceptable evidence of ownership of items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What they deem acceptable proof of identification of claimants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How they process claims where a third party claims an item on behalf of the owner of the item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How they determine whether or not they will return</a:t>
            </a:r>
            <a:r>
              <a:rPr lang="en-US" b="0" baseline="0" dirty="0" smtClean="0"/>
              <a:t> or </a:t>
            </a:r>
            <a:r>
              <a:rPr lang="en-US" b="0" dirty="0" smtClean="0"/>
              <a:t>release</a:t>
            </a:r>
            <a:r>
              <a:rPr lang="en-US" b="0" baseline="0" dirty="0" smtClean="0"/>
              <a:t> an item to a claimant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How they deal with refusing to release or return an item to a claimant</a:t>
            </a:r>
            <a:r>
              <a:rPr lang="en-US" b="0" dirty="0" smtClean="0"/>
              <a:t>.</a:t>
            </a:r>
          </a:p>
          <a:p>
            <a:pPr>
              <a:buFont typeface="Arial" pitchFamily="34" charset="0"/>
              <a:buChar char="•"/>
            </a:pPr>
            <a:endParaRPr lang="en-US" b="0" dirty="0" smtClean="0"/>
          </a:p>
          <a:p>
            <a:pPr>
              <a:buFont typeface="Arial" pitchFamily="34" charset="0"/>
              <a:buChar char="•"/>
            </a:pPr>
            <a:endParaRPr lang="en-US" b="0" dirty="0" smtClean="0"/>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397192624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AU" sz="1200" kern="1200" noProof="0" dirty="0" smtClean="0">
                <a:solidFill>
                  <a:schemeClr val="tx1"/>
                </a:solidFill>
                <a:ea typeface="+mn-ea"/>
                <a:cs typeface="+mn-cs"/>
              </a:rPr>
              <a:t>Trainer emphasizes to trainees that the Lost and Found Register is the central document for lost and found items and must be referred to and updated whenever a claim is made for lost property .</a:t>
            </a:r>
            <a:r>
              <a:rPr lang="en-AU" sz="1200" kern="1200" baseline="0" noProof="0" dirty="0" smtClean="0">
                <a:solidFill>
                  <a:schemeClr val="tx1"/>
                </a:solidFill>
                <a:ea typeface="+mn-ea"/>
                <a:cs typeface="+mn-cs"/>
              </a:rPr>
              <a:t> I</a:t>
            </a:r>
            <a:r>
              <a:rPr lang="en-AU" sz="1200" kern="1200" noProof="0" dirty="0" smtClean="0">
                <a:solidFill>
                  <a:schemeClr val="tx1"/>
                </a:solidFill>
                <a:ea typeface="+mn-ea"/>
                <a:cs typeface="+mn-cs"/>
              </a:rPr>
              <a:t>t must even be updated where a claim for an item is made, but is refused.</a:t>
            </a:r>
          </a:p>
          <a:p>
            <a:r>
              <a:rPr lang="en-AU" sz="1200" kern="1200" noProof="0" dirty="0" smtClean="0">
                <a:solidFill>
                  <a:schemeClr val="tx1"/>
                </a:solidFill>
                <a:ea typeface="+mn-ea"/>
                <a:cs typeface="+mn-cs"/>
              </a:rPr>
              <a:t>Trainer indicates to trainees when returning an item to a claimant they may need to:</a:t>
            </a:r>
          </a:p>
          <a:p>
            <a:pPr>
              <a:buFont typeface="Arial" pitchFamily="34" charset="0"/>
              <a:buChar char="•"/>
            </a:pPr>
            <a:r>
              <a:rPr lang="en-AU" sz="1200" kern="1200" noProof="0" dirty="0" smtClean="0">
                <a:solidFill>
                  <a:schemeClr val="tx1"/>
                </a:solidFill>
                <a:ea typeface="+mn-ea"/>
                <a:cs typeface="+mn-cs"/>
              </a:rPr>
              <a:t> Complete details of claimant – name and contact details</a:t>
            </a:r>
          </a:p>
          <a:p>
            <a:pPr>
              <a:buFont typeface="Arial" pitchFamily="34" charset="0"/>
              <a:buChar char="•"/>
            </a:pPr>
            <a:r>
              <a:rPr lang="en-AU" sz="1200" kern="1200" noProof="0" dirty="0" smtClean="0">
                <a:solidFill>
                  <a:schemeClr val="tx1"/>
                </a:solidFill>
                <a:ea typeface="+mn-ea"/>
                <a:cs typeface="+mn-cs"/>
              </a:rPr>
              <a:t> Insert identification of article/s used to identify claimant – passport, driver’s licence including relevant details (number of item, expiry date) or copy of same</a:t>
            </a:r>
          </a:p>
          <a:p>
            <a:pPr>
              <a:buFont typeface="Arial" pitchFamily="34" charset="0"/>
              <a:buChar char="•"/>
            </a:pPr>
            <a:r>
              <a:rPr lang="en-AU" sz="1200" kern="1200" noProof="0" dirty="0" smtClean="0">
                <a:solidFill>
                  <a:schemeClr val="tx1"/>
                </a:solidFill>
                <a:ea typeface="+mn-ea"/>
                <a:cs typeface="+mn-cs"/>
              </a:rPr>
              <a:t> Insert identification of article/s used as claimant’s proof of  ownership of the item – photograph, receipt</a:t>
            </a:r>
          </a:p>
          <a:p>
            <a:pPr>
              <a:buFont typeface="Arial" pitchFamily="34" charset="0"/>
              <a:buChar char="•"/>
            </a:pPr>
            <a:r>
              <a:rPr lang="en-AU" sz="1200" kern="1200" noProof="0" dirty="0" smtClean="0">
                <a:solidFill>
                  <a:schemeClr val="tx1"/>
                </a:solidFill>
                <a:ea typeface="+mn-ea"/>
                <a:cs typeface="+mn-cs"/>
              </a:rPr>
              <a:t> Obtain a signature from the claimant – verifying they have received the item released to them</a:t>
            </a:r>
          </a:p>
          <a:p>
            <a:pPr>
              <a:buFont typeface="Arial" pitchFamily="34" charset="0"/>
              <a:buChar char="•"/>
            </a:pPr>
            <a:r>
              <a:rPr lang="en-AU" sz="1200" kern="1200" noProof="0" dirty="0" smtClean="0">
                <a:solidFill>
                  <a:schemeClr val="tx1"/>
                </a:solidFill>
                <a:ea typeface="+mn-ea"/>
                <a:cs typeface="+mn-cs"/>
              </a:rPr>
              <a:t> Fill in other Register columns as appropriate to the particular Register being used and/or the requirements of additional house policies.</a:t>
            </a:r>
          </a:p>
          <a:p>
            <a:endParaRPr lang="en-AU" sz="1200" kern="1200" noProof="0" dirty="0" smtClean="0">
              <a:solidFill>
                <a:schemeClr val="tx1"/>
              </a:solidFill>
              <a:ea typeface="+mn-ea"/>
              <a:cs typeface="+mn-cs"/>
            </a:endParaRPr>
          </a:p>
          <a:p>
            <a:pPr>
              <a:buFont typeface="Arial" pitchFamily="34" charset="0"/>
              <a:buNone/>
            </a:pPr>
            <a:r>
              <a:rPr lang="en-AU" b="1" noProof="0" dirty="0" smtClean="0"/>
              <a:t>Class Activity – Role Play</a:t>
            </a:r>
          </a:p>
          <a:p>
            <a:pPr>
              <a:buFont typeface="Arial" pitchFamily="34" charset="0"/>
              <a:buNone/>
            </a:pPr>
            <a:r>
              <a:rPr lang="en-AU" b="0" noProof="0" dirty="0" smtClean="0"/>
              <a:t>Trainer plays the role of staff member assisting a guest to claim a lost item.</a:t>
            </a:r>
          </a:p>
          <a:p>
            <a:pPr>
              <a:buFont typeface="Arial" pitchFamily="34" charset="0"/>
              <a:buNone/>
            </a:pPr>
            <a:r>
              <a:rPr lang="en-AU" b="0" noProof="0" dirty="0" smtClean="0"/>
              <a:t>Trainee plays the role of a guest claiming a lost item.</a:t>
            </a:r>
          </a:p>
          <a:p>
            <a:pPr>
              <a:buFont typeface="Arial" pitchFamily="34" charset="0"/>
              <a:buNone/>
            </a:pPr>
            <a:endParaRPr lang="en-AU" b="0" noProof="0" dirty="0" smtClean="0"/>
          </a:p>
          <a:p>
            <a:pPr>
              <a:buFont typeface="Arial" pitchFamily="34" charset="0"/>
              <a:buNone/>
            </a:pPr>
            <a:r>
              <a:rPr lang="en-AU" b="0" noProof="0" dirty="0" smtClean="0"/>
              <a:t>Trainer briefs the trainee regarding description of the item lost,</a:t>
            </a:r>
            <a:r>
              <a:rPr lang="en-US" b="0" dirty="0" smtClean="0"/>
              <a:t> and the details</a:t>
            </a:r>
            <a:r>
              <a:rPr lang="en-US" b="0" baseline="0" dirty="0" smtClean="0"/>
              <a:t> of the loss, how and when it was lost.</a:t>
            </a:r>
          </a:p>
          <a:p>
            <a:pPr>
              <a:buFont typeface="Arial" pitchFamily="34" charset="0"/>
              <a:buNone/>
            </a:pPr>
            <a:r>
              <a:rPr lang="en-US" b="0" baseline="0" dirty="0" smtClean="0"/>
              <a:t>Trainer arranges for a suitable item to be available and tagged as the lost item.</a:t>
            </a:r>
          </a:p>
          <a:p>
            <a:pPr>
              <a:buFont typeface="Arial" pitchFamily="34" charset="0"/>
              <a:buNone/>
            </a:pPr>
            <a:endParaRPr lang="en-US" b="0" baseline="0" dirty="0" smtClean="0"/>
          </a:p>
          <a:p>
            <a:pPr>
              <a:buFont typeface="Arial" pitchFamily="34" charset="0"/>
              <a:buNone/>
            </a:pPr>
            <a:r>
              <a:rPr lang="en-US" b="0" baseline="0" dirty="0" smtClean="0"/>
              <a:t>Trainee approaches trainer and makes enquiries about the lost item and trainer leads the trainee/’guest’ through the claim procedure as outlined.</a:t>
            </a:r>
          </a:p>
          <a:p>
            <a:pPr>
              <a:buFont typeface="Arial" pitchFamily="34" charset="0"/>
              <a:buNone/>
            </a:pPr>
            <a:r>
              <a:rPr lang="en-US" b="0" baseline="0" dirty="0" smtClean="0"/>
              <a:t>Remaining trainees observe the role play.</a:t>
            </a:r>
          </a:p>
          <a:p>
            <a:pPr>
              <a:buFont typeface="Arial" pitchFamily="34" charset="0"/>
              <a:buNone/>
            </a:pPr>
            <a:r>
              <a:rPr lang="en-US" b="0" baseline="0" dirty="0" smtClean="0"/>
              <a:t>A discussion and analysis is held on completion of the role play to evaluate the processes.</a:t>
            </a:r>
          </a:p>
          <a:p>
            <a:pPr>
              <a:buFont typeface="Arial" pitchFamily="34" charset="0"/>
              <a:buNone/>
            </a:pPr>
            <a:endParaRPr lang="en-US" b="0" baseline="0" dirty="0" smtClean="0"/>
          </a:p>
          <a:p>
            <a:pPr>
              <a:buFont typeface="Arial" pitchFamily="34" charset="0"/>
              <a:buNone/>
            </a:pPr>
            <a:r>
              <a:rPr lang="en-US" b="0" baseline="0" dirty="0" smtClean="0"/>
              <a:t>Role play may then be repeated with a different item, using two trainees to play role of ‘staff member’ and ‘guest’.</a:t>
            </a:r>
            <a:endParaRPr lang="en-US" b="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102568395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suggests to trainees when they determine an item should not be returned to a claimant they should: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Involve management.</a:t>
            </a:r>
            <a:r>
              <a:rPr lang="en-US" sz="1200" kern="1200" baseline="0" dirty="0" smtClean="0">
                <a:solidFill>
                  <a:schemeClr val="tx1"/>
                </a:solidFill>
                <a:ea typeface="+mn-ea"/>
                <a:cs typeface="+mn-cs"/>
              </a:rPr>
              <a:t> I</a:t>
            </a:r>
            <a:r>
              <a:rPr lang="en-US" sz="1200" kern="1200" dirty="0" smtClean="0">
                <a:solidFill>
                  <a:schemeClr val="tx1"/>
                </a:solidFill>
                <a:ea typeface="+mn-ea"/>
                <a:cs typeface="+mn-cs"/>
              </a:rPr>
              <a:t>nvolving management demonstrates the seriousness of the situation and allows them to take charge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Explain reasons to management.</a:t>
            </a:r>
            <a:r>
              <a:rPr lang="en-US" sz="1200" kern="1200" baseline="0" dirty="0" smtClean="0">
                <a:solidFill>
                  <a:schemeClr val="tx1"/>
                </a:solidFill>
                <a:ea typeface="+mn-ea"/>
                <a:cs typeface="+mn-cs"/>
              </a:rPr>
              <a:t> H</a:t>
            </a:r>
            <a:r>
              <a:rPr lang="en-US" sz="1200" kern="1200" dirty="0" smtClean="0">
                <a:solidFill>
                  <a:schemeClr val="tx1"/>
                </a:solidFill>
                <a:ea typeface="+mn-ea"/>
                <a:cs typeface="+mn-cs"/>
              </a:rPr>
              <a:t>ighlight the factors indicating why it would be unwise to return the item to the claimant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Allow management to assess the situation.</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hey may decide to give the item to the claimant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Politely explain to the claimant why the refusal is being made highlighting this action is being take to safeguard property of the rightful owner.</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278563783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continues to provide advice to trainees regarding the refusal of an item to a claimant:</a:t>
            </a:r>
          </a:p>
          <a:p>
            <a:pPr>
              <a:buFont typeface="Arial" pitchFamily="34" charset="0"/>
              <a:buChar char="•"/>
            </a:pPr>
            <a:r>
              <a:rPr lang="en-US" sz="1200" kern="1200" dirty="0" smtClean="0">
                <a:solidFill>
                  <a:schemeClr val="tx1"/>
                </a:solidFill>
                <a:ea typeface="+mn-ea"/>
                <a:cs typeface="+mn-cs"/>
              </a:rPr>
              <a:t> Advise about what extra proof the claimant needs to provide to enable release of the item to them (such as more</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better proof of identification and/or ownership)</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a:t>
            </a:r>
            <a:r>
              <a:rPr lang="en-AU" sz="1200" kern="1200" noProof="0" dirty="0" smtClean="0">
                <a:solidFill>
                  <a:schemeClr val="tx1"/>
                </a:solidFill>
                <a:ea typeface="+mn-ea"/>
                <a:cs typeface="+mn-cs"/>
              </a:rPr>
              <a:t>Apologise</a:t>
            </a:r>
            <a:r>
              <a:rPr lang="en-US" sz="1200" kern="1200" dirty="0" smtClean="0">
                <a:solidFill>
                  <a:schemeClr val="tx1"/>
                </a:solidFill>
                <a:ea typeface="+mn-ea"/>
                <a:cs typeface="+mn-cs"/>
              </a:rPr>
              <a:t> for the inconvenience.</a:t>
            </a:r>
            <a:r>
              <a:rPr lang="en-US" sz="1200" kern="1200" baseline="0" dirty="0" smtClean="0">
                <a:solidFill>
                  <a:schemeClr val="tx1"/>
                </a:solidFill>
                <a:ea typeface="+mn-ea"/>
                <a:cs typeface="+mn-cs"/>
              </a:rPr>
              <a:t> B</a:t>
            </a:r>
            <a:r>
              <a:rPr lang="en-US" sz="1200" kern="1200" dirty="0" smtClean="0">
                <a:solidFill>
                  <a:schemeClr val="tx1"/>
                </a:solidFill>
                <a:ea typeface="+mn-ea"/>
                <a:cs typeface="+mn-cs"/>
              </a:rPr>
              <a:t>e genuine and re-state the refusal is in their best interests</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to protect their property from being given to the wrong person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Make an entry in the register reflecting what the claimant has been told .</a:t>
            </a:r>
            <a:r>
              <a:rPr lang="en-US" sz="1200" kern="1200" baseline="0" dirty="0" smtClean="0">
                <a:solidFill>
                  <a:schemeClr val="tx1"/>
                </a:solidFill>
                <a:ea typeface="+mn-ea"/>
                <a:cs typeface="+mn-cs"/>
              </a:rPr>
              <a:t> A </a:t>
            </a:r>
            <a:r>
              <a:rPr lang="en-US" sz="1200" kern="1200" dirty="0" smtClean="0">
                <a:solidFill>
                  <a:schemeClr val="tx1"/>
                </a:solidFill>
                <a:ea typeface="+mn-ea"/>
                <a:cs typeface="+mn-cs"/>
              </a:rPr>
              <a:t>separate piece of paper may need to be added to the Register</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Sign</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initial the Register and management should also sign/ or initial the Register as proof of their involvement.</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174692355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informs trainees that where people contact the venue from another country (or a distant location) they are expected to assist them claim lost items </a:t>
            </a:r>
            <a:r>
              <a:rPr lang="en-AU" sz="1200" kern="1200" noProof="0" dirty="0" smtClean="0">
                <a:solidFill>
                  <a:schemeClr val="tx1"/>
                </a:solidFill>
                <a:ea typeface="+mn-ea"/>
                <a:cs typeface="+mn-cs"/>
              </a:rPr>
              <a:t>emphasising</a:t>
            </a:r>
            <a:r>
              <a:rPr lang="en-US" sz="1200" kern="1200" dirty="0" smtClean="0">
                <a:solidFill>
                  <a:schemeClr val="tx1"/>
                </a:solidFill>
                <a:ea typeface="+mn-ea"/>
                <a:cs typeface="+mn-cs"/>
              </a:rPr>
              <a:t> the same care, attention and professionalism must be paid to these claimants as is paid to face to</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face claimants.</a:t>
            </a:r>
          </a:p>
          <a:p>
            <a:r>
              <a:rPr lang="en-US" sz="1200" kern="1200" dirty="0" smtClean="0">
                <a:solidFill>
                  <a:schemeClr val="tx1"/>
                </a:solidFill>
                <a:ea typeface="+mn-ea"/>
                <a:cs typeface="+mn-cs"/>
              </a:rPr>
              <a:t>Trainer tells trainees that  people from overseas or another country making enquiries about lost property may contact the venue to claim a lost item: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In response to contact made with them by the venue – mentioning a found item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Following up on a report made – when they reported a lost item while they were at the venue </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By chance.</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is arguably the most common type of contact and occurs when the individual discovers they have lost an item and contacts the venue hoping it has been handed in. In reality, they often really do not know where or when they lost the item.</a:t>
            </a:r>
            <a:endParaRPr lang="en-AU" sz="1200" kern="1200" dirty="0" smtClean="0">
              <a:solidFill>
                <a:schemeClr val="tx1"/>
              </a:solidFill>
              <a:ea typeface="+mn-ea"/>
              <a:cs typeface="+mn-cs"/>
            </a:endParaRPr>
          </a:p>
          <a:p>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34929380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the methods of communication when dealing with other-country lost property claims can be:</a:t>
            </a:r>
          </a:p>
          <a:p>
            <a:pPr>
              <a:buFont typeface="Arial" pitchFamily="34" charset="0"/>
              <a:buChar char="•"/>
            </a:pPr>
            <a:r>
              <a:rPr lang="en-US" dirty="0" smtClean="0"/>
              <a:t> Via telephone.</a:t>
            </a:r>
            <a:r>
              <a:rPr lang="en-US" baseline="0" dirty="0" smtClean="0"/>
              <a:t> This is t</a:t>
            </a:r>
            <a:r>
              <a:rPr lang="en-US" dirty="0" smtClean="0"/>
              <a:t>he most preferable medium as it is directs and allows for questions with immediate answers, and the use of follow-up questions</a:t>
            </a:r>
          </a:p>
          <a:p>
            <a:pPr>
              <a:buFont typeface="Arial" pitchFamily="34" charset="0"/>
              <a:buChar char="•"/>
            </a:pPr>
            <a:r>
              <a:rPr lang="en-US" dirty="0" smtClean="0"/>
              <a:t> Via facsimile/fax.</a:t>
            </a:r>
            <a:r>
              <a:rPr lang="en-US" baseline="0" dirty="0" smtClean="0"/>
              <a:t> This is a</a:t>
            </a:r>
            <a:r>
              <a:rPr lang="en-US" dirty="0" smtClean="0"/>
              <a:t> useful medium but one restricted in nature due to its limitations regarding two-way communication.</a:t>
            </a:r>
            <a:r>
              <a:rPr lang="en-US" baseline="0" dirty="0" smtClean="0"/>
              <a:t> A </a:t>
            </a:r>
            <a:r>
              <a:rPr lang="en-US" dirty="0" smtClean="0"/>
              <a:t>fax may be the start of a telephone or email exchange</a:t>
            </a:r>
          </a:p>
          <a:p>
            <a:pPr>
              <a:buFont typeface="Arial" pitchFamily="34" charset="0"/>
              <a:buChar char="•"/>
            </a:pPr>
            <a:r>
              <a:rPr lang="en-US" dirty="0" smtClean="0"/>
              <a:t> Via email.</a:t>
            </a:r>
            <a:r>
              <a:rPr lang="en-US" baseline="0" dirty="0" smtClean="0"/>
              <a:t> This is </a:t>
            </a:r>
            <a:r>
              <a:rPr lang="en-US" dirty="0" smtClean="0"/>
              <a:t>a relatively useful but potentially drawn out option .</a:t>
            </a:r>
            <a:r>
              <a:rPr lang="en-US" baseline="0" dirty="0" smtClean="0"/>
              <a:t> I</a:t>
            </a:r>
            <a:r>
              <a:rPr lang="en-US" dirty="0" smtClean="0"/>
              <a:t>t can allow photographs</a:t>
            </a:r>
            <a:r>
              <a:rPr lang="en-US" baseline="0" dirty="0" smtClean="0"/>
              <a:t> to be sent and received. Some properties are web-cam enabled to introduce a face to- ace element but transmission quality can make identification difficult at times.</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196542762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dirty="0" smtClean="0">
                <a:solidFill>
                  <a:schemeClr val="tx1"/>
                </a:solidFill>
                <a:ea typeface="+mn-ea"/>
                <a:cs typeface="+mn-cs"/>
              </a:rPr>
              <a:t>When</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talking to a person from another country</a:t>
            </a:r>
            <a:r>
              <a:rPr lang="en-US" sz="1200" kern="1200" baseline="0" dirty="0" smtClean="0">
                <a:solidFill>
                  <a:schemeClr val="tx1"/>
                </a:solidFill>
                <a:ea typeface="+mn-ea"/>
                <a:cs typeface="+mn-cs"/>
              </a:rPr>
              <a:t> or a </a:t>
            </a:r>
            <a:r>
              <a:rPr lang="en-US" sz="1200" kern="1200" dirty="0" smtClean="0">
                <a:solidFill>
                  <a:schemeClr val="tx1"/>
                </a:solidFill>
                <a:ea typeface="+mn-ea"/>
                <a:cs typeface="+mn-cs"/>
              </a:rPr>
              <a:t>distant area regarding their claim for a lost item, all the checks and verifications mentioned earlier in these notes must be undertaken. The</a:t>
            </a:r>
            <a:r>
              <a:rPr lang="en-US" sz="1200" kern="1200" baseline="0" dirty="0" smtClean="0">
                <a:solidFill>
                  <a:schemeClr val="tx1"/>
                </a:solidFill>
                <a:ea typeface="+mn-ea"/>
                <a:cs typeface="+mn-cs"/>
              </a:rPr>
              <a:t> fact they </a:t>
            </a:r>
            <a:r>
              <a:rPr lang="en-US" sz="1200" kern="1200" dirty="0" smtClean="0">
                <a:solidFill>
                  <a:schemeClr val="tx1"/>
                </a:solidFill>
                <a:ea typeface="+mn-ea"/>
                <a:cs typeface="+mn-cs"/>
              </a:rPr>
              <a:t>are not dealing with the claimant face</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to</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face does not allow them to apply a lesser standard of proof, ownership or identity.</a:t>
            </a:r>
            <a:endParaRPr lang="en-AU" sz="1200" kern="1200" dirty="0" smtClean="0">
              <a:solidFill>
                <a:schemeClr val="tx1"/>
              </a:solidFill>
              <a:ea typeface="+mn-ea"/>
              <a:cs typeface="+mn-cs"/>
            </a:endParaRPr>
          </a:p>
          <a:p>
            <a:endParaRPr lang="en-US" sz="1200" kern="1200" dirty="0" smtClean="0">
              <a:solidFill>
                <a:schemeClr val="tx1"/>
              </a:solidFill>
              <a:ea typeface="+mn-ea"/>
              <a:cs typeface="+mn-cs"/>
            </a:endParaRPr>
          </a:p>
          <a:p>
            <a:r>
              <a:rPr lang="en-US" sz="1200" kern="1200" dirty="0" smtClean="0">
                <a:solidFill>
                  <a:schemeClr val="tx1"/>
                </a:solidFill>
                <a:ea typeface="+mn-ea"/>
                <a:cs typeface="+mn-cs"/>
              </a:rPr>
              <a:t>Trainer indicates to trainees the factors to be addressed include: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Determining legitimate ownership of the items claimed.</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may be achieved by a combination of:</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Asking the claimant to forward required, acceptable, or identified evidence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Researching internal documents</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records</a:t>
            </a:r>
            <a:r>
              <a:rPr lang="en-US" sz="1200" kern="1200" baseline="0" dirty="0" smtClean="0">
                <a:solidFill>
                  <a:schemeClr val="tx1"/>
                </a:solidFill>
                <a:ea typeface="+mn-ea"/>
                <a:cs typeface="+mn-cs"/>
              </a:rPr>
              <a:t> s</a:t>
            </a:r>
            <a:r>
              <a:rPr lang="en-US" sz="1200" kern="1200" dirty="0" smtClean="0">
                <a:solidFill>
                  <a:schemeClr val="tx1"/>
                </a:solidFill>
                <a:ea typeface="+mn-ea"/>
                <a:cs typeface="+mn-cs"/>
              </a:rPr>
              <a:t>uch as Guest History, and/or Rooming List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Obtaining detailed description of items, when and where they were lost</a:t>
            </a:r>
            <a:r>
              <a:rPr lang="en-US" sz="1200" kern="1200" baseline="0" dirty="0" smtClean="0">
                <a:solidFill>
                  <a:schemeClr val="tx1"/>
                </a:solidFill>
                <a:ea typeface="+mn-ea"/>
                <a:cs typeface="+mn-cs"/>
              </a:rPr>
              <a:t> and their </a:t>
            </a:r>
            <a:r>
              <a:rPr lang="en-US" sz="1200" kern="1200" dirty="0" smtClean="0">
                <a:solidFill>
                  <a:schemeClr val="tx1"/>
                </a:solidFill>
                <a:ea typeface="+mn-ea"/>
                <a:cs typeface="+mn-cs"/>
              </a:rPr>
              <a:t>value to the best extent possible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Identifying the exact item so</a:t>
            </a:r>
            <a:r>
              <a:rPr lang="en-US" sz="1200" kern="1200" baseline="0" dirty="0" smtClean="0">
                <a:solidFill>
                  <a:schemeClr val="tx1"/>
                </a:solidFill>
                <a:ea typeface="+mn-ea"/>
                <a:cs typeface="+mn-cs"/>
              </a:rPr>
              <a:t> as </a:t>
            </a:r>
            <a:r>
              <a:rPr lang="en-US" sz="1200" kern="1200" dirty="0" smtClean="0">
                <a:solidFill>
                  <a:schemeClr val="tx1"/>
                </a:solidFill>
                <a:ea typeface="+mn-ea"/>
                <a:cs typeface="+mn-cs"/>
              </a:rPr>
              <a:t>to guard against a similar, but incorrect item, being forwarded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Determining guest’s preferred method of having the item returned.</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will often depend on the nature of the item (such as whether it is big/heavy or small/light and taking into account how expensive it is, and the sentimental nature of the article). Options include: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Mail – with further options relating to insurance, priority delivery, express post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Courier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Air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Other options may exist (for example, return by sea/boat</a:t>
            </a:r>
            <a:r>
              <a:rPr lang="en-US" sz="1200" kern="1200" baseline="0" dirty="0" smtClean="0">
                <a:solidFill>
                  <a:schemeClr val="tx1"/>
                </a:solidFill>
                <a:ea typeface="+mn-ea"/>
                <a:cs typeface="+mn-cs"/>
              </a:rPr>
              <a:t> or</a:t>
            </a:r>
            <a:r>
              <a:rPr lang="en-US" sz="1200" kern="1200" dirty="0" smtClean="0">
                <a:solidFill>
                  <a:schemeClr val="tx1"/>
                </a:solidFill>
                <a:ea typeface="+mn-ea"/>
                <a:cs typeface="+mn-cs"/>
              </a:rPr>
              <a:t> private vehicle) but these are not commonly used or offered as alternatives. </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35529375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advising trainees about how to process other</a:t>
            </a:r>
            <a:r>
              <a:rPr lang="en-US" baseline="0" dirty="0" smtClean="0"/>
              <a:t> </a:t>
            </a:r>
            <a:r>
              <a:rPr lang="en-US" dirty="0" smtClean="0"/>
              <a:t>country enquiries regarding lost property:</a:t>
            </a:r>
          </a:p>
          <a:p>
            <a:pPr>
              <a:buFont typeface="Arial" pitchFamily="34" charset="0"/>
              <a:buChar char="•"/>
            </a:pPr>
            <a:r>
              <a:rPr lang="en-US" sz="1200" kern="1200" dirty="0" smtClean="0">
                <a:solidFill>
                  <a:schemeClr val="tx1"/>
                </a:solidFill>
                <a:ea typeface="+mn-ea"/>
                <a:cs typeface="+mn-cs"/>
              </a:rPr>
              <a:t> Advising claimant the venue will process the return but will require payment for expenses entailed in return of the item.</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hese expenses are usually limited to direct expenses (packaging, wrapping, insurance, fees and charges) but do not normally include a component for ‘time and trouble’ taken to return the item.</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Where known the venue will inform the claimant of the estimated cost to return the item but (because no charge is levied for ‘time and trouble’) it is not common practice to obtain quotations for remitting the item and forwarding these quotes to the claimant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Obtaining relevant contact details of the claimant for delivery of the item.</a:t>
            </a:r>
            <a:r>
              <a:rPr lang="en-US" sz="1200" kern="1200" baseline="0" dirty="0" smtClean="0">
                <a:solidFill>
                  <a:schemeClr val="tx1"/>
                </a:solidFill>
                <a:ea typeface="+mn-ea"/>
                <a:cs typeface="+mn-cs"/>
              </a:rPr>
              <a:t> A </a:t>
            </a:r>
            <a:r>
              <a:rPr lang="en-US" sz="1200" kern="1200" dirty="0" smtClean="0">
                <a:solidFill>
                  <a:schemeClr val="tx1"/>
                </a:solidFill>
                <a:ea typeface="+mn-ea"/>
                <a:cs typeface="+mn-cs"/>
              </a:rPr>
              <a:t>check may be made to ensure these details are the same as the claimant’s details already recorded in the internal Guest History.</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is a one way of ensuring items are sent to their rightful owners.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Informing claimant regarding date/time the item will be dispatched so claimant can have an idea of when to expect the item.</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20929917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explains to trainees when arrangements for the return of an item to another country have been </a:t>
            </a:r>
            <a:r>
              <a:rPr lang="en-US" sz="1200" kern="1200" dirty="0" err="1" smtClean="0">
                <a:solidFill>
                  <a:schemeClr val="tx1"/>
                </a:solidFill>
                <a:ea typeface="+mn-ea"/>
                <a:cs typeface="+mn-cs"/>
              </a:rPr>
              <a:t>fi</a:t>
            </a:r>
            <a:r>
              <a:rPr lang="en-AU" sz="1200" kern="1200" noProof="0" dirty="0" err="1" smtClean="0">
                <a:solidFill>
                  <a:schemeClr val="tx1"/>
                </a:solidFill>
                <a:ea typeface="+mn-ea"/>
                <a:cs typeface="+mn-cs"/>
              </a:rPr>
              <a:t>nalised</a:t>
            </a:r>
            <a:r>
              <a:rPr lang="en-US" sz="1200" kern="1200" dirty="0" smtClean="0">
                <a:solidFill>
                  <a:schemeClr val="tx1"/>
                </a:solidFill>
                <a:ea typeface="+mn-ea"/>
                <a:cs typeface="+mn-cs"/>
              </a:rPr>
              <a:t> they must process the return of items in accordance with agreed arrangements: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It is important to work quickly but to ensure, at the same time, the item being returned is not damaged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Processing may involve: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Wrapping and packaging the item to protect it during transit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Addressing the item/package to the agreed address</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Selecting and paying for appropriate/agreed insurance as agreed</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required by the owner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Notifying a carrier</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courier to collect the item.</a:t>
            </a:r>
            <a:endParaRPr lang="en-AU" sz="1200" kern="120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62421596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to trainees an outline of the activities potentially involved in returning a ‘lost property item’ to another country:</a:t>
            </a:r>
          </a:p>
          <a:p>
            <a:pPr lvl="1">
              <a:buFont typeface="Arial" pitchFamily="34" charset="0"/>
              <a:buChar char="•"/>
            </a:pPr>
            <a:r>
              <a:rPr lang="en-US" sz="1200" kern="1200" dirty="0" smtClean="0">
                <a:solidFill>
                  <a:schemeClr val="tx1"/>
                </a:solidFill>
                <a:ea typeface="+mn-ea"/>
                <a:cs typeface="+mn-cs"/>
              </a:rPr>
              <a:t> Taking the item to a carrier/courier or delivery service where they cannot attend to collect the item</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Capturing consignment details, number, expected delivery date/time and/or delivery route including details of any online tracking service offered by the carrier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Paying for the return of the item and obtaining receipt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Notifying claimant the item has been sent and providing relevant tracking details and/or delivery information.</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a suitable courier or transport company to attend and talk to trainees about:</a:t>
            </a:r>
          </a:p>
          <a:p>
            <a:pPr>
              <a:buFont typeface="Arial" pitchFamily="34" charset="0"/>
              <a:buChar char="•"/>
            </a:pPr>
            <a:r>
              <a:rPr lang="en-US" b="0" dirty="0" smtClean="0"/>
              <a:t> The delivery services they provide with reference to how these may be applicable to returning lost items to other countries and remote</a:t>
            </a:r>
            <a:r>
              <a:rPr lang="en-US" b="0" baseline="0" dirty="0" smtClean="0"/>
              <a:t> or distant </a:t>
            </a:r>
            <a:r>
              <a:rPr lang="en-US" b="0" dirty="0" smtClean="0"/>
              <a:t>areas</a:t>
            </a:r>
          </a:p>
          <a:p>
            <a:pPr>
              <a:buFont typeface="Arial" pitchFamily="34" charset="0"/>
              <a:buChar char="•"/>
            </a:pPr>
            <a:r>
              <a:rPr lang="en-US" b="0" dirty="0" smtClean="0"/>
              <a:t> How packages must be wrapped and packaged</a:t>
            </a:r>
          </a:p>
          <a:p>
            <a:pPr>
              <a:buFont typeface="Arial" pitchFamily="34" charset="0"/>
              <a:buChar char="•"/>
            </a:pPr>
            <a:r>
              <a:rPr lang="en-US" b="0" dirty="0" smtClean="0"/>
              <a:t> Additional services available such as insurance, use of special containers, tracking, express delivery, door-to-door delivery,</a:t>
            </a:r>
            <a:r>
              <a:rPr lang="en-US" b="0" baseline="0" dirty="0" smtClean="0"/>
              <a:t> </a:t>
            </a:r>
            <a:r>
              <a:rPr lang="en-US" b="0" dirty="0" smtClean="0"/>
              <a:t>guarantees</a:t>
            </a:r>
            <a:r>
              <a:rPr lang="en-US" b="0" baseline="0" dirty="0" smtClean="0"/>
              <a:t> and/or warranties</a:t>
            </a:r>
            <a:endParaRPr lang="en-US" b="0" dirty="0" smtClean="0"/>
          </a:p>
          <a:p>
            <a:pPr>
              <a:buFont typeface="Arial" pitchFamily="34" charset="0"/>
              <a:buChar char="•"/>
            </a:pPr>
            <a:r>
              <a:rPr lang="en-US" b="0" dirty="0" smtClean="0"/>
              <a:t> Sample costs for delivery to various countries/destinations</a:t>
            </a:r>
            <a:r>
              <a:rPr lang="en-US" b="0" baseline="0" dirty="0" smtClean="0"/>
              <a:t> for a range of weights</a:t>
            </a:r>
          </a:p>
          <a:p>
            <a:pPr>
              <a:buFont typeface="Arial" pitchFamily="34" charset="0"/>
              <a:buChar char="•"/>
            </a:pPr>
            <a:r>
              <a:rPr lang="en-US" b="0" baseline="0" dirty="0" smtClean="0"/>
              <a:t> Documentation involved and information required before items can be sent.</a:t>
            </a:r>
            <a:endParaRPr lang="en-US" b="0" dirty="0" smtClean="0"/>
          </a:p>
          <a:p>
            <a:pPr>
              <a:buFont typeface="Arial" pitchFamily="34" charset="0"/>
              <a:buChar char="•"/>
            </a:pPr>
            <a:endParaRPr lang="en-US" b="0" dirty="0" smtClean="0"/>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347829291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reminds trainees about the central role of the Lost and Found register. This Register must again be updated when an item is returned to another country, distant or remote location. There is generally a requirement to include information to identify:</a:t>
            </a:r>
          </a:p>
          <a:p>
            <a:pPr>
              <a:buFont typeface="Arial" pitchFamily="34" charset="0"/>
              <a:buChar char="•"/>
            </a:pPr>
            <a:r>
              <a:rPr lang="en-US" sz="1200" kern="1200" dirty="0" smtClean="0">
                <a:solidFill>
                  <a:schemeClr val="tx1"/>
                </a:solidFill>
                <a:ea typeface="+mn-ea"/>
                <a:cs typeface="+mn-cs"/>
              </a:rPr>
              <a:t> Delivery address for the item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Name of carrier or service used to deliver/return the item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Details of any special service such as express post, insurance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Cost – identifying and quantifying every cost paid by the venue and to be recovered from the claimant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Date and time sent for use as a reference point for tracking and determining delivery date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Details of any item/delivery-specific data such as consignment number, delivery receipt number. </a:t>
            </a:r>
            <a:endParaRPr lang="en-AU" sz="1200" kern="120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428778914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265563556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79505783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166632487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None/>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regarding their experiences and knowledge of dealing with unclaimed items in a Lost and Found facility:</a:t>
            </a:r>
          </a:p>
          <a:p>
            <a:pPr>
              <a:buFont typeface="Arial" pitchFamily="34" charset="0"/>
              <a:buChar char="•"/>
            </a:pPr>
            <a:r>
              <a:rPr lang="en-US" b="0" dirty="0" smtClean="0"/>
              <a:t> How long are valuable items commonly stored in a Lost and Found facility before they are disposed of?</a:t>
            </a:r>
          </a:p>
          <a:p>
            <a:pPr>
              <a:buFont typeface="Arial" pitchFamily="34" charset="0"/>
              <a:buChar char="•"/>
            </a:pPr>
            <a:r>
              <a:rPr lang="en-US" b="0" dirty="0" smtClean="0"/>
              <a:t> If valuable items are not claimed, how might they be disposed of?</a:t>
            </a:r>
          </a:p>
          <a:p>
            <a:pPr>
              <a:buFont typeface="Arial" pitchFamily="34" charset="0"/>
              <a:buChar char="•"/>
            </a:pPr>
            <a:r>
              <a:rPr lang="en-US" b="0" dirty="0" smtClean="0"/>
              <a:t> What establishment policies might be involved when disposing of found items?</a:t>
            </a:r>
          </a:p>
          <a:p>
            <a:pPr>
              <a:buFont typeface="Arial" pitchFamily="34" charset="0"/>
              <a:buChar char="•"/>
            </a:pPr>
            <a:r>
              <a:rPr lang="en-US" b="0" dirty="0" smtClean="0"/>
              <a:t> What do you think is meant by the expression ‘theft by finding’?</a:t>
            </a:r>
          </a:p>
          <a:p>
            <a:pPr>
              <a:buFont typeface="Arial" pitchFamily="34" charset="0"/>
              <a:buChar char="•"/>
            </a:pPr>
            <a:r>
              <a:rPr lang="en-US" b="0" dirty="0" smtClean="0"/>
              <a:t> When an item is disposed of, what updates to the Lost and Found Register do you think would need to be made?</a:t>
            </a:r>
          </a:p>
          <a:p>
            <a:pPr>
              <a:buFont typeface="Arial" pitchFamily="34" charset="0"/>
              <a:buChar char="•"/>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342380533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states to trainees that when dealing with unclaimed lost and found items it is vital establishment policies are followed.</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hese house policies will comply with legal requirements and demonstrate adherence to appropriate business ethics.</a:t>
            </a:r>
          </a:p>
          <a:p>
            <a:r>
              <a:rPr lang="en-US" sz="1200" kern="1200" dirty="0" smtClean="0">
                <a:solidFill>
                  <a:schemeClr val="tx1"/>
                </a:solidFill>
                <a:ea typeface="+mn-ea"/>
                <a:cs typeface="+mn-cs"/>
              </a:rPr>
              <a:t>Trainer introduces to trainees the concept of ‘holding times’ for found items.</a:t>
            </a:r>
            <a:r>
              <a:rPr lang="en-US" sz="1200" kern="1200" baseline="0" dirty="0" smtClean="0">
                <a:solidFill>
                  <a:schemeClr val="tx1"/>
                </a:solidFill>
                <a:ea typeface="+mn-ea"/>
                <a:cs typeface="+mn-cs"/>
              </a:rPr>
              <a:t> T</a:t>
            </a:r>
            <a:r>
              <a:rPr lang="en-US" sz="1200" b="0" kern="1200" dirty="0" smtClean="0">
                <a:solidFill>
                  <a:schemeClr val="tx1"/>
                </a:solidFill>
                <a:ea typeface="+mn-ea"/>
                <a:cs typeface="+mn-cs"/>
              </a:rPr>
              <a:t>his policy will specify the length of time a property will retain an item before disposing of it, based on the classification of the item</a:t>
            </a:r>
            <a:r>
              <a:rPr lang="en-US" sz="1200" kern="1200" dirty="0" smtClean="0">
                <a:solidFill>
                  <a:schemeClr val="tx1"/>
                </a:solidFill>
                <a:ea typeface="+mn-ea"/>
                <a:cs typeface="+mn-cs"/>
              </a:rPr>
              <a:t>:</a:t>
            </a:r>
          </a:p>
          <a:p>
            <a:r>
              <a:rPr lang="en-US" sz="1200" b="1" i="1" kern="1200" dirty="0" smtClean="0">
                <a:solidFill>
                  <a:schemeClr val="tx1"/>
                </a:solidFill>
                <a:ea typeface="+mn-ea"/>
                <a:cs typeface="+mn-cs"/>
              </a:rPr>
              <a:t>Valuable items</a:t>
            </a:r>
            <a:endParaRPr lang="en-AU" sz="1200" b="1" i="1"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 Valuable items are held for between 6 – 12 months</a:t>
            </a:r>
            <a:endParaRPr lang="en-AU" sz="1200" b="1"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 Valuable items are held longer because</a:t>
            </a:r>
            <a:r>
              <a:rPr lang="en-US" sz="1200" b="0" kern="1200" baseline="0" dirty="0" smtClean="0">
                <a:solidFill>
                  <a:schemeClr val="tx1"/>
                </a:solidFill>
                <a:ea typeface="+mn-ea"/>
                <a:cs typeface="+mn-cs"/>
              </a:rPr>
              <a:t> </a:t>
            </a:r>
            <a:r>
              <a:rPr lang="en-US" sz="1200" b="0" kern="1200" dirty="0" smtClean="0">
                <a:solidFill>
                  <a:schemeClr val="tx1"/>
                </a:solidFill>
                <a:ea typeface="+mn-ea"/>
                <a:cs typeface="+mn-cs"/>
              </a:rPr>
              <a:t>there is a greater chance the owner will eventually make a claim for them.</a:t>
            </a:r>
            <a:endParaRPr lang="en-AU" sz="1200" b="1" kern="1200" dirty="0" smtClean="0">
              <a:solidFill>
                <a:schemeClr val="tx1"/>
              </a:solidFill>
              <a:ea typeface="+mn-ea"/>
              <a:cs typeface="+mn-cs"/>
            </a:endParaRPr>
          </a:p>
          <a:p>
            <a:r>
              <a:rPr lang="en-US" sz="1200" b="1" i="1" kern="1200" dirty="0" smtClean="0">
                <a:solidFill>
                  <a:schemeClr val="tx1"/>
                </a:solidFill>
                <a:ea typeface="+mn-ea"/>
                <a:cs typeface="+mn-cs"/>
              </a:rPr>
              <a:t>Non-valuable items</a:t>
            </a:r>
            <a:endParaRPr lang="en-AU" sz="1200" b="1" i="1"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 Non-valuable items are commonly held for 3 – 6 months </a:t>
            </a:r>
            <a:endParaRPr lang="en-AU" sz="1200" b="1"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 If the establishment has a guest library, unclaimed </a:t>
            </a:r>
            <a:r>
              <a:rPr lang="en-US" sz="1200" b="0" i="1" kern="1200" dirty="0" smtClean="0">
                <a:solidFill>
                  <a:schemeClr val="tx1"/>
                </a:solidFill>
                <a:ea typeface="+mn-ea"/>
                <a:cs typeface="+mn-cs"/>
              </a:rPr>
              <a:t>books</a:t>
            </a:r>
            <a:r>
              <a:rPr lang="en-US" sz="1200" b="0" kern="1200" dirty="0" smtClean="0">
                <a:solidFill>
                  <a:schemeClr val="tx1"/>
                </a:solidFill>
                <a:ea typeface="+mn-ea"/>
                <a:cs typeface="+mn-cs"/>
              </a:rPr>
              <a:t> may be entered into the library.</a:t>
            </a:r>
            <a:endParaRPr lang="en-AU" sz="1200" b="1" kern="1200" dirty="0" smtClean="0">
              <a:solidFill>
                <a:schemeClr val="tx1"/>
              </a:solidFill>
              <a:ea typeface="+mn-ea"/>
              <a:cs typeface="+mn-cs"/>
            </a:endParaRPr>
          </a:p>
          <a:p>
            <a:r>
              <a:rPr lang="en-US" sz="1200" b="1" i="1" kern="1200" dirty="0" smtClean="0">
                <a:solidFill>
                  <a:schemeClr val="tx1"/>
                </a:solidFill>
                <a:ea typeface="+mn-ea"/>
                <a:cs typeface="+mn-cs"/>
              </a:rPr>
              <a:t>Perishable food</a:t>
            </a:r>
            <a:endParaRPr lang="en-AU" sz="1200" b="1" i="1"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 Where perishable food is held, it is usually kept for 24 – 48 hours only </a:t>
            </a:r>
            <a:endParaRPr lang="en-AU" sz="1200" b="1"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 Many venues immediately throw out all open bottles of drink, and all opened food found in a departed guest room/refrigerator.</a:t>
            </a:r>
            <a:endParaRPr lang="en-AU" sz="1200" b="1" kern="1200" dirty="0" smtClean="0">
              <a:solidFill>
                <a:schemeClr val="tx1"/>
              </a:solidFill>
              <a:ea typeface="+mn-ea"/>
              <a:cs typeface="+mn-cs"/>
            </a:endParaRPr>
          </a:p>
          <a:p>
            <a:endParaRPr lang="en-US" sz="1200" kern="1200" dirty="0" smtClean="0">
              <a:solidFill>
                <a:schemeClr val="tx1"/>
              </a:solidFill>
              <a:ea typeface="+mn-ea"/>
              <a:cs typeface="+mn-cs"/>
            </a:endParaRPr>
          </a:p>
          <a:p>
            <a:r>
              <a:rPr lang="en-AU" sz="1200" b="1" kern="1200" dirty="0" smtClean="0">
                <a:solidFill>
                  <a:schemeClr val="tx1"/>
                </a:solidFill>
                <a:ea typeface="+mn-ea"/>
                <a:cs typeface="+mn-cs"/>
              </a:rPr>
              <a:t>Class Activity – Handout and Discussion of Policy</a:t>
            </a:r>
          </a:p>
          <a:p>
            <a:r>
              <a:rPr lang="en-AU" sz="1200" b="0" kern="1200" dirty="0" smtClean="0">
                <a:solidFill>
                  <a:schemeClr val="tx1"/>
                </a:solidFill>
                <a:ea typeface="+mn-ea"/>
                <a:cs typeface="+mn-cs"/>
              </a:rPr>
              <a:t>Trainer obtains</a:t>
            </a:r>
            <a:r>
              <a:rPr lang="en-AU" sz="1200" b="0" kern="1200" baseline="0" dirty="0" smtClean="0">
                <a:solidFill>
                  <a:schemeClr val="tx1"/>
                </a:solidFill>
                <a:ea typeface="+mn-ea"/>
                <a:cs typeface="+mn-cs"/>
              </a:rPr>
              <a:t> sample house policy for a relevant venue and:</a:t>
            </a:r>
          </a:p>
          <a:p>
            <a:pPr>
              <a:buFont typeface="Arial" pitchFamily="34" charset="0"/>
              <a:buChar char="•"/>
            </a:pPr>
            <a:r>
              <a:rPr lang="en-AU" sz="1200" b="0" kern="1200" baseline="0" dirty="0" smtClean="0">
                <a:solidFill>
                  <a:schemeClr val="tx1"/>
                </a:solidFill>
                <a:ea typeface="+mn-ea"/>
                <a:cs typeface="+mn-cs"/>
              </a:rPr>
              <a:t> Distributes to class</a:t>
            </a:r>
          </a:p>
          <a:p>
            <a:pPr>
              <a:buFont typeface="Arial" pitchFamily="34" charset="0"/>
              <a:buChar char="•"/>
            </a:pPr>
            <a:r>
              <a:rPr lang="en-AU" sz="1200" b="0" kern="1200" baseline="0" dirty="0" smtClean="0">
                <a:solidFill>
                  <a:schemeClr val="tx1"/>
                </a:solidFill>
                <a:ea typeface="+mn-ea"/>
                <a:cs typeface="+mn-cs"/>
              </a:rPr>
              <a:t> Discusses requirements</a:t>
            </a:r>
          </a:p>
          <a:p>
            <a:pPr>
              <a:buFont typeface="Arial" pitchFamily="34" charset="0"/>
              <a:buChar char="•"/>
            </a:pPr>
            <a:r>
              <a:rPr lang="en-AU" sz="1200" b="0" kern="1200" baseline="0" dirty="0" smtClean="0">
                <a:solidFill>
                  <a:schemeClr val="tx1"/>
                </a:solidFill>
                <a:ea typeface="+mn-ea"/>
                <a:cs typeface="+mn-cs"/>
              </a:rPr>
              <a:t> Explains rationale for policy requirements.</a:t>
            </a:r>
            <a:endParaRPr lang="en-AU" sz="1200" b="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347438699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kern="1200" dirty="0" smtClean="0">
                <a:solidFill>
                  <a:schemeClr val="tx1"/>
                </a:solidFill>
                <a:ea typeface="+mn-ea"/>
                <a:cs typeface="+mn-cs"/>
              </a:rPr>
              <a:t>Trainer explains to trainees that venues will have a ‘Disposal’ policy for found property indicating this policy dictates what happens to found items if they are not claimed.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dirty="0" smtClean="0">
              <a:solidFill>
                <a:schemeClr val="tx1"/>
              </a:solidFill>
              <a:ea typeface="+mn-ea"/>
              <a:cs typeface="+mn-cs"/>
            </a:endParaRPr>
          </a:p>
          <a:p>
            <a:r>
              <a:rPr lang="en-US" sz="1200" b="0" kern="1200" dirty="0" smtClean="0">
                <a:solidFill>
                  <a:schemeClr val="tx1"/>
                </a:solidFill>
                <a:ea typeface="+mn-ea"/>
                <a:cs typeface="+mn-cs"/>
              </a:rPr>
              <a:t>Trainer tells trainees that unclaimed valuables are treated differently to other items because of their importance and/or value and after their designated holding period has elapsed, valuable items may be:</a:t>
            </a:r>
            <a:endParaRPr lang="en-AU" sz="1200" b="1"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Handed in to Police.</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is the recommended procedure and ensures no complications or subsequent legal action.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Given to charity.</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option demonstrates corporate citizenship on behalf of the venue and enables the property to prove staff did not benefit from someone else’s loss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Returned to the person who found them.</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is not recommended for items where personal details of the owner are present.</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Returning items to the finder may be policy only for valuable items of ‘lesser value’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Note that</a:t>
            </a:r>
            <a:r>
              <a:rPr lang="en-US" sz="1200" kern="1200" baseline="0" dirty="0" smtClean="0">
                <a:solidFill>
                  <a:schemeClr val="tx1"/>
                </a:solidFill>
                <a:ea typeface="+mn-ea"/>
                <a:cs typeface="+mn-cs"/>
              </a:rPr>
              <a:t> p</a:t>
            </a:r>
            <a:r>
              <a:rPr lang="en-US" sz="1200" kern="1200" dirty="0" smtClean="0">
                <a:solidFill>
                  <a:schemeClr val="tx1"/>
                </a:solidFill>
                <a:ea typeface="+mn-ea"/>
                <a:cs typeface="+mn-cs"/>
              </a:rPr>
              <a:t>olice often retain an item that is handed in for a certain period (say, six months) and then return it to the person</a:t>
            </a:r>
            <a:r>
              <a:rPr lang="en-US" sz="1200" kern="1200" baseline="0" dirty="0" smtClean="0">
                <a:solidFill>
                  <a:schemeClr val="tx1"/>
                </a:solidFill>
                <a:ea typeface="+mn-ea"/>
                <a:cs typeface="+mn-cs"/>
              </a:rPr>
              <a:t> or </a:t>
            </a:r>
            <a:r>
              <a:rPr lang="en-AU" sz="1200" kern="1200" noProof="0" dirty="0" smtClean="0">
                <a:solidFill>
                  <a:schemeClr val="tx1"/>
                </a:solidFill>
                <a:ea typeface="+mn-ea"/>
                <a:cs typeface="+mn-cs"/>
              </a:rPr>
              <a:t>organisation</a:t>
            </a:r>
            <a:r>
              <a:rPr lang="en-US" sz="1200" kern="1200" dirty="0" smtClean="0">
                <a:solidFill>
                  <a:schemeClr val="tx1"/>
                </a:solidFill>
                <a:ea typeface="+mn-ea"/>
                <a:cs typeface="+mn-cs"/>
              </a:rPr>
              <a:t> who handed it in. The item may then be given to the finder.</a:t>
            </a:r>
            <a:endParaRPr lang="en-AU" sz="1200" kern="1200" dirty="0" smtClean="0">
              <a:solidFill>
                <a:schemeClr val="tx1"/>
              </a:solidFill>
              <a:ea typeface="+mn-ea"/>
              <a:cs typeface="+mn-cs"/>
            </a:endParaRPr>
          </a:p>
          <a:p>
            <a:pPr>
              <a:buFont typeface="Arial" pitchFamily="34" charset="0"/>
              <a:buNone/>
            </a:pPr>
            <a:endParaRPr lang="en-US" dirty="0" smtClean="0"/>
          </a:p>
          <a:p>
            <a:r>
              <a:rPr lang="en-AU" sz="1200" b="1" kern="1200" dirty="0" smtClean="0">
                <a:solidFill>
                  <a:schemeClr val="tx1"/>
                </a:solidFill>
                <a:ea typeface="+mn-ea"/>
                <a:cs typeface="+mn-cs"/>
              </a:rPr>
              <a:t>Class Activity – Handout and Discussion of Policy</a:t>
            </a:r>
          </a:p>
          <a:p>
            <a:r>
              <a:rPr lang="en-AU" sz="1200" b="0" kern="1200" dirty="0" smtClean="0">
                <a:solidFill>
                  <a:schemeClr val="tx1"/>
                </a:solidFill>
                <a:ea typeface="+mn-ea"/>
                <a:cs typeface="+mn-cs"/>
              </a:rPr>
              <a:t>Trainer obtains</a:t>
            </a:r>
            <a:r>
              <a:rPr lang="en-AU" sz="1200" b="0" kern="1200" baseline="0" dirty="0" smtClean="0">
                <a:solidFill>
                  <a:schemeClr val="tx1"/>
                </a:solidFill>
                <a:ea typeface="+mn-ea"/>
                <a:cs typeface="+mn-cs"/>
              </a:rPr>
              <a:t> sample house policy for a relevant venue and:</a:t>
            </a:r>
          </a:p>
          <a:p>
            <a:pPr>
              <a:buFont typeface="Arial" pitchFamily="34" charset="0"/>
              <a:buChar char="•"/>
            </a:pPr>
            <a:r>
              <a:rPr lang="en-AU" sz="1200" b="0" kern="1200" baseline="0" dirty="0" smtClean="0">
                <a:solidFill>
                  <a:schemeClr val="tx1"/>
                </a:solidFill>
                <a:ea typeface="+mn-ea"/>
                <a:cs typeface="+mn-cs"/>
              </a:rPr>
              <a:t> Distributes to class</a:t>
            </a:r>
          </a:p>
          <a:p>
            <a:pPr>
              <a:buFont typeface="Arial" pitchFamily="34" charset="0"/>
              <a:buChar char="•"/>
            </a:pPr>
            <a:r>
              <a:rPr lang="en-AU" sz="1200" b="0" kern="1200" baseline="0" dirty="0" smtClean="0">
                <a:solidFill>
                  <a:schemeClr val="tx1"/>
                </a:solidFill>
                <a:ea typeface="+mn-ea"/>
                <a:cs typeface="+mn-cs"/>
              </a:rPr>
              <a:t> Discusses requirements</a:t>
            </a:r>
          </a:p>
          <a:p>
            <a:pPr>
              <a:buFont typeface="Arial" pitchFamily="34" charset="0"/>
              <a:buChar char="•"/>
            </a:pPr>
            <a:r>
              <a:rPr lang="en-AU" sz="1200" b="0" kern="1200" baseline="0" dirty="0" smtClean="0">
                <a:solidFill>
                  <a:schemeClr val="tx1"/>
                </a:solidFill>
                <a:ea typeface="+mn-ea"/>
                <a:cs typeface="+mn-cs"/>
              </a:rPr>
              <a:t> Explains rationale for policy requirements.</a:t>
            </a:r>
            <a:endParaRPr lang="en-AU" sz="1200" b="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279234429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dirty="0" smtClean="0">
                <a:solidFill>
                  <a:schemeClr val="tx1"/>
                </a:solidFill>
                <a:ea typeface="+mn-ea"/>
                <a:cs typeface="+mn-cs"/>
              </a:rPr>
              <a:t>Trainer explains to trainees the house policy regarding disposal of non-valuable items following expiry of their holding time may be:</a:t>
            </a:r>
            <a:endParaRPr lang="en-AU" sz="1200" b="1"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Finder may be offered the item.</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means the staff member who finds the item may be given the option of keeping the item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Where the finder of a non-valuable item is a member of the public or a guest, the item is usually thrown out.</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he time and trouble involved in contacting the guest is not worth the effort unless a specific promise to do so was made at the time the item was handed in and recorded in the Lost and Found Register</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The item is thrown out into the trash.</a:t>
            </a:r>
            <a:r>
              <a:rPr lang="en-US" sz="1200" kern="1200" baseline="0" dirty="0" smtClean="0">
                <a:solidFill>
                  <a:schemeClr val="tx1"/>
                </a:solidFill>
                <a:ea typeface="+mn-ea"/>
                <a:cs typeface="+mn-cs"/>
              </a:rPr>
              <a:t> S</a:t>
            </a:r>
            <a:r>
              <a:rPr lang="en-US" sz="1200" kern="1200" dirty="0" smtClean="0">
                <a:solidFill>
                  <a:schemeClr val="tx1"/>
                </a:solidFill>
                <a:ea typeface="+mn-ea"/>
                <a:cs typeface="+mn-cs"/>
              </a:rPr>
              <a:t>ome properties have a SOP all non-valuable items must be thrown out: nothing can be given to staff. This avoids potential problems relating to the venue failing to discharge its Duty of Care.</a:t>
            </a:r>
            <a:endParaRPr lang="en-AU" sz="1200" kern="1200" dirty="0" smtClean="0">
              <a:solidFill>
                <a:schemeClr val="tx1"/>
              </a:solidFill>
              <a:ea typeface="+mn-ea"/>
              <a:cs typeface="+mn-cs"/>
            </a:endParaRPr>
          </a:p>
          <a:p>
            <a:pPr>
              <a:buFont typeface="Arial" pitchFamily="34" charset="0"/>
              <a:buNone/>
            </a:pPr>
            <a:endParaRPr lang="en-US" dirty="0" smtClean="0"/>
          </a:p>
          <a:p>
            <a:r>
              <a:rPr lang="en-AU" sz="1200" b="1" kern="1200" dirty="0" smtClean="0">
                <a:solidFill>
                  <a:schemeClr val="tx1"/>
                </a:solidFill>
                <a:ea typeface="+mn-ea"/>
                <a:cs typeface="+mn-cs"/>
              </a:rPr>
              <a:t>Class Activity – Handout and Discussion of Policy</a:t>
            </a:r>
          </a:p>
          <a:p>
            <a:r>
              <a:rPr lang="en-AU" sz="1200" b="0" kern="1200" dirty="0" smtClean="0">
                <a:solidFill>
                  <a:schemeClr val="tx1"/>
                </a:solidFill>
                <a:ea typeface="+mn-ea"/>
                <a:cs typeface="+mn-cs"/>
              </a:rPr>
              <a:t>Trainer obtains</a:t>
            </a:r>
            <a:r>
              <a:rPr lang="en-AU" sz="1200" b="0" kern="1200" baseline="0" dirty="0" smtClean="0">
                <a:solidFill>
                  <a:schemeClr val="tx1"/>
                </a:solidFill>
                <a:ea typeface="+mn-ea"/>
                <a:cs typeface="+mn-cs"/>
              </a:rPr>
              <a:t> sample house policy for a relevant venue and:</a:t>
            </a:r>
          </a:p>
          <a:p>
            <a:pPr>
              <a:buFont typeface="Arial" pitchFamily="34" charset="0"/>
              <a:buChar char="•"/>
            </a:pPr>
            <a:r>
              <a:rPr lang="en-AU" sz="1200" b="0" kern="1200" baseline="0" dirty="0" smtClean="0">
                <a:solidFill>
                  <a:schemeClr val="tx1"/>
                </a:solidFill>
                <a:ea typeface="+mn-ea"/>
                <a:cs typeface="+mn-cs"/>
              </a:rPr>
              <a:t> Distributes to class</a:t>
            </a:r>
          </a:p>
          <a:p>
            <a:pPr>
              <a:buFont typeface="Arial" pitchFamily="34" charset="0"/>
              <a:buChar char="•"/>
            </a:pPr>
            <a:r>
              <a:rPr lang="en-AU" sz="1200" b="0" kern="1200" baseline="0" dirty="0" smtClean="0">
                <a:solidFill>
                  <a:schemeClr val="tx1"/>
                </a:solidFill>
                <a:ea typeface="+mn-ea"/>
                <a:cs typeface="+mn-cs"/>
              </a:rPr>
              <a:t> Discusses requirements</a:t>
            </a:r>
          </a:p>
          <a:p>
            <a:pPr>
              <a:buFont typeface="Arial" pitchFamily="34" charset="0"/>
              <a:buChar char="•"/>
            </a:pPr>
            <a:r>
              <a:rPr lang="en-AU" sz="1200" b="0" kern="1200" baseline="0" dirty="0" smtClean="0">
                <a:solidFill>
                  <a:schemeClr val="tx1"/>
                </a:solidFill>
                <a:ea typeface="+mn-ea"/>
                <a:cs typeface="+mn-cs"/>
              </a:rPr>
              <a:t> Explains rationale for policy requirements.</a:t>
            </a:r>
            <a:endParaRPr lang="en-AU" sz="1200" b="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38139971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dirty="0" smtClean="0">
                <a:solidFill>
                  <a:schemeClr val="tx1"/>
                </a:solidFill>
                <a:ea typeface="+mn-ea"/>
                <a:cs typeface="+mn-cs"/>
              </a:rPr>
              <a:t>Trainer highlights to trainees the disposal of perishable items may be:</a:t>
            </a:r>
            <a:endParaRPr lang="en-AU" sz="1200" b="1"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Open</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partially used perishable items are thrown out.</a:t>
            </a:r>
            <a:r>
              <a:rPr lang="en-US" sz="1200" kern="1200" baseline="0" dirty="0" smtClean="0">
                <a:solidFill>
                  <a:schemeClr val="tx1"/>
                </a:solidFill>
                <a:ea typeface="+mn-ea"/>
                <a:cs typeface="+mn-cs"/>
              </a:rPr>
              <a:t> S</a:t>
            </a:r>
            <a:r>
              <a:rPr lang="en-US" sz="1200" kern="1200" dirty="0" smtClean="0">
                <a:solidFill>
                  <a:schemeClr val="tx1"/>
                </a:solidFill>
                <a:ea typeface="+mn-ea"/>
                <a:cs typeface="+mn-cs"/>
              </a:rPr>
              <a:t>taff are not allowed to consume open</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partially used items. Venues often require this in order for them to discharge their duty of care for their staff.</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policy potentially protects staff from eating or drinking poisoned or otherwise contaminated food</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drink</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Unopened perishable items may be given to staff.</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generally applies only to items in a sealed container (bottle, can, packet) where the seal</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package has not been compromised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Unopened perishable items may be thrown out.</a:t>
            </a:r>
            <a:r>
              <a:rPr lang="en-US" sz="1200" kern="1200" baseline="0" dirty="0" smtClean="0">
                <a:solidFill>
                  <a:schemeClr val="tx1"/>
                </a:solidFill>
                <a:ea typeface="+mn-ea"/>
                <a:cs typeface="+mn-cs"/>
              </a:rPr>
              <a:t> M</a:t>
            </a:r>
            <a:r>
              <a:rPr lang="en-US" sz="1200" kern="1200" dirty="0" smtClean="0">
                <a:solidFill>
                  <a:schemeClr val="tx1"/>
                </a:solidFill>
                <a:ea typeface="+mn-ea"/>
                <a:cs typeface="+mn-cs"/>
              </a:rPr>
              <a:t>any properties have this as a standard requirement to protect staff (refer Duty of Care obligations).</a:t>
            </a:r>
            <a:endParaRPr lang="en-AU" sz="1200" kern="1200" dirty="0" smtClean="0">
              <a:solidFill>
                <a:schemeClr val="tx1"/>
              </a:solidFill>
              <a:ea typeface="+mn-ea"/>
              <a:cs typeface="+mn-cs"/>
            </a:endParaRPr>
          </a:p>
          <a:p>
            <a:pPr>
              <a:buFont typeface="Arial" pitchFamily="34" charset="0"/>
              <a:buNone/>
            </a:pPr>
            <a:endParaRPr lang="en-US" dirty="0" smtClean="0"/>
          </a:p>
          <a:p>
            <a:r>
              <a:rPr lang="en-AU" sz="1200" b="1" kern="1200" dirty="0" smtClean="0">
                <a:solidFill>
                  <a:schemeClr val="tx1"/>
                </a:solidFill>
                <a:ea typeface="+mn-ea"/>
                <a:cs typeface="+mn-cs"/>
              </a:rPr>
              <a:t>Class Activity – Handout and Discussion of Policy</a:t>
            </a:r>
          </a:p>
          <a:p>
            <a:r>
              <a:rPr lang="en-AU" sz="1200" b="0" kern="1200" dirty="0" smtClean="0">
                <a:solidFill>
                  <a:schemeClr val="tx1"/>
                </a:solidFill>
                <a:ea typeface="+mn-ea"/>
                <a:cs typeface="+mn-cs"/>
              </a:rPr>
              <a:t>Trainer obtains</a:t>
            </a:r>
            <a:r>
              <a:rPr lang="en-AU" sz="1200" b="0" kern="1200" baseline="0" dirty="0" smtClean="0">
                <a:solidFill>
                  <a:schemeClr val="tx1"/>
                </a:solidFill>
                <a:ea typeface="+mn-ea"/>
                <a:cs typeface="+mn-cs"/>
              </a:rPr>
              <a:t> sample house policy for a relevant venue and:</a:t>
            </a:r>
          </a:p>
          <a:p>
            <a:pPr>
              <a:buFont typeface="Arial" pitchFamily="34" charset="0"/>
              <a:buChar char="•"/>
            </a:pPr>
            <a:r>
              <a:rPr lang="en-AU" sz="1200" b="0" kern="1200" baseline="0" dirty="0" smtClean="0">
                <a:solidFill>
                  <a:schemeClr val="tx1"/>
                </a:solidFill>
                <a:ea typeface="+mn-ea"/>
                <a:cs typeface="+mn-cs"/>
              </a:rPr>
              <a:t> Distributes to class</a:t>
            </a:r>
          </a:p>
          <a:p>
            <a:pPr>
              <a:buFont typeface="Arial" pitchFamily="34" charset="0"/>
              <a:buChar char="•"/>
            </a:pPr>
            <a:r>
              <a:rPr lang="en-AU" sz="1200" b="0" kern="1200" baseline="0" dirty="0" smtClean="0">
                <a:solidFill>
                  <a:schemeClr val="tx1"/>
                </a:solidFill>
                <a:ea typeface="+mn-ea"/>
                <a:cs typeface="+mn-cs"/>
              </a:rPr>
              <a:t> Discusses requirements</a:t>
            </a:r>
          </a:p>
          <a:p>
            <a:pPr>
              <a:buFont typeface="Arial" pitchFamily="34" charset="0"/>
              <a:buChar char="•"/>
            </a:pPr>
            <a:r>
              <a:rPr lang="en-AU" sz="1200" b="0" kern="1200" baseline="0" dirty="0" smtClean="0">
                <a:solidFill>
                  <a:schemeClr val="tx1"/>
                </a:solidFill>
                <a:ea typeface="+mn-ea"/>
                <a:cs typeface="+mn-cs"/>
              </a:rPr>
              <a:t> Explains rationale for policy requirements.</a:t>
            </a:r>
            <a:endParaRPr lang="en-AU" sz="1200" b="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13514564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a typeface="+mn-ea"/>
                <a:cs typeface="+mn-cs"/>
              </a:rPr>
              <a:t>Trainer tells trainees it is imperative all legal requirements are complied with when disposing of found items in order to protect the venue and individual staff against criminal prosecution and/or civil action.</a:t>
            </a:r>
          </a:p>
          <a:p>
            <a:endParaRPr lang="en-US" sz="1200" kern="1200" dirty="0" smtClean="0">
              <a:solidFill>
                <a:schemeClr val="tx1"/>
              </a:solidFill>
              <a:ea typeface="+mn-ea"/>
              <a:cs typeface="+mn-cs"/>
            </a:endParaRPr>
          </a:p>
          <a:p>
            <a:r>
              <a:rPr lang="en-US" sz="1200" kern="1200" dirty="0" smtClean="0">
                <a:solidFill>
                  <a:schemeClr val="tx1"/>
                </a:solidFill>
                <a:ea typeface="+mn-ea"/>
                <a:cs typeface="+mn-cs"/>
              </a:rPr>
              <a:t>Trainer reminds</a:t>
            </a:r>
            <a:r>
              <a:rPr lang="en-US" sz="1200" kern="1200" baseline="0" dirty="0" smtClean="0">
                <a:solidFill>
                  <a:schemeClr val="tx1"/>
                </a:solidFill>
                <a:ea typeface="+mn-ea"/>
                <a:cs typeface="+mn-cs"/>
              </a:rPr>
              <a:t> trainees regarding ‘</a:t>
            </a:r>
            <a:r>
              <a:rPr lang="en-US" sz="1200" kern="1200" dirty="0" smtClean="0">
                <a:solidFill>
                  <a:schemeClr val="tx1"/>
                </a:solidFill>
                <a:ea typeface="+mn-ea"/>
                <a:cs typeface="+mn-cs"/>
              </a:rPr>
              <a:t>Bailment’.</a:t>
            </a:r>
            <a:r>
              <a:rPr lang="en-US" sz="1200" kern="1200" baseline="0" dirty="0" smtClean="0">
                <a:solidFill>
                  <a:schemeClr val="tx1"/>
                </a:solidFill>
                <a:ea typeface="+mn-ea"/>
                <a:cs typeface="+mn-cs"/>
              </a:rPr>
              <a:t> I</a:t>
            </a:r>
            <a:r>
              <a:rPr lang="en-US" sz="1200" kern="1200" dirty="0" smtClean="0">
                <a:solidFill>
                  <a:schemeClr val="tx1"/>
                </a:solidFill>
                <a:ea typeface="+mn-ea"/>
                <a:cs typeface="+mn-cs"/>
              </a:rPr>
              <a:t>t is the legal position where the ownership of goods is transferred from one person to another when an item is handed in to the venue as a found item.</a:t>
            </a:r>
            <a:r>
              <a:rPr lang="en-US" sz="1200" kern="1200" baseline="0" dirty="0" smtClean="0">
                <a:solidFill>
                  <a:schemeClr val="tx1"/>
                </a:solidFill>
                <a:ea typeface="+mn-ea"/>
                <a:cs typeface="+mn-cs"/>
              </a:rPr>
              <a:t> Venues </a:t>
            </a:r>
            <a:r>
              <a:rPr lang="en-US" sz="1200" kern="1200" dirty="0" smtClean="0">
                <a:solidFill>
                  <a:schemeClr val="tx1"/>
                </a:solidFill>
                <a:ea typeface="+mn-ea"/>
                <a:cs typeface="+mn-cs"/>
              </a:rPr>
              <a:t>are under an obligation to:</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Look after the item to maintain it in the original condition it was in when it was found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Return the item on demand when claimed by the rightful owner.</a:t>
            </a:r>
            <a:endParaRPr lang="en-AU" sz="1200" kern="1200" dirty="0" smtClean="0">
              <a:solidFill>
                <a:schemeClr val="tx1"/>
              </a:solidFill>
              <a:ea typeface="+mn-ea"/>
              <a:cs typeface="+mn-cs"/>
            </a:endParaRPr>
          </a:p>
          <a:p>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348245598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dirty="0" smtClean="0">
                <a:solidFill>
                  <a:schemeClr val="tx1"/>
                </a:solidFill>
                <a:ea typeface="+mn-ea"/>
                <a:cs typeface="+mn-cs"/>
              </a:rPr>
              <a:t>Trainer advises trainees it is possible staff or members of the public, guests or customers who take items found in the venue for their own use could be guilty of an offence called ‘Theft by finding’. ‘Theft’ involves deliberate intent to permanently deprive the rightful owner of their legal right to their goods.</a:t>
            </a:r>
          </a:p>
          <a:p>
            <a:r>
              <a:rPr lang="en-US" sz="1200" b="1" i="1" kern="1200" dirty="0" smtClean="0">
                <a:solidFill>
                  <a:schemeClr val="tx1"/>
                </a:solidFill>
                <a:ea typeface="+mn-ea"/>
                <a:cs typeface="+mn-cs"/>
              </a:rPr>
              <a:t>Abandonment</a:t>
            </a:r>
            <a:endParaRPr lang="en-AU" sz="1200" b="1" i="1" kern="1200" dirty="0" smtClean="0">
              <a:solidFill>
                <a:schemeClr val="tx1"/>
              </a:solidFill>
              <a:ea typeface="+mn-ea"/>
              <a:cs typeface="+mn-cs"/>
            </a:endParaRPr>
          </a:p>
          <a:p>
            <a:r>
              <a:rPr lang="en-US" sz="1200" b="0" kern="1200" dirty="0" smtClean="0">
                <a:solidFill>
                  <a:schemeClr val="tx1"/>
                </a:solidFill>
                <a:ea typeface="+mn-ea"/>
                <a:cs typeface="+mn-cs"/>
              </a:rPr>
              <a:t>Trainer explains to trainees:</a:t>
            </a:r>
          </a:p>
          <a:p>
            <a:pPr>
              <a:buFont typeface="Arial" pitchFamily="34" charset="0"/>
              <a:buChar char="•"/>
            </a:pPr>
            <a:r>
              <a:rPr lang="en-US" sz="1200" b="0" kern="1200" dirty="0" smtClean="0">
                <a:solidFill>
                  <a:schemeClr val="tx1"/>
                </a:solidFill>
                <a:ea typeface="+mn-ea"/>
                <a:cs typeface="+mn-cs"/>
              </a:rPr>
              <a:t> Items can only be taken for personal</a:t>
            </a:r>
            <a:r>
              <a:rPr lang="en-US" sz="1200" b="0" kern="1200" baseline="0" dirty="0" smtClean="0">
                <a:solidFill>
                  <a:schemeClr val="tx1"/>
                </a:solidFill>
                <a:ea typeface="+mn-ea"/>
                <a:cs typeface="+mn-cs"/>
              </a:rPr>
              <a:t> or </a:t>
            </a:r>
            <a:r>
              <a:rPr lang="en-US" sz="1200" b="0" kern="1200" dirty="0" smtClean="0">
                <a:solidFill>
                  <a:schemeClr val="tx1"/>
                </a:solidFill>
                <a:ea typeface="+mn-ea"/>
                <a:cs typeface="+mn-cs"/>
              </a:rPr>
              <a:t>private use if they have been ‘abandoned’.</a:t>
            </a:r>
            <a:r>
              <a:rPr lang="en-US" sz="1200" b="0" kern="1200" baseline="0" dirty="0" smtClean="0">
                <a:solidFill>
                  <a:schemeClr val="tx1"/>
                </a:solidFill>
                <a:ea typeface="+mn-ea"/>
                <a:cs typeface="+mn-cs"/>
              </a:rPr>
              <a:t> T</a:t>
            </a:r>
            <a:r>
              <a:rPr lang="en-US" sz="1200" b="0" kern="1200" dirty="0" smtClean="0">
                <a:solidFill>
                  <a:schemeClr val="tx1"/>
                </a:solidFill>
                <a:ea typeface="+mn-ea"/>
                <a:cs typeface="+mn-cs"/>
              </a:rPr>
              <a:t>hat is, if they have been deliberately left with the intention by the owner of relinquishing legal title  or ownership of the goods</a:t>
            </a:r>
            <a:endParaRPr lang="en-AU" sz="1200" b="1"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 ‘Losing’ an item accidentally does not fall under the definition of abandonment</a:t>
            </a:r>
            <a:endParaRPr lang="en-AU" sz="1200" b="1"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 To avoid a charge of ‘theft by finding’ the finder is required to take reasonable action to identify and locate the finder. If an item has been handed in to the Lost and Found facility at a venue and the venue has tried to contact the owner, then this requirement may have been fulfilled.</a:t>
            </a:r>
            <a:endParaRPr lang="en-AU" sz="1200" b="1" kern="1200" dirty="0" smtClean="0">
              <a:solidFill>
                <a:schemeClr val="tx1"/>
              </a:solidFill>
              <a:ea typeface="+mn-ea"/>
              <a:cs typeface="+mn-cs"/>
            </a:endParaRPr>
          </a:p>
          <a:p>
            <a:r>
              <a:rPr lang="en-US" sz="1200" b="1" i="1" kern="1200" dirty="0" smtClean="0">
                <a:solidFill>
                  <a:schemeClr val="tx1"/>
                </a:solidFill>
                <a:ea typeface="+mn-ea"/>
                <a:cs typeface="+mn-cs"/>
              </a:rPr>
              <a:t>Mislaid property</a:t>
            </a:r>
            <a:endParaRPr lang="en-AU" sz="1200" b="1" i="1"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ea typeface="+mn-ea"/>
                <a:cs typeface="+mn-cs"/>
              </a:rPr>
              <a:t>Trainer explains to trainees:</a:t>
            </a:r>
          </a:p>
          <a:p>
            <a:pPr>
              <a:buFont typeface="Arial" pitchFamily="34" charset="0"/>
              <a:buChar char="•"/>
            </a:pPr>
            <a:r>
              <a:rPr lang="en-US" sz="1200" b="0" kern="1200" dirty="0" smtClean="0">
                <a:solidFill>
                  <a:schemeClr val="tx1"/>
                </a:solidFill>
                <a:ea typeface="+mn-ea"/>
                <a:cs typeface="+mn-cs"/>
              </a:rPr>
              <a:t> Property cannot be seen to be ‘abandoned’ if it is simply mislaid</a:t>
            </a:r>
            <a:r>
              <a:rPr lang="en-US" sz="1200" b="0" kern="1200" baseline="0" dirty="0" smtClean="0">
                <a:solidFill>
                  <a:schemeClr val="tx1"/>
                </a:solidFill>
                <a:ea typeface="+mn-ea"/>
                <a:cs typeface="+mn-cs"/>
              </a:rPr>
              <a:t> or </a:t>
            </a:r>
            <a:r>
              <a:rPr lang="en-US" sz="1200" b="0" kern="1200" dirty="0" smtClean="0">
                <a:solidFill>
                  <a:schemeClr val="tx1"/>
                </a:solidFill>
                <a:ea typeface="+mn-ea"/>
                <a:cs typeface="+mn-cs"/>
              </a:rPr>
              <a:t>misplaced. This relates to items placed somewhere by the owner who then forgets to pick the item up again when they leave. For example, a guest may leave their handbag</a:t>
            </a:r>
            <a:r>
              <a:rPr lang="en-US" sz="1200" b="0" kern="1200" baseline="0" dirty="0" smtClean="0">
                <a:solidFill>
                  <a:schemeClr val="tx1"/>
                </a:solidFill>
                <a:ea typeface="+mn-ea"/>
                <a:cs typeface="+mn-cs"/>
              </a:rPr>
              <a:t> or </a:t>
            </a:r>
            <a:r>
              <a:rPr lang="en-US" sz="1200" b="0" kern="1200" dirty="0" smtClean="0">
                <a:solidFill>
                  <a:schemeClr val="tx1"/>
                </a:solidFill>
                <a:ea typeface="+mn-ea"/>
                <a:cs typeface="+mn-cs"/>
              </a:rPr>
              <a:t>wallet at a POS register or at Reception when paying an account or checking out and forget to pick it up when they depart. This item is deemed to be neither lost nor abandoned but ‘mislaid’</a:t>
            </a:r>
            <a:endParaRPr lang="en-AU" sz="1200" b="1"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 Such items must be regarded, for the purposes of the venue</a:t>
            </a:r>
            <a:r>
              <a:rPr lang="en-US" sz="1200" b="0" kern="1200" baseline="0" dirty="0" smtClean="0">
                <a:solidFill>
                  <a:schemeClr val="tx1"/>
                </a:solidFill>
                <a:ea typeface="+mn-ea"/>
                <a:cs typeface="+mn-cs"/>
              </a:rPr>
              <a:t> </a:t>
            </a:r>
            <a:r>
              <a:rPr lang="en-US" sz="1200" b="0" kern="1200" dirty="0" smtClean="0">
                <a:solidFill>
                  <a:schemeClr val="tx1"/>
                </a:solidFill>
                <a:ea typeface="+mn-ea"/>
                <a:cs typeface="+mn-cs"/>
              </a:rPr>
              <a:t>as ‘lost’ and handed in to the Lost and Found facility.</a:t>
            </a:r>
            <a:endParaRPr lang="en-AU" sz="1200" b="1" kern="1200" dirty="0" smtClean="0">
              <a:solidFill>
                <a:schemeClr val="tx1"/>
              </a:solidFill>
              <a:ea typeface="+mn-ea"/>
              <a:cs typeface="+mn-cs"/>
            </a:endParaRPr>
          </a:p>
          <a:p>
            <a:endParaRPr lang="en-AU" sz="1200" b="1"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91278295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0" kern="1200" dirty="0" smtClean="0">
                <a:solidFill>
                  <a:schemeClr val="tx1"/>
                </a:solidFill>
                <a:ea typeface="+mn-ea"/>
                <a:cs typeface="+mn-cs"/>
              </a:rPr>
              <a:t>Trainer highlights to trainees the possible ramifications if they take found property and treat it as their own.</a:t>
            </a:r>
            <a:r>
              <a:rPr lang="en-US" sz="1200" b="0" kern="1200" baseline="0" dirty="0" smtClean="0">
                <a:solidFill>
                  <a:schemeClr val="tx1"/>
                </a:solidFill>
                <a:ea typeface="+mn-ea"/>
                <a:cs typeface="+mn-cs"/>
              </a:rPr>
              <a:t> T</a:t>
            </a:r>
            <a:r>
              <a:rPr lang="en-US" sz="1200" b="0" kern="1200" dirty="0" smtClean="0">
                <a:solidFill>
                  <a:schemeClr val="tx1"/>
                </a:solidFill>
                <a:ea typeface="+mn-ea"/>
                <a:cs typeface="+mn-cs"/>
              </a:rPr>
              <a:t>hey may be:</a:t>
            </a:r>
          </a:p>
          <a:p>
            <a:pPr>
              <a:buFont typeface="Arial" pitchFamily="34" charset="0"/>
              <a:buChar char="•"/>
            </a:pPr>
            <a:r>
              <a:rPr lang="en-US" sz="1200" kern="1200" dirty="0" smtClean="0">
                <a:solidFill>
                  <a:schemeClr val="tx1"/>
                </a:solidFill>
                <a:ea typeface="+mn-ea"/>
                <a:cs typeface="+mn-cs"/>
              </a:rPr>
              <a:t> Charged by the Police with a crime (theft by finding) </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Sued by the rightful owner of the item so as to be reimbursed for the value of the item involved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Dismissed from work for failing to comply with policies and procedures.</a:t>
            </a:r>
            <a:endParaRPr lang="en-AU" sz="1200" kern="1200" dirty="0" smtClean="0">
              <a:solidFill>
                <a:schemeClr val="tx1"/>
              </a:solidFill>
              <a:ea typeface="+mn-ea"/>
              <a:cs typeface="+mn-cs"/>
            </a:endParaRPr>
          </a:p>
          <a:p>
            <a:endParaRPr lang="en-US" sz="1200" b="1" kern="1200" dirty="0" smtClean="0">
              <a:solidFill>
                <a:schemeClr val="tx1"/>
              </a:solidFill>
              <a:ea typeface="+mn-ea"/>
              <a:cs typeface="+mn-cs"/>
            </a:endParaRPr>
          </a:p>
          <a:p>
            <a:r>
              <a:rPr lang="en-US" sz="1200" b="0" kern="1200" dirty="0" smtClean="0">
                <a:solidFill>
                  <a:schemeClr val="tx1"/>
                </a:solidFill>
                <a:ea typeface="+mn-ea"/>
                <a:cs typeface="+mn-cs"/>
              </a:rPr>
              <a:t>Trainer stresses to trainees the lesson in all this is to avoid potential legal and employment-related problems, they must always hand in anything they find:</a:t>
            </a:r>
            <a:endParaRPr lang="en-AU" sz="1200" b="1"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 At work, hand things in to the Lost and Found facility or Supervisor</a:t>
            </a:r>
            <a:endParaRPr lang="en-AU" sz="1200" b="1"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 Outside work, hand items in to the Police.</a:t>
            </a:r>
            <a:endParaRPr lang="en-AU" sz="1200" b="1"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Police or legal advisor to attend class and talk to trainees about:</a:t>
            </a:r>
          </a:p>
          <a:p>
            <a:pPr>
              <a:buFont typeface="Arial" pitchFamily="34" charset="0"/>
              <a:buChar char="•"/>
            </a:pPr>
            <a:r>
              <a:rPr lang="en-US" b="0" dirty="0" smtClean="0"/>
              <a:t> Specific country legislation and requirements relating to legal issues involved in staff and venues dealing with lost and found property with special attention to addressing:</a:t>
            </a:r>
          </a:p>
          <a:p>
            <a:pPr lvl="1">
              <a:buFont typeface="Arial" pitchFamily="34" charset="0"/>
              <a:buChar char="•"/>
            </a:pPr>
            <a:r>
              <a:rPr lang="en-US" b="0" dirty="0" smtClean="0"/>
              <a:t> Bailment</a:t>
            </a:r>
          </a:p>
          <a:p>
            <a:pPr lvl="1">
              <a:buFont typeface="Arial" pitchFamily="34" charset="0"/>
              <a:buChar char="•"/>
            </a:pPr>
            <a:r>
              <a:rPr lang="en-US" b="0" dirty="0" smtClean="0"/>
              <a:t> Theft by finding</a:t>
            </a:r>
          </a:p>
          <a:p>
            <a:pPr lvl="1">
              <a:buFont typeface="Arial" pitchFamily="34" charset="0"/>
              <a:buChar char="•"/>
            </a:pPr>
            <a:r>
              <a:rPr lang="en-US" b="0" dirty="0" smtClean="0"/>
              <a:t> Conversion</a:t>
            </a:r>
          </a:p>
          <a:p>
            <a:pPr lvl="1">
              <a:buFont typeface="Arial" pitchFamily="34" charset="0"/>
              <a:buChar char="•"/>
            </a:pPr>
            <a:r>
              <a:rPr lang="en-US" b="0" dirty="0" smtClean="0"/>
              <a:t> Possible criminal charges including:</a:t>
            </a:r>
          </a:p>
          <a:p>
            <a:pPr lvl="2">
              <a:buFont typeface="Arial" pitchFamily="34" charset="0"/>
              <a:buChar char="•"/>
            </a:pPr>
            <a:r>
              <a:rPr lang="en-US" b="0" dirty="0" smtClean="0"/>
              <a:t> Evidence required for such charges</a:t>
            </a:r>
          </a:p>
          <a:p>
            <a:pPr lvl="2">
              <a:buFont typeface="Arial" pitchFamily="34" charset="0"/>
              <a:buChar char="•"/>
            </a:pPr>
            <a:r>
              <a:rPr lang="en-US" b="0" dirty="0" smtClean="0"/>
              <a:t> Possible </a:t>
            </a:r>
            <a:r>
              <a:rPr lang="en-US" b="0" dirty="0" err="1" smtClean="0"/>
              <a:t>defences</a:t>
            </a:r>
            <a:r>
              <a:rPr lang="en-US" b="0" dirty="0" smtClean="0"/>
              <a:t> available</a:t>
            </a:r>
          </a:p>
          <a:p>
            <a:pPr lvl="2">
              <a:buFont typeface="Arial" pitchFamily="34" charset="0"/>
              <a:buChar char="•"/>
            </a:pPr>
            <a:r>
              <a:rPr lang="en-US" b="0" dirty="0" smtClean="0"/>
              <a:t> Possible penalties</a:t>
            </a:r>
          </a:p>
          <a:p>
            <a:pPr lvl="1">
              <a:buFont typeface="Arial" pitchFamily="34" charset="0"/>
              <a:buChar char="•"/>
            </a:pPr>
            <a:r>
              <a:rPr lang="en-US" b="0" dirty="0" smtClean="0"/>
              <a:t> Civil action from people who have lost items:</a:t>
            </a:r>
          </a:p>
          <a:p>
            <a:pPr lvl="2">
              <a:buFont typeface="Arial" pitchFamily="34" charset="0"/>
              <a:buChar char="•"/>
            </a:pPr>
            <a:r>
              <a:rPr lang="en-US" b="0" dirty="0" smtClean="0"/>
              <a:t> Likelihood of action</a:t>
            </a:r>
          </a:p>
          <a:p>
            <a:pPr lvl="2">
              <a:buFont typeface="Arial" pitchFamily="34" charset="0"/>
              <a:buChar char="•"/>
            </a:pPr>
            <a:r>
              <a:rPr lang="en-US" b="0" dirty="0" smtClean="0"/>
              <a:t> Evidence required</a:t>
            </a:r>
          </a:p>
          <a:p>
            <a:pPr lvl="2">
              <a:buFont typeface="Arial" pitchFamily="34" charset="0"/>
              <a:buChar char="•"/>
            </a:pPr>
            <a:r>
              <a:rPr lang="en-US" b="0" dirty="0" smtClean="0"/>
              <a:t> Possible outcomes of successful actions.</a:t>
            </a:r>
          </a:p>
          <a:p>
            <a:pPr lvl="2">
              <a:buFont typeface="Arial" pitchFamily="34" charset="0"/>
              <a:buChar char="•"/>
            </a:pPr>
            <a:endParaRPr lang="en-US" b="0" dirty="0" smtClean="0"/>
          </a:p>
          <a:p>
            <a:pPr lvl="1">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301172610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ea typeface="+mn-ea"/>
                <a:cs typeface="+mn-cs"/>
              </a:rPr>
              <a:t>Trainer emphasizes to trainees that whenever an item stored in the Lost and Found facility is returned to its owner or otherwise disposed of, the Lost and Found Register must be completed to record the action taken.</a:t>
            </a:r>
          </a:p>
          <a:p>
            <a:r>
              <a:rPr lang="en-US" sz="1200" kern="1200" dirty="0" smtClean="0">
                <a:solidFill>
                  <a:schemeClr val="tx1"/>
                </a:solidFill>
                <a:ea typeface="+mn-ea"/>
                <a:cs typeface="+mn-cs"/>
              </a:rPr>
              <a:t>Trainer explains to trainees they should comply with house requirements in this regard which may include:</a:t>
            </a:r>
          </a:p>
          <a:p>
            <a:pPr>
              <a:buFont typeface="Arial" pitchFamily="34" charset="0"/>
              <a:buChar char="•"/>
            </a:pPr>
            <a:r>
              <a:rPr lang="en-US" sz="1200" kern="1200" dirty="0" smtClean="0">
                <a:solidFill>
                  <a:schemeClr val="tx1"/>
                </a:solidFill>
                <a:ea typeface="+mn-ea"/>
                <a:cs typeface="+mn-cs"/>
              </a:rPr>
              <a:t> The Lost and Found Register should be checked every month (according to internal policy) to determine which items have reached their designated holding time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Checking items daily is not required, and checking on a weekly basis is not common.</a:t>
            </a:r>
            <a:r>
              <a:rPr lang="en-US" sz="1200" kern="1200" baseline="0" dirty="0" smtClean="0">
                <a:solidFill>
                  <a:schemeClr val="tx1"/>
                </a:solidFill>
                <a:ea typeface="+mn-ea"/>
                <a:cs typeface="+mn-cs"/>
              </a:rPr>
              <a:t> A </a:t>
            </a:r>
            <a:r>
              <a:rPr lang="en-US" sz="1200" kern="1200" dirty="0" smtClean="0">
                <a:solidFill>
                  <a:schemeClr val="tx1"/>
                </a:solidFill>
                <a:ea typeface="+mn-ea"/>
                <a:cs typeface="+mn-cs"/>
              </a:rPr>
              <a:t>check every two weeks or monthly</a:t>
            </a:r>
            <a:r>
              <a:rPr lang="en-US" sz="1200" kern="1200" baseline="0" dirty="0" smtClean="0">
                <a:solidFill>
                  <a:schemeClr val="tx1"/>
                </a:solidFill>
                <a:ea typeface="+mn-ea"/>
                <a:cs typeface="+mn-cs"/>
              </a:rPr>
              <a:t> can suffice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All items reaching</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exceeding their designated storage or holding time should be removed from storage and disposed of according to house/establishment policies.</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90546532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dirty="0" smtClean="0">
                <a:solidFill>
                  <a:schemeClr val="tx1"/>
                </a:solidFill>
                <a:ea typeface="+mn-ea"/>
                <a:cs typeface="+mn-cs"/>
              </a:rPr>
              <a:t>Trainer explains to trainees activities involved in removing and disposing of items from the Lost and Found facility that have reached their designated holding time include: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Take the Lost and Found Register to the storage area  if it is not already located in that area</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Read the Register to identify items exceeding their holding times.</a:t>
            </a:r>
            <a:r>
              <a:rPr lang="en-US" sz="1200" kern="1200" baseline="0" dirty="0" smtClean="0">
                <a:solidFill>
                  <a:schemeClr val="tx1"/>
                </a:solidFill>
                <a:ea typeface="+mn-ea"/>
                <a:cs typeface="+mn-cs"/>
              </a:rPr>
              <a:t> U</a:t>
            </a:r>
            <a:r>
              <a:rPr lang="en-US" sz="1200" kern="1200" dirty="0" smtClean="0">
                <a:solidFill>
                  <a:schemeClr val="tx1"/>
                </a:solidFill>
                <a:ea typeface="+mn-ea"/>
                <a:cs typeface="+mn-cs"/>
              </a:rPr>
              <a:t>se the ‘Date’ column as the reference point coupled with knowledge of venue holding times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Obtain the Lost and Found Tag number for the item</a:t>
            </a:r>
            <a:r>
              <a:rPr lang="en-US" sz="1200" kern="1200" baseline="0" dirty="0" smtClean="0">
                <a:solidFill>
                  <a:schemeClr val="tx1"/>
                </a:solidFill>
                <a:ea typeface="+mn-ea"/>
                <a:cs typeface="+mn-cs"/>
              </a:rPr>
              <a:t> r</a:t>
            </a:r>
            <a:r>
              <a:rPr lang="en-US" sz="1200" kern="1200" dirty="0" smtClean="0">
                <a:solidFill>
                  <a:schemeClr val="tx1"/>
                </a:solidFill>
                <a:ea typeface="+mn-ea"/>
                <a:cs typeface="+mn-cs"/>
              </a:rPr>
              <a:t>eading it from the Register and ensuring the correct item is being selected.</a:t>
            </a:r>
            <a:r>
              <a:rPr lang="en-US" sz="1200" kern="1200" baseline="0" dirty="0" smtClean="0">
                <a:solidFill>
                  <a:schemeClr val="tx1"/>
                </a:solidFill>
                <a:ea typeface="+mn-ea"/>
                <a:cs typeface="+mn-cs"/>
              </a:rPr>
              <a:t> A</a:t>
            </a:r>
            <a:r>
              <a:rPr lang="en-US" sz="1200" kern="1200" dirty="0" smtClean="0">
                <a:solidFill>
                  <a:schemeClr val="tx1"/>
                </a:solidFill>
                <a:ea typeface="+mn-ea"/>
                <a:cs typeface="+mn-cs"/>
              </a:rPr>
              <a:t>lways double-check the item chosen really is the one to be </a:t>
            </a:r>
            <a:r>
              <a:rPr lang="en-US" sz="1200" kern="1200" dirty="0" err="1" smtClean="0">
                <a:solidFill>
                  <a:schemeClr val="tx1"/>
                </a:solidFill>
                <a:ea typeface="+mn-ea"/>
                <a:cs typeface="+mn-cs"/>
              </a:rPr>
              <a:t>actioned</a:t>
            </a:r>
            <a:r>
              <a:rPr lang="en-US" sz="1200" kern="1200" dirty="0" smtClean="0">
                <a:solidFill>
                  <a:schemeClr val="tx1"/>
                </a:solidFill>
                <a:ea typeface="+mn-ea"/>
                <a:cs typeface="+mn-cs"/>
              </a:rPr>
              <a:t>.</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99997664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explain to trainees the activities involved in removing </a:t>
            </a:r>
            <a:r>
              <a:rPr lang="en-US" sz="1200" kern="1200" dirty="0" smtClean="0">
                <a:solidFill>
                  <a:schemeClr val="tx1"/>
                </a:solidFill>
                <a:ea typeface="+mn-ea"/>
                <a:cs typeface="+mn-cs"/>
              </a:rPr>
              <a:t>and disposing of items from the Lost and Found facility that have reached their designated holding time:</a:t>
            </a:r>
          </a:p>
          <a:p>
            <a:pPr>
              <a:buFont typeface="Arial" pitchFamily="34" charset="0"/>
              <a:buChar char="•"/>
            </a:pPr>
            <a:r>
              <a:rPr lang="en-US" sz="1200" kern="1200" dirty="0" smtClean="0">
                <a:solidFill>
                  <a:schemeClr val="tx1"/>
                </a:solidFill>
                <a:ea typeface="+mn-ea"/>
                <a:cs typeface="+mn-cs"/>
              </a:rPr>
              <a:t> Locate the item in the Lost and Found facility and physically remove it from the shelf, cupboard or wherever it is located</a:t>
            </a:r>
            <a:r>
              <a:rPr lang="en-US" sz="1200" kern="1200" baseline="0" dirty="0" smtClean="0">
                <a:solidFill>
                  <a:schemeClr val="tx1"/>
                </a:solidFill>
                <a:ea typeface="+mn-ea"/>
                <a:cs typeface="+mn-cs"/>
              </a:rPr>
              <a:t> or s</a:t>
            </a:r>
            <a:r>
              <a:rPr lang="en-US" sz="1200" kern="1200" dirty="0" smtClean="0">
                <a:solidFill>
                  <a:schemeClr val="tx1"/>
                </a:solidFill>
                <a:ea typeface="+mn-ea"/>
                <a:cs typeface="+mn-cs"/>
              </a:rPr>
              <a:t>tored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The item may be placed directly into a trash container (where it is to be disposed of) or into a cart where it is to be forwarded to the Police, a charity or a person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Tidy</a:t>
            </a:r>
            <a:r>
              <a:rPr lang="en-US" sz="1200" kern="1200" baseline="0" dirty="0" smtClean="0">
                <a:solidFill>
                  <a:schemeClr val="tx1"/>
                </a:solidFill>
                <a:ea typeface="+mn-ea"/>
                <a:cs typeface="+mn-cs"/>
              </a:rPr>
              <a:t> or </a:t>
            </a:r>
            <a:r>
              <a:rPr lang="en-US" sz="1200" kern="1200" dirty="0" smtClean="0">
                <a:solidFill>
                  <a:schemeClr val="tx1"/>
                </a:solidFill>
                <a:ea typeface="+mn-ea"/>
                <a:cs typeface="+mn-cs"/>
              </a:rPr>
              <a:t>rearrange the Lost and Found facility, shelves</a:t>
            </a:r>
            <a:r>
              <a:rPr lang="en-US" sz="1200" kern="1200" baseline="0" dirty="0" smtClean="0">
                <a:solidFill>
                  <a:schemeClr val="tx1"/>
                </a:solidFill>
                <a:ea typeface="+mn-ea"/>
                <a:cs typeface="+mn-cs"/>
              </a:rPr>
              <a:t> or</a:t>
            </a:r>
            <a:r>
              <a:rPr lang="en-US" sz="1200" kern="1200" dirty="0" smtClean="0">
                <a:solidFill>
                  <a:schemeClr val="tx1"/>
                </a:solidFill>
                <a:ea typeface="+mn-ea"/>
                <a:cs typeface="+mn-cs"/>
              </a:rPr>
              <a:t> area to reflect the items removed and make room for future items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Update the Lost and Found Register.</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his may require you to</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(depending on venue requirements and/or columns in the Register):</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Enter the date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Enter how the item was disposed of or where it was sent to</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Signature or initial of person performing the task</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Note: some properties require a line to be drawn through all items disposed of to make it easier to identify the items no longer in storage.</a:t>
            </a:r>
            <a:endParaRPr lang="en-AU" sz="1200" kern="1200" dirty="0" smtClean="0">
              <a:solidFill>
                <a:schemeClr val="tx1"/>
              </a:solidFill>
              <a:ea typeface="+mn-ea"/>
              <a:cs typeface="+mn-cs"/>
            </a:endParaRPr>
          </a:p>
          <a:p>
            <a:pPr>
              <a:buFont typeface="Arial" pitchFamily="34" charset="0"/>
              <a:buNone/>
            </a:pPr>
            <a:r>
              <a:rPr lang="en-US" sz="1200" kern="1200" dirty="0" smtClean="0">
                <a:solidFill>
                  <a:schemeClr val="tx1"/>
                </a:solidFill>
                <a:ea typeface="+mn-ea"/>
                <a:cs typeface="+mn-cs"/>
              </a:rPr>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137618325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explain to trainees the activities involved in removing </a:t>
            </a:r>
            <a:r>
              <a:rPr lang="en-US" sz="1200" kern="1200" dirty="0" smtClean="0">
                <a:solidFill>
                  <a:schemeClr val="tx1"/>
                </a:solidFill>
                <a:ea typeface="+mn-ea"/>
                <a:cs typeface="+mn-cs"/>
              </a:rPr>
              <a:t>and disposing of items from the Lost and Found facility that have reached their designated holding time:</a:t>
            </a:r>
          </a:p>
          <a:p>
            <a:pPr>
              <a:buFont typeface="Arial" pitchFamily="34" charset="0"/>
              <a:buChar char="•"/>
            </a:pPr>
            <a:r>
              <a:rPr lang="en-US" sz="1200" kern="1200" dirty="0" smtClean="0">
                <a:solidFill>
                  <a:schemeClr val="tx1"/>
                </a:solidFill>
                <a:ea typeface="+mn-ea"/>
                <a:cs typeface="+mn-cs"/>
              </a:rPr>
              <a:t> Deal with the item as appropriate: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Throw items to be disposed of into the trash</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Give items to designated people, as identified</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Hand in items to the Police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Deliver items to the charity</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Obtain receipts for items where appropriate:</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Police will provide a receipt for all items handed in</a:t>
            </a:r>
            <a:endParaRPr lang="en-AU" sz="1200" kern="1200" dirty="0" smtClean="0">
              <a:solidFill>
                <a:schemeClr val="tx1"/>
              </a:solidFill>
              <a:ea typeface="+mn-ea"/>
              <a:cs typeface="+mn-cs"/>
            </a:endParaRPr>
          </a:p>
          <a:p>
            <a:pPr lvl="1">
              <a:buFont typeface="Arial" pitchFamily="34" charset="0"/>
              <a:buChar char="•"/>
            </a:pPr>
            <a:r>
              <a:rPr lang="en-US" sz="1200" kern="1200" dirty="0" smtClean="0">
                <a:solidFill>
                  <a:schemeClr val="tx1"/>
                </a:solidFill>
                <a:ea typeface="+mn-ea"/>
                <a:cs typeface="+mn-cs"/>
              </a:rPr>
              <a:t> Many charities will provide some written record of donations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Insert receipts and other appropriate written records into Lost and Found Register (or other appropriate filing system) as proof of correct disposal</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Remember it is not enough to do the right thing.</a:t>
            </a:r>
            <a:r>
              <a:rPr lang="en-US" sz="1200" kern="1200" baseline="0" dirty="0" smtClean="0">
                <a:solidFill>
                  <a:schemeClr val="tx1"/>
                </a:solidFill>
                <a:ea typeface="+mn-ea"/>
                <a:cs typeface="+mn-cs"/>
              </a:rPr>
              <a:t> T</a:t>
            </a:r>
            <a:r>
              <a:rPr lang="en-US" sz="1200" kern="1200" dirty="0" smtClean="0">
                <a:solidFill>
                  <a:schemeClr val="tx1"/>
                </a:solidFill>
                <a:ea typeface="+mn-ea"/>
                <a:cs typeface="+mn-cs"/>
              </a:rPr>
              <a:t>here is also a need to be able to </a:t>
            </a:r>
            <a:r>
              <a:rPr lang="en-US" sz="1200" i="1" kern="1200" dirty="0" smtClean="0">
                <a:solidFill>
                  <a:schemeClr val="tx1"/>
                </a:solidFill>
                <a:ea typeface="+mn-ea"/>
                <a:cs typeface="+mn-cs"/>
              </a:rPr>
              <a:t>prove</a:t>
            </a:r>
            <a:r>
              <a:rPr lang="en-US" sz="1200" kern="1200" dirty="0" smtClean="0">
                <a:solidFill>
                  <a:schemeClr val="tx1"/>
                </a:solidFill>
                <a:ea typeface="+mn-ea"/>
                <a:cs typeface="+mn-cs"/>
              </a:rPr>
              <a:t> it was done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 Return the Lost and Found Register to its original location (where applicable) so it can be used by others when needed.</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Small Group Exercise</a:t>
            </a:r>
          </a:p>
          <a:p>
            <a:pPr>
              <a:buFont typeface="Arial" pitchFamily="34" charset="0"/>
              <a:buNone/>
            </a:pPr>
            <a:r>
              <a:rPr lang="en-US" b="0" dirty="0" smtClean="0"/>
              <a:t>Trainer arranges:</a:t>
            </a:r>
          </a:p>
          <a:p>
            <a:pPr>
              <a:buFont typeface="Arial" pitchFamily="34" charset="0"/>
              <a:buChar char="•"/>
            </a:pPr>
            <a:r>
              <a:rPr lang="en-US" b="0" dirty="0" smtClean="0"/>
              <a:t> A Lost and Found Register with a range of entries in the Found items section</a:t>
            </a:r>
          </a:p>
          <a:p>
            <a:pPr>
              <a:buFont typeface="Arial" pitchFamily="34" charset="0"/>
              <a:buChar char="•"/>
            </a:pPr>
            <a:r>
              <a:rPr lang="en-US" b="0" dirty="0" smtClean="0"/>
              <a:t> A simulated Lost and Found facility with items reflecting the entries in the Found items section of the Lost and Found Register (immediately above).</a:t>
            </a:r>
          </a:p>
          <a:p>
            <a:pPr>
              <a:buFont typeface="Arial" pitchFamily="34" charset="0"/>
              <a:buNone/>
            </a:pPr>
            <a:endParaRPr lang="en-US" b="0" dirty="0" smtClean="0"/>
          </a:p>
          <a:p>
            <a:pPr>
              <a:buFont typeface="Arial" pitchFamily="34" charset="0"/>
              <a:buNone/>
            </a:pPr>
            <a:r>
              <a:rPr lang="en-US" b="0" dirty="0" smtClean="0"/>
              <a:t>Trainer advises trainees regarding items that have reached their disposal date and asks them to ‘dispose’ of those items and update the Lost and Found Register to reflect the action taken.</a:t>
            </a:r>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298209098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301648613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353812803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108436093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3989713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4/6/2015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4/6/2015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4/6/2015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4/6/2015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4/6/2015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8.wmf"/></Relationships>
</file>

<file path=ppt/slides/_rels/slide40.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43.wmf"/></Relationships>
</file>

<file path=ppt/slides/_rels/slide58.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49.wmf"/></Relationships>
</file>

<file path=ppt/slides/_rels/slide6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1268760"/>
            <a:ext cx="6480048" cy="1285884"/>
          </a:xfrm>
        </p:spPr>
        <p:txBody>
          <a:bodyPr>
            <a:normAutofit fontScale="90000"/>
          </a:bodyPr>
          <a:lstStyle/>
          <a:p>
            <a:r>
              <a:rPr lang="en-US" sz="4000" dirty="0" smtClean="0">
                <a:ln w="5000" cmpd="sng">
                  <a:noFill/>
                  <a:prstDash val="solid"/>
                </a:ln>
                <a:solidFill>
                  <a:srgbClr val="FF6600"/>
                </a:solidFill>
                <a:latin typeface="Helvetica" pitchFamily="34" charset="0"/>
              </a:rPr>
              <a:t>PROVIDE A LOST AND FOUND FACILITY</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436096" y="2357430"/>
            <a:ext cx="2951656" cy="504056"/>
          </a:xfrm>
        </p:spPr>
        <p:txBody>
          <a:bodyPr>
            <a:normAutofit/>
          </a:bodyPr>
          <a:lstStyle/>
          <a:p>
            <a:r>
              <a:rPr lang="en-US" sz="1600" b="1" dirty="0" smtClean="0">
                <a:latin typeface="Helvetica" pitchFamily="34" charset="0"/>
              </a:rPr>
              <a:t>Unit Code: D1.HSS.CL4.09</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8" name="Picture 2" descr="I:\Overseas Projects\PHOTOS\Theme Park 2010\iStock_000007055099XSmall.jpg"/>
          <p:cNvPicPr>
            <a:picLocks noChangeAspect="1" noChangeArrowheads="1"/>
          </p:cNvPicPr>
          <p:nvPr/>
        </p:nvPicPr>
        <p:blipFill>
          <a:blip r:embed="rId3" cstate="print">
            <a:duotone>
              <a:prstClr val="black"/>
              <a:schemeClr val="tx2">
                <a:tint val="45000"/>
                <a:satMod val="400000"/>
              </a:schemeClr>
            </a:duotone>
          </a:blip>
          <a:srcRect l="10000" r="10000" b="10055"/>
          <a:stretch>
            <a:fillRect/>
          </a:stretch>
        </p:blipFill>
        <p:spPr bwMode="auto">
          <a:xfrm>
            <a:off x="4738689" y="3857628"/>
            <a:ext cx="1333509" cy="1000132"/>
          </a:xfrm>
          <a:prstGeom prst="rect">
            <a:avLst/>
          </a:prstGeom>
          <a:noFill/>
        </p:spPr>
      </p:pic>
      <p:pic>
        <p:nvPicPr>
          <p:cNvPr id="10" name="Picture 2" descr="I:\Overseas Projects\PHOTOS\Theme Park 2010\iStock_000007055099XSmall.jpg"/>
          <p:cNvPicPr>
            <a:picLocks noChangeAspect="1" noChangeArrowheads="1"/>
          </p:cNvPicPr>
          <p:nvPr/>
        </p:nvPicPr>
        <p:blipFill>
          <a:blip r:embed="rId3" cstate="print">
            <a:duotone>
              <a:prstClr val="black"/>
              <a:schemeClr val="accent2">
                <a:tint val="45000"/>
                <a:satMod val="400000"/>
              </a:schemeClr>
            </a:duotone>
          </a:blip>
          <a:srcRect l="10000" r="10000" b="10055"/>
          <a:stretch>
            <a:fillRect/>
          </a:stretch>
        </p:blipFill>
        <p:spPr bwMode="auto">
          <a:xfrm>
            <a:off x="6096011" y="3857628"/>
            <a:ext cx="1333509" cy="1000132"/>
          </a:xfrm>
          <a:prstGeom prst="rect">
            <a:avLst/>
          </a:prstGeom>
          <a:noFill/>
        </p:spPr>
      </p:pic>
      <p:pic>
        <p:nvPicPr>
          <p:cNvPr id="11" name="Picture 2" descr="I:\Overseas Projects\PHOTOS\Theme Park 2010\iStock_000007055099XSmall.jpg"/>
          <p:cNvPicPr>
            <a:picLocks noChangeAspect="1" noChangeArrowheads="1"/>
          </p:cNvPicPr>
          <p:nvPr/>
        </p:nvPicPr>
        <p:blipFill>
          <a:blip r:embed="rId3" cstate="print">
            <a:duotone>
              <a:prstClr val="black"/>
              <a:schemeClr val="accent4">
                <a:tint val="45000"/>
                <a:satMod val="400000"/>
              </a:schemeClr>
            </a:duotone>
          </a:blip>
          <a:srcRect l="10000" r="10000" b="10055"/>
          <a:stretch>
            <a:fillRect/>
          </a:stretch>
        </p:blipFill>
        <p:spPr bwMode="auto">
          <a:xfrm>
            <a:off x="7453333" y="3857628"/>
            <a:ext cx="1333509" cy="1000132"/>
          </a:xfrm>
          <a:prstGeom prst="rect">
            <a:avLst/>
          </a:prstGeom>
          <a:noFill/>
        </p:spPr>
      </p:pic>
      <p:pic>
        <p:nvPicPr>
          <p:cNvPr id="1026" name="Picture 2" descr="I:\Overseas Projects\PHOTOS\Theme Park 2010\iStock_000007055099XSmall.jpg"/>
          <p:cNvPicPr>
            <a:picLocks noChangeAspect="1" noChangeArrowheads="1"/>
          </p:cNvPicPr>
          <p:nvPr/>
        </p:nvPicPr>
        <p:blipFill>
          <a:blip r:embed="rId3" cstate="print"/>
          <a:srcRect l="10000" r="10000" b="10055"/>
          <a:stretch>
            <a:fillRect/>
          </a:stretch>
        </p:blipFill>
        <p:spPr bwMode="auto">
          <a:xfrm>
            <a:off x="666723" y="3857628"/>
            <a:ext cx="1333509" cy="1000132"/>
          </a:xfrm>
          <a:prstGeom prst="rect">
            <a:avLst/>
          </a:prstGeom>
          <a:noFill/>
        </p:spPr>
      </p:pic>
      <p:pic>
        <p:nvPicPr>
          <p:cNvPr id="12" name="Picture 2" descr="I:\Overseas Projects\PHOTOS\Theme Park 2010\iStock_000007055099XSmall.jpg"/>
          <p:cNvPicPr>
            <a:picLocks noChangeAspect="1" noChangeArrowheads="1"/>
          </p:cNvPicPr>
          <p:nvPr/>
        </p:nvPicPr>
        <p:blipFill>
          <a:blip r:embed="rId3" cstate="print">
            <a:duotone>
              <a:prstClr val="black"/>
              <a:schemeClr val="accent1">
                <a:tint val="45000"/>
                <a:satMod val="400000"/>
              </a:schemeClr>
            </a:duotone>
          </a:blip>
          <a:srcRect l="10000" r="10000" b="10055"/>
          <a:stretch>
            <a:fillRect/>
          </a:stretch>
        </p:blipFill>
        <p:spPr bwMode="auto">
          <a:xfrm>
            <a:off x="3381367" y="3857628"/>
            <a:ext cx="1333509" cy="1000132"/>
          </a:xfrm>
          <a:prstGeom prst="rect">
            <a:avLst/>
          </a:prstGeom>
          <a:noFill/>
        </p:spPr>
      </p:pic>
      <p:pic>
        <p:nvPicPr>
          <p:cNvPr id="13" name="Picture 2" descr="I:\Overseas Projects\PHOTOS\Theme Park 2010\iStock_000007055099XSmall.jpg"/>
          <p:cNvPicPr>
            <a:picLocks noChangeAspect="1" noChangeArrowheads="1"/>
          </p:cNvPicPr>
          <p:nvPr/>
        </p:nvPicPr>
        <p:blipFill>
          <a:blip r:embed="rId3" cstate="print">
            <a:duotone>
              <a:prstClr val="black"/>
              <a:schemeClr val="accent3">
                <a:tint val="45000"/>
                <a:satMod val="400000"/>
              </a:schemeClr>
            </a:duotone>
          </a:blip>
          <a:srcRect l="10000" r="10000" b="10055"/>
          <a:stretch>
            <a:fillRect/>
          </a:stretch>
        </p:blipFill>
        <p:spPr bwMode="auto">
          <a:xfrm>
            <a:off x="2024045" y="3857628"/>
            <a:ext cx="1333509" cy="1000132"/>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a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This unit comprises four Elements:</a:t>
            </a:r>
          </a:p>
          <a:p>
            <a:pPr marL="360000" indent="-360000">
              <a:spcBef>
                <a:spcPts val="600"/>
              </a:spcBef>
              <a:spcAft>
                <a:spcPts val="1200"/>
              </a:spcAft>
            </a:pPr>
            <a:r>
              <a:rPr lang="en-US" sz="2400" dirty="0" smtClean="0"/>
              <a:t>Establish lost and found facility</a:t>
            </a:r>
          </a:p>
          <a:p>
            <a:pPr marL="360000" indent="-360000">
              <a:spcBef>
                <a:spcPts val="600"/>
              </a:spcBef>
              <a:spcAft>
                <a:spcPts val="1200"/>
              </a:spcAft>
            </a:pPr>
            <a:r>
              <a:rPr lang="en-US" sz="2400" dirty="0" smtClean="0"/>
              <a:t>Deal with lost and found items</a:t>
            </a:r>
          </a:p>
          <a:p>
            <a:pPr marL="360000" indent="-360000">
              <a:spcBef>
                <a:spcPts val="600"/>
              </a:spcBef>
              <a:spcAft>
                <a:spcPts val="1200"/>
              </a:spcAft>
            </a:pPr>
            <a:r>
              <a:rPr lang="en-US" sz="2400" dirty="0" smtClean="0"/>
              <a:t>Deal with claims for lost items</a:t>
            </a:r>
          </a:p>
          <a:p>
            <a:pPr marL="360000" indent="-360000">
              <a:spcBef>
                <a:spcPts val="600"/>
              </a:spcBef>
              <a:spcAft>
                <a:spcPts val="1200"/>
              </a:spcAft>
            </a:pPr>
            <a:r>
              <a:rPr lang="en-US" sz="2400" dirty="0" smtClean="0"/>
              <a:t>Deal with unclaimed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5" name="Picture 2" descr="C:\Documents and Settings\danielc\Local Settings\Temporary Internet Files\Content.IE5\29XKYQ1Q\MP900444315[1].jpg"/>
          <p:cNvPicPr>
            <a:picLocks noChangeAspect="1" noChangeArrowheads="1"/>
          </p:cNvPicPr>
          <p:nvPr/>
        </p:nvPicPr>
        <p:blipFill>
          <a:blip r:embed="rId3" cstate="print"/>
          <a:srcRect/>
          <a:stretch>
            <a:fillRect/>
          </a:stretch>
        </p:blipFill>
        <p:spPr bwMode="auto">
          <a:xfrm>
            <a:off x="5643570" y="2285992"/>
            <a:ext cx="2593848" cy="1719072"/>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Assessment for this unit may include:</a:t>
            </a:r>
          </a:p>
          <a:p>
            <a:pPr marL="360000" indent="-360000">
              <a:spcBef>
                <a:spcPts val="600"/>
              </a:spcBef>
              <a:spcAft>
                <a:spcPts val="1200"/>
              </a:spcAft>
            </a:pPr>
            <a:r>
              <a:rPr lang="en-US" sz="2400" dirty="0" smtClean="0"/>
              <a:t>Oral questions</a:t>
            </a:r>
          </a:p>
          <a:p>
            <a:pPr marL="360000" indent="-360000">
              <a:spcBef>
                <a:spcPts val="600"/>
              </a:spcBef>
              <a:spcAft>
                <a:spcPts val="1200"/>
              </a:spcAft>
            </a:pPr>
            <a:r>
              <a:rPr lang="en-US" sz="2400" dirty="0" smtClean="0"/>
              <a:t>Written questions</a:t>
            </a:r>
          </a:p>
          <a:p>
            <a:pPr marL="360000" indent="-360000">
              <a:spcBef>
                <a:spcPts val="600"/>
              </a:spcBef>
              <a:spcAft>
                <a:spcPts val="1200"/>
              </a:spcAft>
            </a:pPr>
            <a:r>
              <a:rPr lang="en-US" sz="2400" dirty="0" smtClean="0"/>
              <a:t>Work projects</a:t>
            </a:r>
          </a:p>
          <a:p>
            <a:pPr marL="360000" indent="-360000">
              <a:spcBef>
                <a:spcPts val="600"/>
              </a:spcBef>
              <a:spcAft>
                <a:spcPts val="1200"/>
              </a:spcAft>
            </a:pPr>
            <a:r>
              <a:rPr lang="en-US" sz="2400" dirty="0" smtClean="0"/>
              <a:t>Workplace observation of practical skills</a:t>
            </a:r>
          </a:p>
          <a:p>
            <a:pPr marL="360000" indent="-360000">
              <a:spcBef>
                <a:spcPts val="600"/>
              </a:spcBef>
              <a:spcAft>
                <a:spcPts val="1200"/>
              </a:spcAft>
            </a:pPr>
            <a:r>
              <a:rPr lang="en-US" sz="2400" dirty="0" smtClean="0"/>
              <a:t>Practical exercises</a:t>
            </a:r>
          </a:p>
          <a:p>
            <a:pPr marL="360000" indent="-360000">
              <a:spcBef>
                <a:spcPts val="600"/>
              </a:spcBef>
              <a:spcAft>
                <a:spcPts val="1200"/>
              </a:spcAft>
            </a:pPr>
            <a:r>
              <a:rPr lang="en-US" sz="2400" dirty="0" smtClean="0"/>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965500" y="2143116"/>
            <a:ext cx="2238389" cy="1490128"/>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Establish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Performance Criteria for this Element are: </a:t>
            </a:r>
          </a:p>
          <a:p>
            <a:pPr marL="360000" indent="-360000">
              <a:spcBef>
                <a:spcPts val="600"/>
              </a:spcBef>
              <a:spcAft>
                <a:spcPts val="1200"/>
              </a:spcAft>
            </a:pPr>
            <a:r>
              <a:rPr lang="en-US" sz="2400" dirty="0" smtClean="0"/>
              <a:t>Name properties that may have a lost and found facility</a:t>
            </a:r>
            <a:endParaRPr lang="en-US" sz="2200" dirty="0" smtClean="0">
              <a:latin typeface="Helvetica" pitchFamily="34" charset="0"/>
            </a:endParaRPr>
          </a:p>
          <a:p>
            <a:pPr marL="360000" indent="-360000">
              <a:spcBef>
                <a:spcPts val="600"/>
              </a:spcBef>
              <a:spcAft>
                <a:spcPts val="1200"/>
              </a:spcAft>
            </a:pPr>
            <a:r>
              <a:rPr lang="en-US" sz="2400" dirty="0" smtClean="0"/>
              <a:t>Identify appropriate location for lost and found facility</a:t>
            </a:r>
          </a:p>
          <a:p>
            <a:pPr marL="360000" indent="-360000">
              <a:spcBef>
                <a:spcPts val="600"/>
              </a:spcBef>
              <a:spcAft>
                <a:spcPts val="1200"/>
              </a:spcAft>
            </a:pPr>
            <a:r>
              <a:rPr lang="en-US" sz="2400" dirty="0" smtClean="0"/>
              <a:t>Develop in-house lost and found policies and procedures</a:t>
            </a:r>
            <a:endParaRPr lang="en-US" sz="2200" dirty="0" smtClean="0">
              <a:latin typeface="Helvetica" pitchFamily="34" charset="0"/>
            </a:endParaRPr>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Establish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400" dirty="0" smtClean="0"/>
              <a:t>Identify the legal requirements that apply to lost and found items</a:t>
            </a:r>
          </a:p>
          <a:p>
            <a:pPr marL="360000" indent="-360000">
              <a:spcBef>
                <a:spcPts val="600"/>
              </a:spcBef>
              <a:spcAft>
                <a:spcPts val="1200"/>
              </a:spcAft>
            </a:pPr>
            <a:r>
              <a:rPr lang="en-US" sz="2400" dirty="0" smtClean="0"/>
              <a:t>Communicate the location and function of the lost and found facility to guests and staff</a:t>
            </a:r>
          </a:p>
          <a:p>
            <a:pPr marL="360000" indent="-360000">
              <a:spcBef>
                <a:spcPts val="600"/>
              </a:spcBef>
              <a:spcAft>
                <a:spcPts val="1200"/>
              </a:spcAft>
            </a:pPr>
            <a:r>
              <a:rPr lang="en-US" sz="2400" dirty="0" smtClean="0"/>
              <a:t>Establish lost and found register.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Name properties that may have a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In relation to the Lost and Found (L &amp; F) facility in a venue:</a:t>
            </a:r>
          </a:p>
          <a:p>
            <a:pPr marL="360000" indent="-360000">
              <a:spcBef>
                <a:spcPts val="600"/>
              </a:spcBef>
              <a:spcAft>
                <a:spcPts val="1200"/>
              </a:spcAft>
            </a:pPr>
            <a:r>
              <a:rPr lang="en-US" sz="2400" dirty="0" smtClean="0"/>
              <a:t>Guest expect venues to have them </a:t>
            </a:r>
          </a:p>
          <a:p>
            <a:pPr marL="360000" indent="-360000">
              <a:spcBef>
                <a:spcPts val="600"/>
              </a:spcBef>
              <a:spcAft>
                <a:spcPts val="1200"/>
              </a:spcAft>
            </a:pPr>
            <a:r>
              <a:rPr lang="en-US" sz="2400" dirty="0" smtClean="0"/>
              <a:t>They vary enormously between </a:t>
            </a:r>
            <a:br>
              <a:rPr lang="en-US" sz="2400" dirty="0" smtClean="0"/>
            </a:br>
            <a:r>
              <a:rPr lang="en-US" sz="2400" dirty="0" smtClean="0"/>
              <a:t>venues/properties</a:t>
            </a:r>
          </a:p>
          <a:p>
            <a:pPr marL="360000" indent="-360000">
              <a:spcBef>
                <a:spcPts val="600"/>
              </a:spcBef>
              <a:spcAft>
                <a:spcPts val="1200"/>
              </a:spcAft>
            </a:pPr>
            <a:r>
              <a:rPr lang="en-US" sz="2400" dirty="0" smtClean="0"/>
              <a:t>The L &amp; F facility is rarely a separate/stand alone department.</a:t>
            </a:r>
          </a:p>
          <a:p>
            <a:pPr marL="360000" indent="-360000">
              <a:spcBef>
                <a:spcPts val="600"/>
              </a:spcBef>
              <a:spcAft>
                <a:spcPts val="1200"/>
              </a:spcAft>
            </a:pPr>
            <a:endParaRPr lang="en-US" sz="2400" dirty="0" smtClean="0"/>
          </a:p>
          <a:p>
            <a:pPr marL="360000" indent="-360000">
              <a:spcBef>
                <a:spcPts val="600"/>
              </a:spcBef>
              <a:spcAft>
                <a:spcPts val="1200"/>
              </a:spcAft>
            </a:pPr>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6" name="Picture 5" descr="C:\Documents and Settings\danielc\Local Settings\Temporary Internet Files\Content.IE5\ZB5AOP62\MC900198276[1].wmf"/>
          <p:cNvPicPr/>
          <p:nvPr/>
        </p:nvPicPr>
        <p:blipFill>
          <a:blip r:embed="rId3" cstate="print"/>
          <a:srcRect/>
          <a:stretch>
            <a:fillRect/>
          </a:stretch>
        </p:blipFill>
        <p:spPr bwMode="auto">
          <a:xfrm>
            <a:off x="6357950" y="2357430"/>
            <a:ext cx="1768444" cy="138812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Name properties that may have a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The L &amp; F facility exists to:</a:t>
            </a:r>
          </a:p>
          <a:p>
            <a:pPr marL="360000" indent="-360000">
              <a:spcBef>
                <a:spcPts val="600"/>
              </a:spcBef>
              <a:spcAft>
                <a:spcPts val="1200"/>
              </a:spcAft>
            </a:pPr>
            <a:r>
              <a:rPr lang="en-US" sz="2400" dirty="0" smtClean="0"/>
              <a:t>Record ‘Lost’ items – items lost by their </a:t>
            </a:r>
            <a:br>
              <a:rPr lang="en-US" sz="2400" dirty="0" smtClean="0"/>
            </a:br>
            <a:r>
              <a:rPr lang="en-US" sz="2400" dirty="0" smtClean="0"/>
              <a:t>owner</a:t>
            </a:r>
          </a:p>
          <a:p>
            <a:pPr marL="360000" indent="-360000">
              <a:spcBef>
                <a:spcPts val="600"/>
              </a:spcBef>
              <a:spcAft>
                <a:spcPts val="1200"/>
              </a:spcAft>
            </a:pPr>
            <a:r>
              <a:rPr lang="en-US" sz="2400" dirty="0" smtClean="0"/>
              <a:t>Record ‘Found’ items – items found by </a:t>
            </a:r>
            <a:br>
              <a:rPr lang="en-US" sz="2400" dirty="0" smtClean="0"/>
            </a:br>
            <a:r>
              <a:rPr lang="en-US" sz="2400" dirty="0" smtClean="0"/>
              <a:t>staff/patrons</a:t>
            </a:r>
          </a:p>
          <a:p>
            <a:pPr marL="360000" indent="-360000">
              <a:spcBef>
                <a:spcPts val="600"/>
              </a:spcBef>
              <a:spcAft>
                <a:spcPts val="1200"/>
              </a:spcAft>
            </a:pPr>
            <a:r>
              <a:rPr lang="en-US" sz="2400" dirty="0" smtClean="0"/>
              <a:t>Store found items</a:t>
            </a:r>
          </a:p>
          <a:p>
            <a:pPr marL="360000" indent="-360000">
              <a:spcBef>
                <a:spcPts val="600"/>
              </a:spcBef>
              <a:spcAft>
                <a:spcPts val="1200"/>
              </a:spcAft>
            </a:pPr>
            <a:r>
              <a:rPr lang="en-US" sz="2400" dirty="0" smtClean="0"/>
              <a:t>Return items to owners.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5" name="Picture 4" descr="C:\Documents and Settings\danielc\Local Settings\Temporary Internet Files\Content.IE5\ZB5AOP62\MP900308912[1].jpg"/>
          <p:cNvPicPr/>
          <p:nvPr/>
        </p:nvPicPr>
        <p:blipFill>
          <a:blip r:embed="rId3" cstate="print"/>
          <a:srcRect/>
          <a:stretch>
            <a:fillRect/>
          </a:stretch>
        </p:blipFill>
        <p:spPr bwMode="auto">
          <a:xfrm>
            <a:off x="6311218" y="3786190"/>
            <a:ext cx="1832682" cy="1214446"/>
          </a:xfrm>
          <a:prstGeom prst="rect">
            <a:avLst/>
          </a:prstGeom>
          <a:noFill/>
          <a:ln w="9525">
            <a:noFill/>
            <a:miter lim="800000"/>
            <a:headEnd/>
            <a:tailEnd/>
          </a:ln>
        </p:spPr>
      </p:pic>
      <p:pic>
        <p:nvPicPr>
          <p:cNvPr id="6" name="Picture 5" descr="found.jpg"/>
          <p:cNvPicPr/>
          <p:nvPr/>
        </p:nvPicPr>
        <p:blipFill>
          <a:blip r:embed="rId4" cstate="print"/>
          <a:stretch>
            <a:fillRect/>
          </a:stretch>
        </p:blipFill>
        <p:spPr>
          <a:xfrm>
            <a:off x="7215206" y="2214554"/>
            <a:ext cx="928694" cy="12298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Name properties that may have a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There is no legal requirement for L &amp; F facility.</a:t>
            </a:r>
          </a:p>
          <a:p>
            <a:pPr marL="0" indent="0">
              <a:spcBef>
                <a:spcPts val="600"/>
              </a:spcBef>
              <a:spcAft>
                <a:spcPts val="1200"/>
              </a:spcAft>
              <a:buNone/>
            </a:pPr>
            <a:r>
              <a:rPr lang="en-US" sz="2400" dirty="0" smtClean="0"/>
              <a:t>The following commonly offer L &amp; F services/facility:</a:t>
            </a:r>
          </a:p>
          <a:p>
            <a:r>
              <a:rPr lang="en-US" sz="2400" dirty="0" smtClean="0"/>
              <a:t>Hotels </a:t>
            </a:r>
            <a:endParaRPr lang="en-AU" sz="2400" dirty="0" smtClean="0"/>
          </a:p>
          <a:p>
            <a:r>
              <a:rPr lang="en-US" sz="2400" dirty="0" smtClean="0"/>
              <a:t>Motels</a:t>
            </a:r>
            <a:endParaRPr lang="en-AU" sz="2400" dirty="0" smtClean="0"/>
          </a:p>
          <a:p>
            <a:r>
              <a:rPr lang="en-US" sz="2400" dirty="0" smtClean="0"/>
              <a:t>Commercial catering facilities</a:t>
            </a:r>
          </a:p>
          <a:p>
            <a:r>
              <a:rPr lang="en-US" sz="2400" dirty="0" smtClean="0"/>
              <a:t>Convention </a:t>
            </a:r>
            <a:r>
              <a:rPr lang="en-AU" sz="2400" dirty="0" smtClean="0"/>
              <a:t>centre</a:t>
            </a:r>
            <a:r>
              <a:rPr lang="en-US" sz="2400" dirty="0" smtClean="0"/>
              <a:t>s</a:t>
            </a:r>
            <a:endParaRPr lang="en-AU" sz="2400" dirty="0" smtClean="0"/>
          </a:p>
          <a:p>
            <a:r>
              <a:rPr lang="en-US" sz="2400" dirty="0" smtClean="0"/>
              <a:t>Casinos</a:t>
            </a:r>
            <a:endParaRPr lang="en-AU" sz="2400" dirty="0" smtClean="0"/>
          </a:p>
          <a:p>
            <a:r>
              <a:rPr lang="en-US" sz="2400" dirty="0" smtClean="0"/>
              <a:t>Clubs</a:t>
            </a:r>
            <a:endParaRPr lang="en-AU" sz="2400" dirty="0" smtClean="0"/>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3074" name="Picture 2" descr="C:\Documents and Settings\danielc\Local Settings\Temporary Internet Files\Content.IE5\0OCRPEL9\MC900332190[1].wmf"/>
          <p:cNvPicPr>
            <a:picLocks noChangeAspect="1" noChangeArrowheads="1"/>
          </p:cNvPicPr>
          <p:nvPr/>
        </p:nvPicPr>
        <p:blipFill>
          <a:blip r:embed="rId3" cstate="print"/>
          <a:srcRect/>
          <a:stretch>
            <a:fillRect/>
          </a:stretch>
        </p:blipFill>
        <p:spPr bwMode="auto">
          <a:xfrm>
            <a:off x="6215074" y="2786058"/>
            <a:ext cx="1458030" cy="1313802"/>
          </a:xfrm>
          <a:prstGeom prst="rect">
            <a:avLst/>
          </a:prstGeom>
          <a:noFill/>
        </p:spPr>
      </p:pic>
      <p:pic>
        <p:nvPicPr>
          <p:cNvPr id="3075" name="Picture 3" descr="C:\Documents and Settings\danielc\Local Settings\Temporary Internet Files\Content.IE5\XKVY0NPI\MC900089244[1].wmf"/>
          <p:cNvPicPr>
            <a:picLocks noChangeAspect="1" noChangeArrowheads="1"/>
          </p:cNvPicPr>
          <p:nvPr/>
        </p:nvPicPr>
        <p:blipFill>
          <a:blip r:embed="rId4" cstate="print"/>
          <a:srcRect/>
          <a:stretch>
            <a:fillRect/>
          </a:stretch>
        </p:blipFill>
        <p:spPr bwMode="auto">
          <a:xfrm>
            <a:off x="6072198" y="4286256"/>
            <a:ext cx="1821485" cy="1455725"/>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Name properties that may have a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25963"/>
          </a:xfrm>
        </p:spPr>
        <p:txBody>
          <a:bodyPr>
            <a:normAutofit/>
          </a:bodyPr>
          <a:lstStyle/>
          <a:p>
            <a:pPr>
              <a:spcBef>
                <a:spcPts val="600"/>
              </a:spcBef>
              <a:spcAft>
                <a:spcPts val="600"/>
              </a:spcAft>
            </a:pPr>
            <a:r>
              <a:rPr lang="en-US" sz="2400" dirty="0" smtClean="0"/>
              <a:t>Restaurants</a:t>
            </a:r>
            <a:endParaRPr lang="en-AU" sz="2400" dirty="0" smtClean="0"/>
          </a:p>
          <a:p>
            <a:pPr>
              <a:spcBef>
                <a:spcPts val="600"/>
              </a:spcBef>
              <a:spcAft>
                <a:spcPts val="600"/>
              </a:spcAft>
            </a:pPr>
            <a:r>
              <a:rPr lang="en-US" sz="2400" dirty="0" smtClean="0"/>
              <a:t>Resorts</a:t>
            </a:r>
            <a:endParaRPr lang="en-AU" sz="2400" dirty="0" smtClean="0"/>
          </a:p>
          <a:p>
            <a:pPr>
              <a:spcBef>
                <a:spcPts val="600"/>
              </a:spcBef>
              <a:spcAft>
                <a:spcPts val="600"/>
              </a:spcAft>
            </a:pPr>
            <a:r>
              <a:rPr lang="en-US" sz="2400" dirty="0" smtClean="0"/>
              <a:t>Theme and amusement parks</a:t>
            </a:r>
            <a:endParaRPr lang="en-AU" sz="2400" dirty="0" smtClean="0"/>
          </a:p>
          <a:p>
            <a:pPr>
              <a:spcBef>
                <a:spcPts val="600"/>
              </a:spcBef>
              <a:spcAft>
                <a:spcPts val="600"/>
              </a:spcAft>
            </a:pPr>
            <a:r>
              <a:rPr lang="en-US" sz="2400" dirty="0" smtClean="0"/>
              <a:t>Tourist attractions</a:t>
            </a:r>
            <a:endParaRPr lang="en-AU" sz="2400" dirty="0" smtClean="0"/>
          </a:p>
          <a:p>
            <a:pPr>
              <a:spcBef>
                <a:spcPts val="600"/>
              </a:spcBef>
              <a:spcAft>
                <a:spcPts val="600"/>
              </a:spcAft>
            </a:pPr>
            <a:r>
              <a:rPr lang="en-US" sz="2400" dirty="0" smtClean="0"/>
              <a:t>Back-packer accommodation</a:t>
            </a:r>
            <a:endParaRPr lang="en-AU" sz="2400" dirty="0" smtClean="0"/>
          </a:p>
          <a:p>
            <a:pPr>
              <a:spcBef>
                <a:spcPts val="600"/>
              </a:spcBef>
              <a:spcAft>
                <a:spcPts val="600"/>
              </a:spcAft>
            </a:pPr>
            <a:r>
              <a:rPr lang="en-US" sz="2400" dirty="0" smtClean="0"/>
              <a:t>Bed and Breakfast (B &amp; B) establishments</a:t>
            </a:r>
            <a:endParaRPr lang="en-AU" sz="2400" dirty="0" smtClean="0"/>
          </a:p>
          <a:p>
            <a:pPr>
              <a:spcBef>
                <a:spcPts val="600"/>
              </a:spcBef>
              <a:spcAft>
                <a:spcPts val="600"/>
              </a:spcAft>
            </a:pPr>
            <a:r>
              <a:rPr lang="en-US" sz="2400" dirty="0" smtClean="0"/>
              <a:t>Dormitories</a:t>
            </a:r>
            <a:endParaRPr lang="en-AU" sz="2400" dirty="0" smtClean="0"/>
          </a:p>
          <a:p>
            <a:pPr>
              <a:spcBef>
                <a:spcPts val="600"/>
              </a:spcBef>
              <a:spcAft>
                <a:spcPts val="600"/>
              </a:spcAft>
            </a:pPr>
            <a:r>
              <a:rPr lang="en-US" sz="2400" dirty="0" smtClean="0"/>
              <a:t>Villas.</a:t>
            </a:r>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4098" name="Picture 2" descr="C:\Documents and Settings\danielc\Local Settings\Temporary Internet Files\Content.IE5\ZB5AOP62\MP900399332[1].jpg"/>
          <p:cNvPicPr>
            <a:picLocks noChangeAspect="1" noChangeArrowheads="1"/>
          </p:cNvPicPr>
          <p:nvPr/>
        </p:nvPicPr>
        <p:blipFill>
          <a:blip r:embed="rId3" cstate="print"/>
          <a:srcRect/>
          <a:stretch>
            <a:fillRect/>
          </a:stretch>
        </p:blipFill>
        <p:spPr bwMode="auto">
          <a:xfrm>
            <a:off x="6500826" y="1643050"/>
            <a:ext cx="1279135" cy="1917766"/>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Name properties that may have a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A ‘Lost’ item is:</a:t>
            </a:r>
          </a:p>
          <a:p>
            <a:pPr marL="360000" indent="-360000">
              <a:spcBef>
                <a:spcPts val="600"/>
              </a:spcBef>
              <a:spcAft>
                <a:spcPts val="1200"/>
              </a:spcAft>
            </a:pPr>
            <a:r>
              <a:rPr lang="en-US" sz="2400" dirty="0" smtClean="0"/>
              <a:t>An item reported by guests/customers as having been lost.</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5" name="Picture 4" descr="C:\Documents and Settings\danielc\Local Settings\Temporary Internet Files\Content.IE5\ZB5AOP62\MP900308912[1].jpg"/>
          <p:cNvPicPr/>
          <p:nvPr/>
        </p:nvPicPr>
        <p:blipFill>
          <a:blip r:embed="rId3" cstate="print"/>
          <a:srcRect/>
          <a:stretch>
            <a:fillRect/>
          </a:stretch>
        </p:blipFill>
        <p:spPr bwMode="auto">
          <a:xfrm>
            <a:off x="3140666" y="3500438"/>
            <a:ext cx="2862668" cy="1896977"/>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Name properties that may have a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A ‘Found item is:</a:t>
            </a:r>
          </a:p>
          <a:p>
            <a:pPr marL="360000" indent="-360000">
              <a:spcBef>
                <a:spcPts val="600"/>
              </a:spcBef>
              <a:spcAft>
                <a:spcPts val="1200"/>
              </a:spcAft>
            </a:pPr>
            <a:r>
              <a:rPr lang="en-US" sz="2400" dirty="0" smtClean="0"/>
              <a:t>An item found by staff, guests and/or </a:t>
            </a:r>
            <a:br>
              <a:rPr lang="en-US" sz="2400" dirty="0" smtClean="0"/>
            </a:br>
            <a:r>
              <a:rPr lang="en-US" sz="2400" dirty="0" smtClean="0"/>
              <a:t>members of the public and handed in.</a:t>
            </a:r>
          </a:p>
          <a:p>
            <a:pPr marL="0" indent="0">
              <a:spcBef>
                <a:spcPts val="600"/>
              </a:spcBef>
              <a:spcAft>
                <a:spcPts val="1200"/>
              </a:spcAft>
              <a:buNone/>
            </a:pPr>
            <a:r>
              <a:rPr lang="en-US" sz="2400" dirty="0" smtClean="0"/>
              <a:t>One item may be, at the same time, both a </a:t>
            </a:r>
            <a:br>
              <a:rPr lang="en-US" sz="2400" dirty="0" smtClean="0"/>
            </a:br>
            <a:r>
              <a:rPr lang="en-US" sz="2400" dirty="0" smtClean="0"/>
              <a:t>‘Lost’ item and a ‘Found’ item.</a:t>
            </a:r>
          </a:p>
          <a:p>
            <a:pPr marL="360000" indent="-360000">
              <a:spcBef>
                <a:spcPts val="600"/>
              </a:spcBef>
              <a:spcAft>
                <a:spcPts val="1200"/>
              </a:spcAft>
              <a:buNone/>
            </a:pPr>
            <a:r>
              <a:rPr lang="en-US" sz="2400" dirty="0" smtClean="0"/>
              <a:t>The two words are used interchangeably.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5" name="Picture 4" descr="found.jpg"/>
          <p:cNvPicPr/>
          <p:nvPr/>
        </p:nvPicPr>
        <p:blipFill>
          <a:blip r:embed="rId3" cstate="print"/>
          <a:stretch>
            <a:fillRect/>
          </a:stretch>
        </p:blipFill>
        <p:spPr>
          <a:xfrm>
            <a:off x="6832184" y="1928802"/>
            <a:ext cx="1294725" cy="17145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appropriate location for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The L &amp; F facility in an accommodation venue:</a:t>
            </a:r>
          </a:p>
          <a:p>
            <a:pPr marL="360000" indent="-360000">
              <a:spcBef>
                <a:spcPts val="600"/>
              </a:spcBef>
              <a:spcAft>
                <a:spcPts val="1200"/>
              </a:spcAft>
            </a:pPr>
            <a:r>
              <a:rPr lang="en-US" sz="2400" dirty="0" smtClean="0"/>
              <a:t>Is generally incorporated into the Housekeeping Department</a:t>
            </a:r>
          </a:p>
          <a:p>
            <a:pPr marL="360000" indent="-360000">
              <a:spcBef>
                <a:spcPts val="600"/>
              </a:spcBef>
              <a:spcAft>
                <a:spcPts val="1200"/>
              </a:spcAft>
            </a:pPr>
            <a:r>
              <a:rPr lang="en-US" sz="2400" dirty="0" smtClean="0"/>
              <a:t>Will often be in the Executive Housekeeper’s office</a:t>
            </a:r>
          </a:p>
          <a:p>
            <a:pPr marL="360000" indent="-360000">
              <a:spcBef>
                <a:spcPts val="600"/>
              </a:spcBef>
              <a:spcAft>
                <a:spcPts val="1200"/>
              </a:spcAft>
            </a:pPr>
            <a:r>
              <a:rPr lang="en-US" sz="2400" dirty="0" smtClean="0"/>
              <a:t>May include an area in an allied stores area</a:t>
            </a:r>
          </a:p>
          <a:p>
            <a:pPr marL="360000" indent="-360000">
              <a:spcBef>
                <a:spcPts val="600"/>
              </a:spcBef>
              <a:spcAft>
                <a:spcPts val="1200"/>
              </a:spcAft>
            </a:pPr>
            <a:r>
              <a:rPr lang="en-US" sz="2400" dirty="0" smtClean="0"/>
              <a:t>May involve space in other areas also depending on size, layout and structure of the business.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appropriate location for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Housekeeping is usually the L &amp; F area because:</a:t>
            </a:r>
          </a:p>
          <a:p>
            <a:pPr marL="360000" indent="-360000">
              <a:spcBef>
                <a:spcPts val="600"/>
              </a:spcBef>
              <a:spcAft>
                <a:spcPts val="1200"/>
              </a:spcAft>
            </a:pPr>
            <a:r>
              <a:rPr lang="en-US" sz="2400" dirty="0" smtClean="0"/>
              <a:t>Most ‘found’ items are found in guest </a:t>
            </a:r>
            <a:br>
              <a:rPr lang="en-US" sz="2400" dirty="0" smtClean="0"/>
            </a:br>
            <a:r>
              <a:rPr lang="en-US" sz="2400" dirty="0" smtClean="0"/>
              <a:t>rooms by Housekeeping staff</a:t>
            </a:r>
          </a:p>
          <a:p>
            <a:pPr marL="360000" indent="-360000">
              <a:spcBef>
                <a:spcPts val="600"/>
              </a:spcBef>
              <a:spcAft>
                <a:spcPts val="1200"/>
              </a:spcAft>
            </a:pPr>
            <a:r>
              <a:rPr lang="en-US" sz="2400" dirty="0" smtClean="0"/>
              <a:t>There is restricted access to the </a:t>
            </a:r>
            <a:br>
              <a:rPr lang="en-US" sz="2400" dirty="0" smtClean="0"/>
            </a:br>
            <a:r>
              <a:rPr lang="en-US" sz="2400" dirty="0" smtClean="0"/>
              <a:t>Executive Housekeeper’s office so </a:t>
            </a:r>
            <a:br>
              <a:rPr lang="en-US" sz="2400" dirty="0" smtClean="0"/>
            </a:br>
            <a:r>
              <a:rPr lang="en-US" sz="2400" dirty="0" smtClean="0"/>
              <a:t>items are safe from theft.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5122" name="Picture 2" descr="C:\Documents and Settings\danielc\Local Settings\Temporary Internet Files\Content.IE5\M0QL8DHR\MP900409017[1].jpg"/>
          <p:cNvPicPr>
            <a:picLocks noChangeAspect="1" noChangeArrowheads="1"/>
          </p:cNvPicPr>
          <p:nvPr/>
        </p:nvPicPr>
        <p:blipFill>
          <a:blip r:embed="rId3" cstate="print"/>
          <a:srcRect/>
          <a:stretch>
            <a:fillRect/>
          </a:stretch>
        </p:blipFill>
        <p:spPr bwMode="auto">
          <a:xfrm>
            <a:off x="6643702" y="2214554"/>
            <a:ext cx="1572403" cy="2357454"/>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appropriate location for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The L &amp; F facility at non-accommodation venues may be integrated with/located alongside:</a:t>
            </a:r>
          </a:p>
          <a:p>
            <a:pPr marL="360000" indent="-360000">
              <a:spcBef>
                <a:spcPts val="600"/>
              </a:spcBef>
              <a:spcAft>
                <a:spcPts val="1200"/>
              </a:spcAft>
            </a:pPr>
            <a:r>
              <a:rPr lang="en-US" sz="2400" dirty="0" smtClean="0"/>
              <a:t>The First Aid center</a:t>
            </a:r>
          </a:p>
          <a:p>
            <a:pPr marL="360000" indent="-360000">
              <a:spcBef>
                <a:spcPts val="600"/>
              </a:spcBef>
              <a:spcAft>
                <a:spcPts val="1200"/>
              </a:spcAft>
            </a:pPr>
            <a:r>
              <a:rPr lang="en-US" sz="2400" dirty="0" smtClean="0"/>
              <a:t>Baby change facilities</a:t>
            </a:r>
          </a:p>
          <a:p>
            <a:pPr marL="360000" indent="-360000">
              <a:spcBef>
                <a:spcPts val="600"/>
              </a:spcBef>
              <a:spcAft>
                <a:spcPts val="1200"/>
              </a:spcAft>
            </a:pPr>
            <a:r>
              <a:rPr lang="en-US" sz="2400" dirty="0" smtClean="0"/>
              <a:t>Cloakroom</a:t>
            </a:r>
          </a:p>
          <a:p>
            <a:pPr marL="360000" indent="-360000">
              <a:spcBef>
                <a:spcPts val="600"/>
              </a:spcBef>
              <a:spcAft>
                <a:spcPts val="1200"/>
              </a:spcAft>
            </a:pPr>
            <a:r>
              <a:rPr lang="en-US" sz="2400" dirty="0" smtClean="0"/>
              <a:t>Equipment hire.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6146" name="Picture 2" descr="I:\Overseas Projects\PHOTOS\Theme Park 2010\iStock_000007055099XSmall.jpg"/>
          <p:cNvPicPr>
            <a:picLocks noChangeAspect="1" noChangeArrowheads="1"/>
          </p:cNvPicPr>
          <p:nvPr/>
        </p:nvPicPr>
        <p:blipFill>
          <a:blip r:embed="rId3" cstate="print"/>
          <a:srcRect/>
          <a:stretch>
            <a:fillRect/>
          </a:stretch>
        </p:blipFill>
        <p:spPr bwMode="auto">
          <a:xfrm>
            <a:off x="5143504" y="2857496"/>
            <a:ext cx="2463097" cy="1643074"/>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in-house lost and found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All L &amp; F facilities operate under specific policies and procedures. These can be identified:</a:t>
            </a:r>
          </a:p>
          <a:p>
            <a:pPr marL="360000" indent="-360000">
              <a:spcBef>
                <a:spcPts val="600"/>
              </a:spcBef>
              <a:spcAft>
                <a:spcPts val="1200"/>
              </a:spcAft>
            </a:pPr>
            <a:r>
              <a:rPr lang="en-US" sz="2400" dirty="0" smtClean="0"/>
              <a:t>At Induction and Orientation sessions for new staff</a:t>
            </a:r>
          </a:p>
          <a:p>
            <a:pPr marL="360000" indent="-360000">
              <a:spcBef>
                <a:spcPts val="600"/>
              </a:spcBef>
              <a:spcAft>
                <a:spcPts val="1200"/>
              </a:spcAft>
            </a:pPr>
            <a:r>
              <a:rPr lang="en-US" sz="2400" dirty="0" smtClean="0"/>
              <a:t>By reading the Staff Manual</a:t>
            </a:r>
          </a:p>
          <a:p>
            <a:pPr marL="360000" indent="-360000">
              <a:spcBef>
                <a:spcPts val="600"/>
              </a:spcBef>
              <a:spcAft>
                <a:spcPts val="1200"/>
              </a:spcAft>
            </a:pPr>
            <a:r>
              <a:rPr lang="en-US" sz="2400" dirty="0" smtClean="0"/>
              <a:t>By researching the workplace intranet</a:t>
            </a:r>
          </a:p>
          <a:p>
            <a:pPr marL="360000" indent="-360000">
              <a:spcBef>
                <a:spcPts val="600"/>
              </a:spcBef>
              <a:spcAft>
                <a:spcPts val="1200"/>
              </a:spcAft>
            </a:pPr>
            <a:r>
              <a:rPr lang="en-US" sz="2400" dirty="0" smtClean="0"/>
              <a:t>By reading workplace signage.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5" name="Picture 4" descr="L&amp;F Signage.jpg"/>
          <p:cNvPicPr/>
          <p:nvPr/>
        </p:nvPicPr>
        <p:blipFill>
          <a:blip r:embed="rId3" cstate="print"/>
          <a:stretch>
            <a:fillRect/>
          </a:stretch>
        </p:blipFill>
        <p:spPr>
          <a:xfrm>
            <a:off x="6500826" y="3143248"/>
            <a:ext cx="1931206" cy="114300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in-house lost and found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Venues may have policies and procedures for:</a:t>
            </a:r>
          </a:p>
          <a:p>
            <a:pPr marL="360000" indent="-360000">
              <a:spcBef>
                <a:spcPts val="600"/>
              </a:spcBef>
              <a:spcAft>
                <a:spcPts val="1200"/>
              </a:spcAft>
            </a:pPr>
            <a:r>
              <a:rPr lang="en-US" sz="2400" dirty="0" smtClean="0"/>
              <a:t>Classification of found items</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Valuable</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Non-valuable </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Perishable</a:t>
            </a:r>
          </a:p>
          <a:p>
            <a:pPr marL="360000" indent="-360000">
              <a:spcBef>
                <a:spcPts val="600"/>
              </a:spcBef>
              <a:spcAft>
                <a:spcPts val="1200"/>
              </a:spcAft>
            </a:pPr>
            <a:r>
              <a:rPr lang="en-US" sz="2400" dirty="0" smtClean="0"/>
              <a:t>Holding times </a:t>
            </a:r>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7170" name="Picture 2" descr="C:\Documents and Settings\danielc\Local Settings\Temporary Internet Files\Content.IE5\XKVY0NPI\MC900039006[1].wmf"/>
          <p:cNvPicPr>
            <a:picLocks noChangeAspect="1" noChangeArrowheads="1"/>
          </p:cNvPicPr>
          <p:nvPr/>
        </p:nvPicPr>
        <p:blipFill>
          <a:blip r:embed="rId3" cstate="print"/>
          <a:srcRect/>
          <a:stretch>
            <a:fillRect/>
          </a:stretch>
        </p:blipFill>
        <p:spPr bwMode="auto">
          <a:xfrm>
            <a:off x="5572132" y="2643182"/>
            <a:ext cx="2146097" cy="1983334"/>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in-house lost and found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400" dirty="0" smtClean="0"/>
              <a:t>Disposal of items</a:t>
            </a:r>
          </a:p>
          <a:p>
            <a:pPr marL="360000" indent="-360000">
              <a:spcBef>
                <a:spcPts val="600"/>
              </a:spcBef>
              <a:spcAft>
                <a:spcPts val="1200"/>
              </a:spcAft>
            </a:pPr>
            <a:r>
              <a:rPr lang="en-US" sz="2400" dirty="0" smtClean="0"/>
              <a:t>Dangerous, illegal or suspicious items</a:t>
            </a:r>
          </a:p>
          <a:p>
            <a:pPr marL="360000" indent="-360000">
              <a:spcBef>
                <a:spcPts val="600"/>
              </a:spcBef>
              <a:spcAft>
                <a:spcPts val="1200"/>
              </a:spcAft>
            </a:pPr>
            <a:r>
              <a:rPr lang="en-US" sz="2400" dirty="0" smtClean="0"/>
              <a:t>Processing protocols for ‘found’ items</a:t>
            </a:r>
          </a:p>
          <a:p>
            <a:pPr marL="360000" indent="-360000">
              <a:spcBef>
                <a:spcPts val="600"/>
              </a:spcBef>
              <a:spcAft>
                <a:spcPts val="1200"/>
              </a:spcAft>
            </a:pPr>
            <a:r>
              <a:rPr lang="en-US" sz="2400" dirty="0" smtClean="0"/>
              <a:t>Protocols for claiming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8194" name="Picture 2" descr="C:\Documents and Settings\danielc\Local Settings\Temporary Internet Files\Content.IE5\XKVY0NPI\MC900039006[1].wmf"/>
          <p:cNvPicPr>
            <a:picLocks noChangeAspect="1" noChangeArrowheads="1"/>
          </p:cNvPicPr>
          <p:nvPr/>
        </p:nvPicPr>
        <p:blipFill>
          <a:blip r:embed="rId3" cstate="print"/>
          <a:srcRect/>
          <a:stretch>
            <a:fillRect/>
          </a:stretch>
        </p:blipFill>
        <p:spPr bwMode="auto">
          <a:xfrm>
            <a:off x="3428992" y="3929066"/>
            <a:ext cx="2146097" cy="1983334"/>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legal requirements that apply to lost and found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To identify the legal requirements for your workplace:</a:t>
            </a:r>
          </a:p>
          <a:p>
            <a:pPr marL="360000" indent="-360000">
              <a:spcBef>
                <a:spcPts val="600"/>
              </a:spcBef>
              <a:spcAft>
                <a:spcPts val="1200"/>
              </a:spcAft>
            </a:pPr>
            <a:r>
              <a:rPr lang="en-US" sz="2400" dirty="0" smtClean="0"/>
              <a:t>Pay attention to on-the-job training</a:t>
            </a:r>
          </a:p>
          <a:p>
            <a:pPr marL="360000" indent="-360000">
              <a:spcBef>
                <a:spcPts val="600"/>
              </a:spcBef>
              <a:spcAft>
                <a:spcPts val="1200"/>
              </a:spcAft>
            </a:pPr>
            <a:r>
              <a:rPr lang="en-US" sz="2400" dirty="0" smtClean="0"/>
              <a:t>Ask questions of your industry peak body</a:t>
            </a:r>
          </a:p>
          <a:p>
            <a:pPr marL="360000" indent="-360000">
              <a:spcBef>
                <a:spcPts val="600"/>
              </a:spcBef>
              <a:spcAft>
                <a:spcPts val="1200"/>
              </a:spcAft>
            </a:pPr>
            <a:r>
              <a:rPr lang="en-US" sz="2400" dirty="0" smtClean="0"/>
              <a:t>Contact local authorities or Police</a:t>
            </a:r>
          </a:p>
          <a:p>
            <a:pPr marL="360000" indent="-360000">
              <a:spcBef>
                <a:spcPts val="600"/>
              </a:spcBef>
              <a:spcAft>
                <a:spcPts val="1200"/>
              </a:spcAft>
            </a:pPr>
            <a:r>
              <a:rPr lang="en-US" sz="2400" dirty="0" smtClean="0"/>
              <a:t>Talk to your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9218" name="Picture 2" descr="C:\Documents and Settings\danielc\Local Settings\Temporary Internet Files\Content.IE5\XKVY0NPI\MC900060229[1].wmf"/>
          <p:cNvPicPr>
            <a:picLocks noChangeAspect="1" noChangeArrowheads="1"/>
          </p:cNvPicPr>
          <p:nvPr/>
        </p:nvPicPr>
        <p:blipFill>
          <a:blip r:embed="rId3" cstate="print"/>
          <a:srcRect/>
          <a:stretch>
            <a:fillRect/>
          </a:stretch>
        </p:blipFill>
        <p:spPr bwMode="auto">
          <a:xfrm>
            <a:off x="5929322" y="3500438"/>
            <a:ext cx="1307592" cy="1821485"/>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legal requirements that apply to lost and found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Legal issues relating to L &amp; F include:</a:t>
            </a:r>
          </a:p>
          <a:p>
            <a:pPr marL="360000" indent="-360000">
              <a:spcBef>
                <a:spcPts val="600"/>
              </a:spcBef>
              <a:spcAft>
                <a:spcPts val="1200"/>
              </a:spcAft>
            </a:pPr>
            <a:r>
              <a:rPr lang="en-US" sz="2400" dirty="0" smtClean="0"/>
              <a:t>Duty of Care obligations</a:t>
            </a:r>
          </a:p>
          <a:p>
            <a:pPr marL="360000" indent="-360000">
              <a:spcBef>
                <a:spcPts val="600"/>
              </a:spcBef>
              <a:spcAft>
                <a:spcPts val="1200"/>
              </a:spcAft>
            </a:pPr>
            <a:r>
              <a:rPr lang="en-US" sz="2400" dirty="0" smtClean="0"/>
              <a:t>Bailment – ‘gratuitous bailment’</a:t>
            </a:r>
          </a:p>
          <a:p>
            <a:pPr marL="360000" indent="-360000">
              <a:spcBef>
                <a:spcPts val="600"/>
              </a:spcBef>
              <a:spcAft>
                <a:spcPts val="1200"/>
              </a:spcAft>
            </a:pPr>
            <a:r>
              <a:rPr lang="en-US" sz="2400" dirty="0" smtClean="0"/>
              <a:t>Receiving stolen property.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5" name="Picture 4" descr="L&amp;F facility.JPG"/>
          <p:cNvPicPr/>
          <p:nvPr/>
        </p:nvPicPr>
        <p:blipFill>
          <a:blip r:embed="rId3" cstate="print">
            <a:lum bright="20000" contrast="30000"/>
          </a:blip>
          <a:srcRect l="13124" t="7843" r="7359" b="13469"/>
          <a:stretch>
            <a:fillRect/>
          </a:stretch>
        </p:blipFill>
        <p:spPr>
          <a:xfrm>
            <a:off x="3330851" y="4143380"/>
            <a:ext cx="2482298" cy="185738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Communicate the location and function of the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400" dirty="0" smtClean="0"/>
              <a:t>Communication with guests about L &amp; F facilities will occur:</a:t>
            </a:r>
          </a:p>
          <a:p>
            <a:pPr marL="360000" indent="-360000">
              <a:spcBef>
                <a:spcPts val="600"/>
              </a:spcBef>
              <a:spcAft>
                <a:spcPts val="1200"/>
              </a:spcAft>
            </a:pPr>
            <a:r>
              <a:rPr lang="en-AU" sz="2400" dirty="0" smtClean="0"/>
              <a:t>To advise how to hand in and claim </a:t>
            </a:r>
            <a:br>
              <a:rPr lang="en-AU" sz="2400" dirty="0" smtClean="0"/>
            </a:br>
            <a:r>
              <a:rPr lang="en-AU" sz="2400" dirty="0" smtClean="0"/>
              <a:t>items</a:t>
            </a:r>
          </a:p>
          <a:p>
            <a:pPr marL="360000" indent="-360000">
              <a:spcBef>
                <a:spcPts val="600"/>
              </a:spcBef>
              <a:spcAft>
                <a:spcPts val="1200"/>
              </a:spcAft>
            </a:pPr>
            <a:r>
              <a:rPr lang="en-AU" sz="2400" dirty="0" smtClean="0"/>
              <a:t>To optimise use of L &amp; F facilities</a:t>
            </a:r>
          </a:p>
          <a:p>
            <a:pPr marL="360000" indent="-360000">
              <a:spcBef>
                <a:spcPts val="600"/>
              </a:spcBef>
              <a:spcAft>
                <a:spcPts val="1200"/>
              </a:spcAft>
            </a:pPr>
            <a:r>
              <a:rPr lang="en-AU" sz="2400" dirty="0" smtClean="0"/>
              <a:t>Using verbal advice, printed materials </a:t>
            </a:r>
            <a:br>
              <a:rPr lang="en-AU" sz="2400" dirty="0" smtClean="0"/>
            </a:br>
            <a:r>
              <a:rPr lang="en-AU" sz="2400" dirty="0" smtClean="0"/>
              <a:t>and venue signage.</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5" name="Picture 4" descr="C:\Documents and Settings\danielc\Local Settings\Temporary Internet Files\Content.IE5\XKVY0NPI\MC900383426[1].wmf"/>
          <p:cNvPicPr/>
          <p:nvPr/>
        </p:nvPicPr>
        <p:blipFill>
          <a:blip r:embed="rId3" cstate="print"/>
          <a:srcRect/>
          <a:stretch>
            <a:fillRect/>
          </a:stretch>
        </p:blipFill>
        <p:spPr bwMode="auto">
          <a:xfrm>
            <a:off x="6435672" y="2500307"/>
            <a:ext cx="1855775" cy="2000264"/>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Communicate the location and function of the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Verbal advice to guests about L &amp; F facilities:</a:t>
            </a:r>
          </a:p>
          <a:p>
            <a:pPr marL="360000" indent="-360000">
              <a:spcBef>
                <a:spcPts val="600"/>
              </a:spcBef>
              <a:spcAft>
                <a:spcPts val="1200"/>
              </a:spcAft>
            </a:pPr>
            <a:r>
              <a:rPr lang="en-US" sz="2400" dirty="0" smtClean="0"/>
              <a:t>Never </a:t>
            </a:r>
            <a:r>
              <a:rPr lang="en-US" sz="2400" b="1" i="1" dirty="0" smtClean="0"/>
              <a:t>offer </a:t>
            </a:r>
            <a:r>
              <a:rPr lang="en-US" sz="2400" dirty="0" smtClean="0"/>
              <a:t>L &amp; F advice or information; only provide it when asked</a:t>
            </a:r>
          </a:p>
          <a:p>
            <a:pPr marL="360000" indent="-360000">
              <a:spcBef>
                <a:spcPts val="600"/>
              </a:spcBef>
              <a:spcAft>
                <a:spcPts val="1200"/>
              </a:spcAft>
            </a:pPr>
            <a:r>
              <a:rPr lang="en-US" sz="2400" dirty="0" smtClean="0"/>
              <a:t>Is the best option for informing people</a:t>
            </a:r>
          </a:p>
          <a:p>
            <a:pPr marL="360000" indent="-360000">
              <a:spcBef>
                <a:spcPts val="600"/>
              </a:spcBef>
              <a:spcAft>
                <a:spcPts val="1200"/>
              </a:spcAft>
            </a:pPr>
            <a:r>
              <a:rPr lang="en-US" sz="2400" dirty="0" smtClean="0"/>
              <a:t>Demands high levels of L &amp; F knowledge</a:t>
            </a:r>
          </a:p>
          <a:p>
            <a:pPr marL="360000" indent="-360000">
              <a:spcBef>
                <a:spcPts val="600"/>
              </a:spcBef>
              <a:spcAft>
                <a:spcPts val="1200"/>
              </a:spcAft>
            </a:pPr>
            <a:r>
              <a:rPr lang="en-US" sz="2400" dirty="0" smtClean="0"/>
              <a:t>Requires appropriate skills.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10242" name="Picture 2" descr="C:\Documents and Settings\danielc\Local Settings\Temporary Internet Files\Content.IE5\Y2UABRAT\MP900409142[1].jpg"/>
          <p:cNvPicPr>
            <a:picLocks noChangeAspect="1" noChangeArrowheads="1"/>
          </p:cNvPicPr>
          <p:nvPr/>
        </p:nvPicPr>
        <p:blipFill>
          <a:blip r:embed="rId3" cstate="print"/>
          <a:srcRect/>
          <a:stretch>
            <a:fillRect/>
          </a:stretch>
        </p:blipFill>
        <p:spPr bwMode="auto">
          <a:xfrm>
            <a:off x="7072330" y="2786058"/>
            <a:ext cx="1330254" cy="2000264"/>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Communicate the location and function of the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Communication and interpersonal skills required when advising guests about L &amp; F facilities:</a:t>
            </a:r>
          </a:p>
          <a:p>
            <a:pPr marL="360000" indent="-360000">
              <a:spcBef>
                <a:spcPts val="600"/>
              </a:spcBef>
              <a:spcAft>
                <a:spcPts val="1200"/>
              </a:spcAft>
            </a:pPr>
            <a:r>
              <a:rPr lang="en-US" sz="2400" dirty="0" smtClean="0"/>
              <a:t>Demonstrate willingness to assist</a:t>
            </a:r>
          </a:p>
          <a:p>
            <a:pPr marL="360000" indent="-360000">
              <a:spcBef>
                <a:spcPts val="600"/>
              </a:spcBef>
              <a:spcAft>
                <a:spcPts val="1200"/>
              </a:spcAft>
            </a:pPr>
            <a:r>
              <a:rPr lang="en-US" sz="2400" dirty="0" smtClean="0"/>
              <a:t>Show respect</a:t>
            </a:r>
          </a:p>
          <a:p>
            <a:pPr marL="360000" indent="-360000">
              <a:spcBef>
                <a:spcPts val="600"/>
              </a:spcBef>
              <a:spcAft>
                <a:spcPts val="1200"/>
              </a:spcAft>
            </a:pPr>
            <a:r>
              <a:rPr lang="en-US" sz="2400" dirty="0" smtClean="0"/>
              <a:t>Use appropriate verbal language</a:t>
            </a:r>
          </a:p>
          <a:p>
            <a:pPr marL="360000" indent="-360000">
              <a:spcBef>
                <a:spcPts val="600"/>
              </a:spcBef>
              <a:spcAft>
                <a:spcPts val="1200"/>
              </a:spcAft>
            </a:pPr>
            <a:r>
              <a:rPr lang="en-US" sz="2400" dirty="0" smtClean="0"/>
              <a:t>Apply supporting body language</a:t>
            </a:r>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11266" name="Picture 2" descr="C:\Documents and Settings\danielc\Local Settings\Temporary Internet Files\Content.IE5\ZB5AOP62\MP900426566[1].jpg"/>
          <p:cNvPicPr>
            <a:picLocks noChangeAspect="1" noChangeArrowheads="1"/>
          </p:cNvPicPr>
          <p:nvPr/>
        </p:nvPicPr>
        <p:blipFill>
          <a:blip r:embed="rId3" cstate="print"/>
          <a:srcRect t="28125" b="6249"/>
          <a:stretch>
            <a:fillRect/>
          </a:stretch>
        </p:blipFill>
        <p:spPr bwMode="auto">
          <a:xfrm>
            <a:off x="5786446" y="2928934"/>
            <a:ext cx="2612562" cy="1714512"/>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Communicate the location and function of the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400" dirty="0" smtClean="0"/>
              <a:t>Escort the guest to L &amp; F area, if necessary</a:t>
            </a:r>
          </a:p>
          <a:p>
            <a:pPr marL="360000" indent="-360000">
              <a:spcBef>
                <a:spcPts val="600"/>
              </a:spcBef>
              <a:spcAft>
                <a:spcPts val="1200"/>
              </a:spcAft>
            </a:pPr>
            <a:r>
              <a:rPr lang="en-US" sz="2400" dirty="0" smtClean="0"/>
              <a:t>Use sign language to overcome communication or language difficulties</a:t>
            </a:r>
          </a:p>
          <a:p>
            <a:pPr marL="360000" indent="-360000">
              <a:spcBef>
                <a:spcPts val="600"/>
              </a:spcBef>
              <a:spcAft>
                <a:spcPts val="1200"/>
              </a:spcAft>
            </a:pPr>
            <a:r>
              <a:rPr lang="en-US" sz="2400" dirty="0" smtClean="0"/>
              <a:t>Speak at appropriate pace and volume</a:t>
            </a:r>
          </a:p>
          <a:p>
            <a:pPr marL="360000" indent="-360000">
              <a:spcBef>
                <a:spcPts val="600"/>
              </a:spcBef>
              <a:spcAft>
                <a:spcPts val="1200"/>
              </a:spcAft>
            </a:pPr>
            <a:r>
              <a:rPr lang="en-US" sz="2400" dirty="0" smtClean="0"/>
              <a:t>Use guest’s name, if known</a:t>
            </a:r>
          </a:p>
          <a:p>
            <a:pPr marL="360000" indent="-360000">
              <a:spcBef>
                <a:spcPts val="600"/>
              </a:spcBef>
              <a:spcAft>
                <a:spcPts val="1200"/>
              </a:spcAft>
            </a:pPr>
            <a:r>
              <a:rPr lang="en-US" sz="2400" dirty="0" smtClean="0"/>
              <a:t>Check for understanding of information provided</a:t>
            </a:r>
          </a:p>
          <a:p>
            <a:pPr marL="360000" indent="-360000">
              <a:spcBef>
                <a:spcPts val="600"/>
              </a:spcBef>
              <a:spcAft>
                <a:spcPts val="1200"/>
              </a:spcAft>
            </a:pPr>
            <a:r>
              <a:rPr lang="en-US" sz="2400" dirty="0" smtClean="0"/>
              <a:t>Thank those who want to hand in an item they have found.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Communicate the location and function of the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Printed materials:</a:t>
            </a:r>
          </a:p>
          <a:p>
            <a:pPr marL="360000" indent="-360000">
              <a:spcBef>
                <a:spcPts val="600"/>
              </a:spcBef>
              <a:spcAft>
                <a:spcPts val="1200"/>
              </a:spcAft>
            </a:pPr>
            <a:r>
              <a:rPr lang="en-US" sz="2400" dirty="0" smtClean="0"/>
              <a:t>On guest account</a:t>
            </a:r>
          </a:p>
          <a:p>
            <a:pPr marL="360000" indent="-360000">
              <a:spcBef>
                <a:spcPts val="600"/>
              </a:spcBef>
              <a:spcAft>
                <a:spcPts val="1200"/>
              </a:spcAft>
            </a:pPr>
            <a:r>
              <a:rPr lang="en-US" sz="2400" dirty="0" smtClean="0"/>
              <a:t>In-room compendium.</a:t>
            </a:r>
          </a:p>
          <a:p>
            <a:pPr marL="360000" indent="-360000">
              <a:spcBef>
                <a:spcPts val="600"/>
              </a:spcBef>
              <a:spcAft>
                <a:spcPts val="1200"/>
              </a:spcAft>
              <a:buNone/>
            </a:pPr>
            <a:r>
              <a:rPr lang="en-US" sz="2400" dirty="0" smtClean="0"/>
              <a:t>Electronic options:</a:t>
            </a:r>
          </a:p>
          <a:p>
            <a:pPr marL="360000" indent="-360000">
              <a:spcBef>
                <a:spcPts val="600"/>
              </a:spcBef>
              <a:spcAft>
                <a:spcPts val="1200"/>
              </a:spcAft>
            </a:pPr>
            <a:r>
              <a:rPr lang="en-US" sz="2400" dirty="0" smtClean="0"/>
              <a:t>Television in guest room</a:t>
            </a:r>
          </a:p>
          <a:p>
            <a:pPr marL="360000" indent="-360000">
              <a:spcBef>
                <a:spcPts val="600"/>
              </a:spcBef>
              <a:spcAft>
                <a:spcPts val="1200"/>
              </a:spcAft>
            </a:pPr>
            <a:r>
              <a:rPr lang="en-US" sz="2400" dirty="0" smtClean="0"/>
              <a:t>Touch screen unit in foyer.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12291" name="Picture 3" descr="C:\Documents and Settings\danielc\Desktop\Folder-For-Hotel-ES8071-.jpg"/>
          <p:cNvPicPr>
            <a:picLocks noChangeAspect="1" noChangeArrowheads="1"/>
          </p:cNvPicPr>
          <p:nvPr/>
        </p:nvPicPr>
        <p:blipFill>
          <a:blip r:embed="rId3" cstate="print">
            <a:lum contrast="10000"/>
          </a:blip>
          <a:srcRect/>
          <a:stretch>
            <a:fillRect/>
          </a:stretch>
        </p:blipFill>
        <p:spPr bwMode="auto">
          <a:xfrm>
            <a:off x="6072198" y="2143116"/>
            <a:ext cx="1506245" cy="178595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Communicate the location and function of the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Venue signage may also be provided:</a:t>
            </a:r>
          </a:p>
          <a:p>
            <a:pPr marL="360000" indent="-360000">
              <a:spcBef>
                <a:spcPts val="600"/>
              </a:spcBef>
              <a:spcAft>
                <a:spcPts val="1200"/>
              </a:spcAft>
            </a:pPr>
            <a:r>
              <a:rPr lang="en-US" sz="2400" dirty="0" smtClean="0"/>
              <a:t>Indicating location of L &amp; F facility</a:t>
            </a:r>
          </a:p>
          <a:p>
            <a:pPr marL="360000" indent="-360000">
              <a:spcBef>
                <a:spcPts val="600"/>
              </a:spcBef>
              <a:spcAft>
                <a:spcPts val="1200"/>
              </a:spcAft>
            </a:pPr>
            <a:r>
              <a:rPr lang="en-US" sz="2400" dirty="0" smtClean="0"/>
              <a:t>Identifying who to speak to</a:t>
            </a:r>
          </a:p>
          <a:p>
            <a:pPr marL="360000" indent="-360000">
              <a:spcBef>
                <a:spcPts val="600"/>
              </a:spcBef>
              <a:spcAft>
                <a:spcPts val="1200"/>
              </a:spcAft>
            </a:pPr>
            <a:r>
              <a:rPr lang="en-US" sz="2400" dirty="0" smtClean="0"/>
              <a:t>In different languages.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13314" name="Picture 2" descr="C:\Documents and Settings\danielc\Desktop\lost-and-found sign.jpg"/>
          <p:cNvPicPr>
            <a:picLocks noChangeAspect="1" noChangeArrowheads="1"/>
          </p:cNvPicPr>
          <p:nvPr/>
        </p:nvPicPr>
        <p:blipFill>
          <a:blip r:embed="rId3" cstate="print"/>
          <a:srcRect/>
          <a:stretch>
            <a:fillRect/>
          </a:stretch>
        </p:blipFill>
        <p:spPr bwMode="auto">
          <a:xfrm>
            <a:off x="6357950" y="2214554"/>
            <a:ext cx="1500198" cy="150019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Communicate the location and function of the lost and found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Staff can obtain updated L &amp; F information:</a:t>
            </a:r>
          </a:p>
          <a:p>
            <a:pPr marL="360000" indent="-360000">
              <a:spcBef>
                <a:spcPts val="600"/>
              </a:spcBef>
              <a:spcAft>
                <a:spcPts val="1200"/>
              </a:spcAft>
            </a:pPr>
            <a:r>
              <a:rPr lang="en-US" sz="2400" dirty="0" smtClean="0"/>
              <a:t>At regular staff meetings and briefings</a:t>
            </a:r>
          </a:p>
          <a:p>
            <a:pPr marL="360000" indent="-360000">
              <a:spcBef>
                <a:spcPts val="600"/>
              </a:spcBef>
              <a:spcAft>
                <a:spcPts val="1200"/>
              </a:spcAft>
            </a:pPr>
            <a:r>
              <a:rPr lang="en-US" sz="2400" dirty="0" smtClean="0"/>
              <a:t>By reading the ‘Communications Book’</a:t>
            </a:r>
          </a:p>
          <a:p>
            <a:pPr marL="360000" indent="-360000">
              <a:spcBef>
                <a:spcPts val="600"/>
              </a:spcBef>
              <a:spcAft>
                <a:spcPts val="1200"/>
              </a:spcAft>
            </a:pPr>
            <a:r>
              <a:rPr lang="en-US" sz="2400" dirty="0" smtClean="0"/>
              <a:t>By regular reading of relevant intranet files</a:t>
            </a:r>
          </a:p>
          <a:p>
            <a:pPr marL="360000" indent="-360000">
              <a:spcBef>
                <a:spcPts val="600"/>
              </a:spcBef>
              <a:spcAft>
                <a:spcPts val="1200"/>
              </a:spcAft>
            </a:pPr>
            <a:r>
              <a:rPr lang="en-US" sz="2400" dirty="0" smtClean="0"/>
              <a:t>By reading communications sent you from management</a:t>
            </a:r>
          </a:p>
          <a:p>
            <a:pPr marL="360000" indent="-360000">
              <a:spcBef>
                <a:spcPts val="600"/>
              </a:spcBef>
              <a:spcAft>
                <a:spcPts val="1200"/>
              </a:spcAft>
            </a:pPr>
            <a:r>
              <a:rPr lang="en-US" sz="2400" dirty="0" smtClean="0"/>
              <a:t>Via on the job training sessions.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14338" name="Picture 2" descr="C:\Documents and Settings\danielc\Local Settings\Temporary Internet Files\Content.IE5\LSIXJYS2\MC900197848[1].wmf"/>
          <p:cNvPicPr>
            <a:picLocks noChangeAspect="1" noChangeArrowheads="1"/>
          </p:cNvPicPr>
          <p:nvPr/>
        </p:nvPicPr>
        <p:blipFill>
          <a:blip r:embed="rId3" cstate="print"/>
          <a:srcRect/>
          <a:stretch>
            <a:fillRect/>
          </a:stretch>
        </p:blipFill>
        <p:spPr bwMode="auto">
          <a:xfrm>
            <a:off x="6786578" y="1928802"/>
            <a:ext cx="1667347" cy="1794095"/>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Establish a lost and found register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The Lost and Found Register:</a:t>
            </a:r>
          </a:p>
          <a:p>
            <a:pPr marL="360000" indent="-360000">
              <a:spcBef>
                <a:spcPts val="600"/>
              </a:spcBef>
              <a:spcAft>
                <a:spcPts val="1200"/>
              </a:spcAft>
            </a:pPr>
            <a:r>
              <a:rPr lang="en-US" sz="2400" dirty="0" smtClean="0"/>
              <a:t>May be bought-in or produced by the venue</a:t>
            </a:r>
          </a:p>
          <a:p>
            <a:pPr marL="360000" indent="-360000">
              <a:spcBef>
                <a:spcPts val="600"/>
              </a:spcBef>
              <a:spcAft>
                <a:spcPts val="1200"/>
              </a:spcAft>
            </a:pPr>
            <a:r>
              <a:rPr lang="en-US" sz="2400" dirty="0" smtClean="0"/>
              <a:t>Is a bound book</a:t>
            </a:r>
          </a:p>
          <a:p>
            <a:pPr marL="360000" indent="-360000">
              <a:spcBef>
                <a:spcPts val="600"/>
              </a:spcBef>
              <a:spcAft>
                <a:spcPts val="1200"/>
              </a:spcAft>
            </a:pPr>
            <a:r>
              <a:rPr lang="en-US" sz="2400" dirty="0" smtClean="0"/>
              <a:t>Has sequentially numbered pages</a:t>
            </a:r>
          </a:p>
          <a:p>
            <a:pPr marL="360000" indent="-360000">
              <a:spcBef>
                <a:spcPts val="600"/>
              </a:spcBef>
              <a:spcAft>
                <a:spcPts val="1200"/>
              </a:spcAft>
            </a:pPr>
            <a:r>
              <a:rPr lang="en-US" sz="2400" dirty="0" smtClean="0"/>
              <a:t>Records both ‘lost’ and ‘found’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6" name="Picture 5" descr="L&amp;F log copy.jpg"/>
          <p:cNvPicPr/>
          <p:nvPr/>
        </p:nvPicPr>
        <p:blipFill>
          <a:blip r:embed="rId3" cstate="print"/>
          <a:stretch>
            <a:fillRect/>
          </a:stretch>
        </p:blipFill>
        <p:spPr>
          <a:xfrm>
            <a:off x="6500826" y="3000372"/>
            <a:ext cx="1469376" cy="128588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Establish a lost and found register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The L &amp; F Register records:</a:t>
            </a:r>
          </a:p>
          <a:p>
            <a:pPr marL="360000" indent="-360000">
              <a:spcBef>
                <a:spcPts val="600"/>
              </a:spcBef>
              <a:spcAft>
                <a:spcPts val="1200"/>
              </a:spcAft>
            </a:pPr>
            <a:r>
              <a:rPr lang="en-US" sz="2400" dirty="0" smtClean="0"/>
              <a:t>Details of ‘found’ items</a:t>
            </a:r>
          </a:p>
          <a:p>
            <a:pPr marL="360000" indent="-360000">
              <a:spcBef>
                <a:spcPts val="600"/>
              </a:spcBef>
              <a:spcAft>
                <a:spcPts val="1200"/>
              </a:spcAft>
            </a:pPr>
            <a:r>
              <a:rPr lang="en-US" sz="2400" dirty="0" smtClean="0"/>
              <a:t>Reports of ‘lost’ items</a:t>
            </a:r>
          </a:p>
          <a:p>
            <a:pPr marL="360000" indent="-360000">
              <a:spcBef>
                <a:spcPts val="600"/>
              </a:spcBef>
              <a:spcAft>
                <a:spcPts val="1200"/>
              </a:spcAft>
            </a:pPr>
            <a:r>
              <a:rPr lang="en-US" sz="2400" dirty="0" smtClean="0"/>
              <a:t>Action taken in relation to </a:t>
            </a:r>
            <a:br>
              <a:rPr lang="en-US" sz="2400" dirty="0" smtClean="0"/>
            </a:br>
            <a:r>
              <a:rPr lang="en-US" sz="2400" dirty="0" smtClean="0"/>
              <a:t>lost and found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6" name="Picture 5"/>
          <p:cNvPicPr/>
          <p:nvPr/>
        </p:nvPicPr>
        <p:blipFill>
          <a:blip r:embed="rId3" cstate="print"/>
          <a:srcRect/>
          <a:stretch>
            <a:fillRect/>
          </a:stretch>
        </p:blipFill>
        <p:spPr bwMode="auto">
          <a:xfrm>
            <a:off x="5214942" y="1571612"/>
            <a:ext cx="2445048" cy="3714776"/>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Establish a lost and found register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For ‘found’ items the L &amp; F Register may record:</a:t>
            </a:r>
          </a:p>
          <a:p>
            <a:pPr marL="360000" indent="-360000">
              <a:spcBef>
                <a:spcPts val="600"/>
              </a:spcBef>
              <a:spcAft>
                <a:spcPts val="1200"/>
              </a:spcAft>
            </a:pPr>
            <a:r>
              <a:rPr lang="en-US" sz="2400" dirty="0" smtClean="0"/>
              <a:t>Item number</a:t>
            </a:r>
          </a:p>
          <a:p>
            <a:pPr marL="360000" indent="-360000">
              <a:spcBef>
                <a:spcPts val="600"/>
              </a:spcBef>
              <a:spcAft>
                <a:spcPts val="1200"/>
              </a:spcAft>
            </a:pPr>
            <a:r>
              <a:rPr lang="en-US" sz="2400" dirty="0" smtClean="0"/>
              <a:t>Date and time found</a:t>
            </a:r>
          </a:p>
          <a:p>
            <a:pPr marL="360000" indent="-360000">
              <a:spcBef>
                <a:spcPts val="600"/>
              </a:spcBef>
              <a:spcAft>
                <a:spcPts val="1200"/>
              </a:spcAft>
            </a:pPr>
            <a:r>
              <a:rPr lang="en-US" sz="2400" dirty="0" smtClean="0"/>
              <a:t>Description of item</a:t>
            </a:r>
          </a:p>
          <a:p>
            <a:pPr marL="360000" indent="-360000">
              <a:spcBef>
                <a:spcPts val="600"/>
              </a:spcBef>
              <a:spcAft>
                <a:spcPts val="1200"/>
              </a:spcAft>
            </a:pPr>
            <a:r>
              <a:rPr lang="en-US" sz="2400" dirty="0" smtClean="0"/>
              <a:t>Name of finder</a:t>
            </a:r>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5" name="Picture 4"/>
          <p:cNvPicPr/>
          <p:nvPr/>
        </p:nvPicPr>
        <p:blipFill>
          <a:blip r:embed="rId3" cstate="print"/>
          <a:srcRect/>
          <a:stretch>
            <a:fillRect/>
          </a:stretch>
        </p:blipFill>
        <p:spPr bwMode="auto">
          <a:xfrm>
            <a:off x="5214942" y="2143116"/>
            <a:ext cx="2324759" cy="353202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Establish a lost and found register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400" dirty="0" smtClean="0"/>
              <a:t>Location where item was found</a:t>
            </a:r>
          </a:p>
          <a:p>
            <a:pPr marL="360000" indent="-360000">
              <a:spcBef>
                <a:spcPts val="600"/>
              </a:spcBef>
              <a:spcAft>
                <a:spcPts val="1200"/>
              </a:spcAft>
            </a:pPr>
            <a:r>
              <a:rPr lang="en-US" sz="2400" dirty="0" smtClean="0"/>
              <a:t>Name of owner of item – if known</a:t>
            </a:r>
          </a:p>
          <a:p>
            <a:pPr marL="360000" indent="-360000">
              <a:spcBef>
                <a:spcPts val="600"/>
              </a:spcBef>
              <a:spcAft>
                <a:spcPts val="1200"/>
              </a:spcAft>
            </a:pPr>
            <a:r>
              <a:rPr lang="en-US" sz="2400" dirty="0" smtClean="0"/>
              <a:t>Receipt number – if receipts are issued</a:t>
            </a:r>
          </a:p>
          <a:p>
            <a:pPr marL="360000" indent="-360000">
              <a:spcBef>
                <a:spcPts val="600"/>
              </a:spcBef>
              <a:spcAft>
                <a:spcPts val="1200"/>
              </a:spcAft>
            </a:pPr>
            <a:r>
              <a:rPr lang="en-US" sz="2400" dirty="0" smtClean="0"/>
              <a:t>Action taken to find/contact owner</a:t>
            </a:r>
          </a:p>
          <a:p>
            <a:pPr marL="360000" indent="-360000">
              <a:spcBef>
                <a:spcPts val="600"/>
              </a:spcBef>
              <a:spcAft>
                <a:spcPts val="1200"/>
              </a:spcAft>
            </a:pPr>
            <a:r>
              <a:rPr lang="en-US" sz="2400" dirty="0" smtClean="0"/>
              <a:t>Signature of claimant – if claimed</a:t>
            </a:r>
          </a:p>
          <a:p>
            <a:pPr marL="360000" indent="-360000">
              <a:spcBef>
                <a:spcPts val="600"/>
              </a:spcBef>
              <a:spcAft>
                <a:spcPts val="1200"/>
              </a:spcAft>
            </a:pPr>
            <a:r>
              <a:rPr lang="en-US" sz="2400" dirty="0" smtClean="0"/>
              <a:t>Proof of identity and/or ownership</a:t>
            </a:r>
          </a:p>
          <a:p>
            <a:pPr marL="360000" indent="-360000">
              <a:spcBef>
                <a:spcPts val="600"/>
              </a:spcBef>
              <a:spcAft>
                <a:spcPts val="1200"/>
              </a:spcAft>
            </a:pPr>
            <a:r>
              <a:rPr lang="en-US" sz="2400" dirty="0" smtClean="0"/>
              <a:t>Final disposal of item – if unclaimed.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Establish a lost and found register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400" dirty="0" smtClean="0"/>
              <a:t>For ‘lost’ item reports record:</a:t>
            </a:r>
          </a:p>
          <a:p>
            <a:pPr marL="360000" indent="-360000">
              <a:spcBef>
                <a:spcPts val="600"/>
              </a:spcBef>
              <a:spcAft>
                <a:spcPts val="1200"/>
              </a:spcAft>
            </a:pPr>
            <a:r>
              <a:rPr lang="en-US" sz="2400" dirty="0" smtClean="0"/>
              <a:t>Date/time of report</a:t>
            </a:r>
          </a:p>
          <a:p>
            <a:pPr marL="360000" indent="-360000">
              <a:spcBef>
                <a:spcPts val="600"/>
              </a:spcBef>
              <a:spcAft>
                <a:spcPts val="1200"/>
              </a:spcAft>
            </a:pPr>
            <a:r>
              <a:rPr lang="en-US" sz="2400" dirty="0" smtClean="0"/>
              <a:t>Description of item</a:t>
            </a:r>
          </a:p>
          <a:p>
            <a:pPr marL="360000" indent="-360000">
              <a:spcBef>
                <a:spcPts val="600"/>
              </a:spcBef>
              <a:spcAft>
                <a:spcPts val="1200"/>
              </a:spcAft>
            </a:pPr>
            <a:r>
              <a:rPr lang="en-US" sz="2400" dirty="0" smtClean="0"/>
              <a:t>Value of item</a:t>
            </a:r>
          </a:p>
          <a:p>
            <a:pPr marL="360000" indent="-360000">
              <a:spcBef>
                <a:spcPts val="600"/>
              </a:spcBef>
              <a:spcAft>
                <a:spcPts val="1200"/>
              </a:spcAft>
            </a:pPr>
            <a:r>
              <a:rPr lang="en-US" sz="2400" dirty="0" smtClean="0"/>
              <a:t>Location of loss</a:t>
            </a:r>
          </a:p>
          <a:p>
            <a:pPr marL="360000" indent="-360000">
              <a:spcBef>
                <a:spcPts val="600"/>
              </a:spcBef>
              <a:spcAft>
                <a:spcPts val="1200"/>
              </a:spcAft>
            </a:pPr>
            <a:r>
              <a:rPr lang="en-US" sz="2400" dirty="0" smtClean="0"/>
              <a:t>Name of person making report</a:t>
            </a:r>
          </a:p>
          <a:p>
            <a:pPr marL="360000" indent="-360000">
              <a:spcBef>
                <a:spcPts val="600"/>
              </a:spcBef>
              <a:spcAft>
                <a:spcPts val="1200"/>
              </a:spcAft>
            </a:pPr>
            <a:r>
              <a:rPr lang="en-US" sz="2400" dirty="0" smtClean="0"/>
              <a:t>Their contact details</a:t>
            </a:r>
          </a:p>
          <a:p>
            <a:pPr marL="360000" indent="-360000">
              <a:spcBef>
                <a:spcPts val="600"/>
              </a:spcBef>
              <a:spcAft>
                <a:spcPts val="1200"/>
              </a:spcAft>
            </a:pPr>
            <a:r>
              <a:rPr lang="en-US" sz="2400" dirty="0" smtClean="0"/>
              <a:t>Action taken.</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5" name="Picture 4"/>
          <p:cNvPicPr/>
          <p:nvPr/>
        </p:nvPicPr>
        <p:blipFill>
          <a:blip r:embed="rId3" cstate="print"/>
          <a:srcRect/>
          <a:stretch>
            <a:fillRect/>
          </a:stretch>
        </p:blipFill>
        <p:spPr bwMode="auto">
          <a:xfrm>
            <a:off x="5429256" y="1571612"/>
            <a:ext cx="2470948" cy="3754125"/>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When establishing a lost and found facility:</a:t>
            </a:r>
          </a:p>
          <a:p>
            <a:pPr>
              <a:spcBef>
                <a:spcPts val="600"/>
              </a:spcBef>
              <a:spcAft>
                <a:spcPts val="600"/>
              </a:spcAft>
            </a:pPr>
            <a:r>
              <a:rPr lang="en-US" sz="2400" dirty="0" err="1" smtClean="0"/>
              <a:t>Realise</a:t>
            </a:r>
            <a:r>
              <a:rPr lang="en-US" sz="2400" dirty="0" smtClean="0"/>
              <a:t> the aims of this facility are to record lost and found items, and to store and return found items to their rightful owners</a:t>
            </a:r>
            <a:endParaRPr lang="en-AU" sz="2400" dirty="0" smtClean="0"/>
          </a:p>
          <a:p>
            <a:pPr>
              <a:spcBef>
                <a:spcPts val="600"/>
              </a:spcBef>
              <a:spcAft>
                <a:spcPts val="600"/>
              </a:spcAft>
            </a:pPr>
            <a:r>
              <a:rPr lang="en-US" sz="2400" dirty="0" smtClean="0"/>
              <a:t>Most properties and venues will benefit from establishing such a facility</a:t>
            </a:r>
            <a:endParaRPr lang="en-AU" sz="2400" dirty="0" smtClean="0"/>
          </a:p>
          <a:p>
            <a:pPr>
              <a:spcBef>
                <a:spcPts val="600"/>
              </a:spcBef>
              <a:spcAft>
                <a:spcPts val="600"/>
              </a:spcAft>
            </a:pPr>
            <a:r>
              <a:rPr lang="en-US" sz="2400" dirty="0" smtClean="0"/>
              <a:t>Be prepared for a wide range of items to be lost and found items</a:t>
            </a:r>
          </a:p>
          <a:p>
            <a:pPr>
              <a:buNone/>
            </a:pPr>
            <a:r>
              <a:rPr lang="en-US" sz="2400" dirty="0" smtClean="0"/>
              <a:t>(Continued)</a:t>
            </a:r>
            <a:endParaRPr lang="en-AU" sz="2400" dirty="0" smtClean="0"/>
          </a:p>
          <a:p>
            <a:pPr marL="360000" indent="-360000">
              <a:spcBef>
                <a:spcPts val="600"/>
              </a:spcBef>
              <a:spcAft>
                <a:spcPts val="1200"/>
              </a:spcAft>
            </a:pPr>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5" name="Picture 2" descr="C:\Documents and Settings\danielc\Local Settings\Temporary Internet Files\Content.IE5\29XKYQ1Q\MC900391740[1].wmf"/>
          <p:cNvPicPr>
            <a:picLocks noChangeAspect="1" noChangeArrowheads="1"/>
          </p:cNvPicPr>
          <p:nvPr/>
        </p:nvPicPr>
        <p:blipFill>
          <a:blip r:embed="rId3" cstate="print"/>
          <a:srcRect/>
          <a:stretch>
            <a:fillRect/>
          </a:stretch>
        </p:blipFill>
        <p:spPr bwMode="auto">
          <a:xfrm>
            <a:off x="4034376" y="5286388"/>
            <a:ext cx="1075248" cy="1072001"/>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Aft>
                <a:spcPts val="1200"/>
              </a:spcAft>
            </a:pPr>
            <a:r>
              <a:rPr lang="en-US" sz="2400" dirty="0" smtClean="0"/>
              <a:t>Select an appropriate area/location for the facility that is safe, secure and not open to the public</a:t>
            </a:r>
            <a:endParaRPr lang="en-AU" sz="2400" dirty="0" smtClean="0"/>
          </a:p>
          <a:p>
            <a:pPr>
              <a:spcAft>
                <a:spcPts val="1200"/>
              </a:spcAft>
            </a:pPr>
            <a:r>
              <a:rPr lang="en-US" sz="2400" dirty="0" smtClean="0"/>
              <a:t>Develop a series of appropriate policies, procedures and protocols to support the operation of the facility aimed at effectively dealing with valuable, non-valuable and perishable items</a:t>
            </a:r>
            <a:endParaRPr lang="en-AU" sz="2400" dirty="0" smtClean="0"/>
          </a:p>
          <a:p>
            <a:pPr>
              <a:spcAft>
                <a:spcPts val="1200"/>
              </a:spcAft>
            </a:pPr>
            <a:r>
              <a:rPr lang="en-US" sz="2400" dirty="0" smtClean="0"/>
              <a:t>Create protocols for dealing with dangerous, suspicious or illegal lost and found items</a:t>
            </a:r>
            <a:endParaRPr lang="en-AU" sz="2400" dirty="0" smtClean="0"/>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5" name="Picture 2" descr="C:\Documents and Settings\danielc\Local Settings\Temporary Internet Files\Content.IE5\29XKYQ1Q\MC900391740[1].wmf"/>
          <p:cNvPicPr>
            <a:picLocks noChangeAspect="1" noChangeArrowheads="1"/>
          </p:cNvPicPr>
          <p:nvPr/>
        </p:nvPicPr>
        <p:blipFill>
          <a:blip r:embed="rId3" cstate="print"/>
          <a:srcRect/>
          <a:stretch>
            <a:fillRect/>
          </a:stretch>
        </p:blipFill>
        <p:spPr bwMode="auto">
          <a:xfrm>
            <a:off x="4034376" y="5286388"/>
            <a:ext cx="1075248" cy="1072001"/>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Aft>
                <a:spcPts val="1200"/>
              </a:spcAft>
            </a:pPr>
            <a:r>
              <a:rPr lang="en-US" sz="2400" dirty="0" smtClean="0"/>
              <a:t>Ensure the lost and found system enables compliance with ‘Duty of Care’ and ‘Bailment’ requirements</a:t>
            </a:r>
            <a:endParaRPr lang="en-AU" sz="2400" dirty="0" smtClean="0"/>
          </a:p>
          <a:p>
            <a:pPr>
              <a:spcAft>
                <a:spcPts val="1200"/>
              </a:spcAft>
            </a:pPr>
            <a:r>
              <a:rPr lang="en-US" sz="2400" dirty="0" smtClean="0"/>
              <a:t>Advise guests/customers regarding the location and function of the Lost and Found facility</a:t>
            </a:r>
            <a:endParaRPr lang="en-AU" sz="2400" dirty="0" smtClean="0"/>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5" name="Picture 2" descr="C:\Documents and Settings\danielc\Local Settings\Temporary Internet Files\Content.IE5\29XKYQ1Q\MC900391740[1].wmf"/>
          <p:cNvPicPr>
            <a:picLocks noChangeAspect="1" noChangeArrowheads="1"/>
          </p:cNvPicPr>
          <p:nvPr/>
        </p:nvPicPr>
        <p:blipFill>
          <a:blip r:embed="rId3" cstate="print"/>
          <a:srcRect/>
          <a:stretch>
            <a:fillRect/>
          </a:stretch>
        </p:blipFill>
        <p:spPr bwMode="auto">
          <a:xfrm>
            <a:off x="4034376" y="4429132"/>
            <a:ext cx="1075248" cy="1072001"/>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Aft>
                <a:spcPts val="1200"/>
              </a:spcAft>
            </a:pPr>
            <a:r>
              <a:rPr lang="en-US" sz="2400" dirty="0" smtClean="0"/>
              <a:t>Use appropriate communication skills when dealing with people in relation to lost and found items</a:t>
            </a:r>
            <a:endParaRPr lang="en-AU" sz="2400" dirty="0" smtClean="0"/>
          </a:p>
          <a:p>
            <a:pPr>
              <a:spcAft>
                <a:spcPts val="1200"/>
              </a:spcAft>
            </a:pPr>
            <a:r>
              <a:rPr lang="en-US" sz="2400" dirty="0" smtClean="0"/>
              <a:t>Establish a Lost and Found Register and Lost and Found tags/slips to facilitate the recording of lost and found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5" name="Picture 2" descr="C:\Documents and Settings\danielc\Local Settings\Temporary Internet Files\Content.IE5\29XKYQ1Q\MC900391740[1].wmf"/>
          <p:cNvPicPr>
            <a:picLocks noChangeAspect="1" noChangeArrowheads="1"/>
          </p:cNvPicPr>
          <p:nvPr/>
        </p:nvPicPr>
        <p:blipFill>
          <a:blip r:embed="rId3" cstate="print"/>
          <a:srcRect/>
          <a:stretch>
            <a:fillRect/>
          </a:stretch>
        </p:blipFill>
        <p:spPr bwMode="auto">
          <a:xfrm>
            <a:off x="3714744" y="4714884"/>
            <a:ext cx="1075248" cy="1072001"/>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Deal with lost and found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Performance Criteria for this Element are:</a:t>
            </a:r>
          </a:p>
          <a:p>
            <a:pPr marL="360000" indent="-360000">
              <a:spcBef>
                <a:spcPts val="600"/>
              </a:spcBef>
              <a:spcAft>
                <a:spcPts val="1200"/>
              </a:spcAft>
            </a:pPr>
            <a:r>
              <a:rPr lang="en-US" sz="2400" dirty="0" smtClean="0"/>
              <a:t>Check items for safety and legality and take appropriate action</a:t>
            </a:r>
          </a:p>
          <a:p>
            <a:pPr marL="360000" indent="-360000">
              <a:spcBef>
                <a:spcPts val="600"/>
              </a:spcBef>
              <a:spcAft>
                <a:spcPts val="1200"/>
              </a:spcAft>
            </a:pPr>
            <a:r>
              <a:rPr lang="en-US" sz="2400" dirty="0" smtClean="0"/>
              <a:t>Record found items in lost and found register</a:t>
            </a:r>
          </a:p>
          <a:p>
            <a:pPr marL="360000" indent="-360000">
              <a:spcBef>
                <a:spcPts val="600"/>
              </a:spcBef>
              <a:spcAft>
                <a:spcPts val="1200"/>
              </a:spcAft>
            </a:pPr>
            <a:r>
              <a:rPr lang="en-US" sz="2400" dirty="0" smtClean="0"/>
              <a:t>Record items reported lost in lost and found register</a:t>
            </a:r>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5" name="Picture 2" descr="C:\Documents and Settings\danielc\Local Settings\Temporary Internet Files\Content.IE5\29XKYQ1Q\MP900444315[1].jpg"/>
          <p:cNvPicPr>
            <a:picLocks noChangeAspect="1" noChangeArrowheads="1"/>
          </p:cNvPicPr>
          <p:nvPr/>
        </p:nvPicPr>
        <p:blipFill>
          <a:blip r:embed="rId3" cstate="print"/>
          <a:srcRect/>
          <a:stretch>
            <a:fillRect/>
          </a:stretch>
        </p:blipFill>
        <p:spPr bwMode="auto">
          <a:xfrm>
            <a:off x="3632266" y="4643446"/>
            <a:ext cx="1879468" cy="1245617"/>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Deal with lost and found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400" dirty="0" smtClean="0"/>
              <a:t>Tag the found item</a:t>
            </a:r>
          </a:p>
          <a:p>
            <a:pPr marL="360000" indent="-360000">
              <a:spcBef>
                <a:spcPts val="600"/>
              </a:spcBef>
              <a:spcAft>
                <a:spcPts val="1200"/>
              </a:spcAft>
            </a:pPr>
            <a:r>
              <a:rPr lang="en-US" sz="2400" dirty="0" smtClean="0"/>
              <a:t>Store the found item appropriately</a:t>
            </a:r>
          </a:p>
          <a:p>
            <a:pPr marL="360000" indent="-360000">
              <a:spcBef>
                <a:spcPts val="600"/>
              </a:spcBef>
              <a:spcAft>
                <a:spcPts val="1200"/>
              </a:spcAft>
            </a:pPr>
            <a:r>
              <a:rPr lang="en-US" sz="2400" dirty="0" smtClean="0"/>
              <a:t>Notify owner, if known</a:t>
            </a:r>
          </a:p>
          <a:p>
            <a:pPr marL="360000" indent="-360000">
              <a:spcBef>
                <a:spcPts val="600"/>
              </a:spcBef>
              <a:spcAft>
                <a:spcPts val="1200"/>
              </a:spcAft>
            </a:pPr>
            <a:r>
              <a:rPr lang="en-US" sz="2400" dirty="0" smtClean="0"/>
              <a:t>Notify internal establishment staff to facilitate return of found item to owner.</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6" name="Picture 2" descr="C:\Documents and Settings\danielc\Local Settings\Temporary Internet Files\Content.IE5\29XKYQ1Q\MP900444315[1].jpg"/>
          <p:cNvPicPr>
            <a:picLocks noChangeAspect="1" noChangeArrowheads="1"/>
          </p:cNvPicPr>
          <p:nvPr/>
        </p:nvPicPr>
        <p:blipFill>
          <a:blip r:embed="rId3" cstate="print"/>
          <a:srcRect/>
          <a:stretch>
            <a:fillRect/>
          </a:stretch>
        </p:blipFill>
        <p:spPr bwMode="auto">
          <a:xfrm>
            <a:off x="3632266" y="4643446"/>
            <a:ext cx="1879468" cy="1245617"/>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items for safety and legality and take appropriate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Check items handed to ensure they are safe and not suspicious or illegal:</a:t>
            </a:r>
          </a:p>
          <a:p>
            <a:pPr marL="360000" indent="-360000">
              <a:spcBef>
                <a:spcPts val="600"/>
              </a:spcBef>
              <a:spcAft>
                <a:spcPts val="1200"/>
              </a:spcAft>
            </a:pPr>
            <a:r>
              <a:rPr lang="en-US" sz="2400" dirty="0" smtClean="0"/>
              <a:t>Visually inspect the item</a:t>
            </a:r>
          </a:p>
          <a:p>
            <a:pPr marL="360000" indent="-360000">
              <a:spcBef>
                <a:spcPts val="600"/>
              </a:spcBef>
              <a:spcAft>
                <a:spcPts val="1200"/>
              </a:spcAft>
            </a:pPr>
            <a:r>
              <a:rPr lang="en-US" sz="2400" dirty="0" smtClean="0"/>
              <a:t>Use sense of smell and hearing</a:t>
            </a:r>
          </a:p>
          <a:p>
            <a:pPr marL="360000" indent="-360000">
              <a:spcBef>
                <a:spcPts val="600"/>
              </a:spcBef>
              <a:spcAft>
                <a:spcPts val="1200"/>
              </a:spcAft>
            </a:pPr>
            <a:r>
              <a:rPr lang="en-US" sz="2400" dirty="0" smtClean="0"/>
              <a:t>Verify item is safe and secure</a:t>
            </a:r>
          </a:p>
          <a:p>
            <a:pPr marL="360000" indent="-360000">
              <a:spcBef>
                <a:spcPts val="600"/>
              </a:spcBef>
              <a:spcAft>
                <a:spcPts val="1200"/>
              </a:spcAft>
            </a:pPr>
            <a:r>
              <a:rPr lang="en-US" sz="2400" dirty="0" smtClean="0"/>
              <a:t>Use common sense.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5" name="Picture 4" descr="C:\Documents and Settings\danielc\Local Settings\Temporary Internet Files\Content.IE5\LSIXJYS2\MC900044923[1].wmf"/>
          <p:cNvPicPr/>
          <p:nvPr/>
        </p:nvPicPr>
        <p:blipFill>
          <a:blip r:embed="rId3" cstate="print"/>
          <a:srcRect/>
          <a:stretch>
            <a:fillRect/>
          </a:stretch>
        </p:blipFill>
        <p:spPr bwMode="auto">
          <a:xfrm>
            <a:off x="6087591" y="2428868"/>
            <a:ext cx="1716209" cy="1857388"/>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items for safety and legality and take appropriate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Dangerous and illegal items include:</a:t>
            </a:r>
          </a:p>
          <a:p>
            <a:pPr marL="360000" indent="-360000">
              <a:spcBef>
                <a:spcPts val="600"/>
              </a:spcBef>
              <a:spcAft>
                <a:spcPts val="1200"/>
              </a:spcAft>
            </a:pPr>
            <a:r>
              <a:rPr lang="en-US" sz="2400" dirty="0" smtClean="0"/>
              <a:t>Drugs</a:t>
            </a:r>
          </a:p>
          <a:p>
            <a:pPr marL="360000" indent="-360000">
              <a:spcBef>
                <a:spcPts val="600"/>
              </a:spcBef>
              <a:spcAft>
                <a:spcPts val="1200"/>
              </a:spcAft>
            </a:pPr>
            <a:r>
              <a:rPr lang="en-US" sz="2400" dirty="0" smtClean="0"/>
              <a:t>Weapons</a:t>
            </a:r>
          </a:p>
          <a:p>
            <a:pPr marL="360000" indent="-360000">
              <a:spcBef>
                <a:spcPts val="600"/>
              </a:spcBef>
              <a:spcAft>
                <a:spcPts val="1200"/>
              </a:spcAft>
            </a:pPr>
            <a:r>
              <a:rPr lang="en-US" sz="2400" dirty="0" smtClean="0"/>
              <a:t>Contraband</a:t>
            </a:r>
          </a:p>
          <a:p>
            <a:pPr marL="360000" indent="-360000">
              <a:spcBef>
                <a:spcPts val="600"/>
              </a:spcBef>
              <a:spcAft>
                <a:spcPts val="1200"/>
              </a:spcAft>
            </a:pPr>
            <a:r>
              <a:rPr lang="en-US" sz="2400" dirty="0" smtClean="0"/>
              <a:t>Explosives.</a:t>
            </a:r>
          </a:p>
          <a:p>
            <a:pPr marL="360000" indent="-360000" algn="ctr">
              <a:spcBef>
                <a:spcPts val="600"/>
              </a:spcBef>
              <a:spcAft>
                <a:spcPts val="1200"/>
              </a:spcAft>
              <a:buNone/>
            </a:pPr>
            <a:r>
              <a:rPr lang="en-US" sz="2400" dirty="0" smtClean="0"/>
              <a:t>Involve Supervisor if unsure. Always err on the side of caution.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5" name="Picture 4" descr="C:\Documents and Settings\danielc\Local Settings\Temporary Internet Files\Content.IE5\LSIXJYS2\MC900335599[1].wmf"/>
          <p:cNvPicPr/>
          <p:nvPr/>
        </p:nvPicPr>
        <p:blipFill>
          <a:blip r:embed="rId3" cstate="print"/>
          <a:srcRect/>
          <a:stretch>
            <a:fillRect/>
          </a:stretch>
        </p:blipFill>
        <p:spPr bwMode="auto">
          <a:xfrm>
            <a:off x="6286512" y="2500306"/>
            <a:ext cx="1225169" cy="1364959"/>
          </a:xfrm>
          <a:prstGeom prst="rect">
            <a:avLst/>
          </a:prstGeom>
          <a:noFill/>
          <a:ln w="9525">
            <a:noFill/>
            <a:miter lim="800000"/>
            <a:headEnd/>
            <a:tailEnd/>
          </a:ln>
        </p:spPr>
      </p:pic>
      <p:pic>
        <p:nvPicPr>
          <p:cNvPr id="16386" name="Picture 2" descr="C:\Documents and Settings\danielc\Local Settings\Temporary Internet Files\Content.IE5\XKVY0NPI\MC900013186[1].wmf"/>
          <p:cNvPicPr>
            <a:picLocks noChangeAspect="1" noChangeArrowheads="1"/>
          </p:cNvPicPr>
          <p:nvPr/>
        </p:nvPicPr>
        <p:blipFill>
          <a:blip r:embed="rId4" cstate="print"/>
          <a:srcRect/>
          <a:stretch>
            <a:fillRect/>
          </a:stretch>
        </p:blipFill>
        <p:spPr bwMode="auto">
          <a:xfrm>
            <a:off x="4429124" y="2571744"/>
            <a:ext cx="1741018" cy="115123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items for safety and legality and take appropriate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If you identify a ‘suspicious’ item/package:</a:t>
            </a:r>
          </a:p>
          <a:p>
            <a:pPr marL="360000" indent="-360000">
              <a:spcBef>
                <a:spcPts val="600"/>
              </a:spcBef>
              <a:spcAft>
                <a:spcPts val="1200"/>
              </a:spcAft>
            </a:pPr>
            <a:r>
              <a:rPr lang="en-US" sz="2400" dirty="0" smtClean="0"/>
              <a:t>Do not touch it</a:t>
            </a:r>
          </a:p>
          <a:p>
            <a:pPr marL="360000" indent="-360000">
              <a:spcBef>
                <a:spcPts val="600"/>
              </a:spcBef>
              <a:spcAft>
                <a:spcPts val="1200"/>
              </a:spcAft>
            </a:pPr>
            <a:r>
              <a:rPr lang="en-US" sz="2400" dirty="0" smtClean="0"/>
              <a:t>Phone Police and report it</a:t>
            </a:r>
          </a:p>
          <a:p>
            <a:pPr marL="360000" indent="-360000">
              <a:spcBef>
                <a:spcPts val="600"/>
              </a:spcBef>
              <a:spcAft>
                <a:spcPts val="1200"/>
              </a:spcAft>
            </a:pPr>
            <a:r>
              <a:rPr lang="en-US" sz="2400" dirty="0" smtClean="0"/>
              <a:t>Leave the item/package where it is</a:t>
            </a:r>
          </a:p>
          <a:p>
            <a:pPr marL="360000" indent="-360000">
              <a:spcBef>
                <a:spcPts val="600"/>
              </a:spcBef>
              <a:spcAft>
                <a:spcPts val="1200"/>
              </a:spcAft>
            </a:pPr>
            <a:r>
              <a:rPr lang="en-US" sz="2400" dirty="0" smtClean="0"/>
              <a:t>Initiate evacuation</a:t>
            </a:r>
          </a:p>
          <a:p>
            <a:pPr marL="360000" indent="-360000">
              <a:spcBef>
                <a:spcPts val="600"/>
              </a:spcBef>
              <a:spcAft>
                <a:spcPts val="1200"/>
              </a:spcAft>
            </a:pPr>
            <a:r>
              <a:rPr lang="en-US" sz="2400" dirty="0" smtClean="0"/>
              <a:t>Turn off anything likely to trigger an explosion</a:t>
            </a:r>
          </a:p>
          <a:p>
            <a:pPr marL="360000" indent="-360000">
              <a:spcBef>
                <a:spcPts val="600"/>
              </a:spcBef>
              <a:spcAft>
                <a:spcPts val="1200"/>
              </a:spcAft>
            </a:pPr>
            <a:r>
              <a:rPr lang="en-US" sz="2400" dirty="0" smtClean="0"/>
              <a:t>Wait for the authorities to arrive.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17410" name="Picture 2" descr="C:\Documents and Settings\danielc\Local Settings\Temporary Internet Files\Content.IE5\2LMD6966\MC900104728[1].wmf"/>
          <p:cNvPicPr>
            <a:picLocks noChangeAspect="1" noChangeArrowheads="1"/>
          </p:cNvPicPr>
          <p:nvPr/>
        </p:nvPicPr>
        <p:blipFill>
          <a:blip r:embed="rId3" cstate="print"/>
          <a:srcRect/>
          <a:stretch>
            <a:fillRect/>
          </a:stretch>
        </p:blipFill>
        <p:spPr bwMode="auto">
          <a:xfrm>
            <a:off x="5929322" y="2500306"/>
            <a:ext cx="2889453" cy="642942"/>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items for safety and legality and take appropriate action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SOPs for dealing with items taken into the L &amp; F facility:</a:t>
            </a:r>
          </a:p>
          <a:p>
            <a:pPr marL="360000" indent="-360000">
              <a:spcBef>
                <a:spcPts val="600"/>
              </a:spcBef>
              <a:spcAft>
                <a:spcPts val="1200"/>
              </a:spcAft>
            </a:pPr>
            <a:r>
              <a:rPr lang="en-US" sz="2400" dirty="0" smtClean="0"/>
              <a:t>Treat with respect and care</a:t>
            </a:r>
          </a:p>
          <a:p>
            <a:pPr marL="360000" indent="-360000">
              <a:spcBef>
                <a:spcPts val="600"/>
              </a:spcBef>
              <a:spcAft>
                <a:spcPts val="1200"/>
              </a:spcAft>
            </a:pPr>
            <a:r>
              <a:rPr lang="en-US" sz="2400" dirty="0" smtClean="0"/>
              <a:t>Package appropriately if required</a:t>
            </a:r>
          </a:p>
          <a:p>
            <a:pPr marL="360000" indent="-360000">
              <a:spcBef>
                <a:spcPts val="600"/>
              </a:spcBef>
              <a:spcAft>
                <a:spcPts val="1200"/>
              </a:spcAft>
            </a:pPr>
            <a:r>
              <a:rPr lang="en-US" sz="2400" dirty="0" smtClean="0"/>
              <a:t>Secure the items</a:t>
            </a:r>
          </a:p>
          <a:p>
            <a:pPr marL="360000" indent="-360000">
              <a:spcBef>
                <a:spcPts val="600"/>
              </a:spcBef>
              <a:spcAft>
                <a:spcPts val="1200"/>
              </a:spcAft>
            </a:pPr>
            <a:r>
              <a:rPr lang="en-US" sz="2400" dirty="0" smtClean="0"/>
              <a:t>Leave items alone until claimed or disposed of.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 found items in lost and found register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When making entries into L &amp; F Register:</a:t>
            </a:r>
          </a:p>
          <a:p>
            <a:pPr marL="360000" indent="-360000">
              <a:spcBef>
                <a:spcPts val="600"/>
              </a:spcBef>
              <a:spcAft>
                <a:spcPts val="1200"/>
              </a:spcAft>
            </a:pPr>
            <a:r>
              <a:rPr lang="en-US" sz="2400" dirty="0" smtClean="0"/>
              <a:t>Writing is legible</a:t>
            </a:r>
          </a:p>
          <a:p>
            <a:pPr marL="360000" indent="-360000">
              <a:spcBef>
                <a:spcPts val="600"/>
              </a:spcBef>
              <a:spcAft>
                <a:spcPts val="1200"/>
              </a:spcAft>
            </a:pPr>
            <a:r>
              <a:rPr lang="en-US" sz="2400" dirty="0" smtClean="0"/>
              <a:t>Information is correct</a:t>
            </a:r>
          </a:p>
          <a:p>
            <a:pPr marL="360000" indent="-360000">
              <a:spcBef>
                <a:spcPts val="600"/>
              </a:spcBef>
              <a:spcAft>
                <a:spcPts val="1200"/>
              </a:spcAft>
            </a:pPr>
            <a:r>
              <a:rPr lang="en-US" sz="2400" dirty="0" smtClean="0"/>
              <a:t>Information is comprehensive.</a:t>
            </a:r>
          </a:p>
          <a:p>
            <a:pPr marL="360000" indent="-360000" algn="ctr">
              <a:spcBef>
                <a:spcPts val="600"/>
              </a:spcBef>
              <a:spcAft>
                <a:spcPts val="1200"/>
              </a:spcAft>
              <a:buNone/>
            </a:pPr>
            <a:r>
              <a:rPr lang="en-US" sz="2400" dirty="0" smtClean="0"/>
              <a:t>Check details with person making the ‘lost’ report or handing an item in.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18434" name="Picture 2" descr="C:\Documents and Settings\danielc\Local Settings\Temporary Internet Files\Content.IE5\XKVY0NPI\MP900400353[1].jpg"/>
          <p:cNvPicPr>
            <a:picLocks noChangeAspect="1" noChangeArrowheads="1"/>
          </p:cNvPicPr>
          <p:nvPr/>
        </p:nvPicPr>
        <p:blipFill>
          <a:blip r:embed="rId3" cstate="print"/>
          <a:srcRect/>
          <a:stretch>
            <a:fillRect/>
          </a:stretch>
        </p:blipFill>
        <p:spPr bwMode="auto">
          <a:xfrm>
            <a:off x="5857884" y="2166890"/>
            <a:ext cx="2343838" cy="1561949"/>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 found items in lost and found register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When recording ‘found’ items in L &amp; F Register:</a:t>
            </a:r>
          </a:p>
          <a:p>
            <a:pPr marL="360000" indent="-360000">
              <a:spcBef>
                <a:spcPts val="600"/>
              </a:spcBef>
              <a:spcAft>
                <a:spcPts val="1200"/>
              </a:spcAft>
            </a:pPr>
            <a:r>
              <a:rPr lang="en-US" sz="2400" dirty="0" smtClean="0"/>
              <a:t>Identify finder</a:t>
            </a:r>
          </a:p>
          <a:p>
            <a:pPr marL="360000" indent="-360000">
              <a:spcBef>
                <a:spcPts val="600"/>
              </a:spcBef>
              <a:spcAft>
                <a:spcPts val="1200"/>
              </a:spcAft>
            </a:pPr>
            <a:r>
              <a:rPr lang="en-US" sz="2400" dirty="0" smtClean="0"/>
              <a:t>Identify location where item was found</a:t>
            </a:r>
          </a:p>
          <a:p>
            <a:pPr marL="360000" indent="-360000">
              <a:spcBef>
                <a:spcPts val="600"/>
              </a:spcBef>
              <a:spcAft>
                <a:spcPts val="1200"/>
              </a:spcAft>
            </a:pPr>
            <a:r>
              <a:rPr lang="en-US" sz="2400" dirty="0" smtClean="0"/>
              <a:t>Identify date and time found</a:t>
            </a:r>
          </a:p>
          <a:p>
            <a:pPr marL="360000" indent="-360000">
              <a:spcBef>
                <a:spcPts val="600"/>
              </a:spcBef>
              <a:spcAft>
                <a:spcPts val="1200"/>
              </a:spcAft>
            </a:pPr>
            <a:r>
              <a:rPr lang="en-US" sz="2400" dirty="0" smtClean="0"/>
              <a:t>Describe the item</a:t>
            </a:r>
          </a:p>
          <a:p>
            <a:pPr marL="360000" indent="-360000">
              <a:spcBef>
                <a:spcPts val="600"/>
              </a:spcBef>
              <a:spcAft>
                <a:spcPts val="1200"/>
              </a:spcAft>
            </a:pPr>
            <a:r>
              <a:rPr lang="en-US" sz="2400" dirty="0" smtClean="0"/>
              <a:t>Allocate a number to the item</a:t>
            </a:r>
          </a:p>
          <a:p>
            <a:pPr marL="360000" indent="-360000">
              <a:spcBef>
                <a:spcPts val="600"/>
              </a:spcBef>
              <a:spcAft>
                <a:spcPts val="1200"/>
              </a:spcAft>
            </a:pPr>
            <a:r>
              <a:rPr lang="en-US" sz="2400" dirty="0" smtClean="0"/>
              <a:t>Sign the item in to the facility.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19458" name="Picture 2" descr="C:\Documents and Settings\danielc\Local Settings\Temporary Internet Files\Content.IE5\LSIXJYS2\MP900409009[1].jpg"/>
          <p:cNvPicPr>
            <a:picLocks noChangeAspect="1" noChangeArrowheads="1"/>
          </p:cNvPicPr>
          <p:nvPr/>
        </p:nvPicPr>
        <p:blipFill>
          <a:blip r:embed="rId3" cstate="print"/>
          <a:srcRect/>
          <a:stretch>
            <a:fillRect/>
          </a:stretch>
        </p:blipFill>
        <p:spPr bwMode="auto">
          <a:xfrm>
            <a:off x="6786578" y="3071810"/>
            <a:ext cx="1346694" cy="1351975"/>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 found items in lost and found register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400" dirty="0" smtClean="0"/>
              <a:t>Descriptions of found items must:</a:t>
            </a:r>
          </a:p>
          <a:p>
            <a:pPr marL="360000" indent="-360000">
              <a:spcBef>
                <a:spcPts val="600"/>
              </a:spcBef>
              <a:spcAft>
                <a:spcPts val="1200"/>
              </a:spcAft>
            </a:pPr>
            <a:r>
              <a:rPr lang="en-AU" sz="2400" dirty="0" smtClean="0"/>
              <a:t>Enable differentiation between similar items</a:t>
            </a:r>
          </a:p>
          <a:p>
            <a:pPr marL="360000" indent="-360000">
              <a:spcBef>
                <a:spcPts val="600"/>
              </a:spcBef>
              <a:spcAft>
                <a:spcPts val="1200"/>
              </a:spcAft>
            </a:pPr>
            <a:r>
              <a:rPr lang="en-AU" sz="2400" dirty="0" smtClean="0"/>
              <a:t>Give a general description, plus</a:t>
            </a:r>
          </a:p>
          <a:p>
            <a:pPr marL="720000" indent="-360000">
              <a:spcBef>
                <a:spcPts val="600"/>
              </a:spcBef>
              <a:spcAft>
                <a:spcPts val="1200"/>
              </a:spcAft>
              <a:buClr>
                <a:schemeClr val="accent1">
                  <a:lumMod val="75000"/>
                </a:schemeClr>
              </a:buClr>
              <a:buSzPct val="100000"/>
              <a:buFont typeface="Arial" pitchFamily="34" charset="0"/>
              <a:buChar char="•"/>
            </a:pPr>
            <a:r>
              <a:rPr lang="en-AU" sz="2400" dirty="0" smtClean="0"/>
              <a:t>Brand name, model, serial number</a:t>
            </a:r>
          </a:p>
          <a:p>
            <a:pPr marL="720000" indent="-360000">
              <a:spcBef>
                <a:spcPts val="600"/>
              </a:spcBef>
              <a:spcAft>
                <a:spcPts val="1200"/>
              </a:spcAft>
              <a:buClr>
                <a:schemeClr val="accent1">
                  <a:lumMod val="75000"/>
                </a:schemeClr>
              </a:buClr>
              <a:buSzPct val="100000"/>
              <a:buFont typeface="Arial" pitchFamily="34" charset="0"/>
              <a:buChar char="•"/>
            </a:pPr>
            <a:r>
              <a:rPr lang="en-AU" sz="2400" dirty="0" smtClean="0"/>
              <a:t>Distinguishing features/marks</a:t>
            </a:r>
          </a:p>
          <a:p>
            <a:pPr marL="720000" indent="-360000">
              <a:spcBef>
                <a:spcPts val="600"/>
              </a:spcBef>
              <a:spcAft>
                <a:spcPts val="1200"/>
              </a:spcAft>
              <a:buClr>
                <a:schemeClr val="accent1">
                  <a:lumMod val="75000"/>
                </a:schemeClr>
              </a:buClr>
              <a:buSzPct val="100000"/>
              <a:buFont typeface="Arial" pitchFamily="34" charset="0"/>
              <a:buChar char="•"/>
            </a:pPr>
            <a:r>
              <a:rPr lang="en-AU" sz="2400" dirty="0" smtClean="0"/>
              <a:t>Size, colour, materials</a:t>
            </a:r>
          </a:p>
          <a:p>
            <a:pPr marL="720000" indent="-360000">
              <a:spcBef>
                <a:spcPts val="600"/>
              </a:spcBef>
              <a:spcAft>
                <a:spcPts val="1200"/>
              </a:spcAft>
              <a:buClr>
                <a:schemeClr val="accent1">
                  <a:lumMod val="75000"/>
                </a:schemeClr>
              </a:buClr>
              <a:buSzPct val="100000"/>
              <a:buFont typeface="Arial" pitchFamily="34" charset="0"/>
              <a:buChar char="•"/>
            </a:pPr>
            <a:r>
              <a:rPr lang="en-AU" sz="2400" dirty="0" smtClean="0"/>
              <a:t>Ancillary details.</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20482" name="Picture 2" descr="C:\Documents and Settings\danielc\Local Settings\Temporary Internet Files\Content.IE5\WOYKSSHU\MP900400735[1].jpg"/>
          <p:cNvPicPr>
            <a:picLocks noChangeAspect="1" noChangeArrowheads="1"/>
          </p:cNvPicPr>
          <p:nvPr/>
        </p:nvPicPr>
        <p:blipFill>
          <a:blip r:embed="rId3" cstate="print"/>
          <a:srcRect/>
          <a:stretch>
            <a:fillRect/>
          </a:stretch>
        </p:blipFill>
        <p:spPr bwMode="auto">
          <a:xfrm>
            <a:off x="6715140" y="2928934"/>
            <a:ext cx="1438842" cy="215721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 items reported lost in lost and found register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400" dirty="0" smtClean="0"/>
              <a:t>Ensure sensitivity and appropriate interpersonal skills when taking a ‘lost item’ report:</a:t>
            </a:r>
          </a:p>
          <a:p>
            <a:pPr marL="360000" indent="-360000">
              <a:spcBef>
                <a:spcPts val="600"/>
              </a:spcBef>
              <a:spcAft>
                <a:spcPts val="1200"/>
              </a:spcAft>
            </a:pPr>
            <a:r>
              <a:rPr lang="en-US" sz="2400" dirty="0" smtClean="0"/>
              <a:t>Acknowledge guest feelings as well as their loss</a:t>
            </a:r>
          </a:p>
          <a:p>
            <a:pPr marL="360000" indent="-360000">
              <a:spcBef>
                <a:spcPts val="600"/>
              </a:spcBef>
              <a:spcAft>
                <a:spcPts val="1200"/>
              </a:spcAft>
            </a:pPr>
            <a:r>
              <a:rPr lang="en-US" sz="2400" dirty="0" smtClean="0"/>
              <a:t>Be professional</a:t>
            </a:r>
          </a:p>
          <a:p>
            <a:pPr marL="360000" indent="-360000">
              <a:spcBef>
                <a:spcPts val="600"/>
              </a:spcBef>
              <a:spcAft>
                <a:spcPts val="1200"/>
              </a:spcAft>
            </a:pPr>
            <a:r>
              <a:rPr lang="en-US" sz="2400" dirty="0" smtClean="0"/>
              <a:t>Take time and show concern</a:t>
            </a:r>
          </a:p>
          <a:p>
            <a:pPr marL="360000" indent="-360000">
              <a:spcBef>
                <a:spcPts val="600"/>
              </a:spcBef>
              <a:spcAft>
                <a:spcPts val="1200"/>
              </a:spcAft>
            </a:pPr>
            <a:r>
              <a:rPr lang="en-US" sz="2400" dirty="0" smtClean="0"/>
              <a:t>Obtain and give contact details</a:t>
            </a:r>
          </a:p>
          <a:p>
            <a:pPr marL="360000" indent="-360000">
              <a:spcBef>
                <a:spcPts val="600"/>
              </a:spcBef>
              <a:spcAft>
                <a:spcPts val="1200"/>
              </a:spcAft>
            </a:pPr>
            <a:r>
              <a:rPr lang="en-US" sz="2400" dirty="0" smtClean="0"/>
              <a:t>Advise of proposed action to find lost item</a:t>
            </a:r>
          </a:p>
          <a:p>
            <a:pPr marL="360000" indent="-360000">
              <a:spcBef>
                <a:spcPts val="600"/>
              </a:spcBef>
              <a:spcAft>
                <a:spcPts val="1200"/>
              </a:spcAft>
            </a:pPr>
            <a:r>
              <a:rPr lang="en-US" sz="2400" dirty="0" smtClean="0"/>
              <a:t>Explain any charges or costs.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21506" name="Picture 2" descr="C:\Documents and Settings\danielc\Local Settings\Temporary Internet Files\Content.IE5\XKVY0NPI\MP900443213[1].jpg"/>
          <p:cNvPicPr>
            <a:picLocks noChangeAspect="1" noChangeArrowheads="1"/>
          </p:cNvPicPr>
          <p:nvPr/>
        </p:nvPicPr>
        <p:blipFill>
          <a:blip r:embed="rId3" cstate="print"/>
          <a:srcRect/>
          <a:stretch>
            <a:fillRect/>
          </a:stretch>
        </p:blipFill>
        <p:spPr bwMode="auto">
          <a:xfrm>
            <a:off x="6929453" y="2928934"/>
            <a:ext cx="1430445" cy="2143140"/>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 items reported lost in lost and found register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When recording details of a lost item:</a:t>
            </a:r>
          </a:p>
          <a:p>
            <a:pPr marL="360000" indent="-360000">
              <a:spcBef>
                <a:spcPts val="600"/>
              </a:spcBef>
              <a:spcAft>
                <a:spcPts val="1200"/>
              </a:spcAft>
            </a:pPr>
            <a:r>
              <a:rPr lang="en-US" sz="2400" dirty="0" smtClean="0"/>
              <a:t>Identify name of person</a:t>
            </a:r>
          </a:p>
          <a:p>
            <a:pPr marL="360000" indent="-360000">
              <a:spcBef>
                <a:spcPts val="600"/>
              </a:spcBef>
              <a:spcAft>
                <a:spcPts val="1200"/>
              </a:spcAft>
            </a:pPr>
            <a:r>
              <a:rPr lang="en-US" sz="2400" dirty="0" smtClean="0"/>
              <a:t>Identify location of loss, if known</a:t>
            </a:r>
          </a:p>
          <a:p>
            <a:pPr marL="360000" indent="-360000">
              <a:spcBef>
                <a:spcPts val="600"/>
              </a:spcBef>
              <a:spcAft>
                <a:spcPts val="1200"/>
              </a:spcAft>
            </a:pPr>
            <a:r>
              <a:rPr lang="en-US" sz="2400" dirty="0" smtClean="0"/>
              <a:t>Capture date and time of loss, if known</a:t>
            </a:r>
          </a:p>
          <a:p>
            <a:pPr marL="360000" indent="-360000">
              <a:spcBef>
                <a:spcPts val="600"/>
              </a:spcBef>
              <a:spcAft>
                <a:spcPts val="1200"/>
              </a:spcAft>
            </a:pPr>
            <a:r>
              <a:rPr lang="en-US" sz="2400" dirty="0" smtClean="0"/>
              <a:t>Obtain full description</a:t>
            </a:r>
          </a:p>
          <a:p>
            <a:pPr marL="360000" indent="-360000">
              <a:spcBef>
                <a:spcPts val="600"/>
              </a:spcBef>
              <a:spcAft>
                <a:spcPts val="1200"/>
              </a:spcAft>
            </a:pPr>
            <a:r>
              <a:rPr lang="en-US" sz="2400" dirty="0" smtClean="0"/>
              <a:t>Obtain contact details.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22530" name="Picture 2" descr="C:\Documents and Settings\danielc\Local Settings\Temporary Internet Files\Content.IE5\Y2UABRAT\MP900321092[1].jpg"/>
          <p:cNvPicPr>
            <a:picLocks noChangeAspect="1" noChangeArrowheads="1"/>
          </p:cNvPicPr>
          <p:nvPr/>
        </p:nvPicPr>
        <p:blipFill>
          <a:blip r:embed="rId3" cstate="print"/>
          <a:srcRect/>
          <a:stretch>
            <a:fillRect/>
          </a:stretch>
        </p:blipFill>
        <p:spPr bwMode="auto">
          <a:xfrm>
            <a:off x="6143636" y="1928802"/>
            <a:ext cx="1900906" cy="1355979"/>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Tag the found item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Found items are tagged:</a:t>
            </a:r>
          </a:p>
          <a:p>
            <a:pPr marL="360000" indent="-360000">
              <a:spcBef>
                <a:spcPts val="600"/>
              </a:spcBef>
              <a:spcAft>
                <a:spcPts val="1200"/>
              </a:spcAft>
            </a:pPr>
            <a:r>
              <a:rPr lang="en-US" sz="2400" dirty="0" smtClean="0"/>
              <a:t>Using Lost and Found Tag/Slip</a:t>
            </a:r>
          </a:p>
          <a:p>
            <a:pPr marL="360000" indent="-360000">
              <a:spcBef>
                <a:spcPts val="600"/>
              </a:spcBef>
              <a:spcAft>
                <a:spcPts val="1200"/>
              </a:spcAft>
            </a:pPr>
            <a:r>
              <a:rPr lang="en-US" sz="2400" dirty="0" smtClean="0"/>
              <a:t>Tag is attached to the item</a:t>
            </a:r>
          </a:p>
          <a:p>
            <a:pPr marL="360000" indent="-360000">
              <a:spcBef>
                <a:spcPts val="600"/>
              </a:spcBef>
              <a:spcAft>
                <a:spcPts val="1200"/>
              </a:spcAft>
            </a:pPr>
            <a:r>
              <a:rPr lang="en-US" sz="2400" dirty="0" smtClean="0"/>
              <a:t>Tag contains details of the item and reflects entries in the L &amp; F Register</a:t>
            </a:r>
          </a:p>
          <a:p>
            <a:pPr marL="360000" indent="-360000">
              <a:spcBef>
                <a:spcPts val="600"/>
              </a:spcBef>
              <a:spcAft>
                <a:spcPts val="1200"/>
              </a:spcAft>
            </a:pPr>
            <a:r>
              <a:rPr lang="en-US" sz="2400" dirty="0" smtClean="0"/>
              <a:t>Tag is completed at the same time the L &amp; F Register is completed.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23554" name="Picture 2" descr="C:\Documents and Settings\danielc\Local Settings\Temporary Internet Files\Content.IE5\Y2UABRAT\MC900013282[1].wmf"/>
          <p:cNvPicPr>
            <a:picLocks noChangeAspect="1" noChangeArrowheads="1"/>
          </p:cNvPicPr>
          <p:nvPr/>
        </p:nvPicPr>
        <p:blipFill>
          <a:blip r:embed="rId3" cstate="print"/>
          <a:srcRect/>
          <a:stretch>
            <a:fillRect/>
          </a:stretch>
        </p:blipFill>
        <p:spPr bwMode="auto">
          <a:xfrm>
            <a:off x="6357950" y="1500174"/>
            <a:ext cx="1183693" cy="1699600"/>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the found item appropriately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Storage of found items:</a:t>
            </a:r>
          </a:p>
          <a:p>
            <a:pPr marL="360000" indent="-360000">
              <a:spcBef>
                <a:spcPts val="600"/>
              </a:spcBef>
              <a:spcAft>
                <a:spcPts val="1200"/>
              </a:spcAft>
            </a:pPr>
            <a:r>
              <a:rPr lang="en-US" sz="2400" dirty="0" smtClean="0"/>
              <a:t>Perishable foods – under refrigeration</a:t>
            </a:r>
          </a:p>
          <a:p>
            <a:pPr marL="360000" indent="-360000">
              <a:spcBef>
                <a:spcPts val="600"/>
              </a:spcBef>
              <a:spcAft>
                <a:spcPts val="1200"/>
              </a:spcAft>
            </a:pPr>
            <a:r>
              <a:rPr lang="en-US" sz="2400" dirty="0" smtClean="0"/>
              <a:t>Valuable items – in secure storage</a:t>
            </a:r>
          </a:p>
          <a:p>
            <a:pPr marL="360000" indent="-360000">
              <a:spcBef>
                <a:spcPts val="600"/>
              </a:spcBef>
              <a:spcAft>
                <a:spcPts val="1200"/>
              </a:spcAft>
            </a:pPr>
            <a:r>
              <a:rPr lang="en-US" sz="2400" dirty="0" smtClean="0"/>
              <a:t>Non-valuable items – in a range of places.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5" name="Picture 4" descr="Fridge 2011.jpg"/>
          <p:cNvPicPr>
            <a:picLocks noChangeAspect="1"/>
          </p:cNvPicPr>
          <p:nvPr/>
        </p:nvPicPr>
        <p:blipFill>
          <a:blip r:embed="rId3" cstate="print"/>
          <a:stretch>
            <a:fillRect/>
          </a:stretch>
        </p:blipFill>
        <p:spPr>
          <a:xfrm>
            <a:off x="6500826" y="1214422"/>
            <a:ext cx="1380453" cy="1837728"/>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the found item appropriately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Primary requirements for storage of ‘found’ items:</a:t>
            </a:r>
          </a:p>
          <a:p>
            <a:pPr marL="360000" indent="-360000">
              <a:spcBef>
                <a:spcPts val="600"/>
              </a:spcBef>
              <a:spcAft>
                <a:spcPts val="1200"/>
              </a:spcAft>
            </a:pPr>
            <a:r>
              <a:rPr lang="en-US" sz="2400" dirty="0" smtClean="0"/>
              <a:t>Items are able to be retrieved quickly </a:t>
            </a:r>
            <a:br>
              <a:rPr lang="en-US" sz="2400" dirty="0" smtClean="0"/>
            </a:br>
            <a:r>
              <a:rPr lang="en-US" sz="2400" dirty="0" smtClean="0"/>
              <a:t>and accurately/correctly</a:t>
            </a:r>
          </a:p>
          <a:p>
            <a:pPr marL="360000" indent="-360000">
              <a:spcBef>
                <a:spcPts val="600"/>
              </a:spcBef>
              <a:spcAft>
                <a:spcPts val="1200"/>
              </a:spcAft>
            </a:pPr>
            <a:r>
              <a:rPr lang="en-US" sz="2400" dirty="0" smtClean="0"/>
              <a:t>Storage protects item from damage </a:t>
            </a:r>
            <a:br>
              <a:rPr lang="en-US" sz="2400" dirty="0" smtClean="0"/>
            </a:br>
            <a:r>
              <a:rPr lang="en-US" sz="2400" dirty="0" smtClean="0"/>
              <a:t>and theft</a:t>
            </a:r>
          </a:p>
          <a:p>
            <a:pPr marL="360000" indent="-360000">
              <a:spcBef>
                <a:spcPts val="600"/>
              </a:spcBef>
              <a:spcAft>
                <a:spcPts val="1200"/>
              </a:spcAft>
            </a:pPr>
            <a:r>
              <a:rPr lang="en-US" sz="2400" dirty="0" smtClean="0"/>
              <a:t>Access to the area is limited or </a:t>
            </a:r>
            <a:br>
              <a:rPr lang="en-US" sz="2400" dirty="0" smtClean="0"/>
            </a:br>
            <a:r>
              <a:rPr lang="en-US" sz="2400" dirty="0" smtClean="0"/>
              <a:t>restricted.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24579" name="Picture 3" descr="C:\Documents and Settings\danielc\Local Settings\Temporary Internet Files\Content.IE5\ZB5AOP62\MP900305775[1].jpg"/>
          <p:cNvPicPr>
            <a:picLocks noChangeAspect="1" noChangeArrowheads="1"/>
          </p:cNvPicPr>
          <p:nvPr/>
        </p:nvPicPr>
        <p:blipFill>
          <a:blip r:embed="rId3" cstate="print"/>
          <a:srcRect/>
          <a:stretch>
            <a:fillRect/>
          </a:stretch>
        </p:blipFill>
        <p:spPr bwMode="auto">
          <a:xfrm>
            <a:off x="6512102" y="2428868"/>
            <a:ext cx="1838099" cy="2214578"/>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the found item appropriately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In relation to found perishable food items:</a:t>
            </a:r>
          </a:p>
          <a:p>
            <a:pPr marL="360000" indent="-360000">
              <a:spcBef>
                <a:spcPts val="600"/>
              </a:spcBef>
              <a:spcAft>
                <a:spcPts val="1200"/>
              </a:spcAft>
            </a:pPr>
            <a:r>
              <a:rPr lang="en-US" sz="2400" dirty="0" smtClean="0"/>
              <a:t>In a ‘departing’ room, the food may be thrown out by Housekeeping staff without reference to anyone</a:t>
            </a:r>
          </a:p>
          <a:p>
            <a:pPr marL="360000" indent="-360000">
              <a:spcBef>
                <a:spcPts val="600"/>
              </a:spcBef>
              <a:spcAft>
                <a:spcPts val="1200"/>
              </a:spcAft>
              <a:buNone/>
            </a:pPr>
            <a:r>
              <a:rPr lang="en-US" sz="2400" dirty="0" smtClean="0"/>
              <a:t>or</a:t>
            </a:r>
          </a:p>
          <a:p>
            <a:pPr marL="360000" indent="-360000">
              <a:spcBef>
                <a:spcPts val="600"/>
              </a:spcBef>
              <a:spcAft>
                <a:spcPts val="1200"/>
              </a:spcAft>
            </a:pPr>
            <a:r>
              <a:rPr lang="en-US" sz="2400" dirty="0" smtClean="0"/>
              <a:t>All food must be taken to Executive Housekeeper for their decision as to whether it must be kept or can be thrown out.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25602" name="Picture 2" descr="C:\Documents and Settings\danielc\Local Settings\Temporary Internet Files\Content.IE5\LSIXJYS2\MC900022705[1].wmf"/>
          <p:cNvPicPr>
            <a:picLocks noChangeAspect="1" noChangeArrowheads="1"/>
          </p:cNvPicPr>
          <p:nvPr/>
        </p:nvPicPr>
        <p:blipFill>
          <a:blip r:embed="rId3" cstate="print"/>
          <a:srcRect/>
          <a:stretch>
            <a:fillRect/>
          </a:stretch>
        </p:blipFill>
        <p:spPr bwMode="auto">
          <a:xfrm>
            <a:off x="3750463" y="5043830"/>
            <a:ext cx="1643074" cy="1598754"/>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Store the found item appropriately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In relation to found liquor or other beverages:</a:t>
            </a:r>
          </a:p>
          <a:p>
            <a:pPr marL="360000" indent="-360000">
              <a:spcBef>
                <a:spcPts val="600"/>
              </a:spcBef>
              <a:spcAft>
                <a:spcPts val="1200"/>
              </a:spcAft>
            </a:pPr>
            <a:r>
              <a:rPr lang="en-US" sz="2400" dirty="0" smtClean="0"/>
              <a:t>Unopened bottles are usually logged in the L &amp; F Register and stored</a:t>
            </a:r>
          </a:p>
          <a:p>
            <a:pPr marL="360000" indent="-360000">
              <a:spcBef>
                <a:spcPts val="600"/>
              </a:spcBef>
              <a:spcAft>
                <a:spcPts val="1200"/>
              </a:spcAft>
            </a:pPr>
            <a:r>
              <a:rPr lang="en-US" sz="2400" dirty="0" smtClean="0"/>
              <a:t>Unopened liquor = ‘valuable’ item</a:t>
            </a:r>
          </a:p>
          <a:p>
            <a:pPr marL="360000" indent="-360000">
              <a:spcBef>
                <a:spcPts val="600"/>
              </a:spcBef>
              <a:spcAft>
                <a:spcPts val="1200"/>
              </a:spcAft>
            </a:pPr>
            <a:r>
              <a:rPr lang="en-US" sz="2400" dirty="0" smtClean="0"/>
              <a:t>Never consume opened beverages</a:t>
            </a:r>
          </a:p>
          <a:p>
            <a:pPr marL="360000" indent="-360000">
              <a:spcBef>
                <a:spcPts val="600"/>
              </a:spcBef>
              <a:spcAft>
                <a:spcPts val="1200"/>
              </a:spcAft>
            </a:pPr>
            <a:r>
              <a:rPr lang="en-US" sz="2400" dirty="0" smtClean="0"/>
              <a:t>Opened, perishable beverages in a departing room are normally thrown out.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26626" name="Picture 2" descr="C:\Documents and Settings\danielc\Local Settings\Temporary Internet Files\Content.IE5\LSIXJYS2\MC900112496[1].wmf"/>
          <p:cNvPicPr>
            <a:picLocks noChangeAspect="1" noChangeArrowheads="1"/>
          </p:cNvPicPr>
          <p:nvPr/>
        </p:nvPicPr>
        <p:blipFill>
          <a:blip r:embed="rId3" cstate="print"/>
          <a:srcRect/>
          <a:stretch>
            <a:fillRect/>
          </a:stretch>
        </p:blipFill>
        <p:spPr bwMode="auto">
          <a:xfrm>
            <a:off x="3605282" y="5357826"/>
            <a:ext cx="1933436" cy="1244263"/>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owner, if known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Notifying owners:</a:t>
            </a:r>
          </a:p>
          <a:p>
            <a:pPr marL="360000" indent="-360000">
              <a:spcBef>
                <a:spcPts val="600"/>
              </a:spcBef>
              <a:spcAft>
                <a:spcPts val="1200"/>
              </a:spcAft>
            </a:pPr>
            <a:r>
              <a:rPr lang="en-US" sz="2400" dirty="0" smtClean="0"/>
              <a:t>Is done as soon as possible if the owner is known and/or they are in-house</a:t>
            </a:r>
          </a:p>
          <a:p>
            <a:pPr marL="360000" indent="-360000">
              <a:spcBef>
                <a:spcPts val="600"/>
              </a:spcBef>
              <a:spcAft>
                <a:spcPts val="1200"/>
              </a:spcAft>
            </a:pPr>
            <a:r>
              <a:rPr lang="en-US" sz="2400" dirty="0" smtClean="0"/>
              <a:t>Must take into account the nature of the item</a:t>
            </a:r>
          </a:p>
          <a:p>
            <a:pPr marL="360000" indent="-360000">
              <a:spcBef>
                <a:spcPts val="600"/>
              </a:spcBef>
              <a:spcAft>
                <a:spcPts val="1200"/>
              </a:spcAft>
            </a:pPr>
            <a:r>
              <a:rPr lang="en-US" sz="2400" dirty="0" smtClean="0"/>
              <a:t>Requires tact and discretion.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27650" name="Picture 2" descr="C:\Documents and Settings\danielc\Local Settings\Temporary Internet Files\Content.IE5\Y2UABRAT\MP900285007[1].jpg"/>
          <p:cNvPicPr>
            <a:picLocks noChangeAspect="1" noChangeArrowheads="1"/>
          </p:cNvPicPr>
          <p:nvPr/>
        </p:nvPicPr>
        <p:blipFill>
          <a:blip r:embed="rId3" cstate="print"/>
          <a:srcRect/>
          <a:stretch>
            <a:fillRect/>
          </a:stretch>
        </p:blipFill>
        <p:spPr bwMode="auto">
          <a:xfrm>
            <a:off x="3371848" y="4429132"/>
            <a:ext cx="2343160" cy="1573822"/>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owner, if known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To identify the owner of a found item:</a:t>
            </a:r>
          </a:p>
          <a:p>
            <a:pPr marL="360000" indent="-360000">
              <a:spcBef>
                <a:spcPts val="600"/>
              </a:spcBef>
              <a:spcAft>
                <a:spcPts val="1200"/>
              </a:spcAft>
            </a:pPr>
            <a:r>
              <a:rPr lang="en-US" sz="2400" dirty="0" smtClean="0"/>
              <a:t>Look inside the item</a:t>
            </a:r>
          </a:p>
          <a:p>
            <a:pPr marL="360000" indent="-360000">
              <a:spcBef>
                <a:spcPts val="600"/>
              </a:spcBef>
              <a:spcAft>
                <a:spcPts val="1200"/>
              </a:spcAft>
            </a:pPr>
            <a:r>
              <a:rPr lang="en-US" sz="2400" dirty="0" smtClean="0"/>
              <a:t>Check ‘Room History’ data/files</a:t>
            </a:r>
          </a:p>
          <a:p>
            <a:pPr marL="360000" indent="-360000">
              <a:spcBef>
                <a:spcPts val="600"/>
              </a:spcBef>
              <a:spcAft>
                <a:spcPts val="1200"/>
              </a:spcAft>
            </a:pPr>
            <a:r>
              <a:rPr lang="en-US" sz="2400" dirty="0" smtClean="0"/>
              <a:t>Review dining reservation details.</a:t>
            </a:r>
          </a:p>
          <a:p>
            <a:pPr marL="360000" indent="-360000" algn="ctr">
              <a:spcBef>
                <a:spcPts val="600"/>
              </a:spcBef>
              <a:spcAft>
                <a:spcPts val="1200"/>
              </a:spcAft>
              <a:buNone/>
            </a:pPr>
            <a:r>
              <a:rPr lang="en-US" sz="2400" dirty="0" smtClean="0"/>
              <a:t>Always use common sense and use your initiative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owner, if known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Immediate action where owner of item is known and is still in-house may include:</a:t>
            </a:r>
          </a:p>
          <a:p>
            <a:pPr>
              <a:spcAft>
                <a:spcPts val="1200"/>
              </a:spcAft>
            </a:pPr>
            <a:r>
              <a:rPr lang="en-US" sz="2400" dirty="0" smtClean="0"/>
              <a:t>Contact the occupier of the room first</a:t>
            </a:r>
            <a:endParaRPr lang="en-AU" sz="2400" dirty="0" smtClean="0"/>
          </a:p>
          <a:p>
            <a:pPr>
              <a:spcAft>
                <a:spcPts val="1200"/>
              </a:spcAft>
            </a:pPr>
            <a:r>
              <a:rPr lang="en-US" sz="2400" dirty="0" smtClean="0"/>
              <a:t>Determine if they want the item returned </a:t>
            </a:r>
            <a:endParaRPr lang="en-AU" sz="2400" dirty="0" smtClean="0"/>
          </a:p>
          <a:p>
            <a:pPr>
              <a:spcAft>
                <a:spcPts val="1200"/>
              </a:spcAft>
            </a:pPr>
            <a:r>
              <a:rPr lang="en-US" sz="2400" dirty="0" smtClean="0"/>
              <a:t>Agree on arrangements for the return of the </a:t>
            </a:r>
            <a:br>
              <a:rPr lang="en-US" sz="2400" dirty="0" smtClean="0"/>
            </a:br>
            <a:r>
              <a:rPr lang="en-US" sz="2400" dirty="0" smtClean="0"/>
              <a:t>item, where applicable.</a:t>
            </a:r>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5" name="Picture 4" descr="C:\Documents and Settings\danielc\Local Settings\Temporary Internet Files\Content.IE5\0OCRPEL9\MP900178429[1].jpg"/>
          <p:cNvPicPr/>
          <p:nvPr/>
        </p:nvPicPr>
        <p:blipFill>
          <a:blip r:embed="rId3" cstate="print"/>
          <a:srcRect/>
          <a:stretch>
            <a:fillRect/>
          </a:stretch>
        </p:blipFill>
        <p:spPr bwMode="auto">
          <a:xfrm>
            <a:off x="7215206" y="2285992"/>
            <a:ext cx="1060260" cy="1591584"/>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owner, if known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Where owner is known but has departed:</a:t>
            </a:r>
          </a:p>
          <a:p>
            <a:pPr marL="360000" indent="-360000">
              <a:spcBef>
                <a:spcPts val="600"/>
              </a:spcBef>
              <a:spcAft>
                <a:spcPts val="1200"/>
              </a:spcAft>
            </a:pPr>
            <a:r>
              <a:rPr lang="en-US" sz="2400" dirty="0" smtClean="0"/>
              <a:t>Ring their cell phone</a:t>
            </a:r>
          </a:p>
          <a:p>
            <a:pPr marL="360000" indent="-360000">
              <a:spcBef>
                <a:spcPts val="600"/>
              </a:spcBef>
              <a:spcAft>
                <a:spcPts val="1200"/>
              </a:spcAft>
            </a:pPr>
            <a:r>
              <a:rPr lang="en-US" sz="2400" dirty="0" smtClean="0"/>
              <a:t>Do not email or send hard copy letter</a:t>
            </a:r>
          </a:p>
          <a:p>
            <a:pPr marL="360000" indent="-360000">
              <a:spcBef>
                <a:spcPts val="600"/>
              </a:spcBef>
              <a:spcAft>
                <a:spcPts val="1200"/>
              </a:spcAft>
            </a:pPr>
            <a:r>
              <a:rPr lang="en-US" sz="2400" dirty="0" smtClean="0"/>
              <a:t>Inform them what has been found</a:t>
            </a:r>
          </a:p>
          <a:p>
            <a:pPr marL="360000" indent="-360000">
              <a:spcBef>
                <a:spcPts val="600"/>
              </a:spcBef>
              <a:spcAft>
                <a:spcPts val="1200"/>
              </a:spcAft>
            </a:pPr>
            <a:r>
              <a:rPr lang="en-US" sz="2400" dirty="0" smtClean="0"/>
              <a:t>Make arrangements for return of item as appropriate</a:t>
            </a:r>
          </a:p>
          <a:p>
            <a:pPr marL="360000" indent="-360000">
              <a:spcBef>
                <a:spcPts val="600"/>
              </a:spcBef>
              <a:spcAft>
                <a:spcPts val="1200"/>
              </a:spcAft>
            </a:pPr>
            <a:r>
              <a:rPr lang="en-US" sz="2400" dirty="0" smtClean="0"/>
              <a:t>Update L &amp; F Register.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internal establishment staff to facilitate return of found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A range of staff may return items to owners </a:t>
            </a:r>
            <a:br>
              <a:rPr lang="en-US" sz="2400" dirty="0" smtClean="0"/>
            </a:br>
            <a:r>
              <a:rPr lang="en-US" sz="2400" dirty="0" smtClean="0"/>
              <a:t>subject to:</a:t>
            </a:r>
          </a:p>
          <a:p>
            <a:pPr marL="360000" indent="-360000">
              <a:spcBef>
                <a:spcPts val="600"/>
              </a:spcBef>
              <a:spcAft>
                <a:spcPts val="1200"/>
              </a:spcAft>
            </a:pPr>
            <a:r>
              <a:rPr lang="en-US" sz="2400" dirty="0" smtClean="0"/>
              <a:t>The individual venue itself</a:t>
            </a:r>
          </a:p>
          <a:p>
            <a:pPr marL="360000" indent="-360000">
              <a:spcBef>
                <a:spcPts val="600"/>
              </a:spcBef>
              <a:spcAft>
                <a:spcPts val="1200"/>
              </a:spcAft>
            </a:pPr>
            <a:r>
              <a:rPr lang="en-US" sz="2400" dirty="0" smtClean="0"/>
              <a:t>Where the item was found</a:t>
            </a:r>
          </a:p>
          <a:p>
            <a:pPr marL="360000" indent="-360000">
              <a:spcBef>
                <a:spcPts val="600"/>
              </a:spcBef>
              <a:spcAft>
                <a:spcPts val="1200"/>
              </a:spcAft>
            </a:pPr>
            <a:r>
              <a:rPr lang="en-US" sz="2400" dirty="0" smtClean="0"/>
              <a:t>Where the owner is</a:t>
            </a:r>
          </a:p>
          <a:p>
            <a:pPr marL="360000" indent="-360000">
              <a:spcBef>
                <a:spcPts val="600"/>
              </a:spcBef>
              <a:spcAft>
                <a:spcPts val="1200"/>
              </a:spcAft>
            </a:pPr>
            <a:r>
              <a:rPr lang="en-US" sz="2400" dirty="0" smtClean="0"/>
              <a:t>Special arrangements required by owner.</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5" name="Picture 4" descr="C:\Documents and Settings\danielc\Local Settings\Temporary Internet Files\Content.IE5\M0QL8DHR\MC900060229[1].wmf"/>
          <p:cNvPicPr/>
          <p:nvPr/>
        </p:nvPicPr>
        <p:blipFill>
          <a:blip r:embed="rId3" cstate="print"/>
          <a:srcRect/>
          <a:stretch>
            <a:fillRect/>
          </a:stretch>
        </p:blipFill>
        <p:spPr bwMode="auto">
          <a:xfrm>
            <a:off x="7000892" y="2357430"/>
            <a:ext cx="1305736" cy="1817783"/>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internal establishment staff to facilitate return of found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400" dirty="0" smtClean="0"/>
              <a:t>Staff who return items may be:</a:t>
            </a:r>
          </a:p>
          <a:p>
            <a:pPr marL="360000" indent="-360000">
              <a:spcBef>
                <a:spcPts val="600"/>
              </a:spcBef>
              <a:spcAft>
                <a:spcPts val="1200"/>
              </a:spcAft>
            </a:pPr>
            <a:r>
              <a:rPr lang="en-US" sz="2400" dirty="0" smtClean="0"/>
              <a:t>Housekeeping staff</a:t>
            </a:r>
          </a:p>
          <a:p>
            <a:pPr marL="360000" indent="-360000">
              <a:spcBef>
                <a:spcPts val="600"/>
              </a:spcBef>
              <a:spcAft>
                <a:spcPts val="1200"/>
              </a:spcAft>
            </a:pPr>
            <a:r>
              <a:rPr lang="en-US" sz="2400" dirty="0" smtClean="0"/>
              <a:t>Concierge</a:t>
            </a:r>
          </a:p>
          <a:p>
            <a:pPr marL="360000" indent="-360000">
              <a:spcBef>
                <a:spcPts val="600"/>
              </a:spcBef>
              <a:spcAft>
                <a:spcPts val="1200"/>
              </a:spcAft>
            </a:pPr>
            <a:r>
              <a:rPr lang="en-US" sz="2400" dirty="0" smtClean="0"/>
              <a:t>Porters</a:t>
            </a:r>
          </a:p>
          <a:p>
            <a:pPr marL="360000" indent="-360000">
              <a:spcBef>
                <a:spcPts val="600"/>
              </a:spcBef>
              <a:spcAft>
                <a:spcPts val="1200"/>
              </a:spcAft>
            </a:pPr>
            <a:r>
              <a:rPr lang="en-US" sz="2400" dirty="0" smtClean="0"/>
              <a:t>Security</a:t>
            </a:r>
          </a:p>
          <a:p>
            <a:pPr marL="360000" indent="-360000">
              <a:spcBef>
                <a:spcPts val="600"/>
              </a:spcBef>
              <a:spcAft>
                <a:spcPts val="1200"/>
              </a:spcAft>
            </a:pPr>
            <a:r>
              <a:rPr lang="en-US" sz="2400" dirty="0" smtClean="0"/>
              <a:t>General assistants</a:t>
            </a:r>
          </a:p>
          <a:p>
            <a:pPr marL="360000" indent="-360000">
              <a:spcBef>
                <a:spcPts val="600"/>
              </a:spcBef>
              <a:spcAft>
                <a:spcPts val="1200"/>
              </a:spcAft>
            </a:pPr>
            <a:r>
              <a:rPr lang="en-US" sz="2400" dirty="0" smtClean="0"/>
              <a:t>Sales and service staff</a:t>
            </a:r>
          </a:p>
          <a:p>
            <a:pPr marL="360000" indent="-360000">
              <a:spcBef>
                <a:spcPts val="600"/>
              </a:spcBef>
              <a:spcAft>
                <a:spcPts val="1200"/>
              </a:spcAft>
            </a:pPr>
            <a:r>
              <a:rPr lang="en-US" sz="2400" dirty="0" smtClean="0"/>
              <a:t>Reception/front office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29698" name="Picture 2" descr="C:\Documents and Settings\danielc\Local Settings\Temporary Internet Files\Content.IE5\ZB5AOP62\MP900185080[1].jpg"/>
          <p:cNvPicPr>
            <a:picLocks noChangeAspect="1" noChangeArrowheads="1"/>
          </p:cNvPicPr>
          <p:nvPr/>
        </p:nvPicPr>
        <p:blipFill>
          <a:blip r:embed="rId3" cstate="print"/>
          <a:srcRect/>
          <a:stretch>
            <a:fillRect/>
          </a:stretch>
        </p:blipFill>
        <p:spPr bwMode="auto">
          <a:xfrm>
            <a:off x="6357950" y="1857364"/>
            <a:ext cx="1225296" cy="1828800"/>
          </a:xfrm>
          <a:prstGeom prst="rect">
            <a:avLst/>
          </a:prstGeom>
          <a:noFill/>
        </p:spPr>
      </p:pic>
      <p:pic>
        <p:nvPicPr>
          <p:cNvPr id="29699" name="Picture 3" descr="C:\Documents and Settings\danielc\Local Settings\Temporary Internet Files\Content.IE5\XKVY0NPI\MC900298617[1].wmf"/>
          <p:cNvPicPr>
            <a:picLocks noChangeAspect="1" noChangeArrowheads="1"/>
          </p:cNvPicPr>
          <p:nvPr/>
        </p:nvPicPr>
        <p:blipFill>
          <a:blip r:embed="rId4" cstate="print"/>
          <a:srcRect/>
          <a:stretch>
            <a:fillRect/>
          </a:stretch>
        </p:blipFill>
        <p:spPr bwMode="auto">
          <a:xfrm>
            <a:off x="6286512" y="3857628"/>
            <a:ext cx="1267358" cy="1769364"/>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internal establishment staff to facilitate return of found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When processing return of an item:</a:t>
            </a:r>
          </a:p>
          <a:p>
            <a:pPr marL="360000" indent="-360000">
              <a:spcBef>
                <a:spcPts val="600"/>
              </a:spcBef>
              <a:spcAft>
                <a:spcPts val="1200"/>
              </a:spcAft>
            </a:pPr>
            <a:r>
              <a:rPr lang="en-US" sz="2400" dirty="0" smtClean="0"/>
              <a:t>Work quickly</a:t>
            </a:r>
          </a:p>
          <a:p>
            <a:pPr marL="360000" indent="-360000">
              <a:spcBef>
                <a:spcPts val="600"/>
              </a:spcBef>
              <a:spcAft>
                <a:spcPts val="1200"/>
              </a:spcAft>
            </a:pPr>
            <a:r>
              <a:rPr lang="en-US" sz="2400" dirty="0" smtClean="0"/>
              <a:t>Double-check work and details</a:t>
            </a:r>
          </a:p>
          <a:p>
            <a:pPr marL="360000" indent="-360000">
              <a:spcBef>
                <a:spcPts val="600"/>
              </a:spcBef>
              <a:spcAft>
                <a:spcPts val="1200"/>
              </a:spcAft>
            </a:pPr>
            <a:r>
              <a:rPr lang="en-US" sz="2400" dirty="0" smtClean="0"/>
              <a:t>Take care</a:t>
            </a:r>
          </a:p>
          <a:p>
            <a:pPr marL="360000" indent="-360000">
              <a:spcBef>
                <a:spcPts val="600"/>
              </a:spcBef>
              <a:spcAft>
                <a:spcPts val="1200"/>
              </a:spcAft>
            </a:pPr>
            <a:r>
              <a:rPr lang="en-US" sz="2400" dirty="0" smtClean="0"/>
              <a:t>Update L &amp; F Register</a:t>
            </a:r>
          </a:p>
          <a:p>
            <a:pPr marL="360000" indent="-360000">
              <a:spcBef>
                <a:spcPts val="600"/>
              </a:spcBef>
              <a:spcAft>
                <a:spcPts val="1200"/>
              </a:spcAft>
            </a:pPr>
            <a:r>
              <a:rPr lang="en-US" sz="2400" dirty="0" smtClean="0"/>
              <a:t>Keep receipts</a:t>
            </a:r>
          </a:p>
          <a:p>
            <a:pPr marL="360000" indent="-360000">
              <a:spcBef>
                <a:spcPts val="600"/>
              </a:spcBef>
              <a:spcAft>
                <a:spcPts val="1200"/>
              </a:spcAft>
            </a:pPr>
            <a:r>
              <a:rPr lang="en-US" sz="2400" dirty="0" smtClean="0"/>
              <a:t>Maintain guest privacy.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30724" name="Picture 4" descr="C:\Documents and Settings\danielc\Local Settings\Temporary Internet Files\Content.IE5\LSIXJYS2\MC900060215[1].wmf"/>
          <p:cNvPicPr>
            <a:picLocks noChangeAspect="1" noChangeArrowheads="1"/>
          </p:cNvPicPr>
          <p:nvPr/>
        </p:nvPicPr>
        <p:blipFill>
          <a:blip r:embed="rId3" cstate="print"/>
          <a:srcRect/>
          <a:stretch>
            <a:fillRect/>
          </a:stretch>
        </p:blipFill>
        <p:spPr bwMode="auto">
          <a:xfrm>
            <a:off x="6215074" y="2428868"/>
            <a:ext cx="1305763" cy="1794967"/>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internal establishment staff to facilitate return of found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When telling other staff about the need for them to return a ‘found’ item to a guest the options for communicating relevant information include:</a:t>
            </a:r>
          </a:p>
          <a:p>
            <a:pPr marL="360000" indent="-360000">
              <a:spcBef>
                <a:spcPts val="600"/>
              </a:spcBef>
              <a:spcAft>
                <a:spcPts val="1200"/>
              </a:spcAft>
            </a:pPr>
            <a:r>
              <a:rPr lang="en-US" sz="2400" dirty="0" smtClean="0"/>
              <a:t>Verbally (face to face)</a:t>
            </a:r>
          </a:p>
          <a:p>
            <a:pPr marL="360000" indent="-360000">
              <a:spcBef>
                <a:spcPts val="600"/>
              </a:spcBef>
              <a:spcAft>
                <a:spcPts val="1200"/>
              </a:spcAft>
            </a:pPr>
            <a:r>
              <a:rPr lang="en-US" sz="2400" dirty="0" smtClean="0"/>
              <a:t>Over the telephone</a:t>
            </a:r>
          </a:p>
          <a:p>
            <a:pPr marL="360000" indent="-360000">
              <a:spcBef>
                <a:spcPts val="600"/>
              </a:spcBef>
              <a:spcAft>
                <a:spcPts val="1200"/>
              </a:spcAft>
            </a:pPr>
            <a:r>
              <a:rPr lang="en-US" sz="2400" dirty="0" smtClean="0"/>
              <a:t>Using internal email</a:t>
            </a:r>
          </a:p>
          <a:p>
            <a:pPr marL="360000" indent="-360000">
              <a:spcBef>
                <a:spcPts val="600"/>
              </a:spcBef>
              <a:spcAft>
                <a:spcPts val="1200"/>
              </a:spcAft>
            </a:pPr>
            <a:r>
              <a:rPr lang="en-US" sz="2400" dirty="0" smtClean="0"/>
              <a:t>At a staff meeting or briefing.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31746" name="Picture 2" descr="C:\Documents and Settings\danielc\Local Settings\Temporary Internet Files\Content.IE5\M0QL8DHR\MC900434949[1].wmf"/>
          <p:cNvPicPr>
            <a:picLocks noChangeAspect="1" noChangeArrowheads="1"/>
          </p:cNvPicPr>
          <p:nvPr/>
        </p:nvPicPr>
        <p:blipFill>
          <a:blip r:embed="rId3" cstate="print"/>
          <a:srcRect/>
          <a:stretch>
            <a:fillRect/>
          </a:stretch>
        </p:blipFill>
        <p:spPr bwMode="auto">
          <a:xfrm>
            <a:off x="5572132" y="3143248"/>
            <a:ext cx="1939925" cy="1400175"/>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When dealing with lost and found items:</a:t>
            </a:r>
          </a:p>
          <a:p>
            <a:pPr>
              <a:spcAft>
                <a:spcPts val="1200"/>
              </a:spcAft>
            </a:pPr>
            <a:r>
              <a:rPr lang="en-US" sz="2400" dirty="0" smtClean="0"/>
              <a:t>Ensure all items received as found items are safe and legal</a:t>
            </a:r>
            <a:endParaRPr lang="en-AU" sz="2400" dirty="0" smtClean="0"/>
          </a:p>
          <a:p>
            <a:pPr>
              <a:spcAft>
                <a:spcPts val="1200"/>
              </a:spcAft>
            </a:pPr>
            <a:r>
              <a:rPr lang="en-US" sz="2400" dirty="0" smtClean="0"/>
              <a:t>Be alert to ensuring no found items are ‘suspicious’ </a:t>
            </a:r>
            <a:endParaRPr lang="en-AU" sz="2400" dirty="0" smtClean="0"/>
          </a:p>
          <a:p>
            <a:pPr>
              <a:spcAft>
                <a:spcPts val="1200"/>
              </a:spcAft>
            </a:pPr>
            <a:r>
              <a:rPr lang="en-US" sz="2400" dirty="0" smtClean="0"/>
              <a:t>Involve management or the authorities where a suspicious item is identified</a:t>
            </a:r>
            <a:endParaRPr lang="en-AU" sz="2400" dirty="0" smtClean="0"/>
          </a:p>
          <a:p>
            <a:pPr marL="360000" indent="-360000">
              <a:spcBef>
                <a:spcPts val="600"/>
              </a:spcBef>
              <a:spcAft>
                <a:spcPts val="1200"/>
              </a:spcAft>
              <a:buNone/>
            </a:pPr>
            <a:r>
              <a:rPr lang="en-US" sz="2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5" name="Picture 4" descr="C:\Documents and Settings\danielc\Local Settings\Temporary Internet Files\Content.IE5\2IERTBRT\MC900433838[1].png"/>
          <p:cNvPicPr/>
          <p:nvPr/>
        </p:nvPicPr>
        <p:blipFill>
          <a:blip r:embed="rId3" cstate="print"/>
          <a:srcRect/>
          <a:stretch>
            <a:fillRect/>
          </a:stretch>
        </p:blipFill>
        <p:spPr bwMode="auto">
          <a:xfrm>
            <a:off x="6572264" y="857232"/>
            <a:ext cx="1285884" cy="1285884"/>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Aft>
                <a:spcPts val="1200"/>
              </a:spcAft>
            </a:pPr>
            <a:r>
              <a:rPr lang="en-US" sz="2400" dirty="0" smtClean="0"/>
              <a:t>Treat all items received as found items with proper care, attention and respect</a:t>
            </a:r>
            <a:endParaRPr lang="en-AU" sz="2400" dirty="0" smtClean="0"/>
          </a:p>
          <a:p>
            <a:pPr>
              <a:spcAft>
                <a:spcPts val="1200"/>
              </a:spcAft>
            </a:pPr>
            <a:r>
              <a:rPr lang="en-US" sz="2400" dirty="0" smtClean="0"/>
              <a:t>Store all found items to protect them from damage and theft</a:t>
            </a:r>
            <a:endParaRPr lang="en-AU" sz="2400" dirty="0" smtClean="0"/>
          </a:p>
          <a:p>
            <a:pPr>
              <a:spcAft>
                <a:spcPts val="1200"/>
              </a:spcAft>
            </a:pPr>
            <a:r>
              <a:rPr lang="en-US" sz="2400" dirty="0" smtClean="0"/>
              <a:t>Store items in such a way that facilitates their identification and retrieval</a:t>
            </a:r>
            <a:endParaRPr lang="en-AU" sz="2400" dirty="0" smtClean="0"/>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6" name="Picture 5" descr="C:\Documents and Settings\danielc\Local Settings\Temporary Internet Files\Content.IE5\2IERTBRT\MC900433838[1].png"/>
          <p:cNvPicPr/>
          <p:nvPr/>
        </p:nvPicPr>
        <p:blipFill>
          <a:blip r:embed="rId3" cstate="print"/>
          <a:srcRect/>
          <a:stretch>
            <a:fillRect/>
          </a:stretch>
        </p:blipFill>
        <p:spPr bwMode="auto">
          <a:xfrm>
            <a:off x="6500826" y="4143380"/>
            <a:ext cx="1285884" cy="1285884"/>
          </a:xfrm>
          <a:prstGeom prst="rect">
            <a:avLst/>
          </a:prstGeom>
          <a:noFill/>
          <a:ln w="9525">
            <a:no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US" sz="2400" dirty="0" smtClean="0"/>
              <a:t>Record comprehensive and accurate details of all lost and found items in the lost and found register</a:t>
            </a:r>
            <a:endParaRPr lang="en-AU" sz="2400" dirty="0" smtClean="0"/>
          </a:p>
          <a:p>
            <a:pPr>
              <a:spcBef>
                <a:spcPts val="600"/>
              </a:spcBef>
              <a:spcAft>
                <a:spcPts val="1200"/>
              </a:spcAft>
            </a:pPr>
            <a:r>
              <a:rPr lang="en-US" sz="2400" dirty="0" smtClean="0"/>
              <a:t>Use appropriate interpersonal and communication skills when dealing with customers/guests</a:t>
            </a:r>
            <a:endParaRPr lang="en-AU" sz="2400" dirty="0" smtClean="0"/>
          </a:p>
          <a:p>
            <a:pPr>
              <a:spcBef>
                <a:spcPts val="600"/>
              </a:spcBef>
              <a:spcAft>
                <a:spcPts val="1200"/>
              </a:spcAft>
            </a:pPr>
            <a:r>
              <a:rPr lang="en-US" sz="2400" dirty="0" smtClean="0"/>
              <a:t>Attach a lost and found tag/slip to all found items and cross-reference the item against a number in the lost and found register and the same number of the tag/slip</a:t>
            </a:r>
            <a:endParaRPr lang="en-AU" sz="2400" dirty="0" smtClean="0"/>
          </a:p>
          <a:p>
            <a:pPr marL="360000" indent="-360000">
              <a:spcBef>
                <a:spcPts val="600"/>
              </a:spcBef>
              <a:spcAft>
                <a:spcPts val="1200"/>
              </a:spcAft>
              <a:buNone/>
            </a:pPr>
            <a:r>
              <a:rPr lang="en-US" sz="2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5" name="Picture 4" descr="C:\Documents and Settings\danielc\Local Settings\Temporary Internet Files\Content.IE5\2IERTBRT\MC900433838[1].png"/>
          <p:cNvPicPr/>
          <p:nvPr/>
        </p:nvPicPr>
        <p:blipFill>
          <a:blip r:embed="rId3" cstate="print"/>
          <a:srcRect/>
          <a:stretch>
            <a:fillRect/>
          </a:stretch>
        </p:blipFill>
        <p:spPr bwMode="auto">
          <a:xfrm>
            <a:off x="6786578" y="4929198"/>
            <a:ext cx="1285884" cy="1285884"/>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Aft>
                <a:spcPts val="1200"/>
              </a:spcAft>
            </a:pPr>
            <a:r>
              <a:rPr lang="en-US" sz="2400" dirty="0" smtClean="0"/>
              <a:t>Investigate/take action to determine the owner of found items</a:t>
            </a:r>
            <a:endParaRPr lang="en-AU" sz="2400" dirty="0" smtClean="0"/>
          </a:p>
          <a:p>
            <a:pPr>
              <a:spcAft>
                <a:spcPts val="1200"/>
              </a:spcAft>
            </a:pPr>
            <a:r>
              <a:rPr lang="en-US" sz="2400" dirty="0" smtClean="0"/>
              <a:t>Contact owner when a found item of theirs is identified, subject to the need to be tactful in relation to returning lost items of a ‘sensitive’ nature</a:t>
            </a:r>
            <a:endParaRPr lang="en-AU" sz="2400" dirty="0" smtClean="0"/>
          </a:p>
          <a:p>
            <a:pPr>
              <a:spcAft>
                <a:spcPts val="1200"/>
              </a:spcAft>
            </a:pPr>
            <a:r>
              <a:rPr lang="en-US" sz="2400" dirty="0" smtClean="0"/>
              <a:t>Advise internal venue staff regarding found items to make them aware and assist in identifying owner/s.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5" name="Picture 4" descr="C:\Documents and Settings\danielc\Local Settings\Temporary Internet Files\Content.IE5\2IERTBRT\MC900433838[1].png"/>
          <p:cNvPicPr/>
          <p:nvPr/>
        </p:nvPicPr>
        <p:blipFill>
          <a:blip r:embed="rId3" cstate="print"/>
          <a:srcRect/>
          <a:stretch>
            <a:fillRect/>
          </a:stretch>
        </p:blipFill>
        <p:spPr bwMode="auto">
          <a:xfrm>
            <a:off x="7429520" y="2357430"/>
            <a:ext cx="1285884" cy="1285884"/>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Deal with claims for lost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Performance Criteria for this Element are:</a:t>
            </a:r>
          </a:p>
          <a:p>
            <a:pPr marL="360000" indent="-360000">
              <a:spcBef>
                <a:spcPts val="600"/>
              </a:spcBef>
              <a:spcAft>
                <a:spcPts val="1200"/>
              </a:spcAft>
            </a:pPr>
            <a:r>
              <a:rPr lang="en-US" sz="2400" dirty="0" smtClean="0"/>
              <a:t>Assist claimant to identify lost property</a:t>
            </a:r>
          </a:p>
          <a:p>
            <a:pPr marL="360000" indent="-360000">
              <a:spcBef>
                <a:spcPts val="600"/>
              </a:spcBef>
              <a:spcAft>
                <a:spcPts val="1200"/>
              </a:spcAft>
            </a:pPr>
            <a:r>
              <a:rPr lang="en-US" sz="2400" dirty="0" smtClean="0"/>
              <a:t>Verify ownership of property claimed</a:t>
            </a:r>
          </a:p>
          <a:p>
            <a:pPr marL="360000" indent="-360000">
              <a:spcBef>
                <a:spcPts val="600"/>
              </a:spcBef>
              <a:spcAft>
                <a:spcPts val="1200"/>
              </a:spcAft>
            </a:pPr>
            <a:r>
              <a:rPr lang="en-US" sz="2400" dirty="0" smtClean="0"/>
              <a:t>Obtain identification from owner</a:t>
            </a:r>
          </a:p>
          <a:p>
            <a:pPr marL="360000" indent="-360000">
              <a:spcBef>
                <a:spcPts val="600"/>
              </a:spcBef>
              <a:spcAft>
                <a:spcPts val="1200"/>
              </a:spcAft>
            </a:pPr>
            <a:r>
              <a:rPr lang="en-US" sz="2400" dirty="0" smtClean="0"/>
              <a:t>Complete lost and found register</a:t>
            </a:r>
          </a:p>
          <a:p>
            <a:pPr marL="360000" indent="-360000">
              <a:spcBef>
                <a:spcPts val="600"/>
              </a:spcBef>
              <a:spcAft>
                <a:spcPts val="1200"/>
              </a:spcAft>
            </a:pPr>
            <a:r>
              <a:rPr lang="en-US" sz="2400" dirty="0" smtClean="0"/>
              <a:t>Assist claimants who contact the establishment from another country, or distant area, to claim lost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5" name="Picture 2" descr="C:\Documents and Settings\danielc\Local Settings\Temporary Internet Files\Content.IE5\29XKYQ1Q\MP900444315[1].jpg"/>
          <p:cNvPicPr>
            <a:picLocks noChangeAspect="1" noChangeArrowheads="1"/>
          </p:cNvPicPr>
          <p:nvPr/>
        </p:nvPicPr>
        <p:blipFill>
          <a:blip r:embed="rId3" cstate="print"/>
          <a:srcRect/>
          <a:stretch>
            <a:fillRect/>
          </a:stretch>
        </p:blipFill>
        <p:spPr bwMode="auto">
          <a:xfrm>
            <a:off x="6357950" y="3214686"/>
            <a:ext cx="1808030" cy="1198271"/>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Assist claimant to identify lost property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It is important to provide high levels of service to people who want to claim an item.</a:t>
            </a:r>
          </a:p>
          <a:p>
            <a:pPr marL="0" indent="0">
              <a:spcBef>
                <a:spcPts val="600"/>
              </a:spcBef>
              <a:spcAft>
                <a:spcPts val="1200"/>
              </a:spcAft>
              <a:buNone/>
            </a:pPr>
            <a:r>
              <a:rPr lang="en-US" sz="2400" dirty="0" smtClean="0"/>
              <a:t>Claims commonly are made:</a:t>
            </a:r>
          </a:p>
          <a:p>
            <a:pPr marL="360000" indent="-360000">
              <a:spcBef>
                <a:spcPts val="600"/>
              </a:spcBef>
              <a:spcAft>
                <a:spcPts val="1200"/>
              </a:spcAft>
            </a:pPr>
            <a:r>
              <a:rPr lang="en-US" sz="2400" dirty="0" smtClean="0"/>
              <a:t>In person</a:t>
            </a:r>
          </a:p>
          <a:p>
            <a:pPr marL="360000" indent="-360000">
              <a:spcBef>
                <a:spcPts val="600"/>
              </a:spcBef>
              <a:spcAft>
                <a:spcPts val="1200"/>
              </a:spcAft>
            </a:pPr>
            <a:r>
              <a:rPr lang="en-US" sz="2400" dirty="0" smtClean="0"/>
              <a:t>By telephone</a:t>
            </a:r>
          </a:p>
          <a:p>
            <a:pPr marL="360000" indent="-360000">
              <a:spcBef>
                <a:spcPts val="600"/>
              </a:spcBef>
              <a:spcAft>
                <a:spcPts val="1200"/>
              </a:spcAft>
            </a:pPr>
            <a:r>
              <a:rPr lang="en-US" sz="2400" dirty="0" smtClean="0"/>
              <a:t>Via email.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6" name="Picture 5" descr="C:\Documents and Settings\danielc\Local Settings\Temporary Internet Files\Content.IE5\0OCRPEL9\MC900410477[1].wmf"/>
          <p:cNvPicPr/>
          <p:nvPr/>
        </p:nvPicPr>
        <p:blipFill>
          <a:blip r:embed="rId3" cstate="print"/>
          <a:srcRect/>
          <a:stretch>
            <a:fillRect/>
          </a:stretch>
        </p:blipFill>
        <p:spPr bwMode="auto">
          <a:xfrm>
            <a:off x="6215074" y="3786190"/>
            <a:ext cx="1126704" cy="1189822"/>
          </a:xfrm>
          <a:prstGeom prst="rect">
            <a:avLst/>
          </a:prstGeom>
          <a:noFill/>
          <a:ln w="9525">
            <a:noFill/>
            <a:miter lim="800000"/>
            <a:headEnd/>
            <a:tailEnd/>
          </a:ln>
        </p:spPr>
      </p:pic>
      <p:pic>
        <p:nvPicPr>
          <p:cNvPr id="32770" name="Picture 2" descr="C:\Documents and Settings\danielc\Local Settings\Temporary Internet Files\Content.IE5\LSIXJYS2\MC900384154[1].wmf"/>
          <p:cNvPicPr>
            <a:picLocks noChangeAspect="1" noChangeArrowheads="1"/>
          </p:cNvPicPr>
          <p:nvPr/>
        </p:nvPicPr>
        <p:blipFill>
          <a:blip r:embed="rId4" cstate="print"/>
          <a:srcRect/>
          <a:stretch>
            <a:fillRect/>
          </a:stretch>
        </p:blipFill>
        <p:spPr bwMode="auto">
          <a:xfrm>
            <a:off x="6143636" y="2643182"/>
            <a:ext cx="1147085" cy="985597"/>
          </a:xfrm>
          <a:prstGeom prst="rect">
            <a:avLst/>
          </a:prstGeom>
          <a:no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Assist claimant to identify lost property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Action to assist claimants:</a:t>
            </a:r>
          </a:p>
          <a:p>
            <a:pPr marL="360000" indent="-360000">
              <a:spcBef>
                <a:spcPts val="600"/>
              </a:spcBef>
              <a:spcAft>
                <a:spcPts val="1200"/>
              </a:spcAft>
            </a:pPr>
            <a:r>
              <a:rPr lang="en-US" sz="2400" dirty="0" smtClean="0"/>
              <a:t>Use appropriate interpersonal skills</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Be professional and courteous</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Greet and welcome the person</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Avoid giving the ‘wrong‘ impression</a:t>
            </a:r>
          </a:p>
          <a:p>
            <a:pPr marL="720000" indent="-360000">
              <a:spcBef>
                <a:spcPts val="600"/>
              </a:spcBef>
              <a:spcAft>
                <a:spcPts val="1200"/>
              </a:spcAft>
              <a:buClr>
                <a:schemeClr val="accent1">
                  <a:lumMod val="75000"/>
                </a:schemeClr>
              </a:buClr>
              <a:buSzPct val="100000"/>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33794" name="Picture 2" descr="C:\Documents and Settings\danielc\Local Settings\Temporary Internet Files\Content.IE5\LSIXJYS2\MP900422532[1].jpg"/>
          <p:cNvPicPr>
            <a:picLocks noChangeAspect="1" noChangeArrowheads="1"/>
          </p:cNvPicPr>
          <p:nvPr/>
        </p:nvPicPr>
        <p:blipFill>
          <a:blip r:embed="rId3" cstate="print"/>
          <a:srcRect/>
          <a:stretch>
            <a:fillRect/>
          </a:stretch>
        </p:blipFill>
        <p:spPr bwMode="auto">
          <a:xfrm>
            <a:off x="6500826" y="2143116"/>
            <a:ext cx="1785926" cy="1785926"/>
          </a:xfrm>
          <a:prstGeom prst="rect">
            <a:avLst/>
          </a:prstGeom>
          <a:noFill/>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Assist claimant to identify lost property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400" dirty="0" smtClean="0"/>
              <a:t>Identify lost item</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Ask questions about the item</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Ask about the loss itself – when and where</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Compare answers given to information contained in the L &amp; F Register</a:t>
            </a:r>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5" name="Picture 4" descr="C:\Documents and Settings\danielc\Local Settings\Temporary Internet Files\Content.IE5\0OCRPEL9\MP900400964[1].jpg"/>
          <p:cNvPicPr/>
          <p:nvPr/>
        </p:nvPicPr>
        <p:blipFill>
          <a:blip r:embed="rId3" cstate="print"/>
          <a:srcRect/>
          <a:stretch>
            <a:fillRect/>
          </a:stretch>
        </p:blipFill>
        <p:spPr bwMode="auto">
          <a:xfrm>
            <a:off x="7000892" y="1500174"/>
            <a:ext cx="927766" cy="1167788"/>
          </a:xfrm>
          <a:prstGeom prst="rect">
            <a:avLst/>
          </a:prstGeom>
          <a:noFill/>
          <a:ln w="9525">
            <a:noFill/>
            <a:miter lim="800000"/>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Assist claimant to identify lost property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400" dirty="0" smtClean="0"/>
              <a:t>Identify item in the L &amp; F Register:</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For an item reported as lost, turn to the Lost section of the Register and search for the item by date or description</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For an item </a:t>
            </a:r>
            <a:r>
              <a:rPr lang="en-US" sz="2400" b="1" dirty="0" smtClean="0"/>
              <a:t>not reported </a:t>
            </a:r>
            <a:r>
              <a:rPr lang="en-US" sz="2400" dirty="0" smtClean="0"/>
              <a:t>as lost, turn to the Found section of the Register and search for the item by date or description</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Notify management if you have concerns</a:t>
            </a:r>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Assist claimant to identify lost property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400" dirty="0" smtClean="0"/>
              <a:t>Obtain the item from L &amp; F storage:</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Explain item has been located in </a:t>
            </a:r>
            <a:br>
              <a:rPr lang="en-US" sz="2400" dirty="0" smtClean="0"/>
            </a:br>
            <a:r>
              <a:rPr lang="en-US" sz="2400" dirty="0" smtClean="0"/>
              <a:t>L &amp; F Register and will be obtained</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Locate, check and obtain item</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Return to claimant and present item for verification.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34818" name="Picture 2" descr="C:\Documents and Settings\danielc\Local Settings\Temporary Internet Files\Content.IE5\M0QL8DHR\MC900383458[1].wmf"/>
          <p:cNvPicPr>
            <a:picLocks noChangeAspect="1" noChangeArrowheads="1"/>
          </p:cNvPicPr>
          <p:nvPr/>
        </p:nvPicPr>
        <p:blipFill>
          <a:blip r:embed="rId3" cstate="print"/>
          <a:srcRect l="2723" r="26361" b="18364"/>
          <a:stretch>
            <a:fillRect/>
          </a:stretch>
        </p:blipFill>
        <p:spPr bwMode="auto">
          <a:xfrm>
            <a:off x="6643702" y="1571612"/>
            <a:ext cx="1285884" cy="1428760"/>
          </a:xfrm>
          <a:prstGeom prst="rect">
            <a:avLst/>
          </a:prstGeom>
          <a:noFill/>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Assist claimant to identify lost property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400" dirty="0" smtClean="0"/>
              <a:t>Modification to procedures are needed where claim is made by telephone or email. A different approach is required to:</a:t>
            </a:r>
          </a:p>
          <a:p>
            <a:pPr marL="360000" indent="-360000">
              <a:spcBef>
                <a:spcPts val="600"/>
              </a:spcBef>
              <a:spcAft>
                <a:spcPts val="1200"/>
              </a:spcAft>
            </a:pPr>
            <a:r>
              <a:rPr lang="en-AU" sz="2400" dirty="0" smtClean="0"/>
              <a:t>Establish and confirm their identity</a:t>
            </a:r>
          </a:p>
          <a:p>
            <a:pPr marL="360000" indent="-360000">
              <a:spcBef>
                <a:spcPts val="600"/>
              </a:spcBef>
              <a:spcAft>
                <a:spcPts val="1200"/>
              </a:spcAft>
            </a:pPr>
            <a:r>
              <a:rPr lang="en-AU" sz="2400" dirty="0" smtClean="0"/>
              <a:t>Secure information about the item</a:t>
            </a:r>
          </a:p>
          <a:p>
            <a:pPr marL="360000" indent="-360000">
              <a:spcBef>
                <a:spcPts val="600"/>
              </a:spcBef>
              <a:spcAft>
                <a:spcPts val="1200"/>
              </a:spcAft>
            </a:pPr>
            <a:r>
              <a:rPr lang="en-AU" sz="2400" dirty="0" smtClean="0"/>
              <a:t>Finalise the return process.</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35842" name="Picture 2" descr="C:\Documents and Settings\danielc\Local Settings\Temporary Internet Files\Content.IE5\Y2UABRAT\MC900389058[1].wmf"/>
          <p:cNvPicPr>
            <a:picLocks noChangeAspect="1" noChangeArrowheads="1"/>
          </p:cNvPicPr>
          <p:nvPr/>
        </p:nvPicPr>
        <p:blipFill>
          <a:blip r:embed="rId3" cstate="print"/>
          <a:srcRect/>
          <a:stretch>
            <a:fillRect/>
          </a:stretch>
        </p:blipFill>
        <p:spPr bwMode="auto">
          <a:xfrm>
            <a:off x="6215074" y="2714620"/>
            <a:ext cx="1762963" cy="1815084"/>
          </a:xfrm>
          <a:prstGeom prst="rect">
            <a:avLst/>
          </a:prstGeom>
          <a:noFill/>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ownership of property claimed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400" dirty="0" smtClean="0"/>
              <a:t>When verifying claimant’s ownership of item:</a:t>
            </a:r>
          </a:p>
          <a:p>
            <a:pPr marL="360000" indent="-360000">
              <a:spcBef>
                <a:spcPts val="600"/>
              </a:spcBef>
              <a:spcAft>
                <a:spcPts val="1200"/>
              </a:spcAft>
            </a:pPr>
            <a:r>
              <a:rPr lang="en-US" sz="2400" dirty="0" smtClean="0"/>
              <a:t>Maintain high standards of service</a:t>
            </a:r>
          </a:p>
          <a:p>
            <a:pPr marL="360000" indent="-360000">
              <a:spcBef>
                <a:spcPts val="600"/>
              </a:spcBef>
              <a:spcAft>
                <a:spcPts val="1200"/>
              </a:spcAft>
            </a:pPr>
            <a:r>
              <a:rPr lang="en-US" sz="2400" dirty="0" smtClean="0"/>
              <a:t>Explain why proof of ownership is required</a:t>
            </a:r>
          </a:p>
          <a:p>
            <a:pPr marL="360000" indent="-360000">
              <a:spcBef>
                <a:spcPts val="600"/>
              </a:spcBef>
              <a:spcAft>
                <a:spcPts val="1200"/>
              </a:spcAft>
            </a:pPr>
            <a:r>
              <a:rPr lang="en-US" sz="2400" dirty="0" smtClean="0"/>
              <a:t>Be prepared for people to be unsure about items that are genuinely theirs</a:t>
            </a:r>
          </a:p>
          <a:p>
            <a:pPr marL="360000" indent="-360000">
              <a:spcBef>
                <a:spcPts val="600"/>
              </a:spcBef>
              <a:spcAft>
                <a:spcPts val="1200"/>
              </a:spcAft>
            </a:pPr>
            <a:r>
              <a:rPr lang="en-US" sz="2400" dirty="0" smtClean="0"/>
              <a:t>Many people are unable to produce receipts for items</a:t>
            </a:r>
          </a:p>
          <a:p>
            <a:pPr marL="360000" indent="-360000">
              <a:spcBef>
                <a:spcPts val="600"/>
              </a:spcBef>
              <a:spcAft>
                <a:spcPts val="1200"/>
              </a:spcAft>
            </a:pPr>
            <a:r>
              <a:rPr lang="en-US" sz="2400" dirty="0" smtClean="0"/>
              <a:t>Check identification of anyone collecting an item on behalf of someone else.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ownership of property claimed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Verifying ownership can be achieved by:</a:t>
            </a:r>
          </a:p>
          <a:p>
            <a:pPr marL="360000" indent="-360000">
              <a:spcBef>
                <a:spcPts val="600"/>
              </a:spcBef>
              <a:spcAft>
                <a:spcPts val="1200"/>
              </a:spcAft>
            </a:pPr>
            <a:r>
              <a:rPr lang="en-US" sz="2400" dirty="0" smtClean="0"/>
              <a:t>Obtaining accurate and detailed descriptions, especially of contents</a:t>
            </a:r>
          </a:p>
          <a:p>
            <a:pPr marL="360000" indent="-360000">
              <a:spcBef>
                <a:spcPts val="600"/>
              </a:spcBef>
              <a:spcAft>
                <a:spcPts val="1200"/>
              </a:spcAft>
            </a:pPr>
            <a:r>
              <a:rPr lang="en-US" sz="2400" dirty="0" smtClean="0"/>
              <a:t>Matching photographs</a:t>
            </a:r>
          </a:p>
          <a:p>
            <a:pPr marL="360000" indent="-360000">
              <a:spcBef>
                <a:spcPts val="600"/>
              </a:spcBef>
              <a:spcAft>
                <a:spcPts val="1200"/>
              </a:spcAft>
            </a:pPr>
            <a:r>
              <a:rPr lang="en-US" sz="2400" dirty="0" smtClean="0"/>
              <a:t>Sighting ownership documents.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37890" name="Picture 2" descr="C:\Documents and Settings\danielc\Local Settings\Temporary Internet Files\Content.IE5\Y2UABRAT\MP900448538[1].jpg"/>
          <p:cNvPicPr>
            <a:picLocks noChangeAspect="1" noChangeArrowheads="1"/>
          </p:cNvPicPr>
          <p:nvPr/>
        </p:nvPicPr>
        <p:blipFill>
          <a:blip r:embed="rId3" cstate="print"/>
          <a:srcRect/>
          <a:stretch>
            <a:fillRect/>
          </a:stretch>
        </p:blipFill>
        <p:spPr bwMode="auto">
          <a:xfrm>
            <a:off x="5715008" y="2857496"/>
            <a:ext cx="2428860" cy="1785573"/>
          </a:xfrm>
          <a:prstGeom prst="rect">
            <a:avLst/>
          </a:prstGeom>
          <a:noFill/>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identification from owner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Always obtain proof of ID of claimant to:</a:t>
            </a:r>
          </a:p>
          <a:p>
            <a:pPr marL="360000" indent="-360000">
              <a:spcBef>
                <a:spcPts val="600"/>
              </a:spcBef>
              <a:spcAft>
                <a:spcPts val="1200"/>
              </a:spcAft>
            </a:pPr>
            <a:r>
              <a:rPr lang="en-US" sz="2400" dirty="0" smtClean="0"/>
              <a:t>Prove item was released to correct person</a:t>
            </a:r>
          </a:p>
          <a:p>
            <a:pPr marL="360000" indent="-360000">
              <a:spcBef>
                <a:spcPts val="600"/>
              </a:spcBef>
              <a:spcAft>
                <a:spcPts val="1200"/>
              </a:spcAft>
            </a:pPr>
            <a:r>
              <a:rPr lang="en-US" sz="2400" dirty="0" smtClean="0"/>
              <a:t>Provide a starting point if there is ever a need for an enquiry</a:t>
            </a:r>
          </a:p>
          <a:p>
            <a:pPr marL="360000" indent="-360000">
              <a:spcBef>
                <a:spcPts val="600"/>
              </a:spcBef>
              <a:spcAft>
                <a:spcPts val="1200"/>
              </a:spcAft>
            </a:pPr>
            <a:r>
              <a:rPr lang="en-US" sz="2400" dirty="0" smtClean="0"/>
              <a:t>Comply with internal requirements.</a:t>
            </a:r>
          </a:p>
          <a:p>
            <a:pPr marL="360000" indent="-360000">
              <a:spcBef>
                <a:spcPts val="600"/>
              </a:spcBef>
              <a:spcAft>
                <a:spcPts val="1200"/>
              </a:spcAft>
            </a:pPr>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36866" name="Picture 2" descr="C:\Documents and Settings\danielc\Local Settings\Temporary Internet Files\Content.IE5\XKVY0NPI\MP900443161[1].jpg"/>
          <p:cNvPicPr>
            <a:picLocks noChangeAspect="1" noChangeArrowheads="1"/>
          </p:cNvPicPr>
          <p:nvPr/>
        </p:nvPicPr>
        <p:blipFill>
          <a:blip r:embed="rId3" cstate="print"/>
          <a:srcRect/>
          <a:stretch>
            <a:fillRect/>
          </a:stretch>
        </p:blipFill>
        <p:spPr bwMode="auto">
          <a:xfrm>
            <a:off x="6072198" y="3500438"/>
            <a:ext cx="2111122" cy="1404928"/>
          </a:xfrm>
          <a:prstGeom prst="rect">
            <a:avLst/>
          </a:prstGeom>
          <a:noFill/>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identification from owner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Claimant identification:</a:t>
            </a:r>
          </a:p>
          <a:p>
            <a:pPr marL="360000" indent="-360000">
              <a:spcBef>
                <a:spcPts val="600"/>
              </a:spcBef>
              <a:spcAft>
                <a:spcPts val="1200"/>
              </a:spcAft>
            </a:pPr>
            <a:r>
              <a:rPr lang="en-US" sz="2400" dirty="0" smtClean="0"/>
              <a:t>Is most commonly a passport or driver’s licence</a:t>
            </a:r>
          </a:p>
          <a:p>
            <a:pPr marL="360000" indent="-360000">
              <a:spcBef>
                <a:spcPts val="600"/>
              </a:spcBef>
              <a:spcAft>
                <a:spcPts val="1200"/>
              </a:spcAft>
            </a:pPr>
            <a:r>
              <a:rPr lang="en-US" sz="2400" dirty="0" smtClean="0"/>
              <a:t>May be any (government-issued) photo ID</a:t>
            </a:r>
          </a:p>
          <a:p>
            <a:pPr marL="360000" indent="-360000">
              <a:spcBef>
                <a:spcPts val="600"/>
              </a:spcBef>
              <a:spcAft>
                <a:spcPts val="1200"/>
              </a:spcAft>
            </a:pPr>
            <a:r>
              <a:rPr lang="en-US" sz="2400" dirty="0" smtClean="0"/>
              <a:t>May be verified by management/staff who know the person</a:t>
            </a:r>
          </a:p>
          <a:p>
            <a:pPr marL="360000" indent="-360000">
              <a:spcBef>
                <a:spcPts val="600"/>
              </a:spcBef>
              <a:spcAft>
                <a:spcPts val="1200"/>
              </a:spcAft>
            </a:pPr>
            <a:r>
              <a:rPr lang="en-US" sz="2400" dirty="0" smtClean="0"/>
              <a:t>Can be inferred by comparing a signature ‘at the time’ with one done previously or on arrival.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38914" name="Picture 2" descr="C:\Documents and Settings\danielc\Local Settings\Temporary Internet Files\Content.IE5\LSIXJYS2\MC900297763[1].wmf"/>
          <p:cNvPicPr>
            <a:picLocks noChangeAspect="1" noChangeArrowheads="1"/>
          </p:cNvPicPr>
          <p:nvPr/>
        </p:nvPicPr>
        <p:blipFill>
          <a:blip r:embed="rId3" cstate="print"/>
          <a:srcRect/>
          <a:stretch>
            <a:fillRect/>
          </a:stretch>
        </p:blipFill>
        <p:spPr bwMode="auto">
          <a:xfrm>
            <a:off x="3857620" y="5286388"/>
            <a:ext cx="1412059" cy="1354538"/>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identification from owner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When suitable ID is produced, verify it has not been tampered with, then: </a:t>
            </a:r>
          </a:p>
          <a:p>
            <a:pPr marL="360000" indent="-360000">
              <a:spcBef>
                <a:spcPts val="600"/>
              </a:spcBef>
              <a:spcAft>
                <a:spcPts val="1200"/>
              </a:spcAft>
            </a:pPr>
            <a:r>
              <a:rPr lang="en-US" sz="2400" dirty="0" smtClean="0"/>
              <a:t>Copy it – check details are legible</a:t>
            </a:r>
          </a:p>
          <a:p>
            <a:pPr marL="360000" indent="-360000">
              <a:spcBef>
                <a:spcPts val="600"/>
              </a:spcBef>
              <a:spcAft>
                <a:spcPts val="1200"/>
              </a:spcAft>
              <a:buNone/>
            </a:pPr>
            <a:r>
              <a:rPr lang="en-US" sz="2400" dirty="0" smtClean="0"/>
              <a:t>Or </a:t>
            </a:r>
          </a:p>
          <a:p>
            <a:pPr marL="360000" indent="-360000">
              <a:spcBef>
                <a:spcPts val="600"/>
              </a:spcBef>
              <a:spcAft>
                <a:spcPts val="1200"/>
              </a:spcAft>
            </a:pPr>
            <a:r>
              <a:rPr lang="en-US" sz="2400" dirty="0" smtClean="0"/>
              <a:t>Record details in the L &amp; F Register.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39938" name="Picture 2" descr="C:\Documents and Settings\danielc\Local Settings\Temporary Internet Files\Content.IE5\WOYKSSHU\MP900411797[1].jpg"/>
          <p:cNvPicPr>
            <a:picLocks noChangeAspect="1" noChangeArrowheads="1"/>
          </p:cNvPicPr>
          <p:nvPr/>
        </p:nvPicPr>
        <p:blipFill>
          <a:blip r:embed="rId3" cstate="print"/>
          <a:srcRect t="9693" r="19354" b="17612"/>
          <a:stretch>
            <a:fillRect/>
          </a:stretch>
        </p:blipFill>
        <p:spPr bwMode="auto">
          <a:xfrm>
            <a:off x="6572264" y="2714620"/>
            <a:ext cx="1785950" cy="1071570"/>
          </a:xfrm>
          <a:prstGeom prst="rect">
            <a:avLst/>
          </a:prstGeom>
          <a:noFill/>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identification from owner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400" dirty="0" smtClean="0"/>
              <a:t>Where a third party is claiming an item on behalf of the owner, identification of the third party must be captured. This may mean:</a:t>
            </a:r>
          </a:p>
          <a:p>
            <a:pPr marL="360000" indent="-360000">
              <a:spcBef>
                <a:spcPts val="600"/>
              </a:spcBef>
              <a:spcAft>
                <a:spcPts val="1200"/>
              </a:spcAft>
            </a:pPr>
            <a:r>
              <a:rPr lang="en-AU" sz="2400" dirty="0" smtClean="0"/>
              <a:t>Obtaining copy of authorising email or letter</a:t>
            </a:r>
          </a:p>
          <a:p>
            <a:pPr marL="360000" indent="-360000">
              <a:spcBef>
                <a:spcPts val="600"/>
              </a:spcBef>
              <a:spcAft>
                <a:spcPts val="1200"/>
              </a:spcAft>
            </a:pPr>
            <a:r>
              <a:rPr lang="en-AU" sz="2400" dirty="0" smtClean="0"/>
              <a:t>Obtaining copy of communication from venue to property owner asking them to provide ID</a:t>
            </a:r>
          </a:p>
          <a:p>
            <a:pPr marL="360000" indent="-360000">
              <a:spcBef>
                <a:spcPts val="600"/>
              </a:spcBef>
              <a:spcAft>
                <a:spcPts val="1200"/>
              </a:spcAft>
            </a:pPr>
            <a:r>
              <a:rPr lang="en-AU" sz="2400" dirty="0" smtClean="0"/>
              <a:t>Obtaining copy of driver’s licence or passport of the third party/agent.</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Complete lost and found register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Update L &amp; F Register every time an item is returned (or you refuse to return an item):</a:t>
            </a:r>
          </a:p>
          <a:p>
            <a:pPr marL="360000" indent="-360000">
              <a:spcBef>
                <a:spcPts val="600"/>
              </a:spcBef>
              <a:spcAft>
                <a:spcPts val="1200"/>
              </a:spcAft>
            </a:pPr>
            <a:r>
              <a:rPr lang="en-US" sz="2400" dirty="0" smtClean="0"/>
              <a:t>Complete details of claimant</a:t>
            </a:r>
          </a:p>
          <a:p>
            <a:pPr marL="360000" indent="-360000">
              <a:spcBef>
                <a:spcPts val="600"/>
              </a:spcBef>
              <a:spcAft>
                <a:spcPts val="1200"/>
              </a:spcAft>
            </a:pPr>
            <a:r>
              <a:rPr lang="en-US" sz="2400" dirty="0" smtClean="0"/>
              <a:t>Insert copy of claimant’s identification</a:t>
            </a:r>
          </a:p>
          <a:p>
            <a:pPr marL="360000" indent="-360000">
              <a:spcBef>
                <a:spcPts val="600"/>
              </a:spcBef>
              <a:spcAft>
                <a:spcPts val="1200"/>
              </a:spcAft>
            </a:pPr>
            <a:r>
              <a:rPr lang="en-US" sz="2400" dirty="0" smtClean="0"/>
              <a:t>Insert proof of ownership of item</a:t>
            </a:r>
          </a:p>
          <a:p>
            <a:pPr marL="360000" indent="-360000">
              <a:spcBef>
                <a:spcPts val="600"/>
              </a:spcBef>
              <a:spcAft>
                <a:spcPts val="1200"/>
              </a:spcAft>
            </a:pPr>
            <a:r>
              <a:rPr lang="en-US" sz="2400" dirty="0" smtClean="0"/>
              <a:t>Obtain signature</a:t>
            </a:r>
          </a:p>
          <a:p>
            <a:pPr marL="360000" indent="-360000">
              <a:spcBef>
                <a:spcPts val="600"/>
              </a:spcBef>
              <a:spcAft>
                <a:spcPts val="1200"/>
              </a:spcAft>
            </a:pPr>
            <a:r>
              <a:rPr lang="en-US" sz="2400" dirty="0" smtClean="0"/>
              <a:t>Complete other columns in the Register as appropriate.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5" name="Picture 4" descr="L&amp;F Policy.jpg"/>
          <p:cNvPicPr/>
          <p:nvPr/>
        </p:nvPicPr>
        <p:blipFill>
          <a:blip r:embed="rId3" cstate="print"/>
          <a:stretch>
            <a:fillRect/>
          </a:stretch>
        </p:blipFill>
        <p:spPr>
          <a:xfrm>
            <a:off x="6500826" y="3357562"/>
            <a:ext cx="1302974" cy="1156771"/>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Complete lost and found register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If you need to refuse to release or return an item to a claimant:</a:t>
            </a:r>
          </a:p>
          <a:p>
            <a:pPr marL="360000" indent="-360000">
              <a:spcBef>
                <a:spcPts val="600"/>
              </a:spcBef>
              <a:spcAft>
                <a:spcPts val="1200"/>
              </a:spcAft>
            </a:pPr>
            <a:r>
              <a:rPr lang="en-US" sz="2400" dirty="0" smtClean="0"/>
              <a:t>Involve management</a:t>
            </a:r>
          </a:p>
          <a:p>
            <a:pPr marL="360000" indent="-360000">
              <a:spcBef>
                <a:spcPts val="600"/>
              </a:spcBef>
              <a:spcAft>
                <a:spcPts val="1200"/>
              </a:spcAft>
            </a:pPr>
            <a:r>
              <a:rPr lang="en-US" sz="2400" dirty="0" smtClean="0"/>
              <a:t>Tell management why you do not want to </a:t>
            </a:r>
            <a:br>
              <a:rPr lang="en-US" sz="2400" dirty="0" smtClean="0"/>
            </a:br>
            <a:r>
              <a:rPr lang="en-US" sz="2400" dirty="0" smtClean="0"/>
              <a:t>release the item</a:t>
            </a:r>
          </a:p>
          <a:p>
            <a:pPr marL="360000" indent="-360000">
              <a:spcBef>
                <a:spcPts val="600"/>
              </a:spcBef>
              <a:spcAft>
                <a:spcPts val="1200"/>
              </a:spcAft>
            </a:pPr>
            <a:r>
              <a:rPr lang="en-US" sz="2400" dirty="0" smtClean="0"/>
              <a:t>Allow management to make the final decision</a:t>
            </a:r>
          </a:p>
          <a:p>
            <a:pPr marL="360000" indent="-360000">
              <a:spcBef>
                <a:spcPts val="600"/>
              </a:spcBef>
              <a:spcAft>
                <a:spcPts val="1200"/>
              </a:spcAft>
            </a:pPr>
            <a:r>
              <a:rPr lang="en-US" sz="2400" dirty="0" smtClean="0"/>
              <a:t>Explain to claimant why refusal has occurred</a:t>
            </a:r>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5" name="Picture 4" descr="C:\Documents and Settings\danielc\Local Settings\Temporary Internet Files\Content.IE5\M0QL8DHR\MC900060229[1].wmf"/>
          <p:cNvPicPr/>
          <p:nvPr/>
        </p:nvPicPr>
        <p:blipFill>
          <a:blip r:embed="rId3" cstate="print"/>
          <a:srcRect/>
          <a:stretch>
            <a:fillRect/>
          </a:stretch>
        </p:blipFill>
        <p:spPr bwMode="auto">
          <a:xfrm>
            <a:off x="6858016" y="2285992"/>
            <a:ext cx="1305736" cy="1817783"/>
          </a:xfrm>
          <a:prstGeom prst="rect">
            <a:avLst/>
          </a:prstGeom>
          <a:noFill/>
          <a:ln w="9525">
            <a:noFill/>
            <a:miter lim="800000"/>
            <a:headEnd/>
            <a:tailEnd/>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Complete lost and found register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400" dirty="0" smtClean="0"/>
              <a:t>Advise claimant of extra proof required</a:t>
            </a:r>
          </a:p>
          <a:p>
            <a:pPr marL="360000" indent="-360000">
              <a:spcBef>
                <a:spcPts val="600"/>
              </a:spcBef>
              <a:spcAft>
                <a:spcPts val="1200"/>
              </a:spcAft>
            </a:pPr>
            <a:r>
              <a:rPr lang="en-AU" sz="2400" dirty="0" smtClean="0"/>
              <a:t>Apologise</a:t>
            </a:r>
          </a:p>
          <a:p>
            <a:pPr marL="360000" indent="-360000">
              <a:spcBef>
                <a:spcPts val="600"/>
              </a:spcBef>
              <a:spcAft>
                <a:spcPts val="1200"/>
              </a:spcAft>
            </a:pPr>
            <a:r>
              <a:rPr lang="en-AU" sz="2400" dirty="0" smtClean="0"/>
              <a:t>Make an entry in the L &amp; F Register to reflect what happened</a:t>
            </a:r>
          </a:p>
          <a:p>
            <a:pPr marL="360000" indent="-360000">
              <a:spcBef>
                <a:spcPts val="600"/>
              </a:spcBef>
              <a:spcAft>
                <a:spcPts val="1200"/>
              </a:spcAft>
            </a:pPr>
            <a:r>
              <a:rPr lang="en-AU" sz="2400" dirty="0" smtClean="0"/>
              <a:t>Sign or initial the Register.</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Assist other country claimants to claim lost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Other country claims or enquiries in relation to lost property must be handled professionally and may arise as a result of:</a:t>
            </a:r>
          </a:p>
          <a:p>
            <a:pPr marL="360000" indent="-360000">
              <a:spcBef>
                <a:spcPts val="600"/>
              </a:spcBef>
              <a:spcAft>
                <a:spcPts val="1200"/>
              </a:spcAft>
            </a:pPr>
            <a:r>
              <a:rPr lang="en-US" sz="2400" dirty="0" smtClean="0"/>
              <a:t>Contact made with the person by the venue</a:t>
            </a:r>
          </a:p>
          <a:p>
            <a:pPr marL="360000" indent="-360000">
              <a:spcBef>
                <a:spcPts val="600"/>
              </a:spcBef>
              <a:spcAft>
                <a:spcPts val="1200"/>
              </a:spcAft>
            </a:pPr>
            <a:r>
              <a:rPr lang="en-US" sz="2400" dirty="0" smtClean="0"/>
              <a:t>A report having made about a lost item</a:t>
            </a:r>
          </a:p>
          <a:p>
            <a:pPr marL="360000" indent="-360000">
              <a:spcBef>
                <a:spcPts val="600"/>
              </a:spcBef>
              <a:spcAft>
                <a:spcPts val="1200"/>
              </a:spcAft>
            </a:pPr>
            <a:r>
              <a:rPr lang="en-US" sz="2400" dirty="0" smtClean="0"/>
              <a:t>A ‘chance’ enquiry.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5" name="Picture 4" descr="C:\Documents and Settings\danielc\Local Settings\Temporary Internet Files\Content.IE5\ZB5AOP62\MP900178916[1].jpg"/>
          <p:cNvPicPr/>
          <p:nvPr/>
        </p:nvPicPr>
        <p:blipFill>
          <a:blip r:embed="rId3" cstate="print"/>
          <a:srcRect/>
          <a:stretch>
            <a:fillRect/>
          </a:stretch>
        </p:blipFill>
        <p:spPr bwMode="auto">
          <a:xfrm>
            <a:off x="3986614" y="4857760"/>
            <a:ext cx="1170772" cy="1167787"/>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Assist other country claimants to claim lost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Other country claims about lost property can be:</a:t>
            </a:r>
          </a:p>
          <a:p>
            <a:pPr marL="360000" indent="-360000">
              <a:spcBef>
                <a:spcPts val="600"/>
              </a:spcBef>
              <a:spcAft>
                <a:spcPts val="1200"/>
              </a:spcAft>
            </a:pPr>
            <a:r>
              <a:rPr lang="en-US" sz="2400" dirty="0" smtClean="0"/>
              <a:t>Via telephone</a:t>
            </a:r>
          </a:p>
          <a:p>
            <a:pPr marL="360000" indent="-360000">
              <a:spcBef>
                <a:spcPts val="600"/>
              </a:spcBef>
              <a:spcAft>
                <a:spcPts val="1200"/>
              </a:spcAft>
            </a:pPr>
            <a:r>
              <a:rPr lang="en-US" sz="2400" dirty="0" smtClean="0"/>
              <a:t>Via fax</a:t>
            </a:r>
          </a:p>
          <a:p>
            <a:pPr marL="360000" indent="-360000">
              <a:spcBef>
                <a:spcPts val="600"/>
              </a:spcBef>
              <a:spcAft>
                <a:spcPts val="1200"/>
              </a:spcAft>
            </a:pPr>
            <a:r>
              <a:rPr lang="en-US" sz="2400" dirty="0" smtClean="0"/>
              <a:t>Through email.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5" name="Picture 4" descr="C:\Documents and Settings\danielc\Local Settings\Temporary Internet Files\Content.IE5\ZB5AOP62\MP900178916[1].jpg"/>
          <p:cNvPicPr/>
          <p:nvPr/>
        </p:nvPicPr>
        <p:blipFill>
          <a:blip r:embed="rId3" cstate="print"/>
          <a:srcRect/>
          <a:stretch>
            <a:fillRect/>
          </a:stretch>
        </p:blipFill>
        <p:spPr bwMode="auto">
          <a:xfrm>
            <a:off x="5357818" y="2428868"/>
            <a:ext cx="1956590" cy="1951601"/>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Assist other country claimants to claim lost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When dealing with other country claims:</a:t>
            </a:r>
          </a:p>
          <a:p>
            <a:pPr marL="360000" indent="-360000">
              <a:spcBef>
                <a:spcPts val="600"/>
              </a:spcBef>
              <a:spcAft>
                <a:spcPts val="1200"/>
              </a:spcAft>
            </a:pPr>
            <a:r>
              <a:rPr lang="en-US" sz="2400" dirty="0" smtClean="0"/>
              <a:t>Determine legitimate ownership of the item</a:t>
            </a:r>
          </a:p>
          <a:p>
            <a:pPr marL="360000" indent="-360000">
              <a:spcBef>
                <a:spcPts val="600"/>
              </a:spcBef>
              <a:spcAft>
                <a:spcPts val="1200"/>
              </a:spcAft>
            </a:pPr>
            <a:r>
              <a:rPr lang="en-US" sz="2400" dirty="0" smtClean="0"/>
              <a:t>Identify the exact item</a:t>
            </a:r>
          </a:p>
          <a:p>
            <a:pPr marL="360000" indent="-360000">
              <a:spcBef>
                <a:spcPts val="600"/>
              </a:spcBef>
              <a:spcAft>
                <a:spcPts val="1200"/>
              </a:spcAft>
            </a:pPr>
            <a:r>
              <a:rPr lang="en-US" sz="2400" dirty="0" smtClean="0"/>
              <a:t>Determine method of return</a:t>
            </a:r>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5" name="Picture 4" descr="C:\Documents and Settings\danielc\Local Settings\Temporary Internet Files\Content.IE5\M0QL8DHR\MC900039006[1].wmf"/>
          <p:cNvPicPr/>
          <p:nvPr/>
        </p:nvPicPr>
        <p:blipFill>
          <a:blip r:embed="rId3" cstate="print"/>
          <a:srcRect/>
          <a:stretch>
            <a:fillRect/>
          </a:stretch>
        </p:blipFill>
        <p:spPr bwMode="auto">
          <a:xfrm>
            <a:off x="6508897" y="2500306"/>
            <a:ext cx="1472839" cy="1357322"/>
          </a:xfrm>
          <a:prstGeom prst="rect">
            <a:avLst/>
          </a:prstGeom>
          <a:noFill/>
          <a:ln w="9525">
            <a:noFill/>
            <a:miter lim="800000"/>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Assist other country claimants to claim lost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400" dirty="0" smtClean="0"/>
              <a:t>Advise claimant regarding anticipated types and amounts of charges to return the item</a:t>
            </a:r>
          </a:p>
          <a:p>
            <a:pPr marL="360000" indent="-360000">
              <a:spcBef>
                <a:spcPts val="600"/>
              </a:spcBef>
              <a:spcAft>
                <a:spcPts val="1200"/>
              </a:spcAft>
            </a:pPr>
            <a:r>
              <a:rPr lang="en-US" sz="2400" dirty="0" smtClean="0"/>
              <a:t>Obtain contact and delivery details</a:t>
            </a:r>
          </a:p>
          <a:p>
            <a:pPr marL="360000" indent="-360000">
              <a:spcBef>
                <a:spcPts val="600"/>
              </a:spcBef>
              <a:spcAft>
                <a:spcPts val="1200"/>
              </a:spcAft>
            </a:pPr>
            <a:r>
              <a:rPr lang="en-US" sz="2400" dirty="0" smtClean="0"/>
              <a:t>Inform regarding dispatch date and expected delivery date.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5" name="Picture 4" descr="C:\Documents and Settings\danielc\Local Settings\Temporary Internet Files\Content.IE5\M0QL8DHR\MC900039006[1].wmf"/>
          <p:cNvPicPr/>
          <p:nvPr/>
        </p:nvPicPr>
        <p:blipFill>
          <a:blip r:embed="rId3" cstate="print"/>
          <a:srcRect/>
          <a:stretch>
            <a:fillRect/>
          </a:stretch>
        </p:blipFill>
        <p:spPr bwMode="auto">
          <a:xfrm>
            <a:off x="7072330" y="2071678"/>
            <a:ext cx="1123720" cy="1035585"/>
          </a:xfrm>
          <a:prstGeom prst="rect">
            <a:avLst/>
          </a:prstGeom>
          <a:noFill/>
          <a:ln w="9525">
            <a:noFill/>
            <a:miter lim="800000"/>
            <a:headEnd/>
            <a:tailEnd/>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Assist other country claimants to claim lost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400" dirty="0" smtClean="0"/>
              <a:t>When processing returns to other countries:</a:t>
            </a:r>
          </a:p>
          <a:p>
            <a:pPr marL="360000" indent="-360000">
              <a:spcBef>
                <a:spcPts val="600"/>
              </a:spcBef>
              <a:spcAft>
                <a:spcPts val="1200"/>
              </a:spcAft>
            </a:pPr>
            <a:r>
              <a:rPr lang="en-US" sz="2400" dirty="0" smtClean="0"/>
              <a:t>Work quickly but carefully</a:t>
            </a:r>
          </a:p>
          <a:p>
            <a:pPr marL="360000" indent="-360000">
              <a:spcBef>
                <a:spcPts val="600"/>
              </a:spcBef>
              <a:spcAft>
                <a:spcPts val="1200"/>
              </a:spcAft>
            </a:pPr>
            <a:r>
              <a:rPr lang="en-US" sz="2400" dirty="0" smtClean="0"/>
              <a:t>Activities may include</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Wrapping and packaging</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Addressing</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Paying insurance</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Arranging transportation and delivery</a:t>
            </a:r>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5" name="Picture 4" descr="C:\Documents and Settings\danielc\Local Settings\Temporary Internet Files\Content.IE5\Y2UABRAT\MP900444366[1].jpg"/>
          <p:cNvPicPr/>
          <p:nvPr/>
        </p:nvPicPr>
        <p:blipFill>
          <a:blip r:embed="rId3" cstate="print"/>
          <a:srcRect/>
          <a:stretch>
            <a:fillRect/>
          </a:stretch>
        </p:blipFill>
        <p:spPr bwMode="auto">
          <a:xfrm>
            <a:off x="6215074" y="2643182"/>
            <a:ext cx="1135181" cy="760164"/>
          </a:xfrm>
          <a:prstGeom prst="rect">
            <a:avLst/>
          </a:prstGeom>
          <a:noFill/>
          <a:ln w="9525">
            <a:noFill/>
            <a:miter lim="800000"/>
            <a:headEnd/>
            <a:tailEnd/>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Assist other country claimants to claim lost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214282" y="1760557"/>
            <a:ext cx="7467600" cy="4525963"/>
          </a:xfrm>
        </p:spPr>
        <p:txBody>
          <a:bodyPr>
            <a:normAutofit/>
          </a:bodyPr>
          <a:lstStyle/>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Delivering item to delivery provider</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Capturing consignment and other details</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Paying for delivery</a:t>
            </a:r>
          </a:p>
          <a:p>
            <a:pPr marL="720000" indent="-360000">
              <a:spcBef>
                <a:spcPts val="600"/>
              </a:spcBef>
              <a:spcAft>
                <a:spcPts val="1200"/>
              </a:spcAft>
              <a:buClr>
                <a:schemeClr val="accent1">
                  <a:lumMod val="75000"/>
                </a:schemeClr>
              </a:buClr>
              <a:buSzPct val="100000"/>
              <a:buFont typeface="Arial" pitchFamily="34" charset="0"/>
              <a:buChar char="•"/>
            </a:pPr>
            <a:r>
              <a:rPr lang="en-US" sz="2400" dirty="0" smtClean="0"/>
              <a:t>Notifying claimant item has been sent.</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5" name="Picture 4" descr="delivery.jpg"/>
          <p:cNvPicPr>
            <a:picLocks noChangeAspect="1"/>
          </p:cNvPicPr>
          <p:nvPr/>
        </p:nvPicPr>
        <p:blipFill>
          <a:blip r:embed="rId3" cstate="print">
            <a:grayscl/>
          </a:blip>
          <a:srcRect l="14176" r="11398"/>
          <a:stretch>
            <a:fillRect/>
          </a:stretch>
        </p:blipFill>
        <p:spPr>
          <a:xfrm>
            <a:off x="6858016" y="2786058"/>
            <a:ext cx="1500198" cy="19989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Assist other-country claimants to claim lost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Update L &amp; F Register with:</a:t>
            </a:r>
          </a:p>
          <a:p>
            <a:pPr marL="360000" indent="-360000">
              <a:spcBef>
                <a:spcPts val="600"/>
              </a:spcBef>
              <a:spcAft>
                <a:spcPts val="1200"/>
              </a:spcAft>
            </a:pPr>
            <a:r>
              <a:rPr lang="en-US" sz="2400" dirty="0" smtClean="0"/>
              <a:t>Delivery address</a:t>
            </a:r>
          </a:p>
          <a:p>
            <a:pPr marL="360000" indent="-360000">
              <a:spcBef>
                <a:spcPts val="600"/>
              </a:spcBef>
              <a:spcAft>
                <a:spcPts val="1200"/>
              </a:spcAft>
            </a:pPr>
            <a:r>
              <a:rPr lang="en-US" sz="2400" dirty="0" smtClean="0"/>
              <a:t>Name of carrier/service</a:t>
            </a:r>
          </a:p>
          <a:p>
            <a:pPr marL="360000" indent="-360000">
              <a:spcBef>
                <a:spcPts val="600"/>
              </a:spcBef>
              <a:spcAft>
                <a:spcPts val="1200"/>
              </a:spcAft>
            </a:pPr>
            <a:r>
              <a:rPr lang="en-US" sz="2400" dirty="0" smtClean="0"/>
              <a:t>Details of any special services</a:t>
            </a:r>
          </a:p>
          <a:p>
            <a:pPr marL="360000" indent="-360000">
              <a:spcBef>
                <a:spcPts val="600"/>
              </a:spcBef>
              <a:spcAft>
                <a:spcPts val="1200"/>
              </a:spcAft>
            </a:pPr>
            <a:r>
              <a:rPr lang="en-US" sz="2400" dirty="0" smtClean="0"/>
              <a:t>Cost/s</a:t>
            </a:r>
          </a:p>
          <a:p>
            <a:pPr marL="360000" indent="-360000">
              <a:spcBef>
                <a:spcPts val="600"/>
              </a:spcBef>
              <a:spcAft>
                <a:spcPts val="1200"/>
              </a:spcAft>
            </a:pPr>
            <a:r>
              <a:rPr lang="en-US" sz="2400" dirty="0" smtClean="0"/>
              <a:t>Date and time sent</a:t>
            </a:r>
          </a:p>
          <a:p>
            <a:pPr marL="360000" indent="-360000">
              <a:spcBef>
                <a:spcPts val="600"/>
              </a:spcBef>
              <a:spcAft>
                <a:spcPts val="1200"/>
              </a:spcAft>
            </a:pPr>
            <a:r>
              <a:rPr lang="en-US" sz="2400" dirty="0" smtClean="0"/>
              <a:t>Item or delivery-specific data.</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5" name="Picture 4" descr="L&amp;F log copy.jpg"/>
          <p:cNvPicPr/>
          <p:nvPr/>
        </p:nvPicPr>
        <p:blipFill>
          <a:blip r:embed="rId3" cstate="print"/>
          <a:stretch>
            <a:fillRect/>
          </a:stretch>
        </p:blipFill>
        <p:spPr>
          <a:xfrm>
            <a:off x="6334904" y="1928802"/>
            <a:ext cx="1551008" cy="1357322"/>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When dealing with claims for lost items:</a:t>
            </a:r>
          </a:p>
          <a:p>
            <a:pPr marL="360000" indent="-360000">
              <a:spcBef>
                <a:spcPts val="600"/>
              </a:spcBef>
              <a:spcAft>
                <a:spcPts val="1200"/>
              </a:spcAft>
            </a:pPr>
            <a:r>
              <a:rPr lang="en-US" sz="2400" dirty="0" smtClean="0"/>
              <a:t>Provide courteous and professional service</a:t>
            </a:r>
          </a:p>
          <a:p>
            <a:pPr marL="360000" indent="-360000">
              <a:spcBef>
                <a:spcPts val="600"/>
              </a:spcBef>
              <a:spcAft>
                <a:spcPts val="1200"/>
              </a:spcAft>
            </a:pPr>
            <a:r>
              <a:rPr lang="en-US" sz="2400" dirty="0" smtClean="0"/>
              <a:t>Ensure correct item is identified by the claimant</a:t>
            </a:r>
          </a:p>
          <a:p>
            <a:pPr marL="360000" indent="-360000">
              <a:spcBef>
                <a:spcPts val="600"/>
              </a:spcBef>
              <a:spcAft>
                <a:spcPts val="1200"/>
              </a:spcAft>
            </a:pPr>
            <a:r>
              <a:rPr lang="en-US" sz="2400" dirty="0" smtClean="0"/>
              <a:t>Check Lost and Found Register to identify if item is recorded</a:t>
            </a:r>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5" name="Picture 4" descr="C:\Documents and Settings\danielc\Local Settings\Temporary Internet Files\Content.IE5\2IERTBRT\MC900433838[1].png"/>
          <p:cNvPicPr/>
          <p:nvPr/>
        </p:nvPicPr>
        <p:blipFill>
          <a:blip r:embed="rId3" cstate="print"/>
          <a:srcRect/>
          <a:stretch>
            <a:fillRect/>
          </a:stretch>
        </p:blipFill>
        <p:spPr bwMode="auto">
          <a:xfrm>
            <a:off x="6429388" y="857232"/>
            <a:ext cx="1285884" cy="1285884"/>
          </a:xfrm>
          <a:prstGeom prst="rect">
            <a:avLst/>
          </a:prstGeom>
          <a:noFill/>
          <a:ln w="9525">
            <a:noFill/>
            <a:miter lim="800000"/>
            <a:headEnd/>
            <a:tailEnd/>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US" sz="2400" dirty="0" smtClean="0"/>
              <a:t>Retrieve identified item from storage and confirm it is the correct item</a:t>
            </a:r>
            <a:endParaRPr lang="en-AU" sz="2400" dirty="0" smtClean="0"/>
          </a:p>
          <a:p>
            <a:pPr>
              <a:spcBef>
                <a:spcPts val="600"/>
              </a:spcBef>
              <a:spcAft>
                <a:spcPts val="1200"/>
              </a:spcAft>
            </a:pPr>
            <a:r>
              <a:rPr lang="en-US" sz="2400" dirty="0" smtClean="0"/>
              <a:t>Obtain proof of ownership from claimant</a:t>
            </a:r>
            <a:endParaRPr lang="en-AU" sz="2400" dirty="0" smtClean="0"/>
          </a:p>
          <a:p>
            <a:pPr>
              <a:spcBef>
                <a:spcPts val="600"/>
              </a:spcBef>
              <a:spcAft>
                <a:spcPts val="1200"/>
              </a:spcAft>
            </a:pPr>
            <a:r>
              <a:rPr lang="en-US" sz="2400" dirty="0" smtClean="0"/>
              <a:t>Obtain proof of identity of claimant</a:t>
            </a:r>
            <a:endParaRPr lang="en-AU" sz="2400" dirty="0" smtClean="0"/>
          </a:p>
          <a:p>
            <a:pPr>
              <a:spcBef>
                <a:spcPts val="600"/>
              </a:spcBef>
              <a:spcAft>
                <a:spcPts val="1200"/>
              </a:spcAft>
            </a:pPr>
            <a:r>
              <a:rPr lang="en-US" sz="2400" dirty="0" smtClean="0"/>
              <a:t>Record claimant details and update Lost and Found Register</a:t>
            </a:r>
            <a:endParaRPr lang="en-AU" sz="2400" dirty="0" smtClean="0"/>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5" name="Picture 4" descr="C:\Documents and Settings\danielc\Local Settings\Temporary Internet Files\Content.IE5\2IERTBRT\MC900433838[1].png"/>
          <p:cNvPicPr/>
          <p:nvPr/>
        </p:nvPicPr>
        <p:blipFill>
          <a:blip r:embed="rId3" cstate="print"/>
          <a:srcRect/>
          <a:stretch>
            <a:fillRect/>
          </a:stretch>
        </p:blipFill>
        <p:spPr bwMode="auto">
          <a:xfrm>
            <a:off x="7143768" y="2285992"/>
            <a:ext cx="1285884" cy="1285884"/>
          </a:xfrm>
          <a:prstGeom prst="rect">
            <a:avLst/>
          </a:prstGeom>
          <a:noFill/>
          <a:ln w="9525">
            <a:noFill/>
            <a:miter lim="800000"/>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US" sz="2400" dirty="0" smtClean="0"/>
              <a:t>Involve management and/or refuse to release items where there is doubt about the claim</a:t>
            </a:r>
            <a:endParaRPr lang="en-AU" sz="2400" dirty="0" smtClean="0"/>
          </a:p>
          <a:p>
            <a:pPr>
              <a:spcBef>
                <a:spcPts val="600"/>
              </a:spcBef>
              <a:spcAft>
                <a:spcPts val="1200"/>
              </a:spcAft>
            </a:pPr>
            <a:r>
              <a:rPr lang="en-US" sz="2400" dirty="0" smtClean="0"/>
              <a:t>Assist out of country or remote people recover lost items by adapting face to face protocols. Always recover cost of remitting these items</a:t>
            </a:r>
            <a:endParaRPr lang="en-AU" sz="2400" dirty="0" smtClean="0"/>
          </a:p>
          <a:p>
            <a:pPr>
              <a:spcBef>
                <a:spcPts val="600"/>
              </a:spcBef>
              <a:spcAft>
                <a:spcPts val="1200"/>
              </a:spcAft>
            </a:pPr>
            <a:r>
              <a:rPr lang="en-US" sz="2400" dirty="0" smtClean="0"/>
              <a:t>Follow up out of country or remote area claims by processing the return of legitimate claims and advising the claimant of action taken.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5" name="Picture 4" descr="C:\Documents and Settings\danielc\Local Settings\Temporary Internet Files\Content.IE5\2IERTBRT\MC900433838[1].png"/>
          <p:cNvPicPr/>
          <p:nvPr/>
        </p:nvPicPr>
        <p:blipFill>
          <a:blip r:embed="rId3" cstate="print"/>
          <a:srcRect/>
          <a:stretch>
            <a:fillRect/>
          </a:stretch>
        </p:blipFill>
        <p:spPr bwMode="auto">
          <a:xfrm>
            <a:off x="7500958" y="1071546"/>
            <a:ext cx="1285884" cy="1285884"/>
          </a:xfrm>
          <a:prstGeom prst="rect">
            <a:avLst/>
          </a:prstGeom>
          <a:noFill/>
          <a:ln w="9525">
            <a:noFill/>
            <a:miter lim="800000"/>
            <a:headEnd/>
            <a:tailEnd/>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Deal with unclaimed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Performance Criteria for this Element are:</a:t>
            </a:r>
          </a:p>
          <a:p>
            <a:pPr marL="360000" indent="-360000">
              <a:spcBef>
                <a:spcPts val="600"/>
              </a:spcBef>
              <a:spcAft>
                <a:spcPts val="1200"/>
              </a:spcAft>
            </a:pPr>
            <a:r>
              <a:rPr lang="en-US" sz="2400" dirty="0" smtClean="0"/>
              <a:t>Comply with establishment policies</a:t>
            </a:r>
          </a:p>
          <a:p>
            <a:pPr marL="360000" indent="-360000">
              <a:spcBef>
                <a:spcPts val="600"/>
              </a:spcBef>
              <a:spcAft>
                <a:spcPts val="1200"/>
              </a:spcAft>
            </a:pPr>
            <a:r>
              <a:rPr lang="en-US" sz="2400" dirty="0" smtClean="0"/>
              <a:t>Comply with legal obligations</a:t>
            </a:r>
          </a:p>
          <a:p>
            <a:pPr marL="360000" indent="-360000">
              <a:spcBef>
                <a:spcPts val="600"/>
              </a:spcBef>
              <a:spcAft>
                <a:spcPts val="1200"/>
              </a:spcAft>
            </a:pPr>
            <a:r>
              <a:rPr lang="en-US" sz="2400" dirty="0" smtClean="0"/>
              <a:t>Remove items from storage and complete Lost and Found Register to record movement and disposal of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5" name="Picture 2" descr="C:\Documents and Settings\danielc\Local Settings\Temporary Internet Files\Content.IE5\29XKYQ1Q\MP900444315[1].jpg"/>
          <p:cNvPicPr>
            <a:picLocks noChangeAspect="1" noChangeArrowheads="1"/>
          </p:cNvPicPr>
          <p:nvPr/>
        </p:nvPicPr>
        <p:blipFill>
          <a:blip r:embed="rId3" cstate="print"/>
          <a:srcRect/>
          <a:stretch>
            <a:fillRect/>
          </a:stretch>
        </p:blipFill>
        <p:spPr bwMode="auto">
          <a:xfrm>
            <a:off x="3544552" y="4572008"/>
            <a:ext cx="2054896" cy="1361882"/>
          </a:xfrm>
          <a:prstGeom prst="rect">
            <a:avLst/>
          </a:prstGeom>
          <a:noFill/>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Comply with establishment policies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Holding times:</a:t>
            </a:r>
          </a:p>
          <a:p>
            <a:pPr marL="360000" indent="-360000">
              <a:spcBef>
                <a:spcPts val="600"/>
              </a:spcBef>
              <a:spcAft>
                <a:spcPts val="1200"/>
              </a:spcAft>
            </a:pPr>
            <a:r>
              <a:rPr lang="en-US" sz="2400" dirty="0" smtClean="0"/>
              <a:t>Valuable items = 6 – 12 months</a:t>
            </a:r>
          </a:p>
          <a:p>
            <a:pPr marL="360000" indent="-360000">
              <a:spcBef>
                <a:spcPts val="600"/>
              </a:spcBef>
              <a:spcAft>
                <a:spcPts val="1200"/>
              </a:spcAft>
            </a:pPr>
            <a:r>
              <a:rPr lang="en-US" sz="2400" dirty="0" smtClean="0"/>
              <a:t>Non-valuable items = 3 – 6 months</a:t>
            </a:r>
          </a:p>
          <a:p>
            <a:pPr marL="360000" indent="-360000">
              <a:spcBef>
                <a:spcPts val="600"/>
              </a:spcBef>
              <a:spcAft>
                <a:spcPts val="1200"/>
              </a:spcAft>
            </a:pPr>
            <a:r>
              <a:rPr lang="en-US" sz="2400" dirty="0" smtClean="0"/>
              <a:t>Perishable food = 24 – 48 hours.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5" name="Picture 4" descr="C:\Documents and Settings\danielc\Local Settings\Temporary Internet Files\Content.IE5\M0QL8DHR\MC900039006[1].wmf"/>
          <p:cNvPicPr/>
          <p:nvPr/>
        </p:nvPicPr>
        <p:blipFill>
          <a:blip r:embed="rId3" cstate="print"/>
          <a:srcRect/>
          <a:stretch>
            <a:fillRect/>
          </a:stretch>
        </p:blipFill>
        <p:spPr bwMode="auto">
          <a:xfrm>
            <a:off x="6429388" y="1857364"/>
            <a:ext cx="1705392" cy="1571636"/>
          </a:xfrm>
          <a:prstGeom prst="rect">
            <a:avLst/>
          </a:prstGeom>
          <a:noFill/>
          <a:ln w="9525">
            <a:noFill/>
            <a:miter lim="800000"/>
            <a:headEnd/>
            <a:tailEnd/>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Comply with establishment policies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Disposal for valuable items may include:</a:t>
            </a:r>
          </a:p>
          <a:p>
            <a:pPr marL="360000" indent="-360000">
              <a:spcBef>
                <a:spcPts val="600"/>
              </a:spcBef>
              <a:spcAft>
                <a:spcPts val="1200"/>
              </a:spcAft>
            </a:pPr>
            <a:r>
              <a:rPr lang="en-US" sz="2400" dirty="0" smtClean="0"/>
              <a:t>Hand to Police</a:t>
            </a:r>
          </a:p>
          <a:p>
            <a:pPr marL="360000" indent="-360000">
              <a:spcBef>
                <a:spcPts val="600"/>
              </a:spcBef>
              <a:spcAft>
                <a:spcPts val="1200"/>
              </a:spcAft>
            </a:pPr>
            <a:r>
              <a:rPr lang="en-US" sz="2400" dirty="0" smtClean="0"/>
              <a:t>Give to charity</a:t>
            </a:r>
          </a:p>
          <a:p>
            <a:pPr marL="360000" indent="-360000">
              <a:spcBef>
                <a:spcPts val="600"/>
              </a:spcBef>
              <a:spcAft>
                <a:spcPts val="1200"/>
              </a:spcAft>
            </a:pPr>
            <a:r>
              <a:rPr lang="en-US" sz="2400" dirty="0" smtClean="0"/>
              <a:t>Return to finder.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Comply with establishment policies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Disposal for non-valuable items may include:</a:t>
            </a:r>
          </a:p>
          <a:p>
            <a:pPr marL="360000" indent="-360000">
              <a:spcBef>
                <a:spcPts val="600"/>
              </a:spcBef>
              <a:spcAft>
                <a:spcPts val="1200"/>
              </a:spcAft>
            </a:pPr>
            <a:r>
              <a:rPr lang="en-US" sz="2400" dirty="0" smtClean="0"/>
              <a:t>Return to finder</a:t>
            </a:r>
          </a:p>
          <a:p>
            <a:pPr marL="360000" indent="-360000">
              <a:spcBef>
                <a:spcPts val="600"/>
              </a:spcBef>
              <a:spcAft>
                <a:spcPts val="1200"/>
              </a:spcAft>
            </a:pPr>
            <a:r>
              <a:rPr lang="en-US" sz="2400" dirty="0" smtClean="0"/>
              <a:t>Throw out into trash.</a:t>
            </a:r>
          </a:p>
          <a:p>
            <a:pPr marL="0" indent="0">
              <a:spcBef>
                <a:spcPts val="600"/>
              </a:spcBef>
              <a:spcAft>
                <a:spcPts val="1200"/>
              </a:spcAft>
              <a:buNone/>
            </a:pPr>
            <a:r>
              <a:rPr lang="en-US" sz="2400" dirty="0" smtClean="0"/>
              <a:t>It is common for ALL non-valuable items to be thrown out.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Comply with establishment policies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Disposal for perishable items may include:</a:t>
            </a:r>
          </a:p>
          <a:p>
            <a:pPr marL="360000" indent="-360000">
              <a:spcBef>
                <a:spcPts val="600"/>
              </a:spcBef>
              <a:spcAft>
                <a:spcPts val="1200"/>
              </a:spcAft>
            </a:pPr>
            <a:r>
              <a:rPr lang="en-US" sz="2400" dirty="0" smtClean="0"/>
              <a:t>Throw ‘open’ items into trash</a:t>
            </a:r>
          </a:p>
          <a:p>
            <a:pPr marL="360000" indent="-360000">
              <a:spcBef>
                <a:spcPts val="600"/>
              </a:spcBef>
              <a:spcAft>
                <a:spcPts val="1200"/>
              </a:spcAft>
            </a:pPr>
            <a:r>
              <a:rPr lang="en-US" sz="2400" dirty="0" smtClean="0"/>
              <a:t>Give unopened items to finder</a:t>
            </a:r>
          </a:p>
          <a:p>
            <a:pPr marL="360000" indent="-360000">
              <a:spcBef>
                <a:spcPts val="600"/>
              </a:spcBef>
              <a:spcAft>
                <a:spcPts val="1200"/>
              </a:spcAft>
            </a:pPr>
            <a:r>
              <a:rPr lang="en-US" sz="2400" dirty="0" smtClean="0"/>
              <a:t>Throw EVERYTHING into trash – no exceptions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5" name="Picture 2" descr="C:\Documents and Settings\danielc\Desktop\litter_disposal_inv.png"/>
          <p:cNvPicPr>
            <a:picLocks noChangeAspect="1" noChangeArrowheads="1"/>
          </p:cNvPicPr>
          <p:nvPr/>
        </p:nvPicPr>
        <p:blipFill>
          <a:blip r:embed="rId3" cstate="print"/>
          <a:srcRect/>
          <a:stretch>
            <a:fillRect/>
          </a:stretch>
        </p:blipFill>
        <p:spPr bwMode="auto">
          <a:xfrm>
            <a:off x="3777858" y="4357694"/>
            <a:ext cx="1588285" cy="1592256"/>
          </a:xfrm>
          <a:prstGeom prst="rect">
            <a:avLst/>
          </a:prstGeom>
          <a:noFill/>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Comply with legal obligations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400" smtClean="0"/>
              <a:t>Bailment:</a:t>
            </a:r>
          </a:p>
          <a:p>
            <a:pPr marL="360000" indent="-360000">
              <a:spcBef>
                <a:spcPts val="600"/>
              </a:spcBef>
              <a:spcAft>
                <a:spcPts val="1200"/>
              </a:spcAft>
            </a:pPr>
            <a:r>
              <a:rPr lang="en-AU" sz="2400" smtClean="0"/>
              <a:t>Ownership of goods is transferred to another</a:t>
            </a:r>
          </a:p>
          <a:p>
            <a:pPr marL="360000" indent="-360000">
              <a:spcBef>
                <a:spcPts val="600"/>
              </a:spcBef>
              <a:spcAft>
                <a:spcPts val="1200"/>
              </a:spcAft>
            </a:pPr>
            <a:r>
              <a:rPr lang="en-AU" sz="2400" smtClean="0"/>
              <a:t>Venues must take care of the items</a:t>
            </a:r>
          </a:p>
          <a:p>
            <a:pPr marL="360000" indent="-360000">
              <a:spcBef>
                <a:spcPts val="600"/>
              </a:spcBef>
              <a:spcAft>
                <a:spcPts val="1200"/>
              </a:spcAft>
            </a:pPr>
            <a:r>
              <a:rPr lang="en-AU" sz="2400" smtClean="0"/>
              <a:t>Venues must return the item on demand.</a:t>
            </a: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5" name="Picture 4" descr="L&amp;F facility.JPG"/>
          <p:cNvPicPr/>
          <p:nvPr/>
        </p:nvPicPr>
        <p:blipFill>
          <a:blip r:embed="rId3" cstate="print">
            <a:lum bright="20000"/>
          </a:blip>
          <a:srcRect l="13124" t="7843" r="7359" b="13469"/>
          <a:stretch>
            <a:fillRect/>
          </a:stretch>
        </p:blipFill>
        <p:spPr>
          <a:xfrm>
            <a:off x="7072330" y="2714620"/>
            <a:ext cx="1280940" cy="958468"/>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Comply with legal obligations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‘Theft by finding’:</a:t>
            </a:r>
          </a:p>
          <a:p>
            <a:pPr marL="360000" indent="-360000">
              <a:spcBef>
                <a:spcPts val="600"/>
              </a:spcBef>
              <a:spcAft>
                <a:spcPts val="1200"/>
              </a:spcAft>
            </a:pPr>
            <a:r>
              <a:rPr lang="en-US" sz="2400" dirty="0" smtClean="0"/>
              <a:t>Intentionally taking someone else’s property and treating it as your own with the intention of depriving the owner of their rights</a:t>
            </a:r>
          </a:p>
          <a:p>
            <a:pPr marL="360000" indent="-360000">
              <a:spcBef>
                <a:spcPts val="600"/>
              </a:spcBef>
              <a:spcAft>
                <a:spcPts val="1200"/>
              </a:spcAft>
            </a:pPr>
            <a:r>
              <a:rPr lang="en-US" sz="2400" dirty="0" smtClean="0"/>
              <a:t>‘Abandoned’ items can be taken and used as your own</a:t>
            </a:r>
          </a:p>
          <a:p>
            <a:pPr marL="360000" indent="-360000">
              <a:spcBef>
                <a:spcPts val="600"/>
              </a:spcBef>
              <a:spcAft>
                <a:spcPts val="1200"/>
              </a:spcAft>
            </a:pPr>
            <a:r>
              <a:rPr lang="en-US" sz="2400" dirty="0" smtClean="0"/>
              <a:t>‘Mislaid’ or ‘misplaced’ items cannot be taken or used.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Comply with legal obligations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If you take lost property for your own use, you may be:</a:t>
            </a:r>
          </a:p>
          <a:p>
            <a:pPr marL="360000" indent="-360000">
              <a:spcBef>
                <a:spcPts val="600"/>
              </a:spcBef>
              <a:spcAft>
                <a:spcPts val="1200"/>
              </a:spcAft>
            </a:pPr>
            <a:r>
              <a:rPr lang="en-US" sz="2400" dirty="0" smtClean="0"/>
              <a:t>Charged by the Police</a:t>
            </a:r>
          </a:p>
          <a:p>
            <a:pPr marL="360000" indent="-360000">
              <a:spcBef>
                <a:spcPts val="600"/>
              </a:spcBef>
              <a:spcAft>
                <a:spcPts val="1200"/>
              </a:spcAft>
            </a:pPr>
            <a:r>
              <a:rPr lang="en-US" sz="2400" dirty="0" smtClean="0"/>
              <a:t>Sued by the owner</a:t>
            </a:r>
          </a:p>
          <a:p>
            <a:pPr marL="360000" indent="-360000">
              <a:spcBef>
                <a:spcPts val="600"/>
              </a:spcBef>
              <a:spcAft>
                <a:spcPts val="1200"/>
              </a:spcAft>
            </a:pPr>
            <a:r>
              <a:rPr lang="en-US" sz="2400" dirty="0" smtClean="0"/>
              <a:t>Dismissed from your job.</a:t>
            </a:r>
          </a:p>
          <a:p>
            <a:pPr marL="360000" indent="-360000" algn="ctr">
              <a:spcBef>
                <a:spcPts val="600"/>
              </a:spcBef>
              <a:spcAft>
                <a:spcPts val="1200"/>
              </a:spcAft>
              <a:buNone/>
            </a:pPr>
            <a:r>
              <a:rPr lang="en-US" sz="2400" b="1" dirty="0" smtClean="0">
                <a:latin typeface="Helvetica" pitchFamily="34" charset="0"/>
              </a:rPr>
              <a:t>Hand in anything you find!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5" name="Picture 4" descr="arrested.jpg"/>
          <p:cNvPicPr>
            <a:picLocks noChangeAspect="1"/>
          </p:cNvPicPr>
          <p:nvPr/>
        </p:nvPicPr>
        <p:blipFill>
          <a:blip r:embed="rId3" cstate="print"/>
          <a:stretch>
            <a:fillRect/>
          </a:stretch>
        </p:blipFill>
        <p:spPr>
          <a:xfrm>
            <a:off x="6357950" y="2214554"/>
            <a:ext cx="1740212" cy="2000244"/>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Remove items from storage and dispose of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Update L &amp; F Register:</a:t>
            </a:r>
          </a:p>
          <a:p>
            <a:pPr marL="360000" indent="-360000">
              <a:spcBef>
                <a:spcPts val="600"/>
              </a:spcBef>
              <a:spcAft>
                <a:spcPts val="1200"/>
              </a:spcAft>
            </a:pPr>
            <a:r>
              <a:rPr lang="en-US" sz="2400" dirty="0" smtClean="0"/>
              <a:t>To record any action taken with L &amp; F items</a:t>
            </a:r>
          </a:p>
          <a:p>
            <a:pPr marL="360000" indent="-360000">
              <a:spcBef>
                <a:spcPts val="600"/>
              </a:spcBef>
              <a:spcAft>
                <a:spcPts val="1200"/>
              </a:spcAft>
            </a:pPr>
            <a:r>
              <a:rPr lang="en-US" sz="2400" dirty="0" smtClean="0"/>
              <a:t>Check the L &amp; F Register at least every month</a:t>
            </a:r>
          </a:p>
          <a:p>
            <a:pPr marL="360000" indent="-360000">
              <a:spcBef>
                <a:spcPts val="600"/>
              </a:spcBef>
              <a:spcAft>
                <a:spcPts val="1200"/>
              </a:spcAft>
            </a:pPr>
            <a:r>
              <a:rPr lang="en-US" sz="2400" dirty="0" smtClean="0"/>
              <a:t>Check L &amp; F items regularly</a:t>
            </a:r>
          </a:p>
          <a:p>
            <a:pPr marL="360000" indent="-360000">
              <a:spcBef>
                <a:spcPts val="600"/>
              </a:spcBef>
              <a:spcAft>
                <a:spcPts val="1200"/>
              </a:spcAft>
            </a:pPr>
            <a:r>
              <a:rPr lang="en-US" sz="2400" dirty="0" smtClean="0"/>
              <a:t>Remove  L &amp; F items when they reach their disposal date.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41986" name="Picture 2" descr="C:\Documents and Settings\danielc\Desktop\notebook.jpg"/>
          <p:cNvPicPr>
            <a:picLocks noChangeAspect="1" noChangeArrowheads="1"/>
          </p:cNvPicPr>
          <p:nvPr/>
        </p:nvPicPr>
        <p:blipFill>
          <a:blip r:embed="rId3" cstate="print"/>
          <a:srcRect/>
          <a:stretch>
            <a:fillRect/>
          </a:stretch>
        </p:blipFill>
        <p:spPr bwMode="auto">
          <a:xfrm>
            <a:off x="3570284" y="4857760"/>
            <a:ext cx="2003432" cy="1335621"/>
          </a:xfrm>
          <a:prstGeom prst="rect">
            <a:avLst/>
          </a:prstGeom>
          <a:noFill/>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Remove items from storage and dispose of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Activities in removing and disposing of L &amp; F items:</a:t>
            </a:r>
          </a:p>
          <a:p>
            <a:pPr marL="360000" indent="-360000">
              <a:spcBef>
                <a:spcPts val="600"/>
              </a:spcBef>
              <a:spcAft>
                <a:spcPts val="1200"/>
              </a:spcAft>
            </a:pPr>
            <a:r>
              <a:rPr lang="en-US" sz="2400" dirty="0" smtClean="0"/>
              <a:t>Take L &amp; F Register to holding area/location</a:t>
            </a:r>
          </a:p>
          <a:p>
            <a:pPr marL="360000" indent="-360000">
              <a:spcBef>
                <a:spcPts val="600"/>
              </a:spcBef>
              <a:spcAft>
                <a:spcPts val="1200"/>
              </a:spcAft>
            </a:pPr>
            <a:r>
              <a:rPr lang="en-US" sz="2400" dirty="0" smtClean="0"/>
              <a:t>Identify items that have reached or exceeded designated holding time</a:t>
            </a:r>
          </a:p>
          <a:p>
            <a:pPr marL="360000" indent="-360000">
              <a:spcBef>
                <a:spcPts val="600"/>
              </a:spcBef>
              <a:spcAft>
                <a:spcPts val="1200"/>
              </a:spcAft>
            </a:pPr>
            <a:r>
              <a:rPr lang="en-US" sz="2400" dirty="0" smtClean="0"/>
              <a:t>ID the L &amp; F tag number</a:t>
            </a:r>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5" name="Picture 2" descr="C:\Documents and Settings\danielc\Desktop\to_do.jpg"/>
          <p:cNvPicPr>
            <a:picLocks noChangeAspect="1" noChangeArrowheads="1"/>
          </p:cNvPicPr>
          <p:nvPr/>
        </p:nvPicPr>
        <p:blipFill>
          <a:blip r:embed="rId3" cstate="print"/>
          <a:srcRect/>
          <a:stretch>
            <a:fillRect/>
          </a:stretch>
        </p:blipFill>
        <p:spPr bwMode="auto">
          <a:xfrm>
            <a:off x="5429256" y="3571876"/>
            <a:ext cx="2492606" cy="1670046"/>
          </a:xfrm>
          <a:prstGeom prst="rect">
            <a:avLst/>
          </a:prstGeom>
          <a:noFill/>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Remove items from storage and dispose of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400" dirty="0" smtClean="0"/>
              <a:t>Locate item in the L &amp; F area – remove it</a:t>
            </a:r>
          </a:p>
          <a:p>
            <a:pPr marL="360000" indent="-360000">
              <a:spcBef>
                <a:spcPts val="600"/>
              </a:spcBef>
              <a:spcAft>
                <a:spcPts val="1200"/>
              </a:spcAft>
            </a:pPr>
            <a:r>
              <a:rPr lang="en-US" sz="2400" dirty="0" smtClean="0"/>
              <a:t>Place item into trash or cart (for forwarding of item to charity or Police)</a:t>
            </a:r>
          </a:p>
          <a:p>
            <a:pPr marL="360000" indent="-360000">
              <a:spcBef>
                <a:spcPts val="600"/>
              </a:spcBef>
              <a:spcAft>
                <a:spcPts val="1200"/>
              </a:spcAft>
            </a:pPr>
            <a:r>
              <a:rPr lang="en-US" sz="2400" dirty="0" smtClean="0"/>
              <a:t>Tidy area or shelf</a:t>
            </a:r>
          </a:p>
          <a:p>
            <a:pPr marL="360000" indent="-360000">
              <a:spcBef>
                <a:spcPts val="600"/>
              </a:spcBef>
              <a:spcAft>
                <a:spcPts val="1200"/>
              </a:spcAft>
            </a:pPr>
            <a:r>
              <a:rPr lang="en-US" sz="2400" dirty="0" smtClean="0"/>
              <a:t>Update L &amp; F Register</a:t>
            </a:r>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43010" name="Picture 2" descr="C:\Documents and Settings\danielc\Desktop\to_do.jpg"/>
          <p:cNvPicPr>
            <a:picLocks noChangeAspect="1" noChangeArrowheads="1"/>
          </p:cNvPicPr>
          <p:nvPr/>
        </p:nvPicPr>
        <p:blipFill>
          <a:blip r:embed="rId3" cstate="print"/>
          <a:srcRect/>
          <a:stretch>
            <a:fillRect/>
          </a:stretch>
        </p:blipFill>
        <p:spPr bwMode="auto">
          <a:xfrm>
            <a:off x="5357818" y="3000372"/>
            <a:ext cx="2492606" cy="1670046"/>
          </a:xfrm>
          <a:prstGeom prst="rect">
            <a:avLst/>
          </a:prstGeom>
          <a:noFill/>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Remove items from storage and dispose of them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400" dirty="0" smtClean="0"/>
              <a:t>Dispose of item in accordance with house policy</a:t>
            </a:r>
          </a:p>
          <a:p>
            <a:pPr marL="360000" indent="-360000">
              <a:spcBef>
                <a:spcPts val="600"/>
              </a:spcBef>
              <a:spcAft>
                <a:spcPts val="1200"/>
              </a:spcAft>
            </a:pPr>
            <a:r>
              <a:rPr lang="en-US" sz="2400" dirty="0" smtClean="0"/>
              <a:t>Obtain receipts where appropriate</a:t>
            </a:r>
          </a:p>
          <a:p>
            <a:pPr marL="360000" indent="-360000">
              <a:spcBef>
                <a:spcPts val="600"/>
              </a:spcBef>
              <a:spcAft>
                <a:spcPts val="1200"/>
              </a:spcAft>
            </a:pPr>
            <a:r>
              <a:rPr lang="en-US" sz="2400" dirty="0" smtClean="0"/>
              <a:t>Insert or file receipts</a:t>
            </a:r>
          </a:p>
          <a:p>
            <a:pPr marL="360000" indent="-360000">
              <a:spcBef>
                <a:spcPts val="600"/>
              </a:spcBef>
              <a:spcAft>
                <a:spcPts val="1200"/>
              </a:spcAft>
            </a:pPr>
            <a:r>
              <a:rPr lang="en-US" sz="2400" dirty="0" smtClean="0"/>
              <a:t>Return L &amp; F Register to original location.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44034" name="Picture 2" descr="C:\Documents and Settings\danielc\Desktop\litter_container.jpg"/>
          <p:cNvPicPr>
            <a:picLocks noChangeAspect="1" noChangeArrowheads="1"/>
          </p:cNvPicPr>
          <p:nvPr/>
        </p:nvPicPr>
        <p:blipFill>
          <a:blip r:embed="rId3" cstate="print"/>
          <a:srcRect/>
          <a:stretch>
            <a:fillRect/>
          </a:stretch>
        </p:blipFill>
        <p:spPr bwMode="auto">
          <a:xfrm>
            <a:off x="2857488" y="4214818"/>
            <a:ext cx="2857500" cy="1619250"/>
          </a:xfrm>
          <a:prstGeom prst="rect">
            <a:avLst/>
          </a:prstGeom>
          <a:noFill/>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t>When dealing with unclaimed items:</a:t>
            </a:r>
          </a:p>
          <a:p>
            <a:pPr>
              <a:spcBef>
                <a:spcPts val="600"/>
              </a:spcBef>
              <a:spcAft>
                <a:spcPts val="1200"/>
              </a:spcAft>
            </a:pPr>
            <a:r>
              <a:rPr lang="en-US" sz="2400" dirty="0" smtClean="0"/>
              <a:t>Ensure establishment polices are complied with relating to the disposal of valuable, non-valuable and perishable items</a:t>
            </a:r>
            <a:endParaRPr lang="en-AU" sz="2400" dirty="0" smtClean="0"/>
          </a:p>
          <a:p>
            <a:pPr>
              <a:spcBef>
                <a:spcPts val="600"/>
              </a:spcBef>
              <a:spcAft>
                <a:spcPts val="1200"/>
              </a:spcAft>
            </a:pPr>
            <a:r>
              <a:rPr lang="en-US" sz="2400" dirty="0" smtClean="0"/>
              <a:t>Valuable items are commonly handed into Police or donated to charity</a:t>
            </a:r>
            <a:endParaRPr lang="en-AU" sz="2400" dirty="0" smtClean="0"/>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5" name="Picture 4" descr="C:\Documents and Settings\danielc\Local Settings\Temporary Internet Files\Content.IE5\2IERTBRT\MC900433838[1].png"/>
          <p:cNvPicPr/>
          <p:nvPr/>
        </p:nvPicPr>
        <p:blipFill>
          <a:blip r:embed="rId3" cstate="print"/>
          <a:srcRect/>
          <a:stretch>
            <a:fillRect/>
          </a:stretch>
        </p:blipFill>
        <p:spPr bwMode="auto">
          <a:xfrm>
            <a:off x="6786578" y="785794"/>
            <a:ext cx="1285884" cy="1285884"/>
          </a:xfrm>
          <a:prstGeom prst="rect">
            <a:avLst/>
          </a:prstGeom>
          <a:noFill/>
          <a:ln w="9525">
            <a:noFill/>
            <a:miter lim="800000"/>
            <a:headEnd/>
            <a:tailEnd/>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US" sz="2400" dirty="0" smtClean="0"/>
              <a:t>Ensure Duty of Care obligations are discharged</a:t>
            </a:r>
            <a:endParaRPr lang="en-AU" sz="2400" dirty="0" smtClean="0"/>
          </a:p>
          <a:p>
            <a:pPr>
              <a:spcBef>
                <a:spcPts val="600"/>
              </a:spcBef>
              <a:spcAft>
                <a:spcPts val="1200"/>
              </a:spcAft>
            </a:pPr>
            <a:r>
              <a:rPr lang="en-US" sz="2400" dirty="0" smtClean="0"/>
              <a:t>Make sure all found items are returned to owners in fulfillment of bailment requirements</a:t>
            </a:r>
            <a:endParaRPr lang="en-AU" sz="2400" dirty="0" smtClean="0"/>
          </a:p>
          <a:p>
            <a:pPr>
              <a:spcBef>
                <a:spcPts val="600"/>
              </a:spcBef>
              <a:spcAft>
                <a:spcPts val="1200"/>
              </a:spcAft>
            </a:pPr>
            <a:r>
              <a:rPr lang="en-US" sz="2400" dirty="0" smtClean="0"/>
              <a:t>Be aware of the law regarding ‘theft by finding’ and take care not to breach these requirements</a:t>
            </a:r>
            <a:endParaRPr lang="en-AU" sz="2400" dirty="0" smtClean="0"/>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5" name="Picture 4" descr="C:\Documents and Settings\danielc\Local Settings\Temporary Internet Files\Content.IE5\2IERTBRT\MC900433838[1].png"/>
          <p:cNvPicPr/>
          <p:nvPr/>
        </p:nvPicPr>
        <p:blipFill>
          <a:blip r:embed="rId3" cstate="print"/>
          <a:srcRect/>
          <a:stretch>
            <a:fillRect/>
          </a:stretch>
        </p:blipFill>
        <p:spPr bwMode="auto">
          <a:xfrm>
            <a:off x="6715140" y="4071942"/>
            <a:ext cx="1285884" cy="1285884"/>
          </a:xfrm>
          <a:prstGeom prst="rect">
            <a:avLst/>
          </a:prstGeom>
          <a:noFill/>
          <a:ln w="9525">
            <a:noFill/>
            <a:miter lim="800000"/>
            <a:headEnd/>
            <a:tailEnd/>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US" sz="2400" dirty="0" smtClean="0"/>
              <a:t>Check the holding times/dates for found items every week or month according to house policy</a:t>
            </a:r>
            <a:endParaRPr lang="en-AU" sz="2400" dirty="0" smtClean="0"/>
          </a:p>
          <a:p>
            <a:pPr>
              <a:spcBef>
                <a:spcPts val="600"/>
              </a:spcBef>
              <a:spcAft>
                <a:spcPts val="1200"/>
              </a:spcAft>
            </a:pPr>
            <a:r>
              <a:rPr lang="en-US" sz="2400" dirty="0" smtClean="0"/>
              <a:t>Remove all items in accordance with establishment policy when designated holding times have been reached or exceeded</a:t>
            </a:r>
            <a:endParaRPr lang="en-AU" sz="2400" dirty="0" smtClean="0"/>
          </a:p>
          <a:p>
            <a:pPr>
              <a:spcBef>
                <a:spcPts val="600"/>
              </a:spcBef>
              <a:spcAft>
                <a:spcPts val="1200"/>
              </a:spcAft>
            </a:pPr>
            <a:r>
              <a:rPr lang="en-US" sz="2400" dirty="0" smtClean="0"/>
              <a:t>Update the Lost and Found Register to reflect clearance or disposal of items from the Lost and Found facility</a:t>
            </a:r>
            <a:endParaRPr lang="en-AU" sz="2400" dirty="0" smtClean="0"/>
          </a:p>
          <a:p>
            <a:pPr marL="360000" indent="-360000">
              <a:spcBef>
                <a:spcPts val="600"/>
              </a:spcBef>
              <a:spcAft>
                <a:spcPts val="1200"/>
              </a:spcAft>
              <a:buNone/>
            </a:pPr>
            <a:r>
              <a:rPr lang="en-US" sz="2400" dirty="0" smtClean="0"/>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5" name="Picture 4" descr="C:\Documents and Settings\danielc\Local Settings\Temporary Internet Files\Content.IE5\2IERTBRT\MC900433838[1].png"/>
          <p:cNvPicPr/>
          <p:nvPr/>
        </p:nvPicPr>
        <p:blipFill>
          <a:blip r:embed="rId3" cstate="print"/>
          <a:srcRect/>
          <a:stretch>
            <a:fillRect/>
          </a:stretch>
        </p:blipFill>
        <p:spPr bwMode="auto">
          <a:xfrm>
            <a:off x="7500958" y="2357430"/>
            <a:ext cx="1285884" cy="1285884"/>
          </a:xfrm>
          <a:prstGeom prst="rect">
            <a:avLst/>
          </a:prstGeom>
          <a:noFill/>
          <a:ln w="9525">
            <a:noFill/>
            <a:miter lim="800000"/>
            <a:headEnd/>
            <a:tailEnd/>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US" sz="2400" dirty="0" smtClean="0"/>
              <a:t>Obtain and file receipts for items given to </a:t>
            </a:r>
            <a:br>
              <a:rPr lang="en-US" sz="2400" dirty="0" smtClean="0"/>
            </a:br>
            <a:r>
              <a:rPr lang="en-US" sz="2400" dirty="0" smtClean="0"/>
              <a:t>the Police and charities</a:t>
            </a:r>
            <a:endParaRPr lang="en-AU" sz="2400" dirty="0" smtClean="0"/>
          </a:p>
          <a:p>
            <a:pPr>
              <a:spcBef>
                <a:spcPts val="600"/>
              </a:spcBef>
              <a:spcAft>
                <a:spcPts val="1200"/>
              </a:spcAft>
            </a:pPr>
            <a:r>
              <a:rPr lang="en-US" sz="2400" dirty="0" smtClean="0"/>
              <a:t>Ensure you can prove the action you took </a:t>
            </a:r>
            <a:br>
              <a:rPr lang="en-US" sz="2400" dirty="0" smtClean="0"/>
            </a:br>
            <a:r>
              <a:rPr lang="en-US" sz="2400" dirty="0" smtClean="0"/>
              <a:t>in regard to disposal of items from the Lost </a:t>
            </a:r>
            <a:br>
              <a:rPr lang="en-US" sz="2400" dirty="0" smtClean="0"/>
            </a:br>
            <a:r>
              <a:rPr lang="en-US" sz="2400" dirty="0" smtClean="0"/>
              <a:t>and Found facility.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5" name="Picture 4" descr="C:\Documents and Settings\danielc\Local Settings\Temporary Internet Files\Content.IE5\2IERTBRT\MC900433838[1].png"/>
          <p:cNvPicPr/>
          <p:nvPr/>
        </p:nvPicPr>
        <p:blipFill>
          <a:blip r:embed="rId3" cstate="print"/>
          <a:srcRect/>
          <a:stretch>
            <a:fillRect/>
          </a:stretch>
        </p:blipFill>
        <p:spPr bwMode="auto">
          <a:xfrm>
            <a:off x="7143768" y="1428736"/>
            <a:ext cx="1285884" cy="1285884"/>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Comply with Wp hyg procs ASEAN PPT">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Comply with Wp hyg procs ASEAN PPT</Template>
  <TotalTime>3065</TotalTime>
  <Words>20002</Words>
  <Application>Microsoft Office PowerPoint</Application>
  <PresentationFormat>On-screen Show (4:3)</PresentationFormat>
  <Paragraphs>1742</Paragraphs>
  <Slides>105</Slides>
  <Notes>105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105</vt:i4>
      </vt:variant>
    </vt:vector>
  </HeadingPairs>
  <TitlesOfParts>
    <vt:vector size="109" baseType="lpstr">
      <vt:lpstr>Arial</vt:lpstr>
      <vt:lpstr>Helvetica</vt:lpstr>
      <vt:lpstr>Wingdings 2</vt:lpstr>
      <vt:lpstr>Comply with Wp hyg procs ASEAN PPT</vt:lpstr>
      <vt:lpstr>PROVIDE A LOST AND FOUND FACILITY</vt:lpstr>
      <vt:lpstr>Provide a lost and found facility</vt:lpstr>
      <vt:lpstr>Assessment</vt:lpstr>
      <vt:lpstr>Establish lost and found facility</vt:lpstr>
      <vt:lpstr>Establish lost and found facility</vt:lpstr>
      <vt:lpstr>Name properties that may have a lost and found facility</vt:lpstr>
      <vt:lpstr>Name properties that may have a lost and found facility</vt:lpstr>
      <vt:lpstr>Name properties that may have a lost and found facility</vt:lpstr>
      <vt:lpstr>Name properties that may have a lost and found facility</vt:lpstr>
      <vt:lpstr>Name properties that may have a lost and found facility</vt:lpstr>
      <vt:lpstr>Name properties that may have a lost and found facility</vt:lpstr>
      <vt:lpstr>Identify appropriate location for lost and found facility</vt:lpstr>
      <vt:lpstr>Identify appropriate location for lost and found facility</vt:lpstr>
      <vt:lpstr>Identify appropriate location for lost and found facility</vt:lpstr>
      <vt:lpstr>Develop in-house lost and found policies and procedures</vt:lpstr>
      <vt:lpstr>Develop in-house lost and found policies and procedures</vt:lpstr>
      <vt:lpstr>Develop in-house lost and found policies and procedures</vt:lpstr>
      <vt:lpstr>Identify the legal requirements that apply to lost and found items</vt:lpstr>
      <vt:lpstr>Identify the legal requirements that apply to lost and found items</vt:lpstr>
      <vt:lpstr>Communicate the location and function of the lost and found facility</vt:lpstr>
      <vt:lpstr>Communicate the location and function of the lost and found facility</vt:lpstr>
      <vt:lpstr>Communicate the location and function of the lost and found facility</vt:lpstr>
      <vt:lpstr>Communicate the location and function of the lost and found facility</vt:lpstr>
      <vt:lpstr>Communicate the location and function of the lost and found facility</vt:lpstr>
      <vt:lpstr>Communicate the location and function of the lost and found facility</vt:lpstr>
      <vt:lpstr>Communicate the location and function of the lost and found facility</vt:lpstr>
      <vt:lpstr>Establish a lost and found register</vt:lpstr>
      <vt:lpstr>Establish a lost and found register</vt:lpstr>
      <vt:lpstr>Establish a lost and found register</vt:lpstr>
      <vt:lpstr>Establish a lost and found register</vt:lpstr>
      <vt:lpstr>Establish a lost and found register</vt:lpstr>
      <vt:lpstr>Summary – Element 1</vt:lpstr>
      <vt:lpstr>Summary – Element 1</vt:lpstr>
      <vt:lpstr>Summary – Element 1</vt:lpstr>
      <vt:lpstr>Summary – Element 1</vt:lpstr>
      <vt:lpstr>Deal with lost and found items</vt:lpstr>
      <vt:lpstr>Deal with lost and found items</vt:lpstr>
      <vt:lpstr>Check items for safety and legality and take appropriate action</vt:lpstr>
      <vt:lpstr>Check items for safety and legality and take appropriate action</vt:lpstr>
      <vt:lpstr>Check items for safety and legality and take appropriate action</vt:lpstr>
      <vt:lpstr>Check items for safety and legality and take appropriate action</vt:lpstr>
      <vt:lpstr>Record found items in lost and found register</vt:lpstr>
      <vt:lpstr>Record found items in lost and found register</vt:lpstr>
      <vt:lpstr>Record found items in lost and found register</vt:lpstr>
      <vt:lpstr>Record items reported lost in lost and found register</vt:lpstr>
      <vt:lpstr>Record items reported lost in lost and found register</vt:lpstr>
      <vt:lpstr>Tag the found item</vt:lpstr>
      <vt:lpstr>Store the found item appropriately </vt:lpstr>
      <vt:lpstr>Store the found item appropriately </vt:lpstr>
      <vt:lpstr>Store the found item appropriately </vt:lpstr>
      <vt:lpstr>Store the found item appropriately </vt:lpstr>
      <vt:lpstr>Notify owner, if known </vt:lpstr>
      <vt:lpstr>Notify owner, if known </vt:lpstr>
      <vt:lpstr>Notify owner, if known </vt:lpstr>
      <vt:lpstr>Notify owner, if known </vt:lpstr>
      <vt:lpstr>Notify internal establishment staff to facilitate return of found items</vt:lpstr>
      <vt:lpstr>Notify internal establishment staff to facilitate return of found items</vt:lpstr>
      <vt:lpstr>Notify internal establishment staff to facilitate return of found items</vt:lpstr>
      <vt:lpstr>Notify internal establishment staff to facilitate return of found items</vt:lpstr>
      <vt:lpstr>Summary – Element 2</vt:lpstr>
      <vt:lpstr>Summary – Element 2</vt:lpstr>
      <vt:lpstr>Summary – Element 2</vt:lpstr>
      <vt:lpstr>Summary – Element 2</vt:lpstr>
      <vt:lpstr>Deal with claims for lost items</vt:lpstr>
      <vt:lpstr>Assist claimant to identify lost property</vt:lpstr>
      <vt:lpstr>Assist claimant to identify lost property</vt:lpstr>
      <vt:lpstr>Assist claimant to identify lost property</vt:lpstr>
      <vt:lpstr>Assist claimant to identify lost property</vt:lpstr>
      <vt:lpstr>Assist claimant to identify lost property</vt:lpstr>
      <vt:lpstr>Assist claimant to identify lost property</vt:lpstr>
      <vt:lpstr>Verify ownership of property claimed</vt:lpstr>
      <vt:lpstr>Verify ownership of property claimed</vt:lpstr>
      <vt:lpstr>Obtain identification from owner</vt:lpstr>
      <vt:lpstr>Obtain identification from owner</vt:lpstr>
      <vt:lpstr>Obtain identification from owner</vt:lpstr>
      <vt:lpstr>Obtain identification from owner</vt:lpstr>
      <vt:lpstr>Complete lost and found register</vt:lpstr>
      <vt:lpstr>Complete lost and found register</vt:lpstr>
      <vt:lpstr>Complete lost and found register</vt:lpstr>
      <vt:lpstr>Assist other country claimants to claim lost items</vt:lpstr>
      <vt:lpstr>Assist other country claimants to claim lost items</vt:lpstr>
      <vt:lpstr>Assist other country claimants to claim lost items</vt:lpstr>
      <vt:lpstr>Assist other country claimants to claim lost items</vt:lpstr>
      <vt:lpstr>Assist other country claimants to claim lost items</vt:lpstr>
      <vt:lpstr>Assist other country claimants to claim lost items</vt:lpstr>
      <vt:lpstr>Assist other-country claimants to claim lost items</vt:lpstr>
      <vt:lpstr>Summary – Element 3 </vt:lpstr>
      <vt:lpstr>Summary – Element 3 </vt:lpstr>
      <vt:lpstr>Summary – Element 3 </vt:lpstr>
      <vt:lpstr>Deal with unclaimed items</vt:lpstr>
      <vt:lpstr>Comply with establishment policies</vt:lpstr>
      <vt:lpstr>Comply with establishment policies</vt:lpstr>
      <vt:lpstr>Comply with establishment policies</vt:lpstr>
      <vt:lpstr>Comply with establishment policies</vt:lpstr>
      <vt:lpstr>Comply with legal obligations</vt:lpstr>
      <vt:lpstr>Comply with legal obligations</vt:lpstr>
      <vt:lpstr>Comply with legal obligations</vt:lpstr>
      <vt:lpstr>Remove items from storage and dispose of them</vt:lpstr>
      <vt:lpstr>Remove items from storage and dispose of them</vt:lpstr>
      <vt:lpstr>Remove items from storage and dispose of them</vt:lpstr>
      <vt:lpstr>Remove items from storage and dispose of them</vt:lpstr>
      <vt:lpstr>Summary – Element 4</vt:lpstr>
      <vt:lpstr>Summary – Element 4</vt:lpstr>
      <vt:lpstr>Summary – Element 4</vt:lpstr>
      <vt:lpstr>Summary – Element 4</vt:lpstr>
    </vt:vector>
  </TitlesOfParts>
  <Company>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COMPLY WITH WORKPLACE HYGIENE PROCEDURES</dc:title>
  <dc:creator>MsCarla</dc:creator>
  <cp:lastModifiedBy>Carla Angelica Co</cp:lastModifiedBy>
  <cp:revision>211</cp:revision>
  <dcterms:created xsi:type="dcterms:W3CDTF">2011-06-06T00:31:31Z</dcterms:created>
  <dcterms:modified xsi:type="dcterms:W3CDTF">2015-04-06T07:39:41Z</dcterms:modified>
</cp:coreProperties>
</file>