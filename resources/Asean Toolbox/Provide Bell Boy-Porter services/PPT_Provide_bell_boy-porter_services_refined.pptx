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8"/>
  </p:notesMasterIdLst>
  <p:handoutMasterIdLst>
    <p:handoutMasterId r:id="rId39"/>
  </p:handoutMasterIdLst>
  <p:sldIdLst>
    <p:sldId id="256" r:id="rId2"/>
    <p:sldId id="257" r:id="rId3"/>
    <p:sldId id="302" r:id="rId4"/>
    <p:sldId id="258" r:id="rId5"/>
    <p:sldId id="299" r:id="rId6"/>
    <p:sldId id="317" r:id="rId7"/>
    <p:sldId id="259" r:id="rId8"/>
    <p:sldId id="300" r:id="rId9"/>
    <p:sldId id="260" r:id="rId10"/>
    <p:sldId id="310" r:id="rId11"/>
    <p:sldId id="261" r:id="rId12"/>
    <p:sldId id="262" r:id="rId13"/>
    <p:sldId id="263" r:id="rId14"/>
    <p:sldId id="311" r:id="rId15"/>
    <p:sldId id="303" r:id="rId16"/>
    <p:sldId id="264" r:id="rId17"/>
    <p:sldId id="307" r:id="rId18"/>
    <p:sldId id="265" r:id="rId19"/>
    <p:sldId id="312" r:id="rId20"/>
    <p:sldId id="266" r:id="rId21"/>
    <p:sldId id="267" r:id="rId22"/>
    <p:sldId id="269" r:id="rId23"/>
    <p:sldId id="270" r:id="rId24"/>
    <p:sldId id="271" r:id="rId25"/>
    <p:sldId id="304" r:id="rId26"/>
    <p:sldId id="273" r:id="rId27"/>
    <p:sldId id="274" r:id="rId28"/>
    <p:sldId id="313" r:id="rId29"/>
    <p:sldId id="314" r:id="rId30"/>
    <p:sldId id="276" r:id="rId31"/>
    <p:sldId id="315" r:id="rId32"/>
    <p:sldId id="316" r:id="rId33"/>
    <p:sldId id="309" r:id="rId34"/>
    <p:sldId id="283" r:id="rId35"/>
    <p:sldId id="291" r:id="rId36"/>
    <p:sldId id="295" r:id="rId3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21" autoAdjust="0"/>
    <p:restoredTop sz="74969" autoAdjust="0"/>
  </p:normalViewPr>
  <p:slideViewPr>
    <p:cSldViewPr>
      <p:cViewPr varScale="1">
        <p:scale>
          <a:sx n="69" d="100"/>
          <a:sy n="69" d="100"/>
        </p:scale>
        <p:origin x="1962" y="72"/>
      </p:cViewPr>
      <p:guideLst>
        <p:guide orient="horz" pos="2160"/>
        <p:guide pos="2880"/>
      </p:guideLst>
    </p:cSldViewPr>
  </p:slideViewPr>
  <p:outlineViewPr>
    <p:cViewPr>
      <p:scale>
        <a:sx n="33" d="100"/>
        <a:sy n="33" d="100"/>
      </p:scale>
      <p:origin x="0" y="318"/>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BC7D35-E8D9-4D83-AB4B-E660B6F614BF}" type="doc">
      <dgm:prSet loTypeId="urn:microsoft.com/office/officeart/2005/8/layout/orgChart1" loCatId="hierarchy" qsTypeId="urn:microsoft.com/office/officeart/2005/8/quickstyle/simple1" qsCatId="simple" csTypeId="urn:microsoft.com/office/officeart/2005/8/colors/accent2_5" csCatId="accent2" phldr="1"/>
      <dgm:spPr/>
    </dgm:pt>
    <dgm:pt modelId="{011162DA-9007-45F7-9BB4-F5AC38109B78}">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Concierge</a:t>
          </a:r>
        </a:p>
      </dgm:t>
    </dgm:pt>
    <dgm:pt modelId="{54AA3A1F-8836-47C6-AD2B-C57E374F0C4F}" type="parTrans" cxnId="{20FAD30B-36EB-45F9-9883-54E7F3223723}">
      <dgm:prSet/>
      <dgm:spPr/>
      <dgm:t>
        <a:bodyPr/>
        <a:lstStyle/>
        <a:p>
          <a:endParaRPr lang="en-AU"/>
        </a:p>
      </dgm:t>
    </dgm:pt>
    <dgm:pt modelId="{9614C558-8390-4907-9E75-805D36AD58E6}" type="sibTrans" cxnId="{20FAD30B-36EB-45F9-9883-54E7F3223723}">
      <dgm:prSet/>
      <dgm:spPr/>
      <dgm:t>
        <a:bodyPr/>
        <a:lstStyle/>
        <a:p>
          <a:endParaRPr lang="en-AU"/>
        </a:p>
      </dgm:t>
    </dgm:pt>
    <dgm:pt modelId="{C4F8AD79-2550-4C3B-B8A9-F66D93A6ABE5}" type="asst">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Porter</a:t>
          </a:r>
        </a:p>
      </dgm:t>
    </dgm:pt>
    <dgm:pt modelId="{D6AC7678-C58F-4758-A382-17266691095D}" type="parTrans" cxnId="{F2C92FB6-7349-4F28-980B-155721331D1C}">
      <dgm:prSet/>
      <dgm:spPr/>
      <dgm:t>
        <a:bodyPr/>
        <a:lstStyle/>
        <a:p>
          <a:endParaRPr lang="en-AU" dirty="0"/>
        </a:p>
      </dgm:t>
    </dgm:pt>
    <dgm:pt modelId="{E473E6B9-99D4-479B-AB7C-B3B9CDA91D69}" type="sibTrans" cxnId="{F2C92FB6-7349-4F28-980B-155721331D1C}">
      <dgm:prSet/>
      <dgm:spPr/>
      <dgm:t>
        <a:bodyPr/>
        <a:lstStyle/>
        <a:p>
          <a:endParaRPr lang="en-AU"/>
        </a:p>
      </dgm:t>
    </dgm:pt>
    <dgm:pt modelId="{B84449C4-B21E-4183-A576-FDE6C95E1C1E}" type="asst">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Door person</a:t>
          </a:r>
        </a:p>
      </dgm:t>
    </dgm:pt>
    <dgm:pt modelId="{FDC8AF62-DF82-4BB8-A78F-76F4E7534390}" type="parTrans" cxnId="{325CF175-748A-499A-B28B-4CB22A6CDCDF}">
      <dgm:prSet/>
      <dgm:spPr/>
      <dgm:t>
        <a:bodyPr/>
        <a:lstStyle/>
        <a:p>
          <a:endParaRPr lang="en-AU" dirty="0"/>
        </a:p>
      </dgm:t>
    </dgm:pt>
    <dgm:pt modelId="{9662F4A2-652A-404D-B45D-23EC64A9D61D}" type="sibTrans" cxnId="{325CF175-748A-499A-B28B-4CB22A6CDCDF}">
      <dgm:prSet/>
      <dgm:spPr/>
      <dgm:t>
        <a:bodyPr/>
        <a:lstStyle/>
        <a:p>
          <a:endParaRPr lang="en-AU"/>
        </a:p>
      </dgm:t>
    </dgm:pt>
    <dgm:pt modelId="{A3281FBF-24C7-4DE3-B66D-2328C47A8901}" type="asst">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Guest Services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Desk</a:t>
          </a:r>
        </a:p>
      </dgm:t>
    </dgm:pt>
    <dgm:pt modelId="{B54CD611-CAFF-4F66-9FEE-6CC24797B9EB}" type="parTrans" cxnId="{3342D3C8-5A24-440D-A770-2DD01E20417A}">
      <dgm:prSet/>
      <dgm:spPr/>
      <dgm:t>
        <a:bodyPr/>
        <a:lstStyle/>
        <a:p>
          <a:endParaRPr lang="en-AU" dirty="0"/>
        </a:p>
      </dgm:t>
    </dgm:pt>
    <dgm:pt modelId="{E0DDC458-290E-4E4A-A3BF-B289CB9FF954}" type="sibTrans" cxnId="{3342D3C8-5A24-440D-A770-2DD01E20417A}">
      <dgm:prSet/>
      <dgm:spPr/>
      <dgm:t>
        <a:bodyPr/>
        <a:lstStyle/>
        <a:p>
          <a:endParaRPr lang="en-AU"/>
        </a:p>
      </dgm:t>
    </dgm:pt>
    <dgm:pt modelId="{EC0A9B63-C2A9-4350-AB20-FA665BDCEF19}">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Valet parking</a:t>
          </a:r>
        </a:p>
      </dgm:t>
    </dgm:pt>
    <dgm:pt modelId="{2AEBA813-3158-4E8C-B600-4837FF470335}" type="parTrans" cxnId="{98E5C553-1521-4DBD-A505-B76EDDD8DBF1}">
      <dgm:prSet/>
      <dgm:spPr/>
      <dgm:t>
        <a:bodyPr/>
        <a:lstStyle/>
        <a:p>
          <a:endParaRPr lang="en-AU" dirty="0"/>
        </a:p>
      </dgm:t>
    </dgm:pt>
    <dgm:pt modelId="{A79DE618-EBB9-43D6-9861-897AC834AF13}" type="sibTrans" cxnId="{98E5C553-1521-4DBD-A505-B76EDDD8DBF1}">
      <dgm:prSet/>
      <dgm:spPr/>
      <dgm:t>
        <a:bodyPr/>
        <a:lstStyle/>
        <a:p>
          <a:endParaRPr lang="en-AU"/>
        </a:p>
      </dgm:t>
    </dgm:pt>
    <dgm:pt modelId="{9C7D61B0-07AC-42BB-BE88-F4FF0D95F23C}">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Chauffeur</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Limo or Bus</a:t>
          </a:r>
        </a:p>
      </dgm:t>
    </dgm:pt>
    <dgm:pt modelId="{99EDA49B-0370-42DD-B700-09B9FBB530A3}" type="parTrans" cxnId="{D1207A28-5973-4BF8-BC60-1E12A1E4E073}">
      <dgm:prSet/>
      <dgm:spPr/>
      <dgm:t>
        <a:bodyPr/>
        <a:lstStyle/>
        <a:p>
          <a:endParaRPr lang="en-AU" dirty="0"/>
        </a:p>
      </dgm:t>
    </dgm:pt>
    <dgm:pt modelId="{8ABE67F4-A976-4CE7-9A34-FE3F312F7F54}" type="sibTrans" cxnId="{D1207A28-5973-4BF8-BC60-1E12A1E4E073}">
      <dgm:prSet/>
      <dgm:spPr/>
      <dgm:t>
        <a:bodyPr/>
        <a:lstStyle/>
        <a:p>
          <a:endParaRPr lang="en-AU"/>
        </a:p>
      </dgm:t>
    </dgm:pt>
    <dgm:pt modelId="{7E01870E-04FB-4CA1-A50F-D9DCE1C9E339}">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Bell hops,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[gofers]</a:t>
          </a:r>
        </a:p>
      </dgm:t>
    </dgm:pt>
    <dgm:pt modelId="{43391550-49C7-454C-B711-32E08483A1E7}" type="parTrans" cxnId="{972F9FE7-AD74-41B8-8908-A05C16C0AAFB}">
      <dgm:prSet/>
      <dgm:spPr/>
      <dgm:t>
        <a:bodyPr/>
        <a:lstStyle/>
        <a:p>
          <a:endParaRPr lang="en-AU" dirty="0"/>
        </a:p>
      </dgm:t>
    </dgm:pt>
    <dgm:pt modelId="{88881A4B-972C-4C25-AC63-2E521B3EDE9E}" type="sibTrans" cxnId="{972F9FE7-AD74-41B8-8908-A05C16C0AAFB}">
      <dgm:prSet/>
      <dgm:spPr/>
      <dgm:t>
        <a:bodyPr/>
        <a:lstStyle/>
        <a:p>
          <a:endParaRPr lang="en-AU"/>
        </a:p>
      </dgm:t>
    </dgm:pt>
    <dgm:pt modelId="{6C32485D-2AFD-4586-93E8-7E2A969119AC}">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effectLst/>
              <a:latin typeface="Helvetica" pitchFamily="34" charset="0"/>
              <a:cs typeface="Arial" charset="0"/>
            </a:rPr>
            <a:t>Groups</a:t>
          </a:r>
        </a:p>
      </dgm:t>
    </dgm:pt>
    <dgm:pt modelId="{05DC7FD5-3C1C-46D1-8CC2-0FD7C51F62F7}" type="parTrans" cxnId="{E6606C26-DC23-48B1-8335-30F286429DE5}">
      <dgm:prSet/>
      <dgm:spPr/>
      <dgm:t>
        <a:bodyPr/>
        <a:lstStyle/>
        <a:p>
          <a:endParaRPr lang="en-AU" dirty="0"/>
        </a:p>
      </dgm:t>
    </dgm:pt>
    <dgm:pt modelId="{F156F01B-6F63-4D11-9DCF-7C8C533F280A}" type="sibTrans" cxnId="{E6606C26-DC23-48B1-8335-30F286429DE5}">
      <dgm:prSet/>
      <dgm:spPr/>
      <dgm:t>
        <a:bodyPr/>
        <a:lstStyle/>
        <a:p>
          <a:endParaRPr lang="en-AU"/>
        </a:p>
      </dgm:t>
    </dgm:pt>
    <dgm:pt modelId="{B50F6ACD-A26B-4E57-8CB3-AA3F988E3D89}" type="pres">
      <dgm:prSet presAssocID="{A3BC7D35-E8D9-4D83-AB4B-E660B6F614BF}" presName="hierChild1" presStyleCnt="0">
        <dgm:presLayoutVars>
          <dgm:orgChart val="1"/>
          <dgm:chPref val="1"/>
          <dgm:dir/>
          <dgm:animOne val="branch"/>
          <dgm:animLvl val="lvl"/>
          <dgm:resizeHandles/>
        </dgm:presLayoutVars>
      </dgm:prSet>
      <dgm:spPr/>
    </dgm:pt>
    <dgm:pt modelId="{047E6A7A-1AD7-43D9-A0B1-3ACD5532700D}" type="pres">
      <dgm:prSet presAssocID="{011162DA-9007-45F7-9BB4-F5AC38109B78}" presName="hierRoot1" presStyleCnt="0">
        <dgm:presLayoutVars>
          <dgm:hierBranch/>
        </dgm:presLayoutVars>
      </dgm:prSet>
      <dgm:spPr/>
    </dgm:pt>
    <dgm:pt modelId="{1BC6F896-4C84-4DD4-896F-CC98A9E9F7C1}" type="pres">
      <dgm:prSet presAssocID="{011162DA-9007-45F7-9BB4-F5AC38109B78}" presName="rootComposite1" presStyleCnt="0"/>
      <dgm:spPr/>
    </dgm:pt>
    <dgm:pt modelId="{B11B3976-9FB6-4E55-BEFB-DAF4236D29AA}" type="pres">
      <dgm:prSet presAssocID="{011162DA-9007-45F7-9BB4-F5AC38109B78}" presName="rootText1" presStyleLbl="node0" presStyleIdx="0" presStyleCnt="1">
        <dgm:presLayoutVars>
          <dgm:chPref val="3"/>
        </dgm:presLayoutVars>
      </dgm:prSet>
      <dgm:spPr/>
      <dgm:t>
        <a:bodyPr/>
        <a:lstStyle/>
        <a:p>
          <a:endParaRPr lang="en-AU"/>
        </a:p>
      </dgm:t>
    </dgm:pt>
    <dgm:pt modelId="{F3ABA11F-EFC0-4528-B82F-213453E6E56D}" type="pres">
      <dgm:prSet presAssocID="{011162DA-9007-45F7-9BB4-F5AC38109B78}" presName="rootConnector1" presStyleLbl="node1" presStyleIdx="0" presStyleCnt="0"/>
      <dgm:spPr/>
      <dgm:t>
        <a:bodyPr/>
        <a:lstStyle/>
        <a:p>
          <a:endParaRPr lang="en-AU"/>
        </a:p>
      </dgm:t>
    </dgm:pt>
    <dgm:pt modelId="{C7F5B3F2-4455-4530-AA9B-A76495ECCE5F}" type="pres">
      <dgm:prSet presAssocID="{011162DA-9007-45F7-9BB4-F5AC38109B78}" presName="hierChild2" presStyleCnt="0"/>
      <dgm:spPr/>
    </dgm:pt>
    <dgm:pt modelId="{E6A84C7E-2906-4030-BEFF-EDDCA4C8AB03}" type="pres">
      <dgm:prSet presAssocID="{2AEBA813-3158-4E8C-B600-4837FF470335}" presName="Name35" presStyleLbl="parChTrans1D2" presStyleIdx="0" presStyleCnt="7"/>
      <dgm:spPr/>
      <dgm:t>
        <a:bodyPr/>
        <a:lstStyle/>
        <a:p>
          <a:endParaRPr lang="en-AU"/>
        </a:p>
      </dgm:t>
    </dgm:pt>
    <dgm:pt modelId="{6BC7A3BB-5B2E-421F-9B53-02E2845CE16C}" type="pres">
      <dgm:prSet presAssocID="{EC0A9B63-C2A9-4350-AB20-FA665BDCEF19}" presName="hierRoot2" presStyleCnt="0">
        <dgm:presLayoutVars>
          <dgm:hierBranch/>
        </dgm:presLayoutVars>
      </dgm:prSet>
      <dgm:spPr/>
    </dgm:pt>
    <dgm:pt modelId="{F532C358-B091-494E-B829-895D7EA24BB4}" type="pres">
      <dgm:prSet presAssocID="{EC0A9B63-C2A9-4350-AB20-FA665BDCEF19}" presName="rootComposite" presStyleCnt="0"/>
      <dgm:spPr/>
    </dgm:pt>
    <dgm:pt modelId="{1B9BFC81-2915-440C-9658-F90AE0BC6E49}" type="pres">
      <dgm:prSet presAssocID="{EC0A9B63-C2A9-4350-AB20-FA665BDCEF19}" presName="rootText" presStyleLbl="node2" presStyleIdx="0" presStyleCnt="4">
        <dgm:presLayoutVars>
          <dgm:chPref val="3"/>
        </dgm:presLayoutVars>
      </dgm:prSet>
      <dgm:spPr/>
      <dgm:t>
        <a:bodyPr/>
        <a:lstStyle/>
        <a:p>
          <a:endParaRPr lang="en-AU"/>
        </a:p>
      </dgm:t>
    </dgm:pt>
    <dgm:pt modelId="{91E02D4A-5D83-44D6-AD78-5ABAEFD87247}" type="pres">
      <dgm:prSet presAssocID="{EC0A9B63-C2A9-4350-AB20-FA665BDCEF19}" presName="rootConnector" presStyleLbl="node2" presStyleIdx="0" presStyleCnt="4"/>
      <dgm:spPr/>
      <dgm:t>
        <a:bodyPr/>
        <a:lstStyle/>
        <a:p>
          <a:endParaRPr lang="en-AU"/>
        </a:p>
      </dgm:t>
    </dgm:pt>
    <dgm:pt modelId="{82B27075-8EBE-4755-ADBB-8EF0AFE65A4E}" type="pres">
      <dgm:prSet presAssocID="{EC0A9B63-C2A9-4350-AB20-FA665BDCEF19}" presName="hierChild4" presStyleCnt="0"/>
      <dgm:spPr/>
    </dgm:pt>
    <dgm:pt modelId="{625A8455-98BA-4AC7-980E-88C59F58DD03}" type="pres">
      <dgm:prSet presAssocID="{EC0A9B63-C2A9-4350-AB20-FA665BDCEF19}" presName="hierChild5" presStyleCnt="0"/>
      <dgm:spPr/>
    </dgm:pt>
    <dgm:pt modelId="{D04F2198-F0CB-4AB5-9312-161D5BA3888F}" type="pres">
      <dgm:prSet presAssocID="{99EDA49B-0370-42DD-B700-09B9FBB530A3}" presName="Name35" presStyleLbl="parChTrans1D2" presStyleIdx="1" presStyleCnt="7"/>
      <dgm:spPr/>
      <dgm:t>
        <a:bodyPr/>
        <a:lstStyle/>
        <a:p>
          <a:endParaRPr lang="en-AU"/>
        </a:p>
      </dgm:t>
    </dgm:pt>
    <dgm:pt modelId="{CFCD9A4D-9416-40DC-AD91-875EC7383CCF}" type="pres">
      <dgm:prSet presAssocID="{9C7D61B0-07AC-42BB-BE88-F4FF0D95F23C}" presName="hierRoot2" presStyleCnt="0">
        <dgm:presLayoutVars>
          <dgm:hierBranch/>
        </dgm:presLayoutVars>
      </dgm:prSet>
      <dgm:spPr/>
    </dgm:pt>
    <dgm:pt modelId="{DDD56EB4-92A3-412A-8E2B-0201D71569EF}" type="pres">
      <dgm:prSet presAssocID="{9C7D61B0-07AC-42BB-BE88-F4FF0D95F23C}" presName="rootComposite" presStyleCnt="0"/>
      <dgm:spPr/>
    </dgm:pt>
    <dgm:pt modelId="{319127F9-9A02-44FA-A5BE-71242F9087DE}" type="pres">
      <dgm:prSet presAssocID="{9C7D61B0-07AC-42BB-BE88-F4FF0D95F23C}" presName="rootText" presStyleLbl="node2" presStyleIdx="1" presStyleCnt="4">
        <dgm:presLayoutVars>
          <dgm:chPref val="3"/>
        </dgm:presLayoutVars>
      </dgm:prSet>
      <dgm:spPr/>
      <dgm:t>
        <a:bodyPr/>
        <a:lstStyle/>
        <a:p>
          <a:endParaRPr lang="en-AU"/>
        </a:p>
      </dgm:t>
    </dgm:pt>
    <dgm:pt modelId="{7E1FC7AA-5235-4574-8C67-177854FA6AA5}" type="pres">
      <dgm:prSet presAssocID="{9C7D61B0-07AC-42BB-BE88-F4FF0D95F23C}" presName="rootConnector" presStyleLbl="node2" presStyleIdx="1" presStyleCnt="4"/>
      <dgm:spPr/>
      <dgm:t>
        <a:bodyPr/>
        <a:lstStyle/>
        <a:p>
          <a:endParaRPr lang="en-AU"/>
        </a:p>
      </dgm:t>
    </dgm:pt>
    <dgm:pt modelId="{F878F233-70A5-4CD7-B1BE-CED2D0A43DEA}" type="pres">
      <dgm:prSet presAssocID="{9C7D61B0-07AC-42BB-BE88-F4FF0D95F23C}" presName="hierChild4" presStyleCnt="0"/>
      <dgm:spPr/>
    </dgm:pt>
    <dgm:pt modelId="{0917C8A0-1F74-445E-A612-82302385DC48}" type="pres">
      <dgm:prSet presAssocID="{9C7D61B0-07AC-42BB-BE88-F4FF0D95F23C}" presName="hierChild5" presStyleCnt="0"/>
      <dgm:spPr/>
    </dgm:pt>
    <dgm:pt modelId="{BC72545B-5FE9-490C-8830-8DFFB712B71B}" type="pres">
      <dgm:prSet presAssocID="{43391550-49C7-454C-B711-32E08483A1E7}" presName="Name35" presStyleLbl="parChTrans1D2" presStyleIdx="2" presStyleCnt="7"/>
      <dgm:spPr/>
      <dgm:t>
        <a:bodyPr/>
        <a:lstStyle/>
        <a:p>
          <a:endParaRPr lang="en-AU"/>
        </a:p>
      </dgm:t>
    </dgm:pt>
    <dgm:pt modelId="{49124D8C-305E-47E8-8FFD-5F31D2AB6C92}" type="pres">
      <dgm:prSet presAssocID="{7E01870E-04FB-4CA1-A50F-D9DCE1C9E339}" presName="hierRoot2" presStyleCnt="0">
        <dgm:presLayoutVars>
          <dgm:hierBranch/>
        </dgm:presLayoutVars>
      </dgm:prSet>
      <dgm:spPr/>
    </dgm:pt>
    <dgm:pt modelId="{EC380BF5-69FD-4805-BBAF-06FDAF2E3DE4}" type="pres">
      <dgm:prSet presAssocID="{7E01870E-04FB-4CA1-A50F-D9DCE1C9E339}" presName="rootComposite" presStyleCnt="0"/>
      <dgm:spPr/>
    </dgm:pt>
    <dgm:pt modelId="{BF082B41-09FB-4EA5-95EE-7669AD269E44}" type="pres">
      <dgm:prSet presAssocID="{7E01870E-04FB-4CA1-A50F-D9DCE1C9E339}" presName="rootText" presStyleLbl="node2" presStyleIdx="2" presStyleCnt="4">
        <dgm:presLayoutVars>
          <dgm:chPref val="3"/>
        </dgm:presLayoutVars>
      </dgm:prSet>
      <dgm:spPr/>
      <dgm:t>
        <a:bodyPr/>
        <a:lstStyle/>
        <a:p>
          <a:endParaRPr lang="en-AU"/>
        </a:p>
      </dgm:t>
    </dgm:pt>
    <dgm:pt modelId="{156A5366-3EDF-4EBD-B04D-1A4EEA5639D8}" type="pres">
      <dgm:prSet presAssocID="{7E01870E-04FB-4CA1-A50F-D9DCE1C9E339}" presName="rootConnector" presStyleLbl="node2" presStyleIdx="2" presStyleCnt="4"/>
      <dgm:spPr/>
      <dgm:t>
        <a:bodyPr/>
        <a:lstStyle/>
        <a:p>
          <a:endParaRPr lang="en-AU"/>
        </a:p>
      </dgm:t>
    </dgm:pt>
    <dgm:pt modelId="{68535ED0-0429-4BA8-9729-384E29A3131C}" type="pres">
      <dgm:prSet presAssocID="{7E01870E-04FB-4CA1-A50F-D9DCE1C9E339}" presName="hierChild4" presStyleCnt="0"/>
      <dgm:spPr/>
    </dgm:pt>
    <dgm:pt modelId="{7EAC04E6-95FA-4FCB-8A34-F4ECFEEAA4D2}" type="pres">
      <dgm:prSet presAssocID="{7E01870E-04FB-4CA1-A50F-D9DCE1C9E339}" presName="hierChild5" presStyleCnt="0"/>
      <dgm:spPr/>
    </dgm:pt>
    <dgm:pt modelId="{D89C2388-3A5C-442F-B8FC-38E7B96C5E9C}" type="pres">
      <dgm:prSet presAssocID="{05DC7FD5-3C1C-46D1-8CC2-0FD7C51F62F7}" presName="Name35" presStyleLbl="parChTrans1D2" presStyleIdx="3" presStyleCnt="7"/>
      <dgm:spPr/>
      <dgm:t>
        <a:bodyPr/>
        <a:lstStyle/>
        <a:p>
          <a:endParaRPr lang="en-AU"/>
        </a:p>
      </dgm:t>
    </dgm:pt>
    <dgm:pt modelId="{C4614EC4-9CB8-4BBD-8800-43942A1A0157}" type="pres">
      <dgm:prSet presAssocID="{6C32485D-2AFD-4586-93E8-7E2A969119AC}" presName="hierRoot2" presStyleCnt="0">
        <dgm:presLayoutVars>
          <dgm:hierBranch/>
        </dgm:presLayoutVars>
      </dgm:prSet>
      <dgm:spPr/>
    </dgm:pt>
    <dgm:pt modelId="{6E85AD6C-1E3C-4C1D-8B7F-067B77FC1AA9}" type="pres">
      <dgm:prSet presAssocID="{6C32485D-2AFD-4586-93E8-7E2A969119AC}" presName="rootComposite" presStyleCnt="0"/>
      <dgm:spPr/>
    </dgm:pt>
    <dgm:pt modelId="{0C3DA43E-9D57-4B94-B153-16FB691E24E7}" type="pres">
      <dgm:prSet presAssocID="{6C32485D-2AFD-4586-93E8-7E2A969119AC}" presName="rootText" presStyleLbl="node2" presStyleIdx="3" presStyleCnt="4">
        <dgm:presLayoutVars>
          <dgm:chPref val="3"/>
        </dgm:presLayoutVars>
      </dgm:prSet>
      <dgm:spPr/>
      <dgm:t>
        <a:bodyPr/>
        <a:lstStyle/>
        <a:p>
          <a:endParaRPr lang="en-AU"/>
        </a:p>
      </dgm:t>
    </dgm:pt>
    <dgm:pt modelId="{7452682D-E907-43B7-ADD4-BC9A26DF9728}" type="pres">
      <dgm:prSet presAssocID="{6C32485D-2AFD-4586-93E8-7E2A969119AC}" presName="rootConnector" presStyleLbl="node2" presStyleIdx="3" presStyleCnt="4"/>
      <dgm:spPr/>
      <dgm:t>
        <a:bodyPr/>
        <a:lstStyle/>
        <a:p>
          <a:endParaRPr lang="en-AU"/>
        </a:p>
      </dgm:t>
    </dgm:pt>
    <dgm:pt modelId="{9D55D140-2E58-46CF-A2FF-F752BEA19885}" type="pres">
      <dgm:prSet presAssocID="{6C32485D-2AFD-4586-93E8-7E2A969119AC}" presName="hierChild4" presStyleCnt="0"/>
      <dgm:spPr/>
    </dgm:pt>
    <dgm:pt modelId="{229A5B99-DF66-4A13-BC3B-55D94EA4C11A}" type="pres">
      <dgm:prSet presAssocID="{6C32485D-2AFD-4586-93E8-7E2A969119AC}" presName="hierChild5" presStyleCnt="0"/>
      <dgm:spPr/>
    </dgm:pt>
    <dgm:pt modelId="{34F24B08-D0B9-485F-8695-E955E1D9E0AC}" type="pres">
      <dgm:prSet presAssocID="{011162DA-9007-45F7-9BB4-F5AC38109B78}" presName="hierChild3" presStyleCnt="0"/>
      <dgm:spPr/>
    </dgm:pt>
    <dgm:pt modelId="{9FFD2A0E-D1BD-4DE7-9B9F-F1F691EE5732}" type="pres">
      <dgm:prSet presAssocID="{D6AC7678-C58F-4758-A382-17266691095D}" presName="Name111" presStyleLbl="parChTrans1D2" presStyleIdx="4" presStyleCnt="7"/>
      <dgm:spPr/>
      <dgm:t>
        <a:bodyPr/>
        <a:lstStyle/>
        <a:p>
          <a:endParaRPr lang="en-AU"/>
        </a:p>
      </dgm:t>
    </dgm:pt>
    <dgm:pt modelId="{35915EA8-3DBA-4B8D-BBBD-00CDA9487DD4}" type="pres">
      <dgm:prSet presAssocID="{C4F8AD79-2550-4C3B-B8A9-F66D93A6ABE5}" presName="hierRoot3" presStyleCnt="0">
        <dgm:presLayoutVars>
          <dgm:hierBranch/>
        </dgm:presLayoutVars>
      </dgm:prSet>
      <dgm:spPr/>
    </dgm:pt>
    <dgm:pt modelId="{845BE05A-F1EA-4865-9F22-BDF2B8472022}" type="pres">
      <dgm:prSet presAssocID="{C4F8AD79-2550-4C3B-B8A9-F66D93A6ABE5}" presName="rootComposite3" presStyleCnt="0"/>
      <dgm:spPr/>
    </dgm:pt>
    <dgm:pt modelId="{CD622D4B-DCE6-4A45-96C4-7AD6DBAF3D9F}" type="pres">
      <dgm:prSet presAssocID="{C4F8AD79-2550-4C3B-B8A9-F66D93A6ABE5}" presName="rootText3" presStyleLbl="asst1" presStyleIdx="0" presStyleCnt="3">
        <dgm:presLayoutVars>
          <dgm:chPref val="3"/>
        </dgm:presLayoutVars>
      </dgm:prSet>
      <dgm:spPr/>
      <dgm:t>
        <a:bodyPr/>
        <a:lstStyle/>
        <a:p>
          <a:endParaRPr lang="en-AU"/>
        </a:p>
      </dgm:t>
    </dgm:pt>
    <dgm:pt modelId="{EE3111D5-EE1C-4F59-9F37-55E7895DC355}" type="pres">
      <dgm:prSet presAssocID="{C4F8AD79-2550-4C3B-B8A9-F66D93A6ABE5}" presName="rootConnector3" presStyleLbl="asst1" presStyleIdx="0" presStyleCnt="3"/>
      <dgm:spPr/>
      <dgm:t>
        <a:bodyPr/>
        <a:lstStyle/>
        <a:p>
          <a:endParaRPr lang="en-AU"/>
        </a:p>
      </dgm:t>
    </dgm:pt>
    <dgm:pt modelId="{C650512F-B976-403A-88B8-4FEF3AC5DC4E}" type="pres">
      <dgm:prSet presAssocID="{C4F8AD79-2550-4C3B-B8A9-F66D93A6ABE5}" presName="hierChild6" presStyleCnt="0"/>
      <dgm:spPr/>
    </dgm:pt>
    <dgm:pt modelId="{A6E0212F-D38A-44CB-8406-36C346E2C41B}" type="pres">
      <dgm:prSet presAssocID="{C4F8AD79-2550-4C3B-B8A9-F66D93A6ABE5}" presName="hierChild7" presStyleCnt="0"/>
      <dgm:spPr/>
    </dgm:pt>
    <dgm:pt modelId="{3547AF3C-BBE4-4D8B-BBEF-CD6265E82105}" type="pres">
      <dgm:prSet presAssocID="{FDC8AF62-DF82-4BB8-A78F-76F4E7534390}" presName="Name111" presStyleLbl="parChTrans1D2" presStyleIdx="5" presStyleCnt="7"/>
      <dgm:spPr/>
      <dgm:t>
        <a:bodyPr/>
        <a:lstStyle/>
        <a:p>
          <a:endParaRPr lang="en-AU"/>
        </a:p>
      </dgm:t>
    </dgm:pt>
    <dgm:pt modelId="{E3DDF86A-7006-40FE-954D-7AFBAE36E7AB}" type="pres">
      <dgm:prSet presAssocID="{B84449C4-B21E-4183-A576-FDE6C95E1C1E}" presName="hierRoot3" presStyleCnt="0">
        <dgm:presLayoutVars>
          <dgm:hierBranch/>
        </dgm:presLayoutVars>
      </dgm:prSet>
      <dgm:spPr/>
    </dgm:pt>
    <dgm:pt modelId="{860A5F5E-CF96-4649-8E39-6D61FD12CBB2}" type="pres">
      <dgm:prSet presAssocID="{B84449C4-B21E-4183-A576-FDE6C95E1C1E}" presName="rootComposite3" presStyleCnt="0"/>
      <dgm:spPr/>
    </dgm:pt>
    <dgm:pt modelId="{8B58C9C6-D662-4552-90CF-A8A7D424BEED}" type="pres">
      <dgm:prSet presAssocID="{B84449C4-B21E-4183-A576-FDE6C95E1C1E}" presName="rootText3" presStyleLbl="asst1" presStyleIdx="1" presStyleCnt="3">
        <dgm:presLayoutVars>
          <dgm:chPref val="3"/>
        </dgm:presLayoutVars>
      </dgm:prSet>
      <dgm:spPr/>
      <dgm:t>
        <a:bodyPr/>
        <a:lstStyle/>
        <a:p>
          <a:endParaRPr lang="en-AU"/>
        </a:p>
      </dgm:t>
    </dgm:pt>
    <dgm:pt modelId="{5E990C86-003E-4DA7-BF62-E34D0A44B8AA}" type="pres">
      <dgm:prSet presAssocID="{B84449C4-B21E-4183-A576-FDE6C95E1C1E}" presName="rootConnector3" presStyleLbl="asst1" presStyleIdx="1" presStyleCnt="3"/>
      <dgm:spPr/>
      <dgm:t>
        <a:bodyPr/>
        <a:lstStyle/>
        <a:p>
          <a:endParaRPr lang="en-AU"/>
        </a:p>
      </dgm:t>
    </dgm:pt>
    <dgm:pt modelId="{08BF1E9A-FD05-4F0C-A81B-2D8B5CA7A796}" type="pres">
      <dgm:prSet presAssocID="{B84449C4-B21E-4183-A576-FDE6C95E1C1E}" presName="hierChild6" presStyleCnt="0"/>
      <dgm:spPr/>
    </dgm:pt>
    <dgm:pt modelId="{8509C52E-2033-44D0-99BE-A9797598E8F3}" type="pres">
      <dgm:prSet presAssocID="{B84449C4-B21E-4183-A576-FDE6C95E1C1E}" presName="hierChild7" presStyleCnt="0"/>
      <dgm:spPr/>
    </dgm:pt>
    <dgm:pt modelId="{A34C8C2B-3919-47A7-BE3D-BF0A3FB121EC}" type="pres">
      <dgm:prSet presAssocID="{B54CD611-CAFF-4F66-9FEE-6CC24797B9EB}" presName="Name111" presStyleLbl="parChTrans1D2" presStyleIdx="6" presStyleCnt="7"/>
      <dgm:spPr/>
      <dgm:t>
        <a:bodyPr/>
        <a:lstStyle/>
        <a:p>
          <a:endParaRPr lang="en-AU"/>
        </a:p>
      </dgm:t>
    </dgm:pt>
    <dgm:pt modelId="{06186003-66F9-45A8-882D-F703CA270215}" type="pres">
      <dgm:prSet presAssocID="{A3281FBF-24C7-4DE3-B66D-2328C47A8901}" presName="hierRoot3" presStyleCnt="0">
        <dgm:presLayoutVars>
          <dgm:hierBranch/>
        </dgm:presLayoutVars>
      </dgm:prSet>
      <dgm:spPr/>
    </dgm:pt>
    <dgm:pt modelId="{B1F3DC0C-5297-4094-A75B-645744B8B816}" type="pres">
      <dgm:prSet presAssocID="{A3281FBF-24C7-4DE3-B66D-2328C47A8901}" presName="rootComposite3" presStyleCnt="0"/>
      <dgm:spPr/>
    </dgm:pt>
    <dgm:pt modelId="{DC7808CB-E1D5-46EB-A46A-DF80D59D95D4}" type="pres">
      <dgm:prSet presAssocID="{A3281FBF-24C7-4DE3-B66D-2328C47A8901}" presName="rootText3" presStyleLbl="asst1" presStyleIdx="2" presStyleCnt="3">
        <dgm:presLayoutVars>
          <dgm:chPref val="3"/>
        </dgm:presLayoutVars>
      </dgm:prSet>
      <dgm:spPr/>
      <dgm:t>
        <a:bodyPr/>
        <a:lstStyle/>
        <a:p>
          <a:endParaRPr lang="en-AU"/>
        </a:p>
      </dgm:t>
    </dgm:pt>
    <dgm:pt modelId="{94C4FD5B-DCA6-43C1-A15B-E5E0B4DBB955}" type="pres">
      <dgm:prSet presAssocID="{A3281FBF-24C7-4DE3-B66D-2328C47A8901}" presName="rootConnector3" presStyleLbl="asst1" presStyleIdx="2" presStyleCnt="3"/>
      <dgm:spPr/>
      <dgm:t>
        <a:bodyPr/>
        <a:lstStyle/>
        <a:p>
          <a:endParaRPr lang="en-AU"/>
        </a:p>
      </dgm:t>
    </dgm:pt>
    <dgm:pt modelId="{5910936E-4268-4DD9-9E5D-2714D36D772E}" type="pres">
      <dgm:prSet presAssocID="{A3281FBF-24C7-4DE3-B66D-2328C47A8901}" presName="hierChild6" presStyleCnt="0"/>
      <dgm:spPr/>
    </dgm:pt>
    <dgm:pt modelId="{750700C8-B4E2-44BE-B258-7C6C893AF09A}" type="pres">
      <dgm:prSet presAssocID="{A3281FBF-24C7-4DE3-B66D-2328C47A8901}" presName="hierChild7" presStyleCnt="0"/>
      <dgm:spPr/>
    </dgm:pt>
  </dgm:ptLst>
  <dgm:cxnLst>
    <dgm:cxn modelId="{3F7A98E8-CF2A-4F8E-A27A-FC0F80E1EBB0}" type="presOf" srcId="{C4F8AD79-2550-4C3B-B8A9-F66D93A6ABE5}" destId="{EE3111D5-EE1C-4F59-9F37-55E7895DC355}" srcOrd="1" destOrd="0" presId="urn:microsoft.com/office/officeart/2005/8/layout/orgChart1"/>
    <dgm:cxn modelId="{2178E8E2-3792-4742-8ECC-D8352269403E}" type="presOf" srcId="{FDC8AF62-DF82-4BB8-A78F-76F4E7534390}" destId="{3547AF3C-BBE4-4D8B-BBEF-CD6265E82105}" srcOrd="0" destOrd="0" presId="urn:microsoft.com/office/officeart/2005/8/layout/orgChart1"/>
    <dgm:cxn modelId="{84890739-8D83-4B55-A6EF-9FC3303953D6}" type="presOf" srcId="{7E01870E-04FB-4CA1-A50F-D9DCE1C9E339}" destId="{BF082B41-09FB-4EA5-95EE-7669AD269E44}" srcOrd="0" destOrd="0" presId="urn:microsoft.com/office/officeart/2005/8/layout/orgChart1"/>
    <dgm:cxn modelId="{B8459ED2-E6E1-4FCE-ABAF-429D4BA30941}" type="presOf" srcId="{9C7D61B0-07AC-42BB-BE88-F4FF0D95F23C}" destId="{7E1FC7AA-5235-4574-8C67-177854FA6AA5}" srcOrd="1" destOrd="0" presId="urn:microsoft.com/office/officeart/2005/8/layout/orgChart1"/>
    <dgm:cxn modelId="{984DA88D-EC0D-4326-9304-ED84352FA42E}" type="presOf" srcId="{6C32485D-2AFD-4586-93E8-7E2A969119AC}" destId="{0C3DA43E-9D57-4B94-B153-16FB691E24E7}" srcOrd="0" destOrd="0" presId="urn:microsoft.com/office/officeart/2005/8/layout/orgChart1"/>
    <dgm:cxn modelId="{7D2237B3-BC51-43E1-96C8-2C2766D01244}" type="presOf" srcId="{EC0A9B63-C2A9-4350-AB20-FA665BDCEF19}" destId="{91E02D4A-5D83-44D6-AD78-5ABAEFD87247}" srcOrd="1" destOrd="0" presId="urn:microsoft.com/office/officeart/2005/8/layout/orgChart1"/>
    <dgm:cxn modelId="{D92F48D0-0670-4E23-AF9A-E3D4B8453808}" type="presOf" srcId="{011162DA-9007-45F7-9BB4-F5AC38109B78}" destId="{B11B3976-9FB6-4E55-BEFB-DAF4236D29AA}" srcOrd="0" destOrd="0" presId="urn:microsoft.com/office/officeart/2005/8/layout/orgChart1"/>
    <dgm:cxn modelId="{6F204140-2837-450B-A7BB-0221A5523594}" type="presOf" srcId="{B84449C4-B21E-4183-A576-FDE6C95E1C1E}" destId="{8B58C9C6-D662-4552-90CF-A8A7D424BEED}" srcOrd="0" destOrd="0" presId="urn:microsoft.com/office/officeart/2005/8/layout/orgChart1"/>
    <dgm:cxn modelId="{F2C92FB6-7349-4F28-980B-155721331D1C}" srcId="{011162DA-9007-45F7-9BB4-F5AC38109B78}" destId="{C4F8AD79-2550-4C3B-B8A9-F66D93A6ABE5}" srcOrd="0" destOrd="0" parTransId="{D6AC7678-C58F-4758-A382-17266691095D}" sibTransId="{E473E6B9-99D4-479B-AB7C-B3B9CDA91D69}"/>
    <dgm:cxn modelId="{4FCF8EA6-DF50-4336-A23B-4929FC5C8B46}" type="presOf" srcId="{EC0A9B63-C2A9-4350-AB20-FA665BDCEF19}" destId="{1B9BFC81-2915-440C-9658-F90AE0BC6E49}" srcOrd="0" destOrd="0" presId="urn:microsoft.com/office/officeart/2005/8/layout/orgChart1"/>
    <dgm:cxn modelId="{390759AC-A44E-401F-B2A7-BD0F63B42440}" type="presOf" srcId="{D6AC7678-C58F-4758-A382-17266691095D}" destId="{9FFD2A0E-D1BD-4DE7-9B9F-F1F691EE5732}" srcOrd="0" destOrd="0" presId="urn:microsoft.com/office/officeart/2005/8/layout/orgChart1"/>
    <dgm:cxn modelId="{DE8AD676-AD1B-46C9-BE68-3C40FF783A94}" type="presOf" srcId="{B54CD611-CAFF-4F66-9FEE-6CC24797B9EB}" destId="{A34C8C2B-3919-47A7-BE3D-BF0A3FB121EC}" srcOrd="0" destOrd="0" presId="urn:microsoft.com/office/officeart/2005/8/layout/orgChart1"/>
    <dgm:cxn modelId="{DD6D9F18-F53A-43F0-AE6C-8EE2BF38E68E}" type="presOf" srcId="{99EDA49B-0370-42DD-B700-09B9FBB530A3}" destId="{D04F2198-F0CB-4AB5-9312-161D5BA3888F}" srcOrd="0" destOrd="0" presId="urn:microsoft.com/office/officeart/2005/8/layout/orgChart1"/>
    <dgm:cxn modelId="{972F9FE7-AD74-41B8-8908-A05C16C0AAFB}" srcId="{011162DA-9007-45F7-9BB4-F5AC38109B78}" destId="{7E01870E-04FB-4CA1-A50F-D9DCE1C9E339}" srcOrd="5" destOrd="0" parTransId="{43391550-49C7-454C-B711-32E08483A1E7}" sibTransId="{88881A4B-972C-4C25-AC63-2E521B3EDE9E}"/>
    <dgm:cxn modelId="{3FA1E31C-0C85-40DA-AEF1-427220B9D948}" type="presOf" srcId="{9C7D61B0-07AC-42BB-BE88-F4FF0D95F23C}" destId="{319127F9-9A02-44FA-A5BE-71242F9087DE}" srcOrd="0" destOrd="0" presId="urn:microsoft.com/office/officeart/2005/8/layout/orgChart1"/>
    <dgm:cxn modelId="{FBBDC5E3-5205-4704-A26D-A0DB21C838D7}" type="presOf" srcId="{05DC7FD5-3C1C-46D1-8CC2-0FD7C51F62F7}" destId="{D89C2388-3A5C-442F-B8FC-38E7B96C5E9C}" srcOrd="0" destOrd="0" presId="urn:microsoft.com/office/officeart/2005/8/layout/orgChart1"/>
    <dgm:cxn modelId="{C121C5C0-BD68-4D47-8A22-5A8430D2B28F}" type="presOf" srcId="{43391550-49C7-454C-B711-32E08483A1E7}" destId="{BC72545B-5FE9-490C-8830-8DFFB712B71B}" srcOrd="0" destOrd="0" presId="urn:microsoft.com/office/officeart/2005/8/layout/orgChart1"/>
    <dgm:cxn modelId="{20FAD30B-36EB-45F9-9883-54E7F3223723}" srcId="{A3BC7D35-E8D9-4D83-AB4B-E660B6F614BF}" destId="{011162DA-9007-45F7-9BB4-F5AC38109B78}" srcOrd="0" destOrd="0" parTransId="{54AA3A1F-8836-47C6-AD2B-C57E374F0C4F}" sibTransId="{9614C558-8390-4907-9E75-805D36AD58E6}"/>
    <dgm:cxn modelId="{7CB50F52-79BC-404C-9FC8-2103BBA6937B}" type="presOf" srcId="{6C32485D-2AFD-4586-93E8-7E2A969119AC}" destId="{7452682D-E907-43B7-ADD4-BC9A26DF9728}" srcOrd="1" destOrd="0" presId="urn:microsoft.com/office/officeart/2005/8/layout/orgChart1"/>
    <dgm:cxn modelId="{CD025A02-F37F-4A28-81D9-729AE98B7673}" type="presOf" srcId="{A3281FBF-24C7-4DE3-B66D-2328C47A8901}" destId="{94C4FD5B-DCA6-43C1-A15B-E5E0B4DBB955}" srcOrd="1" destOrd="0" presId="urn:microsoft.com/office/officeart/2005/8/layout/orgChart1"/>
    <dgm:cxn modelId="{F8165E73-E446-49F5-AF68-A631AFEC8624}" type="presOf" srcId="{011162DA-9007-45F7-9BB4-F5AC38109B78}" destId="{F3ABA11F-EFC0-4528-B82F-213453E6E56D}" srcOrd="1" destOrd="0" presId="urn:microsoft.com/office/officeart/2005/8/layout/orgChart1"/>
    <dgm:cxn modelId="{E464DE82-F5D5-4E2C-A8F0-82C81670030B}" type="presOf" srcId="{C4F8AD79-2550-4C3B-B8A9-F66D93A6ABE5}" destId="{CD622D4B-DCE6-4A45-96C4-7AD6DBAF3D9F}" srcOrd="0" destOrd="0" presId="urn:microsoft.com/office/officeart/2005/8/layout/orgChart1"/>
    <dgm:cxn modelId="{3342D3C8-5A24-440D-A770-2DD01E20417A}" srcId="{011162DA-9007-45F7-9BB4-F5AC38109B78}" destId="{A3281FBF-24C7-4DE3-B66D-2328C47A8901}" srcOrd="2" destOrd="0" parTransId="{B54CD611-CAFF-4F66-9FEE-6CC24797B9EB}" sibTransId="{E0DDC458-290E-4E4A-A3BF-B289CB9FF954}"/>
    <dgm:cxn modelId="{56213A3D-1266-411F-8A60-3A4F09ADE42D}" type="presOf" srcId="{A3281FBF-24C7-4DE3-B66D-2328C47A8901}" destId="{DC7808CB-E1D5-46EB-A46A-DF80D59D95D4}" srcOrd="0" destOrd="0" presId="urn:microsoft.com/office/officeart/2005/8/layout/orgChart1"/>
    <dgm:cxn modelId="{D1207A28-5973-4BF8-BC60-1E12A1E4E073}" srcId="{011162DA-9007-45F7-9BB4-F5AC38109B78}" destId="{9C7D61B0-07AC-42BB-BE88-F4FF0D95F23C}" srcOrd="4" destOrd="0" parTransId="{99EDA49B-0370-42DD-B700-09B9FBB530A3}" sibTransId="{8ABE67F4-A976-4CE7-9A34-FE3F312F7F54}"/>
    <dgm:cxn modelId="{96C624B9-F1ED-4426-A257-A027E8F6FB7E}" type="presOf" srcId="{B84449C4-B21E-4183-A576-FDE6C95E1C1E}" destId="{5E990C86-003E-4DA7-BF62-E34D0A44B8AA}" srcOrd="1" destOrd="0" presId="urn:microsoft.com/office/officeart/2005/8/layout/orgChart1"/>
    <dgm:cxn modelId="{E76803DD-C86F-49B7-A104-215D06E9BD44}" type="presOf" srcId="{A3BC7D35-E8D9-4D83-AB4B-E660B6F614BF}" destId="{B50F6ACD-A26B-4E57-8CB3-AA3F988E3D89}" srcOrd="0" destOrd="0" presId="urn:microsoft.com/office/officeart/2005/8/layout/orgChart1"/>
    <dgm:cxn modelId="{E3A014C4-CDAC-47D3-9D7E-00837259B2F1}" type="presOf" srcId="{2AEBA813-3158-4E8C-B600-4837FF470335}" destId="{E6A84C7E-2906-4030-BEFF-EDDCA4C8AB03}" srcOrd="0" destOrd="0" presId="urn:microsoft.com/office/officeart/2005/8/layout/orgChart1"/>
    <dgm:cxn modelId="{EBE3CD92-F161-49E4-BC75-7BBAA9203640}" type="presOf" srcId="{7E01870E-04FB-4CA1-A50F-D9DCE1C9E339}" destId="{156A5366-3EDF-4EBD-B04D-1A4EEA5639D8}" srcOrd="1" destOrd="0" presId="urn:microsoft.com/office/officeart/2005/8/layout/orgChart1"/>
    <dgm:cxn modelId="{98E5C553-1521-4DBD-A505-B76EDDD8DBF1}" srcId="{011162DA-9007-45F7-9BB4-F5AC38109B78}" destId="{EC0A9B63-C2A9-4350-AB20-FA665BDCEF19}" srcOrd="3" destOrd="0" parTransId="{2AEBA813-3158-4E8C-B600-4837FF470335}" sibTransId="{A79DE618-EBB9-43D6-9861-897AC834AF13}"/>
    <dgm:cxn modelId="{325CF175-748A-499A-B28B-4CB22A6CDCDF}" srcId="{011162DA-9007-45F7-9BB4-F5AC38109B78}" destId="{B84449C4-B21E-4183-A576-FDE6C95E1C1E}" srcOrd="1" destOrd="0" parTransId="{FDC8AF62-DF82-4BB8-A78F-76F4E7534390}" sibTransId="{9662F4A2-652A-404D-B45D-23EC64A9D61D}"/>
    <dgm:cxn modelId="{E6606C26-DC23-48B1-8335-30F286429DE5}" srcId="{011162DA-9007-45F7-9BB4-F5AC38109B78}" destId="{6C32485D-2AFD-4586-93E8-7E2A969119AC}" srcOrd="6" destOrd="0" parTransId="{05DC7FD5-3C1C-46D1-8CC2-0FD7C51F62F7}" sibTransId="{F156F01B-6F63-4D11-9DCF-7C8C533F280A}"/>
    <dgm:cxn modelId="{1E49A315-D99C-4B09-B901-C2C864FC5942}" type="presParOf" srcId="{B50F6ACD-A26B-4E57-8CB3-AA3F988E3D89}" destId="{047E6A7A-1AD7-43D9-A0B1-3ACD5532700D}" srcOrd="0" destOrd="0" presId="urn:microsoft.com/office/officeart/2005/8/layout/orgChart1"/>
    <dgm:cxn modelId="{B2A832FE-CFA6-4EE6-B5E9-00D58C317B05}" type="presParOf" srcId="{047E6A7A-1AD7-43D9-A0B1-3ACD5532700D}" destId="{1BC6F896-4C84-4DD4-896F-CC98A9E9F7C1}" srcOrd="0" destOrd="0" presId="urn:microsoft.com/office/officeart/2005/8/layout/orgChart1"/>
    <dgm:cxn modelId="{68FB42DB-A0EB-41B5-9E31-9C937B957D9A}" type="presParOf" srcId="{1BC6F896-4C84-4DD4-896F-CC98A9E9F7C1}" destId="{B11B3976-9FB6-4E55-BEFB-DAF4236D29AA}" srcOrd="0" destOrd="0" presId="urn:microsoft.com/office/officeart/2005/8/layout/orgChart1"/>
    <dgm:cxn modelId="{C66BC0D5-5B7F-4131-A34C-EDBDEA171803}" type="presParOf" srcId="{1BC6F896-4C84-4DD4-896F-CC98A9E9F7C1}" destId="{F3ABA11F-EFC0-4528-B82F-213453E6E56D}" srcOrd="1" destOrd="0" presId="urn:microsoft.com/office/officeart/2005/8/layout/orgChart1"/>
    <dgm:cxn modelId="{A3F8334F-2888-4EA6-B5EC-6849F86B1F31}" type="presParOf" srcId="{047E6A7A-1AD7-43D9-A0B1-3ACD5532700D}" destId="{C7F5B3F2-4455-4530-AA9B-A76495ECCE5F}" srcOrd="1" destOrd="0" presId="urn:microsoft.com/office/officeart/2005/8/layout/orgChart1"/>
    <dgm:cxn modelId="{6EFDFB3B-9435-42DE-8AC2-16014BEA520D}" type="presParOf" srcId="{C7F5B3F2-4455-4530-AA9B-A76495ECCE5F}" destId="{E6A84C7E-2906-4030-BEFF-EDDCA4C8AB03}" srcOrd="0" destOrd="0" presId="urn:microsoft.com/office/officeart/2005/8/layout/orgChart1"/>
    <dgm:cxn modelId="{FE8A6766-79CE-443F-A709-90F1D0C1B5BA}" type="presParOf" srcId="{C7F5B3F2-4455-4530-AA9B-A76495ECCE5F}" destId="{6BC7A3BB-5B2E-421F-9B53-02E2845CE16C}" srcOrd="1" destOrd="0" presId="urn:microsoft.com/office/officeart/2005/8/layout/orgChart1"/>
    <dgm:cxn modelId="{7CCCA988-91C4-47D2-9B6D-1336216E9AAF}" type="presParOf" srcId="{6BC7A3BB-5B2E-421F-9B53-02E2845CE16C}" destId="{F532C358-B091-494E-B829-895D7EA24BB4}" srcOrd="0" destOrd="0" presId="urn:microsoft.com/office/officeart/2005/8/layout/orgChart1"/>
    <dgm:cxn modelId="{053A5568-7133-4877-A19F-03FB1F989414}" type="presParOf" srcId="{F532C358-B091-494E-B829-895D7EA24BB4}" destId="{1B9BFC81-2915-440C-9658-F90AE0BC6E49}" srcOrd="0" destOrd="0" presId="urn:microsoft.com/office/officeart/2005/8/layout/orgChart1"/>
    <dgm:cxn modelId="{4F0C66DF-61AC-4830-822A-1174D77A632A}" type="presParOf" srcId="{F532C358-B091-494E-B829-895D7EA24BB4}" destId="{91E02D4A-5D83-44D6-AD78-5ABAEFD87247}" srcOrd="1" destOrd="0" presId="urn:microsoft.com/office/officeart/2005/8/layout/orgChart1"/>
    <dgm:cxn modelId="{0017AD06-93F6-4038-B39F-E7651F2A43F7}" type="presParOf" srcId="{6BC7A3BB-5B2E-421F-9B53-02E2845CE16C}" destId="{82B27075-8EBE-4755-ADBB-8EF0AFE65A4E}" srcOrd="1" destOrd="0" presId="urn:microsoft.com/office/officeart/2005/8/layout/orgChart1"/>
    <dgm:cxn modelId="{1B962F0B-9401-4F7D-85E0-90F4D9CCB20C}" type="presParOf" srcId="{6BC7A3BB-5B2E-421F-9B53-02E2845CE16C}" destId="{625A8455-98BA-4AC7-980E-88C59F58DD03}" srcOrd="2" destOrd="0" presId="urn:microsoft.com/office/officeart/2005/8/layout/orgChart1"/>
    <dgm:cxn modelId="{677B55CC-68E5-4ABF-A1C4-1D02690602A8}" type="presParOf" srcId="{C7F5B3F2-4455-4530-AA9B-A76495ECCE5F}" destId="{D04F2198-F0CB-4AB5-9312-161D5BA3888F}" srcOrd="2" destOrd="0" presId="urn:microsoft.com/office/officeart/2005/8/layout/orgChart1"/>
    <dgm:cxn modelId="{57DE1BA1-0FB5-48A2-A328-6B234E45E0FF}" type="presParOf" srcId="{C7F5B3F2-4455-4530-AA9B-A76495ECCE5F}" destId="{CFCD9A4D-9416-40DC-AD91-875EC7383CCF}" srcOrd="3" destOrd="0" presId="urn:microsoft.com/office/officeart/2005/8/layout/orgChart1"/>
    <dgm:cxn modelId="{B1CEBF7F-A962-42D2-AE92-C12F3340194C}" type="presParOf" srcId="{CFCD9A4D-9416-40DC-AD91-875EC7383CCF}" destId="{DDD56EB4-92A3-412A-8E2B-0201D71569EF}" srcOrd="0" destOrd="0" presId="urn:microsoft.com/office/officeart/2005/8/layout/orgChart1"/>
    <dgm:cxn modelId="{2786C382-7C9C-49A9-92FE-8592FD1FFA39}" type="presParOf" srcId="{DDD56EB4-92A3-412A-8E2B-0201D71569EF}" destId="{319127F9-9A02-44FA-A5BE-71242F9087DE}" srcOrd="0" destOrd="0" presId="urn:microsoft.com/office/officeart/2005/8/layout/orgChart1"/>
    <dgm:cxn modelId="{6B979CBA-EC1D-418A-AD5C-224A94988437}" type="presParOf" srcId="{DDD56EB4-92A3-412A-8E2B-0201D71569EF}" destId="{7E1FC7AA-5235-4574-8C67-177854FA6AA5}" srcOrd="1" destOrd="0" presId="urn:microsoft.com/office/officeart/2005/8/layout/orgChart1"/>
    <dgm:cxn modelId="{A4AA3C70-5990-46DE-94B0-FFDA72C4DDD2}" type="presParOf" srcId="{CFCD9A4D-9416-40DC-AD91-875EC7383CCF}" destId="{F878F233-70A5-4CD7-B1BE-CED2D0A43DEA}" srcOrd="1" destOrd="0" presId="urn:microsoft.com/office/officeart/2005/8/layout/orgChart1"/>
    <dgm:cxn modelId="{1D539741-2CB2-4074-806D-77C9919B05B0}" type="presParOf" srcId="{CFCD9A4D-9416-40DC-AD91-875EC7383CCF}" destId="{0917C8A0-1F74-445E-A612-82302385DC48}" srcOrd="2" destOrd="0" presId="urn:microsoft.com/office/officeart/2005/8/layout/orgChart1"/>
    <dgm:cxn modelId="{D53DF54E-7C05-4F79-A3A9-53AD03BAE284}" type="presParOf" srcId="{C7F5B3F2-4455-4530-AA9B-A76495ECCE5F}" destId="{BC72545B-5FE9-490C-8830-8DFFB712B71B}" srcOrd="4" destOrd="0" presId="urn:microsoft.com/office/officeart/2005/8/layout/orgChart1"/>
    <dgm:cxn modelId="{141A1357-04F4-434A-8F3E-CCD150C11CED}" type="presParOf" srcId="{C7F5B3F2-4455-4530-AA9B-A76495ECCE5F}" destId="{49124D8C-305E-47E8-8FFD-5F31D2AB6C92}" srcOrd="5" destOrd="0" presId="urn:microsoft.com/office/officeart/2005/8/layout/orgChart1"/>
    <dgm:cxn modelId="{816DDCA8-96DE-48E8-8BF5-6D4BBD1EF628}" type="presParOf" srcId="{49124D8C-305E-47E8-8FFD-5F31D2AB6C92}" destId="{EC380BF5-69FD-4805-BBAF-06FDAF2E3DE4}" srcOrd="0" destOrd="0" presId="urn:microsoft.com/office/officeart/2005/8/layout/orgChart1"/>
    <dgm:cxn modelId="{43E598F3-6F5F-4C67-B85C-75081EEE330D}" type="presParOf" srcId="{EC380BF5-69FD-4805-BBAF-06FDAF2E3DE4}" destId="{BF082B41-09FB-4EA5-95EE-7669AD269E44}" srcOrd="0" destOrd="0" presId="urn:microsoft.com/office/officeart/2005/8/layout/orgChart1"/>
    <dgm:cxn modelId="{652D0C82-9B66-4A0A-BE3A-808790195F79}" type="presParOf" srcId="{EC380BF5-69FD-4805-BBAF-06FDAF2E3DE4}" destId="{156A5366-3EDF-4EBD-B04D-1A4EEA5639D8}" srcOrd="1" destOrd="0" presId="urn:microsoft.com/office/officeart/2005/8/layout/orgChart1"/>
    <dgm:cxn modelId="{92E25A44-065B-46AD-A773-D59D5DD8C8EB}" type="presParOf" srcId="{49124D8C-305E-47E8-8FFD-5F31D2AB6C92}" destId="{68535ED0-0429-4BA8-9729-384E29A3131C}" srcOrd="1" destOrd="0" presId="urn:microsoft.com/office/officeart/2005/8/layout/orgChart1"/>
    <dgm:cxn modelId="{4A8D796F-C5D7-4094-8302-CFB52FDF2DF5}" type="presParOf" srcId="{49124D8C-305E-47E8-8FFD-5F31D2AB6C92}" destId="{7EAC04E6-95FA-4FCB-8A34-F4ECFEEAA4D2}" srcOrd="2" destOrd="0" presId="urn:microsoft.com/office/officeart/2005/8/layout/orgChart1"/>
    <dgm:cxn modelId="{8BF097B9-681D-40AC-B4BF-5DD6AC6B408C}" type="presParOf" srcId="{C7F5B3F2-4455-4530-AA9B-A76495ECCE5F}" destId="{D89C2388-3A5C-442F-B8FC-38E7B96C5E9C}" srcOrd="6" destOrd="0" presId="urn:microsoft.com/office/officeart/2005/8/layout/orgChart1"/>
    <dgm:cxn modelId="{7DB0D2DB-7B1D-41BA-A2D2-FAC70DD251A6}" type="presParOf" srcId="{C7F5B3F2-4455-4530-AA9B-A76495ECCE5F}" destId="{C4614EC4-9CB8-4BBD-8800-43942A1A0157}" srcOrd="7" destOrd="0" presId="urn:microsoft.com/office/officeart/2005/8/layout/orgChart1"/>
    <dgm:cxn modelId="{F734C815-F29D-4444-A3BE-39B4AE68AE09}" type="presParOf" srcId="{C4614EC4-9CB8-4BBD-8800-43942A1A0157}" destId="{6E85AD6C-1E3C-4C1D-8B7F-067B77FC1AA9}" srcOrd="0" destOrd="0" presId="urn:microsoft.com/office/officeart/2005/8/layout/orgChart1"/>
    <dgm:cxn modelId="{F4FA3716-966D-4578-A0EA-7F140E3551FF}" type="presParOf" srcId="{6E85AD6C-1E3C-4C1D-8B7F-067B77FC1AA9}" destId="{0C3DA43E-9D57-4B94-B153-16FB691E24E7}" srcOrd="0" destOrd="0" presId="urn:microsoft.com/office/officeart/2005/8/layout/orgChart1"/>
    <dgm:cxn modelId="{CFBD96EF-935B-4DC0-9906-60D3C0E24A3D}" type="presParOf" srcId="{6E85AD6C-1E3C-4C1D-8B7F-067B77FC1AA9}" destId="{7452682D-E907-43B7-ADD4-BC9A26DF9728}" srcOrd="1" destOrd="0" presId="urn:microsoft.com/office/officeart/2005/8/layout/orgChart1"/>
    <dgm:cxn modelId="{5EA435B5-B852-4F61-9C06-94AB9FA0379C}" type="presParOf" srcId="{C4614EC4-9CB8-4BBD-8800-43942A1A0157}" destId="{9D55D140-2E58-46CF-A2FF-F752BEA19885}" srcOrd="1" destOrd="0" presId="urn:microsoft.com/office/officeart/2005/8/layout/orgChart1"/>
    <dgm:cxn modelId="{513AEDD0-D376-4B70-A01E-F36D4E272CDB}" type="presParOf" srcId="{C4614EC4-9CB8-4BBD-8800-43942A1A0157}" destId="{229A5B99-DF66-4A13-BC3B-55D94EA4C11A}" srcOrd="2" destOrd="0" presId="urn:microsoft.com/office/officeart/2005/8/layout/orgChart1"/>
    <dgm:cxn modelId="{526B50C1-832B-417B-8870-68B10B7C2974}" type="presParOf" srcId="{047E6A7A-1AD7-43D9-A0B1-3ACD5532700D}" destId="{34F24B08-D0B9-485F-8695-E955E1D9E0AC}" srcOrd="2" destOrd="0" presId="urn:microsoft.com/office/officeart/2005/8/layout/orgChart1"/>
    <dgm:cxn modelId="{FBC7C91D-5112-492B-A7F9-B2D174EA48B3}" type="presParOf" srcId="{34F24B08-D0B9-485F-8695-E955E1D9E0AC}" destId="{9FFD2A0E-D1BD-4DE7-9B9F-F1F691EE5732}" srcOrd="0" destOrd="0" presId="urn:microsoft.com/office/officeart/2005/8/layout/orgChart1"/>
    <dgm:cxn modelId="{6032EC1F-CAEF-49CF-B398-AF53D133997E}" type="presParOf" srcId="{34F24B08-D0B9-485F-8695-E955E1D9E0AC}" destId="{35915EA8-3DBA-4B8D-BBBD-00CDA9487DD4}" srcOrd="1" destOrd="0" presId="urn:microsoft.com/office/officeart/2005/8/layout/orgChart1"/>
    <dgm:cxn modelId="{E0EC9731-C4B6-4849-917E-6F1340C3F58B}" type="presParOf" srcId="{35915EA8-3DBA-4B8D-BBBD-00CDA9487DD4}" destId="{845BE05A-F1EA-4865-9F22-BDF2B8472022}" srcOrd="0" destOrd="0" presId="urn:microsoft.com/office/officeart/2005/8/layout/orgChart1"/>
    <dgm:cxn modelId="{88C0EB98-A3DB-4855-A19E-06164FD7F830}" type="presParOf" srcId="{845BE05A-F1EA-4865-9F22-BDF2B8472022}" destId="{CD622D4B-DCE6-4A45-96C4-7AD6DBAF3D9F}" srcOrd="0" destOrd="0" presId="urn:microsoft.com/office/officeart/2005/8/layout/orgChart1"/>
    <dgm:cxn modelId="{5DE45047-F494-49A9-BBC3-AD3E482C841F}" type="presParOf" srcId="{845BE05A-F1EA-4865-9F22-BDF2B8472022}" destId="{EE3111D5-EE1C-4F59-9F37-55E7895DC355}" srcOrd="1" destOrd="0" presId="urn:microsoft.com/office/officeart/2005/8/layout/orgChart1"/>
    <dgm:cxn modelId="{9EC01B84-D0C5-43C5-BA01-E8DCE6B2A532}" type="presParOf" srcId="{35915EA8-3DBA-4B8D-BBBD-00CDA9487DD4}" destId="{C650512F-B976-403A-88B8-4FEF3AC5DC4E}" srcOrd="1" destOrd="0" presId="urn:microsoft.com/office/officeart/2005/8/layout/orgChart1"/>
    <dgm:cxn modelId="{74FD94D1-F88A-4385-BCAD-4B438DF4657C}" type="presParOf" srcId="{35915EA8-3DBA-4B8D-BBBD-00CDA9487DD4}" destId="{A6E0212F-D38A-44CB-8406-36C346E2C41B}" srcOrd="2" destOrd="0" presId="urn:microsoft.com/office/officeart/2005/8/layout/orgChart1"/>
    <dgm:cxn modelId="{B17A933A-3709-48BD-A9D4-C30ED3F682B2}" type="presParOf" srcId="{34F24B08-D0B9-485F-8695-E955E1D9E0AC}" destId="{3547AF3C-BBE4-4D8B-BBEF-CD6265E82105}" srcOrd="2" destOrd="0" presId="urn:microsoft.com/office/officeart/2005/8/layout/orgChart1"/>
    <dgm:cxn modelId="{B4AD98CE-4BEA-4DE6-8DC9-DC7E8B505753}" type="presParOf" srcId="{34F24B08-D0B9-485F-8695-E955E1D9E0AC}" destId="{E3DDF86A-7006-40FE-954D-7AFBAE36E7AB}" srcOrd="3" destOrd="0" presId="urn:microsoft.com/office/officeart/2005/8/layout/orgChart1"/>
    <dgm:cxn modelId="{5D2BC7FC-33AB-4943-8FC5-CACC4DB2FE50}" type="presParOf" srcId="{E3DDF86A-7006-40FE-954D-7AFBAE36E7AB}" destId="{860A5F5E-CF96-4649-8E39-6D61FD12CBB2}" srcOrd="0" destOrd="0" presId="urn:microsoft.com/office/officeart/2005/8/layout/orgChart1"/>
    <dgm:cxn modelId="{9C51E28E-10EB-470C-ABC4-8C3A4F65E089}" type="presParOf" srcId="{860A5F5E-CF96-4649-8E39-6D61FD12CBB2}" destId="{8B58C9C6-D662-4552-90CF-A8A7D424BEED}" srcOrd="0" destOrd="0" presId="urn:microsoft.com/office/officeart/2005/8/layout/orgChart1"/>
    <dgm:cxn modelId="{BDB26025-097A-4276-BED7-D6F62FFB5AB7}" type="presParOf" srcId="{860A5F5E-CF96-4649-8E39-6D61FD12CBB2}" destId="{5E990C86-003E-4DA7-BF62-E34D0A44B8AA}" srcOrd="1" destOrd="0" presId="urn:microsoft.com/office/officeart/2005/8/layout/orgChart1"/>
    <dgm:cxn modelId="{3CF09CAB-3737-4109-84BF-36F24DED5B84}" type="presParOf" srcId="{E3DDF86A-7006-40FE-954D-7AFBAE36E7AB}" destId="{08BF1E9A-FD05-4F0C-A81B-2D8B5CA7A796}" srcOrd="1" destOrd="0" presId="urn:microsoft.com/office/officeart/2005/8/layout/orgChart1"/>
    <dgm:cxn modelId="{74AD8033-8058-49FD-B67D-B5F46BA0FC47}" type="presParOf" srcId="{E3DDF86A-7006-40FE-954D-7AFBAE36E7AB}" destId="{8509C52E-2033-44D0-99BE-A9797598E8F3}" srcOrd="2" destOrd="0" presId="urn:microsoft.com/office/officeart/2005/8/layout/orgChart1"/>
    <dgm:cxn modelId="{5B979480-1EE2-4DF6-801A-387740207986}" type="presParOf" srcId="{34F24B08-D0B9-485F-8695-E955E1D9E0AC}" destId="{A34C8C2B-3919-47A7-BE3D-BF0A3FB121EC}" srcOrd="4" destOrd="0" presId="urn:microsoft.com/office/officeart/2005/8/layout/orgChart1"/>
    <dgm:cxn modelId="{5D2F6CA9-667C-42B3-B733-206DD1396D86}" type="presParOf" srcId="{34F24B08-D0B9-485F-8695-E955E1D9E0AC}" destId="{06186003-66F9-45A8-882D-F703CA270215}" srcOrd="5" destOrd="0" presId="urn:microsoft.com/office/officeart/2005/8/layout/orgChart1"/>
    <dgm:cxn modelId="{947D0C2B-2097-4966-94F2-C67FFF786759}" type="presParOf" srcId="{06186003-66F9-45A8-882D-F703CA270215}" destId="{B1F3DC0C-5297-4094-A75B-645744B8B816}" srcOrd="0" destOrd="0" presId="urn:microsoft.com/office/officeart/2005/8/layout/orgChart1"/>
    <dgm:cxn modelId="{C1465557-60F3-4F85-9AA0-574E0E4FB565}" type="presParOf" srcId="{B1F3DC0C-5297-4094-A75B-645744B8B816}" destId="{DC7808CB-E1D5-46EB-A46A-DF80D59D95D4}" srcOrd="0" destOrd="0" presId="urn:microsoft.com/office/officeart/2005/8/layout/orgChart1"/>
    <dgm:cxn modelId="{C5EDECC5-151C-453F-A30A-9826A1FCEB4D}" type="presParOf" srcId="{B1F3DC0C-5297-4094-A75B-645744B8B816}" destId="{94C4FD5B-DCA6-43C1-A15B-E5E0B4DBB955}" srcOrd="1" destOrd="0" presId="urn:microsoft.com/office/officeart/2005/8/layout/orgChart1"/>
    <dgm:cxn modelId="{D57D3276-3607-475A-855B-EE0C4476721C}" type="presParOf" srcId="{06186003-66F9-45A8-882D-F703CA270215}" destId="{5910936E-4268-4DD9-9E5D-2714D36D772E}" srcOrd="1" destOrd="0" presId="urn:microsoft.com/office/officeart/2005/8/layout/orgChart1"/>
    <dgm:cxn modelId="{F3813B62-A751-467A-B4A9-4FF65B41E8F7}" type="presParOf" srcId="{06186003-66F9-45A8-882D-F703CA270215}" destId="{750700C8-B4E2-44BE-B258-7C6C893AF09A}"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CB9259-34B9-4887-AB0A-63B7058FB459}" type="doc">
      <dgm:prSet loTypeId="urn:microsoft.com/office/officeart/2005/8/layout/cycle1" loCatId="cycle" qsTypeId="urn:microsoft.com/office/officeart/2005/8/quickstyle/simple1" qsCatId="simple" csTypeId="urn:microsoft.com/office/officeart/2005/8/colors/accent1_2" csCatId="accent1" phldr="1"/>
      <dgm:spPr/>
    </dgm:pt>
    <dgm:pt modelId="{5838DD9C-87A4-43A8-BA6F-70C4E7772217}">
      <dgm:prSet/>
      <dgm:spPr/>
      <dgm:t>
        <a:bodyPr/>
        <a:lstStyle/>
        <a:p>
          <a:endParaRPr lang="en-AU" dirty="0"/>
        </a:p>
      </dgm:t>
    </dgm:pt>
    <dgm:pt modelId="{CFEE7CED-18C7-42C5-B63F-7D677730C17C}" type="parTrans" cxnId="{7425E034-1626-4A15-AA0C-53BD9288F85A}">
      <dgm:prSet/>
      <dgm:spPr/>
      <dgm:t>
        <a:bodyPr/>
        <a:lstStyle/>
        <a:p>
          <a:endParaRPr lang="en-AU"/>
        </a:p>
      </dgm:t>
    </dgm:pt>
    <dgm:pt modelId="{89D65EA2-EB32-4BD7-B453-B5A27B1DC56F}" type="sibTrans" cxnId="{7425E034-1626-4A15-AA0C-53BD9288F85A}">
      <dgm:prSet/>
      <dgm:spPr/>
      <dgm:t>
        <a:bodyPr/>
        <a:lstStyle/>
        <a:p>
          <a:endParaRPr lang="en-AU" dirty="0"/>
        </a:p>
      </dgm:t>
    </dgm:pt>
    <dgm:pt modelId="{A8890BE6-A45A-4D7F-B0BE-693926BE02FA}">
      <dgm:prSet/>
      <dgm:spPr/>
      <dgm:t>
        <a:bodyPr/>
        <a:lstStyle/>
        <a:p>
          <a:endParaRPr lang="en-AU" dirty="0"/>
        </a:p>
      </dgm:t>
    </dgm:pt>
    <dgm:pt modelId="{3B6B2197-9B6A-4589-8FC6-AF384CB14118}" type="parTrans" cxnId="{CAC6B87C-6EB9-4809-9F11-142D164E2903}">
      <dgm:prSet/>
      <dgm:spPr/>
      <dgm:t>
        <a:bodyPr/>
        <a:lstStyle/>
        <a:p>
          <a:endParaRPr lang="en-AU"/>
        </a:p>
      </dgm:t>
    </dgm:pt>
    <dgm:pt modelId="{96A734BD-A5A1-4E14-8959-7BD6430E575F}" type="sibTrans" cxnId="{CAC6B87C-6EB9-4809-9F11-142D164E2903}">
      <dgm:prSet/>
      <dgm:spPr/>
      <dgm:t>
        <a:bodyPr/>
        <a:lstStyle/>
        <a:p>
          <a:endParaRPr lang="en-AU" dirty="0"/>
        </a:p>
      </dgm:t>
    </dgm:pt>
    <dgm:pt modelId="{D661CA6C-FAFE-485D-98AD-06A6F8399337}">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Helvetica" pitchFamily="34" charset="0"/>
            <a:cs typeface="Arial" charset="0"/>
          </a:endParaRPr>
        </a:p>
      </dgm:t>
    </dgm:pt>
    <dgm:pt modelId="{36CFA537-5737-44A7-8173-3F38314A0F77}" type="parTrans" cxnId="{1EB0C91B-CF9F-4686-A64E-B195F46BFA27}">
      <dgm:prSet/>
      <dgm:spPr/>
      <dgm:t>
        <a:bodyPr/>
        <a:lstStyle/>
        <a:p>
          <a:endParaRPr lang="en-AU"/>
        </a:p>
      </dgm:t>
    </dgm:pt>
    <dgm:pt modelId="{6EEA6AB9-5AF7-4FBF-AE1F-EB8DCEDB71E0}" type="sibTrans" cxnId="{1EB0C91B-CF9F-4686-A64E-B195F46BFA27}">
      <dgm:prSet/>
      <dgm:spPr/>
      <dgm:t>
        <a:bodyPr/>
        <a:lstStyle/>
        <a:p>
          <a:endParaRPr lang="en-AU" dirty="0"/>
        </a:p>
      </dgm:t>
    </dgm:pt>
    <dgm:pt modelId="{3F631DB2-1B3A-4497-B490-45333F12C7F7}">
      <dgm:prSet/>
      <dgm:spPr/>
      <dgm:t>
        <a:bodyPr/>
        <a:lstStyle/>
        <a:p>
          <a:endParaRPr lang="en-AU" dirty="0"/>
        </a:p>
      </dgm:t>
    </dgm:pt>
    <dgm:pt modelId="{0B02061E-D895-426D-A7C9-D57685D469D6}" type="parTrans" cxnId="{0705DF04-4C64-4023-9D83-4816F804B70A}">
      <dgm:prSet/>
      <dgm:spPr/>
      <dgm:t>
        <a:bodyPr/>
        <a:lstStyle/>
        <a:p>
          <a:endParaRPr lang="en-AU"/>
        </a:p>
      </dgm:t>
    </dgm:pt>
    <dgm:pt modelId="{826BBA33-E23E-4BED-8E43-2C2CCDF4A2A9}" type="sibTrans" cxnId="{0705DF04-4C64-4023-9D83-4816F804B70A}">
      <dgm:prSet/>
      <dgm:spPr/>
      <dgm:t>
        <a:bodyPr/>
        <a:lstStyle/>
        <a:p>
          <a:endParaRPr lang="en-AU" dirty="0"/>
        </a:p>
      </dgm:t>
    </dgm:pt>
    <dgm:pt modelId="{0312D0F2-FF92-4464-8C51-ACE1EAE4AFFB}" type="pres">
      <dgm:prSet presAssocID="{03CB9259-34B9-4887-AB0A-63B7058FB459}" presName="cycle" presStyleCnt="0">
        <dgm:presLayoutVars>
          <dgm:dir/>
          <dgm:resizeHandles val="exact"/>
        </dgm:presLayoutVars>
      </dgm:prSet>
      <dgm:spPr/>
    </dgm:pt>
    <dgm:pt modelId="{ECBE32EB-1A6D-410F-A081-A0DA0EF3548B}" type="pres">
      <dgm:prSet presAssocID="{5838DD9C-87A4-43A8-BA6F-70C4E7772217}" presName="dummy" presStyleCnt="0"/>
      <dgm:spPr/>
    </dgm:pt>
    <dgm:pt modelId="{4EE8B98C-F7B4-4D2C-BE0D-D2077061A6FC}" type="pres">
      <dgm:prSet presAssocID="{5838DD9C-87A4-43A8-BA6F-70C4E7772217}" presName="node" presStyleLbl="revTx" presStyleIdx="0" presStyleCnt="4">
        <dgm:presLayoutVars>
          <dgm:bulletEnabled val="1"/>
        </dgm:presLayoutVars>
      </dgm:prSet>
      <dgm:spPr/>
      <dgm:t>
        <a:bodyPr/>
        <a:lstStyle/>
        <a:p>
          <a:endParaRPr lang="en-AU"/>
        </a:p>
      </dgm:t>
    </dgm:pt>
    <dgm:pt modelId="{FB122890-27CE-48DC-83A2-92DB422435D1}" type="pres">
      <dgm:prSet presAssocID="{89D65EA2-EB32-4BD7-B453-B5A27B1DC56F}" presName="sibTrans" presStyleLbl="node1" presStyleIdx="0" presStyleCnt="4"/>
      <dgm:spPr/>
      <dgm:t>
        <a:bodyPr/>
        <a:lstStyle/>
        <a:p>
          <a:endParaRPr lang="en-AU"/>
        </a:p>
      </dgm:t>
    </dgm:pt>
    <dgm:pt modelId="{B6B7FB0F-AC77-401B-A1CB-475C153097B3}" type="pres">
      <dgm:prSet presAssocID="{A8890BE6-A45A-4D7F-B0BE-693926BE02FA}" presName="dummy" presStyleCnt="0"/>
      <dgm:spPr/>
    </dgm:pt>
    <dgm:pt modelId="{9BEA4E77-5E7C-44F2-A7E5-F2DAFBA8CBA7}" type="pres">
      <dgm:prSet presAssocID="{A8890BE6-A45A-4D7F-B0BE-693926BE02FA}" presName="node" presStyleLbl="revTx" presStyleIdx="1" presStyleCnt="4">
        <dgm:presLayoutVars>
          <dgm:bulletEnabled val="1"/>
        </dgm:presLayoutVars>
      </dgm:prSet>
      <dgm:spPr/>
      <dgm:t>
        <a:bodyPr/>
        <a:lstStyle/>
        <a:p>
          <a:endParaRPr lang="en-AU"/>
        </a:p>
      </dgm:t>
    </dgm:pt>
    <dgm:pt modelId="{F0C79FE6-F585-4D93-AC0A-064527CCAD27}" type="pres">
      <dgm:prSet presAssocID="{96A734BD-A5A1-4E14-8959-7BD6430E575F}" presName="sibTrans" presStyleLbl="node1" presStyleIdx="1" presStyleCnt="4"/>
      <dgm:spPr/>
      <dgm:t>
        <a:bodyPr/>
        <a:lstStyle/>
        <a:p>
          <a:endParaRPr lang="en-AU"/>
        </a:p>
      </dgm:t>
    </dgm:pt>
    <dgm:pt modelId="{8D2A36A9-1BDB-4659-90BE-1B1DC86E190C}" type="pres">
      <dgm:prSet presAssocID="{D661CA6C-FAFE-485D-98AD-06A6F8399337}" presName="dummy" presStyleCnt="0"/>
      <dgm:spPr/>
    </dgm:pt>
    <dgm:pt modelId="{86F6F6C4-0FF4-4373-89EB-0073DE7845E3}" type="pres">
      <dgm:prSet presAssocID="{D661CA6C-FAFE-485D-98AD-06A6F8399337}" presName="node" presStyleLbl="revTx" presStyleIdx="2" presStyleCnt="4">
        <dgm:presLayoutVars>
          <dgm:bulletEnabled val="1"/>
        </dgm:presLayoutVars>
      </dgm:prSet>
      <dgm:spPr/>
      <dgm:t>
        <a:bodyPr/>
        <a:lstStyle/>
        <a:p>
          <a:endParaRPr lang="en-AU"/>
        </a:p>
      </dgm:t>
    </dgm:pt>
    <dgm:pt modelId="{2F73D923-38FF-4CEA-BBA1-2F928147B420}" type="pres">
      <dgm:prSet presAssocID="{6EEA6AB9-5AF7-4FBF-AE1F-EB8DCEDB71E0}" presName="sibTrans" presStyleLbl="node1" presStyleIdx="2" presStyleCnt="4"/>
      <dgm:spPr/>
      <dgm:t>
        <a:bodyPr/>
        <a:lstStyle/>
        <a:p>
          <a:endParaRPr lang="en-AU"/>
        </a:p>
      </dgm:t>
    </dgm:pt>
    <dgm:pt modelId="{F64583E6-9E79-4F04-951C-E263122B6A8B}" type="pres">
      <dgm:prSet presAssocID="{3F631DB2-1B3A-4497-B490-45333F12C7F7}" presName="dummy" presStyleCnt="0"/>
      <dgm:spPr/>
    </dgm:pt>
    <dgm:pt modelId="{C95E1685-C779-4D5D-98C5-0BD26977A26F}" type="pres">
      <dgm:prSet presAssocID="{3F631DB2-1B3A-4497-B490-45333F12C7F7}" presName="node" presStyleLbl="revTx" presStyleIdx="3" presStyleCnt="4">
        <dgm:presLayoutVars>
          <dgm:bulletEnabled val="1"/>
        </dgm:presLayoutVars>
      </dgm:prSet>
      <dgm:spPr/>
      <dgm:t>
        <a:bodyPr/>
        <a:lstStyle/>
        <a:p>
          <a:endParaRPr lang="en-AU"/>
        </a:p>
      </dgm:t>
    </dgm:pt>
    <dgm:pt modelId="{FF3A30F0-95A6-4B1C-9D71-55858840C5C2}" type="pres">
      <dgm:prSet presAssocID="{826BBA33-E23E-4BED-8E43-2C2CCDF4A2A9}" presName="sibTrans" presStyleLbl="node1" presStyleIdx="3" presStyleCnt="4"/>
      <dgm:spPr/>
      <dgm:t>
        <a:bodyPr/>
        <a:lstStyle/>
        <a:p>
          <a:endParaRPr lang="en-AU"/>
        </a:p>
      </dgm:t>
    </dgm:pt>
  </dgm:ptLst>
  <dgm:cxnLst>
    <dgm:cxn modelId="{3344F2E9-CC31-4DA5-A242-F7E2E3745655}" type="presOf" srcId="{D661CA6C-FAFE-485D-98AD-06A6F8399337}" destId="{86F6F6C4-0FF4-4373-89EB-0073DE7845E3}" srcOrd="0" destOrd="0" presId="urn:microsoft.com/office/officeart/2005/8/layout/cycle1"/>
    <dgm:cxn modelId="{1EB0C91B-CF9F-4686-A64E-B195F46BFA27}" srcId="{03CB9259-34B9-4887-AB0A-63B7058FB459}" destId="{D661CA6C-FAFE-485D-98AD-06A6F8399337}" srcOrd="2" destOrd="0" parTransId="{36CFA537-5737-44A7-8173-3F38314A0F77}" sibTransId="{6EEA6AB9-5AF7-4FBF-AE1F-EB8DCEDB71E0}"/>
    <dgm:cxn modelId="{CAC6B87C-6EB9-4809-9F11-142D164E2903}" srcId="{03CB9259-34B9-4887-AB0A-63B7058FB459}" destId="{A8890BE6-A45A-4D7F-B0BE-693926BE02FA}" srcOrd="1" destOrd="0" parTransId="{3B6B2197-9B6A-4589-8FC6-AF384CB14118}" sibTransId="{96A734BD-A5A1-4E14-8959-7BD6430E575F}"/>
    <dgm:cxn modelId="{985498FF-6863-451C-B422-B37F3591467B}" type="presOf" srcId="{3F631DB2-1B3A-4497-B490-45333F12C7F7}" destId="{C95E1685-C779-4D5D-98C5-0BD26977A26F}" srcOrd="0" destOrd="0" presId="urn:microsoft.com/office/officeart/2005/8/layout/cycle1"/>
    <dgm:cxn modelId="{2A7C91E9-AB76-4B8A-963D-C6ED9414026D}" type="presOf" srcId="{03CB9259-34B9-4887-AB0A-63B7058FB459}" destId="{0312D0F2-FF92-4464-8C51-ACE1EAE4AFFB}" srcOrd="0" destOrd="0" presId="urn:microsoft.com/office/officeart/2005/8/layout/cycle1"/>
    <dgm:cxn modelId="{69EE6D28-D7FE-4D52-9B18-82F9486AE06B}" type="presOf" srcId="{89D65EA2-EB32-4BD7-B453-B5A27B1DC56F}" destId="{FB122890-27CE-48DC-83A2-92DB422435D1}" srcOrd="0" destOrd="0" presId="urn:microsoft.com/office/officeart/2005/8/layout/cycle1"/>
    <dgm:cxn modelId="{9EEE64ED-F880-4AC5-8042-D8A2F6F16563}" type="presOf" srcId="{A8890BE6-A45A-4D7F-B0BE-693926BE02FA}" destId="{9BEA4E77-5E7C-44F2-A7E5-F2DAFBA8CBA7}" srcOrd="0" destOrd="0" presId="urn:microsoft.com/office/officeart/2005/8/layout/cycle1"/>
    <dgm:cxn modelId="{98FD446E-13C7-43F7-BB31-556FD7B96416}" type="presOf" srcId="{5838DD9C-87A4-43A8-BA6F-70C4E7772217}" destId="{4EE8B98C-F7B4-4D2C-BE0D-D2077061A6FC}" srcOrd="0" destOrd="0" presId="urn:microsoft.com/office/officeart/2005/8/layout/cycle1"/>
    <dgm:cxn modelId="{7425E034-1626-4A15-AA0C-53BD9288F85A}" srcId="{03CB9259-34B9-4887-AB0A-63B7058FB459}" destId="{5838DD9C-87A4-43A8-BA6F-70C4E7772217}" srcOrd="0" destOrd="0" parTransId="{CFEE7CED-18C7-42C5-B63F-7D677730C17C}" sibTransId="{89D65EA2-EB32-4BD7-B453-B5A27B1DC56F}"/>
    <dgm:cxn modelId="{054A017A-C385-45DD-BA35-9BEF97296DC1}" type="presOf" srcId="{96A734BD-A5A1-4E14-8959-7BD6430E575F}" destId="{F0C79FE6-F585-4D93-AC0A-064527CCAD27}" srcOrd="0" destOrd="0" presId="urn:microsoft.com/office/officeart/2005/8/layout/cycle1"/>
    <dgm:cxn modelId="{C30E4CE7-4C15-4632-AD0E-181BA7565F77}" type="presOf" srcId="{6EEA6AB9-5AF7-4FBF-AE1F-EB8DCEDB71E0}" destId="{2F73D923-38FF-4CEA-BBA1-2F928147B420}" srcOrd="0" destOrd="0" presId="urn:microsoft.com/office/officeart/2005/8/layout/cycle1"/>
    <dgm:cxn modelId="{0705DF04-4C64-4023-9D83-4816F804B70A}" srcId="{03CB9259-34B9-4887-AB0A-63B7058FB459}" destId="{3F631DB2-1B3A-4497-B490-45333F12C7F7}" srcOrd="3" destOrd="0" parTransId="{0B02061E-D895-426D-A7C9-D57685D469D6}" sibTransId="{826BBA33-E23E-4BED-8E43-2C2CCDF4A2A9}"/>
    <dgm:cxn modelId="{BBD2A801-5BA7-4276-AB5B-E837B1B631FD}" type="presOf" srcId="{826BBA33-E23E-4BED-8E43-2C2CCDF4A2A9}" destId="{FF3A30F0-95A6-4B1C-9D71-55858840C5C2}" srcOrd="0" destOrd="0" presId="urn:microsoft.com/office/officeart/2005/8/layout/cycle1"/>
    <dgm:cxn modelId="{15487687-38E6-4ED4-B064-2A57C6D0DED3}" type="presParOf" srcId="{0312D0F2-FF92-4464-8C51-ACE1EAE4AFFB}" destId="{ECBE32EB-1A6D-410F-A081-A0DA0EF3548B}" srcOrd="0" destOrd="0" presId="urn:microsoft.com/office/officeart/2005/8/layout/cycle1"/>
    <dgm:cxn modelId="{045871A7-0395-420E-8275-65AE2BFF8663}" type="presParOf" srcId="{0312D0F2-FF92-4464-8C51-ACE1EAE4AFFB}" destId="{4EE8B98C-F7B4-4D2C-BE0D-D2077061A6FC}" srcOrd="1" destOrd="0" presId="urn:microsoft.com/office/officeart/2005/8/layout/cycle1"/>
    <dgm:cxn modelId="{C65AEDD7-606D-4A67-A182-D58413677058}" type="presParOf" srcId="{0312D0F2-FF92-4464-8C51-ACE1EAE4AFFB}" destId="{FB122890-27CE-48DC-83A2-92DB422435D1}" srcOrd="2" destOrd="0" presId="urn:microsoft.com/office/officeart/2005/8/layout/cycle1"/>
    <dgm:cxn modelId="{4B8293CA-FC3B-411F-A28B-8AEDD7A73668}" type="presParOf" srcId="{0312D0F2-FF92-4464-8C51-ACE1EAE4AFFB}" destId="{B6B7FB0F-AC77-401B-A1CB-475C153097B3}" srcOrd="3" destOrd="0" presId="urn:microsoft.com/office/officeart/2005/8/layout/cycle1"/>
    <dgm:cxn modelId="{EDB63DEB-FF79-42DF-8647-CD2FC23AD3C4}" type="presParOf" srcId="{0312D0F2-FF92-4464-8C51-ACE1EAE4AFFB}" destId="{9BEA4E77-5E7C-44F2-A7E5-F2DAFBA8CBA7}" srcOrd="4" destOrd="0" presId="urn:microsoft.com/office/officeart/2005/8/layout/cycle1"/>
    <dgm:cxn modelId="{8DA8A166-4B5D-4CE8-9364-D601A83B7ABA}" type="presParOf" srcId="{0312D0F2-FF92-4464-8C51-ACE1EAE4AFFB}" destId="{F0C79FE6-F585-4D93-AC0A-064527CCAD27}" srcOrd="5" destOrd="0" presId="urn:microsoft.com/office/officeart/2005/8/layout/cycle1"/>
    <dgm:cxn modelId="{6BC0DF04-78BA-41C6-AF0B-0BA28AA26023}" type="presParOf" srcId="{0312D0F2-FF92-4464-8C51-ACE1EAE4AFFB}" destId="{8D2A36A9-1BDB-4659-90BE-1B1DC86E190C}" srcOrd="6" destOrd="0" presId="urn:microsoft.com/office/officeart/2005/8/layout/cycle1"/>
    <dgm:cxn modelId="{B3B530E1-BDDD-4901-82C3-F244F1E2107B}" type="presParOf" srcId="{0312D0F2-FF92-4464-8C51-ACE1EAE4AFFB}" destId="{86F6F6C4-0FF4-4373-89EB-0073DE7845E3}" srcOrd="7" destOrd="0" presId="urn:microsoft.com/office/officeart/2005/8/layout/cycle1"/>
    <dgm:cxn modelId="{CD1A1CF8-7CAD-4326-ABF7-4941CD9F55DF}" type="presParOf" srcId="{0312D0F2-FF92-4464-8C51-ACE1EAE4AFFB}" destId="{2F73D923-38FF-4CEA-BBA1-2F928147B420}" srcOrd="8" destOrd="0" presId="urn:microsoft.com/office/officeart/2005/8/layout/cycle1"/>
    <dgm:cxn modelId="{C504C02E-2DA6-43EF-B368-1374D26149F7}" type="presParOf" srcId="{0312D0F2-FF92-4464-8C51-ACE1EAE4AFFB}" destId="{F64583E6-9E79-4F04-951C-E263122B6A8B}" srcOrd="9" destOrd="0" presId="urn:microsoft.com/office/officeart/2005/8/layout/cycle1"/>
    <dgm:cxn modelId="{338CA57F-1A79-415C-B2A1-C0B2ED1AC5D0}" type="presParOf" srcId="{0312D0F2-FF92-4464-8C51-ACE1EAE4AFFB}" destId="{C95E1685-C779-4D5D-98C5-0BD26977A26F}" srcOrd="10" destOrd="0" presId="urn:microsoft.com/office/officeart/2005/8/layout/cycle1"/>
    <dgm:cxn modelId="{DDF08A97-252C-4B76-BE17-EB329BEE8A14}" type="presParOf" srcId="{0312D0F2-FF92-4464-8C51-ACE1EAE4AFFB}" destId="{FF3A30F0-95A6-4B1C-9D71-55858840C5C2}" srcOrd="11"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4/6/2015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209359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4/6/2015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4179696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trainees to class and informs them the unit titled “Provide</a:t>
            </a:r>
            <a:r>
              <a:rPr lang="en-US" baseline="0" dirty="0" smtClean="0"/>
              <a:t> Bell Boy/Porter Services”.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738237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briefs trainees the five subject elements.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699850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52858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introduces Element 1 - </a:t>
            </a:r>
            <a:r>
              <a:rPr lang="en-AU" baseline="0" dirty="0" smtClean="0"/>
              <a:t>Identify the role of a bellboy or porter.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442638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smtClean="0">
                <a:solidFill>
                  <a:schemeClr val="tx1"/>
                </a:solidFill>
                <a:ea typeface="+mn-ea"/>
                <a:cs typeface="+mn-cs"/>
              </a:rPr>
              <a:t>Porters’ duties include: </a:t>
            </a:r>
          </a:p>
          <a:p>
            <a:r>
              <a:rPr lang="en-AU" sz="1200" b="0" i="0" u="none" strike="noStrike" kern="1200" baseline="0" dirty="0" smtClean="0">
                <a:solidFill>
                  <a:schemeClr val="tx1"/>
                </a:solidFill>
                <a:ea typeface="+mn-ea"/>
                <a:cs typeface="+mn-cs"/>
              </a:rPr>
              <a:t>• Meeting and Greeting the guest, and assisting with luggage</a:t>
            </a:r>
          </a:p>
          <a:p>
            <a:r>
              <a:rPr lang="en-AU" sz="1200" b="0" i="0" u="none" strike="noStrike" kern="1200" baseline="0" dirty="0" smtClean="0">
                <a:solidFill>
                  <a:schemeClr val="tx1"/>
                </a:solidFill>
                <a:ea typeface="+mn-ea"/>
                <a:cs typeface="+mn-cs"/>
              </a:rPr>
              <a:t>• Rooming the Guest; showing them how their room operates, location of light switches, environmental controls  </a:t>
            </a:r>
          </a:p>
          <a:p>
            <a:r>
              <a:rPr lang="en-AU" sz="1200" b="0" i="0" u="none" strike="noStrike" kern="1200" baseline="0" dirty="0" smtClean="0">
                <a:solidFill>
                  <a:schemeClr val="tx1"/>
                </a:solidFill>
                <a:ea typeface="+mn-ea"/>
                <a:cs typeface="+mn-cs"/>
              </a:rPr>
              <a:t>• Luggage management </a:t>
            </a:r>
          </a:p>
          <a:p>
            <a:r>
              <a:rPr lang="en-AU" sz="1200" b="0" i="0" u="none" strike="noStrike" kern="1200" baseline="0" dirty="0" smtClean="0">
                <a:solidFill>
                  <a:schemeClr val="tx1"/>
                </a:solidFill>
                <a:ea typeface="+mn-ea"/>
                <a:cs typeface="+mn-cs"/>
              </a:rPr>
              <a:t>• Marketing the areas of the Hotel or resort including in house businesses and services </a:t>
            </a:r>
          </a:p>
          <a:p>
            <a:r>
              <a:rPr lang="en-AU" sz="1200" b="0" i="0" u="none" strike="noStrike" kern="1200" baseline="0" dirty="0" smtClean="0">
                <a:solidFill>
                  <a:schemeClr val="tx1"/>
                </a:solidFill>
                <a:ea typeface="+mn-ea"/>
                <a:cs typeface="+mn-cs"/>
              </a:rPr>
              <a:t>• Taking messages or mail for in house guests. </a:t>
            </a:r>
          </a:p>
          <a:p>
            <a:r>
              <a:rPr lang="en-AU" sz="1200" b="0" i="0" u="none" strike="noStrike" kern="1200" baseline="0" dirty="0" smtClean="0">
                <a:solidFill>
                  <a:schemeClr val="tx1"/>
                </a:solidFill>
                <a:ea typeface="+mn-ea"/>
                <a:cs typeface="+mn-cs"/>
              </a:rPr>
              <a:t>• Solving guest’s problems and queries about local and recreational facilities.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In some venues staff are multi-skilled and cross-trained, meaning that several different jobs will be performed by the same person. </a:t>
            </a:r>
          </a:p>
          <a:p>
            <a:r>
              <a:rPr lang="en-AU" sz="1200" b="0" i="0" u="none" strike="noStrike" kern="1200" baseline="0" dirty="0" smtClean="0">
                <a:solidFill>
                  <a:schemeClr val="tx1"/>
                </a:solidFill>
                <a:ea typeface="+mn-ea"/>
                <a:cs typeface="+mn-cs"/>
              </a:rPr>
              <a:t>For example: </a:t>
            </a:r>
          </a:p>
          <a:p>
            <a:pPr>
              <a:buFont typeface="Arial" pitchFamily="34" charset="0"/>
              <a:buNone/>
            </a:pPr>
            <a:r>
              <a:rPr lang="en-AU" sz="1200" b="0" i="0" u="none" strike="noStrike" kern="1200" baseline="0" dirty="0" smtClean="0">
                <a:solidFill>
                  <a:schemeClr val="tx1"/>
                </a:solidFill>
                <a:ea typeface="+mn-ea"/>
                <a:cs typeface="+mn-cs"/>
              </a:rPr>
              <a:t>• the concierge and the porter can be the same person </a:t>
            </a:r>
          </a:p>
          <a:p>
            <a:pPr>
              <a:buFont typeface="Arial" pitchFamily="34" charset="0"/>
              <a:buChar char="•"/>
            </a:pPr>
            <a:r>
              <a:rPr lang="en-AU" sz="1200" b="0" i="0" u="none" strike="noStrike" kern="1200" baseline="0" dirty="0" smtClean="0">
                <a:solidFill>
                  <a:schemeClr val="tx1"/>
                </a:solidFill>
                <a:ea typeface="+mn-ea"/>
                <a:cs typeface="+mn-cs"/>
              </a:rPr>
              <a:t> doorperson duties may be shared by the porters or concierge person</a:t>
            </a:r>
          </a:p>
          <a:p>
            <a:pPr marL="171450" indent="-171450">
              <a:buFont typeface="Arial" pitchFamily="34" charset="0"/>
              <a:buChar char="•"/>
            </a:pPr>
            <a:r>
              <a:rPr lang="en-AU" sz="1200" b="0" i="0" u="none" strike="noStrike" kern="1200" baseline="0" dirty="0" smtClean="0">
                <a:solidFill>
                  <a:schemeClr val="tx1"/>
                </a:solidFill>
                <a:ea typeface="+mn-ea"/>
                <a:cs typeface="+mn-cs"/>
              </a:rPr>
              <a:t>Sometimes Porters share front desk duties and staff the reservations section.</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019814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a:t>
            </a:r>
            <a:r>
              <a:rPr lang="en-AU" baseline="0" dirty="0" smtClean="0"/>
              <a:t> to explain the Concierge department diagram.</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4288195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0" i="0" u="none" strike="noStrike" kern="1200" baseline="0" dirty="0" smtClean="0">
                <a:solidFill>
                  <a:schemeClr val="tx1"/>
                </a:solidFill>
                <a:ea typeface="+mn-ea"/>
                <a:cs typeface="+mn-cs"/>
              </a:rPr>
              <a:t>The porter is often the first point of contact for the guest when arriving at an accommodation establishment. </a:t>
            </a:r>
          </a:p>
          <a:p>
            <a:r>
              <a:rPr lang="en-AU" sz="1200" b="0" i="0" u="none" strike="noStrike" kern="1200" baseline="0" dirty="0" smtClean="0">
                <a:solidFill>
                  <a:schemeClr val="tx1"/>
                </a:solidFill>
                <a:ea typeface="+mn-ea"/>
                <a:cs typeface="+mn-cs"/>
              </a:rPr>
              <a:t>It is therefore important for the porter to create a good first impression. </a:t>
            </a:r>
          </a:p>
          <a:p>
            <a:r>
              <a:rPr lang="en-AU" sz="1200" b="0" i="0" u="none" strike="noStrike" kern="1200" baseline="0" dirty="0" smtClean="0">
                <a:solidFill>
                  <a:schemeClr val="tx1"/>
                </a:solidFill>
                <a:ea typeface="+mn-ea"/>
                <a:cs typeface="+mn-cs"/>
              </a:rPr>
              <a:t>To achieve a good first impression the porter must be: </a:t>
            </a:r>
          </a:p>
          <a:p>
            <a:r>
              <a:rPr lang="en-AU" sz="1200" b="0" i="0" u="none" strike="noStrike" kern="1200" baseline="0" dirty="0" smtClean="0">
                <a:solidFill>
                  <a:schemeClr val="tx1"/>
                </a:solidFill>
                <a:ea typeface="+mn-ea"/>
                <a:cs typeface="+mn-cs"/>
              </a:rPr>
              <a:t>• well presented </a:t>
            </a:r>
          </a:p>
          <a:p>
            <a:r>
              <a:rPr lang="en-AU" sz="1200" b="0" i="0" u="none" strike="noStrike" kern="1200" baseline="0" dirty="0" smtClean="0">
                <a:solidFill>
                  <a:schemeClr val="tx1"/>
                </a:solidFill>
                <a:ea typeface="+mn-ea"/>
                <a:cs typeface="+mn-cs"/>
              </a:rPr>
              <a:t>• friendly, welcoming, and courteous </a:t>
            </a:r>
          </a:p>
          <a:p>
            <a:r>
              <a:rPr lang="en-AU" sz="1200" b="0" i="0" u="none" strike="noStrike" kern="1200" baseline="0" dirty="0" smtClean="0">
                <a:solidFill>
                  <a:schemeClr val="tx1"/>
                </a:solidFill>
                <a:ea typeface="+mn-ea"/>
                <a:cs typeface="+mn-cs"/>
              </a:rPr>
              <a:t>• organised and efficient </a:t>
            </a:r>
          </a:p>
          <a:p>
            <a:r>
              <a:rPr lang="en-AU" sz="1200" b="0" i="0" u="none" strike="noStrike" kern="1200" baseline="0" dirty="0" smtClean="0">
                <a:solidFill>
                  <a:schemeClr val="tx1"/>
                </a:solidFill>
                <a:ea typeface="+mn-ea"/>
                <a:cs typeface="+mn-cs"/>
              </a:rPr>
              <a:t>• able to communicate clearly and accurately with the guests. </a:t>
            </a:r>
          </a:p>
          <a:p>
            <a:r>
              <a:rPr lang="en-AU" sz="1200" b="0" i="0" u="none" strike="noStrike" kern="1200" baseline="0" dirty="0" smtClean="0">
                <a:solidFill>
                  <a:schemeClr val="tx1"/>
                </a:solidFill>
                <a:ea typeface="+mn-ea"/>
                <a:cs typeface="+mn-cs"/>
              </a:rPr>
              <a:t>A porters presentation will have a lasting impression on the guest and it is important that this impression be of the highest standard at all times. </a:t>
            </a:r>
          </a:p>
          <a:p>
            <a:r>
              <a:rPr lang="en-AU" sz="1200" b="0" i="0" u="none" strike="noStrike" kern="1200" baseline="0" dirty="0" smtClean="0">
                <a:solidFill>
                  <a:schemeClr val="tx1"/>
                </a:solidFill>
                <a:ea typeface="+mn-ea"/>
                <a:cs typeface="+mn-cs"/>
              </a:rPr>
              <a:t>Note the use of the words “at all times” –a porter must look as presentable five minutes before they finish, as they did when they started. </a:t>
            </a:r>
          </a:p>
          <a:p>
            <a:r>
              <a:rPr lang="en-AU" sz="1200" b="0" i="0" u="none" strike="noStrike" kern="1200" baseline="0" dirty="0" smtClean="0">
                <a:solidFill>
                  <a:schemeClr val="tx1"/>
                </a:solidFill>
                <a:ea typeface="+mn-ea"/>
                <a:cs typeface="+mn-cs"/>
              </a:rPr>
              <a:t>How staff stand and move reflects on the image of their personal presentation,  be aware of  posture, body language and the speed of  movement.</a:t>
            </a:r>
          </a:p>
          <a:p>
            <a:r>
              <a:rPr lang="en-AU" sz="1200" b="0" i="0" u="none" strike="noStrike" kern="1200" baseline="0" dirty="0" smtClean="0">
                <a:solidFill>
                  <a:schemeClr val="tx1"/>
                </a:solidFill>
                <a:ea typeface="+mn-ea"/>
                <a:cs typeface="+mn-cs"/>
              </a:rPr>
              <a:t>A porter should move with  dignity and purpose</a:t>
            </a:r>
          </a:p>
          <a:p>
            <a:r>
              <a:rPr lang="en-AU" sz="1200" b="0" i="0" u="none" strike="noStrike" kern="1200" baseline="0" dirty="0" smtClean="0">
                <a:solidFill>
                  <a:schemeClr val="tx1"/>
                </a:solidFill>
                <a:ea typeface="+mn-ea"/>
                <a:cs typeface="+mn-cs"/>
              </a:rPr>
              <a:t>Remember that a uniform, as well as personal grooming and deportment, completes the physical side of a porters professional and personal presentation.</a:t>
            </a:r>
          </a:p>
          <a:p>
            <a:endParaRPr lang="en-AU" sz="1200" b="1" i="0" u="none" strike="noStrike" kern="1200" baseline="0" dirty="0" smtClean="0">
              <a:solidFill>
                <a:schemeClr val="tx1"/>
              </a:solidFill>
              <a:ea typeface="+mn-ea"/>
              <a:cs typeface="+mn-cs"/>
            </a:endParaRPr>
          </a:p>
          <a:p>
            <a:r>
              <a:rPr lang="en-AU" sz="1200" b="1" i="0" u="none" strike="noStrike" kern="1200" baseline="0" dirty="0" smtClean="0">
                <a:solidFill>
                  <a:schemeClr val="tx1"/>
                </a:solidFill>
                <a:ea typeface="+mn-ea"/>
                <a:cs typeface="+mn-cs"/>
              </a:rPr>
              <a:t>Class discussion:</a:t>
            </a:r>
          </a:p>
          <a:p>
            <a:r>
              <a:rPr lang="en-AU" sz="1200" b="0" i="0" u="none" strike="noStrike" kern="1200" baseline="0" dirty="0" smtClean="0">
                <a:solidFill>
                  <a:schemeClr val="tx1"/>
                </a:solidFill>
                <a:ea typeface="+mn-ea"/>
                <a:cs typeface="+mn-cs"/>
              </a:rPr>
              <a:t>Consider what type of uniform is required?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How will it vary from location and star rating?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756087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smtClean="0">
                <a:solidFill>
                  <a:schemeClr val="tx1"/>
                </a:solidFill>
                <a:ea typeface="+mn-ea"/>
                <a:cs typeface="+mn-cs"/>
              </a:rPr>
              <a:t>As overlap in the roles of concierges and porters may often occur,  take note of Les Clefs d’Or. </a:t>
            </a:r>
          </a:p>
          <a:p>
            <a:r>
              <a:rPr lang="en-AU" sz="1200" b="0" i="0" u="none" strike="noStrike" kern="1200" baseline="0" dirty="0" smtClean="0">
                <a:solidFill>
                  <a:schemeClr val="tx1"/>
                </a:solidFill>
                <a:ea typeface="+mn-ea"/>
                <a:cs typeface="+mn-cs"/>
              </a:rPr>
              <a:t>This society is a worldwide organisation of concierges. It was started in France in 1952 by the head porter of a large Parisian hotel with the aim of uniting all hotel porters in an association based on friendship, solidarity and fraternity. </a:t>
            </a:r>
          </a:p>
          <a:p>
            <a:r>
              <a:rPr lang="en-AU" sz="1200" b="0" i="0" u="none" strike="noStrike" kern="1200" baseline="0" dirty="0" smtClean="0">
                <a:solidFill>
                  <a:schemeClr val="tx1"/>
                </a:solidFill>
                <a:ea typeface="+mn-ea"/>
                <a:cs typeface="+mn-cs"/>
              </a:rPr>
              <a:t>Today, all around the world, the crossed keys are proudly worn on the lapels of concierges and their assistants.</a:t>
            </a:r>
          </a:p>
          <a:p>
            <a:endParaRPr lang="en-AU" sz="1200" b="0" i="0" u="none" strike="noStrike"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i="0" u="none" strike="noStrike" kern="1200" baseline="0" dirty="0" smtClean="0">
                <a:solidFill>
                  <a:schemeClr val="tx1"/>
                </a:solidFill>
                <a:ea typeface="+mn-ea"/>
                <a:cs typeface="+mn-cs"/>
              </a:rPr>
              <a:t>Class activity</a:t>
            </a:r>
            <a:endParaRPr lang="en-AU" sz="1200" b="0" i="0" u="none" strike="noStrike"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baseline="0" dirty="0" smtClean="0">
                <a:solidFill>
                  <a:schemeClr val="tx1"/>
                </a:solidFill>
                <a:ea typeface="+mn-ea"/>
                <a:cs typeface="+mn-cs"/>
              </a:rPr>
              <a:t>Why is a concierge who is a member of the Society of the Golden keys important to a Hotel’s prestige? 	</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41432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r>
              <a:rPr lang="en-US" sz="1200" dirty="0" smtClean="0">
                <a:solidFill>
                  <a:schemeClr val="tx1">
                    <a:lumMod val="85000"/>
                  </a:schemeClr>
                </a:solidFill>
              </a:rPr>
              <a:t>Porters interact with other departments</a:t>
            </a:r>
            <a:r>
              <a:rPr lang="en-US" sz="1200" baseline="0" dirty="0" smtClean="0">
                <a:solidFill>
                  <a:schemeClr val="tx1">
                    <a:lumMod val="85000"/>
                  </a:schemeClr>
                </a:solidFill>
              </a:rPr>
              <a:t> and external businesses .</a:t>
            </a:r>
            <a:endParaRPr lang="en-US" sz="1200" dirty="0" smtClean="0">
              <a:solidFill>
                <a:schemeClr val="tx1">
                  <a:lumMod val="85000"/>
                </a:schemeClr>
              </a:solidFill>
            </a:endParaRPr>
          </a:p>
          <a:p>
            <a:pPr>
              <a:lnSpc>
                <a:spcPct val="80000"/>
              </a:lnSpc>
            </a:pPr>
            <a:r>
              <a:rPr lang="en-US" sz="1200" dirty="0" smtClean="0">
                <a:solidFill>
                  <a:schemeClr val="tx1">
                    <a:lumMod val="85000"/>
                  </a:schemeClr>
                </a:solidFill>
              </a:rPr>
              <a:t>Arranging hire cars, booking transport or tours.</a:t>
            </a:r>
          </a:p>
          <a:p>
            <a:pPr>
              <a:lnSpc>
                <a:spcPct val="80000"/>
              </a:lnSpc>
            </a:pPr>
            <a:r>
              <a:rPr lang="en-US" sz="1200" dirty="0" smtClean="0">
                <a:solidFill>
                  <a:schemeClr val="tx1">
                    <a:lumMod val="85000"/>
                  </a:schemeClr>
                </a:solidFill>
              </a:rPr>
              <a:t> Booking tickets to the theaters, sporting venues or other entertainment</a:t>
            </a:r>
          </a:p>
          <a:p>
            <a:pPr>
              <a:lnSpc>
                <a:spcPct val="80000"/>
              </a:lnSpc>
            </a:pPr>
            <a:r>
              <a:rPr lang="en-US" sz="1200" dirty="0" smtClean="0">
                <a:solidFill>
                  <a:schemeClr val="tx1">
                    <a:lumMod val="85000"/>
                  </a:schemeClr>
                </a:solidFill>
              </a:rPr>
              <a:t>Confirming travel arrangements e.g. airline tickets.</a:t>
            </a:r>
          </a:p>
          <a:p>
            <a:pPr>
              <a:lnSpc>
                <a:spcPct val="80000"/>
              </a:lnSpc>
            </a:pPr>
            <a:r>
              <a:rPr lang="en-US" sz="1200" dirty="0" smtClean="0">
                <a:solidFill>
                  <a:schemeClr val="tx1">
                    <a:lumMod val="85000"/>
                  </a:schemeClr>
                </a:solidFill>
              </a:rPr>
              <a:t>Make restaurant reservations and bookings.</a:t>
            </a:r>
          </a:p>
          <a:p>
            <a:pPr>
              <a:lnSpc>
                <a:spcPct val="80000"/>
              </a:lnSpc>
            </a:pPr>
            <a:r>
              <a:rPr lang="en-US" sz="1200" dirty="0" smtClean="0">
                <a:solidFill>
                  <a:schemeClr val="tx1">
                    <a:lumMod val="85000"/>
                  </a:schemeClr>
                </a:solidFill>
              </a:rPr>
              <a:t>Deliver Mail and Messages</a:t>
            </a:r>
          </a:p>
          <a:p>
            <a:pPr>
              <a:lnSpc>
                <a:spcPct val="80000"/>
              </a:lnSpc>
            </a:pPr>
            <a:r>
              <a:rPr lang="en-US" sz="1200" dirty="0" smtClean="0">
                <a:solidFill>
                  <a:schemeClr val="tx1">
                    <a:lumMod val="85000"/>
                  </a:schemeClr>
                </a:solidFill>
              </a:rPr>
              <a:t>The Concierge may also be responsible for lobby security and driveway supervision</a:t>
            </a:r>
          </a:p>
          <a:p>
            <a:r>
              <a:rPr lang="en-AU" sz="1200" kern="1200" dirty="0" smtClean="0">
                <a:solidFill>
                  <a:schemeClr val="tx1"/>
                </a:solidFill>
                <a:ea typeface="+mn-ea"/>
                <a:cs typeface="+mn-cs"/>
              </a:rPr>
              <a:t>grooming standard expected may include: </a:t>
            </a:r>
          </a:p>
          <a:p>
            <a:r>
              <a:rPr lang="en-AU" sz="1200" kern="1200" dirty="0" smtClean="0">
                <a:solidFill>
                  <a:schemeClr val="tx1"/>
                </a:solidFill>
                <a:ea typeface="+mn-ea"/>
                <a:cs typeface="+mn-cs"/>
              </a:rPr>
              <a:t>• Good posture </a:t>
            </a:r>
          </a:p>
          <a:p>
            <a:r>
              <a:rPr lang="en-AU" sz="1200" kern="1200" dirty="0" smtClean="0">
                <a:solidFill>
                  <a:schemeClr val="tx1"/>
                </a:solidFill>
                <a:ea typeface="+mn-ea"/>
                <a:cs typeface="+mn-cs"/>
              </a:rPr>
              <a:t>• Basic jewellery</a:t>
            </a:r>
          </a:p>
          <a:p>
            <a:r>
              <a:rPr lang="en-AU" sz="1200" kern="1200" dirty="0" smtClean="0">
                <a:solidFill>
                  <a:schemeClr val="tx1"/>
                </a:solidFill>
                <a:ea typeface="+mn-ea"/>
                <a:cs typeface="+mn-cs"/>
              </a:rPr>
              <a:t>• Odour- Good dental health, Lightly-scented aftershave or perfume, Deodorant lightly scented  </a:t>
            </a:r>
          </a:p>
          <a:p>
            <a:r>
              <a:rPr lang="en-AU" sz="1200" kern="1200" dirty="0" smtClean="0">
                <a:solidFill>
                  <a:schemeClr val="tx1"/>
                </a:solidFill>
                <a:ea typeface="+mn-ea"/>
                <a:cs typeface="+mn-cs"/>
              </a:rPr>
              <a:t>• Make-up is kept natural </a:t>
            </a:r>
          </a:p>
          <a:p>
            <a:r>
              <a:rPr lang="en-AU" sz="1200" kern="1200" dirty="0" smtClean="0">
                <a:solidFill>
                  <a:schemeClr val="tx1"/>
                </a:solidFill>
                <a:ea typeface="+mn-ea"/>
                <a:cs typeface="+mn-cs"/>
              </a:rPr>
              <a:t>• Hygiene, good personal hygiene habits, cuts and sores must be kept covered with a clean dressing. </a:t>
            </a:r>
          </a:p>
          <a:p>
            <a:r>
              <a:rPr lang="en-AU" sz="1200" kern="1200" dirty="0" smtClean="0">
                <a:solidFill>
                  <a:schemeClr val="tx1"/>
                </a:solidFill>
                <a:ea typeface="+mn-ea"/>
                <a:cs typeface="+mn-cs"/>
              </a:rPr>
              <a:t>• Hair; Clean shaven or whiskers neatly trimmed </a:t>
            </a:r>
          </a:p>
          <a:p>
            <a:r>
              <a:rPr lang="en-AU" sz="1200" kern="1200" dirty="0" smtClean="0">
                <a:solidFill>
                  <a:schemeClr val="tx1"/>
                </a:solidFill>
                <a:ea typeface="+mn-ea"/>
                <a:cs typeface="+mn-cs"/>
              </a:rPr>
              <a:t>• Hair neat and tidy and tied back, if appropriate </a:t>
            </a:r>
          </a:p>
          <a:p>
            <a:r>
              <a:rPr lang="en-AU" sz="1200" kern="1200" dirty="0" smtClean="0">
                <a:solidFill>
                  <a:schemeClr val="tx1"/>
                </a:solidFill>
                <a:ea typeface="+mn-ea"/>
                <a:cs typeface="+mn-cs"/>
              </a:rPr>
              <a:t>• Hands must be clean and well cared for at all times Manicured nails with natural coloured polish </a:t>
            </a:r>
          </a:p>
          <a:p>
            <a:r>
              <a:rPr lang="en-AU" sz="1200" kern="1200" dirty="0" smtClean="0">
                <a:solidFill>
                  <a:schemeClr val="tx1"/>
                </a:solidFill>
                <a:ea typeface="+mn-ea"/>
                <a:cs typeface="+mn-cs"/>
              </a:rPr>
              <a:t>• Clean and pressed uniform, low heel, polished shoes  </a:t>
            </a:r>
          </a:p>
          <a:p>
            <a:pPr>
              <a:lnSpc>
                <a:spcPct val="80000"/>
              </a:lnSpc>
            </a:pPr>
            <a:endParaRPr lang="en-US" sz="1200" dirty="0">
              <a:solidFill>
                <a:schemeClr val="tx1">
                  <a:lumMod val="85000"/>
                </a:schemeClr>
              </a:solidFill>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446338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VIPs are often ranked and include:</a:t>
            </a: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regular guests, return guests will have rewards  such as a fruit basket or</a:t>
            </a:r>
            <a:r>
              <a:rPr lang="en-AU" sz="1200" kern="1200" baseline="0" dirty="0" smtClean="0">
                <a:solidFill>
                  <a:schemeClr val="tx1"/>
                </a:solidFill>
                <a:ea typeface="+mn-ea"/>
                <a:cs typeface="+mn-cs"/>
              </a:rPr>
              <a:t> upgrade</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Home country government officials,</a:t>
            </a:r>
            <a:r>
              <a:rPr lang="en-AU" sz="1200" kern="1200" baseline="0" dirty="0" smtClean="0">
                <a:solidFill>
                  <a:schemeClr val="tx1"/>
                </a:solidFill>
                <a:ea typeface="+mn-ea"/>
                <a:cs typeface="+mn-cs"/>
              </a:rPr>
              <a:t> heads of state, ministers , military leaders, etc</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Company executive, CEOs</a:t>
            </a:r>
            <a:r>
              <a:rPr lang="en-AU" sz="1200" kern="1200" baseline="0" dirty="0" smtClean="0">
                <a:solidFill>
                  <a:schemeClr val="tx1"/>
                </a:solidFill>
                <a:ea typeface="+mn-ea"/>
                <a:cs typeface="+mn-cs"/>
              </a:rPr>
              <a:t> or managing directors,</a:t>
            </a:r>
            <a:r>
              <a:rPr lang="en-AU" sz="1200" kern="1200" dirty="0" smtClean="0">
                <a:solidFill>
                  <a:schemeClr val="tx1"/>
                </a:solidFill>
                <a:ea typeface="+mn-ea"/>
                <a:cs typeface="+mn-cs"/>
              </a:rPr>
              <a:t> board</a:t>
            </a:r>
            <a:r>
              <a:rPr lang="en-AU" sz="1200" kern="1200" baseline="0" dirty="0" smtClean="0">
                <a:solidFill>
                  <a:schemeClr val="tx1"/>
                </a:solidFill>
                <a:ea typeface="+mn-ea"/>
                <a:cs typeface="+mn-cs"/>
              </a:rPr>
              <a:t> members and business tycoons or owners.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International or foreign dignitaries,</a:t>
            </a:r>
            <a:r>
              <a:rPr lang="en-AU" sz="1200" kern="1200" baseline="0" dirty="0" smtClean="0">
                <a:solidFill>
                  <a:schemeClr val="tx1"/>
                </a:solidFill>
                <a:ea typeface="+mn-ea"/>
                <a:cs typeface="+mn-cs"/>
              </a:rPr>
              <a:t>  heads of state, ministers , military leaders, etc</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Celebrities, actors,</a:t>
            </a:r>
            <a:r>
              <a:rPr lang="en-AU" sz="1200" kern="1200" baseline="0" dirty="0" smtClean="0">
                <a:solidFill>
                  <a:schemeClr val="tx1"/>
                </a:solidFill>
                <a:ea typeface="+mn-ea"/>
                <a:cs typeface="+mn-cs"/>
              </a:rPr>
              <a:t> performers, athletes, notables.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Titled people and Royalty. </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There may be a policy and protocols for addressing and escorting VIPs to their rooms. There will</a:t>
            </a:r>
            <a:r>
              <a:rPr lang="en-AU" sz="1200" kern="1200" baseline="0" dirty="0" smtClean="0">
                <a:solidFill>
                  <a:schemeClr val="tx1"/>
                </a:solidFill>
                <a:ea typeface="+mn-ea"/>
                <a:cs typeface="+mn-cs"/>
              </a:rPr>
              <a:t> established practice and processes and these guests may arrive with their own staff and large amounts of luggage.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613843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AU" sz="1200" b="0" i="0" u="none" strike="noStrike" kern="1200" baseline="0" dirty="0" smtClean="0">
                <a:solidFill>
                  <a:schemeClr val="tx1"/>
                </a:solidFill>
                <a:ea typeface="+mn-ea"/>
                <a:cs typeface="+mn-cs"/>
              </a:rPr>
              <a:t>The first impression of the establishment is often affected by the way the guest is greeted. the use of effective and appropriate non-verbal communication (body language).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It is critical that the message sent by the body language is in-keeping with the verbal message sent. </a:t>
            </a:r>
          </a:p>
          <a:p>
            <a:endParaRPr lang="en-AU" sz="1200" b="0" i="0" u="none" strike="noStrike" kern="1200" baseline="0" dirty="0" smtClean="0">
              <a:solidFill>
                <a:schemeClr val="tx1"/>
              </a:solidFill>
              <a:ea typeface="+mn-ea"/>
              <a:cs typeface="+mn-cs"/>
            </a:endParaRPr>
          </a:p>
          <a:p>
            <a:r>
              <a:rPr lang="en-AU" sz="1200" b="1" i="0" u="none" strike="noStrike" kern="1200" baseline="0" dirty="0" smtClean="0">
                <a:solidFill>
                  <a:schemeClr val="tx1"/>
                </a:solidFill>
                <a:ea typeface="+mn-ea"/>
                <a:cs typeface="+mn-cs"/>
              </a:rPr>
              <a:t>Class activity</a:t>
            </a:r>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Identify non-verbal gestures that could be used to direct guests to;</a:t>
            </a:r>
          </a:p>
          <a:p>
            <a:pPr marL="171450" indent="-171450">
              <a:buFont typeface="Arial" pitchFamily="34" charset="0"/>
              <a:buChar char="•"/>
            </a:pPr>
            <a:r>
              <a:rPr lang="en-AU" sz="1200" b="0" i="0" u="none" strike="noStrike" kern="1200" baseline="0" dirty="0" smtClean="0">
                <a:solidFill>
                  <a:schemeClr val="tx1"/>
                </a:solidFill>
                <a:ea typeface="+mn-ea"/>
                <a:cs typeface="+mn-cs"/>
              </a:rPr>
              <a:t>Greet the Guests</a:t>
            </a:r>
          </a:p>
          <a:p>
            <a:pPr marL="171450" indent="-171450">
              <a:buFont typeface="Arial" pitchFamily="34" charset="0"/>
              <a:buChar char="•"/>
            </a:pPr>
            <a:r>
              <a:rPr lang="en-AU" sz="1200" b="0" i="0" u="none" strike="noStrike" kern="1200" baseline="0" dirty="0" smtClean="0">
                <a:solidFill>
                  <a:schemeClr val="tx1"/>
                </a:solidFill>
                <a:ea typeface="+mn-ea"/>
                <a:cs typeface="+mn-cs"/>
              </a:rPr>
              <a:t>Through the front door</a:t>
            </a:r>
          </a:p>
          <a:p>
            <a:pPr marL="171450" indent="-171450">
              <a:buFont typeface="Arial" pitchFamily="34" charset="0"/>
              <a:buChar char="•"/>
            </a:pPr>
            <a:r>
              <a:rPr lang="en-AU" sz="1200" b="0" i="0" u="none" strike="noStrike" kern="1200" baseline="0" dirty="0" smtClean="0">
                <a:solidFill>
                  <a:schemeClr val="tx1"/>
                </a:solidFill>
                <a:ea typeface="+mn-ea"/>
                <a:cs typeface="+mn-cs"/>
              </a:rPr>
              <a:t>Reception desk to check in</a:t>
            </a:r>
          </a:p>
          <a:p>
            <a:pPr marL="171450" indent="-171450">
              <a:buFont typeface="Arial" pitchFamily="34" charset="0"/>
              <a:buChar char="•"/>
            </a:pPr>
            <a:r>
              <a:rPr lang="en-AU" sz="1200" b="0" i="0" u="none" strike="noStrike" kern="1200" baseline="0" dirty="0" smtClean="0">
                <a:solidFill>
                  <a:schemeClr val="tx1"/>
                </a:solidFill>
                <a:ea typeface="+mn-ea"/>
                <a:cs typeface="+mn-cs"/>
              </a:rPr>
              <a:t>Into the Lift or elevator.</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Porters need to be well prepared and ready when greeting guests, able to give prompt and courteous service. Be aware of cultural and behavioural conventions including the use of honorifics and social etiquette.</a:t>
            </a:r>
          </a:p>
          <a:p>
            <a:r>
              <a:rPr lang="en-AU" sz="1200" b="0" i="0" u="none" strike="noStrike" kern="1200" baseline="0" dirty="0" smtClean="0">
                <a:solidFill>
                  <a:schemeClr val="tx1"/>
                </a:solidFill>
                <a:ea typeface="+mn-ea"/>
                <a:cs typeface="+mn-cs"/>
              </a:rPr>
              <a:t> establishing a relation and connection with the guest that is characterised by agreement and harmony. </a:t>
            </a:r>
          </a:p>
          <a:p>
            <a:r>
              <a:rPr lang="en-AU" sz="1200" b="0" i="0" u="none" strike="noStrike" kern="1200" baseline="0" dirty="0" smtClean="0">
                <a:solidFill>
                  <a:schemeClr val="tx1"/>
                </a:solidFill>
                <a:ea typeface="+mn-ea"/>
                <a:cs typeface="+mn-cs"/>
              </a:rPr>
              <a:t>To achieve these outcomes when communicating with the guest, the valet must always: </a:t>
            </a:r>
          </a:p>
          <a:p>
            <a:r>
              <a:rPr lang="en-AU" sz="1200" b="0" i="0" u="none" strike="noStrike" kern="1200" baseline="0" dirty="0" smtClean="0">
                <a:solidFill>
                  <a:schemeClr val="tx1"/>
                </a:solidFill>
                <a:ea typeface="+mn-ea"/>
                <a:cs typeface="+mn-cs"/>
              </a:rPr>
              <a:t>• conduct themselves in a professional manner </a:t>
            </a:r>
          </a:p>
          <a:p>
            <a:r>
              <a:rPr lang="en-AU" sz="1200" b="0" i="0" u="none" strike="noStrike" kern="1200" baseline="0" dirty="0" smtClean="0">
                <a:solidFill>
                  <a:schemeClr val="tx1"/>
                </a:solidFill>
                <a:ea typeface="+mn-ea"/>
                <a:cs typeface="+mn-cs"/>
              </a:rPr>
              <a:t>• act politely </a:t>
            </a:r>
          </a:p>
          <a:p>
            <a:r>
              <a:rPr lang="en-AU" sz="1200" b="0" i="0" u="none" strike="noStrike" kern="1200" baseline="0" dirty="0" smtClean="0">
                <a:solidFill>
                  <a:schemeClr val="tx1"/>
                </a:solidFill>
                <a:ea typeface="+mn-ea"/>
                <a:cs typeface="+mn-cs"/>
              </a:rPr>
              <a:t>• show courtesy </a:t>
            </a:r>
          </a:p>
          <a:p>
            <a:r>
              <a:rPr lang="en-AU" sz="1200" b="0" i="0" u="none" strike="noStrike" kern="1200" baseline="0" dirty="0" smtClean="0">
                <a:solidFill>
                  <a:schemeClr val="tx1"/>
                </a:solidFill>
                <a:ea typeface="+mn-ea"/>
                <a:cs typeface="+mn-cs"/>
              </a:rPr>
              <a:t>• demonstrate correct etiquette at all times: etiquette can be described as manners, decorum and propriety – etiquette is the set of customary rules for behaviour in polite society </a:t>
            </a:r>
          </a:p>
          <a:p>
            <a:r>
              <a:rPr lang="en-AU" sz="1200" b="0" i="0" u="none" strike="noStrike" kern="1200" baseline="0" dirty="0" smtClean="0">
                <a:solidFill>
                  <a:schemeClr val="tx1"/>
                </a:solidFill>
                <a:ea typeface="+mn-ea"/>
                <a:cs typeface="+mn-cs"/>
              </a:rPr>
              <a:t>• speak clearly and concisely </a:t>
            </a:r>
          </a:p>
          <a:p>
            <a:r>
              <a:rPr lang="en-AU" sz="1200" b="0" i="0" u="none" strike="noStrike" kern="1200" baseline="0" dirty="0" smtClean="0">
                <a:solidFill>
                  <a:schemeClr val="tx1"/>
                </a:solidFill>
                <a:ea typeface="+mn-ea"/>
                <a:cs typeface="+mn-cs"/>
              </a:rPr>
              <a:t>• use the guest’s name at all times </a:t>
            </a:r>
          </a:p>
          <a:p>
            <a:r>
              <a:rPr lang="en-AU" sz="1200" b="0" i="0" u="none" strike="noStrike" kern="1200" baseline="0" dirty="0" smtClean="0">
                <a:solidFill>
                  <a:schemeClr val="tx1"/>
                </a:solidFill>
                <a:ea typeface="+mn-ea"/>
                <a:cs typeface="+mn-cs"/>
              </a:rPr>
              <a:t>• be truthful at all times </a:t>
            </a:r>
          </a:p>
          <a:p>
            <a:r>
              <a:rPr lang="en-AU" sz="1200" b="0" i="0" u="none" strike="noStrike" kern="1200" baseline="0" dirty="0" smtClean="0">
                <a:solidFill>
                  <a:schemeClr val="tx1"/>
                </a:solidFill>
                <a:ea typeface="+mn-ea"/>
                <a:cs typeface="+mn-cs"/>
              </a:rPr>
              <a:t>• exhibit a constant willingness to assist. </a:t>
            </a:r>
          </a:p>
          <a:p>
            <a:r>
              <a:rPr lang="en-AU" sz="1200" b="0" i="0" u="none" strike="noStrike" kern="1200" baseline="0" dirty="0" smtClean="0">
                <a:solidFill>
                  <a:schemeClr val="tx1"/>
                </a:solidFill>
                <a:ea typeface="+mn-ea"/>
                <a:cs typeface="+mn-cs"/>
              </a:rPr>
              <a:t>Maintaining confidentiality is an absolute requirement for a valet: it is 100% non-negotiable. </a:t>
            </a: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baseline="0" dirty="0" smtClean="0">
                <a:solidFill>
                  <a:schemeClr val="tx1"/>
                </a:solidFill>
                <a:ea typeface="+mn-ea"/>
                <a:cs typeface="+mn-cs"/>
              </a:rPr>
              <a:t>• preparation for Very Important People (VIP) – which may involve the need for additional security, special gifts in the room, a guided tour of the property </a:t>
            </a:r>
          </a:p>
          <a:p>
            <a:endParaRPr lang="en-AU" sz="1200" b="0" i="0" u="none" strike="noStrike" kern="1200" baseline="0" dirty="0" smtClean="0">
              <a:solidFill>
                <a:schemeClr val="tx1"/>
              </a:solidFill>
              <a:ea typeface="+mn-ea"/>
              <a:cs typeface="+mn-cs"/>
            </a:endParaRPr>
          </a:p>
          <a:p>
            <a:r>
              <a:rPr lang="en-AU" sz="1200" b="1" i="0" u="none" strike="noStrike" kern="1200" baseline="0" dirty="0" smtClean="0">
                <a:solidFill>
                  <a:schemeClr val="tx1"/>
                </a:solidFill>
                <a:ea typeface="+mn-ea"/>
                <a:cs typeface="+mn-cs"/>
              </a:rPr>
              <a:t>Class activity</a:t>
            </a:r>
          </a:p>
          <a:p>
            <a:r>
              <a:rPr lang="en-AU" sz="1200" b="0" i="0" u="none" strike="noStrike" kern="1200" baseline="0" dirty="0" smtClean="0">
                <a:solidFill>
                  <a:schemeClr val="tx1"/>
                </a:solidFill>
                <a:ea typeface="+mn-ea"/>
                <a:cs typeface="+mn-cs"/>
              </a:rPr>
              <a:t>Meet and greet practical role play with students establishing how to greet guests from different cultural background commonly traveling to your area as tourist or business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692550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introduces Element 2 - Assist with guest arrivals.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4291430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sz="1200" b="0" i="0" u="none" strike="noStrike" kern="1200" baseline="0" dirty="0" smtClean="0">
                <a:solidFill>
                  <a:schemeClr val="tx1"/>
                </a:solidFill>
                <a:ea typeface="+mn-ea"/>
                <a:cs typeface="+mn-cs"/>
              </a:rPr>
              <a:t>Accommodation establishments generally have an Arrivals List.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The Arrivals List provides information to many departments, one of which is uniformed Staff, where it assists the porter in efficiently completing his or her tasks. </a:t>
            </a:r>
          </a:p>
          <a:p>
            <a:r>
              <a:rPr lang="en-AU" sz="1200" b="0" i="0" u="none" strike="noStrike" kern="1200" baseline="0" dirty="0" smtClean="0">
                <a:solidFill>
                  <a:schemeClr val="tx1"/>
                </a:solidFill>
                <a:ea typeface="+mn-ea"/>
                <a:cs typeface="+mn-cs"/>
              </a:rPr>
              <a:t>Whether the Arrivals List is manually or computer generated, the information found on it must always be treated in the strictest of confidence and should never be left unattended for public viewing. </a:t>
            </a:r>
          </a:p>
          <a:p>
            <a:r>
              <a:rPr lang="en-AU" sz="1200" b="0" i="0" u="none" strike="noStrike" kern="1200" baseline="0" dirty="0" smtClean="0">
                <a:solidFill>
                  <a:schemeClr val="tx1"/>
                </a:solidFill>
                <a:ea typeface="+mn-ea"/>
                <a:cs typeface="+mn-cs"/>
              </a:rPr>
              <a:t>Information found on an Arrivals List may vary from establishment to establishment, but can be expected to include: </a:t>
            </a:r>
          </a:p>
          <a:p>
            <a:r>
              <a:rPr lang="en-AU" sz="1200" b="0" i="0" u="none" strike="noStrike" kern="1200" baseline="0" dirty="0" smtClean="0">
                <a:solidFill>
                  <a:schemeClr val="tx1"/>
                </a:solidFill>
                <a:ea typeface="+mn-ea"/>
                <a:cs typeface="+mn-cs"/>
              </a:rPr>
              <a:t>• arrival date </a:t>
            </a:r>
          </a:p>
          <a:p>
            <a:r>
              <a:rPr lang="en-AU" sz="1200" b="0" i="0" u="none" strike="noStrike" kern="1200" baseline="0" dirty="0" smtClean="0">
                <a:solidFill>
                  <a:schemeClr val="tx1"/>
                </a:solidFill>
                <a:ea typeface="+mn-ea"/>
                <a:cs typeface="+mn-cs"/>
              </a:rPr>
              <a:t>• departure date </a:t>
            </a:r>
          </a:p>
          <a:p>
            <a:r>
              <a:rPr lang="en-AU" sz="1200" b="0" i="0" u="none" strike="noStrike" kern="1200" baseline="0" dirty="0" smtClean="0">
                <a:solidFill>
                  <a:schemeClr val="tx1"/>
                </a:solidFill>
                <a:ea typeface="+mn-ea"/>
                <a:cs typeface="+mn-cs"/>
              </a:rPr>
              <a:t>• estimated time of arrival (ETA) </a:t>
            </a:r>
          </a:p>
          <a:p>
            <a:r>
              <a:rPr lang="en-AU" sz="1200" b="0" i="0" u="none" strike="noStrike" kern="1200" baseline="0" dirty="0" smtClean="0">
                <a:solidFill>
                  <a:schemeClr val="tx1"/>
                </a:solidFill>
                <a:ea typeface="+mn-ea"/>
                <a:cs typeface="+mn-cs"/>
              </a:rPr>
              <a:t>• estimated time of departure (ETD) </a:t>
            </a:r>
          </a:p>
          <a:p>
            <a:r>
              <a:rPr lang="en-AU" sz="1200" b="0" i="0" u="none" strike="noStrike" kern="1200" baseline="0" dirty="0" smtClean="0">
                <a:solidFill>
                  <a:schemeClr val="tx1"/>
                </a:solidFill>
                <a:ea typeface="+mn-ea"/>
                <a:cs typeface="+mn-cs"/>
              </a:rPr>
              <a:t>• guest’s name </a:t>
            </a:r>
          </a:p>
          <a:p>
            <a:r>
              <a:rPr lang="en-AU" sz="1200" b="0" i="0" u="none" strike="noStrike" kern="1200" baseline="0" dirty="0" smtClean="0">
                <a:solidFill>
                  <a:schemeClr val="tx1"/>
                </a:solidFill>
                <a:ea typeface="+mn-ea"/>
                <a:cs typeface="+mn-cs"/>
              </a:rPr>
              <a:t>• number of guests </a:t>
            </a:r>
          </a:p>
          <a:p>
            <a:r>
              <a:rPr lang="en-AU" sz="1200" b="0" i="0" u="none" strike="noStrike" kern="1200" baseline="0" dirty="0" smtClean="0">
                <a:solidFill>
                  <a:schemeClr val="tx1"/>
                </a:solidFill>
                <a:ea typeface="+mn-ea"/>
                <a:cs typeface="+mn-cs"/>
              </a:rPr>
              <a:t>• room type </a:t>
            </a:r>
          </a:p>
          <a:p>
            <a:r>
              <a:rPr lang="en-AU" sz="1200" b="0" i="0" u="none" strike="noStrike" kern="1200" baseline="0" dirty="0" smtClean="0">
                <a:solidFill>
                  <a:schemeClr val="tx1"/>
                </a:solidFill>
                <a:ea typeface="+mn-ea"/>
                <a:cs typeface="+mn-cs"/>
              </a:rPr>
              <a:t>• room rate </a:t>
            </a:r>
          </a:p>
          <a:p>
            <a:r>
              <a:rPr lang="en-AU" sz="1200" b="0" i="0" u="none" strike="noStrike" kern="1200" baseline="0" dirty="0" smtClean="0">
                <a:solidFill>
                  <a:schemeClr val="tx1"/>
                </a:solidFill>
                <a:ea typeface="+mn-ea"/>
                <a:cs typeface="+mn-cs"/>
              </a:rPr>
              <a:t>• booking guaranteed or not </a:t>
            </a:r>
          </a:p>
          <a:p>
            <a:r>
              <a:rPr lang="en-AU" sz="1200" b="0" i="0" u="none" strike="noStrike" kern="1200" baseline="0" dirty="0" smtClean="0">
                <a:solidFill>
                  <a:schemeClr val="tx1"/>
                </a:solidFill>
                <a:ea typeface="+mn-ea"/>
                <a:cs typeface="+mn-cs"/>
              </a:rPr>
              <a:t>• special requests.</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The Arrivals List is a necessary tool in the planning undertaken to receive guests. </a:t>
            </a:r>
          </a:p>
          <a:p>
            <a:r>
              <a:rPr lang="en-AU" sz="1200" b="0" i="0" u="none" strike="noStrike" kern="1200" baseline="0" dirty="0" smtClean="0">
                <a:solidFill>
                  <a:schemeClr val="tx1"/>
                </a:solidFill>
                <a:ea typeface="+mn-ea"/>
                <a:cs typeface="+mn-cs"/>
              </a:rPr>
              <a:t>It helps to inform management and staff as follows: </a:t>
            </a:r>
          </a:p>
          <a:p>
            <a:r>
              <a:rPr lang="en-AU" sz="1200" b="0" i="0" u="none" strike="noStrike" kern="1200" baseline="0" dirty="0" smtClean="0">
                <a:solidFill>
                  <a:schemeClr val="tx1"/>
                </a:solidFill>
                <a:ea typeface="+mn-ea"/>
                <a:cs typeface="+mn-cs"/>
              </a:rPr>
              <a:t>• staffing Levels – determining the number of porters required to meet shift demands </a:t>
            </a:r>
          </a:p>
          <a:p>
            <a:r>
              <a:rPr lang="en-AU" sz="1200" b="0" i="0" u="none" strike="noStrike" kern="1200" baseline="0" dirty="0" smtClean="0">
                <a:solidFill>
                  <a:schemeClr val="tx1"/>
                </a:solidFill>
                <a:ea typeface="+mn-ea"/>
                <a:cs typeface="+mn-cs"/>
              </a:rPr>
              <a:t>• planning of daily tasks – identifying the busy versus quiet times </a:t>
            </a:r>
          </a:p>
          <a:p>
            <a:r>
              <a:rPr lang="en-AU" sz="1200" b="0" i="0" u="none" strike="noStrike" kern="1200" baseline="0" dirty="0" smtClean="0">
                <a:solidFill>
                  <a:schemeClr val="tx1"/>
                </a:solidFill>
                <a:ea typeface="+mn-ea"/>
                <a:cs typeface="+mn-cs"/>
              </a:rPr>
              <a:t>• prepare for group arrivals – such as tours </a:t>
            </a:r>
          </a:p>
          <a:p>
            <a:r>
              <a:rPr lang="en-AU" sz="1200" b="0" i="0" u="none" strike="noStrike" kern="1200" baseline="0" dirty="0" smtClean="0">
                <a:solidFill>
                  <a:schemeClr val="tx1"/>
                </a:solidFill>
                <a:ea typeface="+mn-ea"/>
                <a:cs typeface="+mn-cs"/>
              </a:rPr>
              <a:t>• preparation of special requests – which may include items such as preparing for guests with a physical disability, a request for champagne on arrival in the room, a fruit platter, or a cot in the room </a:t>
            </a:r>
          </a:p>
          <a:p>
            <a:r>
              <a:rPr lang="en-AU" sz="1200" b="0" i="0" u="none" strike="noStrike" kern="1200" baseline="0" dirty="0" smtClean="0">
                <a:solidFill>
                  <a:schemeClr val="tx1"/>
                </a:solidFill>
                <a:ea typeface="+mn-ea"/>
                <a:cs typeface="+mn-cs"/>
              </a:rPr>
              <a:t>• organising luggage storage areas – especially for large groups of guests who may be on a tour, or who have all come off a recently landed plane.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39004819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a typeface="+mn-ea"/>
                <a:cs typeface="+mn-cs"/>
              </a:rPr>
              <a:t>The front office usually takes these special requests, with the original booking of the room or face-to-face with guests at check in or during their stay.  The actual filling of these special requests requires a team effort and frequently it is the porter who is required to assist in ensuring special requests are fulfilled in accordance with requirements and establishment procedure and policies.</a:t>
            </a:r>
            <a:endParaRPr lang="en-AU" sz="1200" kern="1200" dirty="0" smtClean="0">
              <a:solidFill>
                <a:schemeClr val="tx1"/>
              </a:solidFill>
              <a:ea typeface="+mn-ea"/>
              <a:cs typeface="+mn-cs"/>
            </a:endParaRPr>
          </a:p>
          <a:p>
            <a:endParaRPr lang="en-AU" dirty="0" smtClean="0"/>
          </a:p>
          <a:p>
            <a:r>
              <a:rPr lang="en-AU" dirty="0" smtClean="0"/>
              <a:t>Use the internet to check the special requirements published for entertainment celebrities.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6399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sz="1200" b="0" i="0" u="none" strike="noStrike" kern="1200" baseline="0" dirty="0" smtClean="0">
                <a:solidFill>
                  <a:schemeClr val="tx1"/>
                </a:solidFill>
                <a:ea typeface="+mn-ea"/>
                <a:cs typeface="+mn-cs"/>
              </a:rPr>
              <a:t>The porter should ensure every guest receives a welcoming and professional greeting when arriving at the establishment. </a:t>
            </a:r>
          </a:p>
          <a:p>
            <a:r>
              <a:rPr lang="en-AU" sz="1200" b="0" i="0" u="none" strike="noStrike" kern="1200" baseline="0" dirty="0" smtClean="0">
                <a:solidFill>
                  <a:schemeClr val="tx1"/>
                </a:solidFill>
                <a:ea typeface="+mn-ea"/>
                <a:cs typeface="+mn-cs"/>
              </a:rPr>
              <a:t>Remember that the porter is usually the first representative of the establishment who meets face-to-face with the guest and this meeting can therefore have a lasting impression. </a:t>
            </a:r>
          </a:p>
          <a:p>
            <a:r>
              <a:rPr lang="en-AU" sz="1200" b="0" i="0" u="none" strike="noStrike" kern="1200" baseline="0" dirty="0" smtClean="0">
                <a:solidFill>
                  <a:schemeClr val="tx1"/>
                </a:solidFill>
                <a:ea typeface="+mn-ea"/>
                <a:cs typeface="+mn-cs"/>
              </a:rPr>
              <a:t>The moment the porter identifies a guest, they should immediately acknowledge them and not wait for the guest to make the first move. </a:t>
            </a:r>
          </a:p>
          <a:p>
            <a:r>
              <a:rPr lang="en-AU" sz="1200" b="0" i="0" u="none" strike="noStrike" kern="1200" baseline="0" dirty="0" smtClean="0">
                <a:solidFill>
                  <a:schemeClr val="tx1"/>
                </a:solidFill>
                <a:ea typeface="+mn-ea"/>
                <a:cs typeface="+mn-cs"/>
              </a:rPr>
              <a:t>The type of greeting the guest receives from the porter must always be: </a:t>
            </a:r>
          </a:p>
          <a:p>
            <a:r>
              <a:rPr lang="en-AU" sz="1200" b="0" i="0" u="none" strike="noStrike" kern="1200" baseline="0" dirty="0" smtClean="0">
                <a:solidFill>
                  <a:schemeClr val="tx1"/>
                </a:solidFill>
                <a:ea typeface="+mn-ea"/>
                <a:cs typeface="+mn-cs"/>
              </a:rPr>
              <a:t>• professional </a:t>
            </a:r>
          </a:p>
          <a:p>
            <a:r>
              <a:rPr lang="en-AU" sz="1200" b="0" i="0" u="none" strike="noStrike" kern="1200" baseline="0" dirty="0" smtClean="0">
                <a:solidFill>
                  <a:schemeClr val="tx1"/>
                </a:solidFill>
                <a:ea typeface="+mn-ea"/>
                <a:cs typeface="+mn-cs"/>
              </a:rPr>
              <a:t>• personable </a:t>
            </a:r>
          </a:p>
          <a:p>
            <a:r>
              <a:rPr lang="en-AU" sz="1200" b="0" i="0" u="none" strike="noStrike" kern="1200" baseline="0" dirty="0" smtClean="0">
                <a:solidFill>
                  <a:schemeClr val="tx1"/>
                </a:solidFill>
                <a:ea typeface="+mn-ea"/>
                <a:cs typeface="+mn-cs"/>
              </a:rPr>
              <a:t>• welcoming </a:t>
            </a:r>
          </a:p>
          <a:p>
            <a:r>
              <a:rPr lang="en-AU" sz="1200" b="0" i="0" u="none" strike="noStrike" kern="1200" baseline="0" dirty="0" smtClean="0">
                <a:solidFill>
                  <a:schemeClr val="tx1"/>
                </a:solidFill>
                <a:ea typeface="+mn-ea"/>
                <a:cs typeface="+mn-cs"/>
              </a:rPr>
              <a:t>• sincere </a:t>
            </a:r>
          </a:p>
          <a:p>
            <a:r>
              <a:rPr lang="en-AU" sz="1200" b="0" i="0" u="none" strike="noStrike" kern="1200" baseline="0" dirty="0" smtClean="0">
                <a:solidFill>
                  <a:schemeClr val="tx1"/>
                </a:solidFill>
                <a:ea typeface="+mn-ea"/>
                <a:cs typeface="+mn-cs"/>
              </a:rPr>
              <a:t>• friendly.</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In all instances, the verbal greeting/welcome offered must conform to any establishment policies or directives, but will generally contain: </a:t>
            </a:r>
          </a:p>
          <a:p>
            <a:r>
              <a:rPr lang="en-AU" sz="1200" b="0" i="0" u="none" strike="noStrike" kern="1200" baseline="0" dirty="0" smtClean="0">
                <a:solidFill>
                  <a:schemeClr val="tx1"/>
                </a:solidFill>
                <a:ea typeface="+mn-ea"/>
                <a:cs typeface="+mn-cs"/>
              </a:rPr>
              <a:t>• the establishment’s name </a:t>
            </a:r>
          </a:p>
          <a:p>
            <a:r>
              <a:rPr lang="en-AU" sz="1200" b="0" i="0" u="none" strike="noStrike" kern="1200" baseline="0" dirty="0" smtClean="0">
                <a:solidFill>
                  <a:schemeClr val="tx1"/>
                </a:solidFill>
                <a:ea typeface="+mn-ea"/>
                <a:cs typeface="+mn-cs"/>
              </a:rPr>
              <a:t>• the guest’s name or title if appropriate </a:t>
            </a:r>
          </a:p>
          <a:p>
            <a:r>
              <a:rPr lang="en-AU" sz="1200" b="0" i="0" u="none" strike="noStrike" kern="1200" baseline="0" dirty="0" smtClean="0">
                <a:solidFill>
                  <a:schemeClr val="tx1"/>
                </a:solidFill>
                <a:ea typeface="+mn-ea"/>
                <a:cs typeface="+mn-cs"/>
              </a:rPr>
              <a:t>• an offer of assistance.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The porter’s desk – or the “bell desk” as it is also known because it traditionally has a bell to summon portering staff – is usually strategically positioned in the lobby. </a:t>
            </a:r>
          </a:p>
          <a:p>
            <a:r>
              <a:rPr lang="en-AU" sz="1200" b="0" i="0" u="none" strike="noStrike" kern="1200" baseline="0" dirty="0" smtClean="0">
                <a:solidFill>
                  <a:schemeClr val="tx1"/>
                </a:solidFill>
                <a:ea typeface="+mn-ea"/>
                <a:cs typeface="+mn-cs"/>
              </a:rPr>
              <a:t>This is so the porter has a clear view of the entrance to enable them time to prepare themselves to greet guests, and so guests can also be seen by the reception staff in case they are needed: this arrangement also provides good security as a spin-off benefit. </a:t>
            </a:r>
          </a:p>
          <a:p>
            <a:r>
              <a:rPr lang="en-AU" sz="1200" b="0" i="0" u="none" strike="noStrike" kern="1200" baseline="0" dirty="0" smtClean="0">
                <a:solidFill>
                  <a:schemeClr val="tx1"/>
                </a:solidFill>
                <a:ea typeface="+mn-ea"/>
                <a:cs typeface="+mn-cs"/>
              </a:rPr>
              <a:t>Once the guests have been greeted, they should be directed to the reception area to register, as this is a legal requirement. </a:t>
            </a:r>
          </a:p>
          <a:p>
            <a:r>
              <a:rPr lang="en-AU" sz="1200" b="0" i="0" u="none" strike="noStrike" kern="1200" baseline="0" dirty="0" smtClean="0">
                <a:solidFill>
                  <a:schemeClr val="tx1"/>
                </a:solidFill>
                <a:ea typeface="+mn-ea"/>
                <a:cs typeface="+mn-cs"/>
              </a:rPr>
              <a:t>The porter will assist guests with their luggage and walk with them to the reception area. Once there, the porter should introduce the guest to the reception staff, if the guests’ names are known. </a:t>
            </a:r>
          </a:p>
          <a:p>
            <a:r>
              <a:rPr lang="en-AU" sz="1200" b="0" i="0" u="none" strike="noStrike" kern="1200" baseline="0" dirty="0" smtClean="0">
                <a:solidFill>
                  <a:schemeClr val="tx1"/>
                </a:solidFill>
                <a:ea typeface="+mn-ea"/>
                <a:cs typeface="+mn-cs"/>
              </a:rPr>
              <a:t>On other occasions, the porter will only guide the guests in the direction of the reception, while remaining at their post.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141726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0" i="0" u="none" strike="noStrike" kern="1200" baseline="0" dirty="0" smtClean="0">
                <a:solidFill>
                  <a:schemeClr val="tx1"/>
                </a:solidFill>
                <a:ea typeface="+mn-ea"/>
                <a:cs typeface="+mn-cs"/>
              </a:rPr>
              <a:t>Escorting guests to their rooms is an important role played by the porter.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It allows the porter time to: </a:t>
            </a:r>
          </a:p>
          <a:p>
            <a:r>
              <a:rPr lang="en-AU" sz="1200" b="0" i="0" u="none" strike="noStrike" kern="1200" baseline="0" dirty="0" smtClean="0">
                <a:solidFill>
                  <a:schemeClr val="tx1"/>
                </a:solidFill>
                <a:ea typeface="+mn-ea"/>
                <a:cs typeface="+mn-cs"/>
              </a:rPr>
              <a:t>• interact with the guest </a:t>
            </a:r>
          </a:p>
          <a:p>
            <a:r>
              <a:rPr lang="en-AU" sz="1200" b="0" i="0" u="none" strike="noStrike" kern="1200" baseline="0" dirty="0" smtClean="0">
                <a:solidFill>
                  <a:schemeClr val="tx1"/>
                </a:solidFill>
                <a:ea typeface="+mn-ea"/>
                <a:cs typeface="+mn-cs"/>
              </a:rPr>
              <a:t>• provide them with information about establishment facilities </a:t>
            </a:r>
          </a:p>
          <a:p>
            <a:r>
              <a:rPr lang="en-AU" sz="1200" b="0" i="0" u="none" strike="noStrike" kern="1200" baseline="0" dirty="0" smtClean="0">
                <a:solidFill>
                  <a:schemeClr val="tx1"/>
                </a:solidFill>
                <a:ea typeface="+mn-ea"/>
                <a:cs typeface="+mn-cs"/>
              </a:rPr>
              <a:t>• sell the restaurants, bars, spa, other hotel facilities</a:t>
            </a:r>
          </a:p>
          <a:p>
            <a:r>
              <a:rPr lang="en-AU" sz="1200" b="0" i="0" u="none" strike="noStrike" kern="1200" baseline="0" dirty="0" smtClean="0">
                <a:solidFill>
                  <a:schemeClr val="tx1"/>
                </a:solidFill>
                <a:ea typeface="+mn-ea"/>
                <a:cs typeface="+mn-cs"/>
              </a:rPr>
              <a:t>• provide details of tourist attractions, thus encouraging the guests to stay an extra night.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Once check-in has been completed, the porter receives the room key from the receptionist, collects guest luggage, and then escorts the guests to their room.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When escorting the guest to their room, remember to: </a:t>
            </a:r>
          </a:p>
          <a:p>
            <a:r>
              <a:rPr lang="en-AU" sz="1200" b="0" i="0" u="none" strike="noStrike" kern="1200" baseline="0" dirty="0" smtClean="0">
                <a:solidFill>
                  <a:schemeClr val="tx1"/>
                </a:solidFill>
                <a:ea typeface="+mn-ea"/>
                <a:cs typeface="+mn-cs"/>
              </a:rPr>
              <a:t>• speak clearly and concisely </a:t>
            </a:r>
          </a:p>
          <a:p>
            <a:r>
              <a:rPr lang="en-AU" sz="1200" b="0" i="0" u="none" strike="noStrike" kern="1200" baseline="0" dirty="0" smtClean="0">
                <a:solidFill>
                  <a:schemeClr val="tx1"/>
                </a:solidFill>
                <a:ea typeface="+mn-ea"/>
                <a:cs typeface="+mn-cs"/>
              </a:rPr>
              <a:t>• answer questions accurately, or inform the guest that you will seek out the answer and get back to them </a:t>
            </a:r>
          </a:p>
          <a:p>
            <a:r>
              <a:rPr lang="en-AU" sz="1200" b="0" i="0" u="none" strike="noStrike" kern="1200" baseline="0" dirty="0" smtClean="0">
                <a:solidFill>
                  <a:schemeClr val="tx1"/>
                </a:solidFill>
                <a:ea typeface="+mn-ea"/>
                <a:cs typeface="+mn-cs"/>
              </a:rPr>
              <a:t>• be courteous and polite </a:t>
            </a:r>
          </a:p>
          <a:p>
            <a:r>
              <a:rPr lang="en-AU" sz="1200" b="0" i="0" u="none" strike="noStrike" kern="1200" baseline="0" dirty="0" smtClean="0">
                <a:solidFill>
                  <a:schemeClr val="tx1"/>
                </a:solidFill>
                <a:ea typeface="+mn-ea"/>
                <a:cs typeface="+mn-cs"/>
              </a:rPr>
              <a:t>• never voice your opinions on issues unrelated to the establishment </a:t>
            </a:r>
          </a:p>
          <a:p>
            <a:r>
              <a:rPr lang="en-AU" sz="1200" b="0" i="0" u="none" strike="noStrike" kern="1200" baseline="0" dirty="0" smtClean="0">
                <a:solidFill>
                  <a:schemeClr val="tx1"/>
                </a:solidFill>
                <a:ea typeface="+mn-ea"/>
                <a:cs typeface="+mn-cs"/>
              </a:rPr>
              <a:t>• keep the conversation professional and on a positive note </a:t>
            </a:r>
          </a:p>
          <a:p>
            <a:r>
              <a:rPr lang="en-AU" sz="1200" b="0" i="0" u="none" strike="noStrike" kern="1200" baseline="0" dirty="0" smtClean="0">
                <a:solidFill>
                  <a:schemeClr val="tx1"/>
                </a:solidFill>
                <a:ea typeface="+mn-ea"/>
                <a:cs typeface="+mn-cs"/>
              </a:rPr>
              <a:t>• walk at a comfortable pace to suit the guest </a:t>
            </a:r>
          </a:p>
          <a:p>
            <a:r>
              <a:rPr lang="en-AU" sz="1200" b="0" i="0" u="none" strike="noStrike" kern="1200" baseline="0" dirty="0" smtClean="0">
                <a:solidFill>
                  <a:schemeClr val="tx1"/>
                </a:solidFill>
                <a:ea typeface="+mn-ea"/>
                <a:cs typeface="+mn-cs"/>
              </a:rPr>
              <a:t>• ascertain if this is the guest’s first time at the hotel or not: if it is, try to sell facilities of the property.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326623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Use the internet or YouTube to view room</a:t>
            </a:r>
            <a:r>
              <a:rPr lang="en-AU" baseline="0" dirty="0" smtClean="0"/>
              <a:t> entry and different types of keys.</a:t>
            </a:r>
          </a:p>
          <a:p>
            <a:endParaRPr lang="en-AU" dirty="0" smtClean="0"/>
          </a:p>
          <a:p>
            <a:r>
              <a:rPr lang="en-AU" dirty="0" smtClean="0"/>
              <a:t>List room features:</a:t>
            </a:r>
          </a:p>
          <a:p>
            <a:pPr>
              <a:buFont typeface="Arial" pitchFamily="34" charset="0"/>
              <a:buChar char="•"/>
            </a:pPr>
            <a:r>
              <a:rPr lang="en-AU" dirty="0" smtClean="0"/>
              <a:t>Environmental control- heating</a:t>
            </a:r>
            <a:r>
              <a:rPr lang="en-AU" baseline="0" dirty="0" smtClean="0"/>
              <a:t> and cooling</a:t>
            </a:r>
          </a:p>
          <a:p>
            <a:pPr>
              <a:buFont typeface="Arial" pitchFamily="34" charset="0"/>
              <a:buChar char="•"/>
            </a:pPr>
            <a:r>
              <a:rPr lang="en-AU" baseline="0" dirty="0" smtClean="0"/>
              <a:t>In house movies</a:t>
            </a:r>
          </a:p>
          <a:p>
            <a:pPr>
              <a:buFont typeface="Arial" pitchFamily="34" charset="0"/>
              <a:buChar char="•"/>
            </a:pPr>
            <a:r>
              <a:rPr lang="en-AU" baseline="0" dirty="0" smtClean="0"/>
              <a:t>Mini bar</a:t>
            </a:r>
          </a:p>
          <a:p>
            <a:pPr>
              <a:buFont typeface="Arial" pitchFamily="34" charset="0"/>
              <a:buChar char="•"/>
            </a:pPr>
            <a:r>
              <a:rPr lang="en-AU" baseline="0" dirty="0" smtClean="0"/>
              <a:t>Telephone</a:t>
            </a:r>
          </a:p>
          <a:p>
            <a:pPr>
              <a:buFont typeface="Arial" pitchFamily="34" charset="0"/>
              <a:buChar char="•"/>
            </a:pPr>
            <a:r>
              <a:rPr lang="en-AU" baseline="0" dirty="0" smtClean="0"/>
              <a:t>Compendium.</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20486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sz="1200" b="0" i="0" u="none" strike="noStrike" kern="1200" baseline="0" dirty="0" smtClean="0">
                <a:solidFill>
                  <a:schemeClr val="tx1"/>
                </a:solidFill>
                <a:ea typeface="+mn-ea"/>
                <a:cs typeface="+mn-cs"/>
              </a:rPr>
              <a:t>Throughout a shift there will be many times when the porter must assist guests with their luggage. </a:t>
            </a:r>
          </a:p>
          <a:p>
            <a:r>
              <a:rPr lang="en-AU" sz="1200" b="0" i="0" u="none" strike="noStrike" kern="1200" baseline="0" dirty="0" smtClean="0">
                <a:solidFill>
                  <a:schemeClr val="tx1"/>
                </a:solidFill>
                <a:ea typeface="+mn-ea"/>
                <a:cs typeface="+mn-cs"/>
              </a:rPr>
              <a:t>Luggage may have to be removed from the boot of a car or from the compartments in a tour bus. Luggage should also be treated as an item of great value and never be left unattended, particularly outside the hotel entrance. </a:t>
            </a:r>
          </a:p>
          <a:p>
            <a:r>
              <a:rPr lang="en-AU" sz="1200" b="0" i="0" u="none" strike="noStrike" kern="1200" baseline="0" dirty="0" smtClean="0">
                <a:solidFill>
                  <a:schemeClr val="tx1"/>
                </a:solidFill>
                <a:ea typeface="+mn-ea"/>
                <a:cs typeface="+mn-cs"/>
              </a:rPr>
              <a:t>Occupational Safety and Health; Luggage can be heavy – sometimes very, very, heavy – and therefore the porter must be aware of some basic occupational health and safety issues regarding handling luggage, including: </a:t>
            </a:r>
          </a:p>
          <a:p>
            <a:r>
              <a:rPr lang="en-AU" sz="1200" b="0" i="0" u="none" strike="noStrike" kern="1200" baseline="0" dirty="0" smtClean="0">
                <a:solidFill>
                  <a:schemeClr val="tx1"/>
                </a:solidFill>
                <a:ea typeface="+mn-ea"/>
                <a:cs typeface="+mn-cs"/>
              </a:rPr>
              <a:t>• test the weight of bags before lifting – give them a test lift </a:t>
            </a:r>
          </a:p>
          <a:p>
            <a:r>
              <a:rPr lang="en-AU" sz="1200" b="0" i="0" u="none" strike="noStrike" kern="1200" baseline="0" dirty="0" smtClean="0">
                <a:solidFill>
                  <a:schemeClr val="tx1"/>
                </a:solidFill>
                <a:ea typeface="+mn-ea"/>
                <a:cs typeface="+mn-cs"/>
              </a:rPr>
              <a:t>• adopt the correct posture for lifting </a:t>
            </a:r>
          </a:p>
          <a:p>
            <a:r>
              <a:rPr lang="en-AU" sz="1200" b="0" i="0" u="none" strike="noStrike" kern="1200" baseline="0" dirty="0" smtClean="0">
                <a:solidFill>
                  <a:schemeClr val="tx1"/>
                </a:solidFill>
                <a:ea typeface="+mn-ea"/>
                <a:cs typeface="+mn-cs"/>
              </a:rPr>
              <a:t>• keep the back straight </a:t>
            </a:r>
          </a:p>
          <a:p>
            <a:r>
              <a:rPr lang="en-AU" sz="1200" b="0" i="0" u="none" strike="noStrike" kern="1200" baseline="0" dirty="0" smtClean="0">
                <a:solidFill>
                  <a:schemeClr val="tx1"/>
                </a:solidFill>
                <a:ea typeface="+mn-ea"/>
                <a:cs typeface="+mn-cs"/>
              </a:rPr>
              <a:t>• bend the knees </a:t>
            </a:r>
          </a:p>
          <a:p>
            <a:r>
              <a:rPr lang="en-AU" sz="1200" b="0" i="0" u="none" strike="noStrike" kern="1200" baseline="0" dirty="0" smtClean="0">
                <a:solidFill>
                  <a:schemeClr val="tx1"/>
                </a:solidFill>
                <a:ea typeface="+mn-ea"/>
                <a:cs typeface="+mn-cs"/>
              </a:rPr>
              <a:t>• lift the luggage.</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Use an approved trolley if luggage is too heavy to lift comfortably and correctly. </a:t>
            </a:r>
          </a:p>
          <a:p>
            <a:r>
              <a:rPr lang="en-AU" sz="1200" b="0" i="0" u="none" strike="noStrike" kern="1200" baseline="0" dirty="0" smtClean="0">
                <a:solidFill>
                  <a:schemeClr val="tx1"/>
                </a:solidFill>
                <a:ea typeface="+mn-ea"/>
                <a:cs typeface="+mn-cs"/>
              </a:rPr>
              <a:t>If more than one item is to be placed on the trolley, the heaviest bags should be placed on the bottom and the lighter ones near the top. </a:t>
            </a:r>
          </a:p>
          <a:p>
            <a:r>
              <a:rPr lang="en-AU" sz="1200" b="0" i="0" u="none" strike="noStrike" kern="1200" baseline="0" dirty="0" smtClean="0">
                <a:solidFill>
                  <a:schemeClr val="tx1"/>
                </a:solidFill>
                <a:ea typeface="+mn-ea"/>
                <a:cs typeface="+mn-cs"/>
              </a:rPr>
              <a:t>If an item is too heavy to pick up, the vertical trolley should be used as the porter will not have to personally lift the bags. </a:t>
            </a:r>
          </a:p>
          <a:p>
            <a:r>
              <a:rPr lang="en-AU" sz="1200" b="0" i="0" u="none" strike="noStrike" kern="1200" baseline="0" dirty="0" smtClean="0">
                <a:solidFill>
                  <a:schemeClr val="tx1"/>
                </a:solidFill>
                <a:ea typeface="+mn-ea"/>
                <a:cs typeface="+mn-cs"/>
              </a:rPr>
              <a:t>In some establishments, specific routes for the trolleyed transportation of guest luggage have been identified: these should be adhered to where they apply. </a:t>
            </a:r>
          </a:p>
          <a:p>
            <a:r>
              <a:rPr lang="en-AU" sz="1200" b="0" i="0" u="none" strike="noStrike" kern="1200" baseline="0" dirty="0" smtClean="0">
                <a:solidFill>
                  <a:schemeClr val="tx1"/>
                </a:solidFill>
                <a:ea typeface="+mn-ea"/>
                <a:cs typeface="+mn-cs"/>
              </a:rPr>
              <a:t>Likewise, some establishments have procedures for where certain luggage should be placed within rooms – articles on hangers may have to be hung up, suitcases to be put onto the appropriate racks, briefcases next to the bed, and so on: these must be adhered to with every guest in every room, unless the guest requests something else.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489721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introduces Element 3 - Assist with Guest departures.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901003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sz="1200" b="0" i="0" u="none" strike="noStrike" kern="1200" baseline="0" dirty="0" smtClean="0">
                <a:solidFill>
                  <a:schemeClr val="tx1"/>
                </a:solidFill>
                <a:ea typeface="+mn-ea"/>
                <a:cs typeface="+mn-cs"/>
              </a:rPr>
              <a:t>When a guest is ready to check-out of their room, the porter will be required to assist the guest with their luggage. </a:t>
            </a:r>
          </a:p>
          <a:p>
            <a:r>
              <a:rPr lang="en-AU" sz="1200" b="0" i="0" u="none" strike="noStrike" kern="1200" baseline="0" dirty="0" smtClean="0">
                <a:solidFill>
                  <a:schemeClr val="tx1"/>
                </a:solidFill>
                <a:ea typeface="+mn-ea"/>
                <a:cs typeface="+mn-cs"/>
              </a:rPr>
              <a:t>The porter will usually be advised as to how much luggage has to be moved and the approximate weight of the luggage. A trolley may frequently be needed. </a:t>
            </a:r>
          </a:p>
          <a:p>
            <a:r>
              <a:rPr lang="en-AU" sz="1200" b="0" i="0" u="none" strike="noStrike" kern="1200" baseline="0" dirty="0" smtClean="0">
                <a:solidFill>
                  <a:schemeClr val="tx1"/>
                </a:solidFill>
                <a:ea typeface="+mn-ea"/>
                <a:cs typeface="+mn-cs"/>
              </a:rPr>
              <a:t>The porter should arrive at the room in plenty of time to ensure that guests achieve their stated aim – if there is one (such as catching a certain plane, being away by a certain time, etc): it must be remembered that guests can get very anxious at check-out too. </a:t>
            </a:r>
          </a:p>
          <a:p>
            <a:r>
              <a:rPr lang="en-AU" sz="1200" b="0" i="0" u="none" strike="noStrike" kern="1200" baseline="0" dirty="0" smtClean="0">
                <a:solidFill>
                  <a:schemeClr val="tx1"/>
                </a:solidFill>
                <a:ea typeface="+mn-ea"/>
                <a:cs typeface="+mn-cs"/>
              </a:rPr>
              <a:t>Upon arriving at the guest’s room, the porter should knock on the guest’s door and announce him or herself. </a:t>
            </a:r>
          </a:p>
          <a:p>
            <a:r>
              <a:rPr lang="en-AU" sz="1200" b="0" i="0" u="none" strike="noStrike" kern="1200" baseline="0" dirty="0" smtClean="0">
                <a:solidFill>
                  <a:schemeClr val="tx1"/>
                </a:solidFill>
                <a:ea typeface="+mn-ea"/>
                <a:cs typeface="+mn-cs"/>
              </a:rPr>
              <a:t>On being invited into the room, the porter should inquire as to the whereabouts of the luggage and the number of items, some will be quite obvious but some might be in the bedroom, the lounge or even the bathroom, also check for forgotten items. In some cases, where there are shops within the complex, guests may even want you stop by one of the shops to pick up a package.. </a:t>
            </a:r>
          </a:p>
          <a:p>
            <a:r>
              <a:rPr lang="en-AU" sz="1200" b="0" i="0" u="none" strike="noStrike" kern="1200" baseline="0" dirty="0" smtClean="0">
                <a:solidFill>
                  <a:schemeClr val="tx1"/>
                </a:solidFill>
                <a:ea typeface="+mn-ea"/>
                <a:cs typeface="+mn-cs"/>
              </a:rPr>
              <a:t>Sometimes the guest will accompany the porter to the reception area, where the guest will check-out. The porter will then move the guest’s luggage to a private car, taxi, or tour bus. </a:t>
            </a:r>
          </a:p>
          <a:p>
            <a:r>
              <a:rPr lang="en-AU" sz="1200" b="0" i="0" u="none" strike="noStrike" kern="1200" baseline="0" dirty="0" smtClean="0">
                <a:solidFill>
                  <a:schemeClr val="tx1"/>
                </a:solidFill>
                <a:ea typeface="+mn-ea"/>
                <a:cs typeface="+mn-cs"/>
              </a:rPr>
              <a:t>On other occasions, the porter will be asked to take the luggage down to the reception area or storage area and the guest will check-out later. </a:t>
            </a:r>
          </a:p>
          <a:p>
            <a:r>
              <a:rPr lang="en-AU" sz="1200" b="0" i="0" u="none" strike="noStrike" kern="1200" baseline="0" dirty="0" smtClean="0">
                <a:solidFill>
                  <a:schemeClr val="tx1"/>
                </a:solidFill>
                <a:ea typeface="+mn-ea"/>
                <a:cs typeface="+mn-cs"/>
              </a:rPr>
              <a:t>In this case, the porter needs to tag the luggage and store it in the Porter’s Room or the Luggage Room. In some properties the room has bay numbers, eg, Bay One, Bay Two etc. and this number is recorded on the guest’s luggage tag for easy retrieval upon check-out. </a:t>
            </a:r>
          </a:p>
          <a:p>
            <a:r>
              <a:rPr lang="en-AU" sz="1200" b="0" i="0" u="none" strike="noStrike" kern="1200" baseline="0" dirty="0" smtClean="0">
                <a:solidFill>
                  <a:schemeClr val="tx1"/>
                </a:solidFill>
                <a:ea typeface="+mn-ea"/>
                <a:cs typeface="+mn-cs"/>
              </a:rPr>
              <a:t>The rules about transporting luggage – mentioned earlier – apply at this phase of the guest’s stay too.</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220493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AU" sz="1200" b="0" i="0" u="none" strike="noStrike" kern="1200" baseline="0" dirty="0" smtClean="0">
                <a:solidFill>
                  <a:schemeClr val="tx1"/>
                </a:solidFill>
                <a:ea typeface="+mn-ea"/>
                <a:cs typeface="+mn-cs"/>
              </a:rPr>
              <a:t>Most accommodation establishments have luggage labels. </a:t>
            </a:r>
          </a:p>
          <a:p>
            <a:endParaRPr lang="en-AU" sz="1200" b="0" i="0" u="none" strike="noStrike" kern="1200" baseline="0" dirty="0" smtClean="0">
              <a:solidFill>
                <a:schemeClr val="tx1"/>
              </a:solidFill>
              <a:ea typeface="+mn-ea"/>
              <a:cs typeface="+mn-cs"/>
            </a:endParaRPr>
          </a:p>
          <a:p>
            <a:pPr>
              <a:buFont typeface="Arial" pitchFamily="34" charset="0"/>
              <a:buNone/>
            </a:pPr>
            <a:r>
              <a:rPr lang="en-AU" sz="1200" b="0" i="0" u="none" strike="noStrike" kern="1200" baseline="0" dirty="0" smtClean="0">
                <a:solidFill>
                  <a:schemeClr val="tx1"/>
                </a:solidFill>
                <a:ea typeface="+mn-ea"/>
                <a:cs typeface="+mn-cs"/>
              </a:rPr>
              <a:t>The tag will indicate: </a:t>
            </a:r>
          </a:p>
          <a:p>
            <a:r>
              <a:rPr lang="en-AU" sz="1200" b="0" i="0" u="none" strike="noStrike" kern="1200" baseline="0" dirty="0" smtClean="0">
                <a:solidFill>
                  <a:schemeClr val="tx1"/>
                </a:solidFill>
                <a:ea typeface="+mn-ea"/>
                <a:cs typeface="+mn-cs"/>
              </a:rPr>
              <a:t>• Whose luggage it is (guest name) </a:t>
            </a:r>
          </a:p>
          <a:p>
            <a:r>
              <a:rPr lang="en-AU" sz="1200" b="0" i="0" u="none" strike="noStrike" kern="1200" baseline="0" dirty="0" smtClean="0">
                <a:solidFill>
                  <a:schemeClr val="tx1"/>
                </a:solidFill>
                <a:ea typeface="+mn-ea"/>
                <a:cs typeface="+mn-cs"/>
              </a:rPr>
              <a:t>• Guests room number </a:t>
            </a:r>
          </a:p>
          <a:p>
            <a:r>
              <a:rPr lang="en-AU" sz="1200" b="0" i="0" u="none" strike="noStrike" kern="1200" baseline="0" dirty="0" smtClean="0">
                <a:solidFill>
                  <a:schemeClr val="tx1"/>
                </a:solidFill>
                <a:ea typeface="+mn-ea"/>
                <a:cs typeface="+mn-cs"/>
              </a:rPr>
              <a:t>• Group name (if appropriate) </a:t>
            </a:r>
          </a:p>
          <a:p>
            <a:r>
              <a:rPr lang="en-AU" sz="1200" b="0" i="0" u="none" strike="noStrike" kern="1200" baseline="0" dirty="0" smtClean="0">
                <a:solidFill>
                  <a:schemeClr val="tx1"/>
                </a:solidFill>
                <a:ea typeface="+mn-ea"/>
                <a:cs typeface="+mn-cs"/>
              </a:rPr>
              <a:t>• Number of pieces </a:t>
            </a:r>
          </a:p>
          <a:p>
            <a:r>
              <a:rPr lang="en-AU" sz="1200" b="0" i="0" u="none" strike="noStrike" kern="1200" baseline="0" dirty="0" smtClean="0">
                <a:solidFill>
                  <a:schemeClr val="tx1"/>
                </a:solidFill>
                <a:ea typeface="+mn-ea"/>
                <a:cs typeface="+mn-cs"/>
              </a:rPr>
              <a:t>• Type of luggage.</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The porter should always use luggage labels to write the guest’s name and room number on as soon as this is known. The label should then be attached immediately to the guest’s luggage. </a:t>
            </a:r>
          </a:p>
          <a:p>
            <a:r>
              <a:rPr lang="en-AU" sz="1200" b="0" i="0" u="none" strike="noStrike" kern="1200" baseline="0" dirty="0" smtClean="0">
                <a:solidFill>
                  <a:schemeClr val="tx1"/>
                </a:solidFill>
                <a:ea typeface="+mn-ea"/>
                <a:cs typeface="+mn-cs"/>
              </a:rPr>
              <a:t>It is most important for the porter to ensure that all luggage is labelled accurately. </a:t>
            </a:r>
          </a:p>
          <a:p>
            <a:r>
              <a:rPr lang="en-AU" sz="1200" b="0" i="0" u="none" strike="noStrike" kern="1200" baseline="0" dirty="0" smtClean="0">
                <a:solidFill>
                  <a:schemeClr val="tx1"/>
                </a:solidFill>
                <a:ea typeface="+mn-ea"/>
                <a:cs typeface="+mn-cs"/>
              </a:rPr>
              <a:t>Sending the wrong luggage to the wrong room causes annoyance, poor guest relations, and embarrassment and has the potential to lead to theft, and breaches of privacy. </a:t>
            </a:r>
          </a:p>
          <a:p>
            <a:r>
              <a:rPr lang="en-AU" sz="1200" b="0" i="0" u="none" strike="noStrike" kern="1200" baseline="0" dirty="0" smtClean="0">
                <a:solidFill>
                  <a:schemeClr val="tx1"/>
                </a:solidFill>
                <a:ea typeface="+mn-ea"/>
                <a:cs typeface="+mn-cs"/>
              </a:rPr>
              <a:t>Luggage itself should never be actually marked. </a:t>
            </a:r>
          </a:p>
          <a:p>
            <a:r>
              <a:rPr lang="en-AU" sz="1200" b="0" i="0" u="none" strike="noStrike" kern="1200" baseline="0" dirty="0" smtClean="0">
                <a:solidFill>
                  <a:schemeClr val="tx1"/>
                </a:solidFill>
                <a:ea typeface="+mn-ea"/>
                <a:cs typeface="+mn-cs"/>
              </a:rPr>
              <a:t>Luggage should have a tag attached. This tag may be a two-part type where one-half of the tag is attached to the luggage, and the other portion is given to the guest for them to use when claiming the luggage. </a:t>
            </a:r>
          </a:p>
          <a:p>
            <a:r>
              <a:rPr lang="en-AU" sz="1200" b="0" i="0" u="none" strike="noStrike" kern="1200" baseline="0" dirty="0" smtClean="0">
                <a:solidFill>
                  <a:schemeClr val="tx1"/>
                </a:solidFill>
                <a:ea typeface="+mn-ea"/>
                <a:cs typeface="+mn-cs"/>
              </a:rPr>
              <a:t>Other tags simply register the name of the guest whose luggage it is, together with the total number of items stored: in some cases the guest is asked to provide an approximate time of pick-up so that the porter can determine where in the Luggage Room to physically store the items. </a:t>
            </a:r>
          </a:p>
          <a:p>
            <a:r>
              <a:rPr lang="en-AU" sz="1200" b="0" i="0" u="none" strike="noStrike" kern="1200" baseline="0" dirty="0" smtClean="0">
                <a:solidFill>
                  <a:schemeClr val="tx1"/>
                </a:solidFill>
                <a:ea typeface="+mn-ea"/>
                <a:cs typeface="+mn-cs"/>
              </a:rPr>
              <a:t>Some establishments utilise an alpha storage system whereby items are stored in alphabetical order (using the guest’s surname as the indicative letter); some will use a system based on given pick-up times. </a:t>
            </a:r>
          </a:p>
          <a:p>
            <a:endParaRPr lang="en-US" b="1" dirty="0" smtClean="0"/>
          </a:p>
          <a:p>
            <a:r>
              <a:rPr lang="en-US" b="1" dirty="0" smtClean="0"/>
              <a:t>Class activity</a:t>
            </a:r>
            <a:r>
              <a:rPr lang="en-US" dirty="0" smtClean="0"/>
              <a:t> </a:t>
            </a:r>
          </a:p>
          <a:p>
            <a:r>
              <a:rPr lang="en-US" dirty="0" smtClean="0"/>
              <a:t>Design a</a:t>
            </a:r>
            <a:r>
              <a:rPr lang="en-US" baseline="0" dirty="0" smtClean="0"/>
              <a:t> luggage tag  and role play with students greeting guests and filling out and attaching the tag to luggage items.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737397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AU" sz="1200" b="0" i="0" u="none" strike="noStrike" kern="1200" baseline="0" dirty="0" smtClean="0">
                <a:solidFill>
                  <a:schemeClr val="tx1"/>
                </a:solidFill>
                <a:ea typeface="+mn-ea"/>
                <a:cs typeface="+mn-cs"/>
              </a:rPr>
              <a:t>In-house luggage storage systems vary between establishments, usually in terms of their size, location and documentation used. </a:t>
            </a:r>
          </a:p>
          <a:p>
            <a:r>
              <a:rPr lang="en-AU" sz="1200" b="0" i="0" u="none" strike="noStrike" kern="1200" baseline="0" dirty="0" smtClean="0">
                <a:solidFill>
                  <a:schemeClr val="tx1"/>
                </a:solidFill>
                <a:ea typeface="+mn-ea"/>
                <a:cs typeface="+mn-cs"/>
              </a:rPr>
              <a:t>Luggage storage systems (Luggage Rooms) are places where guests can store their luggage before they are roomed, or after they have departed their room. </a:t>
            </a:r>
          </a:p>
          <a:p>
            <a:r>
              <a:rPr lang="en-AU" sz="1200" b="0" i="0" u="none" strike="noStrike" kern="1200" baseline="0" dirty="0" smtClean="0">
                <a:solidFill>
                  <a:schemeClr val="tx1"/>
                </a:solidFill>
                <a:ea typeface="+mn-ea"/>
                <a:cs typeface="+mn-cs"/>
              </a:rPr>
              <a:t>In some cases, the guest may have arrived at, say 6am, only to find there is no vacant room: guests are still occupying them, and/or dirty rooms have not been cleaned and notified as “room ready”. In such cases, the establishment may register the guest (because they know a room will become vacant for them), offer them a free breakfast while they wait, and store their tagged luggage in the Luggage Room. </a:t>
            </a:r>
          </a:p>
          <a:p>
            <a:r>
              <a:rPr lang="en-AU" sz="1200" b="0" i="0" u="none" strike="noStrike" kern="1200" baseline="0" dirty="0" smtClean="0">
                <a:solidFill>
                  <a:schemeClr val="tx1"/>
                </a:solidFill>
                <a:ea typeface="+mn-ea"/>
                <a:cs typeface="+mn-cs"/>
              </a:rPr>
              <a:t>The first appropriate room that becomes vacant will be allocated to them, the porter notified, and the luggage delivered. </a:t>
            </a:r>
          </a:p>
          <a:p>
            <a:r>
              <a:rPr lang="en-AU" sz="1200" b="0" i="0" u="none" strike="noStrike" kern="1200" baseline="0" dirty="0" smtClean="0">
                <a:solidFill>
                  <a:schemeClr val="tx1"/>
                </a:solidFill>
                <a:ea typeface="+mn-ea"/>
                <a:cs typeface="+mn-cs"/>
              </a:rPr>
              <a:t>In another example, a guest may depart their room at 9.45am and be leaving town that evening at 6pm on a cruise: they may ask that their luggage is kept for them until 2pm to enable them to go and do some shopping before they pick it up and head off to the wharf. </a:t>
            </a:r>
          </a:p>
          <a:p>
            <a:r>
              <a:rPr lang="en-AU" sz="1200" b="0" i="0" u="none" strike="noStrike" kern="1200" baseline="0" dirty="0" smtClean="0">
                <a:solidFill>
                  <a:schemeClr val="tx1"/>
                </a:solidFill>
                <a:ea typeface="+mn-ea"/>
                <a:cs typeface="+mn-cs"/>
              </a:rPr>
              <a:t>The Luggage Room would be used for this type of safe storage. </a:t>
            </a:r>
          </a:p>
          <a:p>
            <a:r>
              <a:rPr lang="en-AU" sz="1200" b="0" i="0" u="none" strike="noStrike" kern="1200" baseline="0" dirty="0" smtClean="0">
                <a:solidFill>
                  <a:schemeClr val="tx1"/>
                </a:solidFill>
                <a:ea typeface="+mn-ea"/>
                <a:cs typeface="+mn-cs"/>
              </a:rPr>
              <a:t>• Enterprise procedures for storing items in the Luggage Room focus on security. </a:t>
            </a:r>
          </a:p>
          <a:p>
            <a:r>
              <a:rPr lang="en-AU" sz="1200" b="0" i="0" u="none" strike="noStrike" kern="1200" baseline="0" dirty="0" smtClean="0">
                <a:solidFill>
                  <a:schemeClr val="tx1"/>
                </a:solidFill>
                <a:ea typeface="+mn-ea"/>
                <a:cs typeface="+mn-cs"/>
              </a:rPr>
              <a:t>• Each item is tagged and contains the guest’s name and usually the total number of items lodged for storage. </a:t>
            </a:r>
          </a:p>
          <a:p>
            <a:r>
              <a:rPr lang="en-AU" sz="1200" b="0" i="0" u="none" strike="noStrike" kern="1200" baseline="0" dirty="0" smtClean="0">
                <a:solidFill>
                  <a:schemeClr val="tx1"/>
                </a:solidFill>
                <a:ea typeface="+mn-ea"/>
                <a:cs typeface="+mn-cs"/>
              </a:rPr>
              <a:t>• Some form of documentation – perhaps half of a tear-off slip – is given to the guest to facilitate the retrieval of the luggage. </a:t>
            </a:r>
          </a:p>
          <a:p>
            <a:r>
              <a:rPr lang="en-AU" sz="1200" b="0" i="0" u="none" strike="noStrike" kern="1200" baseline="0" dirty="0" smtClean="0">
                <a:solidFill>
                  <a:schemeClr val="tx1"/>
                </a:solidFill>
                <a:ea typeface="+mn-ea"/>
                <a:cs typeface="+mn-cs"/>
              </a:rPr>
              <a:t>• When the guest returns to collect their luggage they are required to provide identification before being supplied with their luggage. </a:t>
            </a:r>
          </a:p>
          <a:p>
            <a:r>
              <a:rPr lang="en-AU" sz="1200" b="0" i="0" u="none" strike="noStrike" kern="1200" baseline="0" dirty="0" smtClean="0">
                <a:solidFill>
                  <a:schemeClr val="tx1"/>
                </a:solidFill>
                <a:ea typeface="+mn-ea"/>
                <a:cs typeface="+mn-cs"/>
              </a:rPr>
              <a:t>• Where identification has been lost – management should be called immediately to resolve the problem. </a:t>
            </a:r>
          </a:p>
          <a:p>
            <a:r>
              <a:rPr lang="en-AU" sz="1200" b="0" i="0" u="none" strike="noStrike" kern="1200" baseline="0" dirty="0" smtClean="0">
                <a:solidFill>
                  <a:schemeClr val="tx1"/>
                </a:solidFill>
                <a:ea typeface="+mn-ea"/>
                <a:cs typeface="+mn-cs"/>
              </a:rPr>
              <a:t>• Luggage will be transported by porters as required – either to the room, or to the external pick-up area/car park. </a:t>
            </a:r>
          </a:p>
          <a:p>
            <a:endParaRPr lang="en-AU" sz="1200" b="0" i="0" u="none" strike="noStrike" kern="1200" baseline="0" dirty="0" smtClean="0">
              <a:solidFill>
                <a:schemeClr val="tx1"/>
              </a:solidFill>
              <a:ea typeface="+mn-ea"/>
              <a:cs typeface="+mn-cs"/>
            </a:endParaRPr>
          </a:p>
          <a:p>
            <a:pPr>
              <a:lnSpc>
                <a:spcPct val="80000"/>
              </a:lnSpc>
            </a:pPr>
            <a:r>
              <a:rPr lang="en-AU" sz="1200" dirty="0" smtClean="0">
                <a:solidFill>
                  <a:srgbClr val="003366"/>
                </a:solidFill>
              </a:rPr>
              <a:t>At the time of arrival, a guest’s room may not be ready. To give the guest the freedom to leave the venue without the inconvenience of holding onto their luggage, the venue will store it for them.</a:t>
            </a:r>
          </a:p>
          <a:p>
            <a:pPr>
              <a:lnSpc>
                <a:spcPct val="80000"/>
              </a:lnSpc>
            </a:pPr>
            <a:r>
              <a:rPr lang="en-AU" sz="1200" dirty="0" smtClean="0">
                <a:solidFill>
                  <a:srgbClr val="003366"/>
                </a:solidFill>
              </a:rPr>
              <a:t>Guest may not require some items in their Room, eg sporting equipment, Items not needed for this section of the guests journey</a:t>
            </a:r>
          </a:p>
          <a:p>
            <a:pPr>
              <a:lnSpc>
                <a:spcPct val="80000"/>
              </a:lnSpc>
            </a:pPr>
            <a:r>
              <a:rPr lang="en-AU" sz="1200" dirty="0" smtClean="0">
                <a:solidFill>
                  <a:srgbClr val="003366"/>
                </a:solidFill>
              </a:rPr>
              <a:t> Conversely, at the time of departure, the guest may be required to vacate the room by 11.00 am but not due to leave the town until that evening. Again, the venue will store the guest’s luggage for them until required. </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460878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sz="1200" b="0" i="0" u="none" strike="noStrike" kern="1200" baseline="0" dirty="0" smtClean="0">
                <a:solidFill>
                  <a:schemeClr val="tx1"/>
                </a:solidFill>
                <a:ea typeface="+mn-ea"/>
                <a:cs typeface="+mn-cs"/>
              </a:rPr>
              <a:t>Groups arrival</a:t>
            </a:r>
          </a:p>
          <a:p>
            <a:r>
              <a:rPr lang="en-AU" sz="1200" b="0" i="0" u="none" strike="noStrike" kern="1200" baseline="0" dirty="0" smtClean="0">
                <a:solidFill>
                  <a:schemeClr val="tx1"/>
                </a:solidFill>
                <a:ea typeface="+mn-ea"/>
                <a:cs typeface="+mn-cs"/>
              </a:rPr>
              <a:t>Bus arrives and luggage is unloaded and transported by the driver and/or porter to designated area (such as a special group check-in reception area) </a:t>
            </a:r>
          </a:p>
          <a:p>
            <a:r>
              <a:rPr lang="en-AU" sz="1200" b="0" i="0" u="none" strike="noStrike" kern="1200" baseline="0" dirty="0" smtClean="0">
                <a:solidFill>
                  <a:schemeClr val="tx1"/>
                </a:solidFill>
                <a:ea typeface="+mn-ea"/>
                <a:cs typeface="+mn-cs"/>
              </a:rPr>
              <a:t>• The porter counts and records the luggage on the group file </a:t>
            </a:r>
          </a:p>
          <a:p>
            <a:r>
              <a:rPr lang="en-AU" sz="1200" b="0" i="0" u="none" strike="noStrike" kern="1200" baseline="0" dirty="0" smtClean="0">
                <a:solidFill>
                  <a:schemeClr val="tx1"/>
                </a:solidFill>
                <a:ea typeface="+mn-ea"/>
                <a:cs typeface="+mn-cs"/>
              </a:rPr>
              <a:t>• Receptionist checks Rooming Lists and all relevant information for correctness and smooth check-in process </a:t>
            </a:r>
          </a:p>
          <a:p>
            <a:r>
              <a:rPr lang="en-AU" sz="1200" b="0" i="0" u="none" strike="noStrike" kern="1200" baseline="0" dirty="0" smtClean="0">
                <a:solidFill>
                  <a:schemeClr val="tx1"/>
                </a:solidFill>
                <a:ea typeface="+mn-ea"/>
                <a:cs typeface="+mn-cs"/>
              </a:rPr>
              <a:t>• Luggage is tagged by the porter </a:t>
            </a:r>
          </a:p>
          <a:p>
            <a:r>
              <a:rPr lang="en-AU" sz="1200" b="0" i="0" u="none" strike="noStrike" kern="1200" baseline="0" dirty="0" smtClean="0">
                <a:solidFill>
                  <a:schemeClr val="tx1"/>
                </a:solidFill>
                <a:ea typeface="+mn-ea"/>
                <a:cs typeface="+mn-cs"/>
              </a:rPr>
              <a:t>• Porter obtains Rooming List and places room numbers on tags </a:t>
            </a:r>
          </a:p>
          <a:p>
            <a:r>
              <a:rPr lang="en-AU" sz="1200" b="0" i="0" u="none" strike="noStrike" kern="1200" baseline="0" dirty="0" smtClean="0">
                <a:solidFill>
                  <a:schemeClr val="tx1"/>
                </a:solidFill>
                <a:ea typeface="+mn-ea"/>
                <a:cs typeface="+mn-cs"/>
              </a:rPr>
              <a:t>• Luggage is distributed to the different floors/rooms. </a:t>
            </a:r>
          </a:p>
          <a:p>
            <a:endParaRPr lang="en-AU" sz="1200" b="0" i="0" u="none" strike="noStrike" kern="1200" baseline="0" dirty="0" smtClean="0">
              <a:solidFill>
                <a:schemeClr val="tx1"/>
              </a:solidFill>
              <a:ea typeface="+mn-ea"/>
              <a:cs typeface="+mn-cs"/>
            </a:endParaRPr>
          </a:p>
          <a:p>
            <a:r>
              <a:rPr lang="en-AU" sz="1200" b="0" i="0" u="none" strike="noStrike" kern="1200" baseline="0" dirty="0" smtClean="0">
                <a:solidFill>
                  <a:schemeClr val="tx1"/>
                </a:solidFill>
                <a:ea typeface="+mn-ea"/>
                <a:cs typeface="+mn-cs"/>
              </a:rPr>
              <a:t>Groups departure</a:t>
            </a:r>
          </a:p>
          <a:p>
            <a:r>
              <a:rPr lang="en-AU" sz="1200" b="0" i="0" u="none" strike="noStrike" kern="1200" baseline="0" dirty="0" smtClean="0">
                <a:solidFill>
                  <a:schemeClr val="tx1"/>
                </a:solidFill>
                <a:ea typeface="+mn-ea"/>
                <a:cs typeface="+mn-cs"/>
              </a:rPr>
              <a:t>Shortly before the group’s departure, the porter collects luggage from rooms at allocated times (some hotels prefer luggage to be left outside the room for time saving reasons) </a:t>
            </a:r>
          </a:p>
          <a:p>
            <a:r>
              <a:rPr lang="en-AU" sz="1200" b="0" i="0" u="none" strike="noStrike" kern="1200" baseline="0" dirty="0" smtClean="0">
                <a:solidFill>
                  <a:schemeClr val="tx1"/>
                </a:solidFill>
                <a:ea typeface="+mn-ea"/>
                <a:cs typeface="+mn-cs"/>
              </a:rPr>
              <a:t>• Porters collect luggage </a:t>
            </a:r>
          </a:p>
          <a:p>
            <a:r>
              <a:rPr lang="en-AU" sz="1200" b="0" i="0" u="none" strike="noStrike" kern="1200" baseline="0" dirty="0" smtClean="0">
                <a:solidFill>
                  <a:schemeClr val="tx1"/>
                </a:solidFill>
                <a:ea typeface="+mn-ea"/>
                <a:cs typeface="+mn-cs"/>
              </a:rPr>
              <a:t>• Luggage is counted and checked against Rooming List to ensure every piece is accounted for </a:t>
            </a:r>
          </a:p>
          <a:p>
            <a:r>
              <a:rPr lang="en-AU" sz="1200" b="0" i="0" u="none" strike="noStrike" kern="1200" baseline="0" dirty="0" smtClean="0">
                <a:solidFill>
                  <a:schemeClr val="tx1"/>
                </a:solidFill>
                <a:ea typeface="+mn-ea"/>
                <a:cs typeface="+mn-cs"/>
              </a:rPr>
              <a:t>• Luggage is loaded onto the bus by porters.</a:t>
            </a:r>
          </a:p>
          <a:p>
            <a:r>
              <a:rPr lang="en-AU" sz="1200" b="0" i="0" u="none" strike="noStrike" kern="1200" baseline="0" dirty="0" smtClean="0">
                <a:solidFill>
                  <a:schemeClr val="tx1"/>
                </a:solidFill>
                <a:ea typeface="+mn-ea"/>
                <a:cs typeface="+mn-cs"/>
              </a:rPr>
              <a:t>Where a group is storing luggage, the marking and storing will take this into account – perhaps by using a colour-coded tag – this is not only a benefit to the guests but also speeds things up for porters when they are trying to identify appropriate luggage.</a:t>
            </a:r>
          </a:p>
          <a:p>
            <a:r>
              <a:rPr lang="en-AU" sz="1200" b="0" i="0" u="none" strike="noStrike" kern="1200" baseline="0" dirty="0" smtClean="0">
                <a:solidFill>
                  <a:schemeClr val="tx1"/>
                </a:solidFill>
                <a:ea typeface="+mn-ea"/>
                <a:cs typeface="+mn-cs"/>
              </a:rPr>
              <a:t>In some establishments, porters may be specifically tasked to deal with luggage from a group: they are dedicated to this task and, as such, can render more personal, thorough and careful service. </a:t>
            </a:r>
          </a:p>
          <a:p>
            <a:r>
              <a:rPr lang="en-AU" sz="1200" b="0" i="0" u="none" strike="noStrike" kern="1200" baseline="0" dirty="0" smtClean="0">
                <a:solidFill>
                  <a:schemeClr val="tx1"/>
                </a:solidFill>
                <a:ea typeface="+mn-ea"/>
                <a:cs typeface="+mn-cs"/>
              </a:rPr>
              <a:t>If a large group is checking out and there is not enough space in the Porter’s Room or Luggage Room, then the following three possibilities may apply: </a:t>
            </a:r>
          </a:p>
          <a:p>
            <a:r>
              <a:rPr lang="en-AU" sz="1200" b="0" i="0" u="none" strike="noStrike" kern="1200" baseline="0" dirty="0" smtClean="0">
                <a:solidFill>
                  <a:schemeClr val="tx1"/>
                </a:solidFill>
                <a:ea typeface="+mn-ea"/>
                <a:cs typeface="+mn-cs"/>
              </a:rPr>
              <a:t>• Luggage is placed in a hotel room (it is called a hospitality room). Some establishments will charge 50% of the room rate for such a service. </a:t>
            </a:r>
          </a:p>
          <a:p>
            <a:r>
              <a:rPr lang="en-AU" sz="1200" b="0" i="0" u="none" strike="noStrike" kern="1200" baseline="0" dirty="0" smtClean="0">
                <a:solidFill>
                  <a:schemeClr val="tx1"/>
                </a:solidFill>
                <a:ea typeface="+mn-ea"/>
                <a:cs typeface="+mn-cs"/>
              </a:rPr>
              <a:t>• Baggage is positioned in one corner of the lobby and it is roped off. A thick rope goes through all the handles on the luggage so that nothing can go missing. </a:t>
            </a:r>
          </a:p>
          <a:p>
            <a:r>
              <a:rPr lang="en-AU" sz="1200" b="0" i="0" u="none" strike="noStrike" kern="1200" baseline="0" dirty="0" smtClean="0">
                <a:solidFill>
                  <a:schemeClr val="tx1"/>
                </a:solidFill>
                <a:ea typeface="+mn-ea"/>
                <a:cs typeface="+mn-cs"/>
              </a:rPr>
              <a:t>• Baggage is positioned in one corner of the lobby and it is netted. This is when a large net, similar to a fishing net, is placed over the top of the luggage and secured tightly.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29762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introduces Element 4 - Assist other Departments.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0227060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5AD948-8B98-4DF7-91DA-26D8F87D5D07}" type="slidenum">
              <a:rPr lang="en-US"/>
              <a:pPr/>
              <a:t>25</a:t>
            </a:fld>
            <a:endParaRPr lang="en-US" dirty="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r>
              <a:rPr lang="en-AU" dirty="0" smtClean="0"/>
              <a:t>Trainer explains the</a:t>
            </a:r>
            <a:r>
              <a:rPr lang="en-AU" baseline="0" dirty="0" smtClean="0"/>
              <a:t> range of duties and interactions a porter has with a guest at all stages of the guest stay. </a:t>
            </a:r>
          </a:p>
          <a:p>
            <a:r>
              <a:rPr lang="en-AU" baseline="0" dirty="0" smtClean="0"/>
              <a:t>Revise the links with other departments.</a:t>
            </a:r>
            <a:endParaRPr lang="en-AU" dirty="0"/>
          </a:p>
        </p:txBody>
      </p:sp>
    </p:spTree>
    <p:extLst>
      <p:ext uri="{BB962C8B-B14F-4D97-AF65-F5344CB8AC3E}">
        <p14:creationId xmlns:p14="http://schemas.microsoft.com/office/powerpoint/2010/main" val="1120712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ea typeface="+mn-ea"/>
                <a:cs typeface="+mn-cs"/>
              </a:rPr>
              <a:t>Porters may be asked to perform other duties, in departments short of staff for example room service need to clear a large number of trays or trolleys.</a:t>
            </a:r>
          </a:p>
          <a:p>
            <a:pPr>
              <a:lnSpc>
                <a:spcPct val="90000"/>
              </a:lnSpc>
            </a:pPr>
            <a:endParaRPr lang="en-US" sz="1200" dirty="0" smtClean="0"/>
          </a:p>
          <a:p>
            <a:pPr>
              <a:lnSpc>
                <a:spcPct val="90000"/>
              </a:lnSpc>
              <a:buFont typeface="Arial" pitchFamily="34" charset="0"/>
              <a:buChar char="•"/>
            </a:pPr>
            <a:r>
              <a:rPr lang="en-US" sz="1200" dirty="0" smtClean="0"/>
              <a:t>Security- For VIPs or to secure group luggage or other guest property</a:t>
            </a:r>
          </a:p>
          <a:p>
            <a:pPr>
              <a:lnSpc>
                <a:spcPct val="90000"/>
              </a:lnSpc>
              <a:buFont typeface="Arial" pitchFamily="34" charset="0"/>
              <a:buChar char="•"/>
            </a:pPr>
            <a:r>
              <a:rPr lang="en-US" sz="1200" dirty="0" smtClean="0"/>
              <a:t>Front office reception- Guests</a:t>
            </a:r>
            <a:r>
              <a:rPr lang="en-US" sz="1200" baseline="0" dirty="0" smtClean="0"/>
              <a:t> special requests, reports &amp; messages. Collecting guests tickets or Visas.</a:t>
            </a:r>
            <a:endParaRPr lang="en-US" sz="1200" dirty="0" smtClean="0"/>
          </a:p>
          <a:p>
            <a:pPr>
              <a:lnSpc>
                <a:spcPct val="90000"/>
              </a:lnSpc>
              <a:buFont typeface="Arial" pitchFamily="34" charset="0"/>
              <a:buChar char="•"/>
            </a:pPr>
            <a:r>
              <a:rPr lang="en-US" sz="1200" dirty="0" smtClean="0"/>
              <a:t>Sales and marketing- information and promotion of in-house services and special events</a:t>
            </a:r>
          </a:p>
          <a:p>
            <a:pPr>
              <a:lnSpc>
                <a:spcPct val="90000"/>
              </a:lnSpc>
              <a:buFont typeface="Arial" pitchFamily="34" charset="0"/>
              <a:buChar char="•"/>
            </a:pPr>
            <a:r>
              <a:rPr lang="en-US" sz="1200" dirty="0" smtClean="0"/>
              <a:t>Housekeeping – lost and found, Room status, guest requests .</a:t>
            </a:r>
          </a:p>
          <a:p>
            <a:pPr>
              <a:lnSpc>
                <a:spcPct val="90000"/>
              </a:lnSpc>
              <a:buFont typeface="Arial" pitchFamily="34" charset="0"/>
              <a:buChar char="•"/>
            </a:pPr>
            <a:r>
              <a:rPr lang="en-US" sz="1200" dirty="0" smtClean="0"/>
              <a:t>Maintenance – replacement light bulbs or other items.</a:t>
            </a:r>
          </a:p>
          <a:p>
            <a:pPr>
              <a:lnSpc>
                <a:spcPct val="90000"/>
              </a:lnSpc>
              <a:buFont typeface="Arial" pitchFamily="34" charset="0"/>
              <a:buChar char="•"/>
            </a:pPr>
            <a:r>
              <a:rPr lang="en-US" sz="1200" dirty="0" smtClean="0"/>
              <a:t>Functions - in house events such as conferences.</a:t>
            </a:r>
          </a:p>
          <a:p>
            <a:endParaRPr lang="en-AU" sz="1200" kern="1200" dirty="0" smtClean="0">
              <a:solidFill>
                <a:schemeClr val="tx1"/>
              </a:solidFill>
              <a:effectLst/>
              <a:ea typeface="+mn-ea"/>
              <a:cs typeface="+mn-cs"/>
            </a:endParaRPr>
          </a:p>
          <a:p>
            <a:endParaRPr lang="en-AU" sz="1200" kern="1200" dirty="0" smtClean="0">
              <a:solidFill>
                <a:schemeClr val="tx1"/>
              </a:solidFill>
              <a:effectLs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4172048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Accidents leave clothing and other items stained and in need of cleaning. </a:t>
            </a:r>
          </a:p>
          <a:p>
            <a:r>
              <a:rPr lang="en-AU" sz="1200" kern="1200" dirty="0" smtClean="0">
                <a:solidFill>
                  <a:schemeClr val="tx1"/>
                </a:solidFill>
                <a:ea typeface="+mn-ea"/>
                <a:cs typeface="+mn-cs"/>
              </a:rPr>
              <a:t>The Hotel will keep contact details with specialist dry cleaners or fabric cleaners. </a:t>
            </a:r>
          </a:p>
          <a:p>
            <a:r>
              <a:rPr lang="en-AU" sz="1200" kern="1200" dirty="0" smtClean="0">
                <a:solidFill>
                  <a:schemeClr val="tx1"/>
                </a:solidFill>
                <a:ea typeface="+mn-ea"/>
                <a:cs typeface="+mn-cs"/>
              </a:rPr>
              <a:t>Some stains may be treated on site by Hotel staff for example Red wine spilt on a guests dress, or Chocolate or berry stains. If the guest has played a sport or participated in an outdoor activity Porters may have to clean a variety of dirt, mud or grass stains.</a:t>
            </a:r>
          </a:p>
          <a:p>
            <a:r>
              <a:rPr lang="en-AU" sz="1200" kern="1200" dirty="0" smtClean="0">
                <a:solidFill>
                  <a:schemeClr val="tx1"/>
                </a:solidFill>
                <a:ea typeface="+mn-ea"/>
                <a:cs typeface="+mn-cs"/>
              </a:rPr>
              <a:t>Hotel staff will have a reference resource on treatment of stains in an emergency.</a:t>
            </a:r>
          </a:p>
          <a:p>
            <a:pPr>
              <a:buFont typeface="Arial" pitchFamily="34" charset="0"/>
              <a:buChar char="•"/>
            </a:pPr>
            <a:endParaRPr lang="en-US" dirty="0" smtClean="0"/>
          </a:p>
          <a:p>
            <a:pPr>
              <a:buFont typeface="Arial" pitchFamily="34" charset="0"/>
              <a:buChar char="•"/>
            </a:pPr>
            <a:r>
              <a:rPr lang="en-US" dirty="0" smtClean="0"/>
              <a:t>Lobby and driveway appearance - cleaning soil tracked in by guests , smokers ash or liquid spills.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8851071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The Hotel or resort would have staff trained in various levels of first aide and policies and procedures for staff to follow in case of emergency.  Porters, in keeping a reference file of information to assist in responding to any guest requests, have an extensive list of medical professionals including specialists, dentists, doctors, chiropractors, physiotherapists, sports therapists and also culturally applicable medical service.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All incidents will be recorded and logged following the establishments policies and procedures.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3852268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60000" indent="-360000">
              <a:spcBef>
                <a:spcPts val="600"/>
              </a:spcBef>
              <a:spcAft>
                <a:spcPts val="1200"/>
              </a:spcAft>
            </a:pPr>
            <a:r>
              <a:rPr lang="en-AU" sz="1200" kern="1200" dirty="0" smtClean="0">
                <a:solidFill>
                  <a:schemeClr val="tx1"/>
                </a:solidFill>
                <a:ea typeface="+mn-ea"/>
                <a:cs typeface="+mn-cs"/>
              </a:rPr>
              <a:t>The porter may be  required to assist when a disturbance does occur. </a:t>
            </a:r>
          </a:p>
          <a:p>
            <a:pPr marL="360000" indent="-360000">
              <a:spcBef>
                <a:spcPts val="600"/>
              </a:spcBef>
              <a:spcAft>
                <a:spcPts val="1200"/>
              </a:spcAft>
            </a:pPr>
            <a:endParaRPr lang="en-AU" sz="1200" kern="1200" dirty="0" smtClean="0">
              <a:solidFill>
                <a:schemeClr val="tx1"/>
              </a:solidFill>
              <a:ea typeface="+mn-ea"/>
              <a:cs typeface="+mn-cs"/>
            </a:endParaRPr>
          </a:p>
          <a:p>
            <a:pPr marL="360000" indent="-360000">
              <a:spcBef>
                <a:spcPts val="600"/>
              </a:spcBef>
              <a:spcAft>
                <a:spcPts val="1200"/>
              </a:spcAft>
            </a:pPr>
            <a:r>
              <a:rPr lang="en-AU" sz="1200" kern="1200" dirty="0" smtClean="0">
                <a:solidFill>
                  <a:schemeClr val="tx1"/>
                </a:solidFill>
                <a:ea typeface="+mn-ea"/>
                <a:cs typeface="+mn-cs"/>
              </a:rPr>
              <a:t>A disturbance is any incident that interrupts the normal activities of the venue. </a:t>
            </a:r>
          </a:p>
          <a:p>
            <a:pPr marL="360000" indent="-360000">
              <a:spcBef>
                <a:spcPts val="600"/>
              </a:spcBef>
              <a:spcAft>
                <a:spcPts val="1200"/>
              </a:spcAft>
            </a:pPr>
            <a:endParaRPr lang="en-AU" sz="1200" kern="1200" dirty="0" smtClean="0">
              <a:solidFill>
                <a:schemeClr val="tx1"/>
              </a:solidFill>
              <a:ea typeface="+mn-ea"/>
              <a:cs typeface="+mn-cs"/>
            </a:endParaRPr>
          </a:p>
          <a:p>
            <a:pPr marL="360000" indent="-360000">
              <a:spcBef>
                <a:spcPts val="600"/>
              </a:spcBef>
              <a:spcAft>
                <a:spcPts val="1200"/>
              </a:spcAft>
            </a:pPr>
            <a:r>
              <a:rPr lang="en-AU" sz="1200" kern="1200" dirty="0" smtClean="0">
                <a:solidFill>
                  <a:schemeClr val="tx1"/>
                </a:solidFill>
                <a:ea typeface="+mn-ea"/>
                <a:cs typeface="+mn-cs"/>
              </a:rPr>
              <a:t>It may include:</a:t>
            </a:r>
            <a:r>
              <a:rPr lang="en-AU" sz="1200" kern="1200" baseline="0" dirty="0" smtClean="0">
                <a:solidFill>
                  <a:schemeClr val="tx1"/>
                </a:solidFill>
                <a:ea typeface="+mn-ea"/>
                <a:cs typeface="+mn-cs"/>
              </a:rPr>
              <a:t> </a:t>
            </a:r>
          </a:p>
          <a:p>
            <a:pPr marL="360000" indent="-360000">
              <a:spcBef>
                <a:spcPts val="600"/>
              </a:spcBef>
              <a:spcAft>
                <a:spcPts val="1200"/>
              </a:spcAft>
              <a:buFont typeface="Arial" pitchFamily="34" charset="0"/>
              <a:buChar char="•"/>
            </a:pPr>
            <a:r>
              <a:rPr lang="en-AU" sz="1200" kern="1200" dirty="0" smtClean="0">
                <a:solidFill>
                  <a:schemeClr val="tx1"/>
                </a:solidFill>
                <a:ea typeface="+mn-ea"/>
                <a:cs typeface="+mn-cs"/>
              </a:rPr>
              <a:t>Guests who are having an argument</a:t>
            </a:r>
            <a:r>
              <a:rPr lang="en-AU" sz="1200" kern="1200" baseline="0" dirty="0" smtClean="0">
                <a:solidFill>
                  <a:schemeClr val="tx1"/>
                </a:solidFill>
                <a:ea typeface="+mn-ea"/>
                <a:cs typeface="+mn-cs"/>
              </a:rPr>
              <a:t> or</a:t>
            </a:r>
            <a:r>
              <a:rPr lang="en-US" sz="1200" dirty="0" smtClean="0">
                <a:latin typeface="Helvetica" pitchFamily="34" charset="0"/>
              </a:rPr>
              <a:t> altercations</a:t>
            </a:r>
          </a:p>
          <a:p>
            <a:pPr marL="360000" indent="-360000">
              <a:spcBef>
                <a:spcPts val="600"/>
              </a:spcBef>
              <a:spcAft>
                <a:spcPts val="1200"/>
              </a:spcAft>
              <a:buFont typeface="Arial" pitchFamily="34" charset="0"/>
              <a:buChar char="•"/>
            </a:pPr>
            <a:r>
              <a:rPr lang="en-US" sz="1200" dirty="0" smtClean="0">
                <a:latin typeface="Helvetica" pitchFamily="34" charset="0"/>
              </a:rPr>
              <a:t>Suspicious persons people who are out of place or acting strangely</a:t>
            </a:r>
          </a:p>
          <a:p>
            <a:pPr marL="360000" indent="-360000">
              <a:spcBef>
                <a:spcPts val="600"/>
              </a:spcBef>
              <a:spcAft>
                <a:spcPts val="1200"/>
              </a:spcAft>
              <a:buFont typeface="Arial" pitchFamily="34" charset="0"/>
              <a:buChar char="•"/>
            </a:pPr>
            <a:r>
              <a:rPr lang="en-US" sz="1200" dirty="0" smtClean="0">
                <a:latin typeface="Helvetica" pitchFamily="34" charset="0"/>
              </a:rPr>
              <a:t>Terrorist threats</a:t>
            </a:r>
            <a:r>
              <a:rPr lang="en-US" sz="1200" baseline="0" dirty="0" smtClean="0">
                <a:latin typeface="Helvetica" pitchFamily="34" charset="0"/>
              </a:rPr>
              <a:t> such as bomb scares, gunfire or threats.</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A porter needs to be constantly alert to people who seem ‘out of place’, uncomfortable or suspicious.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747926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introduces Element 5 - Provide Concierge services.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5602152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342900" indent="-342900">
              <a:spcBef>
                <a:spcPts val="600"/>
              </a:spcBef>
              <a:spcAft>
                <a:spcPts val="1200"/>
              </a:spcAft>
            </a:pPr>
            <a:r>
              <a:rPr lang="en-US" sz="1200" dirty="0" smtClean="0">
                <a:latin typeface="Helvetica" pitchFamily="34" charset="0"/>
              </a:rPr>
              <a:t>Mail and messages types to be delivered include:</a:t>
            </a:r>
          </a:p>
          <a:p>
            <a:pPr marL="342900" indent="-342900">
              <a:spcBef>
                <a:spcPts val="600"/>
              </a:spcBef>
              <a:spcAft>
                <a:spcPts val="1200"/>
              </a:spcAft>
              <a:buFont typeface="Arial" pitchFamily="34" charset="0"/>
              <a:buChar char="•"/>
            </a:pPr>
            <a:r>
              <a:rPr lang="en-US" sz="1200" dirty="0" smtClean="0">
                <a:latin typeface="Helvetica" pitchFamily="34" charset="0"/>
              </a:rPr>
              <a:t>Snail mail, cards or promotional material, accounts, </a:t>
            </a:r>
          </a:p>
          <a:p>
            <a:pPr marL="342900" indent="-342900">
              <a:spcBef>
                <a:spcPts val="600"/>
              </a:spcBef>
              <a:spcAft>
                <a:spcPts val="1200"/>
              </a:spcAft>
              <a:buFont typeface="Arial" pitchFamily="34" charset="0"/>
              <a:buChar char="•"/>
            </a:pPr>
            <a:r>
              <a:rPr lang="en-US" sz="1200" dirty="0" smtClean="0">
                <a:latin typeface="Helvetica" pitchFamily="34" charset="0"/>
              </a:rPr>
              <a:t>Electronic</a:t>
            </a:r>
            <a:r>
              <a:rPr lang="en-US" sz="1200" baseline="0" dirty="0" smtClean="0">
                <a:latin typeface="Helvetica" pitchFamily="34" charset="0"/>
              </a:rPr>
              <a:t> accessible by the guest on the TV or telephone voice mail</a:t>
            </a:r>
          </a:p>
          <a:p>
            <a:pPr marL="342900" indent="-342900">
              <a:spcBef>
                <a:spcPts val="600"/>
              </a:spcBef>
              <a:spcAft>
                <a:spcPts val="1200"/>
              </a:spcAft>
              <a:buFont typeface="Arial" pitchFamily="34" charset="0"/>
              <a:buChar char="•"/>
            </a:pPr>
            <a:r>
              <a:rPr lang="en-US" sz="1200" i="0" kern="1200" dirty="0" smtClean="0">
                <a:solidFill>
                  <a:schemeClr val="tx1"/>
                </a:solidFill>
                <a:ea typeface="+mn-ea"/>
                <a:cs typeface="+mn-cs"/>
              </a:rPr>
              <a:t>Mail or messages may be received for:</a:t>
            </a:r>
            <a:endParaRPr lang="en-AU" sz="1200" i="0" kern="1200" dirty="0" smtClean="0">
              <a:solidFill>
                <a:schemeClr val="tx1"/>
              </a:solidFill>
              <a:ea typeface="+mn-ea"/>
              <a:cs typeface="+mn-cs"/>
            </a:endParaRPr>
          </a:p>
          <a:p>
            <a:pPr>
              <a:buFont typeface="Wingdings" pitchFamily="2" charset="2"/>
              <a:buChar char="§"/>
            </a:pPr>
            <a:r>
              <a:rPr lang="en-AU" sz="1200" i="0" kern="1200" dirty="0" smtClean="0">
                <a:solidFill>
                  <a:schemeClr val="tx1"/>
                </a:solidFill>
                <a:ea typeface="+mn-ea"/>
                <a:cs typeface="+mn-cs"/>
              </a:rPr>
              <a:t>Current guests</a:t>
            </a:r>
          </a:p>
          <a:p>
            <a:pPr>
              <a:buFont typeface="Wingdings" pitchFamily="2" charset="2"/>
              <a:buChar char="§"/>
            </a:pPr>
            <a:r>
              <a:rPr lang="en-AU" sz="1200" i="0" kern="1200" dirty="0" smtClean="0">
                <a:solidFill>
                  <a:schemeClr val="tx1"/>
                </a:solidFill>
                <a:ea typeface="+mn-ea"/>
                <a:cs typeface="+mn-cs"/>
              </a:rPr>
              <a:t>Future guests</a:t>
            </a:r>
          </a:p>
          <a:p>
            <a:pPr>
              <a:buFont typeface="Wingdings" pitchFamily="2" charset="2"/>
              <a:buChar char="§"/>
            </a:pPr>
            <a:r>
              <a:rPr lang="en-AU" sz="1200" i="0" kern="1200" dirty="0" smtClean="0">
                <a:solidFill>
                  <a:schemeClr val="tx1"/>
                </a:solidFill>
                <a:ea typeface="+mn-ea"/>
                <a:cs typeface="+mn-cs"/>
              </a:rPr>
              <a:t>Past guests.</a:t>
            </a:r>
          </a:p>
          <a:p>
            <a:endParaRPr lang="en-US" sz="1200" i="0" kern="1200" dirty="0" smtClean="0">
              <a:solidFill>
                <a:schemeClr val="tx1"/>
              </a:solidFill>
              <a:ea typeface="+mn-ea"/>
              <a:cs typeface="+mn-cs"/>
            </a:endParaRPr>
          </a:p>
          <a:p>
            <a:r>
              <a:rPr lang="en-US" sz="1200" i="0" kern="1200" dirty="0" smtClean="0">
                <a:solidFill>
                  <a:schemeClr val="tx1"/>
                </a:solidFill>
                <a:ea typeface="+mn-ea"/>
                <a:cs typeface="+mn-cs"/>
              </a:rPr>
              <a:t>For each there is a specific procedure to follow. All mail, parcels or messages must be time and date stamped and recorded in a mail received book.</a:t>
            </a:r>
            <a:endParaRPr lang="en-AU" sz="1200" i="0" kern="1200" dirty="0" smtClean="0">
              <a:solidFill>
                <a:schemeClr val="tx1"/>
              </a:solidFill>
              <a:ea typeface="+mn-ea"/>
              <a:cs typeface="+mn-cs"/>
            </a:endParaRPr>
          </a:p>
          <a:p>
            <a:pPr marL="342900" indent="-342900">
              <a:spcBef>
                <a:spcPts val="600"/>
              </a:spcBef>
              <a:spcAft>
                <a:spcPts val="1200"/>
              </a:spcAft>
            </a:pPr>
            <a:endParaRPr lang="en-US" sz="1200" dirty="0" smtClean="0">
              <a:latin typeface="Helvetica" pitchFamily="34" charset="0"/>
            </a:endParaRPr>
          </a:p>
          <a:p>
            <a:r>
              <a:rPr lang="en-AU" sz="1200" kern="1200" dirty="0" smtClean="0">
                <a:solidFill>
                  <a:schemeClr val="tx1"/>
                </a:solidFill>
                <a:ea typeface="+mn-ea"/>
                <a:cs typeface="+mn-cs"/>
              </a:rPr>
              <a:t>Wake up calls</a:t>
            </a:r>
          </a:p>
          <a:p>
            <a:r>
              <a:rPr lang="en-AU" sz="1200" kern="1200" dirty="0" smtClean="0">
                <a:solidFill>
                  <a:schemeClr val="tx1"/>
                </a:solidFill>
                <a:ea typeface="+mn-ea"/>
                <a:cs typeface="+mn-cs"/>
              </a:rPr>
              <a:t>Depending on the Establishment ,The  guest may prefer the  option of having the wake-up call placed directly to the guest’s bedside phone, or the Butler or room service staff may  take the wakeup call and personally knock on the guest’s door to awaken them usually with a morning service tray with a hot beverage or fruit juice.</a:t>
            </a:r>
          </a:p>
          <a:p>
            <a:r>
              <a:rPr lang="en-AU" sz="1200" kern="1200" dirty="0" smtClean="0">
                <a:solidFill>
                  <a:schemeClr val="tx1"/>
                </a:solidFill>
                <a:ea typeface="+mn-ea"/>
                <a:cs typeface="+mn-cs"/>
              </a:rPr>
              <a:t>Wake up calls can be organized through the Reception staff or the hotel telephonist who takes details of time and date of the request and at that time phones the guest s room to wake the guest up as this is a person to person call it may assist the wake up process if the guest explains the  reason for the call for example a plane to catch or meeting to attend.</a:t>
            </a:r>
          </a:p>
          <a:p>
            <a:r>
              <a:rPr lang="en-AU" sz="1200" kern="1200" dirty="0" smtClean="0">
                <a:solidFill>
                  <a:schemeClr val="tx1"/>
                </a:solidFill>
                <a:ea typeface="+mn-ea"/>
                <a:cs typeface="+mn-cs"/>
              </a:rPr>
              <a:t>Some establishments have a direct computerized system  wakeup call system. The guest logs the details of the wakeup call and an automated system rings and prompts the guest.</a:t>
            </a:r>
          </a:p>
          <a:p>
            <a:r>
              <a:rPr lang="en-AU" sz="1200" kern="1200" dirty="0" smtClean="0">
                <a:solidFill>
                  <a:schemeClr val="tx1"/>
                </a:solidFill>
                <a:ea typeface="+mn-ea"/>
                <a:cs typeface="+mn-cs"/>
              </a:rPr>
              <a:t>When booking a wakeup call the information should include the Guests name and room number, wake-up call time and sometimes purpose Include any snooze and recall times </a:t>
            </a:r>
          </a:p>
          <a:p>
            <a:pPr marL="342900" marR="0" indent="-342900" algn="l" defTabSz="914400" rtl="0" eaLnBrk="1" fontAlgn="auto" latinLnBrk="0" hangingPunct="1">
              <a:lnSpc>
                <a:spcPct val="100000"/>
              </a:lnSpc>
              <a:spcBef>
                <a:spcPts val="600"/>
              </a:spcBef>
              <a:spcAft>
                <a:spcPts val="1200"/>
              </a:spcAft>
              <a:buClrTx/>
              <a:buSzTx/>
              <a:buFontTx/>
              <a:buNone/>
              <a:tabLst/>
              <a:defRPr/>
            </a:pPr>
            <a:endParaRPr lang="en-US" sz="1200" dirty="0" smtClean="0">
              <a:latin typeface="Helvetica" pitchFamily="34" charset="0"/>
            </a:endParaRPr>
          </a:p>
          <a:p>
            <a:pPr marL="342900" marR="0" indent="-342900" algn="l" defTabSz="914400" rtl="0" eaLnBrk="1" fontAlgn="auto" latinLnBrk="0" hangingPunct="1">
              <a:lnSpc>
                <a:spcPct val="100000"/>
              </a:lnSpc>
              <a:spcBef>
                <a:spcPts val="600"/>
              </a:spcBef>
              <a:spcAft>
                <a:spcPts val="1200"/>
              </a:spcAft>
              <a:buClrTx/>
              <a:buSzTx/>
              <a:buFontTx/>
              <a:buNone/>
              <a:tabLst/>
              <a:defRPr/>
            </a:pPr>
            <a:r>
              <a:rPr lang="en-US" sz="1200" b="1" dirty="0" smtClean="0">
                <a:latin typeface="Helvetica" pitchFamily="34" charset="0"/>
              </a:rPr>
              <a:t>Class activity </a:t>
            </a:r>
          </a:p>
          <a:p>
            <a:pPr marL="342900" marR="0" indent="-342900" algn="l" defTabSz="914400" rtl="0" eaLnBrk="1" fontAlgn="auto" latinLnBrk="0" hangingPunct="1">
              <a:lnSpc>
                <a:spcPct val="100000"/>
              </a:lnSpc>
              <a:spcBef>
                <a:spcPts val="600"/>
              </a:spcBef>
              <a:spcAft>
                <a:spcPts val="1200"/>
              </a:spcAft>
              <a:buClrTx/>
              <a:buSzTx/>
              <a:buFontTx/>
              <a:buNone/>
              <a:tabLst/>
              <a:defRPr/>
            </a:pPr>
            <a:r>
              <a:rPr lang="en-US" sz="1200" dirty="0" smtClean="0">
                <a:latin typeface="Helvetica" pitchFamily="34" charset="0"/>
              </a:rPr>
              <a:t>Create</a:t>
            </a:r>
            <a:r>
              <a:rPr lang="en-US" sz="1200" baseline="0" dirty="0" smtClean="0">
                <a:latin typeface="Helvetica" pitchFamily="34" charset="0"/>
              </a:rPr>
              <a:t> a wake up call sheet.</a:t>
            </a:r>
            <a:endParaRPr lang="en-US" sz="1200" dirty="0" smtClean="0">
              <a:latin typeface="Helvetica" pitchFamily="34" charset="0"/>
            </a:endParaRPr>
          </a:p>
          <a:p>
            <a:pPr marL="342900" marR="0" indent="-342900" algn="l" defTabSz="914400" rtl="0" eaLnBrk="1" fontAlgn="auto" latinLnBrk="0" hangingPunct="1">
              <a:lnSpc>
                <a:spcPct val="100000"/>
              </a:lnSpc>
              <a:spcBef>
                <a:spcPts val="600"/>
              </a:spcBef>
              <a:spcAft>
                <a:spcPts val="1200"/>
              </a:spcAft>
              <a:buClrTx/>
              <a:buSzTx/>
              <a:buFontTx/>
              <a:buNone/>
              <a:tabLst/>
              <a:defRPr/>
            </a:pPr>
            <a:endParaRPr lang="en-US" sz="1200" dirty="0" smtClean="0">
              <a:latin typeface="Helvetica" pitchFamily="34" charset="0"/>
            </a:endParaRPr>
          </a:p>
          <a:p>
            <a:pPr marL="342900" marR="0" indent="-342900" algn="l" defTabSz="914400" rtl="0" eaLnBrk="1" fontAlgn="auto" latinLnBrk="0" hangingPunct="1">
              <a:lnSpc>
                <a:spcPct val="100000"/>
              </a:lnSpc>
              <a:spcBef>
                <a:spcPts val="600"/>
              </a:spcBef>
              <a:spcAft>
                <a:spcPts val="1200"/>
              </a:spcAft>
              <a:buClrTx/>
              <a:buSzTx/>
              <a:buFontTx/>
              <a:buNone/>
              <a:tabLst/>
              <a:defRPr/>
            </a:pPr>
            <a:endParaRPr lang="en-US"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8414441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342900" indent="-342900">
              <a:spcBef>
                <a:spcPts val="600"/>
              </a:spcBef>
              <a:spcAft>
                <a:spcPts val="1200"/>
              </a:spcAft>
            </a:pPr>
            <a:r>
              <a:rPr lang="en-US" sz="1200" dirty="0" smtClean="0">
                <a:latin typeface="Helvetica" pitchFamily="34" charset="0"/>
              </a:rPr>
              <a:t>Transport include:</a:t>
            </a:r>
          </a:p>
          <a:p>
            <a:pPr marL="342900" indent="-342900">
              <a:spcBef>
                <a:spcPts val="600"/>
              </a:spcBef>
              <a:spcAft>
                <a:spcPts val="1200"/>
              </a:spcAft>
              <a:buFont typeface="Arial" pitchFamily="34" charset="0"/>
              <a:buChar char="•"/>
            </a:pPr>
            <a:r>
              <a:rPr lang="en-US" sz="1200" kern="1200" dirty="0" smtClean="0">
                <a:solidFill>
                  <a:schemeClr val="tx1"/>
                </a:solidFill>
                <a:ea typeface="+mn-ea"/>
                <a:cs typeface="+mn-cs"/>
              </a:rPr>
              <a:t>Hire cars</a:t>
            </a:r>
          </a:p>
          <a:p>
            <a:pPr marL="342900" indent="-342900">
              <a:spcBef>
                <a:spcPts val="600"/>
              </a:spcBef>
              <a:spcAft>
                <a:spcPts val="1200"/>
              </a:spcAft>
              <a:buFont typeface="Arial" pitchFamily="34" charset="0"/>
              <a:buChar char="•"/>
            </a:pPr>
            <a:r>
              <a:rPr lang="en-AU" sz="1200" kern="1200" dirty="0" smtClean="0">
                <a:solidFill>
                  <a:schemeClr val="tx1"/>
                </a:solidFill>
                <a:ea typeface="+mn-ea"/>
                <a:cs typeface="+mn-cs"/>
              </a:rPr>
              <a:t>Limousines </a:t>
            </a:r>
          </a:p>
          <a:p>
            <a:pPr marL="342900" indent="-342900">
              <a:spcBef>
                <a:spcPts val="600"/>
              </a:spcBef>
              <a:spcAft>
                <a:spcPts val="1200"/>
              </a:spcAft>
              <a:buFont typeface="Arial" pitchFamily="34" charset="0"/>
              <a:buChar char="•"/>
            </a:pPr>
            <a:r>
              <a:rPr lang="en-AU" sz="1200" kern="1200" dirty="0" smtClean="0">
                <a:solidFill>
                  <a:schemeClr val="tx1"/>
                </a:solidFill>
                <a:ea typeface="+mn-ea"/>
                <a:cs typeface="+mn-cs"/>
              </a:rPr>
              <a:t>Other local style transport such as cycles, taxis, carriages, </a:t>
            </a:r>
          </a:p>
          <a:p>
            <a:pPr marL="342900" indent="-342900">
              <a:spcBef>
                <a:spcPts val="600"/>
              </a:spcBef>
              <a:spcAft>
                <a:spcPts val="1200"/>
              </a:spcAft>
              <a:buFont typeface="Arial" pitchFamily="34" charset="0"/>
              <a:buChar char="•"/>
            </a:pPr>
            <a:r>
              <a:rPr lang="en-AU" sz="1200" kern="1200" dirty="0" smtClean="0">
                <a:solidFill>
                  <a:schemeClr val="tx1"/>
                </a:solidFill>
                <a:ea typeface="+mn-ea"/>
                <a:cs typeface="+mn-cs"/>
              </a:rPr>
              <a:t>Riding on an animal – horses, donkeys, goats, elephants dolphins etc</a:t>
            </a:r>
          </a:p>
          <a:p>
            <a:pPr marL="342900" indent="-342900">
              <a:spcBef>
                <a:spcPts val="600"/>
              </a:spcBef>
              <a:spcAft>
                <a:spcPts val="1200"/>
              </a:spcAft>
              <a:buFont typeface="Arial" pitchFamily="34" charset="0"/>
              <a:buChar char="•"/>
            </a:pPr>
            <a:r>
              <a:rPr lang="en-AU" sz="1200" kern="1200" dirty="0" smtClean="0">
                <a:solidFill>
                  <a:schemeClr val="tx1"/>
                </a:solidFill>
                <a:ea typeface="+mn-ea"/>
                <a:cs typeface="+mn-cs"/>
              </a:rPr>
              <a:t>Bus </a:t>
            </a:r>
            <a:r>
              <a:rPr lang="en-US" sz="1200" kern="1200" dirty="0" smtClean="0">
                <a:solidFill>
                  <a:schemeClr val="tx1"/>
                </a:solidFill>
                <a:ea typeface="+mn-ea"/>
                <a:cs typeface="+mn-cs"/>
              </a:rPr>
              <a:t>transport </a:t>
            </a:r>
            <a:endParaRPr lang="en-AU" sz="1200" kern="1200" dirty="0" smtClean="0">
              <a:solidFill>
                <a:schemeClr val="tx1"/>
              </a:solidFill>
              <a:ea typeface="+mn-ea"/>
              <a:cs typeface="+mn-cs"/>
            </a:endParaRPr>
          </a:p>
          <a:p>
            <a:pPr marL="342900" indent="-342900">
              <a:spcBef>
                <a:spcPts val="600"/>
              </a:spcBef>
              <a:spcAft>
                <a:spcPts val="1200"/>
              </a:spcAft>
              <a:buFont typeface="Arial" pitchFamily="34" charset="0"/>
              <a:buChar char="•"/>
            </a:pPr>
            <a:r>
              <a:rPr lang="en-AU" sz="1200" kern="1200" dirty="0" smtClean="0">
                <a:solidFill>
                  <a:schemeClr val="tx1"/>
                </a:solidFill>
                <a:ea typeface="+mn-ea"/>
                <a:cs typeface="+mn-cs"/>
              </a:rPr>
              <a:t>Water transport such as water taxi, ferry, private hire.</a:t>
            </a:r>
            <a:endParaRPr lang="en-US" sz="1200" dirty="0" smtClean="0">
              <a:latin typeface="Helvetica" pitchFamily="34" charset="0"/>
            </a:endParaRPr>
          </a:p>
          <a:p>
            <a:pPr marL="342900" indent="-342900">
              <a:spcBef>
                <a:spcPts val="600"/>
              </a:spcBef>
              <a:spcAft>
                <a:spcPts val="1200"/>
              </a:spcAft>
            </a:pPr>
            <a:endParaRPr lang="en-US" sz="1200" dirty="0" smtClean="0">
              <a:latin typeface="Helvetica" pitchFamily="34" charset="0"/>
            </a:endParaRPr>
          </a:p>
          <a:p>
            <a:pPr marL="342900" indent="-342900">
              <a:spcBef>
                <a:spcPts val="600"/>
              </a:spcBef>
              <a:spcAft>
                <a:spcPts val="1200"/>
              </a:spcAft>
            </a:pPr>
            <a:r>
              <a:rPr lang="en-US" sz="1200" dirty="0" smtClean="0">
                <a:latin typeface="Helvetica" pitchFamily="34" charset="0"/>
              </a:rPr>
              <a:t>Transfers for departing Guests</a:t>
            </a:r>
          </a:p>
          <a:p>
            <a:r>
              <a:rPr lang="en-AU" sz="1200" kern="1200" dirty="0" smtClean="0">
                <a:solidFill>
                  <a:schemeClr val="tx1"/>
                </a:solidFill>
                <a:ea typeface="+mn-ea"/>
                <a:cs typeface="+mn-cs"/>
              </a:rPr>
              <a:t>Whatever form of transport is arranged, certain information is needed:</a:t>
            </a:r>
          </a:p>
          <a:p>
            <a:pPr>
              <a:buFont typeface="Arial" pitchFamily="34" charset="0"/>
              <a:buChar char="•"/>
            </a:pPr>
            <a:r>
              <a:rPr lang="en-AU" sz="1200" kern="1200" dirty="0" smtClean="0">
                <a:solidFill>
                  <a:schemeClr val="tx1"/>
                </a:solidFill>
                <a:ea typeface="+mn-ea"/>
                <a:cs typeface="+mn-cs"/>
              </a:rPr>
              <a:t>the estimated time of departure of the guest;</a:t>
            </a:r>
          </a:p>
          <a:p>
            <a:pPr>
              <a:buFont typeface="Arial" pitchFamily="34" charset="0"/>
              <a:buChar char="•"/>
            </a:pPr>
            <a:r>
              <a:rPr lang="en-AU" sz="1200" kern="1200" dirty="0" smtClean="0">
                <a:solidFill>
                  <a:schemeClr val="tx1"/>
                </a:solidFill>
                <a:ea typeface="+mn-ea"/>
                <a:cs typeface="+mn-cs"/>
              </a:rPr>
              <a:t>the guest’s name and number of passengers. If children are included then booster seats, capsules or other requirements need to be considered;</a:t>
            </a:r>
          </a:p>
          <a:p>
            <a:pPr>
              <a:buFont typeface="Arial" pitchFamily="34" charset="0"/>
              <a:buChar char="•"/>
            </a:pPr>
            <a:r>
              <a:rPr lang="en-AU" sz="1200" kern="1200" dirty="0" smtClean="0">
                <a:solidFill>
                  <a:schemeClr val="tx1"/>
                </a:solidFill>
                <a:ea typeface="+mn-ea"/>
                <a:cs typeface="+mn-cs"/>
              </a:rPr>
              <a:t>the number of pieces of luggage;</a:t>
            </a:r>
          </a:p>
          <a:p>
            <a:pPr>
              <a:buFont typeface="Arial" pitchFamily="34" charset="0"/>
              <a:buChar char="•"/>
            </a:pPr>
            <a:r>
              <a:rPr lang="en-AU" sz="1200" kern="1200" dirty="0" smtClean="0">
                <a:solidFill>
                  <a:schemeClr val="tx1"/>
                </a:solidFill>
                <a:ea typeface="+mn-ea"/>
                <a:cs typeface="+mn-cs"/>
              </a:rPr>
              <a:t>destination;</a:t>
            </a:r>
          </a:p>
          <a:p>
            <a:pPr>
              <a:buFont typeface="Arial" pitchFamily="34" charset="0"/>
              <a:buChar char="•"/>
            </a:pPr>
            <a:r>
              <a:rPr lang="en-AU" sz="1200" kern="1200" dirty="0" smtClean="0">
                <a:solidFill>
                  <a:schemeClr val="tx1"/>
                </a:solidFill>
                <a:ea typeface="+mn-ea"/>
                <a:cs typeface="+mn-cs"/>
              </a:rPr>
              <a:t>any special details, such as flight arrangements/rail details.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Other information that may that may need to be taken into consideration include:</a:t>
            </a:r>
          </a:p>
          <a:p>
            <a:pPr>
              <a:buFont typeface="Arial" pitchFamily="34" charset="0"/>
              <a:buChar char="•"/>
            </a:pPr>
            <a:r>
              <a:rPr lang="en-AU" sz="1200" kern="1200" dirty="0" smtClean="0">
                <a:solidFill>
                  <a:schemeClr val="tx1"/>
                </a:solidFill>
                <a:ea typeface="+mn-ea"/>
                <a:cs typeface="+mn-cs"/>
              </a:rPr>
              <a:t>whether disabled/wheelchair access is required;</a:t>
            </a:r>
          </a:p>
          <a:p>
            <a:pPr>
              <a:buFont typeface="Arial" pitchFamily="34" charset="0"/>
              <a:buChar char="•"/>
            </a:pPr>
            <a:r>
              <a:rPr lang="en-AU" sz="1200" kern="1200" dirty="0" smtClean="0">
                <a:solidFill>
                  <a:schemeClr val="tx1"/>
                </a:solidFill>
                <a:ea typeface="+mn-ea"/>
                <a:cs typeface="+mn-cs"/>
              </a:rPr>
              <a:t>whether there is a large amount of luggage;</a:t>
            </a:r>
          </a:p>
          <a:p>
            <a:pPr>
              <a:buFont typeface="Arial" pitchFamily="34" charset="0"/>
              <a:buChar char="•"/>
            </a:pPr>
            <a:r>
              <a:rPr lang="en-AU" sz="1200" kern="1200" dirty="0" smtClean="0">
                <a:solidFill>
                  <a:schemeClr val="tx1"/>
                </a:solidFill>
                <a:ea typeface="+mn-ea"/>
                <a:cs typeface="+mn-cs"/>
              </a:rPr>
              <a:t>if there are large, cumbersome items to transport.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4508480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Luggage pick up</a:t>
            </a:r>
          </a:p>
          <a:p>
            <a:pPr>
              <a:buFont typeface="Arial" pitchFamily="34" charset="0"/>
              <a:buChar char="•"/>
            </a:pPr>
            <a:r>
              <a:rPr lang="en-AU" sz="1200" kern="1200" dirty="0" smtClean="0">
                <a:solidFill>
                  <a:schemeClr val="tx1"/>
                </a:solidFill>
                <a:ea typeface="+mn-ea"/>
                <a:cs typeface="+mn-cs"/>
              </a:rPr>
              <a:t>How much luggage there is and the type of luggage , there may be a need for more than one porter and trolley</a:t>
            </a:r>
          </a:p>
          <a:p>
            <a:pPr>
              <a:buFont typeface="Arial" pitchFamily="34" charset="0"/>
              <a:buChar char="•"/>
            </a:pPr>
            <a:r>
              <a:rPr lang="en-AU" sz="1200" kern="1200" dirty="0" smtClean="0">
                <a:solidFill>
                  <a:schemeClr val="tx1"/>
                </a:solidFill>
                <a:ea typeface="+mn-ea"/>
                <a:cs typeface="+mn-cs"/>
              </a:rPr>
              <a:t>Where is the luggage ? Guests</a:t>
            </a:r>
            <a:r>
              <a:rPr lang="en-AU" sz="1200" i="1" kern="1200" dirty="0" smtClean="0">
                <a:solidFill>
                  <a:schemeClr val="tx1"/>
                </a:solidFill>
                <a:ea typeface="+mn-ea"/>
                <a:cs typeface="+mn-cs"/>
              </a:rPr>
              <a:t> </a:t>
            </a:r>
            <a:r>
              <a:rPr lang="en-AU" sz="1200" i="0" kern="1200" dirty="0" smtClean="0">
                <a:solidFill>
                  <a:schemeClr val="tx1"/>
                </a:solidFill>
                <a:ea typeface="+mn-ea"/>
                <a:cs typeface="+mn-cs"/>
              </a:rPr>
              <a:t>room </a:t>
            </a:r>
            <a:r>
              <a:rPr lang="en-AU" sz="1200" kern="1200" dirty="0" smtClean="0">
                <a:solidFill>
                  <a:schemeClr val="tx1"/>
                </a:solidFill>
                <a:ea typeface="+mn-ea"/>
                <a:cs typeface="+mn-cs"/>
              </a:rPr>
              <a:t>the guest may have luggage in storage or items to be collected from local vendors or customs agents if they have purchased an item that needs certification.</a:t>
            </a:r>
          </a:p>
          <a:p>
            <a:pPr>
              <a:buFont typeface="Arial" pitchFamily="34" charset="0"/>
              <a:buChar char="•"/>
            </a:pPr>
            <a:r>
              <a:rPr lang="en-AU" sz="1200" kern="1200" dirty="0" smtClean="0">
                <a:solidFill>
                  <a:schemeClr val="tx1"/>
                </a:solidFill>
                <a:ea typeface="+mn-ea"/>
                <a:cs typeface="+mn-cs"/>
              </a:rPr>
              <a:t>What time is the guest due to leave the hotel or resort as they may require luggage to be stored for a short time</a:t>
            </a:r>
          </a:p>
          <a:p>
            <a:pPr>
              <a:buFont typeface="Arial" pitchFamily="34" charset="0"/>
              <a:buChar char="•"/>
            </a:pPr>
            <a:r>
              <a:rPr lang="en-AU" sz="1200" kern="1200" dirty="0" smtClean="0">
                <a:solidFill>
                  <a:schemeClr val="tx1"/>
                </a:solidFill>
                <a:ea typeface="+mn-ea"/>
                <a:cs typeface="+mn-cs"/>
              </a:rPr>
              <a:t>Whether the luggage is to be loaded into a car or if commercial transport is to met.  </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Paging guests</a:t>
            </a:r>
          </a:p>
          <a:p>
            <a:pPr>
              <a:buFont typeface="Arial" pitchFamily="34" charset="0"/>
              <a:buChar char="•"/>
            </a:pPr>
            <a:r>
              <a:rPr lang="en-AU" sz="1200" kern="1200" dirty="0" smtClean="0">
                <a:solidFill>
                  <a:schemeClr val="tx1"/>
                </a:solidFill>
                <a:ea typeface="+mn-ea"/>
                <a:cs typeface="+mn-cs"/>
              </a:rPr>
              <a:t>Messages are still carried to guests in this way in some hotels especially those with historical or period themes</a:t>
            </a:r>
          </a:p>
          <a:p>
            <a:pPr>
              <a:buFont typeface="Arial" pitchFamily="34" charset="0"/>
              <a:buChar char="•"/>
            </a:pPr>
            <a:r>
              <a:rPr lang="en-AU" sz="1200" kern="1200" dirty="0" smtClean="0">
                <a:solidFill>
                  <a:schemeClr val="tx1"/>
                </a:solidFill>
                <a:ea typeface="+mn-ea"/>
                <a:cs typeface="+mn-cs"/>
              </a:rPr>
              <a:t>Currently messages are more likely to be forwarded by text to a mobile phone or accessed on an I Phone or notebook</a:t>
            </a:r>
          </a:p>
          <a:p>
            <a:pPr>
              <a:buFont typeface="Arial" pitchFamily="34" charset="0"/>
              <a:buChar char="•"/>
            </a:pPr>
            <a:r>
              <a:rPr lang="en-AU" sz="1200" kern="1200" dirty="0" smtClean="0">
                <a:solidFill>
                  <a:schemeClr val="tx1"/>
                </a:solidFill>
                <a:ea typeface="+mn-ea"/>
                <a:cs typeface="+mn-cs"/>
              </a:rPr>
              <a:t>Staff are also paged in this way to meet guest requests. With modern VOIP [Voice Over Internet Protocol] computer generated messages can be sent instantly, porters may use.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506719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a typeface="+mn-ea"/>
                <a:cs typeface="+mn-cs"/>
              </a:rPr>
              <a:t>Most porter’s desks maintain a directory. Usually maintained alphabetically, the directory gives the porter the information needed quickly and efficiently. It isn’t always convenient to ask a colleague the answer to a question or rely on memory. The directory contains information relating to places, costs, directions and service providers and a list of contacts and telephone numbers for those harder to get items</a:t>
            </a:r>
          </a:p>
          <a:p>
            <a:pPr>
              <a:buFont typeface="Arial" pitchFamily="34" charset="0"/>
              <a:buChar char="•"/>
            </a:pPr>
            <a:r>
              <a:rPr lang="en-AU" sz="1200" kern="1200" dirty="0" smtClean="0">
                <a:solidFill>
                  <a:schemeClr val="tx1"/>
                </a:solidFill>
                <a:ea typeface="+mn-ea"/>
                <a:cs typeface="+mn-cs"/>
              </a:rPr>
              <a:t> Local</a:t>
            </a:r>
            <a:r>
              <a:rPr lang="en-AU" sz="1200" kern="1200" baseline="0" dirty="0" smtClean="0">
                <a:solidFill>
                  <a:schemeClr val="tx1"/>
                </a:solidFill>
                <a:ea typeface="+mn-ea"/>
                <a:cs typeface="+mn-cs"/>
              </a:rPr>
              <a:t> Knowledge      </a:t>
            </a:r>
          </a:p>
          <a:p>
            <a:r>
              <a:rPr lang="en-AU" sz="1200" kern="1200" dirty="0" smtClean="0">
                <a:solidFill>
                  <a:schemeClr val="tx1"/>
                </a:solidFill>
                <a:ea typeface="+mn-ea"/>
                <a:cs typeface="+mn-cs"/>
              </a:rPr>
              <a:t>seasonal influences (eg, pilgrimage season, best times to see particular flora or fauna)</a:t>
            </a:r>
          </a:p>
          <a:p>
            <a:r>
              <a:rPr lang="en-AU" sz="1200" kern="1200" dirty="0" smtClean="0">
                <a:solidFill>
                  <a:schemeClr val="tx1"/>
                </a:solidFill>
                <a:ea typeface="+mn-ea"/>
                <a:cs typeface="+mn-cs"/>
              </a:rPr>
              <a:t>children’s parks tourist developments</a:t>
            </a:r>
          </a:p>
          <a:p>
            <a:r>
              <a:rPr lang="en-AU" sz="1200" kern="1200" dirty="0" smtClean="0">
                <a:solidFill>
                  <a:schemeClr val="tx1"/>
                </a:solidFill>
                <a:ea typeface="+mn-ea"/>
                <a:cs typeface="+mn-cs"/>
              </a:rPr>
              <a:t>natural heritage sites </a:t>
            </a:r>
          </a:p>
          <a:p>
            <a:r>
              <a:rPr lang="en-AU" sz="1200" kern="1200" dirty="0" smtClean="0">
                <a:solidFill>
                  <a:schemeClr val="tx1"/>
                </a:solidFill>
                <a:ea typeface="+mn-ea"/>
                <a:cs typeface="+mn-cs"/>
              </a:rPr>
              <a:t>local markets </a:t>
            </a:r>
          </a:p>
          <a:p>
            <a:r>
              <a:rPr lang="en-AU" sz="1200" kern="1200" dirty="0" smtClean="0">
                <a:solidFill>
                  <a:schemeClr val="tx1"/>
                </a:solidFill>
                <a:ea typeface="+mn-ea"/>
                <a:cs typeface="+mn-cs"/>
              </a:rPr>
              <a:t>museums.</a:t>
            </a:r>
          </a:p>
          <a:p>
            <a:r>
              <a:rPr lang="en-AU" sz="1200" kern="1200" dirty="0" smtClean="0">
                <a:solidFill>
                  <a:schemeClr val="tx1"/>
                </a:solidFill>
                <a:ea typeface="+mn-ea"/>
                <a:cs typeface="+mn-cs"/>
              </a:rPr>
              <a:t>Keep up-to-date with industry information so that you:</a:t>
            </a:r>
          </a:p>
          <a:p>
            <a:r>
              <a:rPr lang="en-AU" sz="1200" kern="1200" dirty="0" smtClean="0">
                <a:solidFill>
                  <a:schemeClr val="tx1"/>
                </a:solidFill>
                <a:ea typeface="+mn-ea"/>
                <a:cs typeface="+mn-cs"/>
              </a:rPr>
              <a:t>can give guests and junior team members information </a:t>
            </a:r>
          </a:p>
          <a:p>
            <a:r>
              <a:rPr lang="en-AU" sz="1200" kern="1200" dirty="0" smtClean="0">
                <a:solidFill>
                  <a:schemeClr val="tx1"/>
                </a:solidFill>
                <a:ea typeface="+mn-ea"/>
                <a:cs typeface="+mn-cs"/>
              </a:rPr>
              <a:t>know what is going on in your property and industry </a:t>
            </a:r>
          </a:p>
          <a:p>
            <a:r>
              <a:rPr lang="en-AU" sz="1200" kern="1200" dirty="0" smtClean="0">
                <a:solidFill>
                  <a:schemeClr val="tx1"/>
                </a:solidFill>
                <a:ea typeface="+mn-ea"/>
                <a:cs typeface="+mn-cs"/>
              </a:rPr>
              <a:t>promote products and services and help meet guest expectations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6925875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ea typeface="+mn-ea"/>
                <a:cs typeface="+mn-cs"/>
              </a:rPr>
              <a:t>A Guest purchases more than just a room when they stay in a Hotel or Resort, they purchase intangible products for example security, comfort, luxury, service, and a feeling of importance. </a:t>
            </a:r>
          </a:p>
          <a:p>
            <a:r>
              <a:rPr lang="en-AU" sz="1200" kern="1200" dirty="0" smtClean="0">
                <a:solidFill>
                  <a:schemeClr val="tx1"/>
                </a:solidFill>
                <a:effectLst/>
                <a:ea typeface="+mn-ea"/>
                <a:cs typeface="+mn-cs"/>
              </a:rPr>
              <a:t>Good service will result in guests departing happy, content and relaxed. Porters duties are key to satisfied happy guests.</a:t>
            </a:r>
            <a:endParaRPr lang="en-AU" sz="1200" kern="1200" dirty="0">
              <a:solidFill>
                <a:schemeClr val="tx1"/>
              </a:solidFill>
              <a:effectLs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9864367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to recommend YouTube videos for trainees to view.</a:t>
            </a:r>
          </a:p>
          <a:p>
            <a:pPr>
              <a:buFont typeface="Arial" pitchFamily="34" charset="0"/>
              <a:buNone/>
            </a:pPr>
            <a:endParaRPr lang="en-US" baseline="0" dirty="0" smtClean="0"/>
          </a:p>
          <a:p>
            <a:pPr>
              <a:buFont typeface="Arial" pitchFamily="34" charset="0"/>
              <a:buNone/>
            </a:pPr>
            <a:r>
              <a:rPr lang="en-US" baseline="0" dirty="0" smtClean="0"/>
              <a:t>Trainer thanks trainees for their attention and concludes the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124053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566738" y="304800"/>
            <a:ext cx="8008937" cy="571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3" name="Date Placeholder 2"/>
          <p:cNvSpPr>
            <a:spLocks noGrp="1"/>
          </p:cNvSpPr>
          <p:nvPr>
            <p:ph type="dt" sz="half" idx="10"/>
          </p:nvPr>
        </p:nvSpPr>
        <p:spPr>
          <a:xfrm>
            <a:off x="609600" y="6245225"/>
            <a:ext cx="1981200" cy="476250"/>
          </a:xfrm>
        </p:spPr>
        <p:txBody>
          <a:bodyPr/>
          <a:lstStyle>
            <a:lvl1pPr>
              <a:defRPr/>
            </a:lvl1pPr>
          </a:lstStyle>
          <a:p>
            <a:endParaRPr lang="en-US"/>
          </a:p>
        </p:txBody>
      </p:sp>
      <p:sp>
        <p:nvSpPr>
          <p:cNvPr id="4" name="Footer Placeholder 3"/>
          <p:cNvSpPr>
            <a:spLocks noGrp="1"/>
          </p:cNvSpPr>
          <p:nvPr>
            <p:ph type="ftr" sz="quarter" idx="11"/>
          </p:nvPr>
        </p:nvSpPr>
        <p:spPr>
          <a:xfrm>
            <a:off x="3124200" y="6245225"/>
            <a:ext cx="2895600" cy="476250"/>
          </a:xfrm>
        </p:spPr>
        <p:txBody>
          <a:bodyPr/>
          <a:lstStyle>
            <a:lvl1pPr>
              <a:defRPr sz="800">
                <a:solidFill>
                  <a:schemeClr val="accent1">
                    <a:lumMod val="75000"/>
                  </a:schemeClr>
                </a:solidFill>
              </a:defRPr>
            </a:lvl1pPr>
          </a:lstStyle>
          <a:p>
            <a:r>
              <a:rPr lang="en-US" smtClean="0"/>
              <a:t>Created by Subject Facilitator Evelyn Collins Feb 2010</a:t>
            </a:r>
            <a:endParaRPr lang="en-US" dirty="0"/>
          </a:p>
        </p:txBody>
      </p:sp>
      <p:sp>
        <p:nvSpPr>
          <p:cNvPr id="5" name="Slide Number Placeholder 4"/>
          <p:cNvSpPr>
            <a:spLocks noGrp="1"/>
          </p:cNvSpPr>
          <p:nvPr>
            <p:ph type="sldNum" sz="quarter" idx="12"/>
          </p:nvPr>
        </p:nvSpPr>
        <p:spPr>
          <a:xfrm>
            <a:off x="6553200" y="6245225"/>
            <a:ext cx="1981200" cy="476250"/>
          </a:xfrm>
        </p:spPr>
        <p:txBody>
          <a:bodyPr/>
          <a:lstStyle>
            <a:lvl1pPr>
              <a:defRPr/>
            </a:lvl1pPr>
          </a:lstStyle>
          <a:p>
            <a:fld id="{BD53BC5F-3B74-4E4B-87F5-8DB0D8AC8D6A}" type="slidenum">
              <a:rPr lang="en-US"/>
              <a:pPr/>
              <a:t>‹#›</a:t>
            </a:fld>
            <a:endParaRPr lang="en-US"/>
          </a:p>
        </p:txBody>
      </p:sp>
    </p:spTree>
    <p:extLst>
      <p:ext uri="{BB962C8B-B14F-4D97-AF65-F5344CB8AC3E}">
        <p14:creationId xmlns:p14="http://schemas.microsoft.com/office/powerpoint/2010/main" val="1394669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1" r:id="rId12"/>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wmf"/></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youtube.com/watch?v=-5hMmdHeegk&amp;feature=related" TargetMode="External"/><Relationship Id="rId7" Type="http://schemas.openxmlformats.org/officeDocument/2006/relationships/image" Target="../media/image35.wmf"/><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hyperlink" Target="http://www.youtube.com/watch?v=qZNhgzzEJMY&amp;feature=endscreen&amp;NR=1" TargetMode="External"/><Relationship Id="rId5" Type="http://schemas.openxmlformats.org/officeDocument/2006/relationships/hyperlink" Target="http://www.youtube.com/watch?v=QidGsXUqFC8&amp;feature=related" TargetMode="External"/><Relationship Id="rId4" Type="http://schemas.openxmlformats.org/officeDocument/2006/relationships/hyperlink" Target="http://www.youtube.com/watch?v=KLWPCMVFTLE&amp;feature=relat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980728"/>
            <a:ext cx="7776192" cy="1285884"/>
          </a:xfrm>
        </p:spPr>
        <p:txBody>
          <a:bodyPr>
            <a:normAutofit fontScale="90000"/>
          </a:bodyPr>
          <a:lstStyle/>
          <a:p>
            <a:r>
              <a:rPr lang="en-AU" sz="4000" dirty="0" smtClean="0">
                <a:ln w="5000" cmpd="sng">
                  <a:noFill/>
                  <a:prstDash val="solid"/>
                </a:ln>
                <a:solidFill>
                  <a:srgbClr val="FF6600"/>
                </a:solidFill>
                <a:latin typeface="Helvetica" pitchFamily="34" charset="0"/>
              </a:rPr>
              <a:t>PROVIDE BELL BOY/PORTER SERVICES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357818" y="2276872"/>
            <a:ext cx="2901308" cy="721790"/>
          </a:xfrm>
        </p:spPr>
        <p:txBody>
          <a:bodyPr>
            <a:noAutofit/>
          </a:bodyPr>
          <a:lstStyle/>
          <a:p>
            <a:r>
              <a:rPr lang="en-AU" sz="2400" b="1" dirty="0" smtClean="0">
                <a:latin typeface="Helvetica" pitchFamily="34" charset="0"/>
              </a:rPr>
              <a:t>D1.HFO.CL2.07</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6" name="Picture 2" descr="C:\Documents and Settings\Godaishu\Desktop\Front office 2012\shutterstock_1829507 copy.jpg"/>
          <p:cNvPicPr>
            <a:picLocks noChangeAspect="1" noChangeArrowheads="1"/>
          </p:cNvPicPr>
          <p:nvPr/>
        </p:nvPicPr>
        <p:blipFill>
          <a:blip r:embed="rId3" cstate="print"/>
          <a:srcRect/>
          <a:stretch>
            <a:fillRect/>
          </a:stretch>
        </p:blipFill>
        <p:spPr bwMode="auto">
          <a:xfrm>
            <a:off x="1857356" y="2214554"/>
            <a:ext cx="3714776" cy="361174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Element 1: </a:t>
            </a:r>
            <a:r>
              <a:rPr lang="en-AU" sz="2200" dirty="0"/>
              <a:t>Identify the role of a bell </a:t>
            </a:r>
            <a:r>
              <a:rPr lang="en-AU" sz="2200" dirty="0" smtClean="0"/>
              <a:t>boy/porter</a:t>
            </a:r>
          </a:p>
          <a:p>
            <a:pPr marL="360000" indent="-360000">
              <a:spcBef>
                <a:spcPts val="600"/>
              </a:spcBef>
              <a:spcAft>
                <a:spcPts val="1200"/>
              </a:spcAft>
            </a:pPr>
            <a:r>
              <a:rPr lang="en-AU" sz="2200" dirty="0" smtClean="0">
                <a:latin typeface="Helvetica" pitchFamily="34" charset="0"/>
              </a:rPr>
              <a:t>Element 2: </a:t>
            </a:r>
            <a:r>
              <a:rPr lang="en-AU" sz="2200" dirty="0"/>
              <a:t>Assist with guest arrivals</a:t>
            </a: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Element 3:</a:t>
            </a:r>
            <a:r>
              <a:rPr lang="en-AU" sz="2200" dirty="0"/>
              <a:t> Assist with guest departures</a:t>
            </a:r>
            <a:endParaRPr lang="en-AU" sz="2200" dirty="0" smtClean="0"/>
          </a:p>
          <a:p>
            <a:pPr marL="360000" indent="-360000">
              <a:spcBef>
                <a:spcPts val="600"/>
              </a:spcBef>
              <a:spcAft>
                <a:spcPts val="1200"/>
              </a:spcAft>
            </a:pPr>
            <a:r>
              <a:rPr lang="en-AU" sz="2200" dirty="0" smtClean="0">
                <a:latin typeface="Helvetica" pitchFamily="34" charset="0"/>
              </a:rPr>
              <a:t>Element 4: </a:t>
            </a:r>
            <a:r>
              <a:rPr lang="en-AU" sz="2200" dirty="0"/>
              <a:t>Assist other departments</a:t>
            </a:r>
          </a:p>
          <a:p>
            <a:pPr marL="360000" indent="-360000">
              <a:spcBef>
                <a:spcPts val="600"/>
              </a:spcBef>
              <a:spcAft>
                <a:spcPts val="1200"/>
              </a:spcAft>
            </a:pPr>
            <a:r>
              <a:rPr lang="en-US" sz="2200" dirty="0" smtClean="0">
                <a:latin typeface="Helvetica" pitchFamily="34" charset="0"/>
              </a:rPr>
              <a:t>Element 5: </a:t>
            </a:r>
            <a:r>
              <a:rPr lang="en-AU" sz="2200" dirty="0"/>
              <a:t>Provide concierge </a:t>
            </a:r>
            <a:r>
              <a:rPr lang="en-AU" sz="2200" dirty="0" smtClean="0"/>
              <a:t>services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5" name="Picture 2" descr="C:\Users\Evelyn.CATS\AppData\Local\Microsoft\Windows\Temporary Internet Files\Content.IE5\GZVUHSGZ\MC90005561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2264" y="2468231"/>
            <a:ext cx="1938233" cy="2761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a:latin typeface="Helvetica" pitchFamily="34" charset="0"/>
              </a:rPr>
              <a:t>O</a:t>
            </a:r>
            <a:r>
              <a:rPr lang="en-US" sz="2200" dirty="0" smtClean="0">
                <a:latin typeface="Helvetica" pitchFamily="34" charset="0"/>
              </a:rPr>
              <a:t>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PhongLan\Local Settings\Temporary Internet Files\Content.IE5\D4C0BBXF\MP900431095[1].jpg"/>
          <p:cNvPicPr>
            <a:picLocks noChangeAspect="1" noChangeArrowheads="1"/>
          </p:cNvPicPr>
          <p:nvPr/>
        </p:nvPicPr>
        <p:blipFill>
          <a:blip r:embed="rId3" cstate="print"/>
          <a:srcRect/>
          <a:stretch>
            <a:fillRect/>
          </a:stretch>
        </p:blipFill>
        <p:spPr bwMode="auto">
          <a:xfrm>
            <a:off x="5929322" y="1928802"/>
            <a:ext cx="1615308" cy="2428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54220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6960836" cy="1143000"/>
          </a:xfrm>
        </p:spPr>
        <p:txBody>
          <a:bodyPr>
            <a:normAutofit/>
          </a:bodyPr>
          <a:lstStyle/>
          <a:p>
            <a:pPr indent="-457200"/>
            <a:r>
              <a:rPr lang="en-US" sz="3400" b="1" dirty="0" smtClean="0">
                <a:solidFill>
                  <a:srgbClr val="FF6600"/>
                </a:solidFill>
                <a:latin typeface="Helvetica" pitchFamily="34" charset="0"/>
              </a:rPr>
              <a:t>Element </a:t>
            </a:r>
            <a:r>
              <a:rPr lang="en-US" sz="3400" b="1" dirty="0" smtClean="0">
                <a:solidFill>
                  <a:srgbClr val="FF6600"/>
                </a:solidFill>
              </a:rPr>
              <a:t>1 </a:t>
            </a:r>
            <a:r>
              <a:rPr lang="en-US" sz="3400" b="1" dirty="0" smtClean="0">
                <a:solidFill>
                  <a:srgbClr val="FF6600"/>
                </a:solidFill>
                <a:latin typeface="Helvetica" pitchFamily="34" charset="0"/>
              </a:rPr>
              <a:t>- Identify the role of a bellboy or porter</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3" name="Picture 2" descr="C:\Documents and Settings\Godaishu\Desktop\Front office 2012\farewell.jpg"/>
          <p:cNvPicPr>
            <a:picLocks noChangeAspect="1" noChangeArrowheads="1"/>
          </p:cNvPicPr>
          <p:nvPr/>
        </p:nvPicPr>
        <p:blipFill>
          <a:blip r:embed="rId3" cstate="print"/>
          <a:srcRect/>
          <a:stretch>
            <a:fillRect/>
          </a:stretch>
        </p:blipFill>
        <p:spPr bwMode="auto">
          <a:xfrm>
            <a:off x="2143108" y="2143116"/>
            <a:ext cx="4929196" cy="32997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85728"/>
            <a:ext cx="7467600" cy="1143000"/>
          </a:xfrm>
        </p:spPr>
        <p:txBody>
          <a:bodyPr>
            <a:normAutofit/>
          </a:bodyPr>
          <a:lstStyle/>
          <a:p>
            <a:r>
              <a:rPr lang="en-US" sz="3400" b="1" dirty="0" smtClean="0">
                <a:solidFill>
                  <a:srgbClr val="FF6600"/>
                </a:solidFill>
                <a:latin typeface="Helvetica" pitchFamily="34" charset="0"/>
              </a:rPr>
              <a:t>Porters are the people who</a:t>
            </a:r>
            <a:endParaRPr lang="en-AU" sz="3400" b="1" dirty="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226800" lvl="1" indent="-226800">
              <a:spcBef>
                <a:spcPts val="600"/>
              </a:spcBef>
              <a:spcAft>
                <a:spcPts val="1200"/>
              </a:spcAft>
            </a:pPr>
            <a:r>
              <a:rPr lang="en-US" sz="2200" dirty="0" smtClean="0"/>
              <a:t>Greet </a:t>
            </a:r>
            <a:r>
              <a:rPr lang="en-US" sz="2200" dirty="0"/>
              <a:t>guests as they arrive at the venue</a:t>
            </a:r>
          </a:p>
          <a:p>
            <a:pPr marL="226800" lvl="1" indent="-226800">
              <a:spcBef>
                <a:spcPts val="600"/>
              </a:spcBef>
              <a:spcAft>
                <a:spcPts val="1200"/>
              </a:spcAft>
            </a:pPr>
            <a:r>
              <a:rPr lang="en-US" sz="2200" dirty="0"/>
              <a:t>Manage guests’ luggage</a:t>
            </a:r>
          </a:p>
          <a:p>
            <a:pPr marL="226800" lvl="1" indent="-226800">
              <a:spcBef>
                <a:spcPts val="600"/>
              </a:spcBef>
              <a:spcAft>
                <a:spcPts val="1200"/>
              </a:spcAft>
            </a:pPr>
            <a:r>
              <a:rPr lang="en-US" sz="2200" dirty="0"/>
              <a:t>Provide general information services</a:t>
            </a:r>
          </a:p>
          <a:p>
            <a:pPr marL="226800" lvl="1" indent="-226800">
              <a:spcBef>
                <a:spcPts val="600"/>
              </a:spcBef>
              <a:spcAft>
                <a:spcPts val="1200"/>
              </a:spcAft>
            </a:pPr>
            <a:r>
              <a:rPr lang="en-US" sz="2200" dirty="0"/>
              <a:t>Provide valet services (car parking)</a:t>
            </a:r>
          </a:p>
          <a:p>
            <a:pPr marL="226800" lvl="1" indent="-226800">
              <a:spcBef>
                <a:spcPts val="600"/>
              </a:spcBef>
              <a:spcAft>
                <a:spcPts val="1200"/>
              </a:spcAft>
            </a:pPr>
            <a:r>
              <a:rPr lang="en-US" sz="2200" dirty="0"/>
              <a:t>Act as a central point of contact for </a:t>
            </a:r>
            <a:r>
              <a:rPr lang="en-US" sz="2200" dirty="0" smtClean="0"/>
              <a:t>groups</a:t>
            </a:r>
          </a:p>
          <a:p>
            <a:pPr marL="226800" lvl="1" indent="-226800">
              <a:spcBef>
                <a:spcPts val="600"/>
              </a:spcBef>
              <a:spcAft>
                <a:spcPts val="1200"/>
              </a:spcAft>
            </a:pPr>
            <a:r>
              <a:rPr lang="en-US" sz="2200" dirty="0" smtClean="0"/>
              <a:t>Are called uniformed staff because their uniforms are of military style and they are the only staff permitted to wear uniforms outside of the Hotel in working hours</a:t>
            </a:r>
            <a:endParaRPr lang="en-AU" sz="2200" dirty="0" smtClean="0"/>
          </a:p>
          <a:p>
            <a:pPr marL="0" lvl="1">
              <a:spcBef>
                <a:spcPts val="600"/>
              </a:spcBef>
              <a:spcAft>
                <a:spcPts val="1200"/>
              </a:spcAft>
            </a:pPr>
            <a:endParaRPr lang="en-US" sz="2200" dirty="0"/>
          </a:p>
        </p:txBody>
      </p:sp>
      <p:pic>
        <p:nvPicPr>
          <p:cNvPr id="5" name="Picture 4" descr="Bell-boy-on-Holland-America-Noordam-640x383.jpg"/>
          <p:cNvPicPr>
            <a:picLocks noChangeAspect="1"/>
          </p:cNvPicPr>
          <p:nvPr/>
        </p:nvPicPr>
        <p:blipFill>
          <a:blip r:embed="rId3" cstate="print"/>
          <a:stretch>
            <a:fillRect/>
          </a:stretch>
        </p:blipFill>
        <p:spPr>
          <a:xfrm>
            <a:off x="5572132" y="2143116"/>
            <a:ext cx="2608542" cy="1561049"/>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a:t>
            </a:fld>
            <a:endParaRPr lang="en-US" dirty="0"/>
          </a:p>
        </p:txBody>
      </p:sp>
    </p:spTree>
    <p:extLst>
      <p:ext uri="{BB962C8B-B14F-4D97-AF65-F5344CB8AC3E}">
        <p14:creationId xmlns:p14="http://schemas.microsoft.com/office/powerpoint/2010/main" val="3616302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smtClean="0">
                <a:solidFill>
                  <a:srgbClr val="FF6600"/>
                </a:solidFill>
                <a:cs typeface="Helvetica" pitchFamily="34" charset="0"/>
              </a:rPr>
              <a:t>Concierge department</a:t>
            </a:r>
            <a:endParaRPr lang="en-AU" sz="3400" dirty="0"/>
          </a:p>
        </p:txBody>
      </p:sp>
      <p:sp>
        <p:nvSpPr>
          <p:cNvPr id="3" name="Content Placeholder 2"/>
          <p:cNvSpPr>
            <a:spLocks noGrp="1"/>
          </p:cNvSpPr>
          <p:nvPr>
            <p:ph idx="1"/>
          </p:nvPr>
        </p:nvSpPr>
        <p:spPr>
          <a:xfrm>
            <a:off x="457200" y="1357298"/>
            <a:ext cx="8115328" cy="4525963"/>
          </a:xfrm>
        </p:spPr>
        <p:txBody>
          <a:bodyPr>
            <a:normAutofit/>
          </a:bodyPr>
          <a:lstStyle/>
          <a:p>
            <a:pPr>
              <a:buNone/>
            </a:pPr>
            <a:endParaRPr lang="en-AU" sz="2000" dirty="0"/>
          </a:p>
        </p:txBody>
      </p:sp>
      <p:graphicFrame>
        <p:nvGraphicFramePr>
          <p:cNvPr id="5" name="Diagram 4"/>
          <p:cNvGraphicFramePr/>
          <p:nvPr>
            <p:extLst>
              <p:ext uri="{D42A27DB-BD31-4B8C-83A1-F6EECF244321}">
                <p14:modId xmlns:p14="http://schemas.microsoft.com/office/powerpoint/2010/main" val="3259498788"/>
              </p:ext>
            </p:extLst>
          </p:nvPr>
        </p:nvGraphicFramePr>
        <p:xfrm>
          <a:off x="1000100" y="1571612"/>
          <a:ext cx="6781820" cy="38107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Presentation of a porter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buNone/>
            </a:pPr>
            <a:r>
              <a:rPr lang="en-AU" sz="2200" dirty="0"/>
              <a:t>To achieve a good first impression the porter must be: </a:t>
            </a:r>
          </a:p>
          <a:p>
            <a:pPr>
              <a:spcBef>
                <a:spcPts val="600"/>
              </a:spcBef>
              <a:spcAft>
                <a:spcPts val="600"/>
              </a:spcAft>
            </a:pPr>
            <a:r>
              <a:rPr lang="en-AU" sz="2200" dirty="0" smtClean="0"/>
              <a:t>Well presented </a:t>
            </a:r>
          </a:p>
          <a:p>
            <a:pPr>
              <a:spcBef>
                <a:spcPts val="600"/>
              </a:spcBef>
              <a:spcAft>
                <a:spcPts val="600"/>
              </a:spcAft>
            </a:pPr>
            <a:r>
              <a:rPr lang="en-AU" sz="2200" dirty="0" smtClean="0"/>
              <a:t>Friendly, welcoming, and courteous </a:t>
            </a:r>
          </a:p>
          <a:p>
            <a:pPr>
              <a:spcBef>
                <a:spcPts val="600"/>
              </a:spcBef>
              <a:spcAft>
                <a:spcPts val="600"/>
              </a:spcAft>
            </a:pPr>
            <a:r>
              <a:rPr lang="en-AU" sz="2200" dirty="0" smtClean="0"/>
              <a:t>Organised and efficient </a:t>
            </a:r>
          </a:p>
          <a:p>
            <a:pPr>
              <a:spcBef>
                <a:spcPts val="600"/>
              </a:spcBef>
              <a:spcAft>
                <a:spcPts val="600"/>
              </a:spcAft>
            </a:pPr>
            <a:r>
              <a:rPr lang="en-AU" sz="2200" dirty="0" smtClean="0"/>
              <a:t>Able to communicate clearly and accurately with guests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descr="imagesCAEGXPCY.jpg"/>
          <p:cNvPicPr>
            <a:picLocks noChangeAspect="1"/>
          </p:cNvPicPr>
          <p:nvPr/>
        </p:nvPicPr>
        <p:blipFill>
          <a:blip r:embed="rId3" cstate="print">
            <a:lum contrast="20000"/>
          </a:blip>
          <a:stretch>
            <a:fillRect/>
          </a:stretch>
        </p:blipFill>
        <p:spPr>
          <a:xfrm>
            <a:off x="2857488" y="4286256"/>
            <a:ext cx="2943215" cy="1648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a:solidFill>
                  <a:srgbClr val="FF6600"/>
                </a:solidFill>
                <a:latin typeface="Helvetica" pitchFamily="34" charset="0"/>
                <a:cs typeface="Helvetica" pitchFamily="34" charset="0"/>
              </a:rPr>
              <a:t>Les Clefs </a:t>
            </a:r>
            <a:r>
              <a:rPr lang="en-AU" sz="3400" b="1" dirty="0" smtClean="0">
                <a:solidFill>
                  <a:srgbClr val="FF6600"/>
                </a:solidFill>
                <a:latin typeface="Helvetica" pitchFamily="34" charset="0"/>
                <a:cs typeface="Helvetica" pitchFamily="34" charset="0"/>
              </a:rPr>
              <a:t>d’Or</a:t>
            </a:r>
            <a:r>
              <a:rPr lang="en-AU" sz="3600" dirty="0" smtClean="0">
                <a:solidFill>
                  <a:srgbClr val="FF6600"/>
                </a:solidFill>
                <a:latin typeface="Helvetica" pitchFamily="34" charset="0"/>
                <a:cs typeface="Helvetica" pitchFamily="34" charset="0"/>
              </a:rPr>
              <a:t/>
            </a:r>
            <a:br>
              <a:rPr lang="en-AU" sz="3600" dirty="0" smtClean="0">
                <a:solidFill>
                  <a:srgbClr val="FF6600"/>
                </a:solidFill>
                <a:latin typeface="Helvetica" pitchFamily="34" charset="0"/>
                <a:cs typeface="Helvetica" pitchFamily="34" charset="0"/>
              </a:rPr>
            </a:br>
            <a:r>
              <a:rPr lang="en-AU" sz="2800" dirty="0" smtClean="0">
                <a:solidFill>
                  <a:srgbClr val="FF6600"/>
                </a:solidFill>
                <a:latin typeface="Helvetica" pitchFamily="34" charset="0"/>
                <a:cs typeface="Helvetica" pitchFamily="34" charset="0"/>
              </a:rPr>
              <a:t>The Society </a:t>
            </a:r>
            <a:r>
              <a:rPr lang="en-AU" sz="2800" dirty="0">
                <a:solidFill>
                  <a:srgbClr val="FF6600"/>
                </a:solidFill>
                <a:latin typeface="Helvetica" pitchFamily="34" charset="0"/>
                <a:cs typeface="Helvetica" pitchFamily="34" charset="0"/>
              </a:rPr>
              <a:t>of the Golden </a:t>
            </a:r>
            <a:r>
              <a:rPr lang="en-AU" sz="2800" dirty="0" smtClean="0">
                <a:solidFill>
                  <a:srgbClr val="FF6600"/>
                </a:solidFill>
                <a:latin typeface="Helvetica" pitchFamily="34" charset="0"/>
                <a:cs typeface="Helvetica" pitchFamily="34" charset="0"/>
              </a:rPr>
              <a:t>Keys </a:t>
            </a:r>
            <a:endParaRPr lang="en-AU" sz="2800" dirty="0">
              <a:solidFill>
                <a:srgbClr val="FF6600"/>
              </a:solidFill>
              <a:latin typeface="Helvetica" pitchFamily="34" charset="0"/>
              <a:cs typeface="Helvetica" pitchFamily="34" charset="0"/>
            </a:endParaRPr>
          </a:p>
        </p:txBody>
      </p:sp>
      <p:sp>
        <p:nvSpPr>
          <p:cNvPr id="3" name="Content Placeholder 2"/>
          <p:cNvSpPr>
            <a:spLocks noGrp="1"/>
          </p:cNvSpPr>
          <p:nvPr>
            <p:ph idx="1"/>
          </p:nvPr>
        </p:nvSpPr>
        <p:spPr/>
        <p:txBody>
          <a:bodyPr>
            <a:normAutofit/>
          </a:bodyPr>
          <a:lstStyle/>
          <a:p>
            <a:pPr marL="0" indent="0">
              <a:lnSpc>
                <a:spcPct val="80000"/>
              </a:lnSpc>
              <a:buFont typeface="Wingdings" pitchFamily="2" charset="2"/>
              <a:buNone/>
            </a:pPr>
            <a:r>
              <a:rPr lang="en-US" sz="2200" dirty="0" smtClean="0">
                <a:solidFill>
                  <a:schemeClr val="tx1">
                    <a:lumMod val="85000"/>
                  </a:schemeClr>
                </a:solidFill>
                <a:latin typeface="Helvetica" pitchFamily="34" charset="0"/>
                <a:cs typeface="Helvetica" pitchFamily="34" charset="0"/>
              </a:rPr>
              <a:t>The </a:t>
            </a:r>
            <a:r>
              <a:rPr lang="en-US" sz="2200" dirty="0">
                <a:solidFill>
                  <a:schemeClr val="tx1">
                    <a:lumMod val="85000"/>
                  </a:schemeClr>
                </a:solidFill>
                <a:latin typeface="Helvetica" pitchFamily="34" charset="0"/>
                <a:cs typeface="Helvetica" pitchFamily="34" charset="0"/>
              </a:rPr>
              <a:t>name of the world renowned association for concierges &amp; </a:t>
            </a:r>
            <a:r>
              <a:rPr lang="en-US" sz="2200" dirty="0" smtClean="0">
                <a:solidFill>
                  <a:schemeClr val="tx1">
                    <a:lumMod val="85000"/>
                  </a:schemeClr>
                </a:solidFill>
                <a:latin typeface="Helvetica" pitchFamily="34" charset="0"/>
                <a:cs typeface="Helvetica" pitchFamily="34" charset="0"/>
              </a:rPr>
              <a:t>porters</a:t>
            </a:r>
          </a:p>
          <a:p>
            <a:pPr marL="0" indent="0">
              <a:lnSpc>
                <a:spcPct val="80000"/>
              </a:lnSpc>
              <a:buFont typeface="Wingdings" pitchFamily="2" charset="2"/>
              <a:buNone/>
            </a:pPr>
            <a:endParaRPr lang="en-AU" sz="2200" dirty="0">
              <a:solidFill>
                <a:schemeClr val="tx1">
                  <a:lumMod val="85000"/>
                </a:schemeClr>
              </a:solidFill>
              <a:latin typeface="Helvetica" pitchFamily="34" charset="0"/>
              <a:cs typeface="Helvetica" pitchFamily="34" charset="0"/>
            </a:endParaRPr>
          </a:p>
          <a:p>
            <a:pPr>
              <a:spcBef>
                <a:spcPts val="600"/>
              </a:spcBef>
              <a:spcAft>
                <a:spcPts val="1200"/>
              </a:spcAft>
            </a:pPr>
            <a:r>
              <a:rPr lang="en-US" sz="2200" dirty="0">
                <a:solidFill>
                  <a:schemeClr val="tx1">
                    <a:lumMod val="85000"/>
                  </a:schemeClr>
                </a:solidFill>
                <a:latin typeface="Helvetica" pitchFamily="34" charset="0"/>
                <a:cs typeface="Helvetica" pitchFamily="34" charset="0"/>
              </a:rPr>
              <a:t>Commitment to the professionalism of the concierge </a:t>
            </a:r>
            <a:r>
              <a:rPr lang="en-US" sz="2200" dirty="0" smtClean="0">
                <a:solidFill>
                  <a:schemeClr val="tx1">
                    <a:lumMod val="85000"/>
                  </a:schemeClr>
                </a:solidFill>
                <a:latin typeface="Helvetica" pitchFamily="34" charset="0"/>
                <a:cs typeface="Helvetica" pitchFamily="34" charset="0"/>
              </a:rPr>
              <a:t>role</a:t>
            </a:r>
            <a:endParaRPr lang="en-AU" sz="2200" dirty="0">
              <a:solidFill>
                <a:schemeClr val="tx1">
                  <a:lumMod val="85000"/>
                </a:schemeClr>
              </a:solidFill>
              <a:latin typeface="Helvetica" pitchFamily="34" charset="0"/>
              <a:cs typeface="Helvetica" pitchFamily="34" charset="0"/>
            </a:endParaRPr>
          </a:p>
          <a:p>
            <a:pPr>
              <a:spcBef>
                <a:spcPts val="600"/>
              </a:spcBef>
              <a:spcAft>
                <a:spcPts val="1200"/>
              </a:spcAft>
            </a:pPr>
            <a:r>
              <a:rPr lang="en-US" sz="2200" dirty="0">
                <a:solidFill>
                  <a:schemeClr val="tx1">
                    <a:lumMod val="85000"/>
                  </a:schemeClr>
                </a:solidFill>
                <a:latin typeface="Helvetica" pitchFamily="34" charset="0"/>
                <a:cs typeface="Helvetica" pitchFamily="34" charset="0"/>
              </a:rPr>
              <a:t>Demonstrate integrity and respect in the </a:t>
            </a:r>
            <a:r>
              <a:rPr lang="en-US" sz="2200" dirty="0" smtClean="0">
                <a:solidFill>
                  <a:schemeClr val="tx1">
                    <a:lumMod val="85000"/>
                  </a:schemeClr>
                </a:solidFill>
                <a:latin typeface="Helvetica" pitchFamily="34" charset="0"/>
                <a:cs typeface="Helvetica" pitchFamily="34" charset="0"/>
              </a:rPr>
              <a:t>position</a:t>
            </a:r>
            <a:endParaRPr lang="en-AU" sz="2200" dirty="0">
              <a:solidFill>
                <a:schemeClr val="tx1">
                  <a:lumMod val="85000"/>
                </a:schemeClr>
              </a:solidFill>
              <a:latin typeface="Helvetica" pitchFamily="34" charset="0"/>
              <a:cs typeface="Helvetica" pitchFamily="34" charset="0"/>
            </a:endParaRPr>
          </a:p>
          <a:p>
            <a:endParaRPr lang="en-AU" sz="2200"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6182" y="4214818"/>
            <a:ext cx="1285884" cy="1285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a:t>
            </a:fld>
            <a:endParaRPr lang="en-US" dirty="0"/>
          </a:p>
        </p:txBody>
      </p:sp>
    </p:spTree>
    <p:extLst>
      <p:ext uri="{BB962C8B-B14F-4D97-AF65-F5344CB8AC3E}">
        <p14:creationId xmlns:p14="http://schemas.microsoft.com/office/powerpoint/2010/main" val="1885899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Appearance of Bell boy or Porter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342900" indent="-342900">
              <a:spcBef>
                <a:spcPts val="600"/>
              </a:spcBef>
              <a:spcAft>
                <a:spcPts val="1200"/>
              </a:spcAft>
            </a:pPr>
            <a:r>
              <a:rPr lang="en-AU" sz="2200" dirty="0" smtClean="0">
                <a:latin typeface="Helvetica" pitchFamily="34" charset="0"/>
              </a:rPr>
              <a:t>Posture</a:t>
            </a:r>
          </a:p>
          <a:p>
            <a:pPr marL="342900" indent="-342900">
              <a:spcBef>
                <a:spcPts val="600"/>
              </a:spcBef>
              <a:spcAft>
                <a:spcPts val="1200"/>
              </a:spcAft>
            </a:pPr>
            <a:r>
              <a:rPr lang="en-AU" sz="2200" dirty="0" smtClean="0">
                <a:latin typeface="Helvetica" pitchFamily="34" charset="0"/>
              </a:rPr>
              <a:t>Jewellery</a:t>
            </a:r>
          </a:p>
          <a:p>
            <a:pPr marL="342900" indent="-342900">
              <a:spcBef>
                <a:spcPts val="600"/>
              </a:spcBef>
              <a:spcAft>
                <a:spcPts val="1200"/>
              </a:spcAft>
            </a:pPr>
            <a:r>
              <a:rPr lang="en-AU" sz="2200" dirty="0" smtClean="0">
                <a:latin typeface="Helvetica" pitchFamily="34" charset="0"/>
              </a:rPr>
              <a:t>Odour</a:t>
            </a:r>
          </a:p>
          <a:p>
            <a:pPr marL="342900" indent="-342900">
              <a:spcBef>
                <a:spcPts val="600"/>
              </a:spcBef>
              <a:spcAft>
                <a:spcPts val="1200"/>
              </a:spcAft>
            </a:pPr>
            <a:r>
              <a:rPr lang="en-AU" sz="2200" dirty="0" smtClean="0">
                <a:latin typeface="Helvetica" pitchFamily="34" charset="0"/>
              </a:rPr>
              <a:t>Make-up</a:t>
            </a:r>
          </a:p>
          <a:p>
            <a:pPr marL="342900" indent="-342900">
              <a:spcBef>
                <a:spcPts val="600"/>
              </a:spcBef>
              <a:spcAft>
                <a:spcPts val="1200"/>
              </a:spcAft>
            </a:pPr>
            <a:r>
              <a:rPr lang="en-AU" sz="2200" dirty="0" smtClean="0">
                <a:latin typeface="Helvetica" pitchFamily="34" charset="0"/>
              </a:rPr>
              <a:t>Hygiene</a:t>
            </a:r>
          </a:p>
          <a:p>
            <a:pPr marL="342900" indent="-342900">
              <a:spcBef>
                <a:spcPts val="600"/>
              </a:spcBef>
              <a:spcAft>
                <a:spcPts val="1200"/>
              </a:spcAft>
            </a:pPr>
            <a:r>
              <a:rPr lang="en-AU" sz="2200" dirty="0" smtClean="0">
                <a:latin typeface="Helvetica" pitchFamily="34" charset="0"/>
              </a:rPr>
              <a:t>Hair</a:t>
            </a:r>
          </a:p>
          <a:p>
            <a:pPr marL="342900" indent="-342900">
              <a:spcBef>
                <a:spcPts val="600"/>
              </a:spcBef>
              <a:spcAft>
                <a:spcPts val="1200"/>
              </a:spcAft>
            </a:pPr>
            <a:r>
              <a:rPr lang="en-AU" sz="2200" dirty="0" smtClean="0">
                <a:latin typeface="Helvetica" pitchFamily="34" charset="0"/>
              </a:rPr>
              <a:t>Hands</a:t>
            </a:r>
          </a:p>
          <a:p>
            <a:pPr marL="342900" indent="-342900">
              <a:spcBef>
                <a:spcPts val="600"/>
              </a:spcBef>
              <a:spcAft>
                <a:spcPts val="1200"/>
              </a:spcAft>
            </a:pPr>
            <a:r>
              <a:rPr lang="en-AU" sz="2200" dirty="0" smtClean="0">
                <a:latin typeface="Helvetica" pitchFamily="34" charset="0"/>
              </a:rPr>
              <a:t>Uniform</a:t>
            </a: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342900" indent="-3429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3074" name="Picture 2" descr="C:\Documents and Settings\Godaishu\Desktop\Front office 2012\shutterstock_37190860.jpg"/>
          <p:cNvPicPr>
            <a:picLocks noChangeAspect="1" noChangeArrowheads="1"/>
          </p:cNvPicPr>
          <p:nvPr/>
        </p:nvPicPr>
        <p:blipFill>
          <a:blip r:embed="rId3" cstate="print">
            <a:lum contrast="40000"/>
          </a:blip>
          <a:srcRect/>
          <a:stretch>
            <a:fillRect/>
          </a:stretch>
        </p:blipFill>
        <p:spPr bwMode="auto">
          <a:xfrm>
            <a:off x="4786314" y="2143116"/>
            <a:ext cx="2033588" cy="30480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85728"/>
            <a:ext cx="7467600" cy="1143000"/>
          </a:xfrm>
        </p:spPr>
        <p:txBody>
          <a:bodyPr>
            <a:normAutofit/>
          </a:bodyPr>
          <a:lstStyle/>
          <a:p>
            <a:r>
              <a:rPr lang="en-AU" sz="3400" b="1" dirty="0" smtClean="0">
                <a:solidFill>
                  <a:srgbClr val="FF6600"/>
                </a:solidFill>
              </a:rPr>
              <a:t>VIP Protocols</a:t>
            </a:r>
            <a:endParaRPr lang="en-AU" sz="3400" b="1" dirty="0">
              <a:solidFill>
                <a:srgbClr val="FF6600"/>
              </a:solidFill>
            </a:endParaRPr>
          </a:p>
        </p:txBody>
      </p:sp>
      <p:sp>
        <p:nvSpPr>
          <p:cNvPr id="3" name="Content Placeholder 2"/>
          <p:cNvSpPr>
            <a:spLocks noGrp="1"/>
          </p:cNvSpPr>
          <p:nvPr>
            <p:ph idx="1"/>
          </p:nvPr>
        </p:nvSpPr>
        <p:spPr/>
        <p:txBody>
          <a:bodyPr>
            <a:normAutofit/>
          </a:bodyPr>
          <a:lstStyle/>
          <a:p>
            <a:pPr>
              <a:spcBef>
                <a:spcPts val="600"/>
              </a:spcBef>
              <a:spcAft>
                <a:spcPts val="1200"/>
              </a:spcAft>
            </a:pPr>
            <a:r>
              <a:rPr lang="en-AU" sz="2200" dirty="0" smtClean="0"/>
              <a:t>VIP ranking</a:t>
            </a:r>
          </a:p>
          <a:p>
            <a:pPr>
              <a:spcBef>
                <a:spcPts val="600"/>
              </a:spcBef>
              <a:spcAft>
                <a:spcPts val="1200"/>
              </a:spcAft>
            </a:pPr>
            <a:r>
              <a:rPr lang="en-AU" sz="2200" dirty="0" smtClean="0"/>
              <a:t>Regular guests</a:t>
            </a:r>
          </a:p>
          <a:p>
            <a:pPr>
              <a:spcBef>
                <a:spcPts val="600"/>
              </a:spcBef>
              <a:spcAft>
                <a:spcPts val="1200"/>
              </a:spcAft>
            </a:pPr>
            <a:r>
              <a:rPr lang="en-AU" sz="2200" dirty="0" smtClean="0"/>
              <a:t>Company executive</a:t>
            </a:r>
          </a:p>
          <a:p>
            <a:pPr>
              <a:spcBef>
                <a:spcPts val="600"/>
              </a:spcBef>
              <a:spcAft>
                <a:spcPts val="1200"/>
              </a:spcAft>
            </a:pPr>
            <a:r>
              <a:rPr lang="en-AU" sz="2200" dirty="0" smtClean="0"/>
              <a:t>International Dignitaries</a:t>
            </a:r>
          </a:p>
          <a:p>
            <a:pPr>
              <a:spcBef>
                <a:spcPts val="600"/>
              </a:spcBef>
              <a:spcAft>
                <a:spcPts val="1200"/>
              </a:spcAft>
            </a:pPr>
            <a:r>
              <a:rPr lang="en-AU" sz="2200" dirty="0" smtClean="0"/>
              <a:t>Celebrities</a:t>
            </a:r>
          </a:p>
          <a:p>
            <a:pPr>
              <a:spcBef>
                <a:spcPts val="600"/>
              </a:spcBef>
              <a:spcAft>
                <a:spcPts val="1200"/>
              </a:spcAft>
            </a:pPr>
            <a:r>
              <a:rPr lang="en-AU" sz="2200" dirty="0" smtClean="0"/>
              <a:t>Royalty</a:t>
            </a:r>
          </a:p>
          <a:p>
            <a:endParaRPr lang="en-AU" sz="2200" dirty="0" smtClean="0"/>
          </a:p>
          <a:p>
            <a:endParaRPr lang="en-AU" sz="2200" dirty="0"/>
          </a:p>
        </p:txBody>
      </p:sp>
      <p:pic>
        <p:nvPicPr>
          <p:cNvPr id="1026" name="Picture 2" descr="C:\Documents and Settings\danielc\Local Settings\Temporary Internet Files\Content.IE5\UMECW9PM\MP900442420[1].jpg"/>
          <p:cNvPicPr>
            <a:picLocks noChangeAspect="1" noChangeArrowheads="1"/>
          </p:cNvPicPr>
          <p:nvPr/>
        </p:nvPicPr>
        <p:blipFill>
          <a:blip r:embed="rId3" cstate="print"/>
          <a:srcRect/>
          <a:stretch>
            <a:fillRect/>
          </a:stretch>
        </p:blipFill>
        <p:spPr bwMode="auto">
          <a:xfrm>
            <a:off x="4857752" y="1857364"/>
            <a:ext cx="2750331" cy="1833554"/>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Communicating with guests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556792"/>
            <a:ext cx="7467600" cy="4525963"/>
          </a:xfrm>
        </p:spPr>
        <p:txBody>
          <a:bodyPr>
            <a:normAutofit/>
          </a:bodyPr>
          <a:lstStyle/>
          <a:p>
            <a:pPr>
              <a:spcBef>
                <a:spcPts val="600"/>
              </a:spcBef>
              <a:spcAft>
                <a:spcPts val="1200"/>
              </a:spcAft>
            </a:pPr>
            <a:r>
              <a:rPr lang="en-AU" sz="2200" dirty="0" smtClean="0">
                <a:solidFill>
                  <a:schemeClr val="tx1">
                    <a:lumMod val="95000"/>
                  </a:schemeClr>
                </a:solidFill>
              </a:rPr>
              <a:t>Good </a:t>
            </a:r>
            <a:r>
              <a:rPr lang="en-AU" sz="2200" dirty="0">
                <a:solidFill>
                  <a:schemeClr val="tx1">
                    <a:lumMod val="95000"/>
                  </a:schemeClr>
                </a:solidFill>
              </a:rPr>
              <a:t>manners and etiquette are important to give an instant impression of </a:t>
            </a:r>
            <a:r>
              <a:rPr lang="en-AU" sz="2200" dirty="0" smtClean="0">
                <a:solidFill>
                  <a:schemeClr val="tx1">
                    <a:lumMod val="95000"/>
                  </a:schemeClr>
                </a:solidFill>
              </a:rPr>
              <a:t>respect</a:t>
            </a:r>
          </a:p>
          <a:p>
            <a:pPr>
              <a:spcBef>
                <a:spcPts val="600"/>
              </a:spcBef>
              <a:spcAft>
                <a:spcPts val="1200"/>
              </a:spcAft>
            </a:pPr>
            <a:r>
              <a:rPr lang="en-AU" sz="2200" dirty="0" smtClean="0">
                <a:solidFill>
                  <a:schemeClr val="tx1">
                    <a:lumMod val="95000"/>
                  </a:schemeClr>
                </a:solidFill>
              </a:rPr>
              <a:t>Porters </a:t>
            </a:r>
            <a:r>
              <a:rPr lang="en-AU" sz="2200" dirty="0"/>
              <a:t>conduct themselves in a professional manner </a:t>
            </a:r>
          </a:p>
          <a:p>
            <a:pPr>
              <a:spcBef>
                <a:spcPts val="600"/>
              </a:spcBef>
              <a:spcAft>
                <a:spcPts val="1200"/>
              </a:spcAft>
            </a:pPr>
            <a:r>
              <a:rPr lang="en-AU" sz="2200" dirty="0" smtClean="0">
                <a:solidFill>
                  <a:schemeClr val="tx1">
                    <a:lumMod val="95000"/>
                  </a:schemeClr>
                </a:solidFill>
              </a:rPr>
              <a:t>Act politely, show courtesy and correct etiquette</a:t>
            </a:r>
            <a:endParaRPr lang="en-AU" sz="2200" dirty="0">
              <a:solidFill>
                <a:schemeClr val="tx1">
                  <a:lumMod val="95000"/>
                </a:schemeClr>
              </a:solidFill>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4098" name="Picture 2" descr="C:\Documents and Settings\Godaishu\Desktop\Front office 2012\BW_4.jpg"/>
          <p:cNvPicPr>
            <a:picLocks noChangeAspect="1" noChangeArrowheads="1"/>
          </p:cNvPicPr>
          <p:nvPr/>
        </p:nvPicPr>
        <p:blipFill>
          <a:blip r:embed="rId3" cstate="print"/>
          <a:srcRect/>
          <a:stretch>
            <a:fillRect/>
          </a:stretch>
        </p:blipFill>
        <p:spPr bwMode="auto">
          <a:xfrm>
            <a:off x="3643306" y="3714752"/>
            <a:ext cx="1857388" cy="247093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Assist with guest arrivals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122" name="Picture 2" descr="C:\Documents and Settings\Godaishu\Desktop\Front office 2012\Business traveller man.jpg"/>
          <p:cNvPicPr>
            <a:picLocks noChangeAspect="1" noChangeArrowheads="1"/>
          </p:cNvPicPr>
          <p:nvPr/>
        </p:nvPicPr>
        <p:blipFill>
          <a:blip r:embed="rId3" cstate="print"/>
          <a:srcRect/>
          <a:stretch>
            <a:fillRect/>
          </a:stretch>
        </p:blipFill>
        <p:spPr bwMode="auto">
          <a:xfrm>
            <a:off x="2071670" y="1928802"/>
            <a:ext cx="4818300" cy="32147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 arrival preparation - check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a:spcBef>
                <a:spcPts val="600"/>
              </a:spcBef>
              <a:spcAft>
                <a:spcPts val="1200"/>
              </a:spcAft>
            </a:pPr>
            <a:r>
              <a:rPr lang="en-US" sz="2200" dirty="0" smtClean="0">
                <a:cs typeface="Helvetica" pitchFamily="34" charset="0"/>
              </a:rPr>
              <a:t>E</a:t>
            </a:r>
            <a:r>
              <a:rPr lang="en-US" sz="2200" dirty="0" smtClean="0">
                <a:latin typeface="Helvetica" pitchFamily="34" charset="0"/>
                <a:cs typeface="Helvetica" pitchFamily="34" charset="0"/>
              </a:rPr>
              <a:t>xpected arrivals</a:t>
            </a:r>
          </a:p>
          <a:p>
            <a:pPr marL="0">
              <a:spcBef>
                <a:spcPts val="600"/>
              </a:spcBef>
              <a:spcAft>
                <a:spcPts val="1200"/>
              </a:spcAft>
            </a:pPr>
            <a:r>
              <a:rPr lang="en-AU" sz="2200" dirty="0" smtClean="0"/>
              <a:t>Arrival date and departure date </a:t>
            </a:r>
          </a:p>
          <a:p>
            <a:pPr marL="0">
              <a:spcBef>
                <a:spcPts val="600"/>
              </a:spcBef>
              <a:spcAft>
                <a:spcPts val="1200"/>
              </a:spcAft>
            </a:pPr>
            <a:r>
              <a:rPr lang="en-AU" sz="2200" dirty="0" smtClean="0"/>
              <a:t>Estimated time of arrival (ETA) </a:t>
            </a:r>
          </a:p>
          <a:p>
            <a:pPr marL="0">
              <a:spcBef>
                <a:spcPts val="600"/>
              </a:spcBef>
              <a:spcAft>
                <a:spcPts val="1200"/>
              </a:spcAft>
            </a:pPr>
            <a:r>
              <a:rPr lang="en-AU" sz="2200" dirty="0" smtClean="0"/>
              <a:t>Guest’s name </a:t>
            </a:r>
          </a:p>
          <a:p>
            <a:pPr marL="0">
              <a:spcBef>
                <a:spcPts val="600"/>
              </a:spcBef>
              <a:spcAft>
                <a:spcPts val="1200"/>
              </a:spcAft>
            </a:pPr>
            <a:r>
              <a:rPr lang="en-AU" sz="2200" dirty="0" smtClean="0"/>
              <a:t>Number of guests </a:t>
            </a:r>
          </a:p>
          <a:p>
            <a:pPr marL="0">
              <a:spcBef>
                <a:spcPts val="600"/>
              </a:spcBef>
              <a:spcAft>
                <a:spcPts val="1200"/>
              </a:spcAft>
            </a:pPr>
            <a:r>
              <a:rPr lang="en-AU" sz="2200" dirty="0" smtClean="0"/>
              <a:t>Room type </a:t>
            </a:r>
          </a:p>
          <a:p>
            <a:pPr marL="0">
              <a:spcBef>
                <a:spcPts val="600"/>
              </a:spcBef>
              <a:spcAft>
                <a:spcPts val="1200"/>
              </a:spcAft>
            </a:pPr>
            <a:r>
              <a:rPr lang="en-AU" sz="2200" dirty="0" smtClean="0"/>
              <a:t>Room rate booking guaranteed or not </a:t>
            </a:r>
          </a:p>
          <a:p>
            <a:pPr marL="0">
              <a:spcBef>
                <a:spcPts val="600"/>
              </a:spcBef>
              <a:spcAft>
                <a:spcPts val="1200"/>
              </a:spcAft>
            </a:pPr>
            <a:r>
              <a:rPr lang="en-AU" sz="2200" dirty="0" smtClean="0"/>
              <a:t>Special requests</a:t>
            </a:r>
            <a:endParaRPr lang="en-AU" sz="2200" dirty="0" smtClean="0">
              <a:latin typeface="Helvetica" pitchFamily="34" charset="0"/>
              <a:cs typeface="Helvetica" pitchFamily="34" charset="0"/>
            </a:endParaRPr>
          </a:p>
          <a:p>
            <a:pPr marL="571500" indent="-571500"/>
            <a:endParaRPr lang="en-AU" sz="2400" dirty="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146" name="Picture 2" descr="C:\Documents and Settings\Godaishu\Desktop\Front office 2012\Form.jpg"/>
          <p:cNvPicPr>
            <a:picLocks noChangeAspect="1" noChangeArrowheads="1"/>
          </p:cNvPicPr>
          <p:nvPr/>
        </p:nvPicPr>
        <p:blipFill>
          <a:blip r:embed="rId3" cstate="print"/>
          <a:srcRect/>
          <a:stretch>
            <a:fillRect/>
          </a:stretch>
        </p:blipFill>
        <p:spPr bwMode="auto">
          <a:xfrm>
            <a:off x="5214942" y="2357430"/>
            <a:ext cx="3048000" cy="203358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862" y="500050"/>
            <a:ext cx="7467600" cy="1143000"/>
          </a:xfrm>
        </p:spPr>
        <p:txBody>
          <a:bodyPr>
            <a:normAutofit fontScale="90000"/>
          </a:bodyPr>
          <a:lstStyle/>
          <a:p>
            <a:r>
              <a:rPr lang="en-US" sz="3800" b="1" dirty="0" smtClean="0">
                <a:solidFill>
                  <a:srgbClr val="FF6600"/>
                </a:solidFill>
                <a:latin typeface="Helvetica" pitchFamily="34" charset="0"/>
                <a:cs typeface="Helvetica" pitchFamily="34" charset="0"/>
              </a:rPr>
              <a:t>Arrange for and deliver special reque</a:t>
            </a:r>
            <a:r>
              <a:rPr lang="en-US" sz="3600" b="1" dirty="0" smtClean="0">
                <a:solidFill>
                  <a:srgbClr val="FF6600"/>
                </a:solidFill>
                <a:latin typeface="Helvetica" pitchFamily="34" charset="0"/>
                <a:cs typeface="Helvetica" pitchFamily="34" charset="0"/>
              </a:rPr>
              <a:t>sts</a:t>
            </a:r>
            <a:r>
              <a:rPr lang="en-US" sz="4800" dirty="0" smtClean="0">
                <a:latin typeface="Helvetica" pitchFamily="34" charset="0"/>
                <a:cs typeface="Helvetica" pitchFamily="34" charset="0"/>
              </a:rPr>
              <a:t/>
            </a:r>
            <a:br>
              <a:rPr lang="en-US" sz="4800" dirty="0" smtClean="0">
                <a:latin typeface="Helvetica" pitchFamily="34" charset="0"/>
                <a:cs typeface="Helvetica" pitchFamily="34" charset="0"/>
              </a:rPr>
            </a:br>
            <a:endParaRPr lang="en-AU" dirty="0"/>
          </a:p>
        </p:txBody>
      </p:sp>
      <p:sp>
        <p:nvSpPr>
          <p:cNvPr id="3" name="Content Placeholder 2"/>
          <p:cNvSpPr>
            <a:spLocks noGrp="1"/>
          </p:cNvSpPr>
          <p:nvPr>
            <p:ph idx="1"/>
          </p:nvPr>
        </p:nvSpPr>
        <p:spPr/>
        <p:txBody>
          <a:bodyPr>
            <a:normAutofit/>
          </a:bodyPr>
          <a:lstStyle/>
          <a:p>
            <a:pPr>
              <a:spcBef>
                <a:spcPts val="600"/>
              </a:spcBef>
              <a:spcAft>
                <a:spcPts val="1200"/>
              </a:spcAft>
              <a:buNone/>
            </a:pPr>
            <a:r>
              <a:rPr lang="en-AU" sz="2200" dirty="0" smtClean="0"/>
              <a:t>Special requests may include:</a:t>
            </a:r>
          </a:p>
          <a:p>
            <a:pPr>
              <a:spcBef>
                <a:spcPts val="600"/>
              </a:spcBef>
              <a:spcAft>
                <a:spcPts val="1200"/>
              </a:spcAft>
            </a:pPr>
            <a:r>
              <a:rPr lang="en-AU" sz="2200" dirty="0" smtClean="0"/>
              <a:t>Extra furniture or beds</a:t>
            </a:r>
          </a:p>
          <a:p>
            <a:pPr>
              <a:spcBef>
                <a:spcPts val="600"/>
              </a:spcBef>
              <a:spcAft>
                <a:spcPts val="1200"/>
              </a:spcAft>
            </a:pPr>
            <a:r>
              <a:rPr lang="en-AU" sz="2200" dirty="0" smtClean="0"/>
              <a:t>Bed linen </a:t>
            </a:r>
          </a:p>
          <a:p>
            <a:pPr>
              <a:spcBef>
                <a:spcPts val="600"/>
              </a:spcBef>
              <a:spcAft>
                <a:spcPts val="1200"/>
              </a:spcAft>
            </a:pPr>
            <a:r>
              <a:rPr lang="en-AU" sz="2200" dirty="0" smtClean="0"/>
              <a:t>Food and Beverage</a:t>
            </a:r>
          </a:p>
          <a:p>
            <a:pPr>
              <a:spcBef>
                <a:spcPts val="600"/>
              </a:spcBef>
              <a:spcAft>
                <a:spcPts val="1200"/>
              </a:spcAft>
            </a:pPr>
            <a:r>
              <a:rPr lang="en-AU" sz="2200" dirty="0" smtClean="0"/>
              <a:t>Flowers and decorations</a:t>
            </a:r>
          </a:p>
          <a:p>
            <a:pPr>
              <a:buNone/>
            </a:pPr>
            <a:r>
              <a:rPr lang="en-AU" sz="2200" dirty="0" smtClean="0"/>
              <a:t> </a:t>
            </a:r>
            <a:endParaRPr lang="en-AU" sz="2200" dirty="0"/>
          </a:p>
        </p:txBody>
      </p:sp>
      <p:pic>
        <p:nvPicPr>
          <p:cNvPr id="7170" name="Picture 2" descr="C:\Documents and Settings\Godaishu\Desktop\Front office 2012\Hotel room2.jpg"/>
          <p:cNvPicPr>
            <a:picLocks noChangeAspect="1" noChangeArrowheads="1"/>
          </p:cNvPicPr>
          <p:nvPr/>
        </p:nvPicPr>
        <p:blipFill>
          <a:blip r:embed="rId3" cstate="print"/>
          <a:srcRect/>
          <a:stretch>
            <a:fillRect/>
          </a:stretch>
        </p:blipFill>
        <p:spPr bwMode="auto">
          <a:xfrm>
            <a:off x="4643438" y="2143116"/>
            <a:ext cx="3048000" cy="2011362"/>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862" y="274638"/>
            <a:ext cx="7467600" cy="1143000"/>
          </a:xfrm>
        </p:spPr>
        <p:txBody>
          <a:bodyPr>
            <a:normAutofit/>
          </a:bodyPr>
          <a:lstStyle/>
          <a:p>
            <a:r>
              <a:rPr lang="en-AU" sz="3400" b="1" dirty="0" smtClean="0">
                <a:solidFill>
                  <a:srgbClr val="FF6600"/>
                </a:solidFill>
                <a:latin typeface="Helvetica" pitchFamily="34" charset="0"/>
                <a:cs typeface="Helvetica" pitchFamily="34" charset="0"/>
              </a:rPr>
              <a:t>Greeting guests on arrival</a:t>
            </a:r>
            <a:endParaRPr lang="en-AU" sz="3400" b="1" dirty="0">
              <a:solidFill>
                <a:srgbClr val="FF6600"/>
              </a:solidFill>
              <a:latin typeface="Helvetica" pitchFamily="34" charset="0"/>
              <a:cs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AU" sz="2200" dirty="0" smtClean="0"/>
              <a:t>The type of greeting the guest receives from the porter must always be: </a:t>
            </a:r>
          </a:p>
          <a:p>
            <a:pPr>
              <a:spcBef>
                <a:spcPts val="600"/>
              </a:spcBef>
              <a:spcAft>
                <a:spcPts val="1200"/>
              </a:spcAft>
            </a:pPr>
            <a:r>
              <a:rPr lang="en-AU" sz="2200" dirty="0" smtClean="0"/>
              <a:t>Professional </a:t>
            </a:r>
          </a:p>
          <a:p>
            <a:pPr>
              <a:spcBef>
                <a:spcPts val="600"/>
              </a:spcBef>
              <a:spcAft>
                <a:spcPts val="1200"/>
              </a:spcAft>
            </a:pPr>
            <a:r>
              <a:rPr lang="en-AU" sz="2200" dirty="0" smtClean="0"/>
              <a:t>Personable </a:t>
            </a:r>
          </a:p>
          <a:p>
            <a:pPr>
              <a:spcBef>
                <a:spcPts val="600"/>
              </a:spcBef>
              <a:spcAft>
                <a:spcPts val="1200"/>
              </a:spcAft>
            </a:pPr>
            <a:r>
              <a:rPr lang="en-AU" sz="2200" dirty="0" smtClean="0"/>
              <a:t>Welcoming </a:t>
            </a:r>
          </a:p>
          <a:p>
            <a:pPr>
              <a:spcBef>
                <a:spcPts val="600"/>
              </a:spcBef>
              <a:spcAft>
                <a:spcPts val="1200"/>
              </a:spcAft>
            </a:pPr>
            <a:r>
              <a:rPr lang="en-AU" sz="2200" dirty="0" smtClean="0"/>
              <a:t>Sincere </a:t>
            </a:r>
          </a:p>
          <a:p>
            <a:pPr>
              <a:spcBef>
                <a:spcPts val="600"/>
              </a:spcBef>
              <a:spcAft>
                <a:spcPts val="1200"/>
              </a:spcAft>
            </a:pPr>
            <a:r>
              <a:rPr lang="en-AU" sz="2200" dirty="0" smtClean="0"/>
              <a:t>Friendly</a:t>
            </a:r>
            <a:endParaRPr lang="en-AU" sz="2200" dirty="0">
              <a:latin typeface="Helvetica" pitchFamily="34" charset="0"/>
              <a:cs typeface="Helvetica" pitchFamily="34" charset="0"/>
            </a:endParaRPr>
          </a:p>
        </p:txBody>
      </p:sp>
      <p:pic>
        <p:nvPicPr>
          <p:cNvPr id="8194" name="Picture 2" descr="C:\Documents and Settings\Godaishu\Desktop\Front office 2012\shutterstock_92805724.jpg"/>
          <p:cNvPicPr>
            <a:picLocks noChangeAspect="1" noChangeArrowheads="1"/>
          </p:cNvPicPr>
          <p:nvPr/>
        </p:nvPicPr>
        <p:blipFill>
          <a:blip r:embed="rId3" cstate="print"/>
          <a:srcRect/>
          <a:stretch>
            <a:fillRect/>
          </a:stretch>
        </p:blipFill>
        <p:spPr bwMode="auto">
          <a:xfrm>
            <a:off x="4286248" y="2571744"/>
            <a:ext cx="3048000" cy="2262188"/>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15</a:t>
            </a:fld>
            <a:endParaRPr lang="en-US" dirty="0"/>
          </a:p>
        </p:txBody>
      </p:sp>
    </p:spTree>
    <p:extLst>
      <p:ext uri="{BB962C8B-B14F-4D97-AF65-F5344CB8AC3E}">
        <p14:creationId xmlns:p14="http://schemas.microsoft.com/office/powerpoint/2010/main" val="570528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a:solidFill>
                  <a:srgbClr val="FF6600"/>
                </a:solidFill>
                <a:latin typeface="Helvetica" pitchFamily="34" charset="0"/>
              </a:rPr>
              <a:t> </a:t>
            </a:r>
            <a:r>
              <a:rPr lang="en-US" sz="3400" b="1" dirty="0" smtClean="0">
                <a:solidFill>
                  <a:srgbClr val="FF6600"/>
                </a:solidFill>
                <a:latin typeface="Helvetica" pitchFamily="34" charset="0"/>
              </a:rPr>
              <a:t>Escorting the guest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03844" cy="4525963"/>
          </a:xfrm>
        </p:spPr>
        <p:txBody>
          <a:bodyPr>
            <a:normAutofit/>
          </a:bodyPr>
          <a:lstStyle/>
          <a:p>
            <a:pPr marL="0" indent="0">
              <a:spcBef>
                <a:spcPts val="600"/>
              </a:spcBef>
              <a:spcAft>
                <a:spcPts val="1200"/>
              </a:spcAft>
              <a:buNone/>
            </a:pPr>
            <a:r>
              <a:rPr lang="en-US" sz="2200" dirty="0" smtClean="0">
                <a:latin typeface="Helvetica" pitchFamily="34" charset="0"/>
              </a:rPr>
              <a:t>Rooming the guest:</a:t>
            </a:r>
          </a:p>
          <a:p>
            <a:pPr marL="0">
              <a:spcBef>
                <a:spcPts val="600"/>
              </a:spcBef>
              <a:spcAft>
                <a:spcPts val="1200"/>
              </a:spcAft>
            </a:pPr>
            <a:r>
              <a:rPr lang="en-AU" sz="2200" dirty="0">
                <a:cs typeface="Helvetica" pitchFamily="34" charset="0"/>
              </a:rPr>
              <a:t>Advise the guest of the venue’s emergency </a:t>
            </a:r>
            <a:r>
              <a:rPr lang="en-AU" sz="2200" dirty="0" smtClean="0">
                <a:cs typeface="Helvetica" pitchFamily="34" charset="0"/>
              </a:rPr>
              <a:t/>
            </a:r>
            <a:br>
              <a:rPr lang="en-AU" sz="2200" dirty="0" smtClean="0">
                <a:cs typeface="Helvetica" pitchFamily="34" charset="0"/>
              </a:rPr>
            </a:br>
            <a:r>
              <a:rPr lang="en-AU" sz="2200" dirty="0" smtClean="0">
                <a:cs typeface="Helvetica" pitchFamily="34" charset="0"/>
              </a:rPr>
              <a:t>     evacuation procedure</a:t>
            </a:r>
            <a:endParaRPr lang="en-AU" sz="2200" dirty="0">
              <a:cs typeface="Helvetica" pitchFamily="34" charset="0"/>
            </a:endParaRPr>
          </a:p>
          <a:p>
            <a:pPr marL="0">
              <a:spcBef>
                <a:spcPts val="600"/>
              </a:spcBef>
              <a:spcAft>
                <a:spcPts val="1200"/>
              </a:spcAft>
            </a:pPr>
            <a:r>
              <a:rPr lang="en-AU" sz="2200" dirty="0">
                <a:latin typeface="Helvetica" pitchFamily="34" charset="0"/>
                <a:cs typeface="Helvetica" pitchFamily="34" charset="0"/>
              </a:rPr>
              <a:t>Answer any questions the guest may have</a:t>
            </a:r>
          </a:p>
          <a:p>
            <a:pPr marL="0">
              <a:spcBef>
                <a:spcPts val="600"/>
              </a:spcBef>
              <a:spcAft>
                <a:spcPts val="1200"/>
              </a:spcAft>
            </a:pPr>
            <a:r>
              <a:rPr lang="en-AU" sz="2200" dirty="0">
                <a:latin typeface="Helvetica" pitchFamily="34" charset="0"/>
                <a:cs typeface="Helvetica" pitchFamily="34" charset="0"/>
              </a:rPr>
              <a:t>Highlight facilities and services </a:t>
            </a:r>
            <a:r>
              <a:rPr lang="en-AU" sz="2200" dirty="0" smtClean="0">
                <a:latin typeface="Helvetica" pitchFamily="34" charset="0"/>
                <a:cs typeface="Helvetica" pitchFamily="34" charset="0"/>
              </a:rPr>
              <a:t>available</a:t>
            </a:r>
            <a:br>
              <a:rPr lang="en-AU" sz="2200" dirty="0" smtClean="0">
                <a:latin typeface="Helvetica" pitchFamily="34" charset="0"/>
                <a:cs typeface="Helvetica" pitchFamily="34" charset="0"/>
              </a:rPr>
            </a:br>
            <a:r>
              <a:rPr lang="en-AU" sz="2200" dirty="0" smtClean="0">
                <a:latin typeface="Helvetica" pitchFamily="34" charset="0"/>
                <a:cs typeface="Helvetica" pitchFamily="34" charset="0"/>
              </a:rPr>
              <a:t>     </a:t>
            </a:r>
            <a:r>
              <a:rPr lang="en-AU" sz="2200" dirty="0">
                <a:latin typeface="Helvetica" pitchFamily="34" charset="0"/>
                <a:cs typeface="Helvetica" pitchFamily="34" charset="0"/>
              </a:rPr>
              <a:t>in the venue</a:t>
            </a:r>
          </a:p>
          <a:p>
            <a:pPr marL="0">
              <a:spcBef>
                <a:spcPts val="600"/>
              </a:spcBef>
              <a:spcAft>
                <a:spcPts val="1200"/>
              </a:spcAft>
            </a:pPr>
            <a:r>
              <a:rPr lang="en-AU" sz="2200" dirty="0">
                <a:latin typeface="Helvetica" pitchFamily="34" charset="0"/>
                <a:cs typeface="Helvetica" pitchFamily="34" charset="0"/>
              </a:rPr>
              <a:t>Discuss upcoming events in the </a:t>
            </a:r>
            <a:r>
              <a:rPr lang="en-AU" sz="2200" dirty="0" smtClean="0">
                <a:latin typeface="Helvetica" pitchFamily="34" charset="0"/>
                <a:cs typeface="Helvetica" pitchFamily="34" charset="0"/>
              </a:rPr>
              <a:t>town</a:t>
            </a:r>
            <a:endParaRPr lang="en-AU" sz="2200" dirty="0">
              <a:latin typeface="Helvetica" pitchFamily="34" charset="0"/>
              <a:cs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9219" name="Picture 3" descr="C:\Documents and Settings\Godaishu\Desktop\Front office 2012\shutterstock_37018618 copy.jpg"/>
          <p:cNvPicPr>
            <a:picLocks noChangeAspect="1" noChangeArrowheads="1"/>
          </p:cNvPicPr>
          <p:nvPr/>
        </p:nvPicPr>
        <p:blipFill>
          <a:blip r:embed="rId3" cstate="print"/>
          <a:srcRect/>
          <a:stretch>
            <a:fillRect/>
          </a:stretch>
        </p:blipFill>
        <p:spPr bwMode="auto">
          <a:xfrm>
            <a:off x="6643702" y="2000240"/>
            <a:ext cx="1464568" cy="2832072"/>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80000"/>
              </a:lnSpc>
            </a:pPr>
            <a:r>
              <a:rPr lang="en-AU" sz="2200" dirty="0">
                <a:latin typeface="Helvetica" pitchFamily="34" charset="0"/>
                <a:cs typeface="Helvetica" pitchFamily="34" charset="0"/>
              </a:rPr>
              <a:t>Explain key </a:t>
            </a:r>
            <a:r>
              <a:rPr lang="en-AU" sz="2200" dirty="0" smtClean="0">
                <a:latin typeface="Helvetica" pitchFamily="34" charset="0"/>
                <a:cs typeface="Helvetica" pitchFamily="34" charset="0"/>
              </a:rPr>
              <a:t>use </a:t>
            </a:r>
          </a:p>
          <a:p>
            <a:pPr>
              <a:lnSpc>
                <a:spcPct val="80000"/>
              </a:lnSpc>
            </a:pPr>
            <a:endParaRPr lang="en-AU" sz="2200" dirty="0">
              <a:latin typeface="Helvetica" pitchFamily="34" charset="0"/>
              <a:cs typeface="Helvetica" pitchFamily="34" charset="0"/>
            </a:endParaRPr>
          </a:p>
          <a:p>
            <a:pPr>
              <a:lnSpc>
                <a:spcPct val="80000"/>
              </a:lnSpc>
            </a:pPr>
            <a:r>
              <a:rPr lang="en-AU" sz="2200" dirty="0" smtClean="0">
                <a:latin typeface="Helvetica" pitchFamily="34" charset="0"/>
                <a:cs typeface="Helvetica" pitchFamily="34" charset="0"/>
              </a:rPr>
              <a:t>Point </a:t>
            </a:r>
            <a:r>
              <a:rPr lang="en-AU" sz="2200" dirty="0">
                <a:latin typeface="Helvetica" pitchFamily="34" charset="0"/>
                <a:cs typeface="Helvetica" pitchFamily="34" charset="0"/>
              </a:rPr>
              <a:t>out room </a:t>
            </a:r>
            <a:r>
              <a:rPr lang="en-AU" sz="2200" dirty="0" smtClean="0">
                <a:latin typeface="Helvetica" pitchFamily="34" charset="0"/>
                <a:cs typeface="Helvetica" pitchFamily="34" charset="0"/>
              </a:rPr>
              <a:t>features</a:t>
            </a:r>
            <a:endParaRPr lang="en-AU" sz="2200" dirty="0">
              <a:latin typeface="Helvetica" pitchFamily="34" charset="0"/>
              <a:cs typeface="Helvetica" pitchFamily="34" charset="0"/>
            </a:endParaRPr>
          </a:p>
        </p:txBody>
      </p:sp>
      <p:pic>
        <p:nvPicPr>
          <p:cNvPr id="7170" name="Picture 2" descr="C:\Users\Evelyn.CATS\AppData\Local\Microsoft\Windows\Temporary Internet Files\Content.IE5\33LH32NE\MP900431773[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2132" y="1785926"/>
            <a:ext cx="2172552" cy="236828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611560" y="332656"/>
            <a:ext cx="7467600" cy="1143000"/>
          </a:xfrm>
        </p:spPr>
        <p:txBody>
          <a:bodyPr>
            <a:normAutofit/>
          </a:bodyPr>
          <a:lstStyle/>
          <a:p>
            <a:r>
              <a:rPr lang="en-US" sz="3400" b="1" dirty="0">
                <a:solidFill>
                  <a:srgbClr val="FF6600"/>
                </a:solidFill>
                <a:latin typeface="Helvetica" pitchFamily="34" charset="0"/>
              </a:rPr>
              <a:t> </a:t>
            </a:r>
            <a:r>
              <a:rPr lang="en-US" sz="3400" b="1" dirty="0" smtClean="0">
                <a:solidFill>
                  <a:srgbClr val="FF6600"/>
                </a:solidFill>
                <a:latin typeface="Helvetica" pitchFamily="34" charset="0"/>
              </a:rPr>
              <a:t>Escorting the guest</a:t>
            </a:r>
            <a:endParaRPr lang="en-US" sz="3400" b="1" dirty="0">
              <a:solidFill>
                <a:srgbClr val="FF6600"/>
              </a:solidFill>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17</a:t>
            </a:fld>
            <a:endParaRPr lang="en-US" dirty="0"/>
          </a:p>
        </p:txBody>
      </p:sp>
    </p:spTree>
    <p:extLst>
      <p:ext uri="{BB962C8B-B14F-4D97-AF65-F5344CB8AC3E}">
        <p14:creationId xmlns:p14="http://schemas.microsoft.com/office/powerpoint/2010/main" val="3956973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 Loading the trolley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cs typeface="Helvetica" pitchFamily="34" charset="0"/>
              </a:rPr>
              <a:t>Safely </a:t>
            </a:r>
            <a:r>
              <a:rPr lang="en-AU" sz="2200" dirty="0">
                <a:latin typeface="Helvetica" pitchFamily="34" charset="0"/>
                <a:cs typeface="Helvetica" pitchFamily="34" charset="0"/>
              </a:rPr>
              <a:t>– no damage</a:t>
            </a:r>
          </a:p>
          <a:p>
            <a:pPr>
              <a:spcBef>
                <a:spcPts val="600"/>
              </a:spcBef>
              <a:spcAft>
                <a:spcPts val="1200"/>
              </a:spcAft>
            </a:pPr>
            <a:r>
              <a:rPr lang="en-AU" sz="2200" dirty="0">
                <a:latin typeface="Helvetica" pitchFamily="34" charset="0"/>
                <a:cs typeface="Helvetica" pitchFamily="34" charset="0"/>
              </a:rPr>
              <a:t>Securely – not stolen or misplaced</a:t>
            </a:r>
          </a:p>
          <a:p>
            <a:pPr>
              <a:spcBef>
                <a:spcPts val="600"/>
              </a:spcBef>
              <a:spcAft>
                <a:spcPts val="1200"/>
              </a:spcAft>
            </a:pPr>
            <a:r>
              <a:rPr lang="en-AU" sz="2200" dirty="0">
                <a:latin typeface="Helvetica" pitchFamily="34" charset="0"/>
                <a:cs typeface="Helvetica" pitchFamily="34" charset="0"/>
              </a:rPr>
              <a:t>To the correct location</a:t>
            </a:r>
          </a:p>
          <a:p>
            <a:pPr>
              <a:spcBef>
                <a:spcPts val="600"/>
              </a:spcBef>
              <a:spcAft>
                <a:spcPts val="1200"/>
              </a:spcAft>
            </a:pPr>
            <a:r>
              <a:rPr lang="en-AU" sz="2200" dirty="0">
                <a:latin typeface="Helvetica" pitchFamily="34" charset="0"/>
                <a:cs typeface="Helvetica" pitchFamily="34" charset="0"/>
              </a:rPr>
              <a:t>use of an appropriate route</a:t>
            </a:r>
          </a:p>
          <a:p>
            <a:pPr>
              <a:spcBef>
                <a:spcPts val="600"/>
              </a:spcBef>
              <a:spcAft>
                <a:spcPts val="1200"/>
              </a:spcAft>
            </a:pPr>
            <a:r>
              <a:rPr lang="en-AU" sz="2200" dirty="0">
                <a:latin typeface="Helvetica" pitchFamily="34" charset="0"/>
                <a:cs typeface="Helvetica" pitchFamily="34" charset="0"/>
              </a:rPr>
              <a:t>Within acceptable time </a:t>
            </a:r>
            <a:r>
              <a:rPr lang="en-AU" sz="2200" dirty="0" smtClean="0">
                <a:latin typeface="Helvetica" pitchFamily="34" charset="0"/>
                <a:cs typeface="Helvetica" pitchFamily="34" charset="0"/>
              </a:rPr>
              <a:t>frame</a:t>
            </a:r>
            <a:endParaRPr lang="en-AU" sz="2200" dirty="0">
              <a:latin typeface="Helvetica" pitchFamily="34" charset="0"/>
              <a:cs typeface="Helvetica" pitchFamily="34" charset="0"/>
            </a:endParaRPr>
          </a:p>
          <a:p>
            <a:pPr>
              <a:spcBef>
                <a:spcPts val="600"/>
              </a:spcBef>
              <a:spcAft>
                <a:spcPts val="1200"/>
              </a:spcAft>
            </a:pPr>
            <a:r>
              <a:rPr lang="en-AU" sz="2200" dirty="0">
                <a:latin typeface="Helvetica" pitchFamily="34" charset="0"/>
                <a:cs typeface="Helvetica" pitchFamily="34" charset="0"/>
              </a:rPr>
              <a:t>Multi room </a:t>
            </a:r>
            <a:r>
              <a:rPr lang="en-AU" sz="2200" dirty="0" smtClean="0">
                <a:latin typeface="Helvetica" pitchFamily="34" charset="0"/>
                <a:cs typeface="Helvetica" pitchFamily="34" charset="0"/>
              </a:rPr>
              <a:t>delivery</a:t>
            </a:r>
            <a:endParaRPr lang="en-AU" sz="2200" dirty="0">
              <a:latin typeface="Helvetica" pitchFamily="34" charset="0"/>
              <a:cs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10242" name="Picture 2" descr="C:\Documents and Settings\Godaishu\Desktop\Front office 2012\shutterstock_71858269.jpg"/>
          <p:cNvPicPr>
            <a:picLocks noChangeAspect="1" noChangeArrowheads="1"/>
          </p:cNvPicPr>
          <p:nvPr/>
        </p:nvPicPr>
        <p:blipFill>
          <a:blip r:embed="rId3" cstate="print"/>
          <a:srcRect/>
          <a:stretch>
            <a:fillRect/>
          </a:stretch>
        </p:blipFill>
        <p:spPr bwMode="auto">
          <a:xfrm>
            <a:off x="5929322" y="2285992"/>
            <a:ext cx="2357454" cy="207505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 Assist with Guest departures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11266" name="Picture 2" descr="C:\Documents and Settings\Godaishu\Desktop\Front office 2012\shutterstock_57238792.jpg"/>
          <p:cNvPicPr>
            <a:picLocks noChangeAspect="1" noChangeArrowheads="1"/>
          </p:cNvPicPr>
          <p:nvPr/>
        </p:nvPicPr>
        <p:blipFill>
          <a:blip r:embed="rId3" cstate="print"/>
          <a:srcRect/>
          <a:stretch>
            <a:fillRect/>
          </a:stretch>
        </p:blipFill>
        <p:spPr bwMode="auto">
          <a:xfrm>
            <a:off x="2786050" y="1785926"/>
            <a:ext cx="3357586" cy="36959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Guest Departure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00174"/>
            <a:ext cx="7467600" cy="4525963"/>
          </a:xfrm>
        </p:spPr>
        <p:txBody>
          <a:bodyPr>
            <a:normAutofit/>
          </a:bodyPr>
          <a:lstStyle/>
          <a:p>
            <a:pPr>
              <a:spcBef>
                <a:spcPts val="600"/>
              </a:spcBef>
              <a:spcAft>
                <a:spcPts val="1200"/>
              </a:spcAft>
              <a:buFont typeface="Wingdings" pitchFamily="2" charset="2"/>
              <a:buNone/>
            </a:pPr>
            <a:r>
              <a:rPr lang="en-US" sz="2200" dirty="0">
                <a:latin typeface="Helvetica" pitchFamily="34" charset="0"/>
                <a:cs typeface="Helvetica" pitchFamily="34" charset="0"/>
              </a:rPr>
              <a:t>On departure, the porter is likely to:</a:t>
            </a:r>
            <a:endParaRPr lang="en-AU" sz="2200" dirty="0">
              <a:latin typeface="Helvetica" pitchFamily="34" charset="0"/>
              <a:cs typeface="Helvetica" pitchFamily="34" charset="0"/>
            </a:endParaRPr>
          </a:p>
          <a:p>
            <a:pPr>
              <a:spcBef>
                <a:spcPts val="600"/>
              </a:spcBef>
              <a:spcAft>
                <a:spcPts val="1200"/>
              </a:spcAft>
            </a:pPr>
            <a:r>
              <a:rPr lang="en-US" sz="2200" dirty="0">
                <a:latin typeface="Helvetica" pitchFamily="34" charset="0"/>
                <a:cs typeface="Helvetica" pitchFamily="34" charset="0"/>
              </a:rPr>
              <a:t>Collect luggage from the guests room</a:t>
            </a:r>
            <a:endParaRPr lang="en-AU" sz="2200" dirty="0">
              <a:latin typeface="Helvetica" pitchFamily="34" charset="0"/>
              <a:cs typeface="Helvetica" pitchFamily="34" charset="0"/>
            </a:endParaRPr>
          </a:p>
          <a:p>
            <a:pPr>
              <a:spcBef>
                <a:spcPts val="600"/>
              </a:spcBef>
              <a:spcAft>
                <a:spcPts val="1200"/>
              </a:spcAft>
            </a:pPr>
            <a:r>
              <a:rPr lang="en-US" sz="2200" dirty="0">
                <a:latin typeface="Helvetica" pitchFamily="34" charset="0"/>
                <a:cs typeface="Helvetica" pitchFamily="34" charset="0"/>
              </a:rPr>
              <a:t>Collect the guest car</a:t>
            </a:r>
            <a:endParaRPr lang="en-AU" sz="2200" dirty="0">
              <a:latin typeface="Helvetica" pitchFamily="34" charset="0"/>
              <a:cs typeface="Helvetica" pitchFamily="34" charset="0"/>
            </a:endParaRPr>
          </a:p>
          <a:p>
            <a:pPr>
              <a:spcBef>
                <a:spcPts val="600"/>
              </a:spcBef>
              <a:spcAft>
                <a:spcPts val="1200"/>
              </a:spcAft>
            </a:pPr>
            <a:r>
              <a:rPr lang="en-US" sz="2200" dirty="0">
                <a:latin typeface="Helvetica" pitchFamily="34" charset="0"/>
                <a:cs typeface="Helvetica" pitchFamily="34" charset="0"/>
              </a:rPr>
              <a:t>Arrange for other transport (if required)</a:t>
            </a:r>
            <a:endParaRPr lang="en-AU" sz="2200" dirty="0">
              <a:latin typeface="Helvetica" pitchFamily="34" charset="0"/>
              <a:cs typeface="Helvetica" pitchFamily="34" charset="0"/>
            </a:endParaRPr>
          </a:p>
          <a:p>
            <a:pPr>
              <a:spcBef>
                <a:spcPts val="600"/>
              </a:spcBef>
              <a:spcAft>
                <a:spcPts val="1200"/>
              </a:spcAft>
            </a:pPr>
            <a:r>
              <a:rPr lang="en-US" sz="2200" dirty="0">
                <a:latin typeface="Helvetica" pitchFamily="34" charset="0"/>
                <a:cs typeface="Helvetica" pitchFamily="34" charset="0"/>
              </a:rPr>
              <a:t>Forward mail</a:t>
            </a:r>
            <a:endParaRPr lang="en-AU" sz="2200" dirty="0">
              <a:latin typeface="Helvetica" pitchFamily="34" charset="0"/>
              <a:cs typeface="Helvetica" pitchFamily="34" charset="0"/>
            </a:endParaRPr>
          </a:p>
          <a:p>
            <a:pPr>
              <a:spcBef>
                <a:spcPts val="600"/>
              </a:spcBef>
              <a:spcAft>
                <a:spcPts val="1200"/>
              </a:spcAft>
            </a:pPr>
            <a:r>
              <a:rPr lang="en-US" sz="2200" dirty="0">
                <a:latin typeface="Helvetica" pitchFamily="34" charset="0"/>
                <a:cs typeface="Helvetica" pitchFamily="34" charset="0"/>
              </a:rPr>
              <a:t>Provide information</a:t>
            </a:r>
            <a:endParaRPr lang="en-AU" sz="2200" dirty="0">
              <a:latin typeface="Helvetica" pitchFamily="34" charset="0"/>
              <a:cs typeface="Helvetica" pitchFamily="34" charset="0"/>
            </a:endParaRPr>
          </a:p>
          <a:p>
            <a:pPr>
              <a:spcBef>
                <a:spcPts val="600"/>
              </a:spcBef>
              <a:spcAft>
                <a:spcPts val="1200"/>
              </a:spcAft>
            </a:pPr>
            <a:r>
              <a:rPr lang="en-US" sz="2200" dirty="0">
                <a:latin typeface="Helvetica" pitchFamily="34" charset="0"/>
                <a:cs typeface="Helvetica" pitchFamily="34" charset="0"/>
              </a:rPr>
              <a:t>Provide </a:t>
            </a:r>
            <a:r>
              <a:rPr lang="en-US" sz="2200" dirty="0" smtClean="0">
                <a:latin typeface="Helvetica" pitchFamily="34" charset="0"/>
                <a:cs typeface="Helvetica" pitchFamily="34" charset="0"/>
              </a:rPr>
              <a:t>directions</a:t>
            </a:r>
          </a:p>
          <a:p>
            <a:pPr>
              <a:spcBef>
                <a:spcPts val="600"/>
              </a:spcBef>
              <a:spcAft>
                <a:spcPts val="1200"/>
              </a:spcAft>
            </a:pPr>
            <a:endParaRPr lang="en-AU" sz="2200" dirty="0">
              <a:latin typeface="Helvetica" pitchFamily="34" charset="0"/>
              <a:cs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12291" name="Picture 3" descr="C:\Documents and Settings\Godaishu\Desktop\Front office 2012\shutterstock_83200777.jpg"/>
          <p:cNvPicPr>
            <a:picLocks noChangeAspect="1" noChangeArrowheads="1"/>
          </p:cNvPicPr>
          <p:nvPr/>
        </p:nvPicPr>
        <p:blipFill>
          <a:blip r:embed="rId3" cstate="print"/>
          <a:srcRect/>
          <a:stretch>
            <a:fillRect/>
          </a:stretch>
        </p:blipFill>
        <p:spPr bwMode="auto">
          <a:xfrm>
            <a:off x="4143372" y="3857628"/>
            <a:ext cx="2500330" cy="1668189"/>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 Luggage tags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a:t>Luggage is often tagged </a:t>
            </a:r>
            <a:r>
              <a:rPr lang="en-AU" sz="2200" dirty="0" smtClean="0"/>
              <a:t>with an </a:t>
            </a:r>
            <a:r>
              <a:rPr lang="en-AU" sz="2200" dirty="0"/>
              <a:t>identification label is attached to the handle of every piece of luggage</a:t>
            </a:r>
            <a:r>
              <a:rPr lang="en-AU" sz="2200" dirty="0" smtClean="0"/>
              <a:t>.</a:t>
            </a:r>
          </a:p>
          <a:p>
            <a:pPr marL="342900" indent="-342900">
              <a:spcBef>
                <a:spcPts val="600"/>
              </a:spcBef>
              <a:spcAft>
                <a:spcPts val="1200"/>
              </a:spcAft>
            </a:pPr>
            <a:r>
              <a:rPr lang="en-AU" sz="2200" dirty="0" smtClean="0"/>
              <a:t>The </a:t>
            </a:r>
            <a:r>
              <a:rPr lang="en-AU" sz="2200" dirty="0"/>
              <a:t>identification label will have written on </a:t>
            </a:r>
            <a:r>
              <a:rPr lang="en-AU" sz="2200" dirty="0" smtClean="0"/>
              <a:t/>
            </a:r>
            <a:br>
              <a:rPr lang="en-AU" sz="2200" dirty="0" smtClean="0"/>
            </a:br>
            <a:r>
              <a:rPr lang="en-AU" sz="2200" dirty="0" smtClean="0"/>
              <a:t>it </a:t>
            </a:r>
            <a:r>
              <a:rPr lang="en-AU" sz="2200" dirty="0"/>
              <a:t>the guest’s full name and </a:t>
            </a:r>
            <a:r>
              <a:rPr lang="en-AU" sz="2200" dirty="0" smtClean="0"/>
              <a:t>the </a:t>
            </a:r>
            <a:r>
              <a:rPr lang="en-AU" sz="2200" dirty="0"/>
              <a:t>room </a:t>
            </a:r>
            <a:r>
              <a:rPr lang="en-AU" sz="2200" dirty="0" smtClean="0"/>
              <a:t>number</a:t>
            </a:r>
          </a:p>
          <a:p>
            <a:pPr marL="342900" indent="-342900">
              <a:spcBef>
                <a:spcPts val="600"/>
              </a:spcBef>
              <a:spcAft>
                <a:spcPts val="1200"/>
              </a:spcAft>
            </a:pPr>
            <a:r>
              <a:rPr lang="en-AU" sz="2200" dirty="0" smtClean="0"/>
              <a:t>When </a:t>
            </a:r>
            <a:r>
              <a:rPr lang="en-AU" sz="2200" dirty="0"/>
              <a:t>tagging bags, always write the number </a:t>
            </a:r>
            <a:r>
              <a:rPr lang="en-AU" sz="2200" dirty="0" smtClean="0"/>
              <a:t/>
            </a:r>
            <a:br>
              <a:rPr lang="en-AU" sz="2200" dirty="0" smtClean="0"/>
            </a:br>
            <a:r>
              <a:rPr lang="en-AU" sz="2200" dirty="0" smtClean="0"/>
              <a:t>of </a:t>
            </a:r>
            <a:r>
              <a:rPr lang="en-AU" sz="2200" dirty="0"/>
              <a:t>items being stored, belonging to that guest, </a:t>
            </a:r>
            <a:r>
              <a:rPr lang="en-AU" sz="2200" dirty="0" smtClean="0"/>
              <a:t/>
            </a:r>
            <a:br>
              <a:rPr lang="en-AU" sz="2200" dirty="0" smtClean="0"/>
            </a:br>
            <a:r>
              <a:rPr lang="en-AU" sz="2200" dirty="0" smtClean="0"/>
              <a:t>on </a:t>
            </a:r>
            <a:r>
              <a:rPr lang="en-AU" sz="2200" dirty="0"/>
              <a:t>the </a:t>
            </a:r>
            <a:r>
              <a:rPr lang="en-AU" sz="2200" dirty="0" smtClean="0"/>
              <a:t>tag</a:t>
            </a:r>
          </a:p>
          <a:p>
            <a:pPr marL="342900" indent="-342900">
              <a:spcBef>
                <a:spcPts val="600"/>
              </a:spcBef>
              <a:spcAft>
                <a:spcPts val="1200"/>
              </a:spcAft>
            </a:pPr>
            <a:r>
              <a:rPr lang="en-AU" sz="2200" dirty="0" smtClean="0"/>
              <a:t>This </a:t>
            </a:r>
            <a:r>
              <a:rPr lang="en-AU" sz="2200" dirty="0"/>
              <a:t>is an important procedure so that guest’s </a:t>
            </a:r>
            <a:r>
              <a:rPr lang="en-AU" sz="2200" dirty="0" smtClean="0"/>
              <a:t/>
            </a:r>
            <a:br>
              <a:rPr lang="en-AU" sz="2200" dirty="0" smtClean="0"/>
            </a:br>
            <a:r>
              <a:rPr lang="en-AU" sz="2200" dirty="0" smtClean="0"/>
              <a:t>luggage </a:t>
            </a:r>
            <a:r>
              <a:rPr lang="en-AU" sz="2200" dirty="0"/>
              <a:t>does not get </a:t>
            </a:r>
            <a:r>
              <a:rPr lang="en-AU" sz="2200" dirty="0" smtClean="0"/>
              <a:t>lost</a:t>
            </a:r>
            <a:endParaRPr lang="en-AU" sz="2200" dirty="0"/>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2050" name="Picture 2" descr="I:\Overseas Projects\PHOTOS\2012\Front office 2012\397292_luggage_id.jpg"/>
          <p:cNvPicPr>
            <a:picLocks noChangeAspect="1" noChangeArrowheads="1"/>
          </p:cNvPicPr>
          <p:nvPr/>
        </p:nvPicPr>
        <p:blipFill>
          <a:blip r:embed="rId3" cstate="print"/>
          <a:srcRect/>
          <a:stretch>
            <a:fillRect/>
          </a:stretch>
        </p:blipFill>
        <p:spPr bwMode="auto">
          <a:xfrm rot="16200000">
            <a:off x="6568459" y="2789863"/>
            <a:ext cx="2285997" cy="1135379"/>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 </a:t>
            </a:r>
            <a:r>
              <a:rPr lang="en-US" sz="3400" b="1" dirty="0">
                <a:solidFill>
                  <a:srgbClr val="FF6600"/>
                </a:solidFill>
                <a:latin typeface="Helvetica" pitchFamily="34" charset="0"/>
              </a:rPr>
              <a:t>Luggage storage </a:t>
            </a: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US" sz="2000" dirty="0"/>
              <a:t>G</a:t>
            </a:r>
            <a:r>
              <a:rPr lang="en-US" sz="2000" dirty="0" smtClean="0"/>
              <a:t>uests </a:t>
            </a:r>
            <a:r>
              <a:rPr lang="en-US" sz="2000" dirty="0"/>
              <a:t>request  luggage stored </a:t>
            </a:r>
          </a:p>
          <a:p>
            <a:pPr>
              <a:spcBef>
                <a:spcPts val="600"/>
              </a:spcBef>
              <a:spcAft>
                <a:spcPts val="1200"/>
              </a:spcAft>
            </a:pPr>
            <a:r>
              <a:rPr lang="en-US" sz="2000" dirty="0"/>
              <a:t>L</a:t>
            </a:r>
            <a:r>
              <a:rPr lang="en-US" sz="2000" dirty="0" smtClean="0"/>
              <a:t>uggage </a:t>
            </a:r>
            <a:r>
              <a:rPr lang="en-US" sz="2000" dirty="0"/>
              <a:t>tagged and stored in a secure </a:t>
            </a:r>
            <a:r>
              <a:rPr lang="en-US" sz="2000" dirty="0" smtClean="0"/>
              <a:t>area</a:t>
            </a:r>
          </a:p>
          <a:p>
            <a:pPr>
              <a:spcBef>
                <a:spcPts val="600"/>
              </a:spcBef>
              <a:spcAft>
                <a:spcPts val="1200"/>
              </a:spcAft>
            </a:pPr>
            <a:r>
              <a:rPr lang="en-US" sz="2000" dirty="0" smtClean="0"/>
              <a:t>Why do guests store luggage?</a:t>
            </a:r>
            <a:endParaRPr lang="en-US" sz="2000" dirty="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1026" name="Picture 2" descr="bfo2-9"/>
          <p:cNvPicPr>
            <a:picLocks noChangeAspect="1" noChangeArrowheads="1"/>
          </p:cNvPicPr>
          <p:nvPr/>
        </p:nvPicPr>
        <p:blipFill>
          <a:blip r:embed="rId3" cstate="print"/>
          <a:srcRect/>
          <a:stretch>
            <a:fillRect/>
          </a:stretch>
        </p:blipFill>
        <p:spPr bwMode="auto">
          <a:xfrm>
            <a:off x="3357554" y="3286124"/>
            <a:ext cx="2354474" cy="286436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576" indent="0">
              <a:spcBef>
                <a:spcPts val="600"/>
              </a:spcBef>
              <a:spcAft>
                <a:spcPts val="1200"/>
              </a:spcAft>
              <a:buNone/>
            </a:pPr>
            <a:r>
              <a:rPr lang="en-US" sz="2100" b="1" dirty="0" smtClean="0">
                <a:latin typeface="Helvetica" pitchFamily="34" charset="0"/>
                <a:cs typeface="Helvetica" pitchFamily="34" charset="0"/>
              </a:rPr>
              <a:t>Arrival</a:t>
            </a:r>
          </a:p>
          <a:p>
            <a:pPr>
              <a:spcBef>
                <a:spcPts val="600"/>
              </a:spcBef>
              <a:spcAft>
                <a:spcPts val="1200"/>
              </a:spcAft>
            </a:pPr>
            <a:r>
              <a:rPr lang="en-US" sz="2100" dirty="0" smtClean="0">
                <a:latin typeface="Helvetica" pitchFamily="34" charset="0"/>
                <a:cs typeface="Helvetica" pitchFamily="34" charset="0"/>
              </a:rPr>
              <a:t>Driveway accessibility of bus</a:t>
            </a:r>
            <a:endParaRPr lang="en-US" sz="2100" dirty="0">
              <a:latin typeface="Helvetica" pitchFamily="34" charset="0"/>
              <a:cs typeface="Helvetica" pitchFamily="34" charset="0"/>
            </a:endParaRPr>
          </a:p>
          <a:p>
            <a:pPr>
              <a:spcBef>
                <a:spcPts val="600"/>
              </a:spcBef>
              <a:spcAft>
                <a:spcPts val="1200"/>
              </a:spcAft>
            </a:pPr>
            <a:r>
              <a:rPr lang="en-US" sz="2100" dirty="0">
                <a:latin typeface="Helvetica" pitchFamily="34" charset="0"/>
                <a:cs typeface="Helvetica" pitchFamily="34" charset="0"/>
              </a:rPr>
              <a:t>Rooming list</a:t>
            </a:r>
          </a:p>
          <a:p>
            <a:pPr>
              <a:spcBef>
                <a:spcPts val="600"/>
              </a:spcBef>
              <a:spcAft>
                <a:spcPts val="1200"/>
              </a:spcAft>
            </a:pPr>
            <a:r>
              <a:rPr lang="en-US" sz="2100" dirty="0" smtClean="0">
                <a:latin typeface="Helvetica" pitchFamily="34" charset="0"/>
                <a:cs typeface="Helvetica" pitchFamily="34" charset="0"/>
              </a:rPr>
              <a:t>Luggage unloaded.</a:t>
            </a:r>
          </a:p>
          <a:p>
            <a:pPr marL="36576" indent="0">
              <a:spcBef>
                <a:spcPts val="600"/>
              </a:spcBef>
              <a:spcAft>
                <a:spcPts val="1200"/>
              </a:spcAft>
              <a:buNone/>
            </a:pPr>
            <a:r>
              <a:rPr lang="en-US" sz="2100" b="1" dirty="0" smtClean="0">
                <a:latin typeface="Helvetica" pitchFamily="34" charset="0"/>
                <a:cs typeface="Helvetica" pitchFamily="34" charset="0"/>
              </a:rPr>
              <a:t>Departure</a:t>
            </a:r>
          </a:p>
          <a:p>
            <a:pPr>
              <a:spcBef>
                <a:spcPts val="600"/>
              </a:spcBef>
              <a:spcAft>
                <a:spcPts val="1200"/>
              </a:spcAft>
            </a:pPr>
            <a:r>
              <a:rPr lang="en-AU" sz="2100" dirty="0"/>
              <a:t>Porters collect luggage </a:t>
            </a:r>
          </a:p>
          <a:p>
            <a:pPr>
              <a:spcBef>
                <a:spcPts val="600"/>
              </a:spcBef>
              <a:spcAft>
                <a:spcPts val="1200"/>
              </a:spcAft>
            </a:pPr>
            <a:r>
              <a:rPr lang="en-AU" sz="2100" dirty="0"/>
              <a:t>E</a:t>
            </a:r>
            <a:r>
              <a:rPr lang="en-AU" sz="2100" dirty="0" smtClean="0"/>
              <a:t>nsure </a:t>
            </a:r>
            <a:r>
              <a:rPr lang="en-AU" sz="2100" dirty="0"/>
              <a:t>every piece is accounted for </a:t>
            </a:r>
          </a:p>
          <a:p>
            <a:pPr>
              <a:spcBef>
                <a:spcPts val="600"/>
              </a:spcBef>
              <a:spcAft>
                <a:spcPts val="1200"/>
              </a:spcAft>
            </a:pPr>
            <a:r>
              <a:rPr lang="en-AU" sz="2100" dirty="0" smtClean="0"/>
              <a:t>Luggage </a:t>
            </a:r>
            <a:r>
              <a:rPr lang="en-AU" sz="2100" dirty="0"/>
              <a:t>is </a:t>
            </a:r>
            <a:r>
              <a:rPr lang="en-AU" sz="2100" dirty="0" smtClean="0"/>
              <a:t>loaded</a:t>
            </a:r>
            <a:endParaRPr lang="en-US" sz="2100" dirty="0" smtClean="0">
              <a:latin typeface="Helvetica" pitchFamily="34" charset="0"/>
              <a:cs typeface="Helvetica" pitchFamily="34" charset="0"/>
            </a:endParaRPr>
          </a:p>
          <a:p>
            <a:pPr marL="36576" indent="0">
              <a:spcBef>
                <a:spcPts val="600"/>
              </a:spcBef>
              <a:spcAft>
                <a:spcPts val="1200"/>
              </a:spcAft>
              <a:buNone/>
            </a:pPr>
            <a:endParaRPr lang="en-US" sz="2100" dirty="0">
              <a:latin typeface="Helvetica" pitchFamily="34" charset="0"/>
              <a:cs typeface="Helvetica" pitchFamily="34" charset="0"/>
            </a:endParaRPr>
          </a:p>
          <a:p>
            <a:pPr marL="0" indent="0">
              <a:spcBef>
                <a:spcPts val="600"/>
              </a:spcBef>
              <a:spcAft>
                <a:spcPts val="1200"/>
              </a:spcAft>
              <a:buNone/>
            </a:pPr>
            <a:endParaRPr lang="en-US" sz="2100" dirty="0" smtClean="0">
              <a:latin typeface="Helvetica" pitchFamily="34" charset="0"/>
            </a:endParaRP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C:\Documents and Settings\Godaishu\Desktop\Front office 2012\shutterstock_39703984.jpg"/>
          <p:cNvPicPr/>
          <p:nvPr/>
        </p:nvPicPr>
        <p:blipFill>
          <a:blip r:embed="rId3" cstate="print"/>
          <a:srcRect/>
          <a:stretch>
            <a:fillRect/>
          </a:stretch>
        </p:blipFill>
        <p:spPr bwMode="auto">
          <a:xfrm>
            <a:off x="5715008" y="2143116"/>
            <a:ext cx="1707833" cy="24574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32406" cy="1143000"/>
          </a:xfrm>
        </p:spPr>
        <p:txBody>
          <a:bodyPr>
            <a:normAutofit/>
          </a:bodyPr>
          <a:lstStyle/>
          <a:p>
            <a:r>
              <a:rPr lang="en-US" sz="3400" b="1" dirty="0" smtClean="0">
                <a:solidFill>
                  <a:srgbClr val="FF6600"/>
                </a:solidFill>
                <a:latin typeface="Helvetica" pitchFamily="34" charset="0"/>
              </a:rPr>
              <a:t>Element 4 - Assist other Departments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descr="C:\Documents and Settings\Godaishu\Desktop\Front office 2012\shutterstock_37190860.jpg"/>
          <p:cNvPicPr/>
          <p:nvPr/>
        </p:nvPicPr>
        <p:blipFill>
          <a:blip r:embed="rId3" cstate="print">
            <a:lum contrast="40000"/>
          </a:blip>
          <a:srcRect/>
          <a:stretch>
            <a:fillRect/>
          </a:stretch>
        </p:blipFill>
        <p:spPr bwMode="auto">
          <a:xfrm>
            <a:off x="3071802" y="1857364"/>
            <a:ext cx="2481752" cy="374556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488258512"/>
              </p:ext>
            </p:extLst>
          </p:nvPr>
        </p:nvGraphicFramePr>
        <p:xfrm>
          <a:off x="304800" y="1143000"/>
          <a:ext cx="8266113"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3740" name="Rectangle 12"/>
          <p:cNvSpPr>
            <a:spLocks noChangeArrowheads="1"/>
          </p:cNvSpPr>
          <p:nvPr/>
        </p:nvSpPr>
        <p:spPr bwMode="auto">
          <a:xfrm>
            <a:off x="228600" y="3276600"/>
            <a:ext cx="2128822" cy="1754326"/>
          </a:xfrm>
          <a:prstGeom prst="rect">
            <a:avLst/>
          </a:prstGeom>
          <a:noFill/>
          <a:ln w="9525">
            <a:noFill/>
            <a:miter lim="800000"/>
            <a:headEnd/>
            <a:tailEnd/>
          </a:ln>
          <a:effectLst/>
        </p:spPr>
        <p:txBody>
          <a:bodyPr wrap="square">
            <a:spAutoFit/>
          </a:bodyPr>
          <a:lstStyle/>
          <a:p>
            <a:r>
              <a:rPr lang="en-US" b="1" dirty="0">
                <a:solidFill>
                  <a:srgbClr val="003366"/>
                </a:solidFill>
                <a:latin typeface="Helvetica" pitchFamily="34" charset="0"/>
              </a:rPr>
              <a:t>In House</a:t>
            </a:r>
          </a:p>
          <a:p>
            <a:r>
              <a:rPr lang="en-AU" dirty="0" smtClean="0">
                <a:solidFill>
                  <a:schemeClr val="accent4">
                    <a:lumMod val="50000"/>
                  </a:schemeClr>
                </a:solidFill>
                <a:latin typeface="Helvetica" pitchFamily="34" charset="0"/>
              </a:rPr>
              <a:t>The porter offers services to guests </a:t>
            </a:r>
          </a:p>
          <a:p>
            <a:r>
              <a:rPr lang="en-AU" dirty="0" smtClean="0">
                <a:solidFill>
                  <a:schemeClr val="accent4">
                    <a:lumMod val="50000"/>
                  </a:schemeClr>
                </a:solidFill>
                <a:latin typeface="Helvetica" pitchFamily="34" charset="0"/>
              </a:rPr>
              <a:t> and may perform a number of personal services</a:t>
            </a:r>
            <a:endParaRPr lang="en-US" dirty="0">
              <a:solidFill>
                <a:schemeClr val="accent4">
                  <a:lumMod val="50000"/>
                </a:schemeClr>
              </a:solidFill>
              <a:latin typeface="Helvetica" pitchFamily="34" charset="0"/>
            </a:endParaRPr>
          </a:p>
        </p:txBody>
      </p:sp>
      <p:sp>
        <p:nvSpPr>
          <p:cNvPr id="73741" name="Rectangle 13"/>
          <p:cNvSpPr>
            <a:spLocks noChangeArrowheads="1"/>
          </p:cNvSpPr>
          <p:nvPr/>
        </p:nvSpPr>
        <p:spPr bwMode="auto">
          <a:xfrm>
            <a:off x="5334000" y="4343400"/>
            <a:ext cx="3810000" cy="1477328"/>
          </a:xfrm>
          <a:prstGeom prst="rect">
            <a:avLst/>
          </a:prstGeom>
          <a:noFill/>
          <a:ln w="9525">
            <a:noFill/>
            <a:miter lim="800000"/>
            <a:headEnd/>
            <a:tailEnd/>
          </a:ln>
          <a:effectLst/>
        </p:spPr>
        <p:txBody>
          <a:bodyPr>
            <a:spAutoFit/>
          </a:bodyPr>
          <a:lstStyle/>
          <a:p>
            <a:r>
              <a:rPr lang="en-US" b="1" dirty="0">
                <a:solidFill>
                  <a:srgbClr val="006666"/>
                </a:solidFill>
                <a:latin typeface="Helvetica" pitchFamily="34" charset="0"/>
              </a:rPr>
              <a:t>Arrival</a:t>
            </a:r>
          </a:p>
          <a:p>
            <a:r>
              <a:rPr lang="en-AU" dirty="0" smtClean="0">
                <a:solidFill>
                  <a:srgbClr val="006666"/>
                </a:solidFill>
                <a:latin typeface="Helvetica" pitchFamily="34" charset="0"/>
              </a:rPr>
              <a:t>Welcoming </a:t>
            </a:r>
            <a:r>
              <a:rPr lang="en-AU" dirty="0">
                <a:solidFill>
                  <a:srgbClr val="006666"/>
                </a:solidFill>
                <a:latin typeface="Helvetica" pitchFamily="34" charset="0"/>
              </a:rPr>
              <a:t>the guest, </a:t>
            </a:r>
          </a:p>
          <a:p>
            <a:r>
              <a:rPr lang="en-AU" dirty="0">
                <a:solidFill>
                  <a:srgbClr val="006666"/>
                </a:solidFill>
                <a:latin typeface="Helvetica" pitchFamily="34" charset="0"/>
              </a:rPr>
              <a:t>collecting their </a:t>
            </a:r>
            <a:r>
              <a:rPr lang="en-AU" dirty="0" smtClean="0">
                <a:solidFill>
                  <a:srgbClr val="006666"/>
                </a:solidFill>
                <a:latin typeface="Helvetica" pitchFamily="34" charset="0"/>
              </a:rPr>
              <a:t>luggage, direct </a:t>
            </a:r>
            <a:r>
              <a:rPr lang="en-AU" dirty="0">
                <a:solidFill>
                  <a:srgbClr val="006666"/>
                </a:solidFill>
                <a:latin typeface="Helvetica" pitchFamily="34" charset="0"/>
              </a:rPr>
              <a:t>guest to the registration </a:t>
            </a:r>
            <a:r>
              <a:rPr lang="en-AU" dirty="0" smtClean="0">
                <a:solidFill>
                  <a:srgbClr val="006666"/>
                </a:solidFill>
                <a:latin typeface="Helvetica" pitchFamily="34" charset="0"/>
              </a:rPr>
              <a:t>desk and   </a:t>
            </a:r>
            <a:r>
              <a:rPr lang="en-AU" dirty="0">
                <a:solidFill>
                  <a:srgbClr val="006666"/>
                </a:solidFill>
                <a:latin typeface="Helvetica" pitchFamily="34" charset="0"/>
              </a:rPr>
              <a:t>escort </a:t>
            </a:r>
            <a:r>
              <a:rPr lang="en-AU" dirty="0" smtClean="0">
                <a:solidFill>
                  <a:srgbClr val="006666"/>
                </a:solidFill>
                <a:latin typeface="Helvetica" pitchFamily="34" charset="0"/>
              </a:rPr>
              <a:t>guest </a:t>
            </a:r>
            <a:r>
              <a:rPr lang="en-AU" dirty="0">
                <a:solidFill>
                  <a:srgbClr val="006666"/>
                </a:solidFill>
                <a:latin typeface="Helvetica" pitchFamily="34" charset="0"/>
              </a:rPr>
              <a:t>to their </a:t>
            </a:r>
            <a:r>
              <a:rPr lang="en-AU" dirty="0" smtClean="0">
                <a:solidFill>
                  <a:srgbClr val="006666"/>
                </a:solidFill>
                <a:latin typeface="Helvetica" pitchFamily="34" charset="0"/>
              </a:rPr>
              <a:t>room</a:t>
            </a:r>
            <a:endParaRPr lang="en-US" dirty="0">
              <a:solidFill>
                <a:srgbClr val="006666"/>
              </a:solidFill>
              <a:latin typeface="Helvetica" pitchFamily="34" charset="0"/>
            </a:endParaRPr>
          </a:p>
        </p:txBody>
      </p:sp>
      <p:sp>
        <p:nvSpPr>
          <p:cNvPr id="73742" name="Rectangle 14"/>
          <p:cNvSpPr>
            <a:spLocks noChangeArrowheads="1"/>
          </p:cNvSpPr>
          <p:nvPr/>
        </p:nvSpPr>
        <p:spPr bwMode="auto">
          <a:xfrm>
            <a:off x="5257800" y="304800"/>
            <a:ext cx="3276600" cy="2031325"/>
          </a:xfrm>
          <a:prstGeom prst="rect">
            <a:avLst/>
          </a:prstGeom>
          <a:noFill/>
          <a:ln w="9525">
            <a:noFill/>
            <a:miter lim="800000"/>
            <a:headEnd/>
            <a:tailEnd/>
          </a:ln>
          <a:effectLst/>
        </p:spPr>
        <p:txBody>
          <a:bodyPr>
            <a:spAutoFit/>
          </a:bodyPr>
          <a:lstStyle/>
          <a:p>
            <a:r>
              <a:rPr lang="en-AU" b="1" dirty="0" smtClean="0">
                <a:solidFill>
                  <a:srgbClr val="003366"/>
                </a:solidFill>
                <a:latin typeface="Helvetica" pitchFamily="34" charset="0"/>
              </a:rPr>
              <a:t>Pre-arrival </a:t>
            </a:r>
            <a:endParaRPr lang="en-AU" b="1" dirty="0">
              <a:solidFill>
                <a:srgbClr val="003366"/>
              </a:solidFill>
              <a:latin typeface="Helvetica" pitchFamily="34" charset="0"/>
            </a:endParaRPr>
          </a:p>
          <a:p>
            <a:r>
              <a:rPr lang="en-AU" dirty="0" smtClean="0">
                <a:solidFill>
                  <a:srgbClr val="003366"/>
                </a:solidFill>
                <a:latin typeface="Helvetica" pitchFamily="34" charset="0"/>
              </a:rPr>
              <a:t>Prepare </a:t>
            </a:r>
            <a:r>
              <a:rPr lang="en-AU" dirty="0">
                <a:solidFill>
                  <a:srgbClr val="003366"/>
                </a:solidFill>
                <a:latin typeface="Helvetica" pitchFamily="34" charset="0"/>
              </a:rPr>
              <a:t>the work area for the day, </a:t>
            </a:r>
            <a:r>
              <a:rPr lang="en-AU" dirty="0" smtClean="0">
                <a:solidFill>
                  <a:srgbClr val="003366"/>
                </a:solidFill>
                <a:latin typeface="Helvetica" pitchFamily="34" charset="0"/>
              </a:rPr>
              <a:t>check </a:t>
            </a:r>
            <a:r>
              <a:rPr lang="en-AU" dirty="0">
                <a:solidFill>
                  <a:srgbClr val="003366"/>
                </a:solidFill>
                <a:latin typeface="Helvetica" pitchFamily="34" charset="0"/>
              </a:rPr>
              <a:t>expected arrivals and </a:t>
            </a:r>
            <a:r>
              <a:rPr lang="en-AU" dirty="0" smtClean="0">
                <a:solidFill>
                  <a:srgbClr val="003366"/>
                </a:solidFill>
                <a:latin typeface="Helvetica" pitchFamily="34" charset="0"/>
              </a:rPr>
              <a:t>departures, delivering </a:t>
            </a:r>
            <a:r>
              <a:rPr lang="en-AU" dirty="0">
                <a:solidFill>
                  <a:srgbClr val="003366"/>
                </a:solidFill>
                <a:latin typeface="Helvetica" pitchFamily="34" charset="0"/>
              </a:rPr>
              <a:t>special requests to rooms </a:t>
            </a:r>
          </a:p>
          <a:p>
            <a:r>
              <a:rPr lang="en-AU" dirty="0">
                <a:solidFill>
                  <a:srgbClr val="003366"/>
                </a:solidFill>
                <a:latin typeface="Helvetica" pitchFamily="34" charset="0"/>
              </a:rPr>
              <a:t>and booking and </a:t>
            </a:r>
            <a:r>
              <a:rPr lang="en-AU" dirty="0" smtClean="0">
                <a:solidFill>
                  <a:srgbClr val="003366"/>
                </a:solidFill>
                <a:latin typeface="Helvetica" pitchFamily="34" charset="0"/>
              </a:rPr>
              <a:t>collecting </a:t>
            </a:r>
            <a:r>
              <a:rPr lang="en-AU" dirty="0">
                <a:solidFill>
                  <a:srgbClr val="003366"/>
                </a:solidFill>
                <a:latin typeface="Helvetica" pitchFamily="34" charset="0"/>
              </a:rPr>
              <a:t>tickets for special events</a:t>
            </a:r>
            <a:endParaRPr lang="en-US" dirty="0">
              <a:solidFill>
                <a:srgbClr val="003366"/>
              </a:solidFill>
              <a:latin typeface="Helvetica" pitchFamily="34" charset="0"/>
            </a:endParaRPr>
          </a:p>
        </p:txBody>
      </p:sp>
      <p:sp>
        <p:nvSpPr>
          <p:cNvPr id="73743" name="Rectangle 15"/>
          <p:cNvSpPr>
            <a:spLocks noChangeArrowheads="1"/>
          </p:cNvSpPr>
          <p:nvPr/>
        </p:nvSpPr>
        <p:spPr bwMode="auto">
          <a:xfrm>
            <a:off x="228600" y="1676400"/>
            <a:ext cx="3581400" cy="1394228"/>
          </a:xfrm>
          <a:prstGeom prst="rect">
            <a:avLst/>
          </a:prstGeom>
          <a:noFill/>
          <a:ln w="9525">
            <a:noFill/>
            <a:miter lim="800000"/>
            <a:headEnd/>
            <a:tailEnd/>
          </a:ln>
          <a:effectLst/>
        </p:spPr>
        <p:txBody>
          <a:bodyPr>
            <a:spAutoFit/>
          </a:bodyPr>
          <a:lstStyle/>
          <a:p>
            <a:pPr eaLnBrk="1" hangingPunct="1">
              <a:lnSpc>
                <a:spcPct val="90000"/>
              </a:lnSpc>
              <a:spcBef>
                <a:spcPct val="20000"/>
              </a:spcBef>
              <a:buClr>
                <a:schemeClr val="accent2"/>
              </a:buClr>
              <a:buFont typeface="Wingdings" pitchFamily="2" charset="2"/>
              <a:buNone/>
            </a:pPr>
            <a:r>
              <a:rPr lang="en-AU" b="1" dirty="0" smtClean="0">
                <a:solidFill>
                  <a:srgbClr val="A50021"/>
                </a:solidFill>
                <a:latin typeface="Helvetica" pitchFamily="34" charset="0"/>
              </a:rPr>
              <a:t>Departure</a:t>
            </a:r>
            <a:endParaRPr lang="en-AU" dirty="0">
              <a:latin typeface="Helvetica" pitchFamily="34" charset="0"/>
            </a:endParaRPr>
          </a:p>
          <a:p>
            <a:pPr eaLnBrk="1" hangingPunct="1">
              <a:lnSpc>
                <a:spcPct val="90000"/>
              </a:lnSpc>
              <a:spcBef>
                <a:spcPct val="20000"/>
              </a:spcBef>
              <a:buClr>
                <a:schemeClr val="accent2"/>
              </a:buClr>
              <a:buFont typeface="Wingdings" pitchFamily="2" charset="2"/>
              <a:buNone/>
            </a:pPr>
            <a:r>
              <a:rPr lang="en-AU" dirty="0" smtClean="0">
                <a:solidFill>
                  <a:srgbClr val="800000"/>
                </a:solidFill>
                <a:latin typeface="Helvetica" pitchFamily="34" charset="0"/>
              </a:rPr>
              <a:t>The </a:t>
            </a:r>
            <a:r>
              <a:rPr lang="en-AU" dirty="0">
                <a:solidFill>
                  <a:srgbClr val="800000"/>
                </a:solidFill>
                <a:latin typeface="Helvetica" pitchFamily="34" charset="0"/>
              </a:rPr>
              <a:t>porter is arranging luggage collection, coordinating transport and providing directions for </a:t>
            </a:r>
            <a:r>
              <a:rPr lang="en-AU" dirty="0" smtClean="0">
                <a:solidFill>
                  <a:srgbClr val="800000"/>
                </a:solidFill>
                <a:latin typeface="Helvetica" pitchFamily="34" charset="0"/>
              </a:rPr>
              <a:t>guests</a:t>
            </a:r>
            <a:r>
              <a:rPr lang="en-AU" dirty="0" smtClean="0">
                <a:latin typeface="Helvetica" pitchFamily="34" charset="0"/>
              </a:rPr>
              <a:t> </a:t>
            </a:r>
            <a:endParaRPr lang="en-US"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25</a:t>
            </a:fld>
            <a:endParaRPr lang="en-US" dirty="0"/>
          </a:p>
        </p:txBody>
      </p:sp>
    </p:spTree>
    <p:extLst>
      <p:ext uri="{BB962C8B-B14F-4D97-AF65-F5344CB8AC3E}">
        <p14:creationId xmlns:p14="http://schemas.microsoft.com/office/powerpoint/2010/main" val="48847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42"/>
                                        </p:tgtEl>
                                        <p:attrNameLst>
                                          <p:attrName>style.visibility</p:attrName>
                                        </p:attrNameLst>
                                      </p:cBhvr>
                                      <p:to>
                                        <p:strVal val="visible"/>
                                      </p:to>
                                    </p:set>
                                    <p:animEffect transition="in" filter="blinds(horizontal)">
                                      <p:cBhvr>
                                        <p:cTn id="7" dur="500"/>
                                        <p:tgtEl>
                                          <p:spTgt spid="7374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3741"/>
                                        </p:tgtEl>
                                        <p:attrNameLst>
                                          <p:attrName>style.visibility</p:attrName>
                                        </p:attrNameLst>
                                      </p:cBhvr>
                                      <p:to>
                                        <p:strVal val="visible"/>
                                      </p:to>
                                    </p:set>
                                    <p:animEffect transition="in" filter="checkerboard(across)">
                                      <p:cBhvr>
                                        <p:cTn id="12" dur="500"/>
                                        <p:tgtEl>
                                          <p:spTgt spid="7374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40"/>
                                        </p:tgtEl>
                                        <p:attrNameLst>
                                          <p:attrName>style.visibility</p:attrName>
                                        </p:attrNameLst>
                                      </p:cBhvr>
                                      <p:to>
                                        <p:strVal val="visible"/>
                                      </p:to>
                                    </p:set>
                                    <p:animEffect transition="in" filter="blinds(horizontal)">
                                      <p:cBhvr>
                                        <p:cTn id="17" dur="500"/>
                                        <p:tgtEl>
                                          <p:spTgt spid="73740"/>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3743"/>
                                        </p:tgtEl>
                                        <p:attrNameLst>
                                          <p:attrName>style.visibility</p:attrName>
                                        </p:attrNameLst>
                                      </p:cBhvr>
                                      <p:to>
                                        <p:strVal val="visible"/>
                                      </p:to>
                                    </p:set>
                                    <p:animEffect transition="in" filter="checkerboard(across)">
                                      <p:cBhvr>
                                        <p:cTn id="22" dur="500"/>
                                        <p:tgtEl>
                                          <p:spTgt spid="73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0" grpId="0"/>
      <p:bldP spid="73741" grpId="0"/>
      <p:bldP spid="73742" grpId="0"/>
      <p:bldP spid="7374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Inter departmental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29728"/>
          </a:xfrm>
        </p:spPr>
        <p:txBody>
          <a:bodyPr>
            <a:noAutofit/>
          </a:bodyPr>
          <a:lstStyle/>
          <a:p>
            <a:pPr marL="0" indent="0">
              <a:spcBef>
                <a:spcPts val="600"/>
              </a:spcBef>
              <a:spcAft>
                <a:spcPts val="1200"/>
              </a:spcAft>
              <a:buNone/>
            </a:pPr>
            <a:r>
              <a:rPr lang="en-US" sz="2200" dirty="0" smtClean="0">
                <a:latin typeface="Helvetica" pitchFamily="34" charset="0"/>
              </a:rPr>
              <a:t>Duties supporting other departments</a:t>
            </a:r>
          </a:p>
          <a:p>
            <a:pPr>
              <a:spcBef>
                <a:spcPts val="600"/>
              </a:spcBef>
              <a:spcAft>
                <a:spcPts val="1200"/>
              </a:spcAft>
            </a:pPr>
            <a:r>
              <a:rPr lang="en-US" sz="2200" dirty="0" smtClean="0"/>
              <a:t>Security </a:t>
            </a:r>
            <a:endParaRPr lang="en-US" sz="2200" dirty="0"/>
          </a:p>
          <a:p>
            <a:pPr>
              <a:spcBef>
                <a:spcPts val="600"/>
              </a:spcBef>
              <a:spcAft>
                <a:spcPts val="1200"/>
              </a:spcAft>
            </a:pPr>
            <a:r>
              <a:rPr lang="en-US" sz="2200" dirty="0" smtClean="0"/>
              <a:t>Front </a:t>
            </a:r>
            <a:r>
              <a:rPr lang="en-US" sz="2200" dirty="0"/>
              <a:t>office reception</a:t>
            </a:r>
          </a:p>
          <a:p>
            <a:pPr>
              <a:spcBef>
                <a:spcPts val="600"/>
              </a:spcBef>
              <a:spcAft>
                <a:spcPts val="1200"/>
              </a:spcAft>
            </a:pPr>
            <a:r>
              <a:rPr lang="en-US" sz="2200" dirty="0" smtClean="0"/>
              <a:t>Sales </a:t>
            </a:r>
            <a:r>
              <a:rPr lang="en-US" sz="2200" dirty="0"/>
              <a:t>and marketing</a:t>
            </a:r>
          </a:p>
          <a:p>
            <a:pPr>
              <a:spcBef>
                <a:spcPts val="600"/>
              </a:spcBef>
              <a:spcAft>
                <a:spcPts val="1200"/>
              </a:spcAft>
            </a:pPr>
            <a:r>
              <a:rPr lang="en-US" sz="2200" dirty="0" smtClean="0"/>
              <a:t>Housekeeping </a:t>
            </a:r>
            <a:r>
              <a:rPr lang="en-US" sz="2200" dirty="0"/>
              <a:t>– lost and found</a:t>
            </a:r>
          </a:p>
          <a:p>
            <a:pPr>
              <a:spcBef>
                <a:spcPts val="600"/>
              </a:spcBef>
              <a:spcAft>
                <a:spcPts val="1200"/>
              </a:spcAft>
            </a:pPr>
            <a:r>
              <a:rPr lang="en-US" sz="2200" dirty="0" smtClean="0"/>
              <a:t>Maintenance</a:t>
            </a:r>
            <a:endParaRPr lang="en-US" sz="2200" dirty="0"/>
          </a:p>
          <a:p>
            <a:pPr>
              <a:spcBef>
                <a:spcPts val="600"/>
              </a:spcBef>
              <a:spcAft>
                <a:spcPts val="1200"/>
              </a:spcAft>
            </a:pPr>
            <a:r>
              <a:rPr lang="en-US" sz="2200" dirty="0" smtClean="0"/>
              <a:t>Functions</a:t>
            </a:r>
            <a:endParaRPr lang="en-US"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5" name="Picture 4" descr="imagesCA85QQAQ.jpg"/>
          <p:cNvPicPr>
            <a:picLocks noChangeAspect="1"/>
          </p:cNvPicPr>
          <p:nvPr/>
        </p:nvPicPr>
        <p:blipFill>
          <a:blip r:embed="rId3" cstate="print"/>
          <a:stretch>
            <a:fillRect/>
          </a:stretch>
        </p:blipFill>
        <p:spPr>
          <a:xfrm>
            <a:off x="5500694" y="2857496"/>
            <a:ext cx="2524325" cy="122296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Emergency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457200">
              <a:spcBef>
                <a:spcPts val="600"/>
              </a:spcBef>
              <a:spcAft>
                <a:spcPts val="1200"/>
              </a:spcAft>
            </a:pPr>
            <a:r>
              <a:rPr lang="en-US" sz="2200" dirty="0" smtClean="0">
                <a:latin typeface="Helvetica" pitchFamily="34" charset="0"/>
              </a:rPr>
              <a:t>Guests clothing is stained</a:t>
            </a:r>
          </a:p>
          <a:p>
            <a:pPr marL="0" indent="-457200">
              <a:spcBef>
                <a:spcPts val="600"/>
              </a:spcBef>
              <a:spcAft>
                <a:spcPts val="1200"/>
              </a:spcAft>
            </a:pPr>
            <a:r>
              <a:rPr lang="en-US" sz="2200" dirty="0" smtClean="0">
                <a:latin typeface="Helvetica" pitchFamily="34" charset="0"/>
              </a:rPr>
              <a:t>Luggage exterior</a:t>
            </a:r>
          </a:p>
          <a:p>
            <a:pPr marL="0" indent="-457200">
              <a:spcBef>
                <a:spcPts val="600"/>
              </a:spcBef>
              <a:spcAft>
                <a:spcPts val="1200"/>
              </a:spcAft>
            </a:pPr>
            <a:r>
              <a:rPr lang="en-US" sz="2200" dirty="0" smtClean="0">
                <a:latin typeface="Helvetica" pitchFamily="34" charset="0"/>
              </a:rPr>
              <a:t>Cleaning spills inside luggage</a:t>
            </a:r>
          </a:p>
          <a:p>
            <a:pPr marL="0" indent="-457200">
              <a:spcBef>
                <a:spcPts val="600"/>
              </a:spcBef>
              <a:spcAft>
                <a:spcPts val="1200"/>
              </a:spcAft>
            </a:pPr>
            <a:r>
              <a:rPr lang="en-US" sz="2200" dirty="0" smtClean="0">
                <a:latin typeface="Helvetica" pitchFamily="34" charset="0"/>
              </a:rPr>
              <a:t>Lobby and driveway appearance</a:t>
            </a:r>
          </a:p>
          <a:p>
            <a:pPr marL="360000" indent="-4572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C:\Documents and Settings\Godaishu\Desktop\PHOTOS\Accommodation 2009\sweeping ohs.jpg"/>
          <p:cNvPicPr/>
          <p:nvPr/>
        </p:nvPicPr>
        <p:blipFill>
          <a:blip r:embed="rId3" cstate="print"/>
          <a:srcRect/>
          <a:stretch>
            <a:fillRect/>
          </a:stretch>
        </p:blipFill>
        <p:spPr bwMode="auto">
          <a:xfrm>
            <a:off x="5715008" y="1857364"/>
            <a:ext cx="2252664" cy="1505413"/>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Emergency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Porters explain general emergency procedure to all guests when escorting them to their room.</a:t>
            </a:r>
          </a:p>
          <a:p>
            <a:pPr marL="0" indent="-457200">
              <a:spcBef>
                <a:spcPts val="600"/>
              </a:spcBef>
              <a:spcAft>
                <a:spcPts val="1200"/>
              </a:spcAft>
            </a:pPr>
            <a:r>
              <a:rPr lang="en-US" sz="2200" dirty="0" smtClean="0">
                <a:latin typeface="Helvetica" pitchFamily="34" charset="0"/>
              </a:rPr>
              <a:t>Weather emergency</a:t>
            </a:r>
          </a:p>
          <a:p>
            <a:pPr marL="0" indent="-457200">
              <a:spcBef>
                <a:spcPts val="600"/>
              </a:spcBef>
              <a:spcAft>
                <a:spcPts val="1200"/>
              </a:spcAft>
            </a:pPr>
            <a:r>
              <a:rPr lang="en-US" sz="2200" dirty="0" smtClean="0">
                <a:latin typeface="Helvetica" pitchFamily="34" charset="0"/>
              </a:rPr>
              <a:t>Guest has an accident</a:t>
            </a:r>
          </a:p>
          <a:p>
            <a:pPr marL="0" indent="-457200">
              <a:spcBef>
                <a:spcPts val="600"/>
              </a:spcBef>
              <a:spcAft>
                <a:spcPts val="1200"/>
              </a:spcAft>
            </a:pPr>
            <a:r>
              <a:rPr lang="en-US" sz="2200" dirty="0" smtClean="0">
                <a:latin typeface="Helvetica" pitchFamily="34" charset="0"/>
              </a:rPr>
              <a:t>The guest is ill</a:t>
            </a:r>
          </a:p>
          <a:p>
            <a:pPr marL="0" indent="-457200">
              <a:spcBef>
                <a:spcPts val="600"/>
              </a:spcBef>
              <a:spcAft>
                <a:spcPts val="1200"/>
              </a:spcAft>
            </a:pPr>
            <a:r>
              <a:rPr lang="en-US" sz="2200" dirty="0" smtClean="0">
                <a:latin typeface="Helvetica" pitchFamily="34" charset="0"/>
              </a:rPr>
              <a:t>The guest is involved in an incident</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C:\Documents and Settings\Godaishu\Desktop\PHOTOS\Accommodation 2009\Security guard.jpg"/>
          <p:cNvPicPr/>
          <p:nvPr/>
        </p:nvPicPr>
        <p:blipFill>
          <a:blip r:embed="rId3" cstate="print"/>
          <a:srcRect/>
          <a:stretch>
            <a:fillRect/>
          </a:stretch>
        </p:blipFill>
        <p:spPr bwMode="auto">
          <a:xfrm>
            <a:off x="6357950" y="2285992"/>
            <a:ext cx="1552575" cy="2300288"/>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Difficult guests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457200">
              <a:spcBef>
                <a:spcPts val="600"/>
              </a:spcBef>
              <a:spcAft>
                <a:spcPts val="1200"/>
              </a:spcAft>
              <a:buNone/>
            </a:pPr>
            <a:r>
              <a:rPr lang="en-US" sz="2200" dirty="0" smtClean="0">
                <a:latin typeface="Helvetica" pitchFamily="34" charset="0"/>
              </a:rPr>
              <a:t>A disturbance is any incident which disrupts the normal activities of the establishment</a:t>
            </a:r>
          </a:p>
          <a:p>
            <a:pPr marL="360000" indent="-360000">
              <a:spcBef>
                <a:spcPts val="600"/>
              </a:spcBef>
              <a:spcAft>
                <a:spcPts val="1200"/>
              </a:spcAft>
            </a:pPr>
            <a:r>
              <a:rPr lang="en-US" sz="2200" dirty="0" smtClean="0">
                <a:latin typeface="Helvetica" pitchFamily="34" charset="0"/>
              </a:rPr>
              <a:t>Arguments</a:t>
            </a:r>
          </a:p>
          <a:p>
            <a:pPr marL="360000" indent="-360000">
              <a:spcBef>
                <a:spcPts val="600"/>
              </a:spcBef>
              <a:spcAft>
                <a:spcPts val="1200"/>
              </a:spcAft>
            </a:pPr>
            <a:r>
              <a:rPr lang="en-US" sz="2200" dirty="0" smtClean="0">
                <a:latin typeface="Helvetica" pitchFamily="34" charset="0"/>
              </a:rPr>
              <a:t>Altercations</a:t>
            </a:r>
          </a:p>
          <a:p>
            <a:pPr marL="360000" indent="-360000">
              <a:spcBef>
                <a:spcPts val="600"/>
              </a:spcBef>
              <a:spcAft>
                <a:spcPts val="1200"/>
              </a:spcAft>
            </a:pPr>
            <a:r>
              <a:rPr lang="en-US" sz="2200" dirty="0" smtClean="0">
                <a:latin typeface="Helvetica" pitchFamily="34" charset="0"/>
              </a:rPr>
              <a:t>Suspicious persons</a:t>
            </a:r>
          </a:p>
          <a:p>
            <a:pPr marL="360000" indent="-360000">
              <a:spcBef>
                <a:spcPts val="600"/>
              </a:spcBef>
              <a:spcAft>
                <a:spcPts val="1200"/>
              </a:spcAft>
            </a:pPr>
            <a:r>
              <a:rPr lang="en-US" sz="2200" dirty="0" smtClean="0">
                <a:latin typeface="Helvetica" pitchFamily="34" charset="0"/>
              </a:rPr>
              <a:t>Terrorist threats</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12291" name="Picture 3" descr="C:\Users\Evelyn.CATS\AppData\Local\Microsoft\Windows\Temporary Internet Files\Content.IE5\LFINSHQX\MC900434395[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86446" y="2643182"/>
            <a:ext cx="1892300" cy="1374775"/>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Documents and Settings\danielc\Local Settings\Temporary Internet Files\Content.IE5\UMECW9PM\MC900299117[1].wmf"/>
          <p:cNvPicPr>
            <a:picLocks noChangeAspect="1" noChangeArrowheads="1"/>
          </p:cNvPicPr>
          <p:nvPr/>
        </p:nvPicPr>
        <p:blipFill>
          <a:blip r:embed="rId4" cstate="print"/>
          <a:srcRect/>
          <a:stretch>
            <a:fillRect/>
          </a:stretch>
        </p:blipFill>
        <p:spPr bwMode="auto">
          <a:xfrm>
            <a:off x="4467090" y="4071942"/>
            <a:ext cx="2372396" cy="1285884"/>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5 - Provide Concierge services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14338" name="Picture 2" descr="C:\Documents and Settings\Godaishu\Desktop\Front office 2012\shutterstock_102160069.jpg"/>
          <p:cNvPicPr>
            <a:picLocks noChangeAspect="1" noChangeArrowheads="1"/>
          </p:cNvPicPr>
          <p:nvPr/>
        </p:nvPicPr>
        <p:blipFill>
          <a:blip r:embed="rId3" cstate="print"/>
          <a:srcRect/>
          <a:stretch>
            <a:fillRect/>
          </a:stretch>
        </p:blipFill>
        <p:spPr bwMode="auto">
          <a:xfrm>
            <a:off x="1714480" y="2000240"/>
            <a:ext cx="4925373" cy="32861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 Provide Concierge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42900" indent="-342900">
              <a:spcBef>
                <a:spcPts val="600"/>
              </a:spcBef>
              <a:spcAft>
                <a:spcPts val="1200"/>
              </a:spcAft>
            </a:pPr>
            <a:r>
              <a:rPr lang="en-US" sz="2200" dirty="0" smtClean="0">
                <a:latin typeface="Helvetica" pitchFamily="34" charset="0"/>
              </a:rPr>
              <a:t>Mail and messages</a:t>
            </a:r>
          </a:p>
          <a:p>
            <a:pPr marL="644652" lvl="1" indent="-342900">
              <a:spcBef>
                <a:spcPts val="600"/>
              </a:spcBef>
              <a:spcAft>
                <a:spcPts val="1200"/>
              </a:spcAft>
            </a:pPr>
            <a:r>
              <a:rPr lang="en-US" sz="2200" dirty="0" smtClean="0">
                <a:latin typeface="Helvetica" pitchFamily="34" charset="0"/>
              </a:rPr>
              <a:t>Hard copy</a:t>
            </a:r>
          </a:p>
          <a:p>
            <a:pPr marL="644652" lvl="1" indent="-342900">
              <a:spcBef>
                <a:spcPts val="600"/>
              </a:spcBef>
              <a:spcAft>
                <a:spcPts val="1200"/>
              </a:spcAft>
            </a:pPr>
            <a:r>
              <a:rPr lang="en-US" sz="2200" dirty="0" smtClean="0">
                <a:latin typeface="Helvetica" pitchFamily="34" charset="0"/>
              </a:rPr>
              <a:t>Electronic</a:t>
            </a:r>
          </a:p>
          <a:p>
            <a:pPr marL="644652" lvl="1" indent="-342900">
              <a:spcBef>
                <a:spcPts val="600"/>
              </a:spcBef>
              <a:spcAft>
                <a:spcPts val="1200"/>
              </a:spcAft>
            </a:pPr>
            <a:r>
              <a:rPr lang="en-US" sz="2200" dirty="0" smtClean="0">
                <a:latin typeface="Helvetica" pitchFamily="34" charset="0"/>
              </a:rPr>
              <a:t>Wake up calls</a:t>
            </a:r>
          </a:p>
          <a:p>
            <a:pPr marL="342900" indent="-342900">
              <a:spcBef>
                <a:spcPts val="600"/>
              </a:spcBef>
              <a:spcAft>
                <a:spcPts val="1200"/>
              </a:spcAft>
            </a:pPr>
            <a:r>
              <a:rPr lang="en-US" sz="2200" dirty="0" smtClean="0">
                <a:latin typeface="Helvetica" pitchFamily="34" charset="0"/>
              </a:rPr>
              <a:t>Logged with the telephonist</a:t>
            </a:r>
          </a:p>
          <a:p>
            <a:pPr marL="644652" lvl="1" indent="-342900">
              <a:spcBef>
                <a:spcPts val="600"/>
              </a:spcBef>
              <a:spcAft>
                <a:spcPts val="1200"/>
              </a:spcAft>
            </a:pPr>
            <a:r>
              <a:rPr lang="en-US" sz="2200" dirty="0" smtClean="0">
                <a:latin typeface="Helvetica" pitchFamily="34" charset="0"/>
              </a:rPr>
              <a:t>Automated </a:t>
            </a:r>
          </a:p>
          <a:p>
            <a:pPr marL="644652" lvl="1" indent="-342900">
              <a:spcBef>
                <a:spcPts val="600"/>
              </a:spcBef>
              <a:spcAft>
                <a:spcPts val="1200"/>
              </a:spcAft>
            </a:pPr>
            <a:r>
              <a:rPr lang="en-US" sz="2200" dirty="0" smtClean="0">
                <a:latin typeface="Helvetica" pitchFamily="34" charset="0"/>
              </a:rPr>
              <a:t>Personal</a:t>
            </a:r>
          </a:p>
          <a:p>
            <a:pPr marL="342900" indent="-342900">
              <a:spcBef>
                <a:spcPts val="600"/>
              </a:spcBef>
              <a:spcAft>
                <a:spcPts val="1200"/>
              </a:spcAft>
            </a:pPr>
            <a:endParaRPr lang="en-US" sz="2200" dirty="0" smtClean="0">
              <a:latin typeface="Helvetica" pitchFamily="34" charset="0"/>
            </a:endParaRPr>
          </a:p>
          <a:p>
            <a:pPr marL="342900" indent="-3429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13315" name="Picture 3" descr="C:\Documents and Settings\Godaishu\Desktop\Front office 2012\shutterstock_51354646.jpg"/>
          <p:cNvPicPr>
            <a:picLocks noChangeAspect="1" noChangeArrowheads="1"/>
          </p:cNvPicPr>
          <p:nvPr/>
        </p:nvPicPr>
        <p:blipFill>
          <a:blip r:embed="rId3" cstate="print"/>
          <a:srcRect/>
          <a:stretch>
            <a:fillRect/>
          </a:stretch>
        </p:blipFill>
        <p:spPr bwMode="auto">
          <a:xfrm>
            <a:off x="4929190" y="2357430"/>
            <a:ext cx="3048000" cy="1981200"/>
          </a:xfrm>
          <a:prstGeom prst="rect">
            <a:avLst/>
          </a:prstGeom>
          <a:noFill/>
        </p:spPr>
      </p:pic>
    </p:spTree>
    <p:extLst>
      <p:ext uri="{BB962C8B-B14F-4D97-AF65-F5344CB8AC3E}">
        <p14:creationId xmlns:p14="http://schemas.microsoft.com/office/powerpoint/2010/main" val="4252602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 Provide Concierge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342900" indent="-342900">
              <a:spcBef>
                <a:spcPts val="600"/>
              </a:spcBef>
              <a:spcAft>
                <a:spcPts val="600"/>
              </a:spcAft>
            </a:pPr>
            <a:r>
              <a:rPr lang="en-US" sz="2000" dirty="0" smtClean="0">
                <a:latin typeface="Helvetica" pitchFamily="34" charset="0"/>
              </a:rPr>
              <a:t>Transport</a:t>
            </a:r>
          </a:p>
          <a:p>
            <a:pPr marL="644652" lvl="1" indent="-342900">
              <a:spcBef>
                <a:spcPts val="600"/>
              </a:spcBef>
              <a:spcAft>
                <a:spcPts val="600"/>
              </a:spcAft>
            </a:pPr>
            <a:r>
              <a:rPr lang="en-US" sz="2000" dirty="0" smtClean="0">
                <a:latin typeface="Helvetica" pitchFamily="34" charset="0"/>
              </a:rPr>
              <a:t>Hire Cars and limousines </a:t>
            </a:r>
          </a:p>
          <a:p>
            <a:pPr marL="644652" lvl="1" indent="-342900">
              <a:spcBef>
                <a:spcPts val="600"/>
              </a:spcBef>
              <a:spcAft>
                <a:spcPts val="600"/>
              </a:spcAft>
            </a:pPr>
            <a:r>
              <a:rPr lang="en-US" sz="2000" dirty="0" smtClean="0">
                <a:latin typeface="Helvetica" pitchFamily="34" charset="0"/>
              </a:rPr>
              <a:t>With drivers</a:t>
            </a:r>
          </a:p>
          <a:p>
            <a:pPr marL="644652" lvl="1" indent="-342900">
              <a:spcBef>
                <a:spcPts val="600"/>
              </a:spcBef>
              <a:spcAft>
                <a:spcPts val="600"/>
              </a:spcAft>
            </a:pPr>
            <a:r>
              <a:rPr lang="en-US" sz="2000" dirty="0" smtClean="0">
                <a:latin typeface="Helvetica" pitchFamily="34" charset="0"/>
              </a:rPr>
              <a:t>Cycles and animal riding </a:t>
            </a:r>
          </a:p>
          <a:p>
            <a:pPr marL="342900" indent="-342900">
              <a:spcBef>
                <a:spcPts val="600"/>
              </a:spcBef>
              <a:spcAft>
                <a:spcPts val="600"/>
              </a:spcAft>
            </a:pPr>
            <a:r>
              <a:rPr lang="en-US" sz="2000" dirty="0" smtClean="0">
                <a:latin typeface="Helvetica" pitchFamily="34" charset="0"/>
              </a:rPr>
              <a:t>Transfers for departing Guests information needed</a:t>
            </a:r>
          </a:p>
          <a:p>
            <a:pPr lvl="1">
              <a:spcBef>
                <a:spcPts val="600"/>
              </a:spcBef>
              <a:spcAft>
                <a:spcPts val="600"/>
              </a:spcAft>
            </a:pPr>
            <a:r>
              <a:rPr lang="en-AU" sz="2000" dirty="0" smtClean="0"/>
              <a:t>The estimated time of departure the guest’s name and number of passengers</a:t>
            </a:r>
          </a:p>
          <a:p>
            <a:pPr lvl="1">
              <a:spcBef>
                <a:spcPts val="600"/>
              </a:spcBef>
              <a:spcAft>
                <a:spcPts val="600"/>
              </a:spcAft>
            </a:pPr>
            <a:r>
              <a:rPr lang="en-AU" sz="2000" dirty="0" smtClean="0"/>
              <a:t>The number of pieces of luggage</a:t>
            </a:r>
          </a:p>
          <a:p>
            <a:pPr lvl="1">
              <a:spcBef>
                <a:spcPts val="600"/>
              </a:spcBef>
              <a:spcAft>
                <a:spcPts val="600"/>
              </a:spcAft>
            </a:pPr>
            <a:r>
              <a:rPr lang="en-AU" sz="2000" dirty="0" smtClean="0"/>
              <a:t>Destination</a:t>
            </a:r>
          </a:p>
          <a:p>
            <a:pPr lvl="1">
              <a:spcBef>
                <a:spcPts val="600"/>
              </a:spcBef>
              <a:spcAft>
                <a:spcPts val="600"/>
              </a:spcAft>
            </a:pPr>
            <a:r>
              <a:rPr lang="en-AU" sz="2000" dirty="0" smtClean="0"/>
              <a:t>Any special details, such as flight arrangements/rail details</a:t>
            </a:r>
          </a:p>
          <a:p>
            <a:pPr marL="342900" indent="-342900">
              <a:spcBef>
                <a:spcPts val="600"/>
              </a:spcBef>
              <a:spcAft>
                <a:spcPts val="600"/>
              </a:spcAft>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15362" name="Picture 2" descr="C:\Documents and Settings\Godaishu\Desktop\Front office 2012\shutterstock_81010498.jpg"/>
          <p:cNvPicPr>
            <a:picLocks noChangeAspect="1" noChangeArrowheads="1"/>
          </p:cNvPicPr>
          <p:nvPr/>
        </p:nvPicPr>
        <p:blipFill>
          <a:blip r:embed="rId3" cstate="print"/>
          <a:srcRect/>
          <a:stretch>
            <a:fillRect/>
          </a:stretch>
        </p:blipFill>
        <p:spPr bwMode="auto">
          <a:xfrm>
            <a:off x="5429256" y="1571612"/>
            <a:ext cx="2405058" cy="1604625"/>
          </a:xfrm>
          <a:prstGeom prst="rect">
            <a:avLst/>
          </a:prstGeom>
          <a:noFill/>
        </p:spPr>
      </p:pic>
    </p:spTree>
    <p:extLst>
      <p:ext uri="{BB962C8B-B14F-4D97-AF65-F5344CB8AC3E}">
        <p14:creationId xmlns:p14="http://schemas.microsoft.com/office/powerpoint/2010/main" val="4252602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 Provide Concierge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42900" indent="-342900">
              <a:spcBef>
                <a:spcPts val="600"/>
              </a:spcBef>
              <a:spcAft>
                <a:spcPts val="1200"/>
              </a:spcAft>
            </a:pPr>
            <a:r>
              <a:rPr lang="en-US" sz="2200" dirty="0" smtClean="0">
                <a:latin typeface="Helvetica" pitchFamily="34" charset="0"/>
              </a:rPr>
              <a:t>Luggage pick up</a:t>
            </a:r>
          </a:p>
          <a:p>
            <a:pPr marL="644652" lvl="1" indent="-342900">
              <a:spcBef>
                <a:spcPts val="600"/>
              </a:spcBef>
              <a:spcAft>
                <a:spcPts val="1200"/>
              </a:spcAft>
            </a:pPr>
            <a:r>
              <a:rPr lang="en-US" sz="2200" dirty="0" smtClean="0">
                <a:latin typeface="Helvetica" pitchFamily="34" charset="0"/>
              </a:rPr>
              <a:t>Quantity</a:t>
            </a:r>
          </a:p>
          <a:p>
            <a:pPr marL="644652" lvl="1" indent="-342900">
              <a:spcBef>
                <a:spcPts val="600"/>
              </a:spcBef>
              <a:spcAft>
                <a:spcPts val="1200"/>
              </a:spcAft>
            </a:pPr>
            <a:r>
              <a:rPr lang="en-US" sz="2200" dirty="0" smtClean="0">
                <a:latin typeface="Helvetica" pitchFamily="34" charset="0"/>
              </a:rPr>
              <a:t>Location</a:t>
            </a:r>
          </a:p>
          <a:p>
            <a:pPr marL="644652" lvl="1" indent="-342900">
              <a:spcBef>
                <a:spcPts val="600"/>
              </a:spcBef>
              <a:spcAft>
                <a:spcPts val="1200"/>
              </a:spcAft>
            </a:pPr>
            <a:r>
              <a:rPr lang="en-US" sz="2200" dirty="0" smtClean="0">
                <a:latin typeface="Helvetica" pitchFamily="34" charset="0"/>
              </a:rPr>
              <a:t>Unaccompanied luggage</a:t>
            </a:r>
          </a:p>
          <a:p>
            <a:pPr marL="342900" indent="-342900">
              <a:spcBef>
                <a:spcPts val="600"/>
              </a:spcBef>
              <a:spcAft>
                <a:spcPts val="1200"/>
              </a:spcAft>
            </a:pPr>
            <a:r>
              <a:rPr lang="en-US" sz="2200" dirty="0" smtClean="0">
                <a:latin typeface="Helvetica" pitchFamily="34" charset="0"/>
              </a:rPr>
              <a:t>Paging Guests</a:t>
            </a:r>
          </a:p>
          <a:p>
            <a:pPr marL="644652" lvl="1" indent="-342900">
              <a:spcBef>
                <a:spcPts val="600"/>
              </a:spcBef>
              <a:spcAft>
                <a:spcPts val="1200"/>
              </a:spcAft>
            </a:pPr>
            <a:r>
              <a:rPr lang="en-US" sz="2200" dirty="0" smtClean="0">
                <a:latin typeface="Helvetica" pitchFamily="34" charset="0"/>
              </a:rPr>
              <a:t>Verbal</a:t>
            </a:r>
          </a:p>
          <a:p>
            <a:pPr marL="644652" lvl="1" indent="-342900">
              <a:spcBef>
                <a:spcPts val="600"/>
              </a:spcBef>
              <a:spcAft>
                <a:spcPts val="1200"/>
              </a:spcAft>
            </a:pPr>
            <a:r>
              <a:rPr lang="en-US" sz="2200" dirty="0" smtClean="0">
                <a:latin typeface="Helvetica" pitchFamily="34" charset="0"/>
              </a:rPr>
              <a:t>Electronic</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16386" name="Picture 2" descr="C:\Documents and Settings\Godaishu\Desktop\Front office 2012\shutterstock_55113373.jpg"/>
          <p:cNvPicPr>
            <a:picLocks noChangeAspect="1" noChangeArrowheads="1"/>
          </p:cNvPicPr>
          <p:nvPr/>
        </p:nvPicPr>
        <p:blipFill>
          <a:blip r:embed="rId3" cstate="print"/>
          <a:srcRect/>
          <a:stretch>
            <a:fillRect/>
          </a:stretch>
        </p:blipFill>
        <p:spPr bwMode="auto">
          <a:xfrm>
            <a:off x="5000628" y="1643050"/>
            <a:ext cx="3048000" cy="2154238"/>
          </a:xfrm>
          <a:prstGeom prst="rect">
            <a:avLst/>
          </a:prstGeom>
          <a:noFill/>
        </p:spPr>
      </p:pic>
    </p:spTree>
    <p:extLst>
      <p:ext uri="{BB962C8B-B14F-4D97-AF65-F5344CB8AC3E}">
        <p14:creationId xmlns:p14="http://schemas.microsoft.com/office/powerpoint/2010/main" val="1087080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Porters Directory</a:t>
            </a:r>
            <a:r>
              <a:rPr lang="en-US" sz="3600" dirty="0" smtClean="0">
                <a:latin typeface="Helvetica" pitchFamily="34" charset="0"/>
              </a:rPr>
              <a:t/>
            </a:r>
            <a:br>
              <a:rPr lang="en-US" sz="3600" dirty="0" smtClean="0">
                <a:latin typeface="Helvetica" pitchFamily="34" charset="0"/>
              </a:rPr>
            </a:b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357158" y="1428736"/>
            <a:ext cx="7467600" cy="4525963"/>
          </a:xfrm>
        </p:spPr>
        <p:txBody>
          <a:bodyPr>
            <a:normAutofit/>
          </a:bodyPr>
          <a:lstStyle/>
          <a:p>
            <a:pPr>
              <a:spcBef>
                <a:spcPts val="600"/>
              </a:spcBef>
              <a:spcAft>
                <a:spcPts val="1200"/>
              </a:spcAft>
            </a:pPr>
            <a:r>
              <a:rPr lang="en-US" sz="2000" dirty="0" smtClean="0"/>
              <a:t>A </a:t>
            </a:r>
            <a:r>
              <a:rPr lang="en-US" sz="2000" dirty="0"/>
              <a:t>directory is an </a:t>
            </a:r>
            <a:r>
              <a:rPr lang="en-US" sz="2000" dirty="0" err="1" smtClean="0"/>
              <a:t>alphabetised</a:t>
            </a:r>
            <a:r>
              <a:rPr lang="en-US" sz="2000" dirty="0" smtClean="0"/>
              <a:t> </a:t>
            </a:r>
            <a:r>
              <a:rPr lang="en-US" sz="2000" dirty="0"/>
              <a:t>reference book maintained by most porters and holds information about:</a:t>
            </a:r>
          </a:p>
          <a:p>
            <a:pPr lvl="1">
              <a:spcBef>
                <a:spcPts val="600"/>
              </a:spcBef>
              <a:spcAft>
                <a:spcPts val="1200"/>
              </a:spcAft>
            </a:pPr>
            <a:r>
              <a:rPr lang="en-AU" sz="2000" dirty="0" smtClean="0"/>
              <a:t>All the details about the facilities </a:t>
            </a:r>
          </a:p>
          <a:p>
            <a:pPr lvl="1">
              <a:spcBef>
                <a:spcPts val="600"/>
              </a:spcBef>
              <a:spcAft>
                <a:spcPts val="1200"/>
              </a:spcAft>
            </a:pPr>
            <a:r>
              <a:rPr lang="en-AU" sz="2000" dirty="0" smtClean="0"/>
              <a:t>Tourist attractions </a:t>
            </a:r>
          </a:p>
          <a:p>
            <a:pPr lvl="1">
              <a:spcBef>
                <a:spcPts val="600"/>
              </a:spcBef>
              <a:spcAft>
                <a:spcPts val="1200"/>
              </a:spcAft>
            </a:pPr>
            <a:r>
              <a:rPr lang="en-AU" sz="2000" dirty="0" smtClean="0"/>
              <a:t>Car hire, taxis and public transport options </a:t>
            </a:r>
          </a:p>
          <a:p>
            <a:pPr lvl="1">
              <a:spcBef>
                <a:spcPts val="600"/>
              </a:spcBef>
              <a:spcAft>
                <a:spcPts val="1200"/>
              </a:spcAft>
            </a:pPr>
            <a:r>
              <a:rPr lang="en-AU" sz="2000" dirty="0" smtClean="0"/>
              <a:t>Theatre and dinner bookings </a:t>
            </a:r>
          </a:p>
          <a:p>
            <a:pPr lvl="1">
              <a:spcBef>
                <a:spcPts val="600"/>
              </a:spcBef>
              <a:spcAft>
                <a:spcPts val="1200"/>
              </a:spcAft>
            </a:pPr>
            <a:r>
              <a:rPr lang="en-AU" sz="2000" dirty="0" smtClean="0"/>
              <a:t>Airline and other bookings </a:t>
            </a:r>
          </a:p>
          <a:p>
            <a:pPr lvl="1">
              <a:spcBef>
                <a:spcPts val="600"/>
              </a:spcBef>
              <a:spcAft>
                <a:spcPts val="1200"/>
              </a:spcAft>
            </a:pPr>
            <a:r>
              <a:rPr lang="en-AU" sz="2000" dirty="0" smtClean="0"/>
              <a:t>Advice on Local Knowledge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17410" name="Picture 2" descr="C:\Documents and Settings\Godaishu\Desktop\PHOTOS\2012\Pen and paper.JPG"/>
          <p:cNvPicPr>
            <a:picLocks noChangeAspect="1" noChangeArrowheads="1"/>
          </p:cNvPicPr>
          <p:nvPr/>
        </p:nvPicPr>
        <p:blipFill>
          <a:blip r:embed="rId3" cstate="print"/>
          <a:srcRect/>
          <a:stretch>
            <a:fillRect/>
          </a:stretch>
        </p:blipFill>
        <p:spPr bwMode="auto">
          <a:xfrm>
            <a:off x="6357950" y="2857496"/>
            <a:ext cx="1534968" cy="2000264"/>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Conclusion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100" dirty="0"/>
              <a:t>A Guest purchases more than just a room when they stay in a Hotel or Resort, they purchase intangible products for example security, comfort, luxury, service, and a feeling of importance. Good service will result in guests departing happy, content and </a:t>
            </a:r>
            <a:r>
              <a:rPr lang="en-AU" sz="2100" dirty="0" smtClean="0"/>
              <a:t>relaxed</a:t>
            </a:r>
          </a:p>
          <a:p>
            <a:pPr>
              <a:spcBef>
                <a:spcPts val="600"/>
              </a:spcBef>
              <a:spcAft>
                <a:spcPts val="1200"/>
              </a:spcAft>
            </a:pPr>
            <a:r>
              <a:rPr lang="en-AU" sz="2100" dirty="0" smtClean="0"/>
              <a:t> </a:t>
            </a:r>
            <a:r>
              <a:rPr lang="en-AU" sz="2100" dirty="0"/>
              <a:t>Porters duties are key to satisfied happy </a:t>
            </a:r>
            <a:r>
              <a:rPr lang="en-AU" sz="2100" dirty="0" smtClean="0"/>
              <a:t>guests</a:t>
            </a: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18434" name="Picture 2" descr="C:\Documents and Settings\Godaishu\Desktop\Front office 2012\BW_4.jpg"/>
          <p:cNvPicPr>
            <a:picLocks noChangeAspect="1" noChangeArrowheads="1"/>
          </p:cNvPicPr>
          <p:nvPr/>
        </p:nvPicPr>
        <p:blipFill>
          <a:blip r:embed="rId3" cstate="print"/>
          <a:srcRect/>
          <a:stretch>
            <a:fillRect/>
          </a:stretch>
        </p:blipFill>
        <p:spPr bwMode="auto">
          <a:xfrm>
            <a:off x="3571868" y="4143380"/>
            <a:ext cx="1865322" cy="2481484"/>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Recommended YouTube videos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lnSpcReduction="10000"/>
          </a:bodyPr>
          <a:lstStyle/>
          <a:p>
            <a:pPr>
              <a:spcBef>
                <a:spcPts val="600"/>
              </a:spcBef>
              <a:spcAft>
                <a:spcPts val="1200"/>
              </a:spcAft>
            </a:pPr>
            <a:r>
              <a:rPr lang="en-AU" sz="2200" dirty="0" smtClean="0"/>
              <a:t>Building the job description - </a:t>
            </a:r>
            <a:r>
              <a:rPr lang="en-AU" sz="2200" u="sng" dirty="0" smtClean="0">
                <a:hlinkClick r:id="rId3"/>
              </a:rPr>
              <a:t>http</a:t>
            </a:r>
            <a:r>
              <a:rPr lang="en-AU" sz="2200" u="sng" dirty="0">
                <a:hlinkClick r:id="rId3"/>
              </a:rPr>
              <a:t>://www.youtube.com/watch?v=-5hMmdHeegk&amp;feature=related</a:t>
            </a:r>
            <a:endParaRPr lang="en-AU" sz="2200" dirty="0"/>
          </a:p>
          <a:p>
            <a:pPr>
              <a:spcBef>
                <a:spcPts val="600"/>
              </a:spcBef>
              <a:spcAft>
                <a:spcPts val="1200"/>
              </a:spcAft>
            </a:pPr>
            <a:r>
              <a:rPr lang="en-AU" sz="2200" dirty="0" smtClean="0"/>
              <a:t>Advice on becoming a Concierge in London -  </a:t>
            </a:r>
            <a:r>
              <a:rPr lang="en-AU" sz="2200" u="sng" dirty="0" smtClean="0">
                <a:hlinkClick r:id="rId4"/>
              </a:rPr>
              <a:t>http</a:t>
            </a:r>
            <a:r>
              <a:rPr lang="en-AU" sz="2200" u="sng" dirty="0">
                <a:hlinkClick r:id="rId4"/>
              </a:rPr>
              <a:t>://</a:t>
            </a:r>
            <a:r>
              <a:rPr lang="en-AU" sz="2200" u="sng" dirty="0" smtClean="0">
                <a:hlinkClick r:id="rId4"/>
              </a:rPr>
              <a:t>www.youtube.com/watch?v=KLWPCMVFTLE&amp;feature=related</a:t>
            </a:r>
            <a:endParaRPr lang="en-AU" sz="2200" dirty="0"/>
          </a:p>
          <a:p>
            <a:pPr>
              <a:spcBef>
                <a:spcPts val="600"/>
              </a:spcBef>
              <a:spcAft>
                <a:spcPts val="1200"/>
              </a:spcAft>
            </a:pPr>
            <a:r>
              <a:rPr lang="en-AU" sz="2200" dirty="0" smtClean="0"/>
              <a:t>**The importance of the concierge - </a:t>
            </a:r>
            <a:r>
              <a:rPr lang="en-AU" sz="2200" dirty="0" smtClean="0">
                <a:hlinkClick r:id="rId5"/>
              </a:rPr>
              <a:t>http</a:t>
            </a:r>
            <a:r>
              <a:rPr lang="en-AU" sz="2200" dirty="0">
                <a:hlinkClick r:id="rId5"/>
              </a:rPr>
              <a:t>://</a:t>
            </a:r>
            <a:r>
              <a:rPr lang="en-AU" sz="2200" dirty="0" smtClean="0">
                <a:hlinkClick r:id="rId5"/>
              </a:rPr>
              <a:t>www.youtube.com/watch?v=QidGsXUqFC8&amp;feature=related</a:t>
            </a:r>
            <a:endParaRPr lang="en-AU" sz="2200" dirty="0" smtClean="0"/>
          </a:p>
          <a:p>
            <a:pPr>
              <a:spcBef>
                <a:spcPts val="600"/>
              </a:spcBef>
              <a:spcAft>
                <a:spcPts val="1200"/>
              </a:spcAft>
            </a:pPr>
            <a:r>
              <a:rPr lang="en-AU" sz="2200" dirty="0" smtClean="0"/>
              <a:t>***Ritz Carlton in Berlin - </a:t>
            </a:r>
            <a:r>
              <a:rPr lang="en-AU" sz="2200" dirty="0" smtClean="0">
                <a:hlinkClick r:id="rId6"/>
              </a:rPr>
              <a:t>http</a:t>
            </a:r>
            <a:r>
              <a:rPr lang="en-AU" sz="2200" dirty="0">
                <a:hlinkClick r:id="rId6"/>
              </a:rPr>
              <a:t>://www.youtube.com/watch?v=qZNhgzzEJMY&amp;feature=endscreen&amp;NR=1</a:t>
            </a:r>
            <a:endParaRPr lang="en-AU" sz="2200" dirty="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4098" name="Picture 2" descr="C:\Documents and Settings\danielc\Local Settings\Temporary Internet Files\Content.IE5\SIQ5KRQ3\MC900366112[1].wmf"/>
          <p:cNvPicPr>
            <a:picLocks noChangeAspect="1" noChangeArrowheads="1"/>
          </p:cNvPicPr>
          <p:nvPr/>
        </p:nvPicPr>
        <p:blipFill>
          <a:blip r:embed="rId7" cstate="print"/>
          <a:srcRect/>
          <a:stretch>
            <a:fillRect/>
          </a:stretch>
        </p:blipFill>
        <p:spPr bwMode="auto">
          <a:xfrm>
            <a:off x="6286512" y="1357298"/>
            <a:ext cx="1571636" cy="1239797"/>
          </a:xfrm>
          <a:prstGeom prst="rect">
            <a:avLst/>
          </a:prstGeom>
          <a:noFill/>
        </p:spPr>
      </p:pic>
    </p:spTree>
  </p:cSld>
  <p:clrMapOvr>
    <a:masterClrMapping/>
  </p:clrMapOvr>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1204</TotalTime>
  <Words>6131</Words>
  <Application>Microsoft Office PowerPoint</Application>
  <PresentationFormat>On-screen Show (4:3)</PresentationFormat>
  <Paragraphs>636</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Helvetica</vt:lpstr>
      <vt:lpstr>Wingdings</vt:lpstr>
      <vt:lpstr>Wingdings 2</vt:lpstr>
      <vt:lpstr>ASEAN PPT Template 010611 MV</vt:lpstr>
      <vt:lpstr>PROVIDE BELL BOY/PORTER SERVICES</vt:lpstr>
      <vt:lpstr>Subject Elements</vt:lpstr>
      <vt:lpstr>Assessment</vt:lpstr>
      <vt:lpstr>Element 1 - Identify the role of a bellboy or porter</vt:lpstr>
      <vt:lpstr>Porters are the people who</vt:lpstr>
      <vt:lpstr>Concierge department</vt:lpstr>
      <vt:lpstr>Presentation of a porter</vt:lpstr>
      <vt:lpstr>Les Clefs d’Or The Society of the Golden Keys </vt:lpstr>
      <vt:lpstr>Appearance of Bell boy or Porter</vt:lpstr>
      <vt:lpstr>VIP Protocols</vt:lpstr>
      <vt:lpstr>Communicating with guests</vt:lpstr>
      <vt:lpstr>Element 2 - Assist with guest arrivals</vt:lpstr>
      <vt:lpstr>Pre arrival preparation - check</vt:lpstr>
      <vt:lpstr>Arrange for and deliver special requests </vt:lpstr>
      <vt:lpstr>Greeting guests on arrival</vt:lpstr>
      <vt:lpstr> Escorting the guest</vt:lpstr>
      <vt:lpstr> Escorting the guest</vt:lpstr>
      <vt:lpstr> Loading the trolley</vt:lpstr>
      <vt:lpstr>Element 3 - Assist with Guest departures</vt:lpstr>
      <vt:lpstr>Guest Departure</vt:lpstr>
      <vt:lpstr> Luggage tags</vt:lpstr>
      <vt:lpstr> Luggage storage </vt:lpstr>
      <vt:lpstr> Groups</vt:lpstr>
      <vt:lpstr>Element 4 - Assist other Departments</vt:lpstr>
      <vt:lpstr>PowerPoint Presentation</vt:lpstr>
      <vt:lpstr>Inter departmental assistance</vt:lpstr>
      <vt:lpstr>Emergency cleaning</vt:lpstr>
      <vt:lpstr>Emergency situations</vt:lpstr>
      <vt:lpstr>Difficult guests</vt:lpstr>
      <vt:lpstr>Element 5 - Provide Concierge services</vt:lpstr>
      <vt:lpstr> Provide Concierge services</vt:lpstr>
      <vt:lpstr> Provide Concierge services</vt:lpstr>
      <vt:lpstr> Provide Concierge services</vt:lpstr>
      <vt:lpstr>Porters Directory </vt:lpstr>
      <vt:lpstr>Conclusion</vt:lpstr>
      <vt:lpstr>Recommended YouTube videos </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 BELL BOY/PORTER SERVICES</dc:title>
  <dc:creator>Administrator</dc:creator>
  <cp:lastModifiedBy>Carla Angelica Co</cp:lastModifiedBy>
  <cp:revision>99</cp:revision>
  <dcterms:created xsi:type="dcterms:W3CDTF">2012-03-30T04:36:26Z</dcterms:created>
  <dcterms:modified xsi:type="dcterms:W3CDTF">2015-04-06T07:26:48Z</dcterms:modified>
</cp:coreProperties>
</file>